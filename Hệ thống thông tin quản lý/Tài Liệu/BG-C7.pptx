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6" r:id="rId1"/>
  </p:sldMasterIdLst>
  <p:sldIdLst>
    <p:sldId id="256" r:id="rId2"/>
    <p:sldId id="257" r:id="rId3"/>
    <p:sldId id="258" r:id="rId4"/>
    <p:sldId id="259" r:id="rId5"/>
    <p:sldId id="260" r:id="rId6"/>
    <p:sldId id="30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36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9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452" y="685800"/>
            <a:ext cx="7886700" cy="132556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836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6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8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1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46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232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428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6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2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9625"/>
            <a:ext cx="2453947" cy="67100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133600" y="6487064"/>
            <a:ext cx="4174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Khoa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Công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nghệ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thông</a:t>
            </a:r>
            <a:r>
              <a:rPr lang="en-US" sz="1400" baseline="0" dirty="0" smtClean="0"/>
              <a:t> tin – </a:t>
            </a:r>
            <a:r>
              <a:rPr lang="en-US" sz="1400" baseline="0" dirty="0" err="1" smtClean="0"/>
              <a:t>Đại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học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Công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nghệ</a:t>
            </a:r>
            <a:r>
              <a:rPr lang="en-US" sz="1400" baseline="0" dirty="0" smtClean="0"/>
              <a:t> </a:t>
            </a:r>
            <a:r>
              <a:rPr lang="en-US" sz="1400" baseline="0" dirty="0" err="1" smtClean="0"/>
              <a:t>Đông</a:t>
            </a:r>
            <a:r>
              <a:rPr lang="en-US" sz="1400" baseline="0" dirty="0" smtClean="0"/>
              <a:t> Á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665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hphotovideos.com/" TargetMode="External"/><Relationship Id="rId2" Type="http://schemas.openxmlformats.org/officeDocument/2006/relationships/hyperlink" Target="http://www.amaz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hyperlink" Target="http://www.wikipedia.org/" TargetMode="External"/><Relationship Id="rId4" Type="http://schemas.openxmlformats.org/officeDocument/2006/relationships/hyperlink" Target="http://www.ebay.com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2743200"/>
            <a:ext cx="74187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5" dirty="0">
                <a:latin typeface="Trebuchet MS"/>
                <a:cs typeface="Trebuchet MS"/>
              </a:rPr>
              <a:t>Ch</a:t>
            </a:r>
            <a:r>
              <a:rPr sz="3600" i="1" spc="-55" dirty="0">
                <a:latin typeface="Arial"/>
                <a:cs typeface="Arial"/>
              </a:rPr>
              <a:t>ươ</a:t>
            </a:r>
            <a:r>
              <a:rPr sz="3600" i="1" spc="-55" dirty="0">
                <a:latin typeface="Trebuchet MS"/>
                <a:cs typeface="Trebuchet MS"/>
              </a:rPr>
              <a:t>ng </a:t>
            </a:r>
            <a:r>
              <a:rPr sz="3600" i="1" spc="-5" dirty="0">
                <a:latin typeface="Trebuchet MS"/>
                <a:cs typeface="Trebuchet MS"/>
              </a:rPr>
              <a:t>7: </a:t>
            </a:r>
            <a:r>
              <a:rPr sz="3600" spc="-90" dirty="0">
                <a:latin typeface="Trebuchet MS"/>
                <a:cs typeface="Trebuchet MS"/>
              </a:rPr>
              <a:t>Th</a:t>
            </a:r>
            <a:r>
              <a:rPr sz="3600" spc="-90" dirty="0">
                <a:latin typeface="Arial"/>
                <a:cs typeface="Arial"/>
              </a:rPr>
              <a:t>ươ</a:t>
            </a:r>
            <a:r>
              <a:rPr sz="3600" spc="-90" dirty="0">
                <a:latin typeface="Trebuchet MS"/>
                <a:cs typeface="Trebuchet MS"/>
              </a:rPr>
              <a:t>ng </a:t>
            </a:r>
            <a:r>
              <a:rPr sz="3600" spc="-95" dirty="0">
                <a:latin typeface="Trebuchet MS"/>
                <a:cs typeface="Trebuchet MS"/>
              </a:rPr>
              <a:t>m</a:t>
            </a:r>
            <a:r>
              <a:rPr sz="3600" spc="-95" dirty="0">
                <a:latin typeface="Arial"/>
                <a:cs typeface="Arial"/>
              </a:rPr>
              <a:t>ạ</a:t>
            </a:r>
            <a:r>
              <a:rPr sz="3600" spc="-95" dirty="0">
                <a:latin typeface="Trebuchet MS"/>
                <a:cs typeface="Trebuchet MS"/>
              </a:rPr>
              <a:t>i </a:t>
            </a:r>
            <a:r>
              <a:rPr sz="3600" spc="-55" dirty="0">
                <a:latin typeface="Trebuchet MS"/>
                <a:cs typeface="Trebuchet MS"/>
              </a:rPr>
              <a:t>đi</a:t>
            </a:r>
            <a:r>
              <a:rPr sz="3600" spc="-55" dirty="0">
                <a:latin typeface="Arial"/>
                <a:cs typeface="Arial"/>
              </a:rPr>
              <a:t>ệ</a:t>
            </a:r>
            <a:r>
              <a:rPr sz="3600" spc="-55" dirty="0">
                <a:latin typeface="Trebuchet MS"/>
                <a:cs typeface="Trebuchet MS"/>
              </a:rPr>
              <a:t>n </a:t>
            </a:r>
            <a:r>
              <a:rPr sz="3600" spc="-85" dirty="0">
                <a:latin typeface="Trebuchet MS"/>
                <a:cs typeface="Trebuchet MS"/>
              </a:rPr>
              <a:t>t</a:t>
            </a:r>
            <a:r>
              <a:rPr sz="3600" spc="-85" dirty="0">
                <a:latin typeface="Arial"/>
                <a:cs typeface="Arial"/>
              </a:rPr>
              <a:t>ử</a:t>
            </a:r>
            <a:r>
              <a:rPr sz="3600" spc="-85" dirty="0">
                <a:latin typeface="Trebuchet MS"/>
                <a:cs typeface="Trebuchet MS"/>
              </a:rPr>
              <a:t>,</a:t>
            </a:r>
            <a:r>
              <a:rPr sz="3600" spc="229" dirty="0">
                <a:latin typeface="Trebuchet MS"/>
                <a:cs typeface="Trebuchet MS"/>
              </a:rPr>
              <a:t> </a:t>
            </a:r>
            <a:r>
              <a:rPr sz="3600" spc="-55" dirty="0">
                <a:latin typeface="Trebuchet MS"/>
                <a:cs typeface="Trebuchet MS"/>
              </a:rPr>
              <a:t>Web</a:t>
            </a:r>
            <a:endParaRPr sz="3600" dirty="0">
              <a:latin typeface="Trebuchet MS"/>
              <a:cs typeface="Trebuchet MS"/>
            </a:endParaRPr>
          </a:p>
          <a:p>
            <a:pPr marL="425450">
              <a:lnSpc>
                <a:spcPct val="100000"/>
              </a:lnSpc>
              <a:tabLst>
                <a:tab pos="2644775" algn="l"/>
                <a:tab pos="6371590" algn="l"/>
              </a:tabLst>
            </a:pPr>
            <a:r>
              <a:rPr sz="3600" spc="-5" dirty="0" smtClean="0">
                <a:latin typeface="Trebuchet MS"/>
                <a:cs typeface="Trebuchet MS"/>
              </a:rPr>
              <a:t>2.0</a:t>
            </a:r>
            <a:r>
              <a:rPr lang="en-US" sz="3600" spc="20" dirty="0" smtClean="0">
                <a:latin typeface="Trebuchet MS"/>
                <a:cs typeface="Trebuchet MS"/>
              </a:rPr>
              <a:t>, Social Networking System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0361" y="939546"/>
            <a:ext cx="7564120" cy="1498600"/>
            <a:chOff x="610361" y="939546"/>
            <a:chExt cx="7564120" cy="1498600"/>
          </a:xfrm>
        </p:grpSpPr>
        <p:sp>
          <p:nvSpPr>
            <p:cNvPr id="3" name="object 3"/>
            <p:cNvSpPr/>
            <p:nvPr/>
          </p:nvSpPr>
          <p:spPr>
            <a:xfrm>
              <a:off x="610361" y="939546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7313930" y="0"/>
                  </a:moveTo>
                  <a:lnTo>
                    <a:pt x="249694" y="0"/>
                  </a:lnTo>
                  <a:lnTo>
                    <a:pt x="204809" y="4021"/>
                  </a:lnTo>
                  <a:lnTo>
                    <a:pt x="162565" y="15617"/>
                  </a:lnTo>
                  <a:lnTo>
                    <a:pt x="123666" y="34083"/>
                  </a:lnTo>
                  <a:lnTo>
                    <a:pt x="88816" y="58713"/>
                  </a:lnTo>
                  <a:lnTo>
                    <a:pt x="58722" y="88804"/>
                  </a:lnTo>
                  <a:lnTo>
                    <a:pt x="34089" y="123650"/>
                  </a:lnTo>
                  <a:lnTo>
                    <a:pt x="15620" y="162549"/>
                  </a:lnTo>
                  <a:lnTo>
                    <a:pt x="4022" y="204794"/>
                  </a:lnTo>
                  <a:lnTo>
                    <a:pt x="0" y="249681"/>
                  </a:lnTo>
                  <a:lnTo>
                    <a:pt x="0" y="1248409"/>
                  </a:lnTo>
                  <a:lnTo>
                    <a:pt x="4022" y="1293297"/>
                  </a:lnTo>
                  <a:lnTo>
                    <a:pt x="15620" y="1335542"/>
                  </a:lnTo>
                  <a:lnTo>
                    <a:pt x="34089" y="1374441"/>
                  </a:lnTo>
                  <a:lnTo>
                    <a:pt x="58722" y="1409287"/>
                  </a:lnTo>
                  <a:lnTo>
                    <a:pt x="88816" y="1439378"/>
                  </a:lnTo>
                  <a:lnTo>
                    <a:pt x="123666" y="1464008"/>
                  </a:lnTo>
                  <a:lnTo>
                    <a:pt x="162565" y="1482474"/>
                  </a:lnTo>
                  <a:lnTo>
                    <a:pt x="204809" y="1494070"/>
                  </a:lnTo>
                  <a:lnTo>
                    <a:pt x="249694" y="1498091"/>
                  </a:lnTo>
                  <a:lnTo>
                    <a:pt x="7313930" y="1498091"/>
                  </a:lnTo>
                  <a:lnTo>
                    <a:pt x="7358817" y="1494070"/>
                  </a:lnTo>
                  <a:lnTo>
                    <a:pt x="7401062" y="1482474"/>
                  </a:lnTo>
                  <a:lnTo>
                    <a:pt x="7439961" y="1464008"/>
                  </a:lnTo>
                  <a:lnTo>
                    <a:pt x="7474807" y="1439378"/>
                  </a:lnTo>
                  <a:lnTo>
                    <a:pt x="7504898" y="1409287"/>
                  </a:lnTo>
                  <a:lnTo>
                    <a:pt x="7529528" y="1374441"/>
                  </a:lnTo>
                  <a:lnTo>
                    <a:pt x="7547994" y="1335542"/>
                  </a:lnTo>
                  <a:lnTo>
                    <a:pt x="7559590" y="1293297"/>
                  </a:lnTo>
                  <a:lnTo>
                    <a:pt x="7563611" y="1248409"/>
                  </a:lnTo>
                  <a:lnTo>
                    <a:pt x="7563611" y="249681"/>
                  </a:lnTo>
                  <a:lnTo>
                    <a:pt x="7559590" y="204794"/>
                  </a:lnTo>
                  <a:lnTo>
                    <a:pt x="7547994" y="162549"/>
                  </a:lnTo>
                  <a:lnTo>
                    <a:pt x="7529528" y="123650"/>
                  </a:lnTo>
                  <a:lnTo>
                    <a:pt x="7504898" y="88804"/>
                  </a:lnTo>
                  <a:lnTo>
                    <a:pt x="7474807" y="58713"/>
                  </a:lnTo>
                  <a:lnTo>
                    <a:pt x="7439961" y="34083"/>
                  </a:lnTo>
                  <a:lnTo>
                    <a:pt x="7401062" y="15617"/>
                  </a:lnTo>
                  <a:lnTo>
                    <a:pt x="7358817" y="4021"/>
                  </a:lnTo>
                  <a:lnTo>
                    <a:pt x="7313930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361" y="939546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0" y="249681"/>
                  </a:moveTo>
                  <a:lnTo>
                    <a:pt x="4022" y="204794"/>
                  </a:lnTo>
                  <a:lnTo>
                    <a:pt x="15620" y="162549"/>
                  </a:lnTo>
                  <a:lnTo>
                    <a:pt x="34089" y="123650"/>
                  </a:lnTo>
                  <a:lnTo>
                    <a:pt x="58722" y="88804"/>
                  </a:lnTo>
                  <a:lnTo>
                    <a:pt x="88816" y="58713"/>
                  </a:lnTo>
                  <a:lnTo>
                    <a:pt x="123666" y="34083"/>
                  </a:lnTo>
                  <a:lnTo>
                    <a:pt x="162565" y="15617"/>
                  </a:lnTo>
                  <a:lnTo>
                    <a:pt x="204809" y="4021"/>
                  </a:lnTo>
                  <a:lnTo>
                    <a:pt x="249694" y="0"/>
                  </a:lnTo>
                  <a:lnTo>
                    <a:pt x="7313930" y="0"/>
                  </a:lnTo>
                  <a:lnTo>
                    <a:pt x="7358817" y="4021"/>
                  </a:lnTo>
                  <a:lnTo>
                    <a:pt x="7401062" y="15617"/>
                  </a:lnTo>
                  <a:lnTo>
                    <a:pt x="7439961" y="34083"/>
                  </a:lnTo>
                  <a:lnTo>
                    <a:pt x="7474807" y="58713"/>
                  </a:lnTo>
                  <a:lnTo>
                    <a:pt x="7504898" y="88804"/>
                  </a:lnTo>
                  <a:lnTo>
                    <a:pt x="7529528" y="123650"/>
                  </a:lnTo>
                  <a:lnTo>
                    <a:pt x="7547994" y="162549"/>
                  </a:lnTo>
                  <a:lnTo>
                    <a:pt x="7559590" y="204794"/>
                  </a:lnTo>
                  <a:lnTo>
                    <a:pt x="7563611" y="249681"/>
                  </a:lnTo>
                  <a:lnTo>
                    <a:pt x="7563611" y="1248409"/>
                  </a:lnTo>
                  <a:lnTo>
                    <a:pt x="7559590" y="1293297"/>
                  </a:lnTo>
                  <a:lnTo>
                    <a:pt x="7547994" y="1335542"/>
                  </a:lnTo>
                  <a:lnTo>
                    <a:pt x="7529528" y="1374441"/>
                  </a:lnTo>
                  <a:lnTo>
                    <a:pt x="7504898" y="1409287"/>
                  </a:lnTo>
                  <a:lnTo>
                    <a:pt x="7474807" y="1439378"/>
                  </a:lnTo>
                  <a:lnTo>
                    <a:pt x="7439961" y="1464008"/>
                  </a:lnTo>
                  <a:lnTo>
                    <a:pt x="7401062" y="1482474"/>
                  </a:lnTo>
                  <a:lnTo>
                    <a:pt x="7358817" y="1494070"/>
                  </a:lnTo>
                  <a:lnTo>
                    <a:pt x="7313930" y="1498091"/>
                  </a:lnTo>
                  <a:lnTo>
                    <a:pt x="249694" y="1498091"/>
                  </a:lnTo>
                  <a:lnTo>
                    <a:pt x="204809" y="1494070"/>
                  </a:lnTo>
                  <a:lnTo>
                    <a:pt x="162565" y="1482474"/>
                  </a:lnTo>
                  <a:lnTo>
                    <a:pt x="123666" y="1464008"/>
                  </a:lnTo>
                  <a:lnTo>
                    <a:pt x="88816" y="1439378"/>
                  </a:lnTo>
                  <a:lnTo>
                    <a:pt x="58722" y="1409287"/>
                  </a:lnTo>
                  <a:lnTo>
                    <a:pt x="34089" y="1374441"/>
                  </a:lnTo>
                  <a:lnTo>
                    <a:pt x="15620" y="1335542"/>
                  </a:lnTo>
                  <a:lnTo>
                    <a:pt x="4022" y="1293297"/>
                  </a:lnTo>
                  <a:lnTo>
                    <a:pt x="0" y="1248409"/>
                  </a:lnTo>
                  <a:lnTo>
                    <a:pt x="0" y="249681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65387" y="280797"/>
            <a:ext cx="2065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latin typeface="Trebuchet MS"/>
                <a:cs typeface="Trebuchet MS"/>
              </a:rPr>
              <a:t>N</a:t>
            </a:r>
            <a:r>
              <a:rPr sz="3600" spc="-145" dirty="0">
                <a:latin typeface="Arial"/>
                <a:cs typeface="Arial"/>
              </a:rPr>
              <a:t>Ộ</a:t>
            </a:r>
            <a:r>
              <a:rPr sz="3600" spc="-145" dirty="0">
                <a:latin typeface="Trebuchet MS"/>
                <a:cs typeface="Trebuchet MS"/>
              </a:rPr>
              <a:t>I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5" dirty="0">
                <a:latin typeface="Trebuchet MS"/>
                <a:cs typeface="Trebuchet MS"/>
              </a:rPr>
              <a:t>DUNG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3891" y="1108659"/>
            <a:ext cx="390779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Eco</a:t>
            </a:r>
            <a:r>
              <a:rPr sz="4800" b="0" spc="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48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merce</a:t>
            </a:r>
            <a:endParaRPr sz="4800" dirty="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0455" y="2612135"/>
            <a:ext cx="7583805" cy="3199130"/>
            <a:chOff x="600455" y="2612135"/>
            <a:chExt cx="7583805" cy="3199130"/>
          </a:xfrm>
        </p:grpSpPr>
        <p:sp>
          <p:nvSpPr>
            <p:cNvPr id="8" name="object 8"/>
            <p:cNvSpPr/>
            <p:nvPr/>
          </p:nvSpPr>
          <p:spPr>
            <a:xfrm>
              <a:off x="610361" y="2622041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7313930" y="0"/>
                  </a:moveTo>
                  <a:lnTo>
                    <a:pt x="249694" y="0"/>
                  </a:lnTo>
                  <a:lnTo>
                    <a:pt x="204809" y="4021"/>
                  </a:lnTo>
                  <a:lnTo>
                    <a:pt x="162565" y="15617"/>
                  </a:lnTo>
                  <a:lnTo>
                    <a:pt x="123666" y="34083"/>
                  </a:lnTo>
                  <a:lnTo>
                    <a:pt x="88816" y="58713"/>
                  </a:lnTo>
                  <a:lnTo>
                    <a:pt x="58722" y="88804"/>
                  </a:lnTo>
                  <a:lnTo>
                    <a:pt x="34089" y="123650"/>
                  </a:lnTo>
                  <a:lnTo>
                    <a:pt x="15620" y="162549"/>
                  </a:lnTo>
                  <a:lnTo>
                    <a:pt x="4022" y="204794"/>
                  </a:lnTo>
                  <a:lnTo>
                    <a:pt x="0" y="249682"/>
                  </a:lnTo>
                  <a:lnTo>
                    <a:pt x="0" y="1248410"/>
                  </a:lnTo>
                  <a:lnTo>
                    <a:pt x="4022" y="1293297"/>
                  </a:lnTo>
                  <a:lnTo>
                    <a:pt x="15620" y="1335542"/>
                  </a:lnTo>
                  <a:lnTo>
                    <a:pt x="34089" y="1374441"/>
                  </a:lnTo>
                  <a:lnTo>
                    <a:pt x="58722" y="1409287"/>
                  </a:lnTo>
                  <a:lnTo>
                    <a:pt x="88816" y="1439378"/>
                  </a:lnTo>
                  <a:lnTo>
                    <a:pt x="123666" y="1464008"/>
                  </a:lnTo>
                  <a:lnTo>
                    <a:pt x="162565" y="1482474"/>
                  </a:lnTo>
                  <a:lnTo>
                    <a:pt x="204809" y="1494070"/>
                  </a:lnTo>
                  <a:lnTo>
                    <a:pt x="249694" y="1498092"/>
                  </a:lnTo>
                  <a:lnTo>
                    <a:pt x="7313930" y="1498092"/>
                  </a:lnTo>
                  <a:lnTo>
                    <a:pt x="7358817" y="1494070"/>
                  </a:lnTo>
                  <a:lnTo>
                    <a:pt x="7401062" y="1482474"/>
                  </a:lnTo>
                  <a:lnTo>
                    <a:pt x="7439961" y="1464008"/>
                  </a:lnTo>
                  <a:lnTo>
                    <a:pt x="7474807" y="1439378"/>
                  </a:lnTo>
                  <a:lnTo>
                    <a:pt x="7504898" y="1409287"/>
                  </a:lnTo>
                  <a:lnTo>
                    <a:pt x="7529528" y="1374441"/>
                  </a:lnTo>
                  <a:lnTo>
                    <a:pt x="7547994" y="1335542"/>
                  </a:lnTo>
                  <a:lnTo>
                    <a:pt x="7559590" y="1293297"/>
                  </a:lnTo>
                  <a:lnTo>
                    <a:pt x="7563611" y="1248410"/>
                  </a:lnTo>
                  <a:lnTo>
                    <a:pt x="7563611" y="249682"/>
                  </a:lnTo>
                  <a:lnTo>
                    <a:pt x="7559590" y="204794"/>
                  </a:lnTo>
                  <a:lnTo>
                    <a:pt x="7547994" y="162549"/>
                  </a:lnTo>
                  <a:lnTo>
                    <a:pt x="7529528" y="123650"/>
                  </a:lnTo>
                  <a:lnTo>
                    <a:pt x="7504898" y="88804"/>
                  </a:lnTo>
                  <a:lnTo>
                    <a:pt x="7474807" y="58713"/>
                  </a:lnTo>
                  <a:lnTo>
                    <a:pt x="7439961" y="34083"/>
                  </a:lnTo>
                  <a:lnTo>
                    <a:pt x="7401062" y="15617"/>
                  </a:lnTo>
                  <a:lnTo>
                    <a:pt x="7358817" y="4021"/>
                  </a:lnTo>
                  <a:lnTo>
                    <a:pt x="7313930" y="0"/>
                  </a:lnTo>
                  <a:close/>
                </a:path>
              </a:pathLst>
            </a:custGeom>
            <a:solidFill>
              <a:srgbClr val="42D0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0361" y="2622041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0" y="249682"/>
                  </a:moveTo>
                  <a:lnTo>
                    <a:pt x="4022" y="204794"/>
                  </a:lnTo>
                  <a:lnTo>
                    <a:pt x="15620" y="162549"/>
                  </a:lnTo>
                  <a:lnTo>
                    <a:pt x="34089" y="123650"/>
                  </a:lnTo>
                  <a:lnTo>
                    <a:pt x="58722" y="88804"/>
                  </a:lnTo>
                  <a:lnTo>
                    <a:pt x="88816" y="58713"/>
                  </a:lnTo>
                  <a:lnTo>
                    <a:pt x="123666" y="34083"/>
                  </a:lnTo>
                  <a:lnTo>
                    <a:pt x="162565" y="15617"/>
                  </a:lnTo>
                  <a:lnTo>
                    <a:pt x="204809" y="4021"/>
                  </a:lnTo>
                  <a:lnTo>
                    <a:pt x="249694" y="0"/>
                  </a:lnTo>
                  <a:lnTo>
                    <a:pt x="7313930" y="0"/>
                  </a:lnTo>
                  <a:lnTo>
                    <a:pt x="7358817" y="4021"/>
                  </a:lnTo>
                  <a:lnTo>
                    <a:pt x="7401062" y="15617"/>
                  </a:lnTo>
                  <a:lnTo>
                    <a:pt x="7439961" y="34083"/>
                  </a:lnTo>
                  <a:lnTo>
                    <a:pt x="7474807" y="58713"/>
                  </a:lnTo>
                  <a:lnTo>
                    <a:pt x="7504898" y="88804"/>
                  </a:lnTo>
                  <a:lnTo>
                    <a:pt x="7529528" y="123650"/>
                  </a:lnTo>
                  <a:lnTo>
                    <a:pt x="7547994" y="162549"/>
                  </a:lnTo>
                  <a:lnTo>
                    <a:pt x="7559590" y="204794"/>
                  </a:lnTo>
                  <a:lnTo>
                    <a:pt x="7563611" y="249682"/>
                  </a:lnTo>
                  <a:lnTo>
                    <a:pt x="7563611" y="1248410"/>
                  </a:lnTo>
                  <a:lnTo>
                    <a:pt x="7559590" y="1293297"/>
                  </a:lnTo>
                  <a:lnTo>
                    <a:pt x="7547994" y="1335542"/>
                  </a:lnTo>
                  <a:lnTo>
                    <a:pt x="7529528" y="1374441"/>
                  </a:lnTo>
                  <a:lnTo>
                    <a:pt x="7504898" y="1409287"/>
                  </a:lnTo>
                  <a:lnTo>
                    <a:pt x="7474807" y="1439378"/>
                  </a:lnTo>
                  <a:lnTo>
                    <a:pt x="7439961" y="1464008"/>
                  </a:lnTo>
                  <a:lnTo>
                    <a:pt x="7401062" y="1482474"/>
                  </a:lnTo>
                  <a:lnTo>
                    <a:pt x="7358817" y="1494070"/>
                  </a:lnTo>
                  <a:lnTo>
                    <a:pt x="7313930" y="1498092"/>
                  </a:lnTo>
                  <a:lnTo>
                    <a:pt x="249694" y="1498092"/>
                  </a:lnTo>
                  <a:lnTo>
                    <a:pt x="204809" y="1494070"/>
                  </a:lnTo>
                  <a:lnTo>
                    <a:pt x="162565" y="1482474"/>
                  </a:lnTo>
                  <a:lnTo>
                    <a:pt x="123666" y="1464008"/>
                  </a:lnTo>
                  <a:lnTo>
                    <a:pt x="88816" y="1439378"/>
                  </a:lnTo>
                  <a:lnTo>
                    <a:pt x="58722" y="1409287"/>
                  </a:lnTo>
                  <a:lnTo>
                    <a:pt x="34089" y="1374441"/>
                  </a:lnTo>
                  <a:lnTo>
                    <a:pt x="15620" y="1335542"/>
                  </a:lnTo>
                  <a:lnTo>
                    <a:pt x="4022" y="1293297"/>
                  </a:lnTo>
                  <a:lnTo>
                    <a:pt x="0" y="1248410"/>
                  </a:lnTo>
                  <a:lnTo>
                    <a:pt x="0" y="249682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361" y="4304537"/>
              <a:ext cx="7564120" cy="1496695"/>
            </a:xfrm>
            <a:custGeom>
              <a:avLst/>
              <a:gdLst/>
              <a:ahLst/>
              <a:cxnLst/>
              <a:rect l="l" t="t" r="r" b="b"/>
              <a:pathLst>
                <a:path w="7564120" h="1496695">
                  <a:moveTo>
                    <a:pt x="7314184" y="0"/>
                  </a:moveTo>
                  <a:lnTo>
                    <a:pt x="249428" y="0"/>
                  </a:lnTo>
                  <a:lnTo>
                    <a:pt x="204592" y="4017"/>
                  </a:lnTo>
                  <a:lnTo>
                    <a:pt x="162393" y="15600"/>
                  </a:lnTo>
                  <a:lnTo>
                    <a:pt x="123536" y="34045"/>
                  </a:lnTo>
                  <a:lnTo>
                    <a:pt x="88724" y="58649"/>
                  </a:lnTo>
                  <a:lnTo>
                    <a:pt x="58661" y="88708"/>
                  </a:lnTo>
                  <a:lnTo>
                    <a:pt x="34053" y="123519"/>
                  </a:lnTo>
                  <a:lnTo>
                    <a:pt x="15604" y="162378"/>
                  </a:lnTo>
                  <a:lnTo>
                    <a:pt x="4018" y="204582"/>
                  </a:lnTo>
                  <a:lnTo>
                    <a:pt x="0" y="249428"/>
                  </a:lnTo>
                  <a:lnTo>
                    <a:pt x="0" y="1247140"/>
                  </a:lnTo>
                  <a:lnTo>
                    <a:pt x="4018" y="1291975"/>
                  </a:lnTo>
                  <a:lnTo>
                    <a:pt x="15604" y="1334174"/>
                  </a:lnTo>
                  <a:lnTo>
                    <a:pt x="34053" y="1373031"/>
                  </a:lnTo>
                  <a:lnTo>
                    <a:pt x="58661" y="1407843"/>
                  </a:lnTo>
                  <a:lnTo>
                    <a:pt x="88724" y="1437906"/>
                  </a:lnTo>
                  <a:lnTo>
                    <a:pt x="123536" y="1462514"/>
                  </a:lnTo>
                  <a:lnTo>
                    <a:pt x="162393" y="1480963"/>
                  </a:lnTo>
                  <a:lnTo>
                    <a:pt x="204592" y="1492549"/>
                  </a:lnTo>
                  <a:lnTo>
                    <a:pt x="249428" y="1496568"/>
                  </a:lnTo>
                  <a:lnTo>
                    <a:pt x="7314184" y="1496568"/>
                  </a:lnTo>
                  <a:lnTo>
                    <a:pt x="7359029" y="1492549"/>
                  </a:lnTo>
                  <a:lnTo>
                    <a:pt x="7401233" y="1480963"/>
                  </a:lnTo>
                  <a:lnTo>
                    <a:pt x="7440092" y="1462514"/>
                  </a:lnTo>
                  <a:lnTo>
                    <a:pt x="7474903" y="1437906"/>
                  </a:lnTo>
                  <a:lnTo>
                    <a:pt x="7504962" y="1407843"/>
                  </a:lnTo>
                  <a:lnTo>
                    <a:pt x="7529566" y="1373031"/>
                  </a:lnTo>
                  <a:lnTo>
                    <a:pt x="7548011" y="1334174"/>
                  </a:lnTo>
                  <a:lnTo>
                    <a:pt x="7559594" y="1291975"/>
                  </a:lnTo>
                  <a:lnTo>
                    <a:pt x="7563611" y="1247140"/>
                  </a:lnTo>
                  <a:lnTo>
                    <a:pt x="7563611" y="249428"/>
                  </a:lnTo>
                  <a:lnTo>
                    <a:pt x="7559594" y="204582"/>
                  </a:lnTo>
                  <a:lnTo>
                    <a:pt x="7548011" y="162378"/>
                  </a:lnTo>
                  <a:lnTo>
                    <a:pt x="7529566" y="123519"/>
                  </a:lnTo>
                  <a:lnTo>
                    <a:pt x="7504962" y="88708"/>
                  </a:lnTo>
                  <a:lnTo>
                    <a:pt x="7474903" y="58649"/>
                  </a:lnTo>
                  <a:lnTo>
                    <a:pt x="7440092" y="34045"/>
                  </a:lnTo>
                  <a:lnTo>
                    <a:pt x="7401233" y="15600"/>
                  </a:lnTo>
                  <a:lnTo>
                    <a:pt x="7359029" y="4017"/>
                  </a:lnTo>
                  <a:lnTo>
                    <a:pt x="7314184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361" y="4304537"/>
              <a:ext cx="7564120" cy="1496695"/>
            </a:xfrm>
            <a:custGeom>
              <a:avLst/>
              <a:gdLst/>
              <a:ahLst/>
              <a:cxnLst/>
              <a:rect l="l" t="t" r="r" b="b"/>
              <a:pathLst>
                <a:path w="7564120" h="1496695">
                  <a:moveTo>
                    <a:pt x="0" y="249428"/>
                  </a:moveTo>
                  <a:lnTo>
                    <a:pt x="4018" y="204582"/>
                  </a:lnTo>
                  <a:lnTo>
                    <a:pt x="15604" y="162378"/>
                  </a:lnTo>
                  <a:lnTo>
                    <a:pt x="34053" y="123519"/>
                  </a:lnTo>
                  <a:lnTo>
                    <a:pt x="58661" y="88708"/>
                  </a:lnTo>
                  <a:lnTo>
                    <a:pt x="88724" y="58649"/>
                  </a:lnTo>
                  <a:lnTo>
                    <a:pt x="123536" y="34045"/>
                  </a:lnTo>
                  <a:lnTo>
                    <a:pt x="162393" y="15600"/>
                  </a:lnTo>
                  <a:lnTo>
                    <a:pt x="204592" y="4017"/>
                  </a:lnTo>
                  <a:lnTo>
                    <a:pt x="249428" y="0"/>
                  </a:lnTo>
                  <a:lnTo>
                    <a:pt x="7314184" y="0"/>
                  </a:lnTo>
                  <a:lnTo>
                    <a:pt x="7359029" y="4017"/>
                  </a:lnTo>
                  <a:lnTo>
                    <a:pt x="7401233" y="15600"/>
                  </a:lnTo>
                  <a:lnTo>
                    <a:pt x="7440092" y="34045"/>
                  </a:lnTo>
                  <a:lnTo>
                    <a:pt x="7474903" y="58649"/>
                  </a:lnTo>
                  <a:lnTo>
                    <a:pt x="7504962" y="88708"/>
                  </a:lnTo>
                  <a:lnTo>
                    <a:pt x="7529566" y="123519"/>
                  </a:lnTo>
                  <a:lnTo>
                    <a:pt x="7548011" y="162378"/>
                  </a:lnTo>
                  <a:lnTo>
                    <a:pt x="7559594" y="204582"/>
                  </a:lnTo>
                  <a:lnTo>
                    <a:pt x="7563611" y="249428"/>
                  </a:lnTo>
                  <a:lnTo>
                    <a:pt x="7563611" y="1247140"/>
                  </a:lnTo>
                  <a:lnTo>
                    <a:pt x="7559594" y="1291975"/>
                  </a:lnTo>
                  <a:lnTo>
                    <a:pt x="7548011" y="1334174"/>
                  </a:lnTo>
                  <a:lnTo>
                    <a:pt x="7529566" y="1373031"/>
                  </a:lnTo>
                  <a:lnTo>
                    <a:pt x="7504962" y="1407843"/>
                  </a:lnTo>
                  <a:lnTo>
                    <a:pt x="7474903" y="1437906"/>
                  </a:lnTo>
                  <a:lnTo>
                    <a:pt x="7440092" y="1462514"/>
                  </a:lnTo>
                  <a:lnTo>
                    <a:pt x="7401233" y="1480963"/>
                  </a:lnTo>
                  <a:lnTo>
                    <a:pt x="7359029" y="1492549"/>
                  </a:lnTo>
                  <a:lnTo>
                    <a:pt x="7314184" y="1496568"/>
                  </a:lnTo>
                  <a:lnTo>
                    <a:pt x="249428" y="1496568"/>
                  </a:lnTo>
                  <a:lnTo>
                    <a:pt x="204592" y="1492549"/>
                  </a:lnTo>
                  <a:lnTo>
                    <a:pt x="162393" y="1480963"/>
                  </a:lnTo>
                  <a:lnTo>
                    <a:pt x="123536" y="1462514"/>
                  </a:lnTo>
                  <a:lnTo>
                    <a:pt x="88724" y="1437906"/>
                  </a:lnTo>
                  <a:lnTo>
                    <a:pt x="58661" y="1407843"/>
                  </a:lnTo>
                  <a:lnTo>
                    <a:pt x="34053" y="1373031"/>
                  </a:lnTo>
                  <a:lnTo>
                    <a:pt x="15604" y="1334174"/>
                  </a:lnTo>
                  <a:lnTo>
                    <a:pt x="4018" y="1291975"/>
                  </a:lnTo>
                  <a:lnTo>
                    <a:pt x="0" y="1247140"/>
                  </a:lnTo>
                  <a:lnTo>
                    <a:pt x="0" y="249428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3890" y="2791459"/>
            <a:ext cx="6629909" cy="22076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3385" algn="l"/>
              </a:tabLst>
            </a:pPr>
            <a:r>
              <a:rPr sz="4800" spc="-180" dirty="0">
                <a:solidFill>
                  <a:srgbClr val="FFFFFF"/>
                </a:solidFill>
                <a:latin typeface="Times New Roman"/>
                <a:cs typeface="Times New Roman"/>
              </a:rPr>
              <a:t>Web	</a:t>
            </a:r>
            <a:r>
              <a:rPr sz="4800" dirty="0">
                <a:solidFill>
                  <a:srgbClr val="FFFFFF"/>
                </a:solidFill>
                <a:latin typeface="Times New Roman"/>
                <a:cs typeface="Times New Roman"/>
              </a:rPr>
              <a:t>2.0</a:t>
            </a:r>
            <a:endParaRPr sz="4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65"/>
              </a:spcBef>
            </a:pPr>
            <a:r>
              <a:rPr lang="en-US" sz="4800" spc="-5" dirty="0" smtClean="0">
                <a:solidFill>
                  <a:srgbClr val="FFFFFF"/>
                </a:solidFill>
                <a:latin typeface="Times New Roman"/>
                <a:cs typeface="Times New Roman"/>
              </a:rPr>
              <a:t>Social Networking System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9386" y="6072632"/>
            <a:ext cx="501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94372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FCAEE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 101"/>
          <p:cNvSpPr txBox="1"/>
          <p:nvPr/>
        </p:nvSpPr>
        <p:spPr>
          <a:xfrm>
            <a:off x="343610" y="1041272"/>
            <a:ext cx="8114589" cy="4090863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5080" indent="-342900" algn="just">
              <a:lnSpc>
                <a:spcPts val="2300"/>
              </a:lnSpc>
              <a:spcBef>
                <a:spcPts val="660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Định nghĩa Thương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mại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tử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(Ecommerce)</a:t>
            </a:r>
            <a:r>
              <a:rPr sz="2400" b="1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và  kinh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doanh điện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(Ebusiness)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45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Công nghệ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Internet &amp; ảnh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hưởng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nó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34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mô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hình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kinh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doanh</a:t>
            </a:r>
            <a:r>
              <a:rPr sz="2400" b="1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mới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20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loại hình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Ecommerce: B2C, B2B,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C2C</a:t>
            </a:r>
            <a:endParaRPr sz="2400" dirty="0">
              <a:latin typeface="Times New Roman"/>
              <a:cs typeface="Times New Roman"/>
            </a:endParaRPr>
          </a:p>
          <a:p>
            <a:pPr marL="354965" marR="76835" indent="-342900" algn="just">
              <a:lnSpc>
                <a:spcPct val="80000"/>
              </a:lnSpc>
              <a:spcBef>
                <a:spcPts val="994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Bán lẻ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hướng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tới khách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hàng: bán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trực tiếp</a:t>
            </a:r>
            <a:r>
              <a:rPr sz="2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trên  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Web,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tiếp thị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tương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tác &amp; cá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nhân hóa,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M- 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commerce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&amp; thế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tiếp thị kế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tiếp,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khách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hàng 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tự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phục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vụ</a:t>
            </a:r>
            <a:endParaRPr sz="2400" dirty="0">
              <a:latin typeface="Times New Roman"/>
              <a:cs typeface="Times New Roman"/>
            </a:endParaRPr>
          </a:p>
          <a:p>
            <a:pPr marL="354965" marR="123189" indent="-342900" algn="just">
              <a:lnSpc>
                <a:spcPct val="80000"/>
              </a:lnSpc>
              <a:spcBef>
                <a:spcPts val="1010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Thương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mại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tử giữa các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doanh nghiệp: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các 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quan hệ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&amp;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hiệu ứng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mới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420"/>
              </a:spcBef>
              <a:buClr>
                <a:srgbClr val="5FCAEE"/>
              </a:buClr>
              <a:buSzPct val="125000"/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HT thanh toán chính 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trong</a:t>
            </a:r>
            <a:r>
              <a:rPr sz="24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Ecommerce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3" name="object 5"/>
          <p:cNvSpPr txBox="1"/>
          <p:nvPr/>
        </p:nvSpPr>
        <p:spPr>
          <a:xfrm>
            <a:off x="3465387" y="280797"/>
            <a:ext cx="2065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latin typeface="Trebuchet MS"/>
                <a:cs typeface="Trebuchet MS"/>
              </a:rPr>
              <a:t>N</a:t>
            </a:r>
            <a:r>
              <a:rPr sz="3600" spc="-145" dirty="0">
                <a:latin typeface="Arial"/>
                <a:cs typeface="Arial"/>
              </a:rPr>
              <a:t>Ộ</a:t>
            </a:r>
            <a:r>
              <a:rPr sz="3600" spc="-145" dirty="0">
                <a:latin typeface="Trebuchet MS"/>
                <a:cs typeface="Trebuchet MS"/>
              </a:rPr>
              <a:t>I</a:t>
            </a:r>
            <a:r>
              <a:rPr sz="3600" spc="-70" dirty="0">
                <a:latin typeface="Trebuchet MS"/>
                <a:cs typeface="Trebuchet MS"/>
              </a:rPr>
              <a:t> </a:t>
            </a:r>
            <a:r>
              <a:rPr sz="3600" spc="-5" dirty="0">
                <a:latin typeface="Trebuchet MS"/>
                <a:cs typeface="Trebuchet MS"/>
              </a:rPr>
              <a:t>DUNG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425294" y="729639"/>
            <a:ext cx="62560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70" dirty="0">
                <a:latin typeface="Trebuchet MS"/>
                <a:cs typeface="Trebuchet MS"/>
              </a:rPr>
              <a:t>Th</a:t>
            </a:r>
            <a:r>
              <a:rPr sz="2500" b="1" spc="-70" dirty="0">
                <a:latin typeface="Arial"/>
                <a:cs typeface="Arial"/>
              </a:rPr>
              <a:t>ươ</a:t>
            </a:r>
            <a:r>
              <a:rPr sz="2500" b="1" spc="-70" dirty="0">
                <a:latin typeface="Trebuchet MS"/>
                <a:cs typeface="Trebuchet MS"/>
              </a:rPr>
              <a:t>ng </a:t>
            </a:r>
            <a:r>
              <a:rPr sz="2500" b="1" spc="-55" dirty="0">
                <a:latin typeface="Trebuchet MS"/>
                <a:cs typeface="Trebuchet MS"/>
              </a:rPr>
              <a:t>m</a:t>
            </a:r>
            <a:r>
              <a:rPr sz="2500" b="1" spc="-55" dirty="0">
                <a:latin typeface="Arial"/>
                <a:cs typeface="Arial"/>
              </a:rPr>
              <a:t>ạ</a:t>
            </a:r>
            <a:r>
              <a:rPr sz="2500" b="1" spc="-55" dirty="0">
                <a:latin typeface="Trebuchet MS"/>
                <a:cs typeface="Trebuchet MS"/>
              </a:rPr>
              <a:t>i </a:t>
            </a:r>
            <a:r>
              <a:rPr sz="2500" b="1" spc="-35" dirty="0">
                <a:latin typeface="Trebuchet MS"/>
                <a:cs typeface="Trebuchet MS"/>
              </a:rPr>
              <a:t>đi</a:t>
            </a:r>
            <a:r>
              <a:rPr sz="2500" b="1" spc="-35" dirty="0">
                <a:latin typeface="Arial"/>
                <a:cs typeface="Arial"/>
              </a:rPr>
              <a:t>ệ</a:t>
            </a:r>
            <a:r>
              <a:rPr sz="2500" b="1" spc="-35" dirty="0">
                <a:latin typeface="Trebuchet MS"/>
                <a:cs typeface="Trebuchet MS"/>
              </a:rPr>
              <a:t>n </a:t>
            </a:r>
            <a:r>
              <a:rPr sz="2500" b="1" spc="-100" dirty="0">
                <a:latin typeface="Trebuchet MS"/>
                <a:cs typeface="Trebuchet MS"/>
              </a:rPr>
              <a:t>t</a:t>
            </a:r>
            <a:r>
              <a:rPr sz="2500" b="1" spc="-100" dirty="0">
                <a:latin typeface="Arial"/>
                <a:cs typeface="Arial"/>
              </a:rPr>
              <a:t>ử </a:t>
            </a:r>
            <a:r>
              <a:rPr sz="2500" b="1" spc="-5" dirty="0">
                <a:latin typeface="Trebuchet MS"/>
                <a:cs typeface="Trebuchet MS"/>
              </a:rPr>
              <a:t>và kinh doanh </a:t>
            </a:r>
            <a:r>
              <a:rPr sz="2500" b="1" spc="-35" dirty="0">
                <a:latin typeface="Trebuchet MS"/>
                <a:cs typeface="Trebuchet MS"/>
              </a:rPr>
              <a:t>đi</a:t>
            </a:r>
            <a:r>
              <a:rPr sz="2500" b="1" spc="-35" dirty="0">
                <a:latin typeface="Arial"/>
                <a:cs typeface="Arial"/>
              </a:rPr>
              <a:t>ệ</a:t>
            </a:r>
            <a:r>
              <a:rPr sz="2500" b="1" spc="-35" dirty="0">
                <a:latin typeface="Trebuchet MS"/>
                <a:cs typeface="Trebuchet MS"/>
              </a:rPr>
              <a:t>n</a:t>
            </a:r>
            <a:r>
              <a:rPr sz="2500" b="1" spc="305" dirty="0">
                <a:latin typeface="Trebuchet MS"/>
                <a:cs typeface="Trebuchet MS"/>
              </a:rPr>
              <a:t> </a:t>
            </a:r>
            <a:r>
              <a:rPr sz="2500" b="1" spc="-105" dirty="0">
                <a:latin typeface="Trebuchet MS"/>
                <a:cs typeface="Trebuchet MS"/>
              </a:rPr>
              <a:t>t</a:t>
            </a:r>
            <a:r>
              <a:rPr sz="2500" b="1" spc="-105" dirty="0">
                <a:latin typeface="Arial"/>
                <a:cs typeface="Arial"/>
              </a:rPr>
              <a:t>ử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43611" y="1262657"/>
            <a:ext cx="8419389" cy="12191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marR="5080" indent="-342900" algn="just">
              <a:lnSpc>
                <a:spcPct val="90000"/>
              </a:lnSpc>
              <a:spcBef>
                <a:spcPts val="434"/>
              </a:spcBef>
            </a:pPr>
            <a:r>
              <a:rPr sz="2250" b="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TMĐT (e-commerce) là </a:t>
            </a:r>
            <a:r>
              <a:rPr sz="2800" b="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giao dịch</a:t>
            </a:r>
            <a:r>
              <a:rPr sz="2800" b="0" spc="-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0" spc="-170" dirty="0">
                <a:solidFill>
                  <a:srgbClr val="404040"/>
                </a:solidFill>
                <a:latin typeface="Times New Roman"/>
                <a:cs typeface="Times New Roman"/>
              </a:rPr>
              <a:t>được 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thực hiện trên </a:t>
            </a:r>
            <a:r>
              <a:rPr sz="2800" b="0" spc="-10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Internet giữa </a:t>
            </a:r>
            <a:r>
              <a:rPr sz="2800" b="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DN 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với </a:t>
            </a:r>
            <a:r>
              <a:rPr sz="2800" b="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KH mua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và sử dụng hàng hóa và  dịch vụ hoặc giữa </a:t>
            </a:r>
            <a:r>
              <a:rPr sz="2800" b="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DN </a:t>
            </a:r>
            <a:r>
              <a:rPr sz="2800" b="0" spc="-5" dirty="0">
                <a:solidFill>
                  <a:srgbClr val="404040"/>
                </a:solidFill>
                <a:latin typeface="Times New Roman"/>
                <a:cs typeface="Times New Roman"/>
              </a:rPr>
              <a:t>với nhau.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610" y="2735072"/>
            <a:ext cx="8419389" cy="23723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4965" marR="113664" indent="-342900" algn="just">
              <a:lnSpc>
                <a:spcPct val="90000"/>
              </a:lnSpc>
              <a:spcBef>
                <a:spcPts val="43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Kinh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doanh điện tử (e-business) là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một</a:t>
            </a:r>
            <a:r>
              <a:rPr sz="2800" spc="-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65" dirty="0">
                <a:solidFill>
                  <a:srgbClr val="404040"/>
                </a:solidFill>
                <a:latin typeface="Times New Roman"/>
                <a:cs typeface="Times New Roman"/>
              </a:rPr>
              <a:t>khái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niệm rộng hơn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800" spc="-50" dirty="0">
                <a:solidFill>
                  <a:srgbClr val="404040"/>
                </a:solidFill>
                <a:latin typeface="Times New Roman"/>
                <a:cs typeface="Times New Roman"/>
              </a:rPr>
              <a:t>TMĐT.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Nó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không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chỉ  bao gồm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hoạt động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mua,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bán,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mà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gồm  cả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dịch vụ khách hàng, liên kết với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</a:t>
            </a:r>
            <a:endParaRPr sz="2800" dirty="0">
              <a:latin typeface="Times New Roman"/>
              <a:cs typeface="Times New Roman"/>
            </a:endParaRPr>
          </a:p>
          <a:p>
            <a:pPr marL="354965" marR="5080" algn="just">
              <a:lnSpc>
                <a:spcPts val="3020"/>
              </a:lnSpc>
              <a:spcBef>
                <a:spcPts val="50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đối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tác, và thiết lập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giao dịch điện tử bên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trong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tổ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chức.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66998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5" dirty="0">
                <a:latin typeface="Trebuchet MS"/>
                <a:cs typeface="Trebuchet MS"/>
              </a:rPr>
              <a:t>Các </a:t>
            </a:r>
            <a:r>
              <a:rPr sz="3600" b="0" spc="-75" dirty="0">
                <a:latin typeface="Trebuchet MS"/>
                <a:cs typeface="Trebuchet MS"/>
              </a:rPr>
              <a:t>lo</a:t>
            </a:r>
            <a:r>
              <a:rPr sz="3600" b="0" spc="-75" dirty="0">
                <a:latin typeface="Arial"/>
                <a:cs typeface="Arial"/>
              </a:rPr>
              <a:t>ạ</a:t>
            </a:r>
            <a:r>
              <a:rPr sz="3600" b="0" spc="-75" dirty="0">
                <a:latin typeface="Trebuchet MS"/>
                <a:cs typeface="Trebuchet MS"/>
              </a:rPr>
              <a:t>i </a:t>
            </a:r>
            <a:r>
              <a:rPr sz="3600" b="0" spc="-5" dirty="0">
                <a:latin typeface="Trebuchet MS"/>
                <a:cs typeface="Trebuchet MS"/>
              </a:rPr>
              <a:t>hình </a:t>
            </a:r>
            <a:r>
              <a:rPr sz="3600" b="0" spc="-90" dirty="0">
                <a:latin typeface="Trebuchet MS"/>
                <a:cs typeface="Trebuchet MS"/>
              </a:rPr>
              <a:t>th</a:t>
            </a:r>
            <a:r>
              <a:rPr sz="3600" b="0" spc="-90" dirty="0">
                <a:latin typeface="Arial"/>
                <a:cs typeface="Arial"/>
              </a:rPr>
              <a:t>ươ</a:t>
            </a:r>
            <a:r>
              <a:rPr sz="3600" b="0" spc="-90" dirty="0">
                <a:latin typeface="Trebuchet MS"/>
                <a:cs typeface="Trebuchet MS"/>
              </a:rPr>
              <a:t>ng </a:t>
            </a:r>
            <a:r>
              <a:rPr sz="3600" b="0" spc="-95" dirty="0">
                <a:latin typeface="Trebuchet MS"/>
                <a:cs typeface="Trebuchet MS"/>
              </a:rPr>
              <a:t>m</a:t>
            </a:r>
            <a:r>
              <a:rPr sz="3600" b="0" spc="-95" dirty="0">
                <a:latin typeface="Arial"/>
                <a:cs typeface="Arial"/>
              </a:rPr>
              <a:t>ạ</a:t>
            </a:r>
            <a:r>
              <a:rPr sz="3600" b="0" spc="-95" dirty="0">
                <a:latin typeface="Trebuchet MS"/>
                <a:cs typeface="Trebuchet MS"/>
              </a:rPr>
              <a:t>i </a:t>
            </a:r>
            <a:r>
              <a:rPr sz="3600" b="0" spc="-55" dirty="0">
                <a:latin typeface="Trebuchet MS"/>
                <a:cs typeface="Trebuchet MS"/>
              </a:rPr>
              <a:t>đi</a:t>
            </a:r>
            <a:r>
              <a:rPr sz="3600" b="0" spc="-55" dirty="0">
                <a:latin typeface="Arial"/>
                <a:cs typeface="Arial"/>
              </a:rPr>
              <a:t>ệ</a:t>
            </a:r>
            <a:r>
              <a:rPr sz="3600" b="0" spc="-55" dirty="0">
                <a:latin typeface="Trebuchet MS"/>
                <a:cs typeface="Trebuchet MS"/>
              </a:rPr>
              <a:t>n</a:t>
            </a:r>
            <a:r>
              <a:rPr sz="3600" b="0" spc="215" dirty="0">
                <a:latin typeface="Trebuchet MS"/>
                <a:cs typeface="Trebuchet MS"/>
              </a:rPr>
              <a:t> </a:t>
            </a:r>
            <a:r>
              <a:rPr sz="3600" b="0" spc="-125" dirty="0">
                <a:latin typeface="Trebuchet MS"/>
                <a:cs typeface="Trebuchet MS"/>
              </a:rPr>
              <a:t>t</a:t>
            </a:r>
            <a:r>
              <a:rPr sz="3600" b="0" spc="-125" dirty="0">
                <a:latin typeface="Arial"/>
                <a:cs typeface="Arial"/>
              </a:rPr>
              <a:t>ử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335" y="1981200"/>
            <a:ext cx="8343189" cy="2457083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loại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hình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thương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mại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sz="2800" spc="-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tử:</a:t>
            </a:r>
            <a:endParaRPr sz="2800" dirty="0">
              <a:latin typeface="Times New Roman"/>
              <a:cs typeface="Times New Roman"/>
            </a:endParaRPr>
          </a:p>
          <a:p>
            <a:pPr marL="756285" marR="5080" indent="-287020">
              <a:lnSpc>
                <a:spcPct val="100000"/>
              </a:lnSpc>
              <a:spcBef>
                <a:spcPts val="101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-10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Merchant: các công ty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đi bán lại hàng </a:t>
            </a:r>
            <a:r>
              <a:rPr sz="2400" spc="-190" dirty="0">
                <a:solidFill>
                  <a:srgbClr val="404040"/>
                </a:solidFill>
                <a:latin typeface="Times New Roman"/>
                <a:cs typeface="Times New Roman"/>
              </a:rPr>
              <a:t>hóa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và dịch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vụ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-10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Non merchant: các công ty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đóng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vai trò trung</a:t>
            </a:r>
            <a:endParaRPr sz="2400" dirty="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gian cho các giao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dịch</a:t>
            </a:r>
            <a:endParaRPr sz="2400" dirty="0">
              <a:latin typeface="Times New Roman"/>
              <a:cs typeface="Times New Roman"/>
            </a:endParaRPr>
          </a:p>
          <a:p>
            <a:pPr marL="756285" marR="156845" indent="-287020">
              <a:lnSpc>
                <a:spcPct val="100000"/>
              </a:lnSpc>
              <a:spcBef>
                <a:spcPts val="994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-10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công ty có thể hoạt động dưới cả hai </a:t>
            </a:r>
            <a:r>
              <a:rPr sz="2400" spc="-140" dirty="0">
                <a:solidFill>
                  <a:srgbClr val="404040"/>
                </a:solidFill>
                <a:latin typeface="Times New Roman"/>
                <a:cs typeface="Times New Roman"/>
              </a:rPr>
              <a:t>loại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hình.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4372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FCAEE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4"/>
          <p:cNvSpPr txBox="1">
            <a:spLocks noGrp="1"/>
          </p:cNvSpPr>
          <p:nvPr>
            <p:ph type="title"/>
          </p:nvPr>
        </p:nvSpPr>
        <p:spPr>
          <a:xfrm>
            <a:off x="1219200" y="685800"/>
            <a:ext cx="6705600" cy="50488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20"/>
              </a:spcBef>
            </a:pPr>
            <a:r>
              <a:rPr sz="3200" b="1" dirty="0" err="1" smtClean="0"/>
              <a:t>Các</a:t>
            </a:r>
            <a:r>
              <a:rPr sz="3200" b="1" dirty="0" smtClean="0"/>
              <a:t> </a:t>
            </a:r>
            <a:r>
              <a:rPr sz="3200" b="1" spc="-50" dirty="0" err="1" smtClean="0"/>
              <a:t>l</a:t>
            </a:r>
            <a:r>
              <a:rPr lang="en-US" sz="3200" b="1" spc="-50" dirty="0" err="1" smtClean="0"/>
              <a:t>ọa</a:t>
            </a:r>
            <a:r>
              <a:rPr sz="3200" b="1" spc="-50" dirty="0" err="1" smtClean="0"/>
              <a:t>i</a:t>
            </a:r>
            <a:r>
              <a:rPr sz="3200" b="1" spc="-50" dirty="0" smtClean="0"/>
              <a:t> </a:t>
            </a:r>
            <a:r>
              <a:rPr sz="3200" b="1" dirty="0"/>
              <a:t>hình </a:t>
            </a:r>
            <a:r>
              <a:rPr sz="3200" b="1" spc="-5" dirty="0"/>
              <a:t>Ecommerce: B2C, B2B,  </a:t>
            </a:r>
            <a:r>
              <a:rPr sz="3200" b="1" spc="-10" dirty="0"/>
              <a:t>C2C</a:t>
            </a:r>
            <a:endParaRPr sz="3200" b="1" dirty="0">
              <a:latin typeface="Arial"/>
              <a:cs typeface="Arial"/>
            </a:endParaRPr>
          </a:p>
        </p:txBody>
      </p:sp>
      <p:sp>
        <p:nvSpPr>
          <p:cNvPr id="5" name="object 55"/>
          <p:cNvSpPr txBox="1"/>
          <p:nvPr/>
        </p:nvSpPr>
        <p:spPr>
          <a:xfrm>
            <a:off x="381000" y="1371600"/>
            <a:ext cx="8014334" cy="2475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Merchant</a:t>
            </a:r>
            <a:r>
              <a:rPr sz="2800" spc="-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companies: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B2C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Hoạt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động bán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lẻ SP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&amp;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dịch 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vụ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trực tiếp đến KH cá</a:t>
            </a:r>
            <a:r>
              <a:rPr sz="2000" b="1" spc="-1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nhân</a:t>
            </a:r>
            <a:endParaRPr sz="2000" dirty="0">
              <a:latin typeface="Arial"/>
              <a:cs typeface="Arial"/>
            </a:endParaRPr>
          </a:p>
          <a:p>
            <a:pPr marL="469900" marR="815975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B2B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Hoạt động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bán hàng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hóa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&amp; dịch </a:t>
            </a:r>
            <a:r>
              <a:rPr sz="2000" b="1" spc="-15" dirty="0">
                <a:solidFill>
                  <a:srgbClr val="003399"/>
                </a:solidFill>
                <a:latin typeface="Arial"/>
                <a:cs typeface="Arial"/>
              </a:rPr>
              <a:t>vụ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giữa các doanh 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nghiệp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B2G </a:t>
            </a:r>
            <a:r>
              <a:rPr sz="2000" dirty="0">
                <a:latin typeface="Arial"/>
                <a:cs typeface="Arial"/>
              </a:rPr>
              <a:t>Giao </a:t>
            </a:r>
            <a:r>
              <a:rPr sz="2000" spc="-5" dirty="0">
                <a:latin typeface="Arial"/>
                <a:cs typeface="Arial"/>
              </a:rPr>
              <a:t>dịch giữa </a:t>
            </a:r>
            <a:r>
              <a:rPr sz="2000" dirty="0">
                <a:latin typeface="Arial"/>
                <a:cs typeface="Arial"/>
              </a:rPr>
              <a:t>các doanh </a:t>
            </a:r>
            <a:r>
              <a:rPr sz="2000" spc="-5" dirty="0">
                <a:latin typeface="Arial"/>
                <a:cs typeface="Arial"/>
              </a:rPr>
              <a:t>nghiệp và </a:t>
            </a:r>
            <a:r>
              <a:rPr sz="2000" dirty="0">
                <a:latin typeface="Arial"/>
                <a:cs typeface="Arial"/>
              </a:rPr>
              <a:t>các </a:t>
            </a:r>
            <a:r>
              <a:rPr sz="2000" spc="-5" dirty="0">
                <a:latin typeface="Arial"/>
                <a:cs typeface="Arial"/>
              </a:rPr>
              <a:t>tổ </a:t>
            </a:r>
            <a:r>
              <a:rPr sz="2000" dirty="0">
                <a:latin typeface="Arial"/>
                <a:cs typeface="Arial"/>
              </a:rPr>
              <a:t>chức chính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phủ</a:t>
            </a:r>
          </a:p>
          <a:p>
            <a:pPr marL="469900" marR="5080" indent="-4572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dirty="0">
                <a:solidFill>
                  <a:srgbClr val="008000"/>
                </a:solidFill>
                <a:latin typeface="Arial"/>
                <a:cs typeface="Arial"/>
              </a:rPr>
              <a:t>C2C: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Các cá nhân sử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dụng 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Web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để trao </a:t>
            </a:r>
            <a:r>
              <a:rPr sz="2000" b="1" spc="-5" dirty="0">
                <a:solidFill>
                  <a:srgbClr val="003399"/>
                </a:solidFill>
                <a:latin typeface="Arial"/>
                <a:cs typeface="Arial"/>
              </a:rPr>
              <a:t>đổi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hay mua bán</a:t>
            </a:r>
            <a:r>
              <a:rPr sz="2000" b="1" spc="-1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riêng  tư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" y="4044149"/>
            <a:ext cx="79533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7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4800" y="1828800"/>
            <a:ext cx="8686800" cy="377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444" y="1095502"/>
            <a:ext cx="6822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Các </a:t>
            </a:r>
            <a:r>
              <a:rPr sz="2800" spc="-50" dirty="0"/>
              <a:t>lo</a:t>
            </a:r>
            <a:r>
              <a:rPr sz="2800" spc="-50" dirty="0">
                <a:latin typeface="Arial"/>
                <a:cs typeface="Arial"/>
              </a:rPr>
              <a:t>ạ</a:t>
            </a:r>
            <a:r>
              <a:rPr sz="2800" spc="-50" dirty="0"/>
              <a:t>i </a:t>
            </a:r>
            <a:r>
              <a:rPr sz="2800" spc="-5" dirty="0"/>
              <a:t>hình Ecommerce: B2C, B2B,</a:t>
            </a:r>
            <a:r>
              <a:rPr sz="2800" spc="45" dirty="0"/>
              <a:t> </a:t>
            </a:r>
            <a:r>
              <a:rPr sz="2800" spc="-5" dirty="0"/>
              <a:t>C2C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96783"/>
            <a:ext cx="67081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5" dirty="0">
                <a:latin typeface="Trebuchet MS"/>
                <a:cs typeface="Trebuchet MS"/>
              </a:rPr>
              <a:t>Các </a:t>
            </a:r>
            <a:r>
              <a:rPr sz="3200" b="0" spc="-65" dirty="0">
                <a:latin typeface="Trebuchet MS"/>
                <a:cs typeface="Trebuchet MS"/>
              </a:rPr>
              <a:t>lo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hình </a:t>
            </a:r>
            <a:r>
              <a:rPr sz="3200" b="0" spc="-80" dirty="0">
                <a:latin typeface="Trebuchet MS"/>
                <a:cs typeface="Trebuchet MS"/>
              </a:rPr>
              <a:t>th</a:t>
            </a:r>
            <a:r>
              <a:rPr sz="3200" b="0" spc="-80" dirty="0">
                <a:latin typeface="Arial"/>
                <a:cs typeface="Arial"/>
              </a:rPr>
              <a:t>ươ</a:t>
            </a:r>
            <a:r>
              <a:rPr sz="3200" b="0" spc="-80" dirty="0">
                <a:latin typeface="Trebuchet MS"/>
                <a:cs typeface="Trebuchet MS"/>
              </a:rPr>
              <a:t>ng </a:t>
            </a:r>
            <a:r>
              <a:rPr sz="3200" b="0" spc="-85" dirty="0">
                <a:latin typeface="Trebuchet MS"/>
                <a:cs typeface="Trebuchet MS"/>
              </a:rPr>
              <a:t>m</a:t>
            </a:r>
            <a:r>
              <a:rPr sz="3200" b="0" spc="-85" dirty="0">
                <a:latin typeface="Arial"/>
                <a:cs typeface="Arial"/>
              </a:rPr>
              <a:t>ạ</a:t>
            </a:r>
            <a:r>
              <a:rPr sz="3200" b="0" spc="-85" dirty="0">
                <a:latin typeface="Trebuchet MS"/>
                <a:cs typeface="Trebuchet MS"/>
              </a:rPr>
              <a:t>i </a:t>
            </a:r>
            <a:r>
              <a:rPr sz="3200" b="0" spc="-50" dirty="0">
                <a:latin typeface="Trebuchet MS"/>
                <a:cs typeface="Trebuchet MS"/>
              </a:rPr>
              <a:t>đi</a:t>
            </a:r>
            <a:r>
              <a:rPr sz="3200" b="0" spc="-50" dirty="0">
                <a:latin typeface="Arial"/>
                <a:cs typeface="Arial"/>
              </a:rPr>
              <a:t>ệ</a:t>
            </a:r>
            <a:r>
              <a:rPr sz="3200" b="0" spc="-50" dirty="0">
                <a:latin typeface="Trebuchet MS"/>
                <a:cs typeface="Trebuchet MS"/>
              </a:rPr>
              <a:t>n </a:t>
            </a:r>
            <a:r>
              <a:rPr sz="3200" b="0" spc="-105" dirty="0">
                <a:latin typeface="Trebuchet MS"/>
                <a:cs typeface="Trebuchet MS"/>
              </a:rPr>
              <a:t>t</a:t>
            </a:r>
            <a:r>
              <a:rPr sz="3200" b="0" spc="-105" dirty="0">
                <a:latin typeface="Arial"/>
                <a:cs typeface="Arial"/>
              </a:rPr>
              <a:t>ử</a:t>
            </a:r>
            <a:r>
              <a:rPr sz="3200" b="0" spc="325" dirty="0">
                <a:latin typeface="Arial"/>
                <a:cs typeface="Arial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45435" y="1278636"/>
            <a:ext cx="3151632" cy="1578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94372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FCAEE"/>
                </a:solidFill>
                <a:latin typeface="Trebuchet MS"/>
                <a:cs typeface="Trebuchet MS"/>
              </a:rPr>
              <a:t>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2925638"/>
            <a:ext cx="7406640" cy="19945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385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Auctions: đấu giá trực</a:t>
            </a:r>
            <a:r>
              <a:rPr sz="2600" spc="-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tuyến.</a:t>
            </a:r>
            <a:endParaRPr sz="26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80000"/>
              </a:lnSpc>
              <a:spcBef>
                <a:spcPts val="1010"/>
              </a:spcBef>
            </a:pPr>
            <a:r>
              <a:rPr sz="20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Clearing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house: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làm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trung gian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thanh toán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để </a:t>
            </a:r>
            <a:r>
              <a:rPr sz="2600" spc="-155" dirty="0">
                <a:solidFill>
                  <a:srgbClr val="404040"/>
                </a:solidFill>
                <a:latin typeface="Times New Roman"/>
                <a:cs typeface="Times New Roman"/>
              </a:rPr>
              <a:t>kiếm  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hoa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hồng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00"/>
              </a:lnSpc>
              <a:spcBef>
                <a:spcPts val="975"/>
              </a:spcBef>
              <a:tabLst>
                <a:tab pos="2035175" algn="l"/>
                <a:tab pos="2633980" algn="l"/>
                <a:tab pos="3362960" algn="l"/>
                <a:tab pos="4091304" algn="l"/>
                <a:tab pos="4414520" algn="l"/>
                <a:tab pos="5234305" algn="l"/>
                <a:tab pos="5981065" algn="l"/>
                <a:tab pos="6722109" algn="l"/>
              </a:tabLst>
            </a:pPr>
            <a:r>
              <a:rPr sz="2050" spc="385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050" spc="-27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Ex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nge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:	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sà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n	giao	dịch	–	dù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g	hình	thức	k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ớ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p 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lệnh 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như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thị trường chứng</a:t>
            </a:r>
            <a:r>
              <a:rPr sz="26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khoán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639" y="1191649"/>
            <a:ext cx="7096498" cy="4001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304800"/>
            <a:ext cx="5560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Xu </a:t>
            </a:r>
            <a:r>
              <a:rPr lang="en-US" sz="3600" b="1" spc="-65" dirty="0" err="1" smtClean="0"/>
              <a:t>thế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kinh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doanh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điện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tử</a:t>
            </a:r>
            <a:endParaRPr sz="36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304800"/>
            <a:ext cx="3119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Xu </a:t>
            </a:r>
            <a:r>
              <a:rPr sz="3600" b="1" spc="-65" dirty="0" err="1" smtClean="0"/>
              <a:t>t</a:t>
            </a:r>
            <a:r>
              <a:rPr lang="en-US" sz="3600" b="1" spc="-65" dirty="0" err="1" smtClean="0"/>
              <a:t>hế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hiện</a:t>
            </a:r>
            <a:r>
              <a:rPr lang="en-US" sz="3600" b="1" spc="-65" dirty="0" smtClean="0"/>
              <a:t> </a:t>
            </a:r>
            <a:r>
              <a:rPr lang="en-US" sz="3600" b="1" spc="-65" dirty="0" err="1" smtClean="0"/>
              <a:t>tại</a:t>
            </a:r>
            <a:endParaRPr sz="3600" b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077848"/>
            <a:ext cx="8343189" cy="309943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marR="405130" indent="-342900" algn="just">
              <a:lnSpc>
                <a:spcPct val="90100"/>
              </a:lnSpc>
              <a:spcBef>
                <a:spcPts val="38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Bán hàng trên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đang ngày càng trở nên </a:t>
            </a:r>
            <a:r>
              <a:rPr sz="2400" spc="-165" dirty="0">
                <a:solidFill>
                  <a:srgbClr val="404040"/>
                </a:solidFill>
                <a:latin typeface="Times New Roman"/>
                <a:cs typeface="Times New Roman"/>
              </a:rPr>
              <a:t>phổ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biến hơn và đem lại lợi nhuận nhiều hơn cho</a:t>
            </a:r>
            <a:r>
              <a:rPr sz="2400" spc="-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các 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DN</a:t>
            </a:r>
            <a:endParaRPr sz="2400" dirty="0">
              <a:latin typeface="Times New Roman"/>
              <a:cs typeface="Times New Roman"/>
            </a:endParaRPr>
          </a:p>
          <a:p>
            <a:pPr marL="354965" marR="40640" indent="-342900">
              <a:lnSpc>
                <a:spcPts val="2590"/>
              </a:lnSpc>
              <a:spcBef>
                <a:spcPts val="103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Các trang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thực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thúc đẩy quá trình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hàng của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người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tiêu dùng trong các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lưới</a:t>
            </a:r>
            <a:r>
              <a:rPr sz="24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phân  phối theo truyền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thống</a:t>
            </a:r>
            <a:endParaRPr sz="24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590"/>
              </a:lnSpc>
              <a:spcBef>
                <a:spcPts val="101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Bắt đầu hình thành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thống nhất về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phương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thức  đánh giá hoạt động của các doanh nghiệp trên</a:t>
            </a:r>
            <a:r>
              <a:rPr sz="2400" spc="-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mạng</a:t>
            </a:r>
            <a:endParaRPr sz="2400" dirty="0">
              <a:latin typeface="Times New Roman"/>
              <a:cs typeface="Times New Roman"/>
            </a:endParaRPr>
          </a:p>
          <a:p>
            <a:pPr marL="354965" marR="240029" indent="-342900">
              <a:lnSpc>
                <a:spcPts val="259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B2C đang dần chỉnh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sửa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lại phương thức kinh  doanh của các doanh nghiệp kể cả đối với các</a:t>
            </a:r>
            <a:r>
              <a:rPr sz="2400" spc="-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nhà  cung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cấp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67000" y="152400"/>
            <a:ext cx="6130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Các </a:t>
            </a:r>
            <a:r>
              <a:rPr sz="3600" spc="-5" dirty="0"/>
              <a:t>mô </a:t>
            </a:r>
            <a:r>
              <a:rPr sz="3600" dirty="0"/>
              <a:t>hình kinh </a:t>
            </a:r>
            <a:r>
              <a:rPr sz="3600" dirty="0" err="1"/>
              <a:t>doanh</a:t>
            </a:r>
            <a:r>
              <a:rPr sz="3600" spc="-85" dirty="0"/>
              <a:t> </a:t>
            </a:r>
            <a:r>
              <a:rPr lang="en-US" sz="3600" spc="-95" dirty="0" err="1" smtClean="0"/>
              <a:t>mới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600" y="859536"/>
            <a:ext cx="8686800" cy="510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611" y="959611"/>
            <a:ext cx="75780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Disintermediate: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giảm thiểu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khâu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trung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gian  để đưa sản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phẩm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từ nhà sản xuất/nhà cung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cấp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đến  với khách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hàng.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3596" y="133925"/>
            <a:ext cx="6291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solidFill>
                  <a:srgbClr val="5FCAEE"/>
                </a:solidFill>
                <a:latin typeface="Trebuchet MS"/>
                <a:cs typeface="Trebuchet MS"/>
              </a:rPr>
              <a:t>L</a:t>
            </a:r>
            <a:r>
              <a:rPr sz="3600" spc="-100" dirty="0">
                <a:solidFill>
                  <a:srgbClr val="5FCAEE"/>
                </a:solidFill>
                <a:latin typeface="Arial"/>
                <a:cs typeface="Arial"/>
              </a:rPr>
              <a:t>ợ</a:t>
            </a:r>
            <a:r>
              <a:rPr sz="3600" spc="-100" dirty="0">
                <a:solidFill>
                  <a:srgbClr val="5FCAEE"/>
                </a:solidFill>
                <a:latin typeface="Trebuchet MS"/>
                <a:cs typeface="Trebuchet MS"/>
              </a:rPr>
              <a:t>i </a:t>
            </a:r>
            <a:r>
              <a:rPr sz="3600" dirty="0">
                <a:solidFill>
                  <a:srgbClr val="5FCAEE"/>
                </a:solidFill>
                <a:latin typeface="Trebuchet MS"/>
                <a:cs typeface="Trebuchet MS"/>
              </a:rPr>
              <a:t>ích </a:t>
            </a:r>
            <a:r>
              <a:rPr sz="3600" spc="-40" dirty="0">
                <a:solidFill>
                  <a:srgbClr val="5FCAEE"/>
                </a:solidFill>
                <a:latin typeface="Trebuchet MS"/>
                <a:cs typeface="Trebuchet MS"/>
              </a:rPr>
              <a:t>c</a:t>
            </a:r>
            <a:r>
              <a:rPr sz="3600" spc="-40" dirty="0">
                <a:solidFill>
                  <a:srgbClr val="5FCAEE"/>
                </a:solidFill>
                <a:latin typeface="Arial"/>
                <a:cs typeface="Arial"/>
              </a:rPr>
              <a:t>ủ</a:t>
            </a:r>
            <a:r>
              <a:rPr sz="3600" spc="-40" dirty="0">
                <a:solidFill>
                  <a:srgbClr val="5FCAEE"/>
                </a:solidFill>
                <a:latin typeface="Trebuchet MS"/>
                <a:cs typeface="Trebuchet MS"/>
              </a:rPr>
              <a:t>a </a:t>
            </a:r>
            <a:r>
              <a:rPr sz="3600" spc="-90" dirty="0">
                <a:solidFill>
                  <a:srgbClr val="5FCAEE"/>
                </a:solidFill>
                <a:latin typeface="Trebuchet MS"/>
                <a:cs typeface="Trebuchet MS"/>
              </a:rPr>
              <a:t>th</a:t>
            </a:r>
            <a:r>
              <a:rPr sz="3600" spc="-90" dirty="0">
                <a:solidFill>
                  <a:srgbClr val="5FCAEE"/>
                </a:solidFill>
                <a:latin typeface="Arial"/>
                <a:cs typeface="Arial"/>
              </a:rPr>
              <a:t>ươ</a:t>
            </a:r>
            <a:r>
              <a:rPr sz="3600" spc="-90" dirty="0">
                <a:solidFill>
                  <a:srgbClr val="5FCAEE"/>
                </a:solidFill>
                <a:latin typeface="Trebuchet MS"/>
                <a:cs typeface="Trebuchet MS"/>
              </a:rPr>
              <a:t>ng </a:t>
            </a:r>
            <a:r>
              <a:rPr sz="3600" spc="-95" dirty="0">
                <a:solidFill>
                  <a:srgbClr val="5FCAEE"/>
                </a:solidFill>
                <a:latin typeface="Trebuchet MS"/>
                <a:cs typeface="Trebuchet MS"/>
              </a:rPr>
              <a:t>m</a:t>
            </a:r>
            <a:r>
              <a:rPr sz="3600" spc="-95" dirty="0">
                <a:solidFill>
                  <a:srgbClr val="5FCAEE"/>
                </a:solidFill>
                <a:latin typeface="Arial"/>
                <a:cs typeface="Arial"/>
              </a:rPr>
              <a:t>ạ</a:t>
            </a:r>
            <a:r>
              <a:rPr sz="3600" spc="-95" dirty="0">
                <a:solidFill>
                  <a:srgbClr val="5FCAEE"/>
                </a:solidFill>
                <a:latin typeface="Trebuchet MS"/>
                <a:cs typeface="Trebuchet MS"/>
              </a:rPr>
              <a:t>i </a:t>
            </a:r>
            <a:r>
              <a:rPr sz="3600" spc="-55" dirty="0">
                <a:solidFill>
                  <a:srgbClr val="5FCAEE"/>
                </a:solidFill>
                <a:latin typeface="Trebuchet MS"/>
                <a:cs typeface="Trebuchet MS"/>
              </a:rPr>
              <a:t>đi</a:t>
            </a:r>
            <a:r>
              <a:rPr sz="3600" spc="-55" dirty="0">
                <a:solidFill>
                  <a:srgbClr val="5FCAEE"/>
                </a:solidFill>
                <a:latin typeface="Arial"/>
                <a:cs typeface="Arial"/>
              </a:rPr>
              <a:t>ệ</a:t>
            </a:r>
            <a:r>
              <a:rPr sz="3600" spc="-55" dirty="0">
                <a:solidFill>
                  <a:srgbClr val="5FCAEE"/>
                </a:solidFill>
                <a:latin typeface="Trebuchet MS"/>
                <a:cs typeface="Trebuchet MS"/>
              </a:rPr>
              <a:t>n</a:t>
            </a:r>
            <a:r>
              <a:rPr sz="3600" spc="260" dirty="0">
                <a:solidFill>
                  <a:srgbClr val="5FCAEE"/>
                </a:solidFill>
                <a:latin typeface="Trebuchet MS"/>
                <a:cs typeface="Trebuchet MS"/>
              </a:rPr>
              <a:t> </a:t>
            </a:r>
            <a:r>
              <a:rPr sz="3600" spc="-125" dirty="0">
                <a:solidFill>
                  <a:srgbClr val="5FCAEE"/>
                </a:solidFill>
                <a:latin typeface="Trebuchet MS"/>
                <a:cs typeface="Trebuchet MS"/>
              </a:rPr>
              <a:t>t</a:t>
            </a:r>
            <a:r>
              <a:rPr sz="3600" spc="-125" dirty="0">
                <a:solidFill>
                  <a:srgbClr val="5FCAEE"/>
                </a:solidFill>
                <a:latin typeface="Arial"/>
                <a:cs typeface="Arial"/>
              </a:rPr>
              <a:t>ử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0992" y="2505455"/>
            <a:ext cx="4767072" cy="3070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611" y="1007110"/>
            <a:ext cx="746125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2870200" algn="l"/>
              </a:tabLst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2250" spc="12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Price</a:t>
            </a:r>
            <a:r>
              <a:rPr sz="2800" b="1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elasticity:	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nhà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sản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xuất/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nhà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cung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cấp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xác  dễ dàng đánh giá cung-cầu để đưa ra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mức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giá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linh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hoạt.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8400" y="131961"/>
            <a:ext cx="6344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5" dirty="0">
                <a:latin typeface="Trebuchet MS"/>
                <a:cs typeface="Trebuchet MS"/>
              </a:rPr>
              <a:t>L</a:t>
            </a:r>
            <a:r>
              <a:rPr sz="3200" spc="-85" dirty="0">
                <a:latin typeface="Arial"/>
                <a:cs typeface="Arial"/>
              </a:rPr>
              <a:t>ợ</a:t>
            </a:r>
            <a:r>
              <a:rPr sz="3200" spc="-85" dirty="0">
                <a:latin typeface="Trebuchet MS"/>
                <a:cs typeface="Trebuchet MS"/>
              </a:rPr>
              <a:t>i </a:t>
            </a:r>
            <a:r>
              <a:rPr sz="3200" dirty="0">
                <a:latin typeface="Trebuchet MS"/>
                <a:cs typeface="Trebuchet MS"/>
              </a:rPr>
              <a:t>ích </a:t>
            </a:r>
            <a:r>
              <a:rPr sz="3200" spc="-35" dirty="0">
                <a:latin typeface="Trebuchet MS"/>
                <a:cs typeface="Trebuchet MS"/>
              </a:rPr>
              <a:t>c</a:t>
            </a:r>
            <a:r>
              <a:rPr sz="3200" spc="-35" dirty="0">
                <a:latin typeface="Arial"/>
                <a:cs typeface="Arial"/>
              </a:rPr>
              <a:t>ủ</a:t>
            </a:r>
            <a:r>
              <a:rPr sz="3200" spc="-35" dirty="0">
                <a:latin typeface="Trebuchet MS"/>
                <a:cs typeface="Trebuchet MS"/>
              </a:rPr>
              <a:t>a </a:t>
            </a:r>
            <a:r>
              <a:rPr sz="3200" spc="-80" dirty="0">
                <a:latin typeface="Trebuchet MS"/>
                <a:cs typeface="Trebuchet MS"/>
              </a:rPr>
              <a:t>th</a:t>
            </a:r>
            <a:r>
              <a:rPr sz="3200" spc="-80" dirty="0">
                <a:latin typeface="Arial"/>
                <a:cs typeface="Arial"/>
              </a:rPr>
              <a:t>ươ</a:t>
            </a:r>
            <a:r>
              <a:rPr sz="3200" spc="-80" dirty="0">
                <a:latin typeface="Trebuchet MS"/>
                <a:cs typeface="Trebuchet MS"/>
              </a:rPr>
              <a:t>ng </a:t>
            </a:r>
            <a:r>
              <a:rPr sz="3200" spc="-85" dirty="0">
                <a:latin typeface="Trebuchet MS"/>
                <a:cs typeface="Trebuchet MS"/>
              </a:rPr>
              <a:t>m</a:t>
            </a:r>
            <a:r>
              <a:rPr sz="3200" spc="-85" dirty="0">
                <a:latin typeface="Arial"/>
                <a:cs typeface="Arial"/>
              </a:rPr>
              <a:t>ạ</a:t>
            </a:r>
            <a:r>
              <a:rPr sz="3200" spc="-85" dirty="0">
                <a:latin typeface="Trebuchet MS"/>
                <a:cs typeface="Trebuchet MS"/>
              </a:rPr>
              <a:t>i </a:t>
            </a:r>
            <a:r>
              <a:rPr sz="3200" spc="-45" dirty="0">
                <a:latin typeface="Trebuchet MS"/>
                <a:cs typeface="Trebuchet MS"/>
              </a:rPr>
              <a:t>đi</a:t>
            </a:r>
            <a:r>
              <a:rPr sz="3200" spc="-45" dirty="0">
                <a:latin typeface="Arial"/>
                <a:cs typeface="Arial"/>
              </a:rPr>
              <a:t>ệ</a:t>
            </a:r>
            <a:r>
              <a:rPr sz="3200" spc="-45" dirty="0">
                <a:latin typeface="Trebuchet MS"/>
                <a:cs typeface="Trebuchet MS"/>
              </a:rPr>
              <a:t>n </a:t>
            </a:r>
            <a:r>
              <a:rPr sz="3200" spc="-105" dirty="0">
                <a:latin typeface="Trebuchet MS"/>
                <a:cs typeface="Trebuchet MS"/>
              </a:rPr>
              <a:t>t</a:t>
            </a:r>
            <a:r>
              <a:rPr sz="3200" spc="-105" dirty="0">
                <a:latin typeface="Arial"/>
                <a:cs typeface="Arial"/>
              </a:rPr>
              <a:t>ử</a:t>
            </a:r>
            <a:r>
              <a:rPr sz="3200" spc="340" dirty="0">
                <a:latin typeface="Arial"/>
                <a:cs typeface="Arial"/>
              </a:rPr>
              <a:t> </a:t>
            </a:r>
            <a:r>
              <a:rPr sz="3200" dirty="0">
                <a:latin typeface="Trebuchet MS"/>
                <a:cs typeface="Trebuchet MS"/>
              </a:rPr>
              <a:t>(tt)</a:t>
            </a:r>
          </a:p>
        </p:txBody>
      </p:sp>
      <p:sp>
        <p:nvSpPr>
          <p:cNvPr id="4" name="object 4"/>
          <p:cNvSpPr/>
          <p:nvPr/>
        </p:nvSpPr>
        <p:spPr>
          <a:xfrm>
            <a:off x="2255520" y="2200655"/>
            <a:ext cx="4300728" cy="3003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75766"/>
            <a:ext cx="756602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Price </a:t>
            </a:r>
            <a:r>
              <a:rPr sz="2800" b="1" dirty="0">
                <a:solidFill>
                  <a:srgbClr val="404040"/>
                </a:solidFill>
                <a:latin typeface="Times New Roman"/>
                <a:cs typeface="Times New Roman"/>
              </a:rPr>
              <a:t>information: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khách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hàng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chủ động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khảo</a:t>
            </a:r>
            <a:r>
              <a:rPr sz="2800" spc="-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20" dirty="0">
                <a:solidFill>
                  <a:srgbClr val="404040"/>
                </a:solidFill>
                <a:latin typeface="Times New Roman"/>
                <a:cs typeface="Times New Roman"/>
              </a:rPr>
              <a:t>sát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và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lựa chọn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giá tốt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nhất từ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nhà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cung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cấp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khác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nhau.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8400" y="96595"/>
            <a:ext cx="6344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5" dirty="0">
                <a:latin typeface="Trebuchet MS"/>
                <a:cs typeface="Trebuchet MS"/>
              </a:rPr>
              <a:t>L</a:t>
            </a:r>
            <a:r>
              <a:rPr sz="3200" spc="-85" dirty="0">
                <a:latin typeface="Arial"/>
                <a:cs typeface="Arial"/>
              </a:rPr>
              <a:t>ợ</a:t>
            </a:r>
            <a:r>
              <a:rPr sz="3200" spc="-85" dirty="0">
                <a:latin typeface="Trebuchet MS"/>
                <a:cs typeface="Trebuchet MS"/>
              </a:rPr>
              <a:t>i </a:t>
            </a:r>
            <a:r>
              <a:rPr sz="3200" dirty="0">
                <a:latin typeface="Trebuchet MS"/>
                <a:cs typeface="Trebuchet MS"/>
              </a:rPr>
              <a:t>ích </a:t>
            </a:r>
            <a:r>
              <a:rPr sz="3200" spc="-35" dirty="0">
                <a:latin typeface="Trebuchet MS"/>
                <a:cs typeface="Trebuchet MS"/>
              </a:rPr>
              <a:t>c</a:t>
            </a:r>
            <a:r>
              <a:rPr sz="3200" spc="-35" dirty="0">
                <a:latin typeface="Arial"/>
                <a:cs typeface="Arial"/>
              </a:rPr>
              <a:t>ủ</a:t>
            </a:r>
            <a:r>
              <a:rPr sz="3200" spc="-35" dirty="0">
                <a:latin typeface="Trebuchet MS"/>
                <a:cs typeface="Trebuchet MS"/>
              </a:rPr>
              <a:t>a </a:t>
            </a:r>
            <a:r>
              <a:rPr sz="3200" spc="-80" dirty="0">
                <a:latin typeface="Trebuchet MS"/>
                <a:cs typeface="Trebuchet MS"/>
              </a:rPr>
              <a:t>th</a:t>
            </a:r>
            <a:r>
              <a:rPr sz="3200" spc="-80" dirty="0">
                <a:latin typeface="Arial"/>
                <a:cs typeface="Arial"/>
              </a:rPr>
              <a:t>ươ</a:t>
            </a:r>
            <a:r>
              <a:rPr sz="3200" spc="-80" dirty="0">
                <a:latin typeface="Trebuchet MS"/>
                <a:cs typeface="Trebuchet MS"/>
              </a:rPr>
              <a:t>ng </a:t>
            </a:r>
            <a:r>
              <a:rPr sz="3200" spc="-85" dirty="0">
                <a:latin typeface="Trebuchet MS"/>
                <a:cs typeface="Trebuchet MS"/>
              </a:rPr>
              <a:t>m</a:t>
            </a:r>
            <a:r>
              <a:rPr sz="3200" spc="-85" dirty="0">
                <a:latin typeface="Arial"/>
                <a:cs typeface="Arial"/>
              </a:rPr>
              <a:t>ạ</a:t>
            </a:r>
            <a:r>
              <a:rPr sz="3200" spc="-85" dirty="0">
                <a:latin typeface="Trebuchet MS"/>
                <a:cs typeface="Trebuchet MS"/>
              </a:rPr>
              <a:t>i </a:t>
            </a:r>
            <a:r>
              <a:rPr sz="3200" spc="-45" dirty="0">
                <a:latin typeface="Trebuchet MS"/>
                <a:cs typeface="Trebuchet MS"/>
              </a:rPr>
              <a:t>đi</a:t>
            </a:r>
            <a:r>
              <a:rPr sz="3200" spc="-45" dirty="0">
                <a:latin typeface="Arial"/>
                <a:cs typeface="Arial"/>
              </a:rPr>
              <a:t>ệ</a:t>
            </a:r>
            <a:r>
              <a:rPr sz="3200" spc="-45" dirty="0">
                <a:latin typeface="Trebuchet MS"/>
                <a:cs typeface="Trebuchet MS"/>
              </a:rPr>
              <a:t>n </a:t>
            </a:r>
            <a:r>
              <a:rPr sz="3200" spc="-105" dirty="0">
                <a:latin typeface="Trebuchet MS"/>
                <a:cs typeface="Trebuchet MS"/>
              </a:rPr>
              <a:t>t</a:t>
            </a:r>
            <a:r>
              <a:rPr sz="3200" spc="-105" dirty="0">
                <a:latin typeface="Arial"/>
                <a:cs typeface="Arial"/>
              </a:rPr>
              <a:t>ử</a:t>
            </a:r>
            <a:r>
              <a:rPr sz="3200" spc="340" dirty="0">
                <a:latin typeface="Arial"/>
                <a:cs typeface="Arial"/>
              </a:rPr>
              <a:t> </a:t>
            </a:r>
            <a:r>
              <a:rPr sz="3200" dirty="0">
                <a:latin typeface="Trebuchet MS"/>
                <a:cs typeface="Trebuchet MS"/>
              </a:rPr>
              <a:t>(tt)</a:t>
            </a:r>
          </a:p>
        </p:txBody>
      </p:sp>
      <p:sp>
        <p:nvSpPr>
          <p:cNvPr id="4" name="object 4"/>
          <p:cNvSpPr/>
          <p:nvPr/>
        </p:nvSpPr>
        <p:spPr>
          <a:xfrm>
            <a:off x="1938527" y="2624327"/>
            <a:ext cx="4904232" cy="2801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61404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50" dirty="0"/>
              <a:t>Nh</a:t>
            </a:r>
            <a:r>
              <a:rPr sz="3200" spc="-50" dirty="0">
                <a:latin typeface="Arial"/>
                <a:cs typeface="Arial"/>
              </a:rPr>
              <a:t>ữ</a:t>
            </a:r>
            <a:r>
              <a:rPr sz="3200" spc="-50" dirty="0"/>
              <a:t>ng </a:t>
            </a:r>
            <a:r>
              <a:rPr sz="3200" spc="-60" dirty="0"/>
              <a:t>y</a:t>
            </a:r>
            <a:r>
              <a:rPr sz="3200" spc="-60" dirty="0">
                <a:latin typeface="Arial"/>
                <a:cs typeface="Arial"/>
              </a:rPr>
              <a:t>ế</a:t>
            </a:r>
            <a:r>
              <a:rPr sz="3200" spc="-60" dirty="0"/>
              <a:t>u </a:t>
            </a:r>
            <a:r>
              <a:rPr sz="3200" spc="-120" dirty="0"/>
              <a:t>t</a:t>
            </a:r>
            <a:r>
              <a:rPr sz="3200" spc="-120" dirty="0">
                <a:latin typeface="Arial"/>
                <a:cs typeface="Arial"/>
              </a:rPr>
              <a:t>ố </a:t>
            </a:r>
            <a:r>
              <a:rPr sz="3200" spc="-70" dirty="0"/>
              <a:t>d</a:t>
            </a:r>
            <a:r>
              <a:rPr sz="3200" spc="-70" dirty="0">
                <a:latin typeface="Arial"/>
                <a:cs typeface="Arial"/>
              </a:rPr>
              <a:t>ẫ</a:t>
            </a:r>
            <a:r>
              <a:rPr sz="3200" spc="-70" dirty="0"/>
              <a:t>n d</a:t>
            </a:r>
            <a:r>
              <a:rPr sz="3200" spc="-70" dirty="0">
                <a:latin typeface="Arial"/>
                <a:cs typeface="Arial"/>
              </a:rPr>
              <a:t>ắ</a:t>
            </a:r>
            <a:r>
              <a:rPr sz="3200" spc="-70" dirty="0"/>
              <a:t>t </a:t>
            </a:r>
            <a:r>
              <a:rPr sz="3200" spc="-100" dirty="0"/>
              <a:t>ng</a:t>
            </a:r>
            <a:r>
              <a:rPr sz="3200" spc="-100" dirty="0">
                <a:latin typeface="Arial"/>
                <a:cs typeface="Arial"/>
              </a:rPr>
              <a:t>ườ</a:t>
            </a:r>
            <a:r>
              <a:rPr sz="3200" spc="-100" dirty="0"/>
              <a:t>i </a:t>
            </a:r>
            <a:r>
              <a:rPr sz="3200" spc="-5" dirty="0"/>
              <a:t>tiêu  </a:t>
            </a:r>
            <a:r>
              <a:rPr sz="3200" dirty="0"/>
              <a:t>dùng </a:t>
            </a:r>
            <a:r>
              <a:rPr sz="3200" spc="-90" dirty="0"/>
              <a:t>t</a:t>
            </a:r>
            <a:r>
              <a:rPr sz="3200" spc="-90" dirty="0">
                <a:latin typeface="Arial"/>
                <a:cs typeface="Arial"/>
              </a:rPr>
              <a:t>ớ</a:t>
            </a:r>
            <a:r>
              <a:rPr sz="3200" spc="-90" dirty="0"/>
              <a:t>i </a:t>
            </a:r>
            <a:r>
              <a:rPr sz="3200" dirty="0"/>
              <a:t>mua </a:t>
            </a:r>
            <a:r>
              <a:rPr sz="3200" spc="-5" dirty="0"/>
              <a:t>hàng trên</a:t>
            </a:r>
            <a:r>
              <a:rPr sz="3200" dirty="0"/>
              <a:t> </a:t>
            </a:r>
            <a:r>
              <a:rPr sz="3200" spc="-45" dirty="0"/>
              <a:t>m</a:t>
            </a:r>
            <a:r>
              <a:rPr sz="3200" spc="-45" dirty="0">
                <a:latin typeface="Arial"/>
                <a:cs typeface="Arial"/>
              </a:rPr>
              <a:t>ạ</a:t>
            </a:r>
            <a:r>
              <a:rPr sz="3200" spc="-45" dirty="0"/>
              <a:t>ng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243965"/>
            <a:ext cx="6601459" cy="42494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Nghiên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cứu của </a:t>
            </a:r>
            <a:r>
              <a:rPr sz="27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Forrester</a:t>
            </a:r>
            <a:r>
              <a:rPr sz="27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i="1" spc="-15" dirty="0">
                <a:solidFill>
                  <a:srgbClr val="404040"/>
                </a:solidFill>
                <a:latin typeface="Times New Roman"/>
                <a:cs typeface="Times New Roman"/>
              </a:rPr>
              <a:t>Research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Tính tiện</a:t>
            </a:r>
            <a:r>
              <a:rPr sz="2700" spc="-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lợi</a:t>
            </a:r>
            <a:endParaRPr sz="27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920"/>
              </a:lnSpc>
              <a:spcBef>
                <a:spcPts val="1035"/>
              </a:spcBef>
            </a:pPr>
            <a:r>
              <a:rPr sz="2150" spc="385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Dễ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dàng so sánh giá cả,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sản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phẩm, và dịch</a:t>
            </a:r>
            <a:r>
              <a:rPr sz="2700" spc="-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spc="-295" dirty="0">
                <a:solidFill>
                  <a:srgbClr val="404040"/>
                </a:solidFill>
                <a:latin typeface="Times New Roman"/>
                <a:cs typeface="Times New Roman"/>
              </a:rPr>
              <a:t>vụ 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giữa các doanh nghiệp khác</a:t>
            </a:r>
            <a:r>
              <a:rPr sz="27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nhau</a:t>
            </a:r>
            <a:endParaRPr sz="2700">
              <a:latin typeface="Times New Roman"/>
              <a:cs typeface="Times New Roman"/>
            </a:endParaRPr>
          </a:p>
          <a:p>
            <a:pPr marL="354965" marR="229870" indent="-342900">
              <a:lnSpc>
                <a:spcPts val="2920"/>
              </a:lnSpc>
              <a:spcBef>
                <a:spcPts val="995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Nghiên cứu được đầy đủ về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sản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phẩm</a:t>
            </a:r>
            <a:r>
              <a:rPr sz="2700" spc="-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spc="-125" dirty="0">
                <a:solidFill>
                  <a:srgbClr val="404040"/>
                </a:solidFill>
                <a:latin typeface="Times New Roman"/>
                <a:cs typeface="Times New Roman"/>
              </a:rPr>
              <a:t>trước 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khi quyết định</a:t>
            </a:r>
            <a:r>
              <a:rPr sz="27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mua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Nhiều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lựa chọn</a:t>
            </a:r>
            <a:r>
              <a:rPr sz="2700" spc="-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hơn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Giá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rẻ</a:t>
            </a:r>
            <a:r>
              <a:rPr sz="2700" spc="-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hơn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phục vụ theo nhu cầu</a:t>
            </a:r>
            <a:r>
              <a:rPr sz="2700" spc="-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404040"/>
                </a:solidFill>
                <a:latin typeface="Times New Roman"/>
                <a:cs typeface="Times New Roman"/>
              </a:rPr>
              <a:t>riêng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905000" y="835863"/>
            <a:ext cx="4648200" cy="80962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</a:pPr>
            <a:r>
              <a:rPr sz="2500" b="1" spc="-10" dirty="0">
                <a:latin typeface="Trebuchet MS"/>
                <a:cs typeface="Trebuchet MS"/>
              </a:rPr>
              <a:t>Bán </a:t>
            </a:r>
            <a:r>
              <a:rPr sz="2500" b="1" spc="-70" dirty="0">
                <a:latin typeface="Trebuchet MS"/>
                <a:cs typeface="Trebuchet MS"/>
              </a:rPr>
              <a:t>l</a:t>
            </a:r>
            <a:r>
              <a:rPr sz="2500" b="1" spc="-70" dirty="0">
                <a:latin typeface="Arial"/>
                <a:cs typeface="Arial"/>
              </a:rPr>
              <a:t>ẻ </a:t>
            </a:r>
            <a:r>
              <a:rPr sz="2500" b="1" spc="-85" dirty="0">
                <a:latin typeface="Trebuchet MS"/>
                <a:cs typeface="Trebuchet MS"/>
              </a:rPr>
              <a:t>h</a:t>
            </a:r>
            <a:r>
              <a:rPr sz="2500" b="1" spc="-85" dirty="0">
                <a:latin typeface="Arial"/>
                <a:cs typeface="Arial"/>
              </a:rPr>
              <a:t>ướ</a:t>
            </a:r>
            <a:r>
              <a:rPr sz="2500" b="1" spc="-85" dirty="0">
                <a:latin typeface="Trebuchet MS"/>
                <a:cs typeface="Trebuchet MS"/>
              </a:rPr>
              <a:t>ng </a:t>
            </a:r>
            <a:r>
              <a:rPr sz="2500" b="1" spc="-70" dirty="0">
                <a:latin typeface="Trebuchet MS"/>
                <a:cs typeface="Trebuchet MS"/>
              </a:rPr>
              <a:t>t</a:t>
            </a:r>
            <a:r>
              <a:rPr sz="2500" b="1" spc="-70" dirty="0">
                <a:latin typeface="Arial"/>
                <a:cs typeface="Arial"/>
              </a:rPr>
              <a:t>ớ</a:t>
            </a:r>
            <a:r>
              <a:rPr sz="2500" b="1" spc="-70" dirty="0">
                <a:latin typeface="Trebuchet MS"/>
                <a:cs typeface="Trebuchet MS"/>
              </a:rPr>
              <a:t>i </a:t>
            </a:r>
            <a:r>
              <a:rPr sz="2500" b="1" spc="-5" dirty="0">
                <a:latin typeface="Trebuchet MS"/>
                <a:cs typeface="Trebuchet MS"/>
              </a:rPr>
              <a:t>khách hàng  </a:t>
            </a:r>
            <a:r>
              <a:rPr sz="2500" b="1" dirty="0">
                <a:latin typeface="Trebuchet MS"/>
                <a:cs typeface="Trebuchet MS"/>
              </a:rPr>
              <a:t>(</a:t>
            </a:r>
            <a:r>
              <a:rPr sz="2600" b="1" dirty="0">
                <a:solidFill>
                  <a:srgbClr val="008000"/>
                </a:solidFill>
                <a:latin typeface="Trebuchet MS"/>
                <a:cs typeface="Trebuchet MS"/>
              </a:rPr>
              <a:t>Customer-centered</a:t>
            </a:r>
            <a:r>
              <a:rPr sz="2600" b="1" spc="-105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008000"/>
                </a:solidFill>
                <a:latin typeface="Trebuchet MS"/>
                <a:cs typeface="Trebuchet MS"/>
              </a:rPr>
              <a:t>retailing</a:t>
            </a:r>
            <a:r>
              <a:rPr sz="2500" b="1" dirty="0">
                <a:latin typeface="Trebuchet MS"/>
                <a:cs typeface="Trebuchet MS"/>
              </a:rPr>
              <a:t>)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3611" y="1828800"/>
            <a:ext cx="8419389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2150" b="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Internet cung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cấp các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kênh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truyền thông</a:t>
            </a:r>
            <a:r>
              <a:rPr sz="2700" spc="-229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190" dirty="0">
                <a:solidFill>
                  <a:srgbClr val="003399"/>
                </a:solidFill>
                <a:latin typeface="Times New Roman"/>
                <a:cs typeface="Times New Roman"/>
              </a:rPr>
              <a:t>&amp; 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tương tác mới tạo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quan hệ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với KH </a:t>
            </a:r>
            <a:r>
              <a:rPr sz="2700" spc="-15" dirty="0">
                <a:solidFill>
                  <a:srgbClr val="003399"/>
                </a:solidFill>
                <a:latin typeface="Times New Roman"/>
                <a:cs typeface="Times New Roman"/>
              </a:rPr>
              <a:t>trong 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bán hàng,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tiếp thị &amp;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hổ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trợ KH gần gủi</a:t>
            </a:r>
            <a:r>
              <a:rPr sz="2700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hơn 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với chi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phí hiệu quả</a:t>
            </a:r>
            <a:r>
              <a:rPr sz="2700" spc="-4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hơn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2513" y="3454742"/>
            <a:ext cx="8161887" cy="1803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Công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ty có thể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sử dụng </a:t>
            </a:r>
            <a:r>
              <a:rPr sz="2700" spc="-50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site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để</a:t>
            </a:r>
            <a:r>
              <a:rPr sz="2700" spc="-26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cung</a:t>
            </a:r>
            <a:endParaRPr sz="2700" dirty="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cấp các TT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diễn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tiến,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dịch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vụ &amp; các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hổ</a:t>
            </a:r>
            <a:r>
              <a:rPr sz="2700" spc="-19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trợ,</a:t>
            </a:r>
            <a:endParaRPr sz="2700" dirty="0">
              <a:latin typeface="Times New Roman"/>
              <a:cs typeface="Times New Roman"/>
            </a:endParaRPr>
          </a:p>
          <a:p>
            <a:pPr marL="354965" marR="52705" indent="-342900">
              <a:lnSpc>
                <a:spcPct val="100000"/>
              </a:lnSpc>
              <a:spcBef>
                <a:spcPts val="994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Tạo các tương tác tích cực với KH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để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tạo 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nền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tảng cho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quan hệ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lâu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dài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với KH &amp;</a:t>
            </a:r>
            <a:r>
              <a:rPr sz="2700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sự  quay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lại của</a:t>
            </a:r>
            <a:r>
              <a:rPr sz="27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KH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3325369" y="353549"/>
            <a:ext cx="437007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Trebuchet MS"/>
                <a:cs typeface="Trebuchet MS"/>
              </a:rPr>
              <a:t>Bán </a:t>
            </a:r>
            <a:r>
              <a:rPr sz="2500" b="1" spc="-70" dirty="0">
                <a:latin typeface="Trebuchet MS"/>
                <a:cs typeface="Trebuchet MS"/>
              </a:rPr>
              <a:t>l</a:t>
            </a:r>
            <a:r>
              <a:rPr sz="2500" b="1" spc="-70" dirty="0">
                <a:latin typeface="Arial"/>
                <a:cs typeface="Arial"/>
              </a:rPr>
              <a:t>ẻ </a:t>
            </a:r>
            <a:r>
              <a:rPr sz="2500" b="1" spc="-85" dirty="0">
                <a:latin typeface="Trebuchet MS"/>
                <a:cs typeface="Trebuchet MS"/>
              </a:rPr>
              <a:t>h</a:t>
            </a:r>
            <a:r>
              <a:rPr sz="2500" b="1" spc="-85" dirty="0">
                <a:latin typeface="Arial"/>
                <a:cs typeface="Arial"/>
              </a:rPr>
              <a:t>ướ</a:t>
            </a:r>
            <a:r>
              <a:rPr sz="2500" b="1" spc="-85" dirty="0">
                <a:latin typeface="Trebuchet MS"/>
                <a:cs typeface="Trebuchet MS"/>
              </a:rPr>
              <a:t>ng </a:t>
            </a:r>
            <a:r>
              <a:rPr sz="2500" b="1" spc="-70" dirty="0">
                <a:latin typeface="Trebuchet MS"/>
                <a:cs typeface="Trebuchet MS"/>
              </a:rPr>
              <a:t>t</a:t>
            </a:r>
            <a:r>
              <a:rPr sz="2500" b="1" spc="-70" dirty="0">
                <a:latin typeface="Arial"/>
                <a:cs typeface="Arial"/>
              </a:rPr>
              <a:t>ớ</a:t>
            </a:r>
            <a:r>
              <a:rPr sz="2500" b="1" spc="-70" dirty="0">
                <a:latin typeface="Trebuchet MS"/>
                <a:cs typeface="Trebuchet MS"/>
              </a:rPr>
              <a:t>i </a:t>
            </a:r>
            <a:r>
              <a:rPr sz="2500" b="1" spc="-5" dirty="0">
                <a:latin typeface="Trebuchet MS"/>
                <a:cs typeface="Trebuchet MS"/>
              </a:rPr>
              <a:t>khách hàng:  bán </a:t>
            </a:r>
            <a:r>
              <a:rPr sz="2500" b="1" spc="-55" dirty="0">
                <a:latin typeface="Trebuchet MS"/>
                <a:cs typeface="Trebuchet MS"/>
              </a:rPr>
              <a:t>tr</a:t>
            </a:r>
            <a:r>
              <a:rPr sz="2500" b="1" spc="-55" dirty="0">
                <a:latin typeface="Arial"/>
                <a:cs typeface="Arial"/>
              </a:rPr>
              <a:t>ự</a:t>
            </a:r>
            <a:r>
              <a:rPr sz="2500" b="1" spc="-55" dirty="0">
                <a:latin typeface="Trebuchet MS"/>
                <a:cs typeface="Trebuchet MS"/>
              </a:rPr>
              <a:t>c </a:t>
            </a:r>
            <a:r>
              <a:rPr sz="2500" b="1" spc="-40" dirty="0">
                <a:latin typeface="Trebuchet MS"/>
                <a:cs typeface="Trebuchet MS"/>
              </a:rPr>
              <a:t>ti</a:t>
            </a:r>
            <a:r>
              <a:rPr sz="2500" b="1" spc="-40" dirty="0">
                <a:latin typeface="Arial"/>
                <a:cs typeface="Arial"/>
              </a:rPr>
              <a:t>ế</a:t>
            </a:r>
            <a:r>
              <a:rPr sz="2500" b="1" spc="-40" dirty="0">
                <a:latin typeface="Trebuchet MS"/>
                <a:cs typeface="Trebuchet MS"/>
              </a:rPr>
              <a:t>p </a:t>
            </a:r>
            <a:r>
              <a:rPr sz="2500" b="1" spc="-5" dirty="0">
                <a:latin typeface="Trebuchet MS"/>
                <a:cs typeface="Trebuchet MS"/>
              </a:rPr>
              <a:t>trên</a:t>
            </a:r>
            <a:r>
              <a:rPr sz="2500" b="1" spc="70" dirty="0">
                <a:latin typeface="Trebuchet MS"/>
                <a:cs typeface="Trebuchet MS"/>
              </a:rPr>
              <a:t> </a:t>
            </a:r>
            <a:r>
              <a:rPr sz="2500" b="1" spc="-20" dirty="0">
                <a:latin typeface="Trebuchet MS"/>
                <a:cs typeface="Trebuchet MS"/>
              </a:rPr>
              <a:t>Web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43611" y="1354588"/>
            <a:ext cx="8571789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917315" algn="l"/>
              </a:tabLst>
            </a:pPr>
            <a:r>
              <a:rPr sz="2150" b="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spc="-10" dirty="0">
                <a:solidFill>
                  <a:srgbClr val="003399"/>
                </a:solidFill>
                <a:latin typeface="Times New Roman"/>
                <a:cs typeface="Times New Roman"/>
              </a:rPr>
              <a:t>Nhà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SX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có thể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bán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trực tiếp các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SP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của</a:t>
            </a:r>
            <a:r>
              <a:rPr sz="2700" spc="-36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315" dirty="0">
                <a:solidFill>
                  <a:srgbClr val="003399"/>
                </a:solidFill>
                <a:latin typeface="Times New Roman"/>
                <a:cs typeface="Times New Roman"/>
              </a:rPr>
              <a:t>họ 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đến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KH mua lẻ, </a:t>
            </a:r>
            <a:r>
              <a:rPr sz="2700" spc="-5" dirty="0" err="1">
                <a:solidFill>
                  <a:srgbClr val="003399"/>
                </a:solidFill>
                <a:latin typeface="Times New Roman"/>
                <a:cs typeface="Times New Roman"/>
              </a:rPr>
              <a:t>bỏ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5" dirty="0" smtClean="0">
                <a:solidFill>
                  <a:srgbClr val="003399"/>
                </a:solidFill>
                <a:latin typeface="Times New Roman"/>
                <a:cs typeface="Times New Roman"/>
              </a:rPr>
              <a:t>qua</a:t>
            </a:r>
            <a:r>
              <a:rPr lang="en-US" sz="2700" spc="-5" dirty="0" smtClean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 err="1" smtClean="0">
                <a:solidFill>
                  <a:srgbClr val="003399"/>
                </a:solidFill>
                <a:latin typeface="Times New Roman"/>
                <a:cs typeface="Times New Roman"/>
              </a:rPr>
              <a:t>các</a:t>
            </a:r>
            <a:r>
              <a:rPr sz="2700" dirty="0" smtClean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trung gian </a:t>
            </a:r>
            <a:r>
              <a:rPr sz="2700" spc="-5" dirty="0">
                <a:solidFill>
                  <a:srgbClr val="003399"/>
                </a:solidFill>
                <a:latin typeface="Wingdings"/>
                <a:cs typeface="Wingdings"/>
              </a:rPr>
              <a:t>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 đạt được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lợi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nhuận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cao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hơn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với giá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bán 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thấp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 hơn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4273" y="2760752"/>
            <a:ext cx="8424927" cy="1803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2705" indent="-342900" algn="just">
              <a:lnSpc>
                <a:spcPct val="100000"/>
              </a:lnSpc>
              <a:spcBef>
                <a:spcPts val="100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dirty="0">
                <a:solidFill>
                  <a:srgbClr val="008000"/>
                </a:solidFill>
                <a:latin typeface="Times New Roman"/>
                <a:cs typeface="Times New Roman"/>
              </a:rPr>
              <a:t>Disintermediation: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Xóa bỏ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các lớp thuộc</a:t>
            </a:r>
            <a:r>
              <a:rPr sz="2700" spc="-26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320" dirty="0">
                <a:solidFill>
                  <a:srgbClr val="003399"/>
                </a:solidFill>
                <a:latin typeface="Times New Roman"/>
                <a:cs typeface="Times New Roman"/>
              </a:rPr>
              <a:t>tổ 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chức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hay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tiến trình KD </a:t>
            </a:r>
            <a:r>
              <a:rPr sz="2700" spc="-10" dirty="0">
                <a:solidFill>
                  <a:srgbClr val="003399"/>
                </a:solidFill>
                <a:latin typeface="Times New Roman"/>
                <a:cs typeface="Times New Roman"/>
              </a:rPr>
              <a:t>trong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chuổi giá</a:t>
            </a:r>
            <a:r>
              <a:rPr sz="2700" spc="-1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trị</a:t>
            </a:r>
            <a:endParaRPr sz="2700" dirty="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94"/>
              </a:spcBef>
            </a:pPr>
            <a:r>
              <a:rPr sz="21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700" dirty="0">
                <a:solidFill>
                  <a:srgbClr val="008000"/>
                </a:solidFill>
                <a:latin typeface="Times New Roman"/>
                <a:cs typeface="Times New Roman"/>
              </a:rPr>
              <a:t>Reintermediation: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tiến trình chuyển vai</a:t>
            </a:r>
            <a:r>
              <a:rPr sz="2700" spc="-27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220" dirty="0">
                <a:solidFill>
                  <a:srgbClr val="003399"/>
                </a:solidFill>
                <a:latin typeface="Times New Roman"/>
                <a:cs typeface="Times New Roman"/>
              </a:rPr>
              <a:t>trò 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chức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năng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trung gian </a:t>
            </a:r>
            <a:r>
              <a:rPr sz="2700" spc="-10" dirty="0">
                <a:solidFill>
                  <a:srgbClr val="003399"/>
                </a:solidFill>
                <a:latin typeface="Times New Roman"/>
                <a:cs typeface="Times New Roman"/>
              </a:rPr>
              <a:t>trong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chuổi giá trị  thành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nguồn </a:t>
            </a:r>
            <a:r>
              <a:rPr sz="2700" dirty="0">
                <a:solidFill>
                  <a:srgbClr val="003399"/>
                </a:solidFill>
                <a:latin typeface="Times New Roman"/>
                <a:cs typeface="Times New Roman"/>
              </a:rPr>
              <a:t>mới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bên</a:t>
            </a:r>
            <a:r>
              <a:rPr sz="2700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3399"/>
                </a:solidFill>
                <a:latin typeface="Times New Roman"/>
                <a:cs typeface="Times New Roman"/>
              </a:rPr>
              <a:t>ngoài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607381" y="78338"/>
            <a:ext cx="574484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 err="1" smtClean="0"/>
              <a:t>Bán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lẻ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hướng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tới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khách</a:t>
            </a:r>
            <a:r>
              <a:rPr lang="en-US" b="1" spc="-5" dirty="0" smtClean="0"/>
              <a:t> hang</a:t>
            </a:r>
            <a:br>
              <a:rPr lang="en-US" b="1" spc="-5" dirty="0" smtClean="0"/>
            </a:br>
            <a:r>
              <a:rPr lang="en-US" b="1" spc="-5" dirty="0" err="1" smtClean="0"/>
              <a:t>Lợi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ích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từ</a:t>
            </a:r>
            <a:r>
              <a:rPr lang="en-US" b="1" spc="-5" dirty="0" smtClean="0"/>
              <a:t> </a:t>
            </a:r>
            <a:r>
              <a:rPr lang="en-US" b="1" spc="-5" dirty="0" err="1" smtClean="0"/>
              <a:t>bán</a:t>
            </a:r>
            <a:r>
              <a:rPr lang="en-US" b="1" spc="-5" dirty="0" smtClean="0"/>
              <a:t> hang </a:t>
            </a:r>
            <a:r>
              <a:rPr lang="en-US" b="1" spc="-5" dirty="0" err="1" smtClean="0"/>
              <a:t>trên</a:t>
            </a:r>
            <a:r>
              <a:rPr lang="en-US" b="1" spc="-5" dirty="0" smtClean="0"/>
              <a:t> web</a:t>
            </a:r>
            <a:endParaRPr b="1" spc="-15" dirty="0"/>
          </a:p>
        </p:txBody>
      </p:sp>
      <p:grpSp>
        <p:nvGrpSpPr>
          <p:cNvPr id="20" name="object 20"/>
          <p:cNvGrpSpPr/>
          <p:nvPr/>
        </p:nvGrpSpPr>
        <p:grpSpPr>
          <a:xfrm>
            <a:off x="295402" y="1464310"/>
            <a:ext cx="8579485" cy="4365625"/>
            <a:chOff x="295402" y="1464310"/>
            <a:chExt cx="8579485" cy="4365625"/>
          </a:xfrm>
        </p:grpSpPr>
        <p:sp>
          <p:nvSpPr>
            <p:cNvPr id="21" name="object 21"/>
            <p:cNvSpPr/>
            <p:nvPr/>
          </p:nvSpPr>
          <p:spPr>
            <a:xfrm>
              <a:off x="301752" y="1470660"/>
              <a:ext cx="8566785" cy="4352925"/>
            </a:xfrm>
            <a:custGeom>
              <a:avLst/>
              <a:gdLst/>
              <a:ahLst/>
              <a:cxnLst/>
              <a:rect l="l" t="t" r="r" b="b"/>
              <a:pathLst>
                <a:path w="8566785" h="4352925">
                  <a:moveTo>
                    <a:pt x="8566404" y="0"/>
                  </a:moveTo>
                  <a:lnTo>
                    <a:pt x="0" y="0"/>
                  </a:lnTo>
                  <a:lnTo>
                    <a:pt x="0" y="4352544"/>
                  </a:lnTo>
                  <a:lnTo>
                    <a:pt x="8566404" y="4352544"/>
                  </a:lnTo>
                  <a:lnTo>
                    <a:pt x="8566404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752" y="1470660"/>
              <a:ext cx="8566785" cy="4352925"/>
            </a:xfrm>
            <a:custGeom>
              <a:avLst/>
              <a:gdLst/>
              <a:ahLst/>
              <a:cxnLst/>
              <a:rect l="l" t="t" r="r" b="b"/>
              <a:pathLst>
                <a:path w="8566785" h="4352925">
                  <a:moveTo>
                    <a:pt x="0" y="4352544"/>
                  </a:moveTo>
                  <a:lnTo>
                    <a:pt x="8566404" y="4352544"/>
                  </a:lnTo>
                  <a:lnTo>
                    <a:pt x="8566404" y="0"/>
                  </a:lnTo>
                  <a:lnTo>
                    <a:pt x="0" y="0"/>
                  </a:lnTo>
                  <a:lnTo>
                    <a:pt x="0" y="4352544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8536" y="1937004"/>
            <a:ext cx="1681480" cy="862965"/>
          </a:xfrm>
          <a:prstGeom prst="rect">
            <a:avLst/>
          </a:prstGeom>
          <a:solidFill>
            <a:srgbClr val="CCEBFF"/>
          </a:solidFill>
          <a:ln w="12191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sz="1600" b="1" spc="-5" dirty="0">
                <a:latin typeface="Trebuchet MS"/>
                <a:cs typeface="Trebuchet MS"/>
              </a:rPr>
              <a:t>Manufacturer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8536" y="3221735"/>
            <a:ext cx="1681480" cy="862965"/>
          </a:xfrm>
          <a:prstGeom prst="rect">
            <a:avLst/>
          </a:prstGeom>
          <a:solidFill>
            <a:srgbClr val="CCEBFF"/>
          </a:solidFill>
          <a:ln w="12191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7970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rebuchet MS"/>
                <a:cs typeface="Trebuchet MS"/>
              </a:rPr>
              <a:t>Manufacturer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8536" y="4500371"/>
            <a:ext cx="1681480" cy="862965"/>
          </a:xfrm>
          <a:prstGeom prst="rect">
            <a:avLst/>
          </a:prstGeom>
          <a:solidFill>
            <a:srgbClr val="CCEBFF"/>
          </a:solidFill>
          <a:ln w="121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128905">
              <a:lnSpc>
                <a:spcPct val="100000"/>
              </a:lnSpc>
            </a:pPr>
            <a:r>
              <a:rPr sz="1600" b="1" spc="-5" dirty="0">
                <a:latin typeface="Trebuchet MS"/>
                <a:cs typeface="Trebuchet MS"/>
              </a:rPr>
              <a:t>Manufacturer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83892" y="1894332"/>
            <a:ext cx="5655945" cy="3496310"/>
            <a:chOff x="2183892" y="1894332"/>
            <a:chExt cx="5655945" cy="3496310"/>
          </a:xfrm>
        </p:grpSpPr>
        <p:sp>
          <p:nvSpPr>
            <p:cNvPr id="27" name="object 27"/>
            <p:cNvSpPr/>
            <p:nvPr/>
          </p:nvSpPr>
          <p:spPr>
            <a:xfrm>
              <a:off x="2183892" y="2340863"/>
              <a:ext cx="4547870" cy="2715895"/>
            </a:xfrm>
            <a:custGeom>
              <a:avLst/>
              <a:gdLst/>
              <a:ahLst/>
              <a:cxnLst/>
              <a:rect l="l" t="t" r="r" b="b"/>
              <a:pathLst>
                <a:path w="4547870" h="2715895">
                  <a:moveTo>
                    <a:pt x="321564" y="38100"/>
                  </a:moveTo>
                  <a:lnTo>
                    <a:pt x="308864" y="31750"/>
                  </a:lnTo>
                  <a:lnTo>
                    <a:pt x="245364" y="0"/>
                  </a:lnTo>
                  <a:lnTo>
                    <a:pt x="245364" y="31750"/>
                  </a:lnTo>
                  <a:lnTo>
                    <a:pt x="38100" y="31750"/>
                  </a:lnTo>
                  <a:lnTo>
                    <a:pt x="38100" y="44450"/>
                  </a:lnTo>
                  <a:lnTo>
                    <a:pt x="245364" y="44450"/>
                  </a:lnTo>
                  <a:lnTo>
                    <a:pt x="245364" y="76200"/>
                  </a:lnTo>
                  <a:lnTo>
                    <a:pt x="308864" y="44450"/>
                  </a:lnTo>
                  <a:lnTo>
                    <a:pt x="321564" y="38100"/>
                  </a:lnTo>
                  <a:close/>
                </a:path>
                <a:path w="4547870" h="2715895">
                  <a:moveTo>
                    <a:pt x="2325624" y="1345692"/>
                  </a:moveTo>
                  <a:lnTo>
                    <a:pt x="2312924" y="1339342"/>
                  </a:lnTo>
                  <a:lnTo>
                    <a:pt x="2249424" y="1307592"/>
                  </a:lnTo>
                  <a:lnTo>
                    <a:pt x="2249424" y="1339342"/>
                  </a:lnTo>
                  <a:lnTo>
                    <a:pt x="39624" y="1339342"/>
                  </a:lnTo>
                  <a:lnTo>
                    <a:pt x="39624" y="1352042"/>
                  </a:lnTo>
                  <a:lnTo>
                    <a:pt x="2249424" y="1352042"/>
                  </a:lnTo>
                  <a:lnTo>
                    <a:pt x="2249424" y="1383792"/>
                  </a:lnTo>
                  <a:lnTo>
                    <a:pt x="2312924" y="1352042"/>
                  </a:lnTo>
                  <a:lnTo>
                    <a:pt x="2325624" y="1345692"/>
                  </a:lnTo>
                  <a:close/>
                </a:path>
                <a:path w="4547870" h="2715895">
                  <a:moveTo>
                    <a:pt x="2418588" y="38100"/>
                  </a:moveTo>
                  <a:lnTo>
                    <a:pt x="2405888" y="31750"/>
                  </a:lnTo>
                  <a:lnTo>
                    <a:pt x="2342388" y="0"/>
                  </a:lnTo>
                  <a:lnTo>
                    <a:pt x="2342388" y="31750"/>
                  </a:lnTo>
                  <a:lnTo>
                    <a:pt x="2122932" y="31750"/>
                  </a:lnTo>
                  <a:lnTo>
                    <a:pt x="2122932" y="44450"/>
                  </a:lnTo>
                  <a:lnTo>
                    <a:pt x="2342388" y="44450"/>
                  </a:lnTo>
                  <a:lnTo>
                    <a:pt x="2342388" y="76200"/>
                  </a:lnTo>
                  <a:lnTo>
                    <a:pt x="2405888" y="44450"/>
                  </a:lnTo>
                  <a:lnTo>
                    <a:pt x="2418588" y="38100"/>
                  </a:lnTo>
                  <a:close/>
                </a:path>
                <a:path w="4547870" h="2715895">
                  <a:moveTo>
                    <a:pt x="4383024" y="2677668"/>
                  </a:moveTo>
                  <a:lnTo>
                    <a:pt x="4370324" y="2671318"/>
                  </a:lnTo>
                  <a:lnTo>
                    <a:pt x="4306824" y="2639568"/>
                  </a:lnTo>
                  <a:lnTo>
                    <a:pt x="4306824" y="2671318"/>
                  </a:lnTo>
                  <a:lnTo>
                    <a:pt x="0" y="2671318"/>
                  </a:lnTo>
                  <a:lnTo>
                    <a:pt x="0" y="2684018"/>
                  </a:lnTo>
                  <a:lnTo>
                    <a:pt x="4306824" y="2684018"/>
                  </a:lnTo>
                  <a:lnTo>
                    <a:pt x="4306824" y="2715768"/>
                  </a:lnTo>
                  <a:lnTo>
                    <a:pt x="4370324" y="2684018"/>
                  </a:lnTo>
                  <a:lnTo>
                    <a:pt x="4383024" y="2677668"/>
                  </a:lnTo>
                  <a:close/>
                </a:path>
                <a:path w="4547870" h="2715895">
                  <a:moveTo>
                    <a:pt x="4547616" y="102108"/>
                  </a:moveTo>
                  <a:lnTo>
                    <a:pt x="4534916" y="95758"/>
                  </a:lnTo>
                  <a:lnTo>
                    <a:pt x="4471403" y="64008"/>
                  </a:lnTo>
                  <a:lnTo>
                    <a:pt x="4471403" y="95758"/>
                  </a:lnTo>
                  <a:lnTo>
                    <a:pt x="4251960" y="95758"/>
                  </a:lnTo>
                  <a:lnTo>
                    <a:pt x="4251960" y="108458"/>
                  </a:lnTo>
                  <a:lnTo>
                    <a:pt x="4471403" y="108458"/>
                  </a:lnTo>
                  <a:lnTo>
                    <a:pt x="4471403" y="140208"/>
                  </a:lnTo>
                  <a:lnTo>
                    <a:pt x="4534916" y="108458"/>
                  </a:lnTo>
                  <a:lnTo>
                    <a:pt x="4547616" y="102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0380" y="1900428"/>
              <a:ext cx="980440" cy="952500"/>
            </a:xfrm>
            <a:custGeom>
              <a:avLst/>
              <a:gdLst/>
              <a:ahLst/>
              <a:cxnLst/>
              <a:rect l="l" t="t" r="r" b="b"/>
              <a:pathLst>
                <a:path w="980440" h="952500">
                  <a:moveTo>
                    <a:pt x="489966" y="0"/>
                  </a:moveTo>
                  <a:lnTo>
                    <a:pt x="442773" y="2180"/>
                  </a:lnTo>
                  <a:lnTo>
                    <a:pt x="396851" y="8587"/>
                  </a:lnTo>
                  <a:lnTo>
                    <a:pt x="352404" y="19023"/>
                  </a:lnTo>
                  <a:lnTo>
                    <a:pt x="309638" y="33286"/>
                  </a:lnTo>
                  <a:lnTo>
                    <a:pt x="268758" y="51178"/>
                  </a:lnTo>
                  <a:lnTo>
                    <a:pt x="229970" y="72499"/>
                  </a:lnTo>
                  <a:lnTo>
                    <a:pt x="193477" y="97049"/>
                  </a:lnTo>
                  <a:lnTo>
                    <a:pt x="159487" y="124629"/>
                  </a:lnTo>
                  <a:lnTo>
                    <a:pt x="128203" y="155039"/>
                  </a:lnTo>
                  <a:lnTo>
                    <a:pt x="99831" y="188080"/>
                  </a:lnTo>
                  <a:lnTo>
                    <a:pt x="74576" y="223551"/>
                  </a:lnTo>
                  <a:lnTo>
                    <a:pt x="52644" y="261254"/>
                  </a:lnTo>
                  <a:lnTo>
                    <a:pt x="34239" y="300988"/>
                  </a:lnTo>
                  <a:lnTo>
                    <a:pt x="19567" y="342555"/>
                  </a:lnTo>
                  <a:lnTo>
                    <a:pt x="8833" y="385753"/>
                  </a:lnTo>
                  <a:lnTo>
                    <a:pt x="2242" y="430385"/>
                  </a:lnTo>
                  <a:lnTo>
                    <a:pt x="0" y="476250"/>
                  </a:lnTo>
                  <a:lnTo>
                    <a:pt x="2242" y="522114"/>
                  </a:lnTo>
                  <a:lnTo>
                    <a:pt x="8833" y="566746"/>
                  </a:lnTo>
                  <a:lnTo>
                    <a:pt x="19567" y="609944"/>
                  </a:lnTo>
                  <a:lnTo>
                    <a:pt x="34239" y="651511"/>
                  </a:lnTo>
                  <a:lnTo>
                    <a:pt x="52644" y="691245"/>
                  </a:lnTo>
                  <a:lnTo>
                    <a:pt x="74576" y="728948"/>
                  </a:lnTo>
                  <a:lnTo>
                    <a:pt x="99831" y="764419"/>
                  </a:lnTo>
                  <a:lnTo>
                    <a:pt x="128203" y="797460"/>
                  </a:lnTo>
                  <a:lnTo>
                    <a:pt x="159487" y="827870"/>
                  </a:lnTo>
                  <a:lnTo>
                    <a:pt x="193477" y="855450"/>
                  </a:lnTo>
                  <a:lnTo>
                    <a:pt x="229970" y="880000"/>
                  </a:lnTo>
                  <a:lnTo>
                    <a:pt x="268758" y="901321"/>
                  </a:lnTo>
                  <a:lnTo>
                    <a:pt x="309638" y="919213"/>
                  </a:lnTo>
                  <a:lnTo>
                    <a:pt x="352404" y="933476"/>
                  </a:lnTo>
                  <a:lnTo>
                    <a:pt x="396851" y="943912"/>
                  </a:lnTo>
                  <a:lnTo>
                    <a:pt x="442773" y="950319"/>
                  </a:lnTo>
                  <a:lnTo>
                    <a:pt x="489966" y="952500"/>
                  </a:lnTo>
                  <a:lnTo>
                    <a:pt x="537158" y="950319"/>
                  </a:lnTo>
                  <a:lnTo>
                    <a:pt x="583080" y="943912"/>
                  </a:lnTo>
                  <a:lnTo>
                    <a:pt x="627527" y="933476"/>
                  </a:lnTo>
                  <a:lnTo>
                    <a:pt x="670293" y="919213"/>
                  </a:lnTo>
                  <a:lnTo>
                    <a:pt x="711173" y="901321"/>
                  </a:lnTo>
                  <a:lnTo>
                    <a:pt x="749961" y="880000"/>
                  </a:lnTo>
                  <a:lnTo>
                    <a:pt x="786454" y="855450"/>
                  </a:lnTo>
                  <a:lnTo>
                    <a:pt x="820444" y="827870"/>
                  </a:lnTo>
                  <a:lnTo>
                    <a:pt x="851728" y="797460"/>
                  </a:lnTo>
                  <a:lnTo>
                    <a:pt x="880100" y="764419"/>
                  </a:lnTo>
                  <a:lnTo>
                    <a:pt x="905355" y="728948"/>
                  </a:lnTo>
                  <a:lnTo>
                    <a:pt x="927287" y="691245"/>
                  </a:lnTo>
                  <a:lnTo>
                    <a:pt x="945692" y="651511"/>
                  </a:lnTo>
                  <a:lnTo>
                    <a:pt x="960364" y="609944"/>
                  </a:lnTo>
                  <a:lnTo>
                    <a:pt x="971098" y="566746"/>
                  </a:lnTo>
                  <a:lnTo>
                    <a:pt x="977689" y="522114"/>
                  </a:lnTo>
                  <a:lnTo>
                    <a:pt x="979931" y="476250"/>
                  </a:lnTo>
                  <a:lnTo>
                    <a:pt x="977689" y="430385"/>
                  </a:lnTo>
                  <a:lnTo>
                    <a:pt x="971098" y="385753"/>
                  </a:lnTo>
                  <a:lnTo>
                    <a:pt x="960364" y="342555"/>
                  </a:lnTo>
                  <a:lnTo>
                    <a:pt x="945692" y="300988"/>
                  </a:lnTo>
                  <a:lnTo>
                    <a:pt x="927287" y="261254"/>
                  </a:lnTo>
                  <a:lnTo>
                    <a:pt x="905355" y="223551"/>
                  </a:lnTo>
                  <a:lnTo>
                    <a:pt x="880100" y="188080"/>
                  </a:lnTo>
                  <a:lnTo>
                    <a:pt x="851728" y="155039"/>
                  </a:lnTo>
                  <a:lnTo>
                    <a:pt x="820444" y="124629"/>
                  </a:lnTo>
                  <a:lnTo>
                    <a:pt x="786454" y="97049"/>
                  </a:lnTo>
                  <a:lnTo>
                    <a:pt x="749961" y="72499"/>
                  </a:lnTo>
                  <a:lnTo>
                    <a:pt x="711173" y="51178"/>
                  </a:lnTo>
                  <a:lnTo>
                    <a:pt x="670293" y="33286"/>
                  </a:lnTo>
                  <a:lnTo>
                    <a:pt x="627527" y="19023"/>
                  </a:lnTo>
                  <a:lnTo>
                    <a:pt x="583080" y="8587"/>
                  </a:lnTo>
                  <a:lnTo>
                    <a:pt x="537158" y="218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0380" y="1900428"/>
              <a:ext cx="980440" cy="952500"/>
            </a:xfrm>
            <a:custGeom>
              <a:avLst/>
              <a:gdLst/>
              <a:ahLst/>
              <a:cxnLst/>
              <a:rect l="l" t="t" r="r" b="b"/>
              <a:pathLst>
                <a:path w="980440" h="952500">
                  <a:moveTo>
                    <a:pt x="0" y="476250"/>
                  </a:moveTo>
                  <a:lnTo>
                    <a:pt x="2242" y="430385"/>
                  </a:lnTo>
                  <a:lnTo>
                    <a:pt x="8833" y="385753"/>
                  </a:lnTo>
                  <a:lnTo>
                    <a:pt x="19567" y="342555"/>
                  </a:lnTo>
                  <a:lnTo>
                    <a:pt x="34239" y="300988"/>
                  </a:lnTo>
                  <a:lnTo>
                    <a:pt x="52644" y="261254"/>
                  </a:lnTo>
                  <a:lnTo>
                    <a:pt x="74576" y="223551"/>
                  </a:lnTo>
                  <a:lnTo>
                    <a:pt x="99831" y="188080"/>
                  </a:lnTo>
                  <a:lnTo>
                    <a:pt x="128203" y="155039"/>
                  </a:lnTo>
                  <a:lnTo>
                    <a:pt x="159487" y="124629"/>
                  </a:lnTo>
                  <a:lnTo>
                    <a:pt x="193477" y="97049"/>
                  </a:lnTo>
                  <a:lnTo>
                    <a:pt x="229970" y="72499"/>
                  </a:lnTo>
                  <a:lnTo>
                    <a:pt x="268758" y="51178"/>
                  </a:lnTo>
                  <a:lnTo>
                    <a:pt x="309638" y="33286"/>
                  </a:lnTo>
                  <a:lnTo>
                    <a:pt x="352404" y="19023"/>
                  </a:lnTo>
                  <a:lnTo>
                    <a:pt x="396851" y="8587"/>
                  </a:lnTo>
                  <a:lnTo>
                    <a:pt x="442773" y="2180"/>
                  </a:lnTo>
                  <a:lnTo>
                    <a:pt x="489966" y="0"/>
                  </a:lnTo>
                  <a:lnTo>
                    <a:pt x="537158" y="2180"/>
                  </a:lnTo>
                  <a:lnTo>
                    <a:pt x="583080" y="8587"/>
                  </a:lnTo>
                  <a:lnTo>
                    <a:pt x="627527" y="19023"/>
                  </a:lnTo>
                  <a:lnTo>
                    <a:pt x="670293" y="33286"/>
                  </a:lnTo>
                  <a:lnTo>
                    <a:pt x="711173" y="51178"/>
                  </a:lnTo>
                  <a:lnTo>
                    <a:pt x="749961" y="72499"/>
                  </a:lnTo>
                  <a:lnTo>
                    <a:pt x="786454" y="97049"/>
                  </a:lnTo>
                  <a:lnTo>
                    <a:pt x="820444" y="124629"/>
                  </a:lnTo>
                  <a:lnTo>
                    <a:pt x="851728" y="155039"/>
                  </a:lnTo>
                  <a:lnTo>
                    <a:pt x="880100" y="188080"/>
                  </a:lnTo>
                  <a:lnTo>
                    <a:pt x="905355" y="223551"/>
                  </a:lnTo>
                  <a:lnTo>
                    <a:pt x="927287" y="261254"/>
                  </a:lnTo>
                  <a:lnTo>
                    <a:pt x="945692" y="300988"/>
                  </a:lnTo>
                  <a:lnTo>
                    <a:pt x="960364" y="342555"/>
                  </a:lnTo>
                  <a:lnTo>
                    <a:pt x="971098" y="385753"/>
                  </a:lnTo>
                  <a:lnTo>
                    <a:pt x="977689" y="430385"/>
                  </a:lnTo>
                  <a:lnTo>
                    <a:pt x="979931" y="476250"/>
                  </a:lnTo>
                  <a:lnTo>
                    <a:pt x="977689" y="522114"/>
                  </a:lnTo>
                  <a:lnTo>
                    <a:pt x="971098" y="566746"/>
                  </a:lnTo>
                  <a:lnTo>
                    <a:pt x="960364" y="609944"/>
                  </a:lnTo>
                  <a:lnTo>
                    <a:pt x="945692" y="651511"/>
                  </a:lnTo>
                  <a:lnTo>
                    <a:pt x="927287" y="691245"/>
                  </a:lnTo>
                  <a:lnTo>
                    <a:pt x="905355" y="728948"/>
                  </a:lnTo>
                  <a:lnTo>
                    <a:pt x="880100" y="764419"/>
                  </a:lnTo>
                  <a:lnTo>
                    <a:pt x="851728" y="797460"/>
                  </a:lnTo>
                  <a:lnTo>
                    <a:pt x="820444" y="827870"/>
                  </a:lnTo>
                  <a:lnTo>
                    <a:pt x="786454" y="855450"/>
                  </a:lnTo>
                  <a:lnTo>
                    <a:pt x="749961" y="880000"/>
                  </a:lnTo>
                  <a:lnTo>
                    <a:pt x="711173" y="901321"/>
                  </a:lnTo>
                  <a:lnTo>
                    <a:pt x="670293" y="919213"/>
                  </a:lnTo>
                  <a:lnTo>
                    <a:pt x="627527" y="933476"/>
                  </a:lnTo>
                  <a:lnTo>
                    <a:pt x="583080" y="943912"/>
                  </a:lnTo>
                  <a:lnTo>
                    <a:pt x="537158" y="950319"/>
                  </a:lnTo>
                  <a:lnTo>
                    <a:pt x="489966" y="952500"/>
                  </a:lnTo>
                  <a:lnTo>
                    <a:pt x="442773" y="950319"/>
                  </a:lnTo>
                  <a:lnTo>
                    <a:pt x="396851" y="943912"/>
                  </a:lnTo>
                  <a:lnTo>
                    <a:pt x="352404" y="933476"/>
                  </a:lnTo>
                  <a:lnTo>
                    <a:pt x="309638" y="919213"/>
                  </a:lnTo>
                  <a:lnTo>
                    <a:pt x="268758" y="901321"/>
                  </a:lnTo>
                  <a:lnTo>
                    <a:pt x="229970" y="880000"/>
                  </a:lnTo>
                  <a:lnTo>
                    <a:pt x="193477" y="855450"/>
                  </a:lnTo>
                  <a:lnTo>
                    <a:pt x="159487" y="827870"/>
                  </a:lnTo>
                  <a:lnTo>
                    <a:pt x="128203" y="797460"/>
                  </a:lnTo>
                  <a:lnTo>
                    <a:pt x="99831" y="764419"/>
                  </a:lnTo>
                  <a:lnTo>
                    <a:pt x="74576" y="728948"/>
                  </a:lnTo>
                  <a:lnTo>
                    <a:pt x="52644" y="691245"/>
                  </a:lnTo>
                  <a:lnTo>
                    <a:pt x="34239" y="651511"/>
                  </a:lnTo>
                  <a:lnTo>
                    <a:pt x="19567" y="609944"/>
                  </a:lnTo>
                  <a:lnTo>
                    <a:pt x="8833" y="566746"/>
                  </a:lnTo>
                  <a:lnTo>
                    <a:pt x="2242" y="522114"/>
                  </a:lnTo>
                  <a:lnTo>
                    <a:pt x="0" y="4762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3427" y="3147060"/>
              <a:ext cx="980440" cy="952500"/>
            </a:xfrm>
            <a:custGeom>
              <a:avLst/>
              <a:gdLst/>
              <a:ahLst/>
              <a:cxnLst/>
              <a:rect l="l" t="t" r="r" b="b"/>
              <a:pathLst>
                <a:path w="980440" h="952500">
                  <a:moveTo>
                    <a:pt x="489966" y="0"/>
                  </a:moveTo>
                  <a:lnTo>
                    <a:pt x="442773" y="2180"/>
                  </a:lnTo>
                  <a:lnTo>
                    <a:pt x="396851" y="8587"/>
                  </a:lnTo>
                  <a:lnTo>
                    <a:pt x="352404" y="19023"/>
                  </a:lnTo>
                  <a:lnTo>
                    <a:pt x="309638" y="33286"/>
                  </a:lnTo>
                  <a:lnTo>
                    <a:pt x="268758" y="51178"/>
                  </a:lnTo>
                  <a:lnTo>
                    <a:pt x="229970" y="72499"/>
                  </a:lnTo>
                  <a:lnTo>
                    <a:pt x="193477" y="97049"/>
                  </a:lnTo>
                  <a:lnTo>
                    <a:pt x="159487" y="124629"/>
                  </a:lnTo>
                  <a:lnTo>
                    <a:pt x="128203" y="155039"/>
                  </a:lnTo>
                  <a:lnTo>
                    <a:pt x="99831" y="188080"/>
                  </a:lnTo>
                  <a:lnTo>
                    <a:pt x="74576" y="223551"/>
                  </a:lnTo>
                  <a:lnTo>
                    <a:pt x="52644" y="261254"/>
                  </a:lnTo>
                  <a:lnTo>
                    <a:pt x="34239" y="300988"/>
                  </a:lnTo>
                  <a:lnTo>
                    <a:pt x="19567" y="342555"/>
                  </a:lnTo>
                  <a:lnTo>
                    <a:pt x="8833" y="385753"/>
                  </a:lnTo>
                  <a:lnTo>
                    <a:pt x="2242" y="430385"/>
                  </a:lnTo>
                  <a:lnTo>
                    <a:pt x="0" y="476250"/>
                  </a:lnTo>
                  <a:lnTo>
                    <a:pt x="2242" y="522114"/>
                  </a:lnTo>
                  <a:lnTo>
                    <a:pt x="8833" y="566746"/>
                  </a:lnTo>
                  <a:lnTo>
                    <a:pt x="19567" y="609944"/>
                  </a:lnTo>
                  <a:lnTo>
                    <a:pt x="34239" y="651511"/>
                  </a:lnTo>
                  <a:lnTo>
                    <a:pt x="52644" y="691245"/>
                  </a:lnTo>
                  <a:lnTo>
                    <a:pt x="74576" y="728948"/>
                  </a:lnTo>
                  <a:lnTo>
                    <a:pt x="99831" y="764419"/>
                  </a:lnTo>
                  <a:lnTo>
                    <a:pt x="128203" y="797460"/>
                  </a:lnTo>
                  <a:lnTo>
                    <a:pt x="159487" y="827870"/>
                  </a:lnTo>
                  <a:lnTo>
                    <a:pt x="193477" y="855450"/>
                  </a:lnTo>
                  <a:lnTo>
                    <a:pt x="229970" y="880000"/>
                  </a:lnTo>
                  <a:lnTo>
                    <a:pt x="268758" y="901321"/>
                  </a:lnTo>
                  <a:lnTo>
                    <a:pt x="309638" y="919213"/>
                  </a:lnTo>
                  <a:lnTo>
                    <a:pt x="352404" y="933476"/>
                  </a:lnTo>
                  <a:lnTo>
                    <a:pt x="396851" y="943912"/>
                  </a:lnTo>
                  <a:lnTo>
                    <a:pt x="442773" y="950319"/>
                  </a:lnTo>
                  <a:lnTo>
                    <a:pt x="489966" y="952500"/>
                  </a:lnTo>
                  <a:lnTo>
                    <a:pt x="537158" y="950319"/>
                  </a:lnTo>
                  <a:lnTo>
                    <a:pt x="583080" y="943912"/>
                  </a:lnTo>
                  <a:lnTo>
                    <a:pt x="627527" y="933476"/>
                  </a:lnTo>
                  <a:lnTo>
                    <a:pt x="670293" y="919213"/>
                  </a:lnTo>
                  <a:lnTo>
                    <a:pt x="711173" y="901321"/>
                  </a:lnTo>
                  <a:lnTo>
                    <a:pt x="749961" y="880000"/>
                  </a:lnTo>
                  <a:lnTo>
                    <a:pt x="786454" y="855450"/>
                  </a:lnTo>
                  <a:lnTo>
                    <a:pt x="820444" y="827870"/>
                  </a:lnTo>
                  <a:lnTo>
                    <a:pt x="851728" y="797460"/>
                  </a:lnTo>
                  <a:lnTo>
                    <a:pt x="880100" y="764419"/>
                  </a:lnTo>
                  <a:lnTo>
                    <a:pt x="905355" y="728948"/>
                  </a:lnTo>
                  <a:lnTo>
                    <a:pt x="927287" y="691245"/>
                  </a:lnTo>
                  <a:lnTo>
                    <a:pt x="945692" y="651511"/>
                  </a:lnTo>
                  <a:lnTo>
                    <a:pt x="960364" y="609944"/>
                  </a:lnTo>
                  <a:lnTo>
                    <a:pt x="971098" y="566746"/>
                  </a:lnTo>
                  <a:lnTo>
                    <a:pt x="977689" y="522114"/>
                  </a:lnTo>
                  <a:lnTo>
                    <a:pt x="979931" y="476250"/>
                  </a:lnTo>
                  <a:lnTo>
                    <a:pt x="977689" y="430385"/>
                  </a:lnTo>
                  <a:lnTo>
                    <a:pt x="971098" y="385753"/>
                  </a:lnTo>
                  <a:lnTo>
                    <a:pt x="960364" y="342555"/>
                  </a:lnTo>
                  <a:lnTo>
                    <a:pt x="945692" y="300988"/>
                  </a:lnTo>
                  <a:lnTo>
                    <a:pt x="927287" y="261254"/>
                  </a:lnTo>
                  <a:lnTo>
                    <a:pt x="905355" y="223551"/>
                  </a:lnTo>
                  <a:lnTo>
                    <a:pt x="880100" y="188080"/>
                  </a:lnTo>
                  <a:lnTo>
                    <a:pt x="851728" y="155039"/>
                  </a:lnTo>
                  <a:lnTo>
                    <a:pt x="820444" y="124629"/>
                  </a:lnTo>
                  <a:lnTo>
                    <a:pt x="786454" y="97049"/>
                  </a:lnTo>
                  <a:lnTo>
                    <a:pt x="749961" y="72499"/>
                  </a:lnTo>
                  <a:lnTo>
                    <a:pt x="711173" y="51178"/>
                  </a:lnTo>
                  <a:lnTo>
                    <a:pt x="670293" y="33286"/>
                  </a:lnTo>
                  <a:lnTo>
                    <a:pt x="627527" y="19023"/>
                  </a:lnTo>
                  <a:lnTo>
                    <a:pt x="583080" y="8587"/>
                  </a:lnTo>
                  <a:lnTo>
                    <a:pt x="537158" y="2180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3427" y="3147060"/>
              <a:ext cx="980440" cy="952500"/>
            </a:xfrm>
            <a:custGeom>
              <a:avLst/>
              <a:gdLst/>
              <a:ahLst/>
              <a:cxnLst/>
              <a:rect l="l" t="t" r="r" b="b"/>
              <a:pathLst>
                <a:path w="980440" h="952500">
                  <a:moveTo>
                    <a:pt x="0" y="476250"/>
                  </a:moveTo>
                  <a:lnTo>
                    <a:pt x="2242" y="430385"/>
                  </a:lnTo>
                  <a:lnTo>
                    <a:pt x="8833" y="385753"/>
                  </a:lnTo>
                  <a:lnTo>
                    <a:pt x="19567" y="342555"/>
                  </a:lnTo>
                  <a:lnTo>
                    <a:pt x="34239" y="300988"/>
                  </a:lnTo>
                  <a:lnTo>
                    <a:pt x="52644" y="261254"/>
                  </a:lnTo>
                  <a:lnTo>
                    <a:pt x="74576" y="223551"/>
                  </a:lnTo>
                  <a:lnTo>
                    <a:pt x="99831" y="188080"/>
                  </a:lnTo>
                  <a:lnTo>
                    <a:pt x="128203" y="155039"/>
                  </a:lnTo>
                  <a:lnTo>
                    <a:pt x="159487" y="124629"/>
                  </a:lnTo>
                  <a:lnTo>
                    <a:pt x="193477" y="97049"/>
                  </a:lnTo>
                  <a:lnTo>
                    <a:pt x="229970" y="72499"/>
                  </a:lnTo>
                  <a:lnTo>
                    <a:pt x="268758" y="51178"/>
                  </a:lnTo>
                  <a:lnTo>
                    <a:pt x="309638" y="33286"/>
                  </a:lnTo>
                  <a:lnTo>
                    <a:pt x="352404" y="19023"/>
                  </a:lnTo>
                  <a:lnTo>
                    <a:pt x="396851" y="8587"/>
                  </a:lnTo>
                  <a:lnTo>
                    <a:pt x="442773" y="2180"/>
                  </a:lnTo>
                  <a:lnTo>
                    <a:pt x="489966" y="0"/>
                  </a:lnTo>
                  <a:lnTo>
                    <a:pt x="537158" y="2180"/>
                  </a:lnTo>
                  <a:lnTo>
                    <a:pt x="583080" y="8587"/>
                  </a:lnTo>
                  <a:lnTo>
                    <a:pt x="627527" y="19023"/>
                  </a:lnTo>
                  <a:lnTo>
                    <a:pt x="670293" y="33286"/>
                  </a:lnTo>
                  <a:lnTo>
                    <a:pt x="711173" y="51178"/>
                  </a:lnTo>
                  <a:lnTo>
                    <a:pt x="749961" y="72499"/>
                  </a:lnTo>
                  <a:lnTo>
                    <a:pt x="786454" y="97049"/>
                  </a:lnTo>
                  <a:lnTo>
                    <a:pt x="820444" y="124629"/>
                  </a:lnTo>
                  <a:lnTo>
                    <a:pt x="851728" y="155039"/>
                  </a:lnTo>
                  <a:lnTo>
                    <a:pt x="880100" y="188080"/>
                  </a:lnTo>
                  <a:lnTo>
                    <a:pt x="905355" y="223551"/>
                  </a:lnTo>
                  <a:lnTo>
                    <a:pt x="927287" y="261254"/>
                  </a:lnTo>
                  <a:lnTo>
                    <a:pt x="945692" y="300988"/>
                  </a:lnTo>
                  <a:lnTo>
                    <a:pt x="960364" y="342555"/>
                  </a:lnTo>
                  <a:lnTo>
                    <a:pt x="971098" y="385753"/>
                  </a:lnTo>
                  <a:lnTo>
                    <a:pt x="977689" y="430385"/>
                  </a:lnTo>
                  <a:lnTo>
                    <a:pt x="979931" y="476250"/>
                  </a:lnTo>
                  <a:lnTo>
                    <a:pt x="977689" y="522114"/>
                  </a:lnTo>
                  <a:lnTo>
                    <a:pt x="971098" y="566746"/>
                  </a:lnTo>
                  <a:lnTo>
                    <a:pt x="960364" y="609944"/>
                  </a:lnTo>
                  <a:lnTo>
                    <a:pt x="945692" y="651511"/>
                  </a:lnTo>
                  <a:lnTo>
                    <a:pt x="927287" y="691245"/>
                  </a:lnTo>
                  <a:lnTo>
                    <a:pt x="905355" y="728948"/>
                  </a:lnTo>
                  <a:lnTo>
                    <a:pt x="880100" y="764419"/>
                  </a:lnTo>
                  <a:lnTo>
                    <a:pt x="851728" y="797460"/>
                  </a:lnTo>
                  <a:lnTo>
                    <a:pt x="820444" y="827870"/>
                  </a:lnTo>
                  <a:lnTo>
                    <a:pt x="786454" y="855450"/>
                  </a:lnTo>
                  <a:lnTo>
                    <a:pt x="749961" y="880000"/>
                  </a:lnTo>
                  <a:lnTo>
                    <a:pt x="711173" y="901321"/>
                  </a:lnTo>
                  <a:lnTo>
                    <a:pt x="670293" y="919213"/>
                  </a:lnTo>
                  <a:lnTo>
                    <a:pt x="627527" y="933476"/>
                  </a:lnTo>
                  <a:lnTo>
                    <a:pt x="583080" y="943912"/>
                  </a:lnTo>
                  <a:lnTo>
                    <a:pt x="537158" y="950319"/>
                  </a:lnTo>
                  <a:lnTo>
                    <a:pt x="489966" y="952500"/>
                  </a:lnTo>
                  <a:lnTo>
                    <a:pt x="442773" y="950319"/>
                  </a:lnTo>
                  <a:lnTo>
                    <a:pt x="396851" y="943912"/>
                  </a:lnTo>
                  <a:lnTo>
                    <a:pt x="352404" y="933476"/>
                  </a:lnTo>
                  <a:lnTo>
                    <a:pt x="309638" y="919213"/>
                  </a:lnTo>
                  <a:lnTo>
                    <a:pt x="268758" y="901321"/>
                  </a:lnTo>
                  <a:lnTo>
                    <a:pt x="229970" y="880000"/>
                  </a:lnTo>
                  <a:lnTo>
                    <a:pt x="193477" y="855450"/>
                  </a:lnTo>
                  <a:lnTo>
                    <a:pt x="159487" y="827870"/>
                  </a:lnTo>
                  <a:lnTo>
                    <a:pt x="128203" y="797460"/>
                  </a:lnTo>
                  <a:lnTo>
                    <a:pt x="99831" y="764419"/>
                  </a:lnTo>
                  <a:lnTo>
                    <a:pt x="74576" y="728948"/>
                  </a:lnTo>
                  <a:lnTo>
                    <a:pt x="52644" y="691245"/>
                  </a:lnTo>
                  <a:lnTo>
                    <a:pt x="34239" y="651511"/>
                  </a:lnTo>
                  <a:lnTo>
                    <a:pt x="19567" y="609944"/>
                  </a:lnTo>
                  <a:lnTo>
                    <a:pt x="8833" y="566746"/>
                  </a:lnTo>
                  <a:lnTo>
                    <a:pt x="2242" y="522114"/>
                  </a:lnTo>
                  <a:lnTo>
                    <a:pt x="0" y="4762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09232" y="4433316"/>
              <a:ext cx="978535" cy="951230"/>
            </a:xfrm>
            <a:custGeom>
              <a:avLst/>
              <a:gdLst/>
              <a:ahLst/>
              <a:cxnLst/>
              <a:rect l="l" t="t" r="r" b="b"/>
              <a:pathLst>
                <a:path w="978534" h="951229">
                  <a:moveTo>
                    <a:pt x="489203" y="0"/>
                  </a:moveTo>
                  <a:lnTo>
                    <a:pt x="442098" y="2176"/>
                  </a:lnTo>
                  <a:lnTo>
                    <a:pt x="396257" y="8572"/>
                  </a:lnTo>
                  <a:lnTo>
                    <a:pt x="351887" y="18989"/>
                  </a:lnTo>
                  <a:lnTo>
                    <a:pt x="309193" y="33228"/>
                  </a:lnTo>
                  <a:lnTo>
                    <a:pt x="268379" y="51089"/>
                  </a:lnTo>
                  <a:lnTo>
                    <a:pt x="229651" y="72374"/>
                  </a:lnTo>
                  <a:lnTo>
                    <a:pt x="193214" y="96882"/>
                  </a:lnTo>
                  <a:lnTo>
                    <a:pt x="159273" y="124416"/>
                  </a:lnTo>
                  <a:lnTo>
                    <a:pt x="128034" y="154776"/>
                  </a:lnTo>
                  <a:lnTo>
                    <a:pt x="99702" y="187762"/>
                  </a:lnTo>
                  <a:lnTo>
                    <a:pt x="74481" y="223176"/>
                  </a:lnTo>
                  <a:lnTo>
                    <a:pt x="52578" y="260818"/>
                  </a:lnTo>
                  <a:lnTo>
                    <a:pt x="34197" y="300490"/>
                  </a:lnTo>
                  <a:lnTo>
                    <a:pt x="19543" y="341992"/>
                  </a:lnTo>
                  <a:lnTo>
                    <a:pt x="8822" y="385125"/>
                  </a:lnTo>
                  <a:lnTo>
                    <a:pt x="2239" y="429690"/>
                  </a:lnTo>
                  <a:lnTo>
                    <a:pt x="0" y="475487"/>
                  </a:lnTo>
                  <a:lnTo>
                    <a:pt x="2239" y="521285"/>
                  </a:lnTo>
                  <a:lnTo>
                    <a:pt x="8822" y="565850"/>
                  </a:lnTo>
                  <a:lnTo>
                    <a:pt x="19543" y="608983"/>
                  </a:lnTo>
                  <a:lnTo>
                    <a:pt x="34197" y="650485"/>
                  </a:lnTo>
                  <a:lnTo>
                    <a:pt x="52578" y="690157"/>
                  </a:lnTo>
                  <a:lnTo>
                    <a:pt x="74481" y="727799"/>
                  </a:lnTo>
                  <a:lnTo>
                    <a:pt x="99702" y="763213"/>
                  </a:lnTo>
                  <a:lnTo>
                    <a:pt x="128034" y="796199"/>
                  </a:lnTo>
                  <a:lnTo>
                    <a:pt x="159273" y="826559"/>
                  </a:lnTo>
                  <a:lnTo>
                    <a:pt x="193214" y="854093"/>
                  </a:lnTo>
                  <a:lnTo>
                    <a:pt x="229651" y="878601"/>
                  </a:lnTo>
                  <a:lnTo>
                    <a:pt x="268379" y="899886"/>
                  </a:lnTo>
                  <a:lnTo>
                    <a:pt x="309193" y="917747"/>
                  </a:lnTo>
                  <a:lnTo>
                    <a:pt x="351887" y="931986"/>
                  </a:lnTo>
                  <a:lnTo>
                    <a:pt x="396257" y="942403"/>
                  </a:lnTo>
                  <a:lnTo>
                    <a:pt x="442098" y="948799"/>
                  </a:lnTo>
                  <a:lnTo>
                    <a:pt x="489203" y="950975"/>
                  </a:lnTo>
                  <a:lnTo>
                    <a:pt x="536309" y="948799"/>
                  </a:lnTo>
                  <a:lnTo>
                    <a:pt x="582150" y="942403"/>
                  </a:lnTo>
                  <a:lnTo>
                    <a:pt x="626520" y="931986"/>
                  </a:lnTo>
                  <a:lnTo>
                    <a:pt x="669214" y="917747"/>
                  </a:lnTo>
                  <a:lnTo>
                    <a:pt x="710028" y="899886"/>
                  </a:lnTo>
                  <a:lnTo>
                    <a:pt x="748756" y="878601"/>
                  </a:lnTo>
                  <a:lnTo>
                    <a:pt x="785193" y="854093"/>
                  </a:lnTo>
                  <a:lnTo>
                    <a:pt x="819134" y="826559"/>
                  </a:lnTo>
                  <a:lnTo>
                    <a:pt x="850373" y="796199"/>
                  </a:lnTo>
                  <a:lnTo>
                    <a:pt x="878705" y="763213"/>
                  </a:lnTo>
                  <a:lnTo>
                    <a:pt x="903926" y="727799"/>
                  </a:lnTo>
                  <a:lnTo>
                    <a:pt x="925829" y="690157"/>
                  </a:lnTo>
                  <a:lnTo>
                    <a:pt x="944210" y="650485"/>
                  </a:lnTo>
                  <a:lnTo>
                    <a:pt x="958864" y="608983"/>
                  </a:lnTo>
                  <a:lnTo>
                    <a:pt x="969585" y="565850"/>
                  </a:lnTo>
                  <a:lnTo>
                    <a:pt x="976168" y="521285"/>
                  </a:lnTo>
                  <a:lnTo>
                    <a:pt x="978408" y="475487"/>
                  </a:lnTo>
                  <a:lnTo>
                    <a:pt x="976168" y="429690"/>
                  </a:lnTo>
                  <a:lnTo>
                    <a:pt x="969585" y="385125"/>
                  </a:lnTo>
                  <a:lnTo>
                    <a:pt x="958864" y="341992"/>
                  </a:lnTo>
                  <a:lnTo>
                    <a:pt x="944210" y="300490"/>
                  </a:lnTo>
                  <a:lnTo>
                    <a:pt x="925829" y="260818"/>
                  </a:lnTo>
                  <a:lnTo>
                    <a:pt x="903926" y="223176"/>
                  </a:lnTo>
                  <a:lnTo>
                    <a:pt x="878705" y="187762"/>
                  </a:lnTo>
                  <a:lnTo>
                    <a:pt x="850373" y="154776"/>
                  </a:lnTo>
                  <a:lnTo>
                    <a:pt x="819134" y="124416"/>
                  </a:lnTo>
                  <a:lnTo>
                    <a:pt x="785193" y="96882"/>
                  </a:lnTo>
                  <a:lnTo>
                    <a:pt x="748756" y="72374"/>
                  </a:lnTo>
                  <a:lnTo>
                    <a:pt x="710028" y="51089"/>
                  </a:lnTo>
                  <a:lnTo>
                    <a:pt x="669214" y="33228"/>
                  </a:lnTo>
                  <a:lnTo>
                    <a:pt x="626520" y="18989"/>
                  </a:lnTo>
                  <a:lnTo>
                    <a:pt x="582150" y="8572"/>
                  </a:lnTo>
                  <a:lnTo>
                    <a:pt x="536309" y="2176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09232" y="4433316"/>
              <a:ext cx="978535" cy="951230"/>
            </a:xfrm>
            <a:custGeom>
              <a:avLst/>
              <a:gdLst/>
              <a:ahLst/>
              <a:cxnLst/>
              <a:rect l="l" t="t" r="r" b="b"/>
              <a:pathLst>
                <a:path w="978534" h="951229">
                  <a:moveTo>
                    <a:pt x="0" y="475487"/>
                  </a:moveTo>
                  <a:lnTo>
                    <a:pt x="2239" y="429690"/>
                  </a:lnTo>
                  <a:lnTo>
                    <a:pt x="8822" y="385125"/>
                  </a:lnTo>
                  <a:lnTo>
                    <a:pt x="19543" y="341992"/>
                  </a:lnTo>
                  <a:lnTo>
                    <a:pt x="34197" y="300490"/>
                  </a:lnTo>
                  <a:lnTo>
                    <a:pt x="52578" y="260818"/>
                  </a:lnTo>
                  <a:lnTo>
                    <a:pt x="74481" y="223176"/>
                  </a:lnTo>
                  <a:lnTo>
                    <a:pt x="99702" y="187762"/>
                  </a:lnTo>
                  <a:lnTo>
                    <a:pt x="128034" y="154776"/>
                  </a:lnTo>
                  <a:lnTo>
                    <a:pt x="159273" y="124416"/>
                  </a:lnTo>
                  <a:lnTo>
                    <a:pt x="193214" y="96882"/>
                  </a:lnTo>
                  <a:lnTo>
                    <a:pt x="229651" y="72374"/>
                  </a:lnTo>
                  <a:lnTo>
                    <a:pt x="268379" y="51089"/>
                  </a:lnTo>
                  <a:lnTo>
                    <a:pt x="309193" y="33228"/>
                  </a:lnTo>
                  <a:lnTo>
                    <a:pt x="351887" y="18989"/>
                  </a:lnTo>
                  <a:lnTo>
                    <a:pt x="396257" y="8572"/>
                  </a:lnTo>
                  <a:lnTo>
                    <a:pt x="442098" y="2176"/>
                  </a:lnTo>
                  <a:lnTo>
                    <a:pt x="489203" y="0"/>
                  </a:lnTo>
                  <a:lnTo>
                    <a:pt x="536309" y="2176"/>
                  </a:lnTo>
                  <a:lnTo>
                    <a:pt x="582150" y="8572"/>
                  </a:lnTo>
                  <a:lnTo>
                    <a:pt x="626520" y="18989"/>
                  </a:lnTo>
                  <a:lnTo>
                    <a:pt x="669214" y="33228"/>
                  </a:lnTo>
                  <a:lnTo>
                    <a:pt x="710028" y="51089"/>
                  </a:lnTo>
                  <a:lnTo>
                    <a:pt x="748756" y="72374"/>
                  </a:lnTo>
                  <a:lnTo>
                    <a:pt x="785193" y="96882"/>
                  </a:lnTo>
                  <a:lnTo>
                    <a:pt x="819134" y="124416"/>
                  </a:lnTo>
                  <a:lnTo>
                    <a:pt x="850373" y="154776"/>
                  </a:lnTo>
                  <a:lnTo>
                    <a:pt x="878705" y="187762"/>
                  </a:lnTo>
                  <a:lnTo>
                    <a:pt x="903926" y="223176"/>
                  </a:lnTo>
                  <a:lnTo>
                    <a:pt x="925829" y="260818"/>
                  </a:lnTo>
                  <a:lnTo>
                    <a:pt x="944210" y="300490"/>
                  </a:lnTo>
                  <a:lnTo>
                    <a:pt x="958864" y="341992"/>
                  </a:lnTo>
                  <a:lnTo>
                    <a:pt x="969585" y="385125"/>
                  </a:lnTo>
                  <a:lnTo>
                    <a:pt x="976168" y="429690"/>
                  </a:lnTo>
                  <a:lnTo>
                    <a:pt x="978408" y="475487"/>
                  </a:lnTo>
                  <a:lnTo>
                    <a:pt x="976168" y="521285"/>
                  </a:lnTo>
                  <a:lnTo>
                    <a:pt x="969585" y="565850"/>
                  </a:lnTo>
                  <a:lnTo>
                    <a:pt x="958864" y="608983"/>
                  </a:lnTo>
                  <a:lnTo>
                    <a:pt x="944210" y="650485"/>
                  </a:lnTo>
                  <a:lnTo>
                    <a:pt x="925829" y="690157"/>
                  </a:lnTo>
                  <a:lnTo>
                    <a:pt x="903926" y="727799"/>
                  </a:lnTo>
                  <a:lnTo>
                    <a:pt x="878705" y="763213"/>
                  </a:lnTo>
                  <a:lnTo>
                    <a:pt x="850373" y="796199"/>
                  </a:lnTo>
                  <a:lnTo>
                    <a:pt x="819134" y="826559"/>
                  </a:lnTo>
                  <a:lnTo>
                    <a:pt x="785193" y="854093"/>
                  </a:lnTo>
                  <a:lnTo>
                    <a:pt x="748756" y="878601"/>
                  </a:lnTo>
                  <a:lnTo>
                    <a:pt x="710028" y="899886"/>
                  </a:lnTo>
                  <a:lnTo>
                    <a:pt x="669214" y="917747"/>
                  </a:lnTo>
                  <a:lnTo>
                    <a:pt x="626520" y="931986"/>
                  </a:lnTo>
                  <a:lnTo>
                    <a:pt x="582150" y="942403"/>
                  </a:lnTo>
                  <a:lnTo>
                    <a:pt x="536309" y="948799"/>
                  </a:lnTo>
                  <a:lnTo>
                    <a:pt x="489203" y="950975"/>
                  </a:lnTo>
                  <a:lnTo>
                    <a:pt x="442098" y="948799"/>
                  </a:lnTo>
                  <a:lnTo>
                    <a:pt x="396257" y="942403"/>
                  </a:lnTo>
                  <a:lnTo>
                    <a:pt x="351887" y="931986"/>
                  </a:lnTo>
                  <a:lnTo>
                    <a:pt x="309193" y="917747"/>
                  </a:lnTo>
                  <a:lnTo>
                    <a:pt x="268379" y="899886"/>
                  </a:lnTo>
                  <a:lnTo>
                    <a:pt x="229651" y="878601"/>
                  </a:lnTo>
                  <a:lnTo>
                    <a:pt x="193214" y="854093"/>
                  </a:lnTo>
                  <a:lnTo>
                    <a:pt x="159273" y="826559"/>
                  </a:lnTo>
                  <a:lnTo>
                    <a:pt x="128034" y="796199"/>
                  </a:lnTo>
                  <a:lnTo>
                    <a:pt x="99702" y="763213"/>
                  </a:lnTo>
                  <a:lnTo>
                    <a:pt x="74481" y="727799"/>
                  </a:lnTo>
                  <a:lnTo>
                    <a:pt x="52578" y="690157"/>
                  </a:lnTo>
                  <a:lnTo>
                    <a:pt x="34197" y="650485"/>
                  </a:lnTo>
                  <a:lnTo>
                    <a:pt x="19543" y="608983"/>
                  </a:lnTo>
                  <a:lnTo>
                    <a:pt x="8822" y="565850"/>
                  </a:lnTo>
                  <a:lnTo>
                    <a:pt x="2239" y="521285"/>
                  </a:lnTo>
                  <a:lnTo>
                    <a:pt x="0" y="4754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555748" y="1949195"/>
            <a:ext cx="1681480" cy="862965"/>
          </a:xfrm>
          <a:prstGeom prst="rect">
            <a:avLst/>
          </a:prstGeom>
          <a:solidFill>
            <a:srgbClr val="CCEBFF"/>
          </a:solidFill>
          <a:ln w="12192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</a:pPr>
            <a:r>
              <a:rPr sz="1600" b="1" spc="-5" dirty="0">
                <a:latin typeface="Trebuchet MS"/>
                <a:cs typeface="Trebuchet MS"/>
              </a:rPr>
              <a:t>Distributor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68011" y="1987295"/>
            <a:ext cx="1681480" cy="862965"/>
          </a:xfrm>
          <a:prstGeom prst="rect">
            <a:avLst/>
          </a:prstGeom>
          <a:solidFill>
            <a:srgbClr val="CCEBFF"/>
          </a:solidFill>
          <a:ln w="12192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370840">
              <a:lnSpc>
                <a:spcPct val="100000"/>
              </a:lnSpc>
            </a:pPr>
            <a:r>
              <a:rPr sz="1600" b="1" spc="-10" dirty="0">
                <a:latin typeface="Trebuchet MS"/>
                <a:cs typeface="Trebuchet MS"/>
              </a:rPr>
              <a:t>Retailer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7532" y="3287267"/>
            <a:ext cx="1681480" cy="862965"/>
          </a:xfrm>
          <a:prstGeom prst="rect">
            <a:avLst/>
          </a:prstGeom>
          <a:solidFill>
            <a:srgbClr val="CCEBFF"/>
          </a:solidFill>
          <a:ln w="12192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</a:pPr>
            <a:r>
              <a:rPr sz="1600" b="1" spc="-10" dirty="0">
                <a:latin typeface="Trebuchet MS"/>
                <a:cs typeface="Trebuchet MS"/>
              </a:rPr>
              <a:t>Retailer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66381" y="2235835"/>
            <a:ext cx="930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rebuchet MS"/>
                <a:cs typeface="Trebuchet MS"/>
              </a:rPr>
              <a:t>Customer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53808" y="3495294"/>
            <a:ext cx="9277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rebuchet MS"/>
                <a:cs typeface="Trebuchet MS"/>
              </a:rPr>
              <a:t>Custo</a:t>
            </a:r>
            <a:r>
              <a:rPr sz="1600" b="1" spc="-15" dirty="0">
                <a:latin typeface="Trebuchet MS"/>
                <a:cs typeface="Trebuchet MS"/>
              </a:rPr>
              <a:t>me</a:t>
            </a:r>
            <a:r>
              <a:rPr sz="1600" b="1" spc="-5" dirty="0">
                <a:latin typeface="Trebuchet MS"/>
                <a:cs typeface="Trebuchet MS"/>
              </a:rPr>
              <a:t>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15708" y="4804028"/>
            <a:ext cx="9277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rebuchet MS"/>
                <a:cs typeface="Trebuchet MS"/>
              </a:rPr>
              <a:t>Custo</a:t>
            </a:r>
            <a:r>
              <a:rPr sz="1600" b="1" spc="-15" dirty="0">
                <a:latin typeface="Trebuchet MS"/>
                <a:cs typeface="Trebuchet MS"/>
              </a:rPr>
              <a:t>me</a:t>
            </a:r>
            <a:r>
              <a:rPr sz="1600" b="1" spc="-5" dirty="0">
                <a:latin typeface="Trebuchet MS"/>
                <a:cs typeface="Trebuchet MS"/>
              </a:rPr>
              <a:t>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39861" y="2291588"/>
            <a:ext cx="58356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latin typeface="Trebuchet MS"/>
                <a:cs typeface="Trebuchet MS"/>
              </a:rPr>
              <a:t>$48.50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052561" y="3476320"/>
            <a:ext cx="58356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10" dirty="0">
                <a:latin typeface="Trebuchet MS"/>
                <a:cs typeface="Trebuchet MS"/>
              </a:rPr>
              <a:t>$40.34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52561" y="4773295"/>
            <a:ext cx="58356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15" dirty="0">
                <a:latin typeface="Trebuchet MS"/>
                <a:cs typeface="Trebuchet MS"/>
              </a:rPr>
              <a:t>$20.45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895600" y="152400"/>
            <a:ext cx="486791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Bán </a:t>
            </a:r>
            <a:r>
              <a:rPr sz="2500" spc="-70" dirty="0"/>
              <a:t>l</a:t>
            </a:r>
            <a:r>
              <a:rPr sz="2500" spc="-70" dirty="0">
                <a:latin typeface="Arial"/>
                <a:cs typeface="Arial"/>
              </a:rPr>
              <a:t>ẻ </a:t>
            </a:r>
            <a:r>
              <a:rPr sz="2500" spc="-85" dirty="0"/>
              <a:t>h</a:t>
            </a:r>
            <a:r>
              <a:rPr sz="2500" spc="-85" dirty="0">
                <a:latin typeface="Arial"/>
                <a:cs typeface="Arial"/>
              </a:rPr>
              <a:t>ướ</a:t>
            </a:r>
            <a:r>
              <a:rPr sz="2500" spc="-85" dirty="0"/>
              <a:t>ng </a:t>
            </a:r>
            <a:r>
              <a:rPr sz="2500" spc="-70" dirty="0"/>
              <a:t>t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 </a:t>
            </a:r>
            <a:r>
              <a:rPr sz="2500" spc="-5" dirty="0"/>
              <a:t>khách hàng:  </a:t>
            </a:r>
            <a:r>
              <a:rPr sz="2500" spc="-65" dirty="0"/>
              <a:t>Ti</a:t>
            </a:r>
            <a:r>
              <a:rPr sz="2500" spc="-65" dirty="0">
                <a:latin typeface="Arial"/>
                <a:cs typeface="Arial"/>
              </a:rPr>
              <a:t>ế</a:t>
            </a:r>
            <a:r>
              <a:rPr sz="2500" spc="-65" dirty="0"/>
              <a:t>p </a:t>
            </a:r>
            <a:r>
              <a:rPr sz="2500" spc="-35" dirty="0"/>
              <a:t>th</a:t>
            </a:r>
            <a:r>
              <a:rPr sz="2500" spc="-35" dirty="0">
                <a:latin typeface="Arial"/>
                <a:cs typeface="Arial"/>
              </a:rPr>
              <a:t>ị </a:t>
            </a:r>
            <a:r>
              <a:rPr sz="2500" spc="-85" dirty="0"/>
              <a:t>t</a:t>
            </a:r>
            <a:r>
              <a:rPr sz="2500" spc="-85" dirty="0">
                <a:latin typeface="Arial"/>
                <a:cs typeface="Arial"/>
              </a:rPr>
              <a:t>ươ</a:t>
            </a:r>
            <a:r>
              <a:rPr sz="2500" spc="-85" dirty="0"/>
              <a:t>ng </a:t>
            </a:r>
            <a:r>
              <a:rPr sz="2500" spc="-5" dirty="0"/>
              <a:t>tác &amp; cá nhân</a:t>
            </a:r>
            <a:r>
              <a:rPr sz="2500" spc="235" dirty="0"/>
              <a:t> </a:t>
            </a:r>
            <a:r>
              <a:rPr sz="2500" spc="-5" dirty="0"/>
              <a:t>hóa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1000" y="1295400"/>
            <a:ext cx="8343189" cy="33156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2069" indent="-342900" algn="just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Có thể dùng tính chất tương </a:t>
            </a:r>
            <a:r>
              <a:rPr sz="2200" dirty="0">
                <a:solidFill>
                  <a:srgbClr val="003399"/>
                </a:solidFill>
                <a:latin typeface="Times New Roman"/>
                <a:cs typeface="Times New Roman"/>
              </a:rPr>
              <a:t>tác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của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Internet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để giữ 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được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sự chú ý của KH hay có được TT chi tiết vể mối  quan tâm &amp; thị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hiếu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theo kiểu tiếp thị</a:t>
            </a:r>
            <a:r>
              <a:rPr sz="2200" spc="8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spc="10" dirty="0">
                <a:solidFill>
                  <a:srgbClr val="003399"/>
                </a:solidFill>
                <a:latin typeface="Times New Roman"/>
                <a:cs typeface="Times New Roman"/>
              </a:rPr>
              <a:t>1-1</a:t>
            </a:r>
            <a:endParaRPr sz="2200" dirty="0">
              <a:latin typeface="Times New Roman"/>
              <a:cs typeface="Times New Roman"/>
            </a:endParaRPr>
          </a:p>
          <a:p>
            <a:pPr marL="354965" marR="7620" indent="-342900" algn="just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Có thể tạo trang </a:t>
            </a:r>
            <a:r>
              <a:rPr sz="2200" spc="-45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được cá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nhân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hóa thể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hiện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nội  dung hay quảng cáo về các SP hay dịch vụ có sự quan  tâm đặc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biệt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với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mỗi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người dùng, </a:t>
            </a:r>
            <a:r>
              <a:rPr sz="2200" dirty="0">
                <a:solidFill>
                  <a:srgbClr val="003399"/>
                </a:solidFill>
                <a:latin typeface="Times New Roman"/>
                <a:cs typeface="Times New Roman"/>
              </a:rPr>
              <a:t>hoàn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thiện kinh  nghiệm của KH &amp; tạo ra </a:t>
            </a:r>
            <a:r>
              <a:rPr sz="2200" dirty="0">
                <a:solidFill>
                  <a:srgbClr val="003399"/>
                </a:solidFill>
                <a:latin typeface="Times New Roman"/>
                <a:cs typeface="Times New Roman"/>
              </a:rPr>
              <a:t>giá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trị </a:t>
            </a:r>
            <a:r>
              <a:rPr sz="2200" dirty="0">
                <a:solidFill>
                  <a:srgbClr val="003399"/>
                </a:solidFill>
                <a:latin typeface="Times New Roman"/>
                <a:cs typeface="Times New Roman"/>
              </a:rPr>
              <a:t>gia</a:t>
            </a:r>
            <a:r>
              <a:rPr sz="2200" spc="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tăng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Chi phí cho khảo sát KH truyền thống là rất cao. Biết  KH cảm thấy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như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thế nào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hay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họ nghỉ gì về </a:t>
            </a:r>
            <a:r>
              <a:rPr sz="2200" dirty="0">
                <a:solidFill>
                  <a:srgbClr val="003399"/>
                </a:solidFill>
                <a:latin typeface="Times New Roman"/>
                <a:cs typeface="Times New Roman"/>
              </a:rPr>
              <a:t>SP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hay 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dịch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vụ thông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qua </a:t>
            </a:r>
            <a:r>
              <a:rPr sz="2200" spc="-45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rẻ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hơn </a:t>
            </a:r>
            <a:r>
              <a:rPr sz="2200" spc="-5" dirty="0">
                <a:solidFill>
                  <a:srgbClr val="003399"/>
                </a:solidFill>
                <a:latin typeface="Times New Roman"/>
                <a:cs typeface="Times New Roman"/>
              </a:rPr>
              <a:t>rất</a:t>
            </a:r>
            <a:r>
              <a:rPr sz="2200" spc="5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3399"/>
                </a:solidFill>
                <a:latin typeface="Times New Roman"/>
                <a:cs typeface="Times New Roman"/>
              </a:rPr>
              <a:t>nhiều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048000" y="238041"/>
            <a:ext cx="486791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Bán </a:t>
            </a:r>
            <a:r>
              <a:rPr sz="2500" spc="-70" dirty="0"/>
              <a:t>l</a:t>
            </a:r>
            <a:r>
              <a:rPr sz="2500" spc="-70" dirty="0">
                <a:latin typeface="Arial"/>
                <a:cs typeface="Arial"/>
              </a:rPr>
              <a:t>ẻ </a:t>
            </a:r>
            <a:r>
              <a:rPr sz="2500" spc="-85" dirty="0"/>
              <a:t>h</a:t>
            </a:r>
            <a:r>
              <a:rPr sz="2500" spc="-85" dirty="0">
                <a:latin typeface="Arial"/>
                <a:cs typeface="Arial"/>
              </a:rPr>
              <a:t>ướ</a:t>
            </a:r>
            <a:r>
              <a:rPr sz="2500" spc="-85" dirty="0"/>
              <a:t>ng </a:t>
            </a:r>
            <a:r>
              <a:rPr sz="2500" spc="-70" dirty="0"/>
              <a:t>t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 </a:t>
            </a:r>
            <a:r>
              <a:rPr sz="2500" spc="-5" dirty="0"/>
              <a:t>khách hàng:  </a:t>
            </a:r>
            <a:r>
              <a:rPr sz="2500" spc="-65" dirty="0"/>
              <a:t>Ti</a:t>
            </a:r>
            <a:r>
              <a:rPr sz="2500" spc="-65" dirty="0">
                <a:latin typeface="Arial"/>
                <a:cs typeface="Arial"/>
              </a:rPr>
              <a:t>ế</a:t>
            </a:r>
            <a:r>
              <a:rPr sz="2500" spc="-65" dirty="0"/>
              <a:t>p </a:t>
            </a:r>
            <a:r>
              <a:rPr sz="2500" spc="-35" dirty="0"/>
              <a:t>th</a:t>
            </a:r>
            <a:r>
              <a:rPr sz="2500" spc="-35" dirty="0">
                <a:latin typeface="Arial"/>
                <a:cs typeface="Arial"/>
              </a:rPr>
              <a:t>ị </a:t>
            </a:r>
            <a:r>
              <a:rPr sz="2500" spc="-85" dirty="0"/>
              <a:t>t</a:t>
            </a:r>
            <a:r>
              <a:rPr sz="2500" spc="-85" dirty="0">
                <a:latin typeface="Arial"/>
                <a:cs typeface="Arial"/>
              </a:rPr>
              <a:t>ươ</a:t>
            </a:r>
            <a:r>
              <a:rPr sz="2500" spc="-85" dirty="0"/>
              <a:t>ng </a:t>
            </a:r>
            <a:r>
              <a:rPr sz="2500" spc="-5" dirty="0"/>
              <a:t>tác &amp; cá nhân</a:t>
            </a:r>
            <a:r>
              <a:rPr sz="2500" spc="235" dirty="0"/>
              <a:t> </a:t>
            </a:r>
            <a:r>
              <a:rPr sz="2500" spc="-5" dirty="0"/>
              <a:t>hóa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16351" y="1062227"/>
            <a:ext cx="3736849" cy="5109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819400" y="152400"/>
            <a:ext cx="55010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Bán </a:t>
            </a:r>
            <a:r>
              <a:rPr sz="2500" spc="-70" dirty="0"/>
              <a:t>l</a:t>
            </a:r>
            <a:r>
              <a:rPr sz="2500" spc="-70" dirty="0">
                <a:latin typeface="Arial"/>
                <a:cs typeface="Arial"/>
              </a:rPr>
              <a:t>ẻ </a:t>
            </a:r>
            <a:r>
              <a:rPr sz="2500" spc="-85" dirty="0"/>
              <a:t>h</a:t>
            </a:r>
            <a:r>
              <a:rPr sz="2500" spc="-85" dirty="0">
                <a:latin typeface="Arial"/>
                <a:cs typeface="Arial"/>
              </a:rPr>
              <a:t>ướ</a:t>
            </a:r>
            <a:r>
              <a:rPr sz="2500" spc="-85" dirty="0"/>
              <a:t>ng </a:t>
            </a:r>
            <a:r>
              <a:rPr sz="2500" spc="-70" dirty="0"/>
              <a:t>t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 </a:t>
            </a:r>
            <a:r>
              <a:rPr sz="2500" spc="-5" dirty="0"/>
              <a:t>khách</a:t>
            </a:r>
            <a:r>
              <a:rPr sz="2500" spc="320" dirty="0"/>
              <a:t> </a:t>
            </a:r>
            <a:r>
              <a:rPr sz="2500" spc="-5" dirty="0"/>
              <a:t>hàng: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-5" dirty="0"/>
              <a:t>M-commerce &amp; </a:t>
            </a:r>
            <a:r>
              <a:rPr sz="2500" spc="-40" dirty="0"/>
              <a:t>ti</a:t>
            </a:r>
            <a:r>
              <a:rPr sz="2500" spc="-40" dirty="0">
                <a:latin typeface="Arial"/>
                <a:cs typeface="Arial"/>
              </a:rPr>
              <a:t>ế</a:t>
            </a:r>
            <a:r>
              <a:rPr sz="2500" spc="-40" dirty="0"/>
              <a:t>p </a:t>
            </a:r>
            <a:r>
              <a:rPr sz="2500" spc="-35" dirty="0"/>
              <a:t>th</a:t>
            </a:r>
            <a:r>
              <a:rPr sz="2500" spc="-35" dirty="0">
                <a:latin typeface="Arial"/>
                <a:cs typeface="Arial"/>
              </a:rPr>
              <a:t>ị </a:t>
            </a:r>
            <a:r>
              <a:rPr sz="2500" spc="-50" dirty="0"/>
              <a:t>th</a:t>
            </a:r>
            <a:r>
              <a:rPr sz="2500" spc="-50" dirty="0">
                <a:latin typeface="Arial"/>
                <a:cs typeface="Arial"/>
              </a:rPr>
              <a:t>ế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70" dirty="0"/>
              <a:t>k</a:t>
            </a:r>
            <a:r>
              <a:rPr sz="2500" spc="-70" dirty="0">
                <a:latin typeface="Arial"/>
                <a:cs typeface="Arial"/>
              </a:rPr>
              <a:t>ế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spc="-40" dirty="0"/>
              <a:t>ti</a:t>
            </a:r>
            <a:r>
              <a:rPr sz="2500" spc="-40" dirty="0">
                <a:latin typeface="Arial"/>
                <a:cs typeface="Arial"/>
              </a:rPr>
              <a:t>ế</a:t>
            </a:r>
            <a:r>
              <a:rPr sz="2500" spc="-40" dirty="0"/>
              <a:t>p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33400" y="1143000"/>
            <a:ext cx="8495589" cy="288694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Mobile </a:t>
            </a:r>
            <a:r>
              <a:rPr sz="24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commerce</a:t>
            </a:r>
            <a:r>
              <a:rPr sz="2400" b="1" spc="-6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8000"/>
                </a:solidFill>
                <a:latin typeface="Times New Roman"/>
                <a:cs typeface="Times New Roman"/>
              </a:rPr>
              <a:t>(m-commerce):</a:t>
            </a:r>
            <a:endParaRPr sz="2400" dirty="0">
              <a:latin typeface="Times New Roman"/>
              <a:cs typeface="Times New Roman"/>
            </a:endParaRPr>
          </a:p>
          <a:p>
            <a:pPr marL="354965" marR="230504" indent="-342900">
              <a:lnSpc>
                <a:spcPts val="2300"/>
              </a:lnSpc>
              <a:spcBef>
                <a:spcPts val="98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Thiết bị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không dây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dùng để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thực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hiện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các giao 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dịch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B2B &amp; B2C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qua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Internet</a:t>
            </a:r>
            <a:endParaRPr sz="2400" dirty="0">
              <a:latin typeface="Times New Roman"/>
              <a:cs typeface="Times New Roman"/>
            </a:endParaRPr>
          </a:p>
          <a:p>
            <a:pPr marL="354965" marR="105410" indent="-342900">
              <a:lnSpc>
                <a:spcPts val="231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Cá nhân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hóa mở rộng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bằng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cách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phân phối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các 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dịch vụ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cộng thêm trực tiếp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đến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KH ở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bất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lúc 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nào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&amp; mọi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chổ</a:t>
            </a:r>
            <a:endParaRPr sz="24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8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Phần mềm theo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dỏi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vị trí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cho phép DN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theo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dỏi 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sự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di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chuyển của KH &amp;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cung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cấp </a:t>
            </a:r>
            <a:r>
              <a:rPr sz="2400" b="1" spc="-65" dirty="0">
                <a:solidFill>
                  <a:srgbClr val="003399"/>
                </a:solidFill>
                <a:latin typeface="Times New Roman"/>
                <a:cs typeface="Times New Roman"/>
              </a:rPr>
              <a:t>TT,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quảng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cáo  &amp; các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dịch vụ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khác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như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báo cáo thời tiết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địa  phương day định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vị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nhà hàng </a:t>
            </a:r>
            <a:r>
              <a:rPr sz="2400" b="1" dirty="0">
                <a:solidFill>
                  <a:srgbClr val="003399"/>
                </a:solidFill>
                <a:latin typeface="Times New Roman"/>
                <a:cs typeface="Times New Roman"/>
              </a:rPr>
              <a:t>gần</a:t>
            </a:r>
            <a:r>
              <a:rPr sz="2400" b="1" spc="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99"/>
                </a:solidFill>
                <a:latin typeface="Times New Roman"/>
                <a:cs typeface="Times New Roman"/>
              </a:rPr>
              <a:t>nhất.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895600" y="152400"/>
            <a:ext cx="55010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Bán </a:t>
            </a:r>
            <a:r>
              <a:rPr sz="2500" spc="-70" dirty="0"/>
              <a:t>l</a:t>
            </a:r>
            <a:r>
              <a:rPr sz="2500" spc="-70" dirty="0">
                <a:latin typeface="Arial"/>
                <a:cs typeface="Arial"/>
              </a:rPr>
              <a:t>ẻ </a:t>
            </a:r>
            <a:r>
              <a:rPr sz="2500" spc="-85" dirty="0"/>
              <a:t>h</a:t>
            </a:r>
            <a:r>
              <a:rPr sz="2500" spc="-85" dirty="0">
                <a:latin typeface="Arial"/>
                <a:cs typeface="Arial"/>
              </a:rPr>
              <a:t>ướ</a:t>
            </a:r>
            <a:r>
              <a:rPr sz="2500" spc="-85" dirty="0"/>
              <a:t>ng </a:t>
            </a:r>
            <a:r>
              <a:rPr sz="2500" spc="-70" dirty="0"/>
              <a:t>t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 </a:t>
            </a:r>
            <a:r>
              <a:rPr sz="2500" spc="-5" dirty="0"/>
              <a:t>khách</a:t>
            </a:r>
            <a:r>
              <a:rPr sz="2500" spc="320" dirty="0"/>
              <a:t> </a:t>
            </a:r>
            <a:r>
              <a:rPr sz="2500" spc="-5" dirty="0"/>
              <a:t>hàng: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-5" dirty="0"/>
              <a:t>M-commerce &amp; </a:t>
            </a:r>
            <a:r>
              <a:rPr sz="2500" spc="-40" dirty="0"/>
              <a:t>ti</a:t>
            </a:r>
            <a:r>
              <a:rPr sz="2500" spc="-40" dirty="0">
                <a:latin typeface="Arial"/>
                <a:cs typeface="Arial"/>
              </a:rPr>
              <a:t>ế</a:t>
            </a:r>
            <a:r>
              <a:rPr sz="2500" spc="-40" dirty="0"/>
              <a:t>p </a:t>
            </a:r>
            <a:r>
              <a:rPr sz="2500" spc="-35" dirty="0"/>
              <a:t>th</a:t>
            </a:r>
            <a:r>
              <a:rPr sz="2500" spc="-35" dirty="0">
                <a:latin typeface="Arial"/>
                <a:cs typeface="Arial"/>
              </a:rPr>
              <a:t>ị </a:t>
            </a:r>
            <a:r>
              <a:rPr sz="2500" spc="-50" dirty="0"/>
              <a:t>th</a:t>
            </a:r>
            <a:r>
              <a:rPr sz="2500" spc="-50" dirty="0">
                <a:latin typeface="Arial"/>
                <a:cs typeface="Arial"/>
              </a:rPr>
              <a:t>ế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70" dirty="0"/>
              <a:t>k</a:t>
            </a:r>
            <a:r>
              <a:rPr sz="2500" spc="-70" dirty="0">
                <a:latin typeface="Arial"/>
                <a:cs typeface="Arial"/>
              </a:rPr>
              <a:t>ế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spc="-40" dirty="0"/>
              <a:t>ti</a:t>
            </a:r>
            <a:r>
              <a:rPr sz="2500" spc="-40" dirty="0">
                <a:latin typeface="Arial"/>
                <a:cs typeface="Arial"/>
              </a:rPr>
              <a:t>ế</a:t>
            </a:r>
            <a:r>
              <a:rPr sz="2500" spc="-40" dirty="0"/>
              <a:t>p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9288" y="1235963"/>
            <a:ext cx="7696200" cy="4962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76600" y="228600"/>
            <a:ext cx="437007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Bán </a:t>
            </a:r>
            <a:r>
              <a:rPr sz="2500" spc="-70" dirty="0"/>
              <a:t>l</a:t>
            </a:r>
            <a:r>
              <a:rPr sz="2500" spc="-70" dirty="0">
                <a:latin typeface="Arial"/>
                <a:cs typeface="Arial"/>
              </a:rPr>
              <a:t>ẻ </a:t>
            </a:r>
            <a:r>
              <a:rPr sz="2500" spc="-85" dirty="0"/>
              <a:t>h</a:t>
            </a:r>
            <a:r>
              <a:rPr sz="2500" spc="-85" dirty="0">
                <a:latin typeface="Arial"/>
                <a:cs typeface="Arial"/>
              </a:rPr>
              <a:t>ướ</a:t>
            </a:r>
            <a:r>
              <a:rPr sz="2500" spc="-85" dirty="0"/>
              <a:t>ng </a:t>
            </a:r>
            <a:r>
              <a:rPr sz="2500" spc="-70" dirty="0"/>
              <a:t>t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 </a:t>
            </a:r>
            <a:r>
              <a:rPr sz="2500" spc="-5" dirty="0"/>
              <a:t>khách hàng:  Khách hàng </a:t>
            </a:r>
            <a:r>
              <a:rPr sz="2500" spc="-100" dirty="0"/>
              <a:t>t</a:t>
            </a:r>
            <a:r>
              <a:rPr sz="2500" spc="-100" dirty="0">
                <a:latin typeface="Arial"/>
                <a:cs typeface="Arial"/>
              </a:rPr>
              <a:t>ự </a:t>
            </a:r>
            <a:r>
              <a:rPr sz="2500" spc="-50" dirty="0"/>
              <a:t>ph</a:t>
            </a:r>
            <a:r>
              <a:rPr sz="2500" spc="-50" dirty="0">
                <a:latin typeface="Arial"/>
                <a:cs typeface="Arial"/>
              </a:rPr>
              <a:t>ụ</a:t>
            </a:r>
            <a:r>
              <a:rPr sz="2500" spc="-50" dirty="0"/>
              <a:t>c</a:t>
            </a:r>
            <a:r>
              <a:rPr sz="2500" spc="150" dirty="0"/>
              <a:t> </a:t>
            </a:r>
            <a:r>
              <a:rPr sz="2500" spc="-95" dirty="0"/>
              <a:t>v</a:t>
            </a:r>
            <a:r>
              <a:rPr sz="2500" spc="-95" dirty="0">
                <a:latin typeface="Arial"/>
                <a:cs typeface="Arial"/>
              </a:rPr>
              <a:t>ụ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9600" y="1295400"/>
            <a:ext cx="7772400" cy="197092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marR="144145" indent="-342900" algn="just">
              <a:lnSpc>
                <a:spcPct val="90000"/>
              </a:lnSpc>
              <a:spcBef>
                <a:spcPts val="38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Công nghệ </a:t>
            </a:r>
            <a:r>
              <a:rPr sz="2400" spc="-50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&amp; công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nghệ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mạng khác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đã </a:t>
            </a:r>
            <a:r>
              <a:rPr sz="2400" spc="-60" dirty="0">
                <a:solidFill>
                  <a:srgbClr val="003399"/>
                </a:solidFill>
                <a:latin typeface="Times New Roman"/>
                <a:cs typeface="Times New Roman"/>
              </a:rPr>
              <a:t>tạo 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điều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kiện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cho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các tiếp cận mới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để hổ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trợ &amp;</a:t>
            </a:r>
            <a:r>
              <a:rPr sz="2400" spc="-9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phục 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vụ</a:t>
            </a:r>
            <a:r>
              <a:rPr sz="2400" spc="-1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3399"/>
                </a:solidFill>
                <a:latin typeface="Times New Roman"/>
                <a:cs typeface="Times New Roman"/>
              </a:rPr>
              <a:t>KH</a:t>
            </a:r>
            <a:endParaRPr sz="24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590"/>
              </a:lnSpc>
              <a:spcBef>
                <a:spcPts val="104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spc="-65" dirty="0">
                <a:solidFill>
                  <a:srgbClr val="003399"/>
                </a:solidFill>
                <a:latin typeface="Times New Roman"/>
                <a:cs typeface="Times New Roman"/>
              </a:rPr>
              <a:t>Trả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lời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câu hỏi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&amp;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cung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cấp TT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hửu dụng cho </a:t>
            </a:r>
            <a:r>
              <a:rPr sz="2400" spc="5" dirty="0">
                <a:solidFill>
                  <a:srgbClr val="003399"/>
                </a:solidFill>
                <a:latin typeface="Times New Roman"/>
                <a:cs typeface="Times New Roman"/>
              </a:rPr>
              <a:t>KH 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thông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qua </a:t>
            </a:r>
            <a:r>
              <a:rPr sz="2400" spc="-45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site hay</a:t>
            </a:r>
            <a:r>
              <a:rPr sz="2400" spc="-1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email</a:t>
            </a:r>
            <a:endParaRPr sz="2400" dirty="0">
              <a:latin typeface="Times New Roman"/>
              <a:cs typeface="Times New Roman"/>
            </a:endParaRPr>
          </a:p>
          <a:p>
            <a:pPr marL="354965" marR="223520" indent="-342900">
              <a:lnSpc>
                <a:spcPts val="259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SP phần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mềm mới có thể tích </a:t>
            </a:r>
            <a:r>
              <a:rPr sz="2400" spc="-5" dirty="0">
                <a:solidFill>
                  <a:srgbClr val="003399"/>
                </a:solidFill>
                <a:latin typeface="Times New Roman"/>
                <a:cs typeface="Times New Roman"/>
              </a:rPr>
              <a:t>hợp </a:t>
            </a:r>
            <a:r>
              <a:rPr sz="2400" spc="-50" dirty="0">
                <a:solidFill>
                  <a:srgbClr val="003399"/>
                </a:solidFill>
                <a:latin typeface="Times New Roman"/>
                <a:cs typeface="Times New Roman"/>
              </a:rPr>
              <a:t>Web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với</a:t>
            </a:r>
            <a:r>
              <a:rPr sz="2400" spc="-2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3399"/>
                </a:solidFill>
                <a:latin typeface="Times New Roman"/>
                <a:cs typeface="Times New Roman"/>
              </a:rPr>
              <a:t>Call  center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643318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70" dirty="0"/>
              <a:t>Th</a:t>
            </a:r>
            <a:r>
              <a:rPr sz="2500" spc="-70" dirty="0">
                <a:latin typeface="Arial"/>
                <a:cs typeface="Arial"/>
              </a:rPr>
              <a:t>ươ</a:t>
            </a:r>
            <a:r>
              <a:rPr sz="2500" spc="-70" dirty="0"/>
              <a:t>ng </a:t>
            </a:r>
            <a:r>
              <a:rPr sz="2500" spc="-55" dirty="0"/>
              <a:t>m</a:t>
            </a:r>
            <a:r>
              <a:rPr sz="2500" spc="-55" dirty="0">
                <a:latin typeface="Arial"/>
                <a:cs typeface="Arial"/>
              </a:rPr>
              <a:t>ạ</a:t>
            </a:r>
            <a:r>
              <a:rPr sz="2500" spc="-55" dirty="0"/>
              <a:t>i </a:t>
            </a:r>
            <a:r>
              <a:rPr sz="2500" spc="-35" dirty="0"/>
              <a:t>đi</a:t>
            </a:r>
            <a:r>
              <a:rPr sz="2500" spc="-35" dirty="0">
                <a:latin typeface="Arial"/>
                <a:cs typeface="Arial"/>
              </a:rPr>
              <a:t>ệ</a:t>
            </a:r>
            <a:r>
              <a:rPr sz="2500" spc="-35" dirty="0"/>
              <a:t>n </a:t>
            </a:r>
            <a:r>
              <a:rPr sz="2500" spc="-100" dirty="0"/>
              <a:t>t</a:t>
            </a:r>
            <a:r>
              <a:rPr sz="2500" spc="-100" dirty="0">
                <a:latin typeface="Arial"/>
                <a:cs typeface="Arial"/>
              </a:rPr>
              <a:t>ử </a:t>
            </a:r>
            <a:r>
              <a:rPr sz="2500" spc="-55" dirty="0"/>
              <a:t>gi</a:t>
            </a:r>
            <a:r>
              <a:rPr sz="2500" spc="-55" dirty="0">
                <a:latin typeface="Arial"/>
                <a:cs typeface="Arial"/>
              </a:rPr>
              <a:t>ữ</a:t>
            </a:r>
            <a:r>
              <a:rPr sz="2500" spc="-55" dirty="0"/>
              <a:t>a </a:t>
            </a:r>
            <a:r>
              <a:rPr sz="2500" spc="-5" dirty="0"/>
              <a:t>các doanh </a:t>
            </a:r>
            <a:r>
              <a:rPr sz="2500" spc="-25" dirty="0"/>
              <a:t>nghi</a:t>
            </a:r>
            <a:r>
              <a:rPr sz="2500" spc="-25" dirty="0">
                <a:latin typeface="Arial"/>
                <a:cs typeface="Arial"/>
              </a:rPr>
              <a:t>ệ</a:t>
            </a:r>
            <a:r>
              <a:rPr sz="2500" spc="-25" dirty="0"/>
              <a:t>p:  </a:t>
            </a:r>
            <a:r>
              <a:rPr sz="2500" spc="-5" dirty="0"/>
              <a:t>các quan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5" dirty="0"/>
              <a:t>&amp; </a:t>
            </a:r>
            <a:r>
              <a:rPr sz="2500" spc="-40" dirty="0"/>
              <a:t>hi</a:t>
            </a:r>
            <a:r>
              <a:rPr sz="2500" spc="-40" dirty="0">
                <a:latin typeface="Arial"/>
                <a:cs typeface="Arial"/>
              </a:rPr>
              <a:t>ệ</a:t>
            </a:r>
            <a:r>
              <a:rPr sz="2500" spc="-40" dirty="0"/>
              <a:t>u </a:t>
            </a:r>
            <a:r>
              <a:rPr sz="2500" spc="-70" dirty="0">
                <a:latin typeface="Arial"/>
                <a:cs typeface="Arial"/>
              </a:rPr>
              <a:t>ứ</a:t>
            </a:r>
            <a:r>
              <a:rPr sz="2500" spc="-70" dirty="0"/>
              <a:t>ng</a:t>
            </a:r>
            <a:r>
              <a:rPr sz="2500" spc="165" dirty="0"/>
              <a:t> </a:t>
            </a:r>
            <a:r>
              <a:rPr sz="2500" spc="-70" dirty="0"/>
              <a:t>m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3610" y="1082421"/>
            <a:ext cx="8114589" cy="3362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Trong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B2B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ecommerce,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cty có thể bán hàng cho</a:t>
            </a:r>
            <a:r>
              <a:rPr sz="22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DN</a:t>
            </a:r>
            <a:endParaRPr sz="2200" dirty="0">
              <a:latin typeface="Times New Roman"/>
              <a:cs typeface="Times New Roman"/>
            </a:endParaRPr>
          </a:p>
          <a:p>
            <a:pPr marL="354965" marR="5080">
              <a:lnSpc>
                <a:spcPct val="90000"/>
              </a:lnSpc>
              <a:spcBef>
                <a:spcPts val="130"/>
              </a:spcBef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khác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bằng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dùng </a:t>
            </a:r>
            <a:r>
              <a:rPr sz="2200" spc="-65" dirty="0">
                <a:solidFill>
                  <a:srgbClr val="404040"/>
                </a:solidFill>
                <a:latin typeface="Times New Roman"/>
                <a:cs typeface="Times New Roman"/>
              </a:rPr>
              <a:t>Web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site riêng của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mình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như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là cửa  hàng điện tử hoặc cty có thể thực hiện các giao dịch  thông qua private industrial networks hay Net  Marketplaces</a:t>
            </a:r>
            <a:endParaRPr sz="2200" dirty="0">
              <a:latin typeface="Times New Roman"/>
              <a:cs typeface="Times New Roman"/>
            </a:endParaRPr>
          </a:p>
          <a:p>
            <a:pPr marL="354965" marR="36195" indent="-342900">
              <a:lnSpc>
                <a:spcPts val="2380"/>
              </a:lnSpc>
              <a:spcBef>
                <a:spcPts val="103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Private industrial networks: chú trọng vào qui trình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KD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liên tục hợp tác giữa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cty cho thương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mại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hợp tác hay  quản trị chuổi cung ứng.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  <a:spcBef>
                <a:spcPts val="700"/>
              </a:spcBef>
              <a:tabLst>
                <a:tab pos="354965" algn="l"/>
              </a:tabLst>
            </a:pPr>
            <a:r>
              <a:rPr sz="1750" spc="32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Private industrial networks: bao gồm 1 cty lớn</a:t>
            </a:r>
            <a:r>
              <a:rPr sz="22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dùng</a:t>
            </a:r>
            <a:endParaRPr sz="2200" dirty="0">
              <a:latin typeface="Times New Roman"/>
              <a:cs typeface="Times New Roman"/>
            </a:endParaRPr>
          </a:p>
          <a:p>
            <a:pPr marL="354965" marR="281305">
              <a:lnSpc>
                <a:spcPts val="2380"/>
              </a:lnSpc>
              <a:spcBef>
                <a:spcPts val="165"/>
              </a:spcBef>
            </a:pP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extranet để kết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nối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với các nhà cung ứng &amp;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đối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tác 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KD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chủ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yếu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nó.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47203" y="593291"/>
            <a:ext cx="643318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70" dirty="0"/>
              <a:t>Th</a:t>
            </a:r>
            <a:r>
              <a:rPr sz="2500" spc="-70" dirty="0">
                <a:latin typeface="Arial"/>
                <a:cs typeface="Arial"/>
              </a:rPr>
              <a:t>ươ</a:t>
            </a:r>
            <a:r>
              <a:rPr sz="2500" spc="-70" dirty="0"/>
              <a:t>ng </a:t>
            </a:r>
            <a:r>
              <a:rPr sz="2500" spc="-55" dirty="0"/>
              <a:t>m</a:t>
            </a:r>
            <a:r>
              <a:rPr sz="2500" spc="-55" dirty="0">
                <a:latin typeface="Arial"/>
                <a:cs typeface="Arial"/>
              </a:rPr>
              <a:t>ạ</a:t>
            </a:r>
            <a:r>
              <a:rPr sz="2500" spc="-55" dirty="0"/>
              <a:t>i </a:t>
            </a:r>
            <a:r>
              <a:rPr sz="2500" spc="-35" dirty="0"/>
              <a:t>đi</a:t>
            </a:r>
            <a:r>
              <a:rPr sz="2500" spc="-35" dirty="0">
                <a:latin typeface="Arial"/>
                <a:cs typeface="Arial"/>
              </a:rPr>
              <a:t>ệ</a:t>
            </a:r>
            <a:r>
              <a:rPr sz="2500" spc="-35" dirty="0"/>
              <a:t>n </a:t>
            </a:r>
            <a:r>
              <a:rPr sz="2500" spc="-100" dirty="0"/>
              <a:t>t</a:t>
            </a:r>
            <a:r>
              <a:rPr sz="2500" spc="-100" dirty="0">
                <a:latin typeface="Arial"/>
                <a:cs typeface="Arial"/>
              </a:rPr>
              <a:t>ử </a:t>
            </a:r>
            <a:r>
              <a:rPr sz="2500" spc="-55" dirty="0"/>
              <a:t>gi</a:t>
            </a:r>
            <a:r>
              <a:rPr sz="2500" spc="-55" dirty="0">
                <a:latin typeface="Arial"/>
                <a:cs typeface="Arial"/>
              </a:rPr>
              <a:t>ữ</a:t>
            </a:r>
            <a:r>
              <a:rPr sz="2500" spc="-55" dirty="0"/>
              <a:t>a </a:t>
            </a:r>
            <a:r>
              <a:rPr sz="2500" spc="-5" dirty="0"/>
              <a:t>các doanh </a:t>
            </a:r>
            <a:r>
              <a:rPr sz="2500" spc="-25" dirty="0"/>
              <a:t>nghi</a:t>
            </a:r>
            <a:r>
              <a:rPr sz="2500" spc="-25" dirty="0">
                <a:latin typeface="Arial"/>
                <a:cs typeface="Arial"/>
              </a:rPr>
              <a:t>ệ</a:t>
            </a:r>
            <a:r>
              <a:rPr sz="2500" spc="-25" dirty="0"/>
              <a:t>p:  </a:t>
            </a:r>
            <a:r>
              <a:rPr sz="2500" spc="-5" dirty="0"/>
              <a:t>các quan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5" dirty="0"/>
              <a:t>&amp; </a:t>
            </a:r>
            <a:r>
              <a:rPr sz="2500" spc="-40" dirty="0"/>
              <a:t>hi</a:t>
            </a:r>
            <a:r>
              <a:rPr sz="2500" spc="-40" dirty="0">
                <a:latin typeface="Arial"/>
                <a:cs typeface="Arial"/>
              </a:rPr>
              <a:t>ệ</a:t>
            </a:r>
            <a:r>
              <a:rPr sz="2500" spc="-40" dirty="0"/>
              <a:t>u </a:t>
            </a:r>
            <a:r>
              <a:rPr sz="2500" spc="-70" dirty="0">
                <a:latin typeface="Arial"/>
                <a:cs typeface="Arial"/>
              </a:rPr>
              <a:t>ứ</a:t>
            </a:r>
            <a:r>
              <a:rPr sz="2500" spc="-70" dirty="0"/>
              <a:t>ng</a:t>
            </a:r>
            <a:r>
              <a:rPr sz="2500" spc="165" dirty="0"/>
              <a:t> </a:t>
            </a:r>
            <a:r>
              <a:rPr sz="2500" spc="-70" dirty="0"/>
              <a:t>m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81200" y="1752600"/>
            <a:ext cx="4983480" cy="385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79775" y="5972047"/>
            <a:ext cx="304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8000"/>
                </a:solidFill>
                <a:latin typeface="Trebuchet MS"/>
                <a:cs typeface="Trebuchet MS"/>
              </a:rPr>
              <a:t>A Private </a:t>
            </a:r>
            <a:r>
              <a:rPr sz="1800" b="1" spc="-5" dirty="0">
                <a:solidFill>
                  <a:srgbClr val="008000"/>
                </a:solidFill>
                <a:latin typeface="Trebuchet MS"/>
                <a:cs typeface="Trebuchet MS"/>
              </a:rPr>
              <a:t>Industrial</a:t>
            </a:r>
            <a:r>
              <a:rPr sz="1800" b="1" spc="-17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008000"/>
                </a:solidFill>
                <a:latin typeface="Trebuchet MS"/>
                <a:cs typeface="Trebuchet MS"/>
              </a:rPr>
              <a:t>Network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70" dirty="0"/>
              <a:t>Th</a:t>
            </a:r>
            <a:r>
              <a:rPr sz="2500" spc="-70" dirty="0">
                <a:latin typeface="Arial"/>
                <a:cs typeface="Arial"/>
              </a:rPr>
              <a:t>ươ</a:t>
            </a:r>
            <a:r>
              <a:rPr sz="2500" spc="-70" dirty="0"/>
              <a:t>ng </a:t>
            </a:r>
            <a:r>
              <a:rPr sz="2500" spc="-55" dirty="0"/>
              <a:t>m</a:t>
            </a:r>
            <a:r>
              <a:rPr sz="2500" spc="-55" dirty="0">
                <a:latin typeface="Arial"/>
                <a:cs typeface="Arial"/>
              </a:rPr>
              <a:t>ạ</a:t>
            </a:r>
            <a:r>
              <a:rPr sz="2500" spc="-55" dirty="0"/>
              <a:t>i </a:t>
            </a:r>
            <a:r>
              <a:rPr sz="2500" spc="-35" dirty="0"/>
              <a:t>đi</a:t>
            </a:r>
            <a:r>
              <a:rPr sz="2500" spc="-35" dirty="0">
                <a:latin typeface="Arial"/>
                <a:cs typeface="Arial"/>
              </a:rPr>
              <a:t>ệ</a:t>
            </a:r>
            <a:r>
              <a:rPr sz="2500" spc="-35" dirty="0"/>
              <a:t>n </a:t>
            </a:r>
            <a:r>
              <a:rPr sz="2500" spc="-100" dirty="0"/>
              <a:t>t</a:t>
            </a:r>
            <a:r>
              <a:rPr sz="2500" spc="-100" dirty="0">
                <a:latin typeface="Arial"/>
                <a:cs typeface="Arial"/>
              </a:rPr>
              <a:t>ử </a:t>
            </a:r>
            <a:r>
              <a:rPr sz="2500" spc="-55" dirty="0"/>
              <a:t>gi</a:t>
            </a:r>
            <a:r>
              <a:rPr sz="2500" spc="-55" dirty="0">
                <a:latin typeface="Arial"/>
                <a:cs typeface="Arial"/>
              </a:rPr>
              <a:t>ữ</a:t>
            </a:r>
            <a:r>
              <a:rPr sz="2500" spc="-55" dirty="0"/>
              <a:t>a </a:t>
            </a:r>
            <a:r>
              <a:rPr sz="2500" spc="-5" dirty="0"/>
              <a:t>các doanh </a:t>
            </a:r>
            <a:r>
              <a:rPr sz="2500" spc="-25" dirty="0"/>
              <a:t>nghi</a:t>
            </a:r>
            <a:r>
              <a:rPr sz="2500" spc="-25" dirty="0">
                <a:latin typeface="Arial"/>
                <a:cs typeface="Arial"/>
              </a:rPr>
              <a:t>ệ</a:t>
            </a:r>
            <a:r>
              <a:rPr sz="2500" spc="-25" dirty="0"/>
              <a:t>p:  </a:t>
            </a:r>
            <a:r>
              <a:rPr sz="2500" spc="-5" dirty="0"/>
              <a:t>các quan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5" dirty="0"/>
              <a:t>&amp; </a:t>
            </a:r>
            <a:r>
              <a:rPr sz="2500" spc="-40" dirty="0"/>
              <a:t>hi</a:t>
            </a:r>
            <a:r>
              <a:rPr sz="2500" spc="-40" dirty="0">
                <a:latin typeface="Arial"/>
                <a:cs typeface="Arial"/>
              </a:rPr>
              <a:t>ệ</a:t>
            </a:r>
            <a:r>
              <a:rPr sz="2500" spc="-40" dirty="0"/>
              <a:t>u </a:t>
            </a:r>
            <a:r>
              <a:rPr sz="2500" spc="-70" dirty="0">
                <a:latin typeface="Arial"/>
                <a:cs typeface="Arial"/>
              </a:rPr>
              <a:t>ứ</a:t>
            </a:r>
            <a:r>
              <a:rPr sz="2500" spc="-70" dirty="0"/>
              <a:t>ng</a:t>
            </a:r>
            <a:r>
              <a:rPr sz="2500" spc="165" dirty="0"/>
              <a:t> </a:t>
            </a:r>
            <a:r>
              <a:rPr sz="2500" spc="-70" dirty="0"/>
              <a:t>m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</a:t>
            </a:r>
            <a:endParaRPr sz="2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7200" y="1905000"/>
            <a:ext cx="8343189" cy="32833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Net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Marketplaces:</a:t>
            </a:r>
            <a:endParaRPr sz="2200" dirty="0">
              <a:latin typeface="Times New Roman"/>
              <a:cs typeface="Times New Roman"/>
            </a:endParaRPr>
          </a:p>
          <a:p>
            <a:pPr marL="354965" marR="36195" indent="-342900">
              <a:lnSpc>
                <a:spcPts val="2380"/>
              </a:lnSpc>
              <a:spcBef>
                <a:spcPts val="103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hay e-hubs, cung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cấp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1 thị trường số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hóa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dựa trên công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nghệ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Internet cho nhiều người bán &amp; nhiều người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khác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nhau,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điều hành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như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người trung gian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độc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lập giữa  người bán &amp; người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mua.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238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Hưởng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giao dịch nhiều hơn private industrial networks,  Doanh thu có từ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giao dịch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&amp; bán &amp;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dịch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vụ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cung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cấp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cho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KH.</a:t>
            </a:r>
            <a:endParaRPr sz="2200" dirty="0">
              <a:latin typeface="Times New Roman"/>
              <a:cs typeface="Times New Roman"/>
            </a:endParaRPr>
          </a:p>
          <a:p>
            <a:pPr marL="354965" marR="30480" indent="-342900">
              <a:lnSpc>
                <a:spcPct val="90000"/>
              </a:lnSpc>
              <a:spcBef>
                <a:spcPts val="950"/>
              </a:spcBef>
              <a:tabLst>
                <a:tab pos="354965" algn="l"/>
              </a:tabLst>
            </a:pPr>
            <a:r>
              <a:rPr sz="1750" spc="32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Các thành viên tromg Marketplace có thể thiết lập giá  thông qua thương lượng, đấu giá trực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tuyến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hay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yêu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cầu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bảng chiết tính giá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hoặc dùng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giá cố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định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514600" y="152400"/>
            <a:ext cx="643318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70" dirty="0"/>
              <a:t>Th</a:t>
            </a:r>
            <a:r>
              <a:rPr sz="2500" spc="-70" dirty="0">
                <a:latin typeface="Arial"/>
                <a:cs typeface="Arial"/>
              </a:rPr>
              <a:t>ươ</a:t>
            </a:r>
            <a:r>
              <a:rPr sz="2500" spc="-70" dirty="0"/>
              <a:t>ng </a:t>
            </a:r>
            <a:r>
              <a:rPr sz="2500" spc="-55" dirty="0"/>
              <a:t>m</a:t>
            </a:r>
            <a:r>
              <a:rPr sz="2500" spc="-55" dirty="0">
                <a:latin typeface="Arial"/>
                <a:cs typeface="Arial"/>
              </a:rPr>
              <a:t>ạ</a:t>
            </a:r>
            <a:r>
              <a:rPr sz="2500" spc="-55" dirty="0"/>
              <a:t>i </a:t>
            </a:r>
            <a:r>
              <a:rPr sz="2500" spc="-35" dirty="0"/>
              <a:t>đi</a:t>
            </a:r>
            <a:r>
              <a:rPr sz="2500" spc="-35" dirty="0">
                <a:latin typeface="Arial"/>
                <a:cs typeface="Arial"/>
              </a:rPr>
              <a:t>ệ</a:t>
            </a:r>
            <a:r>
              <a:rPr sz="2500" spc="-35" dirty="0"/>
              <a:t>n </a:t>
            </a:r>
            <a:r>
              <a:rPr sz="2500" spc="-100" dirty="0"/>
              <a:t>t</a:t>
            </a:r>
            <a:r>
              <a:rPr sz="2500" spc="-100" dirty="0">
                <a:latin typeface="Arial"/>
                <a:cs typeface="Arial"/>
              </a:rPr>
              <a:t>ử </a:t>
            </a:r>
            <a:r>
              <a:rPr sz="2500" spc="-55" dirty="0"/>
              <a:t>gi</a:t>
            </a:r>
            <a:r>
              <a:rPr sz="2500" spc="-55" dirty="0">
                <a:latin typeface="Arial"/>
                <a:cs typeface="Arial"/>
              </a:rPr>
              <a:t>ữ</a:t>
            </a:r>
            <a:r>
              <a:rPr sz="2500" spc="-55" dirty="0"/>
              <a:t>a </a:t>
            </a:r>
            <a:r>
              <a:rPr sz="2500" spc="-5" dirty="0"/>
              <a:t>các doanh </a:t>
            </a:r>
            <a:r>
              <a:rPr sz="2500" spc="-25" dirty="0"/>
              <a:t>nghi</a:t>
            </a:r>
            <a:r>
              <a:rPr sz="2500" spc="-25" dirty="0">
                <a:latin typeface="Arial"/>
                <a:cs typeface="Arial"/>
              </a:rPr>
              <a:t>ệ</a:t>
            </a:r>
            <a:r>
              <a:rPr sz="2500" spc="-25" dirty="0"/>
              <a:t>p:  </a:t>
            </a:r>
            <a:r>
              <a:rPr sz="2500" spc="-5" dirty="0"/>
              <a:t>các quan </a:t>
            </a:r>
            <a:r>
              <a:rPr sz="2500" spc="-70" dirty="0"/>
              <a:t>h</a:t>
            </a:r>
            <a:r>
              <a:rPr sz="2500" spc="-70" dirty="0">
                <a:latin typeface="Arial"/>
                <a:cs typeface="Arial"/>
              </a:rPr>
              <a:t>ệ </a:t>
            </a:r>
            <a:r>
              <a:rPr sz="2500" spc="-5" dirty="0"/>
              <a:t>&amp; </a:t>
            </a:r>
            <a:r>
              <a:rPr sz="2500" spc="-40" dirty="0"/>
              <a:t>hi</a:t>
            </a:r>
            <a:r>
              <a:rPr sz="2500" spc="-40" dirty="0">
                <a:latin typeface="Arial"/>
                <a:cs typeface="Arial"/>
              </a:rPr>
              <a:t>ệ</a:t>
            </a:r>
            <a:r>
              <a:rPr sz="2500" spc="-40" dirty="0"/>
              <a:t>u </a:t>
            </a:r>
            <a:r>
              <a:rPr sz="2500" spc="-70" dirty="0">
                <a:latin typeface="Arial"/>
                <a:cs typeface="Arial"/>
              </a:rPr>
              <a:t>ứ</a:t>
            </a:r>
            <a:r>
              <a:rPr sz="2500" spc="-70" dirty="0"/>
              <a:t>ng</a:t>
            </a:r>
            <a:r>
              <a:rPr sz="2500" spc="165" dirty="0"/>
              <a:t> </a:t>
            </a:r>
            <a:r>
              <a:rPr sz="2500" spc="-70" dirty="0"/>
              <a:t>m</a:t>
            </a:r>
            <a:r>
              <a:rPr sz="2500" spc="-70" dirty="0">
                <a:latin typeface="Arial"/>
                <a:cs typeface="Arial"/>
              </a:rPr>
              <a:t>ớ</a:t>
            </a:r>
            <a:r>
              <a:rPr sz="2500" spc="-70" dirty="0"/>
              <a:t>i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99972" y="1362455"/>
            <a:ext cx="5905500" cy="4256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05555" y="26501"/>
            <a:ext cx="67437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Các công </a:t>
            </a:r>
            <a:r>
              <a:rPr spc="-50" dirty="0"/>
              <a:t>đo</a:t>
            </a:r>
            <a:r>
              <a:rPr spc="-50" dirty="0">
                <a:latin typeface="Arial"/>
                <a:cs typeface="Arial"/>
              </a:rPr>
              <a:t>ạ</a:t>
            </a:r>
            <a:r>
              <a:rPr spc="-50" dirty="0"/>
              <a:t>n </a:t>
            </a:r>
            <a:r>
              <a:rPr spc="-70" dirty="0"/>
              <a:t>c</a:t>
            </a:r>
            <a:r>
              <a:rPr spc="-70" dirty="0">
                <a:latin typeface="Arial"/>
                <a:cs typeface="Arial"/>
              </a:rPr>
              <a:t>ủ</a:t>
            </a:r>
            <a:r>
              <a:rPr spc="-70" dirty="0"/>
              <a:t>a </a:t>
            </a:r>
            <a:r>
              <a:rPr spc="-75" dirty="0"/>
              <a:t>m</a:t>
            </a:r>
            <a:r>
              <a:rPr spc="-75" dirty="0">
                <a:latin typeface="Arial"/>
                <a:cs typeface="Arial"/>
              </a:rPr>
              <a:t>ộ</a:t>
            </a:r>
            <a:r>
              <a:rPr spc="-75" dirty="0"/>
              <a:t>t </a:t>
            </a:r>
            <a:r>
              <a:rPr spc="-5" dirty="0"/>
              <a:t>giao </a:t>
            </a:r>
            <a:r>
              <a:rPr spc="-25" dirty="0"/>
              <a:t>d</a:t>
            </a:r>
            <a:r>
              <a:rPr spc="-25" dirty="0">
                <a:latin typeface="Arial"/>
                <a:cs typeface="Arial"/>
              </a:rPr>
              <a:t>ị</a:t>
            </a:r>
            <a:r>
              <a:rPr spc="-25" dirty="0"/>
              <a:t>ch </a:t>
            </a:r>
            <a:r>
              <a:rPr spc="-5" dirty="0"/>
              <a:t>mua  </a:t>
            </a:r>
            <a:r>
              <a:rPr dirty="0"/>
              <a:t>bán </a:t>
            </a:r>
            <a:r>
              <a:rPr spc="-5" dirty="0"/>
              <a:t>trên</a:t>
            </a:r>
            <a:r>
              <a:rPr spc="-20" dirty="0"/>
              <a:t> </a:t>
            </a:r>
            <a:r>
              <a:rPr spc="-50" dirty="0"/>
              <a:t>m</a:t>
            </a:r>
            <a:r>
              <a:rPr spc="-50" dirty="0">
                <a:latin typeface="Arial"/>
                <a:cs typeface="Arial"/>
              </a:rPr>
              <a:t>ạ</a:t>
            </a:r>
            <a:r>
              <a:rPr spc="-50" dirty="0"/>
              <a:t>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04800" y="1143000"/>
            <a:ext cx="8495589" cy="544168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4965" marR="9525" indent="-342900" algn="just">
              <a:lnSpc>
                <a:spcPct val="130000"/>
              </a:lnSpc>
              <a:spcBef>
                <a:spcPts val="585"/>
              </a:spcBef>
              <a:buFont typeface="Wingdings" panose="05000000000000000000" pitchFamily="2" charset="2"/>
              <a:buChar char="ü"/>
              <a:tabLst>
                <a:tab pos="354965" algn="l"/>
              </a:tabLst>
            </a:pP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Khách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hàng, từ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một máy tính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điền 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thanh toán và</a:t>
            </a:r>
            <a:r>
              <a:rPr sz="2000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điạ  chỉ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liên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hệ vào đơn đặt hàng của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Website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bán hàng. Doanh  nghiệp nhận được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yêu cầu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hoá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hay dịch vụ của  khách hàng và phản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hồi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xác nhận tóm tắt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lại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những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cần thiết nh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mặt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 đã chọn, địa chỉ giao nhận và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số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phiếu  đặt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hàng...</a:t>
            </a:r>
            <a:endParaRPr sz="2000" dirty="0">
              <a:latin typeface="Times New Roman"/>
              <a:cs typeface="Times New Roman"/>
            </a:endParaRPr>
          </a:p>
          <a:p>
            <a:pPr marL="354965" marR="147320" indent="-342900" algn="just">
              <a:lnSpc>
                <a:spcPct val="130000"/>
              </a:lnSpc>
              <a:spcBef>
                <a:spcPts val="975"/>
              </a:spcBef>
              <a:buFont typeface="Wingdings" panose="05000000000000000000" pitchFamily="2" charset="2"/>
              <a:buChar char="ü"/>
              <a:tabLst>
                <a:tab pos="354965" algn="l"/>
              </a:tabLst>
            </a:pP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Khách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 kiểm tra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lại các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click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vào nút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"đặt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hàng", từ bàn phím hay chuột của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máy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tính, để gởi thông</a:t>
            </a:r>
            <a:r>
              <a:rPr sz="2000" spc="-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trả về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cho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doanh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nghiệp.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 algn="just">
              <a:lnSpc>
                <a:spcPct val="130000"/>
              </a:lnSpc>
              <a:spcBef>
                <a:spcPts val="550"/>
              </a:spcBef>
              <a:buFont typeface="Wingdings" panose="05000000000000000000" pitchFamily="2" charset="2"/>
              <a:buChar char="ü"/>
              <a:tabLst>
                <a:tab pos="354965" algn="l"/>
              </a:tabLst>
            </a:pP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Doanh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nghiệp nhận và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lưu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trữ 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đặt hàng </a:t>
            </a:r>
            <a:r>
              <a:rPr sz="2000" dirty="0" err="1">
                <a:solidFill>
                  <a:srgbClr val="404040"/>
                </a:solidFill>
                <a:latin typeface="Times New Roman"/>
                <a:cs typeface="Times New Roman"/>
              </a:rPr>
              <a:t>đồng</a:t>
            </a:r>
            <a:r>
              <a:rPr sz="2000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thời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chuyển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tiếp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thanh toán (số thẻ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tín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dụng, ngày đáo  hạn, chủ thẻ ...) đã được 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mã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hoá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đến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máy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chủ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(Server,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thiết</a:t>
            </a:r>
            <a:r>
              <a:rPr sz="2000" spc="-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bị  xử lý dữ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liệu)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Trung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tâm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cung cấp dịch vụ xử lý thẻ trên 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Internet.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Với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quá trình 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mã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hóa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các 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thanh toán  của khách hàng được bảo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mật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 toàn nhằm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chống </a:t>
            </a:r>
            <a:r>
              <a:rPr sz="2000" dirty="0" err="1">
                <a:solidFill>
                  <a:srgbClr val="404040"/>
                </a:solidFill>
                <a:latin typeface="Times New Roman"/>
                <a:cs typeface="Times New Roman"/>
              </a:rPr>
              <a:t>gian</a:t>
            </a:r>
            <a:r>
              <a:rPr sz="2000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lận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trong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các giao dịch (chẳng hạn doanh nghiệp sẽ </a:t>
            </a:r>
            <a:r>
              <a:rPr sz="2000" spc="5" dirty="0" err="1">
                <a:solidFill>
                  <a:srgbClr val="404040"/>
                </a:solidFill>
                <a:latin typeface="Times New Roman"/>
                <a:cs typeface="Times New Roman"/>
              </a:rPr>
              <a:t>không</a:t>
            </a:r>
            <a:r>
              <a:rPr sz="2000" spc="-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biết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 err="1" smtClean="0">
                <a:solidFill>
                  <a:srgbClr val="404040"/>
                </a:solidFill>
                <a:latin typeface="Times New Roman"/>
                <a:cs typeface="Times New Roman"/>
              </a:rPr>
              <a:t>được</a:t>
            </a:r>
            <a:r>
              <a:rPr sz="2000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về thẻ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tín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dụng của khách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hàng).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7786" y="533400"/>
            <a:ext cx="84201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 err="1" smtClean="0"/>
              <a:t>Các</a:t>
            </a:r>
            <a:r>
              <a:rPr sz="2800" dirty="0" smtClean="0"/>
              <a:t> </a:t>
            </a:r>
            <a:r>
              <a:rPr sz="2800" dirty="0" err="1" smtClean="0"/>
              <a:t>công</a:t>
            </a:r>
            <a:r>
              <a:rPr sz="2800" dirty="0" smtClean="0"/>
              <a:t> </a:t>
            </a:r>
            <a:r>
              <a:rPr sz="2800" spc="-50" dirty="0" err="1" smtClean="0"/>
              <a:t>đo</a:t>
            </a:r>
            <a:r>
              <a:rPr sz="2800" spc="-50" dirty="0" err="1" smtClean="0">
                <a:latin typeface="Arial"/>
                <a:cs typeface="Arial"/>
              </a:rPr>
              <a:t>ạ</a:t>
            </a:r>
            <a:r>
              <a:rPr sz="2800" spc="-50" dirty="0" err="1" smtClean="0"/>
              <a:t>n</a:t>
            </a:r>
            <a:r>
              <a:rPr sz="2800" spc="-50" dirty="0" smtClean="0"/>
              <a:t> </a:t>
            </a:r>
            <a:r>
              <a:rPr sz="2800" spc="-70" dirty="0" err="1" smtClean="0"/>
              <a:t>c</a:t>
            </a:r>
            <a:r>
              <a:rPr sz="2800" spc="-70" dirty="0" err="1" smtClean="0">
                <a:latin typeface="Arial"/>
                <a:cs typeface="Arial"/>
              </a:rPr>
              <a:t>ủ</a:t>
            </a:r>
            <a:r>
              <a:rPr sz="2800" spc="-70" dirty="0" err="1" smtClean="0"/>
              <a:t>a</a:t>
            </a:r>
            <a:r>
              <a:rPr sz="2800" spc="-70" dirty="0" smtClean="0"/>
              <a:t> </a:t>
            </a:r>
            <a:r>
              <a:rPr sz="2800" spc="-75" dirty="0" err="1" smtClean="0"/>
              <a:t>m</a:t>
            </a:r>
            <a:r>
              <a:rPr sz="2800" spc="-75" dirty="0" err="1" smtClean="0">
                <a:latin typeface="Arial"/>
                <a:cs typeface="Arial"/>
              </a:rPr>
              <a:t>ộ</a:t>
            </a:r>
            <a:r>
              <a:rPr sz="2800" spc="-75" dirty="0" err="1" smtClean="0"/>
              <a:t>t</a:t>
            </a:r>
            <a:r>
              <a:rPr sz="2800" spc="-75" dirty="0" smtClean="0"/>
              <a:t> </a:t>
            </a:r>
            <a:r>
              <a:rPr sz="2800" spc="-5" dirty="0" err="1" smtClean="0"/>
              <a:t>giao</a:t>
            </a:r>
            <a:r>
              <a:rPr sz="2800" spc="-5" dirty="0" smtClean="0"/>
              <a:t> </a:t>
            </a:r>
            <a:r>
              <a:rPr sz="2800" spc="-25" dirty="0" err="1" smtClean="0"/>
              <a:t>d</a:t>
            </a:r>
            <a:r>
              <a:rPr sz="2800" spc="-25" dirty="0" err="1" smtClean="0">
                <a:latin typeface="Arial"/>
                <a:cs typeface="Arial"/>
              </a:rPr>
              <a:t>ị</a:t>
            </a:r>
            <a:r>
              <a:rPr sz="2800" spc="-25" dirty="0" err="1" smtClean="0"/>
              <a:t>ch</a:t>
            </a:r>
            <a:r>
              <a:rPr sz="2800" spc="-25" dirty="0" smtClean="0"/>
              <a:t> </a:t>
            </a:r>
            <a:r>
              <a:rPr sz="2800" spc="-5" dirty="0" err="1" smtClean="0"/>
              <a:t>mua</a:t>
            </a:r>
            <a:r>
              <a:rPr sz="2800" spc="-5" dirty="0" smtClean="0"/>
              <a:t>  </a:t>
            </a:r>
            <a:r>
              <a:rPr sz="2800" dirty="0" err="1" smtClean="0"/>
              <a:t>bán</a:t>
            </a:r>
            <a:r>
              <a:rPr sz="2800" dirty="0" smtClean="0"/>
              <a:t> </a:t>
            </a:r>
            <a:r>
              <a:rPr sz="2800" spc="-5" dirty="0" err="1" smtClean="0"/>
              <a:t>trên</a:t>
            </a:r>
            <a:r>
              <a:rPr sz="2800" spc="-20" dirty="0" smtClean="0"/>
              <a:t> </a:t>
            </a:r>
            <a:r>
              <a:rPr sz="2800" spc="-50" dirty="0" err="1" smtClean="0"/>
              <a:t>m</a:t>
            </a:r>
            <a:r>
              <a:rPr sz="2800" spc="-50" dirty="0" err="1" smtClean="0">
                <a:latin typeface="Arial"/>
                <a:cs typeface="Arial"/>
              </a:rPr>
              <a:t>ạ</a:t>
            </a:r>
            <a:r>
              <a:rPr sz="2800" spc="-50" dirty="0" err="1" smtClean="0"/>
              <a:t>ng</a:t>
            </a:r>
            <a:endParaRPr sz="2800" spc="-50" dirty="0"/>
          </a:p>
        </p:txBody>
      </p:sp>
      <p:sp>
        <p:nvSpPr>
          <p:cNvPr id="16" name="object 16"/>
          <p:cNvSpPr txBox="1">
            <a:spLocks noGrp="1"/>
          </p:cNvSpPr>
          <p:nvPr>
            <p:ph idx="1"/>
          </p:nvPr>
        </p:nvSpPr>
        <p:spPr>
          <a:xfrm>
            <a:off x="191814" y="1147904"/>
            <a:ext cx="8648700" cy="53031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88595" algn="just">
              <a:lnSpc>
                <a:spcPct val="130000"/>
              </a:lnSpc>
              <a:spcBef>
                <a:spcPts val="105"/>
              </a:spcBef>
              <a:tabLst>
                <a:tab pos="342265" algn="l"/>
              </a:tabLst>
            </a:pP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tâm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thẻ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nhận được thông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0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thanhtoán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sẽ giải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xử lý giao dịch đằng </a:t>
            </a:r>
            <a:r>
              <a:rPr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20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bứctường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lửa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(FireWall)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tách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rời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mạng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(off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nhằm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đích bảo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mật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tuyệt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các giao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dịch  thương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mại,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dạng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lại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dịch và chuyển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tiếp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toán đến ngân hàng của doanh nghiệp (Acquirer)</a:t>
            </a:r>
            <a:r>
              <a:rPr sz="20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đường dây thuê bao riêng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(một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đường truyền số </a:t>
            </a:r>
            <a:r>
              <a:rPr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20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2700" algn="just">
              <a:lnSpc>
                <a:spcPct val="130000"/>
              </a:lnSpc>
              <a:spcBef>
                <a:spcPts val="515"/>
              </a:spcBef>
              <a:tabLst>
                <a:tab pos="354965" algn="l"/>
              </a:tabLst>
            </a:pP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hàng của doanh nghiệp gởi thông điệp điện tử </a:t>
            </a:r>
            <a:r>
              <a:rPr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sz="20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toán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(authorization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request) đến ngân hàng hoặc công</a:t>
            </a:r>
            <a:r>
              <a:rPr sz="2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  cung cấp thẻ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của khách hàng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(Issuer). Và tổ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chức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tài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chính này sẽ phản hồi là đồng ý hoặc từ chối thanh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sz="2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tâm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thẻ tín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trên </a:t>
            </a:r>
            <a:r>
              <a:rPr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30000"/>
              </a:lnSpc>
              <a:spcBef>
                <a:spcPts val="515"/>
              </a:spcBef>
              <a:tabLst>
                <a:tab pos="354965" algn="l"/>
              </a:tabLst>
            </a:pPr>
            <a:r>
              <a:rPr sz="2000" spc="-1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20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tâm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thẻ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 trên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sẽ tiếp tục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chuyển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tiếp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những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phản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hồi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trên đến doanh nghiệp, và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tùy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đó doanh nghiệp thông báo cho khách hàng được rõ là  đơn đặt hàng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sẽ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thực hiện hay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7000" y="76200"/>
            <a:ext cx="5949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Dòng Thông </a:t>
            </a:r>
            <a:r>
              <a:rPr sz="3600" spc="-45" dirty="0"/>
              <a:t>Tin</a:t>
            </a:r>
            <a:r>
              <a:rPr sz="3600" spc="-204" dirty="0"/>
              <a:t> </a:t>
            </a:r>
            <a:r>
              <a:rPr sz="3600" spc="-5" dirty="0"/>
              <a:t>Ecommerce</a:t>
            </a:r>
            <a:endParaRPr sz="3600" dirty="0"/>
          </a:p>
        </p:txBody>
      </p:sp>
      <p:sp>
        <p:nvSpPr>
          <p:cNvPr id="6" name="object 6"/>
          <p:cNvSpPr/>
          <p:nvPr/>
        </p:nvSpPr>
        <p:spPr>
          <a:xfrm>
            <a:off x="638555" y="1045463"/>
            <a:ext cx="7330440" cy="4504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609600"/>
            <a:ext cx="63842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/>
              <a:t>Các HT </a:t>
            </a:r>
            <a:r>
              <a:rPr sz="2500" spc="-10" dirty="0"/>
              <a:t>thanh toán chính trong</a:t>
            </a:r>
            <a:r>
              <a:rPr sz="2500" spc="30" dirty="0"/>
              <a:t> </a:t>
            </a:r>
            <a:r>
              <a:rPr sz="2500" spc="-5" dirty="0"/>
              <a:t>Ecommerce</a:t>
            </a:r>
            <a:endParaRPr sz="250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5592" y="1113925"/>
          <a:ext cx="7525385" cy="4475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48"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335" dirty="0">
                          <a:latin typeface="Arial Black"/>
                          <a:cs typeface="Arial Black"/>
                        </a:rPr>
                        <a:t>PAYMENT</a:t>
                      </a:r>
                      <a:r>
                        <a:rPr sz="1100" spc="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355" dirty="0">
                          <a:latin typeface="Arial Black"/>
                          <a:cs typeface="Arial Black"/>
                        </a:rPr>
                        <a:t>SYSTEM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300" dirty="0">
                          <a:latin typeface="Arial Black"/>
                          <a:cs typeface="Arial Black"/>
                        </a:rPr>
                        <a:t>DESCRIPTION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57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 </a:t>
                      </a:r>
                      <a:r>
                        <a:rPr sz="1000" b="1" spc="275" dirty="0">
                          <a:latin typeface="Arial"/>
                          <a:cs typeface="Arial"/>
                        </a:rPr>
                        <a:t>CREDIT</a:t>
                      </a:r>
                      <a:r>
                        <a:rPr sz="1000" b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CARD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310" dirty="0">
                          <a:latin typeface="Arial"/>
                          <a:cs typeface="Arial"/>
                        </a:rPr>
                        <a:t>SECURE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5" dirty="0">
                          <a:latin typeface="Arial"/>
                          <a:cs typeface="Arial"/>
                        </a:rPr>
                        <a:t>SERVICES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75" dirty="0">
                          <a:latin typeface="Arial"/>
                          <a:cs typeface="Arial"/>
                        </a:rPr>
                        <a:t>CREDIT</a:t>
                      </a:r>
                      <a:r>
                        <a:rPr sz="1000" b="1" spc="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CARD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PAYMENTS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34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5" dirty="0">
                          <a:latin typeface="Arial"/>
                          <a:cs typeface="Arial"/>
                        </a:rPr>
                        <a:t>INTERNET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57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00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50" dirty="0">
                          <a:latin typeface="Arial"/>
                          <a:cs typeface="Arial"/>
                        </a:rPr>
                        <a:t>WALLET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90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20" dirty="0">
                          <a:latin typeface="Arial"/>
                          <a:cs typeface="Arial"/>
                        </a:rPr>
                        <a:t>STORES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75" dirty="0">
                          <a:latin typeface="Arial"/>
                          <a:cs typeface="Arial"/>
                        </a:rPr>
                        <a:t>CREDIT</a:t>
                      </a:r>
                      <a:r>
                        <a:rPr sz="1000" b="1" spc="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CARD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35" dirty="0">
                          <a:latin typeface="Arial"/>
                          <a:cs typeface="Arial"/>
                        </a:rPr>
                        <a:t>OTHER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80" dirty="0">
                          <a:latin typeface="Arial"/>
                          <a:cs typeface="Arial"/>
                        </a:rPr>
                        <a:t>INFORMATION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57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95" dirty="0">
                          <a:latin typeface="Arial"/>
                          <a:cs typeface="Arial"/>
                        </a:rPr>
                        <a:t>ACCUMULATED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0" dirty="0">
                          <a:latin typeface="Arial"/>
                          <a:cs typeface="Arial"/>
                        </a:rPr>
                        <a:t>BALANCE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000" b="1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0" dirty="0">
                          <a:latin typeface="Arial"/>
                          <a:cs typeface="Arial"/>
                        </a:rPr>
                        <a:t>SYSTEM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90" dirty="0">
                          <a:latin typeface="Arial"/>
                          <a:cs typeface="Arial"/>
                        </a:rPr>
                        <a:t>ACCUMULATES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MICROPAYMENT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PURCHASES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15" dirty="0">
                          <a:latin typeface="Arial"/>
                          <a:cs typeface="Arial"/>
                        </a:rPr>
                        <a:t>AS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65" dirty="0">
                          <a:latin typeface="Arial"/>
                          <a:cs typeface="Arial"/>
                        </a:rPr>
                        <a:t>DEBIT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0" dirty="0">
                          <a:latin typeface="Arial"/>
                          <a:cs typeface="Arial"/>
                        </a:rPr>
                        <a:t>BALANCE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10" dirty="0">
                          <a:latin typeface="Arial"/>
                          <a:cs typeface="Arial"/>
                        </a:rPr>
                        <a:t>PAID</a:t>
                      </a:r>
                      <a:r>
                        <a:rPr sz="1000" b="1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54" dirty="0">
                          <a:latin typeface="Arial"/>
                          <a:cs typeface="Arial"/>
                        </a:rPr>
                        <a:t>PERIODICALLY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457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325" dirty="0">
                          <a:latin typeface="Arial"/>
                          <a:cs typeface="Arial"/>
                        </a:rPr>
                        <a:t>STORED </a:t>
                      </a:r>
                      <a:r>
                        <a:rPr sz="1000" b="1" spc="240" dirty="0">
                          <a:latin typeface="Arial"/>
                          <a:cs typeface="Arial"/>
                        </a:rPr>
                        <a:t>VALUE</a:t>
                      </a:r>
                      <a:r>
                        <a:rPr sz="1000" b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315" dirty="0">
                          <a:latin typeface="Arial"/>
                          <a:cs typeface="Arial"/>
                        </a:rPr>
                        <a:t>SYSTEMS</a:t>
                      </a:r>
                      <a:r>
                        <a:rPr sz="10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4" dirty="0">
                          <a:latin typeface="Arial"/>
                          <a:cs typeface="Arial"/>
                        </a:rPr>
                        <a:t>(American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75" dirty="0">
                          <a:latin typeface="Arial"/>
                          <a:cs typeface="Arial"/>
                        </a:rPr>
                        <a:t>ENABLES</a:t>
                      </a:r>
                      <a:r>
                        <a:rPr sz="10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35" dirty="0">
                          <a:latin typeface="Arial"/>
                          <a:cs typeface="Arial"/>
                        </a:rPr>
                        <a:t>CONSUMERS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MAKE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0" dirty="0">
                          <a:latin typeface="Arial"/>
                          <a:cs typeface="Arial"/>
                        </a:rPr>
                        <a:t>INSTANT</a:t>
                      </a:r>
                      <a:r>
                        <a:rPr sz="1000" b="1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PAYMENTS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75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40" dirty="0">
                          <a:latin typeface="Arial"/>
                          <a:cs typeface="Arial"/>
                        </a:rPr>
                        <a:t>VALUE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25" dirty="0">
                          <a:latin typeface="Arial"/>
                          <a:cs typeface="Arial"/>
                        </a:rPr>
                        <a:t>STORED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1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3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0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ACCOUNT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457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 </a:t>
                      </a:r>
                      <a:r>
                        <a:rPr sz="1000" b="1" spc="270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10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10" dirty="0">
                          <a:latin typeface="Arial"/>
                          <a:cs typeface="Arial"/>
                        </a:rPr>
                        <a:t>(eCoin.net)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00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25" dirty="0">
                          <a:latin typeface="Arial"/>
                          <a:cs typeface="Arial"/>
                        </a:rPr>
                        <a:t>CURRENCY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0" dirty="0">
                          <a:latin typeface="Arial"/>
                          <a:cs typeface="Arial"/>
                        </a:rPr>
                        <a:t>USED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5" dirty="0">
                          <a:latin typeface="Arial"/>
                          <a:cs typeface="Arial"/>
                        </a:rPr>
                        <a:t>MICROPAYMENTS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OR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85" dirty="0">
                          <a:latin typeface="Arial"/>
                          <a:cs typeface="Arial"/>
                        </a:rPr>
                        <a:t>LARGER</a:t>
                      </a:r>
                      <a:r>
                        <a:rPr sz="1000" b="1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PURCHASES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0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341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85" dirty="0">
                          <a:latin typeface="Arial"/>
                          <a:cs typeface="Arial"/>
                        </a:rPr>
                        <a:t>PEER-TO-PEER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315" dirty="0">
                          <a:latin typeface="Arial"/>
                          <a:cs typeface="Arial"/>
                        </a:rPr>
                        <a:t>SYSTEMS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185" dirty="0">
                          <a:latin typeface="Arial"/>
                          <a:cs typeface="Arial"/>
                        </a:rPr>
                        <a:t>(Paypal)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310" dirty="0">
                          <a:latin typeface="Arial"/>
                          <a:cs typeface="Arial"/>
                        </a:rPr>
                        <a:t>SENDS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0" dirty="0">
                          <a:latin typeface="Arial"/>
                          <a:cs typeface="Arial"/>
                        </a:rPr>
                        <a:t>MONEY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04" dirty="0">
                          <a:latin typeface="Arial"/>
                          <a:cs typeface="Arial"/>
                        </a:rPr>
                        <a:t>VIA</a:t>
                      </a:r>
                      <a:r>
                        <a:rPr sz="10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5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PERSONS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0" dirty="0">
                          <a:latin typeface="Arial"/>
                          <a:cs typeface="Arial"/>
                        </a:rPr>
                        <a:t>VENDORS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32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5" dirty="0">
                          <a:latin typeface="Arial"/>
                          <a:cs typeface="Arial"/>
                        </a:rPr>
                        <a:t>SET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UP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4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00" b="1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75" dirty="0">
                          <a:latin typeface="Arial"/>
                          <a:cs typeface="Arial"/>
                        </a:rPr>
                        <a:t>ACCEPT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75" dirty="0">
                          <a:latin typeface="Arial"/>
                          <a:cs typeface="Arial"/>
                        </a:rPr>
                        <a:t>CREDIT</a:t>
                      </a:r>
                      <a:r>
                        <a:rPr sz="1000" b="1" spc="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CARD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PAYMENTS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1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24181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00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00" dirty="0">
                          <a:latin typeface="Arial"/>
                          <a:cs typeface="Arial"/>
                        </a:rPr>
                        <a:t>CHECKING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 marR="513080">
                        <a:lnSpc>
                          <a:spcPct val="114700"/>
                        </a:lnSpc>
                      </a:pPr>
                      <a:r>
                        <a:rPr sz="1000" b="1" spc="240" dirty="0">
                          <a:latin typeface="Arial"/>
                          <a:cs typeface="Arial"/>
                        </a:rPr>
                        <a:t>(CHEXpedite,</a:t>
                      </a:r>
                      <a:r>
                        <a:rPr sz="10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45" dirty="0">
                          <a:latin typeface="Arial"/>
                          <a:cs typeface="Arial"/>
                        </a:rPr>
                        <a:t>Western  </a:t>
                      </a:r>
                      <a:r>
                        <a:rPr sz="1000" b="1" spc="210" dirty="0">
                          <a:latin typeface="Arial"/>
                          <a:cs typeface="Arial"/>
                        </a:rPr>
                        <a:t>Union))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75" dirty="0">
                          <a:latin typeface="Arial"/>
                          <a:cs typeface="Arial"/>
                        </a:rPr>
                        <a:t>PROVIDES</a:t>
                      </a:r>
                      <a:r>
                        <a:rPr sz="10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ELECTRONIC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2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000" b="1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5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0" dirty="0">
                          <a:latin typeface="Arial"/>
                          <a:cs typeface="Arial"/>
                        </a:rPr>
                        <a:t>SECURE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3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00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SIGNATURE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7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5716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295" dirty="0">
                          <a:latin typeface="Arial"/>
                          <a:cs typeface="Arial"/>
                        </a:rPr>
                        <a:t>ELECTRONIC</a:t>
                      </a:r>
                      <a:r>
                        <a:rPr sz="100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45" dirty="0">
                          <a:latin typeface="Arial"/>
                          <a:cs typeface="Arial"/>
                        </a:rPr>
                        <a:t>BILLING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315" dirty="0">
                          <a:latin typeface="Arial"/>
                          <a:cs typeface="Arial"/>
                        </a:rPr>
                        <a:t>PRESENTMENT</a:t>
                      </a:r>
                      <a:r>
                        <a:rPr sz="1000" b="1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20" dirty="0">
                          <a:latin typeface="Arial"/>
                          <a:cs typeface="Arial"/>
                        </a:rPr>
                        <a:t>&amp;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000" b="1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40" dirty="0">
                          <a:latin typeface="Arial"/>
                          <a:cs typeface="Arial"/>
                        </a:rPr>
                        <a:t>(CheckFree)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b="1" spc="320" dirty="0">
                          <a:latin typeface="Arial"/>
                          <a:cs typeface="Arial"/>
                        </a:rPr>
                        <a:t>SUPPORTS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ELECTRONIC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0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315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0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80" dirty="0">
                          <a:latin typeface="Arial"/>
                          <a:cs typeface="Arial"/>
                        </a:rPr>
                        <a:t>ONLINE</a:t>
                      </a:r>
                      <a:r>
                        <a:rPr sz="100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65" dirty="0">
                          <a:latin typeface="Arial"/>
                          <a:cs typeface="Arial"/>
                        </a:rPr>
                        <a:t>AND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b="1" spc="254" dirty="0">
                          <a:latin typeface="Arial"/>
                          <a:cs typeface="Arial"/>
                        </a:rPr>
                        <a:t>PHYSICAL </a:t>
                      </a:r>
                      <a:r>
                        <a:rPr sz="1000" b="1" spc="325" dirty="0">
                          <a:latin typeface="Arial"/>
                          <a:cs typeface="Arial"/>
                        </a:rPr>
                        <a:t>STORE</a:t>
                      </a:r>
                      <a:r>
                        <a:rPr sz="10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295" dirty="0">
                          <a:latin typeface="Arial"/>
                          <a:cs typeface="Arial"/>
                        </a:rPr>
                        <a:t>PURCHASES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38400" y="152400"/>
            <a:ext cx="6500495" cy="77978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02235" marR="5080" indent="-90170">
              <a:lnSpc>
                <a:spcPts val="2940"/>
              </a:lnSpc>
              <a:spcBef>
                <a:spcPts val="244"/>
              </a:spcBef>
            </a:pPr>
            <a:r>
              <a:rPr sz="2500" spc="-5" dirty="0"/>
              <a:t>Các HT </a:t>
            </a:r>
            <a:r>
              <a:rPr sz="2500" spc="-10" dirty="0"/>
              <a:t>thanh toán chính trong </a:t>
            </a:r>
            <a:r>
              <a:rPr sz="2500" spc="-5" dirty="0"/>
              <a:t>Ecommerce:  </a:t>
            </a:r>
            <a:r>
              <a:rPr sz="2500" spc="-50" dirty="0"/>
              <a:t>Th</a:t>
            </a:r>
            <a:r>
              <a:rPr sz="2500" spc="-50" dirty="0">
                <a:latin typeface="Arial"/>
                <a:cs typeface="Arial"/>
              </a:rPr>
              <a:t>ẻ </a:t>
            </a:r>
            <a:r>
              <a:rPr sz="2500" spc="-5" dirty="0"/>
              <a:t>tín</a:t>
            </a:r>
            <a:r>
              <a:rPr sz="2500" spc="114" dirty="0"/>
              <a:t> </a:t>
            </a:r>
            <a:r>
              <a:rPr sz="2500" spc="-50" dirty="0"/>
              <a:t>d</a:t>
            </a:r>
            <a:r>
              <a:rPr sz="2500" spc="-50" dirty="0">
                <a:latin typeface="Arial"/>
                <a:cs typeface="Arial"/>
              </a:rPr>
              <a:t>ụ</a:t>
            </a:r>
            <a:r>
              <a:rPr sz="2500" spc="-50" dirty="0"/>
              <a:t>ng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705" y="1195832"/>
            <a:ext cx="8191095" cy="20910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256540" indent="-342900" algn="just">
              <a:lnSpc>
                <a:spcPct val="80000"/>
              </a:lnSpc>
              <a:spcBef>
                <a:spcPts val="530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Thẻ tín dụng vẫn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xem như là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phương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pháp thanh toán thịnh hành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nhất  khi giao dịch trực 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tuyến.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chiếm tới 90% tổng các giao</a:t>
            </a:r>
            <a:r>
              <a:rPr sz="18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dịch.</a:t>
            </a:r>
            <a:endParaRPr sz="1800" dirty="0">
              <a:latin typeface="Times New Roman"/>
              <a:cs typeface="Times New Roman"/>
            </a:endParaRPr>
          </a:p>
          <a:p>
            <a:pPr marL="355600" marR="66675" indent="-342900" algn="just">
              <a:lnSpc>
                <a:spcPct val="8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Để được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chấp nhận thanh toán bằng thẻ tín dụng, công ty phải liên hệ với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nhà  cung cấp Merchant Account, họ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cung cấp phần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mềm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và phần cứng để</a:t>
            </a:r>
            <a:r>
              <a:rPr sz="1800" spc="-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có</a:t>
            </a:r>
            <a:endParaRPr sz="1800" dirty="0">
              <a:latin typeface="Times New Roman"/>
              <a:cs typeface="Times New Roman"/>
            </a:endParaRPr>
          </a:p>
          <a:p>
            <a:pPr marL="355600" marR="160020" algn="just">
              <a:lnSpc>
                <a:spcPct val="8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thể chấp nhận thanh toán bằng thẻ tín dụng trên trang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web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cty.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Nhà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cung  cấp Merchant Account gồm 3</a:t>
            </a:r>
            <a:r>
              <a:rPr sz="1800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nhóm:</a:t>
            </a:r>
            <a:endParaRPr sz="18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1730"/>
              </a:lnSpc>
              <a:spcBef>
                <a:spcPts val="990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Nhà cung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cấp trực tiếp: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Đại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diện là các ngân hàng, họ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trực tiếp đưa giao  dịch của cty đến trung tâm xử lý thẻ tín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dụng. Những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đơn đặt hàng đã hoàn</a:t>
            </a:r>
            <a:r>
              <a:rPr sz="18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tất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606" y="3200527"/>
            <a:ext cx="680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được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gửi từ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site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của bạn đến ngân hàng thông qua phần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mềm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i="1" spc="25" dirty="0">
                <a:solidFill>
                  <a:srgbClr val="404040"/>
                </a:solidFill>
                <a:latin typeface="Arial"/>
                <a:cs typeface="Arial"/>
              </a:rPr>
              <a:t>“</a:t>
            </a:r>
            <a:r>
              <a:rPr sz="1800" spc="25" dirty="0">
                <a:solidFill>
                  <a:srgbClr val="404040"/>
                </a:solidFill>
                <a:latin typeface="Times New Roman"/>
                <a:cs typeface="Times New Roman"/>
              </a:rPr>
              <a:t>Payment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609" y="3500549"/>
            <a:ext cx="8191094" cy="217297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710"/>
              </a:spcBef>
            </a:pPr>
            <a:r>
              <a:rPr sz="1800" spc="25" dirty="0">
                <a:solidFill>
                  <a:srgbClr val="404040"/>
                </a:solidFill>
                <a:latin typeface="Times New Roman"/>
                <a:cs typeface="Times New Roman"/>
              </a:rPr>
              <a:t>Gateway</a:t>
            </a:r>
            <a:r>
              <a:rPr sz="1800" i="1" spc="25" dirty="0">
                <a:solidFill>
                  <a:srgbClr val="404040"/>
                </a:solidFill>
                <a:latin typeface="Arial"/>
                <a:cs typeface="Arial"/>
              </a:rPr>
              <a:t>”</a:t>
            </a:r>
            <a:r>
              <a:rPr sz="1800" spc="25" dirty="0">
                <a:solidFill>
                  <a:srgbClr val="404040"/>
                </a:solidFill>
                <a:latin typeface="Times New Roman"/>
                <a:cs typeface="Times New Roman"/>
              </a:rPr>
              <a:t>, 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tuyệt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đối an toàn đối với các thông tin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ghi trong thẻ tín</a:t>
            </a:r>
            <a:r>
              <a:rPr sz="1800" spc="-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dụng.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spcBef>
                <a:spcPts val="615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Môi giới: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cty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phải trả cho họ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tỷ lệ chiết khấu từ 2% đến 3%. Tỷ</a:t>
            </a:r>
            <a:r>
              <a:rPr sz="18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lệ</a:t>
            </a:r>
            <a:endParaRPr sz="1800" dirty="0">
              <a:latin typeface="Times New Roman"/>
              <a:cs typeface="Times New Roman"/>
            </a:endParaRPr>
          </a:p>
          <a:p>
            <a:pPr marL="355600">
              <a:lnSpc>
                <a:spcPts val="173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chiết khấu là khoản tiền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mà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cty phải trả cho nhà cung cấp dịch vụ thanh</a:t>
            </a:r>
            <a:r>
              <a:rPr sz="18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toán</a:t>
            </a:r>
            <a:endParaRPr sz="1800" dirty="0">
              <a:latin typeface="Times New Roman"/>
              <a:cs typeface="Times New Roman"/>
            </a:endParaRPr>
          </a:p>
          <a:p>
            <a:pPr marL="355600">
              <a:lnSpc>
                <a:spcPts val="1945"/>
              </a:lnSpc>
            </a:pP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đối với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từng giao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dịch.</a:t>
            </a:r>
            <a:endParaRPr sz="1800" dirty="0">
              <a:latin typeface="Times New Roman"/>
              <a:cs typeface="Times New Roman"/>
            </a:endParaRPr>
          </a:p>
          <a:p>
            <a:pPr marL="355600" marR="185420" indent="-342900">
              <a:lnSpc>
                <a:spcPct val="8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23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Nhà cung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cấp thứ ba: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chuyển quá trình thanh toán thẻ tín dụng từ đơn đặt  hàng trên trang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web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của cty bằng chính tài khoản của họ. nhà cung cấp</a:t>
            </a:r>
            <a:r>
              <a:rPr sz="18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dịch  vụ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là những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người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trực tiếp bán hàng, còn bạn với vai trò của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một người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bán hàng, bây giờ bạn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là đại lý cung cấp hàng cho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họ.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946" y="642492"/>
            <a:ext cx="63842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/>
              <a:t>Các HT </a:t>
            </a:r>
            <a:r>
              <a:rPr sz="2500" spc="-10" dirty="0"/>
              <a:t>thanh toán chính trong</a:t>
            </a:r>
            <a:r>
              <a:rPr sz="2500" spc="30" dirty="0"/>
              <a:t> </a:t>
            </a:r>
            <a:r>
              <a:rPr sz="2500" spc="-5" dirty="0"/>
              <a:t>Ecommerce</a:t>
            </a:r>
            <a:endParaRPr sz="2500" dirty="0"/>
          </a:p>
        </p:txBody>
      </p:sp>
      <p:sp>
        <p:nvSpPr>
          <p:cNvPr id="4" name="object 4"/>
          <p:cNvSpPr txBox="1"/>
          <p:nvPr/>
        </p:nvSpPr>
        <p:spPr>
          <a:xfrm>
            <a:off x="343611" y="1048892"/>
            <a:ext cx="8419389" cy="358611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marR="156845" indent="-342900">
              <a:lnSpc>
                <a:spcPct val="801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Khách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hàng có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thể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trả tiền bằng hoá đơn điện thoại:  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Website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thực hiện phương pháp thanh toán bằng cách  cho phép những người sử dụng Internet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chuyển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chi</a:t>
            </a:r>
            <a:r>
              <a:rPr sz="22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phí</a:t>
            </a:r>
            <a:endParaRPr sz="2200" dirty="0">
              <a:latin typeface="Times New Roman"/>
              <a:cs typeface="Times New Roman"/>
            </a:endParaRPr>
          </a:p>
          <a:p>
            <a:pPr marL="354965" marR="27305">
              <a:lnSpc>
                <a:spcPct val="80000"/>
              </a:lnSpc>
            </a:pP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bán thành hoá đơn điện thoại. Các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mặt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hàng dưới 1 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USD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có thể thực hiện phương pháp thanh toán</a:t>
            </a:r>
            <a:r>
              <a:rPr sz="22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solidFill>
                  <a:srgbClr val="404040"/>
                </a:solidFill>
                <a:latin typeface="Times New Roman"/>
                <a:cs typeface="Times New Roman"/>
              </a:rPr>
              <a:t>này.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8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750" spc="32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Phương pháp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chuyển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tiền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bằng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 tử (EFT):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khấu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trừ  tiền thanh toán từ tài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khoản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ngân hàng của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doanh  nghiệp hoặc của cá nhân và tiền được kiểm tra trước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khi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chấp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thuận.</a:t>
            </a:r>
            <a:endParaRPr sz="2200" dirty="0">
              <a:latin typeface="Times New Roman"/>
              <a:cs typeface="Times New Roman"/>
            </a:endParaRPr>
          </a:p>
          <a:p>
            <a:pPr marL="354965" marR="13970" indent="-342900">
              <a:lnSpc>
                <a:spcPct val="8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750" spc="315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séc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 tử (e-check):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phát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sinh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loại séc bằng giấy  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mà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theo đó người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phải đặt cọc vào tài khoản tiền  gửi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người bán 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khoản tiền và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bất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cứ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séc tiêu  chuẩn nào cũng phải thông qua quá trình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này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914400"/>
            <a:ext cx="63842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/>
              <a:t>Các HT </a:t>
            </a:r>
            <a:r>
              <a:rPr sz="2500" spc="-10" dirty="0"/>
              <a:t>thanh toán chính trong</a:t>
            </a:r>
            <a:r>
              <a:rPr sz="2500" spc="30" dirty="0"/>
              <a:t> </a:t>
            </a:r>
            <a:r>
              <a:rPr sz="2500" spc="-5" dirty="0"/>
              <a:t>Ecommerce</a:t>
            </a:r>
            <a:endParaRPr sz="2500" dirty="0"/>
          </a:p>
        </p:txBody>
      </p:sp>
      <p:sp>
        <p:nvSpPr>
          <p:cNvPr id="4" name="object 4"/>
          <p:cNvSpPr txBox="1"/>
          <p:nvPr/>
        </p:nvSpPr>
        <p:spPr>
          <a:xfrm>
            <a:off x="304800" y="1524000"/>
            <a:ext cx="8266989" cy="3404137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4965" marR="207645" indent="-342900" algn="just">
              <a:lnSpc>
                <a:spcPct val="80000"/>
              </a:lnSpc>
              <a:spcBef>
                <a:spcPts val="585"/>
              </a:spcBef>
              <a:tabLst>
                <a:tab pos="354965" algn="l"/>
              </a:tabLst>
            </a:pPr>
            <a:r>
              <a:rPr sz="1600" spc="27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Để chấp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nhận phương pháp thanh toán e-check hay 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EFT,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cty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 khách hàng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không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cần sử dụng phần cứng hay phần</a:t>
            </a:r>
            <a:r>
              <a:rPr sz="2000" spc="-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mềm.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Mã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số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tích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hợp vào hệ thống trang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web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 nối khách  hàng với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máy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chủ bảo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mật.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khi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làm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được điều này thì 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những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hệ thống này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cung cấp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những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tài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khoản  ngân hàng cần thiết và như vậy bắt đầu phương pháp EFT</a:t>
            </a:r>
            <a:r>
              <a:rPr sz="2000" spc="-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  phương pháp thanh toán</a:t>
            </a:r>
            <a:r>
              <a:rPr sz="20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e-check.</a:t>
            </a:r>
            <a:endParaRPr sz="2000" dirty="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80000"/>
              </a:lnSpc>
              <a:spcBef>
                <a:spcPts val="994"/>
              </a:spcBef>
              <a:tabLst>
                <a:tab pos="354965" algn="l"/>
                <a:tab pos="3630929" algn="l"/>
              </a:tabLst>
            </a:pPr>
            <a:r>
              <a:rPr sz="1600" spc="270" dirty="0">
                <a:solidFill>
                  <a:srgbClr val="5FCAEE"/>
                </a:solidFill>
                <a:latin typeface="Arial"/>
                <a:cs typeface="Arial"/>
              </a:rPr>
              <a:t>	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Người bán và người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mua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ngay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lập tức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nhận được tờ kiểm tra  đơn đặt hàng và người bán nhận được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tên,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địa chỉ, điện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thoại,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địa chỉ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email,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đơn đặt hàng và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số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lượng hàng của khách hàng.  Khi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sử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dụng dịch vụ 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này,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thực hiện hệ thống EFT qua đường  điện thoại hoặc fax.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Người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bán	đơn giản chỉ thu thập thông</a:t>
            </a:r>
            <a:r>
              <a:rPr sz="200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từ khách hàng và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sau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đó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đưa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vào phần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mềm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EFT</a:t>
            </a:r>
            <a:r>
              <a:rPr sz="2000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và</a:t>
            </a:r>
            <a:endParaRPr sz="2000" dirty="0">
              <a:latin typeface="Times New Roman"/>
              <a:cs typeface="Times New Roman"/>
            </a:endParaRPr>
          </a:p>
          <a:p>
            <a:pPr marL="354965" marR="492125" algn="just">
              <a:lnSpc>
                <a:spcPct val="80000"/>
              </a:lnSpc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liệu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nó có hoạt động trên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máy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tính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cá nhân, điểm đến</a:t>
            </a:r>
            <a:r>
              <a:rPr sz="20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kinh  doanh hay tự động thông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qua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web.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406399"/>
            <a:ext cx="4779010" cy="99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00"/>
              </a:lnSpc>
              <a:spcBef>
                <a:spcPts val="100"/>
              </a:spcBef>
            </a:pPr>
            <a:r>
              <a:rPr sz="3200" b="0" spc="-5" dirty="0">
                <a:latin typeface="Trebuchet MS"/>
                <a:cs typeface="Trebuchet MS"/>
              </a:rPr>
              <a:t>WEB 2.0 </a:t>
            </a:r>
            <a:r>
              <a:rPr sz="3200" b="0" dirty="0">
                <a:latin typeface="Trebuchet MS"/>
                <a:cs typeface="Trebuchet MS"/>
              </a:rPr>
              <a:t>là</a:t>
            </a:r>
            <a:r>
              <a:rPr sz="3200" b="0" spc="-25" dirty="0">
                <a:latin typeface="Trebuchet MS"/>
                <a:cs typeface="Trebuchet MS"/>
              </a:rPr>
              <a:t> </a:t>
            </a:r>
            <a:r>
              <a:rPr sz="3200" b="0" spc="-5" dirty="0">
                <a:latin typeface="Trebuchet MS"/>
                <a:cs typeface="Trebuchet MS"/>
              </a:rPr>
              <a:t>gì?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ts val="3800"/>
              </a:lnSpc>
            </a:pPr>
            <a:r>
              <a:rPr sz="3200" b="0" spc="-5" dirty="0">
                <a:latin typeface="Trebuchet MS"/>
                <a:cs typeface="Trebuchet MS"/>
              </a:rPr>
              <a:t>Chia </a:t>
            </a:r>
            <a:r>
              <a:rPr sz="3200" b="0" spc="-95" dirty="0">
                <a:latin typeface="Trebuchet MS"/>
                <a:cs typeface="Trebuchet MS"/>
              </a:rPr>
              <a:t>s</a:t>
            </a:r>
            <a:r>
              <a:rPr sz="3200" b="0" spc="-95" dirty="0">
                <a:latin typeface="Arial"/>
                <a:cs typeface="Arial"/>
              </a:rPr>
              <a:t>ẻ </a:t>
            </a:r>
            <a:r>
              <a:rPr sz="3200" b="0" spc="-5" dirty="0">
                <a:latin typeface="Trebuchet MS"/>
                <a:cs typeface="Trebuchet MS"/>
              </a:rPr>
              <a:t>tri </a:t>
            </a:r>
            <a:r>
              <a:rPr sz="3200" b="0" spc="-55" dirty="0">
                <a:latin typeface="Trebuchet MS"/>
                <a:cs typeface="Trebuchet MS"/>
              </a:rPr>
              <a:t>th</a:t>
            </a:r>
            <a:r>
              <a:rPr sz="3200" b="0" spc="-55" dirty="0">
                <a:latin typeface="Arial"/>
                <a:cs typeface="Arial"/>
              </a:rPr>
              <a:t>ứ</a:t>
            </a:r>
            <a:r>
              <a:rPr sz="3200" b="0" spc="-55" dirty="0">
                <a:latin typeface="Trebuchet MS"/>
                <a:cs typeface="Trebuchet MS"/>
              </a:rPr>
              <a:t>c </a:t>
            </a:r>
            <a:r>
              <a:rPr sz="3200" b="0" spc="-25" dirty="0">
                <a:latin typeface="Trebuchet MS"/>
                <a:cs typeface="Trebuchet MS"/>
              </a:rPr>
              <a:t>c</a:t>
            </a:r>
            <a:r>
              <a:rPr sz="3200" b="0" spc="-25" dirty="0">
                <a:latin typeface="Arial"/>
                <a:cs typeface="Arial"/>
              </a:rPr>
              <a:t>ộ</a:t>
            </a:r>
            <a:r>
              <a:rPr sz="3200" b="0" spc="-25" dirty="0">
                <a:latin typeface="Trebuchet MS"/>
                <a:cs typeface="Trebuchet MS"/>
              </a:rPr>
              <a:t>ng</a:t>
            </a:r>
            <a:r>
              <a:rPr sz="3200" b="0" spc="185" dirty="0">
                <a:latin typeface="Trebuchet MS"/>
                <a:cs typeface="Trebuchet MS"/>
              </a:rPr>
              <a:t> </a:t>
            </a:r>
            <a:r>
              <a:rPr sz="3200" b="0" spc="-20" dirty="0">
                <a:latin typeface="Trebuchet MS"/>
                <a:cs typeface="Trebuchet MS"/>
              </a:rPr>
              <a:t>đ</a:t>
            </a:r>
            <a:r>
              <a:rPr sz="3200" b="0" spc="-20" dirty="0">
                <a:latin typeface="Arial"/>
                <a:cs typeface="Arial"/>
              </a:rPr>
              <a:t>ồ</a:t>
            </a:r>
            <a:r>
              <a:rPr sz="3200" b="0" spc="-20" dirty="0">
                <a:latin typeface="Trebuchet MS"/>
                <a:cs typeface="Trebuchet MS"/>
              </a:rPr>
              <a:t>ng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27989" y="1769744"/>
            <a:ext cx="7387590" cy="3278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Người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dùng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đăng bài viết, chia sẻ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tin,</a:t>
            </a:r>
            <a:r>
              <a:rPr sz="2800" spc="-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60" dirty="0">
                <a:solidFill>
                  <a:srgbClr val="404040"/>
                </a:solidFill>
                <a:latin typeface="Times New Roman"/>
                <a:cs typeface="Times New Roman"/>
              </a:rPr>
              <a:t>đánh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giá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sản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phẩm, tương tác lẫn nhau </a:t>
            </a:r>
            <a:r>
              <a:rPr sz="2800" spc="-5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gia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tăng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giá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trị website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hoặc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sản</a:t>
            </a:r>
            <a:r>
              <a:rPr sz="2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phẩm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1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  <a:hlinkClick r:id="rId2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  <a:hlinkClick r:id="rId2"/>
              </a:rPr>
              <a:t> </a:t>
            </a:r>
            <a:r>
              <a:rPr sz="2400" u="heavy" spc="-1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2"/>
              </a:rPr>
              <a:t>www.amazon.com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0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  <a:hlinkClick r:id="rId3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  <a:hlinkClick r:id="rId3"/>
              </a:rPr>
              <a:t> </a:t>
            </a:r>
            <a:r>
              <a:rPr sz="2400" u="heavy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www.bhphotovideos.com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0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  <a:hlinkClick r:id="rId4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  <a:hlinkClick r:id="rId4"/>
              </a:rPr>
              <a:t> </a:t>
            </a:r>
            <a:r>
              <a:rPr sz="2400" u="heavy" spc="-3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www.ebay.com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994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  <a:hlinkClick r:id="rId5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  <a:hlinkClick r:id="rId5"/>
              </a:rPr>
              <a:t> </a:t>
            </a:r>
            <a:r>
              <a:rPr sz="2400" u="heavy" spc="-2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5"/>
              </a:rPr>
              <a:t>www.Wikipedia.org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4503" y="3505200"/>
            <a:ext cx="2639568" cy="24780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955" y="285427"/>
            <a:ext cx="3626485" cy="1012457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3760"/>
              </a:lnSpc>
              <a:spcBef>
                <a:spcPts val="295"/>
              </a:spcBef>
            </a:pPr>
            <a:r>
              <a:rPr sz="3200" b="0" spc="-5" dirty="0">
                <a:latin typeface="Trebuchet MS"/>
                <a:cs typeface="Trebuchet MS"/>
              </a:rPr>
              <a:t>WEB 2.0 </a:t>
            </a:r>
            <a:r>
              <a:rPr sz="3200" b="0" dirty="0">
                <a:latin typeface="Trebuchet MS"/>
                <a:cs typeface="Trebuchet MS"/>
              </a:rPr>
              <a:t>là </a:t>
            </a:r>
            <a:r>
              <a:rPr sz="3200" b="0" spc="-5" dirty="0">
                <a:latin typeface="Trebuchet MS"/>
                <a:cs typeface="Trebuchet MS"/>
              </a:rPr>
              <a:t>gì? </a:t>
            </a:r>
            <a:r>
              <a:rPr sz="3200" b="0" dirty="0">
                <a:latin typeface="Trebuchet MS"/>
                <a:cs typeface="Trebuchet MS"/>
              </a:rPr>
              <a:t>(tt)  </a:t>
            </a:r>
            <a:r>
              <a:rPr sz="3200" b="0" spc="-5" dirty="0">
                <a:latin typeface="Trebuchet MS"/>
                <a:cs typeface="Trebuchet MS"/>
              </a:rPr>
              <a:t>Giao </a:t>
            </a:r>
            <a:r>
              <a:rPr sz="3200" b="0" spc="-50" dirty="0">
                <a:latin typeface="Trebuchet MS"/>
                <a:cs typeface="Trebuchet MS"/>
              </a:rPr>
              <a:t>di</a:t>
            </a:r>
            <a:r>
              <a:rPr sz="3200" b="0" spc="-50" dirty="0">
                <a:latin typeface="Arial"/>
                <a:cs typeface="Arial"/>
              </a:rPr>
              <a:t>ệ</a:t>
            </a:r>
            <a:r>
              <a:rPr sz="3200" b="0" spc="-50" dirty="0">
                <a:latin typeface="Trebuchet MS"/>
                <a:cs typeface="Trebuchet MS"/>
              </a:rPr>
              <a:t>n </a:t>
            </a:r>
            <a:r>
              <a:rPr sz="3200" b="0" spc="-95" dirty="0">
                <a:latin typeface="Trebuchet MS"/>
                <a:cs typeface="Trebuchet MS"/>
              </a:rPr>
              <a:t>t</a:t>
            </a:r>
            <a:r>
              <a:rPr sz="3200" b="0" spc="-95" dirty="0">
                <a:latin typeface="Arial"/>
                <a:cs typeface="Arial"/>
              </a:rPr>
              <a:t>ươ</a:t>
            </a:r>
            <a:r>
              <a:rPr sz="3200" b="0" spc="-95" dirty="0">
                <a:latin typeface="Trebuchet MS"/>
                <a:cs typeface="Trebuchet MS"/>
              </a:rPr>
              <a:t>ng</a:t>
            </a:r>
            <a:r>
              <a:rPr sz="3200" b="0" spc="-20" dirty="0">
                <a:latin typeface="Trebuchet MS"/>
                <a:cs typeface="Trebuchet MS"/>
              </a:rPr>
              <a:t> </a:t>
            </a:r>
            <a:r>
              <a:rPr sz="3200" b="0" spc="-5" dirty="0">
                <a:latin typeface="Trebuchet MS"/>
                <a:cs typeface="Trebuchet MS"/>
              </a:rPr>
              <a:t>tác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3611" y="1433271"/>
            <a:ext cx="7317740" cy="186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Người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dùng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có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thể tùy biến ứng dụng/website</a:t>
            </a:r>
            <a:r>
              <a:rPr sz="2800" spc="-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310" dirty="0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đưa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thông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tin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nhân của mình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vào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2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Google 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my</a:t>
            </a:r>
            <a:r>
              <a:rPr sz="2400" i="1" spc="-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maps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55491" y="2663951"/>
            <a:ext cx="4003548" cy="3136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103648"/>
            <a:ext cx="4925060" cy="99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00"/>
              </a:lnSpc>
              <a:spcBef>
                <a:spcPts val="100"/>
              </a:spcBef>
            </a:pPr>
            <a:r>
              <a:rPr sz="3200" b="0" spc="-5" dirty="0">
                <a:latin typeface="Trebuchet MS"/>
                <a:cs typeface="Trebuchet MS"/>
              </a:rPr>
              <a:t>WEB 2.0 </a:t>
            </a:r>
            <a:r>
              <a:rPr sz="3200" b="0" dirty="0">
                <a:latin typeface="Trebuchet MS"/>
                <a:cs typeface="Trebuchet MS"/>
              </a:rPr>
              <a:t>là </a:t>
            </a:r>
            <a:r>
              <a:rPr sz="3200" b="0" spc="-5" dirty="0">
                <a:latin typeface="Trebuchet MS"/>
                <a:cs typeface="Trebuchet MS"/>
              </a:rPr>
              <a:t>gì?</a:t>
            </a:r>
            <a:r>
              <a:rPr sz="3200" b="0" spc="-35" dirty="0">
                <a:latin typeface="Trebuchet MS"/>
                <a:cs typeface="Trebuchet MS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ts val="3800"/>
              </a:lnSpc>
            </a:pPr>
            <a:r>
              <a:rPr sz="3200" b="0" spc="-100" dirty="0">
                <a:latin typeface="Trebuchet MS"/>
                <a:cs typeface="Trebuchet MS"/>
              </a:rPr>
              <a:t>Ph</a:t>
            </a:r>
            <a:r>
              <a:rPr sz="3200" b="0" spc="-100" dirty="0">
                <a:latin typeface="Arial"/>
                <a:cs typeface="Arial"/>
              </a:rPr>
              <a:t>ầ</a:t>
            </a:r>
            <a:r>
              <a:rPr sz="3200" b="0" spc="-100" dirty="0">
                <a:latin typeface="Trebuchet MS"/>
                <a:cs typeface="Trebuchet MS"/>
              </a:rPr>
              <a:t>n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ề</a:t>
            </a:r>
            <a:r>
              <a:rPr sz="3200" b="0" spc="-60" dirty="0">
                <a:latin typeface="Trebuchet MS"/>
                <a:cs typeface="Trebuchet MS"/>
              </a:rPr>
              <a:t>m </a:t>
            </a:r>
            <a:r>
              <a:rPr sz="3200" b="0" spc="-70" dirty="0">
                <a:latin typeface="Trebuchet MS"/>
                <a:cs typeface="Trebuchet MS"/>
              </a:rPr>
              <a:t>nh</a:t>
            </a:r>
            <a:r>
              <a:rPr sz="3200" b="0" spc="-70" dirty="0">
                <a:latin typeface="Arial"/>
                <a:cs typeface="Arial"/>
              </a:rPr>
              <a:t>ư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t </a:t>
            </a:r>
            <a:r>
              <a:rPr sz="3200" b="0" spc="5" dirty="0">
                <a:latin typeface="Trebuchet MS"/>
                <a:cs typeface="Trebuchet MS"/>
              </a:rPr>
              <a:t>d</a:t>
            </a:r>
            <a:r>
              <a:rPr sz="3200" b="0" spc="5" dirty="0">
                <a:latin typeface="Arial"/>
                <a:cs typeface="Arial"/>
              </a:rPr>
              <a:t>ị</a:t>
            </a:r>
            <a:r>
              <a:rPr sz="3200" b="0" spc="5" dirty="0">
                <a:latin typeface="Trebuchet MS"/>
                <a:cs typeface="Trebuchet MS"/>
              </a:rPr>
              <a:t>ch</a:t>
            </a:r>
            <a:r>
              <a:rPr sz="3200" b="0" spc="254" dirty="0">
                <a:latin typeface="Trebuchet MS"/>
                <a:cs typeface="Trebuchet MS"/>
              </a:rPr>
              <a:t> </a:t>
            </a:r>
            <a:r>
              <a:rPr sz="3200" b="0" spc="-50" dirty="0">
                <a:latin typeface="Trebuchet MS"/>
                <a:cs typeface="Trebuchet MS"/>
              </a:rPr>
              <a:t>v</a:t>
            </a:r>
            <a:r>
              <a:rPr sz="3200" b="0" spc="-50" dirty="0">
                <a:latin typeface="Arial"/>
                <a:cs typeface="Arial"/>
              </a:rPr>
              <a:t>ụ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3611" y="1382344"/>
            <a:ext cx="6142990" cy="327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SAAS – 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as a service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2800" spc="-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20" dirty="0">
                <a:solidFill>
                  <a:srgbClr val="404040"/>
                </a:solidFill>
                <a:latin typeface="Times New Roman"/>
                <a:cs typeface="Times New Roman"/>
              </a:rPr>
              <a:t>chương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trình chạy từ trình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duyệt, không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cài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đặt, 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miễn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phí,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lợi nhuận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thu về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từ quảng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cáo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Google</a:t>
            </a:r>
            <a:r>
              <a:rPr sz="2400" i="1" spc="-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Docs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Google</a:t>
            </a:r>
            <a:r>
              <a:rPr sz="2400" i="1" spc="-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Maps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Google</a:t>
            </a:r>
            <a:r>
              <a:rPr sz="2400" i="1" spc="-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Drive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6600" y="3093720"/>
            <a:ext cx="4940808" cy="24109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1975" y="1411224"/>
            <a:ext cx="5369052" cy="4104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6896" y="127251"/>
            <a:ext cx="3361054" cy="1012457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3760"/>
              </a:lnSpc>
              <a:spcBef>
                <a:spcPts val="295"/>
              </a:spcBef>
            </a:pPr>
            <a:r>
              <a:rPr sz="3200" b="0" spc="-5" dirty="0">
                <a:latin typeface="Trebuchet MS"/>
                <a:cs typeface="Trebuchet MS"/>
              </a:rPr>
              <a:t>WEB 2.0 </a:t>
            </a:r>
            <a:r>
              <a:rPr sz="3200" b="0" dirty="0">
                <a:latin typeface="Trebuchet MS"/>
                <a:cs typeface="Trebuchet MS"/>
              </a:rPr>
              <a:t>là </a:t>
            </a:r>
            <a:r>
              <a:rPr sz="3200" b="0" spc="-5" dirty="0">
                <a:latin typeface="Trebuchet MS"/>
                <a:cs typeface="Trebuchet MS"/>
              </a:rPr>
              <a:t>gì? </a:t>
            </a:r>
            <a:r>
              <a:rPr sz="3200" b="0" dirty="0">
                <a:latin typeface="Trebuchet MS"/>
                <a:cs typeface="Trebuchet MS"/>
              </a:rPr>
              <a:t>(tt)  </a:t>
            </a:r>
            <a:r>
              <a:rPr sz="3200" b="0" spc="-80" dirty="0">
                <a:latin typeface="Trebuchet MS"/>
                <a:cs typeface="Trebuchet MS"/>
              </a:rPr>
              <a:t>Ti</a:t>
            </a:r>
            <a:r>
              <a:rPr sz="3200" b="0" spc="-80" dirty="0">
                <a:latin typeface="Arial"/>
                <a:cs typeface="Arial"/>
              </a:rPr>
              <a:t>ế</a:t>
            </a:r>
            <a:r>
              <a:rPr sz="3200" b="0" spc="-80" dirty="0">
                <a:latin typeface="Trebuchet MS"/>
                <a:cs typeface="Trebuchet MS"/>
              </a:rPr>
              <a:t>p </a:t>
            </a:r>
            <a:r>
              <a:rPr sz="3200" b="0" spc="10" dirty="0">
                <a:latin typeface="Trebuchet MS"/>
                <a:cs typeface="Trebuchet MS"/>
              </a:rPr>
              <a:t>th</a:t>
            </a:r>
            <a:r>
              <a:rPr sz="3200" b="0" spc="10" dirty="0">
                <a:latin typeface="Arial"/>
                <a:cs typeface="Arial"/>
              </a:rPr>
              <a:t>ị </a:t>
            </a:r>
            <a:r>
              <a:rPr sz="3200" b="0" dirty="0">
                <a:latin typeface="Trebuchet MS"/>
                <a:cs typeface="Trebuchet MS"/>
              </a:rPr>
              <a:t>lan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truy</a:t>
            </a:r>
            <a:r>
              <a:rPr sz="3200" b="0" spc="-30" dirty="0">
                <a:latin typeface="Arial"/>
                <a:cs typeface="Arial"/>
              </a:rPr>
              <a:t>ề</a:t>
            </a:r>
            <a:r>
              <a:rPr sz="3200" b="0" spc="-30" dirty="0">
                <a:latin typeface="Trebuchet MS"/>
                <a:cs typeface="Trebuchet MS"/>
              </a:rPr>
              <a:t>n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0541" y="140283"/>
            <a:ext cx="6111240" cy="101219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20"/>
              </a:spcBef>
            </a:pPr>
            <a:r>
              <a:rPr sz="3200" b="0" spc="-5" dirty="0">
                <a:latin typeface="Trebuchet MS"/>
                <a:cs typeface="Trebuchet MS"/>
              </a:rPr>
              <a:t>Doanh </a:t>
            </a:r>
            <a:r>
              <a:rPr sz="3200" b="0" spc="-35" dirty="0">
                <a:latin typeface="Trebuchet MS"/>
                <a:cs typeface="Trebuchet MS"/>
              </a:rPr>
              <a:t>nghi</a:t>
            </a:r>
            <a:r>
              <a:rPr sz="3200" b="0" spc="-35" dirty="0">
                <a:latin typeface="Arial"/>
                <a:cs typeface="Arial"/>
              </a:rPr>
              <a:t>ệ</a:t>
            </a:r>
            <a:r>
              <a:rPr sz="3200" b="0" spc="-35" dirty="0">
                <a:latin typeface="Trebuchet MS"/>
                <a:cs typeface="Trebuchet MS"/>
              </a:rPr>
              <a:t>p </a:t>
            </a:r>
            <a:r>
              <a:rPr sz="3200" b="0" spc="-5" dirty="0">
                <a:latin typeface="Trebuchet MS"/>
                <a:cs typeface="Trebuchet MS"/>
              </a:rPr>
              <a:t>có </a:t>
            </a:r>
            <a:r>
              <a:rPr sz="3200" b="0" spc="-85" dirty="0">
                <a:latin typeface="Trebuchet MS"/>
                <a:cs typeface="Trebuchet MS"/>
              </a:rPr>
              <a:t>l</a:t>
            </a:r>
            <a:r>
              <a:rPr sz="3200" b="0" spc="-85" dirty="0">
                <a:latin typeface="Arial"/>
                <a:cs typeface="Arial"/>
              </a:rPr>
              <a:t>ợ</a:t>
            </a:r>
            <a:r>
              <a:rPr sz="3200" b="0" spc="-85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ích </a:t>
            </a:r>
            <a:r>
              <a:rPr sz="3200" b="0" dirty="0">
                <a:latin typeface="Trebuchet MS"/>
                <a:cs typeface="Trebuchet MS"/>
              </a:rPr>
              <a:t>gì </a:t>
            </a:r>
            <a:r>
              <a:rPr sz="3200" b="0" spc="-105" dirty="0">
                <a:latin typeface="Trebuchet MS"/>
                <a:cs typeface="Trebuchet MS"/>
              </a:rPr>
              <a:t>t</a:t>
            </a:r>
            <a:r>
              <a:rPr sz="3200" b="0" spc="-105" dirty="0">
                <a:latin typeface="Arial"/>
                <a:cs typeface="Arial"/>
              </a:rPr>
              <a:t>ừ </a:t>
            </a:r>
            <a:r>
              <a:rPr sz="3200" b="0" dirty="0">
                <a:latin typeface="Trebuchet MS"/>
                <a:cs typeface="Trebuchet MS"/>
              </a:rPr>
              <a:t>web  </a:t>
            </a:r>
            <a:r>
              <a:rPr sz="3200" b="0" spc="-5" dirty="0">
                <a:latin typeface="Trebuchet MS"/>
                <a:cs typeface="Trebuchet MS"/>
              </a:rPr>
              <a:t>2.0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152473"/>
            <a:ext cx="5162550" cy="159067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Tìm hiểu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về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những thuật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ngữ</a:t>
            </a:r>
            <a:r>
              <a:rPr sz="2800" spc="-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04" dirty="0">
                <a:solidFill>
                  <a:srgbClr val="404040"/>
                </a:solidFill>
                <a:latin typeface="Times New Roman"/>
                <a:cs typeface="Times New Roman"/>
              </a:rPr>
              <a:t>mới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Advertising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</a:t>
            </a:r>
            <a:r>
              <a:rPr sz="1900" spc="30" dirty="0">
                <a:solidFill>
                  <a:srgbClr val="5FCAEE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Mashups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26276"/>
            <a:ext cx="599694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0" spc="-20" dirty="0">
                <a:latin typeface="Trebuchet MS"/>
                <a:cs typeface="Trebuchet MS"/>
              </a:rPr>
              <a:t>Ngu</a:t>
            </a:r>
            <a:r>
              <a:rPr sz="3200" b="0" spc="-20" dirty="0">
                <a:latin typeface="Arial"/>
                <a:cs typeface="Arial"/>
              </a:rPr>
              <a:t>ồ</a:t>
            </a:r>
            <a:r>
              <a:rPr sz="3200" b="0" spc="-20" dirty="0">
                <a:latin typeface="Trebuchet MS"/>
                <a:cs typeface="Trebuchet MS"/>
              </a:rPr>
              <a:t>n </a:t>
            </a:r>
            <a:r>
              <a:rPr sz="3200" b="0" spc="-30" dirty="0">
                <a:latin typeface="Trebuchet MS"/>
                <a:cs typeface="Trebuchet MS"/>
              </a:rPr>
              <a:t>v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n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dirty="0">
                <a:latin typeface="Trebuchet MS"/>
                <a:cs typeface="Trebuchet MS"/>
              </a:rPr>
              <a:t>– </a:t>
            </a:r>
            <a:r>
              <a:rPr sz="3200" b="0" spc="-5" dirty="0">
                <a:latin typeface="Trebuchet MS"/>
                <a:cs typeface="Trebuchet MS"/>
              </a:rPr>
              <a:t>Social Capital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298078"/>
            <a:ext cx="5521325" cy="257492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Nguồn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vốn xã hội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đem lại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giá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trị</a:t>
            </a:r>
            <a:r>
              <a:rPr sz="2800" spc="-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90" dirty="0">
                <a:solidFill>
                  <a:srgbClr val="404040"/>
                </a:solidFill>
                <a:latin typeface="Times New Roman"/>
                <a:cs typeface="Times New Roman"/>
              </a:rPr>
              <a:t>gì?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Thông</a:t>
            </a:r>
            <a:r>
              <a:rPr sz="2400" spc="-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tin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ảnh</a:t>
            </a:r>
            <a:r>
              <a:rPr sz="2400" spc="-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hưởng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bảo chứng – social</a:t>
            </a:r>
            <a:r>
              <a:rPr sz="2400" spc="-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credentials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quan hệ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củng</a:t>
            </a:r>
            <a:r>
              <a:rPr sz="2400" spc="-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cố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3563" y="152400"/>
            <a:ext cx="674306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0" spc="-20" dirty="0">
                <a:latin typeface="Trebuchet MS"/>
                <a:cs typeface="Trebuchet MS"/>
              </a:rPr>
              <a:t>Ngu</a:t>
            </a:r>
            <a:r>
              <a:rPr sz="3200" b="0" spc="-20" dirty="0">
                <a:latin typeface="Arial"/>
                <a:cs typeface="Arial"/>
              </a:rPr>
              <a:t>ồ</a:t>
            </a:r>
            <a:r>
              <a:rPr sz="3200" b="0" spc="-20" dirty="0">
                <a:latin typeface="Trebuchet MS"/>
                <a:cs typeface="Trebuchet MS"/>
              </a:rPr>
              <a:t>n </a:t>
            </a:r>
            <a:r>
              <a:rPr sz="3200" b="0" spc="-30" dirty="0">
                <a:latin typeface="Trebuchet MS"/>
                <a:cs typeface="Trebuchet MS"/>
              </a:rPr>
              <a:t>v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n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dirty="0">
                <a:latin typeface="Trebuchet MS"/>
                <a:cs typeface="Trebuchet MS"/>
              </a:rPr>
              <a:t>– </a:t>
            </a:r>
            <a:r>
              <a:rPr sz="3200" b="0" spc="-5" dirty="0">
                <a:latin typeface="Trebuchet MS"/>
                <a:cs typeface="Trebuchet MS"/>
              </a:rPr>
              <a:t>Social Capital</a:t>
            </a:r>
            <a:r>
              <a:rPr sz="3200" b="0" spc="10" dirty="0">
                <a:latin typeface="Trebuchet MS"/>
                <a:cs typeface="Trebuchet MS"/>
              </a:rPr>
              <a:t> </a:t>
            </a:r>
            <a:r>
              <a:rPr sz="3200" b="0" spc="5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435354"/>
            <a:ext cx="6382385" cy="2359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Giá trị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nguồn vốn xã hội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đem lại được</a:t>
            </a:r>
            <a:r>
              <a:rPr sz="2800" spc="-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29" dirty="0">
                <a:solidFill>
                  <a:srgbClr val="404040"/>
                </a:solidFill>
                <a:latin typeface="Times New Roman"/>
                <a:cs typeface="Times New Roman"/>
              </a:rPr>
              <a:t>xác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định bởi: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Số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lượng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quan</a:t>
            </a:r>
            <a:r>
              <a:rPr sz="2400" spc="-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hệ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Mức độ của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quan</a:t>
            </a:r>
            <a:r>
              <a:rPr sz="2400" spc="-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hệ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Lợi ích của các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quan</a:t>
            </a:r>
            <a:r>
              <a:rPr sz="2400" spc="-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hệ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76200"/>
            <a:ext cx="522922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55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dirty="0">
                <a:latin typeface="Trebuchet MS"/>
                <a:cs typeface="Trebuchet MS"/>
              </a:rPr>
              <a:t>và </a:t>
            </a:r>
            <a:r>
              <a:rPr sz="3200" b="0" spc="-5" dirty="0">
                <a:latin typeface="Trebuchet MS"/>
                <a:cs typeface="Trebuchet MS"/>
              </a:rPr>
              <a:t>doanh</a:t>
            </a:r>
            <a:r>
              <a:rPr sz="3200" b="0" spc="45" dirty="0">
                <a:latin typeface="Trebuchet MS"/>
                <a:cs typeface="Trebuchet MS"/>
              </a:rPr>
              <a:t> </a:t>
            </a:r>
            <a:r>
              <a:rPr sz="3200" b="0" spc="-35" dirty="0">
                <a:latin typeface="Trebuchet MS"/>
                <a:cs typeface="Trebuchet MS"/>
              </a:rPr>
              <a:t>nghi</a:t>
            </a:r>
            <a:r>
              <a:rPr sz="3200" b="0" spc="-35" dirty="0">
                <a:latin typeface="Arial"/>
                <a:cs typeface="Arial"/>
              </a:rPr>
              <a:t>ệ</a:t>
            </a:r>
            <a:r>
              <a:rPr sz="3200" b="0" spc="-35" dirty="0">
                <a:latin typeface="Trebuchet MS"/>
                <a:cs typeface="Trebuchet MS"/>
              </a:rPr>
              <a:t>p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447927"/>
            <a:ext cx="6687820" cy="228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87884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Hoạt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động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doanh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nghiệp cũng</a:t>
            </a:r>
            <a:r>
              <a:rPr sz="2800" spc="-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29" dirty="0">
                <a:solidFill>
                  <a:srgbClr val="404040"/>
                </a:solidFill>
                <a:latin typeface="Times New Roman"/>
                <a:cs typeface="Times New Roman"/>
              </a:rPr>
              <a:t>cần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nguồn vốn xã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hội.</a:t>
            </a:r>
            <a:endParaRPr sz="28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101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Ngày nay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tổ chức thường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duy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trì sự</a:t>
            </a:r>
            <a:r>
              <a:rPr sz="2800" spc="-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70" dirty="0">
                <a:solidFill>
                  <a:srgbClr val="404040"/>
                </a:solidFill>
                <a:latin typeface="Times New Roman"/>
                <a:cs typeface="Times New Roman"/>
              </a:rPr>
              <a:t>hiện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diện trên Facebook, LinkedIn, 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Twitter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như 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một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kênh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quảng</a:t>
            </a:r>
            <a:r>
              <a:rPr sz="2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bá.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8573" y="212224"/>
            <a:ext cx="60756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các 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</a:t>
            </a:r>
            <a:r>
              <a:rPr sz="3200" b="0" spc="15" dirty="0">
                <a:latin typeface="Trebuchet MS"/>
                <a:cs typeface="Trebuchet MS"/>
              </a:rPr>
              <a:t>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99288" y="1740407"/>
            <a:ext cx="7534656" cy="4300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6122" y="5020436"/>
            <a:ext cx="210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Không có mạng xã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hội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4246" y="222583"/>
            <a:ext cx="60756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các 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r>
              <a:rPr sz="3200" b="0" spc="85" dirty="0">
                <a:latin typeface="Arial"/>
                <a:cs typeface="Arial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1200" y="1748949"/>
            <a:ext cx="5571616" cy="4454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3444" y="5126863"/>
            <a:ext cx="1478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Có mạng </a:t>
            </a:r>
            <a:r>
              <a:rPr sz="1800" dirty="0">
                <a:latin typeface="Times New Roman"/>
                <a:cs typeface="Times New Roman"/>
              </a:rPr>
              <a:t>xã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hội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4246" y="76200"/>
            <a:ext cx="60756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các 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r>
              <a:rPr sz="3200" b="0" spc="85" dirty="0">
                <a:latin typeface="Arial"/>
                <a:cs typeface="Arial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2960" y="1798320"/>
            <a:ext cx="6568440" cy="4450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1044" y="5221604"/>
            <a:ext cx="996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Viral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hook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175" y="1780032"/>
            <a:ext cx="7965948" cy="4626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1546" y="152400"/>
            <a:ext cx="607568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các 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r>
              <a:rPr sz="3200" b="0" spc="85" dirty="0">
                <a:latin typeface="Arial"/>
                <a:cs typeface="Arial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153541"/>
            <a:ext cx="607123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</a:t>
            </a:r>
            <a:r>
              <a:rPr sz="3200" b="0" spc="-70" dirty="0">
                <a:latin typeface="Trebuchet MS"/>
                <a:cs typeface="Trebuchet MS"/>
              </a:rPr>
              <a:t>s</a:t>
            </a:r>
            <a:r>
              <a:rPr sz="3200" b="0" spc="-70" dirty="0">
                <a:latin typeface="Arial"/>
                <a:cs typeface="Arial"/>
              </a:rPr>
              <a:t>ứ</a:t>
            </a:r>
            <a:r>
              <a:rPr sz="3200" b="0" spc="-70" dirty="0">
                <a:latin typeface="Trebuchet MS"/>
                <a:cs typeface="Trebuchet MS"/>
              </a:rPr>
              <a:t>c 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nh </a:t>
            </a:r>
            <a:r>
              <a:rPr sz="3200" b="0" spc="-35" dirty="0">
                <a:latin typeface="Trebuchet MS"/>
                <a:cs typeface="Trebuchet MS"/>
              </a:rPr>
              <a:t>c</a:t>
            </a:r>
            <a:r>
              <a:rPr sz="3200" b="0" spc="-35" dirty="0">
                <a:latin typeface="Arial"/>
                <a:cs typeface="Arial"/>
              </a:rPr>
              <a:t>ủ</a:t>
            </a:r>
            <a:r>
              <a:rPr sz="3200" b="0" spc="-35" dirty="0">
                <a:latin typeface="Trebuchet MS"/>
                <a:cs typeface="Trebuchet MS"/>
              </a:rPr>
              <a:t>a </a:t>
            </a:r>
            <a:r>
              <a:rPr sz="3200" b="0" spc="-5" dirty="0">
                <a:latin typeface="Trebuchet MS"/>
                <a:cs typeface="Trebuchet MS"/>
              </a:rPr>
              <a:t>các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</a:t>
            </a:r>
            <a:r>
              <a:rPr sz="3200" b="0" spc="114" dirty="0">
                <a:latin typeface="Trebuchet MS"/>
                <a:cs typeface="Trebuchet MS"/>
              </a:rPr>
              <a:t>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3611" y="1813051"/>
            <a:ext cx="6654165" cy="2713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2069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Sức mạnh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mối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quan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- strength</a:t>
            </a:r>
            <a:r>
              <a:rPr sz="2800" spc="-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325" dirty="0">
                <a:solidFill>
                  <a:srgbClr val="404040"/>
                </a:solidFill>
                <a:latin typeface="Times New Roman"/>
                <a:cs typeface="Times New Roman"/>
              </a:rPr>
              <a:t>of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relationship-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hiểu thực thể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trong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quan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(tổ chức hoặc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nhân)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có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khả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năng  đem lại lợi ích cho doanh</a:t>
            </a:r>
            <a:r>
              <a:rPr sz="2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nghiệp</a:t>
            </a:r>
            <a:endParaRPr sz="28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101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Mua sản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phẩm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– viết bài đánh giá tích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cực</a:t>
            </a:r>
            <a:r>
              <a:rPr sz="2800" spc="-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655" dirty="0">
                <a:solidFill>
                  <a:srgbClr val="404040"/>
                </a:solidFill>
                <a:latin typeface="Times New Roman"/>
                <a:cs typeface="Times New Roman"/>
              </a:rPr>
              <a:t>–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post hình ảnh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về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việc sử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dụng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sản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phẩm</a:t>
            </a:r>
            <a:r>
              <a:rPr sz="2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…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768" y="79914"/>
            <a:ext cx="607123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25" dirty="0">
                <a:latin typeface="Trebuchet MS"/>
                <a:cs typeface="Trebuchet MS"/>
              </a:rPr>
              <a:t>d</a:t>
            </a:r>
            <a:r>
              <a:rPr sz="3200" b="0" spc="-25" dirty="0">
                <a:latin typeface="Arial"/>
                <a:cs typeface="Arial"/>
              </a:rPr>
              <a:t>ụ</a:t>
            </a:r>
            <a:r>
              <a:rPr sz="3200" b="0" spc="-25" dirty="0">
                <a:latin typeface="Trebuchet MS"/>
                <a:cs typeface="Trebuchet MS"/>
              </a:rPr>
              <a:t>ng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gia tăng </a:t>
            </a:r>
            <a:r>
              <a:rPr sz="3200" b="0" spc="-70" dirty="0">
                <a:latin typeface="Trebuchet MS"/>
                <a:cs typeface="Trebuchet MS"/>
              </a:rPr>
              <a:t>s</a:t>
            </a:r>
            <a:r>
              <a:rPr sz="3200" b="0" spc="-70" dirty="0">
                <a:latin typeface="Arial"/>
                <a:cs typeface="Arial"/>
              </a:rPr>
              <a:t>ứ</a:t>
            </a:r>
            <a:r>
              <a:rPr sz="3200" b="0" spc="-70" dirty="0">
                <a:latin typeface="Trebuchet MS"/>
                <a:cs typeface="Trebuchet MS"/>
              </a:rPr>
              <a:t>c  </a:t>
            </a:r>
            <a:r>
              <a:rPr sz="3200" b="0" spc="-60" dirty="0">
                <a:latin typeface="Trebuchet MS"/>
                <a:cs typeface="Trebuchet MS"/>
              </a:rPr>
              <a:t>m</a:t>
            </a:r>
            <a:r>
              <a:rPr sz="3200" b="0" spc="-60" dirty="0">
                <a:latin typeface="Arial"/>
                <a:cs typeface="Arial"/>
              </a:rPr>
              <a:t>ạ</a:t>
            </a:r>
            <a:r>
              <a:rPr sz="3200" b="0" spc="-60" dirty="0">
                <a:latin typeface="Trebuchet MS"/>
                <a:cs typeface="Trebuchet MS"/>
              </a:rPr>
              <a:t>nh </a:t>
            </a:r>
            <a:r>
              <a:rPr sz="3200" b="0" spc="-35" dirty="0">
                <a:latin typeface="Trebuchet MS"/>
                <a:cs typeface="Trebuchet MS"/>
              </a:rPr>
              <a:t>c</a:t>
            </a:r>
            <a:r>
              <a:rPr sz="3200" b="0" spc="-35" dirty="0">
                <a:latin typeface="Arial"/>
                <a:cs typeface="Arial"/>
              </a:rPr>
              <a:t>ủ</a:t>
            </a:r>
            <a:r>
              <a:rPr sz="3200" b="0" spc="-35" dirty="0">
                <a:latin typeface="Trebuchet MS"/>
                <a:cs typeface="Trebuchet MS"/>
              </a:rPr>
              <a:t>a </a:t>
            </a:r>
            <a:r>
              <a:rPr sz="3200" b="0" spc="-5" dirty="0">
                <a:latin typeface="Trebuchet MS"/>
                <a:cs typeface="Trebuchet MS"/>
              </a:rPr>
              <a:t>các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r>
              <a:rPr sz="3200" b="0" spc="175" dirty="0">
                <a:latin typeface="Arial"/>
                <a:cs typeface="Arial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(tt)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3611" y="1675141"/>
            <a:ext cx="6301740" cy="355409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Giá trị của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nguồn vốn xã</a:t>
            </a:r>
            <a:r>
              <a:rPr sz="2800" spc="-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hội: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Thông</a:t>
            </a:r>
            <a:r>
              <a:rPr sz="2400" spc="-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tin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ảnh</a:t>
            </a:r>
            <a:r>
              <a:rPr sz="2400" spc="-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hưởng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bảo</a:t>
            </a:r>
            <a:r>
              <a:rPr sz="2400" spc="-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chứng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35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quan hệ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được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củng</a:t>
            </a:r>
            <a:r>
              <a:rPr sz="2400" spc="-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cố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99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Tăng cường những yếu tố này </a:t>
            </a:r>
            <a:r>
              <a:rPr sz="2800" spc="-5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gia</a:t>
            </a:r>
            <a:r>
              <a:rPr sz="2800" spc="-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70" dirty="0">
                <a:solidFill>
                  <a:srgbClr val="404040"/>
                </a:solidFill>
                <a:latin typeface="Times New Roman"/>
                <a:cs typeface="Times New Roman"/>
              </a:rPr>
              <a:t>tăng 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sức mạnh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các mối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quan</a:t>
            </a:r>
            <a:r>
              <a:rPr sz="2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6023" y="104589"/>
            <a:ext cx="604774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latin typeface="Trebuchet MS"/>
                <a:cs typeface="Trebuchet MS"/>
              </a:rPr>
              <a:t>M</a:t>
            </a:r>
            <a:r>
              <a:rPr sz="3200" b="0" spc="-65" dirty="0">
                <a:latin typeface="Arial"/>
                <a:cs typeface="Arial"/>
              </a:rPr>
              <a:t>ạ</a:t>
            </a:r>
            <a:r>
              <a:rPr sz="3200" b="0" spc="-65" dirty="0">
                <a:latin typeface="Trebuchet MS"/>
                <a:cs typeface="Trebuchet MS"/>
              </a:rPr>
              <a:t>ng </a:t>
            </a:r>
            <a:r>
              <a:rPr sz="3200" b="0" dirty="0">
                <a:latin typeface="Trebuchet MS"/>
                <a:cs typeface="Trebuchet MS"/>
              </a:rPr>
              <a:t>xã</a:t>
            </a:r>
            <a:r>
              <a:rPr sz="3200" b="0" spc="60" dirty="0">
                <a:latin typeface="Trebuchet MS"/>
                <a:cs typeface="Trebuchet MS"/>
              </a:rPr>
              <a:t> </a:t>
            </a:r>
            <a:r>
              <a:rPr sz="3200" b="0" spc="-30" dirty="0">
                <a:latin typeface="Trebuchet MS"/>
                <a:cs typeface="Trebuchet MS"/>
              </a:rPr>
              <a:t>h</a:t>
            </a:r>
            <a:r>
              <a:rPr sz="3200" b="0" spc="-30" dirty="0">
                <a:latin typeface="Arial"/>
                <a:cs typeface="Arial"/>
              </a:rPr>
              <a:t>ộ</a:t>
            </a:r>
            <a:r>
              <a:rPr sz="3200" b="0" spc="-30" dirty="0">
                <a:latin typeface="Trebuchet MS"/>
                <a:cs typeface="Trebuchet MS"/>
              </a:rPr>
              <a:t>i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0" spc="-110" dirty="0">
                <a:latin typeface="Trebuchet MS"/>
                <a:cs typeface="Trebuchet MS"/>
              </a:rPr>
              <a:t>S</a:t>
            </a:r>
            <a:r>
              <a:rPr sz="3200" b="0" spc="-110" dirty="0">
                <a:latin typeface="Arial"/>
                <a:cs typeface="Arial"/>
              </a:rPr>
              <a:t>ử </a:t>
            </a:r>
            <a:r>
              <a:rPr sz="3200" b="0" spc="-60" dirty="0">
                <a:latin typeface="Trebuchet MS"/>
                <a:cs typeface="Trebuchet MS"/>
              </a:rPr>
              <a:t>kh</a:t>
            </a:r>
            <a:r>
              <a:rPr sz="3200" b="0" spc="-60" dirty="0">
                <a:latin typeface="Arial"/>
                <a:cs typeface="Arial"/>
              </a:rPr>
              <a:t>ấ</a:t>
            </a:r>
            <a:r>
              <a:rPr sz="3200" b="0" spc="-60" dirty="0">
                <a:latin typeface="Trebuchet MS"/>
                <a:cs typeface="Trebuchet MS"/>
              </a:rPr>
              <a:t>u </a:t>
            </a:r>
            <a:r>
              <a:rPr sz="3200" b="0" dirty="0">
                <a:latin typeface="Trebuchet MS"/>
                <a:cs typeface="Trebuchet MS"/>
              </a:rPr>
              <a:t>hao </a:t>
            </a:r>
            <a:r>
              <a:rPr sz="3200" b="0" spc="-35" dirty="0">
                <a:latin typeface="Trebuchet MS"/>
                <a:cs typeface="Trebuchet MS"/>
              </a:rPr>
              <a:t>c</a:t>
            </a:r>
            <a:r>
              <a:rPr sz="3200" b="0" spc="-35" dirty="0">
                <a:latin typeface="Arial"/>
                <a:cs typeface="Arial"/>
              </a:rPr>
              <a:t>ủ</a:t>
            </a:r>
            <a:r>
              <a:rPr sz="3200" b="0" spc="-35" dirty="0">
                <a:latin typeface="Trebuchet MS"/>
                <a:cs typeface="Trebuchet MS"/>
              </a:rPr>
              <a:t>a </a:t>
            </a:r>
            <a:r>
              <a:rPr sz="3200" b="0" spc="-5" dirty="0">
                <a:latin typeface="Trebuchet MS"/>
                <a:cs typeface="Trebuchet MS"/>
              </a:rPr>
              <a:t>các </a:t>
            </a:r>
            <a:r>
              <a:rPr sz="3200" b="0" spc="-30" dirty="0">
                <a:latin typeface="Trebuchet MS"/>
                <a:cs typeface="Trebuchet MS"/>
              </a:rPr>
              <a:t>m</a:t>
            </a:r>
            <a:r>
              <a:rPr sz="3200" b="0" spc="-30" dirty="0">
                <a:latin typeface="Arial"/>
                <a:cs typeface="Arial"/>
              </a:rPr>
              <a:t>ố</a:t>
            </a:r>
            <a:r>
              <a:rPr sz="3200" b="0" spc="-30" dirty="0">
                <a:latin typeface="Trebuchet MS"/>
                <a:cs typeface="Trebuchet MS"/>
              </a:rPr>
              <a:t>i </a:t>
            </a:r>
            <a:r>
              <a:rPr sz="3200" b="0" spc="-5" dirty="0">
                <a:latin typeface="Trebuchet MS"/>
                <a:cs typeface="Trebuchet MS"/>
              </a:rPr>
              <a:t>quan</a:t>
            </a:r>
            <a:r>
              <a:rPr sz="3200" b="0" spc="254" dirty="0">
                <a:latin typeface="Trebuchet MS"/>
                <a:cs typeface="Trebuchet MS"/>
              </a:rPr>
              <a:t> </a:t>
            </a:r>
            <a:r>
              <a:rPr sz="3200" b="0" spc="-95" dirty="0">
                <a:latin typeface="Trebuchet MS"/>
                <a:cs typeface="Trebuchet MS"/>
              </a:rPr>
              <a:t>h</a:t>
            </a:r>
            <a:r>
              <a:rPr sz="3200" b="0" spc="-95" dirty="0">
                <a:latin typeface="Arial"/>
                <a:cs typeface="Arial"/>
              </a:rPr>
              <a:t>ệ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3611" y="1447927"/>
            <a:ext cx="6511290" cy="394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01600" indent="-342900">
              <a:lnSpc>
                <a:spcPct val="100000"/>
              </a:lnSpc>
              <a:spcBef>
                <a:spcPts val="9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quan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trên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mạng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xã hội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cũng là</a:t>
            </a:r>
            <a:r>
              <a:rPr sz="2800" spc="-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29" dirty="0">
                <a:solidFill>
                  <a:srgbClr val="404040"/>
                </a:solidFill>
                <a:latin typeface="Times New Roman"/>
                <a:cs typeface="Times New Roman"/>
              </a:rPr>
              <a:t>một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tài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sản có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khấu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hao.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354965" marR="31750" indent="-342900">
              <a:lnSpc>
                <a:spcPct val="100000"/>
              </a:lnSpc>
              <a:spcBef>
                <a:spcPts val="1800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quan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chỉ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có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giá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trị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khi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hai bên</a:t>
            </a:r>
            <a:r>
              <a:rPr sz="2800" spc="-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70" dirty="0">
                <a:solidFill>
                  <a:srgbClr val="404040"/>
                </a:solidFill>
                <a:latin typeface="Times New Roman"/>
                <a:cs typeface="Times New Roman"/>
              </a:rPr>
              <a:t>cùng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tìm thấy lợi ích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trong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mối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quan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hệ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đó.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1805"/>
              </a:spcBef>
            </a:pPr>
            <a:r>
              <a:rPr sz="2250" spc="380" dirty="0">
                <a:solidFill>
                  <a:srgbClr val="5FCAEE"/>
                </a:solidFill>
                <a:latin typeface="Arial"/>
                <a:cs typeface="Arial"/>
              </a:rPr>
              <a:t> </a:t>
            </a:r>
            <a:r>
              <a:rPr sz="2800" spc="-5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 thực hiện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những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hành động duy trì</a:t>
            </a:r>
            <a:r>
              <a:rPr sz="2800" spc="-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60" dirty="0">
                <a:solidFill>
                  <a:srgbClr val="404040"/>
                </a:solidFill>
                <a:latin typeface="Times New Roman"/>
                <a:cs typeface="Times New Roman"/>
              </a:rPr>
              <a:t>quan 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hệ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(khuyến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mãi,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giảm giá, ưu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đãi…)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83" y="0"/>
            <a:ext cx="9124950" cy="6867525"/>
            <a:chOff x="24383" y="0"/>
            <a:chExt cx="9124950" cy="6867525"/>
          </a:xfrm>
        </p:grpSpPr>
        <p:sp>
          <p:nvSpPr>
            <p:cNvPr id="3" name="object 3"/>
            <p:cNvSpPr/>
            <p:nvPr/>
          </p:nvSpPr>
          <p:spPr>
            <a:xfrm>
              <a:off x="610361" y="906017"/>
              <a:ext cx="7564120" cy="1496695"/>
            </a:xfrm>
            <a:custGeom>
              <a:avLst/>
              <a:gdLst/>
              <a:ahLst/>
              <a:cxnLst/>
              <a:rect l="l" t="t" r="r" b="b"/>
              <a:pathLst>
                <a:path w="7564120" h="1496695">
                  <a:moveTo>
                    <a:pt x="7314184" y="0"/>
                  </a:moveTo>
                  <a:lnTo>
                    <a:pt x="249428" y="0"/>
                  </a:lnTo>
                  <a:lnTo>
                    <a:pt x="204592" y="4017"/>
                  </a:lnTo>
                  <a:lnTo>
                    <a:pt x="162393" y="15600"/>
                  </a:lnTo>
                  <a:lnTo>
                    <a:pt x="123536" y="34045"/>
                  </a:lnTo>
                  <a:lnTo>
                    <a:pt x="88724" y="58649"/>
                  </a:lnTo>
                  <a:lnTo>
                    <a:pt x="58661" y="88708"/>
                  </a:lnTo>
                  <a:lnTo>
                    <a:pt x="34053" y="123519"/>
                  </a:lnTo>
                  <a:lnTo>
                    <a:pt x="15604" y="162378"/>
                  </a:lnTo>
                  <a:lnTo>
                    <a:pt x="4018" y="204582"/>
                  </a:lnTo>
                  <a:lnTo>
                    <a:pt x="0" y="249428"/>
                  </a:lnTo>
                  <a:lnTo>
                    <a:pt x="0" y="1247140"/>
                  </a:lnTo>
                  <a:lnTo>
                    <a:pt x="4018" y="1291985"/>
                  </a:lnTo>
                  <a:lnTo>
                    <a:pt x="15604" y="1334189"/>
                  </a:lnTo>
                  <a:lnTo>
                    <a:pt x="34053" y="1373048"/>
                  </a:lnTo>
                  <a:lnTo>
                    <a:pt x="58661" y="1407859"/>
                  </a:lnTo>
                  <a:lnTo>
                    <a:pt x="88724" y="1437918"/>
                  </a:lnTo>
                  <a:lnTo>
                    <a:pt x="123536" y="1462522"/>
                  </a:lnTo>
                  <a:lnTo>
                    <a:pt x="162393" y="1480967"/>
                  </a:lnTo>
                  <a:lnTo>
                    <a:pt x="204592" y="1492550"/>
                  </a:lnTo>
                  <a:lnTo>
                    <a:pt x="249428" y="1496568"/>
                  </a:lnTo>
                  <a:lnTo>
                    <a:pt x="7314184" y="1496568"/>
                  </a:lnTo>
                  <a:lnTo>
                    <a:pt x="7359029" y="1492550"/>
                  </a:lnTo>
                  <a:lnTo>
                    <a:pt x="7401233" y="1480967"/>
                  </a:lnTo>
                  <a:lnTo>
                    <a:pt x="7440092" y="1462522"/>
                  </a:lnTo>
                  <a:lnTo>
                    <a:pt x="7474903" y="1437918"/>
                  </a:lnTo>
                  <a:lnTo>
                    <a:pt x="7504962" y="1407859"/>
                  </a:lnTo>
                  <a:lnTo>
                    <a:pt x="7529566" y="1373048"/>
                  </a:lnTo>
                  <a:lnTo>
                    <a:pt x="7548011" y="1334189"/>
                  </a:lnTo>
                  <a:lnTo>
                    <a:pt x="7559594" y="1291985"/>
                  </a:lnTo>
                  <a:lnTo>
                    <a:pt x="7563611" y="1247140"/>
                  </a:lnTo>
                  <a:lnTo>
                    <a:pt x="7563611" y="249428"/>
                  </a:lnTo>
                  <a:lnTo>
                    <a:pt x="7559594" y="204582"/>
                  </a:lnTo>
                  <a:lnTo>
                    <a:pt x="7548011" y="162378"/>
                  </a:lnTo>
                  <a:lnTo>
                    <a:pt x="7529566" y="123519"/>
                  </a:lnTo>
                  <a:lnTo>
                    <a:pt x="7504962" y="88708"/>
                  </a:lnTo>
                  <a:lnTo>
                    <a:pt x="7474903" y="58649"/>
                  </a:lnTo>
                  <a:lnTo>
                    <a:pt x="7440092" y="34045"/>
                  </a:lnTo>
                  <a:lnTo>
                    <a:pt x="7401233" y="15600"/>
                  </a:lnTo>
                  <a:lnTo>
                    <a:pt x="7359029" y="4017"/>
                  </a:lnTo>
                  <a:lnTo>
                    <a:pt x="7314184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361" y="906017"/>
              <a:ext cx="7564120" cy="1496695"/>
            </a:xfrm>
            <a:custGeom>
              <a:avLst/>
              <a:gdLst/>
              <a:ahLst/>
              <a:cxnLst/>
              <a:rect l="l" t="t" r="r" b="b"/>
              <a:pathLst>
                <a:path w="7564120" h="1496695">
                  <a:moveTo>
                    <a:pt x="0" y="249428"/>
                  </a:moveTo>
                  <a:lnTo>
                    <a:pt x="4018" y="204582"/>
                  </a:lnTo>
                  <a:lnTo>
                    <a:pt x="15604" y="162378"/>
                  </a:lnTo>
                  <a:lnTo>
                    <a:pt x="34053" y="123519"/>
                  </a:lnTo>
                  <a:lnTo>
                    <a:pt x="58661" y="88708"/>
                  </a:lnTo>
                  <a:lnTo>
                    <a:pt x="88724" y="58649"/>
                  </a:lnTo>
                  <a:lnTo>
                    <a:pt x="123536" y="34045"/>
                  </a:lnTo>
                  <a:lnTo>
                    <a:pt x="162393" y="15600"/>
                  </a:lnTo>
                  <a:lnTo>
                    <a:pt x="204592" y="4017"/>
                  </a:lnTo>
                  <a:lnTo>
                    <a:pt x="249428" y="0"/>
                  </a:lnTo>
                  <a:lnTo>
                    <a:pt x="7314184" y="0"/>
                  </a:lnTo>
                  <a:lnTo>
                    <a:pt x="7359029" y="4017"/>
                  </a:lnTo>
                  <a:lnTo>
                    <a:pt x="7401233" y="15600"/>
                  </a:lnTo>
                  <a:lnTo>
                    <a:pt x="7440092" y="34045"/>
                  </a:lnTo>
                  <a:lnTo>
                    <a:pt x="7474903" y="58649"/>
                  </a:lnTo>
                  <a:lnTo>
                    <a:pt x="7504962" y="88708"/>
                  </a:lnTo>
                  <a:lnTo>
                    <a:pt x="7529566" y="123519"/>
                  </a:lnTo>
                  <a:lnTo>
                    <a:pt x="7548011" y="162378"/>
                  </a:lnTo>
                  <a:lnTo>
                    <a:pt x="7559594" y="204582"/>
                  </a:lnTo>
                  <a:lnTo>
                    <a:pt x="7563611" y="249428"/>
                  </a:lnTo>
                  <a:lnTo>
                    <a:pt x="7563611" y="1247140"/>
                  </a:lnTo>
                  <a:lnTo>
                    <a:pt x="7559594" y="1291985"/>
                  </a:lnTo>
                  <a:lnTo>
                    <a:pt x="7548011" y="1334189"/>
                  </a:lnTo>
                  <a:lnTo>
                    <a:pt x="7529566" y="1373048"/>
                  </a:lnTo>
                  <a:lnTo>
                    <a:pt x="7504962" y="1407859"/>
                  </a:lnTo>
                  <a:lnTo>
                    <a:pt x="7474903" y="1437918"/>
                  </a:lnTo>
                  <a:lnTo>
                    <a:pt x="7440092" y="1462522"/>
                  </a:lnTo>
                  <a:lnTo>
                    <a:pt x="7401233" y="1480967"/>
                  </a:lnTo>
                  <a:lnTo>
                    <a:pt x="7359029" y="1492550"/>
                  </a:lnTo>
                  <a:lnTo>
                    <a:pt x="7314184" y="1496568"/>
                  </a:lnTo>
                  <a:lnTo>
                    <a:pt x="249428" y="1496568"/>
                  </a:lnTo>
                  <a:lnTo>
                    <a:pt x="204592" y="1492550"/>
                  </a:lnTo>
                  <a:lnTo>
                    <a:pt x="162393" y="1480967"/>
                  </a:lnTo>
                  <a:lnTo>
                    <a:pt x="123536" y="1462522"/>
                  </a:lnTo>
                  <a:lnTo>
                    <a:pt x="88724" y="1437918"/>
                  </a:lnTo>
                  <a:lnTo>
                    <a:pt x="58661" y="1407859"/>
                  </a:lnTo>
                  <a:lnTo>
                    <a:pt x="34053" y="1373048"/>
                  </a:lnTo>
                  <a:lnTo>
                    <a:pt x="15604" y="1334189"/>
                  </a:lnTo>
                  <a:lnTo>
                    <a:pt x="4018" y="1291985"/>
                  </a:lnTo>
                  <a:lnTo>
                    <a:pt x="0" y="1247140"/>
                  </a:lnTo>
                  <a:lnTo>
                    <a:pt x="0" y="249428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81400" y="408064"/>
            <a:ext cx="1849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TÓM</a:t>
            </a:r>
            <a:r>
              <a:rPr sz="3600" spc="-150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T</a:t>
            </a:r>
            <a:r>
              <a:rPr sz="3600" spc="-110" dirty="0">
                <a:latin typeface="Arial"/>
                <a:cs typeface="Arial"/>
              </a:rPr>
              <a:t>Ắ</a:t>
            </a:r>
            <a:r>
              <a:rPr sz="3600" spc="-110" dirty="0">
                <a:latin typeface="Trebuchet MS"/>
                <a:cs typeface="Trebuchet MS"/>
              </a:rPr>
              <a:t>T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3891" y="1074242"/>
            <a:ext cx="390779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4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Eco</a:t>
            </a:r>
            <a:r>
              <a:rPr sz="6400" b="0" spc="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64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merce</a:t>
            </a:r>
            <a:endParaRPr sz="6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grpSp>
        <p:nvGrpSpPr>
          <p:cNvPr id="7" name="object 7"/>
          <p:cNvGrpSpPr/>
          <p:nvPr/>
        </p:nvGrpSpPr>
        <p:grpSpPr>
          <a:xfrm>
            <a:off x="600455" y="2577083"/>
            <a:ext cx="7583805" cy="3200400"/>
            <a:chOff x="600455" y="2577083"/>
            <a:chExt cx="7583805" cy="3200400"/>
          </a:xfrm>
        </p:grpSpPr>
        <p:sp>
          <p:nvSpPr>
            <p:cNvPr id="8" name="object 8"/>
            <p:cNvSpPr/>
            <p:nvPr/>
          </p:nvSpPr>
          <p:spPr>
            <a:xfrm>
              <a:off x="610361" y="2586989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7313930" y="0"/>
                  </a:moveTo>
                  <a:lnTo>
                    <a:pt x="249694" y="0"/>
                  </a:lnTo>
                  <a:lnTo>
                    <a:pt x="204809" y="4021"/>
                  </a:lnTo>
                  <a:lnTo>
                    <a:pt x="162565" y="15617"/>
                  </a:lnTo>
                  <a:lnTo>
                    <a:pt x="123666" y="34083"/>
                  </a:lnTo>
                  <a:lnTo>
                    <a:pt x="88816" y="58713"/>
                  </a:lnTo>
                  <a:lnTo>
                    <a:pt x="58722" y="88804"/>
                  </a:lnTo>
                  <a:lnTo>
                    <a:pt x="34089" y="123650"/>
                  </a:lnTo>
                  <a:lnTo>
                    <a:pt x="15620" y="162549"/>
                  </a:lnTo>
                  <a:lnTo>
                    <a:pt x="4022" y="204794"/>
                  </a:lnTo>
                  <a:lnTo>
                    <a:pt x="0" y="249682"/>
                  </a:lnTo>
                  <a:lnTo>
                    <a:pt x="0" y="1248410"/>
                  </a:lnTo>
                  <a:lnTo>
                    <a:pt x="4022" y="1293297"/>
                  </a:lnTo>
                  <a:lnTo>
                    <a:pt x="15620" y="1335542"/>
                  </a:lnTo>
                  <a:lnTo>
                    <a:pt x="34089" y="1374441"/>
                  </a:lnTo>
                  <a:lnTo>
                    <a:pt x="58722" y="1409287"/>
                  </a:lnTo>
                  <a:lnTo>
                    <a:pt x="88816" y="1439378"/>
                  </a:lnTo>
                  <a:lnTo>
                    <a:pt x="123666" y="1464008"/>
                  </a:lnTo>
                  <a:lnTo>
                    <a:pt x="162565" y="1482474"/>
                  </a:lnTo>
                  <a:lnTo>
                    <a:pt x="204809" y="1494070"/>
                  </a:lnTo>
                  <a:lnTo>
                    <a:pt x="249694" y="1498092"/>
                  </a:lnTo>
                  <a:lnTo>
                    <a:pt x="7313930" y="1498092"/>
                  </a:lnTo>
                  <a:lnTo>
                    <a:pt x="7358817" y="1494070"/>
                  </a:lnTo>
                  <a:lnTo>
                    <a:pt x="7401062" y="1482474"/>
                  </a:lnTo>
                  <a:lnTo>
                    <a:pt x="7439961" y="1464008"/>
                  </a:lnTo>
                  <a:lnTo>
                    <a:pt x="7474807" y="1439378"/>
                  </a:lnTo>
                  <a:lnTo>
                    <a:pt x="7504898" y="1409287"/>
                  </a:lnTo>
                  <a:lnTo>
                    <a:pt x="7529528" y="1374441"/>
                  </a:lnTo>
                  <a:lnTo>
                    <a:pt x="7547994" y="1335542"/>
                  </a:lnTo>
                  <a:lnTo>
                    <a:pt x="7559590" y="1293297"/>
                  </a:lnTo>
                  <a:lnTo>
                    <a:pt x="7563611" y="1248410"/>
                  </a:lnTo>
                  <a:lnTo>
                    <a:pt x="7563611" y="249682"/>
                  </a:lnTo>
                  <a:lnTo>
                    <a:pt x="7559590" y="204794"/>
                  </a:lnTo>
                  <a:lnTo>
                    <a:pt x="7547994" y="162549"/>
                  </a:lnTo>
                  <a:lnTo>
                    <a:pt x="7529528" y="123650"/>
                  </a:lnTo>
                  <a:lnTo>
                    <a:pt x="7504898" y="88804"/>
                  </a:lnTo>
                  <a:lnTo>
                    <a:pt x="7474807" y="58713"/>
                  </a:lnTo>
                  <a:lnTo>
                    <a:pt x="7439961" y="34083"/>
                  </a:lnTo>
                  <a:lnTo>
                    <a:pt x="7401062" y="15617"/>
                  </a:lnTo>
                  <a:lnTo>
                    <a:pt x="7358817" y="4021"/>
                  </a:lnTo>
                  <a:lnTo>
                    <a:pt x="7313930" y="0"/>
                  </a:lnTo>
                  <a:close/>
                </a:path>
              </a:pathLst>
            </a:custGeom>
            <a:solidFill>
              <a:srgbClr val="42D0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0361" y="2586989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0" y="249682"/>
                  </a:moveTo>
                  <a:lnTo>
                    <a:pt x="4022" y="204794"/>
                  </a:lnTo>
                  <a:lnTo>
                    <a:pt x="15620" y="162549"/>
                  </a:lnTo>
                  <a:lnTo>
                    <a:pt x="34089" y="123650"/>
                  </a:lnTo>
                  <a:lnTo>
                    <a:pt x="58722" y="88804"/>
                  </a:lnTo>
                  <a:lnTo>
                    <a:pt x="88816" y="58713"/>
                  </a:lnTo>
                  <a:lnTo>
                    <a:pt x="123666" y="34083"/>
                  </a:lnTo>
                  <a:lnTo>
                    <a:pt x="162565" y="15617"/>
                  </a:lnTo>
                  <a:lnTo>
                    <a:pt x="204809" y="4021"/>
                  </a:lnTo>
                  <a:lnTo>
                    <a:pt x="249694" y="0"/>
                  </a:lnTo>
                  <a:lnTo>
                    <a:pt x="7313930" y="0"/>
                  </a:lnTo>
                  <a:lnTo>
                    <a:pt x="7358817" y="4021"/>
                  </a:lnTo>
                  <a:lnTo>
                    <a:pt x="7401062" y="15617"/>
                  </a:lnTo>
                  <a:lnTo>
                    <a:pt x="7439961" y="34083"/>
                  </a:lnTo>
                  <a:lnTo>
                    <a:pt x="7474807" y="58713"/>
                  </a:lnTo>
                  <a:lnTo>
                    <a:pt x="7504898" y="88804"/>
                  </a:lnTo>
                  <a:lnTo>
                    <a:pt x="7529528" y="123650"/>
                  </a:lnTo>
                  <a:lnTo>
                    <a:pt x="7547994" y="162549"/>
                  </a:lnTo>
                  <a:lnTo>
                    <a:pt x="7559590" y="204794"/>
                  </a:lnTo>
                  <a:lnTo>
                    <a:pt x="7563611" y="249682"/>
                  </a:lnTo>
                  <a:lnTo>
                    <a:pt x="7563611" y="1248410"/>
                  </a:lnTo>
                  <a:lnTo>
                    <a:pt x="7559590" y="1293297"/>
                  </a:lnTo>
                  <a:lnTo>
                    <a:pt x="7547994" y="1335542"/>
                  </a:lnTo>
                  <a:lnTo>
                    <a:pt x="7529528" y="1374441"/>
                  </a:lnTo>
                  <a:lnTo>
                    <a:pt x="7504898" y="1409287"/>
                  </a:lnTo>
                  <a:lnTo>
                    <a:pt x="7474807" y="1439378"/>
                  </a:lnTo>
                  <a:lnTo>
                    <a:pt x="7439961" y="1464008"/>
                  </a:lnTo>
                  <a:lnTo>
                    <a:pt x="7401062" y="1482474"/>
                  </a:lnTo>
                  <a:lnTo>
                    <a:pt x="7358817" y="1494070"/>
                  </a:lnTo>
                  <a:lnTo>
                    <a:pt x="7313930" y="1498092"/>
                  </a:lnTo>
                  <a:lnTo>
                    <a:pt x="249694" y="1498092"/>
                  </a:lnTo>
                  <a:lnTo>
                    <a:pt x="204809" y="1494070"/>
                  </a:lnTo>
                  <a:lnTo>
                    <a:pt x="162565" y="1482474"/>
                  </a:lnTo>
                  <a:lnTo>
                    <a:pt x="123666" y="1464008"/>
                  </a:lnTo>
                  <a:lnTo>
                    <a:pt x="88816" y="1439378"/>
                  </a:lnTo>
                  <a:lnTo>
                    <a:pt x="58722" y="1409287"/>
                  </a:lnTo>
                  <a:lnTo>
                    <a:pt x="34089" y="1374441"/>
                  </a:lnTo>
                  <a:lnTo>
                    <a:pt x="15620" y="1335542"/>
                  </a:lnTo>
                  <a:lnTo>
                    <a:pt x="4022" y="1293297"/>
                  </a:lnTo>
                  <a:lnTo>
                    <a:pt x="0" y="1248410"/>
                  </a:lnTo>
                  <a:lnTo>
                    <a:pt x="0" y="249682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361" y="4269485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7313930" y="0"/>
                  </a:moveTo>
                  <a:lnTo>
                    <a:pt x="249694" y="0"/>
                  </a:lnTo>
                  <a:lnTo>
                    <a:pt x="204809" y="4021"/>
                  </a:lnTo>
                  <a:lnTo>
                    <a:pt x="162565" y="15617"/>
                  </a:lnTo>
                  <a:lnTo>
                    <a:pt x="123666" y="34083"/>
                  </a:lnTo>
                  <a:lnTo>
                    <a:pt x="88816" y="58713"/>
                  </a:lnTo>
                  <a:lnTo>
                    <a:pt x="58722" y="88804"/>
                  </a:lnTo>
                  <a:lnTo>
                    <a:pt x="34089" y="123650"/>
                  </a:lnTo>
                  <a:lnTo>
                    <a:pt x="15620" y="162549"/>
                  </a:lnTo>
                  <a:lnTo>
                    <a:pt x="4022" y="204794"/>
                  </a:lnTo>
                  <a:lnTo>
                    <a:pt x="0" y="249681"/>
                  </a:lnTo>
                  <a:lnTo>
                    <a:pt x="0" y="1248410"/>
                  </a:lnTo>
                  <a:lnTo>
                    <a:pt x="4022" y="1293290"/>
                  </a:lnTo>
                  <a:lnTo>
                    <a:pt x="15620" y="1335532"/>
                  </a:lnTo>
                  <a:lnTo>
                    <a:pt x="34089" y="1374429"/>
                  </a:lnTo>
                  <a:lnTo>
                    <a:pt x="58722" y="1409277"/>
                  </a:lnTo>
                  <a:lnTo>
                    <a:pt x="88816" y="1439370"/>
                  </a:lnTo>
                  <a:lnTo>
                    <a:pt x="123666" y="1464003"/>
                  </a:lnTo>
                  <a:lnTo>
                    <a:pt x="162565" y="1482471"/>
                  </a:lnTo>
                  <a:lnTo>
                    <a:pt x="204809" y="1494069"/>
                  </a:lnTo>
                  <a:lnTo>
                    <a:pt x="249694" y="1498092"/>
                  </a:lnTo>
                  <a:lnTo>
                    <a:pt x="7313930" y="1498092"/>
                  </a:lnTo>
                  <a:lnTo>
                    <a:pt x="7358817" y="1494069"/>
                  </a:lnTo>
                  <a:lnTo>
                    <a:pt x="7401062" y="1482471"/>
                  </a:lnTo>
                  <a:lnTo>
                    <a:pt x="7439961" y="1464003"/>
                  </a:lnTo>
                  <a:lnTo>
                    <a:pt x="7474807" y="1439370"/>
                  </a:lnTo>
                  <a:lnTo>
                    <a:pt x="7504898" y="1409277"/>
                  </a:lnTo>
                  <a:lnTo>
                    <a:pt x="7529528" y="1374429"/>
                  </a:lnTo>
                  <a:lnTo>
                    <a:pt x="7547994" y="1335532"/>
                  </a:lnTo>
                  <a:lnTo>
                    <a:pt x="7559590" y="1293290"/>
                  </a:lnTo>
                  <a:lnTo>
                    <a:pt x="7563611" y="1248410"/>
                  </a:lnTo>
                  <a:lnTo>
                    <a:pt x="7563611" y="249681"/>
                  </a:lnTo>
                  <a:lnTo>
                    <a:pt x="7559590" y="204794"/>
                  </a:lnTo>
                  <a:lnTo>
                    <a:pt x="7547994" y="162549"/>
                  </a:lnTo>
                  <a:lnTo>
                    <a:pt x="7529528" y="123650"/>
                  </a:lnTo>
                  <a:lnTo>
                    <a:pt x="7504898" y="88804"/>
                  </a:lnTo>
                  <a:lnTo>
                    <a:pt x="7474807" y="58713"/>
                  </a:lnTo>
                  <a:lnTo>
                    <a:pt x="7439961" y="34083"/>
                  </a:lnTo>
                  <a:lnTo>
                    <a:pt x="7401062" y="15617"/>
                  </a:lnTo>
                  <a:lnTo>
                    <a:pt x="7358817" y="4021"/>
                  </a:lnTo>
                  <a:lnTo>
                    <a:pt x="7313930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361" y="4269485"/>
              <a:ext cx="7564120" cy="1498600"/>
            </a:xfrm>
            <a:custGeom>
              <a:avLst/>
              <a:gdLst/>
              <a:ahLst/>
              <a:cxnLst/>
              <a:rect l="l" t="t" r="r" b="b"/>
              <a:pathLst>
                <a:path w="7564120" h="1498600">
                  <a:moveTo>
                    <a:pt x="0" y="249681"/>
                  </a:moveTo>
                  <a:lnTo>
                    <a:pt x="4022" y="204794"/>
                  </a:lnTo>
                  <a:lnTo>
                    <a:pt x="15620" y="162549"/>
                  </a:lnTo>
                  <a:lnTo>
                    <a:pt x="34089" y="123650"/>
                  </a:lnTo>
                  <a:lnTo>
                    <a:pt x="58722" y="88804"/>
                  </a:lnTo>
                  <a:lnTo>
                    <a:pt x="88816" y="58713"/>
                  </a:lnTo>
                  <a:lnTo>
                    <a:pt x="123666" y="34083"/>
                  </a:lnTo>
                  <a:lnTo>
                    <a:pt x="162565" y="15617"/>
                  </a:lnTo>
                  <a:lnTo>
                    <a:pt x="204809" y="4021"/>
                  </a:lnTo>
                  <a:lnTo>
                    <a:pt x="249694" y="0"/>
                  </a:lnTo>
                  <a:lnTo>
                    <a:pt x="7313930" y="0"/>
                  </a:lnTo>
                  <a:lnTo>
                    <a:pt x="7358817" y="4021"/>
                  </a:lnTo>
                  <a:lnTo>
                    <a:pt x="7401062" y="15617"/>
                  </a:lnTo>
                  <a:lnTo>
                    <a:pt x="7439961" y="34083"/>
                  </a:lnTo>
                  <a:lnTo>
                    <a:pt x="7474807" y="58713"/>
                  </a:lnTo>
                  <a:lnTo>
                    <a:pt x="7504898" y="88804"/>
                  </a:lnTo>
                  <a:lnTo>
                    <a:pt x="7529528" y="123650"/>
                  </a:lnTo>
                  <a:lnTo>
                    <a:pt x="7547994" y="162549"/>
                  </a:lnTo>
                  <a:lnTo>
                    <a:pt x="7559590" y="204794"/>
                  </a:lnTo>
                  <a:lnTo>
                    <a:pt x="7563611" y="249681"/>
                  </a:lnTo>
                  <a:lnTo>
                    <a:pt x="7563611" y="1248410"/>
                  </a:lnTo>
                  <a:lnTo>
                    <a:pt x="7559590" y="1293290"/>
                  </a:lnTo>
                  <a:lnTo>
                    <a:pt x="7547994" y="1335532"/>
                  </a:lnTo>
                  <a:lnTo>
                    <a:pt x="7529528" y="1374429"/>
                  </a:lnTo>
                  <a:lnTo>
                    <a:pt x="7504898" y="1409277"/>
                  </a:lnTo>
                  <a:lnTo>
                    <a:pt x="7474807" y="1439370"/>
                  </a:lnTo>
                  <a:lnTo>
                    <a:pt x="7439961" y="1464003"/>
                  </a:lnTo>
                  <a:lnTo>
                    <a:pt x="7401062" y="1482471"/>
                  </a:lnTo>
                  <a:lnTo>
                    <a:pt x="7358817" y="1494069"/>
                  </a:lnTo>
                  <a:lnTo>
                    <a:pt x="7313930" y="1498092"/>
                  </a:lnTo>
                  <a:lnTo>
                    <a:pt x="249694" y="1498092"/>
                  </a:lnTo>
                  <a:lnTo>
                    <a:pt x="204809" y="1494069"/>
                  </a:lnTo>
                  <a:lnTo>
                    <a:pt x="162565" y="1482471"/>
                  </a:lnTo>
                  <a:lnTo>
                    <a:pt x="123666" y="1464003"/>
                  </a:lnTo>
                  <a:lnTo>
                    <a:pt x="88816" y="1439370"/>
                  </a:lnTo>
                  <a:lnTo>
                    <a:pt x="58722" y="1409277"/>
                  </a:lnTo>
                  <a:lnTo>
                    <a:pt x="34089" y="1374429"/>
                  </a:lnTo>
                  <a:lnTo>
                    <a:pt x="15620" y="1335532"/>
                  </a:lnTo>
                  <a:lnTo>
                    <a:pt x="4022" y="1293290"/>
                  </a:lnTo>
                  <a:lnTo>
                    <a:pt x="0" y="1248410"/>
                  </a:lnTo>
                  <a:lnTo>
                    <a:pt x="0" y="249681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3891" y="2757042"/>
            <a:ext cx="4135754" cy="2682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3385" algn="l"/>
              </a:tabLst>
            </a:pPr>
            <a:r>
              <a:rPr sz="6400" spc="-180" dirty="0">
                <a:solidFill>
                  <a:srgbClr val="FFFFFF"/>
                </a:solidFill>
                <a:latin typeface="Times New Roman"/>
                <a:cs typeface="Times New Roman"/>
              </a:rPr>
              <a:t>Web	</a:t>
            </a:r>
            <a:r>
              <a:rPr sz="6400" dirty="0">
                <a:solidFill>
                  <a:srgbClr val="FFFFFF"/>
                </a:solidFill>
                <a:latin typeface="Times New Roman"/>
                <a:cs typeface="Times New Roman"/>
              </a:rPr>
              <a:t>2.0</a:t>
            </a:r>
            <a:endParaRPr sz="6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65"/>
              </a:spcBef>
            </a:pPr>
            <a:r>
              <a:rPr sz="6400" spc="-5" dirty="0">
                <a:solidFill>
                  <a:srgbClr val="FFFFFF"/>
                </a:solidFill>
                <a:latin typeface="Times New Roman"/>
                <a:cs typeface="Times New Roman"/>
              </a:rPr>
              <a:t>Mạng xã</a:t>
            </a:r>
            <a:r>
              <a:rPr sz="6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6400" spc="-5" dirty="0">
                <a:solidFill>
                  <a:srgbClr val="FFFFFF"/>
                </a:solidFill>
                <a:latin typeface="Times New Roman"/>
                <a:cs typeface="Times New Roman"/>
              </a:rPr>
              <a:t>hội</a:t>
            </a:r>
            <a:endParaRPr sz="6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9386" y="6079608"/>
            <a:ext cx="501015" cy="295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16/03/20</a:t>
            </a:r>
            <a:endParaRPr sz="9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5" dirty="0">
                <a:solidFill>
                  <a:srgbClr val="88888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2508" y="2286000"/>
            <a:ext cx="4601845" cy="906144"/>
            <a:chOff x="639572" y="4405121"/>
            <a:chExt cx="4601845" cy="906144"/>
          </a:xfrm>
        </p:grpSpPr>
        <p:sp>
          <p:nvSpPr>
            <p:cNvPr id="3" name="object 3"/>
            <p:cNvSpPr/>
            <p:nvPr/>
          </p:nvSpPr>
          <p:spPr>
            <a:xfrm>
              <a:off x="714756" y="4479035"/>
              <a:ext cx="4526280" cy="8321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4050" y="4419599"/>
              <a:ext cx="4494149" cy="800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4050" y="4419599"/>
              <a:ext cx="4494530" cy="800100"/>
            </a:xfrm>
            <a:custGeom>
              <a:avLst/>
              <a:gdLst/>
              <a:ahLst/>
              <a:cxnLst/>
              <a:rect l="l" t="t" r="r" b="b"/>
              <a:pathLst>
                <a:path w="4494530" h="800100">
                  <a:moveTo>
                    <a:pt x="2010410" y="347852"/>
                  </a:moveTo>
                  <a:lnTo>
                    <a:pt x="1968245" y="377317"/>
                  </a:lnTo>
                  <a:lnTo>
                    <a:pt x="1945868" y="411767"/>
                  </a:lnTo>
                  <a:lnTo>
                    <a:pt x="1944370" y="424433"/>
                  </a:lnTo>
                  <a:lnTo>
                    <a:pt x="1945844" y="437769"/>
                  </a:lnTo>
                  <a:lnTo>
                    <a:pt x="1967864" y="472058"/>
                  </a:lnTo>
                  <a:lnTo>
                    <a:pt x="2009298" y="497865"/>
                  </a:lnTo>
                  <a:lnTo>
                    <a:pt x="2063988" y="516223"/>
                  </a:lnTo>
                  <a:lnTo>
                    <a:pt x="2106295" y="524510"/>
                  </a:lnTo>
                  <a:lnTo>
                    <a:pt x="2150094" y="529431"/>
                  </a:lnTo>
                  <a:lnTo>
                    <a:pt x="2193036" y="531113"/>
                  </a:lnTo>
                  <a:lnTo>
                    <a:pt x="2222920" y="530758"/>
                  </a:lnTo>
                  <a:lnTo>
                    <a:pt x="2277403" y="527952"/>
                  </a:lnTo>
                  <a:lnTo>
                    <a:pt x="2325627" y="522098"/>
                  </a:lnTo>
                  <a:lnTo>
                    <a:pt x="2372403" y="511292"/>
                  </a:lnTo>
                  <a:lnTo>
                    <a:pt x="2395601" y="503936"/>
                  </a:lnTo>
                  <a:lnTo>
                    <a:pt x="2347452" y="484415"/>
                  </a:lnTo>
                  <a:lnTo>
                    <a:pt x="2299303" y="464903"/>
                  </a:lnTo>
                  <a:lnTo>
                    <a:pt x="2251154" y="445397"/>
                  </a:lnTo>
                  <a:lnTo>
                    <a:pt x="2203005" y="425894"/>
                  </a:lnTo>
                  <a:lnTo>
                    <a:pt x="2154856" y="406391"/>
                  </a:lnTo>
                  <a:lnTo>
                    <a:pt x="2106707" y="386885"/>
                  </a:lnTo>
                  <a:lnTo>
                    <a:pt x="2058558" y="367373"/>
                  </a:lnTo>
                  <a:lnTo>
                    <a:pt x="2010410" y="347852"/>
                  </a:lnTo>
                  <a:close/>
                </a:path>
                <a:path w="4494530" h="800100">
                  <a:moveTo>
                    <a:pt x="3792982" y="169672"/>
                  </a:moveTo>
                  <a:lnTo>
                    <a:pt x="3759848" y="213563"/>
                  </a:lnTo>
                  <a:lnTo>
                    <a:pt x="3726732" y="257454"/>
                  </a:lnTo>
                  <a:lnTo>
                    <a:pt x="3693623" y="301345"/>
                  </a:lnTo>
                  <a:lnTo>
                    <a:pt x="3660507" y="345236"/>
                  </a:lnTo>
                  <a:lnTo>
                    <a:pt x="3627374" y="389127"/>
                  </a:lnTo>
                  <a:lnTo>
                    <a:pt x="3674672" y="389127"/>
                  </a:lnTo>
                  <a:lnTo>
                    <a:pt x="3721973" y="389127"/>
                  </a:lnTo>
                  <a:lnTo>
                    <a:pt x="3958590" y="389127"/>
                  </a:lnTo>
                  <a:lnTo>
                    <a:pt x="3925444" y="345236"/>
                  </a:lnTo>
                  <a:lnTo>
                    <a:pt x="3892304" y="301345"/>
                  </a:lnTo>
                  <a:lnTo>
                    <a:pt x="3859176" y="257454"/>
                  </a:lnTo>
                  <a:lnTo>
                    <a:pt x="3826067" y="213563"/>
                  </a:lnTo>
                  <a:lnTo>
                    <a:pt x="3792982" y="169672"/>
                  </a:lnTo>
                  <a:close/>
                </a:path>
                <a:path w="4494530" h="800100">
                  <a:moveTo>
                    <a:pt x="694182" y="115569"/>
                  </a:moveTo>
                  <a:lnTo>
                    <a:pt x="630148" y="118237"/>
                  </a:lnTo>
                  <a:lnTo>
                    <a:pt x="569925" y="126237"/>
                  </a:lnTo>
                  <a:lnTo>
                    <a:pt x="513992" y="140477"/>
                  </a:lnTo>
                  <a:lnTo>
                    <a:pt x="462813" y="161670"/>
                  </a:lnTo>
                  <a:lnTo>
                    <a:pt x="421790" y="189087"/>
                  </a:lnTo>
                  <a:lnTo>
                    <a:pt x="389140" y="225170"/>
                  </a:lnTo>
                  <a:lnTo>
                    <a:pt x="367784" y="268986"/>
                  </a:lnTo>
                  <a:lnTo>
                    <a:pt x="360667" y="319277"/>
                  </a:lnTo>
                  <a:lnTo>
                    <a:pt x="362389" y="345592"/>
                  </a:lnTo>
                  <a:lnTo>
                    <a:pt x="376172" y="392126"/>
                  </a:lnTo>
                  <a:lnTo>
                    <a:pt x="403123" y="430726"/>
                  </a:lnTo>
                  <a:lnTo>
                    <a:pt x="439504" y="462107"/>
                  </a:lnTo>
                  <a:lnTo>
                    <a:pt x="484559" y="486471"/>
                  </a:lnTo>
                  <a:lnTo>
                    <a:pt x="537442" y="504342"/>
                  </a:lnTo>
                  <a:lnTo>
                    <a:pt x="597435" y="515941"/>
                  </a:lnTo>
                  <a:lnTo>
                    <a:pt x="661144" y="521743"/>
                  </a:lnTo>
                  <a:lnTo>
                    <a:pt x="694182" y="522477"/>
                  </a:lnTo>
                  <a:lnTo>
                    <a:pt x="727231" y="521739"/>
                  </a:lnTo>
                  <a:lnTo>
                    <a:pt x="790997" y="515834"/>
                  </a:lnTo>
                  <a:lnTo>
                    <a:pt x="851007" y="504027"/>
                  </a:lnTo>
                  <a:lnTo>
                    <a:pt x="903878" y="485842"/>
                  </a:lnTo>
                  <a:lnTo>
                    <a:pt x="951101" y="459722"/>
                  </a:lnTo>
                  <a:lnTo>
                    <a:pt x="988577" y="426714"/>
                  </a:lnTo>
                  <a:lnTo>
                    <a:pt x="1013079" y="388421"/>
                  </a:lnTo>
                  <a:lnTo>
                    <a:pt x="1025270" y="343654"/>
                  </a:lnTo>
                  <a:lnTo>
                    <a:pt x="1026794" y="318769"/>
                  </a:lnTo>
                  <a:lnTo>
                    <a:pt x="1025054" y="292266"/>
                  </a:lnTo>
                  <a:lnTo>
                    <a:pt x="1011096" y="245403"/>
                  </a:lnTo>
                  <a:lnTo>
                    <a:pt x="983779" y="206634"/>
                  </a:lnTo>
                  <a:lnTo>
                    <a:pt x="947152" y="175341"/>
                  </a:lnTo>
                  <a:lnTo>
                    <a:pt x="901664" y="150981"/>
                  </a:lnTo>
                  <a:lnTo>
                    <a:pt x="848602" y="133125"/>
                  </a:lnTo>
                  <a:lnTo>
                    <a:pt x="789015" y="121838"/>
                  </a:lnTo>
                  <a:lnTo>
                    <a:pt x="726428" y="116262"/>
                  </a:lnTo>
                  <a:lnTo>
                    <a:pt x="694182" y="115569"/>
                  </a:lnTo>
                  <a:close/>
                </a:path>
                <a:path w="4494530" h="800100">
                  <a:moveTo>
                    <a:pt x="2126996" y="87630"/>
                  </a:moveTo>
                  <a:lnTo>
                    <a:pt x="2082222" y="90451"/>
                  </a:lnTo>
                  <a:lnTo>
                    <a:pt x="2040034" y="101129"/>
                  </a:lnTo>
                  <a:lnTo>
                    <a:pt x="2005012" y="128095"/>
                  </a:lnTo>
                  <a:lnTo>
                    <a:pt x="2001393" y="144780"/>
                  </a:lnTo>
                  <a:lnTo>
                    <a:pt x="2004105" y="156852"/>
                  </a:lnTo>
                  <a:lnTo>
                    <a:pt x="2044700" y="191643"/>
                  </a:lnTo>
                  <a:lnTo>
                    <a:pt x="2094690" y="214598"/>
                  </a:lnTo>
                  <a:lnTo>
                    <a:pt x="2157730" y="238125"/>
                  </a:lnTo>
                  <a:lnTo>
                    <a:pt x="2181496" y="228838"/>
                  </a:lnTo>
                  <a:lnTo>
                    <a:pt x="2219648" y="208835"/>
                  </a:lnTo>
                  <a:lnTo>
                    <a:pt x="2253424" y="175164"/>
                  </a:lnTo>
                  <a:lnTo>
                    <a:pt x="2259838" y="150494"/>
                  </a:lnTo>
                  <a:lnTo>
                    <a:pt x="2258933" y="140374"/>
                  </a:lnTo>
                  <a:lnTo>
                    <a:pt x="2229342" y="105537"/>
                  </a:lnTo>
                  <a:lnTo>
                    <a:pt x="2188003" y="92170"/>
                  </a:lnTo>
                  <a:lnTo>
                    <a:pt x="2143744" y="88026"/>
                  </a:lnTo>
                  <a:lnTo>
                    <a:pt x="2126996" y="87630"/>
                  </a:lnTo>
                  <a:close/>
                </a:path>
                <a:path w="4494530" h="800100">
                  <a:moveTo>
                    <a:pt x="2143252" y="0"/>
                  </a:moveTo>
                  <a:lnTo>
                    <a:pt x="2196468" y="619"/>
                  </a:lnTo>
                  <a:lnTo>
                    <a:pt x="2246757" y="2476"/>
                  </a:lnTo>
                  <a:lnTo>
                    <a:pt x="2294092" y="5572"/>
                  </a:lnTo>
                  <a:lnTo>
                    <a:pt x="2338451" y="9906"/>
                  </a:lnTo>
                  <a:lnTo>
                    <a:pt x="2379716" y="15361"/>
                  </a:lnTo>
                  <a:lnTo>
                    <a:pt x="2417587" y="21828"/>
                  </a:lnTo>
                  <a:lnTo>
                    <a:pt x="2483104" y="37845"/>
                  </a:lnTo>
                  <a:lnTo>
                    <a:pt x="2531872" y="56927"/>
                  </a:lnTo>
                  <a:lnTo>
                    <a:pt x="2567686" y="79629"/>
                  </a:lnTo>
                  <a:lnTo>
                    <a:pt x="2595189" y="118526"/>
                  </a:lnTo>
                  <a:lnTo>
                    <a:pt x="2597023" y="132461"/>
                  </a:lnTo>
                  <a:lnTo>
                    <a:pt x="2596261" y="142202"/>
                  </a:lnTo>
                  <a:lnTo>
                    <a:pt x="2577470" y="185233"/>
                  </a:lnTo>
                  <a:lnTo>
                    <a:pt x="2540127" y="216916"/>
                  </a:lnTo>
                  <a:lnTo>
                    <a:pt x="2499201" y="237569"/>
                  </a:lnTo>
                  <a:lnTo>
                    <a:pt x="2447036" y="256794"/>
                  </a:lnTo>
                  <a:lnTo>
                    <a:pt x="2378535" y="274288"/>
                  </a:lnTo>
                  <a:lnTo>
                    <a:pt x="2336325" y="282261"/>
                  </a:lnTo>
                  <a:lnTo>
                    <a:pt x="2288794" y="289687"/>
                  </a:lnTo>
                  <a:lnTo>
                    <a:pt x="2334895" y="308101"/>
                  </a:lnTo>
                  <a:lnTo>
                    <a:pt x="2380996" y="326516"/>
                  </a:lnTo>
                  <a:lnTo>
                    <a:pt x="2427097" y="344931"/>
                  </a:lnTo>
                  <a:lnTo>
                    <a:pt x="2473197" y="363346"/>
                  </a:lnTo>
                  <a:lnTo>
                    <a:pt x="2519298" y="381761"/>
                  </a:lnTo>
                  <a:lnTo>
                    <a:pt x="2565400" y="400176"/>
                  </a:lnTo>
                  <a:lnTo>
                    <a:pt x="2565400" y="367051"/>
                  </a:lnTo>
                  <a:lnTo>
                    <a:pt x="2565400" y="333962"/>
                  </a:lnTo>
                  <a:lnTo>
                    <a:pt x="2565400" y="300896"/>
                  </a:lnTo>
                  <a:lnTo>
                    <a:pt x="2565400" y="267843"/>
                  </a:lnTo>
                  <a:lnTo>
                    <a:pt x="2613569" y="267843"/>
                  </a:lnTo>
                  <a:lnTo>
                    <a:pt x="2902585" y="267843"/>
                  </a:lnTo>
                  <a:lnTo>
                    <a:pt x="2902585" y="279253"/>
                  </a:lnTo>
                  <a:lnTo>
                    <a:pt x="2902585" y="290639"/>
                  </a:lnTo>
                  <a:lnTo>
                    <a:pt x="2902585" y="302025"/>
                  </a:lnTo>
                  <a:lnTo>
                    <a:pt x="2902585" y="313436"/>
                  </a:lnTo>
                  <a:lnTo>
                    <a:pt x="2900322" y="337482"/>
                  </a:lnTo>
                  <a:lnTo>
                    <a:pt x="2882225" y="384051"/>
                  </a:lnTo>
                  <a:lnTo>
                    <a:pt x="2846601" y="427787"/>
                  </a:lnTo>
                  <a:lnTo>
                    <a:pt x="2796881" y="464641"/>
                  </a:lnTo>
                  <a:lnTo>
                    <a:pt x="2766949" y="480187"/>
                  </a:lnTo>
                  <a:lnTo>
                    <a:pt x="2815709" y="499563"/>
                  </a:lnTo>
                  <a:lnTo>
                    <a:pt x="2864456" y="518937"/>
                  </a:lnTo>
                  <a:lnTo>
                    <a:pt x="2913193" y="538306"/>
                  </a:lnTo>
                  <a:lnTo>
                    <a:pt x="2961920" y="557669"/>
                  </a:lnTo>
                  <a:lnTo>
                    <a:pt x="3010640" y="577023"/>
                  </a:lnTo>
                  <a:lnTo>
                    <a:pt x="3059357" y="596366"/>
                  </a:lnTo>
                  <a:lnTo>
                    <a:pt x="3108071" y="615695"/>
                  </a:lnTo>
                  <a:lnTo>
                    <a:pt x="3140708" y="575511"/>
                  </a:lnTo>
                  <a:lnTo>
                    <a:pt x="3173342" y="535323"/>
                  </a:lnTo>
                  <a:lnTo>
                    <a:pt x="3205974" y="495133"/>
                  </a:lnTo>
                  <a:lnTo>
                    <a:pt x="3238604" y="454940"/>
                  </a:lnTo>
                  <a:lnTo>
                    <a:pt x="3271233" y="414744"/>
                  </a:lnTo>
                  <a:lnTo>
                    <a:pt x="3303860" y="374546"/>
                  </a:lnTo>
                  <a:lnTo>
                    <a:pt x="3336486" y="334346"/>
                  </a:lnTo>
                  <a:lnTo>
                    <a:pt x="3369113" y="294144"/>
                  </a:lnTo>
                  <a:lnTo>
                    <a:pt x="3401739" y="253941"/>
                  </a:lnTo>
                  <a:lnTo>
                    <a:pt x="3434366" y="213736"/>
                  </a:lnTo>
                  <a:lnTo>
                    <a:pt x="3466995" y="173530"/>
                  </a:lnTo>
                  <a:lnTo>
                    <a:pt x="3499625" y="133323"/>
                  </a:lnTo>
                  <a:lnTo>
                    <a:pt x="3532257" y="93116"/>
                  </a:lnTo>
                  <a:lnTo>
                    <a:pt x="3564891" y="52908"/>
                  </a:lnTo>
                  <a:lnTo>
                    <a:pt x="3597529" y="12700"/>
                  </a:lnTo>
                  <a:lnTo>
                    <a:pt x="3647482" y="12700"/>
                  </a:lnTo>
                  <a:lnTo>
                    <a:pt x="3697426" y="12700"/>
                  </a:lnTo>
                  <a:lnTo>
                    <a:pt x="3997071" y="12700"/>
                  </a:lnTo>
                  <a:lnTo>
                    <a:pt x="4028146" y="50990"/>
                  </a:lnTo>
                  <a:lnTo>
                    <a:pt x="4059221" y="89280"/>
                  </a:lnTo>
                  <a:lnTo>
                    <a:pt x="4090296" y="127570"/>
                  </a:lnTo>
                  <a:lnTo>
                    <a:pt x="4121370" y="165860"/>
                  </a:lnTo>
                  <a:lnTo>
                    <a:pt x="4152443" y="204148"/>
                  </a:lnTo>
                  <a:lnTo>
                    <a:pt x="4183516" y="242436"/>
                  </a:lnTo>
                  <a:lnTo>
                    <a:pt x="4214587" y="280722"/>
                  </a:lnTo>
                  <a:lnTo>
                    <a:pt x="4245657" y="319008"/>
                  </a:lnTo>
                  <a:lnTo>
                    <a:pt x="4276726" y="357291"/>
                  </a:lnTo>
                  <a:lnTo>
                    <a:pt x="4307793" y="395573"/>
                  </a:lnTo>
                  <a:lnTo>
                    <a:pt x="4338858" y="433854"/>
                  </a:lnTo>
                  <a:lnTo>
                    <a:pt x="4369921" y="472132"/>
                  </a:lnTo>
                  <a:lnTo>
                    <a:pt x="4400981" y="510408"/>
                  </a:lnTo>
                  <a:lnTo>
                    <a:pt x="4432040" y="548681"/>
                  </a:lnTo>
                  <a:lnTo>
                    <a:pt x="4463096" y="586952"/>
                  </a:lnTo>
                  <a:lnTo>
                    <a:pt x="4494149" y="625220"/>
                  </a:lnTo>
                  <a:lnTo>
                    <a:pt x="4442978" y="625220"/>
                  </a:lnTo>
                  <a:lnTo>
                    <a:pt x="4391795" y="625220"/>
                  </a:lnTo>
                  <a:lnTo>
                    <a:pt x="4135754" y="625220"/>
                  </a:lnTo>
                  <a:lnTo>
                    <a:pt x="4112323" y="594264"/>
                  </a:lnTo>
                  <a:lnTo>
                    <a:pt x="4088892" y="563308"/>
                  </a:lnTo>
                  <a:lnTo>
                    <a:pt x="4065460" y="532352"/>
                  </a:lnTo>
                  <a:lnTo>
                    <a:pt x="4042029" y="501395"/>
                  </a:lnTo>
                  <a:lnTo>
                    <a:pt x="3543935" y="501395"/>
                  </a:lnTo>
                  <a:lnTo>
                    <a:pt x="3520503" y="532352"/>
                  </a:lnTo>
                  <a:lnTo>
                    <a:pt x="3497071" y="563308"/>
                  </a:lnTo>
                  <a:lnTo>
                    <a:pt x="3473640" y="594264"/>
                  </a:lnTo>
                  <a:lnTo>
                    <a:pt x="3450209" y="625220"/>
                  </a:lnTo>
                  <a:lnTo>
                    <a:pt x="2681097" y="625220"/>
                  </a:lnTo>
                  <a:lnTo>
                    <a:pt x="2649779" y="612267"/>
                  </a:lnTo>
                  <a:lnTo>
                    <a:pt x="2618486" y="599313"/>
                  </a:lnTo>
                  <a:lnTo>
                    <a:pt x="2587192" y="586358"/>
                  </a:lnTo>
                  <a:lnTo>
                    <a:pt x="2555875" y="573405"/>
                  </a:lnTo>
                  <a:lnTo>
                    <a:pt x="2509486" y="588646"/>
                  </a:lnTo>
                  <a:lnTo>
                    <a:pt x="2460799" y="601805"/>
                  </a:lnTo>
                  <a:lnTo>
                    <a:pt x="2409803" y="612892"/>
                  </a:lnTo>
                  <a:lnTo>
                    <a:pt x="2356485" y="621919"/>
                  </a:lnTo>
                  <a:lnTo>
                    <a:pt x="2312410" y="627741"/>
                  </a:lnTo>
                  <a:lnTo>
                    <a:pt x="2267361" y="632259"/>
                  </a:lnTo>
                  <a:lnTo>
                    <a:pt x="2221336" y="635479"/>
                  </a:lnTo>
                  <a:lnTo>
                    <a:pt x="2174336" y="637406"/>
                  </a:lnTo>
                  <a:lnTo>
                    <a:pt x="2126361" y="638048"/>
                  </a:lnTo>
                  <a:lnTo>
                    <a:pt x="2065608" y="637226"/>
                  </a:lnTo>
                  <a:lnTo>
                    <a:pt x="2008221" y="634763"/>
                  </a:lnTo>
                  <a:lnTo>
                    <a:pt x="1954194" y="630660"/>
                  </a:lnTo>
                  <a:lnTo>
                    <a:pt x="1903523" y="624919"/>
                  </a:lnTo>
                  <a:lnTo>
                    <a:pt x="1856204" y="617540"/>
                  </a:lnTo>
                  <a:lnTo>
                    <a:pt x="1812232" y="608526"/>
                  </a:lnTo>
                  <a:lnTo>
                    <a:pt x="1771603" y="597878"/>
                  </a:lnTo>
                  <a:lnTo>
                    <a:pt x="1734312" y="585597"/>
                  </a:lnTo>
                  <a:lnTo>
                    <a:pt x="1671970" y="557349"/>
                  </a:lnTo>
                  <a:lnTo>
                    <a:pt x="1627441" y="525160"/>
                  </a:lnTo>
                  <a:lnTo>
                    <a:pt x="1600723" y="488995"/>
                  </a:lnTo>
                  <a:lnTo>
                    <a:pt x="1591818" y="448818"/>
                  </a:lnTo>
                  <a:lnTo>
                    <a:pt x="1593242" y="431863"/>
                  </a:lnTo>
                  <a:lnTo>
                    <a:pt x="1614424" y="387857"/>
                  </a:lnTo>
                  <a:lnTo>
                    <a:pt x="1656518" y="351996"/>
                  </a:lnTo>
                  <a:lnTo>
                    <a:pt x="1692423" y="331710"/>
                  </a:lnTo>
                  <a:lnTo>
                    <a:pt x="1733139" y="314426"/>
                  </a:lnTo>
                  <a:lnTo>
                    <a:pt x="1778285" y="299928"/>
                  </a:lnTo>
                  <a:lnTo>
                    <a:pt x="1822100" y="287597"/>
                  </a:lnTo>
                  <a:lnTo>
                    <a:pt x="1843151" y="282194"/>
                  </a:lnTo>
                  <a:lnTo>
                    <a:pt x="1824412" y="275738"/>
                  </a:lnTo>
                  <a:lnTo>
                    <a:pt x="1788269" y="262352"/>
                  </a:lnTo>
                  <a:lnTo>
                    <a:pt x="1738757" y="240839"/>
                  </a:lnTo>
                  <a:lnTo>
                    <a:pt x="1699674" y="216995"/>
                  </a:lnTo>
                  <a:lnTo>
                    <a:pt x="1667297" y="180060"/>
                  </a:lnTo>
                  <a:lnTo>
                    <a:pt x="1659636" y="146431"/>
                  </a:lnTo>
                  <a:lnTo>
                    <a:pt x="1661328" y="132262"/>
                  </a:lnTo>
                  <a:lnTo>
                    <a:pt x="1686814" y="92329"/>
                  </a:lnTo>
                  <a:lnTo>
                    <a:pt x="1720691" y="68310"/>
                  </a:lnTo>
                  <a:lnTo>
                    <a:pt x="1768094" y="46862"/>
                  </a:lnTo>
                  <a:lnTo>
                    <a:pt x="1833816" y="27908"/>
                  </a:lnTo>
                  <a:lnTo>
                    <a:pt x="1873821" y="19931"/>
                  </a:lnTo>
                  <a:lnTo>
                    <a:pt x="1918589" y="12954"/>
                  </a:lnTo>
                  <a:lnTo>
                    <a:pt x="1968069" y="7286"/>
                  </a:lnTo>
                  <a:lnTo>
                    <a:pt x="2022014" y="3238"/>
                  </a:lnTo>
                  <a:lnTo>
                    <a:pt x="2080412" y="809"/>
                  </a:lnTo>
                  <a:lnTo>
                    <a:pt x="2143252" y="0"/>
                  </a:lnTo>
                  <a:close/>
                </a:path>
                <a:path w="4494530" h="800100">
                  <a:moveTo>
                    <a:pt x="693293" y="0"/>
                  </a:moveTo>
                  <a:lnTo>
                    <a:pt x="756641" y="857"/>
                  </a:lnTo>
                  <a:lnTo>
                    <a:pt x="817223" y="3428"/>
                  </a:lnTo>
                  <a:lnTo>
                    <a:pt x="875038" y="7715"/>
                  </a:lnTo>
                  <a:lnTo>
                    <a:pt x="930083" y="13715"/>
                  </a:lnTo>
                  <a:lnTo>
                    <a:pt x="982360" y="21431"/>
                  </a:lnTo>
                  <a:lnTo>
                    <a:pt x="1031867" y="30860"/>
                  </a:lnTo>
                  <a:lnTo>
                    <a:pt x="1078604" y="42005"/>
                  </a:lnTo>
                  <a:lnTo>
                    <a:pt x="1122569" y="54863"/>
                  </a:lnTo>
                  <a:lnTo>
                    <a:pt x="1163762" y="69437"/>
                  </a:lnTo>
                  <a:lnTo>
                    <a:pt x="1202182" y="85725"/>
                  </a:lnTo>
                  <a:lnTo>
                    <a:pt x="1251354" y="111525"/>
                  </a:lnTo>
                  <a:lnTo>
                    <a:pt x="1292956" y="139835"/>
                  </a:lnTo>
                  <a:lnTo>
                    <a:pt x="1326988" y="170663"/>
                  </a:lnTo>
                  <a:lnTo>
                    <a:pt x="1353454" y="204014"/>
                  </a:lnTo>
                  <a:lnTo>
                    <a:pt x="1372356" y="239896"/>
                  </a:lnTo>
                  <a:lnTo>
                    <a:pt x="1383695" y="278315"/>
                  </a:lnTo>
                  <a:lnTo>
                    <a:pt x="1387475" y="319277"/>
                  </a:lnTo>
                  <a:lnTo>
                    <a:pt x="1383144" y="361674"/>
                  </a:lnTo>
                  <a:lnTo>
                    <a:pt x="1370146" y="401687"/>
                  </a:lnTo>
                  <a:lnTo>
                    <a:pt x="1348466" y="439311"/>
                  </a:lnTo>
                  <a:lnTo>
                    <a:pt x="1318094" y="474539"/>
                  </a:lnTo>
                  <a:lnTo>
                    <a:pt x="1279017" y="507364"/>
                  </a:lnTo>
                  <a:lnTo>
                    <a:pt x="1246049" y="529027"/>
                  </a:lnTo>
                  <a:lnTo>
                    <a:pt x="1209087" y="548730"/>
                  </a:lnTo>
                  <a:lnTo>
                    <a:pt x="1168132" y="566474"/>
                  </a:lnTo>
                  <a:lnTo>
                    <a:pt x="1123188" y="582258"/>
                  </a:lnTo>
                  <a:lnTo>
                    <a:pt x="1074256" y="596083"/>
                  </a:lnTo>
                  <a:lnTo>
                    <a:pt x="1021338" y="607949"/>
                  </a:lnTo>
                  <a:lnTo>
                    <a:pt x="964438" y="617855"/>
                  </a:lnTo>
                  <a:lnTo>
                    <a:pt x="968845" y="636883"/>
                  </a:lnTo>
                  <a:lnTo>
                    <a:pt x="993280" y="666271"/>
                  </a:lnTo>
                  <a:lnTo>
                    <a:pt x="1039929" y="684416"/>
                  </a:lnTo>
                  <a:lnTo>
                    <a:pt x="1117220" y="693318"/>
                  </a:lnTo>
                  <a:lnTo>
                    <a:pt x="1167892" y="694436"/>
                  </a:lnTo>
                  <a:lnTo>
                    <a:pt x="1187227" y="694058"/>
                  </a:lnTo>
                  <a:lnTo>
                    <a:pt x="1231042" y="691114"/>
                  </a:lnTo>
                  <a:lnTo>
                    <a:pt x="1278929" y="685807"/>
                  </a:lnTo>
                  <a:lnTo>
                    <a:pt x="1326007" y="678307"/>
                  </a:lnTo>
                  <a:lnTo>
                    <a:pt x="1334652" y="678307"/>
                  </a:lnTo>
                  <a:lnTo>
                    <a:pt x="1343263" y="678307"/>
                  </a:lnTo>
                  <a:lnTo>
                    <a:pt x="1351849" y="678307"/>
                  </a:lnTo>
                  <a:lnTo>
                    <a:pt x="1360424" y="678307"/>
                  </a:lnTo>
                  <a:lnTo>
                    <a:pt x="1360424" y="705357"/>
                  </a:lnTo>
                  <a:lnTo>
                    <a:pt x="1360424" y="732408"/>
                  </a:lnTo>
                  <a:lnTo>
                    <a:pt x="1360424" y="759459"/>
                  </a:lnTo>
                  <a:lnTo>
                    <a:pt x="1360424" y="786511"/>
                  </a:lnTo>
                  <a:lnTo>
                    <a:pt x="1334561" y="789106"/>
                  </a:lnTo>
                  <a:lnTo>
                    <a:pt x="1279646" y="793869"/>
                  </a:lnTo>
                  <a:lnTo>
                    <a:pt x="1217037" y="797796"/>
                  </a:lnTo>
                  <a:lnTo>
                    <a:pt x="1175670" y="799068"/>
                  </a:lnTo>
                  <a:lnTo>
                    <a:pt x="1126446" y="799840"/>
                  </a:lnTo>
                  <a:lnTo>
                    <a:pt x="1069339" y="800100"/>
                  </a:lnTo>
                  <a:lnTo>
                    <a:pt x="1017260" y="799338"/>
                  </a:lnTo>
                  <a:lnTo>
                    <a:pt x="968644" y="797051"/>
                  </a:lnTo>
                  <a:lnTo>
                    <a:pt x="923482" y="793241"/>
                  </a:lnTo>
                  <a:lnTo>
                    <a:pt x="881761" y="787907"/>
                  </a:lnTo>
                  <a:lnTo>
                    <a:pt x="843422" y="781264"/>
                  </a:lnTo>
                  <a:lnTo>
                    <a:pt x="776747" y="764119"/>
                  </a:lnTo>
                  <a:lnTo>
                    <a:pt x="723858" y="742259"/>
                  </a:lnTo>
                  <a:lnTo>
                    <a:pt x="684563" y="716541"/>
                  </a:lnTo>
                  <a:lnTo>
                    <a:pt x="658030" y="686992"/>
                  </a:lnTo>
                  <a:lnTo>
                    <a:pt x="639063" y="636397"/>
                  </a:lnTo>
                  <a:lnTo>
                    <a:pt x="580016" y="634072"/>
                  </a:lnTo>
                  <a:lnTo>
                    <a:pt x="523636" y="630223"/>
                  </a:lnTo>
                  <a:lnTo>
                    <a:pt x="469922" y="624849"/>
                  </a:lnTo>
                  <a:lnTo>
                    <a:pt x="418874" y="617948"/>
                  </a:lnTo>
                  <a:lnTo>
                    <a:pt x="370493" y="609520"/>
                  </a:lnTo>
                  <a:lnTo>
                    <a:pt x="324779" y="599564"/>
                  </a:lnTo>
                  <a:lnTo>
                    <a:pt x="281730" y="588080"/>
                  </a:lnTo>
                  <a:lnTo>
                    <a:pt x="241347" y="575067"/>
                  </a:lnTo>
                  <a:lnTo>
                    <a:pt x="203631" y="560523"/>
                  </a:lnTo>
                  <a:lnTo>
                    <a:pt x="168579" y="544449"/>
                  </a:lnTo>
                  <a:lnTo>
                    <a:pt x="117070" y="514805"/>
                  </a:lnTo>
                  <a:lnTo>
                    <a:pt x="74926" y="482007"/>
                  </a:lnTo>
                  <a:lnTo>
                    <a:pt x="42146" y="446055"/>
                  </a:lnTo>
                  <a:lnTo>
                    <a:pt x="18732" y="406950"/>
                  </a:lnTo>
                  <a:lnTo>
                    <a:pt x="4683" y="364691"/>
                  </a:lnTo>
                  <a:lnTo>
                    <a:pt x="0" y="319277"/>
                  </a:lnTo>
                  <a:lnTo>
                    <a:pt x="3763" y="278315"/>
                  </a:lnTo>
                  <a:lnTo>
                    <a:pt x="15053" y="239896"/>
                  </a:lnTo>
                  <a:lnTo>
                    <a:pt x="33870" y="204014"/>
                  </a:lnTo>
                  <a:lnTo>
                    <a:pt x="60213" y="170663"/>
                  </a:lnTo>
                  <a:lnTo>
                    <a:pt x="94083" y="139835"/>
                  </a:lnTo>
                  <a:lnTo>
                    <a:pt x="135480" y="111525"/>
                  </a:lnTo>
                  <a:lnTo>
                    <a:pt x="184403" y="85725"/>
                  </a:lnTo>
                  <a:lnTo>
                    <a:pt x="222682" y="69437"/>
                  </a:lnTo>
                  <a:lnTo>
                    <a:pt x="263764" y="54863"/>
                  </a:lnTo>
                  <a:lnTo>
                    <a:pt x="307648" y="42005"/>
                  </a:lnTo>
                  <a:lnTo>
                    <a:pt x="354335" y="30861"/>
                  </a:lnTo>
                  <a:lnTo>
                    <a:pt x="403825" y="21431"/>
                  </a:lnTo>
                  <a:lnTo>
                    <a:pt x="456116" y="13716"/>
                  </a:lnTo>
                  <a:lnTo>
                    <a:pt x="511208" y="7715"/>
                  </a:lnTo>
                  <a:lnTo>
                    <a:pt x="569102" y="3429"/>
                  </a:lnTo>
                  <a:lnTo>
                    <a:pt x="629797" y="857"/>
                  </a:lnTo>
                  <a:lnTo>
                    <a:pt x="693293" y="0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00393" y="6152039"/>
            <a:ext cx="2044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latin typeface="Arial"/>
                <a:cs typeface="Arial"/>
              </a:rPr>
              <a:t>51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2258</Words>
  <Application>Microsoft Office PowerPoint</Application>
  <PresentationFormat>On-screen Show (4:3)</PresentationFormat>
  <Paragraphs>299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Arial Black</vt:lpstr>
      <vt:lpstr>Calibri</vt:lpstr>
      <vt:lpstr>Calibri Light</vt:lpstr>
      <vt:lpstr>Times New Roman</vt:lpstr>
      <vt:lpstr>Trebuchet MS</vt:lpstr>
      <vt:lpstr>Wingdings</vt:lpstr>
      <vt:lpstr>Office Theme</vt:lpstr>
      <vt:lpstr>PowerPoint Presentation</vt:lpstr>
      <vt:lpstr>Ecommerce</vt:lpstr>
      <vt:lpstr>PowerPoint Presentation</vt:lpstr>
      <vt:lpstr> TMĐT (e-commerce) là các giao dịch được  thực hiện trên mạng Internet giữa các DN  với các KH mua và sử dụng hàng hóa và  dịch vụ hoặc giữa các DN với nhau.</vt:lpstr>
      <vt:lpstr>Các loại hình thương mại điện tử</vt:lpstr>
      <vt:lpstr>Các lọai hình Ecommerce: B2C, B2B,  C2C</vt:lpstr>
      <vt:lpstr>Các loại hình Ecommerce: B2C, B2B, C2C</vt:lpstr>
      <vt:lpstr>Các loại hình thương mại điện tử (tt)</vt:lpstr>
      <vt:lpstr>Xu thế kinh doanh điện tử</vt:lpstr>
      <vt:lpstr>Xu thế hiện tại</vt:lpstr>
      <vt:lpstr>Các mô hình kinh doanh mới</vt:lpstr>
      <vt:lpstr>PowerPoint Presentation</vt:lpstr>
      <vt:lpstr>PowerPoint Presentation</vt:lpstr>
      <vt:lpstr>PowerPoint Presentation</vt:lpstr>
      <vt:lpstr>Những yếu tố dẫn dắt người tiêu  dùng tới mua hàng trên mạng</vt:lpstr>
      <vt:lpstr> Internet cung cấp các kênh truyền thông &amp;  tương tác mới tạo quan hệ với KH trong  bán hàng, tiếp thị &amp; hổ trợ KH gần gủi hơn  với chi phí hiệu quả hơn</vt:lpstr>
      <vt:lpstr> Nhà SX có thể bán trực tiếp các SP của họ  đến KH mua lẻ, bỏ qua các trung gian  đạt được lợi nhuận cao hơn với giá bán  thấp hơn</vt:lpstr>
      <vt:lpstr>Bán lẻ hướng tới khách hang Lợi ích từ bán hang trên web</vt:lpstr>
      <vt:lpstr>Bán lẻ hướng tới khách hàng:  Tiếp thị tương tác &amp; cá nhân hóa</vt:lpstr>
      <vt:lpstr>Bán lẻ hướng tới khách hàng:  Tiếp thị tương tác &amp; cá nhân hóa</vt:lpstr>
      <vt:lpstr>Bán lẻ hướng tới khách hàng: M-commerce &amp; tiếp thị thế hệ kế tiếp</vt:lpstr>
      <vt:lpstr>Bán lẻ hướng tới khách hàng: M-commerce &amp; tiếp thị thế hệ kế tiếp</vt:lpstr>
      <vt:lpstr>Bán lẻ hướng tới khách hàng:  Khách hàng tự phục vụ</vt:lpstr>
      <vt:lpstr>Thương mại điện tử giữa các doanh nghiệp:  các quan hệ &amp; hiệu ứng mới</vt:lpstr>
      <vt:lpstr>Thương mại điện tử giữa các doanh nghiệp:  các quan hệ &amp; hiệu ứng mới</vt:lpstr>
      <vt:lpstr>Thương mại điện tử giữa các doanh nghiệp:  các quan hệ &amp; hiệu ứng mới</vt:lpstr>
      <vt:lpstr>Thương mại điện tử giữa các doanh nghiệp:  các quan hệ &amp; hiệu ứng mới</vt:lpstr>
      <vt:lpstr>Các công đoạn của một giao dịch mua  bán trên mạng</vt:lpstr>
      <vt:lpstr>Các công đoạn của một giao dịch mua  bán trên mạng</vt:lpstr>
      <vt:lpstr>Dòng Thông Tin Ecommerce</vt:lpstr>
      <vt:lpstr>Các HT thanh toán chính trong Ecommerce</vt:lpstr>
      <vt:lpstr>Các HT thanh toán chính trong Ecommerce:  Thẻ tín dụng</vt:lpstr>
      <vt:lpstr>Các HT thanh toán chính trong Ecommerce</vt:lpstr>
      <vt:lpstr>Các HT thanh toán chính trong Ecommerce</vt:lpstr>
      <vt:lpstr>WEB 2.0 là gì? Chia sẻ tri thức cộng đồng</vt:lpstr>
      <vt:lpstr>WEB 2.0 là gì? (tt)  Giao diện tương tác</vt:lpstr>
      <vt:lpstr>WEB 2.0 là gì? (tt) Phần mềm như một dịch vụ</vt:lpstr>
      <vt:lpstr>WEB 2.0 là gì? (tt)  Tiếp thị lan truyền</vt:lpstr>
      <vt:lpstr>Doanh nghiệp có lợi ích gì từ web  2.0</vt:lpstr>
      <vt:lpstr>Mạng xã hội Nguồn vốn xã hội – Social Capital</vt:lpstr>
      <vt:lpstr>Mạng xã hội Nguồn vốn xã hội – Social Capital (tt)</vt:lpstr>
      <vt:lpstr>Mạng xã hội Mạng xã hội và doanh nghiệp</vt:lpstr>
      <vt:lpstr>Mạng xã hội Sử dụng mạng xã hội gia tăng các  mối quan hệ</vt:lpstr>
      <vt:lpstr>Mạng xã hội Sử dụng mạng xã hội gia tăng các  mối quan hệ (tt)</vt:lpstr>
      <vt:lpstr>Mạng xã hội Sử dụng mạng xã hội gia tăng các  mối quan hệ (tt)</vt:lpstr>
      <vt:lpstr>Mạng xã hội Sử dụng mạng xã hội gia tăng các  mối quan hệ (tt)</vt:lpstr>
      <vt:lpstr>Mạng xã hội Sử dụng mạng xã hội gia tăng sức  mạnh của các mối quan hệ</vt:lpstr>
      <vt:lpstr>Mạng xã hội Sử dụng mạng xã hội gia tăng sức  mạnh của các mối quan hệ (tt)</vt:lpstr>
      <vt:lpstr>Mạng xã hội Sử khấu hao của các mối quan hệ</vt:lpstr>
      <vt:lpstr>Ecommerce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systems</dc:title>
  <dc:creator>Nga Le</dc:creator>
  <cp:lastModifiedBy>Admin</cp:lastModifiedBy>
  <cp:revision>33</cp:revision>
  <dcterms:created xsi:type="dcterms:W3CDTF">2023-02-12T02:45:12Z</dcterms:created>
  <dcterms:modified xsi:type="dcterms:W3CDTF">2024-02-17T22:58:44Z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2023-02-12T00:00:00Z</vt:filetime>
  </property>
</Properties>
</file>