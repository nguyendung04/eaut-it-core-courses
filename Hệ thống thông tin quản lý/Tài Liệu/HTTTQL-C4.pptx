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0F2C6-C4AD-4158-BD0D-DE42EC679D5E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82182-4421-4B87-806F-277E41473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8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434" y="0"/>
            <a:ext cx="9100566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665988" cy="68579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66369" y="6324980"/>
            <a:ext cx="8249284" cy="0"/>
          </a:xfrm>
          <a:custGeom>
            <a:avLst/>
            <a:gdLst/>
            <a:ahLst/>
            <a:cxnLst/>
            <a:rect l="l" t="t" r="r" b="b"/>
            <a:pathLst>
              <a:path w="8249284">
                <a:moveTo>
                  <a:pt x="0" y="0"/>
                </a:moveTo>
                <a:lnTo>
                  <a:pt x="8249031" y="0"/>
                </a:lnTo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6880" y="189230"/>
            <a:ext cx="8270239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59101" y="2512314"/>
            <a:ext cx="6506845" cy="318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0739" y="6463538"/>
            <a:ext cx="9017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54719" y="6463538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4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9.png"/><Relationship Id="rId5" Type="http://schemas.openxmlformats.org/officeDocument/2006/relationships/image" Target="../media/image30.png"/><Relationship Id="rId10" Type="http://schemas.openxmlformats.org/officeDocument/2006/relationships/image" Target="../media/image38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83994" y="1411985"/>
            <a:ext cx="656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>
                <a:solidFill>
                  <a:srgbClr val="00AF50"/>
                </a:solidFill>
              </a:rPr>
              <a:t>C</a:t>
            </a:r>
            <a:r>
              <a:rPr sz="2850" spc="15" dirty="0">
                <a:solidFill>
                  <a:srgbClr val="00AF50"/>
                </a:solidFill>
              </a:rPr>
              <a:t>H</a:t>
            </a:r>
            <a:r>
              <a:rPr sz="2850" spc="15" dirty="0">
                <a:solidFill>
                  <a:srgbClr val="00AF50"/>
                </a:solidFill>
                <a:latin typeface="Times New Roman"/>
                <a:cs typeface="Times New Roman"/>
              </a:rPr>
              <a:t>ƯƠ</a:t>
            </a:r>
            <a:r>
              <a:rPr sz="2850" spc="15" dirty="0">
                <a:solidFill>
                  <a:srgbClr val="00AF50"/>
                </a:solidFill>
              </a:rPr>
              <a:t>NG</a:t>
            </a:r>
            <a:r>
              <a:rPr sz="2850" spc="140" dirty="0">
                <a:solidFill>
                  <a:srgbClr val="00AF50"/>
                </a:solidFill>
              </a:rPr>
              <a:t> </a:t>
            </a:r>
            <a:r>
              <a:rPr lang="en-US" sz="3600" dirty="0" smtClean="0">
                <a:solidFill>
                  <a:srgbClr val="00AF50"/>
                </a:solidFill>
              </a:rPr>
              <a:t>4</a:t>
            </a:r>
            <a:r>
              <a:rPr sz="3600" dirty="0" smtClean="0">
                <a:solidFill>
                  <a:srgbClr val="00AF50"/>
                </a:solidFill>
              </a:rPr>
              <a:t>:</a:t>
            </a:r>
            <a:r>
              <a:rPr sz="3600" spc="-5" dirty="0" smtClean="0">
                <a:solidFill>
                  <a:srgbClr val="00AF50"/>
                </a:solidFill>
              </a:rPr>
              <a:t> </a:t>
            </a:r>
            <a:r>
              <a:rPr sz="3600" dirty="0">
                <a:solidFill>
                  <a:srgbClr val="00AF50"/>
                </a:solidFill>
              </a:rPr>
              <a:t>H</a:t>
            </a:r>
            <a:r>
              <a:rPr sz="2850" dirty="0">
                <a:solidFill>
                  <a:srgbClr val="00AF50"/>
                </a:solidFill>
              </a:rPr>
              <a:t>Ệ</a:t>
            </a:r>
            <a:r>
              <a:rPr sz="2850" spc="150" dirty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THỐNG</a:t>
            </a:r>
            <a:r>
              <a:rPr sz="2850" spc="165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</a:rPr>
              <a:t>XỬ</a:t>
            </a:r>
            <a:r>
              <a:rPr sz="2850" spc="155" dirty="0">
                <a:solidFill>
                  <a:srgbClr val="00AF50"/>
                </a:solidFill>
              </a:rPr>
              <a:t> </a:t>
            </a:r>
            <a:r>
              <a:rPr sz="2850" spc="-114" dirty="0">
                <a:solidFill>
                  <a:srgbClr val="00AF50"/>
                </a:solidFill>
              </a:rPr>
              <a:t>LÝ</a:t>
            </a:r>
            <a:r>
              <a:rPr sz="2850" spc="155" dirty="0">
                <a:solidFill>
                  <a:srgbClr val="00AF50"/>
                </a:solidFill>
              </a:rPr>
              <a:t> </a:t>
            </a:r>
            <a:r>
              <a:rPr sz="2850" dirty="0">
                <a:solidFill>
                  <a:srgbClr val="00AF50"/>
                </a:solidFill>
              </a:rPr>
              <a:t>GIAO</a:t>
            </a:r>
            <a:r>
              <a:rPr sz="2850" spc="165" dirty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DỊCH</a:t>
            </a:r>
            <a:endParaRPr sz="28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474" y="2512314"/>
            <a:ext cx="1621155" cy="3215640"/>
            <a:chOff x="363474" y="2512314"/>
            <a:chExt cx="1621155" cy="3215640"/>
          </a:xfrm>
        </p:grpSpPr>
        <p:sp>
          <p:nvSpPr>
            <p:cNvPr id="7" name="object 7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0"/>
                  </a:moveTo>
                  <a:lnTo>
                    <a:pt x="1547729" y="705"/>
                  </a:lnTo>
                  <a:lnTo>
                    <a:pt x="1500180" y="2807"/>
                  </a:lnTo>
                  <a:lnTo>
                    <a:pt x="1453003" y="6286"/>
                  </a:lnTo>
                  <a:lnTo>
                    <a:pt x="1406215" y="11122"/>
                  </a:lnTo>
                  <a:lnTo>
                    <a:pt x="1359837" y="17297"/>
                  </a:lnTo>
                  <a:lnTo>
                    <a:pt x="1313889" y="24789"/>
                  </a:lnTo>
                  <a:lnTo>
                    <a:pt x="1268391" y="33580"/>
                  </a:lnTo>
                  <a:lnTo>
                    <a:pt x="1223362" y="43649"/>
                  </a:lnTo>
                  <a:lnTo>
                    <a:pt x="1178821" y="54977"/>
                  </a:lnTo>
                  <a:lnTo>
                    <a:pt x="1134789" y="67543"/>
                  </a:lnTo>
                  <a:lnTo>
                    <a:pt x="1091286" y="81329"/>
                  </a:lnTo>
                  <a:lnTo>
                    <a:pt x="1048331" y="96315"/>
                  </a:lnTo>
                  <a:lnTo>
                    <a:pt x="1005943" y="112480"/>
                  </a:lnTo>
                  <a:lnTo>
                    <a:pt x="964144" y="129805"/>
                  </a:lnTo>
                  <a:lnTo>
                    <a:pt x="922951" y="148271"/>
                  </a:lnTo>
                  <a:lnTo>
                    <a:pt x="882386" y="167857"/>
                  </a:lnTo>
                  <a:lnTo>
                    <a:pt x="842468" y="188544"/>
                  </a:lnTo>
                  <a:lnTo>
                    <a:pt x="803216" y="210312"/>
                  </a:lnTo>
                  <a:lnTo>
                    <a:pt x="764651" y="233141"/>
                  </a:lnTo>
                  <a:lnTo>
                    <a:pt x="726792" y="257012"/>
                  </a:lnTo>
                  <a:lnTo>
                    <a:pt x="689658" y="281904"/>
                  </a:lnTo>
                  <a:lnTo>
                    <a:pt x="653271" y="307799"/>
                  </a:lnTo>
                  <a:lnTo>
                    <a:pt x="617648" y="334676"/>
                  </a:lnTo>
                  <a:lnTo>
                    <a:pt x="582811" y="362515"/>
                  </a:lnTo>
                  <a:lnTo>
                    <a:pt x="548779" y="391297"/>
                  </a:lnTo>
                  <a:lnTo>
                    <a:pt x="515571" y="421003"/>
                  </a:lnTo>
                  <a:lnTo>
                    <a:pt x="483207" y="451611"/>
                  </a:lnTo>
                  <a:lnTo>
                    <a:pt x="451708" y="483104"/>
                  </a:lnTo>
                  <a:lnTo>
                    <a:pt x="421092" y="515460"/>
                  </a:lnTo>
                  <a:lnTo>
                    <a:pt x="391380" y="548660"/>
                  </a:lnTo>
                  <a:lnTo>
                    <a:pt x="362592" y="582685"/>
                  </a:lnTo>
                  <a:lnTo>
                    <a:pt x="334746" y="617514"/>
                  </a:lnTo>
                  <a:lnTo>
                    <a:pt x="307863" y="653128"/>
                  </a:lnTo>
                  <a:lnTo>
                    <a:pt x="281963" y="689507"/>
                  </a:lnTo>
                  <a:lnTo>
                    <a:pt x="257065" y="726632"/>
                  </a:lnTo>
                  <a:lnTo>
                    <a:pt x="233189" y="764482"/>
                  </a:lnTo>
                  <a:lnTo>
                    <a:pt x="210355" y="803038"/>
                  </a:lnTo>
                  <a:lnTo>
                    <a:pt x="188583" y="842280"/>
                  </a:lnTo>
                  <a:lnTo>
                    <a:pt x="167892" y="882189"/>
                  </a:lnTo>
                  <a:lnTo>
                    <a:pt x="148301" y="922744"/>
                  </a:lnTo>
                  <a:lnTo>
                    <a:pt x="129832" y="963927"/>
                  </a:lnTo>
                  <a:lnTo>
                    <a:pt x="112503" y="1005716"/>
                  </a:lnTo>
                  <a:lnTo>
                    <a:pt x="96334" y="1048093"/>
                  </a:lnTo>
                  <a:lnTo>
                    <a:pt x="81346" y="1091037"/>
                  </a:lnTo>
                  <a:lnTo>
                    <a:pt x="67557" y="1134530"/>
                  </a:lnTo>
                  <a:lnTo>
                    <a:pt x="54988" y="1178550"/>
                  </a:lnTo>
                  <a:lnTo>
                    <a:pt x="43657" y="1223079"/>
                  </a:lnTo>
                  <a:lnTo>
                    <a:pt x="33586" y="1268097"/>
                  </a:lnTo>
                  <a:lnTo>
                    <a:pt x="24794" y="1313584"/>
                  </a:lnTo>
                  <a:lnTo>
                    <a:pt x="17300" y="1359520"/>
                  </a:lnTo>
                  <a:lnTo>
                    <a:pt x="11125" y="1405885"/>
                  </a:lnTo>
                  <a:lnTo>
                    <a:pt x="6287" y="1452660"/>
                  </a:lnTo>
                  <a:lnTo>
                    <a:pt x="2807" y="1499825"/>
                  </a:lnTo>
                  <a:lnTo>
                    <a:pt x="705" y="1547361"/>
                  </a:lnTo>
                  <a:lnTo>
                    <a:pt x="0" y="1595246"/>
                  </a:lnTo>
                  <a:lnTo>
                    <a:pt x="705" y="1643132"/>
                  </a:lnTo>
                  <a:lnTo>
                    <a:pt x="2807" y="1690668"/>
                  </a:lnTo>
                  <a:lnTo>
                    <a:pt x="6287" y="1737833"/>
                  </a:lnTo>
                  <a:lnTo>
                    <a:pt x="11125" y="1784608"/>
                  </a:lnTo>
                  <a:lnTo>
                    <a:pt x="17300" y="1830973"/>
                  </a:lnTo>
                  <a:lnTo>
                    <a:pt x="24794" y="1876909"/>
                  </a:lnTo>
                  <a:lnTo>
                    <a:pt x="33586" y="1922396"/>
                  </a:lnTo>
                  <a:lnTo>
                    <a:pt x="43657" y="1967414"/>
                  </a:lnTo>
                  <a:lnTo>
                    <a:pt x="54988" y="2011943"/>
                  </a:lnTo>
                  <a:lnTo>
                    <a:pt x="67557" y="2055963"/>
                  </a:lnTo>
                  <a:lnTo>
                    <a:pt x="81346" y="2099456"/>
                  </a:lnTo>
                  <a:lnTo>
                    <a:pt x="96334" y="2142400"/>
                  </a:lnTo>
                  <a:lnTo>
                    <a:pt x="112503" y="2184777"/>
                  </a:lnTo>
                  <a:lnTo>
                    <a:pt x="129832" y="2226566"/>
                  </a:lnTo>
                  <a:lnTo>
                    <a:pt x="148301" y="2267749"/>
                  </a:lnTo>
                  <a:lnTo>
                    <a:pt x="167892" y="2308304"/>
                  </a:lnTo>
                  <a:lnTo>
                    <a:pt x="188583" y="2348213"/>
                  </a:lnTo>
                  <a:lnTo>
                    <a:pt x="210355" y="2387455"/>
                  </a:lnTo>
                  <a:lnTo>
                    <a:pt x="233189" y="2426011"/>
                  </a:lnTo>
                  <a:lnTo>
                    <a:pt x="257065" y="2463861"/>
                  </a:lnTo>
                  <a:lnTo>
                    <a:pt x="281963" y="2500986"/>
                  </a:lnTo>
                  <a:lnTo>
                    <a:pt x="307863" y="2537365"/>
                  </a:lnTo>
                  <a:lnTo>
                    <a:pt x="334746" y="2572979"/>
                  </a:lnTo>
                  <a:lnTo>
                    <a:pt x="362592" y="2607808"/>
                  </a:lnTo>
                  <a:lnTo>
                    <a:pt x="391380" y="2641833"/>
                  </a:lnTo>
                  <a:lnTo>
                    <a:pt x="421092" y="2675033"/>
                  </a:lnTo>
                  <a:lnTo>
                    <a:pt x="451708" y="2707389"/>
                  </a:lnTo>
                  <a:lnTo>
                    <a:pt x="483207" y="2738882"/>
                  </a:lnTo>
                  <a:lnTo>
                    <a:pt x="515571" y="2769490"/>
                  </a:lnTo>
                  <a:lnTo>
                    <a:pt x="548779" y="2799196"/>
                  </a:lnTo>
                  <a:lnTo>
                    <a:pt x="582811" y="2827978"/>
                  </a:lnTo>
                  <a:lnTo>
                    <a:pt x="617648" y="2855817"/>
                  </a:lnTo>
                  <a:lnTo>
                    <a:pt x="653271" y="2882694"/>
                  </a:lnTo>
                  <a:lnTo>
                    <a:pt x="689658" y="2908589"/>
                  </a:lnTo>
                  <a:lnTo>
                    <a:pt x="726792" y="2933481"/>
                  </a:lnTo>
                  <a:lnTo>
                    <a:pt x="764651" y="2957352"/>
                  </a:lnTo>
                  <a:lnTo>
                    <a:pt x="803216" y="2980181"/>
                  </a:lnTo>
                  <a:lnTo>
                    <a:pt x="842468" y="3001949"/>
                  </a:lnTo>
                  <a:lnTo>
                    <a:pt x="882386" y="3022636"/>
                  </a:lnTo>
                  <a:lnTo>
                    <a:pt x="922951" y="3042222"/>
                  </a:lnTo>
                  <a:lnTo>
                    <a:pt x="964144" y="3060688"/>
                  </a:lnTo>
                  <a:lnTo>
                    <a:pt x="1005943" y="3078013"/>
                  </a:lnTo>
                  <a:lnTo>
                    <a:pt x="1048331" y="3094178"/>
                  </a:lnTo>
                  <a:lnTo>
                    <a:pt x="1091286" y="3109164"/>
                  </a:lnTo>
                  <a:lnTo>
                    <a:pt x="1134789" y="3122950"/>
                  </a:lnTo>
                  <a:lnTo>
                    <a:pt x="1178821" y="3135516"/>
                  </a:lnTo>
                  <a:lnTo>
                    <a:pt x="1223362" y="3146844"/>
                  </a:lnTo>
                  <a:lnTo>
                    <a:pt x="1268391" y="3156913"/>
                  </a:lnTo>
                  <a:lnTo>
                    <a:pt x="1313889" y="3165704"/>
                  </a:lnTo>
                  <a:lnTo>
                    <a:pt x="1359837" y="3173196"/>
                  </a:lnTo>
                  <a:lnTo>
                    <a:pt x="1406215" y="3179371"/>
                  </a:lnTo>
                  <a:lnTo>
                    <a:pt x="1453003" y="3184207"/>
                  </a:lnTo>
                  <a:lnTo>
                    <a:pt x="1500180" y="3187686"/>
                  </a:lnTo>
                  <a:lnTo>
                    <a:pt x="1547729" y="3189788"/>
                  </a:lnTo>
                  <a:lnTo>
                    <a:pt x="1595628" y="3190494"/>
                  </a:lnTo>
                  <a:lnTo>
                    <a:pt x="159562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3190494"/>
                  </a:moveTo>
                  <a:lnTo>
                    <a:pt x="1547729" y="3189788"/>
                  </a:lnTo>
                  <a:lnTo>
                    <a:pt x="1500180" y="3187686"/>
                  </a:lnTo>
                  <a:lnTo>
                    <a:pt x="1453003" y="3184207"/>
                  </a:lnTo>
                  <a:lnTo>
                    <a:pt x="1406215" y="3179371"/>
                  </a:lnTo>
                  <a:lnTo>
                    <a:pt x="1359837" y="3173196"/>
                  </a:lnTo>
                  <a:lnTo>
                    <a:pt x="1313889" y="3165704"/>
                  </a:lnTo>
                  <a:lnTo>
                    <a:pt x="1268391" y="3156913"/>
                  </a:lnTo>
                  <a:lnTo>
                    <a:pt x="1223362" y="3146844"/>
                  </a:lnTo>
                  <a:lnTo>
                    <a:pt x="1178821" y="3135516"/>
                  </a:lnTo>
                  <a:lnTo>
                    <a:pt x="1134789" y="3122950"/>
                  </a:lnTo>
                  <a:lnTo>
                    <a:pt x="1091286" y="3109164"/>
                  </a:lnTo>
                  <a:lnTo>
                    <a:pt x="1048331" y="3094178"/>
                  </a:lnTo>
                  <a:lnTo>
                    <a:pt x="1005943" y="3078013"/>
                  </a:lnTo>
                  <a:lnTo>
                    <a:pt x="964144" y="3060688"/>
                  </a:lnTo>
                  <a:lnTo>
                    <a:pt x="922951" y="3042222"/>
                  </a:lnTo>
                  <a:lnTo>
                    <a:pt x="882386" y="3022636"/>
                  </a:lnTo>
                  <a:lnTo>
                    <a:pt x="842468" y="3001949"/>
                  </a:lnTo>
                  <a:lnTo>
                    <a:pt x="803216" y="2980181"/>
                  </a:lnTo>
                  <a:lnTo>
                    <a:pt x="764651" y="2957352"/>
                  </a:lnTo>
                  <a:lnTo>
                    <a:pt x="726792" y="2933481"/>
                  </a:lnTo>
                  <a:lnTo>
                    <a:pt x="689658" y="2908589"/>
                  </a:lnTo>
                  <a:lnTo>
                    <a:pt x="653271" y="2882694"/>
                  </a:lnTo>
                  <a:lnTo>
                    <a:pt x="617648" y="2855817"/>
                  </a:lnTo>
                  <a:lnTo>
                    <a:pt x="582811" y="2827978"/>
                  </a:lnTo>
                  <a:lnTo>
                    <a:pt x="548779" y="2799196"/>
                  </a:lnTo>
                  <a:lnTo>
                    <a:pt x="515571" y="2769490"/>
                  </a:lnTo>
                  <a:lnTo>
                    <a:pt x="483207" y="2738882"/>
                  </a:lnTo>
                  <a:lnTo>
                    <a:pt x="451708" y="2707389"/>
                  </a:lnTo>
                  <a:lnTo>
                    <a:pt x="421092" y="2675033"/>
                  </a:lnTo>
                  <a:lnTo>
                    <a:pt x="391380" y="2641833"/>
                  </a:lnTo>
                  <a:lnTo>
                    <a:pt x="362592" y="2607808"/>
                  </a:lnTo>
                  <a:lnTo>
                    <a:pt x="334746" y="2572979"/>
                  </a:lnTo>
                  <a:lnTo>
                    <a:pt x="307863" y="2537365"/>
                  </a:lnTo>
                  <a:lnTo>
                    <a:pt x="281963" y="2500986"/>
                  </a:lnTo>
                  <a:lnTo>
                    <a:pt x="257065" y="2463861"/>
                  </a:lnTo>
                  <a:lnTo>
                    <a:pt x="233189" y="2426011"/>
                  </a:lnTo>
                  <a:lnTo>
                    <a:pt x="210355" y="2387455"/>
                  </a:lnTo>
                  <a:lnTo>
                    <a:pt x="188583" y="2348213"/>
                  </a:lnTo>
                  <a:lnTo>
                    <a:pt x="167892" y="2308304"/>
                  </a:lnTo>
                  <a:lnTo>
                    <a:pt x="148301" y="2267749"/>
                  </a:lnTo>
                  <a:lnTo>
                    <a:pt x="129832" y="2226566"/>
                  </a:lnTo>
                  <a:lnTo>
                    <a:pt x="112503" y="2184777"/>
                  </a:lnTo>
                  <a:lnTo>
                    <a:pt x="96334" y="2142400"/>
                  </a:lnTo>
                  <a:lnTo>
                    <a:pt x="81346" y="2099456"/>
                  </a:lnTo>
                  <a:lnTo>
                    <a:pt x="67557" y="2055963"/>
                  </a:lnTo>
                  <a:lnTo>
                    <a:pt x="54988" y="2011943"/>
                  </a:lnTo>
                  <a:lnTo>
                    <a:pt x="43657" y="1967414"/>
                  </a:lnTo>
                  <a:lnTo>
                    <a:pt x="33586" y="1922396"/>
                  </a:lnTo>
                  <a:lnTo>
                    <a:pt x="24794" y="1876909"/>
                  </a:lnTo>
                  <a:lnTo>
                    <a:pt x="17300" y="1830973"/>
                  </a:lnTo>
                  <a:lnTo>
                    <a:pt x="11125" y="1784608"/>
                  </a:lnTo>
                  <a:lnTo>
                    <a:pt x="6287" y="1737833"/>
                  </a:lnTo>
                  <a:lnTo>
                    <a:pt x="2807" y="1690668"/>
                  </a:lnTo>
                  <a:lnTo>
                    <a:pt x="705" y="1643132"/>
                  </a:lnTo>
                  <a:lnTo>
                    <a:pt x="0" y="1595246"/>
                  </a:lnTo>
                  <a:lnTo>
                    <a:pt x="705" y="1547361"/>
                  </a:lnTo>
                  <a:lnTo>
                    <a:pt x="2807" y="1499825"/>
                  </a:lnTo>
                  <a:lnTo>
                    <a:pt x="6287" y="1452660"/>
                  </a:lnTo>
                  <a:lnTo>
                    <a:pt x="11125" y="1405885"/>
                  </a:lnTo>
                  <a:lnTo>
                    <a:pt x="17300" y="1359520"/>
                  </a:lnTo>
                  <a:lnTo>
                    <a:pt x="24794" y="1313584"/>
                  </a:lnTo>
                  <a:lnTo>
                    <a:pt x="33586" y="1268097"/>
                  </a:lnTo>
                  <a:lnTo>
                    <a:pt x="43657" y="1223079"/>
                  </a:lnTo>
                  <a:lnTo>
                    <a:pt x="54988" y="1178550"/>
                  </a:lnTo>
                  <a:lnTo>
                    <a:pt x="67557" y="1134530"/>
                  </a:lnTo>
                  <a:lnTo>
                    <a:pt x="81346" y="1091037"/>
                  </a:lnTo>
                  <a:lnTo>
                    <a:pt x="96334" y="1048093"/>
                  </a:lnTo>
                  <a:lnTo>
                    <a:pt x="112503" y="1005716"/>
                  </a:lnTo>
                  <a:lnTo>
                    <a:pt x="129832" y="963927"/>
                  </a:lnTo>
                  <a:lnTo>
                    <a:pt x="148301" y="922744"/>
                  </a:lnTo>
                  <a:lnTo>
                    <a:pt x="167892" y="882189"/>
                  </a:lnTo>
                  <a:lnTo>
                    <a:pt x="188583" y="842280"/>
                  </a:lnTo>
                  <a:lnTo>
                    <a:pt x="210355" y="803038"/>
                  </a:lnTo>
                  <a:lnTo>
                    <a:pt x="233189" y="764482"/>
                  </a:lnTo>
                  <a:lnTo>
                    <a:pt x="257065" y="726632"/>
                  </a:lnTo>
                  <a:lnTo>
                    <a:pt x="281963" y="689507"/>
                  </a:lnTo>
                  <a:lnTo>
                    <a:pt x="307863" y="653128"/>
                  </a:lnTo>
                  <a:lnTo>
                    <a:pt x="334746" y="617514"/>
                  </a:lnTo>
                  <a:lnTo>
                    <a:pt x="362592" y="582685"/>
                  </a:lnTo>
                  <a:lnTo>
                    <a:pt x="391380" y="548660"/>
                  </a:lnTo>
                  <a:lnTo>
                    <a:pt x="421092" y="515460"/>
                  </a:lnTo>
                  <a:lnTo>
                    <a:pt x="451708" y="483104"/>
                  </a:lnTo>
                  <a:lnTo>
                    <a:pt x="483207" y="451611"/>
                  </a:lnTo>
                  <a:lnTo>
                    <a:pt x="515571" y="421003"/>
                  </a:lnTo>
                  <a:lnTo>
                    <a:pt x="548779" y="391297"/>
                  </a:lnTo>
                  <a:lnTo>
                    <a:pt x="582811" y="362515"/>
                  </a:lnTo>
                  <a:lnTo>
                    <a:pt x="617648" y="334676"/>
                  </a:lnTo>
                  <a:lnTo>
                    <a:pt x="653271" y="307799"/>
                  </a:lnTo>
                  <a:lnTo>
                    <a:pt x="689658" y="281904"/>
                  </a:lnTo>
                  <a:lnTo>
                    <a:pt x="726792" y="257012"/>
                  </a:lnTo>
                  <a:lnTo>
                    <a:pt x="764651" y="233141"/>
                  </a:lnTo>
                  <a:lnTo>
                    <a:pt x="803216" y="210312"/>
                  </a:lnTo>
                  <a:lnTo>
                    <a:pt x="842468" y="188544"/>
                  </a:lnTo>
                  <a:lnTo>
                    <a:pt x="882386" y="167857"/>
                  </a:lnTo>
                  <a:lnTo>
                    <a:pt x="922951" y="148271"/>
                  </a:lnTo>
                  <a:lnTo>
                    <a:pt x="964144" y="129805"/>
                  </a:lnTo>
                  <a:lnTo>
                    <a:pt x="1005943" y="112480"/>
                  </a:lnTo>
                  <a:lnTo>
                    <a:pt x="1048331" y="96315"/>
                  </a:lnTo>
                  <a:lnTo>
                    <a:pt x="1091286" y="81329"/>
                  </a:lnTo>
                  <a:lnTo>
                    <a:pt x="1134789" y="67543"/>
                  </a:lnTo>
                  <a:lnTo>
                    <a:pt x="1178821" y="54977"/>
                  </a:lnTo>
                  <a:lnTo>
                    <a:pt x="1223362" y="43649"/>
                  </a:lnTo>
                  <a:lnTo>
                    <a:pt x="1268391" y="33580"/>
                  </a:lnTo>
                  <a:lnTo>
                    <a:pt x="1313889" y="24789"/>
                  </a:lnTo>
                  <a:lnTo>
                    <a:pt x="1359837" y="17297"/>
                  </a:lnTo>
                  <a:lnTo>
                    <a:pt x="1406215" y="11122"/>
                  </a:lnTo>
                  <a:lnTo>
                    <a:pt x="1453003" y="6286"/>
                  </a:lnTo>
                  <a:lnTo>
                    <a:pt x="1500180" y="2807"/>
                  </a:lnTo>
                  <a:lnTo>
                    <a:pt x="1547729" y="705"/>
                  </a:lnTo>
                  <a:lnTo>
                    <a:pt x="1595628" y="0"/>
                  </a:lnTo>
                  <a:lnTo>
                    <a:pt x="1595628" y="1595246"/>
                  </a:lnTo>
                  <a:lnTo>
                    <a:pt x="1595628" y="31904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0"/>
                  </a:moveTo>
                  <a:lnTo>
                    <a:pt x="988261" y="1128"/>
                  </a:lnTo>
                  <a:lnTo>
                    <a:pt x="940021" y="4481"/>
                  </a:lnTo>
                  <a:lnTo>
                    <a:pt x="892412" y="10009"/>
                  </a:lnTo>
                  <a:lnTo>
                    <a:pt x="845484" y="17662"/>
                  </a:lnTo>
                  <a:lnTo>
                    <a:pt x="799286" y="27389"/>
                  </a:lnTo>
                  <a:lnTo>
                    <a:pt x="753869" y="39142"/>
                  </a:lnTo>
                  <a:lnTo>
                    <a:pt x="709281" y="52870"/>
                  </a:lnTo>
                  <a:lnTo>
                    <a:pt x="665574" y="68524"/>
                  </a:lnTo>
                  <a:lnTo>
                    <a:pt x="622795" y="86053"/>
                  </a:lnTo>
                  <a:lnTo>
                    <a:pt x="580997" y="105409"/>
                  </a:lnTo>
                  <a:lnTo>
                    <a:pt x="540227" y="126540"/>
                  </a:lnTo>
                  <a:lnTo>
                    <a:pt x="500537" y="149398"/>
                  </a:lnTo>
                  <a:lnTo>
                    <a:pt x="461975" y="173933"/>
                  </a:lnTo>
                  <a:lnTo>
                    <a:pt x="424592" y="200095"/>
                  </a:lnTo>
                  <a:lnTo>
                    <a:pt x="388437" y="227833"/>
                  </a:lnTo>
                  <a:lnTo>
                    <a:pt x="353561" y="257099"/>
                  </a:lnTo>
                  <a:lnTo>
                    <a:pt x="320012" y="287842"/>
                  </a:lnTo>
                  <a:lnTo>
                    <a:pt x="287842" y="320012"/>
                  </a:lnTo>
                  <a:lnTo>
                    <a:pt x="257099" y="353561"/>
                  </a:lnTo>
                  <a:lnTo>
                    <a:pt x="227833" y="388437"/>
                  </a:lnTo>
                  <a:lnTo>
                    <a:pt x="200095" y="424592"/>
                  </a:lnTo>
                  <a:lnTo>
                    <a:pt x="173933" y="461975"/>
                  </a:lnTo>
                  <a:lnTo>
                    <a:pt x="149398" y="500537"/>
                  </a:lnTo>
                  <a:lnTo>
                    <a:pt x="126540" y="540227"/>
                  </a:lnTo>
                  <a:lnTo>
                    <a:pt x="105409" y="580997"/>
                  </a:lnTo>
                  <a:lnTo>
                    <a:pt x="86053" y="622795"/>
                  </a:lnTo>
                  <a:lnTo>
                    <a:pt x="68524" y="665574"/>
                  </a:lnTo>
                  <a:lnTo>
                    <a:pt x="52870" y="709281"/>
                  </a:lnTo>
                  <a:lnTo>
                    <a:pt x="39142" y="753869"/>
                  </a:lnTo>
                  <a:lnTo>
                    <a:pt x="27389" y="799286"/>
                  </a:lnTo>
                  <a:lnTo>
                    <a:pt x="17662" y="845484"/>
                  </a:lnTo>
                  <a:lnTo>
                    <a:pt x="10009" y="892412"/>
                  </a:lnTo>
                  <a:lnTo>
                    <a:pt x="4481" y="940021"/>
                  </a:lnTo>
                  <a:lnTo>
                    <a:pt x="1128" y="988261"/>
                  </a:lnTo>
                  <a:lnTo>
                    <a:pt x="0" y="1037082"/>
                  </a:lnTo>
                  <a:lnTo>
                    <a:pt x="1128" y="1085902"/>
                  </a:lnTo>
                  <a:lnTo>
                    <a:pt x="4481" y="1134142"/>
                  </a:lnTo>
                  <a:lnTo>
                    <a:pt x="10009" y="1181751"/>
                  </a:lnTo>
                  <a:lnTo>
                    <a:pt x="17662" y="1228679"/>
                  </a:lnTo>
                  <a:lnTo>
                    <a:pt x="27389" y="1274877"/>
                  </a:lnTo>
                  <a:lnTo>
                    <a:pt x="39142" y="1320294"/>
                  </a:lnTo>
                  <a:lnTo>
                    <a:pt x="52870" y="1364882"/>
                  </a:lnTo>
                  <a:lnTo>
                    <a:pt x="68524" y="1408589"/>
                  </a:lnTo>
                  <a:lnTo>
                    <a:pt x="86053" y="1451368"/>
                  </a:lnTo>
                  <a:lnTo>
                    <a:pt x="105409" y="1493166"/>
                  </a:lnTo>
                  <a:lnTo>
                    <a:pt x="126540" y="1533936"/>
                  </a:lnTo>
                  <a:lnTo>
                    <a:pt x="149398" y="1573626"/>
                  </a:lnTo>
                  <a:lnTo>
                    <a:pt x="173933" y="1612188"/>
                  </a:lnTo>
                  <a:lnTo>
                    <a:pt x="200095" y="1649571"/>
                  </a:lnTo>
                  <a:lnTo>
                    <a:pt x="227833" y="1685726"/>
                  </a:lnTo>
                  <a:lnTo>
                    <a:pt x="257099" y="1720602"/>
                  </a:lnTo>
                  <a:lnTo>
                    <a:pt x="287842" y="1754151"/>
                  </a:lnTo>
                  <a:lnTo>
                    <a:pt x="320012" y="1786321"/>
                  </a:lnTo>
                  <a:lnTo>
                    <a:pt x="353561" y="1817064"/>
                  </a:lnTo>
                  <a:lnTo>
                    <a:pt x="388437" y="1846330"/>
                  </a:lnTo>
                  <a:lnTo>
                    <a:pt x="424592" y="1874068"/>
                  </a:lnTo>
                  <a:lnTo>
                    <a:pt x="461975" y="1900230"/>
                  </a:lnTo>
                  <a:lnTo>
                    <a:pt x="500537" y="1924765"/>
                  </a:lnTo>
                  <a:lnTo>
                    <a:pt x="540227" y="1947623"/>
                  </a:lnTo>
                  <a:lnTo>
                    <a:pt x="580997" y="1968754"/>
                  </a:lnTo>
                  <a:lnTo>
                    <a:pt x="622795" y="1988110"/>
                  </a:lnTo>
                  <a:lnTo>
                    <a:pt x="665574" y="2005639"/>
                  </a:lnTo>
                  <a:lnTo>
                    <a:pt x="709281" y="2021293"/>
                  </a:lnTo>
                  <a:lnTo>
                    <a:pt x="753869" y="2035021"/>
                  </a:lnTo>
                  <a:lnTo>
                    <a:pt x="799286" y="2046774"/>
                  </a:lnTo>
                  <a:lnTo>
                    <a:pt x="845484" y="2056501"/>
                  </a:lnTo>
                  <a:lnTo>
                    <a:pt x="892412" y="2064154"/>
                  </a:lnTo>
                  <a:lnTo>
                    <a:pt x="940021" y="2069682"/>
                  </a:lnTo>
                  <a:lnTo>
                    <a:pt x="988261" y="2073035"/>
                  </a:lnTo>
                  <a:lnTo>
                    <a:pt x="1037082" y="2074164"/>
                  </a:lnTo>
                  <a:lnTo>
                    <a:pt x="1037082" y="0"/>
                  </a:lnTo>
                  <a:close/>
                </a:path>
              </a:pathLst>
            </a:custGeom>
            <a:solidFill>
              <a:srgbClr val="5FE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4593" y="3481959"/>
              <a:ext cx="1037590" cy="2074545"/>
            </a:xfrm>
            <a:custGeom>
              <a:avLst/>
              <a:gdLst/>
              <a:ahLst/>
              <a:cxnLst/>
              <a:rect l="l" t="t" r="r" b="b"/>
              <a:pathLst>
                <a:path w="1037589" h="2074545">
                  <a:moveTo>
                    <a:pt x="1037082" y="2074164"/>
                  </a:moveTo>
                  <a:lnTo>
                    <a:pt x="988261" y="2073035"/>
                  </a:lnTo>
                  <a:lnTo>
                    <a:pt x="940021" y="2069682"/>
                  </a:lnTo>
                  <a:lnTo>
                    <a:pt x="892412" y="2064154"/>
                  </a:lnTo>
                  <a:lnTo>
                    <a:pt x="845484" y="2056501"/>
                  </a:lnTo>
                  <a:lnTo>
                    <a:pt x="799286" y="2046774"/>
                  </a:lnTo>
                  <a:lnTo>
                    <a:pt x="753869" y="2035021"/>
                  </a:lnTo>
                  <a:lnTo>
                    <a:pt x="709281" y="2021293"/>
                  </a:lnTo>
                  <a:lnTo>
                    <a:pt x="665574" y="2005639"/>
                  </a:lnTo>
                  <a:lnTo>
                    <a:pt x="622795" y="1988110"/>
                  </a:lnTo>
                  <a:lnTo>
                    <a:pt x="580997" y="1968754"/>
                  </a:lnTo>
                  <a:lnTo>
                    <a:pt x="540227" y="1947623"/>
                  </a:lnTo>
                  <a:lnTo>
                    <a:pt x="500537" y="1924765"/>
                  </a:lnTo>
                  <a:lnTo>
                    <a:pt x="461975" y="1900230"/>
                  </a:lnTo>
                  <a:lnTo>
                    <a:pt x="424592" y="1874068"/>
                  </a:lnTo>
                  <a:lnTo>
                    <a:pt x="388437" y="1846330"/>
                  </a:lnTo>
                  <a:lnTo>
                    <a:pt x="353561" y="1817064"/>
                  </a:lnTo>
                  <a:lnTo>
                    <a:pt x="320012" y="1786321"/>
                  </a:lnTo>
                  <a:lnTo>
                    <a:pt x="287842" y="1754151"/>
                  </a:lnTo>
                  <a:lnTo>
                    <a:pt x="257099" y="1720602"/>
                  </a:lnTo>
                  <a:lnTo>
                    <a:pt x="227833" y="1685726"/>
                  </a:lnTo>
                  <a:lnTo>
                    <a:pt x="200095" y="1649571"/>
                  </a:lnTo>
                  <a:lnTo>
                    <a:pt x="173933" y="1612188"/>
                  </a:lnTo>
                  <a:lnTo>
                    <a:pt x="149398" y="1573626"/>
                  </a:lnTo>
                  <a:lnTo>
                    <a:pt x="126540" y="1533936"/>
                  </a:lnTo>
                  <a:lnTo>
                    <a:pt x="105409" y="1493166"/>
                  </a:lnTo>
                  <a:lnTo>
                    <a:pt x="86053" y="1451368"/>
                  </a:lnTo>
                  <a:lnTo>
                    <a:pt x="68524" y="1408589"/>
                  </a:lnTo>
                  <a:lnTo>
                    <a:pt x="52870" y="1364882"/>
                  </a:lnTo>
                  <a:lnTo>
                    <a:pt x="39142" y="1320294"/>
                  </a:lnTo>
                  <a:lnTo>
                    <a:pt x="27389" y="1274877"/>
                  </a:lnTo>
                  <a:lnTo>
                    <a:pt x="17662" y="1228679"/>
                  </a:lnTo>
                  <a:lnTo>
                    <a:pt x="10009" y="1181751"/>
                  </a:lnTo>
                  <a:lnTo>
                    <a:pt x="4481" y="1134142"/>
                  </a:lnTo>
                  <a:lnTo>
                    <a:pt x="1128" y="1085902"/>
                  </a:lnTo>
                  <a:lnTo>
                    <a:pt x="0" y="1037082"/>
                  </a:lnTo>
                  <a:lnTo>
                    <a:pt x="1128" y="988261"/>
                  </a:lnTo>
                  <a:lnTo>
                    <a:pt x="4481" y="940021"/>
                  </a:lnTo>
                  <a:lnTo>
                    <a:pt x="10009" y="892412"/>
                  </a:lnTo>
                  <a:lnTo>
                    <a:pt x="17662" y="845484"/>
                  </a:lnTo>
                  <a:lnTo>
                    <a:pt x="27389" y="799286"/>
                  </a:lnTo>
                  <a:lnTo>
                    <a:pt x="39142" y="753869"/>
                  </a:lnTo>
                  <a:lnTo>
                    <a:pt x="52870" y="709281"/>
                  </a:lnTo>
                  <a:lnTo>
                    <a:pt x="68524" y="665574"/>
                  </a:lnTo>
                  <a:lnTo>
                    <a:pt x="86053" y="622795"/>
                  </a:lnTo>
                  <a:lnTo>
                    <a:pt x="105409" y="580997"/>
                  </a:lnTo>
                  <a:lnTo>
                    <a:pt x="126540" y="540227"/>
                  </a:lnTo>
                  <a:lnTo>
                    <a:pt x="149398" y="500537"/>
                  </a:lnTo>
                  <a:lnTo>
                    <a:pt x="173933" y="461975"/>
                  </a:lnTo>
                  <a:lnTo>
                    <a:pt x="200095" y="424592"/>
                  </a:lnTo>
                  <a:lnTo>
                    <a:pt x="227833" y="388437"/>
                  </a:lnTo>
                  <a:lnTo>
                    <a:pt x="257099" y="353561"/>
                  </a:lnTo>
                  <a:lnTo>
                    <a:pt x="287842" y="320012"/>
                  </a:lnTo>
                  <a:lnTo>
                    <a:pt x="320012" y="287842"/>
                  </a:lnTo>
                  <a:lnTo>
                    <a:pt x="353561" y="257099"/>
                  </a:lnTo>
                  <a:lnTo>
                    <a:pt x="388437" y="227833"/>
                  </a:lnTo>
                  <a:lnTo>
                    <a:pt x="424592" y="200095"/>
                  </a:lnTo>
                  <a:lnTo>
                    <a:pt x="461975" y="173933"/>
                  </a:lnTo>
                  <a:lnTo>
                    <a:pt x="500537" y="149398"/>
                  </a:lnTo>
                  <a:lnTo>
                    <a:pt x="540227" y="126540"/>
                  </a:lnTo>
                  <a:lnTo>
                    <a:pt x="580997" y="105409"/>
                  </a:lnTo>
                  <a:lnTo>
                    <a:pt x="622795" y="86053"/>
                  </a:lnTo>
                  <a:lnTo>
                    <a:pt x="665574" y="68524"/>
                  </a:lnTo>
                  <a:lnTo>
                    <a:pt x="709281" y="52870"/>
                  </a:lnTo>
                  <a:lnTo>
                    <a:pt x="753869" y="39142"/>
                  </a:lnTo>
                  <a:lnTo>
                    <a:pt x="799286" y="27389"/>
                  </a:lnTo>
                  <a:lnTo>
                    <a:pt x="845484" y="17662"/>
                  </a:lnTo>
                  <a:lnTo>
                    <a:pt x="892412" y="10009"/>
                  </a:lnTo>
                  <a:lnTo>
                    <a:pt x="940021" y="4481"/>
                  </a:lnTo>
                  <a:lnTo>
                    <a:pt x="988261" y="1128"/>
                  </a:lnTo>
                  <a:lnTo>
                    <a:pt x="1037082" y="0"/>
                  </a:lnTo>
                  <a:lnTo>
                    <a:pt x="1037082" y="1037082"/>
                  </a:lnTo>
                  <a:lnTo>
                    <a:pt x="1037082" y="20741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0"/>
                  </a:moveTo>
                  <a:lnTo>
                    <a:pt x="429608" y="2470"/>
                  </a:lnTo>
                  <a:lnTo>
                    <a:pt x="382094" y="9722"/>
                  </a:lnTo>
                  <a:lnTo>
                    <a:pt x="336234" y="21514"/>
                  </a:lnTo>
                  <a:lnTo>
                    <a:pt x="292268" y="37605"/>
                  </a:lnTo>
                  <a:lnTo>
                    <a:pt x="250437" y="57756"/>
                  </a:lnTo>
                  <a:lnTo>
                    <a:pt x="210982" y="81726"/>
                  </a:lnTo>
                  <a:lnTo>
                    <a:pt x="174143" y="109274"/>
                  </a:lnTo>
                  <a:lnTo>
                    <a:pt x="140160" y="140160"/>
                  </a:lnTo>
                  <a:lnTo>
                    <a:pt x="109274" y="174143"/>
                  </a:lnTo>
                  <a:lnTo>
                    <a:pt x="81726" y="210982"/>
                  </a:lnTo>
                  <a:lnTo>
                    <a:pt x="57756" y="250437"/>
                  </a:lnTo>
                  <a:lnTo>
                    <a:pt x="37605" y="292268"/>
                  </a:lnTo>
                  <a:lnTo>
                    <a:pt x="21514" y="336234"/>
                  </a:lnTo>
                  <a:lnTo>
                    <a:pt x="9722" y="382094"/>
                  </a:lnTo>
                  <a:lnTo>
                    <a:pt x="2470" y="429608"/>
                  </a:lnTo>
                  <a:lnTo>
                    <a:pt x="0" y="478536"/>
                  </a:lnTo>
                  <a:lnTo>
                    <a:pt x="2470" y="527463"/>
                  </a:lnTo>
                  <a:lnTo>
                    <a:pt x="9722" y="574977"/>
                  </a:lnTo>
                  <a:lnTo>
                    <a:pt x="21514" y="620837"/>
                  </a:lnTo>
                  <a:lnTo>
                    <a:pt x="37605" y="664803"/>
                  </a:lnTo>
                  <a:lnTo>
                    <a:pt x="57756" y="706634"/>
                  </a:lnTo>
                  <a:lnTo>
                    <a:pt x="81726" y="746089"/>
                  </a:lnTo>
                  <a:lnTo>
                    <a:pt x="109274" y="782928"/>
                  </a:lnTo>
                  <a:lnTo>
                    <a:pt x="140160" y="816911"/>
                  </a:lnTo>
                  <a:lnTo>
                    <a:pt x="174143" y="847797"/>
                  </a:lnTo>
                  <a:lnTo>
                    <a:pt x="210982" y="875345"/>
                  </a:lnTo>
                  <a:lnTo>
                    <a:pt x="250437" y="899315"/>
                  </a:lnTo>
                  <a:lnTo>
                    <a:pt x="292268" y="919466"/>
                  </a:lnTo>
                  <a:lnTo>
                    <a:pt x="336234" y="935557"/>
                  </a:lnTo>
                  <a:lnTo>
                    <a:pt x="382094" y="947349"/>
                  </a:lnTo>
                  <a:lnTo>
                    <a:pt x="429608" y="954601"/>
                  </a:lnTo>
                  <a:lnTo>
                    <a:pt x="478536" y="957072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93138" y="4439031"/>
              <a:ext cx="478790" cy="957580"/>
            </a:xfrm>
            <a:custGeom>
              <a:avLst/>
              <a:gdLst/>
              <a:ahLst/>
              <a:cxnLst/>
              <a:rect l="l" t="t" r="r" b="b"/>
              <a:pathLst>
                <a:path w="478789" h="957579">
                  <a:moveTo>
                    <a:pt x="478536" y="957072"/>
                  </a:moveTo>
                  <a:lnTo>
                    <a:pt x="429608" y="954601"/>
                  </a:lnTo>
                  <a:lnTo>
                    <a:pt x="382094" y="947349"/>
                  </a:lnTo>
                  <a:lnTo>
                    <a:pt x="336234" y="935557"/>
                  </a:lnTo>
                  <a:lnTo>
                    <a:pt x="292268" y="919466"/>
                  </a:lnTo>
                  <a:lnTo>
                    <a:pt x="250437" y="899315"/>
                  </a:lnTo>
                  <a:lnTo>
                    <a:pt x="210982" y="875345"/>
                  </a:lnTo>
                  <a:lnTo>
                    <a:pt x="174143" y="847797"/>
                  </a:lnTo>
                  <a:lnTo>
                    <a:pt x="140160" y="816911"/>
                  </a:lnTo>
                  <a:lnTo>
                    <a:pt x="109274" y="782928"/>
                  </a:lnTo>
                  <a:lnTo>
                    <a:pt x="81726" y="746089"/>
                  </a:lnTo>
                  <a:lnTo>
                    <a:pt x="57756" y="706634"/>
                  </a:lnTo>
                  <a:lnTo>
                    <a:pt x="37605" y="664803"/>
                  </a:lnTo>
                  <a:lnTo>
                    <a:pt x="21514" y="620837"/>
                  </a:lnTo>
                  <a:lnTo>
                    <a:pt x="9722" y="574977"/>
                  </a:lnTo>
                  <a:lnTo>
                    <a:pt x="2470" y="527463"/>
                  </a:lnTo>
                  <a:lnTo>
                    <a:pt x="0" y="478536"/>
                  </a:lnTo>
                  <a:lnTo>
                    <a:pt x="2470" y="429608"/>
                  </a:lnTo>
                  <a:lnTo>
                    <a:pt x="9722" y="382094"/>
                  </a:lnTo>
                  <a:lnTo>
                    <a:pt x="21514" y="336234"/>
                  </a:lnTo>
                  <a:lnTo>
                    <a:pt x="37605" y="292268"/>
                  </a:lnTo>
                  <a:lnTo>
                    <a:pt x="57756" y="250437"/>
                  </a:lnTo>
                  <a:lnTo>
                    <a:pt x="81726" y="210982"/>
                  </a:lnTo>
                  <a:lnTo>
                    <a:pt x="109274" y="174143"/>
                  </a:lnTo>
                  <a:lnTo>
                    <a:pt x="140160" y="140160"/>
                  </a:lnTo>
                  <a:lnTo>
                    <a:pt x="174143" y="109274"/>
                  </a:lnTo>
                  <a:lnTo>
                    <a:pt x="210982" y="81726"/>
                  </a:lnTo>
                  <a:lnTo>
                    <a:pt x="250437" y="57756"/>
                  </a:lnTo>
                  <a:lnTo>
                    <a:pt x="292268" y="37605"/>
                  </a:lnTo>
                  <a:lnTo>
                    <a:pt x="336234" y="21514"/>
                  </a:lnTo>
                  <a:lnTo>
                    <a:pt x="382094" y="9722"/>
                  </a:lnTo>
                  <a:lnTo>
                    <a:pt x="429608" y="2470"/>
                  </a:lnTo>
                  <a:lnTo>
                    <a:pt x="478536" y="0"/>
                  </a:lnTo>
                  <a:lnTo>
                    <a:pt x="478536" y="478536"/>
                  </a:lnTo>
                  <a:lnTo>
                    <a:pt x="478536" y="95707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959101" y="2512314"/>
          <a:ext cx="6481445" cy="3189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956944">
                <a:tc>
                  <a:txBody>
                    <a:bodyPr/>
                    <a:lstStyle/>
                    <a:p>
                      <a:pPr marL="2242185" marR="666115" indent="-834390">
                        <a:lnSpc>
                          <a:spcPct val="82100"/>
                        </a:lnSpc>
                        <a:spcBef>
                          <a:spcPts val="135"/>
                        </a:spcBef>
                      </a:pPr>
                      <a:r>
                        <a:rPr sz="6600" spc="-7" baseline="-17676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sz="6600" spc="622" baseline="-17676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65" dirty="0">
                          <a:latin typeface="Calibri"/>
                          <a:cs typeface="Calibri"/>
                        </a:rPr>
                        <a:t>Tổng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quan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 HT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xử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lý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giao </a:t>
                      </a:r>
                      <a:r>
                        <a:rPr sz="2600" spc="-5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dịch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AACC5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14077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6600" spc="-7" baseline="-3787" dirty="0">
                          <a:latin typeface="Calibri"/>
                          <a:cs typeface="Calibri"/>
                        </a:rPr>
                        <a:t>2.</a:t>
                      </a:r>
                      <a:r>
                        <a:rPr sz="6600" spc="660" baseline="-378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2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Các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ứng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dụng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xử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lý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 giao</a:t>
                      </a:r>
                      <a:r>
                        <a:rPr sz="2600" dirty="0">
                          <a:latin typeface="Calibri"/>
                          <a:cs typeface="Calibri"/>
                        </a:rPr>
                        <a:t> dịch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56944">
                <a:tc>
                  <a:txBody>
                    <a:bodyPr/>
                    <a:lstStyle/>
                    <a:p>
                      <a:pPr marL="2320925" marR="426720" indent="-913765">
                        <a:lnSpc>
                          <a:spcPct val="82100"/>
                        </a:lnSpc>
                        <a:spcBef>
                          <a:spcPts val="650"/>
                        </a:spcBef>
                        <a:tabLst>
                          <a:tab pos="2092325" algn="l"/>
                        </a:tabLst>
                      </a:pPr>
                      <a:r>
                        <a:rPr sz="6600" spc="-7" baseline="-11363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• </a:t>
                      </a:r>
                      <a:r>
                        <a:rPr sz="2600" spc="-50" dirty="0">
                          <a:latin typeface="Calibri"/>
                          <a:cs typeface="Calibri"/>
                        </a:rPr>
                        <a:t>Vấn </a:t>
                      </a:r>
                      <a:r>
                        <a:rPr sz="2600" spc="-5" dirty="0">
                          <a:latin typeface="Arial"/>
                          <a:cs typeface="Arial"/>
                        </a:rPr>
                        <a:t>đ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ề kiểm </a:t>
                      </a:r>
                      <a:r>
                        <a:rPr sz="2600" spc="-15" dirty="0">
                          <a:latin typeface="Calibri"/>
                          <a:cs typeface="Calibri"/>
                        </a:rPr>
                        <a:t>soát </a:t>
                      </a:r>
                      <a:r>
                        <a:rPr sz="2600" spc="-20" dirty="0">
                          <a:latin typeface="Calibri"/>
                          <a:cs typeface="Calibri"/>
                        </a:rPr>
                        <a:t>và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quản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lý </a:t>
                      </a:r>
                      <a:r>
                        <a:rPr sz="2600" spc="-5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HT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5" dirty="0">
                          <a:latin typeface="Calibri"/>
                          <a:cs typeface="Calibri"/>
                        </a:rPr>
                        <a:t>giao</a:t>
                      </a:r>
                      <a:r>
                        <a:rPr sz="2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600" spc="-10" dirty="0">
                          <a:latin typeface="Calibri"/>
                          <a:cs typeface="Calibri"/>
                        </a:rPr>
                        <a:t>dịch</a:t>
                      </a:r>
                      <a:endParaRPr sz="26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FE046"/>
                      </a:solidFill>
                      <a:prstDash val="solid"/>
                    </a:lnL>
                    <a:lnR w="28575">
                      <a:solidFill>
                        <a:srgbClr val="5FE0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5FE0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5FE046"/>
                      </a:solidFill>
                      <a:prstDash val="solid"/>
                    </a:lnT>
                    <a:lnB w="28575">
                      <a:solidFill>
                        <a:srgbClr val="4AAC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20" dirty="0"/>
              <a:t> </a:t>
            </a:r>
            <a:r>
              <a:rPr spc="-10" dirty="0"/>
              <a:t>hệ</a:t>
            </a:r>
            <a:r>
              <a:rPr spc="-15" dirty="0"/>
              <a:t> </a:t>
            </a:r>
            <a:r>
              <a:rPr dirty="0"/>
              <a:t>thống</a:t>
            </a:r>
            <a:r>
              <a:rPr spc="-10" dirty="0"/>
              <a:t> </a:t>
            </a:r>
            <a:r>
              <a:rPr dirty="0"/>
              <a:t>thông</a:t>
            </a:r>
            <a:r>
              <a:rPr spc="-10" dirty="0"/>
              <a:t> </a:t>
            </a:r>
            <a:r>
              <a:rPr dirty="0"/>
              <a:t>tin</a:t>
            </a:r>
            <a:r>
              <a:rPr spc="-25" dirty="0"/>
              <a:t> </a:t>
            </a:r>
            <a:r>
              <a:rPr dirty="0"/>
              <a:t>theo</a:t>
            </a:r>
            <a:r>
              <a:rPr spc="-10" dirty="0"/>
              <a:t> </a:t>
            </a:r>
            <a:r>
              <a:rPr spc="-5" dirty="0"/>
              <a:t>mức </a:t>
            </a:r>
            <a:r>
              <a:rPr spc="-890" dirty="0"/>
              <a:t> </a:t>
            </a:r>
            <a:r>
              <a:rPr dirty="0"/>
              <a:t>quản</a:t>
            </a:r>
            <a:r>
              <a:rPr spc="-5" dirty="0"/>
              <a:t> </a:t>
            </a:r>
            <a:r>
              <a:rPr dirty="0"/>
              <a:t>lý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07008" y="1854707"/>
          <a:ext cx="6049642" cy="39998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49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229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3593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99821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85D8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215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HTTT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lãnh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đạo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7305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0139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85D89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65835" marR="101600" indent="-858519">
                        <a:lnSpc>
                          <a:spcPts val="3340"/>
                        </a:lnSpc>
                        <a:spcBef>
                          <a:spcPts val="62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HTTT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hỗ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trợ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quyết </a:t>
                      </a:r>
                      <a:r>
                        <a:rPr sz="2800" b="1" spc="-7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định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(DSS)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38100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02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385D89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9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HTTT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quản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lý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(MIS)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7813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38100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98219"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HTTT</a:t>
                      </a:r>
                      <a:r>
                        <a:rPr sz="2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xử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lý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giao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dịch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(TPS)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7368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  <a:lnB w="28575">
                      <a:solidFill>
                        <a:srgbClr val="385D89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478776" y="1882394"/>
            <a:ext cx="1198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Thông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2314" y="5382005"/>
            <a:ext cx="917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Dữ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liệu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828026" y="2177795"/>
            <a:ext cx="422275" cy="3253104"/>
            <a:chOff x="7828026" y="2177795"/>
            <a:chExt cx="422275" cy="3253104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8026" y="2177795"/>
              <a:ext cx="422148" cy="32529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53521" y="2365882"/>
              <a:ext cx="171450" cy="3001010"/>
            </a:xfrm>
            <a:custGeom>
              <a:avLst/>
              <a:gdLst/>
              <a:ahLst/>
              <a:cxnLst/>
              <a:rect l="l" t="t" r="r" b="b"/>
              <a:pathLst>
                <a:path w="171450" h="3001010">
                  <a:moveTo>
                    <a:pt x="85578" y="75800"/>
                  </a:moveTo>
                  <a:lnTo>
                    <a:pt x="66528" y="108457"/>
                  </a:lnTo>
                  <a:lnTo>
                    <a:pt x="66528" y="3000755"/>
                  </a:lnTo>
                  <a:lnTo>
                    <a:pt x="104628" y="3000755"/>
                  </a:lnTo>
                  <a:lnTo>
                    <a:pt x="104628" y="108457"/>
                  </a:lnTo>
                  <a:lnTo>
                    <a:pt x="85578" y="75800"/>
                  </a:lnTo>
                  <a:close/>
                </a:path>
                <a:path w="171450" h="3001010">
                  <a:moveTo>
                    <a:pt x="85578" y="0"/>
                  </a:moveTo>
                  <a:lnTo>
                    <a:pt x="2393" y="142493"/>
                  </a:lnTo>
                  <a:lnTo>
                    <a:pt x="0" y="149689"/>
                  </a:lnTo>
                  <a:lnTo>
                    <a:pt x="488" y="157003"/>
                  </a:lnTo>
                  <a:lnTo>
                    <a:pt x="3643" y="163603"/>
                  </a:lnTo>
                  <a:lnTo>
                    <a:pt x="9251" y="168655"/>
                  </a:lnTo>
                  <a:lnTo>
                    <a:pt x="16446" y="171049"/>
                  </a:lnTo>
                  <a:lnTo>
                    <a:pt x="23760" y="170561"/>
                  </a:lnTo>
                  <a:lnTo>
                    <a:pt x="30360" y="167405"/>
                  </a:lnTo>
                  <a:lnTo>
                    <a:pt x="35413" y="161797"/>
                  </a:lnTo>
                  <a:lnTo>
                    <a:pt x="66528" y="108457"/>
                  </a:lnTo>
                  <a:lnTo>
                    <a:pt x="66528" y="37845"/>
                  </a:lnTo>
                  <a:lnTo>
                    <a:pt x="107671" y="37845"/>
                  </a:lnTo>
                  <a:lnTo>
                    <a:pt x="85578" y="0"/>
                  </a:lnTo>
                  <a:close/>
                </a:path>
                <a:path w="171450" h="3001010">
                  <a:moveTo>
                    <a:pt x="107671" y="37845"/>
                  </a:moveTo>
                  <a:lnTo>
                    <a:pt x="104628" y="37845"/>
                  </a:lnTo>
                  <a:lnTo>
                    <a:pt x="104628" y="108457"/>
                  </a:lnTo>
                  <a:lnTo>
                    <a:pt x="135743" y="161797"/>
                  </a:lnTo>
                  <a:lnTo>
                    <a:pt x="140795" y="167405"/>
                  </a:lnTo>
                  <a:lnTo>
                    <a:pt x="147395" y="170561"/>
                  </a:lnTo>
                  <a:lnTo>
                    <a:pt x="154709" y="171049"/>
                  </a:lnTo>
                  <a:lnTo>
                    <a:pt x="161905" y="168655"/>
                  </a:lnTo>
                  <a:lnTo>
                    <a:pt x="167513" y="163603"/>
                  </a:lnTo>
                  <a:lnTo>
                    <a:pt x="170668" y="157003"/>
                  </a:lnTo>
                  <a:lnTo>
                    <a:pt x="171156" y="149689"/>
                  </a:lnTo>
                  <a:lnTo>
                    <a:pt x="168763" y="142493"/>
                  </a:lnTo>
                  <a:lnTo>
                    <a:pt x="107671" y="37845"/>
                  </a:lnTo>
                  <a:close/>
                </a:path>
                <a:path w="171450" h="3001010">
                  <a:moveTo>
                    <a:pt x="104628" y="37845"/>
                  </a:moveTo>
                  <a:lnTo>
                    <a:pt x="66528" y="37845"/>
                  </a:lnTo>
                  <a:lnTo>
                    <a:pt x="66528" y="108457"/>
                  </a:lnTo>
                  <a:lnTo>
                    <a:pt x="85578" y="75800"/>
                  </a:lnTo>
                  <a:lnTo>
                    <a:pt x="69068" y="47497"/>
                  </a:lnTo>
                  <a:lnTo>
                    <a:pt x="104628" y="47497"/>
                  </a:lnTo>
                  <a:lnTo>
                    <a:pt x="104628" y="37845"/>
                  </a:lnTo>
                  <a:close/>
                </a:path>
                <a:path w="171450" h="3001010">
                  <a:moveTo>
                    <a:pt x="104628" y="47497"/>
                  </a:moveTo>
                  <a:lnTo>
                    <a:pt x="102088" y="47497"/>
                  </a:lnTo>
                  <a:lnTo>
                    <a:pt x="85578" y="75800"/>
                  </a:lnTo>
                  <a:lnTo>
                    <a:pt x="104628" y="108457"/>
                  </a:lnTo>
                  <a:lnTo>
                    <a:pt x="104628" y="47497"/>
                  </a:lnTo>
                  <a:close/>
                </a:path>
                <a:path w="171450" h="3001010">
                  <a:moveTo>
                    <a:pt x="102088" y="47497"/>
                  </a:moveTo>
                  <a:lnTo>
                    <a:pt x="69068" y="47497"/>
                  </a:lnTo>
                  <a:lnTo>
                    <a:pt x="85578" y="75800"/>
                  </a:lnTo>
                  <a:lnTo>
                    <a:pt x="102088" y="474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73177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0" dirty="0"/>
              <a:t>Tổng</a:t>
            </a:r>
            <a:r>
              <a:rPr sz="4400" spc="-5" dirty="0"/>
              <a:t> quan</a:t>
            </a:r>
            <a:r>
              <a:rPr sz="4400" spc="5" dirty="0"/>
              <a:t> </a:t>
            </a:r>
            <a:r>
              <a:rPr sz="4400" spc="-25" dirty="0"/>
              <a:t>về</a:t>
            </a:r>
            <a:r>
              <a:rPr sz="4400" spc="-10" dirty="0"/>
              <a:t> </a:t>
            </a:r>
            <a:r>
              <a:rPr sz="4400" spc="-5" dirty="0"/>
              <a:t>HT</a:t>
            </a:r>
            <a:r>
              <a:rPr sz="4400" spc="5" dirty="0"/>
              <a:t> </a:t>
            </a:r>
            <a:r>
              <a:rPr sz="4400" spc="-25" dirty="0"/>
              <a:t>xử</a:t>
            </a:r>
            <a:r>
              <a:rPr sz="4400" spc="-5" dirty="0"/>
              <a:t> lý</a:t>
            </a:r>
            <a:r>
              <a:rPr sz="4400" spc="10" dirty="0"/>
              <a:t> </a:t>
            </a:r>
            <a:r>
              <a:rPr sz="4400" spc="-5" dirty="0"/>
              <a:t>giao</a:t>
            </a:r>
            <a:r>
              <a:rPr sz="4400" spc="-10" dirty="0"/>
              <a:t> </a:t>
            </a:r>
            <a:r>
              <a:rPr sz="4400" spc="-5" dirty="0"/>
              <a:t>dịch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79371"/>
            <a:ext cx="7920990" cy="47580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6985" indent="-342900" algn="just">
              <a:lnSpc>
                <a:spcPts val="2920"/>
              </a:lnSpc>
              <a:spcBef>
                <a:spcPts val="459"/>
              </a:spcBef>
            </a:pPr>
            <a:r>
              <a:rPr sz="27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7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HT xử lý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giao dịch </a:t>
            </a:r>
            <a:r>
              <a:rPr sz="2700" b="1" i="1" spc="-10" dirty="0">
                <a:solidFill>
                  <a:srgbClr val="6F2F9F"/>
                </a:solidFill>
                <a:latin typeface="Arial"/>
                <a:cs typeface="Arial"/>
              </a:rPr>
              <a:t>(Transaction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Processing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System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- TPS)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l</a:t>
            </a:r>
            <a:r>
              <a:rPr sz="2700" spc="-5" dirty="0">
                <a:latin typeface="Arial"/>
                <a:cs typeface="Arial"/>
              </a:rPr>
              <a:t>à </a:t>
            </a:r>
            <a:r>
              <a:rPr sz="2700" dirty="0">
                <a:latin typeface="Arial"/>
                <a:cs typeface="Arial"/>
              </a:rPr>
              <a:t>HT </a:t>
            </a:r>
            <a:r>
              <a:rPr sz="2700" spc="-5" dirty="0">
                <a:latin typeface="Arial"/>
                <a:cs typeface="Arial"/>
              </a:rPr>
              <a:t>tích hợp </a:t>
            </a:r>
            <a:r>
              <a:rPr sz="2700" dirty="0">
                <a:latin typeface="Arial"/>
                <a:cs typeface="Arial"/>
              </a:rPr>
              <a:t>các yếu </a:t>
            </a:r>
            <a:r>
              <a:rPr sz="2700" spc="-5" dirty="0">
                <a:latin typeface="Arial"/>
                <a:cs typeface="Arial"/>
              </a:rPr>
              <a:t>tố </a:t>
            </a:r>
            <a:r>
              <a:rPr sz="2700" dirty="0">
                <a:latin typeface="Arial"/>
                <a:cs typeface="Arial"/>
              </a:rPr>
              <a:t>con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người, </a:t>
            </a:r>
            <a:r>
              <a:rPr sz="2700" dirty="0">
                <a:latin typeface="Arial"/>
                <a:cs typeface="Arial"/>
              </a:rPr>
              <a:t>các </a:t>
            </a:r>
            <a:r>
              <a:rPr sz="2700" spc="-5" dirty="0">
                <a:latin typeface="Arial"/>
                <a:cs typeface="Arial"/>
              </a:rPr>
              <a:t>thủ tục, </a:t>
            </a:r>
            <a:r>
              <a:rPr sz="2700" dirty="0">
                <a:latin typeface="Arial"/>
                <a:cs typeface="Arial"/>
              </a:rPr>
              <a:t>các </a:t>
            </a:r>
            <a:r>
              <a:rPr sz="2700" spc="-5" dirty="0">
                <a:latin typeface="Arial"/>
                <a:cs typeface="Arial"/>
              </a:rPr>
              <a:t>CSDL </a:t>
            </a:r>
            <a:r>
              <a:rPr sz="2700" dirty="0">
                <a:latin typeface="Arial"/>
                <a:cs typeface="Arial"/>
              </a:rPr>
              <a:t>và các thiết </a:t>
            </a:r>
            <a:r>
              <a:rPr sz="2700" spc="-5" dirty="0">
                <a:latin typeface="Arial"/>
                <a:cs typeface="Arial"/>
              </a:rPr>
              <a:t>bị </a:t>
            </a:r>
            <a:r>
              <a:rPr sz="2700" spc="-10" dirty="0">
                <a:latin typeface="Arial"/>
                <a:cs typeface="Arial"/>
              </a:rPr>
              <a:t>để </a:t>
            </a:r>
            <a:r>
              <a:rPr sz="2700" spc="-5" dirty="0">
                <a:latin typeface="Arial"/>
                <a:cs typeface="Arial"/>
              </a:rPr>
              <a:t> ghi nhận giao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dịch đã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hoàn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thành</a:t>
            </a:r>
            <a:endParaRPr sz="2700">
              <a:latin typeface="Arial"/>
              <a:cs typeface="Arial"/>
            </a:endParaRPr>
          </a:p>
          <a:p>
            <a:pPr marL="355600" marR="5080" indent="-342900" algn="just">
              <a:lnSpc>
                <a:spcPts val="2920"/>
              </a:lnSpc>
              <a:spcBef>
                <a:spcPts val="635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25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Xử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lý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dữ</a:t>
            </a:r>
            <a:r>
              <a:rPr sz="2700" spc="229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liệu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phát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sinh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từ</a:t>
            </a:r>
            <a:r>
              <a:rPr sz="2700" spc="2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các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giao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dịch</a:t>
            </a:r>
            <a:r>
              <a:rPr sz="2700" spc="2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của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tổ </a:t>
            </a:r>
            <a:r>
              <a:rPr sz="2700" dirty="0">
                <a:latin typeface="Arial"/>
                <a:cs typeface="Arial"/>
              </a:rPr>
              <a:t>chức </a:t>
            </a:r>
            <a:r>
              <a:rPr sz="2700" spc="-5" dirty="0">
                <a:latin typeface="Arial"/>
                <a:cs typeface="Arial"/>
              </a:rPr>
              <a:t>với: </a:t>
            </a:r>
            <a:r>
              <a:rPr sz="2700" dirty="0">
                <a:latin typeface="Arial"/>
                <a:cs typeface="Arial"/>
              </a:rPr>
              <a:t>khách </a:t>
            </a:r>
            <a:r>
              <a:rPr sz="2700" spc="-5" dirty="0">
                <a:latin typeface="Arial"/>
                <a:cs typeface="Arial"/>
              </a:rPr>
              <a:t>hàng, nhà </a:t>
            </a:r>
            <a:r>
              <a:rPr sz="2700" dirty="0">
                <a:latin typeface="Arial"/>
                <a:cs typeface="Arial"/>
              </a:rPr>
              <a:t>cung cấp, </a:t>
            </a:r>
            <a:r>
              <a:rPr sz="2700" spc="-5" dirty="0">
                <a:latin typeface="Arial"/>
                <a:cs typeface="Arial"/>
              </a:rPr>
              <a:t>người </a:t>
            </a:r>
            <a:r>
              <a:rPr sz="2700" dirty="0">
                <a:latin typeface="Arial"/>
                <a:cs typeface="Arial"/>
              </a:rPr>
              <a:t> cho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0" dirty="0">
                <a:latin typeface="Arial"/>
                <a:cs typeface="Arial"/>
              </a:rPr>
              <a:t>vay,</a:t>
            </a:r>
            <a:r>
              <a:rPr sz="2700" spc="-5" dirty="0">
                <a:latin typeface="Arial"/>
                <a:cs typeface="Arial"/>
              </a:rPr>
              <a:t> nhân viên.</a:t>
            </a:r>
            <a:endParaRPr sz="2700">
              <a:latin typeface="Arial"/>
              <a:cs typeface="Arial"/>
            </a:endParaRPr>
          </a:p>
          <a:p>
            <a:pPr marL="355600" marR="6350" indent="-342900" algn="just">
              <a:lnSpc>
                <a:spcPts val="2920"/>
              </a:lnSpc>
              <a:spcBef>
                <a:spcPts val="640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Tập </a:t>
            </a:r>
            <a:r>
              <a:rPr sz="2700" spc="-5" dirty="0">
                <a:latin typeface="Arial"/>
                <a:cs typeface="Arial"/>
              </a:rPr>
              <a:t>hợp </a:t>
            </a:r>
            <a:r>
              <a:rPr sz="2700" dirty="0">
                <a:latin typeface="Arial"/>
                <a:cs typeface="Arial"/>
              </a:rPr>
              <a:t>các </a:t>
            </a:r>
            <a:r>
              <a:rPr sz="2700" spc="-5" dirty="0">
                <a:latin typeface="Arial"/>
                <a:cs typeface="Arial"/>
              </a:rPr>
              <a:t>dữ liệu theo dõi hoạt động </a:t>
            </a:r>
            <a:r>
              <a:rPr sz="2700" dirty="0">
                <a:latin typeface="Arial"/>
                <a:cs typeface="Arial"/>
              </a:rPr>
              <a:t>của </a:t>
            </a:r>
            <a:r>
              <a:rPr sz="2700" spc="-10" dirty="0">
                <a:latin typeface="Arial"/>
                <a:cs typeface="Arial"/>
              </a:rPr>
              <a:t>tổ 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chức</a:t>
            </a:r>
            <a:endParaRPr sz="2700">
              <a:latin typeface="Arial"/>
              <a:cs typeface="Arial"/>
            </a:endParaRPr>
          </a:p>
          <a:p>
            <a:pPr marL="355600" marR="6350" indent="-342900" algn="just">
              <a:lnSpc>
                <a:spcPts val="2920"/>
              </a:lnSpc>
              <a:spcBef>
                <a:spcPts val="640"/>
              </a:spcBef>
            </a:pPr>
            <a:r>
              <a:rPr sz="2700" dirty="0">
                <a:latin typeface="Arial"/>
                <a:cs typeface="Arial"/>
              </a:rPr>
              <a:t>•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35" dirty="0">
                <a:latin typeface="Arial"/>
                <a:cs typeface="Arial"/>
              </a:rPr>
              <a:t>Trợ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giúp</a:t>
            </a:r>
            <a:r>
              <a:rPr sz="2700" dirty="0">
                <a:latin typeface="Arial"/>
                <a:cs typeface="Arial"/>
              </a:rPr>
              <a:t> các </a:t>
            </a:r>
            <a:r>
              <a:rPr sz="2700" spc="-5" dirty="0">
                <a:latin typeface="Arial"/>
                <a:cs typeface="Arial"/>
              </a:rPr>
              <a:t>hoạt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động</a:t>
            </a:r>
            <a:r>
              <a:rPr sz="2700" dirty="0">
                <a:latin typeface="Arial"/>
                <a:cs typeface="Arial"/>
              </a:rPr>
              <a:t> tác </a:t>
            </a:r>
            <a:r>
              <a:rPr sz="2700" spc="-5" dirty="0">
                <a:latin typeface="Arial"/>
                <a:cs typeface="Arial"/>
              </a:rPr>
              <a:t>nghiệp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như</a:t>
            </a:r>
            <a:r>
              <a:rPr sz="2700" dirty="0">
                <a:latin typeface="Arial"/>
                <a:cs typeface="Arial"/>
              </a:rPr>
              <a:t> xử </a:t>
            </a:r>
            <a:r>
              <a:rPr sz="2700" spc="-10" dirty="0">
                <a:latin typeface="Arial"/>
                <a:cs typeface="Arial"/>
              </a:rPr>
              <a:t>lý </a:t>
            </a:r>
            <a:r>
              <a:rPr sz="2700" spc="-5" dirty="0">
                <a:latin typeface="Arial"/>
                <a:cs typeface="Arial"/>
              </a:rPr>
              <a:t> lương, lập </a:t>
            </a:r>
            <a:r>
              <a:rPr sz="2700" dirty="0">
                <a:latin typeface="Arial"/>
                <a:cs typeface="Arial"/>
              </a:rPr>
              <a:t>đơn </a:t>
            </a:r>
            <a:r>
              <a:rPr sz="2700" spc="-5" dirty="0">
                <a:latin typeface="Arial"/>
                <a:cs typeface="Arial"/>
              </a:rPr>
              <a:t>đặt hàng, hóa </a:t>
            </a:r>
            <a:r>
              <a:rPr sz="2700" dirty="0">
                <a:latin typeface="Arial"/>
                <a:cs typeface="Arial"/>
              </a:rPr>
              <a:t>đơn </a:t>
            </a:r>
            <a:r>
              <a:rPr sz="2700" spc="-5" dirty="0">
                <a:latin typeface="Arial"/>
                <a:cs typeface="Arial"/>
              </a:rPr>
              <a:t>bán hàng, theo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dõi </a:t>
            </a:r>
            <a:r>
              <a:rPr sz="2700" dirty="0">
                <a:latin typeface="Arial"/>
                <a:cs typeface="Arial"/>
              </a:rPr>
              <a:t>khách</a:t>
            </a:r>
            <a:r>
              <a:rPr sz="2700" spc="-5" dirty="0">
                <a:latin typeface="Arial"/>
                <a:cs typeface="Arial"/>
              </a:rPr>
              <a:t> hàng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838" y="492252"/>
            <a:ext cx="62090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Mô</a:t>
            </a:r>
            <a:r>
              <a:rPr sz="4400" spc="-20" dirty="0"/>
              <a:t> </a:t>
            </a:r>
            <a:r>
              <a:rPr sz="4400" dirty="0"/>
              <a:t>hình</a:t>
            </a:r>
            <a:r>
              <a:rPr sz="4400" spc="-15" dirty="0"/>
              <a:t> </a:t>
            </a:r>
            <a:r>
              <a:rPr sz="4400" dirty="0"/>
              <a:t>HT</a:t>
            </a:r>
            <a:r>
              <a:rPr sz="4400" spc="-15" dirty="0"/>
              <a:t> </a:t>
            </a:r>
            <a:r>
              <a:rPr sz="4400" spc="-20" dirty="0"/>
              <a:t>xử </a:t>
            </a:r>
            <a:r>
              <a:rPr sz="4400" dirty="0"/>
              <a:t>lý</a:t>
            </a:r>
            <a:r>
              <a:rPr sz="4400" spc="-15" dirty="0"/>
              <a:t> </a:t>
            </a:r>
            <a:r>
              <a:rPr sz="4400" dirty="0"/>
              <a:t>giao</a:t>
            </a:r>
            <a:r>
              <a:rPr sz="4400" spc="-15" dirty="0"/>
              <a:t> </a:t>
            </a:r>
            <a:r>
              <a:rPr sz="4400" dirty="0"/>
              <a:t>dịch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3569080" y="2522092"/>
            <a:ext cx="2311400" cy="1549400"/>
            <a:chOff x="3569080" y="2522092"/>
            <a:chExt cx="2311400" cy="1549400"/>
          </a:xfrm>
        </p:grpSpPr>
        <p:sp>
          <p:nvSpPr>
            <p:cNvPr id="4" name="object 4"/>
            <p:cNvSpPr/>
            <p:nvPr/>
          </p:nvSpPr>
          <p:spPr>
            <a:xfrm>
              <a:off x="3581780" y="2534792"/>
              <a:ext cx="2286000" cy="1524000"/>
            </a:xfrm>
            <a:custGeom>
              <a:avLst/>
              <a:gdLst/>
              <a:ahLst/>
              <a:cxnLst/>
              <a:rect l="l" t="t" r="r" b="b"/>
              <a:pathLst>
                <a:path w="2286000" h="1524000">
                  <a:moveTo>
                    <a:pt x="2286000" y="0"/>
                  </a:moveTo>
                  <a:lnTo>
                    <a:pt x="0" y="0"/>
                  </a:lnTo>
                  <a:lnTo>
                    <a:pt x="0" y="1523999"/>
                  </a:lnTo>
                  <a:lnTo>
                    <a:pt x="2286000" y="1523999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1780" y="2534792"/>
              <a:ext cx="2286000" cy="1524000"/>
            </a:xfrm>
            <a:custGeom>
              <a:avLst/>
              <a:gdLst/>
              <a:ahLst/>
              <a:cxnLst/>
              <a:rect l="l" t="t" r="r" b="b"/>
              <a:pathLst>
                <a:path w="2286000" h="1524000">
                  <a:moveTo>
                    <a:pt x="0" y="1523999"/>
                  </a:moveTo>
                  <a:lnTo>
                    <a:pt x="2286000" y="1523999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1523999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81780" y="2534792"/>
            <a:ext cx="2286000" cy="15240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248285" rIns="0" bIns="0" rtlCol="0">
            <a:spAutoFit/>
          </a:bodyPr>
          <a:lstStyle/>
          <a:p>
            <a:pPr marL="238125" marR="231140" indent="417830">
              <a:lnSpc>
                <a:spcPct val="100000"/>
              </a:lnSpc>
              <a:spcBef>
                <a:spcPts val="195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XỬ </a:t>
            </a:r>
            <a:r>
              <a:rPr sz="3200" b="1" spc="-145" dirty="0">
                <a:solidFill>
                  <a:srgbClr val="FFFFFF"/>
                </a:solidFill>
                <a:latin typeface="Calibri"/>
                <a:cs typeface="Calibri"/>
              </a:rPr>
              <a:t>LÝ </a:t>
            </a:r>
            <a:r>
              <a:rPr sz="3200" b="1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GIAO</a:t>
            </a:r>
            <a:r>
              <a:rPr sz="32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DỊCH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0980" y="1676780"/>
            <a:ext cx="2209800" cy="1620520"/>
          </a:xfrm>
          <a:custGeom>
            <a:avLst/>
            <a:gdLst/>
            <a:ahLst/>
            <a:cxnLst/>
            <a:rect l="l" t="t" r="r" b="b"/>
            <a:pathLst>
              <a:path w="2209800" h="1620520">
                <a:moveTo>
                  <a:pt x="2209800" y="0"/>
                </a:moveTo>
                <a:lnTo>
                  <a:pt x="0" y="0"/>
                </a:lnTo>
                <a:lnTo>
                  <a:pt x="0" y="1620012"/>
                </a:lnTo>
                <a:lnTo>
                  <a:pt x="2209800" y="1620012"/>
                </a:lnTo>
                <a:lnTo>
                  <a:pt x="2209800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0980" y="1676780"/>
            <a:ext cx="2209800" cy="162052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155575" marR="149225" indent="64769" algn="just">
              <a:lnSpc>
                <a:spcPct val="100000"/>
              </a:lnSpc>
              <a:spcBef>
                <a:spcPts val="150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Dữ liệu giao dịch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phát sinh nội bộ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(đơn</a:t>
            </a:r>
            <a:r>
              <a:rPr sz="2000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đặt</a:t>
            </a:r>
            <a:r>
              <a:rPr sz="20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hàng,</a:t>
            </a:r>
            <a:r>
              <a:rPr sz="20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hóa </a:t>
            </a:r>
            <a:r>
              <a:rPr sz="2000" spc="-49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đơn</a:t>
            </a: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xuất/bán,</a:t>
            </a:r>
            <a:r>
              <a:rPr sz="2000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…)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0980" y="4058792"/>
            <a:ext cx="2209800" cy="1621155"/>
          </a:xfrm>
          <a:custGeom>
            <a:avLst/>
            <a:gdLst/>
            <a:ahLst/>
            <a:cxnLst/>
            <a:rect l="l" t="t" r="r" b="b"/>
            <a:pathLst>
              <a:path w="2209800" h="1621154">
                <a:moveTo>
                  <a:pt x="2209800" y="0"/>
                </a:moveTo>
                <a:lnTo>
                  <a:pt x="0" y="0"/>
                </a:lnTo>
                <a:lnTo>
                  <a:pt x="0" y="1620774"/>
                </a:lnTo>
                <a:lnTo>
                  <a:pt x="2209800" y="1620774"/>
                </a:lnTo>
                <a:lnTo>
                  <a:pt x="2209800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0980" y="4058792"/>
            <a:ext cx="2209800" cy="1621155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200660" marR="194310" indent="-1905" algn="ctr">
              <a:lnSpc>
                <a:spcPct val="100000"/>
              </a:lnSpc>
              <a:spcBef>
                <a:spcPts val="310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Dữ liệu giao dịch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từ bên ngoài (đơn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hàng của khách,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hóa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đơn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nhà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cung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cấp,</a:t>
            </a: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…)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12280" y="1664080"/>
            <a:ext cx="2540000" cy="1624965"/>
            <a:chOff x="6312280" y="1664080"/>
            <a:chExt cx="2540000" cy="1624965"/>
          </a:xfrm>
        </p:grpSpPr>
        <p:sp>
          <p:nvSpPr>
            <p:cNvPr id="12" name="object 12"/>
            <p:cNvSpPr/>
            <p:nvPr/>
          </p:nvSpPr>
          <p:spPr>
            <a:xfrm>
              <a:off x="6324980" y="1676780"/>
              <a:ext cx="2514600" cy="1599565"/>
            </a:xfrm>
            <a:custGeom>
              <a:avLst/>
              <a:gdLst/>
              <a:ahLst/>
              <a:cxnLst/>
              <a:rect l="l" t="t" r="r" b="b"/>
              <a:pathLst>
                <a:path w="2514600" h="1599564">
                  <a:moveTo>
                    <a:pt x="2514600" y="0"/>
                  </a:moveTo>
                  <a:lnTo>
                    <a:pt x="0" y="0"/>
                  </a:lnTo>
                  <a:lnTo>
                    <a:pt x="0" y="1512951"/>
                  </a:lnTo>
                  <a:lnTo>
                    <a:pt x="61828" y="1526369"/>
                  </a:lnTo>
                  <a:lnTo>
                    <a:pt x="121632" y="1538528"/>
                  </a:lnTo>
                  <a:lnTo>
                    <a:pt x="179479" y="1549465"/>
                  </a:lnTo>
                  <a:lnTo>
                    <a:pt x="235441" y="1559215"/>
                  </a:lnTo>
                  <a:lnTo>
                    <a:pt x="289586" y="1567812"/>
                  </a:lnTo>
                  <a:lnTo>
                    <a:pt x="341985" y="1575292"/>
                  </a:lnTo>
                  <a:lnTo>
                    <a:pt x="392708" y="1581690"/>
                  </a:lnTo>
                  <a:lnTo>
                    <a:pt x="441824" y="1587043"/>
                  </a:lnTo>
                  <a:lnTo>
                    <a:pt x="489404" y="1591384"/>
                  </a:lnTo>
                  <a:lnTo>
                    <a:pt x="535516" y="1594749"/>
                  </a:lnTo>
                  <a:lnTo>
                    <a:pt x="580232" y="1597174"/>
                  </a:lnTo>
                  <a:lnTo>
                    <a:pt x="623620" y="1598694"/>
                  </a:lnTo>
                  <a:lnTo>
                    <a:pt x="665751" y="1599344"/>
                  </a:lnTo>
                  <a:lnTo>
                    <a:pt x="706695" y="1599159"/>
                  </a:lnTo>
                  <a:lnTo>
                    <a:pt x="746521" y="1598175"/>
                  </a:lnTo>
                  <a:lnTo>
                    <a:pt x="785300" y="1596428"/>
                  </a:lnTo>
                  <a:lnTo>
                    <a:pt x="859993" y="1590782"/>
                  </a:lnTo>
                  <a:lnTo>
                    <a:pt x="931333" y="1582504"/>
                  </a:lnTo>
                  <a:lnTo>
                    <a:pt x="999879" y="1571877"/>
                  </a:lnTo>
                  <a:lnTo>
                    <a:pt x="1066190" y="1559183"/>
                  </a:lnTo>
                  <a:lnTo>
                    <a:pt x="1130824" y="1544704"/>
                  </a:lnTo>
                  <a:lnTo>
                    <a:pt x="1194341" y="1528723"/>
                  </a:lnTo>
                  <a:lnTo>
                    <a:pt x="1288744" y="1502552"/>
                  </a:lnTo>
                  <a:lnTo>
                    <a:pt x="1514720" y="1436170"/>
                  </a:lnTo>
                  <a:lnTo>
                    <a:pt x="1583266" y="1417108"/>
                  </a:lnTo>
                  <a:lnTo>
                    <a:pt x="1654606" y="1398520"/>
                  </a:lnTo>
                  <a:lnTo>
                    <a:pt x="1729299" y="1380690"/>
                  </a:lnTo>
                  <a:lnTo>
                    <a:pt x="1768078" y="1372147"/>
                  </a:lnTo>
                  <a:lnTo>
                    <a:pt x="1807904" y="1363900"/>
                  </a:lnTo>
                  <a:lnTo>
                    <a:pt x="1848848" y="1355983"/>
                  </a:lnTo>
                  <a:lnTo>
                    <a:pt x="1890979" y="1348432"/>
                  </a:lnTo>
                  <a:lnTo>
                    <a:pt x="1934367" y="1341282"/>
                  </a:lnTo>
                  <a:lnTo>
                    <a:pt x="1979083" y="1334568"/>
                  </a:lnTo>
                  <a:lnTo>
                    <a:pt x="2025195" y="1328327"/>
                  </a:lnTo>
                  <a:lnTo>
                    <a:pt x="2072775" y="1322592"/>
                  </a:lnTo>
                  <a:lnTo>
                    <a:pt x="2121891" y="1317400"/>
                  </a:lnTo>
                  <a:lnTo>
                    <a:pt x="2172614" y="1312786"/>
                  </a:lnTo>
                  <a:lnTo>
                    <a:pt x="2225013" y="1308785"/>
                  </a:lnTo>
                  <a:lnTo>
                    <a:pt x="2279158" y="1305432"/>
                  </a:lnTo>
                  <a:lnTo>
                    <a:pt x="2335120" y="1302763"/>
                  </a:lnTo>
                  <a:lnTo>
                    <a:pt x="2392967" y="1300812"/>
                  </a:lnTo>
                  <a:lnTo>
                    <a:pt x="2452771" y="1299616"/>
                  </a:lnTo>
                  <a:lnTo>
                    <a:pt x="2514600" y="129921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24980" y="1676780"/>
              <a:ext cx="2514600" cy="1599565"/>
            </a:xfrm>
            <a:custGeom>
              <a:avLst/>
              <a:gdLst/>
              <a:ahLst/>
              <a:cxnLst/>
              <a:rect l="l" t="t" r="r" b="b"/>
              <a:pathLst>
                <a:path w="2514600" h="1599564">
                  <a:moveTo>
                    <a:pt x="0" y="0"/>
                  </a:moveTo>
                  <a:lnTo>
                    <a:pt x="2514600" y="0"/>
                  </a:lnTo>
                  <a:lnTo>
                    <a:pt x="2514600" y="1299210"/>
                  </a:lnTo>
                  <a:lnTo>
                    <a:pt x="2452771" y="1299616"/>
                  </a:lnTo>
                  <a:lnTo>
                    <a:pt x="2392967" y="1300812"/>
                  </a:lnTo>
                  <a:lnTo>
                    <a:pt x="2335120" y="1302763"/>
                  </a:lnTo>
                  <a:lnTo>
                    <a:pt x="2279158" y="1305432"/>
                  </a:lnTo>
                  <a:lnTo>
                    <a:pt x="2225013" y="1308785"/>
                  </a:lnTo>
                  <a:lnTo>
                    <a:pt x="2172614" y="1312786"/>
                  </a:lnTo>
                  <a:lnTo>
                    <a:pt x="2121891" y="1317400"/>
                  </a:lnTo>
                  <a:lnTo>
                    <a:pt x="2072775" y="1322592"/>
                  </a:lnTo>
                  <a:lnTo>
                    <a:pt x="2025195" y="1328327"/>
                  </a:lnTo>
                  <a:lnTo>
                    <a:pt x="1979083" y="1334568"/>
                  </a:lnTo>
                  <a:lnTo>
                    <a:pt x="1934367" y="1341282"/>
                  </a:lnTo>
                  <a:lnTo>
                    <a:pt x="1890979" y="1348432"/>
                  </a:lnTo>
                  <a:lnTo>
                    <a:pt x="1848848" y="1355983"/>
                  </a:lnTo>
                  <a:lnTo>
                    <a:pt x="1807904" y="1363900"/>
                  </a:lnTo>
                  <a:lnTo>
                    <a:pt x="1768078" y="1372147"/>
                  </a:lnTo>
                  <a:lnTo>
                    <a:pt x="1729299" y="1380690"/>
                  </a:lnTo>
                  <a:lnTo>
                    <a:pt x="1691499" y="1389493"/>
                  </a:lnTo>
                  <a:lnTo>
                    <a:pt x="1618552" y="1407737"/>
                  </a:lnTo>
                  <a:lnTo>
                    <a:pt x="1548679" y="1426597"/>
                  </a:lnTo>
                  <a:lnTo>
                    <a:pt x="1481320" y="1445792"/>
                  </a:lnTo>
                  <a:lnTo>
                    <a:pt x="1415917" y="1465037"/>
                  </a:lnTo>
                  <a:lnTo>
                    <a:pt x="1383775" y="1474591"/>
                  </a:lnTo>
                  <a:lnTo>
                    <a:pt x="1351911" y="1484051"/>
                  </a:lnTo>
                  <a:lnTo>
                    <a:pt x="1288744" y="1502552"/>
                  </a:lnTo>
                  <a:lnTo>
                    <a:pt x="1225855" y="1520257"/>
                  </a:lnTo>
                  <a:lnTo>
                    <a:pt x="1162688" y="1536883"/>
                  </a:lnTo>
                  <a:lnTo>
                    <a:pt x="1098682" y="1552149"/>
                  </a:lnTo>
                  <a:lnTo>
                    <a:pt x="1033279" y="1565770"/>
                  </a:lnTo>
                  <a:lnTo>
                    <a:pt x="965920" y="1577467"/>
                  </a:lnTo>
                  <a:lnTo>
                    <a:pt x="896047" y="1586954"/>
                  </a:lnTo>
                  <a:lnTo>
                    <a:pt x="823100" y="1593952"/>
                  </a:lnTo>
                  <a:lnTo>
                    <a:pt x="746521" y="1598175"/>
                  </a:lnTo>
                  <a:lnTo>
                    <a:pt x="706695" y="1599159"/>
                  </a:lnTo>
                  <a:lnTo>
                    <a:pt x="665751" y="1599344"/>
                  </a:lnTo>
                  <a:lnTo>
                    <a:pt x="623620" y="1598694"/>
                  </a:lnTo>
                  <a:lnTo>
                    <a:pt x="580232" y="1597174"/>
                  </a:lnTo>
                  <a:lnTo>
                    <a:pt x="535516" y="1594749"/>
                  </a:lnTo>
                  <a:lnTo>
                    <a:pt x="489404" y="1591384"/>
                  </a:lnTo>
                  <a:lnTo>
                    <a:pt x="441824" y="1587043"/>
                  </a:lnTo>
                  <a:lnTo>
                    <a:pt x="392708" y="1581690"/>
                  </a:lnTo>
                  <a:lnTo>
                    <a:pt x="341985" y="1575292"/>
                  </a:lnTo>
                  <a:lnTo>
                    <a:pt x="289586" y="1567812"/>
                  </a:lnTo>
                  <a:lnTo>
                    <a:pt x="235441" y="1559215"/>
                  </a:lnTo>
                  <a:lnTo>
                    <a:pt x="179479" y="1549465"/>
                  </a:lnTo>
                  <a:lnTo>
                    <a:pt x="121632" y="1538528"/>
                  </a:lnTo>
                  <a:lnTo>
                    <a:pt x="61828" y="1526369"/>
                  </a:lnTo>
                  <a:lnTo>
                    <a:pt x="0" y="1512951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21704" y="1695704"/>
            <a:ext cx="21209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Tài liệu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nghiệp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vụ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(xác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nhận hàng hóa,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chứng</a:t>
            </a:r>
            <a:r>
              <a:rPr sz="2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từ</a:t>
            </a:r>
            <a:r>
              <a:rPr sz="2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thanh</a:t>
            </a:r>
            <a:r>
              <a:rPr sz="20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toán,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….)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12280" y="4046092"/>
            <a:ext cx="2540000" cy="1625600"/>
            <a:chOff x="6312280" y="4046092"/>
            <a:chExt cx="2540000" cy="1625600"/>
          </a:xfrm>
        </p:grpSpPr>
        <p:sp>
          <p:nvSpPr>
            <p:cNvPr id="16" name="object 16"/>
            <p:cNvSpPr/>
            <p:nvPr/>
          </p:nvSpPr>
          <p:spPr>
            <a:xfrm>
              <a:off x="6324980" y="4058792"/>
              <a:ext cx="2514600" cy="1600200"/>
            </a:xfrm>
            <a:custGeom>
              <a:avLst/>
              <a:gdLst/>
              <a:ahLst/>
              <a:cxnLst/>
              <a:rect l="l" t="t" r="r" b="b"/>
              <a:pathLst>
                <a:path w="2514600" h="1600200">
                  <a:moveTo>
                    <a:pt x="2514600" y="0"/>
                  </a:moveTo>
                  <a:lnTo>
                    <a:pt x="0" y="0"/>
                  </a:lnTo>
                  <a:lnTo>
                    <a:pt x="0" y="1513585"/>
                  </a:lnTo>
                  <a:lnTo>
                    <a:pt x="61828" y="1527015"/>
                  </a:lnTo>
                  <a:lnTo>
                    <a:pt x="121632" y="1539186"/>
                  </a:lnTo>
                  <a:lnTo>
                    <a:pt x="179479" y="1550132"/>
                  </a:lnTo>
                  <a:lnTo>
                    <a:pt x="235441" y="1559890"/>
                  </a:lnTo>
                  <a:lnTo>
                    <a:pt x="289586" y="1568495"/>
                  </a:lnTo>
                  <a:lnTo>
                    <a:pt x="341985" y="1575982"/>
                  </a:lnTo>
                  <a:lnTo>
                    <a:pt x="392708" y="1582387"/>
                  </a:lnTo>
                  <a:lnTo>
                    <a:pt x="441824" y="1587744"/>
                  </a:lnTo>
                  <a:lnTo>
                    <a:pt x="489404" y="1592089"/>
                  </a:lnTo>
                  <a:lnTo>
                    <a:pt x="535516" y="1595458"/>
                  </a:lnTo>
                  <a:lnTo>
                    <a:pt x="580232" y="1597886"/>
                  </a:lnTo>
                  <a:lnTo>
                    <a:pt x="623620" y="1599408"/>
                  </a:lnTo>
                  <a:lnTo>
                    <a:pt x="665751" y="1600060"/>
                  </a:lnTo>
                  <a:lnTo>
                    <a:pt x="706695" y="1599876"/>
                  </a:lnTo>
                  <a:lnTo>
                    <a:pt x="746521" y="1598892"/>
                  </a:lnTo>
                  <a:lnTo>
                    <a:pt x="785300" y="1597144"/>
                  </a:lnTo>
                  <a:lnTo>
                    <a:pt x="859993" y="1591496"/>
                  </a:lnTo>
                  <a:lnTo>
                    <a:pt x="931333" y="1583213"/>
                  </a:lnTo>
                  <a:lnTo>
                    <a:pt x="999879" y="1572580"/>
                  </a:lnTo>
                  <a:lnTo>
                    <a:pt x="1066190" y="1559877"/>
                  </a:lnTo>
                  <a:lnTo>
                    <a:pt x="1130824" y="1545388"/>
                  </a:lnTo>
                  <a:lnTo>
                    <a:pt x="1194341" y="1529396"/>
                  </a:lnTo>
                  <a:lnTo>
                    <a:pt x="1288744" y="1503208"/>
                  </a:lnTo>
                  <a:lnTo>
                    <a:pt x="1514720" y="1436779"/>
                  </a:lnTo>
                  <a:lnTo>
                    <a:pt x="1583266" y="1417702"/>
                  </a:lnTo>
                  <a:lnTo>
                    <a:pt x="1654606" y="1399101"/>
                  </a:lnTo>
                  <a:lnTo>
                    <a:pt x="1729299" y="1381258"/>
                  </a:lnTo>
                  <a:lnTo>
                    <a:pt x="1768078" y="1372709"/>
                  </a:lnTo>
                  <a:lnTo>
                    <a:pt x="1807904" y="1364455"/>
                  </a:lnTo>
                  <a:lnTo>
                    <a:pt x="1848848" y="1356533"/>
                  </a:lnTo>
                  <a:lnTo>
                    <a:pt x="1890979" y="1348976"/>
                  </a:lnTo>
                  <a:lnTo>
                    <a:pt x="1934367" y="1341821"/>
                  </a:lnTo>
                  <a:lnTo>
                    <a:pt x="1979083" y="1335103"/>
                  </a:lnTo>
                  <a:lnTo>
                    <a:pt x="2025195" y="1328856"/>
                  </a:lnTo>
                  <a:lnTo>
                    <a:pt x="2072775" y="1323118"/>
                  </a:lnTo>
                  <a:lnTo>
                    <a:pt x="2121891" y="1317922"/>
                  </a:lnTo>
                  <a:lnTo>
                    <a:pt x="2172614" y="1313304"/>
                  </a:lnTo>
                  <a:lnTo>
                    <a:pt x="2225013" y="1309300"/>
                  </a:lnTo>
                  <a:lnTo>
                    <a:pt x="2279158" y="1305944"/>
                  </a:lnTo>
                  <a:lnTo>
                    <a:pt x="2335120" y="1303273"/>
                  </a:lnTo>
                  <a:lnTo>
                    <a:pt x="2392967" y="1301321"/>
                  </a:lnTo>
                  <a:lnTo>
                    <a:pt x="2452771" y="1300124"/>
                  </a:lnTo>
                  <a:lnTo>
                    <a:pt x="2514600" y="1299717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24980" y="4058792"/>
              <a:ext cx="2514600" cy="1600200"/>
            </a:xfrm>
            <a:custGeom>
              <a:avLst/>
              <a:gdLst/>
              <a:ahLst/>
              <a:cxnLst/>
              <a:rect l="l" t="t" r="r" b="b"/>
              <a:pathLst>
                <a:path w="2514600" h="1600200">
                  <a:moveTo>
                    <a:pt x="0" y="0"/>
                  </a:moveTo>
                  <a:lnTo>
                    <a:pt x="2514600" y="0"/>
                  </a:lnTo>
                  <a:lnTo>
                    <a:pt x="2514600" y="1299717"/>
                  </a:lnTo>
                  <a:lnTo>
                    <a:pt x="2452771" y="1300124"/>
                  </a:lnTo>
                  <a:lnTo>
                    <a:pt x="2392967" y="1301321"/>
                  </a:lnTo>
                  <a:lnTo>
                    <a:pt x="2335120" y="1303273"/>
                  </a:lnTo>
                  <a:lnTo>
                    <a:pt x="2279158" y="1305944"/>
                  </a:lnTo>
                  <a:lnTo>
                    <a:pt x="2225013" y="1309300"/>
                  </a:lnTo>
                  <a:lnTo>
                    <a:pt x="2172614" y="1313304"/>
                  </a:lnTo>
                  <a:lnTo>
                    <a:pt x="2121891" y="1317922"/>
                  </a:lnTo>
                  <a:lnTo>
                    <a:pt x="2072775" y="1323118"/>
                  </a:lnTo>
                  <a:lnTo>
                    <a:pt x="2025195" y="1328856"/>
                  </a:lnTo>
                  <a:lnTo>
                    <a:pt x="1979083" y="1335103"/>
                  </a:lnTo>
                  <a:lnTo>
                    <a:pt x="1934367" y="1341821"/>
                  </a:lnTo>
                  <a:lnTo>
                    <a:pt x="1890979" y="1348976"/>
                  </a:lnTo>
                  <a:lnTo>
                    <a:pt x="1848848" y="1356533"/>
                  </a:lnTo>
                  <a:lnTo>
                    <a:pt x="1807904" y="1364455"/>
                  </a:lnTo>
                  <a:lnTo>
                    <a:pt x="1768078" y="1372709"/>
                  </a:lnTo>
                  <a:lnTo>
                    <a:pt x="1729299" y="1381258"/>
                  </a:lnTo>
                  <a:lnTo>
                    <a:pt x="1691499" y="1390067"/>
                  </a:lnTo>
                  <a:lnTo>
                    <a:pt x="1618552" y="1408325"/>
                  </a:lnTo>
                  <a:lnTo>
                    <a:pt x="1548679" y="1427199"/>
                  </a:lnTo>
                  <a:lnTo>
                    <a:pt x="1481320" y="1446407"/>
                  </a:lnTo>
                  <a:lnTo>
                    <a:pt x="1415917" y="1465666"/>
                  </a:lnTo>
                  <a:lnTo>
                    <a:pt x="1383775" y="1475227"/>
                  </a:lnTo>
                  <a:lnTo>
                    <a:pt x="1351911" y="1484694"/>
                  </a:lnTo>
                  <a:lnTo>
                    <a:pt x="1288744" y="1503208"/>
                  </a:lnTo>
                  <a:lnTo>
                    <a:pt x="1225855" y="1520925"/>
                  </a:lnTo>
                  <a:lnTo>
                    <a:pt x="1162688" y="1537563"/>
                  </a:lnTo>
                  <a:lnTo>
                    <a:pt x="1098682" y="1552838"/>
                  </a:lnTo>
                  <a:lnTo>
                    <a:pt x="1033279" y="1566469"/>
                  </a:lnTo>
                  <a:lnTo>
                    <a:pt x="965920" y="1578173"/>
                  </a:lnTo>
                  <a:lnTo>
                    <a:pt x="896047" y="1587666"/>
                  </a:lnTo>
                  <a:lnTo>
                    <a:pt x="823100" y="1594667"/>
                  </a:lnTo>
                  <a:lnTo>
                    <a:pt x="746521" y="1598892"/>
                  </a:lnTo>
                  <a:lnTo>
                    <a:pt x="706695" y="1599876"/>
                  </a:lnTo>
                  <a:lnTo>
                    <a:pt x="665751" y="1600060"/>
                  </a:lnTo>
                  <a:lnTo>
                    <a:pt x="623620" y="1599408"/>
                  </a:lnTo>
                  <a:lnTo>
                    <a:pt x="580232" y="1597886"/>
                  </a:lnTo>
                  <a:lnTo>
                    <a:pt x="535516" y="1595458"/>
                  </a:lnTo>
                  <a:lnTo>
                    <a:pt x="489404" y="1592089"/>
                  </a:lnTo>
                  <a:lnTo>
                    <a:pt x="441824" y="1587744"/>
                  </a:lnTo>
                  <a:lnTo>
                    <a:pt x="392708" y="1582387"/>
                  </a:lnTo>
                  <a:lnTo>
                    <a:pt x="341985" y="1575982"/>
                  </a:lnTo>
                  <a:lnTo>
                    <a:pt x="289586" y="1568495"/>
                  </a:lnTo>
                  <a:lnTo>
                    <a:pt x="235441" y="1559890"/>
                  </a:lnTo>
                  <a:lnTo>
                    <a:pt x="179479" y="1550132"/>
                  </a:lnTo>
                  <a:lnTo>
                    <a:pt x="121632" y="1539186"/>
                  </a:lnTo>
                  <a:lnTo>
                    <a:pt x="61828" y="1527015"/>
                  </a:lnTo>
                  <a:lnTo>
                    <a:pt x="0" y="1513585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55409" y="4230370"/>
            <a:ext cx="225298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Báo</a:t>
            </a: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cáo</a:t>
            </a:r>
            <a:r>
              <a:rPr sz="20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(thành</a:t>
            </a:r>
            <a:r>
              <a:rPr sz="2000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phẩm, </a:t>
            </a:r>
            <a:r>
              <a:rPr sz="2000" spc="-484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F2F9F"/>
                </a:solidFill>
                <a:latin typeface="Times New Roman"/>
                <a:cs typeface="Times New Roman"/>
              </a:rPr>
              <a:t>tồn kho, nguyên vật </a:t>
            </a:r>
            <a:r>
              <a:rPr sz="2000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liệu,</a:t>
            </a:r>
            <a:r>
              <a:rPr sz="2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F2F9F"/>
                </a:solidFill>
                <a:latin typeface="Times New Roman"/>
                <a:cs typeface="Times New Roman"/>
              </a:rPr>
              <a:t>…)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47822" y="2152650"/>
            <a:ext cx="3331210" cy="4109085"/>
            <a:chOff x="3147822" y="2152650"/>
            <a:chExt cx="3331210" cy="410908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108" y="2458211"/>
              <a:ext cx="585216" cy="6873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90875" y="2479040"/>
              <a:ext cx="391160" cy="493395"/>
            </a:xfrm>
            <a:custGeom>
              <a:avLst/>
              <a:gdLst/>
              <a:ahLst/>
              <a:cxnLst/>
              <a:rect l="l" t="t" r="r" b="b"/>
              <a:pathLst>
                <a:path w="391160" h="493394">
                  <a:moveTo>
                    <a:pt x="291719" y="426720"/>
                  </a:moveTo>
                  <a:lnTo>
                    <a:pt x="284352" y="429895"/>
                  </a:lnTo>
                  <a:lnTo>
                    <a:pt x="281813" y="436372"/>
                  </a:lnTo>
                  <a:lnTo>
                    <a:pt x="279273" y="442722"/>
                  </a:lnTo>
                  <a:lnTo>
                    <a:pt x="282448" y="450088"/>
                  </a:lnTo>
                  <a:lnTo>
                    <a:pt x="390905" y="493013"/>
                  </a:lnTo>
                  <a:lnTo>
                    <a:pt x="389277" y="481202"/>
                  </a:lnTo>
                  <a:lnTo>
                    <a:pt x="365633" y="481202"/>
                  </a:lnTo>
                  <a:lnTo>
                    <a:pt x="336918" y="444628"/>
                  </a:lnTo>
                  <a:lnTo>
                    <a:pt x="291719" y="426720"/>
                  </a:lnTo>
                  <a:close/>
                </a:path>
                <a:path w="391160" h="493394">
                  <a:moveTo>
                    <a:pt x="336918" y="444628"/>
                  </a:moveTo>
                  <a:lnTo>
                    <a:pt x="365633" y="481202"/>
                  </a:lnTo>
                  <a:lnTo>
                    <a:pt x="373427" y="475107"/>
                  </a:lnTo>
                  <a:lnTo>
                    <a:pt x="363092" y="475107"/>
                  </a:lnTo>
                  <a:lnTo>
                    <a:pt x="360158" y="453852"/>
                  </a:lnTo>
                  <a:lnTo>
                    <a:pt x="336918" y="444628"/>
                  </a:lnTo>
                  <a:close/>
                </a:path>
                <a:path w="391160" h="493394">
                  <a:moveTo>
                    <a:pt x="368553" y="372618"/>
                  </a:moveTo>
                  <a:lnTo>
                    <a:pt x="361696" y="373634"/>
                  </a:lnTo>
                  <a:lnTo>
                    <a:pt x="354838" y="374523"/>
                  </a:lnTo>
                  <a:lnTo>
                    <a:pt x="350012" y="380873"/>
                  </a:lnTo>
                  <a:lnTo>
                    <a:pt x="351027" y="387731"/>
                  </a:lnTo>
                  <a:lnTo>
                    <a:pt x="356748" y="429157"/>
                  </a:lnTo>
                  <a:lnTo>
                    <a:pt x="385445" y="465709"/>
                  </a:lnTo>
                  <a:lnTo>
                    <a:pt x="365633" y="481202"/>
                  </a:lnTo>
                  <a:lnTo>
                    <a:pt x="389277" y="481202"/>
                  </a:lnTo>
                  <a:lnTo>
                    <a:pt x="375920" y="384301"/>
                  </a:lnTo>
                  <a:lnTo>
                    <a:pt x="374903" y="377444"/>
                  </a:lnTo>
                  <a:lnTo>
                    <a:pt x="368553" y="372618"/>
                  </a:lnTo>
                  <a:close/>
                </a:path>
                <a:path w="391160" h="493394">
                  <a:moveTo>
                    <a:pt x="360158" y="453852"/>
                  </a:moveTo>
                  <a:lnTo>
                    <a:pt x="363092" y="475107"/>
                  </a:lnTo>
                  <a:lnTo>
                    <a:pt x="380111" y="461772"/>
                  </a:lnTo>
                  <a:lnTo>
                    <a:pt x="360158" y="453852"/>
                  </a:lnTo>
                  <a:close/>
                </a:path>
                <a:path w="391160" h="493394">
                  <a:moveTo>
                    <a:pt x="356748" y="429157"/>
                  </a:moveTo>
                  <a:lnTo>
                    <a:pt x="360158" y="453852"/>
                  </a:lnTo>
                  <a:lnTo>
                    <a:pt x="380111" y="461772"/>
                  </a:lnTo>
                  <a:lnTo>
                    <a:pt x="363092" y="475107"/>
                  </a:lnTo>
                  <a:lnTo>
                    <a:pt x="373427" y="475107"/>
                  </a:lnTo>
                  <a:lnTo>
                    <a:pt x="385445" y="465709"/>
                  </a:lnTo>
                  <a:lnTo>
                    <a:pt x="356748" y="429157"/>
                  </a:lnTo>
                  <a:close/>
                </a:path>
                <a:path w="391160" h="493394">
                  <a:moveTo>
                    <a:pt x="19812" y="0"/>
                  </a:moveTo>
                  <a:lnTo>
                    <a:pt x="0" y="15494"/>
                  </a:lnTo>
                  <a:lnTo>
                    <a:pt x="336918" y="444628"/>
                  </a:lnTo>
                  <a:lnTo>
                    <a:pt x="360158" y="453852"/>
                  </a:lnTo>
                  <a:lnTo>
                    <a:pt x="356748" y="429157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7822" y="3450336"/>
              <a:ext cx="587501" cy="148361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88716" y="3584066"/>
              <a:ext cx="421005" cy="1289050"/>
            </a:xfrm>
            <a:custGeom>
              <a:avLst/>
              <a:gdLst/>
              <a:ahLst/>
              <a:cxnLst/>
              <a:rect l="l" t="t" r="r" b="b"/>
              <a:pathLst>
                <a:path w="421004" h="1289050">
                  <a:moveTo>
                    <a:pt x="378892" y="47785"/>
                  </a:moveTo>
                  <a:lnTo>
                    <a:pt x="360665" y="64932"/>
                  </a:lnTo>
                  <a:lnTo>
                    <a:pt x="0" y="1281811"/>
                  </a:lnTo>
                  <a:lnTo>
                    <a:pt x="24129" y="1288923"/>
                  </a:lnTo>
                  <a:lnTo>
                    <a:pt x="384811" y="71991"/>
                  </a:lnTo>
                  <a:lnTo>
                    <a:pt x="378892" y="47785"/>
                  </a:lnTo>
                  <a:close/>
                </a:path>
                <a:path w="421004" h="1289050">
                  <a:moveTo>
                    <a:pt x="398054" y="20320"/>
                  </a:moveTo>
                  <a:lnTo>
                    <a:pt x="373887" y="20320"/>
                  </a:lnTo>
                  <a:lnTo>
                    <a:pt x="398018" y="27432"/>
                  </a:lnTo>
                  <a:lnTo>
                    <a:pt x="384811" y="71991"/>
                  </a:lnTo>
                  <a:lnTo>
                    <a:pt x="396367" y="119253"/>
                  </a:lnTo>
                  <a:lnTo>
                    <a:pt x="403224" y="123444"/>
                  </a:lnTo>
                  <a:lnTo>
                    <a:pt x="416686" y="120142"/>
                  </a:lnTo>
                  <a:lnTo>
                    <a:pt x="420750" y="113284"/>
                  </a:lnTo>
                  <a:lnTo>
                    <a:pt x="419226" y="106553"/>
                  </a:lnTo>
                  <a:lnTo>
                    <a:pt x="398054" y="20320"/>
                  </a:lnTo>
                  <a:close/>
                </a:path>
                <a:path w="421004" h="1289050">
                  <a:moveTo>
                    <a:pt x="393064" y="0"/>
                  </a:moveTo>
                  <a:lnTo>
                    <a:pt x="308101" y="79883"/>
                  </a:lnTo>
                  <a:lnTo>
                    <a:pt x="307847" y="87884"/>
                  </a:lnTo>
                  <a:lnTo>
                    <a:pt x="312546" y="92964"/>
                  </a:lnTo>
                  <a:lnTo>
                    <a:pt x="317372" y="97917"/>
                  </a:lnTo>
                  <a:lnTo>
                    <a:pt x="325246" y="98171"/>
                  </a:lnTo>
                  <a:lnTo>
                    <a:pt x="330326" y="93472"/>
                  </a:lnTo>
                  <a:lnTo>
                    <a:pt x="360665" y="64932"/>
                  </a:lnTo>
                  <a:lnTo>
                    <a:pt x="373887" y="20320"/>
                  </a:lnTo>
                  <a:lnTo>
                    <a:pt x="398054" y="20320"/>
                  </a:lnTo>
                  <a:lnTo>
                    <a:pt x="393064" y="0"/>
                  </a:lnTo>
                  <a:close/>
                </a:path>
                <a:path w="421004" h="1289050">
                  <a:moveTo>
                    <a:pt x="395863" y="26797"/>
                  </a:moveTo>
                  <a:lnTo>
                    <a:pt x="373760" y="26797"/>
                  </a:lnTo>
                  <a:lnTo>
                    <a:pt x="394588" y="33020"/>
                  </a:lnTo>
                  <a:lnTo>
                    <a:pt x="378892" y="47785"/>
                  </a:lnTo>
                  <a:lnTo>
                    <a:pt x="384811" y="71991"/>
                  </a:lnTo>
                  <a:lnTo>
                    <a:pt x="398018" y="27432"/>
                  </a:lnTo>
                  <a:lnTo>
                    <a:pt x="395863" y="26797"/>
                  </a:lnTo>
                  <a:close/>
                </a:path>
                <a:path w="421004" h="1289050">
                  <a:moveTo>
                    <a:pt x="373887" y="20320"/>
                  </a:moveTo>
                  <a:lnTo>
                    <a:pt x="360665" y="64932"/>
                  </a:lnTo>
                  <a:lnTo>
                    <a:pt x="378892" y="47785"/>
                  </a:lnTo>
                  <a:lnTo>
                    <a:pt x="373760" y="26797"/>
                  </a:lnTo>
                  <a:lnTo>
                    <a:pt x="395863" y="26797"/>
                  </a:lnTo>
                  <a:lnTo>
                    <a:pt x="373887" y="20320"/>
                  </a:lnTo>
                  <a:close/>
                </a:path>
                <a:path w="421004" h="1289050">
                  <a:moveTo>
                    <a:pt x="373760" y="26797"/>
                  </a:moveTo>
                  <a:lnTo>
                    <a:pt x="378892" y="47785"/>
                  </a:lnTo>
                  <a:lnTo>
                    <a:pt x="394588" y="33020"/>
                  </a:lnTo>
                  <a:lnTo>
                    <a:pt x="373760" y="2679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6251" y="3262883"/>
              <a:ext cx="323850" cy="10744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67780" y="3296792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2660" y="2265426"/>
              <a:ext cx="107441" cy="267766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096380" y="2286380"/>
              <a:ext cx="0" cy="2583180"/>
            </a:xfrm>
            <a:custGeom>
              <a:avLst/>
              <a:gdLst/>
              <a:ahLst/>
              <a:cxnLst/>
              <a:rect l="l" t="t" r="r" b="b"/>
              <a:pathLst>
                <a:path h="2583179">
                  <a:moveTo>
                    <a:pt x="0" y="0"/>
                  </a:moveTo>
                  <a:lnTo>
                    <a:pt x="0" y="2582799"/>
                  </a:lnTo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54851" y="2152650"/>
              <a:ext cx="423672" cy="3070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6380" y="2227580"/>
              <a:ext cx="228600" cy="11760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54851" y="4735067"/>
              <a:ext cx="423672" cy="30708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6380" y="4809998"/>
              <a:ext cx="228600" cy="11760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810380" y="4868798"/>
              <a:ext cx="1828800" cy="1380490"/>
            </a:xfrm>
            <a:custGeom>
              <a:avLst/>
              <a:gdLst/>
              <a:ahLst/>
              <a:cxnLst/>
              <a:rect l="l" t="t" r="r" b="b"/>
              <a:pathLst>
                <a:path w="1828800" h="1380489">
                  <a:moveTo>
                    <a:pt x="914400" y="0"/>
                  </a:moveTo>
                  <a:lnTo>
                    <a:pt x="842947" y="692"/>
                  </a:lnTo>
                  <a:lnTo>
                    <a:pt x="772997" y="2734"/>
                  </a:lnTo>
                  <a:lnTo>
                    <a:pt x="704754" y="6075"/>
                  </a:lnTo>
                  <a:lnTo>
                    <a:pt x="638420" y="10664"/>
                  </a:lnTo>
                  <a:lnTo>
                    <a:pt x="574199" y="16450"/>
                  </a:lnTo>
                  <a:lnTo>
                    <a:pt x="512295" y="23381"/>
                  </a:lnTo>
                  <a:lnTo>
                    <a:pt x="452910" y="31406"/>
                  </a:lnTo>
                  <a:lnTo>
                    <a:pt x="396248" y="40475"/>
                  </a:lnTo>
                  <a:lnTo>
                    <a:pt x="342513" y="50535"/>
                  </a:lnTo>
                  <a:lnTo>
                    <a:pt x="291908" y="61536"/>
                  </a:lnTo>
                  <a:lnTo>
                    <a:pt x="244636" y="73426"/>
                  </a:lnTo>
                  <a:lnTo>
                    <a:pt x="200901" y="86155"/>
                  </a:lnTo>
                  <a:lnTo>
                    <a:pt x="160906" y="99671"/>
                  </a:lnTo>
                  <a:lnTo>
                    <a:pt x="124855" y="113923"/>
                  </a:lnTo>
                  <a:lnTo>
                    <a:pt x="65396" y="144431"/>
                  </a:lnTo>
                  <a:lnTo>
                    <a:pt x="24152" y="177268"/>
                  </a:lnTo>
                  <a:lnTo>
                    <a:pt x="2751" y="212025"/>
                  </a:lnTo>
                  <a:lnTo>
                    <a:pt x="0" y="229996"/>
                  </a:lnTo>
                  <a:lnTo>
                    <a:pt x="0" y="1149985"/>
                  </a:lnTo>
                  <a:lnTo>
                    <a:pt x="24152" y="1202721"/>
                  </a:lnTo>
                  <a:lnTo>
                    <a:pt x="65396" y="1235561"/>
                  </a:lnTo>
                  <a:lnTo>
                    <a:pt x="124855" y="1266069"/>
                  </a:lnTo>
                  <a:lnTo>
                    <a:pt x="160906" y="1280321"/>
                  </a:lnTo>
                  <a:lnTo>
                    <a:pt x="200901" y="1293837"/>
                  </a:lnTo>
                  <a:lnTo>
                    <a:pt x="244636" y="1306565"/>
                  </a:lnTo>
                  <a:lnTo>
                    <a:pt x="291908" y="1318454"/>
                  </a:lnTo>
                  <a:lnTo>
                    <a:pt x="342513" y="1329454"/>
                  </a:lnTo>
                  <a:lnTo>
                    <a:pt x="396248" y="1339513"/>
                  </a:lnTo>
                  <a:lnTo>
                    <a:pt x="452910" y="1348581"/>
                  </a:lnTo>
                  <a:lnTo>
                    <a:pt x="512295" y="1356605"/>
                  </a:lnTo>
                  <a:lnTo>
                    <a:pt x="574199" y="1363535"/>
                  </a:lnTo>
                  <a:lnTo>
                    <a:pt x="638420" y="1369319"/>
                  </a:lnTo>
                  <a:lnTo>
                    <a:pt x="704754" y="1373907"/>
                  </a:lnTo>
                  <a:lnTo>
                    <a:pt x="772997" y="1377248"/>
                  </a:lnTo>
                  <a:lnTo>
                    <a:pt x="842947" y="1379290"/>
                  </a:lnTo>
                  <a:lnTo>
                    <a:pt x="914400" y="1379982"/>
                  </a:lnTo>
                  <a:lnTo>
                    <a:pt x="985852" y="1379290"/>
                  </a:lnTo>
                  <a:lnTo>
                    <a:pt x="1055802" y="1377248"/>
                  </a:lnTo>
                  <a:lnTo>
                    <a:pt x="1124045" y="1373907"/>
                  </a:lnTo>
                  <a:lnTo>
                    <a:pt x="1190379" y="1369319"/>
                  </a:lnTo>
                  <a:lnTo>
                    <a:pt x="1254600" y="1363535"/>
                  </a:lnTo>
                  <a:lnTo>
                    <a:pt x="1316504" y="1356605"/>
                  </a:lnTo>
                  <a:lnTo>
                    <a:pt x="1375889" y="1348581"/>
                  </a:lnTo>
                  <a:lnTo>
                    <a:pt x="1432551" y="1339513"/>
                  </a:lnTo>
                  <a:lnTo>
                    <a:pt x="1486286" y="1329454"/>
                  </a:lnTo>
                  <a:lnTo>
                    <a:pt x="1536891" y="1318454"/>
                  </a:lnTo>
                  <a:lnTo>
                    <a:pt x="1584163" y="1306565"/>
                  </a:lnTo>
                  <a:lnTo>
                    <a:pt x="1627898" y="1293837"/>
                  </a:lnTo>
                  <a:lnTo>
                    <a:pt x="1667893" y="1280321"/>
                  </a:lnTo>
                  <a:lnTo>
                    <a:pt x="1703944" y="1266069"/>
                  </a:lnTo>
                  <a:lnTo>
                    <a:pt x="1763403" y="1235561"/>
                  </a:lnTo>
                  <a:lnTo>
                    <a:pt x="1804647" y="1202721"/>
                  </a:lnTo>
                  <a:lnTo>
                    <a:pt x="1826048" y="1167959"/>
                  </a:lnTo>
                  <a:lnTo>
                    <a:pt x="1828800" y="1149985"/>
                  </a:lnTo>
                  <a:lnTo>
                    <a:pt x="1828800" y="229996"/>
                  </a:lnTo>
                  <a:lnTo>
                    <a:pt x="1804647" y="177268"/>
                  </a:lnTo>
                  <a:lnTo>
                    <a:pt x="1763403" y="144431"/>
                  </a:lnTo>
                  <a:lnTo>
                    <a:pt x="1703944" y="113923"/>
                  </a:lnTo>
                  <a:lnTo>
                    <a:pt x="1667893" y="99671"/>
                  </a:lnTo>
                  <a:lnTo>
                    <a:pt x="1627898" y="86155"/>
                  </a:lnTo>
                  <a:lnTo>
                    <a:pt x="1584163" y="73426"/>
                  </a:lnTo>
                  <a:lnTo>
                    <a:pt x="1536891" y="61536"/>
                  </a:lnTo>
                  <a:lnTo>
                    <a:pt x="1486286" y="50535"/>
                  </a:lnTo>
                  <a:lnTo>
                    <a:pt x="1432551" y="40475"/>
                  </a:lnTo>
                  <a:lnTo>
                    <a:pt x="1375889" y="31406"/>
                  </a:lnTo>
                  <a:lnTo>
                    <a:pt x="1316504" y="23381"/>
                  </a:lnTo>
                  <a:lnTo>
                    <a:pt x="1254600" y="16450"/>
                  </a:lnTo>
                  <a:lnTo>
                    <a:pt x="1190379" y="10664"/>
                  </a:lnTo>
                  <a:lnTo>
                    <a:pt x="1124045" y="6075"/>
                  </a:lnTo>
                  <a:lnTo>
                    <a:pt x="1055802" y="2734"/>
                  </a:lnTo>
                  <a:lnTo>
                    <a:pt x="985852" y="692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10380" y="4868798"/>
              <a:ext cx="1828800" cy="1380490"/>
            </a:xfrm>
            <a:custGeom>
              <a:avLst/>
              <a:gdLst/>
              <a:ahLst/>
              <a:cxnLst/>
              <a:rect l="l" t="t" r="r" b="b"/>
              <a:pathLst>
                <a:path w="1828800" h="1380489">
                  <a:moveTo>
                    <a:pt x="1828800" y="229996"/>
                  </a:moveTo>
                  <a:lnTo>
                    <a:pt x="1804647" y="282725"/>
                  </a:lnTo>
                  <a:lnTo>
                    <a:pt x="1763403" y="315562"/>
                  </a:lnTo>
                  <a:lnTo>
                    <a:pt x="1703944" y="346070"/>
                  </a:lnTo>
                  <a:lnTo>
                    <a:pt x="1667893" y="360322"/>
                  </a:lnTo>
                  <a:lnTo>
                    <a:pt x="1627898" y="373838"/>
                  </a:lnTo>
                  <a:lnTo>
                    <a:pt x="1584163" y="386567"/>
                  </a:lnTo>
                  <a:lnTo>
                    <a:pt x="1536891" y="398457"/>
                  </a:lnTo>
                  <a:lnTo>
                    <a:pt x="1486286" y="409458"/>
                  </a:lnTo>
                  <a:lnTo>
                    <a:pt x="1432551" y="419518"/>
                  </a:lnTo>
                  <a:lnTo>
                    <a:pt x="1375889" y="428587"/>
                  </a:lnTo>
                  <a:lnTo>
                    <a:pt x="1316504" y="436612"/>
                  </a:lnTo>
                  <a:lnTo>
                    <a:pt x="1254600" y="443543"/>
                  </a:lnTo>
                  <a:lnTo>
                    <a:pt x="1190379" y="449329"/>
                  </a:lnTo>
                  <a:lnTo>
                    <a:pt x="1124045" y="453918"/>
                  </a:lnTo>
                  <a:lnTo>
                    <a:pt x="1055802" y="457259"/>
                  </a:lnTo>
                  <a:lnTo>
                    <a:pt x="985852" y="459301"/>
                  </a:lnTo>
                  <a:lnTo>
                    <a:pt x="914400" y="459994"/>
                  </a:lnTo>
                  <a:lnTo>
                    <a:pt x="842947" y="459301"/>
                  </a:lnTo>
                  <a:lnTo>
                    <a:pt x="772997" y="457259"/>
                  </a:lnTo>
                  <a:lnTo>
                    <a:pt x="704754" y="453918"/>
                  </a:lnTo>
                  <a:lnTo>
                    <a:pt x="638420" y="449329"/>
                  </a:lnTo>
                  <a:lnTo>
                    <a:pt x="574199" y="443543"/>
                  </a:lnTo>
                  <a:lnTo>
                    <a:pt x="512295" y="436612"/>
                  </a:lnTo>
                  <a:lnTo>
                    <a:pt x="452910" y="428587"/>
                  </a:lnTo>
                  <a:lnTo>
                    <a:pt x="396248" y="419518"/>
                  </a:lnTo>
                  <a:lnTo>
                    <a:pt x="342513" y="409458"/>
                  </a:lnTo>
                  <a:lnTo>
                    <a:pt x="291908" y="398457"/>
                  </a:lnTo>
                  <a:lnTo>
                    <a:pt x="244636" y="386567"/>
                  </a:lnTo>
                  <a:lnTo>
                    <a:pt x="200901" y="373838"/>
                  </a:lnTo>
                  <a:lnTo>
                    <a:pt x="160906" y="360322"/>
                  </a:lnTo>
                  <a:lnTo>
                    <a:pt x="124855" y="346070"/>
                  </a:lnTo>
                  <a:lnTo>
                    <a:pt x="65396" y="315562"/>
                  </a:lnTo>
                  <a:lnTo>
                    <a:pt x="24152" y="282725"/>
                  </a:lnTo>
                  <a:lnTo>
                    <a:pt x="2751" y="247968"/>
                  </a:lnTo>
                  <a:lnTo>
                    <a:pt x="0" y="229996"/>
                  </a:lnTo>
                </a:path>
                <a:path w="1828800" h="1380489">
                  <a:moveTo>
                    <a:pt x="0" y="229996"/>
                  </a:moveTo>
                  <a:lnTo>
                    <a:pt x="24152" y="177268"/>
                  </a:lnTo>
                  <a:lnTo>
                    <a:pt x="65396" y="144431"/>
                  </a:lnTo>
                  <a:lnTo>
                    <a:pt x="124855" y="113923"/>
                  </a:lnTo>
                  <a:lnTo>
                    <a:pt x="160906" y="99671"/>
                  </a:lnTo>
                  <a:lnTo>
                    <a:pt x="200901" y="86155"/>
                  </a:lnTo>
                  <a:lnTo>
                    <a:pt x="244636" y="73426"/>
                  </a:lnTo>
                  <a:lnTo>
                    <a:pt x="291908" y="61536"/>
                  </a:lnTo>
                  <a:lnTo>
                    <a:pt x="342513" y="50535"/>
                  </a:lnTo>
                  <a:lnTo>
                    <a:pt x="396248" y="40475"/>
                  </a:lnTo>
                  <a:lnTo>
                    <a:pt x="452910" y="31406"/>
                  </a:lnTo>
                  <a:lnTo>
                    <a:pt x="512295" y="23381"/>
                  </a:lnTo>
                  <a:lnTo>
                    <a:pt x="574199" y="16450"/>
                  </a:lnTo>
                  <a:lnTo>
                    <a:pt x="638420" y="10664"/>
                  </a:lnTo>
                  <a:lnTo>
                    <a:pt x="704754" y="6075"/>
                  </a:lnTo>
                  <a:lnTo>
                    <a:pt x="772997" y="2734"/>
                  </a:lnTo>
                  <a:lnTo>
                    <a:pt x="842947" y="692"/>
                  </a:lnTo>
                  <a:lnTo>
                    <a:pt x="914400" y="0"/>
                  </a:lnTo>
                  <a:lnTo>
                    <a:pt x="985852" y="692"/>
                  </a:lnTo>
                  <a:lnTo>
                    <a:pt x="1055802" y="2734"/>
                  </a:lnTo>
                  <a:lnTo>
                    <a:pt x="1124045" y="6075"/>
                  </a:lnTo>
                  <a:lnTo>
                    <a:pt x="1190379" y="10664"/>
                  </a:lnTo>
                  <a:lnTo>
                    <a:pt x="1254600" y="16450"/>
                  </a:lnTo>
                  <a:lnTo>
                    <a:pt x="1316504" y="23381"/>
                  </a:lnTo>
                  <a:lnTo>
                    <a:pt x="1375889" y="31406"/>
                  </a:lnTo>
                  <a:lnTo>
                    <a:pt x="1432551" y="40475"/>
                  </a:lnTo>
                  <a:lnTo>
                    <a:pt x="1486286" y="50535"/>
                  </a:lnTo>
                  <a:lnTo>
                    <a:pt x="1536891" y="61536"/>
                  </a:lnTo>
                  <a:lnTo>
                    <a:pt x="1584163" y="73426"/>
                  </a:lnTo>
                  <a:lnTo>
                    <a:pt x="1627898" y="86155"/>
                  </a:lnTo>
                  <a:lnTo>
                    <a:pt x="1667893" y="99671"/>
                  </a:lnTo>
                  <a:lnTo>
                    <a:pt x="1703944" y="113923"/>
                  </a:lnTo>
                  <a:lnTo>
                    <a:pt x="1763403" y="144431"/>
                  </a:lnTo>
                  <a:lnTo>
                    <a:pt x="1804647" y="177268"/>
                  </a:lnTo>
                  <a:lnTo>
                    <a:pt x="1826048" y="212025"/>
                  </a:lnTo>
                  <a:lnTo>
                    <a:pt x="1828800" y="229996"/>
                  </a:lnTo>
                  <a:lnTo>
                    <a:pt x="1828800" y="1149985"/>
                  </a:lnTo>
                  <a:lnTo>
                    <a:pt x="1804647" y="1202721"/>
                  </a:lnTo>
                  <a:lnTo>
                    <a:pt x="1763403" y="1235561"/>
                  </a:lnTo>
                  <a:lnTo>
                    <a:pt x="1703944" y="1266069"/>
                  </a:lnTo>
                  <a:lnTo>
                    <a:pt x="1667893" y="1280321"/>
                  </a:lnTo>
                  <a:lnTo>
                    <a:pt x="1627898" y="1293837"/>
                  </a:lnTo>
                  <a:lnTo>
                    <a:pt x="1584163" y="1306565"/>
                  </a:lnTo>
                  <a:lnTo>
                    <a:pt x="1536891" y="1318454"/>
                  </a:lnTo>
                  <a:lnTo>
                    <a:pt x="1486286" y="1329454"/>
                  </a:lnTo>
                  <a:lnTo>
                    <a:pt x="1432551" y="1339513"/>
                  </a:lnTo>
                  <a:lnTo>
                    <a:pt x="1375889" y="1348581"/>
                  </a:lnTo>
                  <a:lnTo>
                    <a:pt x="1316504" y="1356605"/>
                  </a:lnTo>
                  <a:lnTo>
                    <a:pt x="1254600" y="1363535"/>
                  </a:lnTo>
                  <a:lnTo>
                    <a:pt x="1190379" y="1369319"/>
                  </a:lnTo>
                  <a:lnTo>
                    <a:pt x="1124045" y="1373907"/>
                  </a:lnTo>
                  <a:lnTo>
                    <a:pt x="1055802" y="1377248"/>
                  </a:lnTo>
                  <a:lnTo>
                    <a:pt x="985852" y="1379290"/>
                  </a:lnTo>
                  <a:lnTo>
                    <a:pt x="914400" y="1379982"/>
                  </a:lnTo>
                  <a:lnTo>
                    <a:pt x="842947" y="1379290"/>
                  </a:lnTo>
                  <a:lnTo>
                    <a:pt x="772997" y="1377248"/>
                  </a:lnTo>
                  <a:lnTo>
                    <a:pt x="704754" y="1373907"/>
                  </a:lnTo>
                  <a:lnTo>
                    <a:pt x="638420" y="1369319"/>
                  </a:lnTo>
                  <a:lnTo>
                    <a:pt x="574199" y="1363535"/>
                  </a:lnTo>
                  <a:lnTo>
                    <a:pt x="512295" y="1356605"/>
                  </a:lnTo>
                  <a:lnTo>
                    <a:pt x="452910" y="1348581"/>
                  </a:lnTo>
                  <a:lnTo>
                    <a:pt x="396248" y="1339513"/>
                  </a:lnTo>
                  <a:lnTo>
                    <a:pt x="342513" y="1329454"/>
                  </a:lnTo>
                  <a:lnTo>
                    <a:pt x="291908" y="1318454"/>
                  </a:lnTo>
                  <a:lnTo>
                    <a:pt x="244636" y="1306565"/>
                  </a:lnTo>
                  <a:lnTo>
                    <a:pt x="200901" y="1293837"/>
                  </a:lnTo>
                  <a:lnTo>
                    <a:pt x="160906" y="1280321"/>
                  </a:lnTo>
                  <a:lnTo>
                    <a:pt x="124855" y="1266069"/>
                  </a:lnTo>
                  <a:lnTo>
                    <a:pt x="65396" y="1235561"/>
                  </a:lnTo>
                  <a:lnTo>
                    <a:pt x="24152" y="1202721"/>
                  </a:lnTo>
                  <a:lnTo>
                    <a:pt x="2751" y="1167959"/>
                  </a:lnTo>
                  <a:lnTo>
                    <a:pt x="0" y="1149985"/>
                  </a:lnTo>
                  <a:lnTo>
                    <a:pt x="0" y="229996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026153" y="5509767"/>
            <a:ext cx="139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CSDL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giao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dịch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92573" y="3960876"/>
            <a:ext cx="250190" cy="1046480"/>
            <a:chOff x="4592573" y="3960876"/>
            <a:chExt cx="250190" cy="1046480"/>
          </a:xfrm>
        </p:grpSpPr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92573" y="3960876"/>
              <a:ext cx="249936" cy="104622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3599" y="4058793"/>
              <a:ext cx="88265" cy="810260"/>
            </a:xfrm>
            <a:custGeom>
              <a:avLst/>
              <a:gdLst/>
              <a:ahLst/>
              <a:cxnLst/>
              <a:rect l="l" t="t" r="r" b="b"/>
              <a:pathLst>
                <a:path w="88264" h="810260">
                  <a:moveTo>
                    <a:pt x="37237" y="734142"/>
                  </a:moveTo>
                  <a:lnTo>
                    <a:pt x="11684" y="734567"/>
                  </a:lnTo>
                  <a:lnTo>
                    <a:pt x="51180" y="810132"/>
                  </a:lnTo>
                  <a:lnTo>
                    <a:pt x="81392" y="746886"/>
                  </a:lnTo>
                  <a:lnTo>
                    <a:pt x="37464" y="746886"/>
                  </a:lnTo>
                  <a:lnTo>
                    <a:pt x="37237" y="734142"/>
                  </a:lnTo>
                  <a:close/>
                </a:path>
                <a:path w="88264" h="810260">
                  <a:moveTo>
                    <a:pt x="62385" y="733722"/>
                  </a:moveTo>
                  <a:lnTo>
                    <a:pt x="37237" y="734142"/>
                  </a:lnTo>
                  <a:lnTo>
                    <a:pt x="37464" y="746886"/>
                  </a:lnTo>
                  <a:lnTo>
                    <a:pt x="62611" y="746378"/>
                  </a:lnTo>
                  <a:lnTo>
                    <a:pt x="62385" y="733722"/>
                  </a:lnTo>
                  <a:close/>
                </a:path>
                <a:path w="88264" h="810260">
                  <a:moveTo>
                    <a:pt x="87884" y="733297"/>
                  </a:moveTo>
                  <a:lnTo>
                    <a:pt x="62385" y="733722"/>
                  </a:lnTo>
                  <a:lnTo>
                    <a:pt x="62611" y="746378"/>
                  </a:lnTo>
                  <a:lnTo>
                    <a:pt x="37464" y="746886"/>
                  </a:lnTo>
                  <a:lnTo>
                    <a:pt x="81392" y="746886"/>
                  </a:lnTo>
                  <a:lnTo>
                    <a:pt x="87884" y="733297"/>
                  </a:lnTo>
                  <a:close/>
                </a:path>
                <a:path w="88264" h="810260">
                  <a:moveTo>
                    <a:pt x="50646" y="75990"/>
                  </a:moveTo>
                  <a:lnTo>
                    <a:pt x="25498" y="76410"/>
                  </a:lnTo>
                  <a:lnTo>
                    <a:pt x="37237" y="734142"/>
                  </a:lnTo>
                  <a:lnTo>
                    <a:pt x="62385" y="733722"/>
                  </a:lnTo>
                  <a:lnTo>
                    <a:pt x="50646" y="75990"/>
                  </a:lnTo>
                  <a:close/>
                </a:path>
                <a:path w="88264" h="810260">
                  <a:moveTo>
                    <a:pt x="36702" y="0"/>
                  </a:moveTo>
                  <a:lnTo>
                    <a:pt x="0" y="76834"/>
                  </a:lnTo>
                  <a:lnTo>
                    <a:pt x="25498" y="76410"/>
                  </a:lnTo>
                  <a:lnTo>
                    <a:pt x="25273" y="63753"/>
                  </a:lnTo>
                  <a:lnTo>
                    <a:pt x="50419" y="63245"/>
                  </a:lnTo>
                  <a:lnTo>
                    <a:pt x="69760" y="63245"/>
                  </a:lnTo>
                  <a:lnTo>
                    <a:pt x="36702" y="0"/>
                  </a:lnTo>
                  <a:close/>
                </a:path>
                <a:path w="88264" h="810260">
                  <a:moveTo>
                    <a:pt x="50419" y="63245"/>
                  </a:moveTo>
                  <a:lnTo>
                    <a:pt x="25273" y="63753"/>
                  </a:lnTo>
                  <a:lnTo>
                    <a:pt x="25498" y="76410"/>
                  </a:lnTo>
                  <a:lnTo>
                    <a:pt x="50646" y="75990"/>
                  </a:lnTo>
                  <a:lnTo>
                    <a:pt x="50419" y="63245"/>
                  </a:lnTo>
                  <a:close/>
                </a:path>
                <a:path w="88264" h="810260">
                  <a:moveTo>
                    <a:pt x="69760" y="63245"/>
                  </a:moveTo>
                  <a:lnTo>
                    <a:pt x="50419" y="63245"/>
                  </a:lnTo>
                  <a:lnTo>
                    <a:pt x="50646" y="75990"/>
                  </a:lnTo>
                  <a:lnTo>
                    <a:pt x="76200" y="75564"/>
                  </a:lnTo>
                  <a:lnTo>
                    <a:pt x="69760" y="63245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40" name="Date Placeholder 3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94030"/>
            <a:ext cx="76041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Các</a:t>
            </a:r>
            <a:r>
              <a:rPr spc="-15" dirty="0"/>
              <a:t> </a:t>
            </a:r>
            <a:r>
              <a:rPr dirty="0">
                <a:latin typeface="Times New Roman"/>
                <a:cs typeface="Times New Roman"/>
              </a:rPr>
              <a:t>đặ</a:t>
            </a:r>
            <a:r>
              <a:rPr dirty="0"/>
              <a:t>c</a:t>
            </a:r>
            <a:r>
              <a:rPr spc="-10" dirty="0"/>
              <a:t> </a:t>
            </a:r>
            <a:r>
              <a:rPr spc="-5" dirty="0"/>
              <a:t>tr</a:t>
            </a:r>
            <a:r>
              <a:rPr spc="-5" dirty="0">
                <a:latin typeface="Times New Roman"/>
                <a:cs typeface="Times New Roman"/>
              </a:rPr>
              <a:t>ư</a:t>
            </a:r>
            <a:r>
              <a:rPr spc="-5" dirty="0"/>
              <a:t>ng của </a:t>
            </a:r>
            <a:r>
              <a:rPr dirty="0"/>
              <a:t>HT</a:t>
            </a:r>
            <a:r>
              <a:rPr spc="-5" dirty="0"/>
              <a:t> </a:t>
            </a:r>
            <a:r>
              <a:rPr spc="-30" dirty="0"/>
              <a:t>xử</a:t>
            </a:r>
            <a:r>
              <a:rPr spc="-10" dirty="0"/>
              <a:t> </a:t>
            </a:r>
            <a:r>
              <a:rPr dirty="0"/>
              <a:t>lý</a:t>
            </a:r>
            <a:r>
              <a:rPr spc="-5" dirty="0"/>
              <a:t> giao</a:t>
            </a:r>
            <a:r>
              <a:rPr spc="-10" dirty="0"/>
              <a:t> </a:t>
            </a:r>
            <a:r>
              <a:rPr dirty="0"/>
              <a:t>dịch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73276"/>
            <a:ext cx="7879715" cy="44608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76200" indent="-342900">
              <a:lnSpc>
                <a:spcPts val="3240"/>
              </a:lnSpc>
              <a:spcBef>
                <a:spcPts val="50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Xử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lý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nhanh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hiệu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quả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một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khối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lượng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lớn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dữ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liệu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đầu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vào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và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đầu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5" dirty="0">
                <a:latin typeface="Arial"/>
                <a:cs typeface="Arial"/>
              </a:rPr>
              <a:t>ra</a:t>
            </a:r>
            <a:endParaRPr sz="3000">
              <a:latin typeface="Arial"/>
              <a:cs typeface="Arial"/>
            </a:endParaRPr>
          </a:p>
          <a:p>
            <a:pPr marL="355600" marR="5080" indent="-342900">
              <a:lnSpc>
                <a:spcPts val="3240"/>
              </a:lnSpc>
              <a:spcBef>
                <a:spcPts val="720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Thực </a:t>
            </a:r>
            <a:r>
              <a:rPr sz="3000" spc="-5" dirty="0">
                <a:latin typeface="Arial"/>
                <a:cs typeface="Arial"/>
              </a:rPr>
              <a:t>hiện điều chỉnh dữ liệu để đảm bảo dữ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liệu </a:t>
            </a:r>
            <a:r>
              <a:rPr sz="3000" dirty="0">
                <a:latin typeface="Arial"/>
                <a:cs typeface="Arial"/>
              </a:rPr>
              <a:t>lưu trữ </a:t>
            </a:r>
            <a:r>
              <a:rPr sz="3000" spc="-5" dirty="0">
                <a:latin typeface="Arial"/>
                <a:cs typeface="Arial"/>
              </a:rPr>
              <a:t>trong HT là </a:t>
            </a:r>
            <a:r>
              <a:rPr sz="3000" dirty="0">
                <a:latin typeface="Arial"/>
                <a:cs typeface="Arial"/>
              </a:rPr>
              <a:t>chính xác và có tính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cập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nhật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nhất.</a:t>
            </a:r>
            <a:endParaRPr sz="3000">
              <a:latin typeface="Arial"/>
              <a:cs typeface="Arial"/>
            </a:endParaRPr>
          </a:p>
          <a:p>
            <a:pPr marL="355600" marR="106680" indent="-342900">
              <a:lnSpc>
                <a:spcPts val="3240"/>
              </a:lnSpc>
              <a:spcBef>
                <a:spcPts val="725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35" dirty="0">
                <a:latin typeface="Arial"/>
                <a:cs typeface="Arial"/>
              </a:rPr>
              <a:t>Tiềm </a:t>
            </a:r>
            <a:r>
              <a:rPr sz="3000" spc="-5" dirty="0">
                <a:latin typeface="Arial"/>
                <a:cs typeface="Arial"/>
              </a:rPr>
              <a:t>ẩn nhiều </a:t>
            </a:r>
            <a:r>
              <a:rPr sz="3000" dirty="0">
                <a:latin typeface="Arial"/>
                <a:cs typeface="Arial"/>
              </a:rPr>
              <a:t>vấn </a:t>
            </a:r>
            <a:r>
              <a:rPr sz="3000" spc="-5" dirty="0">
                <a:latin typeface="Arial"/>
                <a:cs typeface="Arial"/>
              </a:rPr>
              <a:t>đề liên quan đến an </a:t>
            </a:r>
            <a:r>
              <a:rPr sz="3000" dirty="0">
                <a:latin typeface="Arial"/>
                <a:cs typeface="Arial"/>
              </a:rPr>
              <a:t>toàn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HT</a:t>
            </a:r>
            <a:endParaRPr sz="3000">
              <a:latin typeface="Arial"/>
              <a:cs typeface="Arial"/>
            </a:endParaRPr>
          </a:p>
          <a:p>
            <a:pPr marL="355600" marR="349250" indent="-342900">
              <a:lnSpc>
                <a:spcPts val="3240"/>
              </a:lnSpc>
              <a:spcBef>
                <a:spcPts val="720"/>
              </a:spcBef>
              <a:tabLst>
                <a:tab pos="3549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5" dirty="0">
                <a:latin typeface="Arial"/>
                <a:cs typeface="Arial"/>
              </a:rPr>
              <a:t>Hỗ </a:t>
            </a:r>
            <a:r>
              <a:rPr sz="3000" dirty="0">
                <a:latin typeface="Arial"/>
                <a:cs typeface="Arial"/>
              </a:rPr>
              <a:t>trợ </a:t>
            </a:r>
            <a:r>
              <a:rPr sz="3000" spc="-5" dirty="0">
                <a:latin typeface="Arial"/>
                <a:cs typeface="Arial"/>
              </a:rPr>
              <a:t>hoạt động </a:t>
            </a:r>
            <a:r>
              <a:rPr sz="3000" dirty="0">
                <a:latin typeface="Arial"/>
                <a:cs typeface="Arial"/>
              </a:rPr>
              <a:t>tác </a:t>
            </a:r>
            <a:r>
              <a:rPr sz="3000" spc="-5" dirty="0">
                <a:latin typeface="Arial"/>
                <a:cs typeface="Arial"/>
              </a:rPr>
              <a:t>nghiệp </a:t>
            </a:r>
            <a:r>
              <a:rPr sz="3000" dirty="0">
                <a:latin typeface="Arial"/>
                <a:cs typeface="Arial"/>
              </a:rPr>
              <a:t>của </a:t>
            </a:r>
            <a:r>
              <a:rPr sz="3000" spc="-10" dirty="0">
                <a:latin typeface="Arial"/>
                <a:cs typeface="Arial"/>
              </a:rPr>
              <a:t>nhiều </a:t>
            </a:r>
            <a:r>
              <a:rPr sz="3000" spc="-5" dirty="0">
                <a:latin typeface="Arial"/>
                <a:cs typeface="Arial"/>
              </a:rPr>
              <a:t>bộ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phận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nên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rủi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ro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xảy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ra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trong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HT</a:t>
            </a:r>
            <a:r>
              <a:rPr sz="3000" spc="-6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có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thể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ảnh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hưởng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nghiêm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trọng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đến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tổ chức.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288289"/>
            <a:ext cx="6803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</a:t>
            </a:r>
            <a:r>
              <a:rPr sz="4400" spc="-15" dirty="0"/>
              <a:t> hoạt</a:t>
            </a:r>
            <a:r>
              <a:rPr sz="4400" spc="15" dirty="0"/>
              <a:t> </a:t>
            </a:r>
            <a:r>
              <a:rPr sz="4400" spc="-5" dirty="0">
                <a:latin typeface="Times New Roman"/>
                <a:cs typeface="Times New Roman"/>
              </a:rPr>
              <a:t>động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spc="-25" dirty="0"/>
              <a:t>xử</a:t>
            </a:r>
            <a:r>
              <a:rPr sz="4400" spc="-10" dirty="0"/>
              <a:t> </a:t>
            </a:r>
            <a:r>
              <a:rPr sz="4400" spc="-5" dirty="0"/>
              <a:t>lý </a:t>
            </a:r>
            <a:r>
              <a:rPr sz="4400" dirty="0"/>
              <a:t>giao</a:t>
            </a:r>
            <a:r>
              <a:rPr sz="4400" spc="-10" dirty="0"/>
              <a:t> </a:t>
            </a:r>
            <a:r>
              <a:rPr sz="4400" spc="-5" dirty="0"/>
              <a:t>dịch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1761" y="1531874"/>
            <a:ext cx="12211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Dữ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liệu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gốc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41115" y="2321686"/>
            <a:ext cx="1895475" cy="1263650"/>
            <a:chOff x="3841115" y="2321686"/>
            <a:chExt cx="1895475" cy="1263650"/>
          </a:xfrm>
        </p:grpSpPr>
        <p:sp>
          <p:nvSpPr>
            <p:cNvPr id="5" name="object 5"/>
            <p:cNvSpPr/>
            <p:nvPr/>
          </p:nvSpPr>
          <p:spPr>
            <a:xfrm>
              <a:off x="3853815" y="2334386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828800" y="4572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53815" y="2334386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0" y="457200"/>
                  </a:moveTo>
                  <a:lnTo>
                    <a:pt x="1828800" y="4572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94963" y="3115436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828800" y="4572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94963" y="3115436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0" y="457200"/>
                  </a:moveTo>
                  <a:lnTo>
                    <a:pt x="1828800" y="4572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34714" y="2405126"/>
            <a:ext cx="1695450" cy="108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Thu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thập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66040">
              <a:lnSpc>
                <a:spcPct val="100000"/>
              </a:lnSpc>
              <a:spcBef>
                <a:spcPts val="1689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Kiểm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tra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51042" y="4045330"/>
            <a:ext cx="1854200" cy="482600"/>
            <a:chOff x="5551042" y="4045330"/>
            <a:chExt cx="1854200" cy="482600"/>
          </a:xfrm>
        </p:grpSpPr>
        <p:sp>
          <p:nvSpPr>
            <p:cNvPr id="11" name="object 11"/>
            <p:cNvSpPr/>
            <p:nvPr/>
          </p:nvSpPr>
          <p:spPr>
            <a:xfrm>
              <a:off x="5563742" y="4058030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182879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828799" y="457200"/>
                  </a:lnTo>
                  <a:lnTo>
                    <a:pt x="182879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63742" y="4058030"/>
              <a:ext cx="1828800" cy="457200"/>
            </a:xfrm>
            <a:custGeom>
              <a:avLst/>
              <a:gdLst/>
              <a:ahLst/>
              <a:cxnLst/>
              <a:rect l="l" t="t" r="r" b="b"/>
              <a:pathLst>
                <a:path w="1828800" h="457200">
                  <a:moveTo>
                    <a:pt x="0" y="457200"/>
                  </a:moveTo>
                  <a:lnTo>
                    <a:pt x="1828799" y="457200"/>
                  </a:lnTo>
                  <a:lnTo>
                    <a:pt x="1828799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30315" y="4128770"/>
            <a:ext cx="1295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Xử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lý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35708" y="4045330"/>
            <a:ext cx="2150110" cy="482600"/>
            <a:chOff x="1735708" y="4045330"/>
            <a:chExt cx="2150110" cy="482600"/>
          </a:xfrm>
        </p:grpSpPr>
        <p:sp>
          <p:nvSpPr>
            <p:cNvPr id="15" name="object 15"/>
            <p:cNvSpPr/>
            <p:nvPr/>
          </p:nvSpPr>
          <p:spPr>
            <a:xfrm>
              <a:off x="1748408" y="4058030"/>
              <a:ext cx="2124710" cy="457200"/>
            </a:xfrm>
            <a:custGeom>
              <a:avLst/>
              <a:gdLst/>
              <a:ahLst/>
              <a:cxnLst/>
              <a:rect l="l" t="t" r="r" b="b"/>
              <a:pathLst>
                <a:path w="2124710" h="457200">
                  <a:moveTo>
                    <a:pt x="2124456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124456" y="457200"/>
                  </a:lnTo>
                  <a:lnTo>
                    <a:pt x="212445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8408" y="4058030"/>
              <a:ext cx="2124710" cy="457200"/>
            </a:xfrm>
            <a:custGeom>
              <a:avLst/>
              <a:gdLst/>
              <a:ahLst/>
              <a:cxnLst/>
              <a:rect l="l" t="t" r="r" b="b"/>
              <a:pathLst>
                <a:path w="2124710" h="457200">
                  <a:moveTo>
                    <a:pt x="0" y="457200"/>
                  </a:moveTo>
                  <a:lnTo>
                    <a:pt x="2124456" y="457200"/>
                  </a:lnTo>
                  <a:lnTo>
                    <a:pt x="2124456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48408" y="4058030"/>
            <a:ext cx="2124710" cy="4572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655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Hiệu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chỉnh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63742" y="494576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1828799" y="0"/>
                </a:moveTo>
                <a:lnTo>
                  <a:pt x="0" y="0"/>
                </a:lnTo>
                <a:lnTo>
                  <a:pt x="0" y="457200"/>
                </a:lnTo>
                <a:lnTo>
                  <a:pt x="1828799" y="457200"/>
                </a:lnTo>
                <a:lnTo>
                  <a:pt x="1828799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563742" y="4945760"/>
            <a:ext cx="1828800" cy="4572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66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Lưu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trữ</a:t>
            </a:r>
            <a:r>
              <a:rPr sz="1800" b="1" spc="4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dữ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68492" y="5892165"/>
            <a:ext cx="2019300" cy="457200"/>
          </a:xfrm>
          <a:custGeom>
            <a:avLst/>
            <a:gdLst/>
            <a:ahLst/>
            <a:cxnLst/>
            <a:rect l="l" t="t" r="r" b="b"/>
            <a:pathLst>
              <a:path w="2019300" h="457200">
                <a:moveTo>
                  <a:pt x="2019299" y="0"/>
                </a:moveTo>
                <a:lnTo>
                  <a:pt x="0" y="0"/>
                </a:lnTo>
                <a:lnTo>
                  <a:pt x="0" y="457200"/>
                </a:lnTo>
                <a:lnTo>
                  <a:pt x="2019299" y="457200"/>
                </a:lnTo>
                <a:lnTo>
                  <a:pt x="2019299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68492" y="5892165"/>
            <a:ext cx="2019300" cy="43307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39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Tạo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tài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liệu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báo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167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cáo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28316" y="1888998"/>
            <a:ext cx="4174490" cy="4174490"/>
            <a:chOff x="2528316" y="1888998"/>
            <a:chExt cx="4174490" cy="417449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6760" y="1888998"/>
              <a:ext cx="422148" cy="67894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682255" y="1907286"/>
              <a:ext cx="171450" cy="426720"/>
            </a:xfrm>
            <a:custGeom>
              <a:avLst/>
              <a:gdLst/>
              <a:ahLst/>
              <a:cxnLst/>
              <a:rect l="l" t="t" r="r" b="b"/>
              <a:pathLst>
                <a:path w="171450" h="426719">
                  <a:moveTo>
                    <a:pt x="23760" y="255984"/>
                  </a:moveTo>
                  <a:lnTo>
                    <a:pt x="14993" y="255984"/>
                  </a:lnTo>
                  <a:lnTo>
                    <a:pt x="9251" y="257937"/>
                  </a:lnTo>
                  <a:lnTo>
                    <a:pt x="3643" y="262987"/>
                  </a:lnTo>
                  <a:lnTo>
                    <a:pt x="488" y="269573"/>
                  </a:lnTo>
                  <a:lnTo>
                    <a:pt x="0" y="276850"/>
                  </a:lnTo>
                  <a:lnTo>
                    <a:pt x="2393" y="283972"/>
                  </a:lnTo>
                  <a:lnTo>
                    <a:pt x="85578" y="426465"/>
                  </a:lnTo>
                  <a:lnTo>
                    <a:pt x="107597" y="388747"/>
                  </a:lnTo>
                  <a:lnTo>
                    <a:pt x="66528" y="388747"/>
                  </a:lnTo>
                  <a:lnTo>
                    <a:pt x="66528" y="318134"/>
                  </a:lnTo>
                  <a:lnTo>
                    <a:pt x="35413" y="264794"/>
                  </a:lnTo>
                  <a:lnTo>
                    <a:pt x="30360" y="259169"/>
                  </a:lnTo>
                  <a:lnTo>
                    <a:pt x="23760" y="255984"/>
                  </a:lnTo>
                  <a:close/>
                </a:path>
                <a:path w="171450" h="426719">
                  <a:moveTo>
                    <a:pt x="66528" y="318134"/>
                  </a:moveTo>
                  <a:lnTo>
                    <a:pt x="66528" y="388747"/>
                  </a:lnTo>
                  <a:lnTo>
                    <a:pt x="104628" y="388747"/>
                  </a:lnTo>
                  <a:lnTo>
                    <a:pt x="104628" y="379094"/>
                  </a:lnTo>
                  <a:lnTo>
                    <a:pt x="69068" y="379094"/>
                  </a:lnTo>
                  <a:lnTo>
                    <a:pt x="85578" y="350792"/>
                  </a:lnTo>
                  <a:lnTo>
                    <a:pt x="66528" y="318134"/>
                  </a:lnTo>
                  <a:close/>
                </a:path>
                <a:path w="171450" h="426719">
                  <a:moveTo>
                    <a:pt x="154709" y="255490"/>
                  </a:moveTo>
                  <a:lnTo>
                    <a:pt x="147395" y="255984"/>
                  </a:lnTo>
                  <a:lnTo>
                    <a:pt x="140795" y="259169"/>
                  </a:lnTo>
                  <a:lnTo>
                    <a:pt x="135743" y="264794"/>
                  </a:lnTo>
                  <a:lnTo>
                    <a:pt x="104628" y="318134"/>
                  </a:lnTo>
                  <a:lnTo>
                    <a:pt x="104628" y="388747"/>
                  </a:lnTo>
                  <a:lnTo>
                    <a:pt x="107597" y="388747"/>
                  </a:lnTo>
                  <a:lnTo>
                    <a:pt x="168763" y="283972"/>
                  </a:lnTo>
                  <a:lnTo>
                    <a:pt x="171156" y="276850"/>
                  </a:lnTo>
                  <a:lnTo>
                    <a:pt x="170668" y="269573"/>
                  </a:lnTo>
                  <a:lnTo>
                    <a:pt x="167512" y="262987"/>
                  </a:lnTo>
                  <a:lnTo>
                    <a:pt x="161905" y="257937"/>
                  </a:lnTo>
                  <a:lnTo>
                    <a:pt x="154709" y="255490"/>
                  </a:lnTo>
                  <a:close/>
                </a:path>
                <a:path w="171450" h="426719">
                  <a:moveTo>
                    <a:pt x="85578" y="350792"/>
                  </a:moveTo>
                  <a:lnTo>
                    <a:pt x="69068" y="379094"/>
                  </a:lnTo>
                  <a:lnTo>
                    <a:pt x="102088" y="379094"/>
                  </a:lnTo>
                  <a:lnTo>
                    <a:pt x="85578" y="350792"/>
                  </a:lnTo>
                  <a:close/>
                </a:path>
                <a:path w="171450" h="426719">
                  <a:moveTo>
                    <a:pt x="104628" y="318134"/>
                  </a:moveTo>
                  <a:lnTo>
                    <a:pt x="85578" y="350792"/>
                  </a:lnTo>
                  <a:lnTo>
                    <a:pt x="102088" y="379094"/>
                  </a:lnTo>
                  <a:lnTo>
                    <a:pt x="104628" y="379094"/>
                  </a:lnTo>
                  <a:lnTo>
                    <a:pt x="104628" y="318134"/>
                  </a:lnTo>
                  <a:close/>
                </a:path>
                <a:path w="171450" h="426719">
                  <a:moveTo>
                    <a:pt x="104628" y="0"/>
                  </a:moveTo>
                  <a:lnTo>
                    <a:pt x="66528" y="0"/>
                  </a:lnTo>
                  <a:lnTo>
                    <a:pt x="66528" y="318134"/>
                  </a:lnTo>
                  <a:lnTo>
                    <a:pt x="85578" y="350792"/>
                  </a:lnTo>
                  <a:lnTo>
                    <a:pt x="104628" y="318134"/>
                  </a:lnTo>
                  <a:lnTo>
                    <a:pt x="104628" y="0"/>
                  </a:lnTo>
                  <a:close/>
                </a:path>
                <a:path w="171450" h="426719">
                  <a:moveTo>
                    <a:pt x="16446" y="255490"/>
                  </a:moveTo>
                  <a:lnTo>
                    <a:pt x="23760" y="255984"/>
                  </a:lnTo>
                  <a:lnTo>
                    <a:pt x="14993" y="255984"/>
                  </a:lnTo>
                  <a:lnTo>
                    <a:pt x="16446" y="25549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7616" y="2769870"/>
              <a:ext cx="422148" cy="57912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50946" y="2788285"/>
              <a:ext cx="170180" cy="327025"/>
            </a:xfrm>
            <a:custGeom>
              <a:avLst/>
              <a:gdLst/>
              <a:ahLst/>
              <a:cxnLst/>
              <a:rect l="l" t="t" r="r" b="b"/>
              <a:pathLst>
                <a:path w="170179" h="327025">
                  <a:moveTo>
                    <a:pt x="20939" y="167703"/>
                  </a:moveTo>
                  <a:lnTo>
                    <a:pt x="13700" y="168338"/>
                  </a:lnTo>
                  <a:lnTo>
                    <a:pt x="7032" y="171830"/>
                  </a:lnTo>
                  <a:lnTo>
                    <a:pt x="2164" y="177643"/>
                  </a:lnTo>
                  <a:lnTo>
                    <a:pt x="0" y="184610"/>
                  </a:lnTo>
                  <a:lnTo>
                    <a:pt x="621" y="191887"/>
                  </a:lnTo>
                  <a:lnTo>
                    <a:pt x="4111" y="198627"/>
                  </a:lnTo>
                  <a:lnTo>
                    <a:pt x="107997" y="326898"/>
                  </a:lnTo>
                  <a:lnTo>
                    <a:pt x="121598" y="292353"/>
                  </a:lnTo>
                  <a:lnTo>
                    <a:pt x="83359" y="292353"/>
                  </a:lnTo>
                  <a:lnTo>
                    <a:pt x="72686" y="222760"/>
                  </a:lnTo>
                  <a:lnTo>
                    <a:pt x="33702" y="174625"/>
                  </a:lnTo>
                  <a:lnTo>
                    <a:pt x="27892" y="169830"/>
                  </a:lnTo>
                  <a:lnTo>
                    <a:pt x="20939" y="167703"/>
                  </a:lnTo>
                  <a:close/>
                </a:path>
                <a:path w="170179" h="327025">
                  <a:moveTo>
                    <a:pt x="72686" y="222760"/>
                  </a:moveTo>
                  <a:lnTo>
                    <a:pt x="83359" y="292353"/>
                  </a:lnTo>
                  <a:lnTo>
                    <a:pt x="121078" y="286638"/>
                  </a:lnTo>
                  <a:lnTo>
                    <a:pt x="120434" y="282448"/>
                  </a:lnTo>
                  <a:lnTo>
                    <a:pt x="84502" y="282448"/>
                  </a:lnTo>
                  <a:lnTo>
                    <a:pt x="96460" y="252115"/>
                  </a:lnTo>
                  <a:lnTo>
                    <a:pt x="72686" y="222760"/>
                  </a:lnTo>
                  <a:close/>
                </a:path>
                <a:path w="170179" h="327025">
                  <a:moveTo>
                    <a:pt x="150340" y="147347"/>
                  </a:moveTo>
                  <a:lnTo>
                    <a:pt x="143208" y="148907"/>
                  </a:lnTo>
                  <a:lnTo>
                    <a:pt x="137171" y="153038"/>
                  </a:lnTo>
                  <a:lnTo>
                    <a:pt x="133016" y="159385"/>
                  </a:lnTo>
                  <a:lnTo>
                    <a:pt x="110352" y="216875"/>
                  </a:lnTo>
                  <a:lnTo>
                    <a:pt x="121078" y="286638"/>
                  </a:lnTo>
                  <a:lnTo>
                    <a:pt x="83359" y="292353"/>
                  </a:lnTo>
                  <a:lnTo>
                    <a:pt x="121598" y="292353"/>
                  </a:lnTo>
                  <a:lnTo>
                    <a:pt x="168449" y="173354"/>
                  </a:lnTo>
                  <a:lnTo>
                    <a:pt x="169818" y="165915"/>
                  </a:lnTo>
                  <a:lnTo>
                    <a:pt x="168259" y="158797"/>
                  </a:lnTo>
                  <a:lnTo>
                    <a:pt x="164127" y="152798"/>
                  </a:lnTo>
                  <a:lnTo>
                    <a:pt x="157781" y="148716"/>
                  </a:lnTo>
                  <a:lnTo>
                    <a:pt x="150340" y="147347"/>
                  </a:lnTo>
                  <a:close/>
                </a:path>
                <a:path w="170179" h="327025">
                  <a:moveTo>
                    <a:pt x="96460" y="252115"/>
                  </a:moveTo>
                  <a:lnTo>
                    <a:pt x="84502" y="282448"/>
                  </a:lnTo>
                  <a:lnTo>
                    <a:pt x="117014" y="277494"/>
                  </a:lnTo>
                  <a:lnTo>
                    <a:pt x="96460" y="252115"/>
                  </a:lnTo>
                  <a:close/>
                </a:path>
                <a:path w="170179" h="327025">
                  <a:moveTo>
                    <a:pt x="110352" y="216875"/>
                  </a:moveTo>
                  <a:lnTo>
                    <a:pt x="96460" y="252115"/>
                  </a:lnTo>
                  <a:lnTo>
                    <a:pt x="117014" y="277494"/>
                  </a:lnTo>
                  <a:lnTo>
                    <a:pt x="84502" y="282448"/>
                  </a:lnTo>
                  <a:lnTo>
                    <a:pt x="120434" y="282448"/>
                  </a:lnTo>
                  <a:lnTo>
                    <a:pt x="110352" y="216875"/>
                  </a:lnTo>
                  <a:close/>
                </a:path>
                <a:path w="170179" h="327025">
                  <a:moveTo>
                    <a:pt x="77009" y="0"/>
                  </a:moveTo>
                  <a:lnTo>
                    <a:pt x="39417" y="5841"/>
                  </a:lnTo>
                  <a:lnTo>
                    <a:pt x="72686" y="222760"/>
                  </a:lnTo>
                  <a:lnTo>
                    <a:pt x="96460" y="252115"/>
                  </a:lnTo>
                  <a:lnTo>
                    <a:pt x="110352" y="216875"/>
                  </a:lnTo>
                  <a:lnTo>
                    <a:pt x="77009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3261" y="3594354"/>
              <a:ext cx="1925574" cy="69723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804283" y="3612515"/>
              <a:ext cx="1673860" cy="490855"/>
            </a:xfrm>
            <a:custGeom>
              <a:avLst/>
              <a:gdLst/>
              <a:ahLst/>
              <a:cxnLst/>
              <a:rect l="l" t="t" r="r" b="b"/>
              <a:pathLst>
                <a:path w="1673860" h="490854">
                  <a:moveTo>
                    <a:pt x="1564087" y="436492"/>
                  </a:moveTo>
                  <a:lnTo>
                    <a:pt x="1504441" y="453517"/>
                  </a:lnTo>
                  <a:lnTo>
                    <a:pt x="1497701" y="456938"/>
                  </a:lnTo>
                  <a:lnTo>
                    <a:pt x="1492996" y="462502"/>
                  </a:lnTo>
                  <a:lnTo>
                    <a:pt x="1490743" y="469447"/>
                  </a:lnTo>
                  <a:lnTo>
                    <a:pt x="1491361" y="477012"/>
                  </a:lnTo>
                  <a:lnTo>
                    <a:pt x="1494782" y="483752"/>
                  </a:lnTo>
                  <a:lnTo>
                    <a:pt x="1500346" y="488457"/>
                  </a:lnTo>
                  <a:lnTo>
                    <a:pt x="1507291" y="490710"/>
                  </a:lnTo>
                  <a:lnTo>
                    <a:pt x="1514855" y="490093"/>
                  </a:lnTo>
                  <a:lnTo>
                    <a:pt x="1641843" y="453898"/>
                  </a:lnTo>
                  <a:lnTo>
                    <a:pt x="1632203" y="453898"/>
                  </a:lnTo>
                  <a:lnTo>
                    <a:pt x="1564087" y="436492"/>
                  </a:lnTo>
                  <a:close/>
                </a:path>
                <a:path w="1673860" h="490854">
                  <a:moveTo>
                    <a:pt x="1600330" y="426147"/>
                  </a:moveTo>
                  <a:lnTo>
                    <a:pt x="1564087" y="436492"/>
                  </a:lnTo>
                  <a:lnTo>
                    <a:pt x="1632203" y="453898"/>
                  </a:lnTo>
                  <a:lnTo>
                    <a:pt x="1633435" y="449072"/>
                  </a:lnTo>
                  <a:lnTo>
                    <a:pt x="1623567" y="449072"/>
                  </a:lnTo>
                  <a:lnTo>
                    <a:pt x="1600330" y="426147"/>
                  </a:lnTo>
                  <a:close/>
                </a:path>
                <a:path w="1673860" h="490854">
                  <a:moveTo>
                    <a:pt x="1542494" y="323548"/>
                  </a:moveTo>
                  <a:lnTo>
                    <a:pt x="1535340" y="324967"/>
                  </a:lnTo>
                  <a:lnTo>
                    <a:pt x="1529079" y="329184"/>
                  </a:lnTo>
                  <a:lnTo>
                    <a:pt x="1524958" y="335516"/>
                  </a:lnTo>
                  <a:lnTo>
                    <a:pt x="1523634" y="342693"/>
                  </a:lnTo>
                  <a:lnTo>
                    <a:pt x="1525097" y="349847"/>
                  </a:lnTo>
                  <a:lnTo>
                    <a:pt x="1529333" y="356108"/>
                  </a:lnTo>
                  <a:lnTo>
                    <a:pt x="1573482" y="399661"/>
                  </a:lnTo>
                  <a:lnTo>
                    <a:pt x="1641602" y="417068"/>
                  </a:lnTo>
                  <a:lnTo>
                    <a:pt x="1632203" y="453898"/>
                  </a:lnTo>
                  <a:lnTo>
                    <a:pt x="1641843" y="453898"/>
                  </a:lnTo>
                  <a:lnTo>
                    <a:pt x="1673478" y="444881"/>
                  </a:lnTo>
                  <a:lnTo>
                    <a:pt x="1556003" y="329057"/>
                  </a:lnTo>
                  <a:lnTo>
                    <a:pt x="1549671" y="324915"/>
                  </a:lnTo>
                  <a:lnTo>
                    <a:pt x="1542494" y="323548"/>
                  </a:lnTo>
                  <a:close/>
                </a:path>
                <a:path w="1673860" h="490854">
                  <a:moveTo>
                    <a:pt x="1631695" y="417195"/>
                  </a:moveTo>
                  <a:lnTo>
                    <a:pt x="1600330" y="426147"/>
                  </a:lnTo>
                  <a:lnTo>
                    <a:pt x="1623567" y="449072"/>
                  </a:lnTo>
                  <a:lnTo>
                    <a:pt x="1631695" y="417195"/>
                  </a:lnTo>
                  <a:close/>
                </a:path>
                <a:path w="1673860" h="490854">
                  <a:moveTo>
                    <a:pt x="1641569" y="417195"/>
                  </a:moveTo>
                  <a:lnTo>
                    <a:pt x="1631695" y="417195"/>
                  </a:lnTo>
                  <a:lnTo>
                    <a:pt x="1623567" y="449072"/>
                  </a:lnTo>
                  <a:lnTo>
                    <a:pt x="1633435" y="449072"/>
                  </a:lnTo>
                  <a:lnTo>
                    <a:pt x="1641569" y="417195"/>
                  </a:lnTo>
                  <a:close/>
                </a:path>
                <a:path w="1673860" h="490854">
                  <a:moveTo>
                    <a:pt x="9397" y="0"/>
                  </a:moveTo>
                  <a:lnTo>
                    <a:pt x="0" y="36830"/>
                  </a:lnTo>
                  <a:lnTo>
                    <a:pt x="1564087" y="436492"/>
                  </a:lnTo>
                  <a:lnTo>
                    <a:pt x="1600330" y="426147"/>
                  </a:lnTo>
                  <a:lnTo>
                    <a:pt x="1573482" y="399661"/>
                  </a:lnTo>
                  <a:lnTo>
                    <a:pt x="9397" y="0"/>
                  </a:lnTo>
                  <a:close/>
                </a:path>
                <a:path w="1673860" h="490854">
                  <a:moveTo>
                    <a:pt x="1573482" y="399661"/>
                  </a:moveTo>
                  <a:lnTo>
                    <a:pt x="1600330" y="426147"/>
                  </a:lnTo>
                  <a:lnTo>
                    <a:pt x="1631695" y="417195"/>
                  </a:lnTo>
                  <a:lnTo>
                    <a:pt x="1641569" y="417195"/>
                  </a:lnTo>
                  <a:lnTo>
                    <a:pt x="1641602" y="417068"/>
                  </a:lnTo>
                  <a:lnTo>
                    <a:pt x="1573482" y="399661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1410" y="3538727"/>
              <a:ext cx="1200150" cy="98145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872357" y="3557143"/>
              <a:ext cx="948055" cy="729615"/>
            </a:xfrm>
            <a:custGeom>
              <a:avLst/>
              <a:gdLst/>
              <a:ahLst/>
              <a:cxnLst/>
              <a:rect l="l" t="t" r="r" b="b"/>
              <a:pathLst>
                <a:path w="948054" h="729614">
                  <a:moveTo>
                    <a:pt x="80369" y="564884"/>
                  </a:moveTo>
                  <a:lnTo>
                    <a:pt x="73231" y="566356"/>
                  </a:lnTo>
                  <a:lnTo>
                    <a:pt x="67165" y="570400"/>
                  </a:lnTo>
                  <a:lnTo>
                    <a:pt x="62991" y="576707"/>
                  </a:lnTo>
                  <a:lnTo>
                    <a:pt x="0" y="729234"/>
                  </a:lnTo>
                  <a:lnTo>
                    <a:pt x="62460" y="721487"/>
                  </a:lnTo>
                  <a:lnTo>
                    <a:pt x="41655" y="721487"/>
                  </a:lnTo>
                  <a:lnTo>
                    <a:pt x="18541" y="691134"/>
                  </a:lnTo>
                  <a:lnTo>
                    <a:pt x="74590" y="648385"/>
                  </a:lnTo>
                  <a:lnTo>
                    <a:pt x="98170" y="591185"/>
                  </a:lnTo>
                  <a:lnTo>
                    <a:pt x="99633" y="583795"/>
                  </a:lnTo>
                  <a:lnTo>
                    <a:pt x="98155" y="576643"/>
                  </a:lnTo>
                  <a:lnTo>
                    <a:pt x="94081" y="570539"/>
                  </a:lnTo>
                  <a:lnTo>
                    <a:pt x="87756" y="566293"/>
                  </a:lnTo>
                  <a:lnTo>
                    <a:pt x="80369" y="564884"/>
                  </a:lnTo>
                  <a:close/>
                </a:path>
                <a:path w="948054" h="729614">
                  <a:moveTo>
                    <a:pt x="74590" y="648385"/>
                  </a:moveTo>
                  <a:lnTo>
                    <a:pt x="18541" y="691134"/>
                  </a:lnTo>
                  <a:lnTo>
                    <a:pt x="41655" y="721487"/>
                  </a:lnTo>
                  <a:lnTo>
                    <a:pt x="52144" y="713486"/>
                  </a:lnTo>
                  <a:lnTo>
                    <a:pt x="47751" y="713486"/>
                  </a:lnTo>
                  <a:lnTo>
                    <a:pt x="27812" y="687324"/>
                  </a:lnTo>
                  <a:lnTo>
                    <a:pt x="60189" y="683316"/>
                  </a:lnTo>
                  <a:lnTo>
                    <a:pt x="74590" y="648385"/>
                  </a:lnTo>
                  <a:close/>
                </a:path>
                <a:path w="948054" h="729614">
                  <a:moveTo>
                    <a:pt x="159130" y="671068"/>
                  </a:moveTo>
                  <a:lnTo>
                    <a:pt x="97794" y="678660"/>
                  </a:lnTo>
                  <a:lnTo>
                    <a:pt x="41655" y="721487"/>
                  </a:lnTo>
                  <a:lnTo>
                    <a:pt x="62460" y="721487"/>
                  </a:lnTo>
                  <a:lnTo>
                    <a:pt x="163829" y="708914"/>
                  </a:lnTo>
                  <a:lnTo>
                    <a:pt x="180339" y="687578"/>
                  </a:lnTo>
                  <a:lnTo>
                    <a:pt x="177954" y="680426"/>
                  </a:lnTo>
                  <a:lnTo>
                    <a:pt x="173164" y="674941"/>
                  </a:lnTo>
                  <a:lnTo>
                    <a:pt x="166659" y="671647"/>
                  </a:lnTo>
                  <a:lnTo>
                    <a:pt x="159130" y="671068"/>
                  </a:lnTo>
                  <a:close/>
                </a:path>
                <a:path w="948054" h="729614">
                  <a:moveTo>
                    <a:pt x="60189" y="683316"/>
                  </a:moveTo>
                  <a:lnTo>
                    <a:pt x="27812" y="687324"/>
                  </a:lnTo>
                  <a:lnTo>
                    <a:pt x="47751" y="713486"/>
                  </a:lnTo>
                  <a:lnTo>
                    <a:pt x="60189" y="683316"/>
                  </a:lnTo>
                  <a:close/>
                </a:path>
                <a:path w="948054" h="729614">
                  <a:moveTo>
                    <a:pt x="97794" y="678660"/>
                  </a:moveTo>
                  <a:lnTo>
                    <a:pt x="60189" y="683316"/>
                  </a:lnTo>
                  <a:lnTo>
                    <a:pt x="47751" y="713486"/>
                  </a:lnTo>
                  <a:lnTo>
                    <a:pt x="52144" y="713486"/>
                  </a:lnTo>
                  <a:lnTo>
                    <a:pt x="97794" y="678660"/>
                  </a:lnTo>
                  <a:close/>
                </a:path>
                <a:path w="948054" h="729614">
                  <a:moveTo>
                    <a:pt x="924687" y="0"/>
                  </a:moveTo>
                  <a:lnTo>
                    <a:pt x="74590" y="648385"/>
                  </a:lnTo>
                  <a:lnTo>
                    <a:pt x="60189" y="683316"/>
                  </a:lnTo>
                  <a:lnTo>
                    <a:pt x="97794" y="678660"/>
                  </a:lnTo>
                  <a:lnTo>
                    <a:pt x="947801" y="30226"/>
                  </a:lnTo>
                  <a:lnTo>
                    <a:pt x="924687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7366" y="2374392"/>
              <a:ext cx="1517142" cy="42214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588514" y="2477027"/>
              <a:ext cx="1264920" cy="171450"/>
            </a:xfrm>
            <a:custGeom>
              <a:avLst/>
              <a:gdLst/>
              <a:ahLst/>
              <a:cxnLst/>
              <a:rect l="l" t="t" r="r" b="b"/>
              <a:pathLst>
                <a:path w="1264920" h="171450">
                  <a:moveTo>
                    <a:pt x="1189119" y="85578"/>
                  </a:moveTo>
                  <a:lnTo>
                    <a:pt x="1103122" y="135743"/>
                  </a:lnTo>
                  <a:lnTo>
                    <a:pt x="1097442" y="140795"/>
                  </a:lnTo>
                  <a:lnTo>
                    <a:pt x="1094263" y="147395"/>
                  </a:lnTo>
                  <a:lnTo>
                    <a:pt x="1093799" y="154709"/>
                  </a:lnTo>
                  <a:lnTo>
                    <a:pt x="1096264" y="161905"/>
                  </a:lnTo>
                  <a:lnTo>
                    <a:pt x="1101314" y="167512"/>
                  </a:lnTo>
                  <a:lnTo>
                    <a:pt x="1107900" y="170668"/>
                  </a:lnTo>
                  <a:lnTo>
                    <a:pt x="1115177" y="171156"/>
                  </a:lnTo>
                  <a:lnTo>
                    <a:pt x="1122299" y="168763"/>
                  </a:lnTo>
                  <a:lnTo>
                    <a:pt x="1232160" y="104628"/>
                  </a:lnTo>
                  <a:lnTo>
                    <a:pt x="1227074" y="104628"/>
                  </a:lnTo>
                  <a:lnTo>
                    <a:pt x="1227074" y="102088"/>
                  </a:lnTo>
                  <a:lnTo>
                    <a:pt x="1217422" y="102088"/>
                  </a:lnTo>
                  <a:lnTo>
                    <a:pt x="1189119" y="85578"/>
                  </a:lnTo>
                  <a:close/>
                </a:path>
                <a:path w="1264920" h="171450">
                  <a:moveTo>
                    <a:pt x="1156462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1156462" y="104628"/>
                  </a:lnTo>
                  <a:lnTo>
                    <a:pt x="1189119" y="85578"/>
                  </a:lnTo>
                  <a:lnTo>
                    <a:pt x="1156462" y="66528"/>
                  </a:lnTo>
                  <a:close/>
                </a:path>
                <a:path w="1264920" h="171450">
                  <a:moveTo>
                    <a:pt x="1232160" y="66528"/>
                  </a:moveTo>
                  <a:lnTo>
                    <a:pt x="1227074" y="66528"/>
                  </a:lnTo>
                  <a:lnTo>
                    <a:pt x="1227074" y="104628"/>
                  </a:lnTo>
                  <a:lnTo>
                    <a:pt x="1232160" y="104628"/>
                  </a:lnTo>
                  <a:lnTo>
                    <a:pt x="1264793" y="85578"/>
                  </a:lnTo>
                  <a:lnTo>
                    <a:pt x="1232160" y="66528"/>
                  </a:lnTo>
                  <a:close/>
                </a:path>
                <a:path w="1264920" h="171450">
                  <a:moveTo>
                    <a:pt x="1217422" y="69068"/>
                  </a:moveTo>
                  <a:lnTo>
                    <a:pt x="1189119" y="85578"/>
                  </a:lnTo>
                  <a:lnTo>
                    <a:pt x="1217422" y="102088"/>
                  </a:lnTo>
                  <a:lnTo>
                    <a:pt x="1217422" y="69068"/>
                  </a:lnTo>
                  <a:close/>
                </a:path>
                <a:path w="1264920" h="171450">
                  <a:moveTo>
                    <a:pt x="1227074" y="69068"/>
                  </a:moveTo>
                  <a:lnTo>
                    <a:pt x="1217422" y="69068"/>
                  </a:lnTo>
                  <a:lnTo>
                    <a:pt x="1217422" y="102088"/>
                  </a:lnTo>
                  <a:lnTo>
                    <a:pt x="1227074" y="102088"/>
                  </a:lnTo>
                  <a:lnTo>
                    <a:pt x="1227074" y="69068"/>
                  </a:lnTo>
                  <a:close/>
                </a:path>
                <a:path w="1264920" h="171450">
                  <a:moveTo>
                    <a:pt x="1115177" y="0"/>
                  </a:moveTo>
                  <a:lnTo>
                    <a:pt x="1107900" y="488"/>
                  </a:lnTo>
                  <a:lnTo>
                    <a:pt x="1101314" y="3643"/>
                  </a:lnTo>
                  <a:lnTo>
                    <a:pt x="1096264" y="9251"/>
                  </a:lnTo>
                  <a:lnTo>
                    <a:pt x="1093799" y="16446"/>
                  </a:lnTo>
                  <a:lnTo>
                    <a:pt x="1094263" y="23760"/>
                  </a:lnTo>
                  <a:lnTo>
                    <a:pt x="1097442" y="30360"/>
                  </a:lnTo>
                  <a:lnTo>
                    <a:pt x="1103122" y="35413"/>
                  </a:lnTo>
                  <a:lnTo>
                    <a:pt x="1189119" y="85578"/>
                  </a:lnTo>
                  <a:lnTo>
                    <a:pt x="1217422" y="69068"/>
                  </a:lnTo>
                  <a:lnTo>
                    <a:pt x="1227074" y="69068"/>
                  </a:lnTo>
                  <a:lnTo>
                    <a:pt x="1227074" y="66528"/>
                  </a:lnTo>
                  <a:lnTo>
                    <a:pt x="1232160" y="66528"/>
                  </a:lnTo>
                  <a:lnTo>
                    <a:pt x="1122299" y="2393"/>
                  </a:lnTo>
                  <a:lnTo>
                    <a:pt x="1115177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28316" y="2544318"/>
              <a:ext cx="120395" cy="159639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588514" y="2562606"/>
              <a:ext cx="0" cy="1495425"/>
            </a:xfrm>
            <a:custGeom>
              <a:avLst/>
              <a:gdLst/>
              <a:ahLst/>
              <a:cxnLst/>
              <a:rect l="l" t="t" r="r" b="b"/>
              <a:pathLst>
                <a:path h="1495425">
                  <a:moveTo>
                    <a:pt x="0" y="0"/>
                  </a:moveTo>
                  <a:lnTo>
                    <a:pt x="0" y="1495044"/>
                  </a:lnTo>
                </a:path>
              </a:pathLst>
            </a:custGeom>
            <a:ln w="38100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5831" y="5384292"/>
              <a:ext cx="422147" cy="67894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01327" y="5402580"/>
              <a:ext cx="171450" cy="426720"/>
            </a:xfrm>
            <a:custGeom>
              <a:avLst/>
              <a:gdLst/>
              <a:ahLst/>
              <a:cxnLst/>
              <a:rect l="l" t="t" r="r" b="b"/>
              <a:pathLst>
                <a:path w="171450" h="426720">
                  <a:moveTo>
                    <a:pt x="16446" y="255502"/>
                  </a:moveTo>
                  <a:lnTo>
                    <a:pt x="9251" y="257949"/>
                  </a:lnTo>
                  <a:lnTo>
                    <a:pt x="3643" y="262976"/>
                  </a:lnTo>
                  <a:lnTo>
                    <a:pt x="488" y="269554"/>
                  </a:lnTo>
                  <a:lnTo>
                    <a:pt x="0" y="276841"/>
                  </a:lnTo>
                  <a:lnTo>
                    <a:pt x="2393" y="283997"/>
                  </a:lnTo>
                  <a:lnTo>
                    <a:pt x="85578" y="426504"/>
                  </a:lnTo>
                  <a:lnTo>
                    <a:pt x="107647" y="388696"/>
                  </a:lnTo>
                  <a:lnTo>
                    <a:pt x="66528" y="388696"/>
                  </a:lnTo>
                  <a:lnTo>
                    <a:pt x="66528" y="318147"/>
                  </a:lnTo>
                  <a:lnTo>
                    <a:pt x="35413" y="264807"/>
                  </a:lnTo>
                  <a:lnTo>
                    <a:pt x="30360" y="259153"/>
                  </a:lnTo>
                  <a:lnTo>
                    <a:pt x="23760" y="255978"/>
                  </a:lnTo>
                  <a:lnTo>
                    <a:pt x="16446" y="255502"/>
                  </a:lnTo>
                  <a:close/>
                </a:path>
                <a:path w="171450" h="426720">
                  <a:moveTo>
                    <a:pt x="66528" y="318147"/>
                  </a:moveTo>
                  <a:lnTo>
                    <a:pt x="66528" y="388696"/>
                  </a:lnTo>
                  <a:lnTo>
                    <a:pt x="104628" y="388696"/>
                  </a:lnTo>
                  <a:lnTo>
                    <a:pt x="104628" y="379107"/>
                  </a:lnTo>
                  <a:lnTo>
                    <a:pt x="69068" y="379107"/>
                  </a:lnTo>
                  <a:lnTo>
                    <a:pt x="85578" y="350804"/>
                  </a:lnTo>
                  <a:lnTo>
                    <a:pt x="66528" y="318147"/>
                  </a:lnTo>
                  <a:close/>
                </a:path>
                <a:path w="171450" h="426720">
                  <a:moveTo>
                    <a:pt x="154709" y="255502"/>
                  </a:moveTo>
                  <a:lnTo>
                    <a:pt x="147395" y="255978"/>
                  </a:lnTo>
                  <a:lnTo>
                    <a:pt x="140795" y="259153"/>
                  </a:lnTo>
                  <a:lnTo>
                    <a:pt x="135743" y="264807"/>
                  </a:lnTo>
                  <a:lnTo>
                    <a:pt x="104628" y="318147"/>
                  </a:lnTo>
                  <a:lnTo>
                    <a:pt x="104628" y="388696"/>
                  </a:lnTo>
                  <a:lnTo>
                    <a:pt x="107647" y="388696"/>
                  </a:lnTo>
                  <a:lnTo>
                    <a:pt x="168763" y="283997"/>
                  </a:lnTo>
                  <a:lnTo>
                    <a:pt x="171156" y="276841"/>
                  </a:lnTo>
                  <a:lnTo>
                    <a:pt x="170668" y="269554"/>
                  </a:lnTo>
                  <a:lnTo>
                    <a:pt x="167512" y="262976"/>
                  </a:lnTo>
                  <a:lnTo>
                    <a:pt x="161905" y="257949"/>
                  </a:lnTo>
                  <a:lnTo>
                    <a:pt x="154709" y="255502"/>
                  </a:lnTo>
                  <a:close/>
                </a:path>
                <a:path w="171450" h="426720">
                  <a:moveTo>
                    <a:pt x="85578" y="350804"/>
                  </a:moveTo>
                  <a:lnTo>
                    <a:pt x="69068" y="379107"/>
                  </a:lnTo>
                  <a:lnTo>
                    <a:pt x="102088" y="379107"/>
                  </a:lnTo>
                  <a:lnTo>
                    <a:pt x="85578" y="350804"/>
                  </a:lnTo>
                  <a:close/>
                </a:path>
                <a:path w="171450" h="426720">
                  <a:moveTo>
                    <a:pt x="104628" y="318147"/>
                  </a:moveTo>
                  <a:lnTo>
                    <a:pt x="85578" y="350804"/>
                  </a:lnTo>
                  <a:lnTo>
                    <a:pt x="102088" y="379107"/>
                  </a:lnTo>
                  <a:lnTo>
                    <a:pt x="104628" y="379107"/>
                  </a:lnTo>
                  <a:lnTo>
                    <a:pt x="104628" y="318147"/>
                  </a:lnTo>
                  <a:close/>
                </a:path>
                <a:path w="171450" h="426720">
                  <a:moveTo>
                    <a:pt x="104628" y="0"/>
                  </a:moveTo>
                  <a:lnTo>
                    <a:pt x="66528" y="0"/>
                  </a:lnTo>
                  <a:lnTo>
                    <a:pt x="66528" y="318147"/>
                  </a:lnTo>
                  <a:lnTo>
                    <a:pt x="85578" y="350804"/>
                  </a:lnTo>
                  <a:lnTo>
                    <a:pt x="104628" y="318147"/>
                  </a:lnTo>
                  <a:lnTo>
                    <a:pt x="10462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0404" y="4496562"/>
              <a:ext cx="422148" cy="67894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405899" y="4514850"/>
              <a:ext cx="171450" cy="426720"/>
            </a:xfrm>
            <a:custGeom>
              <a:avLst/>
              <a:gdLst/>
              <a:ahLst/>
              <a:cxnLst/>
              <a:rect l="l" t="t" r="r" b="b"/>
              <a:pathLst>
                <a:path w="171450" h="426720">
                  <a:moveTo>
                    <a:pt x="16446" y="255490"/>
                  </a:moveTo>
                  <a:lnTo>
                    <a:pt x="9251" y="257937"/>
                  </a:lnTo>
                  <a:lnTo>
                    <a:pt x="3643" y="262987"/>
                  </a:lnTo>
                  <a:lnTo>
                    <a:pt x="488" y="269573"/>
                  </a:lnTo>
                  <a:lnTo>
                    <a:pt x="0" y="276850"/>
                  </a:lnTo>
                  <a:lnTo>
                    <a:pt x="2393" y="283972"/>
                  </a:lnTo>
                  <a:lnTo>
                    <a:pt x="85578" y="426466"/>
                  </a:lnTo>
                  <a:lnTo>
                    <a:pt x="107597" y="388747"/>
                  </a:lnTo>
                  <a:lnTo>
                    <a:pt x="66528" y="388747"/>
                  </a:lnTo>
                  <a:lnTo>
                    <a:pt x="66528" y="318135"/>
                  </a:lnTo>
                  <a:lnTo>
                    <a:pt x="35413" y="264794"/>
                  </a:lnTo>
                  <a:lnTo>
                    <a:pt x="30360" y="259169"/>
                  </a:lnTo>
                  <a:lnTo>
                    <a:pt x="23760" y="255984"/>
                  </a:lnTo>
                  <a:lnTo>
                    <a:pt x="16446" y="255490"/>
                  </a:lnTo>
                  <a:close/>
                </a:path>
                <a:path w="171450" h="426720">
                  <a:moveTo>
                    <a:pt x="66528" y="318135"/>
                  </a:moveTo>
                  <a:lnTo>
                    <a:pt x="66528" y="388747"/>
                  </a:lnTo>
                  <a:lnTo>
                    <a:pt x="104628" y="388747"/>
                  </a:lnTo>
                  <a:lnTo>
                    <a:pt x="104628" y="379094"/>
                  </a:lnTo>
                  <a:lnTo>
                    <a:pt x="69068" y="379094"/>
                  </a:lnTo>
                  <a:lnTo>
                    <a:pt x="85578" y="350792"/>
                  </a:lnTo>
                  <a:lnTo>
                    <a:pt x="66528" y="318135"/>
                  </a:lnTo>
                  <a:close/>
                </a:path>
                <a:path w="171450" h="426720">
                  <a:moveTo>
                    <a:pt x="154709" y="255490"/>
                  </a:moveTo>
                  <a:lnTo>
                    <a:pt x="147395" y="255984"/>
                  </a:lnTo>
                  <a:lnTo>
                    <a:pt x="140795" y="259169"/>
                  </a:lnTo>
                  <a:lnTo>
                    <a:pt x="135743" y="264794"/>
                  </a:lnTo>
                  <a:lnTo>
                    <a:pt x="104628" y="318135"/>
                  </a:lnTo>
                  <a:lnTo>
                    <a:pt x="104628" y="388747"/>
                  </a:lnTo>
                  <a:lnTo>
                    <a:pt x="107597" y="388747"/>
                  </a:lnTo>
                  <a:lnTo>
                    <a:pt x="168763" y="283972"/>
                  </a:lnTo>
                  <a:lnTo>
                    <a:pt x="171156" y="276850"/>
                  </a:lnTo>
                  <a:lnTo>
                    <a:pt x="170668" y="269573"/>
                  </a:lnTo>
                  <a:lnTo>
                    <a:pt x="167512" y="262987"/>
                  </a:lnTo>
                  <a:lnTo>
                    <a:pt x="161905" y="257937"/>
                  </a:lnTo>
                  <a:lnTo>
                    <a:pt x="154709" y="255490"/>
                  </a:lnTo>
                  <a:close/>
                </a:path>
                <a:path w="171450" h="426720">
                  <a:moveTo>
                    <a:pt x="85578" y="350792"/>
                  </a:moveTo>
                  <a:lnTo>
                    <a:pt x="69068" y="379094"/>
                  </a:lnTo>
                  <a:lnTo>
                    <a:pt x="102088" y="379094"/>
                  </a:lnTo>
                  <a:lnTo>
                    <a:pt x="85578" y="350792"/>
                  </a:lnTo>
                  <a:close/>
                </a:path>
                <a:path w="171450" h="426720">
                  <a:moveTo>
                    <a:pt x="104628" y="318135"/>
                  </a:moveTo>
                  <a:lnTo>
                    <a:pt x="85578" y="350792"/>
                  </a:lnTo>
                  <a:lnTo>
                    <a:pt x="102088" y="379094"/>
                  </a:lnTo>
                  <a:lnTo>
                    <a:pt x="104628" y="379094"/>
                  </a:lnTo>
                  <a:lnTo>
                    <a:pt x="104628" y="318135"/>
                  </a:lnTo>
                  <a:close/>
                </a:path>
                <a:path w="171450" h="426720">
                  <a:moveTo>
                    <a:pt x="104628" y="0"/>
                  </a:moveTo>
                  <a:lnTo>
                    <a:pt x="66528" y="0"/>
                  </a:lnTo>
                  <a:lnTo>
                    <a:pt x="66528" y="318135"/>
                  </a:lnTo>
                  <a:lnTo>
                    <a:pt x="85578" y="350792"/>
                  </a:lnTo>
                  <a:lnTo>
                    <a:pt x="104628" y="318135"/>
                  </a:lnTo>
                  <a:lnTo>
                    <a:pt x="10462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41" name="Date Placeholder 4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600" y="281686"/>
            <a:ext cx="66833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Hệ thống </a:t>
            </a:r>
            <a:r>
              <a:rPr sz="4400" spc="-20" dirty="0"/>
              <a:t>xử</a:t>
            </a:r>
            <a:r>
              <a:rPr sz="4400" spc="-10" dirty="0"/>
              <a:t> </a:t>
            </a:r>
            <a:r>
              <a:rPr sz="4400" spc="-5" dirty="0"/>
              <a:t>lý</a:t>
            </a:r>
            <a:r>
              <a:rPr sz="4400" spc="10" dirty="0"/>
              <a:t> </a:t>
            </a:r>
            <a:r>
              <a:rPr sz="4400" spc="-5" dirty="0"/>
              <a:t>giao</a:t>
            </a:r>
            <a:r>
              <a:rPr sz="4400" spc="-10" dirty="0"/>
              <a:t> </a:t>
            </a:r>
            <a:r>
              <a:rPr sz="4400" spc="-5" dirty="0"/>
              <a:t>dịch </a:t>
            </a:r>
            <a:r>
              <a:rPr sz="4400" spc="-10" dirty="0"/>
              <a:t>POS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349880" y="1511680"/>
            <a:ext cx="2159000" cy="1003300"/>
            <a:chOff x="2349880" y="1511680"/>
            <a:chExt cx="2159000" cy="1003300"/>
          </a:xfrm>
        </p:grpSpPr>
        <p:sp>
          <p:nvSpPr>
            <p:cNvPr id="4" name="object 4"/>
            <p:cNvSpPr/>
            <p:nvPr/>
          </p:nvSpPr>
          <p:spPr>
            <a:xfrm>
              <a:off x="2362580" y="1524380"/>
              <a:ext cx="2133600" cy="977900"/>
            </a:xfrm>
            <a:custGeom>
              <a:avLst/>
              <a:gdLst/>
              <a:ahLst/>
              <a:cxnLst/>
              <a:rect l="l" t="t" r="r" b="b"/>
              <a:pathLst>
                <a:path w="2133600" h="977900">
                  <a:moveTo>
                    <a:pt x="2133599" y="0"/>
                  </a:moveTo>
                  <a:lnTo>
                    <a:pt x="0" y="0"/>
                  </a:lnTo>
                  <a:lnTo>
                    <a:pt x="0" y="925068"/>
                  </a:lnTo>
                  <a:lnTo>
                    <a:pt x="65305" y="935204"/>
                  </a:lnTo>
                  <a:lnTo>
                    <a:pt x="127948" y="944147"/>
                  </a:lnTo>
                  <a:lnTo>
                    <a:pt x="188044" y="951938"/>
                  </a:lnTo>
                  <a:lnTo>
                    <a:pt x="245709" y="958619"/>
                  </a:lnTo>
                  <a:lnTo>
                    <a:pt x="301060" y="964234"/>
                  </a:lnTo>
                  <a:lnTo>
                    <a:pt x="354210" y="968823"/>
                  </a:lnTo>
                  <a:lnTo>
                    <a:pt x="405278" y="972429"/>
                  </a:lnTo>
                  <a:lnTo>
                    <a:pt x="454377" y="975095"/>
                  </a:lnTo>
                  <a:lnTo>
                    <a:pt x="501625" y="976862"/>
                  </a:lnTo>
                  <a:lnTo>
                    <a:pt x="547136" y="977773"/>
                  </a:lnTo>
                  <a:lnTo>
                    <a:pt x="591026" y="977869"/>
                  </a:lnTo>
                  <a:lnTo>
                    <a:pt x="633412" y="977193"/>
                  </a:lnTo>
                  <a:lnTo>
                    <a:pt x="674409" y="975787"/>
                  </a:lnTo>
                  <a:lnTo>
                    <a:pt x="714132" y="973694"/>
                  </a:lnTo>
                  <a:lnTo>
                    <a:pt x="752698" y="970955"/>
                  </a:lnTo>
                  <a:lnTo>
                    <a:pt x="826820" y="963709"/>
                  </a:lnTo>
                  <a:lnTo>
                    <a:pt x="897700" y="954386"/>
                  </a:lnTo>
                  <a:lnTo>
                    <a:pt x="966266" y="943325"/>
                  </a:lnTo>
                  <a:lnTo>
                    <a:pt x="1033443" y="930862"/>
                  </a:lnTo>
                  <a:lnTo>
                    <a:pt x="1100156" y="917335"/>
                  </a:lnTo>
                  <a:lnTo>
                    <a:pt x="1270992" y="881074"/>
                  </a:lnTo>
                  <a:lnTo>
                    <a:pt x="1343377" y="866478"/>
                  </a:lnTo>
                  <a:lnTo>
                    <a:pt x="1380901" y="859329"/>
                  </a:lnTo>
                  <a:lnTo>
                    <a:pt x="1419467" y="852336"/>
                  </a:lnTo>
                  <a:lnTo>
                    <a:pt x="1459190" y="845541"/>
                  </a:lnTo>
                  <a:lnTo>
                    <a:pt x="1500187" y="838985"/>
                  </a:lnTo>
                  <a:lnTo>
                    <a:pt x="1542573" y="832712"/>
                  </a:lnTo>
                  <a:lnTo>
                    <a:pt x="1586463" y="826763"/>
                  </a:lnTo>
                  <a:lnTo>
                    <a:pt x="1631974" y="821180"/>
                  </a:lnTo>
                  <a:lnTo>
                    <a:pt x="1679222" y="816006"/>
                  </a:lnTo>
                  <a:lnTo>
                    <a:pt x="1728321" y="811283"/>
                  </a:lnTo>
                  <a:lnTo>
                    <a:pt x="1779389" y="807053"/>
                  </a:lnTo>
                  <a:lnTo>
                    <a:pt x="1832539" y="803358"/>
                  </a:lnTo>
                  <a:lnTo>
                    <a:pt x="1887890" y="800240"/>
                  </a:lnTo>
                  <a:lnTo>
                    <a:pt x="1945555" y="797741"/>
                  </a:lnTo>
                  <a:lnTo>
                    <a:pt x="2005651" y="795905"/>
                  </a:lnTo>
                  <a:lnTo>
                    <a:pt x="2068294" y="794772"/>
                  </a:lnTo>
                  <a:lnTo>
                    <a:pt x="2133599" y="794385"/>
                  </a:lnTo>
                  <a:lnTo>
                    <a:pt x="213359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2580" y="1524380"/>
              <a:ext cx="2133600" cy="977900"/>
            </a:xfrm>
            <a:custGeom>
              <a:avLst/>
              <a:gdLst/>
              <a:ahLst/>
              <a:cxnLst/>
              <a:rect l="l" t="t" r="r" b="b"/>
              <a:pathLst>
                <a:path w="2133600" h="977900">
                  <a:moveTo>
                    <a:pt x="0" y="0"/>
                  </a:moveTo>
                  <a:lnTo>
                    <a:pt x="2133599" y="0"/>
                  </a:lnTo>
                  <a:lnTo>
                    <a:pt x="2133599" y="794385"/>
                  </a:lnTo>
                  <a:lnTo>
                    <a:pt x="2068294" y="794772"/>
                  </a:lnTo>
                  <a:lnTo>
                    <a:pt x="2005651" y="795905"/>
                  </a:lnTo>
                  <a:lnTo>
                    <a:pt x="1945555" y="797741"/>
                  </a:lnTo>
                  <a:lnTo>
                    <a:pt x="1887890" y="800240"/>
                  </a:lnTo>
                  <a:lnTo>
                    <a:pt x="1832539" y="803358"/>
                  </a:lnTo>
                  <a:lnTo>
                    <a:pt x="1779389" y="807053"/>
                  </a:lnTo>
                  <a:lnTo>
                    <a:pt x="1728321" y="811283"/>
                  </a:lnTo>
                  <a:lnTo>
                    <a:pt x="1679222" y="816006"/>
                  </a:lnTo>
                  <a:lnTo>
                    <a:pt x="1631974" y="821180"/>
                  </a:lnTo>
                  <a:lnTo>
                    <a:pt x="1586463" y="826763"/>
                  </a:lnTo>
                  <a:lnTo>
                    <a:pt x="1542573" y="832712"/>
                  </a:lnTo>
                  <a:lnTo>
                    <a:pt x="1500187" y="838985"/>
                  </a:lnTo>
                  <a:lnTo>
                    <a:pt x="1459190" y="845541"/>
                  </a:lnTo>
                  <a:lnTo>
                    <a:pt x="1419467" y="852336"/>
                  </a:lnTo>
                  <a:lnTo>
                    <a:pt x="1380901" y="859329"/>
                  </a:lnTo>
                  <a:lnTo>
                    <a:pt x="1343377" y="866478"/>
                  </a:lnTo>
                  <a:lnTo>
                    <a:pt x="1270992" y="881074"/>
                  </a:lnTo>
                  <a:lnTo>
                    <a:pt x="1201384" y="895786"/>
                  </a:lnTo>
                  <a:lnTo>
                    <a:pt x="1167333" y="903080"/>
                  </a:lnTo>
                  <a:lnTo>
                    <a:pt x="1133629" y="910277"/>
                  </a:lnTo>
                  <a:lnTo>
                    <a:pt x="1066799" y="924210"/>
                  </a:lnTo>
                  <a:lnTo>
                    <a:pt x="999970" y="937248"/>
                  </a:lnTo>
                  <a:lnTo>
                    <a:pt x="932215" y="949052"/>
                  </a:lnTo>
                  <a:lnTo>
                    <a:pt x="862607" y="959286"/>
                  </a:lnTo>
                  <a:lnTo>
                    <a:pt x="790222" y="967613"/>
                  </a:lnTo>
                  <a:lnTo>
                    <a:pt x="714132" y="973694"/>
                  </a:lnTo>
                  <a:lnTo>
                    <a:pt x="674409" y="975787"/>
                  </a:lnTo>
                  <a:lnTo>
                    <a:pt x="633412" y="977193"/>
                  </a:lnTo>
                  <a:lnTo>
                    <a:pt x="591026" y="977869"/>
                  </a:lnTo>
                  <a:lnTo>
                    <a:pt x="547136" y="977773"/>
                  </a:lnTo>
                  <a:lnTo>
                    <a:pt x="501625" y="976862"/>
                  </a:lnTo>
                  <a:lnTo>
                    <a:pt x="454377" y="975095"/>
                  </a:lnTo>
                  <a:lnTo>
                    <a:pt x="405278" y="972429"/>
                  </a:lnTo>
                  <a:lnTo>
                    <a:pt x="354210" y="968823"/>
                  </a:lnTo>
                  <a:lnTo>
                    <a:pt x="301060" y="964234"/>
                  </a:lnTo>
                  <a:lnTo>
                    <a:pt x="245709" y="958619"/>
                  </a:lnTo>
                  <a:lnTo>
                    <a:pt x="188044" y="951938"/>
                  </a:lnTo>
                  <a:lnTo>
                    <a:pt x="127948" y="944147"/>
                  </a:lnTo>
                  <a:lnTo>
                    <a:pt x="65305" y="935204"/>
                  </a:lnTo>
                  <a:lnTo>
                    <a:pt x="0" y="925068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32023" y="1748027"/>
            <a:ext cx="1394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Hóa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đơn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2173" y="3153536"/>
            <a:ext cx="1371600" cy="990600"/>
          </a:xfrm>
          <a:custGeom>
            <a:avLst/>
            <a:gdLst/>
            <a:ahLst/>
            <a:cxnLst/>
            <a:rect l="l" t="t" r="r" b="b"/>
            <a:pathLst>
              <a:path w="1371600" h="990600">
                <a:moveTo>
                  <a:pt x="1371600" y="0"/>
                </a:moveTo>
                <a:lnTo>
                  <a:pt x="0" y="0"/>
                </a:lnTo>
                <a:lnTo>
                  <a:pt x="0" y="990600"/>
                </a:lnTo>
                <a:lnTo>
                  <a:pt x="1371600" y="990600"/>
                </a:lnTo>
                <a:lnTo>
                  <a:pt x="1371600" y="0"/>
                </a:lnTo>
                <a:close/>
              </a:path>
            </a:pathLst>
          </a:custGeom>
          <a:solidFill>
            <a:srgbClr val="E6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2173" y="3153536"/>
            <a:ext cx="1371600" cy="9906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445134" marR="252095" indent="-186690">
              <a:lnSpc>
                <a:spcPct val="100000"/>
              </a:lnSpc>
              <a:spcBef>
                <a:spcPts val="1430"/>
              </a:spcBef>
            </a:pPr>
            <a:r>
              <a:rPr sz="2000" b="1" spc="-5" dirty="0">
                <a:latin typeface="Times New Roman"/>
                <a:cs typeface="Times New Roman"/>
              </a:rPr>
              <a:t>Thiết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bị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quét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83886" y="2692780"/>
            <a:ext cx="1397000" cy="1549400"/>
            <a:chOff x="4683886" y="2692780"/>
            <a:chExt cx="1397000" cy="1549400"/>
          </a:xfrm>
        </p:grpSpPr>
        <p:sp>
          <p:nvSpPr>
            <p:cNvPr id="10" name="object 10"/>
            <p:cNvSpPr/>
            <p:nvPr/>
          </p:nvSpPr>
          <p:spPr>
            <a:xfrm>
              <a:off x="4696586" y="2705480"/>
              <a:ext cx="1371600" cy="1524000"/>
            </a:xfrm>
            <a:custGeom>
              <a:avLst/>
              <a:gdLst/>
              <a:ahLst/>
              <a:cxnLst/>
              <a:rect l="l" t="t" r="r" b="b"/>
              <a:pathLst>
                <a:path w="1371600" h="1524000">
                  <a:moveTo>
                    <a:pt x="685800" y="0"/>
                  </a:moveTo>
                  <a:lnTo>
                    <a:pt x="619759" y="1162"/>
                  </a:lnTo>
                  <a:lnTo>
                    <a:pt x="555493" y="4577"/>
                  </a:lnTo>
                  <a:lnTo>
                    <a:pt x="493290" y="10141"/>
                  </a:lnTo>
                  <a:lnTo>
                    <a:pt x="433436" y="17745"/>
                  </a:lnTo>
                  <a:lnTo>
                    <a:pt x="376219" y="27284"/>
                  </a:lnTo>
                  <a:lnTo>
                    <a:pt x="321928" y="38652"/>
                  </a:lnTo>
                  <a:lnTo>
                    <a:pt x="270848" y="51742"/>
                  </a:lnTo>
                  <a:lnTo>
                    <a:pt x="223269" y="66448"/>
                  </a:lnTo>
                  <a:lnTo>
                    <a:pt x="179477" y="82664"/>
                  </a:lnTo>
                  <a:lnTo>
                    <a:pt x="139761" y="100284"/>
                  </a:lnTo>
                  <a:lnTo>
                    <a:pt x="104406" y="119201"/>
                  </a:lnTo>
                  <a:lnTo>
                    <a:pt x="47936" y="160502"/>
                  </a:lnTo>
                  <a:lnTo>
                    <a:pt x="12367" y="205719"/>
                  </a:lnTo>
                  <a:lnTo>
                    <a:pt x="0" y="254000"/>
                  </a:lnTo>
                  <a:lnTo>
                    <a:pt x="0" y="1270000"/>
                  </a:lnTo>
                  <a:lnTo>
                    <a:pt x="12367" y="1318280"/>
                  </a:lnTo>
                  <a:lnTo>
                    <a:pt x="47936" y="1363497"/>
                  </a:lnTo>
                  <a:lnTo>
                    <a:pt x="104406" y="1404798"/>
                  </a:lnTo>
                  <a:lnTo>
                    <a:pt x="139761" y="1423715"/>
                  </a:lnTo>
                  <a:lnTo>
                    <a:pt x="179477" y="1441335"/>
                  </a:lnTo>
                  <a:lnTo>
                    <a:pt x="223269" y="1457551"/>
                  </a:lnTo>
                  <a:lnTo>
                    <a:pt x="270848" y="1472257"/>
                  </a:lnTo>
                  <a:lnTo>
                    <a:pt x="321928" y="1485347"/>
                  </a:lnTo>
                  <a:lnTo>
                    <a:pt x="376219" y="1496715"/>
                  </a:lnTo>
                  <a:lnTo>
                    <a:pt x="433436" y="1506254"/>
                  </a:lnTo>
                  <a:lnTo>
                    <a:pt x="493290" y="1513858"/>
                  </a:lnTo>
                  <a:lnTo>
                    <a:pt x="555493" y="1519422"/>
                  </a:lnTo>
                  <a:lnTo>
                    <a:pt x="619759" y="1522837"/>
                  </a:lnTo>
                  <a:lnTo>
                    <a:pt x="685800" y="1524000"/>
                  </a:lnTo>
                  <a:lnTo>
                    <a:pt x="751840" y="1522837"/>
                  </a:lnTo>
                  <a:lnTo>
                    <a:pt x="816106" y="1519422"/>
                  </a:lnTo>
                  <a:lnTo>
                    <a:pt x="878309" y="1513858"/>
                  </a:lnTo>
                  <a:lnTo>
                    <a:pt x="938163" y="1506254"/>
                  </a:lnTo>
                  <a:lnTo>
                    <a:pt x="995380" y="1496715"/>
                  </a:lnTo>
                  <a:lnTo>
                    <a:pt x="1049671" y="1485347"/>
                  </a:lnTo>
                  <a:lnTo>
                    <a:pt x="1100751" y="1472257"/>
                  </a:lnTo>
                  <a:lnTo>
                    <a:pt x="1148330" y="1457551"/>
                  </a:lnTo>
                  <a:lnTo>
                    <a:pt x="1192122" y="1441335"/>
                  </a:lnTo>
                  <a:lnTo>
                    <a:pt x="1231838" y="1423715"/>
                  </a:lnTo>
                  <a:lnTo>
                    <a:pt x="1267193" y="1404798"/>
                  </a:lnTo>
                  <a:lnTo>
                    <a:pt x="1323663" y="1363497"/>
                  </a:lnTo>
                  <a:lnTo>
                    <a:pt x="1359232" y="1318280"/>
                  </a:lnTo>
                  <a:lnTo>
                    <a:pt x="1371600" y="1270000"/>
                  </a:lnTo>
                  <a:lnTo>
                    <a:pt x="1371600" y="254000"/>
                  </a:lnTo>
                  <a:lnTo>
                    <a:pt x="1359232" y="205719"/>
                  </a:lnTo>
                  <a:lnTo>
                    <a:pt x="1323663" y="160502"/>
                  </a:lnTo>
                  <a:lnTo>
                    <a:pt x="1267193" y="119201"/>
                  </a:lnTo>
                  <a:lnTo>
                    <a:pt x="1231838" y="100284"/>
                  </a:lnTo>
                  <a:lnTo>
                    <a:pt x="1192122" y="82664"/>
                  </a:lnTo>
                  <a:lnTo>
                    <a:pt x="1148330" y="66448"/>
                  </a:lnTo>
                  <a:lnTo>
                    <a:pt x="1100751" y="51742"/>
                  </a:lnTo>
                  <a:lnTo>
                    <a:pt x="1049671" y="38652"/>
                  </a:lnTo>
                  <a:lnTo>
                    <a:pt x="995380" y="27284"/>
                  </a:lnTo>
                  <a:lnTo>
                    <a:pt x="938163" y="17745"/>
                  </a:lnTo>
                  <a:lnTo>
                    <a:pt x="878309" y="10141"/>
                  </a:lnTo>
                  <a:lnTo>
                    <a:pt x="816106" y="4577"/>
                  </a:lnTo>
                  <a:lnTo>
                    <a:pt x="751840" y="116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96586" y="2705480"/>
              <a:ext cx="1371600" cy="1524000"/>
            </a:xfrm>
            <a:custGeom>
              <a:avLst/>
              <a:gdLst/>
              <a:ahLst/>
              <a:cxnLst/>
              <a:rect l="l" t="t" r="r" b="b"/>
              <a:pathLst>
                <a:path w="1371600" h="1524000">
                  <a:moveTo>
                    <a:pt x="1371600" y="254000"/>
                  </a:moveTo>
                  <a:lnTo>
                    <a:pt x="1359232" y="302280"/>
                  </a:lnTo>
                  <a:lnTo>
                    <a:pt x="1323663" y="347497"/>
                  </a:lnTo>
                  <a:lnTo>
                    <a:pt x="1267193" y="388798"/>
                  </a:lnTo>
                  <a:lnTo>
                    <a:pt x="1231838" y="407715"/>
                  </a:lnTo>
                  <a:lnTo>
                    <a:pt x="1192122" y="425335"/>
                  </a:lnTo>
                  <a:lnTo>
                    <a:pt x="1148330" y="441551"/>
                  </a:lnTo>
                  <a:lnTo>
                    <a:pt x="1100751" y="456257"/>
                  </a:lnTo>
                  <a:lnTo>
                    <a:pt x="1049671" y="469347"/>
                  </a:lnTo>
                  <a:lnTo>
                    <a:pt x="995380" y="480715"/>
                  </a:lnTo>
                  <a:lnTo>
                    <a:pt x="938163" y="490254"/>
                  </a:lnTo>
                  <a:lnTo>
                    <a:pt x="878309" y="497858"/>
                  </a:lnTo>
                  <a:lnTo>
                    <a:pt x="816106" y="503422"/>
                  </a:lnTo>
                  <a:lnTo>
                    <a:pt x="751840" y="506837"/>
                  </a:lnTo>
                  <a:lnTo>
                    <a:pt x="685800" y="508000"/>
                  </a:lnTo>
                  <a:lnTo>
                    <a:pt x="619759" y="506837"/>
                  </a:lnTo>
                  <a:lnTo>
                    <a:pt x="555493" y="503422"/>
                  </a:lnTo>
                  <a:lnTo>
                    <a:pt x="493290" y="497858"/>
                  </a:lnTo>
                  <a:lnTo>
                    <a:pt x="433436" y="490254"/>
                  </a:lnTo>
                  <a:lnTo>
                    <a:pt x="376219" y="480715"/>
                  </a:lnTo>
                  <a:lnTo>
                    <a:pt x="321928" y="469347"/>
                  </a:lnTo>
                  <a:lnTo>
                    <a:pt x="270848" y="456257"/>
                  </a:lnTo>
                  <a:lnTo>
                    <a:pt x="223269" y="441551"/>
                  </a:lnTo>
                  <a:lnTo>
                    <a:pt x="179477" y="425335"/>
                  </a:lnTo>
                  <a:lnTo>
                    <a:pt x="139761" y="407715"/>
                  </a:lnTo>
                  <a:lnTo>
                    <a:pt x="104406" y="388798"/>
                  </a:lnTo>
                  <a:lnTo>
                    <a:pt x="47936" y="347497"/>
                  </a:lnTo>
                  <a:lnTo>
                    <a:pt x="12367" y="302280"/>
                  </a:lnTo>
                  <a:lnTo>
                    <a:pt x="3139" y="278470"/>
                  </a:lnTo>
                  <a:lnTo>
                    <a:pt x="0" y="254000"/>
                  </a:lnTo>
                </a:path>
                <a:path w="1371600" h="1524000">
                  <a:moveTo>
                    <a:pt x="0" y="254000"/>
                  </a:moveTo>
                  <a:lnTo>
                    <a:pt x="12367" y="205719"/>
                  </a:lnTo>
                  <a:lnTo>
                    <a:pt x="47936" y="160502"/>
                  </a:lnTo>
                  <a:lnTo>
                    <a:pt x="104406" y="119201"/>
                  </a:lnTo>
                  <a:lnTo>
                    <a:pt x="139761" y="100284"/>
                  </a:lnTo>
                  <a:lnTo>
                    <a:pt x="179477" y="82664"/>
                  </a:lnTo>
                  <a:lnTo>
                    <a:pt x="223269" y="66448"/>
                  </a:lnTo>
                  <a:lnTo>
                    <a:pt x="270848" y="51742"/>
                  </a:lnTo>
                  <a:lnTo>
                    <a:pt x="321928" y="38652"/>
                  </a:lnTo>
                  <a:lnTo>
                    <a:pt x="376219" y="27284"/>
                  </a:lnTo>
                  <a:lnTo>
                    <a:pt x="433436" y="17745"/>
                  </a:lnTo>
                  <a:lnTo>
                    <a:pt x="493290" y="10141"/>
                  </a:lnTo>
                  <a:lnTo>
                    <a:pt x="555493" y="4577"/>
                  </a:lnTo>
                  <a:lnTo>
                    <a:pt x="619759" y="1162"/>
                  </a:lnTo>
                  <a:lnTo>
                    <a:pt x="685800" y="0"/>
                  </a:lnTo>
                  <a:lnTo>
                    <a:pt x="751840" y="1162"/>
                  </a:lnTo>
                  <a:lnTo>
                    <a:pt x="816106" y="4577"/>
                  </a:lnTo>
                  <a:lnTo>
                    <a:pt x="878309" y="10141"/>
                  </a:lnTo>
                  <a:lnTo>
                    <a:pt x="938163" y="17745"/>
                  </a:lnTo>
                  <a:lnTo>
                    <a:pt x="995380" y="27284"/>
                  </a:lnTo>
                  <a:lnTo>
                    <a:pt x="1049671" y="38652"/>
                  </a:lnTo>
                  <a:lnTo>
                    <a:pt x="1100751" y="51742"/>
                  </a:lnTo>
                  <a:lnTo>
                    <a:pt x="1148330" y="66448"/>
                  </a:lnTo>
                  <a:lnTo>
                    <a:pt x="1192122" y="82664"/>
                  </a:lnTo>
                  <a:lnTo>
                    <a:pt x="1231838" y="100284"/>
                  </a:lnTo>
                  <a:lnTo>
                    <a:pt x="1267193" y="119201"/>
                  </a:lnTo>
                  <a:lnTo>
                    <a:pt x="1323663" y="160502"/>
                  </a:lnTo>
                  <a:lnTo>
                    <a:pt x="1359232" y="205719"/>
                  </a:lnTo>
                  <a:lnTo>
                    <a:pt x="1371600" y="254000"/>
                  </a:lnTo>
                  <a:lnTo>
                    <a:pt x="1371600" y="1270000"/>
                  </a:lnTo>
                  <a:lnTo>
                    <a:pt x="1359232" y="1318280"/>
                  </a:lnTo>
                  <a:lnTo>
                    <a:pt x="1323663" y="1363497"/>
                  </a:lnTo>
                  <a:lnTo>
                    <a:pt x="1267193" y="1404798"/>
                  </a:lnTo>
                  <a:lnTo>
                    <a:pt x="1231838" y="1423715"/>
                  </a:lnTo>
                  <a:lnTo>
                    <a:pt x="1192122" y="1441335"/>
                  </a:lnTo>
                  <a:lnTo>
                    <a:pt x="1148330" y="1457551"/>
                  </a:lnTo>
                  <a:lnTo>
                    <a:pt x="1100751" y="1472257"/>
                  </a:lnTo>
                  <a:lnTo>
                    <a:pt x="1049671" y="1485347"/>
                  </a:lnTo>
                  <a:lnTo>
                    <a:pt x="995380" y="1496715"/>
                  </a:lnTo>
                  <a:lnTo>
                    <a:pt x="938163" y="1506254"/>
                  </a:lnTo>
                  <a:lnTo>
                    <a:pt x="878309" y="1513858"/>
                  </a:lnTo>
                  <a:lnTo>
                    <a:pt x="816106" y="1519422"/>
                  </a:lnTo>
                  <a:lnTo>
                    <a:pt x="751840" y="1522837"/>
                  </a:lnTo>
                  <a:lnTo>
                    <a:pt x="685800" y="1524000"/>
                  </a:lnTo>
                  <a:lnTo>
                    <a:pt x="619759" y="1522837"/>
                  </a:lnTo>
                  <a:lnTo>
                    <a:pt x="555493" y="1519422"/>
                  </a:lnTo>
                  <a:lnTo>
                    <a:pt x="493290" y="1513858"/>
                  </a:lnTo>
                  <a:lnTo>
                    <a:pt x="433436" y="1506254"/>
                  </a:lnTo>
                  <a:lnTo>
                    <a:pt x="376219" y="1496715"/>
                  </a:lnTo>
                  <a:lnTo>
                    <a:pt x="321928" y="1485347"/>
                  </a:lnTo>
                  <a:lnTo>
                    <a:pt x="270848" y="1472257"/>
                  </a:lnTo>
                  <a:lnTo>
                    <a:pt x="223269" y="1457551"/>
                  </a:lnTo>
                  <a:lnTo>
                    <a:pt x="179477" y="1441335"/>
                  </a:lnTo>
                  <a:lnTo>
                    <a:pt x="139761" y="1423715"/>
                  </a:lnTo>
                  <a:lnTo>
                    <a:pt x="104406" y="1404798"/>
                  </a:lnTo>
                  <a:lnTo>
                    <a:pt x="47936" y="1363497"/>
                  </a:lnTo>
                  <a:lnTo>
                    <a:pt x="12367" y="1318280"/>
                  </a:lnTo>
                  <a:lnTo>
                    <a:pt x="0" y="1270000"/>
                  </a:lnTo>
                  <a:lnTo>
                    <a:pt x="0" y="2540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92547" y="3116072"/>
            <a:ext cx="979169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20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hàng</a:t>
            </a:r>
            <a:r>
              <a:rPr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tồn </a:t>
            </a:r>
            <a:r>
              <a:rPr sz="2000" b="1" spc="-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kho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93281" y="1511680"/>
            <a:ext cx="2159000" cy="1003300"/>
            <a:chOff x="6693281" y="1511680"/>
            <a:chExt cx="2159000" cy="1003300"/>
          </a:xfrm>
        </p:grpSpPr>
        <p:sp>
          <p:nvSpPr>
            <p:cNvPr id="14" name="object 14"/>
            <p:cNvSpPr/>
            <p:nvPr/>
          </p:nvSpPr>
          <p:spPr>
            <a:xfrm>
              <a:off x="6705981" y="1524380"/>
              <a:ext cx="2133600" cy="977900"/>
            </a:xfrm>
            <a:custGeom>
              <a:avLst/>
              <a:gdLst/>
              <a:ahLst/>
              <a:cxnLst/>
              <a:rect l="l" t="t" r="r" b="b"/>
              <a:pathLst>
                <a:path w="2133600" h="977900">
                  <a:moveTo>
                    <a:pt x="2133600" y="0"/>
                  </a:moveTo>
                  <a:lnTo>
                    <a:pt x="0" y="0"/>
                  </a:lnTo>
                  <a:lnTo>
                    <a:pt x="0" y="925068"/>
                  </a:lnTo>
                  <a:lnTo>
                    <a:pt x="65305" y="935204"/>
                  </a:lnTo>
                  <a:lnTo>
                    <a:pt x="127948" y="944147"/>
                  </a:lnTo>
                  <a:lnTo>
                    <a:pt x="188044" y="951938"/>
                  </a:lnTo>
                  <a:lnTo>
                    <a:pt x="245709" y="958619"/>
                  </a:lnTo>
                  <a:lnTo>
                    <a:pt x="301060" y="964234"/>
                  </a:lnTo>
                  <a:lnTo>
                    <a:pt x="354210" y="968823"/>
                  </a:lnTo>
                  <a:lnTo>
                    <a:pt x="405278" y="972429"/>
                  </a:lnTo>
                  <a:lnTo>
                    <a:pt x="454377" y="975095"/>
                  </a:lnTo>
                  <a:lnTo>
                    <a:pt x="501625" y="976862"/>
                  </a:lnTo>
                  <a:lnTo>
                    <a:pt x="547136" y="977773"/>
                  </a:lnTo>
                  <a:lnTo>
                    <a:pt x="591026" y="977869"/>
                  </a:lnTo>
                  <a:lnTo>
                    <a:pt x="633412" y="977193"/>
                  </a:lnTo>
                  <a:lnTo>
                    <a:pt x="674409" y="975787"/>
                  </a:lnTo>
                  <a:lnTo>
                    <a:pt x="714132" y="973694"/>
                  </a:lnTo>
                  <a:lnTo>
                    <a:pt x="752698" y="970955"/>
                  </a:lnTo>
                  <a:lnTo>
                    <a:pt x="826820" y="963709"/>
                  </a:lnTo>
                  <a:lnTo>
                    <a:pt x="897700" y="954386"/>
                  </a:lnTo>
                  <a:lnTo>
                    <a:pt x="966266" y="943325"/>
                  </a:lnTo>
                  <a:lnTo>
                    <a:pt x="1033443" y="930862"/>
                  </a:lnTo>
                  <a:lnTo>
                    <a:pt x="1100156" y="917335"/>
                  </a:lnTo>
                  <a:lnTo>
                    <a:pt x="1270992" y="881074"/>
                  </a:lnTo>
                  <a:lnTo>
                    <a:pt x="1343377" y="866478"/>
                  </a:lnTo>
                  <a:lnTo>
                    <a:pt x="1380901" y="859329"/>
                  </a:lnTo>
                  <a:lnTo>
                    <a:pt x="1419467" y="852336"/>
                  </a:lnTo>
                  <a:lnTo>
                    <a:pt x="1459190" y="845541"/>
                  </a:lnTo>
                  <a:lnTo>
                    <a:pt x="1500187" y="838985"/>
                  </a:lnTo>
                  <a:lnTo>
                    <a:pt x="1542573" y="832712"/>
                  </a:lnTo>
                  <a:lnTo>
                    <a:pt x="1586463" y="826763"/>
                  </a:lnTo>
                  <a:lnTo>
                    <a:pt x="1631974" y="821180"/>
                  </a:lnTo>
                  <a:lnTo>
                    <a:pt x="1679222" y="816006"/>
                  </a:lnTo>
                  <a:lnTo>
                    <a:pt x="1728321" y="811283"/>
                  </a:lnTo>
                  <a:lnTo>
                    <a:pt x="1779389" y="807053"/>
                  </a:lnTo>
                  <a:lnTo>
                    <a:pt x="1832539" y="803358"/>
                  </a:lnTo>
                  <a:lnTo>
                    <a:pt x="1887890" y="800240"/>
                  </a:lnTo>
                  <a:lnTo>
                    <a:pt x="1945555" y="797741"/>
                  </a:lnTo>
                  <a:lnTo>
                    <a:pt x="2005651" y="795905"/>
                  </a:lnTo>
                  <a:lnTo>
                    <a:pt x="2068294" y="794772"/>
                  </a:lnTo>
                  <a:lnTo>
                    <a:pt x="2133600" y="794385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05981" y="1524380"/>
              <a:ext cx="2133600" cy="977900"/>
            </a:xfrm>
            <a:custGeom>
              <a:avLst/>
              <a:gdLst/>
              <a:ahLst/>
              <a:cxnLst/>
              <a:rect l="l" t="t" r="r" b="b"/>
              <a:pathLst>
                <a:path w="2133600" h="977900">
                  <a:moveTo>
                    <a:pt x="0" y="0"/>
                  </a:moveTo>
                  <a:lnTo>
                    <a:pt x="2133600" y="0"/>
                  </a:lnTo>
                  <a:lnTo>
                    <a:pt x="2133600" y="794385"/>
                  </a:lnTo>
                  <a:lnTo>
                    <a:pt x="2068294" y="794772"/>
                  </a:lnTo>
                  <a:lnTo>
                    <a:pt x="2005651" y="795905"/>
                  </a:lnTo>
                  <a:lnTo>
                    <a:pt x="1945555" y="797741"/>
                  </a:lnTo>
                  <a:lnTo>
                    <a:pt x="1887890" y="800240"/>
                  </a:lnTo>
                  <a:lnTo>
                    <a:pt x="1832539" y="803358"/>
                  </a:lnTo>
                  <a:lnTo>
                    <a:pt x="1779389" y="807053"/>
                  </a:lnTo>
                  <a:lnTo>
                    <a:pt x="1728321" y="811283"/>
                  </a:lnTo>
                  <a:lnTo>
                    <a:pt x="1679222" y="816006"/>
                  </a:lnTo>
                  <a:lnTo>
                    <a:pt x="1631974" y="821180"/>
                  </a:lnTo>
                  <a:lnTo>
                    <a:pt x="1586463" y="826763"/>
                  </a:lnTo>
                  <a:lnTo>
                    <a:pt x="1542573" y="832712"/>
                  </a:lnTo>
                  <a:lnTo>
                    <a:pt x="1500187" y="838985"/>
                  </a:lnTo>
                  <a:lnTo>
                    <a:pt x="1459190" y="845541"/>
                  </a:lnTo>
                  <a:lnTo>
                    <a:pt x="1419467" y="852336"/>
                  </a:lnTo>
                  <a:lnTo>
                    <a:pt x="1380901" y="859329"/>
                  </a:lnTo>
                  <a:lnTo>
                    <a:pt x="1343377" y="866478"/>
                  </a:lnTo>
                  <a:lnTo>
                    <a:pt x="1270992" y="881074"/>
                  </a:lnTo>
                  <a:lnTo>
                    <a:pt x="1201384" y="895786"/>
                  </a:lnTo>
                  <a:lnTo>
                    <a:pt x="1167333" y="903080"/>
                  </a:lnTo>
                  <a:lnTo>
                    <a:pt x="1133629" y="910277"/>
                  </a:lnTo>
                  <a:lnTo>
                    <a:pt x="1066800" y="924210"/>
                  </a:lnTo>
                  <a:lnTo>
                    <a:pt x="999970" y="937248"/>
                  </a:lnTo>
                  <a:lnTo>
                    <a:pt x="932215" y="949052"/>
                  </a:lnTo>
                  <a:lnTo>
                    <a:pt x="862607" y="959286"/>
                  </a:lnTo>
                  <a:lnTo>
                    <a:pt x="790222" y="967613"/>
                  </a:lnTo>
                  <a:lnTo>
                    <a:pt x="714132" y="973694"/>
                  </a:lnTo>
                  <a:lnTo>
                    <a:pt x="674409" y="975787"/>
                  </a:lnTo>
                  <a:lnTo>
                    <a:pt x="633412" y="977193"/>
                  </a:lnTo>
                  <a:lnTo>
                    <a:pt x="591026" y="977869"/>
                  </a:lnTo>
                  <a:lnTo>
                    <a:pt x="547136" y="977773"/>
                  </a:lnTo>
                  <a:lnTo>
                    <a:pt x="501625" y="976862"/>
                  </a:lnTo>
                  <a:lnTo>
                    <a:pt x="454377" y="975095"/>
                  </a:lnTo>
                  <a:lnTo>
                    <a:pt x="405278" y="972429"/>
                  </a:lnTo>
                  <a:lnTo>
                    <a:pt x="354210" y="968823"/>
                  </a:lnTo>
                  <a:lnTo>
                    <a:pt x="301060" y="964234"/>
                  </a:lnTo>
                  <a:lnTo>
                    <a:pt x="245709" y="958619"/>
                  </a:lnTo>
                  <a:lnTo>
                    <a:pt x="188044" y="951938"/>
                  </a:lnTo>
                  <a:lnTo>
                    <a:pt x="127948" y="944147"/>
                  </a:lnTo>
                  <a:lnTo>
                    <a:pt x="65305" y="935204"/>
                  </a:lnTo>
                  <a:lnTo>
                    <a:pt x="0" y="925068"/>
                  </a:lnTo>
                  <a:lnTo>
                    <a:pt x="0" y="0"/>
                  </a:lnTo>
                  <a:close/>
                </a:path>
              </a:pathLst>
            </a:custGeom>
            <a:ln w="25145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69480" y="1595120"/>
            <a:ext cx="10064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Báo</a:t>
            </a:r>
            <a:r>
              <a:rPr sz="20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cáo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cảnh</a:t>
            </a:r>
            <a:r>
              <a:rPr sz="20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báo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30880" y="3021964"/>
            <a:ext cx="1397000" cy="1254760"/>
            <a:chOff x="2730880" y="3021964"/>
            <a:chExt cx="1397000" cy="1254760"/>
          </a:xfrm>
        </p:grpSpPr>
        <p:sp>
          <p:nvSpPr>
            <p:cNvPr id="18" name="object 18"/>
            <p:cNvSpPr/>
            <p:nvPr/>
          </p:nvSpPr>
          <p:spPr>
            <a:xfrm>
              <a:off x="2743580" y="3034664"/>
              <a:ext cx="1371600" cy="1229360"/>
            </a:xfrm>
            <a:custGeom>
              <a:avLst/>
              <a:gdLst/>
              <a:ahLst/>
              <a:cxnLst/>
              <a:rect l="l" t="t" r="r" b="b"/>
              <a:pathLst>
                <a:path w="1371600" h="1229360">
                  <a:moveTo>
                    <a:pt x="1371599" y="0"/>
                  </a:moveTo>
                  <a:lnTo>
                    <a:pt x="0" y="0"/>
                  </a:lnTo>
                  <a:lnTo>
                    <a:pt x="0" y="1229106"/>
                  </a:lnTo>
                  <a:lnTo>
                    <a:pt x="1371599" y="1229106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9437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580" y="3034664"/>
              <a:ext cx="1371600" cy="1229360"/>
            </a:xfrm>
            <a:custGeom>
              <a:avLst/>
              <a:gdLst/>
              <a:ahLst/>
              <a:cxnLst/>
              <a:rect l="l" t="t" r="r" b="b"/>
              <a:pathLst>
                <a:path w="1371600" h="1229360">
                  <a:moveTo>
                    <a:pt x="0" y="1229106"/>
                  </a:moveTo>
                  <a:lnTo>
                    <a:pt x="1371599" y="1229106"/>
                  </a:lnTo>
                  <a:lnTo>
                    <a:pt x="1371599" y="0"/>
                  </a:lnTo>
                  <a:lnTo>
                    <a:pt x="0" y="0"/>
                  </a:lnTo>
                  <a:lnTo>
                    <a:pt x="0" y="1229106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56814" y="3475482"/>
            <a:ext cx="94424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HT</a:t>
            </a:r>
            <a:r>
              <a:rPr sz="2000" b="1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POS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86981" y="3153536"/>
            <a:ext cx="1371600" cy="990600"/>
          </a:xfrm>
          <a:custGeom>
            <a:avLst/>
            <a:gdLst/>
            <a:ahLst/>
            <a:cxnLst/>
            <a:rect l="l" t="t" r="r" b="b"/>
            <a:pathLst>
              <a:path w="1371600" h="990600">
                <a:moveTo>
                  <a:pt x="1371600" y="0"/>
                </a:moveTo>
                <a:lnTo>
                  <a:pt x="0" y="0"/>
                </a:lnTo>
                <a:lnTo>
                  <a:pt x="0" y="990600"/>
                </a:lnTo>
                <a:lnTo>
                  <a:pt x="1371600" y="990600"/>
                </a:lnTo>
                <a:lnTo>
                  <a:pt x="1371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86981" y="3153536"/>
            <a:ext cx="1371600" cy="9906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Times New Roman"/>
              <a:cs typeface="Times New Roman"/>
            </a:endParaRPr>
          </a:p>
          <a:p>
            <a:pPr marL="149860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HTTTQL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30880" y="4592446"/>
            <a:ext cx="3463290" cy="2050414"/>
            <a:chOff x="2730880" y="4592446"/>
            <a:chExt cx="3463290" cy="2050414"/>
          </a:xfrm>
        </p:grpSpPr>
        <p:sp>
          <p:nvSpPr>
            <p:cNvPr id="24" name="object 24"/>
            <p:cNvSpPr/>
            <p:nvPr/>
          </p:nvSpPr>
          <p:spPr>
            <a:xfrm>
              <a:off x="4809363" y="4605146"/>
              <a:ext cx="1371600" cy="1306195"/>
            </a:xfrm>
            <a:custGeom>
              <a:avLst/>
              <a:gdLst/>
              <a:ahLst/>
              <a:cxnLst/>
              <a:rect l="l" t="t" r="r" b="b"/>
              <a:pathLst>
                <a:path w="1371600" h="1306195">
                  <a:moveTo>
                    <a:pt x="685800" y="0"/>
                  </a:moveTo>
                  <a:lnTo>
                    <a:pt x="615688" y="1123"/>
                  </a:lnTo>
                  <a:lnTo>
                    <a:pt x="547599" y="4420"/>
                  </a:lnTo>
                  <a:lnTo>
                    <a:pt x="481879" y="9782"/>
                  </a:lnTo>
                  <a:lnTo>
                    <a:pt x="418873" y="17099"/>
                  </a:lnTo>
                  <a:lnTo>
                    <a:pt x="358925" y="26262"/>
                  </a:lnTo>
                  <a:lnTo>
                    <a:pt x="302381" y="37163"/>
                  </a:lnTo>
                  <a:lnTo>
                    <a:pt x="249585" y="49691"/>
                  </a:lnTo>
                  <a:lnTo>
                    <a:pt x="200882" y="63738"/>
                  </a:lnTo>
                  <a:lnTo>
                    <a:pt x="156617" y="79194"/>
                  </a:lnTo>
                  <a:lnTo>
                    <a:pt x="117135" y="95950"/>
                  </a:lnTo>
                  <a:lnTo>
                    <a:pt x="82780" y="113898"/>
                  </a:lnTo>
                  <a:lnTo>
                    <a:pt x="30835" y="152929"/>
                  </a:lnTo>
                  <a:lnTo>
                    <a:pt x="3541" y="195413"/>
                  </a:lnTo>
                  <a:lnTo>
                    <a:pt x="0" y="217677"/>
                  </a:lnTo>
                  <a:lnTo>
                    <a:pt x="0" y="1088389"/>
                  </a:lnTo>
                  <a:lnTo>
                    <a:pt x="13934" y="1132259"/>
                  </a:lnTo>
                  <a:lnTo>
                    <a:pt x="53899" y="1173119"/>
                  </a:lnTo>
                  <a:lnTo>
                    <a:pt x="117135" y="1210094"/>
                  </a:lnTo>
                  <a:lnTo>
                    <a:pt x="156617" y="1226852"/>
                  </a:lnTo>
                  <a:lnTo>
                    <a:pt x="200882" y="1242310"/>
                  </a:lnTo>
                  <a:lnTo>
                    <a:pt x="249585" y="1256360"/>
                  </a:lnTo>
                  <a:lnTo>
                    <a:pt x="302381" y="1268891"/>
                  </a:lnTo>
                  <a:lnTo>
                    <a:pt x="358925" y="1279795"/>
                  </a:lnTo>
                  <a:lnTo>
                    <a:pt x="418873" y="1288961"/>
                  </a:lnTo>
                  <a:lnTo>
                    <a:pt x="481879" y="1296281"/>
                  </a:lnTo>
                  <a:lnTo>
                    <a:pt x="547599" y="1301645"/>
                  </a:lnTo>
                  <a:lnTo>
                    <a:pt x="615688" y="1304944"/>
                  </a:lnTo>
                  <a:lnTo>
                    <a:pt x="685800" y="1306067"/>
                  </a:lnTo>
                  <a:lnTo>
                    <a:pt x="755911" y="1304944"/>
                  </a:lnTo>
                  <a:lnTo>
                    <a:pt x="824000" y="1301645"/>
                  </a:lnTo>
                  <a:lnTo>
                    <a:pt x="889720" y="1296281"/>
                  </a:lnTo>
                  <a:lnTo>
                    <a:pt x="952726" y="1288961"/>
                  </a:lnTo>
                  <a:lnTo>
                    <a:pt x="1012674" y="1279795"/>
                  </a:lnTo>
                  <a:lnTo>
                    <a:pt x="1069218" y="1268891"/>
                  </a:lnTo>
                  <a:lnTo>
                    <a:pt x="1122014" y="1256360"/>
                  </a:lnTo>
                  <a:lnTo>
                    <a:pt x="1170717" y="1242310"/>
                  </a:lnTo>
                  <a:lnTo>
                    <a:pt x="1214982" y="1226852"/>
                  </a:lnTo>
                  <a:lnTo>
                    <a:pt x="1254464" y="1210094"/>
                  </a:lnTo>
                  <a:lnTo>
                    <a:pt x="1288819" y="1192147"/>
                  </a:lnTo>
                  <a:lnTo>
                    <a:pt x="1340764" y="1153120"/>
                  </a:lnTo>
                  <a:lnTo>
                    <a:pt x="1368058" y="1110645"/>
                  </a:lnTo>
                  <a:lnTo>
                    <a:pt x="1371600" y="1088389"/>
                  </a:lnTo>
                  <a:lnTo>
                    <a:pt x="1371600" y="217677"/>
                  </a:lnTo>
                  <a:lnTo>
                    <a:pt x="1357665" y="173794"/>
                  </a:lnTo>
                  <a:lnTo>
                    <a:pt x="1317700" y="132927"/>
                  </a:lnTo>
                  <a:lnTo>
                    <a:pt x="1254464" y="95950"/>
                  </a:lnTo>
                  <a:lnTo>
                    <a:pt x="1214982" y="79194"/>
                  </a:lnTo>
                  <a:lnTo>
                    <a:pt x="1170717" y="63738"/>
                  </a:lnTo>
                  <a:lnTo>
                    <a:pt x="1122014" y="49691"/>
                  </a:lnTo>
                  <a:lnTo>
                    <a:pt x="1069218" y="37163"/>
                  </a:lnTo>
                  <a:lnTo>
                    <a:pt x="1012674" y="26262"/>
                  </a:lnTo>
                  <a:lnTo>
                    <a:pt x="952726" y="17099"/>
                  </a:lnTo>
                  <a:lnTo>
                    <a:pt x="889720" y="9782"/>
                  </a:lnTo>
                  <a:lnTo>
                    <a:pt x="824000" y="4420"/>
                  </a:lnTo>
                  <a:lnTo>
                    <a:pt x="755911" y="1123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9363" y="4605146"/>
              <a:ext cx="1371600" cy="1306195"/>
            </a:xfrm>
            <a:custGeom>
              <a:avLst/>
              <a:gdLst/>
              <a:ahLst/>
              <a:cxnLst/>
              <a:rect l="l" t="t" r="r" b="b"/>
              <a:pathLst>
                <a:path w="1371600" h="1306195">
                  <a:moveTo>
                    <a:pt x="1371600" y="217677"/>
                  </a:moveTo>
                  <a:lnTo>
                    <a:pt x="1357665" y="261561"/>
                  </a:lnTo>
                  <a:lnTo>
                    <a:pt x="1317700" y="302428"/>
                  </a:lnTo>
                  <a:lnTo>
                    <a:pt x="1254464" y="339405"/>
                  </a:lnTo>
                  <a:lnTo>
                    <a:pt x="1214982" y="356161"/>
                  </a:lnTo>
                  <a:lnTo>
                    <a:pt x="1170717" y="371617"/>
                  </a:lnTo>
                  <a:lnTo>
                    <a:pt x="1122014" y="385664"/>
                  </a:lnTo>
                  <a:lnTo>
                    <a:pt x="1069218" y="398192"/>
                  </a:lnTo>
                  <a:lnTo>
                    <a:pt x="1012674" y="409093"/>
                  </a:lnTo>
                  <a:lnTo>
                    <a:pt x="952726" y="418256"/>
                  </a:lnTo>
                  <a:lnTo>
                    <a:pt x="889720" y="425573"/>
                  </a:lnTo>
                  <a:lnTo>
                    <a:pt x="824000" y="430935"/>
                  </a:lnTo>
                  <a:lnTo>
                    <a:pt x="755911" y="434232"/>
                  </a:lnTo>
                  <a:lnTo>
                    <a:pt x="685800" y="435355"/>
                  </a:lnTo>
                  <a:lnTo>
                    <a:pt x="615688" y="434232"/>
                  </a:lnTo>
                  <a:lnTo>
                    <a:pt x="547599" y="430935"/>
                  </a:lnTo>
                  <a:lnTo>
                    <a:pt x="481879" y="425573"/>
                  </a:lnTo>
                  <a:lnTo>
                    <a:pt x="418873" y="418256"/>
                  </a:lnTo>
                  <a:lnTo>
                    <a:pt x="358925" y="409093"/>
                  </a:lnTo>
                  <a:lnTo>
                    <a:pt x="302381" y="398192"/>
                  </a:lnTo>
                  <a:lnTo>
                    <a:pt x="249585" y="385664"/>
                  </a:lnTo>
                  <a:lnTo>
                    <a:pt x="200882" y="371617"/>
                  </a:lnTo>
                  <a:lnTo>
                    <a:pt x="156617" y="356161"/>
                  </a:lnTo>
                  <a:lnTo>
                    <a:pt x="117135" y="339405"/>
                  </a:lnTo>
                  <a:lnTo>
                    <a:pt x="82780" y="321457"/>
                  </a:lnTo>
                  <a:lnTo>
                    <a:pt x="30835" y="282426"/>
                  </a:lnTo>
                  <a:lnTo>
                    <a:pt x="3541" y="239942"/>
                  </a:lnTo>
                  <a:lnTo>
                    <a:pt x="0" y="217677"/>
                  </a:lnTo>
                </a:path>
                <a:path w="1371600" h="1306195">
                  <a:moveTo>
                    <a:pt x="0" y="217677"/>
                  </a:moveTo>
                  <a:lnTo>
                    <a:pt x="13934" y="173794"/>
                  </a:lnTo>
                  <a:lnTo>
                    <a:pt x="53899" y="132927"/>
                  </a:lnTo>
                  <a:lnTo>
                    <a:pt x="117135" y="95950"/>
                  </a:lnTo>
                  <a:lnTo>
                    <a:pt x="156617" y="79194"/>
                  </a:lnTo>
                  <a:lnTo>
                    <a:pt x="200882" y="63738"/>
                  </a:lnTo>
                  <a:lnTo>
                    <a:pt x="249585" y="49691"/>
                  </a:lnTo>
                  <a:lnTo>
                    <a:pt x="302381" y="37163"/>
                  </a:lnTo>
                  <a:lnTo>
                    <a:pt x="358925" y="26262"/>
                  </a:lnTo>
                  <a:lnTo>
                    <a:pt x="418873" y="17099"/>
                  </a:lnTo>
                  <a:lnTo>
                    <a:pt x="481879" y="9782"/>
                  </a:lnTo>
                  <a:lnTo>
                    <a:pt x="547599" y="4420"/>
                  </a:lnTo>
                  <a:lnTo>
                    <a:pt x="615688" y="1123"/>
                  </a:lnTo>
                  <a:lnTo>
                    <a:pt x="685800" y="0"/>
                  </a:lnTo>
                  <a:lnTo>
                    <a:pt x="755911" y="1123"/>
                  </a:lnTo>
                  <a:lnTo>
                    <a:pt x="824000" y="4420"/>
                  </a:lnTo>
                  <a:lnTo>
                    <a:pt x="889720" y="9782"/>
                  </a:lnTo>
                  <a:lnTo>
                    <a:pt x="952726" y="17099"/>
                  </a:lnTo>
                  <a:lnTo>
                    <a:pt x="1012674" y="26262"/>
                  </a:lnTo>
                  <a:lnTo>
                    <a:pt x="1069218" y="37163"/>
                  </a:lnTo>
                  <a:lnTo>
                    <a:pt x="1122014" y="49691"/>
                  </a:lnTo>
                  <a:lnTo>
                    <a:pt x="1170717" y="63738"/>
                  </a:lnTo>
                  <a:lnTo>
                    <a:pt x="1214982" y="79194"/>
                  </a:lnTo>
                  <a:lnTo>
                    <a:pt x="1254464" y="95950"/>
                  </a:lnTo>
                  <a:lnTo>
                    <a:pt x="1288819" y="113898"/>
                  </a:lnTo>
                  <a:lnTo>
                    <a:pt x="1340764" y="152929"/>
                  </a:lnTo>
                  <a:lnTo>
                    <a:pt x="1368058" y="195413"/>
                  </a:lnTo>
                  <a:lnTo>
                    <a:pt x="1371600" y="217677"/>
                  </a:lnTo>
                  <a:lnTo>
                    <a:pt x="1371600" y="1088389"/>
                  </a:lnTo>
                  <a:lnTo>
                    <a:pt x="1357665" y="1132259"/>
                  </a:lnTo>
                  <a:lnTo>
                    <a:pt x="1317700" y="1173119"/>
                  </a:lnTo>
                  <a:lnTo>
                    <a:pt x="1254464" y="1210094"/>
                  </a:lnTo>
                  <a:lnTo>
                    <a:pt x="1214982" y="1226852"/>
                  </a:lnTo>
                  <a:lnTo>
                    <a:pt x="1170717" y="1242310"/>
                  </a:lnTo>
                  <a:lnTo>
                    <a:pt x="1122014" y="1256360"/>
                  </a:lnTo>
                  <a:lnTo>
                    <a:pt x="1069218" y="1268891"/>
                  </a:lnTo>
                  <a:lnTo>
                    <a:pt x="1012674" y="1279795"/>
                  </a:lnTo>
                  <a:lnTo>
                    <a:pt x="952726" y="1288961"/>
                  </a:lnTo>
                  <a:lnTo>
                    <a:pt x="889720" y="1296281"/>
                  </a:lnTo>
                  <a:lnTo>
                    <a:pt x="824000" y="1301645"/>
                  </a:lnTo>
                  <a:lnTo>
                    <a:pt x="755911" y="1304944"/>
                  </a:lnTo>
                  <a:lnTo>
                    <a:pt x="685800" y="1306067"/>
                  </a:lnTo>
                  <a:lnTo>
                    <a:pt x="615688" y="1304944"/>
                  </a:lnTo>
                  <a:lnTo>
                    <a:pt x="547599" y="1301645"/>
                  </a:lnTo>
                  <a:lnTo>
                    <a:pt x="481879" y="1296281"/>
                  </a:lnTo>
                  <a:lnTo>
                    <a:pt x="418873" y="1288961"/>
                  </a:lnTo>
                  <a:lnTo>
                    <a:pt x="358925" y="1279795"/>
                  </a:lnTo>
                  <a:lnTo>
                    <a:pt x="302381" y="1268891"/>
                  </a:lnTo>
                  <a:lnTo>
                    <a:pt x="249585" y="1256360"/>
                  </a:lnTo>
                  <a:lnTo>
                    <a:pt x="200882" y="1242310"/>
                  </a:lnTo>
                  <a:lnTo>
                    <a:pt x="156617" y="1226852"/>
                  </a:lnTo>
                  <a:lnTo>
                    <a:pt x="117135" y="1210094"/>
                  </a:lnTo>
                  <a:lnTo>
                    <a:pt x="82780" y="1192147"/>
                  </a:lnTo>
                  <a:lnTo>
                    <a:pt x="30835" y="1153120"/>
                  </a:lnTo>
                  <a:lnTo>
                    <a:pt x="3541" y="1110645"/>
                  </a:lnTo>
                  <a:lnTo>
                    <a:pt x="0" y="1088389"/>
                  </a:lnTo>
                  <a:lnTo>
                    <a:pt x="0" y="217677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580" y="525818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799" y="0"/>
                  </a:moveTo>
                  <a:lnTo>
                    <a:pt x="615688" y="1180"/>
                  </a:lnTo>
                  <a:lnTo>
                    <a:pt x="547599" y="4644"/>
                  </a:lnTo>
                  <a:lnTo>
                    <a:pt x="481879" y="10278"/>
                  </a:lnTo>
                  <a:lnTo>
                    <a:pt x="418873" y="17966"/>
                  </a:lnTo>
                  <a:lnTo>
                    <a:pt x="358925" y="27593"/>
                  </a:lnTo>
                  <a:lnTo>
                    <a:pt x="302381" y="39045"/>
                  </a:lnTo>
                  <a:lnTo>
                    <a:pt x="249585" y="52205"/>
                  </a:lnTo>
                  <a:lnTo>
                    <a:pt x="200882" y="66960"/>
                  </a:lnTo>
                  <a:lnTo>
                    <a:pt x="156617" y="83195"/>
                  </a:lnTo>
                  <a:lnTo>
                    <a:pt x="117135" y="100793"/>
                  </a:lnTo>
                  <a:lnTo>
                    <a:pt x="82780" y="119641"/>
                  </a:lnTo>
                  <a:lnTo>
                    <a:pt x="30835" y="160626"/>
                  </a:lnTo>
                  <a:lnTo>
                    <a:pt x="3541" y="205229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13934" y="1189070"/>
                  </a:lnTo>
                  <a:lnTo>
                    <a:pt x="53899" y="1231980"/>
                  </a:lnTo>
                  <a:lnTo>
                    <a:pt x="117135" y="1270811"/>
                  </a:lnTo>
                  <a:lnTo>
                    <a:pt x="156617" y="1288410"/>
                  </a:lnTo>
                  <a:lnTo>
                    <a:pt x="200882" y="1304644"/>
                  </a:lnTo>
                  <a:lnTo>
                    <a:pt x="249585" y="1319398"/>
                  </a:lnTo>
                  <a:lnTo>
                    <a:pt x="302381" y="1332558"/>
                  </a:lnTo>
                  <a:lnTo>
                    <a:pt x="358925" y="1344008"/>
                  </a:lnTo>
                  <a:lnTo>
                    <a:pt x="418873" y="1353635"/>
                  </a:lnTo>
                  <a:lnTo>
                    <a:pt x="481879" y="1361322"/>
                  </a:lnTo>
                  <a:lnTo>
                    <a:pt x="547599" y="1366955"/>
                  </a:lnTo>
                  <a:lnTo>
                    <a:pt x="615688" y="1370419"/>
                  </a:lnTo>
                  <a:lnTo>
                    <a:pt x="685799" y="1371600"/>
                  </a:lnTo>
                  <a:lnTo>
                    <a:pt x="755911" y="1370419"/>
                  </a:lnTo>
                  <a:lnTo>
                    <a:pt x="824000" y="1366955"/>
                  </a:lnTo>
                  <a:lnTo>
                    <a:pt x="889720" y="1361322"/>
                  </a:lnTo>
                  <a:lnTo>
                    <a:pt x="952726" y="1353635"/>
                  </a:lnTo>
                  <a:lnTo>
                    <a:pt x="1012674" y="1344008"/>
                  </a:lnTo>
                  <a:lnTo>
                    <a:pt x="1069218" y="1332558"/>
                  </a:lnTo>
                  <a:lnTo>
                    <a:pt x="1122014" y="1319398"/>
                  </a:lnTo>
                  <a:lnTo>
                    <a:pt x="1170717" y="1304644"/>
                  </a:lnTo>
                  <a:lnTo>
                    <a:pt x="1214982" y="1288410"/>
                  </a:lnTo>
                  <a:lnTo>
                    <a:pt x="1254464" y="1270811"/>
                  </a:lnTo>
                  <a:lnTo>
                    <a:pt x="1288819" y="1251963"/>
                  </a:lnTo>
                  <a:lnTo>
                    <a:pt x="1340764" y="1210978"/>
                  </a:lnTo>
                  <a:lnTo>
                    <a:pt x="1368058" y="1166372"/>
                  </a:lnTo>
                  <a:lnTo>
                    <a:pt x="1371599" y="1143000"/>
                  </a:lnTo>
                  <a:lnTo>
                    <a:pt x="1371599" y="228600"/>
                  </a:lnTo>
                  <a:lnTo>
                    <a:pt x="1357665" y="182533"/>
                  </a:lnTo>
                  <a:lnTo>
                    <a:pt x="1317700" y="139624"/>
                  </a:lnTo>
                  <a:lnTo>
                    <a:pt x="1254464" y="100793"/>
                  </a:lnTo>
                  <a:lnTo>
                    <a:pt x="1214982" y="83195"/>
                  </a:lnTo>
                  <a:lnTo>
                    <a:pt x="1170717" y="66960"/>
                  </a:lnTo>
                  <a:lnTo>
                    <a:pt x="1122014" y="52205"/>
                  </a:lnTo>
                  <a:lnTo>
                    <a:pt x="1069218" y="39045"/>
                  </a:lnTo>
                  <a:lnTo>
                    <a:pt x="1012674" y="27593"/>
                  </a:lnTo>
                  <a:lnTo>
                    <a:pt x="952726" y="17966"/>
                  </a:lnTo>
                  <a:lnTo>
                    <a:pt x="889720" y="10278"/>
                  </a:lnTo>
                  <a:lnTo>
                    <a:pt x="824000" y="4644"/>
                  </a:lnTo>
                  <a:lnTo>
                    <a:pt x="755911" y="1180"/>
                  </a:lnTo>
                  <a:lnTo>
                    <a:pt x="685799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580" y="525818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1371599" y="228600"/>
                  </a:moveTo>
                  <a:lnTo>
                    <a:pt x="1357665" y="274670"/>
                  </a:lnTo>
                  <a:lnTo>
                    <a:pt x="1317700" y="317580"/>
                  </a:lnTo>
                  <a:lnTo>
                    <a:pt x="1254464" y="356411"/>
                  </a:lnTo>
                  <a:lnTo>
                    <a:pt x="1214982" y="374010"/>
                  </a:lnTo>
                  <a:lnTo>
                    <a:pt x="1170717" y="390244"/>
                  </a:lnTo>
                  <a:lnTo>
                    <a:pt x="1122014" y="404998"/>
                  </a:lnTo>
                  <a:lnTo>
                    <a:pt x="1069218" y="418158"/>
                  </a:lnTo>
                  <a:lnTo>
                    <a:pt x="1012674" y="429608"/>
                  </a:lnTo>
                  <a:lnTo>
                    <a:pt x="952726" y="439235"/>
                  </a:lnTo>
                  <a:lnTo>
                    <a:pt x="889720" y="446922"/>
                  </a:lnTo>
                  <a:lnTo>
                    <a:pt x="824000" y="452555"/>
                  </a:lnTo>
                  <a:lnTo>
                    <a:pt x="755911" y="456019"/>
                  </a:lnTo>
                  <a:lnTo>
                    <a:pt x="685799" y="457200"/>
                  </a:lnTo>
                  <a:lnTo>
                    <a:pt x="615688" y="456019"/>
                  </a:lnTo>
                  <a:lnTo>
                    <a:pt x="547599" y="452555"/>
                  </a:lnTo>
                  <a:lnTo>
                    <a:pt x="481879" y="446922"/>
                  </a:lnTo>
                  <a:lnTo>
                    <a:pt x="418873" y="439235"/>
                  </a:lnTo>
                  <a:lnTo>
                    <a:pt x="358925" y="429608"/>
                  </a:lnTo>
                  <a:lnTo>
                    <a:pt x="302381" y="418158"/>
                  </a:lnTo>
                  <a:lnTo>
                    <a:pt x="249585" y="404998"/>
                  </a:lnTo>
                  <a:lnTo>
                    <a:pt x="200882" y="390244"/>
                  </a:lnTo>
                  <a:lnTo>
                    <a:pt x="156617" y="374010"/>
                  </a:lnTo>
                  <a:lnTo>
                    <a:pt x="117135" y="356411"/>
                  </a:lnTo>
                  <a:lnTo>
                    <a:pt x="82780" y="337563"/>
                  </a:lnTo>
                  <a:lnTo>
                    <a:pt x="30835" y="296578"/>
                  </a:lnTo>
                  <a:lnTo>
                    <a:pt x="3541" y="251972"/>
                  </a:lnTo>
                  <a:lnTo>
                    <a:pt x="0" y="228600"/>
                  </a:lnTo>
                </a:path>
                <a:path w="1371600" h="1371600">
                  <a:moveTo>
                    <a:pt x="0" y="228600"/>
                  </a:moveTo>
                  <a:lnTo>
                    <a:pt x="13934" y="182533"/>
                  </a:lnTo>
                  <a:lnTo>
                    <a:pt x="53899" y="139624"/>
                  </a:lnTo>
                  <a:lnTo>
                    <a:pt x="117135" y="100793"/>
                  </a:lnTo>
                  <a:lnTo>
                    <a:pt x="156617" y="83195"/>
                  </a:lnTo>
                  <a:lnTo>
                    <a:pt x="200882" y="66960"/>
                  </a:lnTo>
                  <a:lnTo>
                    <a:pt x="249585" y="52205"/>
                  </a:lnTo>
                  <a:lnTo>
                    <a:pt x="302381" y="39045"/>
                  </a:lnTo>
                  <a:lnTo>
                    <a:pt x="358925" y="27593"/>
                  </a:lnTo>
                  <a:lnTo>
                    <a:pt x="418873" y="17966"/>
                  </a:lnTo>
                  <a:lnTo>
                    <a:pt x="481879" y="10278"/>
                  </a:lnTo>
                  <a:lnTo>
                    <a:pt x="547599" y="4644"/>
                  </a:lnTo>
                  <a:lnTo>
                    <a:pt x="615688" y="1180"/>
                  </a:lnTo>
                  <a:lnTo>
                    <a:pt x="685799" y="0"/>
                  </a:lnTo>
                  <a:lnTo>
                    <a:pt x="755911" y="1180"/>
                  </a:lnTo>
                  <a:lnTo>
                    <a:pt x="824000" y="4644"/>
                  </a:lnTo>
                  <a:lnTo>
                    <a:pt x="889720" y="10278"/>
                  </a:lnTo>
                  <a:lnTo>
                    <a:pt x="952726" y="17966"/>
                  </a:lnTo>
                  <a:lnTo>
                    <a:pt x="1012674" y="27593"/>
                  </a:lnTo>
                  <a:lnTo>
                    <a:pt x="1069218" y="39045"/>
                  </a:lnTo>
                  <a:lnTo>
                    <a:pt x="1122014" y="52205"/>
                  </a:lnTo>
                  <a:lnTo>
                    <a:pt x="1170717" y="66960"/>
                  </a:lnTo>
                  <a:lnTo>
                    <a:pt x="1214982" y="83195"/>
                  </a:lnTo>
                  <a:lnTo>
                    <a:pt x="1254464" y="100793"/>
                  </a:lnTo>
                  <a:lnTo>
                    <a:pt x="1288819" y="119641"/>
                  </a:lnTo>
                  <a:lnTo>
                    <a:pt x="1340764" y="160626"/>
                  </a:lnTo>
                  <a:lnTo>
                    <a:pt x="1368058" y="205229"/>
                  </a:lnTo>
                  <a:lnTo>
                    <a:pt x="1371599" y="228600"/>
                  </a:lnTo>
                  <a:lnTo>
                    <a:pt x="1371599" y="1143000"/>
                  </a:lnTo>
                  <a:lnTo>
                    <a:pt x="1357665" y="1189070"/>
                  </a:lnTo>
                  <a:lnTo>
                    <a:pt x="1317700" y="1231980"/>
                  </a:lnTo>
                  <a:lnTo>
                    <a:pt x="1254464" y="1270811"/>
                  </a:lnTo>
                  <a:lnTo>
                    <a:pt x="1214982" y="1288410"/>
                  </a:lnTo>
                  <a:lnTo>
                    <a:pt x="1170717" y="1304644"/>
                  </a:lnTo>
                  <a:lnTo>
                    <a:pt x="1122014" y="1319398"/>
                  </a:lnTo>
                  <a:lnTo>
                    <a:pt x="1069218" y="1332558"/>
                  </a:lnTo>
                  <a:lnTo>
                    <a:pt x="1012674" y="1344008"/>
                  </a:lnTo>
                  <a:lnTo>
                    <a:pt x="952726" y="1353635"/>
                  </a:lnTo>
                  <a:lnTo>
                    <a:pt x="889720" y="1361322"/>
                  </a:lnTo>
                  <a:lnTo>
                    <a:pt x="824000" y="1366955"/>
                  </a:lnTo>
                  <a:lnTo>
                    <a:pt x="755911" y="1370419"/>
                  </a:lnTo>
                  <a:lnTo>
                    <a:pt x="685799" y="1371600"/>
                  </a:lnTo>
                  <a:lnTo>
                    <a:pt x="615688" y="1370419"/>
                  </a:lnTo>
                  <a:lnTo>
                    <a:pt x="547599" y="1366955"/>
                  </a:lnTo>
                  <a:lnTo>
                    <a:pt x="481879" y="1361322"/>
                  </a:lnTo>
                  <a:lnTo>
                    <a:pt x="418873" y="1353635"/>
                  </a:lnTo>
                  <a:lnTo>
                    <a:pt x="358925" y="1344008"/>
                  </a:lnTo>
                  <a:lnTo>
                    <a:pt x="302381" y="1332558"/>
                  </a:lnTo>
                  <a:lnTo>
                    <a:pt x="249585" y="1319398"/>
                  </a:lnTo>
                  <a:lnTo>
                    <a:pt x="200882" y="1304644"/>
                  </a:lnTo>
                  <a:lnTo>
                    <a:pt x="156617" y="1288410"/>
                  </a:lnTo>
                  <a:lnTo>
                    <a:pt x="117135" y="1270811"/>
                  </a:lnTo>
                  <a:lnTo>
                    <a:pt x="82780" y="1251963"/>
                  </a:lnTo>
                  <a:lnTo>
                    <a:pt x="30835" y="1210978"/>
                  </a:lnTo>
                  <a:lnTo>
                    <a:pt x="3541" y="1166372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886710" y="5041138"/>
            <a:ext cx="3190240" cy="132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9340" marR="5080" indent="-30099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0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bán  hàng</a:t>
            </a:r>
            <a:endParaRPr sz="2000">
              <a:latin typeface="Times New Roman"/>
              <a:cs typeface="Times New Roman"/>
            </a:endParaRPr>
          </a:p>
          <a:p>
            <a:pPr marR="2084070" algn="ctr">
              <a:lnSpc>
                <a:spcPct val="100000"/>
              </a:lnSpc>
              <a:spcBef>
                <a:spcPts val="645"/>
              </a:spcBef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CSDL</a:t>
            </a:r>
            <a:endParaRPr sz="2000">
              <a:latin typeface="Times New Roman"/>
              <a:cs typeface="Times New Roman"/>
            </a:endParaRPr>
          </a:p>
          <a:p>
            <a:pPr marR="2097405" algn="ctr">
              <a:lnSpc>
                <a:spcPct val="100000"/>
              </a:lnSpc>
              <a:tabLst>
                <a:tab pos="663575" algn="l"/>
              </a:tabLst>
            </a:pPr>
            <a:r>
              <a:rPr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hàng	hóa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61326" y="2260854"/>
            <a:ext cx="422275" cy="837565"/>
            <a:chOff x="7561326" y="2260854"/>
            <a:chExt cx="422275" cy="83756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1326" y="2260854"/>
              <a:ext cx="422148" cy="83743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686821" y="2448941"/>
              <a:ext cx="171450" cy="585470"/>
            </a:xfrm>
            <a:custGeom>
              <a:avLst/>
              <a:gdLst/>
              <a:ahLst/>
              <a:cxnLst/>
              <a:rect l="l" t="t" r="r" b="b"/>
              <a:pathLst>
                <a:path w="171450" h="585469">
                  <a:moveTo>
                    <a:pt x="85578" y="75800"/>
                  </a:moveTo>
                  <a:lnTo>
                    <a:pt x="66528" y="108457"/>
                  </a:lnTo>
                  <a:lnTo>
                    <a:pt x="66528" y="584962"/>
                  </a:lnTo>
                  <a:lnTo>
                    <a:pt x="104628" y="584962"/>
                  </a:lnTo>
                  <a:lnTo>
                    <a:pt x="104628" y="108457"/>
                  </a:lnTo>
                  <a:lnTo>
                    <a:pt x="85578" y="75800"/>
                  </a:lnTo>
                  <a:close/>
                </a:path>
                <a:path w="171450" h="585469">
                  <a:moveTo>
                    <a:pt x="85578" y="0"/>
                  </a:moveTo>
                  <a:lnTo>
                    <a:pt x="2393" y="142494"/>
                  </a:lnTo>
                  <a:lnTo>
                    <a:pt x="0" y="149689"/>
                  </a:lnTo>
                  <a:lnTo>
                    <a:pt x="488" y="157003"/>
                  </a:lnTo>
                  <a:lnTo>
                    <a:pt x="3643" y="163603"/>
                  </a:lnTo>
                  <a:lnTo>
                    <a:pt x="9251" y="168656"/>
                  </a:lnTo>
                  <a:lnTo>
                    <a:pt x="16446" y="171049"/>
                  </a:lnTo>
                  <a:lnTo>
                    <a:pt x="23760" y="170561"/>
                  </a:lnTo>
                  <a:lnTo>
                    <a:pt x="30360" y="167405"/>
                  </a:lnTo>
                  <a:lnTo>
                    <a:pt x="35413" y="161798"/>
                  </a:lnTo>
                  <a:lnTo>
                    <a:pt x="66528" y="108457"/>
                  </a:lnTo>
                  <a:lnTo>
                    <a:pt x="66528" y="37846"/>
                  </a:lnTo>
                  <a:lnTo>
                    <a:pt x="107671" y="37846"/>
                  </a:lnTo>
                  <a:lnTo>
                    <a:pt x="85578" y="0"/>
                  </a:lnTo>
                  <a:close/>
                </a:path>
                <a:path w="171450" h="585469">
                  <a:moveTo>
                    <a:pt x="107671" y="37846"/>
                  </a:moveTo>
                  <a:lnTo>
                    <a:pt x="104628" y="37846"/>
                  </a:lnTo>
                  <a:lnTo>
                    <a:pt x="104628" y="108457"/>
                  </a:lnTo>
                  <a:lnTo>
                    <a:pt x="135743" y="161798"/>
                  </a:lnTo>
                  <a:lnTo>
                    <a:pt x="140795" y="167405"/>
                  </a:lnTo>
                  <a:lnTo>
                    <a:pt x="147395" y="170561"/>
                  </a:lnTo>
                  <a:lnTo>
                    <a:pt x="154709" y="171049"/>
                  </a:lnTo>
                  <a:lnTo>
                    <a:pt x="161905" y="168656"/>
                  </a:lnTo>
                  <a:lnTo>
                    <a:pt x="167513" y="163603"/>
                  </a:lnTo>
                  <a:lnTo>
                    <a:pt x="170668" y="157003"/>
                  </a:lnTo>
                  <a:lnTo>
                    <a:pt x="171156" y="149689"/>
                  </a:lnTo>
                  <a:lnTo>
                    <a:pt x="168763" y="142494"/>
                  </a:lnTo>
                  <a:lnTo>
                    <a:pt x="107671" y="37846"/>
                  </a:lnTo>
                  <a:close/>
                </a:path>
                <a:path w="171450" h="585469">
                  <a:moveTo>
                    <a:pt x="104628" y="37846"/>
                  </a:moveTo>
                  <a:lnTo>
                    <a:pt x="66528" y="37846"/>
                  </a:lnTo>
                  <a:lnTo>
                    <a:pt x="66528" y="108457"/>
                  </a:lnTo>
                  <a:lnTo>
                    <a:pt x="85578" y="75800"/>
                  </a:lnTo>
                  <a:lnTo>
                    <a:pt x="69068" y="47498"/>
                  </a:lnTo>
                  <a:lnTo>
                    <a:pt x="104628" y="47498"/>
                  </a:lnTo>
                  <a:lnTo>
                    <a:pt x="104628" y="37846"/>
                  </a:lnTo>
                  <a:close/>
                </a:path>
                <a:path w="171450" h="585469">
                  <a:moveTo>
                    <a:pt x="104628" y="47498"/>
                  </a:moveTo>
                  <a:lnTo>
                    <a:pt x="102088" y="47498"/>
                  </a:lnTo>
                  <a:lnTo>
                    <a:pt x="85578" y="75800"/>
                  </a:lnTo>
                  <a:lnTo>
                    <a:pt x="104628" y="108457"/>
                  </a:lnTo>
                  <a:lnTo>
                    <a:pt x="104628" y="47498"/>
                  </a:lnTo>
                  <a:close/>
                </a:path>
                <a:path w="171450" h="585469">
                  <a:moveTo>
                    <a:pt x="102088" y="47498"/>
                  </a:moveTo>
                  <a:lnTo>
                    <a:pt x="69068" y="47498"/>
                  </a:lnTo>
                  <a:lnTo>
                    <a:pt x="85578" y="75800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1952244" y="2260854"/>
            <a:ext cx="5345430" cy="3230880"/>
            <a:chOff x="1952244" y="2260854"/>
            <a:chExt cx="5345430" cy="323088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2244" y="3460242"/>
              <a:ext cx="1002030" cy="42214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993392" y="3562877"/>
              <a:ext cx="750570" cy="171450"/>
            </a:xfrm>
            <a:custGeom>
              <a:avLst/>
              <a:gdLst/>
              <a:ahLst/>
              <a:cxnLst/>
              <a:rect l="l" t="t" r="r" b="b"/>
              <a:pathLst>
                <a:path w="750569" h="171450">
                  <a:moveTo>
                    <a:pt x="674388" y="85578"/>
                  </a:moveTo>
                  <a:lnTo>
                    <a:pt x="588390" y="135743"/>
                  </a:lnTo>
                  <a:lnTo>
                    <a:pt x="582711" y="140795"/>
                  </a:lnTo>
                  <a:lnTo>
                    <a:pt x="579532" y="147395"/>
                  </a:lnTo>
                  <a:lnTo>
                    <a:pt x="579068" y="154709"/>
                  </a:lnTo>
                  <a:lnTo>
                    <a:pt x="581532" y="161905"/>
                  </a:lnTo>
                  <a:lnTo>
                    <a:pt x="586511" y="167512"/>
                  </a:lnTo>
                  <a:lnTo>
                    <a:pt x="593074" y="170668"/>
                  </a:lnTo>
                  <a:lnTo>
                    <a:pt x="600374" y="171156"/>
                  </a:lnTo>
                  <a:lnTo>
                    <a:pt x="607568" y="168763"/>
                  </a:lnTo>
                  <a:lnTo>
                    <a:pt x="717429" y="104628"/>
                  </a:lnTo>
                  <a:lnTo>
                    <a:pt x="712215" y="104628"/>
                  </a:lnTo>
                  <a:lnTo>
                    <a:pt x="712215" y="102088"/>
                  </a:lnTo>
                  <a:lnTo>
                    <a:pt x="702690" y="102088"/>
                  </a:lnTo>
                  <a:lnTo>
                    <a:pt x="674388" y="85578"/>
                  </a:lnTo>
                  <a:close/>
                </a:path>
                <a:path w="750569" h="171450">
                  <a:moveTo>
                    <a:pt x="641731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641730" y="104628"/>
                  </a:lnTo>
                  <a:lnTo>
                    <a:pt x="674388" y="85578"/>
                  </a:lnTo>
                  <a:lnTo>
                    <a:pt x="641731" y="66528"/>
                  </a:lnTo>
                  <a:close/>
                </a:path>
                <a:path w="750569" h="171450">
                  <a:moveTo>
                    <a:pt x="717429" y="66528"/>
                  </a:moveTo>
                  <a:lnTo>
                    <a:pt x="712215" y="66528"/>
                  </a:lnTo>
                  <a:lnTo>
                    <a:pt x="712215" y="104628"/>
                  </a:lnTo>
                  <a:lnTo>
                    <a:pt x="717429" y="104628"/>
                  </a:lnTo>
                  <a:lnTo>
                    <a:pt x="750062" y="85578"/>
                  </a:lnTo>
                  <a:lnTo>
                    <a:pt x="717429" y="66528"/>
                  </a:lnTo>
                  <a:close/>
                </a:path>
                <a:path w="750569" h="171450">
                  <a:moveTo>
                    <a:pt x="702690" y="69068"/>
                  </a:moveTo>
                  <a:lnTo>
                    <a:pt x="674388" y="85578"/>
                  </a:lnTo>
                  <a:lnTo>
                    <a:pt x="702690" y="102088"/>
                  </a:lnTo>
                  <a:lnTo>
                    <a:pt x="702690" y="69068"/>
                  </a:lnTo>
                  <a:close/>
                </a:path>
                <a:path w="750569" h="171450">
                  <a:moveTo>
                    <a:pt x="712215" y="69068"/>
                  </a:moveTo>
                  <a:lnTo>
                    <a:pt x="702690" y="69068"/>
                  </a:lnTo>
                  <a:lnTo>
                    <a:pt x="702690" y="102088"/>
                  </a:lnTo>
                  <a:lnTo>
                    <a:pt x="712215" y="102088"/>
                  </a:lnTo>
                  <a:lnTo>
                    <a:pt x="712215" y="69068"/>
                  </a:lnTo>
                  <a:close/>
                </a:path>
                <a:path w="750569" h="171450">
                  <a:moveTo>
                    <a:pt x="600374" y="0"/>
                  </a:moveTo>
                  <a:lnTo>
                    <a:pt x="593074" y="488"/>
                  </a:lnTo>
                  <a:lnTo>
                    <a:pt x="586511" y="3643"/>
                  </a:lnTo>
                  <a:lnTo>
                    <a:pt x="581532" y="9251"/>
                  </a:lnTo>
                  <a:lnTo>
                    <a:pt x="579068" y="16446"/>
                  </a:lnTo>
                  <a:lnTo>
                    <a:pt x="579532" y="23760"/>
                  </a:lnTo>
                  <a:lnTo>
                    <a:pt x="582711" y="30360"/>
                  </a:lnTo>
                  <a:lnTo>
                    <a:pt x="588390" y="35413"/>
                  </a:lnTo>
                  <a:lnTo>
                    <a:pt x="674388" y="85578"/>
                  </a:lnTo>
                  <a:lnTo>
                    <a:pt x="702690" y="69068"/>
                  </a:lnTo>
                  <a:lnTo>
                    <a:pt x="712215" y="69068"/>
                  </a:lnTo>
                  <a:lnTo>
                    <a:pt x="712215" y="66528"/>
                  </a:lnTo>
                  <a:lnTo>
                    <a:pt x="717429" y="66528"/>
                  </a:lnTo>
                  <a:lnTo>
                    <a:pt x="607568" y="2393"/>
                  </a:lnTo>
                  <a:lnTo>
                    <a:pt x="60037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68317" y="3278886"/>
              <a:ext cx="838962" cy="4518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109085" y="3429974"/>
              <a:ext cx="587375" cy="236854"/>
            </a:xfrm>
            <a:custGeom>
              <a:avLst/>
              <a:gdLst/>
              <a:ahLst/>
              <a:cxnLst/>
              <a:rect l="l" t="t" r="r" b="b"/>
              <a:pathLst>
                <a:path w="587375" h="236854">
                  <a:moveTo>
                    <a:pt x="478166" y="51187"/>
                  </a:moveTo>
                  <a:lnTo>
                    <a:pt x="0" y="200447"/>
                  </a:lnTo>
                  <a:lnTo>
                    <a:pt x="11429" y="236769"/>
                  </a:lnTo>
                  <a:lnTo>
                    <a:pt x="489647" y="87570"/>
                  </a:lnTo>
                  <a:lnTo>
                    <a:pt x="515125" y="59663"/>
                  </a:lnTo>
                  <a:lnTo>
                    <a:pt x="478166" y="51187"/>
                  </a:lnTo>
                  <a:close/>
                </a:path>
                <a:path w="587375" h="236854">
                  <a:moveTo>
                    <a:pt x="556962" y="30140"/>
                  </a:moveTo>
                  <a:lnTo>
                    <a:pt x="545591" y="30140"/>
                  </a:lnTo>
                  <a:lnTo>
                    <a:pt x="556894" y="66589"/>
                  </a:lnTo>
                  <a:lnTo>
                    <a:pt x="489647" y="87570"/>
                  </a:lnTo>
                  <a:lnTo>
                    <a:pt x="447928" y="133264"/>
                  </a:lnTo>
                  <a:lnTo>
                    <a:pt x="444019" y="139737"/>
                  </a:lnTo>
                  <a:lnTo>
                    <a:pt x="442944" y="146948"/>
                  </a:lnTo>
                  <a:lnTo>
                    <a:pt x="444678" y="154017"/>
                  </a:lnTo>
                  <a:lnTo>
                    <a:pt x="449199" y="160061"/>
                  </a:lnTo>
                  <a:lnTo>
                    <a:pt x="455672" y="163972"/>
                  </a:lnTo>
                  <a:lnTo>
                    <a:pt x="462883" y="165062"/>
                  </a:lnTo>
                  <a:lnTo>
                    <a:pt x="469951" y="163365"/>
                  </a:lnTo>
                  <a:lnTo>
                    <a:pt x="475995" y="158918"/>
                  </a:lnTo>
                  <a:lnTo>
                    <a:pt x="587375" y="37125"/>
                  </a:lnTo>
                  <a:lnTo>
                    <a:pt x="556962" y="30140"/>
                  </a:lnTo>
                  <a:close/>
                </a:path>
                <a:path w="587375" h="236854">
                  <a:moveTo>
                    <a:pt x="515125" y="59663"/>
                  </a:moveTo>
                  <a:lnTo>
                    <a:pt x="489647" y="87570"/>
                  </a:lnTo>
                  <a:lnTo>
                    <a:pt x="555673" y="66970"/>
                  </a:lnTo>
                  <a:lnTo>
                    <a:pt x="546988" y="66970"/>
                  </a:lnTo>
                  <a:lnTo>
                    <a:pt x="515125" y="59663"/>
                  </a:lnTo>
                  <a:close/>
                </a:path>
                <a:path w="587375" h="236854">
                  <a:moveTo>
                    <a:pt x="537210" y="35474"/>
                  </a:moveTo>
                  <a:lnTo>
                    <a:pt x="515125" y="59663"/>
                  </a:lnTo>
                  <a:lnTo>
                    <a:pt x="546988" y="66970"/>
                  </a:lnTo>
                  <a:lnTo>
                    <a:pt x="537210" y="35474"/>
                  </a:lnTo>
                  <a:close/>
                </a:path>
                <a:path w="587375" h="236854">
                  <a:moveTo>
                    <a:pt x="547246" y="35474"/>
                  </a:moveTo>
                  <a:lnTo>
                    <a:pt x="537210" y="35474"/>
                  </a:lnTo>
                  <a:lnTo>
                    <a:pt x="546988" y="66970"/>
                  </a:lnTo>
                  <a:lnTo>
                    <a:pt x="555673" y="66970"/>
                  </a:lnTo>
                  <a:lnTo>
                    <a:pt x="556894" y="66589"/>
                  </a:lnTo>
                  <a:lnTo>
                    <a:pt x="547246" y="35474"/>
                  </a:lnTo>
                  <a:close/>
                </a:path>
                <a:path w="587375" h="236854">
                  <a:moveTo>
                    <a:pt x="545591" y="30140"/>
                  </a:moveTo>
                  <a:lnTo>
                    <a:pt x="478166" y="51187"/>
                  </a:lnTo>
                  <a:lnTo>
                    <a:pt x="515125" y="59663"/>
                  </a:lnTo>
                  <a:lnTo>
                    <a:pt x="537210" y="35474"/>
                  </a:lnTo>
                  <a:lnTo>
                    <a:pt x="547246" y="35474"/>
                  </a:lnTo>
                  <a:lnTo>
                    <a:pt x="545591" y="30140"/>
                  </a:lnTo>
                  <a:close/>
                </a:path>
                <a:path w="587375" h="236854">
                  <a:moveTo>
                    <a:pt x="418949" y="0"/>
                  </a:moveTo>
                  <a:lnTo>
                    <a:pt x="412146" y="2629"/>
                  </a:lnTo>
                  <a:lnTo>
                    <a:pt x="406820" y="7616"/>
                  </a:lnTo>
                  <a:lnTo>
                    <a:pt x="403732" y="14519"/>
                  </a:lnTo>
                  <a:lnTo>
                    <a:pt x="403508" y="22092"/>
                  </a:lnTo>
                  <a:lnTo>
                    <a:pt x="406130" y="28902"/>
                  </a:lnTo>
                  <a:lnTo>
                    <a:pt x="411108" y="34236"/>
                  </a:lnTo>
                  <a:lnTo>
                    <a:pt x="417956" y="37379"/>
                  </a:lnTo>
                  <a:lnTo>
                    <a:pt x="478166" y="51187"/>
                  </a:lnTo>
                  <a:lnTo>
                    <a:pt x="545591" y="30140"/>
                  </a:lnTo>
                  <a:lnTo>
                    <a:pt x="556962" y="30140"/>
                  </a:lnTo>
                  <a:lnTo>
                    <a:pt x="426465" y="168"/>
                  </a:lnTo>
                  <a:lnTo>
                    <a:pt x="418949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57650" y="3934205"/>
              <a:ext cx="939546" cy="137617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098544" y="3952621"/>
              <a:ext cx="688340" cy="1123950"/>
            </a:xfrm>
            <a:custGeom>
              <a:avLst/>
              <a:gdLst/>
              <a:ahLst/>
              <a:cxnLst/>
              <a:rect l="l" t="t" r="r" b="b"/>
              <a:pathLst>
                <a:path w="688339" h="1123950">
                  <a:moveTo>
                    <a:pt x="554349" y="1008989"/>
                  </a:moveTo>
                  <a:lnTo>
                    <a:pt x="547068" y="1009697"/>
                  </a:lnTo>
                  <a:lnTo>
                    <a:pt x="540573" y="1013049"/>
                  </a:lnTo>
                  <a:lnTo>
                    <a:pt x="535685" y="1018793"/>
                  </a:lnTo>
                  <a:lnTo>
                    <a:pt x="533429" y="1026038"/>
                  </a:lnTo>
                  <a:lnTo>
                    <a:pt x="534114" y="1033319"/>
                  </a:lnTo>
                  <a:lnTo>
                    <a:pt x="537489" y="1039814"/>
                  </a:lnTo>
                  <a:lnTo>
                    <a:pt x="543305" y="1044701"/>
                  </a:lnTo>
                  <a:lnTo>
                    <a:pt x="688085" y="1123822"/>
                  </a:lnTo>
                  <a:lnTo>
                    <a:pt x="687755" y="1101216"/>
                  </a:lnTo>
                  <a:lnTo>
                    <a:pt x="652271" y="1101216"/>
                  </a:lnTo>
                  <a:lnTo>
                    <a:pt x="615882" y="1040872"/>
                  </a:lnTo>
                  <a:lnTo>
                    <a:pt x="561593" y="1011173"/>
                  </a:lnTo>
                  <a:lnTo>
                    <a:pt x="554349" y="1008989"/>
                  </a:lnTo>
                  <a:close/>
                </a:path>
                <a:path w="688339" h="1123950">
                  <a:moveTo>
                    <a:pt x="615882" y="1040872"/>
                  </a:moveTo>
                  <a:lnTo>
                    <a:pt x="652271" y="1101216"/>
                  </a:lnTo>
                  <a:lnTo>
                    <a:pt x="668065" y="1091691"/>
                  </a:lnTo>
                  <a:lnTo>
                    <a:pt x="649477" y="1091691"/>
                  </a:lnTo>
                  <a:lnTo>
                    <a:pt x="649007" y="1058993"/>
                  </a:lnTo>
                  <a:lnTo>
                    <a:pt x="615882" y="1040872"/>
                  </a:lnTo>
                  <a:close/>
                </a:path>
                <a:path w="688339" h="1123950">
                  <a:moveTo>
                    <a:pt x="666368" y="940053"/>
                  </a:moveTo>
                  <a:lnTo>
                    <a:pt x="658967" y="941641"/>
                  </a:lnTo>
                  <a:lnTo>
                    <a:pt x="652970" y="945800"/>
                  </a:lnTo>
                  <a:lnTo>
                    <a:pt x="648973" y="951912"/>
                  </a:lnTo>
                  <a:lnTo>
                    <a:pt x="647572" y="959357"/>
                  </a:lnTo>
                  <a:lnTo>
                    <a:pt x="648461" y="1021107"/>
                  </a:lnTo>
                  <a:lnTo>
                    <a:pt x="684910" y="1081531"/>
                  </a:lnTo>
                  <a:lnTo>
                    <a:pt x="652271" y="1101216"/>
                  </a:lnTo>
                  <a:lnTo>
                    <a:pt x="687755" y="1101216"/>
                  </a:lnTo>
                  <a:lnTo>
                    <a:pt x="685672" y="958849"/>
                  </a:lnTo>
                  <a:lnTo>
                    <a:pt x="684085" y="951448"/>
                  </a:lnTo>
                  <a:lnTo>
                    <a:pt x="679926" y="945451"/>
                  </a:lnTo>
                  <a:lnTo>
                    <a:pt x="673814" y="941454"/>
                  </a:lnTo>
                  <a:lnTo>
                    <a:pt x="666368" y="940053"/>
                  </a:lnTo>
                  <a:close/>
                </a:path>
                <a:path w="688339" h="1123950">
                  <a:moveTo>
                    <a:pt x="649007" y="1058993"/>
                  </a:moveTo>
                  <a:lnTo>
                    <a:pt x="649477" y="1091691"/>
                  </a:lnTo>
                  <a:lnTo>
                    <a:pt x="677671" y="1074673"/>
                  </a:lnTo>
                  <a:lnTo>
                    <a:pt x="649007" y="1058993"/>
                  </a:lnTo>
                  <a:close/>
                </a:path>
                <a:path w="688339" h="1123950">
                  <a:moveTo>
                    <a:pt x="648461" y="1021107"/>
                  </a:moveTo>
                  <a:lnTo>
                    <a:pt x="649007" y="1058993"/>
                  </a:lnTo>
                  <a:lnTo>
                    <a:pt x="677671" y="1074673"/>
                  </a:lnTo>
                  <a:lnTo>
                    <a:pt x="649477" y="1091691"/>
                  </a:lnTo>
                  <a:lnTo>
                    <a:pt x="668065" y="1091691"/>
                  </a:lnTo>
                  <a:lnTo>
                    <a:pt x="684910" y="1081531"/>
                  </a:lnTo>
                  <a:lnTo>
                    <a:pt x="648461" y="1021107"/>
                  </a:lnTo>
                  <a:close/>
                </a:path>
                <a:path w="688339" h="1123950">
                  <a:moveTo>
                    <a:pt x="32511" y="0"/>
                  </a:moveTo>
                  <a:lnTo>
                    <a:pt x="0" y="19557"/>
                  </a:lnTo>
                  <a:lnTo>
                    <a:pt x="615882" y="1040872"/>
                  </a:lnTo>
                  <a:lnTo>
                    <a:pt x="649007" y="1058993"/>
                  </a:lnTo>
                  <a:lnTo>
                    <a:pt x="648461" y="1021107"/>
                  </a:lnTo>
                  <a:lnTo>
                    <a:pt x="32511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5526" y="4245102"/>
              <a:ext cx="422148" cy="124663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191021" y="4263389"/>
              <a:ext cx="171450" cy="995044"/>
            </a:xfrm>
            <a:custGeom>
              <a:avLst/>
              <a:gdLst/>
              <a:ahLst/>
              <a:cxnLst/>
              <a:rect l="l" t="t" r="r" b="b"/>
              <a:pathLst>
                <a:path w="171450" h="995045">
                  <a:moveTo>
                    <a:pt x="16446" y="823670"/>
                  </a:moveTo>
                  <a:lnTo>
                    <a:pt x="9251" y="826135"/>
                  </a:lnTo>
                  <a:lnTo>
                    <a:pt x="3643" y="831185"/>
                  </a:lnTo>
                  <a:lnTo>
                    <a:pt x="488" y="837771"/>
                  </a:lnTo>
                  <a:lnTo>
                    <a:pt x="0" y="845048"/>
                  </a:lnTo>
                  <a:lnTo>
                    <a:pt x="2393" y="852170"/>
                  </a:lnTo>
                  <a:lnTo>
                    <a:pt x="85578" y="994664"/>
                  </a:lnTo>
                  <a:lnTo>
                    <a:pt x="107597" y="956945"/>
                  </a:lnTo>
                  <a:lnTo>
                    <a:pt x="66528" y="956945"/>
                  </a:lnTo>
                  <a:lnTo>
                    <a:pt x="66528" y="886332"/>
                  </a:lnTo>
                  <a:lnTo>
                    <a:pt x="35413" y="832993"/>
                  </a:lnTo>
                  <a:lnTo>
                    <a:pt x="30360" y="827313"/>
                  </a:lnTo>
                  <a:lnTo>
                    <a:pt x="23760" y="824134"/>
                  </a:lnTo>
                  <a:lnTo>
                    <a:pt x="16446" y="823670"/>
                  </a:lnTo>
                  <a:close/>
                </a:path>
                <a:path w="171450" h="995045">
                  <a:moveTo>
                    <a:pt x="66528" y="886332"/>
                  </a:moveTo>
                  <a:lnTo>
                    <a:pt x="66528" y="956945"/>
                  </a:lnTo>
                  <a:lnTo>
                    <a:pt x="104628" y="956945"/>
                  </a:lnTo>
                  <a:lnTo>
                    <a:pt x="104628" y="947293"/>
                  </a:lnTo>
                  <a:lnTo>
                    <a:pt x="69068" y="947293"/>
                  </a:lnTo>
                  <a:lnTo>
                    <a:pt x="85578" y="918990"/>
                  </a:lnTo>
                  <a:lnTo>
                    <a:pt x="66528" y="886332"/>
                  </a:lnTo>
                  <a:close/>
                </a:path>
                <a:path w="171450" h="995045">
                  <a:moveTo>
                    <a:pt x="154709" y="823670"/>
                  </a:moveTo>
                  <a:lnTo>
                    <a:pt x="147395" y="824134"/>
                  </a:lnTo>
                  <a:lnTo>
                    <a:pt x="140795" y="827313"/>
                  </a:lnTo>
                  <a:lnTo>
                    <a:pt x="135743" y="832993"/>
                  </a:lnTo>
                  <a:lnTo>
                    <a:pt x="104628" y="886332"/>
                  </a:lnTo>
                  <a:lnTo>
                    <a:pt x="104628" y="956945"/>
                  </a:lnTo>
                  <a:lnTo>
                    <a:pt x="107597" y="956945"/>
                  </a:lnTo>
                  <a:lnTo>
                    <a:pt x="168763" y="852170"/>
                  </a:lnTo>
                  <a:lnTo>
                    <a:pt x="171156" y="845048"/>
                  </a:lnTo>
                  <a:lnTo>
                    <a:pt x="170668" y="837771"/>
                  </a:lnTo>
                  <a:lnTo>
                    <a:pt x="167513" y="831185"/>
                  </a:lnTo>
                  <a:lnTo>
                    <a:pt x="161905" y="826135"/>
                  </a:lnTo>
                  <a:lnTo>
                    <a:pt x="154709" y="823670"/>
                  </a:lnTo>
                  <a:close/>
                </a:path>
                <a:path w="171450" h="995045">
                  <a:moveTo>
                    <a:pt x="85578" y="918990"/>
                  </a:moveTo>
                  <a:lnTo>
                    <a:pt x="69068" y="947293"/>
                  </a:lnTo>
                  <a:lnTo>
                    <a:pt x="102088" y="947293"/>
                  </a:lnTo>
                  <a:lnTo>
                    <a:pt x="85578" y="918990"/>
                  </a:lnTo>
                  <a:close/>
                </a:path>
                <a:path w="171450" h="995045">
                  <a:moveTo>
                    <a:pt x="104628" y="886332"/>
                  </a:moveTo>
                  <a:lnTo>
                    <a:pt x="85578" y="918990"/>
                  </a:lnTo>
                  <a:lnTo>
                    <a:pt x="102088" y="947293"/>
                  </a:lnTo>
                  <a:lnTo>
                    <a:pt x="104628" y="947293"/>
                  </a:lnTo>
                  <a:lnTo>
                    <a:pt x="104628" y="886332"/>
                  </a:lnTo>
                  <a:close/>
                </a:path>
                <a:path w="171450" h="995045">
                  <a:moveTo>
                    <a:pt x="104628" y="0"/>
                  </a:moveTo>
                  <a:lnTo>
                    <a:pt x="66528" y="0"/>
                  </a:lnTo>
                  <a:lnTo>
                    <a:pt x="66528" y="886332"/>
                  </a:lnTo>
                  <a:lnTo>
                    <a:pt x="85578" y="918990"/>
                  </a:lnTo>
                  <a:lnTo>
                    <a:pt x="104628" y="886332"/>
                  </a:lnTo>
                  <a:lnTo>
                    <a:pt x="10462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7926" y="2260854"/>
              <a:ext cx="422148" cy="83743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343421" y="2448941"/>
              <a:ext cx="171450" cy="585470"/>
            </a:xfrm>
            <a:custGeom>
              <a:avLst/>
              <a:gdLst/>
              <a:ahLst/>
              <a:cxnLst/>
              <a:rect l="l" t="t" r="r" b="b"/>
              <a:pathLst>
                <a:path w="171450" h="585469">
                  <a:moveTo>
                    <a:pt x="85578" y="75800"/>
                  </a:moveTo>
                  <a:lnTo>
                    <a:pt x="66528" y="108458"/>
                  </a:lnTo>
                  <a:lnTo>
                    <a:pt x="66528" y="584962"/>
                  </a:lnTo>
                  <a:lnTo>
                    <a:pt x="104628" y="584962"/>
                  </a:lnTo>
                  <a:lnTo>
                    <a:pt x="104628" y="108458"/>
                  </a:lnTo>
                  <a:lnTo>
                    <a:pt x="85578" y="75800"/>
                  </a:lnTo>
                  <a:close/>
                </a:path>
                <a:path w="171450" h="585469">
                  <a:moveTo>
                    <a:pt x="85578" y="0"/>
                  </a:moveTo>
                  <a:lnTo>
                    <a:pt x="2393" y="142494"/>
                  </a:lnTo>
                  <a:lnTo>
                    <a:pt x="0" y="149689"/>
                  </a:lnTo>
                  <a:lnTo>
                    <a:pt x="488" y="157003"/>
                  </a:lnTo>
                  <a:lnTo>
                    <a:pt x="3643" y="163603"/>
                  </a:lnTo>
                  <a:lnTo>
                    <a:pt x="9251" y="168656"/>
                  </a:lnTo>
                  <a:lnTo>
                    <a:pt x="16446" y="171049"/>
                  </a:lnTo>
                  <a:lnTo>
                    <a:pt x="23760" y="170561"/>
                  </a:lnTo>
                  <a:lnTo>
                    <a:pt x="30360" y="167405"/>
                  </a:lnTo>
                  <a:lnTo>
                    <a:pt x="35413" y="161798"/>
                  </a:lnTo>
                  <a:lnTo>
                    <a:pt x="66528" y="108458"/>
                  </a:lnTo>
                  <a:lnTo>
                    <a:pt x="66528" y="37846"/>
                  </a:lnTo>
                  <a:lnTo>
                    <a:pt x="107671" y="37846"/>
                  </a:lnTo>
                  <a:lnTo>
                    <a:pt x="85578" y="0"/>
                  </a:lnTo>
                  <a:close/>
                </a:path>
                <a:path w="171450" h="585469">
                  <a:moveTo>
                    <a:pt x="107671" y="37846"/>
                  </a:moveTo>
                  <a:lnTo>
                    <a:pt x="104628" y="37846"/>
                  </a:lnTo>
                  <a:lnTo>
                    <a:pt x="104628" y="108458"/>
                  </a:lnTo>
                  <a:lnTo>
                    <a:pt x="135743" y="161798"/>
                  </a:lnTo>
                  <a:lnTo>
                    <a:pt x="140795" y="167405"/>
                  </a:lnTo>
                  <a:lnTo>
                    <a:pt x="147395" y="170561"/>
                  </a:lnTo>
                  <a:lnTo>
                    <a:pt x="154709" y="171049"/>
                  </a:lnTo>
                  <a:lnTo>
                    <a:pt x="161905" y="168656"/>
                  </a:lnTo>
                  <a:lnTo>
                    <a:pt x="167512" y="163603"/>
                  </a:lnTo>
                  <a:lnTo>
                    <a:pt x="170668" y="157003"/>
                  </a:lnTo>
                  <a:lnTo>
                    <a:pt x="171156" y="149689"/>
                  </a:lnTo>
                  <a:lnTo>
                    <a:pt x="168763" y="142494"/>
                  </a:lnTo>
                  <a:lnTo>
                    <a:pt x="107671" y="37846"/>
                  </a:lnTo>
                  <a:close/>
                </a:path>
                <a:path w="171450" h="585469">
                  <a:moveTo>
                    <a:pt x="104628" y="37846"/>
                  </a:moveTo>
                  <a:lnTo>
                    <a:pt x="66528" y="37846"/>
                  </a:lnTo>
                  <a:lnTo>
                    <a:pt x="66528" y="108458"/>
                  </a:lnTo>
                  <a:lnTo>
                    <a:pt x="85578" y="75800"/>
                  </a:lnTo>
                  <a:lnTo>
                    <a:pt x="69068" y="47498"/>
                  </a:lnTo>
                  <a:lnTo>
                    <a:pt x="104628" y="47498"/>
                  </a:lnTo>
                  <a:lnTo>
                    <a:pt x="104628" y="37846"/>
                  </a:lnTo>
                  <a:close/>
                </a:path>
                <a:path w="171450" h="585469">
                  <a:moveTo>
                    <a:pt x="104628" y="47498"/>
                  </a:moveTo>
                  <a:lnTo>
                    <a:pt x="102088" y="47498"/>
                  </a:lnTo>
                  <a:lnTo>
                    <a:pt x="85578" y="75800"/>
                  </a:lnTo>
                  <a:lnTo>
                    <a:pt x="104628" y="108458"/>
                  </a:lnTo>
                  <a:lnTo>
                    <a:pt x="104628" y="47498"/>
                  </a:lnTo>
                  <a:close/>
                </a:path>
                <a:path w="171450" h="585469">
                  <a:moveTo>
                    <a:pt x="102088" y="47498"/>
                  </a:moveTo>
                  <a:lnTo>
                    <a:pt x="69068" y="47498"/>
                  </a:lnTo>
                  <a:lnTo>
                    <a:pt x="85578" y="75800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26658" y="3460242"/>
              <a:ext cx="1271015" cy="42214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067805" y="3562877"/>
              <a:ext cx="1019175" cy="171450"/>
            </a:xfrm>
            <a:custGeom>
              <a:avLst/>
              <a:gdLst/>
              <a:ahLst/>
              <a:cxnLst/>
              <a:rect l="l" t="t" r="r" b="b"/>
              <a:pathLst>
                <a:path w="1019175" h="171450">
                  <a:moveTo>
                    <a:pt x="942993" y="85578"/>
                  </a:moveTo>
                  <a:lnTo>
                    <a:pt x="856996" y="135743"/>
                  </a:lnTo>
                  <a:lnTo>
                    <a:pt x="851388" y="140795"/>
                  </a:lnTo>
                  <a:lnTo>
                    <a:pt x="848232" y="147395"/>
                  </a:lnTo>
                  <a:lnTo>
                    <a:pt x="847744" y="154709"/>
                  </a:lnTo>
                  <a:lnTo>
                    <a:pt x="850138" y="161905"/>
                  </a:lnTo>
                  <a:lnTo>
                    <a:pt x="855190" y="167512"/>
                  </a:lnTo>
                  <a:lnTo>
                    <a:pt x="861790" y="170668"/>
                  </a:lnTo>
                  <a:lnTo>
                    <a:pt x="869104" y="171156"/>
                  </a:lnTo>
                  <a:lnTo>
                    <a:pt x="876300" y="168763"/>
                  </a:lnTo>
                  <a:lnTo>
                    <a:pt x="986161" y="104628"/>
                  </a:lnTo>
                  <a:lnTo>
                    <a:pt x="980948" y="104628"/>
                  </a:lnTo>
                  <a:lnTo>
                    <a:pt x="980948" y="102088"/>
                  </a:lnTo>
                  <a:lnTo>
                    <a:pt x="971296" y="102088"/>
                  </a:lnTo>
                  <a:lnTo>
                    <a:pt x="942993" y="85578"/>
                  </a:lnTo>
                  <a:close/>
                </a:path>
                <a:path w="1019175" h="171450">
                  <a:moveTo>
                    <a:pt x="910336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910335" y="104628"/>
                  </a:lnTo>
                  <a:lnTo>
                    <a:pt x="942993" y="85578"/>
                  </a:lnTo>
                  <a:lnTo>
                    <a:pt x="910336" y="66528"/>
                  </a:lnTo>
                  <a:close/>
                </a:path>
                <a:path w="1019175" h="171450">
                  <a:moveTo>
                    <a:pt x="986161" y="66528"/>
                  </a:moveTo>
                  <a:lnTo>
                    <a:pt x="980948" y="66528"/>
                  </a:lnTo>
                  <a:lnTo>
                    <a:pt x="980948" y="104628"/>
                  </a:lnTo>
                  <a:lnTo>
                    <a:pt x="986161" y="104628"/>
                  </a:lnTo>
                  <a:lnTo>
                    <a:pt x="1018794" y="85578"/>
                  </a:lnTo>
                  <a:lnTo>
                    <a:pt x="986161" y="66528"/>
                  </a:lnTo>
                  <a:close/>
                </a:path>
                <a:path w="1019175" h="171450">
                  <a:moveTo>
                    <a:pt x="971296" y="69068"/>
                  </a:moveTo>
                  <a:lnTo>
                    <a:pt x="942993" y="85578"/>
                  </a:lnTo>
                  <a:lnTo>
                    <a:pt x="971296" y="102088"/>
                  </a:lnTo>
                  <a:lnTo>
                    <a:pt x="971296" y="69068"/>
                  </a:lnTo>
                  <a:close/>
                </a:path>
                <a:path w="1019175" h="171450">
                  <a:moveTo>
                    <a:pt x="980948" y="69068"/>
                  </a:moveTo>
                  <a:lnTo>
                    <a:pt x="971296" y="69068"/>
                  </a:lnTo>
                  <a:lnTo>
                    <a:pt x="971296" y="102088"/>
                  </a:lnTo>
                  <a:lnTo>
                    <a:pt x="980948" y="102088"/>
                  </a:lnTo>
                  <a:lnTo>
                    <a:pt x="980948" y="69068"/>
                  </a:lnTo>
                  <a:close/>
                </a:path>
                <a:path w="1019175" h="171450">
                  <a:moveTo>
                    <a:pt x="869104" y="0"/>
                  </a:moveTo>
                  <a:lnTo>
                    <a:pt x="861790" y="488"/>
                  </a:lnTo>
                  <a:lnTo>
                    <a:pt x="855190" y="3643"/>
                  </a:lnTo>
                  <a:lnTo>
                    <a:pt x="850138" y="9251"/>
                  </a:lnTo>
                  <a:lnTo>
                    <a:pt x="847744" y="16446"/>
                  </a:lnTo>
                  <a:lnTo>
                    <a:pt x="848232" y="23760"/>
                  </a:lnTo>
                  <a:lnTo>
                    <a:pt x="851388" y="30360"/>
                  </a:lnTo>
                  <a:lnTo>
                    <a:pt x="856996" y="35413"/>
                  </a:lnTo>
                  <a:lnTo>
                    <a:pt x="942993" y="85578"/>
                  </a:lnTo>
                  <a:lnTo>
                    <a:pt x="971296" y="69068"/>
                  </a:lnTo>
                  <a:lnTo>
                    <a:pt x="980948" y="69068"/>
                  </a:lnTo>
                  <a:lnTo>
                    <a:pt x="980948" y="66528"/>
                  </a:lnTo>
                  <a:lnTo>
                    <a:pt x="986161" y="66528"/>
                  </a:lnTo>
                  <a:lnTo>
                    <a:pt x="876300" y="2393"/>
                  </a:lnTo>
                  <a:lnTo>
                    <a:pt x="86910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4126" y="4075176"/>
              <a:ext cx="422148" cy="124663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419621" y="4263263"/>
              <a:ext cx="171450" cy="995044"/>
            </a:xfrm>
            <a:custGeom>
              <a:avLst/>
              <a:gdLst/>
              <a:ahLst/>
              <a:cxnLst/>
              <a:rect l="l" t="t" r="r" b="b"/>
              <a:pathLst>
                <a:path w="171450" h="995045">
                  <a:moveTo>
                    <a:pt x="85578" y="75800"/>
                  </a:moveTo>
                  <a:lnTo>
                    <a:pt x="66528" y="108458"/>
                  </a:lnTo>
                  <a:lnTo>
                    <a:pt x="66528" y="994791"/>
                  </a:lnTo>
                  <a:lnTo>
                    <a:pt x="104628" y="994791"/>
                  </a:lnTo>
                  <a:lnTo>
                    <a:pt x="104628" y="108458"/>
                  </a:lnTo>
                  <a:lnTo>
                    <a:pt x="85578" y="75800"/>
                  </a:lnTo>
                  <a:close/>
                </a:path>
                <a:path w="171450" h="995045">
                  <a:moveTo>
                    <a:pt x="85578" y="0"/>
                  </a:moveTo>
                  <a:lnTo>
                    <a:pt x="2393" y="142494"/>
                  </a:lnTo>
                  <a:lnTo>
                    <a:pt x="0" y="149689"/>
                  </a:lnTo>
                  <a:lnTo>
                    <a:pt x="488" y="157003"/>
                  </a:lnTo>
                  <a:lnTo>
                    <a:pt x="3643" y="163603"/>
                  </a:lnTo>
                  <a:lnTo>
                    <a:pt x="9251" y="168656"/>
                  </a:lnTo>
                  <a:lnTo>
                    <a:pt x="16446" y="171049"/>
                  </a:lnTo>
                  <a:lnTo>
                    <a:pt x="23760" y="170561"/>
                  </a:lnTo>
                  <a:lnTo>
                    <a:pt x="30360" y="167405"/>
                  </a:lnTo>
                  <a:lnTo>
                    <a:pt x="35413" y="161798"/>
                  </a:lnTo>
                  <a:lnTo>
                    <a:pt x="66528" y="108458"/>
                  </a:lnTo>
                  <a:lnTo>
                    <a:pt x="66528" y="37845"/>
                  </a:lnTo>
                  <a:lnTo>
                    <a:pt x="107671" y="37845"/>
                  </a:lnTo>
                  <a:lnTo>
                    <a:pt x="85578" y="0"/>
                  </a:lnTo>
                  <a:close/>
                </a:path>
                <a:path w="171450" h="995045">
                  <a:moveTo>
                    <a:pt x="107671" y="37845"/>
                  </a:moveTo>
                  <a:lnTo>
                    <a:pt x="104628" y="37845"/>
                  </a:lnTo>
                  <a:lnTo>
                    <a:pt x="104628" y="108458"/>
                  </a:lnTo>
                  <a:lnTo>
                    <a:pt x="135743" y="161798"/>
                  </a:lnTo>
                  <a:lnTo>
                    <a:pt x="140795" y="167405"/>
                  </a:lnTo>
                  <a:lnTo>
                    <a:pt x="147395" y="170561"/>
                  </a:lnTo>
                  <a:lnTo>
                    <a:pt x="154709" y="171049"/>
                  </a:lnTo>
                  <a:lnTo>
                    <a:pt x="161905" y="168656"/>
                  </a:lnTo>
                  <a:lnTo>
                    <a:pt x="167512" y="163603"/>
                  </a:lnTo>
                  <a:lnTo>
                    <a:pt x="170668" y="157003"/>
                  </a:lnTo>
                  <a:lnTo>
                    <a:pt x="171156" y="149689"/>
                  </a:lnTo>
                  <a:lnTo>
                    <a:pt x="168763" y="142494"/>
                  </a:lnTo>
                  <a:lnTo>
                    <a:pt x="107671" y="37845"/>
                  </a:lnTo>
                  <a:close/>
                </a:path>
                <a:path w="171450" h="995045">
                  <a:moveTo>
                    <a:pt x="104628" y="37845"/>
                  </a:moveTo>
                  <a:lnTo>
                    <a:pt x="66528" y="37845"/>
                  </a:lnTo>
                  <a:lnTo>
                    <a:pt x="66528" y="108458"/>
                  </a:lnTo>
                  <a:lnTo>
                    <a:pt x="85578" y="75800"/>
                  </a:lnTo>
                  <a:lnTo>
                    <a:pt x="69068" y="47498"/>
                  </a:lnTo>
                  <a:lnTo>
                    <a:pt x="104628" y="47498"/>
                  </a:lnTo>
                  <a:lnTo>
                    <a:pt x="104628" y="37845"/>
                  </a:lnTo>
                  <a:close/>
                </a:path>
                <a:path w="171450" h="995045">
                  <a:moveTo>
                    <a:pt x="104628" y="47498"/>
                  </a:moveTo>
                  <a:lnTo>
                    <a:pt x="102088" y="47498"/>
                  </a:lnTo>
                  <a:lnTo>
                    <a:pt x="85578" y="75800"/>
                  </a:lnTo>
                  <a:lnTo>
                    <a:pt x="104628" y="108458"/>
                  </a:lnTo>
                  <a:lnTo>
                    <a:pt x="104628" y="47498"/>
                  </a:lnTo>
                  <a:close/>
                </a:path>
                <a:path w="171450" h="995045">
                  <a:moveTo>
                    <a:pt x="102088" y="47498"/>
                  </a:moveTo>
                  <a:lnTo>
                    <a:pt x="69068" y="47498"/>
                  </a:lnTo>
                  <a:lnTo>
                    <a:pt x="85578" y="75800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49" name="Date Placeholder 4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59607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</a:t>
            </a:r>
            <a:r>
              <a:rPr sz="4400" dirty="0"/>
              <a:t> </a:t>
            </a:r>
            <a:r>
              <a:rPr sz="4400" spc="-5" dirty="0"/>
              <a:t>chế </a:t>
            </a:r>
            <a:r>
              <a:rPr sz="4400" spc="-5" dirty="0">
                <a:latin typeface="Times New Roman"/>
                <a:cs typeface="Times New Roman"/>
              </a:rPr>
              <a:t>độ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spc="-25" dirty="0"/>
              <a:t>xử</a:t>
            </a:r>
            <a:r>
              <a:rPr sz="4400" spc="-15" dirty="0"/>
              <a:t> </a:t>
            </a:r>
            <a:r>
              <a:rPr sz="4400" spc="-5" dirty="0"/>
              <a:t>lý</a:t>
            </a:r>
            <a:r>
              <a:rPr sz="4400" spc="5" dirty="0"/>
              <a:t> </a:t>
            </a:r>
            <a:r>
              <a:rPr sz="4400" spc="-5" dirty="0"/>
              <a:t>giao</a:t>
            </a:r>
            <a:r>
              <a:rPr sz="4400" spc="-15" dirty="0"/>
              <a:t> </a:t>
            </a:r>
            <a:r>
              <a:rPr sz="4400" spc="-5" dirty="0"/>
              <a:t>dịch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920990" cy="353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46735" indent="-3429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6F2F9F"/>
                </a:solidFill>
                <a:latin typeface="Arial"/>
                <a:cs typeface="Arial"/>
              </a:rPr>
              <a:t>•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Xử lý theo lô (Batch Processing): </a:t>
            </a:r>
            <a:r>
              <a:rPr sz="3200" spc="-10" dirty="0">
                <a:latin typeface="Arial"/>
                <a:cs typeface="Arial"/>
              </a:rPr>
              <a:t>dữ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liệu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được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tập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hợp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lại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và xử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lý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định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kỳ</a:t>
            </a:r>
            <a:endParaRPr sz="3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solidFill>
                  <a:srgbClr val="6F2F9F"/>
                </a:solidFill>
                <a:latin typeface="Arial"/>
                <a:cs typeface="Arial"/>
              </a:rPr>
              <a:t>• 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Xử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lý</a:t>
            </a:r>
            <a:r>
              <a:rPr sz="3200" b="1" i="1" spc="8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theo thời gian thực (real time) 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hay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xử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lý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trực</a:t>
            </a:r>
            <a:r>
              <a:rPr sz="3200" b="1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tuyến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(Online 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10" dirty="0">
                <a:solidFill>
                  <a:srgbClr val="6F2F9F"/>
                </a:solidFill>
                <a:latin typeface="Arial"/>
                <a:cs typeface="Arial"/>
              </a:rPr>
              <a:t>Transaction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 Processing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5" dirty="0">
                <a:solidFill>
                  <a:srgbClr val="6F2F9F"/>
                </a:solidFill>
                <a:latin typeface="Arial"/>
                <a:cs typeface="Arial"/>
              </a:rPr>
              <a:t>–</a:t>
            </a:r>
            <a:r>
              <a:rPr sz="32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b="1" i="1" spc="-45" dirty="0">
                <a:solidFill>
                  <a:srgbClr val="6F2F9F"/>
                </a:solidFill>
                <a:latin typeface="Arial"/>
                <a:cs typeface="Arial"/>
              </a:rPr>
              <a:t>OLTP):</a:t>
            </a:r>
            <a:r>
              <a:rPr sz="3200" b="1" i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200" spc="-15" dirty="0">
                <a:latin typeface="Arial"/>
                <a:cs typeface="Arial"/>
              </a:rPr>
              <a:t>dữ 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liệu được xử lý </a:t>
            </a:r>
            <a:r>
              <a:rPr sz="3200" spc="-10" dirty="0">
                <a:latin typeface="Arial"/>
                <a:cs typeface="Arial"/>
              </a:rPr>
              <a:t>ngay </a:t>
            </a:r>
            <a:r>
              <a:rPr sz="3200" spc="-5" dirty="0">
                <a:latin typeface="Arial"/>
                <a:cs typeface="Arial"/>
              </a:rPr>
              <a:t>tại thời điểm xảy </a:t>
            </a:r>
            <a:r>
              <a:rPr sz="3200" spc="-10" dirty="0">
                <a:latin typeface="Arial"/>
                <a:cs typeface="Arial"/>
              </a:rPr>
              <a:t>ra </a:t>
            </a:r>
            <a:r>
              <a:rPr sz="3200" spc="-5" dirty="0">
                <a:latin typeface="Arial"/>
                <a:cs typeface="Arial"/>
              </a:rPr>
              <a:t> giao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dịch.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90981"/>
            <a:ext cx="78930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Mục</a:t>
            </a:r>
            <a:r>
              <a:rPr spc="-10" dirty="0"/>
              <a:t> </a:t>
            </a:r>
            <a:r>
              <a:rPr dirty="0"/>
              <a:t>tiêu</a:t>
            </a:r>
            <a:r>
              <a:rPr spc="-5" dirty="0"/>
              <a:t> của</a:t>
            </a:r>
            <a:r>
              <a:rPr spc="-15" dirty="0"/>
              <a:t> </a:t>
            </a:r>
            <a:r>
              <a:rPr spc="-10" dirty="0"/>
              <a:t>các</a:t>
            </a:r>
            <a:r>
              <a:rPr spc="-5" dirty="0"/>
              <a:t> </a:t>
            </a:r>
            <a:r>
              <a:rPr spc="20" dirty="0"/>
              <a:t>HTTT</a:t>
            </a:r>
            <a:r>
              <a:rPr spc="-35" dirty="0"/>
              <a:t> </a:t>
            </a:r>
            <a:r>
              <a:rPr spc="-25" dirty="0"/>
              <a:t>xử</a:t>
            </a:r>
            <a:r>
              <a:rPr spc="-10" dirty="0"/>
              <a:t> </a:t>
            </a:r>
            <a:r>
              <a:rPr dirty="0"/>
              <a:t>lý</a:t>
            </a:r>
            <a:r>
              <a:rPr spc="-5" dirty="0"/>
              <a:t> giao</a:t>
            </a:r>
            <a:r>
              <a:rPr spc="-15" dirty="0"/>
              <a:t> </a:t>
            </a:r>
            <a:r>
              <a:rPr dirty="0"/>
              <a:t>dịch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38223"/>
            <a:ext cx="7920990" cy="38938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6350" indent="-342900" algn="just">
              <a:lnSpc>
                <a:spcPct val="80000"/>
              </a:lnSpc>
              <a:spcBef>
                <a:spcPts val="745"/>
              </a:spcBef>
            </a:pPr>
            <a:r>
              <a:rPr sz="27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7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Xử lý các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dữ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liệu liên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quan đến giao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dịch</a:t>
            </a:r>
            <a:r>
              <a:rPr sz="2700" spc="-5" dirty="0">
                <a:latin typeface="Arial"/>
                <a:cs typeface="Arial"/>
              </a:rPr>
              <a:t>: thu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thập, </a:t>
            </a:r>
            <a:r>
              <a:rPr sz="2700" dirty="0">
                <a:latin typeface="Arial"/>
                <a:cs typeface="Arial"/>
              </a:rPr>
              <a:t>xử lý, lưu trữ và tạo ra các </a:t>
            </a:r>
            <a:r>
              <a:rPr sz="2700" spc="-5" dirty="0">
                <a:latin typeface="Arial"/>
                <a:cs typeface="Arial"/>
              </a:rPr>
              <a:t>tài liệu liên </a:t>
            </a:r>
            <a:r>
              <a:rPr sz="2700" spc="-10" dirty="0">
                <a:latin typeface="Arial"/>
                <a:cs typeface="Arial"/>
              </a:rPr>
              <a:t>quan </a:t>
            </a:r>
            <a:r>
              <a:rPr sz="2700" spc="-5" dirty="0">
                <a:latin typeface="Arial"/>
                <a:cs typeface="Arial"/>
              </a:rPr>
              <a:t> đến hoạt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động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kinh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doanh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lặp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lại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có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chu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kỳ.</a:t>
            </a:r>
            <a:endParaRPr sz="2700">
              <a:latin typeface="Arial"/>
              <a:cs typeface="Arial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50"/>
              </a:spcBef>
            </a:pPr>
            <a:r>
              <a:rPr sz="27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7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Duy trì sự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chính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xác cao của các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dữ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liệu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được </a:t>
            </a:r>
            <a:r>
              <a:rPr sz="2700" b="1" i="1" spc="-7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thu thập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và xử lý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bởi </a:t>
            </a:r>
            <a:r>
              <a:rPr sz="2700" b="1" i="1" spc="-70" dirty="0">
                <a:solidFill>
                  <a:srgbClr val="6F2F9F"/>
                </a:solidFill>
                <a:latin typeface="Arial"/>
                <a:cs typeface="Arial"/>
              </a:rPr>
              <a:t>HT: </a:t>
            </a:r>
            <a:r>
              <a:rPr sz="2700" spc="-5" dirty="0">
                <a:latin typeface="Arial"/>
                <a:cs typeface="Arial"/>
              </a:rPr>
              <a:t>Nhập </a:t>
            </a:r>
            <a:r>
              <a:rPr sz="2700" dirty="0">
                <a:latin typeface="Arial"/>
                <a:cs typeface="Arial"/>
              </a:rPr>
              <a:t>và xử lý </a:t>
            </a:r>
            <a:r>
              <a:rPr sz="2700" spc="-5" dirty="0">
                <a:latin typeface="Arial"/>
                <a:cs typeface="Arial"/>
              </a:rPr>
              <a:t>dữ liệu </a:t>
            </a:r>
            <a:r>
              <a:rPr sz="2700" dirty="0">
                <a:latin typeface="Arial"/>
                <a:cs typeface="Arial"/>
              </a:rPr>
              <a:t> không </a:t>
            </a:r>
            <a:r>
              <a:rPr sz="2700" spc="-5" dirty="0">
                <a:latin typeface="Arial"/>
                <a:cs typeface="Arial"/>
              </a:rPr>
              <a:t>lỗi, </a:t>
            </a:r>
            <a:r>
              <a:rPr sz="2700" dirty="0">
                <a:latin typeface="Arial"/>
                <a:cs typeface="Arial"/>
              </a:rPr>
              <a:t>chính xác </a:t>
            </a:r>
            <a:r>
              <a:rPr sz="2700" spc="-5" dirty="0">
                <a:latin typeface="Arial"/>
                <a:cs typeface="Arial"/>
              </a:rPr>
              <a:t>nhắm </a:t>
            </a:r>
            <a:r>
              <a:rPr sz="2700" dirty="0">
                <a:latin typeface="Arial"/>
                <a:cs typeface="Arial"/>
              </a:rPr>
              <a:t>tránh </a:t>
            </a:r>
            <a:r>
              <a:rPr sz="2700" spc="-5" dirty="0">
                <a:latin typeface="Arial"/>
                <a:cs typeface="Arial"/>
              </a:rPr>
              <a:t>lãng phí về thời </a:t>
            </a:r>
            <a:r>
              <a:rPr sz="270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gian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và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sức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lực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cho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việc</a:t>
            </a:r>
            <a:r>
              <a:rPr sz="2700" spc="-5" dirty="0">
                <a:latin typeface="Arial"/>
                <a:cs typeface="Arial"/>
              </a:rPr>
              <a:t> hiệu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chỉnh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dữ liệu.</a:t>
            </a:r>
            <a:endParaRPr sz="2700">
              <a:latin typeface="Arial"/>
              <a:cs typeface="Arial"/>
            </a:endParaRPr>
          </a:p>
          <a:p>
            <a:pPr marL="355600" marR="5715" indent="-342900" algn="just">
              <a:lnSpc>
                <a:spcPts val="2590"/>
              </a:lnSpc>
              <a:spcBef>
                <a:spcPts val="625"/>
              </a:spcBef>
            </a:pPr>
            <a:r>
              <a:rPr sz="27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700" spc="7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Đảm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bảo tính toàn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vẹn của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dữ </a:t>
            </a:r>
            <a:r>
              <a:rPr sz="2700" b="1" i="1" spc="-5" dirty="0">
                <a:solidFill>
                  <a:srgbClr val="6F2F9F"/>
                </a:solidFill>
                <a:latin typeface="Arial"/>
                <a:cs typeface="Arial"/>
              </a:rPr>
              <a:t>liệu và thông </a:t>
            </a:r>
            <a:r>
              <a:rPr sz="2700" b="1" i="1" dirty="0">
                <a:solidFill>
                  <a:srgbClr val="6F2F9F"/>
                </a:solidFill>
                <a:latin typeface="Arial"/>
                <a:cs typeface="Arial"/>
              </a:rPr>
              <a:t> tin: </a:t>
            </a:r>
            <a:r>
              <a:rPr sz="2700" dirty="0">
                <a:latin typeface="Arial"/>
                <a:cs typeface="Arial"/>
              </a:rPr>
              <a:t>các </a:t>
            </a:r>
            <a:r>
              <a:rPr sz="2700" spc="-5" dirty="0">
                <a:latin typeface="Arial"/>
                <a:cs typeface="Arial"/>
              </a:rPr>
              <a:t>dữ liệu </a:t>
            </a:r>
            <a:r>
              <a:rPr sz="2700" dirty="0">
                <a:latin typeface="Arial"/>
                <a:cs typeface="Arial"/>
              </a:rPr>
              <a:t>và </a:t>
            </a:r>
            <a:r>
              <a:rPr sz="2700" spc="-5" dirty="0">
                <a:latin typeface="Arial"/>
                <a:cs typeface="Arial"/>
              </a:rPr>
              <a:t>thông </a:t>
            </a:r>
            <a:r>
              <a:rPr sz="2700" dirty="0">
                <a:latin typeface="Arial"/>
                <a:cs typeface="Arial"/>
              </a:rPr>
              <a:t>tin </a:t>
            </a:r>
            <a:r>
              <a:rPr sz="2700" spc="-5" dirty="0">
                <a:latin typeface="Arial"/>
                <a:cs typeface="Arial"/>
              </a:rPr>
              <a:t>được </a:t>
            </a:r>
            <a:r>
              <a:rPr sz="2700" dirty="0">
                <a:latin typeface="Arial"/>
                <a:cs typeface="Arial"/>
              </a:rPr>
              <a:t>thu </a:t>
            </a:r>
            <a:r>
              <a:rPr sz="2700" spc="-5" dirty="0">
                <a:latin typeface="Arial"/>
                <a:cs typeface="Arial"/>
              </a:rPr>
              <a:t>thập </a:t>
            </a:r>
            <a:r>
              <a:rPr sz="2700" dirty="0">
                <a:latin typeface="Arial"/>
                <a:cs typeface="Arial"/>
              </a:rPr>
              <a:t>và </a:t>
            </a:r>
            <a:r>
              <a:rPr sz="2700" spc="-5" dirty="0">
                <a:latin typeface="Arial"/>
                <a:cs typeface="Arial"/>
              </a:rPr>
              <a:t>lưu </a:t>
            </a:r>
            <a:r>
              <a:rPr sz="2700" spc="-7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trữ trong </a:t>
            </a:r>
            <a:r>
              <a:rPr sz="2700" spc="-5" dirty="0">
                <a:latin typeface="Arial"/>
                <a:cs typeface="Arial"/>
              </a:rPr>
              <a:t>CSDL phải </a:t>
            </a:r>
            <a:r>
              <a:rPr sz="2700" dirty="0">
                <a:latin typeface="Arial"/>
                <a:cs typeface="Arial"/>
              </a:rPr>
              <a:t>chính xác, </a:t>
            </a:r>
            <a:r>
              <a:rPr sz="2700" spc="-5" dirty="0">
                <a:latin typeface="Arial"/>
                <a:cs typeface="Arial"/>
              </a:rPr>
              <a:t>phù hợp </a:t>
            </a:r>
            <a:r>
              <a:rPr sz="2700" dirty="0">
                <a:latin typeface="Arial"/>
                <a:cs typeface="Arial"/>
              </a:rPr>
              <a:t>và cập </a:t>
            </a:r>
            <a:r>
              <a:rPr sz="2700" spc="5" dirty="0">
                <a:latin typeface="Arial"/>
                <a:cs typeface="Arial"/>
              </a:rPr>
              <a:t> </a:t>
            </a:r>
            <a:r>
              <a:rPr sz="2700" spc="-5" dirty="0">
                <a:latin typeface="Arial"/>
                <a:cs typeface="Arial"/>
              </a:rPr>
              <a:t>nhật.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45034"/>
            <a:ext cx="7893684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Mục </a:t>
            </a:r>
            <a:r>
              <a:rPr dirty="0"/>
              <a:t>tiêu </a:t>
            </a:r>
            <a:r>
              <a:rPr spc="-5" dirty="0"/>
              <a:t>của </a:t>
            </a:r>
            <a:r>
              <a:rPr spc="-10" dirty="0"/>
              <a:t>các </a:t>
            </a:r>
            <a:r>
              <a:rPr spc="20" dirty="0"/>
              <a:t>HTTT </a:t>
            </a:r>
            <a:r>
              <a:rPr spc="-25" dirty="0"/>
              <a:t>xử </a:t>
            </a:r>
            <a:r>
              <a:rPr dirty="0"/>
              <a:t>lý </a:t>
            </a:r>
            <a:r>
              <a:rPr spc="-5" dirty="0"/>
              <a:t>giao </a:t>
            </a:r>
            <a:r>
              <a:rPr dirty="0"/>
              <a:t>dịch </a:t>
            </a:r>
            <a:r>
              <a:rPr spc="-890" dirty="0"/>
              <a:t> </a:t>
            </a:r>
            <a:r>
              <a:rPr dirty="0"/>
              <a:t>(tiếp)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77138" y="1319530"/>
            <a:ext cx="8072755" cy="49790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5715" indent="-342900" algn="just">
              <a:lnSpc>
                <a:spcPts val="2400"/>
              </a:lnSpc>
              <a:spcBef>
                <a:spcPts val="680"/>
              </a:spcBef>
            </a:pPr>
            <a:r>
              <a:rPr sz="25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5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Đảm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bảo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cung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cấp kịp thời các tài liệu và báo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cáo</a:t>
            </a:r>
            <a:r>
              <a:rPr sz="2500" i="1" spc="-5" dirty="0">
                <a:latin typeface="Arial"/>
                <a:cs typeface="Arial"/>
              </a:rPr>
              <a:t>: </a:t>
            </a:r>
            <a:r>
              <a:rPr sz="2500" i="1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nhờ </a:t>
            </a:r>
            <a:r>
              <a:rPr sz="2500" dirty="0">
                <a:latin typeface="Arial"/>
                <a:cs typeface="Arial"/>
              </a:rPr>
              <a:t>tự </a:t>
            </a:r>
            <a:r>
              <a:rPr sz="2500" spc="-5" dirty="0">
                <a:latin typeface="Arial"/>
                <a:cs typeface="Arial"/>
              </a:rPr>
              <a:t>động hóa,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HTTT </a:t>
            </a:r>
            <a:r>
              <a:rPr sz="2500" dirty="0">
                <a:latin typeface="Arial"/>
                <a:cs typeface="Arial"/>
              </a:rPr>
              <a:t>xử </a:t>
            </a:r>
            <a:r>
              <a:rPr sz="2500" spc="-5" dirty="0">
                <a:latin typeface="Arial"/>
                <a:cs typeface="Arial"/>
              </a:rPr>
              <a:t>lý giao dịch giúp giảm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đáng</a:t>
            </a:r>
            <a:r>
              <a:rPr sz="2500" spc="4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kể</a:t>
            </a:r>
            <a:r>
              <a:rPr sz="2500" spc="44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thời</a:t>
            </a:r>
            <a:r>
              <a:rPr sz="2500" spc="434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gian</a:t>
            </a:r>
            <a:r>
              <a:rPr sz="2500" spc="4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thực</a:t>
            </a:r>
            <a:r>
              <a:rPr sz="2500" spc="4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hiện</a:t>
            </a:r>
            <a:r>
              <a:rPr sz="2500" spc="4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44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xử</a:t>
            </a:r>
            <a:r>
              <a:rPr sz="2500" spc="4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lý</a:t>
            </a:r>
            <a:r>
              <a:rPr sz="2500" spc="4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44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giao</a:t>
            </a:r>
            <a:r>
              <a:rPr sz="2500" spc="42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dịch,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giúp </a:t>
            </a:r>
            <a:r>
              <a:rPr sz="2500" dirty="0">
                <a:latin typeface="Arial"/>
                <a:cs typeface="Arial"/>
              </a:rPr>
              <a:t>các tổ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chức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có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cơ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hội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nâng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cao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lợi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nhuận.</a:t>
            </a:r>
            <a:endParaRPr sz="2500">
              <a:latin typeface="Arial"/>
              <a:cs typeface="Arial"/>
            </a:endParaRPr>
          </a:p>
          <a:p>
            <a:pPr marL="355600" marR="6350" indent="-342900" algn="just">
              <a:lnSpc>
                <a:spcPts val="2400"/>
              </a:lnSpc>
              <a:spcBef>
                <a:spcPts val="600"/>
              </a:spcBef>
            </a:pPr>
            <a:r>
              <a:rPr sz="2500" dirty="0">
                <a:latin typeface="Arial"/>
                <a:cs typeface="Arial"/>
              </a:rPr>
              <a:t>•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i="1" spc="-5" dirty="0">
                <a:latin typeface="Arial"/>
                <a:cs typeface="Arial"/>
              </a:rPr>
              <a:t>T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ăng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hiệu quả lao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động</a:t>
            </a:r>
            <a:r>
              <a:rPr sz="2500" i="1" spc="-5" dirty="0">
                <a:latin typeface="Arial"/>
                <a:cs typeface="Arial"/>
              </a:rPr>
              <a:t>: </a:t>
            </a:r>
            <a:r>
              <a:rPr sz="2500" spc="-5" dirty="0">
                <a:latin typeface="Arial"/>
                <a:cs typeface="Arial"/>
              </a:rPr>
              <a:t>nhờ giảm nhu </a:t>
            </a:r>
            <a:r>
              <a:rPr sz="2500" dirty="0">
                <a:latin typeface="Arial"/>
                <a:cs typeface="Arial"/>
              </a:rPr>
              <a:t>cầu </a:t>
            </a:r>
            <a:r>
              <a:rPr sz="2500" spc="-5" dirty="0">
                <a:latin typeface="Arial"/>
                <a:cs typeface="Arial"/>
              </a:rPr>
              <a:t>về </a:t>
            </a:r>
            <a:r>
              <a:rPr sz="2500" spc="-10" dirty="0">
                <a:latin typeface="Arial"/>
                <a:cs typeface="Arial"/>
              </a:rPr>
              <a:t>nhân </a:t>
            </a:r>
            <a:r>
              <a:rPr sz="2500" spc="-5" dirty="0">
                <a:latin typeface="Arial"/>
                <a:cs typeface="Arial"/>
              </a:rPr>
              <a:t> lực </a:t>
            </a:r>
            <a:r>
              <a:rPr sz="2500" dirty="0">
                <a:latin typeface="Arial"/>
                <a:cs typeface="Arial"/>
              </a:rPr>
              <a:t>xử lý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giao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dịch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 trang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thiết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bị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làm</a:t>
            </a:r>
            <a:r>
              <a:rPr sz="2500" dirty="0">
                <a:latin typeface="Arial"/>
                <a:cs typeface="Arial"/>
              </a:rPr>
              <a:t> việc.</a:t>
            </a:r>
            <a:endParaRPr sz="2500">
              <a:latin typeface="Arial"/>
              <a:cs typeface="Arial"/>
            </a:endParaRPr>
          </a:p>
          <a:p>
            <a:pPr marL="355600" marR="6350" indent="-342900" algn="just">
              <a:lnSpc>
                <a:spcPct val="80000"/>
              </a:lnSpc>
              <a:spcBef>
                <a:spcPts val="620"/>
              </a:spcBef>
            </a:pPr>
            <a:r>
              <a:rPr sz="25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5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Tạo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ra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các hình thức dịch vụ giá trị gia tăng: </a:t>
            </a:r>
            <a:r>
              <a:rPr sz="2500" dirty="0">
                <a:latin typeface="Arial"/>
                <a:cs typeface="Arial"/>
              </a:rPr>
              <a:t>là một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mục tiêu mà tổ chức </a:t>
            </a:r>
            <a:r>
              <a:rPr sz="2500" spc="-5" dirty="0">
                <a:latin typeface="Arial"/>
                <a:cs typeface="Arial"/>
              </a:rPr>
              <a:t>đặt </a:t>
            </a:r>
            <a:r>
              <a:rPr sz="2500" dirty="0">
                <a:latin typeface="Arial"/>
                <a:cs typeface="Arial"/>
              </a:rPr>
              <a:t>ra cho tất cả các </a:t>
            </a:r>
            <a:r>
              <a:rPr sz="2500" spc="-5" dirty="0">
                <a:latin typeface="Arial"/>
                <a:cs typeface="Arial"/>
              </a:rPr>
              <a:t>HTTT </a:t>
            </a:r>
            <a:r>
              <a:rPr sz="2500" dirty="0">
                <a:latin typeface="Arial"/>
                <a:cs typeface="Arial"/>
              </a:rPr>
              <a:t>xử </a:t>
            </a:r>
            <a:r>
              <a:rPr sz="2500" spc="-5" dirty="0">
                <a:latin typeface="Arial"/>
                <a:cs typeface="Arial"/>
              </a:rPr>
              <a:t>lý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giao dịch.</a:t>
            </a:r>
            <a:endParaRPr sz="2500">
              <a:latin typeface="Arial"/>
              <a:cs typeface="Arial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580"/>
              </a:spcBef>
            </a:pPr>
            <a:r>
              <a:rPr sz="25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5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Giúp xây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dựng và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duy trì sự tín nhiệm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của khách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hàng: </a:t>
            </a:r>
            <a:r>
              <a:rPr sz="2500" dirty="0">
                <a:latin typeface="Arial"/>
                <a:cs typeface="Arial"/>
              </a:rPr>
              <a:t>đem </a:t>
            </a:r>
            <a:r>
              <a:rPr sz="2500" spc="-5" dirty="0">
                <a:latin typeface="Arial"/>
                <a:cs typeface="Arial"/>
              </a:rPr>
              <a:t>lại </a:t>
            </a:r>
            <a:r>
              <a:rPr sz="2500" dirty="0">
                <a:latin typeface="Arial"/>
                <a:cs typeface="Arial"/>
              </a:rPr>
              <a:t>sự </a:t>
            </a:r>
            <a:r>
              <a:rPr sz="2500" spc="-5" dirty="0">
                <a:latin typeface="Arial"/>
                <a:cs typeface="Arial"/>
              </a:rPr>
              <a:t>hài lòng cho </a:t>
            </a:r>
            <a:r>
              <a:rPr sz="2500" dirty="0">
                <a:latin typeface="Arial"/>
                <a:cs typeface="Arial"/>
              </a:rPr>
              <a:t>khách </a:t>
            </a:r>
            <a:r>
              <a:rPr sz="2500" spc="-10" dirty="0">
                <a:latin typeface="Arial"/>
                <a:cs typeface="Arial"/>
              </a:rPr>
              <a:t>hàng </a:t>
            </a:r>
            <a:r>
              <a:rPr sz="2500" dirty="0">
                <a:latin typeface="Arial"/>
                <a:cs typeface="Arial"/>
              </a:rPr>
              <a:t>và </a:t>
            </a:r>
            <a:r>
              <a:rPr sz="2500" spc="-5" dirty="0">
                <a:latin typeface="Arial"/>
                <a:cs typeface="Arial"/>
              </a:rPr>
              <a:t>khuyến </a:t>
            </a:r>
            <a:r>
              <a:rPr sz="2500" dirty="0">
                <a:latin typeface="Arial"/>
                <a:cs typeface="Arial"/>
              </a:rPr>
              <a:t> khích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họ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quay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lại.</a:t>
            </a:r>
            <a:endParaRPr sz="2500">
              <a:latin typeface="Arial"/>
              <a:cs typeface="Arial"/>
            </a:endParaRPr>
          </a:p>
          <a:p>
            <a:pPr marL="12700" marR="5080" algn="just">
              <a:lnSpc>
                <a:spcPct val="80000"/>
              </a:lnSpc>
              <a:spcBef>
                <a:spcPts val="620"/>
              </a:spcBef>
            </a:pPr>
            <a:r>
              <a:rPr sz="2500" dirty="0">
                <a:latin typeface="Arial"/>
                <a:cs typeface="Arial"/>
              </a:rPr>
              <a:t>=&gt;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Hỗ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trợ các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mục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tiêu </a:t>
            </a:r>
            <a:r>
              <a:rPr sz="2500" b="1" spc="-10" dirty="0">
                <a:solidFill>
                  <a:srgbClr val="FF0000"/>
                </a:solidFill>
                <a:latin typeface="Arial"/>
                <a:cs typeface="Arial"/>
              </a:rPr>
              <a:t>của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tổ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chức: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giảm chi phí, </a:t>
            </a:r>
            <a:r>
              <a:rPr sz="25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tăng năng suất, chất lượng và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sự hài lòng 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của khách </a:t>
            </a:r>
            <a:r>
              <a:rPr sz="2500" b="1" spc="-6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hàng</a:t>
            </a:r>
            <a:r>
              <a:rPr sz="25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=&gt;</a:t>
            </a:r>
            <a:r>
              <a:rPr sz="25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tăng</a:t>
            </a:r>
            <a:r>
              <a:rPr sz="25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hiệu</a:t>
            </a:r>
            <a:r>
              <a:rPr sz="25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quả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hoạt</a:t>
            </a:r>
            <a:r>
              <a:rPr sz="25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sz="25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kinh</a:t>
            </a:r>
            <a:r>
              <a:rPr sz="25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Arial"/>
                <a:cs typeface="Arial"/>
              </a:rPr>
              <a:t>doanh.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457454"/>
            <a:ext cx="7583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5" dirty="0">
                <a:solidFill>
                  <a:srgbClr val="C00000"/>
                </a:solidFill>
                <a:latin typeface="Calibri"/>
                <a:cs typeface="Calibri"/>
              </a:rPr>
              <a:t>Các</a:t>
            </a:r>
            <a:r>
              <a:rPr sz="4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/>
                <a:cs typeface="Calibri"/>
              </a:rPr>
              <a:t>ứng</a:t>
            </a:r>
            <a:r>
              <a:rPr sz="4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/>
                <a:cs typeface="Calibri"/>
              </a:rPr>
              <a:t>dụng </a:t>
            </a:r>
            <a:r>
              <a:rPr sz="4400" b="1" dirty="0">
                <a:solidFill>
                  <a:srgbClr val="C00000"/>
                </a:solidFill>
                <a:latin typeface="Calibri"/>
                <a:cs typeface="Calibri"/>
              </a:rPr>
              <a:t>của</a:t>
            </a:r>
            <a:r>
              <a:rPr sz="44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b="1" spc="-25" dirty="0">
                <a:solidFill>
                  <a:srgbClr val="C00000"/>
                </a:solidFill>
                <a:latin typeface="Calibri"/>
                <a:cs typeface="Calibri"/>
              </a:rPr>
              <a:t>xử</a:t>
            </a:r>
            <a:r>
              <a:rPr sz="4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/>
                <a:cs typeface="Calibri"/>
              </a:rPr>
              <a:t>lý</a:t>
            </a:r>
            <a:r>
              <a:rPr sz="44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/>
                <a:cs typeface="Calibri"/>
              </a:rPr>
              <a:t>giao</a:t>
            </a:r>
            <a:r>
              <a:rPr sz="4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400" b="1" spc="-5" dirty="0">
                <a:solidFill>
                  <a:srgbClr val="C00000"/>
                </a:solidFill>
                <a:latin typeface="Calibri"/>
                <a:cs typeface="Calibri"/>
              </a:rPr>
              <a:t>dịch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9680" y="1584833"/>
            <a:ext cx="1629410" cy="2317115"/>
            <a:chOff x="749680" y="1584833"/>
            <a:chExt cx="1629410" cy="2317115"/>
          </a:xfrm>
        </p:grpSpPr>
        <p:sp>
          <p:nvSpPr>
            <p:cNvPr id="4" name="object 4"/>
            <p:cNvSpPr/>
            <p:nvPr/>
          </p:nvSpPr>
          <p:spPr>
            <a:xfrm>
              <a:off x="762380" y="1597533"/>
              <a:ext cx="1604010" cy="2291715"/>
            </a:xfrm>
            <a:custGeom>
              <a:avLst/>
              <a:gdLst/>
              <a:ahLst/>
              <a:cxnLst/>
              <a:rect l="l" t="t" r="r" b="b"/>
              <a:pathLst>
                <a:path w="1604010" h="2291715">
                  <a:moveTo>
                    <a:pt x="1604010" y="0"/>
                  </a:moveTo>
                  <a:lnTo>
                    <a:pt x="802005" y="802004"/>
                  </a:lnTo>
                  <a:lnTo>
                    <a:pt x="0" y="0"/>
                  </a:lnTo>
                  <a:lnTo>
                    <a:pt x="0" y="1489328"/>
                  </a:lnTo>
                  <a:lnTo>
                    <a:pt x="802005" y="2291334"/>
                  </a:lnTo>
                  <a:lnTo>
                    <a:pt x="1604010" y="1489328"/>
                  </a:lnTo>
                  <a:lnTo>
                    <a:pt x="160401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380" y="1597533"/>
              <a:ext cx="1604010" cy="2291715"/>
            </a:xfrm>
            <a:custGeom>
              <a:avLst/>
              <a:gdLst/>
              <a:ahLst/>
              <a:cxnLst/>
              <a:rect l="l" t="t" r="r" b="b"/>
              <a:pathLst>
                <a:path w="1604010" h="2291715">
                  <a:moveTo>
                    <a:pt x="1604010" y="0"/>
                  </a:moveTo>
                  <a:lnTo>
                    <a:pt x="1604010" y="1489328"/>
                  </a:lnTo>
                  <a:lnTo>
                    <a:pt x="802005" y="2291334"/>
                  </a:lnTo>
                  <a:lnTo>
                    <a:pt x="0" y="1489328"/>
                  </a:lnTo>
                  <a:lnTo>
                    <a:pt x="0" y="0"/>
                  </a:lnTo>
                  <a:lnTo>
                    <a:pt x="802005" y="802004"/>
                  </a:lnTo>
                  <a:lnTo>
                    <a:pt x="1604010" y="0"/>
                  </a:lnTo>
                  <a:close/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34261" y="2319782"/>
            <a:ext cx="4597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53691" y="1584833"/>
            <a:ext cx="6498590" cy="1515110"/>
            <a:chOff x="2353691" y="1584833"/>
            <a:chExt cx="6498590" cy="1515110"/>
          </a:xfrm>
        </p:grpSpPr>
        <p:sp>
          <p:nvSpPr>
            <p:cNvPr id="8" name="object 8"/>
            <p:cNvSpPr/>
            <p:nvPr/>
          </p:nvSpPr>
          <p:spPr>
            <a:xfrm>
              <a:off x="2366391" y="1597533"/>
              <a:ext cx="6473190" cy="1489710"/>
            </a:xfrm>
            <a:custGeom>
              <a:avLst/>
              <a:gdLst/>
              <a:ahLst/>
              <a:cxnLst/>
              <a:rect l="l" t="t" r="r" b="b"/>
              <a:pathLst>
                <a:path w="6473190" h="1489710">
                  <a:moveTo>
                    <a:pt x="6224905" y="0"/>
                  </a:moveTo>
                  <a:lnTo>
                    <a:pt x="0" y="0"/>
                  </a:lnTo>
                  <a:lnTo>
                    <a:pt x="0" y="1489709"/>
                  </a:lnTo>
                  <a:lnTo>
                    <a:pt x="6224905" y="1489709"/>
                  </a:lnTo>
                  <a:lnTo>
                    <a:pt x="6274953" y="1484667"/>
                  </a:lnTo>
                  <a:lnTo>
                    <a:pt x="6321563" y="1470203"/>
                  </a:lnTo>
                  <a:lnTo>
                    <a:pt x="6363739" y="1447316"/>
                  </a:lnTo>
                  <a:lnTo>
                    <a:pt x="6400482" y="1417002"/>
                  </a:lnTo>
                  <a:lnTo>
                    <a:pt x="6430796" y="1380259"/>
                  </a:lnTo>
                  <a:lnTo>
                    <a:pt x="6453683" y="1338083"/>
                  </a:lnTo>
                  <a:lnTo>
                    <a:pt x="6468147" y="1291473"/>
                  </a:lnTo>
                  <a:lnTo>
                    <a:pt x="6473189" y="1241425"/>
                  </a:lnTo>
                  <a:lnTo>
                    <a:pt x="6473189" y="248284"/>
                  </a:lnTo>
                  <a:lnTo>
                    <a:pt x="6468147" y="198236"/>
                  </a:lnTo>
                  <a:lnTo>
                    <a:pt x="6453683" y="151626"/>
                  </a:lnTo>
                  <a:lnTo>
                    <a:pt x="6430796" y="109450"/>
                  </a:lnTo>
                  <a:lnTo>
                    <a:pt x="6400482" y="72707"/>
                  </a:lnTo>
                  <a:lnTo>
                    <a:pt x="6363739" y="42393"/>
                  </a:lnTo>
                  <a:lnTo>
                    <a:pt x="6321563" y="19506"/>
                  </a:lnTo>
                  <a:lnTo>
                    <a:pt x="6274953" y="5042"/>
                  </a:lnTo>
                  <a:lnTo>
                    <a:pt x="622490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66391" y="1597533"/>
              <a:ext cx="6473190" cy="1489710"/>
            </a:xfrm>
            <a:custGeom>
              <a:avLst/>
              <a:gdLst/>
              <a:ahLst/>
              <a:cxnLst/>
              <a:rect l="l" t="t" r="r" b="b"/>
              <a:pathLst>
                <a:path w="6473190" h="1489710">
                  <a:moveTo>
                    <a:pt x="6473189" y="248284"/>
                  </a:moveTo>
                  <a:lnTo>
                    <a:pt x="6473189" y="1241425"/>
                  </a:lnTo>
                  <a:lnTo>
                    <a:pt x="6468147" y="1291473"/>
                  </a:lnTo>
                  <a:lnTo>
                    <a:pt x="6453683" y="1338083"/>
                  </a:lnTo>
                  <a:lnTo>
                    <a:pt x="6430796" y="1380259"/>
                  </a:lnTo>
                  <a:lnTo>
                    <a:pt x="6400482" y="1417002"/>
                  </a:lnTo>
                  <a:lnTo>
                    <a:pt x="6363739" y="1447316"/>
                  </a:lnTo>
                  <a:lnTo>
                    <a:pt x="6321563" y="1470203"/>
                  </a:lnTo>
                  <a:lnTo>
                    <a:pt x="6274953" y="1484667"/>
                  </a:lnTo>
                  <a:lnTo>
                    <a:pt x="6224905" y="1489709"/>
                  </a:lnTo>
                  <a:lnTo>
                    <a:pt x="0" y="1489709"/>
                  </a:lnTo>
                  <a:lnTo>
                    <a:pt x="0" y="0"/>
                  </a:lnTo>
                  <a:lnTo>
                    <a:pt x="6224905" y="0"/>
                  </a:lnTo>
                  <a:lnTo>
                    <a:pt x="6274953" y="5042"/>
                  </a:lnTo>
                  <a:lnTo>
                    <a:pt x="6321563" y="19506"/>
                  </a:lnTo>
                  <a:lnTo>
                    <a:pt x="6363739" y="42393"/>
                  </a:lnTo>
                  <a:lnTo>
                    <a:pt x="6400482" y="72707"/>
                  </a:lnTo>
                  <a:lnTo>
                    <a:pt x="6430796" y="109450"/>
                  </a:lnTo>
                  <a:lnTo>
                    <a:pt x="6453683" y="151626"/>
                  </a:lnTo>
                  <a:lnTo>
                    <a:pt x="6468147" y="198236"/>
                  </a:lnTo>
                  <a:lnTo>
                    <a:pt x="6473189" y="248284"/>
                  </a:lnTo>
                  <a:close/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80716" y="1908555"/>
            <a:ext cx="467550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5" dirty="0">
                <a:latin typeface="Calibri"/>
                <a:cs typeface="Calibri"/>
              </a:rPr>
              <a:t>•HT</a:t>
            </a:r>
            <a:r>
              <a:rPr sz="4600" spc="-25" dirty="0">
                <a:latin typeface="Calibri"/>
                <a:cs typeface="Calibri"/>
              </a:rPr>
              <a:t> xử</a:t>
            </a:r>
            <a:r>
              <a:rPr sz="4600" spc="-20" dirty="0">
                <a:latin typeface="Calibri"/>
                <a:cs typeface="Calibri"/>
              </a:rPr>
              <a:t> </a:t>
            </a:r>
            <a:r>
              <a:rPr sz="4600" dirty="0">
                <a:latin typeface="Calibri"/>
                <a:cs typeface="Calibri"/>
              </a:rPr>
              <a:t>lý</a:t>
            </a:r>
            <a:r>
              <a:rPr sz="4600" spc="-30" dirty="0">
                <a:latin typeface="Calibri"/>
                <a:cs typeface="Calibri"/>
              </a:rPr>
              <a:t> </a:t>
            </a:r>
            <a:r>
              <a:rPr sz="4600" dirty="0">
                <a:latin typeface="Arial"/>
                <a:cs typeface="Arial"/>
              </a:rPr>
              <a:t>đơ</a:t>
            </a:r>
            <a:r>
              <a:rPr sz="4600" dirty="0">
                <a:latin typeface="Calibri"/>
                <a:cs typeface="Calibri"/>
              </a:rPr>
              <a:t>n</a:t>
            </a:r>
            <a:r>
              <a:rPr sz="4600" spc="-25" dirty="0">
                <a:latin typeface="Calibri"/>
                <a:cs typeface="Calibri"/>
              </a:rPr>
              <a:t> </a:t>
            </a:r>
            <a:r>
              <a:rPr sz="4600" spc="-5" dirty="0">
                <a:latin typeface="Calibri"/>
                <a:cs typeface="Calibri"/>
              </a:rPr>
              <a:t>hàng</a:t>
            </a:r>
            <a:endParaRPr sz="4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9680" y="3590416"/>
            <a:ext cx="1629410" cy="2317115"/>
            <a:chOff x="749680" y="3590416"/>
            <a:chExt cx="1629410" cy="2317115"/>
          </a:xfrm>
        </p:grpSpPr>
        <p:sp>
          <p:nvSpPr>
            <p:cNvPr id="12" name="object 12"/>
            <p:cNvSpPr/>
            <p:nvPr/>
          </p:nvSpPr>
          <p:spPr>
            <a:xfrm>
              <a:off x="762380" y="3603116"/>
              <a:ext cx="1604010" cy="2291715"/>
            </a:xfrm>
            <a:custGeom>
              <a:avLst/>
              <a:gdLst/>
              <a:ahLst/>
              <a:cxnLst/>
              <a:rect l="l" t="t" r="r" b="b"/>
              <a:pathLst>
                <a:path w="1604010" h="2291715">
                  <a:moveTo>
                    <a:pt x="1604010" y="0"/>
                  </a:moveTo>
                  <a:lnTo>
                    <a:pt x="802005" y="802005"/>
                  </a:lnTo>
                  <a:lnTo>
                    <a:pt x="0" y="0"/>
                  </a:lnTo>
                  <a:lnTo>
                    <a:pt x="0" y="1489329"/>
                  </a:lnTo>
                  <a:lnTo>
                    <a:pt x="802005" y="2291334"/>
                  </a:lnTo>
                  <a:lnTo>
                    <a:pt x="1604010" y="1489329"/>
                  </a:lnTo>
                  <a:lnTo>
                    <a:pt x="160401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2380" y="3603116"/>
              <a:ext cx="1604010" cy="2291715"/>
            </a:xfrm>
            <a:custGeom>
              <a:avLst/>
              <a:gdLst/>
              <a:ahLst/>
              <a:cxnLst/>
              <a:rect l="l" t="t" r="r" b="b"/>
              <a:pathLst>
                <a:path w="1604010" h="2291715">
                  <a:moveTo>
                    <a:pt x="1604010" y="0"/>
                  </a:moveTo>
                  <a:lnTo>
                    <a:pt x="1604010" y="1489329"/>
                  </a:lnTo>
                  <a:lnTo>
                    <a:pt x="802005" y="2291334"/>
                  </a:lnTo>
                  <a:lnTo>
                    <a:pt x="0" y="1489329"/>
                  </a:lnTo>
                  <a:lnTo>
                    <a:pt x="0" y="0"/>
                  </a:lnTo>
                  <a:lnTo>
                    <a:pt x="802005" y="802005"/>
                  </a:lnTo>
                  <a:lnTo>
                    <a:pt x="1604010" y="0"/>
                  </a:lnTo>
                  <a:close/>
                </a:path>
              </a:pathLst>
            </a:custGeom>
            <a:ln w="2514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34261" y="4325620"/>
            <a:ext cx="4597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53817" y="3590544"/>
            <a:ext cx="6498590" cy="1515110"/>
            <a:chOff x="2353817" y="3590544"/>
            <a:chExt cx="6498590" cy="1515110"/>
          </a:xfrm>
        </p:grpSpPr>
        <p:sp>
          <p:nvSpPr>
            <p:cNvPr id="16" name="object 16"/>
            <p:cNvSpPr/>
            <p:nvPr/>
          </p:nvSpPr>
          <p:spPr>
            <a:xfrm>
              <a:off x="2366390" y="3603117"/>
              <a:ext cx="6473190" cy="1489710"/>
            </a:xfrm>
            <a:custGeom>
              <a:avLst/>
              <a:gdLst/>
              <a:ahLst/>
              <a:cxnLst/>
              <a:rect l="l" t="t" r="r" b="b"/>
              <a:pathLst>
                <a:path w="6473190" h="1489710">
                  <a:moveTo>
                    <a:pt x="6224905" y="0"/>
                  </a:moveTo>
                  <a:lnTo>
                    <a:pt x="0" y="0"/>
                  </a:lnTo>
                  <a:lnTo>
                    <a:pt x="0" y="1489710"/>
                  </a:lnTo>
                  <a:lnTo>
                    <a:pt x="6224905" y="1489710"/>
                  </a:lnTo>
                  <a:lnTo>
                    <a:pt x="6274953" y="1484667"/>
                  </a:lnTo>
                  <a:lnTo>
                    <a:pt x="6321563" y="1470203"/>
                  </a:lnTo>
                  <a:lnTo>
                    <a:pt x="6363739" y="1447316"/>
                  </a:lnTo>
                  <a:lnTo>
                    <a:pt x="6400482" y="1417002"/>
                  </a:lnTo>
                  <a:lnTo>
                    <a:pt x="6430796" y="1380259"/>
                  </a:lnTo>
                  <a:lnTo>
                    <a:pt x="6453683" y="1338083"/>
                  </a:lnTo>
                  <a:lnTo>
                    <a:pt x="6468147" y="1291473"/>
                  </a:lnTo>
                  <a:lnTo>
                    <a:pt x="6473189" y="1241425"/>
                  </a:lnTo>
                  <a:lnTo>
                    <a:pt x="6473189" y="248285"/>
                  </a:lnTo>
                  <a:lnTo>
                    <a:pt x="6468147" y="198236"/>
                  </a:lnTo>
                  <a:lnTo>
                    <a:pt x="6453683" y="151626"/>
                  </a:lnTo>
                  <a:lnTo>
                    <a:pt x="6430796" y="109450"/>
                  </a:lnTo>
                  <a:lnTo>
                    <a:pt x="6400482" y="72707"/>
                  </a:lnTo>
                  <a:lnTo>
                    <a:pt x="6363739" y="42393"/>
                  </a:lnTo>
                  <a:lnTo>
                    <a:pt x="6321563" y="19506"/>
                  </a:lnTo>
                  <a:lnTo>
                    <a:pt x="6274953" y="5042"/>
                  </a:lnTo>
                  <a:lnTo>
                    <a:pt x="622490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66390" y="3603117"/>
              <a:ext cx="6473190" cy="1489710"/>
            </a:xfrm>
            <a:custGeom>
              <a:avLst/>
              <a:gdLst/>
              <a:ahLst/>
              <a:cxnLst/>
              <a:rect l="l" t="t" r="r" b="b"/>
              <a:pathLst>
                <a:path w="6473190" h="1489710">
                  <a:moveTo>
                    <a:pt x="6473189" y="248285"/>
                  </a:moveTo>
                  <a:lnTo>
                    <a:pt x="6473189" y="1241425"/>
                  </a:lnTo>
                  <a:lnTo>
                    <a:pt x="6468147" y="1291473"/>
                  </a:lnTo>
                  <a:lnTo>
                    <a:pt x="6453683" y="1338083"/>
                  </a:lnTo>
                  <a:lnTo>
                    <a:pt x="6430796" y="1380259"/>
                  </a:lnTo>
                  <a:lnTo>
                    <a:pt x="6400482" y="1417002"/>
                  </a:lnTo>
                  <a:lnTo>
                    <a:pt x="6363739" y="1447316"/>
                  </a:lnTo>
                  <a:lnTo>
                    <a:pt x="6321563" y="1470203"/>
                  </a:lnTo>
                  <a:lnTo>
                    <a:pt x="6274953" y="1484667"/>
                  </a:lnTo>
                  <a:lnTo>
                    <a:pt x="6224905" y="1489710"/>
                  </a:lnTo>
                  <a:lnTo>
                    <a:pt x="0" y="1489710"/>
                  </a:lnTo>
                  <a:lnTo>
                    <a:pt x="0" y="0"/>
                  </a:lnTo>
                  <a:lnTo>
                    <a:pt x="6224905" y="0"/>
                  </a:lnTo>
                  <a:lnTo>
                    <a:pt x="6274953" y="5042"/>
                  </a:lnTo>
                  <a:lnTo>
                    <a:pt x="6321563" y="19506"/>
                  </a:lnTo>
                  <a:lnTo>
                    <a:pt x="6363739" y="42393"/>
                  </a:lnTo>
                  <a:lnTo>
                    <a:pt x="6400482" y="72707"/>
                  </a:lnTo>
                  <a:lnTo>
                    <a:pt x="6430796" y="109450"/>
                  </a:lnTo>
                  <a:lnTo>
                    <a:pt x="6453683" y="151626"/>
                  </a:lnTo>
                  <a:lnTo>
                    <a:pt x="6468147" y="198236"/>
                  </a:lnTo>
                  <a:lnTo>
                    <a:pt x="6473189" y="248285"/>
                  </a:lnTo>
                  <a:close/>
                </a:path>
              </a:pathLst>
            </a:custGeom>
            <a:ln w="25146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80716" y="3593591"/>
            <a:ext cx="5670550" cy="136969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98450" marR="5080" indent="-285750">
              <a:lnSpc>
                <a:spcPts val="5060"/>
              </a:lnSpc>
              <a:spcBef>
                <a:spcPts val="650"/>
              </a:spcBef>
            </a:pPr>
            <a:r>
              <a:rPr sz="4600" spc="-5" dirty="0">
                <a:latin typeface="Calibri"/>
                <a:cs typeface="Calibri"/>
              </a:rPr>
              <a:t>•HT</a:t>
            </a:r>
            <a:r>
              <a:rPr sz="4600" spc="-20" dirty="0">
                <a:latin typeface="Calibri"/>
                <a:cs typeface="Calibri"/>
              </a:rPr>
              <a:t> </a:t>
            </a:r>
            <a:r>
              <a:rPr sz="4600" spc="-25" dirty="0">
                <a:latin typeface="Calibri"/>
                <a:cs typeface="Calibri"/>
              </a:rPr>
              <a:t>xử</a:t>
            </a:r>
            <a:r>
              <a:rPr sz="4600" spc="-15" dirty="0">
                <a:latin typeface="Calibri"/>
                <a:cs typeface="Calibri"/>
              </a:rPr>
              <a:t> </a:t>
            </a:r>
            <a:r>
              <a:rPr sz="4600" dirty="0">
                <a:latin typeface="Calibri"/>
                <a:cs typeface="Calibri"/>
              </a:rPr>
              <a:t>lý</a:t>
            </a:r>
            <a:r>
              <a:rPr sz="4600" spc="-15" dirty="0">
                <a:latin typeface="Calibri"/>
                <a:cs typeface="Calibri"/>
              </a:rPr>
              <a:t> </a:t>
            </a:r>
            <a:r>
              <a:rPr sz="4600" dirty="0">
                <a:latin typeface="Calibri"/>
                <a:cs typeface="Calibri"/>
              </a:rPr>
              <a:t>giao</a:t>
            </a:r>
            <a:r>
              <a:rPr sz="4600" spc="-25" dirty="0">
                <a:latin typeface="Calibri"/>
                <a:cs typeface="Calibri"/>
              </a:rPr>
              <a:t> </a:t>
            </a:r>
            <a:r>
              <a:rPr sz="4600" spc="-5" dirty="0">
                <a:latin typeface="Calibri"/>
                <a:cs typeface="Calibri"/>
              </a:rPr>
              <a:t>dịch</a:t>
            </a:r>
            <a:r>
              <a:rPr sz="4600" spc="-20" dirty="0">
                <a:latin typeface="Calibri"/>
                <a:cs typeface="Calibri"/>
              </a:rPr>
              <a:t> </a:t>
            </a:r>
            <a:r>
              <a:rPr sz="4600" dirty="0">
                <a:latin typeface="Calibri"/>
                <a:cs typeface="Calibri"/>
              </a:rPr>
              <a:t>mua </a:t>
            </a:r>
            <a:r>
              <a:rPr sz="4600" spc="-1025" dirty="0">
                <a:latin typeface="Calibri"/>
                <a:cs typeface="Calibri"/>
              </a:rPr>
              <a:t> </a:t>
            </a:r>
            <a:r>
              <a:rPr sz="4600" spc="-5" dirty="0">
                <a:latin typeface="Calibri"/>
                <a:cs typeface="Calibri"/>
              </a:rPr>
              <a:t>hàng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959" y="148081"/>
            <a:ext cx="7550150" cy="12420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4780"/>
              </a:lnSpc>
              <a:spcBef>
                <a:spcPts val="215"/>
              </a:spcBef>
            </a:pPr>
            <a:r>
              <a:rPr dirty="0"/>
              <a:t>Hệ thống </a:t>
            </a:r>
            <a:r>
              <a:rPr spc="-30" dirty="0"/>
              <a:t>xử </a:t>
            </a:r>
            <a:r>
              <a:rPr dirty="0"/>
              <a:t>lý </a:t>
            </a:r>
            <a:r>
              <a:rPr spc="-5" dirty="0">
                <a:latin typeface="Times New Roman"/>
                <a:cs typeface="Times New Roman"/>
              </a:rPr>
              <a:t>đơ</a:t>
            </a:r>
            <a:r>
              <a:rPr spc="-5" dirty="0"/>
              <a:t>n </a:t>
            </a:r>
            <a:r>
              <a:rPr dirty="0"/>
              <a:t>hàng trực </a:t>
            </a:r>
            <a:r>
              <a:rPr spc="-15" dirty="0"/>
              <a:t>tuyến </a:t>
            </a:r>
            <a:r>
              <a:rPr spc="-890" dirty="0"/>
              <a:t> </a:t>
            </a:r>
            <a:r>
              <a:rPr dirty="0"/>
              <a:t>(Online</a:t>
            </a:r>
            <a:r>
              <a:rPr spc="-5" dirty="0"/>
              <a:t> </a:t>
            </a:r>
            <a:r>
              <a:rPr spc="-15" dirty="0"/>
              <a:t>Order</a:t>
            </a:r>
            <a:r>
              <a:rPr spc="-5" dirty="0"/>
              <a:t> Processing</a:t>
            </a:r>
            <a:r>
              <a:rPr spc="-60" dirty="0"/>
              <a:t> </a:t>
            </a:r>
            <a:r>
              <a:rPr spc="-30" dirty="0"/>
              <a:t>System)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66417" y="2469514"/>
            <a:ext cx="1549400" cy="1625600"/>
            <a:chOff x="2066417" y="2469514"/>
            <a:chExt cx="1549400" cy="1625600"/>
          </a:xfrm>
        </p:grpSpPr>
        <p:sp>
          <p:nvSpPr>
            <p:cNvPr id="4" name="object 4"/>
            <p:cNvSpPr/>
            <p:nvPr/>
          </p:nvSpPr>
          <p:spPr>
            <a:xfrm>
              <a:off x="2079117" y="2482214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762000" y="0"/>
                  </a:moveTo>
                  <a:lnTo>
                    <a:pt x="715577" y="1460"/>
                  </a:lnTo>
                  <a:lnTo>
                    <a:pt x="669890" y="5785"/>
                  </a:lnTo>
                  <a:lnTo>
                    <a:pt x="625019" y="12892"/>
                  </a:lnTo>
                  <a:lnTo>
                    <a:pt x="581044" y="22696"/>
                  </a:lnTo>
                  <a:lnTo>
                    <a:pt x="538044" y="35114"/>
                  </a:lnTo>
                  <a:lnTo>
                    <a:pt x="496098" y="50062"/>
                  </a:lnTo>
                  <a:lnTo>
                    <a:pt x="455287" y="67456"/>
                  </a:lnTo>
                  <a:lnTo>
                    <a:pt x="415690" y="87212"/>
                  </a:lnTo>
                  <a:lnTo>
                    <a:pt x="377387" y="109248"/>
                  </a:lnTo>
                  <a:lnTo>
                    <a:pt x="340457" y="133478"/>
                  </a:lnTo>
                  <a:lnTo>
                    <a:pt x="304981" y="159820"/>
                  </a:lnTo>
                  <a:lnTo>
                    <a:pt x="271037" y="188189"/>
                  </a:lnTo>
                  <a:lnTo>
                    <a:pt x="238706" y="218503"/>
                  </a:lnTo>
                  <a:lnTo>
                    <a:pt x="208067" y="250676"/>
                  </a:lnTo>
                  <a:lnTo>
                    <a:pt x="179200" y="284626"/>
                  </a:lnTo>
                  <a:lnTo>
                    <a:pt x="152185" y="320268"/>
                  </a:lnTo>
                  <a:lnTo>
                    <a:pt x="127100" y="357520"/>
                  </a:lnTo>
                  <a:lnTo>
                    <a:pt x="104027" y="396296"/>
                  </a:lnTo>
                  <a:lnTo>
                    <a:pt x="83044" y="436514"/>
                  </a:lnTo>
                  <a:lnTo>
                    <a:pt x="64231" y="478089"/>
                  </a:lnTo>
                  <a:lnTo>
                    <a:pt x="47668" y="520939"/>
                  </a:lnTo>
                  <a:lnTo>
                    <a:pt x="33435" y="564979"/>
                  </a:lnTo>
                  <a:lnTo>
                    <a:pt x="21610" y="610125"/>
                  </a:lnTo>
                  <a:lnTo>
                    <a:pt x="12275" y="656294"/>
                  </a:lnTo>
                  <a:lnTo>
                    <a:pt x="5508" y="703402"/>
                  </a:lnTo>
                  <a:lnTo>
                    <a:pt x="1390" y="751365"/>
                  </a:lnTo>
                  <a:lnTo>
                    <a:pt x="0" y="800100"/>
                  </a:lnTo>
                  <a:lnTo>
                    <a:pt x="1390" y="848834"/>
                  </a:lnTo>
                  <a:lnTo>
                    <a:pt x="5508" y="896797"/>
                  </a:lnTo>
                  <a:lnTo>
                    <a:pt x="12275" y="943905"/>
                  </a:lnTo>
                  <a:lnTo>
                    <a:pt x="21610" y="990074"/>
                  </a:lnTo>
                  <a:lnTo>
                    <a:pt x="33435" y="1035220"/>
                  </a:lnTo>
                  <a:lnTo>
                    <a:pt x="47668" y="1079260"/>
                  </a:lnTo>
                  <a:lnTo>
                    <a:pt x="64231" y="1122110"/>
                  </a:lnTo>
                  <a:lnTo>
                    <a:pt x="83044" y="1163685"/>
                  </a:lnTo>
                  <a:lnTo>
                    <a:pt x="104027" y="1203903"/>
                  </a:lnTo>
                  <a:lnTo>
                    <a:pt x="127100" y="1242679"/>
                  </a:lnTo>
                  <a:lnTo>
                    <a:pt x="152185" y="1279931"/>
                  </a:lnTo>
                  <a:lnTo>
                    <a:pt x="179200" y="1315573"/>
                  </a:lnTo>
                  <a:lnTo>
                    <a:pt x="208067" y="1349523"/>
                  </a:lnTo>
                  <a:lnTo>
                    <a:pt x="238706" y="1381696"/>
                  </a:lnTo>
                  <a:lnTo>
                    <a:pt x="271037" y="1412010"/>
                  </a:lnTo>
                  <a:lnTo>
                    <a:pt x="304981" y="1440379"/>
                  </a:lnTo>
                  <a:lnTo>
                    <a:pt x="340457" y="1466721"/>
                  </a:lnTo>
                  <a:lnTo>
                    <a:pt x="377387" y="1490951"/>
                  </a:lnTo>
                  <a:lnTo>
                    <a:pt x="415690" y="1512987"/>
                  </a:lnTo>
                  <a:lnTo>
                    <a:pt x="455287" y="1532743"/>
                  </a:lnTo>
                  <a:lnTo>
                    <a:pt x="496098" y="1550137"/>
                  </a:lnTo>
                  <a:lnTo>
                    <a:pt x="538044" y="1565085"/>
                  </a:lnTo>
                  <a:lnTo>
                    <a:pt x="581044" y="1577503"/>
                  </a:lnTo>
                  <a:lnTo>
                    <a:pt x="625019" y="1587307"/>
                  </a:lnTo>
                  <a:lnTo>
                    <a:pt x="669890" y="1594414"/>
                  </a:lnTo>
                  <a:lnTo>
                    <a:pt x="715577" y="1598739"/>
                  </a:lnTo>
                  <a:lnTo>
                    <a:pt x="762000" y="1600200"/>
                  </a:lnTo>
                  <a:lnTo>
                    <a:pt x="808422" y="1598739"/>
                  </a:lnTo>
                  <a:lnTo>
                    <a:pt x="854109" y="1594414"/>
                  </a:lnTo>
                  <a:lnTo>
                    <a:pt x="898980" y="1587307"/>
                  </a:lnTo>
                  <a:lnTo>
                    <a:pt x="942955" y="1577503"/>
                  </a:lnTo>
                  <a:lnTo>
                    <a:pt x="985955" y="1565085"/>
                  </a:lnTo>
                  <a:lnTo>
                    <a:pt x="1027901" y="1550137"/>
                  </a:lnTo>
                  <a:lnTo>
                    <a:pt x="1068712" y="1532743"/>
                  </a:lnTo>
                  <a:lnTo>
                    <a:pt x="1108309" y="1512987"/>
                  </a:lnTo>
                  <a:lnTo>
                    <a:pt x="1146612" y="1490951"/>
                  </a:lnTo>
                  <a:lnTo>
                    <a:pt x="1183542" y="1466721"/>
                  </a:lnTo>
                  <a:lnTo>
                    <a:pt x="1219018" y="1440379"/>
                  </a:lnTo>
                  <a:lnTo>
                    <a:pt x="1252962" y="1412010"/>
                  </a:lnTo>
                  <a:lnTo>
                    <a:pt x="1285293" y="1381696"/>
                  </a:lnTo>
                  <a:lnTo>
                    <a:pt x="1315932" y="1349523"/>
                  </a:lnTo>
                  <a:lnTo>
                    <a:pt x="1344799" y="1315573"/>
                  </a:lnTo>
                  <a:lnTo>
                    <a:pt x="1371814" y="1279931"/>
                  </a:lnTo>
                  <a:lnTo>
                    <a:pt x="1396899" y="1242679"/>
                  </a:lnTo>
                  <a:lnTo>
                    <a:pt x="1419972" y="1203903"/>
                  </a:lnTo>
                  <a:lnTo>
                    <a:pt x="1440955" y="1163685"/>
                  </a:lnTo>
                  <a:lnTo>
                    <a:pt x="1459768" y="1122110"/>
                  </a:lnTo>
                  <a:lnTo>
                    <a:pt x="1476331" y="1079260"/>
                  </a:lnTo>
                  <a:lnTo>
                    <a:pt x="1490564" y="1035220"/>
                  </a:lnTo>
                  <a:lnTo>
                    <a:pt x="1502389" y="990074"/>
                  </a:lnTo>
                  <a:lnTo>
                    <a:pt x="1511724" y="943905"/>
                  </a:lnTo>
                  <a:lnTo>
                    <a:pt x="1518491" y="896797"/>
                  </a:lnTo>
                  <a:lnTo>
                    <a:pt x="1522609" y="848834"/>
                  </a:lnTo>
                  <a:lnTo>
                    <a:pt x="1523999" y="800100"/>
                  </a:lnTo>
                  <a:lnTo>
                    <a:pt x="1522609" y="751365"/>
                  </a:lnTo>
                  <a:lnTo>
                    <a:pt x="1518491" y="703402"/>
                  </a:lnTo>
                  <a:lnTo>
                    <a:pt x="1511724" y="656294"/>
                  </a:lnTo>
                  <a:lnTo>
                    <a:pt x="1502389" y="610125"/>
                  </a:lnTo>
                  <a:lnTo>
                    <a:pt x="1490564" y="564979"/>
                  </a:lnTo>
                  <a:lnTo>
                    <a:pt x="1476331" y="520939"/>
                  </a:lnTo>
                  <a:lnTo>
                    <a:pt x="1459768" y="478089"/>
                  </a:lnTo>
                  <a:lnTo>
                    <a:pt x="1440955" y="436514"/>
                  </a:lnTo>
                  <a:lnTo>
                    <a:pt x="1419972" y="396296"/>
                  </a:lnTo>
                  <a:lnTo>
                    <a:pt x="1396899" y="357520"/>
                  </a:lnTo>
                  <a:lnTo>
                    <a:pt x="1371814" y="320268"/>
                  </a:lnTo>
                  <a:lnTo>
                    <a:pt x="1344799" y="284626"/>
                  </a:lnTo>
                  <a:lnTo>
                    <a:pt x="1315932" y="250676"/>
                  </a:lnTo>
                  <a:lnTo>
                    <a:pt x="1285293" y="218503"/>
                  </a:lnTo>
                  <a:lnTo>
                    <a:pt x="1252962" y="188189"/>
                  </a:lnTo>
                  <a:lnTo>
                    <a:pt x="1219018" y="159820"/>
                  </a:lnTo>
                  <a:lnTo>
                    <a:pt x="1183542" y="133478"/>
                  </a:lnTo>
                  <a:lnTo>
                    <a:pt x="1146612" y="109248"/>
                  </a:lnTo>
                  <a:lnTo>
                    <a:pt x="1108309" y="87212"/>
                  </a:lnTo>
                  <a:lnTo>
                    <a:pt x="1068712" y="67456"/>
                  </a:lnTo>
                  <a:lnTo>
                    <a:pt x="1027901" y="50062"/>
                  </a:lnTo>
                  <a:lnTo>
                    <a:pt x="985955" y="35114"/>
                  </a:lnTo>
                  <a:lnTo>
                    <a:pt x="942955" y="22696"/>
                  </a:lnTo>
                  <a:lnTo>
                    <a:pt x="898980" y="12892"/>
                  </a:lnTo>
                  <a:lnTo>
                    <a:pt x="854109" y="5785"/>
                  </a:lnTo>
                  <a:lnTo>
                    <a:pt x="808422" y="146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79117" y="2482214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0" y="800100"/>
                  </a:moveTo>
                  <a:lnTo>
                    <a:pt x="1390" y="751365"/>
                  </a:lnTo>
                  <a:lnTo>
                    <a:pt x="5508" y="703402"/>
                  </a:lnTo>
                  <a:lnTo>
                    <a:pt x="12275" y="656294"/>
                  </a:lnTo>
                  <a:lnTo>
                    <a:pt x="21610" y="610125"/>
                  </a:lnTo>
                  <a:lnTo>
                    <a:pt x="33435" y="564979"/>
                  </a:lnTo>
                  <a:lnTo>
                    <a:pt x="47668" y="520939"/>
                  </a:lnTo>
                  <a:lnTo>
                    <a:pt x="64231" y="478089"/>
                  </a:lnTo>
                  <a:lnTo>
                    <a:pt x="83044" y="436514"/>
                  </a:lnTo>
                  <a:lnTo>
                    <a:pt x="104027" y="396296"/>
                  </a:lnTo>
                  <a:lnTo>
                    <a:pt x="127100" y="357520"/>
                  </a:lnTo>
                  <a:lnTo>
                    <a:pt x="152185" y="320268"/>
                  </a:lnTo>
                  <a:lnTo>
                    <a:pt x="179200" y="284626"/>
                  </a:lnTo>
                  <a:lnTo>
                    <a:pt x="208067" y="250676"/>
                  </a:lnTo>
                  <a:lnTo>
                    <a:pt x="238706" y="218503"/>
                  </a:lnTo>
                  <a:lnTo>
                    <a:pt x="271037" y="188189"/>
                  </a:lnTo>
                  <a:lnTo>
                    <a:pt x="304981" y="159820"/>
                  </a:lnTo>
                  <a:lnTo>
                    <a:pt x="340457" y="133478"/>
                  </a:lnTo>
                  <a:lnTo>
                    <a:pt x="377387" y="109248"/>
                  </a:lnTo>
                  <a:lnTo>
                    <a:pt x="415690" y="87212"/>
                  </a:lnTo>
                  <a:lnTo>
                    <a:pt x="455287" y="67456"/>
                  </a:lnTo>
                  <a:lnTo>
                    <a:pt x="496098" y="50062"/>
                  </a:lnTo>
                  <a:lnTo>
                    <a:pt x="538044" y="35114"/>
                  </a:lnTo>
                  <a:lnTo>
                    <a:pt x="581044" y="22696"/>
                  </a:lnTo>
                  <a:lnTo>
                    <a:pt x="625019" y="12892"/>
                  </a:lnTo>
                  <a:lnTo>
                    <a:pt x="669890" y="5785"/>
                  </a:lnTo>
                  <a:lnTo>
                    <a:pt x="715577" y="1460"/>
                  </a:lnTo>
                  <a:lnTo>
                    <a:pt x="762000" y="0"/>
                  </a:lnTo>
                  <a:lnTo>
                    <a:pt x="808422" y="1460"/>
                  </a:lnTo>
                  <a:lnTo>
                    <a:pt x="854109" y="5785"/>
                  </a:lnTo>
                  <a:lnTo>
                    <a:pt x="898980" y="12892"/>
                  </a:lnTo>
                  <a:lnTo>
                    <a:pt x="942955" y="22696"/>
                  </a:lnTo>
                  <a:lnTo>
                    <a:pt x="985955" y="35114"/>
                  </a:lnTo>
                  <a:lnTo>
                    <a:pt x="1027901" y="50062"/>
                  </a:lnTo>
                  <a:lnTo>
                    <a:pt x="1068712" y="67456"/>
                  </a:lnTo>
                  <a:lnTo>
                    <a:pt x="1108309" y="87212"/>
                  </a:lnTo>
                  <a:lnTo>
                    <a:pt x="1146612" y="109248"/>
                  </a:lnTo>
                  <a:lnTo>
                    <a:pt x="1183542" y="133478"/>
                  </a:lnTo>
                  <a:lnTo>
                    <a:pt x="1219018" y="159820"/>
                  </a:lnTo>
                  <a:lnTo>
                    <a:pt x="1252962" y="188189"/>
                  </a:lnTo>
                  <a:lnTo>
                    <a:pt x="1285293" y="218503"/>
                  </a:lnTo>
                  <a:lnTo>
                    <a:pt x="1315932" y="250676"/>
                  </a:lnTo>
                  <a:lnTo>
                    <a:pt x="1344799" y="284626"/>
                  </a:lnTo>
                  <a:lnTo>
                    <a:pt x="1371814" y="320268"/>
                  </a:lnTo>
                  <a:lnTo>
                    <a:pt x="1396899" y="357520"/>
                  </a:lnTo>
                  <a:lnTo>
                    <a:pt x="1419972" y="396296"/>
                  </a:lnTo>
                  <a:lnTo>
                    <a:pt x="1440955" y="436514"/>
                  </a:lnTo>
                  <a:lnTo>
                    <a:pt x="1459768" y="478089"/>
                  </a:lnTo>
                  <a:lnTo>
                    <a:pt x="1476331" y="520939"/>
                  </a:lnTo>
                  <a:lnTo>
                    <a:pt x="1490564" y="564979"/>
                  </a:lnTo>
                  <a:lnTo>
                    <a:pt x="1502389" y="610125"/>
                  </a:lnTo>
                  <a:lnTo>
                    <a:pt x="1511724" y="656294"/>
                  </a:lnTo>
                  <a:lnTo>
                    <a:pt x="1518491" y="703402"/>
                  </a:lnTo>
                  <a:lnTo>
                    <a:pt x="1522609" y="751365"/>
                  </a:lnTo>
                  <a:lnTo>
                    <a:pt x="1523999" y="800100"/>
                  </a:lnTo>
                  <a:lnTo>
                    <a:pt x="1522609" y="848834"/>
                  </a:lnTo>
                  <a:lnTo>
                    <a:pt x="1518491" y="896797"/>
                  </a:lnTo>
                  <a:lnTo>
                    <a:pt x="1511724" y="943905"/>
                  </a:lnTo>
                  <a:lnTo>
                    <a:pt x="1502389" y="990074"/>
                  </a:lnTo>
                  <a:lnTo>
                    <a:pt x="1490564" y="1035220"/>
                  </a:lnTo>
                  <a:lnTo>
                    <a:pt x="1476331" y="1079260"/>
                  </a:lnTo>
                  <a:lnTo>
                    <a:pt x="1459768" y="1122110"/>
                  </a:lnTo>
                  <a:lnTo>
                    <a:pt x="1440955" y="1163685"/>
                  </a:lnTo>
                  <a:lnTo>
                    <a:pt x="1419972" y="1203903"/>
                  </a:lnTo>
                  <a:lnTo>
                    <a:pt x="1396899" y="1242679"/>
                  </a:lnTo>
                  <a:lnTo>
                    <a:pt x="1371814" y="1279931"/>
                  </a:lnTo>
                  <a:lnTo>
                    <a:pt x="1344799" y="1315573"/>
                  </a:lnTo>
                  <a:lnTo>
                    <a:pt x="1315932" y="1349523"/>
                  </a:lnTo>
                  <a:lnTo>
                    <a:pt x="1285293" y="1381696"/>
                  </a:lnTo>
                  <a:lnTo>
                    <a:pt x="1252962" y="1412010"/>
                  </a:lnTo>
                  <a:lnTo>
                    <a:pt x="1219018" y="1440379"/>
                  </a:lnTo>
                  <a:lnTo>
                    <a:pt x="1183542" y="1466721"/>
                  </a:lnTo>
                  <a:lnTo>
                    <a:pt x="1146612" y="1490951"/>
                  </a:lnTo>
                  <a:lnTo>
                    <a:pt x="1108309" y="1512987"/>
                  </a:lnTo>
                  <a:lnTo>
                    <a:pt x="1068712" y="1532743"/>
                  </a:lnTo>
                  <a:lnTo>
                    <a:pt x="1027901" y="1550137"/>
                  </a:lnTo>
                  <a:lnTo>
                    <a:pt x="985955" y="1565085"/>
                  </a:lnTo>
                  <a:lnTo>
                    <a:pt x="942955" y="1577503"/>
                  </a:lnTo>
                  <a:lnTo>
                    <a:pt x="898980" y="1587307"/>
                  </a:lnTo>
                  <a:lnTo>
                    <a:pt x="854109" y="1594414"/>
                  </a:lnTo>
                  <a:lnTo>
                    <a:pt x="808422" y="1598739"/>
                  </a:lnTo>
                  <a:lnTo>
                    <a:pt x="762000" y="1600200"/>
                  </a:lnTo>
                  <a:lnTo>
                    <a:pt x="715577" y="1598739"/>
                  </a:lnTo>
                  <a:lnTo>
                    <a:pt x="669890" y="1594414"/>
                  </a:lnTo>
                  <a:lnTo>
                    <a:pt x="625019" y="1587307"/>
                  </a:lnTo>
                  <a:lnTo>
                    <a:pt x="581044" y="1577503"/>
                  </a:lnTo>
                  <a:lnTo>
                    <a:pt x="538044" y="1565085"/>
                  </a:lnTo>
                  <a:lnTo>
                    <a:pt x="496098" y="1550137"/>
                  </a:lnTo>
                  <a:lnTo>
                    <a:pt x="455287" y="1532743"/>
                  </a:lnTo>
                  <a:lnTo>
                    <a:pt x="415690" y="1512987"/>
                  </a:lnTo>
                  <a:lnTo>
                    <a:pt x="377387" y="1490951"/>
                  </a:lnTo>
                  <a:lnTo>
                    <a:pt x="340457" y="1466721"/>
                  </a:lnTo>
                  <a:lnTo>
                    <a:pt x="304981" y="1440379"/>
                  </a:lnTo>
                  <a:lnTo>
                    <a:pt x="271037" y="1412010"/>
                  </a:lnTo>
                  <a:lnTo>
                    <a:pt x="238706" y="1381696"/>
                  </a:lnTo>
                  <a:lnTo>
                    <a:pt x="208067" y="1349523"/>
                  </a:lnTo>
                  <a:lnTo>
                    <a:pt x="179200" y="1315573"/>
                  </a:lnTo>
                  <a:lnTo>
                    <a:pt x="152185" y="1279931"/>
                  </a:lnTo>
                  <a:lnTo>
                    <a:pt x="127100" y="1242679"/>
                  </a:lnTo>
                  <a:lnTo>
                    <a:pt x="104027" y="1203903"/>
                  </a:lnTo>
                  <a:lnTo>
                    <a:pt x="83044" y="1163685"/>
                  </a:lnTo>
                  <a:lnTo>
                    <a:pt x="64231" y="1122110"/>
                  </a:lnTo>
                  <a:lnTo>
                    <a:pt x="47668" y="1079260"/>
                  </a:lnTo>
                  <a:lnTo>
                    <a:pt x="33435" y="1035220"/>
                  </a:lnTo>
                  <a:lnTo>
                    <a:pt x="21610" y="990074"/>
                  </a:lnTo>
                  <a:lnTo>
                    <a:pt x="12275" y="943905"/>
                  </a:lnTo>
                  <a:lnTo>
                    <a:pt x="5508" y="896797"/>
                  </a:lnTo>
                  <a:lnTo>
                    <a:pt x="1390" y="848834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11983" y="2987802"/>
            <a:ext cx="857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690" marR="5080" indent="-1746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Lập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đơn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hàng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07103" y="2402458"/>
            <a:ext cx="1549400" cy="1625600"/>
            <a:chOff x="4507103" y="2402458"/>
            <a:chExt cx="1549400" cy="1625600"/>
          </a:xfrm>
        </p:grpSpPr>
        <p:sp>
          <p:nvSpPr>
            <p:cNvPr id="8" name="object 8"/>
            <p:cNvSpPr/>
            <p:nvPr/>
          </p:nvSpPr>
          <p:spPr>
            <a:xfrm>
              <a:off x="4519803" y="2415158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762000" y="0"/>
                  </a:moveTo>
                  <a:lnTo>
                    <a:pt x="715577" y="1460"/>
                  </a:lnTo>
                  <a:lnTo>
                    <a:pt x="669890" y="5785"/>
                  </a:lnTo>
                  <a:lnTo>
                    <a:pt x="625019" y="12892"/>
                  </a:lnTo>
                  <a:lnTo>
                    <a:pt x="581044" y="22696"/>
                  </a:lnTo>
                  <a:lnTo>
                    <a:pt x="538044" y="35114"/>
                  </a:lnTo>
                  <a:lnTo>
                    <a:pt x="496098" y="50062"/>
                  </a:lnTo>
                  <a:lnTo>
                    <a:pt x="455287" y="67456"/>
                  </a:lnTo>
                  <a:lnTo>
                    <a:pt x="415690" y="87212"/>
                  </a:lnTo>
                  <a:lnTo>
                    <a:pt x="377387" y="109248"/>
                  </a:lnTo>
                  <a:lnTo>
                    <a:pt x="340457" y="133478"/>
                  </a:lnTo>
                  <a:lnTo>
                    <a:pt x="304981" y="159820"/>
                  </a:lnTo>
                  <a:lnTo>
                    <a:pt x="271037" y="188189"/>
                  </a:lnTo>
                  <a:lnTo>
                    <a:pt x="238706" y="218503"/>
                  </a:lnTo>
                  <a:lnTo>
                    <a:pt x="208067" y="250676"/>
                  </a:lnTo>
                  <a:lnTo>
                    <a:pt x="179200" y="284626"/>
                  </a:lnTo>
                  <a:lnTo>
                    <a:pt x="152185" y="320268"/>
                  </a:lnTo>
                  <a:lnTo>
                    <a:pt x="127100" y="357520"/>
                  </a:lnTo>
                  <a:lnTo>
                    <a:pt x="104027" y="396296"/>
                  </a:lnTo>
                  <a:lnTo>
                    <a:pt x="83044" y="436514"/>
                  </a:lnTo>
                  <a:lnTo>
                    <a:pt x="64231" y="478089"/>
                  </a:lnTo>
                  <a:lnTo>
                    <a:pt x="47668" y="520939"/>
                  </a:lnTo>
                  <a:lnTo>
                    <a:pt x="33435" y="564979"/>
                  </a:lnTo>
                  <a:lnTo>
                    <a:pt x="21610" y="610125"/>
                  </a:lnTo>
                  <a:lnTo>
                    <a:pt x="12275" y="656294"/>
                  </a:lnTo>
                  <a:lnTo>
                    <a:pt x="5508" y="703402"/>
                  </a:lnTo>
                  <a:lnTo>
                    <a:pt x="1390" y="751365"/>
                  </a:lnTo>
                  <a:lnTo>
                    <a:pt x="0" y="800100"/>
                  </a:lnTo>
                  <a:lnTo>
                    <a:pt x="1390" y="848834"/>
                  </a:lnTo>
                  <a:lnTo>
                    <a:pt x="5508" y="896797"/>
                  </a:lnTo>
                  <a:lnTo>
                    <a:pt x="12275" y="943905"/>
                  </a:lnTo>
                  <a:lnTo>
                    <a:pt x="21610" y="990074"/>
                  </a:lnTo>
                  <a:lnTo>
                    <a:pt x="33435" y="1035220"/>
                  </a:lnTo>
                  <a:lnTo>
                    <a:pt x="47668" y="1079260"/>
                  </a:lnTo>
                  <a:lnTo>
                    <a:pt x="64231" y="1122110"/>
                  </a:lnTo>
                  <a:lnTo>
                    <a:pt x="83044" y="1163685"/>
                  </a:lnTo>
                  <a:lnTo>
                    <a:pt x="104027" y="1203903"/>
                  </a:lnTo>
                  <a:lnTo>
                    <a:pt x="127100" y="1242679"/>
                  </a:lnTo>
                  <a:lnTo>
                    <a:pt x="152185" y="1279931"/>
                  </a:lnTo>
                  <a:lnTo>
                    <a:pt x="179200" y="1315573"/>
                  </a:lnTo>
                  <a:lnTo>
                    <a:pt x="208067" y="1349523"/>
                  </a:lnTo>
                  <a:lnTo>
                    <a:pt x="238706" y="1381696"/>
                  </a:lnTo>
                  <a:lnTo>
                    <a:pt x="271037" y="1412010"/>
                  </a:lnTo>
                  <a:lnTo>
                    <a:pt x="304981" y="1440379"/>
                  </a:lnTo>
                  <a:lnTo>
                    <a:pt x="340457" y="1466721"/>
                  </a:lnTo>
                  <a:lnTo>
                    <a:pt x="377387" y="1490951"/>
                  </a:lnTo>
                  <a:lnTo>
                    <a:pt x="415690" y="1512987"/>
                  </a:lnTo>
                  <a:lnTo>
                    <a:pt x="455287" y="1532743"/>
                  </a:lnTo>
                  <a:lnTo>
                    <a:pt x="496098" y="1550137"/>
                  </a:lnTo>
                  <a:lnTo>
                    <a:pt x="538044" y="1565085"/>
                  </a:lnTo>
                  <a:lnTo>
                    <a:pt x="581044" y="1577503"/>
                  </a:lnTo>
                  <a:lnTo>
                    <a:pt x="625019" y="1587307"/>
                  </a:lnTo>
                  <a:lnTo>
                    <a:pt x="669890" y="1594414"/>
                  </a:lnTo>
                  <a:lnTo>
                    <a:pt x="715577" y="1598739"/>
                  </a:lnTo>
                  <a:lnTo>
                    <a:pt x="762000" y="1600199"/>
                  </a:lnTo>
                  <a:lnTo>
                    <a:pt x="808422" y="1598739"/>
                  </a:lnTo>
                  <a:lnTo>
                    <a:pt x="854109" y="1594414"/>
                  </a:lnTo>
                  <a:lnTo>
                    <a:pt x="898980" y="1587307"/>
                  </a:lnTo>
                  <a:lnTo>
                    <a:pt x="942955" y="1577503"/>
                  </a:lnTo>
                  <a:lnTo>
                    <a:pt x="985955" y="1565085"/>
                  </a:lnTo>
                  <a:lnTo>
                    <a:pt x="1027901" y="1550137"/>
                  </a:lnTo>
                  <a:lnTo>
                    <a:pt x="1068712" y="1532743"/>
                  </a:lnTo>
                  <a:lnTo>
                    <a:pt x="1108309" y="1512987"/>
                  </a:lnTo>
                  <a:lnTo>
                    <a:pt x="1146612" y="1490951"/>
                  </a:lnTo>
                  <a:lnTo>
                    <a:pt x="1183542" y="1466721"/>
                  </a:lnTo>
                  <a:lnTo>
                    <a:pt x="1219018" y="1440379"/>
                  </a:lnTo>
                  <a:lnTo>
                    <a:pt x="1252962" y="1412010"/>
                  </a:lnTo>
                  <a:lnTo>
                    <a:pt x="1285293" y="1381696"/>
                  </a:lnTo>
                  <a:lnTo>
                    <a:pt x="1315932" y="1349523"/>
                  </a:lnTo>
                  <a:lnTo>
                    <a:pt x="1344799" y="1315573"/>
                  </a:lnTo>
                  <a:lnTo>
                    <a:pt x="1371814" y="1279931"/>
                  </a:lnTo>
                  <a:lnTo>
                    <a:pt x="1396899" y="1242679"/>
                  </a:lnTo>
                  <a:lnTo>
                    <a:pt x="1419972" y="1203903"/>
                  </a:lnTo>
                  <a:lnTo>
                    <a:pt x="1440955" y="1163685"/>
                  </a:lnTo>
                  <a:lnTo>
                    <a:pt x="1459768" y="1122110"/>
                  </a:lnTo>
                  <a:lnTo>
                    <a:pt x="1476331" y="1079260"/>
                  </a:lnTo>
                  <a:lnTo>
                    <a:pt x="1490564" y="1035220"/>
                  </a:lnTo>
                  <a:lnTo>
                    <a:pt x="1502389" y="990074"/>
                  </a:lnTo>
                  <a:lnTo>
                    <a:pt x="1511724" y="943905"/>
                  </a:lnTo>
                  <a:lnTo>
                    <a:pt x="1518491" y="896797"/>
                  </a:lnTo>
                  <a:lnTo>
                    <a:pt x="1522609" y="848834"/>
                  </a:lnTo>
                  <a:lnTo>
                    <a:pt x="1524000" y="800100"/>
                  </a:lnTo>
                  <a:lnTo>
                    <a:pt x="1522609" y="751365"/>
                  </a:lnTo>
                  <a:lnTo>
                    <a:pt x="1518491" y="703402"/>
                  </a:lnTo>
                  <a:lnTo>
                    <a:pt x="1511724" y="656294"/>
                  </a:lnTo>
                  <a:lnTo>
                    <a:pt x="1502389" y="610125"/>
                  </a:lnTo>
                  <a:lnTo>
                    <a:pt x="1490564" y="564979"/>
                  </a:lnTo>
                  <a:lnTo>
                    <a:pt x="1476331" y="520939"/>
                  </a:lnTo>
                  <a:lnTo>
                    <a:pt x="1459768" y="478089"/>
                  </a:lnTo>
                  <a:lnTo>
                    <a:pt x="1440955" y="436514"/>
                  </a:lnTo>
                  <a:lnTo>
                    <a:pt x="1419972" y="396296"/>
                  </a:lnTo>
                  <a:lnTo>
                    <a:pt x="1396899" y="357520"/>
                  </a:lnTo>
                  <a:lnTo>
                    <a:pt x="1371814" y="320268"/>
                  </a:lnTo>
                  <a:lnTo>
                    <a:pt x="1344799" y="284626"/>
                  </a:lnTo>
                  <a:lnTo>
                    <a:pt x="1315932" y="250676"/>
                  </a:lnTo>
                  <a:lnTo>
                    <a:pt x="1285293" y="218503"/>
                  </a:lnTo>
                  <a:lnTo>
                    <a:pt x="1252962" y="188189"/>
                  </a:lnTo>
                  <a:lnTo>
                    <a:pt x="1219018" y="159820"/>
                  </a:lnTo>
                  <a:lnTo>
                    <a:pt x="1183542" y="133478"/>
                  </a:lnTo>
                  <a:lnTo>
                    <a:pt x="1146612" y="109248"/>
                  </a:lnTo>
                  <a:lnTo>
                    <a:pt x="1108309" y="87212"/>
                  </a:lnTo>
                  <a:lnTo>
                    <a:pt x="1068712" y="67456"/>
                  </a:lnTo>
                  <a:lnTo>
                    <a:pt x="1027901" y="50062"/>
                  </a:lnTo>
                  <a:lnTo>
                    <a:pt x="985955" y="35114"/>
                  </a:lnTo>
                  <a:lnTo>
                    <a:pt x="942955" y="22696"/>
                  </a:lnTo>
                  <a:lnTo>
                    <a:pt x="898980" y="12892"/>
                  </a:lnTo>
                  <a:lnTo>
                    <a:pt x="854109" y="5785"/>
                  </a:lnTo>
                  <a:lnTo>
                    <a:pt x="808422" y="146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19803" y="2415158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0" y="800100"/>
                  </a:moveTo>
                  <a:lnTo>
                    <a:pt x="1390" y="751365"/>
                  </a:lnTo>
                  <a:lnTo>
                    <a:pt x="5508" y="703402"/>
                  </a:lnTo>
                  <a:lnTo>
                    <a:pt x="12275" y="656294"/>
                  </a:lnTo>
                  <a:lnTo>
                    <a:pt x="21610" y="610125"/>
                  </a:lnTo>
                  <a:lnTo>
                    <a:pt x="33435" y="564979"/>
                  </a:lnTo>
                  <a:lnTo>
                    <a:pt x="47668" y="520939"/>
                  </a:lnTo>
                  <a:lnTo>
                    <a:pt x="64231" y="478089"/>
                  </a:lnTo>
                  <a:lnTo>
                    <a:pt x="83044" y="436514"/>
                  </a:lnTo>
                  <a:lnTo>
                    <a:pt x="104027" y="396296"/>
                  </a:lnTo>
                  <a:lnTo>
                    <a:pt x="127100" y="357520"/>
                  </a:lnTo>
                  <a:lnTo>
                    <a:pt x="152185" y="320268"/>
                  </a:lnTo>
                  <a:lnTo>
                    <a:pt x="179200" y="284626"/>
                  </a:lnTo>
                  <a:lnTo>
                    <a:pt x="208067" y="250676"/>
                  </a:lnTo>
                  <a:lnTo>
                    <a:pt x="238706" y="218503"/>
                  </a:lnTo>
                  <a:lnTo>
                    <a:pt x="271037" y="188189"/>
                  </a:lnTo>
                  <a:lnTo>
                    <a:pt x="304981" y="159820"/>
                  </a:lnTo>
                  <a:lnTo>
                    <a:pt x="340457" y="133478"/>
                  </a:lnTo>
                  <a:lnTo>
                    <a:pt x="377387" y="109248"/>
                  </a:lnTo>
                  <a:lnTo>
                    <a:pt x="415690" y="87212"/>
                  </a:lnTo>
                  <a:lnTo>
                    <a:pt x="455287" y="67456"/>
                  </a:lnTo>
                  <a:lnTo>
                    <a:pt x="496098" y="50062"/>
                  </a:lnTo>
                  <a:lnTo>
                    <a:pt x="538044" y="35114"/>
                  </a:lnTo>
                  <a:lnTo>
                    <a:pt x="581044" y="22696"/>
                  </a:lnTo>
                  <a:lnTo>
                    <a:pt x="625019" y="12892"/>
                  </a:lnTo>
                  <a:lnTo>
                    <a:pt x="669890" y="5785"/>
                  </a:lnTo>
                  <a:lnTo>
                    <a:pt x="715577" y="1460"/>
                  </a:lnTo>
                  <a:lnTo>
                    <a:pt x="762000" y="0"/>
                  </a:lnTo>
                  <a:lnTo>
                    <a:pt x="808422" y="1460"/>
                  </a:lnTo>
                  <a:lnTo>
                    <a:pt x="854109" y="5785"/>
                  </a:lnTo>
                  <a:lnTo>
                    <a:pt x="898980" y="12892"/>
                  </a:lnTo>
                  <a:lnTo>
                    <a:pt x="942955" y="22696"/>
                  </a:lnTo>
                  <a:lnTo>
                    <a:pt x="985955" y="35114"/>
                  </a:lnTo>
                  <a:lnTo>
                    <a:pt x="1027901" y="50062"/>
                  </a:lnTo>
                  <a:lnTo>
                    <a:pt x="1068712" y="67456"/>
                  </a:lnTo>
                  <a:lnTo>
                    <a:pt x="1108309" y="87212"/>
                  </a:lnTo>
                  <a:lnTo>
                    <a:pt x="1146612" y="109248"/>
                  </a:lnTo>
                  <a:lnTo>
                    <a:pt x="1183542" y="133478"/>
                  </a:lnTo>
                  <a:lnTo>
                    <a:pt x="1219018" y="159820"/>
                  </a:lnTo>
                  <a:lnTo>
                    <a:pt x="1252962" y="188189"/>
                  </a:lnTo>
                  <a:lnTo>
                    <a:pt x="1285293" y="218503"/>
                  </a:lnTo>
                  <a:lnTo>
                    <a:pt x="1315932" y="250676"/>
                  </a:lnTo>
                  <a:lnTo>
                    <a:pt x="1344799" y="284626"/>
                  </a:lnTo>
                  <a:lnTo>
                    <a:pt x="1371814" y="320268"/>
                  </a:lnTo>
                  <a:lnTo>
                    <a:pt x="1396899" y="357520"/>
                  </a:lnTo>
                  <a:lnTo>
                    <a:pt x="1419972" y="396296"/>
                  </a:lnTo>
                  <a:lnTo>
                    <a:pt x="1440955" y="436514"/>
                  </a:lnTo>
                  <a:lnTo>
                    <a:pt x="1459768" y="478089"/>
                  </a:lnTo>
                  <a:lnTo>
                    <a:pt x="1476331" y="520939"/>
                  </a:lnTo>
                  <a:lnTo>
                    <a:pt x="1490564" y="564979"/>
                  </a:lnTo>
                  <a:lnTo>
                    <a:pt x="1502389" y="610125"/>
                  </a:lnTo>
                  <a:lnTo>
                    <a:pt x="1511724" y="656294"/>
                  </a:lnTo>
                  <a:lnTo>
                    <a:pt x="1518491" y="703402"/>
                  </a:lnTo>
                  <a:lnTo>
                    <a:pt x="1522609" y="751365"/>
                  </a:lnTo>
                  <a:lnTo>
                    <a:pt x="1524000" y="800100"/>
                  </a:lnTo>
                  <a:lnTo>
                    <a:pt x="1522609" y="848834"/>
                  </a:lnTo>
                  <a:lnTo>
                    <a:pt x="1518491" y="896797"/>
                  </a:lnTo>
                  <a:lnTo>
                    <a:pt x="1511724" y="943905"/>
                  </a:lnTo>
                  <a:lnTo>
                    <a:pt x="1502389" y="990074"/>
                  </a:lnTo>
                  <a:lnTo>
                    <a:pt x="1490564" y="1035220"/>
                  </a:lnTo>
                  <a:lnTo>
                    <a:pt x="1476331" y="1079260"/>
                  </a:lnTo>
                  <a:lnTo>
                    <a:pt x="1459768" y="1122110"/>
                  </a:lnTo>
                  <a:lnTo>
                    <a:pt x="1440955" y="1163685"/>
                  </a:lnTo>
                  <a:lnTo>
                    <a:pt x="1419972" y="1203903"/>
                  </a:lnTo>
                  <a:lnTo>
                    <a:pt x="1396899" y="1242679"/>
                  </a:lnTo>
                  <a:lnTo>
                    <a:pt x="1371814" y="1279931"/>
                  </a:lnTo>
                  <a:lnTo>
                    <a:pt x="1344799" y="1315573"/>
                  </a:lnTo>
                  <a:lnTo>
                    <a:pt x="1315932" y="1349523"/>
                  </a:lnTo>
                  <a:lnTo>
                    <a:pt x="1285293" y="1381696"/>
                  </a:lnTo>
                  <a:lnTo>
                    <a:pt x="1252962" y="1412010"/>
                  </a:lnTo>
                  <a:lnTo>
                    <a:pt x="1219018" y="1440379"/>
                  </a:lnTo>
                  <a:lnTo>
                    <a:pt x="1183542" y="1466721"/>
                  </a:lnTo>
                  <a:lnTo>
                    <a:pt x="1146612" y="1490951"/>
                  </a:lnTo>
                  <a:lnTo>
                    <a:pt x="1108309" y="1512987"/>
                  </a:lnTo>
                  <a:lnTo>
                    <a:pt x="1068712" y="1532743"/>
                  </a:lnTo>
                  <a:lnTo>
                    <a:pt x="1027901" y="1550137"/>
                  </a:lnTo>
                  <a:lnTo>
                    <a:pt x="985955" y="1565085"/>
                  </a:lnTo>
                  <a:lnTo>
                    <a:pt x="942955" y="1577503"/>
                  </a:lnTo>
                  <a:lnTo>
                    <a:pt x="898980" y="1587307"/>
                  </a:lnTo>
                  <a:lnTo>
                    <a:pt x="854109" y="1594414"/>
                  </a:lnTo>
                  <a:lnTo>
                    <a:pt x="808422" y="1598739"/>
                  </a:lnTo>
                  <a:lnTo>
                    <a:pt x="762000" y="1600199"/>
                  </a:lnTo>
                  <a:lnTo>
                    <a:pt x="715577" y="1598739"/>
                  </a:lnTo>
                  <a:lnTo>
                    <a:pt x="669890" y="1594414"/>
                  </a:lnTo>
                  <a:lnTo>
                    <a:pt x="625019" y="1587307"/>
                  </a:lnTo>
                  <a:lnTo>
                    <a:pt x="581044" y="1577503"/>
                  </a:lnTo>
                  <a:lnTo>
                    <a:pt x="538044" y="1565085"/>
                  </a:lnTo>
                  <a:lnTo>
                    <a:pt x="496098" y="1550137"/>
                  </a:lnTo>
                  <a:lnTo>
                    <a:pt x="455287" y="1532743"/>
                  </a:lnTo>
                  <a:lnTo>
                    <a:pt x="415690" y="1512987"/>
                  </a:lnTo>
                  <a:lnTo>
                    <a:pt x="377387" y="1490951"/>
                  </a:lnTo>
                  <a:lnTo>
                    <a:pt x="340457" y="1466721"/>
                  </a:lnTo>
                  <a:lnTo>
                    <a:pt x="304981" y="1440379"/>
                  </a:lnTo>
                  <a:lnTo>
                    <a:pt x="271037" y="1412010"/>
                  </a:lnTo>
                  <a:lnTo>
                    <a:pt x="238706" y="1381696"/>
                  </a:lnTo>
                  <a:lnTo>
                    <a:pt x="208067" y="1349523"/>
                  </a:lnTo>
                  <a:lnTo>
                    <a:pt x="179200" y="1315573"/>
                  </a:lnTo>
                  <a:lnTo>
                    <a:pt x="152185" y="1279931"/>
                  </a:lnTo>
                  <a:lnTo>
                    <a:pt x="127100" y="1242679"/>
                  </a:lnTo>
                  <a:lnTo>
                    <a:pt x="104027" y="1203903"/>
                  </a:lnTo>
                  <a:lnTo>
                    <a:pt x="83044" y="1163685"/>
                  </a:lnTo>
                  <a:lnTo>
                    <a:pt x="64231" y="1122110"/>
                  </a:lnTo>
                  <a:lnTo>
                    <a:pt x="47668" y="1079260"/>
                  </a:lnTo>
                  <a:lnTo>
                    <a:pt x="33435" y="1035220"/>
                  </a:lnTo>
                  <a:lnTo>
                    <a:pt x="21610" y="990074"/>
                  </a:lnTo>
                  <a:lnTo>
                    <a:pt x="12275" y="943905"/>
                  </a:lnTo>
                  <a:lnTo>
                    <a:pt x="5508" y="896797"/>
                  </a:lnTo>
                  <a:lnTo>
                    <a:pt x="1390" y="848834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39715" y="2920238"/>
            <a:ext cx="883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Lập </a:t>
            </a:r>
            <a:r>
              <a:rPr sz="1800" b="1" spc="-5" dirty="0">
                <a:latin typeface="Times New Roman"/>
                <a:cs typeface="Times New Roman"/>
              </a:rPr>
              <a:t>KH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xuất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kho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78503" y="4461383"/>
            <a:ext cx="1854200" cy="1625600"/>
            <a:chOff x="4278503" y="4461383"/>
            <a:chExt cx="1854200" cy="1625600"/>
          </a:xfrm>
        </p:grpSpPr>
        <p:sp>
          <p:nvSpPr>
            <p:cNvPr id="12" name="object 12"/>
            <p:cNvSpPr/>
            <p:nvPr/>
          </p:nvSpPr>
          <p:spPr>
            <a:xfrm>
              <a:off x="4291203" y="4474083"/>
              <a:ext cx="1828800" cy="1600200"/>
            </a:xfrm>
            <a:custGeom>
              <a:avLst/>
              <a:gdLst/>
              <a:ahLst/>
              <a:cxnLst/>
              <a:rect l="l" t="t" r="r" b="b"/>
              <a:pathLst>
                <a:path w="1828800" h="1600200">
                  <a:moveTo>
                    <a:pt x="914400" y="0"/>
                  </a:moveTo>
                  <a:lnTo>
                    <a:pt x="862517" y="1266"/>
                  </a:lnTo>
                  <a:lnTo>
                    <a:pt x="811392" y="5021"/>
                  </a:lnTo>
                  <a:lnTo>
                    <a:pt x="761104" y="11197"/>
                  </a:lnTo>
                  <a:lnTo>
                    <a:pt x="711729" y="19727"/>
                  </a:lnTo>
                  <a:lnTo>
                    <a:pt x="663343" y="30542"/>
                  </a:lnTo>
                  <a:lnTo>
                    <a:pt x="616026" y="43575"/>
                  </a:lnTo>
                  <a:lnTo>
                    <a:pt x="569853" y="58758"/>
                  </a:lnTo>
                  <a:lnTo>
                    <a:pt x="524902" y="76025"/>
                  </a:lnTo>
                  <a:lnTo>
                    <a:pt x="481251" y="95307"/>
                  </a:lnTo>
                  <a:lnTo>
                    <a:pt x="438976" y="116537"/>
                  </a:lnTo>
                  <a:lnTo>
                    <a:pt x="398154" y="139646"/>
                  </a:lnTo>
                  <a:lnTo>
                    <a:pt x="358864" y="164569"/>
                  </a:lnTo>
                  <a:lnTo>
                    <a:pt x="321182" y="191237"/>
                  </a:lnTo>
                  <a:lnTo>
                    <a:pt x="285185" y="219582"/>
                  </a:lnTo>
                  <a:lnTo>
                    <a:pt x="250951" y="249537"/>
                  </a:lnTo>
                  <a:lnTo>
                    <a:pt x="218556" y="281034"/>
                  </a:lnTo>
                  <a:lnTo>
                    <a:pt x="188079" y="314006"/>
                  </a:lnTo>
                  <a:lnTo>
                    <a:pt x="159596" y="348385"/>
                  </a:lnTo>
                  <a:lnTo>
                    <a:pt x="133185" y="384104"/>
                  </a:lnTo>
                  <a:lnTo>
                    <a:pt x="108922" y="421094"/>
                  </a:lnTo>
                  <a:lnTo>
                    <a:pt x="86886" y="459290"/>
                  </a:lnTo>
                  <a:lnTo>
                    <a:pt x="67152" y="498621"/>
                  </a:lnTo>
                  <a:lnTo>
                    <a:pt x="49800" y="539023"/>
                  </a:lnTo>
                  <a:lnTo>
                    <a:pt x="34905" y="580425"/>
                  </a:lnTo>
                  <a:lnTo>
                    <a:pt x="22545" y="622762"/>
                  </a:lnTo>
                  <a:lnTo>
                    <a:pt x="12797" y="665966"/>
                  </a:lnTo>
                  <a:lnTo>
                    <a:pt x="5739" y="709968"/>
                  </a:lnTo>
                  <a:lnTo>
                    <a:pt x="1447" y="754702"/>
                  </a:lnTo>
                  <a:lnTo>
                    <a:pt x="0" y="800100"/>
                  </a:lnTo>
                  <a:lnTo>
                    <a:pt x="1447" y="845502"/>
                  </a:lnTo>
                  <a:lnTo>
                    <a:pt x="5739" y="890240"/>
                  </a:lnTo>
                  <a:lnTo>
                    <a:pt x="12797" y="934246"/>
                  </a:lnTo>
                  <a:lnTo>
                    <a:pt x="22545" y="977452"/>
                  </a:lnTo>
                  <a:lnTo>
                    <a:pt x="34905" y="1019792"/>
                  </a:lnTo>
                  <a:lnTo>
                    <a:pt x="49800" y="1061196"/>
                  </a:lnTo>
                  <a:lnTo>
                    <a:pt x="67152" y="1101599"/>
                  </a:lnTo>
                  <a:lnTo>
                    <a:pt x="86886" y="1140932"/>
                  </a:lnTo>
                  <a:lnTo>
                    <a:pt x="108922" y="1179127"/>
                  </a:lnTo>
                  <a:lnTo>
                    <a:pt x="133185" y="1216118"/>
                  </a:lnTo>
                  <a:lnTo>
                    <a:pt x="159596" y="1251836"/>
                  </a:lnTo>
                  <a:lnTo>
                    <a:pt x="188079" y="1286215"/>
                  </a:lnTo>
                  <a:lnTo>
                    <a:pt x="218556" y="1319186"/>
                  </a:lnTo>
                  <a:lnTo>
                    <a:pt x="250951" y="1350682"/>
                  </a:lnTo>
                  <a:lnTo>
                    <a:pt x="285185" y="1380636"/>
                  </a:lnTo>
                  <a:lnTo>
                    <a:pt x="321182" y="1408979"/>
                  </a:lnTo>
                  <a:lnTo>
                    <a:pt x="358864" y="1435645"/>
                  </a:lnTo>
                  <a:lnTo>
                    <a:pt x="398154" y="1460566"/>
                  </a:lnTo>
                  <a:lnTo>
                    <a:pt x="438976" y="1483674"/>
                  </a:lnTo>
                  <a:lnTo>
                    <a:pt x="481251" y="1504902"/>
                  </a:lnTo>
                  <a:lnTo>
                    <a:pt x="524902" y="1524182"/>
                  </a:lnTo>
                  <a:lnTo>
                    <a:pt x="569853" y="1541447"/>
                  </a:lnTo>
                  <a:lnTo>
                    <a:pt x="616026" y="1556629"/>
                  </a:lnTo>
                  <a:lnTo>
                    <a:pt x="663343" y="1569661"/>
                  </a:lnTo>
                  <a:lnTo>
                    <a:pt x="711729" y="1580475"/>
                  </a:lnTo>
                  <a:lnTo>
                    <a:pt x="761104" y="1589003"/>
                  </a:lnTo>
                  <a:lnTo>
                    <a:pt x="811392" y="1595178"/>
                  </a:lnTo>
                  <a:lnTo>
                    <a:pt x="862517" y="1598933"/>
                  </a:lnTo>
                  <a:lnTo>
                    <a:pt x="914400" y="1600200"/>
                  </a:lnTo>
                  <a:lnTo>
                    <a:pt x="966282" y="1598933"/>
                  </a:lnTo>
                  <a:lnTo>
                    <a:pt x="1017407" y="1595178"/>
                  </a:lnTo>
                  <a:lnTo>
                    <a:pt x="1067695" y="1589003"/>
                  </a:lnTo>
                  <a:lnTo>
                    <a:pt x="1117070" y="1580475"/>
                  </a:lnTo>
                  <a:lnTo>
                    <a:pt x="1165456" y="1569661"/>
                  </a:lnTo>
                  <a:lnTo>
                    <a:pt x="1212773" y="1556629"/>
                  </a:lnTo>
                  <a:lnTo>
                    <a:pt x="1258946" y="1541447"/>
                  </a:lnTo>
                  <a:lnTo>
                    <a:pt x="1303897" y="1524182"/>
                  </a:lnTo>
                  <a:lnTo>
                    <a:pt x="1347548" y="1504902"/>
                  </a:lnTo>
                  <a:lnTo>
                    <a:pt x="1389823" y="1483674"/>
                  </a:lnTo>
                  <a:lnTo>
                    <a:pt x="1430645" y="1460566"/>
                  </a:lnTo>
                  <a:lnTo>
                    <a:pt x="1469935" y="1435645"/>
                  </a:lnTo>
                  <a:lnTo>
                    <a:pt x="1507617" y="1408979"/>
                  </a:lnTo>
                  <a:lnTo>
                    <a:pt x="1543614" y="1380636"/>
                  </a:lnTo>
                  <a:lnTo>
                    <a:pt x="1577848" y="1350682"/>
                  </a:lnTo>
                  <a:lnTo>
                    <a:pt x="1610243" y="1319186"/>
                  </a:lnTo>
                  <a:lnTo>
                    <a:pt x="1640720" y="1286215"/>
                  </a:lnTo>
                  <a:lnTo>
                    <a:pt x="1669203" y="1251836"/>
                  </a:lnTo>
                  <a:lnTo>
                    <a:pt x="1695614" y="1216118"/>
                  </a:lnTo>
                  <a:lnTo>
                    <a:pt x="1719877" y="1179127"/>
                  </a:lnTo>
                  <a:lnTo>
                    <a:pt x="1741913" y="1140932"/>
                  </a:lnTo>
                  <a:lnTo>
                    <a:pt x="1761647" y="1101599"/>
                  </a:lnTo>
                  <a:lnTo>
                    <a:pt x="1778999" y="1061196"/>
                  </a:lnTo>
                  <a:lnTo>
                    <a:pt x="1793894" y="1019792"/>
                  </a:lnTo>
                  <a:lnTo>
                    <a:pt x="1806254" y="977452"/>
                  </a:lnTo>
                  <a:lnTo>
                    <a:pt x="1816002" y="934246"/>
                  </a:lnTo>
                  <a:lnTo>
                    <a:pt x="1823060" y="890240"/>
                  </a:lnTo>
                  <a:lnTo>
                    <a:pt x="1827352" y="845502"/>
                  </a:lnTo>
                  <a:lnTo>
                    <a:pt x="1828800" y="800100"/>
                  </a:lnTo>
                  <a:lnTo>
                    <a:pt x="1827352" y="754702"/>
                  </a:lnTo>
                  <a:lnTo>
                    <a:pt x="1823060" y="709968"/>
                  </a:lnTo>
                  <a:lnTo>
                    <a:pt x="1816002" y="665966"/>
                  </a:lnTo>
                  <a:lnTo>
                    <a:pt x="1806254" y="622762"/>
                  </a:lnTo>
                  <a:lnTo>
                    <a:pt x="1793894" y="580425"/>
                  </a:lnTo>
                  <a:lnTo>
                    <a:pt x="1778999" y="539023"/>
                  </a:lnTo>
                  <a:lnTo>
                    <a:pt x="1761647" y="498621"/>
                  </a:lnTo>
                  <a:lnTo>
                    <a:pt x="1741913" y="459290"/>
                  </a:lnTo>
                  <a:lnTo>
                    <a:pt x="1719877" y="421094"/>
                  </a:lnTo>
                  <a:lnTo>
                    <a:pt x="1695614" y="384104"/>
                  </a:lnTo>
                  <a:lnTo>
                    <a:pt x="1669203" y="348385"/>
                  </a:lnTo>
                  <a:lnTo>
                    <a:pt x="1640720" y="314006"/>
                  </a:lnTo>
                  <a:lnTo>
                    <a:pt x="1610243" y="281034"/>
                  </a:lnTo>
                  <a:lnTo>
                    <a:pt x="1577848" y="249537"/>
                  </a:lnTo>
                  <a:lnTo>
                    <a:pt x="1543614" y="219582"/>
                  </a:lnTo>
                  <a:lnTo>
                    <a:pt x="1507617" y="191237"/>
                  </a:lnTo>
                  <a:lnTo>
                    <a:pt x="1469935" y="164569"/>
                  </a:lnTo>
                  <a:lnTo>
                    <a:pt x="1430645" y="139646"/>
                  </a:lnTo>
                  <a:lnTo>
                    <a:pt x="1389823" y="116537"/>
                  </a:lnTo>
                  <a:lnTo>
                    <a:pt x="1347548" y="95307"/>
                  </a:lnTo>
                  <a:lnTo>
                    <a:pt x="1303897" y="76025"/>
                  </a:lnTo>
                  <a:lnTo>
                    <a:pt x="1258946" y="58758"/>
                  </a:lnTo>
                  <a:lnTo>
                    <a:pt x="1212773" y="43575"/>
                  </a:lnTo>
                  <a:lnTo>
                    <a:pt x="1165456" y="30542"/>
                  </a:lnTo>
                  <a:lnTo>
                    <a:pt x="1117070" y="19727"/>
                  </a:lnTo>
                  <a:lnTo>
                    <a:pt x="1067695" y="11197"/>
                  </a:lnTo>
                  <a:lnTo>
                    <a:pt x="1017407" y="5021"/>
                  </a:lnTo>
                  <a:lnTo>
                    <a:pt x="966282" y="1266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1203" y="4474083"/>
              <a:ext cx="1828800" cy="1600200"/>
            </a:xfrm>
            <a:custGeom>
              <a:avLst/>
              <a:gdLst/>
              <a:ahLst/>
              <a:cxnLst/>
              <a:rect l="l" t="t" r="r" b="b"/>
              <a:pathLst>
                <a:path w="1828800" h="1600200">
                  <a:moveTo>
                    <a:pt x="0" y="800100"/>
                  </a:moveTo>
                  <a:lnTo>
                    <a:pt x="1447" y="754702"/>
                  </a:lnTo>
                  <a:lnTo>
                    <a:pt x="5739" y="709968"/>
                  </a:lnTo>
                  <a:lnTo>
                    <a:pt x="12797" y="665966"/>
                  </a:lnTo>
                  <a:lnTo>
                    <a:pt x="22545" y="622762"/>
                  </a:lnTo>
                  <a:lnTo>
                    <a:pt x="34905" y="580425"/>
                  </a:lnTo>
                  <a:lnTo>
                    <a:pt x="49800" y="539023"/>
                  </a:lnTo>
                  <a:lnTo>
                    <a:pt x="67152" y="498621"/>
                  </a:lnTo>
                  <a:lnTo>
                    <a:pt x="86886" y="459290"/>
                  </a:lnTo>
                  <a:lnTo>
                    <a:pt x="108922" y="421094"/>
                  </a:lnTo>
                  <a:lnTo>
                    <a:pt x="133185" y="384104"/>
                  </a:lnTo>
                  <a:lnTo>
                    <a:pt x="159596" y="348385"/>
                  </a:lnTo>
                  <a:lnTo>
                    <a:pt x="188079" y="314006"/>
                  </a:lnTo>
                  <a:lnTo>
                    <a:pt x="218556" y="281034"/>
                  </a:lnTo>
                  <a:lnTo>
                    <a:pt x="250951" y="249537"/>
                  </a:lnTo>
                  <a:lnTo>
                    <a:pt x="285185" y="219582"/>
                  </a:lnTo>
                  <a:lnTo>
                    <a:pt x="321182" y="191237"/>
                  </a:lnTo>
                  <a:lnTo>
                    <a:pt x="358864" y="164569"/>
                  </a:lnTo>
                  <a:lnTo>
                    <a:pt x="398154" y="139646"/>
                  </a:lnTo>
                  <a:lnTo>
                    <a:pt x="438976" y="116537"/>
                  </a:lnTo>
                  <a:lnTo>
                    <a:pt x="481251" y="95307"/>
                  </a:lnTo>
                  <a:lnTo>
                    <a:pt x="524902" y="76025"/>
                  </a:lnTo>
                  <a:lnTo>
                    <a:pt x="569853" y="58758"/>
                  </a:lnTo>
                  <a:lnTo>
                    <a:pt x="616026" y="43575"/>
                  </a:lnTo>
                  <a:lnTo>
                    <a:pt x="663343" y="30542"/>
                  </a:lnTo>
                  <a:lnTo>
                    <a:pt x="711729" y="19727"/>
                  </a:lnTo>
                  <a:lnTo>
                    <a:pt x="761104" y="11197"/>
                  </a:lnTo>
                  <a:lnTo>
                    <a:pt x="811392" y="5021"/>
                  </a:lnTo>
                  <a:lnTo>
                    <a:pt x="862517" y="1266"/>
                  </a:lnTo>
                  <a:lnTo>
                    <a:pt x="914400" y="0"/>
                  </a:lnTo>
                  <a:lnTo>
                    <a:pt x="966282" y="1266"/>
                  </a:lnTo>
                  <a:lnTo>
                    <a:pt x="1017407" y="5021"/>
                  </a:lnTo>
                  <a:lnTo>
                    <a:pt x="1067695" y="11197"/>
                  </a:lnTo>
                  <a:lnTo>
                    <a:pt x="1117070" y="19727"/>
                  </a:lnTo>
                  <a:lnTo>
                    <a:pt x="1165456" y="30542"/>
                  </a:lnTo>
                  <a:lnTo>
                    <a:pt x="1212773" y="43575"/>
                  </a:lnTo>
                  <a:lnTo>
                    <a:pt x="1258946" y="58758"/>
                  </a:lnTo>
                  <a:lnTo>
                    <a:pt x="1303897" y="76025"/>
                  </a:lnTo>
                  <a:lnTo>
                    <a:pt x="1347548" y="95307"/>
                  </a:lnTo>
                  <a:lnTo>
                    <a:pt x="1389823" y="116537"/>
                  </a:lnTo>
                  <a:lnTo>
                    <a:pt x="1430645" y="139646"/>
                  </a:lnTo>
                  <a:lnTo>
                    <a:pt x="1469935" y="164569"/>
                  </a:lnTo>
                  <a:lnTo>
                    <a:pt x="1507617" y="191237"/>
                  </a:lnTo>
                  <a:lnTo>
                    <a:pt x="1543614" y="219582"/>
                  </a:lnTo>
                  <a:lnTo>
                    <a:pt x="1577848" y="249537"/>
                  </a:lnTo>
                  <a:lnTo>
                    <a:pt x="1610243" y="281034"/>
                  </a:lnTo>
                  <a:lnTo>
                    <a:pt x="1640720" y="314006"/>
                  </a:lnTo>
                  <a:lnTo>
                    <a:pt x="1669203" y="348385"/>
                  </a:lnTo>
                  <a:lnTo>
                    <a:pt x="1695614" y="384104"/>
                  </a:lnTo>
                  <a:lnTo>
                    <a:pt x="1719877" y="421094"/>
                  </a:lnTo>
                  <a:lnTo>
                    <a:pt x="1741913" y="459290"/>
                  </a:lnTo>
                  <a:lnTo>
                    <a:pt x="1761647" y="498621"/>
                  </a:lnTo>
                  <a:lnTo>
                    <a:pt x="1778999" y="539023"/>
                  </a:lnTo>
                  <a:lnTo>
                    <a:pt x="1793894" y="580425"/>
                  </a:lnTo>
                  <a:lnTo>
                    <a:pt x="1806254" y="622762"/>
                  </a:lnTo>
                  <a:lnTo>
                    <a:pt x="1816002" y="665966"/>
                  </a:lnTo>
                  <a:lnTo>
                    <a:pt x="1823060" y="709968"/>
                  </a:lnTo>
                  <a:lnTo>
                    <a:pt x="1827352" y="754702"/>
                  </a:lnTo>
                  <a:lnTo>
                    <a:pt x="1828800" y="800100"/>
                  </a:lnTo>
                  <a:lnTo>
                    <a:pt x="1827352" y="845502"/>
                  </a:lnTo>
                  <a:lnTo>
                    <a:pt x="1823060" y="890240"/>
                  </a:lnTo>
                  <a:lnTo>
                    <a:pt x="1816002" y="934246"/>
                  </a:lnTo>
                  <a:lnTo>
                    <a:pt x="1806254" y="977452"/>
                  </a:lnTo>
                  <a:lnTo>
                    <a:pt x="1793894" y="1019792"/>
                  </a:lnTo>
                  <a:lnTo>
                    <a:pt x="1778999" y="1061196"/>
                  </a:lnTo>
                  <a:lnTo>
                    <a:pt x="1761647" y="1101599"/>
                  </a:lnTo>
                  <a:lnTo>
                    <a:pt x="1741913" y="1140932"/>
                  </a:lnTo>
                  <a:lnTo>
                    <a:pt x="1719877" y="1179127"/>
                  </a:lnTo>
                  <a:lnTo>
                    <a:pt x="1695614" y="1216118"/>
                  </a:lnTo>
                  <a:lnTo>
                    <a:pt x="1669203" y="1251836"/>
                  </a:lnTo>
                  <a:lnTo>
                    <a:pt x="1640720" y="1286215"/>
                  </a:lnTo>
                  <a:lnTo>
                    <a:pt x="1610243" y="1319186"/>
                  </a:lnTo>
                  <a:lnTo>
                    <a:pt x="1577848" y="1350682"/>
                  </a:lnTo>
                  <a:lnTo>
                    <a:pt x="1543614" y="1380636"/>
                  </a:lnTo>
                  <a:lnTo>
                    <a:pt x="1507617" y="1408979"/>
                  </a:lnTo>
                  <a:lnTo>
                    <a:pt x="1469935" y="1435645"/>
                  </a:lnTo>
                  <a:lnTo>
                    <a:pt x="1430645" y="1460566"/>
                  </a:lnTo>
                  <a:lnTo>
                    <a:pt x="1389823" y="1483674"/>
                  </a:lnTo>
                  <a:lnTo>
                    <a:pt x="1347548" y="1504902"/>
                  </a:lnTo>
                  <a:lnTo>
                    <a:pt x="1303897" y="1524182"/>
                  </a:lnTo>
                  <a:lnTo>
                    <a:pt x="1258946" y="1541447"/>
                  </a:lnTo>
                  <a:lnTo>
                    <a:pt x="1212773" y="1556629"/>
                  </a:lnTo>
                  <a:lnTo>
                    <a:pt x="1165456" y="1569661"/>
                  </a:lnTo>
                  <a:lnTo>
                    <a:pt x="1117070" y="1580475"/>
                  </a:lnTo>
                  <a:lnTo>
                    <a:pt x="1067695" y="1589003"/>
                  </a:lnTo>
                  <a:lnTo>
                    <a:pt x="1017407" y="1595178"/>
                  </a:lnTo>
                  <a:lnTo>
                    <a:pt x="966282" y="1598933"/>
                  </a:lnTo>
                  <a:lnTo>
                    <a:pt x="914400" y="1600200"/>
                  </a:lnTo>
                  <a:lnTo>
                    <a:pt x="862517" y="1598933"/>
                  </a:lnTo>
                  <a:lnTo>
                    <a:pt x="811392" y="1595178"/>
                  </a:lnTo>
                  <a:lnTo>
                    <a:pt x="761104" y="1589003"/>
                  </a:lnTo>
                  <a:lnTo>
                    <a:pt x="711729" y="1580475"/>
                  </a:lnTo>
                  <a:lnTo>
                    <a:pt x="663343" y="1569661"/>
                  </a:lnTo>
                  <a:lnTo>
                    <a:pt x="616026" y="1556629"/>
                  </a:lnTo>
                  <a:lnTo>
                    <a:pt x="569853" y="1541447"/>
                  </a:lnTo>
                  <a:lnTo>
                    <a:pt x="524902" y="1524182"/>
                  </a:lnTo>
                  <a:lnTo>
                    <a:pt x="481251" y="1504902"/>
                  </a:lnTo>
                  <a:lnTo>
                    <a:pt x="438976" y="1483674"/>
                  </a:lnTo>
                  <a:lnTo>
                    <a:pt x="398154" y="1460566"/>
                  </a:lnTo>
                  <a:lnTo>
                    <a:pt x="358864" y="1435645"/>
                  </a:lnTo>
                  <a:lnTo>
                    <a:pt x="321182" y="1408979"/>
                  </a:lnTo>
                  <a:lnTo>
                    <a:pt x="285185" y="1380636"/>
                  </a:lnTo>
                  <a:lnTo>
                    <a:pt x="250951" y="1350682"/>
                  </a:lnTo>
                  <a:lnTo>
                    <a:pt x="218556" y="1319186"/>
                  </a:lnTo>
                  <a:lnTo>
                    <a:pt x="188079" y="1286215"/>
                  </a:lnTo>
                  <a:lnTo>
                    <a:pt x="159596" y="1251836"/>
                  </a:lnTo>
                  <a:lnTo>
                    <a:pt x="133185" y="1216118"/>
                  </a:lnTo>
                  <a:lnTo>
                    <a:pt x="108922" y="1179127"/>
                  </a:lnTo>
                  <a:lnTo>
                    <a:pt x="86886" y="1140932"/>
                  </a:lnTo>
                  <a:lnTo>
                    <a:pt x="67152" y="1101599"/>
                  </a:lnTo>
                  <a:lnTo>
                    <a:pt x="49800" y="1061196"/>
                  </a:lnTo>
                  <a:lnTo>
                    <a:pt x="34905" y="1019792"/>
                  </a:lnTo>
                  <a:lnTo>
                    <a:pt x="22545" y="977452"/>
                  </a:lnTo>
                  <a:lnTo>
                    <a:pt x="12797" y="934246"/>
                  </a:lnTo>
                  <a:lnTo>
                    <a:pt x="5739" y="890240"/>
                  </a:lnTo>
                  <a:lnTo>
                    <a:pt x="1447" y="845502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38623" y="4979670"/>
            <a:ext cx="933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Xuất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kho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hàng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hóa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41515" y="4470527"/>
            <a:ext cx="1854200" cy="1625600"/>
            <a:chOff x="7041515" y="4470527"/>
            <a:chExt cx="1854200" cy="1625600"/>
          </a:xfrm>
        </p:grpSpPr>
        <p:sp>
          <p:nvSpPr>
            <p:cNvPr id="16" name="object 16"/>
            <p:cNvSpPr/>
            <p:nvPr/>
          </p:nvSpPr>
          <p:spPr>
            <a:xfrm>
              <a:off x="7054215" y="4483227"/>
              <a:ext cx="1828800" cy="1600200"/>
            </a:xfrm>
            <a:custGeom>
              <a:avLst/>
              <a:gdLst/>
              <a:ahLst/>
              <a:cxnLst/>
              <a:rect l="l" t="t" r="r" b="b"/>
              <a:pathLst>
                <a:path w="1828800" h="1600200">
                  <a:moveTo>
                    <a:pt x="914400" y="0"/>
                  </a:moveTo>
                  <a:lnTo>
                    <a:pt x="862517" y="1266"/>
                  </a:lnTo>
                  <a:lnTo>
                    <a:pt x="811392" y="5021"/>
                  </a:lnTo>
                  <a:lnTo>
                    <a:pt x="761104" y="11197"/>
                  </a:lnTo>
                  <a:lnTo>
                    <a:pt x="711729" y="19727"/>
                  </a:lnTo>
                  <a:lnTo>
                    <a:pt x="663343" y="30542"/>
                  </a:lnTo>
                  <a:lnTo>
                    <a:pt x="616026" y="43575"/>
                  </a:lnTo>
                  <a:lnTo>
                    <a:pt x="569853" y="58758"/>
                  </a:lnTo>
                  <a:lnTo>
                    <a:pt x="524902" y="76025"/>
                  </a:lnTo>
                  <a:lnTo>
                    <a:pt x="481251" y="95307"/>
                  </a:lnTo>
                  <a:lnTo>
                    <a:pt x="438976" y="116537"/>
                  </a:lnTo>
                  <a:lnTo>
                    <a:pt x="398154" y="139646"/>
                  </a:lnTo>
                  <a:lnTo>
                    <a:pt x="358864" y="164569"/>
                  </a:lnTo>
                  <a:lnTo>
                    <a:pt x="321182" y="191237"/>
                  </a:lnTo>
                  <a:lnTo>
                    <a:pt x="285185" y="219582"/>
                  </a:lnTo>
                  <a:lnTo>
                    <a:pt x="250951" y="249537"/>
                  </a:lnTo>
                  <a:lnTo>
                    <a:pt x="218556" y="281034"/>
                  </a:lnTo>
                  <a:lnTo>
                    <a:pt x="188079" y="314006"/>
                  </a:lnTo>
                  <a:lnTo>
                    <a:pt x="159596" y="348385"/>
                  </a:lnTo>
                  <a:lnTo>
                    <a:pt x="133185" y="384104"/>
                  </a:lnTo>
                  <a:lnTo>
                    <a:pt x="108922" y="421094"/>
                  </a:lnTo>
                  <a:lnTo>
                    <a:pt x="86886" y="459290"/>
                  </a:lnTo>
                  <a:lnTo>
                    <a:pt x="67152" y="498621"/>
                  </a:lnTo>
                  <a:lnTo>
                    <a:pt x="49800" y="539023"/>
                  </a:lnTo>
                  <a:lnTo>
                    <a:pt x="34905" y="580425"/>
                  </a:lnTo>
                  <a:lnTo>
                    <a:pt x="22545" y="622762"/>
                  </a:lnTo>
                  <a:lnTo>
                    <a:pt x="12797" y="665966"/>
                  </a:lnTo>
                  <a:lnTo>
                    <a:pt x="5739" y="709968"/>
                  </a:lnTo>
                  <a:lnTo>
                    <a:pt x="1447" y="754702"/>
                  </a:lnTo>
                  <a:lnTo>
                    <a:pt x="0" y="800100"/>
                  </a:lnTo>
                  <a:lnTo>
                    <a:pt x="1447" y="845502"/>
                  </a:lnTo>
                  <a:lnTo>
                    <a:pt x="5739" y="890240"/>
                  </a:lnTo>
                  <a:lnTo>
                    <a:pt x="12797" y="934246"/>
                  </a:lnTo>
                  <a:lnTo>
                    <a:pt x="22545" y="977452"/>
                  </a:lnTo>
                  <a:lnTo>
                    <a:pt x="34905" y="1019792"/>
                  </a:lnTo>
                  <a:lnTo>
                    <a:pt x="49800" y="1061196"/>
                  </a:lnTo>
                  <a:lnTo>
                    <a:pt x="67152" y="1101599"/>
                  </a:lnTo>
                  <a:lnTo>
                    <a:pt x="86886" y="1140932"/>
                  </a:lnTo>
                  <a:lnTo>
                    <a:pt x="108922" y="1179127"/>
                  </a:lnTo>
                  <a:lnTo>
                    <a:pt x="133185" y="1216118"/>
                  </a:lnTo>
                  <a:lnTo>
                    <a:pt x="159596" y="1251836"/>
                  </a:lnTo>
                  <a:lnTo>
                    <a:pt x="188079" y="1286215"/>
                  </a:lnTo>
                  <a:lnTo>
                    <a:pt x="218556" y="1319186"/>
                  </a:lnTo>
                  <a:lnTo>
                    <a:pt x="250951" y="1350682"/>
                  </a:lnTo>
                  <a:lnTo>
                    <a:pt x="285185" y="1380636"/>
                  </a:lnTo>
                  <a:lnTo>
                    <a:pt x="321182" y="1408979"/>
                  </a:lnTo>
                  <a:lnTo>
                    <a:pt x="358864" y="1435645"/>
                  </a:lnTo>
                  <a:lnTo>
                    <a:pt x="398154" y="1460566"/>
                  </a:lnTo>
                  <a:lnTo>
                    <a:pt x="438976" y="1483674"/>
                  </a:lnTo>
                  <a:lnTo>
                    <a:pt x="481251" y="1504902"/>
                  </a:lnTo>
                  <a:lnTo>
                    <a:pt x="524902" y="1524182"/>
                  </a:lnTo>
                  <a:lnTo>
                    <a:pt x="569853" y="1541447"/>
                  </a:lnTo>
                  <a:lnTo>
                    <a:pt x="616026" y="1556629"/>
                  </a:lnTo>
                  <a:lnTo>
                    <a:pt x="663343" y="1569661"/>
                  </a:lnTo>
                  <a:lnTo>
                    <a:pt x="711729" y="1580475"/>
                  </a:lnTo>
                  <a:lnTo>
                    <a:pt x="761104" y="1589003"/>
                  </a:lnTo>
                  <a:lnTo>
                    <a:pt x="811392" y="1595178"/>
                  </a:lnTo>
                  <a:lnTo>
                    <a:pt x="862517" y="1598933"/>
                  </a:lnTo>
                  <a:lnTo>
                    <a:pt x="914400" y="1600200"/>
                  </a:lnTo>
                  <a:lnTo>
                    <a:pt x="966282" y="1598933"/>
                  </a:lnTo>
                  <a:lnTo>
                    <a:pt x="1017407" y="1595178"/>
                  </a:lnTo>
                  <a:lnTo>
                    <a:pt x="1067695" y="1589003"/>
                  </a:lnTo>
                  <a:lnTo>
                    <a:pt x="1117070" y="1580475"/>
                  </a:lnTo>
                  <a:lnTo>
                    <a:pt x="1165456" y="1569661"/>
                  </a:lnTo>
                  <a:lnTo>
                    <a:pt x="1212773" y="1556629"/>
                  </a:lnTo>
                  <a:lnTo>
                    <a:pt x="1258946" y="1541447"/>
                  </a:lnTo>
                  <a:lnTo>
                    <a:pt x="1303897" y="1524182"/>
                  </a:lnTo>
                  <a:lnTo>
                    <a:pt x="1347548" y="1504902"/>
                  </a:lnTo>
                  <a:lnTo>
                    <a:pt x="1389823" y="1483674"/>
                  </a:lnTo>
                  <a:lnTo>
                    <a:pt x="1430645" y="1460566"/>
                  </a:lnTo>
                  <a:lnTo>
                    <a:pt x="1469935" y="1435645"/>
                  </a:lnTo>
                  <a:lnTo>
                    <a:pt x="1507617" y="1408979"/>
                  </a:lnTo>
                  <a:lnTo>
                    <a:pt x="1543614" y="1380636"/>
                  </a:lnTo>
                  <a:lnTo>
                    <a:pt x="1577848" y="1350682"/>
                  </a:lnTo>
                  <a:lnTo>
                    <a:pt x="1610243" y="1319186"/>
                  </a:lnTo>
                  <a:lnTo>
                    <a:pt x="1640720" y="1286215"/>
                  </a:lnTo>
                  <a:lnTo>
                    <a:pt x="1669203" y="1251836"/>
                  </a:lnTo>
                  <a:lnTo>
                    <a:pt x="1695614" y="1216118"/>
                  </a:lnTo>
                  <a:lnTo>
                    <a:pt x="1719877" y="1179127"/>
                  </a:lnTo>
                  <a:lnTo>
                    <a:pt x="1741913" y="1140932"/>
                  </a:lnTo>
                  <a:lnTo>
                    <a:pt x="1761647" y="1101599"/>
                  </a:lnTo>
                  <a:lnTo>
                    <a:pt x="1778999" y="1061196"/>
                  </a:lnTo>
                  <a:lnTo>
                    <a:pt x="1793894" y="1019792"/>
                  </a:lnTo>
                  <a:lnTo>
                    <a:pt x="1806254" y="977452"/>
                  </a:lnTo>
                  <a:lnTo>
                    <a:pt x="1816002" y="934246"/>
                  </a:lnTo>
                  <a:lnTo>
                    <a:pt x="1823060" y="890240"/>
                  </a:lnTo>
                  <a:lnTo>
                    <a:pt x="1827352" y="845502"/>
                  </a:lnTo>
                  <a:lnTo>
                    <a:pt x="1828800" y="800100"/>
                  </a:lnTo>
                  <a:lnTo>
                    <a:pt x="1827352" y="754702"/>
                  </a:lnTo>
                  <a:lnTo>
                    <a:pt x="1823060" y="709968"/>
                  </a:lnTo>
                  <a:lnTo>
                    <a:pt x="1816002" y="665966"/>
                  </a:lnTo>
                  <a:lnTo>
                    <a:pt x="1806254" y="622762"/>
                  </a:lnTo>
                  <a:lnTo>
                    <a:pt x="1793894" y="580425"/>
                  </a:lnTo>
                  <a:lnTo>
                    <a:pt x="1778999" y="539023"/>
                  </a:lnTo>
                  <a:lnTo>
                    <a:pt x="1761647" y="498621"/>
                  </a:lnTo>
                  <a:lnTo>
                    <a:pt x="1741913" y="459290"/>
                  </a:lnTo>
                  <a:lnTo>
                    <a:pt x="1719877" y="421094"/>
                  </a:lnTo>
                  <a:lnTo>
                    <a:pt x="1695614" y="384104"/>
                  </a:lnTo>
                  <a:lnTo>
                    <a:pt x="1669203" y="348385"/>
                  </a:lnTo>
                  <a:lnTo>
                    <a:pt x="1640720" y="314006"/>
                  </a:lnTo>
                  <a:lnTo>
                    <a:pt x="1610243" y="281034"/>
                  </a:lnTo>
                  <a:lnTo>
                    <a:pt x="1577848" y="249537"/>
                  </a:lnTo>
                  <a:lnTo>
                    <a:pt x="1543614" y="219582"/>
                  </a:lnTo>
                  <a:lnTo>
                    <a:pt x="1507617" y="191237"/>
                  </a:lnTo>
                  <a:lnTo>
                    <a:pt x="1469935" y="164569"/>
                  </a:lnTo>
                  <a:lnTo>
                    <a:pt x="1430645" y="139646"/>
                  </a:lnTo>
                  <a:lnTo>
                    <a:pt x="1389823" y="116537"/>
                  </a:lnTo>
                  <a:lnTo>
                    <a:pt x="1347548" y="95307"/>
                  </a:lnTo>
                  <a:lnTo>
                    <a:pt x="1303897" y="76025"/>
                  </a:lnTo>
                  <a:lnTo>
                    <a:pt x="1258946" y="58758"/>
                  </a:lnTo>
                  <a:lnTo>
                    <a:pt x="1212773" y="43575"/>
                  </a:lnTo>
                  <a:lnTo>
                    <a:pt x="1165456" y="30542"/>
                  </a:lnTo>
                  <a:lnTo>
                    <a:pt x="1117070" y="19727"/>
                  </a:lnTo>
                  <a:lnTo>
                    <a:pt x="1067695" y="11197"/>
                  </a:lnTo>
                  <a:lnTo>
                    <a:pt x="1017407" y="5021"/>
                  </a:lnTo>
                  <a:lnTo>
                    <a:pt x="966282" y="1266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54215" y="4483227"/>
              <a:ext cx="1828800" cy="1600200"/>
            </a:xfrm>
            <a:custGeom>
              <a:avLst/>
              <a:gdLst/>
              <a:ahLst/>
              <a:cxnLst/>
              <a:rect l="l" t="t" r="r" b="b"/>
              <a:pathLst>
                <a:path w="1828800" h="1600200">
                  <a:moveTo>
                    <a:pt x="0" y="800100"/>
                  </a:moveTo>
                  <a:lnTo>
                    <a:pt x="1447" y="754702"/>
                  </a:lnTo>
                  <a:lnTo>
                    <a:pt x="5739" y="709968"/>
                  </a:lnTo>
                  <a:lnTo>
                    <a:pt x="12797" y="665966"/>
                  </a:lnTo>
                  <a:lnTo>
                    <a:pt x="22545" y="622762"/>
                  </a:lnTo>
                  <a:lnTo>
                    <a:pt x="34905" y="580425"/>
                  </a:lnTo>
                  <a:lnTo>
                    <a:pt x="49800" y="539023"/>
                  </a:lnTo>
                  <a:lnTo>
                    <a:pt x="67152" y="498621"/>
                  </a:lnTo>
                  <a:lnTo>
                    <a:pt x="86886" y="459290"/>
                  </a:lnTo>
                  <a:lnTo>
                    <a:pt x="108922" y="421094"/>
                  </a:lnTo>
                  <a:lnTo>
                    <a:pt x="133185" y="384104"/>
                  </a:lnTo>
                  <a:lnTo>
                    <a:pt x="159596" y="348385"/>
                  </a:lnTo>
                  <a:lnTo>
                    <a:pt x="188079" y="314006"/>
                  </a:lnTo>
                  <a:lnTo>
                    <a:pt x="218556" y="281034"/>
                  </a:lnTo>
                  <a:lnTo>
                    <a:pt x="250951" y="249537"/>
                  </a:lnTo>
                  <a:lnTo>
                    <a:pt x="285185" y="219582"/>
                  </a:lnTo>
                  <a:lnTo>
                    <a:pt x="321182" y="191237"/>
                  </a:lnTo>
                  <a:lnTo>
                    <a:pt x="358864" y="164569"/>
                  </a:lnTo>
                  <a:lnTo>
                    <a:pt x="398154" y="139646"/>
                  </a:lnTo>
                  <a:lnTo>
                    <a:pt x="438976" y="116537"/>
                  </a:lnTo>
                  <a:lnTo>
                    <a:pt x="481251" y="95307"/>
                  </a:lnTo>
                  <a:lnTo>
                    <a:pt x="524902" y="76025"/>
                  </a:lnTo>
                  <a:lnTo>
                    <a:pt x="569853" y="58758"/>
                  </a:lnTo>
                  <a:lnTo>
                    <a:pt x="616026" y="43575"/>
                  </a:lnTo>
                  <a:lnTo>
                    <a:pt x="663343" y="30542"/>
                  </a:lnTo>
                  <a:lnTo>
                    <a:pt x="711729" y="19727"/>
                  </a:lnTo>
                  <a:lnTo>
                    <a:pt x="761104" y="11197"/>
                  </a:lnTo>
                  <a:lnTo>
                    <a:pt x="811392" y="5021"/>
                  </a:lnTo>
                  <a:lnTo>
                    <a:pt x="862517" y="1266"/>
                  </a:lnTo>
                  <a:lnTo>
                    <a:pt x="914400" y="0"/>
                  </a:lnTo>
                  <a:lnTo>
                    <a:pt x="966282" y="1266"/>
                  </a:lnTo>
                  <a:lnTo>
                    <a:pt x="1017407" y="5021"/>
                  </a:lnTo>
                  <a:lnTo>
                    <a:pt x="1067695" y="11197"/>
                  </a:lnTo>
                  <a:lnTo>
                    <a:pt x="1117070" y="19727"/>
                  </a:lnTo>
                  <a:lnTo>
                    <a:pt x="1165456" y="30542"/>
                  </a:lnTo>
                  <a:lnTo>
                    <a:pt x="1212773" y="43575"/>
                  </a:lnTo>
                  <a:lnTo>
                    <a:pt x="1258946" y="58758"/>
                  </a:lnTo>
                  <a:lnTo>
                    <a:pt x="1303897" y="76025"/>
                  </a:lnTo>
                  <a:lnTo>
                    <a:pt x="1347548" y="95307"/>
                  </a:lnTo>
                  <a:lnTo>
                    <a:pt x="1389823" y="116537"/>
                  </a:lnTo>
                  <a:lnTo>
                    <a:pt x="1430645" y="139646"/>
                  </a:lnTo>
                  <a:lnTo>
                    <a:pt x="1469935" y="164569"/>
                  </a:lnTo>
                  <a:lnTo>
                    <a:pt x="1507617" y="191237"/>
                  </a:lnTo>
                  <a:lnTo>
                    <a:pt x="1543614" y="219582"/>
                  </a:lnTo>
                  <a:lnTo>
                    <a:pt x="1577848" y="249537"/>
                  </a:lnTo>
                  <a:lnTo>
                    <a:pt x="1610243" y="281034"/>
                  </a:lnTo>
                  <a:lnTo>
                    <a:pt x="1640720" y="314006"/>
                  </a:lnTo>
                  <a:lnTo>
                    <a:pt x="1669203" y="348385"/>
                  </a:lnTo>
                  <a:lnTo>
                    <a:pt x="1695614" y="384104"/>
                  </a:lnTo>
                  <a:lnTo>
                    <a:pt x="1719877" y="421094"/>
                  </a:lnTo>
                  <a:lnTo>
                    <a:pt x="1741913" y="459290"/>
                  </a:lnTo>
                  <a:lnTo>
                    <a:pt x="1761647" y="498621"/>
                  </a:lnTo>
                  <a:lnTo>
                    <a:pt x="1778999" y="539023"/>
                  </a:lnTo>
                  <a:lnTo>
                    <a:pt x="1793894" y="580425"/>
                  </a:lnTo>
                  <a:lnTo>
                    <a:pt x="1806254" y="622762"/>
                  </a:lnTo>
                  <a:lnTo>
                    <a:pt x="1816002" y="665966"/>
                  </a:lnTo>
                  <a:lnTo>
                    <a:pt x="1823060" y="709968"/>
                  </a:lnTo>
                  <a:lnTo>
                    <a:pt x="1827352" y="754702"/>
                  </a:lnTo>
                  <a:lnTo>
                    <a:pt x="1828800" y="800100"/>
                  </a:lnTo>
                  <a:lnTo>
                    <a:pt x="1827352" y="845502"/>
                  </a:lnTo>
                  <a:lnTo>
                    <a:pt x="1823060" y="890240"/>
                  </a:lnTo>
                  <a:lnTo>
                    <a:pt x="1816002" y="934246"/>
                  </a:lnTo>
                  <a:lnTo>
                    <a:pt x="1806254" y="977452"/>
                  </a:lnTo>
                  <a:lnTo>
                    <a:pt x="1793894" y="1019792"/>
                  </a:lnTo>
                  <a:lnTo>
                    <a:pt x="1778999" y="1061196"/>
                  </a:lnTo>
                  <a:lnTo>
                    <a:pt x="1761647" y="1101599"/>
                  </a:lnTo>
                  <a:lnTo>
                    <a:pt x="1741913" y="1140932"/>
                  </a:lnTo>
                  <a:lnTo>
                    <a:pt x="1719877" y="1179127"/>
                  </a:lnTo>
                  <a:lnTo>
                    <a:pt x="1695614" y="1216118"/>
                  </a:lnTo>
                  <a:lnTo>
                    <a:pt x="1669203" y="1251836"/>
                  </a:lnTo>
                  <a:lnTo>
                    <a:pt x="1640720" y="1286215"/>
                  </a:lnTo>
                  <a:lnTo>
                    <a:pt x="1610243" y="1319186"/>
                  </a:lnTo>
                  <a:lnTo>
                    <a:pt x="1577848" y="1350682"/>
                  </a:lnTo>
                  <a:lnTo>
                    <a:pt x="1543614" y="1380636"/>
                  </a:lnTo>
                  <a:lnTo>
                    <a:pt x="1507617" y="1408979"/>
                  </a:lnTo>
                  <a:lnTo>
                    <a:pt x="1469935" y="1435645"/>
                  </a:lnTo>
                  <a:lnTo>
                    <a:pt x="1430645" y="1460566"/>
                  </a:lnTo>
                  <a:lnTo>
                    <a:pt x="1389823" y="1483674"/>
                  </a:lnTo>
                  <a:lnTo>
                    <a:pt x="1347548" y="1504902"/>
                  </a:lnTo>
                  <a:lnTo>
                    <a:pt x="1303897" y="1524182"/>
                  </a:lnTo>
                  <a:lnTo>
                    <a:pt x="1258946" y="1541447"/>
                  </a:lnTo>
                  <a:lnTo>
                    <a:pt x="1212773" y="1556629"/>
                  </a:lnTo>
                  <a:lnTo>
                    <a:pt x="1165456" y="1569661"/>
                  </a:lnTo>
                  <a:lnTo>
                    <a:pt x="1117070" y="1580475"/>
                  </a:lnTo>
                  <a:lnTo>
                    <a:pt x="1067695" y="1589003"/>
                  </a:lnTo>
                  <a:lnTo>
                    <a:pt x="1017407" y="1595178"/>
                  </a:lnTo>
                  <a:lnTo>
                    <a:pt x="966282" y="1598933"/>
                  </a:lnTo>
                  <a:lnTo>
                    <a:pt x="914400" y="1600200"/>
                  </a:lnTo>
                  <a:lnTo>
                    <a:pt x="862517" y="1598933"/>
                  </a:lnTo>
                  <a:lnTo>
                    <a:pt x="811392" y="1595178"/>
                  </a:lnTo>
                  <a:lnTo>
                    <a:pt x="761104" y="1589003"/>
                  </a:lnTo>
                  <a:lnTo>
                    <a:pt x="711729" y="1580475"/>
                  </a:lnTo>
                  <a:lnTo>
                    <a:pt x="663343" y="1569661"/>
                  </a:lnTo>
                  <a:lnTo>
                    <a:pt x="616026" y="1556629"/>
                  </a:lnTo>
                  <a:lnTo>
                    <a:pt x="569853" y="1541447"/>
                  </a:lnTo>
                  <a:lnTo>
                    <a:pt x="524902" y="1524182"/>
                  </a:lnTo>
                  <a:lnTo>
                    <a:pt x="481251" y="1504902"/>
                  </a:lnTo>
                  <a:lnTo>
                    <a:pt x="438976" y="1483674"/>
                  </a:lnTo>
                  <a:lnTo>
                    <a:pt x="398154" y="1460566"/>
                  </a:lnTo>
                  <a:lnTo>
                    <a:pt x="358864" y="1435645"/>
                  </a:lnTo>
                  <a:lnTo>
                    <a:pt x="321182" y="1408979"/>
                  </a:lnTo>
                  <a:lnTo>
                    <a:pt x="285185" y="1380636"/>
                  </a:lnTo>
                  <a:lnTo>
                    <a:pt x="250951" y="1350682"/>
                  </a:lnTo>
                  <a:lnTo>
                    <a:pt x="218556" y="1319186"/>
                  </a:lnTo>
                  <a:lnTo>
                    <a:pt x="188079" y="1286215"/>
                  </a:lnTo>
                  <a:lnTo>
                    <a:pt x="159596" y="1251836"/>
                  </a:lnTo>
                  <a:lnTo>
                    <a:pt x="133185" y="1216118"/>
                  </a:lnTo>
                  <a:lnTo>
                    <a:pt x="108922" y="1179127"/>
                  </a:lnTo>
                  <a:lnTo>
                    <a:pt x="86886" y="1140932"/>
                  </a:lnTo>
                  <a:lnTo>
                    <a:pt x="67152" y="1101599"/>
                  </a:lnTo>
                  <a:lnTo>
                    <a:pt x="49800" y="1061196"/>
                  </a:lnTo>
                  <a:lnTo>
                    <a:pt x="34905" y="1019792"/>
                  </a:lnTo>
                  <a:lnTo>
                    <a:pt x="22545" y="977452"/>
                  </a:lnTo>
                  <a:lnTo>
                    <a:pt x="12797" y="934246"/>
                  </a:lnTo>
                  <a:lnTo>
                    <a:pt x="5739" y="890240"/>
                  </a:lnTo>
                  <a:lnTo>
                    <a:pt x="1447" y="845502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52181" y="4988560"/>
            <a:ext cx="8331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Lập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hóa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đơn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5616" y="1682114"/>
            <a:ext cx="1524000" cy="800100"/>
          </a:xfrm>
          <a:custGeom>
            <a:avLst/>
            <a:gdLst/>
            <a:ahLst/>
            <a:cxnLst/>
            <a:rect l="l" t="t" r="r" b="b"/>
            <a:pathLst>
              <a:path w="1524000" h="800100">
                <a:moveTo>
                  <a:pt x="1524000" y="0"/>
                </a:moveTo>
                <a:lnTo>
                  <a:pt x="0" y="0"/>
                </a:lnTo>
                <a:lnTo>
                  <a:pt x="0" y="800100"/>
                </a:lnTo>
                <a:lnTo>
                  <a:pt x="1524000" y="800100"/>
                </a:lnTo>
                <a:lnTo>
                  <a:pt x="1524000" y="0"/>
                </a:lnTo>
                <a:close/>
              </a:path>
            </a:pathLst>
          </a:custGeom>
          <a:solidFill>
            <a:srgbClr val="B8CD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5616" y="1682114"/>
            <a:ext cx="1524000" cy="8001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Khách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hàng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83536" y="1866010"/>
            <a:ext cx="7012305" cy="825500"/>
            <a:chOff x="1883536" y="1866010"/>
            <a:chExt cx="7012305" cy="825500"/>
          </a:xfrm>
        </p:grpSpPr>
        <p:sp>
          <p:nvSpPr>
            <p:cNvPr id="22" name="object 22"/>
            <p:cNvSpPr/>
            <p:nvPr/>
          </p:nvSpPr>
          <p:spPr>
            <a:xfrm>
              <a:off x="1888616" y="2082164"/>
              <a:ext cx="381000" cy="400050"/>
            </a:xfrm>
            <a:custGeom>
              <a:avLst/>
              <a:gdLst/>
              <a:ahLst/>
              <a:cxnLst/>
              <a:rect l="l" t="t" r="r" b="b"/>
              <a:pathLst>
                <a:path w="381000" h="400050">
                  <a:moveTo>
                    <a:pt x="0" y="400050"/>
                  </a:moveTo>
                  <a:lnTo>
                    <a:pt x="381000" y="0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59015" y="1878710"/>
              <a:ext cx="1524000" cy="800100"/>
            </a:xfrm>
            <a:custGeom>
              <a:avLst/>
              <a:gdLst/>
              <a:ahLst/>
              <a:cxnLst/>
              <a:rect l="l" t="t" r="r" b="b"/>
              <a:pathLst>
                <a:path w="1524000" h="800100">
                  <a:moveTo>
                    <a:pt x="1524000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1524000" y="80010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B8CD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59015" y="1878710"/>
              <a:ext cx="1524000" cy="800100"/>
            </a:xfrm>
            <a:custGeom>
              <a:avLst/>
              <a:gdLst/>
              <a:ahLst/>
              <a:cxnLst/>
              <a:rect l="l" t="t" r="r" b="b"/>
              <a:pathLst>
                <a:path w="1524000" h="800100">
                  <a:moveTo>
                    <a:pt x="0" y="800100"/>
                  </a:moveTo>
                  <a:lnTo>
                    <a:pt x="1524000" y="800100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13828" y="2120900"/>
            <a:ext cx="1213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Khách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hàng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502015" y="2278760"/>
            <a:ext cx="381000" cy="400050"/>
          </a:xfrm>
          <a:custGeom>
            <a:avLst/>
            <a:gdLst/>
            <a:ahLst/>
            <a:cxnLst/>
            <a:rect l="l" t="t" r="r" b="b"/>
            <a:pathLst>
              <a:path w="381000" h="400050">
                <a:moveTo>
                  <a:pt x="0" y="400050"/>
                </a:moveTo>
                <a:lnTo>
                  <a:pt x="381000" y="0"/>
                </a:lnTo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5725" y="2849372"/>
            <a:ext cx="6781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Yêu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cầu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5725" y="3062732"/>
            <a:ext cx="7175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đặt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01902" y="2461260"/>
            <a:ext cx="3187065" cy="1056640"/>
            <a:chOff x="1501902" y="2461260"/>
            <a:chExt cx="3187065" cy="105664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1902" y="2461260"/>
              <a:ext cx="107441" cy="95631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555623" y="2482215"/>
              <a:ext cx="0" cy="861694"/>
            </a:xfrm>
            <a:custGeom>
              <a:avLst/>
              <a:gdLst/>
              <a:ahLst/>
              <a:cxnLst/>
              <a:rect l="l" t="t" r="r" b="b"/>
              <a:pathLst>
                <a:path h="861695">
                  <a:moveTo>
                    <a:pt x="0" y="0"/>
                  </a:moveTo>
                  <a:lnTo>
                    <a:pt x="0" y="861695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094" y="3210306"/>
              <a:ext cx="718566" cy="30708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555623" y="3285236"/>
              <a:ext cx="523875" cy="118110"/>
            </a:xfrm>
            <a:custGeom>
              <a:avLst/>
              <a:gdLst/>
              <a:ahLst/>
              <a:cxnLst/>
              <a:rect l="l" t="t" r="r" b="b"/>
              <a:pathLst>
                <a:path w="523875" h="118110">
                  <a:moveTo>
                    <a:pt x="473401" y="58800"/>
                  </a:moveTo>
                  <a:lnTo>
                    <a:pt x="415925" y="92328"/>
                  </a:lnTo>
                  <a:lnTo>
                    <a:pt x="409956" y="95885"/>
                  </a:lnTo>
                  <a:lnTo>
                    <a:pt x="407924" y="103631"/>
                  </a:lnTo>
                  <a:lnTo>
                    <a:pt x="411479" y="109600"/>
                  </a:lnTo>
                  <a:lnTo>
                    <a:pt x="414909" y="115569"/>
                  </a:lnTo>
                  <a:lnTo>
                    <a:pt x="422656" y="117601"/>
                  </a:lnTo>
                  <a:lnTo>
                    <a:pt x="501952" y="71374"/>
                  </a:lnTo>
                  <a:lnTo>
                    <a:pt x="498475" y="71374"/>
                  </a:lnTo>
                  <a:lnTo>
                    <a:pt x="498475" y="69723"/>
                  </a:lnTo>
                  <a:lnTo>
                    <a:pt x="492125" y="69723"/>
                  </a:lnTo>
                  <a:lnTo>
                    <a:pt x="473401" y="58800"/>
                  </a:lnTo>
                  <a:close/>
                </a:path>
                <a:path w="523875" h="118110">
                  <a:moveTo>
                    <a:pt x="451847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451847" y="71374"/>
                  </a:lnTo>
                  <a:lnTo>
                    <a:pt x="473401" y="58800"/>
                  </a:lnTo>
                  <a:lnTo>
                    <a:pt x="451847" y="46227"/>
                  </a:lnTo>
                  <a:close/>
                </a:path>
                <a:path w="523875" h="118110">
                  <a:moveTo>
                    <a:pt x="501952" y="46227"/>
                  </a:moveTo>
                  <a:lnTo>
                    <a:pt x="498475" y="46227"/>
                  </a:lnTo>
                  <a:lnTo>
                    <a:pt x="498475" y="71374"/>
                  </a:lnTo>
                  <a:lnTo>
                    <a:pt x="501952" y="71374"/>
                  </a:lnTo>
                  <a:lnTo>
                    <a:pt x="523494" y="58800"/>
                  </a:lnTo>
                  <a:lnTo>
                    <a:pt x="501952" y="46227"/>
                  </a:lnTo>
                  <a:close/>
                </a:path>
                <a:path w="523875" h="118110">
                  <a:moveTo>
                    <a:pt x="492125" y="47878"/>
                  </a:moveTo>
                  <a:lnTo>
                    <a:pt x="473401" y="58800"/>
                  </a:lnTo>
                  <a:lnTo>
                    <a:pt x="492125" y="69723"/>
                  </a:lnTo>
                  <a:lnTo>
                    <a:pt x="492125" y="47878"/>
                  </a:lnTo>
                  <a:close/>
                </a:path>
                <a:path w="523875" h="118110">
                  <a:moveTo>
                    <a:pt x="498475" y="47878"/>
                  </a:moveTo>
                  <a:lnTo>
                    <a:pt x="492125" y="47878"/>
                  </a:lnTo>
                  <a:lnTo>
                    <a:pt x="492125" y="69723"/>
                  </a:lnTo>
                  <a:lnTo>
                    <a:pt x="498475" y="69723"/>
                  </a:lnTo>
                  <a:lnTo>
                    <a:pt x="498475" y="47878"/>
                  </a:lnTo>
                  <a:close/>
                </a:path>
                <a:path w="523875" h="118110">
                  <a:moveTo>
                    <a:pt x="422656" y="0"/>
                  </a:moveTo>
                  <a:lnTo>
                    <a:pt x="414909" y="2031"/>
                  </a:lnTo>
                  <a:lnTo>
                    <a:pt x="411479" y="8000"/>
                  </a:lnTo>
                  <a:lnTo>
                    <a:pt x="407924" y="13969"/>
                  </a:lnTo>
                  <a:lnTo>
                    <a:pt x="409956" y="21716"/>
                  </a:lnTo>
                  <a:lnTo>
                    <a:pt x="415925" y="25273"/>
                  </a:lnTo>
                  <a:lnTo>
                    <a:pt x="473401" y="58800"/>
                  </a:lnTo>
                  <a:lnTo>
                    <a:pt x="492125" y="47878"/>
                  </a:lnTo>
                  <a:lnTo>
                    <a:pt x="498475" y="47878"/>
                  </a:lnTo>
                  <a:lnTo>
                    <a:pt x="498475" y="46227"/>
                  </a:lnTo>
                  <a:lnTo>
                    <a:pt x="501952" y="46227"/>
                  </a:lnTo>
                  <a:lnTo>
                    <a:pt x="422656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1587" y="3210306"/>
              <a:ext cx="1126998" cy="30708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603116" y="3285236"/>
              <a:ext cx="932180" cy="118110"/>
            </a:xfrm>
            <a:custGeom>
              <a:avLst/>
              <a:gdLst/>
              <a:ahLst/>
              <a:cxnLst/>
              <a:rect l="l" t="t" r="r" b="b"/>
              <a:pathLst>
                <a:path w="932179" h="118110">
                  <a:moveTo>
                    <a:pt x="882214" y="58800"/>
                  </a:moveTo>
                  <a:lnTo>
                    <a:pt x="824738" y="92328"/>
                  </a:lnTo>
                  <a:lnTo>
                    <a:pt x="818769" y="95885"/>
                  </a:lnTo>
                  <a:lnTo>
                    <a:pt x="816737" y="103631"/>
                  </a:lnTo>
                  <a:lnTo>
                    <a:pt x="820166" y="109600"/>
                  </a:lnTo>
                  <a:lnTo>
                    <a:pt x="823722" y="115569"/>
                  </a:lnTo>
                  <a:lnTo>
                    <a:pt x="831469" y="117601"/>
                  </a:lnTo>
                  <a:lnTo>
                    <a:pt x="910667" y="71374"/>
                  </a:lnTo>
                  <a:lnTo>
                    <a:pt x="907288" y="71374"/>
                  </a:lnTo>
                  <a:lnTo>
                    <a:pt x="907288" y="69723"/>
                  </a:lnTo>
                  <a:lnTo>
                    <a:pt x="900938" y="69723"/>
                  </a:lnTo>
                  <a:lnTo>
                    <a:pt x="882214" y="58800"/>
                  </a:lnTo>
                  <a:close/>
                </a:path>
                <a:path w="932179" h="118110">
                  <a:moveTo>
                    <a:pt x="860660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860660" y="71374"/>
                  </a:lnTo>
                  <a:lnTo>
                    <a:pt x="882214" y="58800"/>
                  </a:lnTo>
                  <a:lnTo>
                    <a:pt x="860660" y="46227"/>
                  </a:lnTo>
                  <a:close/>
                </a:path>
                <a:path w="932179" h="118110">
                  <a:moveTo>
                    <a:pt x="910667" y="46227"/>
                  </a:moveTo>
                  <a:lnTo>
                    <a:pt x="907288" y="46227"/>
                  </a:lnTo>
                  <a:lnTo>
                    <a:pt x="907288" y="71374"/>
                  </a:lnTo>
                  <a:lnTo>
                    <a:pt x="910667" y="71374"/>
                  </a:lnTo>
                  <a:lnTo>
                    <a:pt x="932180" y="58800"/>
                  </a:lnTo>
                  <a:lnTo>
                    <a:pt x="910667" y="46227"/>
                  </a:lnTo>
                  <a:close/>
                </a:path>
                <a:path w="932179" h="118110">
                  <a:moveTo>
                    <a:pt x="900938" y="47878"/>
                  </a:moveTo>
                  <a:lnTo>
                    <a:pt x="882214" y="58800"/>
                  </a:lnTo>
                  <a:lnTo>
                    <a:pt x="900938" y="69723"/>
                  </a:lnTo>
                  <a:lnTo>
                    <a:pt x="900938" y="47878"/>
                  </a:lnTo>
                  <a:close/>
                </a:path>
                <a:path w="932179" h="118110">
                  <a:moveTo>
                    <a:pt x="907288" y="47878"/>
                  </a:moveTo>
                  <a:lnTo>
                    <a:pt x="900938" y="47878"/>
                  </a:lnTo>
                  <a:lnTo>
                    <a:pt x="900938" y="69723"/>
                  </a:lnTo>
                  <a:lnTo>
                    <a:pt x="907288" y="69723"/>
                  </a:lnTo>
                  <a:lnTo>
                    <a:pt x="907288" y="47878"/>
                  </a:lnTo>
                  <a:close/>
                </a:path>
                <a:path w="932179" h="118110">
                  <a:moveTo>
                    <a:pt x="831469" y="0"/>
                  </a:moveTo>
                  <a:lnTo>
                    <a:pt x="823722" y="2031"/>
                  </a:lnTo>
                  <a:lnTo>
                    <a:pt x="820166" y="8000"/>
                  </a:lnTo>
                  <a:lnTo>
                    <a:pt x="816737" y="13969"/>
                  </a:lnTo>
                  <a:lnTo>
                    <a:pt x="818769" y="21716"/>
                  </a:lnTo>
                  <a:lnTo>
                    <a:pt x="824738" y="25273"/>
                  </a:lnTo>
                  <a:lnTo>
                    <a:pt x="882214" y="58800"/>
                  </a:lnTo>
                  <a:lnTo>
                    <a:pt x="900938" y="47878"/>
                  </a:lnTo>
                  <a:lnTo>
                    <a:pt x="907288" y="47878"/>
                  </a:lnTo>
                  <a:lnTo>
                    <a:pt x="907288" y="46227"/>
                  </a:lnTo>
                  <a:lnTo>
                    <a:pt x="910667" y="46227"/>
                  </a:lnTo>
                  <a:lnTo>
                    <a:pt x="831469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733800" y="2510789"/>
            <a:ext cx="717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653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Đơn 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đặt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57729" y="4490720"/>
            <a:ext cx="13239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Hàng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tồn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kho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040635" y="4886705"/>
            <a:ext cx="1671320" cy="148590"/>
            <a:chOff x="2040635" y="4886705"/>
            <a:chExt cx="1671320" cy="148590"/>
          </a:xfrm>
        </p:grpSpPr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0635" y="4886705"/>
              <a:ext cx="1671065" cy="14858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082164" y="4920614"/>
              <a:ext cx="1576070" cy="41275"/>
            </a:xfrm>
            <a:custGeom>
              <a:avLst/>
              <a:gdLst/>
              <a:ahLst/>
              <a:cxnLst/>
              <a:rect l="l" t="t" r="r" b="b"/>
              <a:pathLst>
                <a:path w="1576070" h="41275">
                  <a:moveTo>
                    <a:pt x="0" y="0"/>
                  </a:moveTo>
                  <a:lnTo>
                    <a:pt x="1575815" y="40893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037588" y="1948433"/>
            <a:ext cx="5474970" cy="2589530"/>
            <a:chOff x="2037588" y="1948433"/>
            <a:chExt cx="5474970" cy="2589530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7588" y="4389119"/>
              <a:ext cx="1671065" cy="14858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079117" y="4423029"/>
              <a:ext cx="1576070" cy="41275"/>
            </a:xfrm>
            <a:custGeom>
              <a:avLst/>
              <a:gdLst/>
              <a:ahLst/>
              <a:cxnLst/>
              <a:rect l="l" t="t" r="r" b="b"/>
              <a:pathLst>
                <a:path w="1576070" h="41275">
                  <a:moveTo>
                    <a:pt x="0" y="0"/>
                  </a:moveTo>
                  <a:lnTo>
                    <a:pt x="1575816" y="40894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7574" y="3948683"/>
              <a:ext cx="307086" cy="57607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782316" y="4082414"/>
              <a:ext cx="118110" cy="381000"/>
            </a:xfrm>
            <a:custGeom>
              <a:avLst/>
              <a:gdLst/>
              <a:ahLst/>
              <a:cxnLst/>
              <a:rect l="l" t="t" r="r" b="b"/>
              <a:pathLst>
                <a:path w="118110" h="381000">
                  <a:moveTo>
                    <a:pt x="58800" y="49965"/>
                  </a:moveTo>
                  <a:lnTo>
                    <a:pt x="46227" y="71519"/>
                  </a:lnTo>
                  <a:lnTo>
                    <a:pt x="46227" y="381000"/>
                  </a:lnTo>
                  <a:lnTo>
                    <a:pt x="71373" y="381000"/>
                  </a:lnTo>
                  <a:lnTo>
                    <a:pt x="71373" y="71519"/>
                  </a:lnTo>
                  <a:lnTo>
                    <a:pt x="58800" y="49965"/>
                  </a:lnTo>
                  <a:close/>
                </a:path>
                <a:path w="118110" h="381000">
                  <a:moveTo>
                    <a:pt x="58800" y="0"/>
                  </a:moveTo>
                  <a:lnTo>
                    <a:pt x="3428" y="94742"/>
                  </a:lnTo>
                  <a:lnTo>
                    <a:pt x="0" y="100711"/>
                  </a:lnTo>
                  <a:lnTo>
                    <a:pt x="2031" y="108458"/>
                  </a:lnTo>
                  <a:lnTo>
                    <a:pt x="8000" y="112014"/>
                  </a:lnTo>
                  <a:lnTo>
                    <a:pt x="13969" y="115443"/>
                  </a:lnTo>
                  <a:lnTo>
                    <a:pt x="21716" y="113411"/>
                  </a:lnTo>
                  <a:lnTo>
                    <a:pt x="25272" y="107442"/>
                  </a:lnTo>
                  <a:lnTo>
                    <a:pt x="46227" y="71519"/>
                  </a:lnTo>
                  <a:lnTo>
                    <a:pt x="46227" y="24892"/>
                  </a:lnTo>
                  <a:lnTo>
                    <a:pt x="73349" y="24892"/>
                  </a:lnTo>
                  <a:lnTo>
                    <a:pt x="58800" y="0"/>
                  </a:lnTo>
                  <a:close/>
                </a:path>
                <a:path w="118110" h="381000">
                  <a:moveTo>
                    <a:pt x="73349" y="24892"/>
                  </a:moveTo>
                  <a:lnTo>
                    <a:pt x="71373" y="24892"/>
                  </a:lnTo>
                  <a:lnTo>
                    <a:pt x="71373" y="71519"/>
                  </a:lnTo>
                  <a:lnTo>
                    <a:pt x="92328" y="107442"/>
                  </a:lnTo>
                  <a:lnTo>
                    <a:pt x="95884" y="113411"/>
                  </a:lnTo>
                  <a:lnTo>
                    <a:pt x="103631" y="115443"/>
                  </a:lnTo>
                  <a:lnTo>
                    <a:pt x="109600" y="112014"/>
                  </a:lnTo>
                  <a:lnTo>
                    <a:pt x="115569" y="108458"/>
                  </a:lnTo>
                  <a:lnTo>
                    <a:pt x="117601" y="100711"/>
                  </a:lnTo>
                  <a:lnTo>
                    <a:pt x="114172" y="94742"/>
                  </a:lnTo>
                  <a:lnTo>
                    <a:pt x="73349" y="24892"/>
                  </a:lnTo>
                  <a:close/>
                </a:path>
                <a:path w="118110" h="381000">
                  <a:moveTo>
                    <a:pt x="71373" y="24892"/>
                  </a:moveTo>
                  <a:lnTo>
                    <a:pt x="46227" y="24892"/>
                  </a:lnTo>
                  <a:lnTo>
                    <a:pt x="46227" y="71519"/>
                  </a:lnTo>
                  <a:lnTo>
                    <a:pt x="58800" y="49965"/>
                  </a:lnTo>
                  <a:lnTo>
                    <a:pt x="47878" y="31242"/>
                  </a:lnTo>
                  <a:lnTo>
                    <a:pt x="71373" y="31242"/>
                  </a:lnTo>
                  <a:lnTo>
                    <a:pt x="71373" y="24892"/>
                  </a:lnTo>
                  <a:close/>
                </a:path>
                <a:path w="118110" h="381000">
                  <a:moveTo>
                    <a:pt x="71373" y="31242"/>
                  </a:moveTo>
                  <a:lnTo>
                    <a:pt x="69722" y="31242"/>
                  </a:lnTo>
                  <a:lnTo>
                    <a:pt x="58800" y="49965"/>
                  </a:lnTo>
                  <a:lnTo>
                    <a:pt x="71373" y="71519"/>
                  </a:lnTo>
                  <a:lnTo>
                    <a:pt x="71373" y="31242"/>
                  </a:lnTo>
                  <a:close/>
                </a:path>
                <a:path w="118110" h="381000">
                  <a:moveTo>
                    <a:pt x="69722" y="31242"/>
                  </a:moveTo>
                  <a:lnTo>
                    <a:pt x="47878" y="31242"/>
                  </a:lnTo>
                  <a:lnTo>
                    <a:pt x="58800" y="49965"/>
                  </a:lnTo>
                  <a:lnTo>
                    <a:pt x="69722" y="31242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7396" y="2061209"/>
              <a:ext cx="107442" cy="48691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841117" y="2082164"/>
              <a:ext cx="0" cy="392430"/>
            </a:xfrm>
            <a:custGeom>
              <a:avLst/>
              <a:gdLst/>
              <a:ahLst/>
              <a:cxnLst/>
              <a:rect l="l" t="t" r="r" b="b"/>
              <a:pathLst>
                <a:path h="392430">
                  <a:moveTo>
                    <a:pt x="0" y="0"/>
                  </a:moveTo>
                  <a:lnTo>
                    <a:pt x="0" y="392175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9588" y="1948433"/>
              <a:ext cx="4712970" cy="30708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841117" y="2023363"/>
              <a:ext cx="4518025" cy="118110"/>
            </a:xfrm>
            <a:custGeom>
              <a:avLst/>
              <a:gdLst/>
              <a:ahLst/>
              <a:cxnLst/>
              <a:rect l="l" t="t" r="r" b="b"/>
              <a:pathLst>
                <a:path w="4518025" h="118110">
                  <a:moveTo>
                    <a:pt x="4467678" y="58800"/>
                  </a:moveTo>
                  <a:lnTo>
                    <a:pt x="4410202" y="92328"/>
                  </a:lnTo>
                  <a:lnTo>
                    <a:pt x="4404233" y="95885"/>
                  </a:lnTo>
                  <a:lnTo>
                    <a:pt x="4402201" y="103632"/>
                  </a:lnTo>
                  <a:lnTo>
                    <a:pt x="4405630" y="109600"/>
                  </a:lnTo>
                  <a:lnTo>
                    <a:pt x="4409185" y="115570"/>
                  </a:lnTo>
                  <a:lnTo>
                    <a:pt x="4416933" y="117601"/>
                  </a:lnTo>
                  <a:lnTo>
                    <a:pt x="4496131" y="71374"/>
                  </a:lnTo>
                  <a:lnTo>
                    <a:pt x="4492752" y="71374"/>
                  </a:lnTo>
                  <a:lnTo>
                    <a:pt x="4492752" y="69723"/>
                  </a:lnTo>
                  <a:lnTo>
                    <a:pt x="4486402" y="69723"/>
                  </a:lnTo>
                  <a:lnTo>
                    <a:pt x="4467678" y="58800"/>
                  </a:lnTo>
                  <a:close/>
                </a:path>
                <a:path w="4518025" h="118110">
                  <a:moveTo>
                    <a:pt x="444612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4446124" y="71374"/>
                  </a:lnTo>
                  <a:lnTo>
                    <a:pt x="4467678" y="58800"/>
                  </a:lnTo>
                  <a:lnTo>
                    <a:pt x="4446124" y="46227"/>
                  </a:lnTo>
                  <a:close/>
                </a:path>
                <a:path w="4518025" h="118110">
                  <a:moveTo>
                    <a:pt x="4496131" y="46227"/>
                  </a:moveTo>
                  <a:lnTo>
                    <a:pt x="4492752" y="46227"/>
                  </a:lnTo>
                  <a:lnTo>
                    <a:pt x="4492752" y="71374"/>
                  </a:lnTo>
                  <a:lnTo>
                    <a:pt x="4496131" y="71374"/>
                  </a:lnTo>
                  <a:lnTo>
                    <a:pt x="4517643" y="58800"/>
                  </a:lnTo>
                  <a:lnTo>
                    <a:pt x="4496131" y="46227"/>
                  </a:lnTo>
                  <a:close/>
                </a:path>
                <a:path w="4518025" h="118110">
                  <a:moveTo>
                    <a:pt x="4486402" y="47878"/>
                  </a:moveTo>
                  <a:lnTo>
                    <a:pt x="4467678" y="58800"/>
                  </a:lnTo>
                  <a:lnTo>
                    <a:pt x="4486402" y="69723"/>
                  </a:lnTo>
                  <a:lnTo>
                    <a:pt x="4486402" y="47878"/>
                  </a:lnTo>
                  <a:close/>
                </a:path>
                <a:path w="4518025" h="118110">
                  <a:moveTo>
                    <a:pt x="4492752" y="47878"/>
                  </a:moveTo>
                  <a:lnTo>
                    <a:pt x="4486402" y="47878"/>
                  </a:lnTo>
                  <a:lnTo>
                    <a:pt x="4486402" y="69723"/>
                  </a:lnTo>
                  <a:lnTo>
                    <a:pt x="4492752" y="69723"/>
                  </a:lnTo>
                  <a:lnTo>
                    <a:pt x="4492752" y="47878"/>
                  </a:lnTo>
                  <a:close/>
                </a:path>
                <a:path w="4518025" h="118110">
                  <a:moveTo>
                    <a:pt x="4416933" y="0"/>
                  </a:moveTo>
                  <a:lnTo>
                    <a:pt x="4409185" y="2032"/>
                  </a:lnTo>
                  <a:lnTo>
                    <a:pt x="4405630" y="8000"/>
                  </a:lnTo>
                  <a:lnTo>
                    <a:pt x="4402201" y="13970"/>
                  </a:lnTo>
                  <a:lnTo>
                    <a:pt x="4404233" y="21716"/>
                  </a:lnTo>
                  <a:lnTo>
                    <a:pt x="4410202" y="25273"/>
                  </a:lnTo>
                  <a:lnTo>
                    <a:pt x="4467678" y="58800"/>
                  </a:lnTo>
                  <a:lnTo>
                    <a:pt x="4486402" y="47878"/>
                  </a:lnTo>
                  <a:lnTo>
                    <a:pt x="4492752" y="47878"/>
                  </a:lnTo>
                  <a:lnTo>
                    <a:pt x="4492752" y="46227"/>
                  </a:lnTo>
                  <a:lnTo>
                    <a:pt x="4496131" y="46227"/>
                  </a:lnTo>
                  <a:lnTo>
                    <a:pt x="4416933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650740" y="1710689"/>
            <a:ext cx="11093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Đơn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đặt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052059" y="4008882"/>
            <a:ext cx="307340" cy="628650"/>
            <a:chOff x="5052059" y="4008882"/>
            <a:chExt cx="307340" cy="628650"/>
          </a:xfrm>
        </p:grpSpPr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52059" y="4008882"/>
              <a:ext cx="307086" cy="62865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146801" y="4029837"/>
              <a:ext cx="118110" cy="434340"/>
            </a:xfrm>
            <a:custGeom>
              <a:avLst/>
              <a:gdLst/>
              <a:ahLst/>
              <a:cxnLst/>
              <a:rect l="l" t="t" r="r" b="b"/>
              <a:pathLst>
                <a:path w="118110" h="434339">
                  <a:moveTo>
                    <a:pt x="13970" y="318262"/>
                  </a:moveTo>
                  <a:lnTo>
                    <a:pt x="8000" y="321818"/>
                  </a:lnTo>
                  <a:lnTo>
                    <a:pt x="2032" y="325246"/>
                  </a:lnTo>
                  <a:lnTo>
                    <a:pt x="0" y="332994"/>
                  </a:lnTo>
                  <a:lnTo>
                    <a:pt x="3428" y="338963"/>
                  </a:lnTo>
                  <a:lnTo>
                    <a:pt x="58800" y="433831"/>
                  </a:lnTo>
                  <a:lnTo>
                    <a:pt x="73403" y="408813"/>
                  </a:lnTo>
                  <a:lnTo>
                    <a:pt x="46227" y="408813"/>
                  </a:lnTo>
                  <a:lnTo>
                    <a:pt x="46227" y="362185"/>
                  </a:lnTo>
                  <a:lnTo>
                    <a:pt x="25273" y="326263"/>
                  </a:lnTo>
                  <a:lnTo>
                    <a:pt x="21717" y="320294"/>
                  </a:lnTo>
                  <a:lnTo>
                    <a:pt x="13970" y="318262"/>
                  </a:lnTo>
                  <a:close/>
                </a:path>
                <a:path w="118110" h="434339">
                  <a:moveTo>
                    <a:pt x="46227" y="362185"/>
                  </a:moveTo>
                  <a:lnTo>
                    <a:pt x="46227" y="408813"/>
                  </a:lnTo>
                  <a:lnTo>
                    <a:pt x="71374" y="408813"/>
                  </a:lnTo>
                  <a:lnTo>
                    <a:pt x="71374" y="402463"/>
                  </a:lnTo>
                  <a:lnTo>
                    <a:pt x="47878" y="402463"/>
                  </a:lnTo>
                  <a:lnTo>
                    <a:pt x="58800" y="383739"/>
                  </a:lnTo>
                  <a:lnTo>
                    <a:pt x="46227" y="362185"/>
                  </a:lnTo>
                  <a:close/>
                </a:path>
                <a:path w="118110" h="434339">
                  <a:moveTo>
                    <a:pt x="103632" y="318262"/>
                  </a:moveTo>
                  <a:lnTo>
                    <a:pt x="95885" y="320294"/>
                  </a:lnTo>
                  <a:lnTo>
                    <a:pt x="92328" y="326263"/>
                  </a:lnTo>
                  <a:lnTo>
                    <a:pt x="71374" y="362185"/>
                  </a:lnTo>
                  <a:lnTo>
                    <a:pt x="71374" y="408813"/>
                  </a:lnTo>
                  <a:lnTo>
                    <a:pt x="73403" y="408813"/>
                  </a:lnTo>
                  <a:lnTo>
                    <a:pt x="114173" y="338963"/>
                  </a:lnTo>
                  <a:lnTo>
                    <a:pt x="117601" y="332994"/>
                  </a:lnTo>
                  <a:lnTo>
                    <a:pt x="115570" y="325246"/>
                  </a:lnTo>
                  <a:lnTo>
                    <a:pt x="109600" y="321818"/>
                  </a:lnTo>
                  <a:lnTo>
                    <a:pt x="103632" y="318262"/>
                  </a:lnTo>
                  <a:close/>
                </a:path>
                <a:path w="118110" h="434339">
                  <a:moveTo>
                    <a:pt x="58800" y="383739"/>
                  </a:moveTo>
                  <a:lnTo>
                    <a:pt x="47878" y="402463"/>
                  </a:lnTo>
                  <a:lnTo>
                    <a:pt x="69723" y="402463"/>
                  </a:lnTo>
                  <a:lnTo>
                    <a:pt x="58800" y="383739"/>
                  </a:lnTo>
                  <a:close/>
                </a:path>
                <a:path w="118110" h="434339">
                  <a:moveTo>
                    <a:pt x="71374" y="362185"/>
                  </a:moveTo>
                  <a:lnTo>
                    <a:pt x="58800" y="383739"/>
                  </a:lnTo>
                  <a:lnTo>
                    <a:pt x="69723" y="402463"/>
                  </a:lnTo>
                  <a:lnTo>
                    <a:pt x="71374" y="402463"/>
                  </a:lnTo>
                  <a:lnTo>
                    <a:pt x="71374" y="362185"/>
                  </a:lnTo>
                  <a:close/>
                </a:path>
                <a:path w="118110" h="434339">
                  <a:moveTo>
                    <a:pt x="71374" y="0"/>
                  </a:moveTo>
                  <a:lnTo>
                    <a:pt x="46227" y="0"/>
                  </a:lnTo>
                  <a:lnTo>
                    <a:pt x="46227" y="362185"/>
                  </a:lnTo>
                  <a:lnTo>
                    <a:pt x="58800" y="383739"/>
                  </a:lnTo>
                  <a:lnTo>
                    <a:pt x="71374" y="362185"/>
                  </a:lnTo>
                  <a:lnTo>
                    <a:pt x="7137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146803" y="4058411"/>
            <a:ext cx="9931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KH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xuất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kho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089903" y="2545079"/>
            <a:ext cx="2034539" cy="2922270"/>
            <a:chOff x="6089903" y="2545079"/>
            <a:chExt cx="2034539" cy="2922270"/>
          </a:xfrm>
        </p:grpSpPr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9903" y="5160263"/>
              <a:ext cx="1126998" cy="30708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131432" y="5235194"/>
              <a:ext cx="932180" cy="118110"/>
            </a:xfrm>
            <a:custGeom>
              <a:avLst/>
              <a:gdLst/>
              <a:ahLst/>
              <a:cxnLst/>
              <a:rect l="l" t="t" r="r" b="b"/>
              <a:pathLst>
                <a:path w="932179" h="118110">
                  <a:moveTo>
                    <a:pt x="882214" y="58800"/>
                  </a:moveTo>
                  <a:lnTo>
                    <a:pt x="824738" y="92328"/>
                  </a:lnTo>
                  <a:lnTo>
                    <a:pt x="818768" y="95884"/>
                  </a:lnTo>
                  <a:lnTo>
                    <a:pt x="816737" y="103631"/>
                  </a:lnTo>
                  <a:lnTo>
                    <a:pt x="820165" y="109600"/>
                  </a:lnTo>
                  <a:lnTo>
                    <a:pt x="823721" y="115569"/>
                  </a:lnTo>
                  <a:lnTo>
                    <a:pt x="831468" y="117601"/>
                  </a:lnTo>
                  <a:lnTo>
                    <a:pt x="910667" y="71373"/>
                  </a:lnTo>
                  <a:lnTo>
                    <a:pt x="907288" y="71373"/>
                  </a:lnTo>
                  <a:lnTo>
                    <a:pt x="907288" y="69722"/>
                  </a:lnTo>
                  <a:lnTo>
                    <a:pt x="900938" y="69722"/>
                  </a:lnTo>
                  <a:lnTo>
                    <a:pt x="882214" y="58800"/>
                  </a:lnTo>
                  <a:close/>
                </a:path>
                <a:path w="932179" h="118110">
                  <a:moveTo>
                    <a:pt x="860660" y="46227"/>
                  </a:moveTo>
                  <a:lnTo>
                    <a:pt x="0" y="46227"/>
                  </a:lnTo>
                  <a:lnTo>
                    <a:pt x="0" y="71373"/>
                  </a:lnTo>
                  <a:lnTo>
                    <a:pt x="860660" y="71373"/>
                  </a:lnTo>
                  <a:lnTo>
                    <a:pt x="882214" y="58800"/>
                  </a:lnTo>
                  <a:lnTo>
                    <a:pt x="860660" y="46227"/>
                  </a:lnTo>
                  <a:close/>
                </a:path>
                <a:path w="932179" h="118110">
                  <a:moveTo>
                    <a:pt x="910667" y="46227"/>
                  </a:moveTo>
                  <a:lnTo>
                    <a:pt x="907288" y="46227"/>
                  </a:lnTo>
                  <a:lnTo>
                    <a:pt x="907288" y="71373"/>
                  </a:lnTo>
                  <a:lnTo>
                    <a:pt x="910667" y="71373"/>
                  </a:lnTo>
                  <a:lnTo>
                    <a:pt x="932180" y="58800"/>
                  </a:lnTo>
                  <a:lnTo>
                    <a:pt x="910667" y="46227"/>
                  </a:lnTo>
                  <a:close/>
                </a:path>
                <a:path w="932179" h="118110">
                  <a:moveTo>
                    <a:pt x="900938" y="47878"/>
                  </a:moveTo>
                  <a:lnTo>
                    <a:pt x="882214" y="58800"/>
                  </a:lnTo>
                  <a:lnTo>
                    <a:pt x="900938" y="69722"/>
                  </a:lnTo>
                  <a:lnTo>
                    <a:pt x="900938" y="47878"/>
                  </a:lnTo>
                  <a:close/>
                </a:path>
                <a:path w="932179" h="118110">
                  <a:moveTo>
                    <a:pt x="907288" y="47878"/>
                  </a:moveTo>
                  <a:lnTo>
                    <a:pt x="900938" y="47878"/>
                  </a:lnTo>
                  <a:lnTo>
                    <a:pt x="900938" y="69722"/>
                  </a:lnTo>
                  <a:lnTo>
                    <a:pt x="907288" y="69722"/>
                  </a:lnTo>
                  <a:lnTo>
                    <a:pt x="907288" y="47878"/>
                  </a:lnTo>
                  <a:close/>
                </a:path>
                <a:path w="932179" h="118110">
                  <a:moveTo>
                    <a:pt x="831468" y="0"/>
                  </a:moveTo>
                  <a:lnTo>
                    <a:pt x="823721" y="2031"/>
                  </a:lnTo>
                  <a:lnTo>
                    <a:pt x="820165" y="8000"/>
                  </a:lnTo>
                  <a:lnTo>
                    <a:pt x="816737" y="13969"/>
                  </a:lnTo>
                  <a:lnTo>
                    <a:pt x="818768" y="21716"/>
                  </a:lnTo>
                  <a:lnTo>
                    <a:pt x="824738" y="25272"/>
                  </a:lnTo>
                  <a:lnTo>
                    <a:pt x="882214" y="58800"/>
                  </a:lnTo>
                  <a:lnTo>
                    <a:pt x="900938" y="47878"/>
                  </a:lnTo>
                  <a:lnTo>
                    <a:pt x="907288" y="47878"/>
                  </a:lnTo>
                  <a:lnTo>
                    <a:pt x="907288" y="46227"/>
                  </a:lnTo>
                  <a:lnTo>
                    <a:pt x="910667" y="46227"/>
                  </a:lnTo>
                  <a:lnTo>
                    <a:pt x="83146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7357" y="2545079"/>
              <a:ext cx="307085" cy="199415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912099" y="2678810"/>
              <a:ext cx="118110" cy="1799589"/>
            </a:xfrm>
            <a:custGeom>
              <a:avLst/>
              <a:gdLst/>
              <a:ahLst/>
              <a:cxnLst/>
              <a:rect l="l" t="t" r="r" b="b"/>
              <a:pathLst>
                <a:path w="118109" h="1799589">
                  <a:moveTo>
                    <a:pt x="58800" y="49965"/>
                  </a:moveTo>
                  <a:lnTo>
                    <a:pt x="46227" y="71519"/>
                  </a:lnTo>
                  <a:lnTo>
                    <a:pt x="46227" y="1799208"/>
                  </a:lnTo>
                  <a:lnTo>
                    <a:pt x="71374" y="1799208"/>
                  </a:lnTo>
                  <a:lnTo>
                    <a:pt x="71374" y="71519"/>
                  </a:lnTo>
                  <a:lnTo>
                    <a:pt x="58800" y="49965"/>
                  </a:lnTo>
                  <a:close/>
                </a:path>
                <a:path w="118109" h="1799589">
                  <a:moveTo>
                    <a:pt x="58800" y="0"/>
                  </a:moveTo>
                  <a:lnTo>
                    <a:pt x="3428" y="94741"/>
                  </a:lnTo>
                  <a:lnTo>
                    <a:pt x="0" y="100711"/>
                  </a:lnTo>
                  <a:lnTo>
                    <a:pt x="2031" y="108458"/>
                  </a:lnTo>
                  <a:lnTo>
                    <a:pt x="8000" y="112013"/>
                  </a:lnTo>
                  <a:lnTo>
                    <a:pt x="13970" y="115442"/>
                  </a:lnTo>
                  <a:lnTo>
                    <a:pt x="21717" y="113411"/>
                  </a:lnTo>
                  <a:lnTo>
                    <a:pt x="25273" y="107441"/>
                  </a:lnTo>
                  <a:lnTo>
                    <a:pt x="46227" y="71519"/>
                  </a:lnTo>
                  <a:lnTo>
                    <a:pt x="46227" y="24891"/>
                  </a:lnTo>
                  <a:lnTo>
                    <a:pt x="73315" y="24891"/>
                  </a:lnTo>
                  <a:lnTo>
                    <a:pt x="58800" y="0"/>
                  </a:lnTo>
                  <a:close/>
                </a:path>
                <a:path w="118109" h="1799589">
                  <a:moveTo>
                    <a:pt x="73315" y="24891"/>
                  </a:moveTo>
                  <a:lnTo>
                    <a:pt x="71374" y="24891"/>
                  </a:lnTo>
                  <a:lnTo>
                    <a:pt x="71374" y="71519"/>
                  </a:lnTo>
                  <a:lnTo>
                    <a:pt x="92328" y="107441"/>
                  </a:lnTo>
                  <a:lnTo>
                    <a:pt x="95884" y="113411"/>
                  </a:lnTo>
                  <a:lnTo>
                    <a:pt x="103631" y="115442"/>
                  </a:lnTo>
                  <a:lnTo>
                    <a:pt x="109600" y="112013"/>
                  </a:lnTo>
                  <a:lnTo>
                    <a:pt x="115570" y="108458"/>
                  </a:lnTo>
                  <a:lnTo>
                    <a:pt x="117601" y="100711"/>
                  </a:lnTo>
                  <a:lnTo>
                    <a:pt x="114046" y="94741"/>
                  </a:lnTo>
                  <a:lnTo>
                    <a:pt x="73315" y="24891"/>
                  </a:lnTo>
                  <a:close/>
                </a:path>
                <a:path w="118109" h="1799589">
                  <a:moveTo>
                    <a:pt x="71374" y="24891"/>
                  </a:moveTo>
                  <a:lnTo>
                    <a:pt x="46227" y="24891"/>
                  </a:lnTo>
                  <a:lnTo>
                    <a:pt x="46227" y="71519"/>
                  </a:lnTo>
                  <a:lnTo>
                    <a:pt x="58800" y="49965"/>
                  </a:lnTo>
                  <a:lnTo>
                    <a:pt x="47878" y="31241"/>
                  </a:lnTo>
                  <a:lnTo>
                    <a:pt x="71374" y="31241"/>
                  </a:lnTo>
                  <a:lnTo>
                    <a:pt x="71374" y="24891"/>
                  </a:lnTo>
                  <a:close/>
                </a:path>
                <a:path w="118109" h="1799589">
                  <a:moveTo>
                    <a:pt x="71374" y="31241"/>
                  </a:moveTo>
                  <a:lnTo>
                    <a:pt x="69723" y="31241"/>
                  </a:lnTo>
                  <a:lnTo>
                    <a:pt x="58800" y="49965"/>
                  </a:lnTo>
                  <a:lnTo>
                    <a:pt x="71374" y="71519"/>
                  </a:lnTo>
                  <a:lnTo>
                    <a:pt x="71374" y="31241"/>
                  </a:lnTo>
                  <a:close/>
                </a:path>
                <a:path w="118109" h="1799589">
                  <a:moveTo>
                    <a:pt x="69723" y="31241"/>
                  </a:moveTo>
                  <a:lnTo>
                    <a:pt x="47878" y="31241"/>
                  </a:lnTo>
                  <a:lnTo>
                    <a:pt x="58800" y="49965"/>
                  </a:lnTo>
                  <a:lnTo>
                    <a:pt x="69723" y="31241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246876" y="5579871"/>
            <a:ext cx="727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Phiếu 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Xuất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kho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135873" y="3597655"/>
            <a:ext cx="3511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Hóa</a:t>
            </a:r>
            <a:endParaRPr sz="14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đơn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848350" y="2545079"/>
            <a:ext cx="1880870" cy="2305050"/>
            <a:chOff x="5848350" y="2545079"/>
            <a:chExt cx="1880870" cy="2305050"/>
          </a:xfrm>
        </p:grpSpPr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48350" y="2545079"/>
              <a:ext cx="1880616" cy="230505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889244" y="2678810"/>
              <a:ext cx="1686560" cy="2110740"/>
            </a:xfrm>
            <a:custGeom>
              <a:avLst/>
              <a:gdLst/>
              <a:ahLst/>
              <a:cxnLst/>
              <a:rect l="l" t="t" r="r" b="b"/>
              <a:pathLst>
                <a:path w="1686559" h="2110740">
                  <a:moveTo>
                    <a:pt x="1655092" y="39052"/>
                  </a:moveTo>
                  <a:lnTo>
                    <a:pt x="1631783" y="48081"/>
                  </a:lnTo>
                  <a:lnTo>
                    <a:pt x="0" y="2094611"/>
                  </a:lnTo>
                  <a:lnTo>
                    <a:pt x="19557" y="2110359"/>
                  </a:lnTo>
                  <a:lnTo>
                    <a:pt x="1651474" y="63662"/>
                  </a:lnTo>
                  <a:lnTo>
                    <a:pt x="1655092" y="39052"/>
                  </a:lnTo>
                  <a:close/>
                </a:path>
                <a:path w="1686559" h="2110740">
                  <a:moveTo>
                    <a:pt x="1684489" y="11556"/>
                  </a:moveTo>
                  <a:lnTo>
                    <a:pt x="1660905" y="11556"/>
                  </a:lnTo>
                  <a:lnTo>
                    <a:pt x="1680463" y="27304"/>
                  </a:lnTo>
                  <a:lnTo>
                    <a:pt x="1651474" y="63662"/>
                  </a:lnTo>
                  <a:lnTo>
                    <a:pt x="1645411" y="104901"/>
                  </a:lnTo>
                  <a:lnTo>
                    <a:pt x="1644523" y="111760"/>
                  </a:lnTo>
                  <a:lnTo>
                    <a:pt x="1649222" y="118237"/>
                  </a:lnTo>
                  <a:lnTo>
                    <a:pt x="1656079" y="119252"/>
                  </a:lnTo>
                  <a:lnTo>
                    <a:pt x="1662937" y="120141"/>
                  </a:lnTo>
                  <a:lnTo>
                    <a:pt x="1669287" y="115442"/>
                  </a:lnTo>
                  <a:lnTo>
                    <a:pt x="1684489" y="11556"/>
                  </a:lnTo>
                  <a:close/>
                </a:path>
                <a:path w="1686559" h="2110740">
                  <a:moveTo>
                    <a:pt x="1686178" y="0"/>
                  </a:moveTo>
                  <a:lnTo>
                    <a:pt x="1577339" y="42163"/>
                  </a:lnTo>
                  <a:lnTo>
                    <a:pt x="1574164" y="49402"/>
                  </a:lnTo>
                  <a:lnTo>
                    <a:pt x="1576704" y="55879"/>
                  </a:lnTo>
                  <a:lnTo>
                    <a:pt x="1579117" y="62356"/>
                  </a:lnTo>
                  <a:lnTo>
                    <a:pt x="1586483" y="65531"/>
                  </a:lnTo>
                  <a:lnTo>
                    <a:pt x="1592960" y="63118"/>
                  </a:lnTo>
                  <a:lnTo>
                    <a:pt x="1631783" y="48081"/>
                  </a:lnTo>
                  <a:lnTo>
                    <a:pt x="1660905" y="11556"/>
                  </a:lnTo>
                  <a:lnTo>
                    <a:pt x="1684489" y="11556"/>
                  </a:lnTo>
                  <a:lnTo>
                    <a:pt x="1686178" y="0"/>
                  </a:lnTo>
                  <a:close/>
                </a:path>
                <a:path w="1686559" h="2110740">
                  <a:moveTo>
                    <a:pt x="1668476" y="17652"/>
                  </a:moveTo>
                  <a:lnTo>
                    <a:pt x="1658238" y="17652"/>
                  </a:lnTo>
                  <a:lnTo>
                    <a:pt x="1675256" y="31241"/>
                  </a:lnTo>
                  <a:lnTo>
                    <a:pt x="1655092" y="39052"/>
                  </a:lnTo>
                  <a:lnTo>
                    <a:pt x="1651474" y="63662"/>
                  </a:lnTo>
                  <a:lnTo>
                    <a:pt x="1680463" y="27304"/>
                  </a:lnTo>
                  <a:lnTo>
                    <a:pt x="1668476" y="17652"/>
                  </a:lnTo>
                  <a:close/>
                </a:path>
                <a:path w="1686559" h="2110740">
                  <a:moveTo>
                    <a:pt x="1660905" y="11556"/>
                  </a:moveTo>
                  <a:lnTo>
                    <a:pt x="1631783" y="48081"/>
                  </a:lnTo>
                  <a:lnTo>
                    <a:pt x="1655092" y="39052"/>
                  </a:lnTo>
                  <a:lnTo>
                    <a:pt x="1658238" y="17652"/>
                  </a:lnTo>
                  <a:lnTo>
                    <a:pt x="1668476" y="17652"/>
                  </a:lnTo>
                  <a:lnTo>
                    <a:pt x="1660905" y="11556"/>
                  </a:lnTo>
                  <a:close/>
                </a:path>
                <a:path w="1686559" h="2110740">
                  <a:moveTo>
                    <a:pt x="1658238" y="17652"/>
                  </a:moveTo>
                  <a:lnTo>
                    <a:pt x="1655092" y="39052"/>
                  </a:lnTo>
                  <a:lnTo>
                    <a:pt x="1675256" y="31241"/>
                  </a:lnTo>
                  <a:lnTo>
                    <a:pt x="1658238" y="17652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6770878" y="3880865"/>
            <a:ext cx="765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NVL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hàng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hóa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68" name="Date Placeholder 6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727" y="0"/>
            <a:ext cx="758063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Hệ thống </a:t>
            </a:r>
            <a:r>
              <a:rPr spc="-30" dirty="0"/>
              <a:t>xử </a:t>
            </a:r>
            <a:r>
              <a:rPr dirty="0"/>
              <a:t>lý </a:t>
            </a:r>
            <a:r>
              <a:rPr spc="-5" dirty="0"/>
              <a:t>giao </a:t>
            </a:r>
            <a:r>
              <a:rPr dirty="0"/>
              <a:t>dịch </a:t>
            </a:r>
            <a:r>
              <a:rPr spc="-5" dirty="0"/>
              <a:t>mua hàng </a:t>
            </a:r>
            <a:r>
              <a:rPr dirty="0"/>
              <a:t> </a:t>
            </a:r>
            <a:r>
              <a:rPr spc="-10" dirty="0"/>
              <a:t>(Purchassing</a:t>
            </a:r>
            <a:r>
              <a:rPr spc="20" dirty="0"/>
              <a:t> </a:t>
            </a:r>
            <a:r>
              <a:rPr spc="-30" dirty="0"/>
              <a:t>Transaction</a:t>
            </a:r>
            <a:r>
              <a:rPr spc="-15" dirty="0"/>
              <a:t> </a:t>
            </a:r>
            <a:r>
              <a:rPr spc="-5" dirty="0"/>
              <a:t>Processing </a:t>
            </a:r>
            <a:r>
              <a:rPr spc="-890" dirty="0"/>
              <a:t> </a:t>
            </a:r>
            <a:r>
              <a:rPr spc="-30" dirty="0"/>
              <a:t>System)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14423" y="2535808"/>
            <a:ext cx="1549400" cy="1625600"/>
            <a:chOff x="2114423" y="2535808"/>
            <a:chExt cx="1549400" cy="1625600"/>
          </a:xfrm>
        </p:grpSpPr>
        <p:sp>
          <p:nvSpPr>
            <p:cNvPr id="4" name="object 4"/>
            <p:cNvSpPr/>
            <p:nvPr/>
          </p:nvSpPr>
          <p:spPr>
            <a:xfrm>
              <a:off x="2127123" y="2548508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762000" y="0"/>
                  </a:moveTo>
                  <a:lnTo>
                    <a:pt x="715577" y="1460"/>
                  </a:lnTo>
                  <a:lnTo>
                    <a:pt x="669890" y="5785"/>
                  </a:lnTo>
                  <a:lnTo>
                    <a:pt x="625019" y="12892"/>
                  </a:lnTo>
                  <a:lnTo>
                    <a:pt x="581044" y="22696"/>
                  </a:lnTo>
                  <a:lnTo>
                    <a:pt x="538044" y="35114"/>
                  </a:lnTo>
                  <a:lnTo>
                    <a:pt x="496098" y="50062"/>
                  </a:lnTo>
                  <a:lnTo>
                    <a:pt x="455287" y="67456"/>
                  </a:lnTo>
                  <a:lnTo>
                    <a:pt x="415690" y="87212"/>
                  </a:lnTo>
                  <a:lnTo>
                    <a:pt x="377387" y="109248"/>
                  </a:lnTo>
                  <a:lnTo>
                    <a:pt x="340457" y="133478"/>
                  </a:lnTo>
                  <a:lnTo>
                    <a:pt x="304981" y="159820"/>
                  </a:lnTo>
                  <a:lnTo>
                    <a:pt x="271037" y="188189"/>
                  </a:lnTo>
                  <a:lnTo>
                    <a:pt x="238706" y="218503"/>
                  </a:lnTo>
                  <a:lnTo>
                    <a:pt x="208067" y="250676"/>
                  </a:lnTo>
                  <a:lnTo>
                    <a:pt x="179200" y="284626"/>
                  </a:lnTo>
                  <a:lnTo>
                    <a:pt x="152185" y="320268"/>
                  </a:lnTo>
                  <a:lnTo>
                    <a:pt x="127100" y="357520"/>
                  </a:lnTo>
                  <a:lnTo>
                    <a:pt x="104027" y="396296"/>
                  </a:lnTo>
                  <a:lnTo>
                    <a:pt x="83044" y="436514"/>
                  </a:lnTo>
                  <a:lnTo>
                    <a:pt x="64231" y="478089"/>
                  </a:lnTo>
                  <a:lnTo>
                    <a:pt x="47668" y="520939"/>
                  </a:lnTo>
                  <a:lnTo>
                    <a:pt x="33435" y="564979"/>
                  </a:lnTo>
                  <a:lnTo>
                    <a:pt x="21610" y="610125"/>
                  </a:lnTo>
                  <a:lnTo>
                    <a:pt x="12275" y="656294"/>
                  </a:lnTo>
                  <a:lnTo>
                    <a:pt x="5508" y="703402"/>
                  </a:lnTo>
                  <a:lnTo>
                    <a:pt x="1390" y="751365"/>
                  </a:lnTo>
                  <a:lnTo>
                    <a:pt x="0" y="800100"/>
                  </a:lnTo>
                  <a:lnTo>
                    <a:pt x="1390" y="848834"/>
                  </a:lnTo>
                  <a:lnTo>
                    <a:pt x="5508" y="896797"/>
                  </a:lnTo>
                  <a:lnTo>
                    <a:pt x="12275" y="943905"/>
                  </a:lnTo>
                  <a:lnTo>
                    <a:pt x="21610" y="990074"/>
                  </a:lnTo>
                  <a:lnTo>
                    <a:pt x="33435" y="1035220"/>
                  </a:lnTo>
                  <a:lnTo>
                    <a:pt x="47668" y="1079260"/>
                  </a:lnTo>
                  <a:lnTo>
                    <a:pt x="64231" y="1122110"/>
                  </a:lnTo>
                  <a:lnTo>
                    <a:pt x="83044" y="1163685"/>
                  </a:lnTo>
                  <a:lnTo>
                    <a:pt x="104027" y="1203903"/>
                  </a:lnTo>
                  <a:lnTo>
                    <a:pt x="127100" y="1242679"/>
                  </a:lnTo>
                  <a:lnTo>
                    <a:pt x="152185" y="1279931"/>
                  </a:lnTo>
                  <a:lnTo>
                    <a:pt x="179200" y="1315573"/>
                  </a:lnTo>
                  <a:lnTo>
                    <a:pt x="208067" y="1349523"/>
                  </a:lnTo>
                  <a:lnTo>
                    <a:pt x="238706" y="1381696"/>
                  </a:lnTo>
                  <a:lnTo>
                    <a:pt x="271037" y="1412010"/>
                  </a:lnTo>
                  <a:lnTo>
                    <a:pt x="304981" y="1440379"/>
                  </a:lnTo>
                  <a:lnTo>
                    <a:pt x="340457" y="1466721"/>
                  </a:lnTo>
                  <a:lnTo>
                    <a:pt x="377387" y="1490951"/>
                  </a:lnTo>
                  <a:lnTo>
                    <a:pt x="415690" y="1512987"/>
                  </a:lnTo>
                  <a:lnTo>
                    <a:pt x="455287" y="1532743"/>
                  </a:lnTo>
                  <a:lnTo>
                    <a:pt x="496098" y="1550137"/>
                  </a:lnTo>
                  <a:lnTo>
                    <a:pt x="538044" y="1565085"/>
                  </a:lnTo>
                  <a:lnTo>
                    <a:pt x="581044" y="1577503"/>
                  </a:lnTo>
                  <a:lnTo>
                    <a:pt x="625019" y="1587307"/>
                  </a:lnTo>
                  <a:lnTo>
                    <a:pt x="669890" y="1594414"/>
                  </a:lnTo>
                  <a:lnTo>
                    <a:pt x="715577" y="1598739"/>
                  </a:lnTo>
                  <a:lnTo>
                    <a:pt x="762000" y="1600199"/>
                  </a:lnTo>
                  <a:lnTo>
                    <a:pt x="808422" y="1598739"/>
                  </a:lnTo>
                  <a:lnTo>
                    <a:pt x="854109" y="1594414"/>
                  </a:lnTo>
                  <a:lnTo>
                    <a:pt x="898980" y="1587307"/>
                  </a:lnTo>
                  <a:lnTo>
                    <a:pt x="942955" y="1577503"/>
                  </a:lnTo>
                  <a:lnTo>
                    <a:pt x="985955" y="1565085"/>
                  </a:lnTo>
                  <a:lnTo>
                    <a:pt x="1027901" y="1550137"/>
                  </a:lnTo>
                  <a:lnTo>
                    <a:pt x="1068712" y="1532743"/>
                  </a:lnTo>
                  <a:lnTo>
                    <a:pt x="1108309" y="1512987"/>
                  </a:lnTo>
                  <a:lnTo>
                    <a:pt x="1146612" y="1490951"/>
                  </a:lnTo>
                  <a:lnTo>
                    <a:pt x="1183542" y="1466721"/>
                  </a:lnTo>
                  <a:lnTo>
                    <a:pt x="1219018" y="1440379"/>
                  </a:lnTo>
                  <a:lnTo>
                    <a:pt x="1252962" y="1412010"/>
                  </a:lnTo>
                  <a:lnTo>
                    <a:pt x="1285293" y="1381696"/>
                  </a:lnTo>
                  <a:lnTo>
                    <a:pt x="1315932" y="1349523"/>
                  </a:lnTo>
                  <a:lnTo>
                    <a:pt x="1344799" y="1315573"/>
                  </a:lnTo>
                  <a:lnTo>
                    <a:pt x="1371814" y="1279931"/>
                  </a:lnTo>
                  <a:lnTo>
                    <a:pt x="1396899" y="1242679"/>
                  </a:lnTo>
                  <a:lnTo>
                    <a:pt x="1419972" y="1203903"/>
                  </a:lnTo>
                  <a:lnTo>
                    <a:pt x="1440955" y="1163685"/>
                  </a:lnTo>
                  <a:lnTo>
                    <a:pt x="1459768" y="1122110"/>
                  </a:lnTo>
                  <a:lnTo>
                    <a:pt x="1476331" y="1079260"/>
                  </a:lnTo>
                  <a:lnTo>
                    <a:pt x="1490564" y="1035220"/>
                  </a:lnTo>
                  <a:lnTo>
                    <a:pt x="1502389" y="990074"/>
                  </a:lnTo>
                  <a:lnTo>
                    <a:pt x="1511724" y="943905"/>
                  </a:lnTo>
                  <a:lnTo>
                    <a:pt x="1518491" y="896797"/>
                  </a:lnTo>
                  <a:lnTo>
                    <a:pt x="1522609" y="848834"/>
                  </a:lnTo>
                  <a:lnTo>
                    <a:pt x="1524000" y="800100"/>
                  </a:lnTo>
                  <a:lnTo>
                    <a:pt x="1522609" y="751365"/>
                  </a:lnTo>
                  <a:lnTo>
                    <a:pt x="1518491" y="703402"/>
                  </a:lnTo>
                  <a:lnTo>
                    <a:pt x="1511724" y="656294"/>
                  </a:lnTo>
                  <a:lnTo>
                    <a:pt x="1502389" y="610125"/>
                  </a:lnTo>
                  <a:lnTo>
                    <a:pt x="1490564" y="564979"/>
                  </a:lnTo>
                  <a:lnTo>
                    <a:pt x="1476331" y="520939"/>
                  </a:lnTo>
                  <a:lnTo>
                    <a:pt x="1459768" y="478089"/>
                  </a:lnTo>
                  <a:lnTo>
                    <a:pt x="1440955" y="436514"/>
                  </a:lnTo>
                  <a:lnTo>
                    <a:pt x="1419972" y="396296"/>
                  </a:lnTo>
                  <a:lnTo>
                    <a:pt x="1396899" y="357520"/>
                  </a:lnTo>
                  <a:lnTo>
                    <a:pt x="1371814" y="320268"/>
                  </a:lnTo>
                  <a:lnTo>
                    <a:pt x="1344799" y="284626"/>
                  </a:lnTo>
                  <a:lnTo>
                    <a:pt x="1315932" y="250676"/>
                  </a:lnTo>
                  <a:lnTo>
                    <a:pt x="1285293" y="218503"/>
                  </a:lnTo>
                  <a:lnTo>
                    <a:pt x="1252962" y="188189"/>
                  </a:lnTo>
                  <a:lnTo>
                    <a:pt x="1219018" y="159820"/>
                  </a:lnTo>
                  <a:lnTo>
                    <a:pt x="1183542" y="133478"/>
                  </a:lnTo>
                  <a:lnTo>
                    <a:pt x="1146612" y="109248"/>
                  </a:lnTo>
                  <a:lnTo>
                    <a:pt x="1108309" y="87212"/>
                  </a:lnTo>
                  <a:lnTo>
                    <a:pt x="1068712" y="67456"/>
                  </a:lnTo>
                  <a:lnTo>
                    <a:pt x="1027901" y="50062"/>
                  </a:lnTo>
                  <a:lnTo>
                    <a:pt x="985955" y="35114"/>
                  </a:lnTo>
                  <a:lnTo>
                    <a:pt x="942955" y="22696"/>
                  </a:lnTo>
                  <a:lnTo>
                    <a:pt x="898980" y="12892"/>
                  </a:lnTo>
                  <a:lnTo>
                    <a:pt x="854109" y="5785"/>
                  </a:lnTo>
                  <a:lnTo>
                    <a:pt x="808422" y="146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27123" y="2548508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0" y="800100"/>
                  </a:moveTo>
                  <a:lnTo>
                    <a:pt x="1390" y="751365"/>
                  </a:lnTo>
                  <a:lnTo>
                    <a:pt x="5508" y="703402"/>
                  </a:lnTo>
                  <a:lnTo>
                    <a:pt x="12275" y="656294"/>
                  </a:lnTo>
                  <a:lnTo>
                    <a:pt x="21610" y="610125"/>
                  </a:lnTo>
                  <a:lnTo>
                    <a:pt x="33435" y="564979"/>
                  </a:lnTo>
                  <a:lnTo>
                    <a:pt x="47668" y="520939"/>
                  </a:lnTo>
                  <a:lnTo>
                    <a:pt x="64231" y="478089"/>
                  </a:lnTo>
                  <a:lnTo>
                    <a:pt x="83044" y="436514"/>
                  </a:lnTo>
                  <a:lnTo>
                    <a:pt x="104027" y="396296"/>
                  </a:lnTo>
                  <a:lnTo>
                    <a:pt x="127100" y="357520"/>
                  </a:lnTo>
                  <a:lnTo>
                    <a:pt x="152185" y="320268"/>
                  </a:lnTo>
                  <a:lnTo>
                    <a:pt x="179200" y="284626"/>
                  </a:lnTo>
                  <a:lnTo>
                    <a:pt x="208067" y="250676"/>
                  </a:lnTo>
                  <a:lnTo>
                    <a:pt x="238706" y="218503"/>
                  </a:lnTo>
                  <a:lnTo>
                    <a:pt x="271037" y="188189"/>
                  </a:lnTo>
                  <a:lnTo>
                    <a:pt x="304981" y="159820"/>
                  </a:lnTo>
                  <a:lnTo>
                    <a:pt x="340457" y="133478"/>
                  </a:lnTo>
                  <a:lnTo>
                    <a:pt x="377387" y="109248"/>
                  </a:lnTo>
                  <a:lnTo>
                    <a:pt x="415690" y="87212"/>
                  </a:lnTo>
                  <a:lnTo>
                    <a:pt x="455287" y="67456"/>
                  </a:lnTo>
                  <a:lnTo>
                    <a:pt x="496098" y="50062"/>
                  </a:lnTo>
                  <a:lnTo>
                    <a:pt x="538044" y="35114"/>
                  </a:lnTo>
                  <a:lnTo>
                    <a:pt x="581044" y="22696"/>
                  </a:lnTo>
                  <a:lnTo>
                    <a:pt x="625019" y="12892"/>
                  </a:lnTo>
                  <a:lnTo>
                    <a:pt x="669890" y="5785"/>
                  </a:lnTo>
                  <a:lnTo>
                    <a:pt x="715577" y="1460"/>
                  </a:lnTo>
                  <a:lnTo>
                    <a:pt x="762000" y="0"/>
                  </a:lnTo>
                  <a:lnTo>
                    <a:pt x="808422" y="1460"/>
                  </a:lnTo>
                  <a:lnTo>
                    <a:pt x="854109" y="5785"/>
                  </a:lnTo>
                  <a:lnTo>
                    <a:pt x="898980" y="12892"/>
                  </a:lnTo>
                  <a:lnTo>
                    <a:pt x="942955" y="22696"/>
                  </a:lnTo>
                  <a:lnTo>
                    <a:pt x="985955" y="35114"/>
                  </a:lnTo>
                  <a:lnTo>
                    <a:pt x="1027901" y="50062"/>
                  </a:lnTo>
                  <a:lnTo>
                    <a:pt x="1068712" y="67456"/>
                  </a:lnTo>
                  <a:lnTo>
                    <a:pt x="1108309" y="87212"/>
                  </a:lnTo>
                  <a:lnTo>
                    <a:pt x="1146612" y="109248"/>
                  </a:lnTo>
                  <a:lnTo>
                    <a:pt x="1183542" y="133478"/>
                  </a:lnTo>
                  <a:lnTo>
                    <a:pt x="1219018" y="159820"/>
                  </a:lnTo>
                  <a:lnTo>
                    <a:pt x="1252962" y="188189"/>
                  </a:lnTo>
                  <a:lnTo>
                    <a:pt x="1285293" y="218503"/>
                  </a:lnTo>
                  <a:lnTo>
                    <a:pt x="1315932" y="250676"/>
                  </a:lnTo>
                  <a:lnTo>
                    <a:pt x="1344799" y="284626"/>
                  </a:lnTo>
                  <a:lnTo>
                    <a:pt x="1371814" y="320268"/>
                  </a:lnTo>
                  <a:lnTo>
                    <a:pt x="1396899" y="357520"/>
                  </a:lnTo>
                  <a:lnTo>
                    <a:pt x="1419972" y="396296"/>
                  </a:lnTo>
                  <a:lnTo>
                    <a:pt x="1440955" y="436514"/>
                  </a:lnTo>
                  <a:lnTo>
                    <a:pt x="1459768" y="478089"/>
                  </a:lnTo>
                  <a:lnTo>
                    <a:pt x="1476331" y="520939"/>
                  </a:lnTo>
                  <a:lnTo>
                    <a:pt x="1490564" y="564979"/>
                  </a:lnTo>
                  <a:lnTo>
                    <a:pt x="1502389" y="610125"/>
                  </a:lnTo>
                  <a:lnTo>
                    <a:pt x="1511724" y="656294"/>
                  </a:lnTo>
                  <a:lnTo>
                    <a:pt x="1518491" y="703402"/>
                  </a:lnTo>
                  <a:lnTo>
                    <a:pt x="1522609" y="751365"/>
                  </a:lnTo>
                  <a:lnTo>
                    <a:pt x="1524000" y="800100"/>
                  </a:lnTo>
                  <a:lnTo>
                    <a:pt x="1522609" y="848834"/>
                  </a:lnTo>
                  <a:lnTo>
                    <a:pt x="1518491" y="896797"/>
                  </a:lnTo>
                  <a:lnTo>
                    <a:pt x="1511724" y="943905"/>
                  </a:lnTo>
                  <a:lnTo>
                    <a:pt x="1502389" y="990074"/>
                  </a:lnTo>
                  <a:lnTo>
                    <a:pt x="1490564" y="1035220"/>
                  </a:lnTo>
                  <a:lnTo>
                    <a:pt x="1476331" y="1079260"/>
                  </a:lnTo>
                  <a:lnTo>
                    <a:pt x="1459768" y="1122110"/>
                  </a:lnTo>
                  <a:lnTo>
                    <a:pt x="1440955" y="1163685"/>
                  </a:lnTo>
                  <a:lnTo>
                    <a:pt x="1419972" y="1203903"/>
                  </a:lnTo>
                  <a:lnTo>
                    <a:pt x="1396899" y="1242679"/>
                  </a:lnTo>
                  <a:lnTo>
                    <a:pt x="1371814" y="1279931"/>
                  </a:lnTo>
                  <a:lnTo>
                    <a:pt x="1344799" y="1315573"/>
                  </a:lnTo>
                  <a:lnTo>
                    <a:pt x="1315932" y="1349523"/>
                  </a:lnTo>
                  <a:lnTo>
                    <a:pt x="1285293" y="1381696"/>
                  </a:lnTo>
                  <a:lnTo>
                    <a:pt x="1252962" y="1412010"/>
                  </a:lnTo>
                  <a:lnTo>
                    <a:pt x="1219018" y="1440379"/>
                  </a:lnTo>
                  <a:lnTo>
                    <a:pt x="1183542" y="1466721"/>
                  </a:lnTo>
                  <a:lnTo>
                    <a:pt x="1146612" y="1490951"/>
                  </a:lnTo>
                  <a:lnTo>
                    <a:pt x="1108309" y="1512987"/>
                  </a:lnTo>
                  <a:lnTo>
                    <a:pt x="1068712" y="1532743"/>
                  </a:lnTo>
                  <a:lnTo>
                    <a:pt x="1027901" y="1550137"/>
                  </a:lnTo>
                  <a:lnTo>
                    <a:pt x="985955" y="1565085"/>
                  </a:lnTo>
                  <a:lnTo>
                    <a:pt x="942955" y="1577503"/>
                  </a:lnTo>
                  <a:lnTo>
                    <a:pt x="898980" y="1587307"/>
                  </a:lnTo>
                  <a:lnTo>
                    <a:pt x="854109" y="1594414"/>
                  </a:lnTo>
                  <a:lnTo>
                    <a:pt x="808422" y="1598739"/>
                  </a:lnTo>
                  <a:lnTo>
                    <a:pt x="762000" y="1600199"/>
                  </a:lnTo>
                  <a:lnTo>
                    <a:pt x="715577" y="1598739"/>
                  </a:lnTo>
                  <a:lnTo>
                    <a:pt x="669890" y="1594414"/>
                  </a:lnTo>
                  <a:lnTo>
                    <a:pt x="625019" y="1587307"/>
                  </a:lnTo>
                  <a:lnTo>
                    <a:pt x="581044" y="1577503"/>
                  </a:lnTo>
                  <a:lnTo>
                    <a:pt x="538044" y="1565085"/>
                  </a:lnTo>
                  <a:lnTo>
                    <a:pt x="496098" y="1550137"/>
                  </a:lnTo>
                  <a:lnTo>
                    <a:pt x="455287" y="1532743"/>
                  </a:lnTo>
                  <a:lnTo>
                    <a:pt x="415690" y="1512987"/>
                  </a:lnTo>
                  <a:lnTo>
                    <a:pt x="377387" y="1490951"/>
                  </a:lnTo>
                  <a:lnTo>
                    <a:pt x="340457" y="1466721"/>
                  </a:lnTo>
                  <a:lnTo>
                    <a:pt x="304981" y="1440379"/>
                  </a:lnTo>
                  <a:lnTo>
                    <a:pt x="271037" y="1412010"/>
                  </a:lnTo>
                  <a:lnTo>
                    <a:pt x="238706" y="1381696"/>
                  </a:lnTo>
                  <a:lnTo>
                    <a:pt x="208067" y="1349523"/>
                  </a:lnTo>
                  <a:lnTo>
                    <a:pt x="179200" y="1315573"/>
                  </a:lnTo>
                  <a:lnTo>
                    <a:pt x="152185" y="1279931"/>
                  </a:lnTo>
                  <a:lnTo>
                    <a:pt x="127100" y="1242679"/>
                  </a:lnTo>
                  <a:lnTo>
                    <a:pt x="104027" y="1203903"/>
                  </a:lnTo>
                  <a:lnTo>
                    <a:pt x="83044" y="1163685"/>
                  </a:lnTo>
                  <a:lnTo>
                    <a:pt x="64231" y="1122110"/>
                  </a:lnTo>
                  <a:lnTo>
                    <a:pt x="47668" y="1079260"/>
                  </a:lnTo>
                  <a:lnTo>
                    <a:pt x="33435" y="1035220"/>
                  </a:lnTo>
                  <a:lnTo>
                    <a:pt x="21610" y="990074"/>
                  </a:lnTo>
                  <a:lnTo>
                    <a:pt x="12275" y="943905"/>
                  </a:lnTo>
                  <a:lnTo>
                    <a:pt x="5508" y="896797"/>
                  </a:lnTo>
                  <a:lnTo>
                    <a:pt x="1390" y="848834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40432" y="2916428"/>
            <a:ext cx="8959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637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Xử </a:t>
            </a:r>
            <a:r>
              <a:rPr sz="1800" b="1" dirty="0">
                <a:latin typeface="Times New Roman"/>
                <a:cs typeface="Times New Roman"/>
              </a:rPr>
              <a:t>lý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đơn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mua</a:t>
            </a:r>
            <a:endParaRPr sz="180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hàng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54346" y="2467991"/>
            <a:ext cx="1549400" cy="1625600"/>
            <a:chOff x="4554346" y="2467991"/>
            <a:chExt cx="1549400" cy="1625600"/>
          </a:xfrm>
        </p:grpSpPr>
        <p:sp>
          <p:nvSpPr>
            <p:cNvPr id="8" name="object 8"/>
            <p:cNvSpPr/>
            <p:nvPr/>
          </p:nvSpPr>
          <p:spPr>
            <a:xfrm>
              <a:off x="4567046" y="2480691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762000" y="0"/>
                  </a:moveTo>
                  <a:lnTo>
                    <a:pt x="715577" y="1460"/>
                  </a:lnTo>
                  <a:lnTo>
                    <a:pt x="669890" y="5785"/>
                  </a:lnTo>
                  <a:lnTo>
                    <a:pt x="625019" y="12892"/>
                  </a:lnTo>
                  <a:lnTo>
                    <a:pt x="581044" y="22696"/>
                  </a:lnTo>
                  <a:lnTo>
                    <a:pt x="538044" y="35114"/>
                  </a:lnTo>
                  <a:lnTo>
                    <a:pt x="496098" y="50062"/>
                  </a:lnTo>
                  <a:lnTo>
                    <a:pt x="455287" y="67456"/>
                  </a:lnTo>
                  <a:lnTo>
                    <a:pt x="415690" y="87212"/>
                  </a:lnTo>
                  <a:lnTo>
                    <a:pt x="377387" y="109248"/>
                  </a:lnTo>
                  <a:lnTo>
                    <a:pt x="340457" y="133478"/>
                  </a:lnTo>
                  <a:lnTo>
                    <a:pt x="304981" y="159820"/>
                  </a:lnTo>
                  <a:lnTo>
                    <a:pt x="271037" y="188189"/>
                  </a:lnTo>
                  <a:lnTo>
                    <a:pt x="238706" y="218503"/>
                  </a:lnTo>
                  <a:lnTo>
                    <a:pt x="208067" y="250676"/>
                  </a:lnTo>
                  <a:lnTo>
                    <a:pt x="179200" y="284626"/>
                  </a:lnTo>
                  <a:lnTo>
                    <a:pt x="152185" y="320268"/>
                  </a:lnTo>
                  <a:lnTo>
                    <a:pt x="127100" y="357520"/>
                  </a:lnTo>
                  <a:lnTo>
                    <a:pt x="104027" y="396296"/>
                  </a:lnTo>
                  <a:lnTo>
                    <a:pt x="83044" y="436514"/>
                  </a:lnTo>
                  <a:lnTo>
                    <a:pt x="64231" y="478089"/>
                  </a:lnTo>
                  <a:lnTo>
                    <a:pt x="47668" y="520939"/>
                  </a:lnTo>
                  <a:lnTo>
                    <a:pt x="33435" y="564979"/>
                  </a:lnTo>
                  <a:lnTo>
                    <a:pt x="21610" y="610125"/>
                  </a:lnTo>
                  <a:lnTo>
                    <a:pt x="12275" y="656294"/>
                  </a:lnTo>
                  <a:lnTo>
                    <a:pt x="5508" y="703402"/>
                  </a:lnTo>
                  <a:lnTo>
                    <a:pt x="1390" y="751365"/>
                  </a:lnTo>
                  <a:lnTo>
                    <a:pt x="0" y="800100"/>
                  </a:lnTo>
                  <a:lnTo>
                    <a:pt x="1390" y="848834"/>
                  </a:lnTo>
                  <a:lnTo>
                    <a:pt x="5508" y="896797"/>
                  </a:lnTo>
                  <a:lnTo>
                    <a:pt x="12275" y="943905"/>
                  </a:lnTo>
                  <a:lnTo>
                    <a:pt x="21610" y="990074"/>
                  </a:lnTo>
                  <a:lnTo>
                    <a:pt x="33435" y="1035220"/>
                  </a:lnTo>
                  <a:lnTo>
                    <a:pt x="47668" y="1079260"/>
                  </a:lnTo>
                  <a:lnTo>
                    <a:pt x="64231" y="1122110"/>
                  </a:lnTo>
                  <a:lnTo>
                    <a:pt x="83044" y="1163685"/>
                  </a:lnTo>
                  <a:lnTo>
                    <a:pt x="104027" y="1203903"/>
                  </a:lnTo>
                  <a:lnTo>
                    <a:pt x="127100" y="1242679"/>
                  </a:lnTo>
                  <a:lnTo>
                    <a:pt x="152185" y="1279931"/>
                  </a:lnTo>
                  <a:lnTo>
                    <a:pt x="179200" y="1315573"/>
                  </a:lnTo>
                  <a:lnTo>
                    <a:pt x="208067" y="1349523"/>
                  </a:lnTo>
                  <a:lnTo>
                    <a:pt x="238706" y="1381696"/>
                  </a:lnTo>
                  <a:lnTo>
                    <a:pt x="271037" y="1412010"/>
                  </a:lnTo>
                  <a:lnTo>
                    <a:pt x="304981" y="1440379"/>
                  </a:lnTo>
                  <a:lnTo>
                    <a:pt x="340457" y="1466721"/>
                  </a:lnTo>
                  <a:lnTo>
                    <a:pt x="377387" y="1490951"/>
                  </a:lnTo>
                  <a:lnTo>
                    <a:pt x="415690" y="1512987"/>
                  </a:lnTo>
                  <a:lnTo>
                    <a:pt x="455287" y="1532743"/>
                  </a:lnTo>
                  <a:lnTo>
                    <a:pt x="496098" y="1550137"/>
                  </a:lnTo>
                  <a:lnTo>
                    <a:pt x="538044" y="1565085"/>
                  </a:lnTo>
                  <a:lnTo>
                    <a:pt x="581044" y="1577503"/>
                  </a:lnTo>
                  <a:lnTo>
                    <a:pt x="625019" y="1587307"/>
                  </a:lnTo>
                  <a:lnTo>
                    <a:pt x="669890" y="1594414"/>
                  </a:lnTo>
                  <a:lnTo>
                    <a:pt x="715577" y="1598739"/>
                  </a:lnTo>
                  <a:lnTo>
                    <a:pt x="762000" y="1600200"/>
                  </a:lnTo>
                  <a:lnTo>
                    <a:pt x="808422" y="1598739"/>
                  </a:lnTo>
                  <a:lnTo>
                    <a:pt x="854109" y="1594414"/>
                  </a:lnTo>
                  <a:lnTo>
                    <a:pt x="898980" y="1587307"/>
                  </a:lnTo>
                  <a:lnTo>
                    <a:pt x="942955" y="1577503"/>
                  </a:lnTo>
                  <a:lnTo>
                    <a:pt x="985955" y="1565085"/>
                  </a:lnTo>
                  <a:lnTo>
                    <a:pt x="1027901" y="1550137"/>
                  </a:lnTo>
                  <a:lnTo>
                    <a:pt x="1068712" y="1532743"/>
                  </a:lnTo>
                  <a:lnTo>
                    <a:pt x="1108309" y="1512987"/>
                  </a:lnTo>
                  <a:lnTo>
                    <a:pt x="1146612" y="1490951"/>
                  </a:lnTo>
                  <a:lnTo>
                    <a:pt x="1183542" y="1466721"/>
                  </a:lnTo>
                  <a:lnTo>
                    <a:pt x="1219018" y="1440379"/>
                  </a:lnTo>
                  <a:lnTo>
                    <a:pt x="1252962" y="1412010"/>
                  </a:lnTo>
                  <a:lnTo>
                    <a:pt x="1285293" y="1381696"/>
                  </a:lnTo>
                  <a:lnTo>
                    <a:pt x="1315932" y="1349523"/>
                  </a:lnTo>
                  <a:lnTo>
                    <a:pt x="1344799" y="1315573"/>
                  </a:lnTo>
                  <a:lnTo>
                    <a:pt x="1371814" y="1279931"/>
                  </a:lnTo>
                  <a:lnTo>
                    <a:pt x="1396899" y="1242679"/>
                  </a:lnTo>
                  <a:lnTo>
                    <a:pt x="1419972" y="1203903"/>
                  </a:lnTo>
                  <a:lnTo>
                    <a:pt x="1440955" y="1163685"/>
                  </a:lnTo>
                  <a:lnTo>
                    <a:pt x="1459768" y="1122110"/>
                  </a:lnTo>
                  <a:lnTo>
                    <a:pt x="1476331" y="1079260"/>
                  </a:lnTo>
                  <a:lnTo>
                    <a:pt x="1490564" y="1035220"/>
                  </a:lnTo>
                  <a:lnTo>
                    <a:pt x="1502389" y="990074"/>
                  </a:lnTo>
                  <a:lnTo>
                    <a:pt x="1511724" y="943905"/>
                  </a:lnTo>
                  <a:lnTo>
                    <a:pt x="1518491" y="896797"/>
                  </a:lnTo>
                  <a:lnTo>
                    <a:pt x="1522609" y="848834"/>
                  </a:lnTo>
                  <a:lnTo>
                    <a:pt x="1524000" y="800100"/>
                  </a:lnTo>
                  <a:lnTo>
                    <a:pt x="1522609" y="751365"/>
                  </a:lnTo>
                  <a:lnTo>
                    <a:pt x="1518491" y="703402"/>
                  </a:lnTo>
                  <a:lnTo>
                    <a:pt x="1511724" y="656294"/>
                  </a:lnTo>
                  <a:lnTo>
                    <a:pt x="1502389" y="610125"/>
                  </a:lnTo>
                  <a:lnTo>
                    <a:pt x="1490564" y="564979"/>
                  </a:lnTo>
                  <a:lnTo>
                    <a:pt x="1476331" y="520939"/>
                  </a:lnTo>
                  <a:lnTo>
                    <a:pt x="1459768" y="478089"/>
                  </a:lnTo>
                  <a:lnTo>
                    <a:pt x="1440955" y="436514"/>
                  </a:lnTo>
                  <a:lnTo>
                    <a:pt x="1419972" y="396296"/>
                  </a:lnTo>
                  <a:lnTo>
                    <a:pt x="1396899" y="357520"/>
                  </a:lnTo>
                  <a:lnTo>
                    <a:pt x="1371814" y="320268"/>
                  </a:lnTo>
                  <a:lnTo>
                    <a:pt x="1344799" y="284626"/>
                  </a:lnTo>
                  <a:lnTo>
                    <a:pt x="1315932" y="250676"/>
                  </a:lnTo>
                  <a:lnTo>
                    <a:pt x="1285293" y="218503"/>
                  </a:lnTo>
                  <a:lnTo>
                    <a:pt x="1252962" y="188189"/>
                  </a:lnTo>
                  <a:lnTo>
                    <a:pt x="1219018" y="159820"/>
                  </a:lnTo>
                  <a:lnTo>
                    <a:pt x="1183542" y="133478"/>
                  </a:lnTo>
                  <a:lnTo>
                    <a:pt x="1146612" y="109248"/>
                  </a:lnTo>
                  <a:lnTo>
                    <a:pt x="1108309" y="87212"/>
                  </a:lnTo>
                  <a:lnTo>
                    <a:pt x="1068712" y="67456"/>
                  </a:lnTo>
                  <a:lnTo>
                    <a:pt x="1027901" y="50062"/>
                  </a:lnTo>
                  <a:lnTo>
                    <a:pt x="985955" y="35114"/>
                  </a:lnTo>
                  <a:lnTo>
                    <a:pt x="942955" y="22696"/>
                  </a:lnTo>
                  <a:lnTo>
                    <a:pt x="898980" y="12892"/>
                  </a:lnTo>
                  <a:lnTo>
                    <a:pt x="854109" y="5785"/>
                  </a:lnTo>
                  <a:lnTo>
                    <a:pt x="808422" y="146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67046" y="2480691"/>
              <a:ext cx="1524000" cy="1600200"/>
            </a:xfrm>
            <a:custGeom>
              <a:avLst/>
              <a:gdLst/>
              <a:ahLst/>
              <a:cxnLst/>
              <a:rect l="l" t="t" r="r" b="b"/>
              <a:pathLst>
                <a:path w="1524000" h="1600200">
                  <a:moveTo>
                    <a:pt x="0" y="800100"/>
                  </a:moveTo>
                  <a:lnTo>
                    <a:pt x="1390" y="751365"/>
                  </a:lnTo>
                  <a:lnTo>
                    <a:pt x="5508" y="703402"/>
                  </a:lnTo>
                  <a:lnTo>
                    <a:pt x="12275" y="656294"/>
                  </a:lnTo>
                  <a:lnTo>
                    <a:pt x="21610" y="610125"/>
                  </a:lnTo>
                  <a:lnTo>
                    <a:pt x="33435" y="564979"/>
                  </a:lnTo>
                  <a:lnTo>
                    <a:pt x="47668" y="520939"/>
                  </a:lnTo>
                  <a:lnTo>
                    <a:pt x="64231" y="478089"/>
                  </a:lnTo>
                  <a:lnTo>
                    <a:pt x="83044" y="436514"/>
                  </a:lnTo>
                  <a:lnTo>
                    <a:pt x="104027" y="396296"/>
                  </a:lnTo>
                  <a:lnTo>
                    <a:pt x="127100" y="357520"/>
                  </a:lnTo>
                  <a:lnTo>
                    <a:pt x="152185" y="320268"/>
                  </a:lnTo>
                  <a:lnTo>
                    <a:pt x="179200" y="284626"/>
                  </a:lnTo>
                  <a:lnTo>
                    <a:pt x="208067" y="250676"/>
                  </a:lnTo>
                  <a:lnTo>
                    <a:pt x="238706" y="218503"/>
                  </a:lnTo>
                  <a:lnTo>
                    <a:pt x="271037" y="188189"/>
                  </a:lnTo>
                  <a:lnTo>
                    <a:pt x="304981" y="159820"/>
                  </a:lnTo>
                  <a:lnTo>
                    <a:pt x="340457" y="133478"/>
                  </a:lnTo>
                  <a:lnTo>
                    <a:pt x="377387" y="109248"/>
                  </a:lnTo>
                  <a:lnTo>
                    <a:pt x="415690" y="87212"/>
                  </a:lnTo>
                  <a:lnTo>
                    <a:pt x="455287" y="67456"/>
                  </a:lnTo>
                  <a:lnTo>
                    <a:pt x="496098" y="50062"/>
                  </a:lnTo>
                  <a:lnTo>
                    <a:pt x="538044" y="35114"/>
                  </a:lnTo>
                  <a:lnTo>
                    <a:pt x="581044" y="22696"/>
                  </a:lnTo>
                  <a:lnTo>
                    <a:pt x="625019" y="12892"/>
                  </a:lnTo>
                  <a:lnTo>
                    <a:pt x="669890" y="5785"/>
                  </a:lnTo>
                  <a:lnTo>
                    <a:pt x="715577" y="1460"/>
                  </a:lnTo>
                  <a:lnTo>
                    <a:pt x="762000" y="0"/>
                  </a:lnTo>
                  <a:lnTo>
                    <a:pt x="808422" y="1460"/>
                  </a:lnTo>
                  <a:lnTo>
                    <a:pt x="854109" y="5785"/>
                  </a:lnTo>
                  <a:lnTo>
                    <a:pt x="898980" y="12892"/>
                  </a:lnTo>
                  <a:lnTo>
                    <a:pt x="942955" y="22696"/>
                  </a:lnTo>
                  <a:lnTo>
                    <a:pt x="985955" y="35114"/>
                  </a:lnTo>
                  <a:lnTo>
                    <a:pt x="1027901" y="50062"/>
                  </a:lnTo>
                  <a:lnTo>
                    <a:pt x="1068712" y="67456"/>
                  </a:lnTo>
                  <a:lnTo>
                    <a:pt x="1108309" y="87212"/>
                  </a:lnTo>
                  <a:lnTo>
                    <a:pt x="1146612" y="109248"/>
                  </a:lnTo>
                  <a:lnTo>
                    <a:pt x="1183542" y="133478"/>
                  </a:lnTo>
                  <a:lnTo>
                    <a:pt x="1219018" y="159820"/>
                  </a:lnTo>
                  <a:lnTo>
                    <a:pt x="1252962" y="188189"/>
                  </a:lnTo>
                  <a:lnTo>
                    <a:pt x="1285293" y="218503"/>
                  </a:lnTo>
                  <a:lnTo>
                    <a:pt x="1315932" y="250676"/>
                  </a:lnTo>
                  <a:lnTo>
                    <a:pt x="1344799" y="284626"/>
                  </a:lnTo>
                  <a:lnTo>
                    <a:pt x="1371814" y="320268"/>
                  </a:lnTo>
                  <a:lnTo>
                    <a:pt x="1396899" y="357520"/>
                  </a:lnTo>
                  <a:lnTo>
                    <a:pt x="1419972" y="396296"/>
                  </a:lnTo>
                  <a:lnTo>
                    <a:pt x="1440955" y="436514"/>
                  </a:lnTo>
                  <a:lnTo>
                    <a:pt x="1459768" y="478089"/>
                  </a:lnTo>
                  <a:lnTo>
                    <a:pt x="1476331" y="520939"/>
                  </a:lnTo>
                  <a:lnTo>
                    <a:pt x="1490564" y="564979"/>
                  </a:lnTo>
                  <a:lnTo>
                    <a:pt x="1502389" y="610125"/>
                  </a:lnTo>
                  <a:lnTo>
                    <a:pt x="1511724" y="656294"/>
                  </a:lnTo>
                  <a:lnTo>
                    <a:pt x="1518491" y="703402"/>
                  </a:lnTo>
                  <a:lnTo>
                    <a:pt x="1522609" y="751365"/>
                  </a:lnTo>
                  <a:lnTo>
                    <a:pt x="1524000" y="800100"/>
                  </a:lnTo>
                  <a:lnTo>
                    <a:pt x="1522609" y="848834"/>
                  </a:lnTo>
                  <a:lnTo>
                    <a:pt x="1518491" y="896797"/>
                  </a:lnTo>
                  <a:lnTo>
                    <a:pt x="1511724" y="943905"/>
                  </a:lnTo>
                  <a:lnTo>
                    <a:pt x="1502389" y="990074"/>
                  </a:lnTo>
                  <a:lnTo>
                    <a:pt x="1490564" y="1035220"/>
                  </a:lnTo>
                  <a:lnTo>
                    <a:pt x="1476331" y="1079260"/>
                  </a:lnTo>
                  <a:lnTo>
                    <a:pt x="1459768" y="1122110"/>
                  </a:lnTo>
                  <a:lnTo>
                    <a:pt x="1440955" y="1163685"/>
                  </a:lnTo>
                  <a:lnTo>
                    <a:pt x="1419972" y="1203903"/>
                  </a:lnTo>
                  <a:lnTo>
                    <a:pt x="1396899" y="1242679"/>
                  </a:lnTo>
                  <a:lnTo>
                    <a:pt x="1371814" y="1279931"/>
                  </a:lnTo>
                  <a:lnTo>
                    <a:pt x="1344799" y="1315573"/>
                  </a:lnTo>
                  <a:lnTo>
                    <a:pt x="1315932" y="1349523"/>
                  </a:lnTo>
                  <a:lnTo>
                    <a:pt x="1285293" y="1381696"/>
                  </a:lnTo>
                  <a:lnTo>
                    <a:pt x="1252962" y="1412010"/>
                  </a:lnTo>
                  <a:lnTo>
                    <a:pt x="1219018" y="1440379"/>
                  </a:lnTo>
                  <a:lnTo>
                    <a:pt x="1183542" y="1466721"/>
                  </a:lnTo>
                  <a:lnTo>
                    <a:pt x="1146612" y="1490951"/>
                  </a:lnTo>
                  <a:lnTo>
                    <a:pt x="1108309" y="1512987"/>
                  </a:lnTo>
                  <a:lnTo>
                    <a:pt x="1068712" y="1532743"/>
                  </a:lnTo>
                  <a:lnTo>
                    <a:pt x="1027901" y="1550137"/>
                  </a:lnTo>
                  <a:lnTo>
                    <a:pt x="985955" y="1565085"/>
                  </a:lnTo>
                  <a:lnTo>
                    <a:pt x="942955" y="1577503"/>
                  </a:lnTo>
                  <a:lnTo>
                    <a:pt x="898980" y="1587307"/>
                  </a:lnTo>
                  <a:lnTo>
                    <a:pt x="854109" y="1594414"/>
                  </a:lnTo>
                  <a:lnTo>
                    <a:pt x="808422" y="1598739"/>
                  </a:lnTo>
                  <a:lnTo>
                    <a:pt x="762000" y="1600200"/>
                  </a:lnTo>
                  <a:lnTo>
                    <a:pt x="715577" y="1598739"/>
                  </a:lnTo>
                  <a:lnTo>
                    <a:pt x="669890" y="1594414"/>
                  </a:lnTo>
                  <a:lnTo>
                    <a:pt x="625019" y="1587307"/>
                  </a:lnTo>
                  <a:lnTo>
                    <a:pt x="581044" y="1577503"/>
                  </a:lnTo>
                  <a:lnTo>
                    <a:pt x="538044" y="1565085"/>
                  </a:lnTo>
                  <a:lnTo>
                    <a:pt x="496098" y="1550137"/>
                  </a:lnTo>
                  <a:lnTo>
                    <a:pt x="455287" y="1532743"/>
                  </a:lnTo>
                  <a:lnTo>
                    <a:pt x="415690" y="1512987"/>
                  </a:lnTo>
                  <a:lnTo>
                    <a:pt x="377387" y="1490951"/>
                  </a:lnTo>
                  <a:lnTo>
                    <a:pt x="340457" y="1466721"/>
                  </a:lnTo>
                  <a:lnTo>
                    <a:pt x="304981" y="1440379"/>
                  </a:lnTo>
                  <a:lnTo>
                    <a:pt x="271037" y="1412010"/>
                  </a:lnTo>
                  <a:lnTo>
                    <a:pt x="238706" y="1381696"/>
                  </a:lnTo>
                  <a:lnTo>
                    <a:pt x="208067" y="1349523"/>
                  </a:lnTo>
                  <a:lnTo>
                    <a:pt x="179200" y="1315573"/>
                  </a:lnTo>
                  <a:lnTo>
                    <a:pt x="152185" y="1279931"/>
                  </a:lnTo>
                  <a:lnTo>
                    <a:pt x="127100" y="1242679"/>
                  </a:lnTo>
                  <a:lnTo>
                    <a:pt x="104027" y="1203903"/>
                  </a:lnTo>
                  <a:lnTo>
                    <a:pt x="83044" y="1163685"/>
                  </a:lnTo>
                  <a:lnTo>
                    <a:pt x="64231" y="1122110"/>
                  </a:lnTo>
                  <a:lnTo>
                    <a:pt x="47668" y="1079260"/>
                  </a:lnTo>
                  <a:lnTo>
                    <a:pt x="33435" y="1035220"/>
                  </a:lnTo>
                  <a:lnTo>
                    <a:pt x="21610" y="990074"/>
                  </a:lnTo>
                  <a:lnTo>
                    <a:pt x="12275" y="943905"/>
                  </a:lnTo>
                  <a:lnTo>
                    <a:pt x="5508" y="896797"/>
                  </a:lnTo>
                  <a:lnTo>
                    <a:pt x="1390" y="848834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49520" y="2986023"/>
            <a:ext cx="558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 marR="5080" indent="-254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Nhận  hàng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74515" y="4804283"/>
            <a:ext cx="1854200" cy="1625600"/>
            <a:chOff x="4374515" y="4804283"/>
            <a:chExt cx="1854200" cy="1625600"/>
          </a:xfrm>
        </p:grpSpPr>
        <p:sp>
          <p:nvSpPr>
            <p:cNvPr id="12" name="object 12"/>
            <p:cNvSpPr/>
            <p:nvPr/>
          </p:nvSpPr>
          <p:spPr>
            <a:xfrm>
              <a:off x="4387215" y="4816983"/>
              <a:ext cx="1828800" cy="1600200"/>
            </a:xfrm>
            <a:custGeom>
              <a:avLst/>
              <a:gdLst/>
              <a:ahLst/>
              <a:cxnLst/>
              <a:rect l="l" t="t" r="r" b="b"/>
              <a:pathLst>
                <a:path w="1828800" h="1600200">
                  <a:moveTo>
                    <a:pt x="914400" y="0"/>
                  </a:moveTo>
                  <a:lnTo>
                    <a:pt x="862517" y="1266"/>
                  </a:lnTo>
                  <a:lnTo>
                    <a:pt x="811392" y="5021"/>
                  </a:lnTo>
                  <a:lnTo>
                    <a:pt x="761104" y="11197"/>
                  </a:lnTo>
                  <a:lnTo>
                    <a:pt x="711729" y="19727"/>
                  </a:lnTo>
                  <a:lnTo>
                    <a:pt x="663343" y="30542"/>
                  </a:lnTo>
                  <a:lnTo>
                    <a:pt x="616026" y="43575"/>
                  </a:lnTo>
                  <a:lnTo>
                    <a:pt x="569853" y="58758"/>
                  </a:lnTo>
                  <a:lnTo>
                    <a:pt x="524902" y="76025"/>
                  </a:lnTo>
                  <a:lnTo>
                    <a:pt x="481251" y="95307"/>
                  </a:lnTo>
                  <a:lnTo>
                    <a:pt x="438976" y="116537"/>
                  </a:lnTo>
                  <a:lnTo>
                    <a:pt x="398154" y="139646"/>
                  </a:lnTo>
                  <a:lnTo>
                    <a:pt x="358864" y="164569"/>
                  </a:lnTo>
                  <a:lnTo>
                    <a:pt x="321182" y="191237"/>
                  </a:lnTo>
                  <a:lnTo>
                    <a:pt x="285185" y="219582"/>
                  </a:lnTo>
                  <a:lnTo>
                    <a:pt x="250951" y="249537"/>
                  </a:lnTo>
                  <a:lnTo>
                    <a:pt x="218556" y="281034"/>
                  </a:lnTo>
                  <a:lnTo>
                    <a:pt x="188079" y="314006"/>
                  </a:lnTo>
                  <a:lnTo>
                    <a:pt x="159596" y="348385"/>
                  </a:lnTo>
                  <a:lnTo>
                    <a:pt x="133185" y="384104"/>
                  </a:lnTo>
                  <a:lnTo>
                    <a:pt x="108922" y="421094"/>
                  </a:lnTo>
                  <a:lnTo>
                    <a:pt x="86886" y="459290"/>
                  </a:lnTo>
                  <a:lnTo>
                    <a:pt x="67152" y="498621"/>
                  </a:lnTo>
                  <a:lnTo>
                    <a:pt x="49800" y="539023"/>
                  </a:lnTo>
                  <a:lnTo>
                    <a:pt x="34905" y="580425"/>
                  </a:lnTo>
                  <a:lnTo>
                    <a:pt x="22545" y="622762"/>
                  </a:lnTo>
                  <a:lnTo>
                    <a:pt x="12797" y="665966"/>
                  </a:lnTo>
                  <a:lnTo>
                    <a:pt x="5739" y="709968"/>
                  </a:lnTo>
                  <a:lnTo>
                    <a:pt x="1447" y="754702"/>
                  </a:lnTo>
                  <a:lnTo>
                    <a:pt x="0" y="800100"/>
                  </a:lnTo>
                  <a:lnTo>
                    <a:pt x="1447" y="845502"/>
                  </a:lnTo>
                  <a:lnTo>
                    <a:pt x="5739" y="890240"/>
                  </a:lnTo>
                  <a:lnTo>
                    <a:pt x="12797" y="934246"/>
                  </a:lnTo>
                  <a:lnTo>
                    <a:pt x="22545" y="977452"/>
                  </a:lnTo>
                  <a:lnTo>
                    <a:pt x="34905" y="1019792"/>
                  </a:lnTo>
                  <a:lnTo>
                    <a:pt x="49800" y="1061196"/>
                  </a:lnTo>
                  <a:lnTo>
                    <a:pt x="67152" y="1101599"/>
                  </a:lnTo>
                  <a:lnTo>
                    <a:pt x="86886" y="1140932"/>
                  </a:lnTo>
                  <a:lnTo>
                    <a:pt x="108922" y="1179127"/>
                  </a:lnTo>
                  <a:lnTo>
                    <a:pt x="133185" y="1216118"/>
                  </a:lnTo>
                  <a:lnTo>
                    <a:pt x="159596" y="1251836"/>
                  </a:lnTo>
                  <a:lnTo>
                    <a:pt x="188079" y="1286215"/>
                  </a:lnTo>
                  <a:lnTo>
                    <a:pt x="218556" y="1319186"/>
                  </a:lnTo>
                  <a:lnTo>
                    <a:pt x="250951" y="1350682"/>
                  </a:lnTo>
                  <a:lnTo>
                    <a:pt x="285185" y="1380636"/>
                  </a:lnTo>
                  <a:lnTo>
                    <a:pt x="321182" y="1408979"/>
                  </a:lnTo>
                  <a:lnTo>
                    <a:pt x="358864" y="1435645"/>
                  </a:lnTo>
                  <a:lnTo>
                    <a:pt x="398154" y="1460566"/>
                  </a:lnTo>
                  <a:lnTo>
                    <a:pt x="438976" y="1483674"/>
                  </a:lnTo>
                  <a:lnTo>
                    <a:pt x="481251" y="1504902"/>
                  </a:lnTo>
                  <a:lnTo>
                    <a:pt x="524902" y="1524182"/>
                  </a:lnTo>
                  <a:lnTo>
                    <a:pt x="569853" y="1541447"/>
                  </a:lnTo>
                  <a:lnTo>
                    <a:pt x="616026" y="1556629"/>
                  </a:lnTo>
                  <a:lnTo>
                    <a:pt x="663343" y="1569661"/>
                  </a:lnTo>
                  <a:lnTo>
                    <a:pt x="711729" y="1580475"/>
                  </a:lnTo>
                  <a:lnTo>
                    <a:pt x="761104" y="1589003"/>
                  </a:lnTo>
                  <a:lnTo>
                    <a:pt x="811392" y="1595178"/>
                  </a:lnTo>
                  <a:lnTo>
                    <a:pt x="862517" y="1598933"/>
                  </a:lnTo>
                  <a:lnTo>
                    <a:pt x="914400" y="1600200"/>
                  </a:lnTo>
                  <a:lnTo>
                    <a:pt x="966282" y="1598933"/>
                  </a:lnTo>
                  <a:lnTo>
                    <a:pt x="1017407" y="1595178"/>
                  </a:lnTo>
                  <a:lnTo>
                    <a:pt x="1067695" y="1589003"/>
                  </a:lnTo>
                  <a:lnTo>
                    <a:pt x="1117070" y="1580475"/>
                  </a:lnTo>
                  <a:lnTo>
                    <a:pt x="1165456" y="1569661"/>
                  </a:lnTo>
                  <a:lnTo>
                    <a:pt x="1212773" y="1556629"/>
                  </a:lnTo>
                  <a:lnTo>
                    <a:pt x="1258946" y="1541447"/>
                  </a:lnTo>
                  <a:lnTo>
                    <a:pt x="1303897" y="1524182"/>
                  </a:lnTo>
                  <a:lnTo>
                    <a:pt x="1347548" y="1504902"/>
                  </a:lnTo>
                  <a:lnTo>
                    <a:pt x="1389823" y="1483674"/>
                  </a:lnTo>
                  <a:lnTo>
                    <a:pt x="1430645" y="1460566"/>
                  </a:lnTo>
                  <a:lnTo>
                    <a:pt x="1469935" y="1435645"/>
                  </a:lnTo>
                  <a:lnTo>
                    <a:pt x="1507617" y="1408979"/>
                  </a:lnTo>
                  <a:lnTo>
                    <a:pt x="1543614" y="1380636"/>
                  </a:lnTo>
                  <a:lnTo>
                    <a:pt x="1577848" y="1350682"/>
                  </a:lnTo>
                  <a:lnTo>
                    <a:pt x="1610243" y="1319186"/>
                  </a:lnTo>
                  <a:lnTo>
                    <a:pt x="1640720" y="1286215"/>
                  </a:lnTo>
                  <a:lnTo>
                    <a:pt x="1669203" y="1251836"/>
                  </a:lnTo>
                  <a:lnTo>
                    <a:pt x="1695614" y="1216118"/>
                  </a:lnTo>
                  <a:lnTo>
                    <a:pt x="1719877" y="1179127"/>
                  </a:lnTo>
                  <a:lnTo>
                    <a:pt x="1741913" y="1140932"/>
                  </a:lnTo>
                  <a:lnTo>
                    <a:pt x="1761647" y="1101599"/>
                  </a:lnTo>
                  <a:lnTo>
                    <a:pt x="1778999" y="1061196"/>
                  </a:lnTo>
                  <a:lnTo>
                    <a:pt x="1793894" y="1019792"/>
                  </a:lnTo>
                  <a:lnTo>
                    <a:pt x="1806254" y="977452"/>
                  </a:lnTo>
                  <a:lnTo>
                    <a:pt x="1816002" y="934246"/>
                  </a:lnTo>
                  <a:lnTo>
                    <a:pt x="1823060" y="890240"/>
                  </a:lnTo>
                  <a:lnTo>
                    <a:pt x="1827352" y="845502"/>
                  </a:lnTo>
                  <a:lnTo>
                    <a:pt x="1828800" y="800100"/>
                  </a:lnTo>
                  <a:lnTo>
                    <a:pt x="1827352" y="754702"/>
                  </a:lnTo>
                  <a:lnTo>
                    <a:pt x="1823060" y="709968"/>
                  </a:lnTo>
                  <a:lnTo>
                    <a:pt x="1816002" y="665966"/>
                  </a:lnTo>
                  <a:lnTo>
                    <a:pt x="1806254" y="622762"/>
                  </a:lnTo>
                  <a:lnTo>
                    <a:pt x="1793894" y="580425"/>
                  </a:lnTo>
                  <a:lnTo>
                    <a:pt x="1778999" y="539023"/>
                  </a:lnTo>
                  <a:lnTo>
                    <a:pt x="1761647" y="498621"/>
                  </a:lnTo>
                  <a:lnTo>
                    <a:pt x="1741913" y="459290"/>
                  </a:lnTo>
                  <a:lnTo>
                    <a:pt x="1719877" y="421094"/>
                  </a:lnTo>
                  <a:lnTo>
                    <a:pt x="1695614" y="384104"/>
                  </a:lnTo>
                  <a:lnTo>
                    <a:pt x="1669203" y="348385"/>
                  </a:lnTo>
                  <a:lnTo>
                    <a:pt x="1640720" y="314006"/>
                  </a:lnTo>
                  <a:lnTo>
                    <a:pt x="1610243" y="281034"/>
                  </a:lnTo>
                  <a:lnTo>
                    <a:pt x="1577848" y="249537"/>
                  </a:lnTo>
                  <a:lnTo>
                    <a:pt x="1543614" y="219582"/>
                  </a:lnTo>
                  <a:lnTo>
                    <a:pt x="1507617" y="191237"/>
                  </a:lnTo>
                  <a:lnTo>
                    <a:pt x="1469935" y="164569"/>
                  </a:lnTo>
                  <a:lnTo>
                    <a:pt x="1430645" y="139646"/>
                  </a:lnTo>
                  <a:lnTo>
                    <a:pt x="1389823" y="116537"/>
                  </a:lnTo>
                  <a:lnTo>
                    <a:pt x="1347548" y="95307"/>
                  </a:lnTo>
                  <a:lnTo>
                    <a:pt x="1303897" y="76025"/>
                  </a:lnTo>
                  <a:lnTo>
                    <a:pt x="1258946" y="58758"/>
                  </a:lnTo>
                  <a:lnTo>
                    <a:pt x="1212773" y="43575"/>
                  </a:lnTo>
                  <a:lnTo>
                    <a:pt x="1165456" y="30542"/>
                  </a:lnTo>
                  <a:lnTo>
                    <a:pt x="1117070" y="19727"/>
                  </a:lnTo>
                  <a:lnTo>
                    <a:pt x="1067695" y="11197"/>
                  </a:lnTo>
                  <a:lnTo>
                    <a:pt x="1017407" y="5021"/>
                  </a:lnTo>
                  <a:lnTo>
                    <a:pt x="966282" y="1266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87215" y="4816983"/>
              <a:ext cx="1828800" cy="1600200"/>
            </a:xfrm>
            <a:custGeom>
              <a:avLst/>
              <a:gdLst/>
              <a:ahLst/>
              <a:cxnLst/>
              <a:rect l="l" t="t" r="r" b="b"/>
              <a:pathLst>
                <a:path w="1828800" h="1600200">
                  <a:moveTo>
                    <a:pt x="0" y="800100"/>
                  </a:moveTo>
                  <a:lnTo>
                    <a:pt x="1447" y="754702"/>
                  </a:lnTo>
                  <a:lnTo>
                    <a:pt x="5739" y="709968"/>
                  </a:lnTo>
                  <a:lnTo>
                    <a:pt x="12797" y="665966"/>
                  </a:lnTo>
                  <a:lnTo>
                    <a:pt x="22545" y="622762"/>
                  </a:lnTo>
                  <a:lnTo>
                    <a:pt x="34905" y="580425"/>
                  </a:lnTo>
                  <a:lnTo>
                    <a:pt x="49800" y="539023"/>
                  </a:lnTo>
                  <a:lnTo>
                    <a:pt x="67152" y="498621"/>
                  </a:lnTo>
                  <a:lnTo>
                    <a:pt x="86886" y="459290"/>
                  </a:lnTo>
                  <a:lnTo>
                    <a:pt x="108922" y="421094"/>
                  </a:lnTo>
                  <a:lnTo>
                    <a:pt x="133185" y="384104"/>
                  </a:lnTo>
                  <a:lnTo>
                    <a:pt x="159596" y="348385"/>
                  </a:lnTo>
                  <a:lnTo>
                    <a:pt x="188079" y="314006"/>
                  </a:lnTo>
                  <a:lnTo>
                    <a:pt x="218556" y="281034"/>
                  </a:lnTo>
                  <a:lnTo>
                    <a:pt x="250951" y="249537"/>
                  </a:lnTo>
                  <a:lnTo>
                    <a:pt x="285185" y="219582"/>
                  </a:lnTo>
                  <a:lnTo>
                    <a:pt x="321182" y="191237"/>
                  </a:lnTo>
                  <a:lnTo>
                    <a:pt x="358864" y="164569"/>
                  </a:lnTo>
                  <a:lnTo>
                    <a:pt x="398154" y="139646"/>
                  </a:lnTo>
                  <a:lnTo>
                    <a:pt x="438976" y="116537"/>
                  </a:lnTo>
                  <a:lnTo>
                    <a:pt x="481251" y="95307"/>
                  </a:lnTo>
                  <a:lnTo>
                    <a:pt x="524902" y="76025"/>
                  </a:lnTo>
                  <a:lnTo>
                    <a:pt x="569853" y="58758"/>
                  </a:lnTo>
                  <a:lnTo>
                    <a:pt x="616026" y="43575"/>
                  </a:lnTo>
                  <a:lnTo>
                    <a:pt x="663343" y="30542"/>
                  </a:lnTo>
                  <a:lnTo>
                    <a:pt x="711729" y="19727"/>
                  </a:lnTo>
                  <a:lnTo>
                    <a:pt x="761104" y="11197"/>
                  </a:lnTo>
                  <a:lnTo>
                    <a:pt x="811392" y="5021"/>
                  </a:lnTo>
                  <a:lnTo>
                    <a:pt x="862517" y="1266"/>
                  </a:lnTo>
                  <a:lnTo>
                    <a:pt x="914400" y="0"/>
                  </a:lnTo>
                  <a:lnTo>
                    <a:pt x="966282" y="1266"/>
                  </a:lnTo>
                  <a:lnTo>
                    <a:pt x="1017407" y="5021"/>
                  </a:lnTo>
                  <a:lnTo>
                    <a:pt x="1067695" y="11197"/>
                  </a:lnTo>
                  <a:lnTo>
                    <a:pt x="1117070" y="19727"/>
                  </a:lnTo>
                  <a:lnTo>
                    <a:pt x="1165456" y="30542"/>
                  </a:lnTo>
                  <a:lnTo>
                    <a:pt x="1212773" y="43575"/>
                  </a:lnTo>
                  <a:lnTo>
                    <a:pt x="1258946" y="58758"/>
                  </a:lnTo>
                  <a:lnTo>
                    <a:pt x="1303897" y="76025"/>
                  </a:lnTo>
                  <a:lnTo>
                    <a:pt x="1347548" y="95307"/>
                  </a:lnTo>
                  <a:lnTo>
                    <a:pt x="1389823" y="116537"/>
                  </a:lnTo>
                  <a:lnTo>
                    <a:pt x="1430645" y="139646"/>
                  </a:lnTo>
                  <a:lnTo>
                    <a:pt x="1469935" y="164569"/>
                  </a:lnTo>
                  <a:lnTo>
                    <a:pt x="1507617" y="191237"/>
                  </a:lnTo>
                  <a:lnTo>
                    <a:pt x="1543614" y="219582"/>
                  </a:lnTo>
                  <a:lnTo>
                    <a:pt x="1577848" y="249537"/>
                  </a:lnTo>
                  <a:lnTo>
                    <a:pt x="1610243" y="281034"/>
                  </a:lnTo>
                  <a:lnTo>
                    <a:pt x="1640720" y="314006"/>
                  </a:lnTo>
                  <a:lnTo>
                    <a:pt x="1669203" y="348385"/>
                  </a:lnTo>
                  <a:lnTo>
                    <a:pt x="1695614" y="384104"/>
                  </a:lnTo>
                  <a:lnTo>
                    <a:pt x="1719877" y="421094"/>
                  </a:lnTo>
                  <a:lnTo>
                    <a:pt x="1741913" y="459290"/>
                  </a:lnTo>
                  <a:lnTo>
                    <a:pt x="1761647" y="498621"/>
                  </a:lnTo>
                  <a:lnTo>
                    <a:pt x="1778999" y="539023"/>
                  </a:lnTo>
                  <a:lnTo>
                    <a:pt x="1793894" y="580425"/>
                  </a:lnTo>
                  <a:lnTo>
                    <a:pt x="1806254" y="622762"/>
                  </a:lnTo>
                  <a:lnTo>
                    <a:pt x="1816002" y="665966"/>
                  </a:lnTo>
                  <a:lnTo>
                    <a:pt x="1823060" y="709968"/>
                  </a:lnTo>
                  <a:lnTo>
                    <a:pt x="1827352" y="754702"/>
                  </a:lnTo>
                  <a:lnTo>
                    <a:pt x="1828800" y="800100"/>
                  </a:lnTo>
                  <a:lnTo>
                    <a:pt x="1827352" y="845502"/>
                  </a:lnTo>
                  <a:lnTo>
                    <a:pt x="1823060" y="890240"/>
                  </a:lnTo>
                  <a:lnTo>
                    <a:pt x="1816002" y="934246"/>
                  </a:lnTo>
                  <a:lnTo>
                    <a:pt x="1806254" y="977452"/>
                  </a:lnTo>
                  <a:lnTo>
                    <a:pt x="1793894" y="1019792"/>
                  </a:lnTo>
                  <a:lnTo>
                    <a:pt x="1778999" y="1061196"/>
                  </a:lnTo>
                  <a:lnTo>
                    <a:pt x="1761647" y="1101599"/>
                  </a:lnTo>
                  <a:lnTo>
                    <a:pt x="1741913" y="1140932"/>
                  </a:lnTo>
                  <a:lnTo>
                    <a:pt x="1719877" y="1179127"/>
                  </a:lnTo>
                  <a:lnTo>
                    <a:pt x="1695614" y="1216118"/>
                  </a:lnTo>
                  <a:lnTo>
                    <a:pt x="1669203" y="1251836"/>
                  </a:lnTo>
                  <a:lnTo>
                    <a:pt x="1640720" y="1286215"/>
                  </a:lnTo>
                  <a:lnTo>
                    <a:pt x="1610243" y="1319186"/>
                  </a:lnTo>
                  <a:lnTo>
                    <a:pt x="1577848" y="1350682"/>
                  </a:lnTo>
                  <a:lnTo>
                    <a:pt x="1543614" y="1380636"/>
                  </a:lnTo>
                  <a:lnTo>
                    <a:pt x="1507617" y="1408979"/>
                  </a:lnTo>
                  <a:lnTo>
                    <a:pt x="1469935" y="1435645"/>
                  </a:lnTo>
                  <a:lnTo>
                    <a:pt x="1430645" y="1460566"/>
                  </a:lnTo>
                  <a:lnTo>
                    <a:pt x="1389823" y="1483674"/>
                  </a:lnTo>
                  <a:lnTo>
                    <a:pt x="1347548" y="1504902"/>
                  </a:lnTo>
                  <a:lnTo>
                    <a:pt x="1303897" y="1524182"/>
                  </a:lnTo>
                  <a:lnTo>
                    <a:pt x="1258946" y="1541447"/>
                  </a:lnTo>
                  <a:lnTo>
                    <a:pt x="1212773" y="1556629"/>
                  </a:lnTo>
                  <a:lnTo>
                    <a:pt x="1165456" y="1569661"/>
                  </a:lnTo>
                  <a:lnTo>
                    <a:pt x="1117070" y="1580475"/>
                  </a:lnTo>
                  <a:lnTo>
                    <a:pt x="1067695" y="1589003"/>
                  </a:lnTo>
                  <a:lnTo>
                    <a:pt x="1017407" y="1595178"/>
                  </a:lnTo>
                  <a:lnTo>
                    <a:pt x="966282" y="1598933"/>
                  </a:lnTo>
                  <a:lnTo>
                    <a:pt x="914400" y="1600200"/>
                  </a:lnTo>
                  <a:lnTo>
                    <a:pt x="862517" y="1598933"/>
                  </a:lnTo>
                  <a:lnTo>
                    <a:pt x="811392" y="1595178"/>
                  </a:lnTo>
                  <a:lnTo>
                    <a:pt x="761104" y="1589003"/>
                  </a:lnTo>
                  <a:lnTo>
                    <a:pt x="711729" y="1580475"/>
                  </a:lnTo>
                  <a:lnTo>
                    <a:pt x="663343" y="1569661"/>
                  </a:lnTo>
                  <a:lnTo>
                    <a:pt x="616026" y="1556629"/>
                  </a:lnTo>
                  <a:lnTo>
                    <a:pt x="569853" y="1541447"/>
                  </a:lnTo>
                  <a:lnTo>
                    <a:pt x="524902" y="1524182"/>
                  </a:lnTo>
                  <a:lnTo>
                    <a:pt x="481251" y="1504902"/>
                  </a:lnTo>
                  <a:lnTo>
                    <a:pt x="438976" y="1483674"/>
                  </a:lnTo>
                  <a:lnTo>
                    <a:pt x="398154" y="1460566"/>
                  </a:lnTo>
                  <a:lnTo>
                    <a:pt x="358864" y="1435645"/>
                  </a:lnTo>
                  <a:lnTo>
                    <a:pt x="321182" y="1408979"/>
                  </a:lnTo>
                  <a:lnTo>
                    <a:pt x="285185" y="1380636"/>
                  </a:lnTo>
                  <a:lnTo>
                    <a:pt x="250951" y="1350682"/>
                  </a:lnTo>
                  <a:lnTo>
                    <a:pt x="218556" y="1319186"/>
                  </a:lnTo>
                  <a:lnTo>
                    <a:pt x="188079" y="1286215"/>
                  </a:lnTo>
                  <a:lnTo>
                    <a:pt x="159596" y="1251836"/>
                  </a:lnTo>
                  <a:lnTo>
                    <a:pt x="133185" y="1216118"/>
                  </a:lnTo>
                  <a:lnTo>
                    <a:pt x="108922" y="1179127"/>
                  </a:lnTo>
                  <a:lnTo>
                    <a:pt x="86886" y="1140932"/>
                  </a:lnTo>
                  <a:lnTo>
                    <a:pt x="67152" y="1101599"/>
                  </a:lnTo>
                  <a:lnTo>
                    <a:pt x="49800" y="1061196"/>
                  </a:lnTo>
                  <a:lnTo>
                    <a:pt x="34905" y="1019792"/>
                  </a:lnTo>
                  <a:lnTo>
                    <a:pt x="22545" y="977452"/>
                  </a:lnTo>
                  <a:lnTo>
                    <a:pt x="12797" y="934246"/>
                  </a:lnTo>
                  <a:lnTo>
                    <a:pt x="5739" y="890240"/>
                  </a:lnTo>
                  <a:lnTo>
                    <a:pt x="1447" y="845502"/>
                  </a:lnTo>
                  <a:lnTo>
                    <a:pt x="0" y="800100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97628" y="5185409"/>
            <a:ext cx="8064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Kế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toán </a:t>
            </a:r>
            <a:r>
              <a:rPr sz="1800" b="1" spc="-4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công </a:t>
            </a:r>
            <a:r>
              <a:rPr sz="1800" b="1" spc="-5" dirty="0">
                <a:latin typeface="Times New Roman"/>
                <a:cs typeface="Times New Roman"/>
              </a:rPr>
              <a:t>nợ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phải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trả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3623" y="1748408"/>
            <a:ext cx="1524000" cy="800100"/>
          </a:xfrm>
          <a:prstGeom prst="rect">
            <a:avLst/>
          </a:prstGeom>
          <a:solidFill>
            <a:srgbClr val="B8CDE4"/>
          </a:solidFill>
          <a:ln w="25146">
            <a:solidFill>
              <a:srgbClr val="385D89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371475" marR="91440" indent="-275590">
              <a:lnSpc>
                <a:spcPct val="100000"/>
              </a:lnSpc>
              <a:spcBef>
                <a:spcPts val="925"/>
              </a:spcBef>
            </a:pPr>
            <a:r>
              <a:rPr sz="1800" b="1" dirty="0">
                <a:latin typeface="Times New Roman"/>
                <a:cs typeface="Times New Roman"/>
              </a:rPr>
              <a:t>Kho,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bộ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phận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sử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dụng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3224" y="2915157"/>
            <a:ext cx="6781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Yêu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cầu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3224" y="3128518"/>
            <a:ext cx="7175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đặt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3276600"/>
            <a:ext cx="718565" cy="307086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549908" y="2014727"/>
            <a:ext cx="6010910" cy="2588895"/>
            <a:chOff x="1549908" y="2014727"/>
            <a:chExt cx="6010910" cy="258889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9908" y="2527554"/>
              <a:ext cx="107441" cy="95631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03629" y="2548508"/>
              <a:ext cx="0" cy="861694"/>
            </a:xfrm>
            <a:custGeom>
              <a:avLst/>
              <a:gdLst/>
              <a:ahLst/>
              <a:cxnLst/>
              <a:rect l="l" t="t" r="r" b="b"/>
              <a:pathLst>
                <a:path h="861695">
                  <a:moveTo>
                    <a:pt x="0" y="0"/>
                  </a:moveTo>
                  <a:lnTo>
                    <a:pt x="0" y="861694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03629" y="3351530"/>
              <a:ext cx="523875" cy="118110"/>
            </a:xfrm>
            <a:custGeom>
              <a:avLst/>
              <a:gdLst/>
              <a:ahLst/>
              <a:cxnLst/>
              <a:rect l="l" t="t" r="r" b="b"/>
              <a:pathLst>
                <a:path w="523875" h="118110">
                  <a:moveTo>
                    <a:pt x="473401" y="58800"/>
                  </a:moveTo>
                  <a:lnTo>
                    <a:pt x="415925" y="92329"/>
                  </a:lnTo>
                  <a:lnTo>
                    <a:pt x="409956" y="95885"/>
                  </a:lnTo>
                  <a:lnTo>
                    <a:pt x="407923" y="103632"/>
                  </a:lnTo>
                  <a:lnTo>
                    <a:pt x="411479" y="109600"/>
                  </a:lnTo>
                  <a:lnTo>
                    <a:pt x="414909" y="115570"/>
                  </a:lnTo>
                  <a:lnTo>
                    <a:pt x="422656" y="117602"/>
                  </a:lnTo>
                  <a:lnTo>
                    <a:pt x="501952" y="71374"/>
                  </a:lnTo>
                  <a:lnTo>
                    <a:pt x="498475" y="71374"/>
                  </a:lnTo>
                  <a:lnTo>
                    <a:pt x="498475" y="69723"/>
                  </a:lnTo>
                  <a:lnTo>
                    <a:pt x="492125" y="69723"/>
                  </a:lnTo>
                  <a:lnTo>
                    <a:pt x="473401" y="58800"/>
                  </a:lnTo>
                  <a:close/>
                </a:path>
                <a:path w="523875" h="118110">
                  <a:moveTo>
                    <a:pt x="451847" y="46228"/>
                  </a:moveTo>
                  <a:lnTo>
                    <a:pt x="0" y="46228"/>
                  </a:lnTo>
                  <a:lnTo>
                    <a:pt x="0" y="71374"/>
                  </a:lnTo>
                  <a:lnTo>
                    <a:pt x="451847" y="71374"/>
                  </a:lnTo>
                  <a:lnTo>
                    <a:pt x="473401" y="58800"/>
                  </a:lnTo>
                  <a:lnTo>
                    <a:pt x="451847" y="46228"/>
                  </a:lnTo>
                  <a:close/>
                </a:path>
                <a:path w="523875" h="118110">
                  <a:moveTo>
                    <a:pt x="501952" y="46228"/>
                  </a:moveTo>
                  <a:lnTo>
                    <a:pt x="498475" y="46228"/>
                  </a:lnTo>
                  <a:lnTo>
                    <a:pt x="498475" y="71374"/>
                  </a:lnTo>
                  <a:lnTo>
                    <a:pt x="501952" y="71374"/>
                  </a:lnTo>
                  <a:lnTo>
                    <a:pt x="523494" y="58800"/>
                  </a:lnTo>
                  <a:lnTo>
                    <a:pt x="501952" y="46228"/>
                  </a:lnTo>
                  <a:close/>
                </a:path>
                <a:path w="523875" h="118110">
                  <a:moveTo>
                    <a:pt x="492125" y="47879"/>
                  </a:moveTo>
                  <a:lnTo>
                    <a:pt x="473401" y="58800"/>
                  </a:lnTo>
                  <a:lnTo>
                    <a:pt x="492125" y="69723"/>
                  </a:lnTo>
                  <a:lnTo>
                    <a:pt x="492125" y="47879"/>
                  </a:lnTo>
                  <a:close/>
                </a:path>
                <a:path w="523875" h="118110">
                  <a:moveTo>
                    <a:pt x="498475" y="47879"/>
                  </a:moveTo>
                  <a:lnTo>
                    <a:pt x="492125" y="47879"/>
                  </a:lnTo>
                  <a:lnTo>
                    <a:pt x="492125" y="69723"/>
                  </a:lnTo>
                  <a:lnTo>
                    <a:pt x="498475" y="69723"/>
                  </a:lnTo>
                  <a:lnTo>
                    <a:pt x="498475" y="47879"/>
                  </a:lnTo>
                  <a:close/>
                </a:path>
                <a:path w="523875" h="118110">
                  <a:moveTo>
                    <a:pt x="422656" y="0"/>
                  </a:moveTo>
                  <a:lnTo>
                    <a:pt x="414909" y="2032"/>
                  </a:lnTo>
                  <a:lnTo>
                    <a:pt x="411479" y="8000"/>
                  </a:lnTo>
                  <a:lnTo>
                    <a:pt x="407923" y="13970"/>
                  </a:lnTo>
                  <a:lnTo>
                    <a:pt x="409956" y="21717"/>
                  </a:lnTo>
                  <a:lnTo>
                    <a:pt x="415925" y="25273"/>
                  </a:lnTo>
                  <a:lnTo>
                    <a:pt x="473401" y="58800"/>
                  </a:lnTo>
                  <a:lnTo>
                    <a:pt x="492125" y="47879"/>
                  </a:lnTo>
                  <a:lnTo>
                    <a:pt x="498475" y="47879"/>
                  </a:lnTo>
                  <a:lnTo>
                    <a:pt x="498475" y="46228"/>
                  </a:lnTo>
                  <a:lnTo>
                    <a:pt x="501952" y="46228"/>
                  </a:lnTo>
                  <a:lnTo>
                    <a:pt x="422656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9593" y="3276600"/>
              <a:ext cx="1126998" cy="30708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51122" y="3351530"/>
              <a:ext cx="932180" cy="118110"/>
            </a:xfrm>
            <a:custGeom>
              <a:avLst/>
              <a:gdLst/>
              <a:ahLst/>
              <a:cxnLst/>
              <a:rect l="l" t="t" r="r" b="b"/>
              <a:pathLst>
                <a:path w="932179" h="118110">
                  <a:moveTo>
                    <a:pt x="882214" y="58800"/>
                  </a:moveTo>
                  <a:lnTo>
                    <a:pt x="824738" y="92329"/>
                  </a:lnTo>
                  <a:lnTo>
                    <a:pt x="818768" y="95885"/>
                  </a:lnTo>
                  <a:lnTo>
                    <a:pt x="816737" y="103632"/>
                  </a:lnTo>
                  <a:lnTo>
                    <a:pt x="820165" y="109600"/>
                  </a:lnTo>
                  <a:lnTo>
                    <a:pt x="823722" y="115570"/>
                  </a:lnTo>
                  <a:lnTo>
                    <a:pt x="831468" y="117602"/>
                  </a:lnTo>
                  <a:lnTo>
                    <a:pt x="910667" y="71374"/>
                  </a:lnTo>
                  <a:lnTo>
                    <a:pt x="907288" y="71374"/>
                  </a:lnTo>
                  <a:lnTo>
                    <a:pt x="907288" y="69723"/>
                  </a:lnTo>
                  <a:lnTo>
                    <a:pt x="900938" y="69723"/>
                  </a:lnTo>
                  <a:lnTo>
                    <a:pt x="882214" y="58800"/>
                  </a:lnTo>
                  <a:close/>
                </a:path>
                <a:path w="932179" h="118110">
                  <a:moveTo>
                    <a:pt x="860660" y="46228"/>
                  </a:moveTo>
                  <a:lnTo>
                    <a:pt x="0" y="46228"/>
                  </a:lnTo>
                  <a:lnTo>
                    <a:pt x="0" y="71374"/>
                  </a:lnTo>
                  <a:lnTo>
                    <a:pt x="860660" y="71374"/>
                  </a:lnTo>
                  <a:lnTo>
                    <a:pt x="882214" y="58800"/>
                  </a:lnTo>
                  <a:lnTo>
                    <a:pt x="860660" y="46228"/>
                  </a:lnTo>
                  <a:close/>
                </a:path>
                <a:path w="932179" h="118110">
                  <a:moveTo>
                    <a:pt x="910667" y="46228"/>
                  </a:moveTo>
                  <a:lnTo>
                    <a:pt x="907288" y="46228"/>
                  </a:lnTo>
                  <a:lnTo>
                    <a:pt x="907288" y="71374"/>
                  </a:lnTo>
                  <a:lnTo>
                    <a:pt x="910667" y="71374"/>
                  </a:lnTo>
                  <a:lnTo>
                    <a:pt x="932179" y="58800"/>
                  </a:lnTo>
                  <a:lnTo>
                    <a:pt x="910667" y="46228"/>
                  </a:lnTo>
                  <a:close/>
                </a:path>
                <a:path w="932179" h="118110">
                  <a:moveTo>
                    <a:pt x="900938" y="47879"/>
                  </a:moveTo>
                  <a:lnTo>
                    <a:pt x="882214" y="58800"/>
                  </a:lnTo>
                  <a:lnTo>
                    <a:pt x="900938" y="69723"/>
                  </a:lnTo>
                  <a:lnTo>
                    <a:pt x="900938" y="47879"/>
                  </a:lnTo>
                  <a:close/>
                </a:path>
                <a:path w="932179" h="118110">
                  <a:moveTo>
                    <a:pt x="907288" y="47879"/>
                  </a:moveTo>
                  <a:lnTo>
                    <a:pt x="900938" y="47879"/>
                  </a:lnTo>
                  <a:lnTo>
                    <a:pt x="900938" y="69723"/>
                  </a:lnTo>
                  <a:lnTo>
                    <a:pt x="907288" y="69723"/>
                  </a:lnTo>
                  <a:lnTo>
                    <a:pt x="907288" y="47879"/>
                  </a:lnTo>
                  <a:close/>
                </a:path>
                <a:path w="932179" h="118110">
                  <a:moveTo>
                    <a:pt x="831468" y="0"/>
                  </a:moveTo>
                  <a:lnTo>
                    <a:pt x="823722" y="2032"/>
                  </a:lnTo>
                  <a:lnTo>
                    <a:pt x="820165" y="8000"/>
                  </a:lnTo>
                  <a:lnTo>
                    <a:pt x="816737" y="13970"/>
                  </a:lnTo>
                  <a:lnTo>
                    <a:pt x="818768" y="21717"/>
                  </a:lnTo>
                  <a:lnTo>
                    <a:pt x="824738" y="25273"/>
                  </a:lnTo>
                  <a:lnTo>
                    <a:pt x="882214" y="58800"/>
                  </a:lnTo>
                  <a:lnTo>
                    <a:pt x="900938" y="47879"/>
                  </a:lnTo>
                  <a:lnTo>
                    <a:pt x="907288" y="47879"/>
                  </a:lnTo>
                  <a:lnTo>
                    <a:pt x="907288" y="46228"/>
                  </a:lnTo>
                  <a:lnTo>
                    <a:pt x="910667" y="46228"/>
                  </a:lnTo>
                  <a:lnTo>
                    <a:pt x="83146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5594" y="4454651"/>
              <a:ext cx="1671066" cy="14858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27123" y="4488560"/>
              <a:ext cx="1576070" cy="41275"/>
            </a:xfrm>
            <a:custGeom>
              <a:avLst/>
              <a:gdLst/>
              <a:ahLst/>
              <a:cxnLst/>
              <a:rect l="l" t="t" r="r" b="b"/>
              <a:pathLst>
                <a:path w="1576070" h="41275">
                  <a:moveTo>
                    <a:pt x="0" y="0"/>
                  </a:moveTo>
                  <a:lnTo>
                    <a:pt x="1575815" y="40893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5580" y="4014977"/>
              <a:ext cx="307086" cy="57607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830322" y="4148708"/>
              <a:ext cx="118110" cy="381000"/>
            </a:xfrm>
            <a:custGeom>
              <a:avLst/>
              <a:gdLst/>
              <a:ahLst/>
              <a:cxnLst/>
              <a:rect l="l" t="t" r="r" b="b"/>
              <a:pathLst>
                <a:path w="118110" h="381000">
                  <a:moveTo>
                    <a:pt x="58800" y="49965"/>
                  </a:moveTo>
                  <a:lnTo>
                    <a:pt x="46227" y="71519"/>
                  </a:lnTo>
                  <a:lnTo>
                    <a:pt x="46227" y="381000"/>
                  </a:lnTo>
                  <a:lnTo>
                    <a:pt x="71373" y="381000"/>
                  </a:lnTo>
                  <a:lnTo>
                    <a:pt x="71373" y="71519"/>
                  </a:lnTo>
                  <a:lnTo>
                    <a:pt x="58800" y="49965"/>
                  </a:lnTo>
                  <a:close/>
                </a:path>
                <a:path w="118110" h="381000">
                  <a:moveTo>
                    <a:pt x="58800" y="0"/>
                  </a:moveTo>
                  <a:lnTo>
                    <a:pt x="3428" y="94742"/>
                  </a:lnTo>
                  <a:lnTo>
                    <a:pt x="0" y="100711"/>
                  </a:lnTo>
                  <a:lnTo>
                    <a:pt x="2031" y="108458"/>
                  </a:lnTo>
                  <a:lnTo>
                    <a:pt x="8000" y="112014"/>
                  </a:lnTo>
                  <a:lnTo>
                    <a:pt x="13969" y="115443"/>
                  </a:lnTo>
                  <a:lnTo>
                    <a:pt x="21716" y="113411"/>
                  </a:lnTo>
                  <a:lnTo>
                    <a:pt x="25272" y="107442"/>
                  </a:lnTo>
                  <a:lnTo>
                    <a:pt x="46227" y="71519"/>
                  </a:lnTo>
                  <a:lnTo>
                    <a:pt x="46227" y="24892"/>
                  </a:lnTo>
                  <a:lnTo>
                    <a:pt x="73349" y="24892"/>
                  </a:lnTo>
                  <a:lnTo>
                    <a:pt x="58800" y="0"/>
                  </a:lnTo>
                  <a:close/>
                </a:path>
                <a:path w="118110" h="381000">
                  <a:moveTo>
                    <a:pt x="73349" y="24892"/>
                  </a:moveTo>
                  <a:lnTo>
                    <a:pt x="71373" y="24892"/>
                  </a:lnTo>
                  <a:lnTo>
                    <a:pt x="71374" y="71519"/>
                  </a:lnTo>
                  <a:lnTo>
                    <a:pt x="92328" y="107442"/>
                  </a:lnTo>
                  <a:lnTo>
                    <a:pt x="95884" y="113411"/>
                  </a:lnTo>
                  <a:lnTo>
                    <a:pt x="103631" y="115443"/>
                  </a:lnTo>
                  <a:lnTo>
                    <a:pt x="109600" y="112014"/>
                  </a:lnTo>
                  <a:lnTo>
                    <a:pt x="115569" y="108458"/>
                  </a:lnTo>
                  <a:lnTo>
                    <a:pt x="117601" y="100711"/>
                  </a:lnTo>
                  <a:lnTo>
                    <a:pt x="114172" y="94742"/>
                  </a:lnTo>
                  <a:lnTo>
                    <a:pt x="73349" y="24892"/>
                  </a:lnTo>
                  <a:close/>
                </a:path>
                <a:path w="118110" h="381000">
                  <a:moveTo>
                    <a:pt x="71373" y="24892"/>
                  </a:moveTo>
                  <a:lnTo>
                    <a:pt x="46227" y="24892"/>
                  </a:lnTo>
                  <a:lnTo>
                    <a:pt x="46227" y="71519"/>
                  </a:lnTo>
                  <a:lnTo>
                    <a:pt x="58800" y="49965"/>
                  </a:lnTo>
                  <a:lnTo>
                    <a:pt x="47878" y="31242"/>
                  </a:lnTo>
                  <a:lnTo>
                    <a:pt x="71373" y="31242"/>
                  </a:lnTo>
                  <a:lnTo>
                    <a:pt x="71373" y="24892"/>
                  </a:lnTo>
                  <a:close/>
                </a:path>
                <a:path w="118110" h="381000">
                  <a:moveTo>
                    <a:pt x="71373" y="31242"/>
                  </a:moveTo>
                  <a:lnTo>
                    <a:pt x="69722" y="31242"/>
                  </a:lnTo>
                  <a:lnTo>
                    <a:pt x="58800" y="49965"/>
                  </a:lnTo>
                  <a:lnTo>
                    <a:pt x="71374" y="71519"/>
                  </a:lnTo>
                  <a:lnTo>
                    <a:pt x="71373" y="31242"/>
                  </a:lnTo>
                  <a:close/>
                </a:path>
                <a:path w="118110" h="381000">
                  <a:moveTo>
                    <a:pt x="69722" y="31242"/>
                  </a:moveTo>
                  <a:lnTo>
                    <a:pt x="47878" y="31242"/>
                  </a:lnTo>
                  <a:lnTo>
                    <a:pt x="58800" y="49965"/>
                  </a:lnTo>
                  <a:lnTo>
                    <a:pt x="69722" y="31242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5402" y="2127503"/>
              <a:ext cx="107442" cy="48691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889122" y="2148458"/>
              <a:ext cx="0" cy="392430"/>
            </a:xfrm>
            <a:custGeom>
              <a:avLst/>
              <a:gdLst/>
              <a:ahLst/>
              <a:cxnLst/>
              <a:rect l="l" t="t" r="r" b="b"/>
              <a:pathLst>
                <a:path h="392430">
                  <a:moveTo>
                    <a:pt x="0" y="0"/>
                  </a:moveTo>
                  <a:lnTo>
                    <a:pt x="0" y="392175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7594" y="2014727"/>
              <a:ext cx="4712970" cy="30708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89122" y="2089657"/>
              <a:ext cx="4518025" cy="118110"/>
            </a:xfrm>
            <a:custGeom>
              <a:avLst/>
              <a:gdLst/>
              <a:ahLst/>
              <a:cxnLst/>
              <a:rect l="l" t="t" r="r" b="b"/>
              <a:pathLst>
                <a:path w="4518025" h="118110">
                  <a:moveTo>
                    <a:pt x="4467678" y="58800"/>
                  </a:moveTo>
                  <a:lnTo>
                    <a:pt x="4410202" y="92328"/>
                  </a:lnTo>
                  <a:lnTo>
                    <a:pt x="4404233" y="95884"/>
                  </a:lnTo>
                  <a:lnTo>
                    <a:pt x="4402201" y="103631"/>
                  </a:lnTo>
                  <a:lnTo>
                    <a:pt x="4405630" y="109600"/>
                  </a:lnTo>
                  <a:lnTo>
                    <a:pt x="4409185" y="115569"/>
                  </a:lnTo>
                  <a:lnTo>
                    <a:pt x="4416933" y="117601"/>
                  </a:lnTo>
                  <a:lnTo>
                    <a:pt x="4496131" y="71374"/>
                  </a:lnTo>
                  <a:lnTo>
                    <a:pt x="4492752" y="71374"/>
                  </a:lnTo>
                  <a:lnTo>
                    <a:pt x="4492752" y="69722"/>
                  </a:lnTo>
                  <a:lnTo>
                    <a:pt x="4486402" y="69722"/>
                  </a:lnTo>
                  <a:lnTo>
                    <a:pt x="4467678" y="58800"/>
                  </a:lnTo>
                  <a:close/>
                </a:path>
                <a:path w="4518025" h="118110">
                  <a:moveTo>
                    <a:pt x="4446124" y="46227"/>
                  </a:moveTo>
                  <a:lnTo>
                    <a:pt x="0" y="46227"/>
                  </a:lnTo>
                  <a:lnTo>
                    <a:pt x="0" y="71374"/>
                  </a:lnTo>
                  <a:lnTo>
                    <a:pt x="4446124" y="71374"/>
                  </a:lnTo>
                  <a:lnTo>
                    <a:pt x="4467678" y="58800"/>
                  </a:lnTo>
                  <a:lnTo>
                    <a:pt x="4446124" y="46227"/>
                  </a:lnTo>
                  <a:close/>
                </a:path>
                <a:path w="4518025" h="118110">
                  <a:moveTo>
                    <a:pt x="4496131" y="46227"/>
                  </a:moveTo>
                  <a:lnTo>
                    <a:pt x="4492752" y="46227"/>
                  </a:lnTo>
                  <a:lnTo>
                    <a:pt x="4492752" y="71374"/>
                  </a:lnTo>
                  <a:lnTo>
                    <a:pt x="4496131" y="71374"/>
                  </a:lnTo>
                  <a:lnTo>
                    <a:pt x="4517644" y="58800"/>
                  </a:lnTo>
                  <a:lnTo>
                    <a:pt x="4496131" y="46227"/>
                  </a:lnTo>
                  <a:close/>
                </a:path>
                <a:path w="4518025" h="118110">
                  <a:moveTo>
                    <a:pt x="4486402" y="47878"/>
                  </a:moveTo>
                  <a:lnTo>
                    <a:pt x="4467678" y="58800"/>
                  </a:lnTo>
                  <a:lnTo>
                    <a:pt x="4486402" y="69722"/>
                  </a:lnTo>
                  <a:lnTo>
                    <a:pt x="4486402" y="47878"/>
                  </a:lnTo>
                  <a:close/>
                </a:path>
                <a:path w="4518025" h="118110">
                  <a:moveTo>
                    <a:pt x="4492752" y="47878"/>
                  </a:moveTo>
                  <a:lnTo>
                    <a:pt x="4486402" y="47878"/>
                  </a:lnTo>
                  <a:lnTo>
                    <a:pt x="4486402" y="69722"/>
                  </a:lnTo>
                  <a:lnTo>
                    <a:pt x="4492752" y="69722"/>
                  </a:lnTo>
                  <a:lnTo>
                    <a:pt x="4492752" y="47878"/>
                  </a:lnTo>
                  <a:close/>
                </a:path>
                <a:path w="4518025" h="118110">
                  <a:moveTo>
                    <a:pt x="4416933" y="0"/>
                  </a:moveTo>
                  <a:lnTo>
                    <a:pt x="4409185" y="2031"/>
                  </a:lnTo>
                  <a:lnTo>
                    <a:pt x="4405630" y="8000"/>
                  </a:lnTo>
                  <a:lnTo>
                    <a:pt x="4402201" y="13969"/>
                  </a:lnTo>
                  <a:lnTo>
                    <a:pt x="4404233" y="21716"/>
                  </a:lnTo>
                  <a:lnTo>
                    <a:pt x="4410202" y="25272"/>
                  </a:lnTo>
                  <a:lnTo>
                    <a:pt x="4467678" y="58800"/>
                  </a:lnTo>
                  <a:lnTo>
                    <a:pt x="4486402" y="47878"/>
                  </a:lnTo>
                  <a:lnTo>
                    <a:pt x="4492752" y="47878"/>
                  </a:lnTo>
                  <a:lnTo>
                    <a:pt x="4492752" y="46227"/>
                  </a:lnTo>
                  <a:lnTo>
                    <a:pt x="4496131" y="46227"/>
                  </a:lnTo>
                  <a:lnTo>
                    <a:pt x="4416933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781297" y="2576575"/>
            <a:ext cx="717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653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Đơn 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đặt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87879" y="4953000"/>
            <a:ext cx="1671320" cy="148590"/>
            <a:chOff x="2087879" y="4953000"/>
            <a:chExt cx="1671320" cy="14859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7879" y="4953000"/>
              <a:ext cx="1671066" cy="14858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129408" y="4986909"/>
              <a:ext cx="1576070" cy="41275"/>
            </a:xfrm>
            <a:custGeom>
              <a:avLst/>
              <a:gdLst/>
              <a:ahLst/>
              <a:cxnLst/>
              <a:rect l="l" t="t" r="r" b="b"/>
              <a:pathLst>
                <a:path w="1576070" h="41275">
                  <a:moveTo>
                    <a:pt x="0" y="0"/>
                  </a:moveTo>
                  <a:lnTo>
                    <a:pt x="1575816" y="40894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98491" y="1776475"/>
            <a:ext cx="11093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Đơn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đặt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hàng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148071" y="4059173"/>
            <a:ext cx="307340" cy="931544"/>
            <a:chOff x="5148071" y="4059173"/>
            <a:chExt cx="307340" cy="931544"/>
          </a:xfrm>
        </p:grpSpPr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48071" y="4059173"/>
              <a:ext cx="307086" cy="93116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246623" y="4080382"/>
              <a:ext cx="118110" cy="736600"/>
            </a:xfrm>
            <a:custGeom>
              <a:avLst/>
              <a:gdLst/>
              <a:ahLst/>
              <a:cxnLst/>
              <a:rect l="l" t="t" r="r" b="b"/>
              <a:pathLst>
                <a:path w="118110" h="736600">
                  <a:moveTo>
                    <a:pt x="14604" y="619506"/>
                  </a:moveTo>
                  <a:lnTo>
                    <a:pt x="8509" y="622808"/>
                  </a:lnTo>
                  <a:lnTo>
                    <a:pt x="2412" y="625983"/>
                  </a:lnTo>
                  <a:lnTo>
                    <a:pt x="0" y="633603"/>
                  </a:lnTo>
                  <a:lnTo>
                    <a:pt x="3301" y="639826"/>
                  </a:lnTo>
                  <a:lnTo>
                    <a:pt x="54990" y="736600"/>
                  </a:lnTo>
                  <a:lnTo>
                    <a:pt x="70511" y="712216"/>
                  </a:lnTo>
                  <a:lnTo>
                    <a:pt x="68452" y="712216"/>
                  </a:lnTo>
                  <a:lnTo>
                    <a:pt x="43434" y="711200"/>
                  </a:lnTo>
                  <a:lnTo>
                    <a:pt x="45192" y="664753"/>
                  </a:lnTo>
                  <a:lnTo>
                    <a:pt x="25526" y="627888"/>
                  </a:lnTo>
                  <a:lnTo>
                    <a:pt x="22225" y="621792"/>
                  </a:lnTo>
                  <a:lnTo>
                    <a:pt x="14604" y="619506"/>
                  </a:lnTo>
                  <a:close/>
                </a:path>
                <a:path w="118110" h="736600">
                  <a:moveTo>
                    <a:pt x="45192" y="664753"/>
                  </a:moveTo>
                  <a:lnTo>
                    <a:pt x="43434" y="711200"/>
                  </a:lnTo>
                  <a:lnTo>
                    <a:pt x="68452" y="712216"/>
                  </a:lnTo>
                  <a:lnTo>
                    <a:pt x="68699" y="705739"/>
                  </a:lnTo>
                  <a:lnTo>
                    <a:pt x="67055" y="705739"/>
                  </a:lnTo>
                  <a:lnTo>
                    <a:pt x="45338" y="704977"/>
                  </a:lnTo>
                  <a:lnTo>
                    <a:pt x="56918" y="686735"/>
                  </a:lnTo>
                  <a:lnTo>
                    <a:pt x="45192" y="664753"/>
                  </a:lnTo>
                  <a:close/>
                </a:path>
                <a:path w="118110" h="736600">
                  <a:moveTo>
                    <a:pt x="104139" y="622935"/>
                  </a:moveTo>
                  <a:lnTo>
                    <a:pt x="96392" y="624586"/>
                  </a:lnTo>
                  <a:lnTo>
                    <a:pt x="70219" y="665784"/>
                  </a:lnTo>
                  <a:lnTo>
                    <a:pt x="68452" y="712216"/>
                  </a:lnTo>
                  <a:lnTo>
                    <a:pt x="70511" y="712216"/>
                  </a:lnTo>
                  <a:lnTo>
                    <a:pt x="113918" y="644017"/>
                  </a:lnTo>
                  <a:lnTo>
                    <a:pt x="117601" y="638175"/>
                  </a:lnTo>
                  <a:lnTo>
                    <a:pt x="115824" y="630301"/>
                  </a:lnTo>
                  <a:lnTo>
                    <a:pt x="104139" y="622935"/>
                  </a:lnTo>
                  <a:close/>
                </a:path>
                <a:path w="118110" h="736600">
                  <a:moveTo>
                    <a:pt x="56918" y="686735"/>
                  </a:moveTo>
                  <a:lnTo>
                    <a:pt x="45338" y="704977"/>
                  </a:lnTo>
                  <a:lnTo>
                    <a:pt x="67055" y="705739"/>
                  </a:lnTo>
                  <a:lnTo>
                    <a:pt x="56918" y="686735"/>
                  </a:lnTo>
                  <a:close/>
                </a:path>
                <a:path w="118110" h="736600">
                  <a:moveTo>
                    <a:pt x="70219" y="665784"/>
                  </a:moveTo>
                  <a:lnTo>
                    <a:pt x="56918" y="686735"/>
                  </a:lnTo>
                  <a:lnTo>
                    <a:pt x="67055" y="705739"/>
                  </a:lnTo>
                  <a:lnTo>
                    <a:pt x="68699" y="705739"/>
                  </a:lnTo>
                  <a:lnTo>
                    <a:pt x="70219" y="665784"/>
                  </a:lnTo>
                  <a:close/>
                </a:path>
                <a:path w="118110" h="736600">
                  <a:moveTo>
                    <a:pt x="70358" y="0"/>
                  </a:moveTo>
                  <a:lnTo>
                    <a:pt x="45192" y="664753"/>
                  </a:lnTo>
                  <a:lnTo>
                    <a:pt x="56918" y="686735"/>
                  </a:lnTo>
                  <a:lnTo>
                    <a:pt x="70219" y="665784"/>
                  </a:lnTo>
                  <a:lnTo>
                    <a:pt x="95503" y="1016"/>
                  </a:lnTo>
                  <a:lnTo>
                    <a:pt x="70358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205482" y="4124197"/>
            <a:ext cx="2917190" cy="702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6289" marR="5080" indent="62865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Ghi </a:t>
            </a:r>
            <a:r>
              <a:rPr sz="1400" dirty="0">
                <a:latin typeface="Arial"/>
                <a:cs typeface="Arial"/>
              </a:rPr>
              <a:t>chép 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</a:t>
            </a:r>
            <a:r>
              <a:rPr sz="1400" spc="-5" dirty="0">
                <a:latin typeface="Arial"/>
                <a:cs typeface="Arial"/>
              </a:rPr>
              <a:t>à</a:t>
            </a:r>
            <a:r>
              <a:rPr sz="1400" spc="-10" dirty="0">
                <a:latin typeface="Arial"/>
                <a:cs typeface="Arial"/>
              </a:rPr>
              <a:t>n</a:t>
            </a:r>
            <a:r>
              <a:rPr sz="1400" spc="-5" dirty="0">
                <a:latin typeface="Arial"/>
                <a:cs typeface="Arial"/>
              </a:rPr>
              <a:t>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</a:t>
            </a:r>
            <a:r>
              <a:rPr sz="1400" spc="-5" dirty="0">
                <a:latin typeface="Arial"/>
                <a:cs typeface="Arial"/>
              </a:rPr>
              <a:t>h</a:t>
            </a:r>
            <a:r>
              <a:rPr sz="1400" spc="-10" dirty="0">
                <a:latin typeface="Arial"/>
                <a:cs typeface="Arial"/>
              </a:rPr>
              <a:t>ận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600" b="1" dirty="0">
                <a:latin typeface="Arial"/>
                <a:cs typeface="Arial"/>
              </a:rPr>
              <a:t>Hàng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tồn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kho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865364" y="2610611"/>
            <a:ext cx="307340" cy="3119755"/>
            <a:chOff x="7865364" y="2610611"/>
            <a:chExt cx="307340" cy="3119755"/>
          </a:xfrm>
        </p:grpSpPr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65364" y="2610611"/>
              <a:ext cx="307085" cy="311962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960106" y="2744342"/>
              <a:ext cx="118110" cy="2924810"/>
            </a:xfrm>
            <a:custGeom>
              <a:avLst/>
              <a:gdLst/>
              <a:ahLst/>
              <a:cxnLst/>
              <a:rect l="l" t="t" r="r" b="b"/>
              <a:pathLst>
                <a:path w="118109" h="2924810">
                  <a:moveTo>
                    <a:pt x="58800" y="49965"/>
                  </a:moveTo>
                  <a:lnTo>
                    <a:pt x="46227" y="71519"/>
                  </a:lnTo>
                  <a:lnTo>
                    <a:pt x="46227" y="2924810"/>
                  </a:lnTo>
                  <a:lnTo>
                    <a:pt x="71374" y="2924810"/>
                  </a:lnTo>
                  <a:lnTo>
                    <a:pt x="71374" y="71519"/>
                  </a:lnTo>
                  <a:lnTo>
                    <a:pt x="58800" y="49965"/>
                  </a:lnTo>
                  <a:close/>
                </a:path>
                <a:path w="118109" h="2924810">
                  <a:moveTo>
                    <a:pt x="58800" y="0"/>
                  </a:moveTo>
                  <a:lnTo>
                    <a:pt x="3428" y="94742"/>
                  </a:lnTo>
                  <a:lnTo>
                    <a:pt x="0" y="100711"/>
                  </a:lnTo>
                  <a:lnTo>
                    <a:pt x="2032" y="108458"/>
                  </a:lnTo>
                  <a:lnTo>
                    <a:pt x="8000" y="112014"/>
                  </a:lnTo>
                  <a:lnTo>
                    <a:pt x="13970" y="115443"/>
                  </a:lnTo>
                  <a:lnTo>
                    <a:pt x="21717" y="113411"/>
                  </a:lnTo>
                  <a:lnTo>
                    <a:pt x="25273" y="107442"/>
                  </a:lnTo>
                  <a:lnTo>
                    <a:pt x="46227" y="71519"/>
                  </a:lnTo>
                  <a:lnTo>
                    <a:pt x="46227" y="24892"/>
                  </a:lnTo>
                  <a:lnTo>
                    <a:pt x="73349" y="24892"/>
                  </a:lnTo>
                  <a:lnTo>
                    <a:pt x="58800" y="0"/>
                  </a:lnTo>
                  <a:close/>
                </a:path>
                <a:path w="118109" h="2924810">
                  <a:moveTo>
                    <a:pt x="73349" y="24892"/>
                  </a:moveTo>
                  <a:lnTo>
                    <a:pt x="71374" y="24892"/>
                  </a:lnTo>
                  <a:lnTo>
                    <a:pt x="71374" y="71519"/>
                  </a:lnTo>
                  <a:lnTo>
                    <a:pt x="92328" y="107442"/>
                  </a:lnTo>
                  <a:lnTo>
                    <a:pt x="95885" y="113411"/>
                  </a:lnTo>
                  <a:lnTo>
                    <a:pt x="103632" y="115443"/>
                  </a:lnTo>
                  <a:lnTo>
                    <a:pt x="109600" y="112014"/>
                  </a:lnTo>
                  <a:lnTo>
                    <a:pt x="115570" y="108458"/>
                  </a:lnTo>
                  <a:lnTo>
                    <a:pt x="117601" y="100711"/>
                  </a:lnTo>
                  <a:lnTo>
                    <a:pt x="114173" y="94742"/>
                  </a:lnTo>
                  <a:lnTo>
                    <a:pt x="73349" y="24892"/>
                  </a:lnTo>
                  <a:close/>
                </a:path>
                <a:path w="118109" h="2924810">
                  <a:moveTo>
                    <a:pt x="71374" y="24892"/>
                  </a:moveTo>
                  <a:lnTo>
                    <a:pt x="46227" y="24892"/>
                  </a:lnTo>
                  <a:lnTo>
                    <a:pt x="46227" y="71519"/>
                  </a:lnTo>
                  <a:lnTo>
                    <a:pt x="58800" y="49965"/>
                  </a:lnTo>
                  <a:lnTo>
                    <a:pt x="47878" y="31242"/>
                  </a:lnTo>
                  <a:lnTo>
                    <a:pt x="71374" y="31242"/>
                  </a:lnTo>
                  <a:lnTo>
                    <a:pt x="71374" y="24892"/>
                  </a:lnTo>
                  <a:close/>
                </a:path>
                <a:path w="118109" h="2924810">
                  <a:moveTo>
                    <a:pt x="71374" y="31242"/>
                  </a:moveTo>
                  <a:lnTo>
                    <a:pt x="69723" y="31242"/>
                  </a:lnTo>
                  <a:lnTo>
                    <a:pt x="58800" y="49965"/>
                  </a:lnTo>
                  <a:lnTo>
                    <a:pt x="71374" y="71519"/>
                  </a:lnTo>
                  <a:lnTo>
                    <a:pt x="71374" y="31242"/>
                  </a:lnTo>
                  <a:close/>
                </a:path>
                <a:path w="118109" h="2924810">
                  <a:moveTo>
                    <a:pt x="69723" y="31242"/>
                  </a:moveTo>
                  <a:lnTo>
                    <a:pt x="47878" y="31242"/>
                  </a:lnTo>
                  <a:lnTo>
                    <a:pt x="58800" y="49965"/>
                  </a:lnTo>
                  <a:lnTo>
                    <a:pt x="69723" y="31242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134857" y="3685285"/>
            <a:ext cx="529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805" marR="5080" indent="-7874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Thanh  </a:t>
            </a:r>
            <a:r>
              <a:rPr sz="1400" dirty="0">
                <a:latin typeface="Arial"/>
                <a:cs typeface="Arial"/>
              </a:rPr>
              <a:t>toán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22491" y="1944242"/>
            <a:ext cx="2708275" cy="3798570"/>
            <a:chOff x="6222491" y="1944242"/>
            <a:chExt cx="2708275" cy="3798570"/>
          </a:xfrm>
        </p:grpSpPr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2491" y="5634989"/>
              <a:ext cx="1849373" cy="10744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264020" y="5668898"/>
              <a:ext cx="1754505" cy="0"/>
            </a:xfrm>
            <a:custGeom>
              <a:avLst/>
              <a:gdLst/>
              <a:ahLst/>
              <a:cxnLst/>
              <a:rect l="l" t="t" r="r" b="b"/>
              <a:pathLst>
                <a:path w="1754504">
                  <a:moveTo>
                    <a:pt x="0" y="0"/>
                  </a:moveTo>
                  <a:lnTo>
                    <a:pt x="1754377" y="0"/>
                  </a:lnTo>
                </a:path>
              </a:pathLst>
            </a:custGeom>
            <a:ln w="25146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06258" y="1944242"/>
              <a:ext cx="1524000" cy="800100"/>
            </a:xfrm>
            <a:custGeom>
              <a:avLst/>
              <a:gdLst/>
              <a:ahLst/>
              <a:cxnLst/>
              <a:rect l="l" t="t" r="r" b="b"/>
              <a:pathLst>
                <a:path w="1524000" h="800100">
                  <a:moveTo>
                    <a:pt x="1524000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1524000" y="800100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B8CD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406258" y="1944242"/>
            <a:ext cx="1524000" cy="800100"/>
          </a:xfrm>
          <a:prstGeom prst="rect">
            <a:avLst/>
          </a:prstGeom>
          <a:ln w="25146">
            <a:solidFill>
              <a:srgbClr val="385D89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Times New Roman"/>
                <a:cs typeface="Times New Roman"/>
              </a:rPr>
              <a:t>Nhà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cung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cấp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90294" y="2475610"/>
            <a:ext cx="7845425" cy="3815715"/>
            <a:chOff x="1090294" y="2475610"/>
            <a:chExt cx="7845425" cy="3815715"/>
          </a:xfrm>
        </p:grpSpPr>
        <p:sp>
          <p:nvSpPr>
            <p:cNvPr id="52" name="object 52"/>
            <p:cNvSpPr/>
            <p:nvPr/>
          </p:nvSpPr>
          <p:spPr>
            <a:xfrm>
              <a:off x="8582025" y="2480690"/>
              <a:ext cx="348615" cy="264160"/>
            </a:xfrm>
            <a:custGeom>
              <a:avLst/>
              <a:gdLst/>
              <a:ahLst/>
              <a:cxnLst/>
              <a:rect l="l" t="t" r="r" b="b"/>
              <a:pathLst>
                <a:path w="348615" h="264160">
                  <a:moveTo>
                    <a:pt x="0" y="263779"/>
                  </a:moveTo>
                  <a:lnTo>
                    <a:pt x="348106" y="0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02994" y="5478398"/>
              <a:ext cx="1524000" cy="800100"/>
            </a:xfrm>
            <a:custGeom>
              <a:avLst/>
              <a:gdLst/>
              <a:ahLst/>
              <a:cxnLst/>
              <a:rect l="l" t="t" r="r" b="b"/>
              <a:pathLst>
                <a:path w="1524000" h="800100">
                  <a:moveTo>
                    <a:pt x="1524000" y="0"/>
                  </a:moveTo>
                  <a:lnTo>
                    <a:pt x="0" y="0"/>
                  </a:lnTo>
                  <a:lnTo>
                    <a:pt x="0" y="800099"/>
                  </a:lnTo>
                  <a:lnTo>
                    <a:pt x="1524000" y="800099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B8CD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02994" y="5478398"/>
              <a:ext cx="1524000" cy="800100"/>
            </a:xfrm>
            <a:custGeom>
              <a:avLst/>
              <a:gdLst/>
              <a:ahLst/>
              <a:cxnLst/>
              <a:rect l="l" t="t" r="r" b="b"/>
              <a:pathLst>
                <a:path w="1524000" h="800100">
                  <a:moveTo>
                    <a:pt x="0" y="800099"/>
                  </a:moveTo>
                  <a:lnTo>
                    <a:pt x="1524000" y="800099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800099"/>
                  </a:lnTo>
                  <a:close/>
                </a:path>
              </a:pathLst>
            </a:custGeom>
            <a:ln w="2514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185417" y="5721350"/>
            <a:ext cx="135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Nhà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cung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cấp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273807" y="5744717"/>
            <a:ext cx="2447925" cy="539115"/>
            <a:chOff x="2273807" y="5744717"/>
            <a:chExt cx="2447925" cy="539115"/>
          </a:xfrm>
        </p:grpSpPr>
        <p:sp>
          <p:nvSpPr>
            <p:cNvPr id="57" name="object 57"/>
            <p:cNvSpPr/>
            <p:nvPr/>
          </p:nvSpPr>
          <p:spPr>
            <a:xfrm>
              <a:off x="2278760" y="6014846"/>
              <a:ext cx="348615" cy="264160"/>
            </a:xfrm>
            <a:custGeom>
              <a:avLst/>
              <a:gdLst/>
              <a:ahLst/>
              <a:cxnLst/>
              <a:rect l="l" t="t" r="r" b="b"/>
              <a:pathLst>
                <a:path w="348614" h="264160">
                  <a:moveTo>
                    <a:pt x="0" y="263766"/>
                  </a:moveTo>
                  <a:lnTo>
                    <a:pt x="348106" y="0"/>
                  </a:lnTo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82417" y="5744717"/>
              <a:ext cx="2138934" cy="30708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623946" y="5819635"/>
              <a:ext cx="1943735" cy="118110"/>
            </a:xfrm>
            <a:custGeom>
              <a:avLst/>
              <a:gdLst/>
              <a:ahLst/>
              <a:cxnLst/>
              <a:rect l="l" t="t" r="r" b="b"/>
              <a:pathLst>
                <a:path w="1943735" h="118110">
                  <a:moveTo>
                    <a:pt x="1893628" y="58813"/>
                  </a:moveTo>
                  <a:lnTo>
                    <a:pt x="1830069" y="95897"/>
                  </a:lnTo>
                  <a:lnTo>
                    <a:pt x="1828038" y="103593"/>
                  </a:lnTo>
                  <a:lnTo>
                    <a:pt x="1831593" y="109600"/>
                  </a:lnTo>
                  <a:lnTo>
                    <a:pt x="1835023" y="115595"/>
                  </a:lnTo>
                  <a:lnTo>
                    <a:pt x="1842769" y="117627"/>
                  </a:lnTo>
                  <a:lnTo>
                    <a:pt x="1922041" y="71386"/>
                  </a:lnTo>
                  <a:lnTo>
                    <a:pt x="1918589" y="71386"/>
                  </a:lnTo>
                  <a:lnTo>
                    <a:pt x="1918589" y="69672"/>
                  </a:lnTo>
                  <a:lnTo>
                    <a:pt x="1912239" y="69672"/>
                  </a:lnTo>
                  <a:lnTo>
                    <a:pt x="1893628" y="58813"/>
                  </a:lnTo>
                  <a:close/>
                </a:path>
                <a:path w="1943735" h="118110">
                  <a:moveTo>
                    <a:pt x="1872079" y="46240"/>
                  </a:moveTo>
                  <a:lnTo>
                    <a:pt x="0" y="46240"/>
                  </a:lnTo>
                  <a:lnTo>
                    <a:pt x="0" y="71386"/>
                  </a:lnTo>
                  <a:lnTo>
                    <a:pt x="1872079" y="71386"/>
                  </a:lnTo>
                  <a:lnTo>
                    <a:pt x="1893628" y="58813"/>
                  </a:lnTo>
                  <a:lnTo>
                    <a:pt x="1872079" y="46240"/>
                  </a:lnTo>
                  <a:close/>
                </a:path>
                <a:path w="1943735" h="118110">
                  <a:moveTo>
                    <a:pt x="1922041" y="46240"/>
                  </a:moveTo>
                  <a:lnTo>
                    <a:pt x="1918589" y="46240"/>
                  </a:lnTo>
                  <a:lnTo>
                    <a:pt x="1918589" y="71386"/>
                  </a:lnTo>
                  <a:lnTo>
                    <a:pt x="1922041" y="71386"/>
                  </a:lnTo>
                  <a:lnTo>
                    <a:pt x="1943607" y="58813"/>
                  </a:lnTo>
                  <a:lnTo>
                    <a:pt x="1922041" y="46240"/>
                  </a:lnTo>
                  <a:close/>
                </a:path>
                <a:path w="1943735" h="118110">
                  <a:moveTo>
                    <a:pt x="1912239" y="47955"/>
                  </a:moveTo>
                  <a:lnTo>
                    <a:pt x="1893628" y="58813"/>
                  </a:lnTo>
                  <a:lnTo>
                    <a:pt x="1912239" y="69672"/>
                  </a:lnTo>
                  <a:lnTo>
                    <a:pt x="1912239" y="47955"/>
                  </a:lnTo>
                  <a:close/>
                </a:path>
                <a:path w="1943735" h="118110">
                  <a:moveTo>
                    <a:pt x="1918589" y="47955"/>
                  </a:moveTo>
                  <a:lnTo>
                    <a:pt x="1912239" y="47955"/>
                  </a:lnTo>
                  <a:lnTo>
                    <a:pt x="1912239" y="69672"/>
                  </a:lnTo>
                  <a:lnTo>
                    <a:pt x="1918589" y="69672"/>
                  </a:lnTo>
                  <a:lnTo>
                    <a:pt x="1918589" y="47955"/>
                  </a:lnTo>
                  <a:close/>
                </a:path>
                <a:path w="1943735" h="118110">
                  <a:moveTo>
                    <a:pt x="1842769" y="0"/>
                  </a:moveTo>
                  <a:lnTo>
                    <a:pt x="1835023" y="2031"/>
                  </a:lnTo>
                  <a:lnTo>
                    <a:pt x="1831593" y="8026"/>
                  </a:lnTo>
                  <a:lnTo>
                    <a:pt x="1828038" y="14020"/>
                  </a:lnTo>
                  <a:lnTo>
                    <a:pt x="1830069" y="21729"/>
                  </a:lnTo>
                  <a:lnTo>
                    <a:pt x="1893628" y="58813"/>
                  </a:lnTo>
                  <a:lnTo>
                    <a:pt x="1912239" y="47955"/>
                  </a:lnTo>
                  <a:lnTo>
                    <a:pt x="1918589" y="47955"/>
                  </a:lnTo>
                  <a:lnTo>
                    <a:pt x="1918589" y="46240"/>
                  </a:lnTo>
                  <a:lnTo>
                    <a:pt x="1922041" y="46240"/>
                  </a:lnTo>
                  <a:lnTo>
                    <a:pt x="1842769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124454" y="5553455"/>
            <a:ext cx="7150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Hóa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đơn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63" name="Date Placeholder 6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89230"/>
            <a:ext cx="7915275" cy="12420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4780"/>
              </a:lnSpc>
              <a:spcBef>
                <a:spcPts val="215"/>
              </a:spcBef>
            </a:pPr>
            <a:r>
              <a:rPr spc="-80" dirty="0"/>
              <a:t>Vấn</a:t>
            </a:r>
            <a:r>
              <a:rPr spc="-10" dirty="0"/>
              <a:t> </a:t>
            </a:r>
            <a:r>
              <a:rPr dirty="0">
                <a:latin typeface="Times New Roman"/>
                <a:cs typeface="Times New Roman"/>
              </a:rPr>
              <a:t>đề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/>
              <a:t>kiểm</a:t>
            </a:r>
            <a:r>
              <a:rPr spc="-10" dirty="0"/>
              <a:t> soát</a:t>
            </a:r>
            <a:r>
              <a:rPr spc="-5" dirty="0"/>
              <a:t> </a:t>
            </a:r>
            <a:r>
              <a:rPr spc="-35" dirty="0"/>
              <a:t>và</a:t>
            </a:r>
            <a:r>
              <a:rPr spc="-20" dirty="0"/>
              <a:t> </a:t>
            </a:r>
            <a:r>
              <a:rPr dirty="0"/>
              <a:t>quản</a:t>
            </a:r>
            <a:r>
              <a:rPr spc="-5" dirty="0"/>
              <a:t> </a:t>
            </a:r>
            <a:r>
              <a:rPr dirty="0"/>
              <a:t>lý</a:t>
            </a:r>
            <a:r>
              <a:rPr spc="-5" dirty="0"/>
              <a:t> </a:t>
            </a:r>
            <a:r>
              <a:rPr dirty="0"/>
              <a:t>Hệ</a:t>
            </a:r>
            <a:r>
              <a:rPr spc="-35" dirty="0"/>
              <a:t> </a:t>
            </a:r>
            <a:r>
              <a:rPr dirty="0"/>
              <a:t>thống </a:t>
            </a:r>
            <a:r>
              <a:rPr spc="-890" dirty="0"/>
              <a:t> </a:t>
            </a:r>
            <a:r>
              <a:rPr spc="-5" dirty="0"/>
              <a:t>giao</a:t>
            </a:r>
            <a:r>
              <a:rPr spc="-10" dirty="0"/>
              <a:t> </a:t>
            </a:r>
            <a:r>
              <a:rPr dirty="0"/>
              <a:t>dịch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829765"/>
            <a:ext cx="7445375" cy="324485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3200" spc="-5" dirty="0">
                <a:latin typeface="Arial"/>
                <a:cs typeface="Arial"/>
              </a:rPr>
              <a:t>•</a:t>
            </a:r>
            <a:r>
              <a:rPr sz="3200" spc="6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Hoạt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động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hoàn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hảo,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liên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tục</a:t>
            </a:r>
            <a:endParaRPr sz="3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Arial"/>
                <a:cs typeface="Arial"/>
              </a:rPr>
              <a:t>• Lập các bộ các quy định về các </a:t>
            </a:r>
            <a:r>
              <a:rPr sz="3200" spc="-10" dirty="0">
                <a:latin typeface="Arial"/>
                <a:cs typeface="Arial"/>
              </a:rPr>
              <a:t>thủ </a:t>
            </a:r>
            <a:r>
              <a:rPr sz="3200" spc="-5" dirty="0">
                <a:latin typeface="Arial"/>
                <a:cs typeface="Arial"/>
              </a:rPr>
              <a:t>tục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dự </a:t>
            </a:r>
            <a:r>
              <a:rPr sz="3200" spc="-10" dirty="0">
                <a:latin typeface="Arial"/>
                <a:cs typeface="Arial"/>
              </a:rPr>
              <a:t>phòng </a:t>
            </a:r>
            <a:r>
              <a:rPr sz="3200" spc="-5" dirty="0">
                <a:latin typeface="Arial"/>
                <a:cs typeface="Arial"/>
              </a:rPr>
              <a:t>cho </a:t>
            </a:r>
            <a:r>
              <a:rPr sz="3200" spc="-10" dirty="0">
                <a:latin typeface="Arial"/>
                <a:cs typeface="Arial"/>
              </a:rPr>
              <a:t>trường </a:t>
            </a:r>
            <a:r>
              <a:rPr sz="3200" spc="-5" dirty="0">
                <a:latin typeface="Arial"/>
                <a:cs typeface="Arial"/>
              </a:rPr>
              <a:t>hợp khẩn cấp khi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HT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giao </a:t>
            </a:r>
            <a:r>
              <a:rPr sz="3200" spc="-5" dirty="0">
                <a:latin typeface="Arial"/>
                <a:cs typeface="Arial"/>
              </a:rPr>
              <a:t>dịch bị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ngừng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hoạt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động</a:t>
            </a:r>
            <a:endParaRPr sz="3200">
              <a:latin typeface="Arial"/>
              <a:cs typeface="Arial"/>
            </a:endParaRPr>
          </a:p>
          <a:p>
            <a:pPr marL="355600" marR="111760" indent="-342900" algn="just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Arial"/>
                <a:cs typeface="Arial"/>
              </a:rPr>
              <a:t>• Lập kế </a:t>
            </a:r>
            <a:r>
              <a:rPr sz="3200" spc="-10" dirty="0">
                <a:latin typeface="Arial"/>
                <a:cs typeface="Arial"/>
              </a:rPr>
              <a:t>hoạch </a:t>
            </a:r>
            <a:r>
              <a:rPr sz="3200" spc="-5" dirty="0">
                <a:latin typeface="Arial"/>
                <a:cs typeface="Arial"/>
              </a:rPr>
              <a:t>khôi </a:t>
            </a:r>
            <a:r>
              <a:rPr sz="3200" spc="-10" dirty="0">
                <a:latin typeface="Arial"/>
                <a:cs typeface="Arial"/>
              </a:rPr>
              <a:t>phục </a:t>
            </a:r>
            <a:r>
              <a:rPr sz="3200" spc="-5" dirty="0">
                <a:latin typeface="Arial"/>
                <a:cs typeface="Arial"/>
              </a:rPr>
              <a:t>hệ thống xử </a:t>
            </a:r>
            <a:r>
              <a:rPr sz="3200" spc="-10" dirty="0">
                <a:latin typeface="Arial"/>
                <a:cs typeface="Arial"/>
              </a:rPr>
              <a:t>lý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giao</a:t>
            </a:r>
            <a:r>
              <a:rPr sz="3200" spc="-10" dirty="0">
                <a:latin typeface="Arial"/>
                <a:cs typeface="Arial"/>
              </a:rPr>
              <a:t> dịch</a:t>
            </a:r>
            <a:r>
              <a:rPr sz="3200" spc="-5" dirty="0">
                <a:latin typeface="Arial"/>
                <a:cs typeface="Arial"/>
              </a:rPr>
              <a:t> sau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thảm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họa,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sự cố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41194" y="749046"/>
            <a:ext cx="5726430" cy="121920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245"/>
              </a:spcBef>
            </a:pPr>
            <a:r>
              <a:rPr sz="3600" smtClean="0">
                <a:solidFill>
                  <a:srgbClr val="00AF50"/>
                </a:solidFill>
              </a:rPr>
              <a:t>H</a:t>
            </a:r>
            <a:r>
              <a:rPr sz="2850" smtClean="0">
                <a:solidFill>
                  <a:srgbClr val="00AF50"/>
                </a:solidFill>
              </a:rPr>
              <a:t>Ệ</a:t>
            </a:r>
            <a:r>
              <a:rPr sz="2850" spc="150" smtClean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THỐNG</a:t>
            </a:r>
            <a:r>
              <a:rPr sz="2850" spc="160" dirty="0">
                <a:solidFill>
                  <a:srgbClr val="00AF50"/>
                </a:solidFill>
              </a:rPr>
              <a:t> </a:t>
            </a:r>
            <a:r>
              <a:rPr sz="3600" spc="10" dirty="0">
                <a:solidFill>
                  <a:srgbClr val="00AF50"/>
                </a:solidFill>
              </a:rPr>
              <a:t>H</a:t>
            </a:r>
            <a:r>
              <a:rPr sz="2850" spc="10" dirty="0">
                <a:solidFill>
                  <a:srgbClr val="00AF50"/>
                </a:solidFill>
              </a:rPr>
              <a:t>Ỗ</a:t>
            </a:r>
            <a:r>
              <a:rPr sz="2850" spc="160" dirty="0">
                <a:solidFill>
                  <a:srgbClr val="00AF50"/>
                </a:solidFill>
              </a:rPr>
              <a:t> </a:t>
            </a:r>
            <a:r>
              <a:rPr sz="2850" spc="5" dirty="0">
                <a:solidFill>
                  <a:srgbClr val="00AF50"/>
                </a:solidFill>
              </a:rPr>
              <a:t>TRỢ</a:t>
            </a:r>
            <a:r>
              <a:rPr sz="2850" spc="160" dirty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RA </a:t>
            </a:r>
            <a:r>
              <a:rPr sz="2850" spc="-630" dirty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QUYẾT</a:t>
            </a:r>
            <a:r>
              <a:rPr sz="2850" spc="160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  <a:latin typeface="Times New Roman"/>
                <a:cs typeface="Times New Roman"/>
              </a:rPr>
              <a:t>ĐỊNH</a:t>
            </a:r>
            <a:endParaRPr sz="28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474" y="2512314"/>
            <a:ext cx="1621155" cy="3215640"/>
            <a:chOff x="363474" y="2512314"/>
            <a:chExt cx="1621155" cy="3215640"/>
          </a:xfrm>
        </p:grpSpPr>
        <p:sp>
          <p:nvSpPr>
            <p:cNvPr id="7" name="object 7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0"/>
                  </a:moveTo>
                  <a:lnTo>
                    <a:pt x="1547729" y="705"/>
                  </a:lnTo>
                  <a:lnTo>
                    <a:pt x="1500180" y="2807"/>
                  </a:lnTo>
                  <a:lnTo>
                    <a:pt x="1453003" y="6286"/>
                  </a:lnTo>
                  <a:lnTo>
                    <a:pt x="1406215" y="11122"/>
                  </a:lnTo>
                  <a:lnTo>
                    <a:pt x="1359837" y="17297"/>
                  </a:lnTo>
                  <a:lnTo>
                    <a:pt x="1313889" y="24789"/>
                  </a:lnTo>
                  <a:lnTo>
                    <a:pt x="1268391" y="33580"/>
                  </a:lnTo>
                  <a:lnTo>
                    <a:pt x="1223362" y="43649"/>
                  </a:lnTo>
                  <a:lnTo>
                    <a:pt x="1178821" y="54977"/>
                  </a:lnTo>
                  <a:lnTo>
                    <a:pt x="1134789" y="67543"/>
                  </a:lnTo>
                  <a:lnTo>
                    <a:pt x="1091286" y="81329"/>
                  </a:lnTo>
                  <a:lnTo>
                    <a:pt x="1048331" y="96315"/>
                  </a:lnTo>
                  <a:lnTo>
                    <a:pt x="1005943" y="112480"/>
                  </a:lnTo>
                  <a:lnTo>
                    <a:pt x="964144" y="129805"/>
                  </a:lnTo>
                  <a:lnTo>
                    <a:pt x="922951" y="148271"/>
                  </a:lnTo>
                  <a:lnTo>
                    <a:pt x="882386" y="167857"/>
                  </a:lnTo>
                  <a:lnTo>
                    <a:pt x="842468" y="188544"/>
                  </a:lnTo>
                  <a:lnTo>
                    <a:pt x="803216" y="210312"/>
                  </a:lnTo>
                  <a:lnTo>
                    <a:pt x="764651" y="233141"/>
                  </a:lnTo>
                  <a:lnTo>
                    <a:pt x="726792" y="257012"/>
                  </a:lnTo>
                  <a:lnTo>
                    <a:pt x="689658" y="281904"/>
                  </a:lnTo>
                  <a:lnTo>
                    <a:pt x="653271" y="307799"/>
                  </a:lnTo>
                  <a:lnTo>
                    <a:pt x="617648" y="334676"/>
                  </a:lnTo>
                  <a:lnTo>
                    <a:pt x="582811" y="362515"/>
                  </a:lnTo>
                  <a:lnTo>
                    <a:pt x="548779" y="391297"/>
                  </a:lnTo>
                  <a:lnTo>
                    <a:pt x="515571" y="421003"/>
                  </a:lnTo>
                  <a:lnTo>
                    <a:pt x="483207" y="451611"/>
                  </a:lnTo>
                  <a:lnTo>
                    <a:pt x="451708" y="483104"/>
                  </a:lnTo>
                  <a:lnTo>
                    <a:pt x="421092" y="515460"/>
                  </a:lnTo>
                  <a:lnTo>
                    <a:pt x="391380" y="548660"/>
                  </a:lnTo>
                  <a:lnTo>
                    <a:pt x="362592" y="582685"/>
                  </a:lnTo>
                  <a:lnTo>
                    <a:pt x="334746" y="617514"/>
                  </a:lnTo>
                  <a:lnTo>
                    <a:pt x="307863" y="653128"/>
                  </a:lnTo>
                  <a:lnTo>
                    <a:pt x="281963" y="689507"/>
                  </a:lnTo>
                  <a:lnTo>
                    <a:pt x="257065" y="726632"/>
                  </a:lnTo>
                  <a:lnTo>
                    <a:pt x="233189" y="764482"/>
                  </a:lnTo>
                  <a:lnTo>
                    <a:pt x="210355" y="803038"/>
                  </a:lnTo>
                  <a:lnTo>
                    <a:pt x="188583" y="842280"/>
                  </a:lnTo>
                  <a:lnTo>
                    <a:pt x="167892" y="882189"/>
                  </a:lnTo>
                  <a:lnTo>
                    <a:pt x="148301" y="922744"/>
                  </a:lnTo>
                  <a:lnTo>
                    <a:pt x="129832" y="963927"/>
                  </a:lnTo>
                  <a:lnTo>
                    <a:pt x="112503" y="1005716"/>
                  </a:lnTo>
                  <a:lnTo>
                    <a:pt x="96334" y="1048093"/>
                  </a:lnTo>
                  <a:lnTo>
                    <a:pt x="81346" y="1091037"/>
                  </a:lnTo>
                  <a:lnTo>
                    <a:pt x="67557" y="1134530"/>
                  </a:lnTo>
                  <a:lnTo>
                    <a:pt x="54988" y="1178550"/>
                  </a:lnTo>
                  <a:lnTo>
                    <a:pt x="43657" y="1223079"/>
                  </a:lnTo>
                  <a:lnTo>
                    <a:pt x="33586" y="1268097"/>
                  </a:lnTo>
                  <a:lnTo>
                    <a:pt x="24794" y="1313584"/>
                  </a:lnTo>
                  <a:lnTo>
                    <a:pt x="17300" y="1359520"/>
                  </a:lnTo>
                  <a:lnTo>
                    <a:pt x="11125" y="1405885"/>
                  </a:lnTo>
                  <a:lnTo>
                    <a:pt x="6287" y="1452660"/>
                  </a:lnTo>
                  <a:lnTo>
                    <a:pt x="2807" y="1499825"/>
                  </a:lnTo>
                  <a:lnTo>
                    <a:pt x="705" y="1547361"/>
                  </a:lnTo>
                  <a:lnTo>
                    <a:pt x="0" y="1595246"/>
                  </a:lnTo>
                  <a:lnTo>
                    <a:pt x="705" y="1643132"/>
                  </a:lnTo>
                  <a:lnTo>
                    <a:pt x="2807" y="1690668"/>
                  </a:lnTo>
                  <a:lnTo>
                    <a:pt x="6287" y="1737833"/>
                  </a:lnTo>
                  <a:lnTo>
                    <a:pt x="11125" y="1784608"/>
                  </a:lnTo>
                  <a:lnTo>
                    <a:pt x="17300" y="1830973"/>
                  </a:lnTo>
                  <a:lnTo>
                    <a:pt x="24794" y="1876909"/>
                  </a:lnTo>
                  <a:lnTo>
                    <a:pt x="33586" y="1922396"/>
                  </a:lnTo>
                  <a:lnTo>
                    <a:pt x="43657" y="1967414"/>
                  </a:lnTo>
                  <a:lnTo>
                    <a:pt x="54988" y="2011943"/>
                  </a:lnTo>
                  <a:lnTo>
                    <a:pt x="67557" y="2055963"/>
                  </a:lnTo>
                  <a:lnTo>
                    <a:pt x="81346" y="2099456"/>
                  </a:lnTo>
                  <a:lnTo>
                    <a:pt x="96334" y="2142400"/>
                  </a:lnTo>
                  <a:lnTo>
                    <a:pt x="112503" y="2184777"/>
                  </a:lnTo>
                  <a:lnTo>
                    <a:pt x="129832" y="2226566"/>
                  </a:lnTo>
                  <a:lnTo>
                    <a:pt x="148301" y="2267749"/>
                  </a:lnTo>
                  <a:lnTo>
                    <a:pt x="167892" y="2308304"/>
                  </a:lnTo>
                  <a:lnTo>
                    <a:pt x="188583" y="2348213"/>
                  </a:lnTo>
                  <a:lnTo>
                    <a:pt x="210355" y="2387455"/>
                  </a:lnTo>
                  <a:lnTo>
                    <a:pt x="233189" y="2426011"/>
                  </a:lnTo>
                  <a:lnTo>
                    <a:pt x="257065" y="2463861"/>
                  </a:lnTo>
                  <a:lnTo>
                    <a:pt x="281963" y="2500986"/>
                  </a:lnTo>
                  <a:lnTo>
                    <a:pt x="307863" y="2537365"/>
                  </a:lnTo>
                  <a:lnTo>
                    <a:pt x="334746" y="2572979"/>
                  </a:lnTo>
                  <a:lnTo>
                    <a:pt x="362592" y="2607808"/>
                  </a:lnTo>
                  <a:lnTo>
                    <a:pt x="391380" y="2641833"/>
                  </a:lnTo>
                  <a:lnTo>
                    <a:pt x="421092" y="2675033"/>
                  </a:lnTo>
                  <a:lnTo>
                    <a:pt x="451708" y="2707389"/>
                  </a:lnTo>
                  <a:lnTo>
                    <a:pt x="483207" y="2738882"/>
                  </a:lnTo>
                  <a:lnTo>
                    <a:pt x="515571" y="2769490"/>
                  </a:lnTo>
                  <a:lnTo>
                    <a:pt x="548779" y="2799196"/>
                  </a:lnTo>
                  <a:lnTo>
                    <a:pt x="582811" y="2827978"/>
                  </a:lnTo>
                  <a:lnTo>
                    <a:pt x="617648" y="2855817"/>
                  </a:lnTo>
                  <a:lnTo>
                    <a:pt x="653271" y="2882694"/>
                  </a:lnTo>
                  <a:lnTo>
                    <a:pt x="689658" y="2908589"/>
                  </a:lnTo>
                  <a:lnTo>
                    <a:pt x="726792" y="2933481"/>
                  </a:lnTo>
                  <a:lnTo>
                    <a:pt x="764651" y="2957352"/>
                  </a:lnTo>
                  <a:lnTo>
                    <a:pt x="803216" y="2980181"/>
                  </a:lnTo>
                  <a:lnTo>
                    <a:pt x="842468" y="3001949"/>
                  </a:lnTo>
                  <a:lnTo>
                    <a:pt x="882386" y="3022636"/>
                  </a:lnTo>
                  <a:lnTo>
                    <a:pt x="922951" y="3042222"/>
                  </a:lnTo>
                  <a:lnTo>
                    <a:pt x="964144" y="3060688"/>
                  </a:lnTo>
                  <a:lnTo>
                    <a:pt x="1005943" y="3078013"/>
                  </a:lnTo>
                  <a:lnTo>
                    <a:pt x="1048331" y="3094178"/>
                  </a:lnTo>
                  <a:lnTo>
                    <a:pt x="1091286" y="3109164"/>
                  </a:lnTo>
                  <a:lnTo>
                    <a:pt x="1134789" y="3122950"/>
                  </a:lnTo>
                  <a:lnTo>
                    <a:pt x="1178821" y="3135516"/>
                  </a:lnTo>
                  <a:lnTo>
                    <a:pt x="1223362" y="3146844"/>
                  </a:lnTo>
                  <a:lnTo>
                    <a:pt x="1268391" y="3156913"/>
                  </a:lnTo>
                  <a:lnTo>
                    <a:pt x="1313889" y="3165704"/>
                  </a:lnTo>
                  <a:lnTo>
                    <a:pt x="1359837" y="3173196"/>
                  </a:lnTo>
                  <a:lnTo>
                    <a:pt x="1406215" y="3179371"/>
                  </a:lnTo>
                  <a:lnTo>
                    <a:pt x="1453003" y="3184207"/>
                  </a:lnTo>
                  <a:lnTo>
                    <a:pt x="1500180" y="3187686"/>
                  </a:lnTo>
                  <a:lnTo>
                    <a:pt x="1547729" y="3189788"/>
                  </a:lnTo>
                  <a:lnTo>
                    <a:pt x="1595628" y="3190494"/>
                  </a:lnTo>
                  <a:lnTo>
                    <a:pt x="1595628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6047" y="2524887"/>
              <a:ext cx="1595755" cy="3190875"/>
            </a:xfrm>
            <a:custGeom>
              <a:avLst/>
              <a:gdLst/>
              <a:ahLst/>
              <a:cxnLst/>
              <a:rect l="l" t="t" r="r" b="b"/>
              <a:pathLst>
                <a:path w="1595755" h="3190875">
                  <a:moveTo>
                    <a:pt x="1595628" y="3190494"/>
                  </a:moveTo>
                  <a:lnTo>
                    <a:pt x="1547729" y="3189788"/>
                  </a:lnTo>
                  <a:lnTo>
                    <a:pt x="1500180" y="3187686"/>
                  </a:lnTo>
                  <a:lnTo>
                    <a:pt x="1453003" y="3184207"/>
                  </a:lnTo>
                  <a:lnTo>
                    <a:pt x="1406215" y="3179371"/>
                  </a:lnTo>
                  <a:lnTo>
                    <a:pt x="1359837" y="3173196"/>
                  </a:lnTo>
                  <a:lnTo>
                    <a:pt x="1313889" y="3165704"/>
                  </a:lnTo>
                  <a:lnTo>
                    <a:pt x="1268391" y="3156913"/>
                  </a:lnTo>
                  <a:lnTo>
                    <a:pt x="1223362" y="3146844"/>
                  </a:lnTo>
                  <a:lnTo>
                    <a:pt x="1178821" y="3135516"/>
                  </a:lnTo>
                  <a:lnTo>
                    <a:pt x="1134789" y="3122950"/>
                  </a:lnTo>
                  <a:lnTo>
                    <a:pt x="1091286" y="3109164"/>
                  </a:lnTo>
                  <a:lnTo>
                    <a:pt x="1048331" y="3094178"/>
                  </a:lnTo>
                  <a:lnTo>
                    <a:pt x="1005943" y="3078013"/>
                  </a:lnTo>
                  <a:lnTo>
                    <a:pt x="964144" y="3060688"/>
                  </a:lnTo>
                  <a:lnTo>
                    <a:pt x="922951" y="3042222"/>
                  </a:lnTo>
                  <a:lnTo>
                    <a:pt x="882386" y="3022636"/>
                  </a:lnTo>
                  <a:lnTo>
                    <a:pt x="842468" y="3001949"/>
                  </a:lnTo>
                  <a:lnTo>
                    <a:pt x="803216" y="2980181"/>
                  </a:lnTo>
                  <a:lnTo>
                    <a:pt x="764651" y="2957352"/>
                  </a:lnTo>
                  <a:lnTo>
                    <a:pt x="726792" y="2933481"/>
                  </a:lnTo>
                  <a:lnTo>
                    <a:pt x="689658" y="2908589"/>
                  </a:lnTo>
                  <a:lnTo>
                    <a:pt x="653271" y="2882694"/>
                  </a:lnTo>
                  <a:lnTo>
                    <a:pt x="617648" y="2855817"/>
                  </a:lnTo>
                  <a:lnTo>
                    <a:pt x="582811" y="2827978"/>
                  </a:lnTo>
                  <a:lnTo>
                    <a:pt x="548779" y="2799196"/>
                  </a:lnTo>
                  <a:lnTo>
                    <a:pt x="515571" y="2769490"/>
                  </a:lnTo>
                  <a:lnTo>
                    <a:pt x="483207" y="2738882"/>
                  </a:lnTo>
                  <a:lnTo>
                    <a:pt x="451708" y="2707389"/>
                  </a:lnTo>
                  <a:lnTo>
                    <a:pt x="421092" y="2675033"/>
                  </a:lnTo>
                  <a:lnTo>
                    <a:pt x="391380" y="2641833"/>
                  </a:lnTo>
                  <a:lnTo>
                    <a:pt x="362592" y="2607808"/>
                  </a:lnTo>
                  <a:lnTo>
                    <a:pt x="334746" y="2572979"/>
                  </a:lnTo>
                  <a:lnTo>
                    <a:pt x="307863" y="2537365"/>
                  </a:lnTo>
                  <a:lnTo>
                    <a:pt x="281963" y="2500986"/>
                  </a:lnTo>
                  <a:lnTo>
                    <a:pt x="257065" y="2463861"/>
                  </a:lnTo>
                  <a:lnTo>
                    <a:pt x="233189" y="2426011"/>
                  </a:lnTo>
                  <a:lnTo>
                    <a:pt x="210355" y="2387455"/>
                  </a:lnTo>
                  <a:lnTo>
                    <a:pt x="188583" y="2348213"/>
                  </a:lnTo>
                  <a:lnTo>
                    <a:pt x="167892" y="2308304"/>
                  </a:lnTo>
                  <a:lnTo>
                    <a:pt x="148301" y="2267749"/>
                  </a:lnTo>
                  <a:lnTo>
                    <a:pt x="129832" y="2226566"/>
                  </a:lnTo>
                  <a:lnTo>
                    <a:pt x="112503" y="2184777"/>
                  </a:lnTo>
                  <a:lnTo>
                    <a:pt x="96334" y="2142400"/>
                  </a:lnTo>
                  <a:lnTo>
                    <a:pt x="81346" y="2099456"/>
                  </a:lnTo>
                  <a:lnTo>
                    <a:pt x="67557" y="2055963"/>
                  </a:lnTo>
                  <a:lnTo>
                    <a:pt x="54988" y="2011943"/>
                  </a:lnTo>
                  <a:lnTo>
                    <a:pt x="43657" y="1967414"/>
                  </a:lnTo>
                  <a:lnTo>
                    <a:pt x="33586" y="1922396"/>
                  </a:lnTo>
                  <a:lnTo>
                    <a:pt x="24794" y="1876909"/>
                  </a:lnTo>
                  <a:lnTo>
                    <a:pt x="17300" y="1830973"/>
                  </a:lnTo>
                  <a:lnTo>
                    <a:pt x="11125" y="1784608"/>
                  </a:lnTo>
                  <a:lnTo>
                    <a:pt x="6287" y="1737833"/>
                  </a:lnTo>
                  <a:lnTo>
                    <a:pt x="2807" y="1690668"/>
                  </a:lnTo>
                  <a:lnTo>
                    <a:pt x="705" y="1643132"/>
                  </a:lnTo>
                  <a:lnTo>
                    <a:pt x="0" y="1595246"/>
                  </a:lnTo>
                  <a:lnTo>
                    <a:pt x="705" y="1547361"/>
                  </a:lnTo>
                  <a:lnTo>
                    <a:pt x="2807" y="1499825"/>
                  </a:lnTo>
                  <a:lnTo>
                    <a:pt x="6287" y="1452660"/>
                  </a:lnTo>
                  <a:lnTo>
                    <a:pt x="11125" y="1405885"/>
                  </a:lnTo>
                  <a:lnTo>
                    <a:pt x="17300" y="1359520"/>
                  </a:lnTo>
                  <a:lnTo>
                    <a:pt x="24794" y="1313584"/>
                  </a:lnTo>
                  <a:lnTo>
                    <a:pt x="33586" y="1268097"/>
                  </a:lnTo>
                  <a:lnTo>
                    <a:pt x="43657" y="1223079"/>
                  </a:lnTo>
                  <a:lnTo>
                    <a:pt x="54988" y="1178550"/>
                  </a:lnTo>
                  <a:lnTo>
                    <a:pt x="67557" y="1134530"/>
                  </a:lnTo>
                  <a:lnTo>
                    <a:pt x="81346" y="1091037"/>
                  </a:lnTo>
                  <a:lnTo>
                    <a:pt x="96334" y="1048093"/>
                  </a:lnTo>
                  <a:lnTo>
                    <a:pt x="112503" y="1005716"/>
                  </a:lnTo>
                  <a:lnTo>
                    <a:pt x="129832" y="963927"/>
                  </a:lnTo>
                  <a:lnTo>
                    <a:pt x="148301" y="922744"/>
                  </a:lnTo>
                  <a:lnTo>
                    <a:pt x="167892" y="882189"/>
                  </a:lnTo>
                  <a:lnTo>
                    <a:pt x="188583" y="842280"/>
                  </a:lnTo>
                  <a:lnTo>
                    <a:pt x="210355" y="803038"/>
                  </a:lnTo>
                  <a:lnTo>
                    <a:pt x="233189" y="764482"/>
                  </a:lnTo>
                  <a:lnTo>
                    <a:pt x="257065" y="726632"/>
                  </a:lnTo>
                  <a:lnTo>
                    <a:pt x="281963" y="689507"/>
                  </a:lnTo>
                  <a:lnTo>
                    <a:pt x="307863" y="653128"/>
                  </a:lnTo>
                  <a:lnTo>
                    <a:pt x="334746" y="617514"/>
                  </a:lnTo>
                  <a:lnTo>
                    <a:pt x="362592" y="582685"/>
                  </a:lnTo>
                  <a:lnTo>
                    <a:pt x="391380" y="548660"/>
                  </a:lnTo>
                  <a:lnTo>
                    <a:pt x="421092" y="515460"/>
                  </a:lnTo>
                  <a:lnTo>
                    <a:pt x="451708" y="483104"/>
                  </a:lnTo>
                  <a:lnTo>
                    <a:pt x="483207" y="451611"/>
                  </a:lnTo>
                  <a:lnTo>
                    <a:pt x="515571" y="421003"/>
                  </a:lnTo>
                  <a:lnTo>
                    <a:pt x="548779" y="391297"/>
                  </a:lnTo>
                  <a:lnTo>
                    <a:pt x="582811" y="362515"/>
                  </a:lnTo>
                  <a:lnTo>
                    <a:pt x="617648" y="334676"/>
                  </a:lnTo>
                  <a:lnTo>
                    <a:pt x="653271" y="307799"/>
                  </a:lnTo>
                  <a:lnTo>
                    <a:pt x="689658" y="281904"/>
                  </a:lnTo>
                  <a:lnTo>
                    <a:pt x="726792" y="257012"/>
                  </a:lnTo>
                  <a:lnTo>
                    <a:pt x="764651" y="233141"/>
                  </a:lnTo>
                  <a:lnTo>
                    <a:pt x="803216" y="210312"/>
                  </a:lnTo>
                  <a:lnTo>
                    <a:pt x="842468" y="188544"/>
                  </a:lnTo>
                  <a:lnTo>
                    <a:pt x="882386" y="167857"/>
                  </a:lnTo>
                  <a:lnTo>
                    <a:pt x="922951" y="148271"/>
                  </a:lnTo>
                  <a:lnTo>
                    <a:pt x="964144" y="129805"/>
                  </a:lnTo>
                  <a:lnTo>
                    <a:pt x="1005943" y="112480"/>
                  </a:lnTo>
                  <a:lnTo>
                    <a:pt x="1048331" y="96315"/>
                  </a:lnTo>
                  <a:lnTo>
                    <a:pt x="1091286" y="81329"/>
                  </a:lnTo>
                  <a:lnTo>
                    <a:pt x="1134789" y="67543"/>
                  </a:lnTo>
                  <a:lnTo>
                    <a:pt x="1178821" y="54977"/>
                  </a:lnTo>
                  <a:lnTo>
                    <a:pt x="1223362" y="43649"/>
                  </a:lnTo>
                  <a:lnTo>
                    <a:pt x="1268391" y="33580"/>
                  </a:lnTo>
                  <a:lnTo>
                    <a:pt x="1313889" y="24789"/>
                  </a:lnTo>
                  <a:lnTo>
                    <a:pt x="1359837" y="17297"/>
                  </a:lnTo>
                  <a:lnTo>
                    <a:pt x="1406215" y="11122"/>
                  </a:lnTo>
                  <a:lnTo>
                    <a:pt x="1453003" y="6286"/>
                  </a:lnTo>
                  <a:lnTo>
                    <a:pt x="1500180" y="2807"/>
                  </a:lnTo>
                  <a:lnTo>
                    <a:pt x="1547729" y="705"/>
                  </a:lnTo>
                  <a:lnTo>
                    <a:pt x="1595628" y="0"/>
                  </a:lnTo>
                  <a:lnTo>
                    <a:pt x="1595628" y="1595246"/>
                  </a:lnTo>
                  <a:lnTo>
                    <a:pt x="1595628" y="319049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5147" y="3202305"/>
              <a:ext cx="1176655" cy="2353945"/>
            </a:xfrm>
            <a:custGeom>
              <a:avLst/>
              <a:gdLst/>
              <a:ahLst/>
              <a:cxnLst/>
              <a:rect l="l" t="t" r="r" b="b"/>
              <a:pathLst>
                <a:path w="1176655" h="2353945">
                  <a:moveTo>
                    <a:pt x="1176528" y="0"/>
                  </a:moveTo>
                  <a:lnTo>
                    <a:pt x="1128034" y="981"/>
                  </a:lnTo>
                  <a:lnTo>
                    <a:pt x="1080040" y="3901"/>
                  </a:lnTo>
                  <a:lnTo>
                    <a:pt x="1032583" y="8721"/>
                  </a:lnTo>
                  <a:lnTo>
                    <a:pt x="985700" y="15403"/>
                  </a:lnTo>
                  <a:lnTo>
                    <a:pt x="939429" y="23910"/>
                  </a:lnTo>
                  <a:lnTo>
                    <a:pt x="893809" y="34204"/>
                  </a:lnTo>
                  <a:lnTo>
                    <a:pt x="848877" y="46246"/>
                  </a:lnTo>
                  <a:lnTo>
                    <a:pt x="804672" y="59999"/>
                  </a:lnTo>
                  <a:lnTo>
                    <a:pt x="761230" y="75426"/>
                  </a:lnTo>
                  <a:lnTo>
                    <a:pt x="718589" y="92487"/>
                  </a:lnTo>
                  <a:lnTo>
                    <a:pt x="676789" y="111146"/>
                  </a:lnTo>
                  <a:lnTo>
                    <a:pt x="635866" y="131364"/>
                  </a:lnTo>
                  <a:lnTo>
                    <a:pt x="595858" y="153104"/>
                  </a:lnTo>
                  <a:lnTo>
                    <a:pt x="556803" y="176328"/>
                  </a:lnTo>
                  <a:lnTo>
                    <a:pt x="518740" y="200998"/>
                  </a:lnTo>
                  <a:lnTo>
                    <a:pt x="481705" y="227075"/>
                  </a:lnTo>
                  <a:lnTo>
                    <a:pt x="445738" y="254523"/>
                  </a:lnTo>
                  <a:lnTo>
                    <a:pt x="410875" y="283303"/>
                  </a:lnTo>
                  <a:lnTo>
                    <a:pt x="377154" y="313378"/>
                  </a:lnTo>
                  <a:lnTo>
                    <a:pt x="344614" y="344709"/>
                  </a:lnTo>
                  <a:lnTo>
                    <a:pt x="313292" y="377259"/>
                  </a:lnTo>
                  <a:lnTo>
                    <a:pt x="283226" y="410990"/>
                  </a:lnTo>
                  <a:lnTo>
                    <a:pt x="254455" y="445864"/>
                  </a:lnTo>
                  <a:lnTo>
                    <a:pt x="227015" y="481843"/>
                  </a:lnTo>
                  <a:lnTo>
                    <a:pt x="200944" y="518889"/>
                  </a:lnTo>
                  <a:lnTo>
                    <a:pt x="176282" y="556964"/>
                  </a:lnTo>
                  <a:lnTo>
                    <a:pt x="153064" y="596031"/>
                  </a:lnTo>
                  <a:lnTo>
                    <a:pt x="131330" y="636052"/>
                  </a:lnTo>
                  <a:lnTo>
                    <a:pt x="111117" y="676989"/>
                  </a:lnTo>
                  <a:lnTo>
                    <a:pt x="92463" y="718804"/>
                  </a:lnTo>
                  <a:lnTo>
                    <a:pt x="75406" y="761458"/>
                  </a:lnTo>
                  <a:lnTo>
                    <a:pt x="59984" y="804915"/>
                  </a:lnTo>
                  <a:lnTo>
                    <a:pt x="46234" y="849137"/>
                  </a:lnTo>
                  <a:lnTo>
                    <a:pt x="34195" y="894085"/>
                  </a:lnTo>
                  <a:lnTo>
                    <a:pt x="23904" y="939721"/>
                  </a:lnTo>
                  <a:lnTo>
                    <a:pt x="15400" y="986008"/>
                  </a:lnTo>
                  <a:lnTo>
                    <a:pt x="8719" y="1032909"/>
                  </a:lnTo>
                  <a:lnTo>
                    <a:pt x="3900" y="1080384"/>
                  </a:lnTo>
                  <a:lnTo>
                    <a:pt x="981" y="1128397"/>
                  </a:lnTo>
                  <a:lnTo>
                    <a:pt x="0" y="1176909"/>
                  </a:lnTo>
                  <a:lnTo>
                    <a:pt x="981" y="1225420"/>
                  </a:lnTo>
                  <a:lnTo>
                    <a:pt x="3900" y="1273433"/>
                  </a:lnTo>
                  <a:lnTo>
                    <a:pt x="8719" y="1320908"/>
                  </a:lnTo>
                  <a:lnTo>
                    <a:pt x="15400" y="1367809"/>
                  </a:lnTo>
                  <a:lnTo>
                    <a:pt x="23904" y="1414096"/>
                  </a:lnTo>
                  <a:lnTo>
                    <a:pt x="34195" y="1459732"/>
                  </a:lnTo>
                  <a:lnTo>
                    <a:pt x="46234" y="1504680"/>
                  </a:lnTo>
                  <a:lnTo>
                    <a:pt x="59984" y="1548902"/>
                  </a:lnTo>
                  <a:lnTo>
                    <a:pt x="75406" y="1592359"/>
                  </a:lnTo>
                  <a:lnTo>
                    <a:pt x="92463" y="1635013"/>
                  </a:lnTo>
                  <a:lnTo>
                    <a:pt x="111117" y="1676828"/>
                  </a:lnTo>
                  <a:lnTo>
                    <a:pt x="131330" y="1717765"/>
                  </a:lnTo>
                  <a:lnTo>
                    <a:pt x="153064" y="1757786"/>
                  </a:lnTo>
                  <a:lnTo>
                    <a:pt x="176282" y="1796853"/>
                  </a:lnTo>
                  <a:lnTo>
                    <a:pt x="200944" y="1834928"/>
                  </a:lnTo>
                  <a:lnTo>
                    <a:pt x="227015" y="1871974"/>
                  </a:lnTo>
                  <a:lnTo>
                    <a:pt x="254455" y="1907953"/>
                  </a:lnTo>
                  <a:lnTo>
                    <a:pt x="283226" y="1942827"/>
                  </a:lnTo>
                  <a:lnTo>
                    <a:pt x="313292" y="1976558"/>
                  </a:lnTo>
                  <a:lnTo>
                    <a:pt x="344614" y="2009108"/>
                  </a:lnTo>
                  <a:lnTo>
                    <a:pt x="377154" y="2040439"/>
                  </a:lnTo>
                  <a:lnTo>
                    <a:pt x="410875" y="2070514"/>
                  </a:lnTo>
                  <a:lnTo>
                    <a:pt x="445738" y="2099294"/>
                  </a:lnTo>
                  <a:lnTo>
                    <a:pt x="481705" y="2126742"/>
                  </a:lnTo>
                  <a:lnTo>
                    <a:pt x="518740" y="2152819"/>
                  </a:lnTo>
                  <a:lnTo>
                    <a:pt x="556803" y="2177489"/>
                  </a:lnTo>
                  <a:lnTo>
                    <a:pt x="595858" y="2200713"/>
                  </a:lnTo>
                  <a:lnTo>
                    <a:pt x="635866" y="2222453"/>
                  </a:lnTo>
                  <a:lnTo>
                    <a:pt x="676789" y="2242671"/>
                  </a:lnTo>
                  <a:lnTo>
                    <a:pt x="718589" y="2261330"/>
                  </a:lnTo>
                  <a:lnTo>
                    <a:pt x="761230" y="2278391"/>
                  </a:lnTo>
                  <a:lnTo>
                    <a:pt x="804672" y="2293818"/>
                  </a:lnTo>
                  <a:lnTo>
                    <a:pt x="848877" y="2307571"/>
                  </a:lnTo>
                  <a:lnTo>
                    <a:pt x="893809" y="2319613"/>
                  </a:lnTo>
                  <a:lnTo>
                    <a:pt x="939429" y="2329907"/>
                  </a:lnTo>
                  <a:lnTo>
                    <a:pt x="985700" y="2338414"/>
                  </a:lnTo>
                  <a:lnTo>
                    <a:pt x="1032583" y="2345096"/>
                  </a:lnTo>
                  <a:lnTo>
                    <a:pt x="1080040" y="2349916"/>
                  </a:lnTo>
                  <a:lnTo>
                    <a:pt x="1128034" y="2352836"/>
                  </a:lnTo>
                  <a:lnTo>
                    <a:pt x="1176528" y="2353818"/>
                  </a:lnTo>
                  <a:lnTo>
                    <a:pt x="1176528" y="0"/>
                  </a:lnTo>
                  <a:close/>
                </a:path>
              </a:pathLst>
            </a:custGeom>
            <a:solidFill>
              <a:srgbClr val="46D7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5147" y="3202305"/>
              <a:ext cx="1176655" cy="2353945"/>
            </a:xfrm>
            <a:custGeom>
              <a:avLst/>
              <a:gdLst/>
              <a:ahLst/>
              <a:cxnLst/>
              <a:rect l="l" t="t" r="r" b="b"/>
              <a:pathLst>
                <a:path w="1176655" h="2353945">
                  <a:moveTo>
                    <a:pt x="1176528" y="2353818"/>
                  </a:moveTo>
                  <a:lnTo>
                    <a:pt x="1128034" y="2352836"/>
                  </a:lnTo>
                  <a:lnTo>
                    <a:pt x="1080040" y="2349916"/>
                  </a:lnTo>
                  <a:lnTo>
                    <a:pt x="1032583" y="2345096"/>
                  </a:lnTo>
                  <a:lnTo>
                    <a:pt x="985700" y="2338414"/>
                  </a:lnTo>
                  <a:lnTo>
                    <a:pt x="939429" y="2329907"/>
                  </a:lnTo>
                  <a:lnTo>
                    <a:pt x="893809" y="2319613"/>
                  </a:lnTo>
                  <a:lnTo>
                    <a:pt x="848877" y="2307571"/>
                  </a:lnTo>
                  <a:lnTo>
                    <a:pt x="804672" y="2293818"/>
                  </a:lnTo>
                  <a:lnTo>
                    <a:pt x="761230" y="2278391"/>
                  </a:lnTo>
                  <a:lnTo>
                    <a:pt x="718589" y="2261330"/>
                  </a:lnTo>
                  <a:lnTo>
                    <a:pt x="676789" y="2242671"/>
                  </a:lnTo>
                  <a:lnTo>
                    <a:pt x="635866" y="2222453"/>
                  </a:lnTo>
                  <a:lnTo>
                    <a:pt x="595858" y="2200713"/>
                  </a:lnTo>
                  <a:lnTo>
                    <a:pt x="556803" y="2177489"/>
                  </a:lnTo>
                  <a:lnTo>
                    <a:pt x="518740" y="2152819"/>
                  </a:lnTo>
                  <a:lnTo>
                    <a:pt x="481705" y="2126742"/>
                  </a:lnTo>
                  <a:lnTo>
                    <a:pt x="445738" y="2099294"/>
                  </a:lnTo>
                  <a:lnTo>
                    <a:pt x="410875" y="2070514"/>
                  </a:lnTo>
                  <a:lnTo>
                    <a:pt x="377154" y="2040439"/>
                  </a:lnTo>
                  <a:lnTo>
                    <a:pt x="344614" y="2009108"/>
                  </a:lnTo>
                  <a:lnTo>
                    <a:pt x="313292" y="1976558"/>
                  </a:lnTo>
                  <a:lnTo>
                    <a:pt x="283226" y="1942827"/>
                  </a:lnTo>
                  <a:lnTo>
                    <a:pt x="254455" y="1907953"/>
                  </a:lnTo>
                  <a:lnTo>
                    <a:pt x="227015" y="1871974"/>
                  </a:lnTo>
                  <a:lnTo>
                    <a:pt x="200944" y="1834928"/>
                  </a:lnTo>
                  <a:lnTo>
                    <a:pt x="176282" y="1796853"/>
                  </a:lnTo>
                  <a:lnTo>
                    <a:pt x="153064" y="1757786"/>
                  </a:lnTo>
                  <a:lnTo>
                    <a:pt x="131330" y="1717765"/>
                  </a:lnTo>
                  <a:lnTo>
                    <a:pt x="111117" y="1676828"/>
                  </a:lnTo>
                  <a:lnTo>
                    <a:pt x="92463" y="1635013"/>
                  </a:lnTo>
                  <a:lnTo>
                    <a:pt x="75406" y="1592359"/>
                  </a:lnTo>
                  <a:lnTo>
                    <a:pt x="59984" y="1548902"/>
                  </a:lnTo>
                  <a:lnTo>
                    <a:pt x="46234" y="1504680"/>
                  </a:lnTo>
                  <a:lnTo>
                    <a:pt x="34195" y="1459732"/>
                  </a:lnTo>
                  <a:lnTo>
                    <a:pt x="23904" y="1414096"/>
                  </a:lnTo>
                  <a:lnTo>
                    <a:pt x="15400" y="1367809"/>
                  </a:lnTo>
                  <a:lnTo>
                    <a:pt x="8719" y="1320908"/>
                  </a:lnTo>
                  <a:lnTo>
                    <a:pt x="3900" y="1273433"/>
                  </a:lnTo>
                  <a:lnTo>
                    <a:pt x="981" y="1225420"/>
                  </a:lnTo>
                  <a:lnTo>
                    <a:pt x="0" y="1176909"/>
                  </a:lnTo>
                  <a:lnTo>
                    <a:pt x="981" y="1128397"/>
                  </a:lnTo>
                  <a:lnTo>
                    <a:pt x="3900" y="1080384"/>
                  </a:lnTo>
                  <a:lnTo>
                    <a:pt x="8719" y="1032909"/>
                  </a:lnTo>
                  <a:lnTo>
                    <a:pt x="15400" y="986008"/>
                  </a:lnTo>
                  <a:lnTo>
                    <a:pt x="23904" y="939721"/>
                  </a:lnTo>
                  <a:lnTo>
                    <a:pt x="34195" y="894085"/>
                  </a:lnTo>
                  <a:lnTo>
                    <a:pt x="46234" y="849137"/>
                  </a:lnTo>
                  <a:lnTo>
                    <a:pt x="59984" y="804915"/>
                  </a:lnTo>
                  <a:lnTo>
                    <a:pt x="75406" y="761458"/>
                  </a:lnTo>
                  <a:lnTo>
                    <a:pt x="92463" y="718804"/>
                  </a:lnTo>
                  <a:lnTo>
                    <a:pt x="111117" y="676989"/>
                  </a:lnTo>
                  <a:lnTo>
                    <a:pt x="131330" y="636052"/>
                  </a:lnTo>
                  <a:lnTo>
                    <a:pt x="153064" y="596031"/>
                  </a:lnTo>
                  <a:lnTo>
                    <a:pt x="176282" y="556964"/>
                  </a:lnTo>
                  <a:lnTo>
                    <a:pt x="200944" y="518889"/>
                  </a:lnTo>
                  <a:lnTo>
                    <a:pt x="227015" y="481843"/>
                  </a:lnTo>
                  <a:lnTo>
                    <a:pt x="254455" y="445864"/>
                  </a:lnTo>
                  <a:lnTo>
                    <a:pt x="283226" y="410990"/>
                  </a:lnTo>
                  <a:lnTo>
                    <a:pt x="313292" y="377259"/>
                  </a:lnTo>
                  <a:lnTo>
                    <a:pt x="344614" y="344709"/>
                  </a:lnTo>
                  <a:lnTo>
                    <a:pt x="377154" y="313378"/>
                  </a:lnTo>
                  <a:lnTo>
                    <a:pt x="410875" y="283303"/>
                  </a:lnTo>
                  <a:lnTo>
                    <a:pt x="445738" y="254523"/>
                  </a:lnTo>
                  <a:lnTo>
                    <a:pt x="481705" y="227075"/>
                  </a:lnTo>
                  <a:lnTo>
                    <a:pt x="518740" y="200998"/>
                  </a:lnTo>
                  <a:lnTo>
                    <a:pt x="556803" y="176328"/>
                  </a:lnTo>
                  <a:lnTo>
                    <a:pt x="595858" y="153104"/>
                  </a:lnTo>
                  <a:lnTo>
                    <a:pt x="635866" y="131364"/>
                  </a:lnTo>
                  <a:lnTo>
                    <a:pt x="676789" y="111146"/>
                  </a:lnTo>
                  <a:lnTo>
                    <a:pt x="718589" y="92487"/>
                  </a:lnTo>
                  <a:lnTo>
                    <a:pt x="761230" y="75426"/>
                  </a:lnTo>
                  <a:lnTo>
                    <a:pt x="804672" y="59999"/>
                  </a:lnTo>
                  <a:lnTo>
                    <a:pt x="848877" y="46246"/>
                  </a:lnTo>
                  <a:lnTo>
                    <a:pt x="893809" y="34204"/>
                  </a:lnTo>
                  <a:lnTo>
                    <a:pt x="939429" y="23910"/>
                  </a:lnTo>
                  <a:lnTo>
                    <a:pt x="985700" y="15403"/>
                  </a:lnTo>
                  <a:lnTo>
                    <a:pt x="1032583" y="8721"/>
                  </a:lnTo>
                  <a:lnTo>
                    <a:pt x="1080040" y="3901"/>
                  </a:lnTo>
                  <a:lnTo>
                    <a:pt x="1128034" y="981"/>
                  </a:lnTo>
                  <a:lnTo>
                    <a:pt x="1176528" y="0"/>
                  </a:lnTo>
                  <a:lnTo>
                    <a:pt x="1176528" y="1176909"/>
                  </a:lnTo>
                  <a:lnTo>
                    <a:pt x="1176528" y="2353818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4246" y="3880485"/>
              <a:ext cx="758190" cy="1515745"/>
            </a:xfrm>
            <a:custGeom>
              <a:avLst/>
              <a:gdLst/>
              <a:ahLst/>
              <a:cxnLst/>
              <a:rect l="l" t="t" r="r" b="b"/>
              <a:pathLst>
                <a:path w="758189" h="1515745">
                  <a:moveTo>
                    <a:pt x="757809" y="0"/>
                  </a:moveTo>
                  <a:lnTo>
                    <a:pt x="709890" y="1491"/>
                  </a:lnTo>
                  <a:lnTo>
                    <a:pt x="662763" y="5905"/>
                  </a:lnTo>
                  <a:lnTo>
                    <a:pt x="616515" y="13153"/>
                  </a:lnTo>
                  <a:lnTo>
                    <a:pt x="571236" y="23147"/>
                  </a:lnTo>
                  <a:lnTo>
                    <a:pt x="527015" y="35798"/>
                  </a:lnTo>
                  <a:lnTo>
                    <a:pt x="483941" y="51016"/>
                  </a:lnTo>
                  <a:lnTo>
                    <a:pt x="442101" y="68713"/>
                  </a:lnTo>
                  <a:lnTo>
                    <a:pt x="401586" y="88801"/>
                  </a:lnTo>
                  <a:lnTo>
                    <a:pt x="362483" y="111189"/>
                  </a:lnTo>
                  <a:lnTo>
                    <a:pt x="324883" y="135790"/>
                  </a:lnTo>
                  <a:lnTo>
                    <a:pt x="288873" y="162515"/>
                  </a:lnTo>
                  <a:lnTo>
                    <a:pt x="254542" y="191274"/>
                  </a:lnTo>
                  <a:lnTo>
                    <a:pt x="221980" y="221980"/>
                  </a:lnTo>
                  <a:lnTo>
                    <a:pt x="191274" y="254542"/>
                  </a:lnTo>
                  <a:lnTo>
                    <a:pt x="162515" y="288873"/>
                  </a:lnTo>
                  <a:lnTo>
                    <a:pt x="135790" y="324883"/>
                  </a:lnTo>
                  <a:lnTo>
                    <a:pt x="111189" y="362483"/>
                  </a:lnTo>
                  <a:lnTo>
                    <a:pt x="88801" y="401586"/>
                  </a:lnTo>
                  <a:lnTo>
                    <a:pt x="68713" y="442101"/>
                  </a:lnTo>
                  <a:lnTo>
                    <a:pt x="51016" y="483941"/>
                  </a:lnTo>
                  <a:lnTo>
                    <a:pt x="35798" y="527015"/>
                  </a:lnTo>
                  <a:lnTo>
                    <a:pt x="23147" y="571236"/>
                  </a:lnTo>
                  <a:lnTo>
                    <a:pt x="13153" y="616515"/>
                  </a:lnTo>
                  <a:lnTo>
                    <a:pt x="5905" y="662763"/>
                  </a:lnTo>
                  <a:lnTo>
                    <a:pt x="1491" y="709890"/>
                  </a:lnTo>
                  <a:lnTo>
                    <a:pt x="0" y="757808"/>
                  </a:lnTo>
                  <a:lnTo>
                    <a:pt x="1491" y="805727"/>
                  </a:lnTo>
                  <a:lnTo>
                    <a:pt x="5905" y="852854"/>
                  </a:lnTo>
                  <a:lnTo>
                    <a:pt x="13153" y="899102"/>
                  </a:lnTo>
                  <a:lnTo>
                    <a:pt x="23147" y="944381"/>
                  </a:lnTo>
                  <a:lnTo>
                    <a:pt x="35798" y="988602"/>
                  </a:lnTo>
                  <a:lnTo>
                    <a:pt x="51016" y="1031676"/>
                  </a:lnTo>
                  <a:lnTo>
                    <a:pt x="68713" y="1073516"/>
                  </a:lnTo>
                  <a:lnTo>
                    <a:pt x="88801" y="1114031"/>
                  </a:lnTo>
                  <a:lnTo>
                    <a:pt x="111189" y="1153134"/>
                  </a:lnTo>
                  <a:lnTo>
                    <a:pt x="135790" y="1190734"/>
                  </a:lnTo>
                  <a:lnTo>
                    <a:pt x="162515" y="1226744"/>
                  </a:lnTo>
                  <a:lnTo>
                    <a:pt x="191274" y="1261075"/>
                  </a:lnTo>
                  <a:lnTo>
                    <a:pt x="221980" y="1293637"/>
                  </a:lnTo>
                  <a:lnTo>
                    <a:pt x="254542" y="1324343"/>
                  </a:lnTo>
                  <a:lnTo>
                    <a:pt x="288873" y="1353102"/>
                  </a:lnTo>
                  <a:lnTo>
                    <a:pt x="324883" y="1379827"/>
                  </a:lnTo>
                  <a:lnTo>
                    <a:pt x="362483" y="1404428"/>
                  </a:lnTo>
                  <a:lnTo>
                    <a:pt x="401586" y="1426816"/>
                  </a:lnTo>
                  <a:lnTo>
                    <a:pt x="442101" y="1446904"/>
                  </a:lnTo>
                  <a:lnTo>
                    <a:pt x="483941" y="1464601"/>
                  </a:lnTo>
                  <a:lnTo>
                    <a:pt x="527015" y="1479819"/>
                  </a:lnTo>
                  <a:lnTo>
                    <a:pt x="571236" y="1492470"/>
                  </a:lnTo>
                  <a:lnTo>
                    <a:pt x="616515" y="1502464"/>
                  </a:lnTo>
                  <a:lnTo>
                    <a:pt x="662763" y="1509712"/>
                  </a:lnTo>
                  <a:lnTo>
                    <a:pt x="709890" y="1514126"/>
                  </a:lnTo>
                  <a:lnTo>
                    <a:pt x="757809" y="1515617"/>
                  </a:lnTo>
                  <a:lnTo>
                    <a:pt x="757809" y="0"/>
                  </a:lnTo>
                  <a:close/>
                </a:path>
              </a:pathLst>
            </a:custGeom>
            <a:solidFill>
              <a:srgbClr val="ACE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4246" y="3880485"/>
              <a:ext cx="758190" cy="1515745"/>
            </a:xfrm>
            <a:custGeom>
              <a:avLst/>
              <a:gdLst/>
              <a:ahLst/>
              <a:cxnLst/>
              <a:rect l="l" t="t" r="r" b="b"/>
              <a:pathLst>
                <a:path w="758189" h="1515745">
                  <a:moveTo>
                    <a:pt x="757809" y="1515617"/>
                  </a:moveTo>
                  <a:lnTo>
                    <a:pt x="709890" y="1514126"/>
                  </a:lnTo>
                  <a:lnTo>
                    <a:pt x="662763" y="1509712"/>
                  </a:lnTo>
                  <a:lnTo>
                    <a:pt x="616515" y="1502464"/>
                  </a:lnTo>
                  <a:lnTo>
                    <a:pt x="571236" y="1492470"/>
                  </a:lnTo>
                  <a:lnTo>
                    <a:pt x="527015" y="1479819"/>
                  </a:lnTo>
                  <a:lnTo>
                    <a:pt x="483941" y="1464601"/>
                  </a:lnTo>
                  <a:lnTo>
                    <a:pt x="442101" y="1446904"/>
                  </a:lnTo>
                  <a:lnTo>
                    <a:pt x="401586" y="1426816"/>
                  </a:lnTo>
                  <a:lnTo>
                    <a:pt x="362483" y="1404428"/>
                  </a:lnTo>
                  <a:lnTo>
                    <a:pt x="324883" y="1379827"/>
                  </a:lnTo>
                  <a:lnTo>
                    <a:pt x="288873" y="1353102"/>
                  </a:lnTo>
                  <a:lnTo>
                    <a:pt x="254542" y="1324343"/>
                  </a:lnTo>
                  <a:lnTo>
                    <a:pt x="221980" y="1293637"/>
                  </a:lnTo>
                  <a:lnTo>
                    <a:pt x="191274" y="1261075"/>
                  </a:lnTo>
                  <a:lnTo>
                    <a:pt x="162515" y="1226744"/>
                  </a:lnTo>
                  <a:lnTo>
                    <a:pt x="135790" y="1190734"/>
                  </a:lnTo>
                  <a:lnTo>
                    <a:pt x="111189" y="1153134"/>
                  </a:lnTo>
                  <a:lnTo>
                    <a:pt x="88801" y="1114031"/>
                  </a:lnTo>
                  <a:lnTo>
                    <a:pt x="68713" y="1073516"/>
                  </a:lnTo>
                  <a:lnTo>
                    <a:pt x="51016" y="1031676"/>
                  </a:lnTo>
                  <a:lnTo>
                    <a:pt x="35798" y="988602"/>
                  </a:lnTo>
                  <a:lnTo>
                    <a:pt x="23147" y="944381"/>
                  </a:lnTo>
                  <a:lnTo>
                    <a:pt x="13153" y="899102"/>
                  </a:lnTo>
                  <a:lnTo>
                    <a:pt x="5905" y="852854"/>
                  </a:lnTo>
                  <a:lnTo>
                    <a:pt x="1491" y="805727"/>
                  </a:lnTo>
                  <a:lnTo>
                    <a:pt x="0" y="757808"/>
                  </a:lnTo>
                  <a:lnTo>
                    <a:pt x="1491" y="709890"/>
                  </a:lnTo>
                  <a:lnTo>
                    <a:pt x="5905" y="662763"/>
                  </a:lnTo>
                  <a:lnTo>
                    <a:pt x="13153" y="616515"/>
                  </a:lnTo>
                  <a:lnTo>
                    <a:pt x="23147" y="571236"/>
                  </a:lnTo>
                  <a:lnTo>
                    <a:pt x="35798" y="527015"/>
                  </a:lnTo>
                  <a:lnTo>
                    <a:pt x="51016" y="483941"/>
                  </a:lnTo>
                  <a:lnTo>
                    <a:pt x="68713" y="442101"/>
                  </a:lnTo>
                  <a:lnTo>
                    <a:pt x="88801" y="401586"/>
                  </a:lnTo>
                  <a:lnTo>
                    <a:pt x="111189" y="362483"/>
                  </a:lnTo>
                  <a:lnTo>
                    <a:pt x="135790" y="324883"/>
                  </a:lnTo>
                  <a:lnTo>
                    <a:pt x="162515" y="288873"/>
                  </a:lnTo>
                  <a:lnTo>
                    <a:pt x="191274" y="254542"/>
                  </a:lnTo>
                  <a:lnTo>
                    <a:pt x="221980" y="221980"/>
                  </a:lnTo>
                  <a:lnTo>
                    <a:pt x="254542" y="191274"/>
                  </a:lnTo>
                  <a:lnTo>
                    <a:pt x="288873" y="162515"/>
                  </a:lnTo>
                  <a:lnTo>
                    <a:pt x="324883" y="135790"/>
                  </a:lnTo>
                  <a:lnTo>
                    <a:pt x="362483" y="111189"/>
                  </a:lnTo>
                  <a:lnTo>
                    <a:pt x="401586" y="88801"/>
                  </a:lnTo>
                  <a:lnTo>
                    <a:pt x="442101" y="68713"/>
                  </a:lnTo>
                  <a:lnTo>
                    <a:pt x="483941" y="51016"/>
                  </a:lnTo>
                  <a:lnTo>
                    <a:pt x="527015" y="35798"/>
                  </a:lnTo>
                  <a:lnTo>
                    <a:pt x="571236" y="23147"/>
                  </a:lnTo>
                  <a:lnTo>
                    <a:pt x="616515" y="13153"/>
                  </a:lnTo>
                  <a:lnTo>
                    <a:pt x="662763" y="5905"/>
                  </a:lnTo>
                  <a:lnTo>
                    <a:pt x="709890" y="1491"/>
                  </a:lnTo>
                  <a:lnTo>
                    <a:pt x="757809" y="0"/>
                  </a:lnTo>
                  <a:lnTo>
                    <a:pt x="757809" y="757808"/>
                  </a:lnTo>
                  <a:lnTo>
                    <a:pt x="757809" y="1515617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32585" y="4558665"/>
              <a:ext cx="339090" cy="678180"/>
            </a:xfrm>
            <a:custGeom>
              <a:avLst/>
              <a:gdLst/>
              <a:ahLst/>
              <a:cxnLst/>
              <a:rect l="l" t="t" r="r" b="b"/>
              <a:pathLst>
                <a:path w="339089" h="678179">
                  <a:moveTo>
                    <a:pt x="339089" y="0"/>
                  </a:moveTo>
                  <a:lnTo>
                    <a:pt x="293066" y="3094"/>
                  </a:lnTo>
                  <a:lnTo>
                    <a:pt x="248928" y="12109"/>
                  </a:lnTo>
                  <a:lnTo>
                    <a:pt x="207079" y="26640"/>
                  </a:lnTo>
                  <a:lnTo>
                    <a:pt x="167922" y="46284"/>
                  </a:lnTo>
                  <a:lnTo>
                    <a:pt x="131860" y="70638"/>
                  </a:lnTo>
                  <a:lnTo>
                    <a:pt x="99298" y="99298"/>
                  </a:lnTo>
                  <a:lnTo>
                    <a:pt x="70638" y="131860"/>
                  </a:lnTo>
                  <a:lnTo>
                    <a:pt x="46284" y="167922"/>
                  </a:lnTo>
                  <a:lnTo>
                    <a:pt x="26640" y="207079"/>
                  </a:lnTo>
                  <a:lnTo>
                    <a:pt x="12109" y="248928"/>
                  </a:lnTo>
                  <a:lnTo>
                    <a:pt x="3094" y="293066"/>
                  </a:lnTo>
                  <a:lnTo>
                    <a:pt x="0" y="339090"/>
                  </a:lnTo>
                  <a:lnTo>
                    <a:pt x="3094" y="385113"/>
                  </a:lnTo>
                  <a:lnTo>
                    <a:pt x="12109" y="429251"/>
                  </a:lnTo>
                  <a:lnTo>
                    <a:pt x="26640" y="471100"/>
                  </a:lnTo>
                  <a:lnTo>
                    <a:pt x="46284" y="510257"/>
                  </a:lnTo>
                  <a:lnTo>
                    <a:pt x="70638" y="546319"/>
                  </a:lnTo>
                  <a:lnTo>
                    <a:pt x="99298" y="578881"/>
                  </a:lnTo>
                  <a:lnTo>
                    <a:pt x="131860" y="607541"/>
                  </a:lnTo>
                  <a:lnTo>
                    <a:pt x="167922" y="631895"/>
                  </a:lnTo>
                  <a:lnTo>
                    <a:pt x="207079" y="651539"/>
                  </a:lnTo>
                  <a:lnTo>
                    <a:pt x="248928" y="666070"/>
                  </a:lnTo>
                  <a:lnTo>
                    <a:pt x="293066" y="675085"/>
                  </a:lnTo>
                  <a:lnTo>
                    <a:pt x="339089" y="678180"/>
                  </a:lnTo>
                  <a:lnTo>
                    <a:pt x="339089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32585" y="4558665"/>
              <a:ext cx="339090" cy="678180"/>
            </a:xfrm>
            <a:custGeom>
              <a:avLst/>
              <a:gdLst/>
              <a:ahLst/>
              <a:cxnLst/>
              <a:rect l="l" t="t" r="r" b="b"/>
              <a:pathLst>
                <a:path w="339089" h="678179">
                  <a:moveTo>
                    <a:pt x="339089" y="678180"/>
                  </a:moveTo>
                  <a:lnTo>
                    <a:pt x="293066" y="675085"/>
                  </a:lnTo>
                  <a:lnTo>
                    <a:pt x="248928" y="666070"/>
                  </a:lnTo>
                  <a:lnTo>
                    <a:pt x="207079" y="651539"/>
                  </a:lnTo>
                  <a:lnTo>
                    <a:pt x="167922" y="631895"/>
                  </a:lnTo>
                  <a:lnTo>
                    <a:pt x="131860" y="607541"/>
                  </a:lnTo>
                  <a:lnTo>
                    <a:pt x="99298" y="578881"/>
                  </a:lnTo>
                  <a:lnTo>
                    <a:pt x="70638" y="546319"/>
                  </a:lnTo>
                  <a:lnTo>
                    <a:pt x="46284" y="510257"/>
                  </a:lnTo>
                  <a:lnTo>
                    <a:pt x="26640" y="471100"/>
                  </a:lnTo>
                  <a:lnTo>
                    <a:pt x="12109" y="429251"/>
                  </a:lnTo>
                  <a:lnTo>
                    <a:pt x="3094" y="385113"/>
                  </a:lnTo>
                  <a:lnTo>
                    <a:pt x="0" y="339090"/>
                  </a:lnTo>
                  <a:lnTo>
                    <a:pt x="3094" y="293066"/>
                  </a:lnTo>
                  <a:lnTo>
                    <a:pt x="12109" y="248928"/>
                  </a:lnTo>
                  <a:lnTo>
                    <a:pt x="26640" y="207079"/>
                  </a:lnTo>
                  <a:lnTo>
                    <a:pt x="46284" y="167922"/>
                  </a:lnTo>
                  <a:lnTo>
                    <a:pt x="70638" y="131860"/>
                  </a:lnTo>
                  <a:lnTo>
                    <a:pt x="99298" y="99298"/>
                  </a:lnTo>
                  <a:lnTo>
                    <a:pt x="131860" y="70638"/>
                  </a:lnTo>
                  <a:lnTo>
                    <a:pt x="167922" y="46284"/>
                  </a:lnTo>
                  <a:lnTo>
                    <a:pt x="207079" y="26640"/>
                  </a:lnTo>
                  <a:lnTo>
                    <a:pt x="248928" y="12109"/>
                  </a:lnTo>
                  <a:lnTo>
                    <a:pt x="293066" y="3094"/>
                  </a:lnTo>
                  <a:lnTo>
                    <a:pt x="339089" y="0"/>
                  </a:lnTo>
                  <a:lnTo>
                    <a:pt x="339089" y="339090"/>
                  </a:lnTo>
                  <a:lnTo>
                    <a:pt x="339089" y="67818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959101" y="2512314"/>
          <a:ext cx="6481445" cy="318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676910"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470"/>
                        </a:spcBef>
                        <a:tabLst>
                          <a:tab pos="1986914" algn="l"/>
                        </a:tabLst>
                      </a:pPr>
                      <a:r>
                        <a:rPr sz="3100" spc="-5" dirty="0">
                          <a:latin typeface="Calibri"/>
                          <a:cs typeface="Calibri"/>
                        </a:rPr>
                        <a:t>1.	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1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Một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số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khái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niệm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ơ</a:t>
                      </a:r>
                      <a:r>
                        <a:rPr sz="1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bản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AACC5"/>
                      </a:solidFill>
                      <a:prstDash val="solid"/>
                    </a:lnT>
                    <a:lnB w="28575">
                      <a:solidFill>
                        <a:srgbClr val="46D77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235"/>
                        </a:spcBef>
                        <a:tabLst>
                          <a:tab pos="1989455" algn="l"/>
                        </a:tabLst>
                      </a:pPr>
                      <a:r>
                        <a:rPr sz="4650" baseline="-3584" dirty="0">
                          <a:latin typeface="Calibri"/>
                          <a:cs typeface="Calibri"/>
                        </a:rPr>
                        <a:t>2.	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1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hỗ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ra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quyết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đ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ịnh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46D771"/>
                      </a:solidFill>
                      <a:prstDash val="solid"/>
                    </a:lnL>
                    <a:lnR w="28575">
                      <a:solidFill>
                        <a:srgbClr val="46D771"/>
                      </a:solidFill>
                      <a:prstDash val="solid"/>
                    </a:lnR>
                    <a:lnT w="28575">
                      <a:solidFill>
                        <a:srgbClr val="46D771"/>
                      </a:solidFill>
                      <a:prstDash val="solid"/>
                    </a:lnT>
                    <a:lnB w="28575">
                      <a:solidFill>
                        <a:srgbClr val="ACE9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marL="1470025">
                        <a:lnSpc>
                          <a:spcPct val="100000"/>
                        </a:lnSpc>
                        <a:spcBef>
                          <a:spcPts val="844"/>
                        </a:spcBef>
                        <a:tabLst>
                          <a:tab pos="2065655" algn="l"/>
                        </a:tabLst>
                      </a:pPr>
                      <a:r>
                        <a:rPr sz="4650" baseline="7168" dirty="0">
                          <a:latin typeface="Calibri"/>
                          <a:cs typeface="Calibri"/>
                        </a:rPr>
                        <a:t>3.	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1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Một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số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ví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dụ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về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hỗ 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ra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quyết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đ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ịnh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ACE946"/>
                      </a:solidFill>
                      <a:prstDash val="solid"/>
                    </a:lnL>
                    <a:lnR w="28575">
                      <a:solidFill>
                        <a:srgbClr val="ACE946"/>
                      </a:solidFill>
                      <a:prstDash val="solid"/>
                    </a:lnR>
                    <a:lnT w="28575">
                      <a:solidFill>
                        <a:srgbClr val="ACE9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1470025">
                        <a:lnSpc>
                          <a:spcPts val="2675"/>
                        </a:lnSpc>
                        <a:tabLst>
                          <a:tab pos="2063114" algn="l"/>
                        </a:tabLst>
                      </a:pPr>
                      <a:r>
                        <a:rPr sz="4650" spc="-7" baseline="-22401" dirty="0">
                          <a:latin typeface="Calibri"/>
                          <a:cs typeface="Calibri"/>
                        </a:rPr>
                        <a:t>4.	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•</a:t>
                      </a:r>
                      <a:r>
                        <a:rPr sz="1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Các dạng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mô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hình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trong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HTTT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hỗ </a:t>
                      </a:r>
                      <a:r>
                        <a:rPr sz="1900" spc="-15" dirty="0">
                          <a:latin typeface="Calibri"/>
                          <a:cs typeface="Calibri"/>
                        </a:rPr>
                        <a:t>trợ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ra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 marR="946150" algn="ctr">
                        <a:lnSpc>
                          <a:spcPts val="2065"/>
                        </a:lnSpc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quyết</a:t>
                      </a:r>
                      <a:r>
                        <a:rPr sz="1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đ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ịnh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CE946"/>
                      </a:solidFill>
                      <a:prstDash val="solid"/>
                    </a:lnL>
                    <a:lnR w="28575">
                      <a:solidFill>
                        <a:srgbClr val="ACE9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ACE94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6D771"/>
                      </a:solidFill>
                      <a:prstDash val="solid"/>
                    </a:lnL>
                    <a:lnR w="28575">
                      <a:solidFill>
                        <a:srgbClr val="46D771"/>
                      </a:solidFill>
                      <a:prstDash val="solid"/>
                    </a:lnR>
                    <a:lnT w="28575">
                      <a:solidFill>
                        <a:srgbClr val="ACE946"/>
                      </a:solidFill>
                      <a:prstDash val="solid"/>
                    </a:lnT>
                    <a:lnB w="28575">
                      <a:solidFill>
                        <a:srgbClr val="46D77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AACC5"/>
                      </a:solidFill>
                      <a:prstDash val="solid"/>
                    </a:lnL>
                    <a:lnR w="28575">
                      <a:solidFill>
                        <a:srgbClr val="4AACC5"/>
                      </a:solidFill>
                      <a:prstDash val="solid"/>
                    </a:lnR>
                    <a:lnT w="28575">
                      <a:solidFill>
                        <a:srgbClr val="46D771"/>
                      </a:solidFill>
                      <a:prstDash val="solid"/>
                    </a:lnT>
                    <a:lnB w="28575">
                      <a:solidFill>
                        <a:srgbClr val="4AACC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55594" y="2414269"/>
            <a:ext cx="50095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00AF50"/>
                </a:solidFill>
              </a:rPr>
              <a:t>M</a:t>
            </a:r>
            <a:r>
              <a:rPr sz="3200" spc="-30" dirty="0">
                <a:solidFill>
                  <a:srgbClr val="00AF50"/>
                </a:solidFill>
              </a:rPr>
              <a:t>ỘT</a:t>
            </a:r>
            <a:r>
              <a:rPr sz="3200" spc="175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SỐ</a:t>
            </a:r>
            <a:r>
              <a:rPr sz="3200" spc="160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KHÁI</a:t>
            </a:r>
            <a:r>
              <a:rPr sz="3200" spc="170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NIỆM</a:t>
            </a:r>
            <a:r>
              <a:rPr sz="3200" spc="175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C</a:t>
            </a:r>
            <a:r>
              <a:rPr sz="3200" spc="-5" dirty="0">
                <a:solidFill>
                  <a:srgbClr val="00AF50"/>
                </a:solidFill>
                <a:latin typeface="Times New Roman"/>
                <a:cs typeface="Times New Roman"/>
              </a:rPr>
              <a:t>Ơ</a:t>
            </a:r>
            <a:r>
              <a:rPr sz="3200" spc="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spc="-15" dirty="0">
                <a:solidFill>
                  <a:srgbClr val="00AF50"/>
                </a:solidFill>
              </a:rPr>
              <a:t>BẢN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145539" y="3364524"/>
            <a:ext cx="6382385" cy="25012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mức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quản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lý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và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dạng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Phân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loại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mức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độ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cấu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trúc</a:t>
            </a:r>
            <a:endParaRPr sz="2800">
              <a:latin typeface="Times New Roman"/>
              <a:cs typeface="Times New Roman"/>
            </a:endParaRPr>
          </a:p>
          <a:p>
            <a:pPr marL="355600" marR="238760" indent="-342900">
              <a:lnSpc>
                <a:spcPct val="100000"/>
              </a:lnSpc>
              <a:spcBef>
                <a:spcPts val="670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Cấu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trúc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của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và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đặc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điểm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của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thông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83730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</a:t>
            </a:r>
            <a:r>
              <a:rPr sz="4400" spc="-30" dirty="0"/>
              <a:t> </a:t>
            </a:r>
            <a:r>
              <a:rPr sz="4400" spc="-5" dirty="0"/>
              <a:t>mức</a:t>
            </a:r>
            <a:r>
              <a:rPr sz="4400" spc="-20" dirty="0"/>
              <a:t> </a:t>
            </a:r>
            <a:r>
              <a:rPr sz="4400" spc="-5" dirty="0"/>
              <a:t>quản</a:t>
            </a:r>
            <a:r>
              <a:rPr sz="4400" spc="-20" dirty="0"/>
              <a:t> </a:t>
            </a:r>
            <a:r>
              <a:rPr sz="4400" spc="-5" dirty="0"/>
              <a:t>lý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73276"/>
            <a:ext cx="7920355" cy="44697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715" indent="-342900" algn="just">
              <a:lnSpc>
                <a:spcPts val="3240"/>
              </a:lnSpc>
              <a:spcBef>
                <a:spcPts val="505"/>
              </a:spcBef>
            </a:pPr>
            <a:r>
              <a:rPr sz="30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30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000" b="1" i="1" dirty="0">
                <a:solidFill>
                  <a:srgbClr val="6F2F9F"/>
                </a:solidFill>
                <a:latin typeface="Arial"/>
                <a:cs typeface="Arial"/>
              </a:rPr>
              <a:t>Quản </a:t>
            </a:r>
            <a:r>
              <a:rPr sz="3000" b="1" i="1" spc="-5" dirty="0">
                <a:solidFill>
                  <a:srgbClr val="6F2F9F"/>
                </a:solidFill>
                <a:latin typeface="Arial"/>
                <a:cs typeface="Arial"/>
              </a:rPr>
              <a:t>lý chiến lược: </a:t>
            </a:r>
            <a:r>
              <a:rPr sz="3000" dirty="0">
                <a:latin typeface="Arial"/>
                <a:cs typeface="Arial"/>
              </a:rPr>
              <a:t>mức </a:t>
            </a:r>
            <a:r>
              <a:rPr sz="3000" spc="-10" dirty="0">
                <a:latin typeface="Arial"/>
                <a:cs typeface="Arial"/>
              </a:rPr>
              <a:t>quản </a:t>
            </a:r>
            <a:r>
              <a:rPr sz="3000" spc="-5" dirty="0">
                <a:latin typeface="Arial"/>
                <a:cs typeface="Arial"/>
              </a:rPr>
              <a:t>lý </a:t>
            </a:r>
            <a:r>
              <a:rPr sz="3000" dirty="0">
                <a:latin typeface="Arial"/>
                <a:cs typeface="Arial"/>
              </a:rPr>
              <a:t>cao </a:t>
            </a:r>
            <a:r>
              <a:rPr sz="3000" spc="-10" dirty="0">
                <a:latin typeface="Arial"/>
                <a:cs typeface="Arial"/>
              </a:rPr>
              <a:t>nhất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có tác </a:t>
            </a:r>
            <a:r>
              <a:rPr sz="3000" spc="-10" dirty="0">
                <a:latin typeface="Arial"/>
                <a:cs typeface="Arial"/>
              </a:rPr>
              <a:t>động đến </a:t>
            </a:r>
            <a:r>
              <a:rPr sz="3000" dirty="0">
                <a:latin typeface="Arial"/>
                <a:cs typeface="Arial"/>
              </a:rPr>
              <a:t>toàn </a:t>
            </a:r>
            <a:r>
              <a:rPr sz="3000" spc="-5" dirty="0">
                <a:latin typeface="Arial"/>
                <a:cs typeface="Arial"/>
              </a:rPr>
              <a:t>bộ </a:t>
            </a:r>
            <a:r>
              <a:rPr sz="3000" dirty="0">
                <a:latin typeface="Arial"/>
                <a:cs typeface="Arial"/>
              </a:rPr>
              <a:t>tổ chức </a:t>
            </a:r>
            <a:r>
              <a:rPr sz="3000" spc="-10" dirty="0">
                <a:latin typeface="Arial"/>
                <a:cs typeface="Arial"/>
              </a:rPr>
              <a:t>nhằm xác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định </a:t>
            </a:r>
            <a:r>
              <a:rPr sz="3000" dirty="0">
                <a:latin typeface="Arial"/>
                <a:cs typeface="Arial"/>
              </a:rPr>
              <a:t>các mục tiêu </a:t>
            </a:r>
            <a:r>
              <a:rPr sz="3000" spc="-5" dirty="0">
                <a:latin typeface="Arial"/>
                <a:cs typeface="Arial"/>
              </a:rPr>
              <a:t>chiến lược,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-5" dirty="0">
                <a:latin typeface="Arial"/>
                <a:cs typeface="Arial"/>
              </a:rPr>
              <a:t>đường </a:t>
            </a:r>
            <a:r>
              <a:rPr sz="3000" spc="-10" dirty="0">
                <a:latin typeface="Arial"/>
                <a:cs typeface="Arial"/>
              </a:rPr>
              <a:t>lối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chính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sách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để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thực </a:t>
            </a:r>
            <a:r>
              <a:rPr sz="3000" spc="-5" dirty="0">
                <a:latin typeface="Arial"/>
                <a:cs typeface="Arial"/>
              </a:rPr>
              <a:t>hiện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mục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tiêu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đó.</a:t>
            </a:r>
            <a:endParaRPr sz="3000">
              <a:latin typeface="Arial"/>
              <a:cs typeface="Arial"/>
            </a:endParaRPr>
          </a:p>
          <a:p>
            <a:pPr marL="355600" marR="5080" indent="-342900" algn="just">
              <a:lnSpc>
                <a:spcPct val="90100"/>
              </a:lnSpc>
              <a:spcBef>
                <a:spcPts val="735"/>
              </a:spcBef>
            </a:pPr>
            <a:r>
              <a:rPr sz="3300" dirty="0">
                <a:solidFill>
                  <a:srgbClr val="6F2F9F"/>
                </a:solidFill>
                <a:latin typeface="Arial"/>
                <a:cs typeface="Arial"/>
              </a:rPr>
              <a:t>• </a:t>
            </a:r>
            <a:r>
              <a:rPr sz="3300" b="1" i="1" dirty="0">
                <a:solidFill>
                  <a:srgbClr val="6F2F9F"/>
                </a:solidFill>
                <a:latin typeface="Arial"/>
                <a:cs typeface="Arial"/>
              </a:rPr>
              <a:t>Quản </a:t>
            </a:r>
            <a:r>
              <a:rPr sz="3300" b="1" i="1" spc="-5" dirty="0">
                <a:solidFill>
                  <a:srgbClr val="6F2F9F"/>
                </a:solidFill>
                <a:latin typeface="Arial"/>
                <a:cs typeface="Arial"/>
              </a:rPr>
              <a:t>lý chiến thuật: </a:t>
            </a:r>
            <a:r>
              <a:rPr sz="3000" dirty="0">
                <a:latin typeface="Arial"/>
                <a:cs typeface="Arial"/>
              </a:rPr>
              <a:t>mức </a:t>
            </a:r>
            <a:r>
              <a:rPr sz="3000" spc="-10" dirty="0">
                <a:latin typeface="Arial"/>
                <a:cs typeface="Arial"/>
              </a:rPr>
              <a:t>quản </a:t>
            </a:r>
            <a:r>
              <a:rPr sz="3000" spc="-5" dirty="0">
                <a:latin typeface="Arial"/>
                <a:cs typeface="Arial"/>
              </a:rPr>
              <a:t>lý trung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gian nhằm </a:t>
            </a:r>
            <a:r>
              <a:rPr sz="3000" dirty="0">
                <a:latin typeface="Arial"/>
                <a:cs typeface="Arial"/>
              </a:rPr>
              <a:t>xác </a:t>
            </a:r>
            <a:r>
              <a:rPr sz="3000" spc="-10" dirty="0">
                <a:latin typeface="Arial"/>
                <a:cs typeface="Arial"/>
              </a:rPr>
              <a:t>định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-10" dirty="0">
                <a:latin typeface="Arial"/>
                <a:cs typeface="Arial"/>
              </a:rPr>
              <a:t>nhiệm </a:t>
            </a:r>
            <a:r>
              <a:rPr sz="3000" dirty="0">
                <a:latin typeface="Arial"/>
                <a:cs typeface="Arial"/>
              </a:rPr>
              <a:t>vụ cụ thể </a:t>
            </a:r>
            <a:r>
              <a:rPr sz="3000" spc="-10" dirty="0">
                <a:latin typeface="Arial"/>
                <a:cs typeface="Arial"/>
              </a:rPr>
              <a:t>để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thực </a:t>
            </a:r>
            <a:r>
              <a:rPr sz="3000" spc="-10" dirty="0">
                <a:latin typeface="Arial"/>
                <a:cs typeface="Arial"/>
              </a:rPr>
              <a:t>hiện </a:t>
            </a:r>
            <a:r>
              <a:rPr sz="3000" dirty="0">
                <a:latin typeface="Arial"/>
                <a:cs typeface="Arial"/>
              </a:rPr>
              <a:t>mục tiêu và </a:t>
            </a:r>
            <a:r>
              <a:rPr sz="3000" spc="-5" dirty="0">
                <a:latin typeface="Arial"/>
                <a:cs typeface="Arial"/>
              </a:rPr>
              <a:t>đường lối đã được </a:t>
            </a:r>
            <a:r>
              <a:rPr sz="3000" spc="-10" dirty="0">
                <a:latin typeface="Arial"/>
                <a:cs typeface="Arial"/>
              </a:rPr>
              <a:t>để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xuất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trong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mức </a:t>
            </a:r>
            <a:r>
              <a:rPr sz="3000" spc="-5" dirty="0">
                <a:latin typeface="Arial"/>
                <a:cs typeface="Arial"/>
              </a:rPr>
              <a:t>quản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lý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chiến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lược.</a:t>
            </a:r>
            <a:endParaRPr sz="3000">
              <a:latin typeface="Arial"/>
              <a:cs typeface="Arial"/>
            </a:endParaRPr>
          </a:p>
          <a:p>
            <a:pPr marL="355600" marR="5715" indent="-342900" algn="just">
              <a:lnSpc>
                <a:spcPts val="3310"/>
              </a:lnSpc>
              <a:spcBef>
                <a:spcPts val="1045"/>
              </a:spcBef>
            </a:pPr>
            <a:r>
              <a:rPr sz="33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3300" spc="6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300" b="1" i="1" dirty="0">
                <a:solidFill>
                  <a:srgbClr val="6F2F9F"/>
                </a:solidFill>
                <a:latin typeface="Arial"/>
                <a:cs typeface="Arial"/>
              </a:rPr>
              <a:t>Quản</a:t>
            </a:r>
            <a:r>
              <a:rPr sz="3300" b="1" i="1" spc="7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300" b="1" i="1" spc="-5" dirty="0">
                <a:solidFill>
                  <a:srgbClr val="6F2F9F"/>
                </a:solidFill>
                <a:latin typeface="Arial"/>
                <a:cs typeface="Arial"/>
              </a:rPr>
              <a:t>lý</a:t>
            </a:r>
            <a:r>
              <a:rPr sz="3300" b="1" i="1" spc="7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300" b="1" i="1" spc="-5" dirty="0">
                <a:solidFill>
                  <a:srgbClr val="6F2F9F"/>
                </a:solidFill>
                <a:latin typeface="Arial"/>
                <a:cs typeface="Arial"/>
              </a:rPr>
              <a:t>tác</a:t>
            </a:r>
            <a:r>
              <a:rPr sz="3300" b="1" i="1" spc="7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300" b="1" i="1" spc="-5" dirty="0">
                <a:solidFill>
                  <a:srgbClr val="6F2F9F"/>
                </a:solidFill>
                <a:latin typeface="Arial"/>
                <a:cs typeface="Arial"/>
              </a:rPr>
              <a:t>nghiệp:</a:t>
            </a:r>
            <a:r>
              <a:rPr sz="3300" b="1" i="1" spc="7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gắn</a:t>
            </a:r>
            <a:r>
              <a:rPr sz="3000" spc="69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liền</a:t>
            </a:r>
            <a:r>
              <a:rPr sz="3000" spc="69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với</a:t>
            </a:r>
            <a:r>
              <a:rPr sz="3000" spc="68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công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việc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điều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hành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hàng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0" dirty="0">
                <a:latin typeface="Arial"/>
                <a:cs typeface="Arial"/>
              </a:rPr>
              <a:t>ngày.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26517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20" dirty="0"/>
              <a:t>Quyết</a:t>
            </a:r>
            <a:r>
              <a:rPr sz="4400" spc="-70" dirty="0"/>
              <a:t> </a:t>
            </a:r>
            <a:r>
              <a:rPr sz="4400" spc="-10" dirty="0">
                <a:latin typeface="Times New Roman"/>
                <a:cs typeface="Times New Roman"/>
              </a:rPr>
              <a:t>định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920355" cy="39884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5080" indent="-342900" algn="just">
              <a:lnSpc>
                <a:spcPts val="2400"/>
              </a:lnSpc>
              <a:spcBef>
                <a:spcPts val="680"/>
              </a:spcBef>
            </a:pPr>
            <a:r>
              <a:rPr sz="25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5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Quyết</a:t>
            </a:r>
            <a:r>
              <a:rPr sz="2500" b="1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định</a:t>
            </a:r>
            <a:r>
              <a:rPr sz="2500" b="1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(decision):</a:t>
            </a:r>
            <a:r>
              <a:rPr sz="2500" b="1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là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sự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lựa</a:t>
            </a:r>
            <a:r>
              <a:rPr sz="2500" dirty="0">
                <a:latin typeface="Arial"/>
                <a:cs typeface="Arial"/>
              </a:rPr>
              <a:t> chọn</a:t>
            </a:r>
            <a:r>
              <a:rPr sz="2500" spc="69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đường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lối/chiến lược </a:t>
            </a:r>
            <a:r>
              <a:rPr sz="2500" spc="-10" dirty="0">
                <a:latin typeface="Arial"/>
                <a:cs typeface="Arial"/>
              </a:rPr>
              <a:t>hành động </a:t>
            </a:r>
            <a:r>
              <a:rPr sz="2500" spc="-5" dirty="0">
                <a:latin typeface="Arial"/>
                <a:cs typeface="Arial"/>
              </a:rPr>
              <a:t>nhằm </a:t>
            </a:r>
            <a:r>
              <a:rPr sz="2500" dirty="0">
                <a:latin typeface="Arial"/>
                <a:cs typeface="Arial"/>
              </a:rPr>
              <a:t>đạt </a:t>
            </a:r>
            <a:r>
              <a:rPr sz="2500" spc="-5" dirty="0">
                <a:latin typeface="Arial"/>
                <a:cs typeface="Arial"/>
              </a:rPr>
              <a:t>được </a:t>
            </a:r>
            <a:r>
              <a:rPr sz="2500" dirty="0">
                <a:latin typeface="Arial"/>
                <a:cs typeface="Arial"/>
              </a:rPr>
              <a:t>mục </a:t>
            </a:r>
            <a:r>
              <a:rPr sz="2500" spc="-5" dirty="0">
                <a:latin typeface="Arial"/>
                <a:cs typeface="Arial"/>
              </a:rPr>
              <a:t>tiêu </a:t>
            </a:r>
            <a:r>
              <a:rPr sz="2500" dirty="0">
                <a:latin typeface="Arial"/>
                <a:cs typeface="Arial"/>
              </a:rPr>
              <a:t> mong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muốn.</a:t>
            </a:r>
            <a:endParaRPr sz="2500">
              <a:latin typeface="Arial"/>
              <a:cs typeface="Arial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600"/>
              </a:spcBef>
            </a:pPr>
            <a:r>
              <a:rPr sz="25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5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Ra quyết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định (decision making): </a:t>
            </a:r>
            <a:r>
              <a:rPr sz="2500" spc="-5" dirty="0">
                <a:latin typeface="Arial"/>
                <a:cs typeface="Arial"/>
              </a:rPr>
              <a:t>là </a:t>
            </a:r>
            <a:r>
              <a:rPr sz="2500" spc="-10" dirty="0">
                <a:latin typeface="Arial"/>
                <a:cs typeface="Arial"/>
              </a:rPr>
              <a:t>quá </a:t>
            </a:r>
            <a:r>
              <a:rPr sz="2500" dirty="0">
                <a:latin typeface="Arial"/>
                <a:cs typeface="Arial"/>
              </a:rPr>
              <a:t>trình </a:t>
            </a:r>
            <a:r>
              <a:rPr sz="2500" spc="-5" dirty="0">
                <a:latin typeface="Arial"/>
                <a:cs typeface="Arial"/>
              </a:rPr>
              <a:t>lựa </a:t>
            </a:r>
            <a:r>
              <a:rPr sz="2500" dirty="0">
                <a:latin typeface="Arial"/>
                <a:cs typeface="Arial"/>
              </a:rPr>
              <a:t> chọn một </a:t>
            </a:r>
            <a:r>
              <a:rPr sz="2500" spc="-5" dirty="0">
                <a:latin typeface="Arial"/>
                <a:cs typeface="Arial"/>
              </a:rPr>
              <a:t>phương </a:t>
            </a:r>
            <a:r>
              <a:rPr sz="2500" dirty="0">
                <a:latin typeface="Arial"/>
                <a:cs typeface="Arial"/>
              </a:rPr>
              <a:t>án trong các </a:t>
            </a:r>
            <a:r>
              <a:rPr sz="2500" spc="-5" dirty="0">
                <a:latin typeface="Arial"/>
                <a:cs typeface="Arial"/>
              </a:rPr>
              <a:t>phương án </a:t>
            </a:r>
            <a:r>
              <a:rPr sz="2500" dirty="0">
                <a:latin typeface="Arial"/>
                <a:cs typeface="Arial"/>
              </a:rPr>
              <a:t>để </a:t>
            </a:r>
            <a:r>
              <a:rPr sz="2500" spc="-5" dirty="0">
                <a:latin typeface="Arial"/>
                <a:cs typeface="Arial"/>
              </a:rPr>
              <a:t>đạt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được </a:t>
            </a:r>
            <a:r>
              <a:rPr sz="2500" dirty="0">
                <a:latin typeface="Arial"/>
                <a:cs typeface="Arial"/>
              </a:rPr>
              <a:t>kết </a:t>
            </a:r>
            <a:r>
              <a:rPr sz="2500" spc="-5" dirty="0">
                <a:latin typeface="Arial"/>
                <a:cs typeface="Arial"/>
              </a:rPr>
              <a:t>quả </a:t>
            </a:r>
            <a:r>
              <a:rPr sz="2500" dirty="0">
                <a:latin typeface="Arial"/>
                <a:cs typeface="Arial"/>
              </a:rPr>
              <a:t>mong muốn với các ràng </a:t>
            </a:r>
            <a:r>
              <a:rPr sz="2500" spc="-10" dirty="0">
                <a:latin typeface="Arial"/>
                <a:cs typeface="Arial"/>
              </a:rPr>
              <a:t>buộc </a:t>
            </a:r>
            <a:r>
              <a:rPr sz="2500" spc="-5" dirty="0">
                <a:latin typeface="Arial"/>
                <a:cs typeface="Arial"/>
              </a:rPr>
              <a:t>cho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trước.</a:t>
            </a:r>
            <a:endParaRPr sz="2500">
              <a:latin typeface="Arial"/>
              <a:cs typeface="Arial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605"/>
              </a:spcBef>
            </a:pPr>
            <a:r>
              <a:rPr sz="25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500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Các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dạng quyết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định: </a:t>
            </a:r>
            <a:r>
              <a:rPr sz="2500" dirty="0">
                <a:latin typeface="Arial"/>
                <a:cs typeface="Arial"/>
              </a:rPr>
              <a:t>sự kiện, </a:t>
            </a:r>
            <a:r>
              <a:rPr sz="2500" spc="-5" dirty="0">
                <a:latin typeface="Arial"/>
                <a:cs typeface="Arial"/>
              </a:rPr>
              <a:t>quá </a:t>
            </a:r>
            <a:r>
              <a:rPr sz="2500" dirty="0">
                <a:latin typeface="Arial"/>
                <a:cs typeface="Arial"/>
              </a:rPr>
              <a:t>trình, </a:t>
            </a:r>
            <a:r>
              <a:rPr sz="2500" spc="-5" dirty="0">
                <a:latin typeface="Arial"/>
                <a:cs typeface="Arial"/>
              </a:rPr>
              <a:t>làm giàu </a:t>
            </a:r>
            <a:r>
              <a:rPr sz="2500" dirty="0">
                <a:latin typeface="Arial"/>
                <a:cs typeface="Arial"/>
              </a:rPr>
              <a:t> kiến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thức,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làm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thay đổi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trạng thái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kiến thức.</a:t>
            </a:r>
            <a:endParaRPr sz="2500">
              <a:latin typeface="Arial"/>
              <a:cs typeface="Arial"/>
            </a:endParaRPr>
          </a:p>
          <a:p>
            <a:pPr marL="12700" algn="just">
              <a:lnSpc>
                <a:spcPts val="2700"/>
              </a:lnSpc>
              <a:spcBef>
                <a:spcPts val="20"/>
              </a:spcBef>
            </a:pPr>
            <a:r>
              <a:rPr sz="2500" dirty="0">
                <a:solidFill>
                  <a:srgbClr val="6F2F9F"/>
                </a:solidFill>
                <a:latin typeface="Arial"/>
                <a:cs typeface="Arial"/>
              </a:rPr>
              <a:t>•</a:t>
            </a:r>
            <a:r>
              <a:rPr sz="2500" spc="11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Các</a:t>
            </a:r>
            <a:r>
              <a:rPr sz="2500" b="1" i="1" spc="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yếu</a:t>
            </a:r>
            <a:r>
              <a:rPr sz="2500" b="1" i="1" spc="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tố</a:t>
            </a:r>
            <a:r>
              <a:rPr sz="2500" b="1" i="1" spc="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spc="-10" dirty="0">
                <a:solidFill>
                  <a:srgbClr val="6F2F9F"/>
                </a:solidFill>
                <a:latin typeface="Arial"/>
                <a:cs typeface="Arial"/>
              </a:rPr>
              <a:t>ảnh</a:t>
            </a:r>
            <a:r>
              <a:rPr sz="2500" b="1" i="1" spc="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hưởng</a:t>
            </a:r>
            <a:r>
              <a:rPr sz="2500" b="1" i="1" spc="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đến</a:t>
            </a:r>
            <a:r>
              <a:rPr sz="2500" b="1" i="1" spc="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spc="-5" dirty="0">
                <a:solidFill>
                  <a:srgbClr val="6F2F9F"/>
                </a:solidFill>
                <a:latin typeface="Arial"/>
                <a:cs typeface="Arial"/>
              </a:rPr>
              <a:t>quyết</a:t>
            </a:r>
            <a:r>
              <a:rPr sz="2500" b="1" i="1" spc="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6F2F9F"/>
                </a:solidFill>
                <a:latin typeface="Arial"/>
                <a:cs typeface="Arial"/>
              </a:rPr>
              <a:t>định:</a:t>
            </a:r>
            <a:r>
              <a:rPr sz="2500" b="1" i="1" spc="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Công</a:t>
            </a:r>
            <a:r>
              <a:rPr sz="2500" spc="7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nghệ</a:t>
            </a:r>
            <a:endParaRPr sz="2500">
              <a:latin typeface="Arial"/>
              <a:cs typeface="Arial"/>
            </a:endParaRPr>
          </a:p>
          <a:p>
            <a:pPr marL="355600" marR="6350" algn="just">
              <a:lnSpc>
                <a:spcPts val="2400"/>
              </a:lnSpc>
              <a:spcBef>
                <a:spcPts val="280"/>
              </a:spcBef>
            </a:pPr>
            <a:r>
              <a:rPr sz="2500" dirty="0">
                <a:latin typeface="Arial"/>
                <a:cs typeface="Arial"/>
              </a:rPr>
              <a:t>-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Thông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tin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–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máy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tính;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tính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cạnh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tranh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trên</a:t>
            </a:r>
            <a:r>
              <a:rPr sz="2500" spc="69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thị 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trường;</a:t>
            </a:r>
            <a:r>
              <a:rPr sz="2500" dirty="0">
                <a:latin typeface="Arial"/>
                <a:cs typeface="Arial"/>
              </a:rPr>
              <a:t> tính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ổn</a:t>
            </a:r>
            <a:r>
              <a:rPr sz="2500" spc="-5" dirty="0">
                <a:latin typeface="Arial"/>
                <a:cs typeface="Arial"/>
              </a:rPr>
              <a:t> định</a:t>
            </a:r>
            <a:r>
              <a:rPr sz="2500" dirty="0">
                <a:latin typeface="Arial"/>
                <a:cs typeface="Arial"/>
              </a:rPr>
              <a:t> chính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trị;</a:t>
            </a:r>
            <a:r>
              <a:rPr sz="2500" spc="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thị</a:t>
            </a:r>
            <a:r>
              <a:rPr sz="2500" spc="-5" dirty="0">
                <a:latin typeface="Arial"/>
                <a:cs typeface="Arial"/>
              </a:rPr>
              <a:t> trường</a:t>
            </a:r>
            <a:r>
              <a:rPr sz="2500" dirty="0">
                <a:latin typeface="Arial"/>
                <a:cs typeface="Arial"/>
              </a:rPr>
              <a:t> thế</a:t>
            </a:r>
            <a:r>
              <a:rPr sz="2500" spc="-5" dirty="0">
                <a:latin typeface="Arial"/>
                <a:cs typeface="Arial"/>
              </a:rPr>
              <a:t> giới.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48456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Phân</a:t>
            </a:r>
            <a:r>
              <a:rPr sz="4400" spc="-25" dirty="0"/>
              <a:t> </a:t>
            </a:r>
            <a:r>
              <a:rPr sz="4400" spc="-5" dirty="0"/>
              <a:t>loại</a:t>
            </a:r>
            <a:r>
              <a:rPr sz="4400" spc="-10" dirty="0"/>
              <a:t> </a:t>
            </a:r>
            <a:r>
              <a:rPr sz="4400" spc="-20" dirty="0"/>
              <a:t>quyết</a:t>
            </a:r>
            <a:r>
              <a:rPr sz="4400" spc="-15" dirty="0"/>
              <a:t> </a:t>
            </a:r>
            <a:r>
              <a:rPr sz="4400" spc="-10" dirty="0">
                <a:latin typeface="Times New Roman"/>
                <a:cs typeface="Times New Roman"/>
              </a:rPr>
              <a:t>định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4666" y="2339720"/>
            <a:ext cx="2461260" cy="1372870"/>
          </a:xfrm>
          <a:custGeom>
            <a:avLst/>
            <a:gdLst/>
            <a:ahLst/>
            <a:cxnLst/>
            <a:rect l="l" t="t" r="r" b="b"/>
            <a:pathLst>
              <a:path w="2461260" h="1372870">
                <a:moveTo>
                  <a:pt x="0" y="1372361"/>
                </a:moveTo>
                <a:lnTo>
                  <a:pt x="2461260" y="1372361"/>
                </a:lnTo>
                <a:lnTo>
                  <a:pt x="2461260" y="0"/>
                </a:lnTo>
                <a:lnTo>
                  <a:pt x="0" y="0"/>
                </a:lnTo>
                <a:lnTo>
                  <a:pt x="0" y="1372361"/>
                </a:lnTo>
                <a:close/>
              </a:path>
            </a:pathLst>
          </a:custGeom>
          <a:ln w="25146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7240" y="2339720"/>
            <a:ext cx="2436495" cy="111379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173355" marR="168910" indent="362585">
              <a:lnSpc>
                <a:spcPct val="127400"/>
              </a:lnSpc>
            </a:pP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QĐ phi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cấu </a:t>
            </a: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trúc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(Unstructured Decision)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52094" y="3440429"/>
            <a:ext cx="2486660" cy="1724660"/>
            <a:chOff x="752094" y="3440429"/>
            <a:chExt cx="2486660" cy="1724660"/>
          </a:xfrm>
        </p:grpSpPr>
        <p:sp>
          <p:nvSpPr>
            <p:cNvPr id="6" name="object 6"/>
            <p:cNvSpPr/>
            <p:nvPr/>
          </p:nvSpPr>
          <p:spPr>
            <a:xfrm>
              <a:off x="764667" y="3453002"/>
              <a:ext cx="2461260" cy="1699260"/>
            </a:xfrm>
            <a:custGeom>
              <a:avLst/>
              <a:gdLst/>
              <a:ahLst/>
              <a:cxnLst/>
              <a:rect l="l" t="t" r="r" b="b"/>
              <a:pathLst>
                <a:path w="2461260" h="1699260">
                  <a:moveTo>
                    <a:pt x="2461260" y="0"/>
                  </a:moveTo>
                  <a:lnTo>
                    <a:pt x="0" y="0"/>
                  </a:lnTo>
                  <a:lnTo>
                    <a:pt x="0" y="1699260"/>
                  </a:lnTo>
                  <a:lnTo>
                    <a:pt x="2461260" y="1699260"/>
                  </a:lnTo>
                  <a:lnTo>
                    <a:pt x="2461260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667" y="3453002"/>
              <a:ext cx="2461260" cy="1699260"/>
            </a:xfrm>
            <a:custGeom>
              <a:avLst/>
              <a:gdLst/>
              <a:ahLst/>
              <a:cxnLst/>
              <a:rect l="l" t="t" r="r" b="b"/>
              <a:pathLst>
                <a:path w="2461260" h="1699260">
                  <a:moveTo>
                    <a:pt x="0" y="1699260"/>
                  </a:moveTo>
                  <a:lnTo>
                    <a:pt x="2461260" y="1699260"/>
                  </a:lnTo>
                  <a:lnTo>
                    <a:pt x="2461260" y="0"/>
                  </a:lnTo>
                  <a:lnTo>
                    <a:pt x="0" y="0"/>
                  </a:lnTo>
                  <a:lnTo>
                    <a:pt x="0" y="1699260"/>
                  </a:lnTo>
                  <a:close/>
                </a:path>
              </a:pathLst>
            </a:custGeom>
            <a:ln w="25146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2517" y="3494277"/>
            <a:ext cx="2156460" cy="12725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84150" marR="76200" indent="-171450">
              <a:lnSpc>
                <a:spcPts val="1870"/>
              </a:lnSpc>
              <a:spcBef>
                <a:spcPts val="300"/>
              </a:spcBef>
            </a:pPr>
            <a:r>
              <a:rPr sz="1700" spc="-5" dirty="0">
                <a:latin typeface="Calibri"/>
                <a:cs typeface="Calibri"/>
              </a:rPr>
              <a:t>•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Không </a:t>
            </a:r>
            <a:r>
              <a:rPr sz="1700" spc="-10" dirty="0">
                <a:latin typeface="Calibri"/>
                <a:cs typeface="Calibri"/>
              </a:rPr>
              <a:t>có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quy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trình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rõ </a:t>
            </a:r>
            <a:r>
              <a:rPr sz="1700" spc="-3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ràng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ể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làm </a:t>
            </a:r>
            <a:r>
              <a:rPr sz="1700" spc="-20" dirty="0">
                <a:latin typeface="Calibri"/>
                <a:cs typeface="Calibri"/>
              </a:rPr>
              <a:t>ra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nó</a:t>
            </a:r>
            <a:endParaRPr sz="1700">
              <a:latin typeface="Calibri"/>
              <a:cs typeface="Calibri"/>
            </a:endParaRPr>
          </a:p>
          <a:p>
            <a:pPr marL="184150" marR="5080" indent="-171450">
              <a:lnSpc>
                <a:spcPts val="1870"/>
              </a:lnSpc>
              <a:spcBef>
                <a:spcPts val="310"/>
              </a:spcBef>
            </a:pPr>
            <a:r>
              <a:rPr sz="1700" spc="-5" dirty="0">
                <a:latin typeface="Calibri"/>
                <a:cs typeface="Calibri"/>
              </a:rPr>
              <a:t>•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Không thể </a:t>
            </a:r>
            <a:r>
              <a:rPr sz="1700" spc="-10" dirty="0">
                <a:latin typeface="Calibri"/>
                <a:cs typeface="Calibri"/>
              </a:rPr>
              <a:t>xác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ịnh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đư</a:t>
            </a:r>
            <a:r>
              <a:rPr sz="1700" spc="-5" dirty="0">
                <a:latin typeface="Calibri"/>
                <a:cs typeface="Calibri"/>
              </a:rPr>
              <a:t>ợc các </a:t>
            </a:r>
            <a:r>
              <a:rPr sz="1700" spc="5" dirty="0">
                <a:latin typeface="Calibri"/>
                <a:cs typeface="Calibri"/>
              </a:rPr>
              <a:t>TT </a:t>
            </a:r>
            <a:r>
              <a:rPr sz="1700" spc="-5" dirty="0">
                <a:latin typeface="Calibri"/>
                <a:cs typeface="Calibri"/>
              </a:rPr>
              <a:t>liên quan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ến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nó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th</a:t>
            </a:r>
            <a:r>
              <a:rPr sz="1700" spc="-5" dirty="0">
                <a:latin typeface="Arial"/>
                <a:cs typeface="Arial"/>
              </a:rPr>
              <a:t>ư</a:t>
            </a:r>
            <a:r>
              <a:rPr sz="1700" spc="-5" dirty="0">
                <a:latin typeface="Calibri"/>
                <a:cs typeface="Calibri"/>
              </a:rPr>
              <a:t>ờng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xuyên.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70351" y="2339720"/>
            <a:ext cx="2461260" cy="1372870"/>
          </a:xfrm>
          <a:custGeom>
            <a:avLst/>
            <a:gdLst/>
            <a:ahLst/>
            <a:cxnLst/>
            <a:rect l="l" t="t" r="r" b="b"/>
            <a:pathLst>
              <a:path w="2461260" h="1372870">
                <a:moveTo>
                  <a:pt x="0" y="1372361"/>
                </a:moveTo>
                <a:lnTo>
                  <a:pt x="2461260" y="1372361"/>
                </a:lnTo>
                <a:lnTo>
                  <a:pt x="2461260" y="0"/>
                </a:lnTo>
                <a:lnTo>
                  <a:pt x="0" y="0"/>
                </a:lnTo>
                <a:lnTo>
                  <a:pt x="0" y="1372361"/>
                </a:lnTo>
                <a:close/>
              </a:path>
            </a:pathLst>
          </a:custGeom>
          <a:ln w="25146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82923" y="2339720"/>
            <a:ext cx="2436495" cy="111379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0830" marR="285115" indent="281940">
              <a:lnSpc>
                <a:spcPts val="1870"/>
              </a:lnSpc>
              <a:spcBef>
                <a:spcPts val="1495"/>
              </a:spcBef>
            </a:pP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QĐ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có </a:t>
            </a: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cấu trúc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(Structured</a:t>
            </a:r>
            <a:r>
              <a:rPr sz="17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Decision)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57778" y="3440429"/>
            <a:ext cx="2486660" cy="1724660"/>
            <a:chOff x="3557778" y="3440429"/>
            <a:chExt cx="2486660" cy="1724660"/>
          </a:xfrm>
        </p:grpSpPr>
        <p:sp>
          <p:nvSpPr>
            <p:cNvPr id="12" name="object 12"/>
            <p:cNvSpPr/>
            <p:nvPr/>
          </p:nvSpPr>
          <p:spPr>
            <a:xfrm>
              <a:off x="3570351" y="3453002"/>
              <a:ext cx="2461260" cy="1699260"/>
            </a:xfrm>
            <a:custGeom>
              <a:avLst/>
              <a:gdLst/>
              <a:ahLst/>
              <a:cxnLst/>
              <a:rect l="l" t="t" r="r" b="b"/>
              <a:pathLst>
                <a:path w="2461260" h="1699260">
                  <a:moveTo>
                    <a:pt x="2461260" y="0"/>
                  </a:moveTo>
                  <a:lnTo>
                    <a:pt x="0" y="0"/>
                  </a:lnTo>
                  <a:lnTo>
                    <a:pt x="0" y="1699260"/>
                  </a:lnTo>
                  <a:lnTo>
                    <a:pt x="2461260" y="1699260"/>
                  </a:lnTo>
                  <a:lnTo>
                    <a:pt x="2461260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70351" y="3453002"/>
              <a:ext cx="2461260" cy="1699260"/>
            </a:xfrm>
            <a:custGeom>
              <a:avLst/>
              <a:gdLst/>
              <a:ahLst/>
              <a:cxnLst/>
              <a:rect l="l" t="t" r="r" b="b"/>
              <a:pathLst>
                <a:path w="2461260" h="1699260">
                  <a:moveTo>
                    <a:pt x="0" y="1699260"/>
                  </a:moveTo>
                  <a:lnTo>
                    <a:pt x="2461260" y="1699260"/>
                  </a:lnTo>
                  <a:lnTo>
                    <a:pt x="2461260" y="0"/>
                  </a:lnTo>
                  <a:lnTo>
                    <a:pt x="0" y="0"/>
                  </a:lnTo>
                  <a:lnTo>
                    <a:pt x="0" y="1699260"/>
                  </a:lnTo>
                  <a:close/>
                </a:path>
              </a:pathLst>
            </a:custGeom>
            <a:ln w="25146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48455" y="3494277"/>
            <a:ext cx="2220595" cy="151003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84150" marR="5080" indent="-171450">
              <a:lnSpc>
                <a:spcPts val="1870"/>
              </a:lnSpc>
              <a:spcBef>
                <a:spcPts val="300"/>
              </a:spcBef>
            </a:pPr>
            <a:r>
              <a:rPr sz="1700" spc="-5" dirty="0">
                <a:latin typeface="Calibri"/>
                <a:cs typeface="Calibri"/>
              </a:rPr>
              <a:t>•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Có quy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trình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rõ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ràng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ể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làm </a:t>
            </a:r>
            <a:r>
              <a:rPr sz="1700" spc="-20" dirty="0">
                <a:latin typeface="Calibri"/>
                <a:cs typeface="Calibri"/>
              </a:rPr>
              <a:t>ra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QĐ</a:t>
            </a:r>
            <a:endParaRPr sz="1700">
              <a:latin typeface="Calibri"/>
              <a:cs typeface="Calibri"/>
            </a:endParaRPr>
          </a:p>
          <a:p>
            <a:pPr marL="184150" marR="90805" indent="-171450">
              <a:lnSpc>
                <a:spcPts val="1870"/>
              </a:lnSpc>
              <a:spcBef>
                <a:spcPts val="310"/>
              </a:spcBef>
            </a:pPr>
            <a:r>
              <a:rPr sz="1700" spc="-5" dirty="0">
                <a:latin typeface="Calibri"/>
                <a:cs typeface="Calibri"/>
              </a:rPr>
              <a:t>•</a:t>
            </a:r>
            <a:r>
              <a:rPr sz="1700" spc="10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Các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thông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số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cần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thiết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ể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xem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xét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trong </a:t>
            </a:r>
            <a:r>
              <a:rPr sz="1700" spc="-5" dirty="0">
                <a:latin typeface="Calibri"/>
                <a:cs typeface="Calibri"/>
              </a:rPr>
              <a:t>quá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trình </a:t>
            </a:r>
            <a:r>
              <a:rPr sz="1700" spc="-20" dirty="0">
                <a:latin typeface="Calibri"/>
                <a:cs typeface="Calibri"/>
              </a:rPr>
              <a:t>ra </a:t>
            </a:r>
            <a:r>
              <a:rPr sz="1700" spc="-5" dirty="0">
                <a:latin typeface="Calibri"/>
                <a:cs typeface="Calibri"/>
              </a:rPr>
              <a:t>QĐ </a:t>
            </a:r>
            <a:r>
              <a:rPr sz="1700" spc="-10" dirty="0">
                <a:latin typeface="Calibri"/>
                <a:cs typeface="Calibri"/>
              </a:rPr>
              <a:t>có </a:t>
            </a:r>
            <a:r>
              <a:rPr sz="1700" spc="-5" dirty="0">
                <a:latin typeface="Calibri"/>
                <a:cs typeface="Calibri"/>
              </a:rPr>
              <a:t>thể </a:t>
            </a:r>
            <a:r>
              <a:rPr sz="1700" spc="-10" dirty="0">
                <a:latin typeface="Calibri"/>
                <a:cs typeface="Calibri"/>
              </a:rPr>
              <a:t>xác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ịnh tr</a:t>
            </a:r>
            <a:r>
              <a:rPr sz="1700" spc="-5" dirty="0">
                <a:latin typeface="Arial"/>
                <a:cs typeface="Arial"/>
              </a:rPr>
              <a:t>ư</a:t>
            </a:r>
            <a:r>
              <a:rPr sz="1700" spc="-5" dirty="0">
                <a:latin typeface="Calibri"/>
                <a:cs typeface="Calibri"/>
              </a:rPr>
              <a:t>ớc.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76034" y="2377820"/>
            <a:ext cx="2461260" cy="1220470"/>
          </a:xfrm>
          <a:custGeom>
            <a:avLst/>
            <a:gdLst/>
            <a:ahLst/>
            <a:cxnLst/>
            <a:rect l="l" t="t" r="r" b="b"/>
            <a:pathLst>
              <a:path w="2461259" h="1220470">
                <a:moveTo>
                  <a:pt x="0" y="1219962"/>
                </a:moveTo>
                <a:lnTo>
                  <a:pt x="2461260" y="1219962"/>
                </a:lnTo>
                <a:lnTo>
                  <a:pt x="2461260" y="0"/>
                </a:lnTo>
                <a:lnTo>
                  <a:pt x="0" y="0"/>
                </a:lnTo>
                <a:lnTo>
                  <a:pt x="0" y="1219962"/>
                </a:lnTo>
                <a:close/>
              </a:path>
            </a:pathLst>
          </a:custGeom>
          <a:ln w="25146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88608" y="2377820"/>
            <a:ext cx="2436495" cy="1037590"/>
          </a:xfrm>
          <a:prstGeom prst="rect">
            <a:avLst/>
          </a:prstGeom>
          <a:solidFill>
            <a:srgbClr val="4F81BC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marL="160655" marR="153670" algn="ctr">
              <a:lnSpc>
                <a:spcPct val="91600"/>
              </a:lnSpc>
            </a:pP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Quyết </a:t>
            </a:r>
            <a:r>
              <a:rPr sz="17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ịnh bán cấu trúc </a:t>
            </a:r>
            <a:r>
              <a:rPr sz="1700" spc="-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libri"/>
                <a:cs typeface="Calibri"/>
              </a:rPr>
              <a:t>(Semi Structured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Decision)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63461" y="3402329"/>
            <a:ext cx="2486660" cy="1724660"/>
            <a:chOff x="6363461" y="3402329"/>
            <a:chExt cx="2486660" cy="1724660"/>
          </a:xfrm>
        </p:grpSpPr>
        <p:sp>
          <p:nvSpPr>
            <p:cNvPr id="18" name="object 18"/>
            <p:cNvSpPr/>
            <p:nvPr/>
          </p:nvSpPr>
          <p:spPr>
            <a:xfrm>
              <a:off x="6376034" y="3414902"/>
              <a:ext cx="2461260" cy="1699260"/>
            </a:xfrm>
            <a:custGeom>
              <a:avLst/>
              <a:gdLst/>
              <a:ahLst/>
              <a:cxnLst/>
              <a:rect l="l" t="t" r="r" b="b"/>
              <a:pathLst>
                <a:path w="2461259" h="1699260">
                  <a:moveTo>
                    <a:pt x="2461260" y="0"/>
                  </a:moveTo>
                  <a:lnTo>
                    <a:pt x="0" y="0"/>
                  </a:lnTo>
                  <a:lnTo>
                    <a:pt x="0" y="1699260"/>
                  </a:lnTo>
                  <a:lnTo>
                    <a:pt x="2461260" y="1699260"/>
                  </a:lnTo>
                  <a:lnTo>
                    <a:pt x="2461260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76034" y="3414902"/>
              <a:ext cx="2461260" cy="1699260"/>
            </a:xfrm>
            <a:custGeom>
              <a:avLst/>
              <a:gdLst/>
              <a:ahLst/>
              <a:cxnLst/>
              <a:rect l="l" t="t" r="r" b="b"/>
              <a:pathLst>
                <a:path w="2461259" h="1699260">
                  <a:moveTo>
                    <a:pt x="0" y="1699260"/>
                  </a:moveTo>
                  <a:lnTo>
                    <a:pt x="2461260" y="1699260"/>
                  </a:lnTo>
                  <a:lnTo>
                    <a:pt x="2461260" y="0"/>
                  </a:lnTo>
                  <a:lnTo>
                    <a:pt x="0" y="0"/>
                  </a:lnTo>
                  <a:lnTo>
                    <a:pt x="0" y="1699260"/>
                  </a:lnTo>
                  <a:close/>
                </a:path>
              </a:pathLst>
            </a:custGeom>
            <a:ln w="25146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54140" y="3456177"/>
            <a:ext cx="2070735" cy="9963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150" marR="5080" indent="-171450">
              <a:lnSpc>
                <a:spcPct val="91600"/>
              </a:lnSpc>
              <a:spcBef>
                <a:spcPts val="270"/>
              </a:spcBef>
            </a:pPr>
            <a:r>
              <a:rPr sz="1700" spc="-5" dirty="0">
                <a:latin typeface="Calibri"/>
                <a:cs typeface="Calibri"/>
              </a:rPr>
              <a:t>•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Quy </a:t>
            </a:r>
            <a:r>
              <a:rPr sz="1700" dirty="0">
                <a:latin typeface="Calibri"/>
                <a:cs typeface="Calibri"/>
              </a:rPr>
              <a:t>trình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ể làm </a:t>
            </a:r>
            <a:r>
              <a:rPr sz="1700" spc="-20" dirty="0">
                <a:latin typeface="Calibri"/>
                <a:cs typeface="Calibri"/>
              </a:rPr>
              <a:t>ra 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quyết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ịnh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có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thể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xác </a:t>
            </a:r>
            <a:r>
              <a:rPr sz="1700" spc="-370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inh tr</a:t>
            </a:r>
            <a:r>
              <a:rPr sz="1700" spc="-5" dirty="0">
                <a:latin typeface="Arial"/>
                <a:cs typeface="Arial"/>
              </a:rPr>
              <a:t>ư</a:t>
            </a:r>
            <a:r>
              <a:rPr sz="1700" spc="-5" dirty="0">
                <a:latin typeface="Calibri"/>
                <a:cs typeface="Calibri"/>
              </a:rPr>
              <a:t>ớc nh</a:t>
            </a:r>
            <a:r>
              <a:rPr sz="1700" spc="-5" dirty="0">
                <a:latin typeface="Arial"/>
                <a:cs typeface="Arial"/>
              </a:rPr>
              <a:t>ư</a:t>
            </a:r>
            <a:r>
              <a:rPr sz="1700" spc="-5" dirty="0">
                <a:latin typeface="Calibri"/>
                <a:cs typeface="Calibri"/>
              </a:rPr>
              <a:t>ng 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spc="-5" dirty="0">
                <a:latin typeface="Calibri"/>
                <a:cs typeface="Calibri"/>
              </a:rPr>
              <a:t>không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" dirty="0">
                <a:latin typeface="Arial"/>
                <a:cs typeface="Arial"/>
              </a:rPr>
              <a:t>đ</a:t>
            </a:r>
            <a:r>
              <a:rPr sz="1700" spc="-5" dirty="0">
                <a:latin typeface="Calibri"/>
                <a:cs typeface="Calibri"/>
              </a:rPr>
              <a:t>ủ làm </a:t>
            </a:r>
            <a:r>
              <a:rPr sz="1700" spc="-20" dirty="0">
                <a:latin typeface="Calibri"/>
                <a:cs typeface="Calibri"/>
              </a:rPr>
              <a:t>QĐ.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6366" y="71881"/>
            <a:ext cx="75533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Cấu</a:t>
            </a:r>
            <a:r>
              <a:rPr spc="-15" dirty="0"/>
              <a:t> </a:t>
            </a:r>
            <a:r>
              <a:rPr dirty="0"/>
              <a:t>trúc</a:t>
            </a:r>
            <a:r>
              <a:rPr spc="-5" dirty="0"/>
              <a:t> của</a:t>
            </a:r>
            <a:r>
              <a:rPr spc="-10" dirty="0"/>
              <a:t> </a:t>
            </a:r>
            <a:r>
              <a:rPr spc="-5" dirty="0"/>
              <a:t>QĐ</a:t>
            </a:r>
            <a:r>
              <a:rPr dirty="0"/>
              <a:t> </a:t>
            </a:r>
            <a:r>
              <a:rPr spc="-30" dirty="0"/>
              <a:t>và</a:t>
            </a:r>
            <a:r>
              <a:rPr spc="-20" dirty="0"/>
              <a:t> </a:t>
            </a:r>
            <a:r>
              <a:rPr spc="-5" dirty="0">
                <a:latin typeface="Times New Roman"/>
                <a:cs typeface="Times New Roman"/>
              </a:rPr>
              <a:t>đặc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đ</a:t>
            </a:r>
            <a:r>
              <a:rPr dirty="0"/>
              <a:t>iểm</a:t>
            </a:r>
            <a:r>
              <a:rPr spc="-25" dirty="0"/>
              <a:t> </a:t>
            </a:r>
            <a:r>
              <a:rPr spc="-5" dirty="0"/>
              <a:t>của</a:t>
            </a:r>
            <a:r>
              <a:rPr spc="-10" dirty="0"/>
              <a:t> </a:t>
            </a:r>
            <a:r>
              <a:rPr spc="25" dirty="0"/>
              <a:t>TT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3505" y="3161791"/>
            <a:ext cx="2621915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9620" marR="760730" indent="-52069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Quản lý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Chiến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thuật</a:t>
            </a:r>
            <a:endParaRPr sz="1800">
              <a:latin typeface="Calibri"/>
              <a:cs typeface="Calibri"/>
            </a:endParaRPr>
          </a:p>
          <a:p>
            <a:pPr marL="12700" marR="5080" indent="-52069" algn="ctr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libri"/>
                <a:cs typeface="Calibri"/>
              </a:rPr>
              <a:t>(Những </a:t>
            </a:r>
            <a:r>
              <a:rPr sz="1800" spc="-5" dirty="0">
                <a:latin typeface="Calibri"/>
                <a:cs typeface="Calibri"/>
              </a:rPr>
              <a:t>ng</a:t>
            </a:r>
            <a:r>
              <a:rPr sz="1800" spc="-5" dirty="0">
                <a:latin typeface="Arial"/>
                <a:cs typeface="Arial"/>
              </a:rPr>
              <a:t>ười </a:t>
            </a:r>
            <a:r>
              <a:rPr sz="1800" spc="-5" dirty="0">
                <a:latin typeface="Calibri"/>
                <a:cs typeface="Calibri"/>
              </a:rPr>
              <a:t>quản </a:t>
            </a:r>
            <a:r>
              <a:rPr sz="1800" dirty="0">
                <a:latin typeface="Calibri"/>
                <a:cs typeface="Calibri"/>
              </a:rPr>
              <a:t>lý ,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Trung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và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lãnh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đạo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74338" y="1622044"/>
            <a:ext cx="1500505" cy="1122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5104" marR="215265" indent="-33655" algn="ctr">
              <a:lnSpc>
                <a:spcPct val="100299"/>
              </a:lnSpc>
              <a:spcBef>
                <a:spcPts val="90"/>
              </a:spcBef>
            </a:pPr>
            <a:r>
              <a:rPr sz="1800" dirty="0">
                <a:latin typeface="Calibri"/>
                <a:cs typeface="Calibri"/>
              </a:rPr>
              <a:t>Quản lý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Chiến 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dirty="0">
                <a:latin typeface="Arial"/>
                <a:cs typeface="Arial"/>
              </a:rPr>
              <a:t>ược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dirty="0">
                <a:latin typeface="Calibri"/>
                <a:cs typeface="Calibri"/>
              </a:rPr>
              <a:t>(Giám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đốc</a:t>
            </a:r>
            <a:r>
              <a:rPr sz="1800" dirty="0">
                <a:latin typeface="Calibri"/>
                <a:cs typeface="Calibri"/>
              </a:rPr>
              <a:t>,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ts val="2150"/>
              </a:lnSpc>
            </a:pPr>
            <a:r>
              <a:rPr sz="1800" dirty="0">
                <a:latin typeface="Calibri"/>
                <a:cs typeface="Calibri"/>
              </a:rPr>
              <a:t>Ban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quản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trị,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…)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5190" y="4611116"/>
            <a:ext cx="259842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410209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Quản lý </a:t>
            </a:r>
            <a:r>
              <a:rPr sz="1800" spc="-50" dirty="0">
                <a:latin typeface="Calibri"/>
                <a:cs typeface="Calibri"/>
              </a:rPr>
              <a:t>Tác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nghiệp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(Các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giám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sát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và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tổ </a:t>
            </a:r>
            <a:r>
              <a:rPr sz="1800" dirty="0">
                <a:latin typeface="Calibri"/>
                <a:cs typeface="Calibri"/>
              </a:rPr>
              <a:t>tr</a:t>
            </a:r>
            <a:r>
              <a:rPr sz="1800" dirty="0">
                <a:latin typeface="Arial"/>
                <a:cs typeface="Arial"/>
              </a:rPr>
              <a:t>ưởng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40839" y="838580"/>
            <a:ext cx="5361305" cy="4743450"/>
          </a:xfrm>
          <a:custGeom>
            <a:avLst/>
            <a:gdLst/>
            <a:ahLst/>
            <a:cxnLst/>
            <a:rect l="l" t="t" r="r" b="b"/>
            <a:pathLst>
              <a:path w="5361305" h="4743450">
                <a:moveTo>
                  <a:pt x="2583941" y="0"/>
                </a:moveTo>
                <a:lnTo>
                  <a:pt x="5361178" y="4723257"/>
                </a:lnTo>
              </a:path>
              <a:path w="5361305" h="4743450">
                <a:moveTo>
                  <a:pt x="2583815" y="0"/>
                </a:moveTo>
                <a:lnTo>
                  <a:pt x="0" y="4723257"/>
                </a:lnTo>
              </a:path>
              <a:path w="5361305" h="4743450">
                <a:moveTo>
                  <a:pt x="1440941" y="2037588"/>
                </a:moveTo>
                <a:lnTo>
                  <a:pt x="3879341" y="2037588"/>
                </a:lnTo>
              </a:path>
              <a:path w="5361305" h="4743450">
                <a:moveTo>
                  <a:pt x="604266" y="3693414"/>
                </a:moveTo>
                <a:lnTo>
                  <a:pt x="4793995" y="3693414"/>
                </a:lnTo>
              </a:path>
              <a:path w="5361305" h="4743450">
                <a:moveTo>
                  <a:pt x="0" y="4743450"/>
                </a:moveTo>
                <a:lnTo>
                  <a:pt x="5361051" y="4743450"/>
                </a:lnTo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78076" y="858265"/>
            <a:ext cx="649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5965" algn="l"/>
              </a:tabLst>
            </a:pPr>
            <a:r>
              <a:rPr sz="1800" b="1" spc="-5" dirty="0">
                <a:solidFill>
                  <a:srgbClr val="4F6128"/>
                </a:solidFill>
                <a:latin typeface="Calibri"/>
                <a:cs typeface="Calibri"/>
              </a:rPr>
              <a:t>Cấu trúc</a:t>
            </a:r>
            <a:r>
              <a:rPr sz="1800" b="1" spc="5" dirty="0">
                <a:solidFill>
                  <a:srgbClr val="4F6128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4F6128"/>
                </a:solidFill>
                <a:latin typeface="Calibri"/>
                <a:cs typeface="Calibri"/>
              </a:rPr>
              <a:t>của QĐ	</a:t>
            </a:r>
            <a:r>
              <a:rPr sz="1800" spc="-5" dirty="0">
                <a:latin typeface="Calibri"/>
                <a:cs typeface="Calibri"/>
              </a:rPr>
              <a:t>Các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Arial"/>
                <a:cs typeface="Arial"/>
              </a:rPr>
              <a:t>đặc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</a:t>
            </a:r>
            <a:r>
              <a:rPr sz="1800" dirty="0">
                <a:latin typeface="Calibri"/>
                <a:cs typeface="Calibri"/>
              </a:rPr>
              <a:t>iểm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của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TT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6794" y="1908555"/>
            <a:ext cx="1137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F6128"/>
                </a:solidFill>
                <a:latin typeface="Calibri"/>
                <a:cs typeface="Calibri"/>
              </a:rPr>
              <a:t>Phi</a:t>
            </a:r>
            <a:r>
              <a:rPr sz="1800" b="1" spc="-50" dirty="0">
                <a:solidFill>
                  <a:srgbClr val="4F6128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4F6128"/>
                </a:solidFill>
                <a:latin typeface="Calibri"/>
                <a:cs typeface="Calibri"/>
              </a:rPr>
              <a:t>cấu</a:t>
            </a:r>
            <a:r>
              <a:rPr sz="1800" b="1" spc="-45" dirty="0">
                <a:solidFill>
                  <a:srgbClr val="4F612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F6128"/>
                </a:solidFill>
                <a:latin typeface="Calibri"/>
                <a:cs typeface="Calibri"/>
              </a:rPr>
              <a:t>trúc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4533" y="3384550"/>
            <a:ext cx="1250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6128"/>
                </a:solidFill>
                <a:latin typeface="Calibri"/>
                <a:cs typeface="Calibri"/>
              </a:rPr>
              <a:t>Nửa</a:t>
            </a:r>
            <a:r>
              <a:rPr sz="1800" b="1" spc="-45" dirty="0">
                <a:solidFill>
                  <a:srgbClr val="4F6128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4F6128"/>
                </a:solidFill>
                <a:latin typeface="Calibri"/>
                <a:cs typeface="Calibri"/>
              </a:rPr>
              <a:t>cấu</a:t>
            </a:r>
            <a:r>
              <a:rPr sz="1800" b="1" spc="-35" dirty="0">
                <a:solidFill>
                  <a:srgbClr val="4F612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F6128"/>
                </a:solidFill>
                <a:latin typeface="Calibri"/>
                <a:cs typeface="Calibri"/>
              </a:rPr>
              <a:t>trúc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019" y="4965445"/>
            <a:ext cx="1081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F6128"/>
                </a:solidFill>
                <a:latin typeface="Calibri"/>
                <a:cs typeface="Calibri"/>
              </a:rPr>
              <a:t>Có</a:t>
            </a:r>
            <a:r>
              <a:rPr sz="1800" b="1" spc="-45" dirty="0">
                <a:solidFill>
                  <a:srgbClr val="4F6128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4F6128"/>
                </a:solidFill>
                <a:latin typeface="Calibri"/>
                <a:cs typeface="Calibri"/>
              </a:rPr>
              <a:t>cấu</a:t>
            </a:r>
            <a:r>
              <a:rPr sz="1800" b="1" spc="-50" dirty="0">
                <a:solidFill>
                  <a:srgbClr val="4F612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F6128"/>
                </a:solidFill>
                <a:latin typeface="Calibri"/>
                <a:cs typeface="Calibri"/>
              </a:rPr>
              <a:t>trúc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82901" y="743712"/>
            <a:ext cx="5967730" cy="4839970"/>
            <a:chOff x="1882901" y="743712"/>
            <a:chExt cx="5967730" cy="483997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7307" y="2296033"/>
              <a:ext cx="713028" cy="9271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2901" y="743712"/>
              <a:ext cx="2766822" cy="48394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32761" y="877443"/>
              <a:ext cx="2467610" cy="4531995"/>
            </a:xfrm>
            <a:custGeom>
              <a:avLst/>
              <a:gdLst/>
              <a:ahLst/>
              <a:cxnLst/>
              <a:rect l="l" t="t" r="r" b="b"/>
              <a:pathLst>
                <a:path w="2467610" h="4531995">
                  <a:moveTo>
                    <a:pt x="19431" y="4409186"/>
                  </a:moveTo>
                  <a:lnTo>
                    <a:pt x="12445" y="4409313"/>
                  </a:lnTo>
                  <a:lnTo>
                    <a:pt x="5461" y="4409567"/>
                  </a:lnTo>
                  <a:lnTo>
                    <a:pt x="0" y="4415409"/>
                  </a:lnTo>
                  <a:lnTo>
                    <a:pt x="254" y="4422267"/>
                  </a:lnTo>
                  <a:lnTo>
                    <a:pt x="3682" y="4531995"/>
                  </a:lnTo>
                  <a:lnTo>
                    <a:pt x="29653" y="4516247"/>
                  </a:lnTo>
                  <a:lnTo>
                    <a:pt x="26543" y="4516247"/>
                  </a:lnTo>
                  <a:lnTo>
                    <a:pt x="4444" y="4504182"/>
                  </a:lnTo>
                  <a:lnTo>
                    <a:pt x="26661" y="4463252"/>
                  </a:lnTo>
                  <a:lnTo>
                    <a:pt x="25400" y="4421505"/>
                  </a:lnTo>
                  <a:lnTo>
                    <a:pt x="25145" y="4414647"/>
                  </a:lnTo>
                  <a:lnTo>
                    <a:pt x="19431" y="4409186"/>
                  </a:lnTo>
                  <a:close/>
                </a:path>
                <a:path w="2467610" h="4531995">
                  <a:moveTo>
                    <a:pt x="26661" y="4463252"/>
                  </a:moveTo>
                  <a:lnTo>
                    <a:pt x="4444" y="4504182"/>
                  </a:lnTo>
                  <a:lnTo>
                    <a:pt x="26543" y="4516247"/>
                  </a:lnTo>
                  <a:lnTo>
                    <a:pt x="30058" y="4509770"/>
                  </a:lnTo>
                  <a:lnTo>
                    <a:pt x="28067" y="4509770"/>
                  </a:lnTo>
                  <a:lnTo>
                    <a:pt x="9017" y="4499356"/>
                  </a:lnTo>
                  <a:lnTo>
                    <a:pt x="27415" y="4488205"/>
                  </a:lnTo>
                  <a:lnTo>
                    <a:pt x="26661" y="4463252"/>
                  </a:lnTo>
                  <a:close/>
                </a:path>
                <a:path w="2467610" h="4531995">
                  <a:moveTo>
                    <a:pt x="90424" y="4449953"/>
                  </a:moveTo>
                  <a:lnTo>
                    <a:pt x="84455" y="4453636"/>
                  </a:lnTo>
                  <a:lnTo>
                    <a:pt x="48797" y="4475246"/>
                  </a:lnTo>
                  <a:lnTo>
                    <a:pt x="26543" y="4516247"/>
                  </a:lnTo>
                  <a:lnTo>
                    <a:pt x="29653" y="4516247"/>
                  </a:lnTo>
                  <a:lnTo>
                    <a:pt x="103377" y="4471543"/>
                  </a:lnTo>
                  <a:lnTo>
                    <a:pt x="105282" y="4463796"/>
                  </a:lnTo>
                  <a:lnTo>
                    <a:pt x="98170" y="4451858"/>
                  </a:lnTo>
                  <a:lnTo>
                    <a:pt x="90424" y="4449953"/>
                  </a:lnTo>
                  <a:close/>
                </a:path>
                <a:path w="2467610" h="4531995">
                  <a:moveTo>
                    <a:pt x="27415" y="4488205"/>
                  </a:moveTo>
                  <a:lnTo>
                    <a:pt x="9017" y="4499356"/>
                  </a:lnTo>
                  <a:lnTo>
                    <a:pt x="28067" y="4509770"/>
                  </a:lnTo>
                  <a:lnTo>
                    <a:pt x="27415" y="4488205"/>
                  </a:lnTo>
                  <a:close/>
                </a:path>
                <a:path w="2467610" h="4531995">
                  <a:moveTo>
                    <a:pt x="48797" y="4475246"/>
                  </a:moveTo>
                  <a:lnTo>
                    <a:pt x="27415" y="4488205"/>
                  </a:lnTo>
                  <a:lnTo>
                    <a:pt x="28067" y="4509770"/>
                  </a:lnTo>
                  <a:lnTo>
                    <a:pt x="30058" y="4509770"/>
                  </a:lnTo>
                  <a:lnTo>
                    <a:pt x="48797" y="4475246"/>
                  </a:lnTo>
                  <a:close/>
                </a:path>
                <a:path w="2467610" h="4531995">
                  <a:moveTo>
                    <a:pt x="2439846" y="43846"/>
                  </a:moveTo>
                  <a:lnTo>
                    <a:pt x="2418471" y="56801"/>
                  </a:lnTo>
                  <a:lnTo>
                    <a:pt x="26661" y="4463252"/>
                  </a:lnTo>
                  <a:lnTo>
                    <a:pt x="27415" y="4488205"/>
                  </a:lnTo>
                  <a:lnTo>
                    <a:pt x="48797" y="4475246"/>
                  </a:lnTo>
                  <a:lnTo>
                    <a:pt x="2440630" y="68627"/>
                  </a:lnTo>
                  <a:lnTo>
                    <a:pt x="2439846" y="43846"/>
                  </a:lnTo>
                  <a:close/>
                </a:path>
                <a:path w="2467610" h="4531995">
                  <a:moveTo>
                    <a:pt x="2464169" y="15875"/>
                  </a:moveTo>
                  <a:lnTo>
                    <a:pt x="2440686" y="15875"/>
                  </a:lnTo>
                  <a:lnTo>
                    <a:pt x="2462784" y="27812"/>
                  </a:lnTo>
                  <a:lnTo>
                    <a:pt x="2440630" y="68627"/>
                  </a:lnTo>
                  <a:lnTo>
                    <a:pt x="2441955" y="110490"/>
                  </a:lnTo>
                  <a:lnTo>
                    <a:pt x="2442083" y="117348"/>
                  </a:lnTo>
                  <a:lnTo>
                    <a:pt x="2447925" y="122809"/>
                  </a:lnTo>
                  <a:lnTo>
                    <a:pt x="2454910" y="122682"/>
                  </a:lnTo>
                  <a:lnTo>
                    <a:pt x="2461767" y="122428"/>
                  </a:lnTo>
                  <a:lnTo>
                    <a:pt x="2467229" y="116586"/>
                  </a:lnTo>
                  <a:lnTo>
                    <a:pt x="2467102" y="109728"/>
                  </a:lnTo>
                  <a:lnTo>
                    <a:pt x="2464169" y="15875"/>
                  </a:lnTo>
                  <a:close/>
                </a:path>
                <a:path w="2467610" h="4531995">
                  <a:moveTo>
                    <a:pt x="2463673" y="0"/>
                  </a:moveTo>
                  <a:lnTo>
                    <a:pt x="2369820" y="56896"/>
                  </a:lnTo>
                  <a:lnTo>
                    <a:pt x="2363851" y="60452"/>
                  </a:lnTo>
                  <a:lnTo>
                    <a:pt x="2361946" y="68199"/>
                  </a:lnTo>
                  <a:lnTo>
                    <a:pt x="2365629" y="74168"/>
                  </a:lnTo>
                  <a:lnTo>
                    <a:pt x="2369185" y="80137"/>
                  </a:lnTo>
                  <a:lnTo>
                    <a:pt x="2376932" y="82042"/>
                  </a:lnTo>
                  <a:lnTo>
                    <a:pt x="2382901" y="78359"/>
                  </a:lnTo>
                  <a:lnTo>
                    <a:pt x="2418471" y="56801"/>
                  </a:lnTo>
                  <a:lnTo>
                    <a:pt x="2440686" y="15875"/>
                  </a:lnTo>
                  <a:lnTo>
                    <a:pt x="2464169" y="15875"/>
                  </a:lnTo>
                  <a:lnTo>
                    <a:pt x="2463673" y="0"/>
                  </a:lnTo>
                  <a:close/>
                </a:path>
                <a:path w="2467610" h="4531995">
                  <a:moveTo>
                    <a:pt x="2452440" y="22225"/>
                  </a:moveTo>
                  <a:lnTo>
                    <a:pt x="2439162" y="22225"/>
                  </a:lnTo>
                  <a:lnTo>
                    <a:pt x="2458339" y="32639"/>
                  </a:lnTo>
                  <a:lnTo>
                    <a:pt x="2439846" y="43846"/>
                  </a:lnTo>
                  <a:lnTo>
                    <a:pt x="2440630" y="68627"/>
                  </a:lnTo>
                  <a:lnTo>
                    <a:pt x="2462784" y="27812"/>
                  </a:lnTo>
                  <a:lnTo>
                    <a:pt x="2452440" y="22225"/>
                  </a:lnTo>
                  <a:close/>
                </a:path>
                <a:path w="2467610" h="4531995">
                  <a:moveTo>
                    <a:pt x="2440686" y="15875"/>
                  </a:moveTo>
                  <a:lnTo>
                    <a:pt x="2418471" y="56801"/>
                  </a:lnTo>
                  <a:lnTo>
                    <a:pt x="2439846" y="43846"/>
                  </a:lnTo>
                  <a:lnTo>
                    <a:pt x="2439162" y="22225"/>
                  </a:lnTo>
                  <a:lnTo>
                    <a:pt x="2452440" y="22225"/>
                  </a:lnTo>
                  <a:lnTo>
                    <a:pt x="2440686" y="15875"/>
                  </a:lnTo>
                  <a:close/>
                </a:path>
                <a:path w="2467610" h="4531995">
                  <a:moveTo>
                    <a:pt x="2439162" y="22225"/>
                  </a:moveTo>
                  <a:lnTo>
                    <a:pt x="2439846" y="43846"/>
                  </a:lnTo>
                  <a:lnTo>
                    <a:pt x="2458339" y="32639"/>
                  </a:lnTo>
                  <a:lnTo>
                    <a:pt x="2439162" y="22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037" y="743712"/>
              <a:ext cx="2974086" cy="48394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29580" y="877443"/>
              <a:ext cx="2667000" cy="4531995"/>
            </a:xfrm>
            <a:custGeom>
              <a:avLst/>
              <a:gdLst/>
              <a:ahLst/>
              <a:cxnLst/>
              <a:rect l="l" t="t" r="r" b="b"/>
              <a:pathLst>
                <a:path w="2667000" h="4531995">
                  <a:moveTo>
                    <a:pt x="2577465" y="4453001"/>
                  </a:moveTo>
                  <a:lnTo>
                    <a:pt x="2569845" y="4455160"/>
                  </a:lnTo>
                  <a:lnTo>
                    <a:pt x="2566416" y="4461256"/>
                  </a:lnTo>
                  <a:lnTo>
                    <a:pt x="2563114" y="4467352"/>
                  </a:lnTo>
                  <a:lnTo>
                    <a:pt x="2565273" y="4474972"/>
                  </a:lnTo>
                  <a:lnTo>
                    <a:pt x="2571242" y="4478401"/>
                  </a:lnTo>
                  <a:lnTo>
                    <a:pt x="2667000" y="4531995"/>
                  </a:lnTo>
                  <a:lnTo>
                    <a:pt x="2666947" y="4517009"/>
                  </a:lnTo>
                  <a:lnTo>
                    <a:pt x="2643504" y="4517009"/>
                  </a:lnTo>
                  <a:lnTo>
                    <a:pt x="2619828" y="4476773"/>
                  </a:lnTo>
                  <a:lnTo>
                    <a:pt x="2577465" y="4453001"/>
                  </a:lnTo>
                  <a:close/>
                </a:path>
                <a:path w="2667000" h="4531995">
                  <a:moveTo>
                    <a:pt x="2619828" y="4476773"/>
                  </a:moveTo>
                  <a:lnTo>
                    <a:pt x="2643504" y="4517009"/>
                  </a:lnTo>
                  <a:lnTo>
                    <a:pt x="2654471" y="4510532"/>
                  </a:lnTo>
                  <a:lnTo>
                    <a:pt x="2641854" y="4510532"/>
                  </a:lnTo>
                  <a:lnTo>
                    <a:pt x="2641761" y="4489081"/>
                  </a:lnTo>
                  <a:lnTo>
                    <a:pt x="2619828" y="4476773"/>
                  </a:lnTo>
                  <a:close/>
                </a:path>
                <a:path w="2667000" h="4531995">
                  <a:moveTo>
                    <a:pt x="2660904" y="4409694"/>
                  </a:moveTo>
                  <a:lnTo>
                    <a:pt x="2654046" y="4409694"/>
                  </a:lnTo>
                  <a:lnTo>
                    <a:pt x="2647061" y="4409821"/>
                  </a:lnTo>
                  <a:lnTo>
                    <a:pt x="2641600" y="4415282"/>
                  </a:lnTo>
                  <a:lnTo>
                    <a:pt x="2641473" y="4422394"/>
                  </a:lnTo>
                  <a:lnTo>
                    <a:pt x="2641653" y="4464132"/>
                  </a:lnTo>
                  <a:lnTo>
                    <a:pt x="2665222" y="4504182"/>
                  </a:lnTo>
                  <a:lnTo>
                    <a:pt x="2643504" y="4517009"/>
                  </a:lnTo>
                  <a:lnTo>
                    <a:pt x="2666947" y="4517009"/>
                  </a:lnTo>
                  <a:lnTo>
                    <a:pt x="2666725" y="4453001"/>
                  </a:lnTo>
                  <a:lnTo>
                    <a:pt x="2666619" y="4415282"/>
                  </a:lnTo>
                  <a:lnTo>
                    <a:pt x="2660904" y="4409694"/>
                  </a:lnTo>
                  <a:close/>
                </a:path>
                <a:path w="2667000" h="4531995">
                  <a:moveTo>
                    <a:pt x="2641761" y="4489081"/>
                  </a:moveTo>
                  <a:lnTo>
                    <a:pt x="2641854" y="4510532"/>
                  </a:lnTo>
                  <a:lnTo>
                    <a:pt x="2660523" y="4499610"/>
                  </a:lnTo>
                  <a:lnTo>
                    <a:pt x="2641761" y="4489081"/>
                  </a:lnTo>
                  <a:close/>
                </a:path>
                <a:path w="2667000" h="4531995">
                  <a:moveTo>
                    <a:pt x="2641653" y="4464132"/>
                  </a:moveTo>
                  <a:lnTo>
                    <a:pt x="2641761" y="4489081"/>
                  </a:lnTo>
                  <a:lnTo>
                    <a:pt x="2660523" y="4499610"/>
                  </a:lnTo>
                  <a:lnTo>
                    <a:pt x="2641854" y="4510532"/>
                  </a:lnTo>
                  <a:lnTo>
                    <a:pt x="2654471" y="4510532"/>
                  </a:lnTo>
                  <a:lnTo>
                    <a:pt x="2665222" y="4504182"/>
                  </a:lnTo>
                  <a:lnTo>
                    <a:pt x="2641653" y="4464132"/>
                  </a:lnTo>
                  <a:close/>
                </a:path>
                <a:path w="2667000" h="4531995">
                  <a:moveTo>
                    <a:pt x="25238" y="42913"/>
                  </a:moveTo>
                  <a:lnTo>
                    <a:pt x="25346" y="67737"/>
                  </a:lnTo>
                  <a:lnTo>
                    <a:pt x="2619828" y="4476773"/>
                  </a:lnTo>
                  <a:lnTo>
                    <a:pt x="2641761" y="4489081"/>
                  </a:lnTo>
                  <a:lnTo>
                    <a:pt x="2641653" y="4464132"/>
                  </a:lnTo>
                  <a:lnTo>
                    <a:pt x="46984" y="55116"/>
                  </a:lnTo>
                  <a:lnTo>
                    <a:pt x="25238" y="42913"/>
                  </a:lnTo>
                  <a:close/>
                </a:path>
                <a:path w="2667000" h="4531995">
                  <a:moveTo>
                    <a:pt x="0" y="0"/>
                  </a:moveTo>
                  <a:lnTo>
                    <a:pt x="266" y="76835"/>
                  </a:lnTo>
                  <a:lnTo>
                    <a:pt x="381" y="116712"/>
                  </a:lnTo>
                  <a:lnTo>
                    <a:pt x="6096" y="122301"/>
                  </a:lnTo>
                  <a:lnTo>
                    <a:pt x="12954" y="122301"/>
                  </a:lnTo>
                  <a:lnTo>
                    <a:pt x="19939" y="122174"/>
                  </a:lnTo>
                  <a:lnTo>
                    <a:pt x="25400" y="116712"/>
                  </a:lnTo>
                  <a:lnTo>
                    <a:pt x="25527" y="109601"/>
                  </a:lnTo>
                  <a:lnTo>
                    <a:pt x="25346" y="67737"/>
                  </a:lnTo>
                  <a:lnTo>
                    <a:pt x="1778" y="27686"/>
                  </a:lnTo>
                  <a:lnTo>
                    <a:pt x="23368" y="14986"/>
                  </a:lnTo>
                  <a:lnTo>
                    <a:pt x="26775" y="14986"/>
                  </a:lnTo>
                  <a:lnTo>
                    <a:pt x="0" y="0"/>
                  </a:lnTo>
                  <a:close/>
                </a:path>
                <a:path w="2667000" h="4531995">
                  <a:moveTo>
                    <a:pt x="26775" y="14986"/>
                  </a:moveTo>
                  <a:lnTo>
                    <a:pt x="23368" y="14986"/>
                  </a:lnTo>
                  <a:lnTo>
                    <a:pt x="46984" y="55116"/>
                  </a:lnTo>
                  <a:lnTo>
                    <a:pt x="89535" y="78994"/>
                  </a:lnTo>
                  <a:lnTo>
                    <a:pt x="97155" y="76835"/>
                  </a:lnTo>
                  <a:lnTo>
                    <a:pt x="100584" y="70739"/>
                  </a:lnTo>
                  <a:lnTo>
                    <a:pt x="103886" y="64643"/>
                  </a:lnTo>
                  <a:lnTo>
                    <a:pt x="101727" y="57023"/>
                  </a:lnTo>
                  <a:lnTo>
                    <a:pt x="95758" y="53594"/>
                  </a:lnTo>
                  <a:lnTo>
                    <a:pt x="26775" y="14986"/>
                  </a:lnTo>
                  <a:close/>
                </a:path>
                <a:path w="2667000" h="4531995">
                  <a:moveTo>
                    <a:pt x="23368" y="14986"/>
                  </a:moveTo>
                  <a:lnTo>
                    <a:pt x="1778" y="27686"/>
                  </a:lnTo>
                  <a:lnTo>
                    <a:pt x="25346" y="67737"/>
                  </a:lnTo>
                  <a:lnTo>
                    <a:pt x="25238" y="42913"/>
                  </a:lnTo>
                  <a:lnTo>
                    <a:pt x="6477" y="32385"/>
                  </a:lnTo>
                  <a:lnTo>
                    <a:pt x="25146" y="21462"/>
                  </a:lnTo>
                  <a:lnTo>
                    <a:pt x="27179" y="21462"/>
                  </a:lnTo>
                  <a:lnTo>
                    <a:pt x="23368" y="14986"/>
                  </a:lnTo>
                  <a:close/>
                </a:path>
                <a:path w="2667000" h="4531995">
                  <a:moveTo>
                    <a:pt x="27179" y="21462"/>
                  </a:moveTo>
                  <a:lnTo>
                    <a:pt x="25146" y="21462"/>
                  </a:lnTo>
                  <a:lnTo>
                    <a:pt x="25238" y="42913"/>
                  </a:lnTo>
                  <a:lnTo>
                    <a:pt x="46984" y="55116"/>
                  </a:lnTo>
                  <a:lnTo>
                    <a:pt x="27179" y="21462"/>
                  </a:lnTo>
                  <a:close/>
                </a:path>
                <a:path w="2667000" h="4531995">
                  <a:moveTo>
                    <a:pt x="25146" y="21462"/>
                  </a:moveTo>
                  <a:lnTo>
                    <a:pt x="6477" y="32385"/>
                  </a:lnTo>
                  <a:lnTo>
                    <a:pt x="25238" y="42913"/>
                  </a:lnTo>
                  <a:lnTo>
                    <a:pt x="25146" y="21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38773" y="1941829"/>
              <a:ext cx="554354" cy="80517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013447" y="1487424"/>
            <a:ext cx="1339850" cy="151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i="1" spc="-5" dirty="0">
                <a:latin typeface="Times New Roman"/>
                <a:cs typeface="Times New Roman"/>
              </a:rPr>
              <a:t>Đặc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biệt, bao 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quát, bất quy tắc, 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có tính dự báo, 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thông tin bên 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ngoài, không 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thường</a:t>
            </a:r>
            <a:r>
              <a:rPr sz="1400" i="1" spc="-3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xuyên,</a:t>
            </a:r>
            <a:r>
              <a:rPr sz="1400" i="1" spc="-1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quy </a:t>
            </a:r>
            <a:r>
              <a:rPr sz="1400" i="1" spc="-33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mô rộng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7481061" y="3585209"/>
            <a:ext cx="125095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i="1" spc="-5" dirty="0">
                <a:latin typeface="Times New Roman"/>
                <a:cs typeface="Times New Roman"/>
              </a:rPr>
              <a:t>Được thiết lập 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trước, </a:t>
            </a:r>
            <a:r>
              <a:rPr sz="1400" i="1" dirty="0">
                <a:latin typeface="Times New Roman"/>
                <a:cs typeface="Times New Roman"/>
              </a:rPr>
              <a:t>có chu </a:t>
            </a:r>
            <a:r>
              <a:rPr sz="1400" i="1" spc="-5" dirty="0">
                <a:latin typeface="Times New Roman"/>
                <a:cs typeface="Times New Roman"/>
              </a:rPr>
              <a:t>kỳ, </a:t>
            </a:r>
            <a:r>
              <a:rPr sz="1400" i="1" spc="-33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thường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xuyên,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có </a:t>
            </a:r>
            <a:r>
              <a:rPr sz="1400" i="1" spc="-33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tính lịch sử, nội 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bộ,quy</a:t>
            </a:r>
            <a:r>
              <a:rPr sz="1400" i="1" spc="33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mô nhỏ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74594" y="1814067"/>
            <a:ext cx="56153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>
                <a:solidFill>
                  <a:srgbClr val="00AF50"/>
                </a:solidFill>
              </a:rPr>
              <a:t>HTTT</a:t>
            </a:r>
            <a:r>
              <a:rPr spc="-25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HỖ</a:t>
            </a:r>
            <a:r>
              <a:rPr sz="3200" spc="175" dirty="0">
                <a:solidFill>
                  <a:srgbClr val="00AF50"/>
                </a:solidFill>
              </a:rPr>
              <a:t> </a:t>
            </a:r>
            <a:r>
              <a:rPr sz="3200" spc="-15" dirty="0">
                <a:solidFill>
                  <a:srgbClr val="00AF50"/>
                </a:solidFill>
              </a:rPr>
              <a:t>TRỢ</a:t>
            </a:r>
            <a:r>
              <a:rPr sz="3200" spc="175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RA</a:t>
            </a:r>
            <a:r>
              <a:rPr sz="3200" spc="170" dirty="0">
                <a:solidFill>
                  <a:srgbClr val="00AF50"/>
                </a:solidFill>
              </a:rPr>
              <a:t> </a:t>
            </a:r>
            <a:r>
              <a:rPr sz="3200" spc="-10" dirty="0">
                <a:solidFill>
                  <a:srgbClr val="00AF50"/>
                </a:solidFill>
              </a:rPr>
              <a:t>QUYẾT</a:t>
            </a:r>
            <a:r>
              <a:rPr sz="3200" spc="175" dirty="0">
                <a:solidFill>
                  <a:srgbClr val="00AF50"/>
                </a:solidFill>
              </a:rPr>
              <a:t> 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ĐỊNH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145539" y="2755442"/>
            <a:ext cx="7233284" cy="30130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spc="-5" dirty="0">
                <a:latin typeface="Times New Roman"/>
                <a:cs typeface="Times New Roman"/>
              </a:rPr>
              <a:t>Khái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niệm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spc="-5" dirty="0">
                <a:latin typeface="Times New Roman"/>
                <a:cs typeface="Times New Roman"/>
              </a:rPr>
              <a:t>Các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đặc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trưng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của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thành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phần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của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hỗ trợ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nguồn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tài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nguyên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của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hỗ trợ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Phân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loại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186181"/>
            <a:ext cx="7006590" cy="1248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Khái</a:t>
            </a:r>
            <a:r>
              <a:rPr spc="-5" dirty="0"/>
              <a:t> </a:t>
            </a:r>
            <a:r>
              <a:rPr dirty="0"/>
              <a:t>niệm</a:t>
            </a:r>
            <a:r>
              <a:rPr spc="-5" dirty="0"/>
              <a:t> </a:t>
            </a:r>
            <a:r>
              <a:rPr spc="15" dirty="0"/>
              <a:t>HTTT</a:t>
            </a:r>
            <a:r>
              <a:rPr spc="-30" dirty="0"/>
              <a:t> </a:t>
            </a:r>
            <a:r>
              <a:rPr spc="-20" dirty="0"/>
              <a:t>trợ</a:t>
            </a:r>
            <a:r>
              <a:rPr spc="-5" dirty="0"/>
              <a:t> giúp</a:t>
            </a:r>
            <a:r>
              <a:rPr spc="-10" dirty="0"/>
              <a:t> </a:t>
            </a:r>
            <a:r>
              <a:rPr spc="-45" dirty="0"/>
              <a:t>ra</a:t>
            </a:r>
            <a:r>
              <a:rPr dirty="0"/>
              <a:t> </a:t>
            </a:r>
            <a:r>
              <a:rPr spc="-20" dirty="0"/>
              <a:t>quyết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>
                <a:latin typeface="Times New Roman"/>
                <a:cs typeface="Times New Roman"/>
              </a:rPr>
              <a:t>định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dirty="0"/>
              <a:t>(DSS)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920355" cy="42932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5080" indent="-342900" algn="just">
              <a:lnSpc>
                <a:spcPts val="2400"/>
              </a:lnSpc>
              <a:spcBef>
                <a:spcPts val="680"/>
              </a:spcBef>
            </a:pPr>
            <a:r>
              <a:rPr sz="2500" dirty="0">
                <a:latin typeface="Arial"/>
                <a:cs typeface="Arial"/>
              </a:rPr>
              <a:t>•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Là HTTT dựa trên máy tính trợ </a:t>
            </a:r>
            <a:r>
              <a:rPr sz="2500" spc="-5" dirty="0">
                <a:latin typeface="Arial"/>
                <a:cs typeface="Arial"/>
              </a:rPr>
              <a:t>giúp </a:t>
            </a:r>
            <a:r>
              <a:rPr sz="2500" dirty="0">
                <a:latin typeface="Arial"/>
                <a:cs typeface="Arial"/>
              </a:rPr>
              <a:t>việc ra các </a:t>
            </a:r>
            <a:r>
              <a:rPr sz="2500" spc="-5" dirty="0">
                <a:latin typeface="Arial"/>
                <a:cs typeface="Arial"/>
              </a:rPr>
              <a:t>quyết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định phi </a:t>
            </a:r>
            <a:r>
              <a:rPr sz="2500" dirty="0">
                <a:latin typeface="Arial"/>
                <a:cs typeface="Arial"/>
              </a:rPr>
              <a:t>cấu trúc </a:t>
            </a:r>
            <a:r>
              <a:rPr sz="2500" spc="-10" dirty="0">
                <a:latin typeface="Arial"/>
                <a:cs typeface="Arial"/>
              </a:rPr>
              <a:t>hoặc </a:t>
            </a:r>
            <a:r>
              <a:rPr sz="2500" dirty="0">
                <a:latin typeface="Arial"/>
                <a:cs typeface="Arial"/>
              </a:rPr>
              <a:t>nửa cấu trúc trong </a:t>
            </a:r>
            <a:r>
              <a:rPr sz="2500" spc="-10" dirty="0">
                <a:latin typeface="Arial"/>
                <a:cs typeface="Arial"/>
              </a:rPr>
              <a:t>quản </a:t>
            </a:r>
            <a:r>
              <a:rPr sz="2500" spc="-5" dirty="0">
                <a:latin typeface="Arial"/>
                <a:cs typeface="Arial"/>
              </a:rPr>
              <a:t>lý của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một tổ chức </a:t>
            </a:r>
            <a:r>
              <a:rPr sz="2500" spc="-5" dirty="0">
                <a:latin typeface="Arial"/>
                <a:cs typeface="Arial"/>
              </a:rPr>
              <a:t>bằng </a:t>
            </a:r>
            <a:r>
              <a:rPr sz="2500" dirty="0">
                <a:latin typeface="Arial"/>
                <a:cs typeface="Arial"/>
              </a:rPr>
              <a:t>các kết </a:t>
            </a:r>
            <a:r>
              <a:rPr sz="2500" spc="-5" dirty="0">
                <a:latin typeface="Arial"/>
                <a:cs typeface="Arial"/>
              </a:rPr>
              <a:t>hợp </a:t>
            </a:r>
            <a:r>
              <a:rPr sz="2500" dirty="0">
                <a:latin typeface="Arial"/>
                <a:cs typeface="Arial"/>
              </a:rPr>
              <a:t>dữ </a:t>
            </a:r>
            <a:r>
              <a:rPr sz="2500" spc="-5" dirty="0">
                <a:latin typeface="Arial"/>
                <a:cs typeface="Arial"/>
              </a:rPr>
              <a:t>liệu </a:t>
            </a:r>
            <a:r>
              <a:rPr sz="2500" dirty="0">
                <a:latin typeface="Arial"/>
                <a:cs typeface="Arial"/>
              </a:rPr>
              <a:t>với các </a:t>
            </a:r>
            <a:r>
              <a:rPr sz="2500" spc="-5" dirty="0">
                <a:latin typeface="Arial"/>
                <a:cs typeface="Arial"/>
              </a:rPr>
              <a:t>công </a:t>
            </a:r>
            <a:r>
              <a:rPr sz="2500" dirty="0">
                <a:latin typeface="Arial"/>
                <a:cs typeface="Arial"/>
              </a:rPr>
              <a:t> cụ, các</a:t>
            </a:r>
            <a:r>
              <a:rPr sz="2500" spc="-5" dirty="0">
                <a:latin typeface="Arial"/>
                <a:cs typeface="Arial"/>
              </a:rPr>
              <a:t> mô</a:t>
            </a:r>
            <a:r>
              <a:rPr sz="2500" dirty="0">
                <a:latin typeface="Arial"/>
                <a:cs typeface="Arial"/>
              </a:rPr>
              <a:t> hình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phân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tích.</a:t>
            </a:r>
            <a:endParaRPr sz="2500">
              <a:latin typeface="Arial"/>
              <a:cs typeface="Arial"/>
            </a:endParaRPr>
          </a:p>
          <a:p>
            <a:pPr marL="355600" marR="5715" indent="-342900" algn="just">
              <a:lnSpc>
                <a:spcPts val="2400"/>
              </a:lnSpc>
              <a:spcBef>
                <a:spcPts val="600"/>
              </a:spcBef>
            </a:pPr>
            <a:r>
              <a:rPr sz="2500" dirty="0">
                <a:latin typeface="Arial"/>
                <a:cs typeface="Arial"/>
              </a:rPr>
              <a:t>•</a:t>
            </a:r>
            <a:r>
              <a:rPr sz="2500" spc="69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Là HTTT cung cấp sự trợ </a:t>
            </a:r>
            <a:r>
              <a:rPr sz="2500" spc="-5" dirty="0">
                <a:latin typeface="Arial"/>
                <a:cs typeface="Arial"/>
              </a:rPr>
              <a:t>giúp qua lại giữa </a:t>
            </a:r>
            <a:r>
              <a:rPr sz="2500" spc="-10" dirty="0">
                <a:latin typeface="Arial"/>
                <a:cs typeface="Arial"/>
              </a:rPr>
              <a:t>người 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quản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lý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5" dirty="0">
                <a:latin typeface="Arial"/>
                <a:cs typeface="Arial"/>
              </a:rPr>
              <a:t> HT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trong quá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trình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ra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QĐ.</a:t>
            </a:r>
            <a:endParaRPr sz="2500">
              <a:latin typeface="Arial"/>
              <a:cs typeface="Arial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605"/>
              </a:spcBef>
            </a:pPr>
            <a:r>
              <a:rPr sz="2500" dirty="0">
                <a:latin typeface="Arial"/>
                <a:cs typeface="Arial"/>
              </a:rPr>
              <a:t>•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Sử </a:t>
            </a:r>
            <a:r>
              <a:rPr sz="2500" spc="-10" dirty="0">
                <a:latin typeface="Arial"/>
                <a:cs typeface="Arial"/>
              </a:rPr>
              <a:t>dụng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mô </a:t>
            </a:r>
            <a:r>
              <a:rPr sz="2500" dirty="0">
                <a:latin typeface="Arial"/>
                <a:cs typeface="Arial"/>
              </a:rPr>
              <a:t>hình </a:t>
            </a:r>
            <a:r>
              <a:rPr sz="2500" spc="-10" dirty="0">
                <a:latin typeface="Arial"/>
                <a:cs typeface="Arial"/>
              </a:rPr>
              <a:t>phân </a:t>
            </a:r>
            <a:r>
              <a:rPr sz="2500" dirty="0">
                <a:latin typeface="Arial"/>
                <a:cs typeface="Arial"/>
              </a:rPr>
              <a:t>tích, các </a:t>
            </a:r>
            <a:r>
              <a:rPr sz="2500" spc="-5" dirty="0">
                <a:latin typeface="Arial"/>
                <a:cs typeface="Arial"/>
              </a:rPr>
              <a:t>CSDL </a:t>
            </a:r>
            <a:r>
              <a:rPr sz="2500" dirty="0">
                <a:latin typeface="Arial"/>
                <a:cs typeface="Arial"/>
              </a:rPr>
              <a:t>riêng </a:t>
            </a:r>
            <a:r>
              <a:rPr sz="2500" spc="-10" dirty="0">
                <a:latin typeface="Arial"/>
                <a:cs typeface="Arial"/>
              </a:rPr>
              <a:t>biệt, 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 tư </a:t>
            </a:r>
            <a:r>
              <a:rPr sz="2500" spc="-5" dirty="0">
                <a:latin typeface="Arial"/>
                <a:cs typeface="Arial"/>
              </a:rPr>
              <a:t>tưởng </a:t>
            </a:r>
            <a:r>
              <a:rPr sz="2500" dirty="0">
                <a:latin typeface="Arial"/>
                <a:cs typeface="Arial"/>
              </a:rPr>
              <a:t>và </a:t>
            </a:r>
            <a:r>
              <a:rPr sz="2500" spc="-10" dirty="0">
                <a:latin typeface="Arial"/>
                <a:cs typeface="Arial"/>
              </a:rPr>
              <a:t>đánh </a:t>
            </a:r>
            <a:r>
              <a:rPr sz="2500" spc="-5" dirty="0">
                <a:latin typeface="Arial"/>
                <a:cs typeface="Arial"/>
              </a:rPr>
              <a:t>giá </a:t>
            </a:r>
            <a:r>
              <a:rPr sz="2500" dirty="0">
                <a:latin typeface="Arial"/>
                <a:cs typeface="Arial"/>
              </a:rPr>
              <a:t>của </a:t>
            </a:r>
            <a:r>
              <a:rPr sz="2500" spc="-5" dirty="0">
                <a:latin typeface="Arial"/>
                <a:cs typeface="Arial"/>
              </a:rPr>
              <a:t>nhà </a:t>
            </a:r>
            <a:r>
              <a:rPr sz="2500" spc="-10" dirty="0">
                <a:latin typeface="Arial"/>
                <a:cs typeface="Arial"/>
              </a:rPr>
              <a:t>quản </a:t>
            </a:r>
            <a:r>
              <a:rPr sz="2500" spc="-5" dirty="0">
                <a:latin typeface="Arial"/>
                <a:cs typeface="Arial"/>
              </a:rPr>
              <a:t>lý </a:t>
            </a:r>
            <a:r>
              <a:rPr sz="2500" dirty="0">
                <a:latin typeface="Arial"/>
                <a:cs typeface="Arial"/>
              </a:rPr>
              <a:t>để tin </a:t>
            </a:r>
            <a:r>
              <a:rPr sz="2500" spc="-5" dirty="0">
                <a:latin typeface="Arial"/>
                <a:cs typeface="Arial"/>
              </a:rPr>
              <a:t>học 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hóa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mô hình </a:t>
            </a:r>
            <a:r>
              <a:rPr sz="2500" dirty="0">
                <a:latin typeface="Arial"/>
                <a:cs typeface="Arial"/>
              </a:rPr>
              <a:t>tương hỗ </a:t>
            </a:r>
            <a:r>
              <a:rPr sz="2500" spc="-5" dirty="0">
                <a:latin typeface="Arial"/>
                <a:cs typeface="Arial"/>
              </a:rPr>
              <a:t>giúp </a:t>
            </a:r>
            <a:r>
              <a:rPr sz="2500" dirty="0">
                <a:latin typeface="Arial"/>
                <a:cs typeface="Arial"/>
              </a:rPr>
              <a:t>các </a:t>
            </a:r>
            <a:r>
              <a:rPr sz="2500" spc="-5" dirty="0">
                <a:latin typeface="Arial"/>
                <a:cs typeface="Arial"/>
              </a:rPr>
              <a:t>nhà </a:t>
            </a:r>
            <a:r>
              <a:rPr sz="2500" spc="-10" dirty="0">
                <a:latin typeface="Arial"/>
                <a:cs typeface="Arial"/>
              </a:rPr>
              <a:t>quản </a:t>
            </a:r>
            <a:r>
              <a:rPr sz="2500" spc="-5" dirty="0">
                <a:latin typeface="Arial"/>
                <a:cs typeface="Arial"/>
              </a:rPr>
              <a:t>lý </a:t>
            </a:r>
            <a:r>
              <a:rPr sz="2500" spc="-10" dirty="0">
                <a:latin typeface="Arial"/>
                <a:cs typeface="Arial"/>
              </a:rPr>
              <a:t>ra 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5" dirty="0">
                <a:latin typeface="Arial"/>
                <a:cs typeface="Arial"/>
              </a:rPr>
              <a:t> QĐ</a:t>
            </a:r>
            <a:r>
              <a:rPr sz="2500" dirty="0">
                <a:latin typeface="Arial"/>
                <a:cs typeface="Arial"/>
              </a:rPr>
              <a:t> phi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cấu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trúc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hoặc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nửa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cấu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trúc.</a:t>
            </a:r>
            <a:endParaRPr sz="2500">
              <a:latin typeface="Arial"/>
              <a:cs typeface="Arial"/>
            </a:endParaRPr>
          </a:p>
          <a:p>
            <a:pPr marL="355600" marR="5080" indent="-342900" algn="just">
              <a:lnSpc>
                <a:spcPts val="2400"/>
              </a:lnSpc>
              <a:spcBef>
                <a:spcPts val="600"/>
              </a:spcBef>
            </a:pPr>
            <a:r>
              <a:rPr sz="2500" dirty="0">
                <a:latin typeface="Arial"/>
                <a:cs typeface="Arial"/>
              </a:rPr>
              <a:t>•</a:t>
            </a:r>
            <a:r>
              <a:rPr sz="2500" spc="434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Có</a:t>
            </a:r>
            <a:r>
              <a:rPr sz="2500" spc="6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khả</a:t>
            </a:r>
            <a:r>
              <a:rPr sz="2500" spc="6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năng</a:t>
            </a:r>
            <a:r>
              <a:rPr sz="2500" spc="60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trợ</a:t>
            </a:r>
            <a:r>
              <a:rPr sz="2500" spc="6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giúp</a:t>
            </a:r>
            <a:r>
              <a:rPr sz="2500" spc="60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trực</a:t>
            </a:r>
            <a:r>
              <a:rPr sz="2500" spc="6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tiếp</a:t>
            </a:r>
            <a:r>
              <a:rPr sz="2500" spc="60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60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dạng</a:t>
            </a:r>
            <a:r>
              <a:rPr sz="2500" spc="6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QĐ</a:t>
            </a:r>
            <a:r>
              <a:rPr sz="2500" spc="60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đặc </a:t>
            </a:r>
            <a:r>
              <a:rPr sz="2500" spc="-68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trưng, các kiểu QĐ, các </a:t>
            </a:r>
            <a:r>
              <a:rPr sz="2500" spc="-5" dirty="0">
                <a:latin typeface="Arial"/>
                <a:cs typeface="Arial"/>
              </a:rPr>
              <a:t>nhu </a:t>
            </a:r>
            <a:r>
              <a:rPr sz="2500" dirty="0">
                <a:latin typeface="Arial"/>
                <a:cs typeface="Arial"/>
              </a:rPr>
              <a:t>cầu </a:t>
            </a:r>
            <a:r>
              <a:rPr sz="2500" spc="-5" dirty="0">
                <a:latin typeface="Arial"/>
                <a:cs typeface="Arial"/>
              </a:rPr>
              <a:t>riêng biệt </a:t>
            </a:r>
            <a:r>
              <a:rPr sz="2500" dirty="0">
                <a:latin typeface="Arial"/>
                <a:cs typeface="Arial"/>
              </a:rPr>
              <a:t>của </a:t>
            </a:r>
            <a:r>
              <a:rPr sz="2500" spc="-10" dirty="0">
                <a:latin typeface="Arial"/>
                <a:cs typeface="Arial"/>
              </a:rPr>
              <a:t>mỗi 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nhà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quản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lý.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8006"/>
            <a:ext cx="63804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Sự</a:t>
            </a:r>
            <a:r>
              <a:rPr spc="-30" dirty="0"/>
              <a:t> </a:t>
            </a:r>
            <a:r>
              <a:rPr dirty="0"/>
              <a:t>khác</a:t>
            </a:r>
            <a:r>
              <a:rPr spc="-10" dirty="0"/>
              <a:t> </a:t>
            </a:r>
            <a:r>
              <a:rPr dirty="0"/>
              <a:t>nhau</a:t>
            </a:r>
            <a:r>
              <a:rPr spc="-20" dirty="0"/>
              <a:t> </a:t>
            </a:r>
            <a:r>
              <a:rPr spc="-5" dirty="0"/>
              <a:t>giữa</a:t>
            </a:r>
            <a:r>
              <a:rPr spc="-15" dirty="0"/>
              <a:t> </a:t>
            </a:r>
            <a:r>
              <a:rPr spc="-5" dirty="0"/>
              <a:t>MIS</a:t>
            </a:r>
            <a:r>
              <a:rPr spc="-15" dirty="0"/>
              <a:t> </a:t>
            </a:r>
            <a:r>
              <a:rPr spc="-30" dirty="0"/>
              <a:t>và</a:t>
            </a:r>
            <a:r>
              <a:rPr spc="-25" dirty="0"/>
              <a:t> </a:t>
            </a:r>
            <a:r>
              <a:rPr spc="-5" dirty="0"/>
              <a:t>DSS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831850"/>
          <a:ext cx="8458200" cy="5429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42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Thông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cung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cấp: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191135" indent="-285750">
                        <a:lnSpc>
                          <a:spcPct val="100000"/>
                        </a:lnSpc>
                        <a:tabLst>
                          <a:tab pos="37655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biểu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mẫu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thông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 và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tần số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xuất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hiện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37655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dạng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thông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342900" indent="-285750">
                        <a:lnSpc>
                          <a:spcPct val="100000"/>
                        </a:lnSpc>
                        <a:tabLst>
                          <a:tab pos="37655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Phương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pháp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luận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xử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lý</a:t>
                      </a:r>
                      <a:r>
                        <a:rPr sz="1600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thông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Thường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kỳ,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ngoại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lệ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báo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cáo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yêu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cầu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3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bảng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trả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lời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Dạng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cố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biết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trước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179070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Thông tin nhận được do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sao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chép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thao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tác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từ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các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DL</a:t>
                      </a:r>
                      <a:r>
                        <a:rPr sz="1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đã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xử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lý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thẩm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tra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tương tác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bảng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trả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lời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468630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Dạng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đặc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biệt, linh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hoạt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thích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ứng.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152400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Thông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nhận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được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từ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các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mô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hình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phân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tích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 xử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lý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dữ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liệu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ngoài.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175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Trợ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37655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Kiểu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trợ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định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337185" indent="-285750">
                        <a:lnSpc>
                          <a:spcPct val="100000"/>
                        </a:lnSpc>
                        <a:tabLst>
                          <a:tab pos="37655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 giai đoạn trợ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203835" indent="-285750">
                        <a:lnSpc>
                          <a:spcPct val="100000"/>
                        </a:lnSpc>
                        <a:tabLst>
                          <a:tab pos="376555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Kiểu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người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trợ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77190" marR="160020" indent="-285750">
                        <a:lnSpc>
                          <a:spcPct val="100000"/>
                        </a:lnSpc>
                        <a:spcBef>
                          <a:spcPts val="310"/>
                        </a:spcBef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Cung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cấp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thông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về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hoạt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động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của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tổ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chức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212090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Trợ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 các giai đoạn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đánh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giá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bổ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sung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khi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181610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có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cấu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trúc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dễ kiểm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soát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 lập kế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hoạch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xử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lý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chiến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thuật.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236854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Trợ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 gián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tiếp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thiết kế </a:t>
                      </a:r>
                      <a:r>
                        <a:rPr sz="1600" spc="-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cho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nhiều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nhà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quản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lý.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377190" marR="288925" indent="-285750">
                        <a:lnSpc>
                          <a:spcPct val="100000"/>
                        </a:lnSpc>
                        <a:spcBef>
                          <a:spcPts val="310"/>
                        </a:spcBef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Cung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cấp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thông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tin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các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kỹ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thuật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trợ giúp chống lại các vấn đề đặc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biệt hoặc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các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cơ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hội.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257810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Trợ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 các giai đoạn đánh giá ,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thiết kế,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lựa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chọn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bổ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sung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khi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229235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Các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quyết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định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nửa</a:t>
                      </a:r>
                      <a:r>
                        <a:rPr sz="1600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cấu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trúc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 phi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cấu trúc để dễ kiểm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soát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và lập kế 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hoạch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chiến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lược và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chiến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thuật.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77190" marR="355600" indent="-285750">
                        <a:lnSpc>
                          <a:spcPct val="100000"/>
                        </a:lnSpc>
                        <a:tabLst>
                          <a:tab pos="377190" algn="l"/>
                        </a:tabLst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-	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Trợ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giúp trực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tiếp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 biến đổi phong </a:t>
                      </a:r>
                      <a:r>
                        <a:rPr sz="1600" spc="-3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cách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QĐ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của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các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nhà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quản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lý.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51555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 </a:t>
            </a:r>
            <a:r>
              <a:rPr sz="4400" spc="-5" dirty="0">
                <a:latin typeface="Times New Roman"/>
                <a:cs typeface="Times New Roman"/>
              </a:rPr>
              <a:t>đặc</a:t>
            </a:r>
            <a:r>
              <a:rPr sz="4400" spc="-114" dirty="0">
                <a:latin typeface="Times New Roman"/>
                <a:cs typeface="Times New Roman"/>
              </a:rPr>
              <a:t> </a:t>
            </a:r>
            <a:r>
              <a:rPr sz="4400" spc="-5" dirty="0"/>
              <a:t>tr</a:t>
            </a:r>
            <a:r>
              <a:rPr sz="4400" spc="-5" dirty="0">
                <a:latin typeface="Times New Roman"/>
                <a:cs typeface="Times New Roman"/>
              </a:rPr>
              <a:t>ư</a:t>
            </a:r>
            <a:r>
              <a:rPr sz="4400" spc="-5" dirty="0"/>
              <a:t>ng</a:t>
            </a:r>
            <a:r>
              <a:rPr sz="4400" spc="-20" dirty="0"/>
              <a:t> </a:t>
            </a:r>
            <a:r>
              <a:rPr sz="4400" spc="-5" dirty="0"/>
              <a:t>của</a:t>
            </a:r>
            <a:r>
              <a:rPr sz="4400" spc="-15" dirty="0"/>
              <a:t> </a:t>
            </a:r>
            <a:r>
              <a:rPr sz="4400" spc="-10" dirty="0"/>
              <a:t>DSS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44319"/>
            <a:ext cx="7920355" cy="42932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marR="5080" indent="-342900">
              <a:lnSpc>
                <a:spcPts val="24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Hướng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tới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việc</a:t>
            </a:r>
            <a:r>
              <a:rPr sz="2500" spc="11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cung</a:t>
            </a:r>
            <a:r>
              <a:rPr sz="2500" spc="12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cấp</a:t>
            </a:r>
            <a:r>
              <a:rPr sz="2500" spc="1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thông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tin</a:t>
            </a:r>
            <a:r>
              <a:rPr sz="2500" spc="12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cho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trợ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giúp</a:t>
            </a:r>
            <a:r>
              <a:rPr sz="2500" spc="12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trong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quá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trình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phân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tích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tình huống</a:t>
            </a:r>
            <a:endParaRPr sz="2500">
              <a:latin typeface="Arial"/>
              <a:cs typeface="Arial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Cho</a:t>
            </a:r>
            <a:r>
              <a:rPr sz="2500" spc="31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phép</a:t>
            </a:r>
            <a:r>
              <a:rPr sz="2500" spc="3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người</a:t>
            </a:r>
            <a:r>
              <a:rPr sz="2500" spc="3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ra</a:t>
            </a:r>
            <a:r>
              <a:rPr sz="2500" spc="3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quyết</a:t>
            </a:r>
            <a:r>
              <a:rPr sz="2500" spc="3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định</a:t>
            </a:r>
            <a:r>
              <a:rPr sz="2500" spc="3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kết</a:t>
            </a:r>
            <a:r>
              <a:rPr sz="2500" spc="3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hợp</a:t>
            </a:r>
            <a:r>
              <a:rPr sz="2500" spc="3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sự</a:t>
            </a:r>
            <a:r>
              <a:rPr sz="2500" spc="3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hiểu</a:t>
            </a:r>
            <a:r>
              <a:rPr sz="2500" spc="3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biết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về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bài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toán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và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phân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tích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hiệu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quả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của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chúng.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Cần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một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hệ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QTCSDL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hữu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hiệu </a:t>
            </a:r>
            <a:r>
              <a:rPr sz="2500" dirty="0">
                <a:latin typeface="Arial"/>
                <a:cs typeface="Arial"/>
              </a:rPr>
              <a:t>để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xử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lý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khi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ra</a:t>
            </a:r>
            <a:r>
              <a:rPr sz="2500" spc="-5" dirty="0">
                <a:latin typeface="Arial"/>
                <a:cs typeface="Arial"/>
              </a:rPr>
              <a:t> QĐ.</a:t>
            </a:r>
            <a:endParaRPr sz="2500">
              <a:latin typeface="Arial"/>
              <a:cs typeface="Arial"/>
            </a:endParaRPr>
          </a:p>
          <a:p>
            <a:pPr marL="355600" marR="5715" indent="-342900">
              <a:lnSpc>
                <a:spcPts val="2400"/>
              </a:lnSpc>
              <a:spcBef>
                <a:spcPts val="5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Kết</a:t>
            </a:r>
            <a:r>
              <a:rPr sz="2500" spc="17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hợp</a:t>
            </a:r>
            <a:r>
              <a:rPr sz="2500" spc="1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1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mô</a:t>
            </a:r>
            <a:r>
              <a:rPr sz="2500" spc="17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hình</a:t>
            </a:r>
            <a:r>
              <a:rPr sz="2500" spc="1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toán</a:t>
            </a:r>
            <a:r>
              <a:rPr sz="2500" spc="16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học,</a:t>
            </a:r>
            <a:r>
              <a:rPr sz="2500" spc="18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mô</a:t>
            </a:r>
            <a:r>
              <a:rPr sz="2500" spc="17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hình</a:t>
            </a:r>
            <a:r>
              <a:rPr sz="2500" spc="1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thống</a:t>
            </a:r>
            <a:r>
              <a:rPr sz="2500" spc="16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kê</a:t>
            </a:r>
            <a:r>
              <a:rPr sz="2500" spc="16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và </a:t>
            </a:r>
            <a:r>
              <a:rPr sz="2500" spc="-67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mô</a:t>
            </a:r>
            <a:r>
              <a:rPr sz="2500" dirty="0">
                <a:latin typeface="Arial"/>
                <a:cs typeface="Arial"/>
              </a:rPr>
              <a:t> hình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vận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trù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học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để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trợ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giúp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việc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ra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QĐ.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35" dirty="0">
                <a:latin typeface="Arial"/>
                <a:cs typeface="Arial"/>
              </a:rPr>
              <a:t>Trợ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giúp</a:t>
            </a:r>
            <a:r>
              <a:rPr sz="2500" dirty="0">
                <a:latin typeface="Arial"/>
                <a:cs typeface="Arial"/>
              </a:rPr>
              <a:t> các </a:t>
            </a:r>
            <a:r>
              <a:rPr sz="2500" spc="-5" dirty="0">
                <a:latin typeface="Arial"/>
                <a:cs typeface="Arial"/>
              </a:rPr>
              <a:t>nhà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ra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quyết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định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phân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tích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What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– </a:t>
            </a:r>
            <a:r>
              <a:rPr sz="2500" spc="-95" dirty="0">
                <a:latin typeface="Arial"/>
                <a:cs typeface="Arial"/>
              </a:rPr>
              <a:t>IF.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Có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khả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năng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truy vấn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rộng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rãi.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Cung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cấp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giao</a:t>
            </a:r>
            <a:r>
              <a:rPr sz="250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diện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sử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dụng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tốt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cho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người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ra</a:t>
            </a:r>
            <a:r>
              <a:rPr sz="2500" spc="-5" dirty="0">
                <a:latin typeface="Arial"/>
                <a:cs typeface="Arial"/>
              </a:rPr>
              <a:t> QĐ.</a:t>
            </a:r>
            <a:endParaRPr sz="2500">
              <a:latin typeface="Arial"/>
              <a:cs typeface="Arial"/>
            </a:endParaRPr>
          </a:p>
          <a:p>
            <a:pPr marL="355600" marR="5715" indent="-342900">
              <a:lnSpc>
                <a:spcPts val="2400"/>
              </a:lnSpc>
              <a:spcBef>
                <a:spcPts val="580"/>
              </a:spcBef>
              <a:tabLst>
                <a:tab pos="354965" algn="l"/>
              </a:tabLst>
            </a:pPr>
            <a:r>
              <a:rPr sz="2500" dirty="0">
                <a:latin typeface="Arial"/>
                <a:cs typeface="Arial"/>
              </a:rPr>
              <a:t>•	</a:t>
            </a:r>
            <a:r>
              <a:rPr sz="2500" spc="-5" dirty="0">
                <a:latin typeface="Arial"/>
                <a:cs typeface="Arial"/>
              </a:rPr>
              <a:t>Cung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cấp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14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trợ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giúp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hiệu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quả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việc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giải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các</a:t>
            </a:r>
            <a:r>
              <a:rPr sz="2500" spc="1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bài </a:t>
            </a:r>
            <a:r>
              <a:rPr sz="2500" spc="-68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toán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nửa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cấu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trúc trong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tất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cả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các</a:t>
            </a:r>
            <a:r>
              <a:rPr sz="2500" spc="-1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mức</a:t>
            </a:r>
            <a:r>
              <a:rPr sz="2500" spc="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độ.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5571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</a:t>
            </a:r>
            <a:r>
              <a:rPr sz="4400" spc="-20" dirty="0"/>
              <a:t> </a:t>
            </a:r>
            <a:r>
              <a:rPr sz="4400" spc="-5" dirty="0"/>
              <a:t>thành</a:t>
            </a:r>
            <a:r>
              <a:rPr sz="4400" spc="5" dirty="0"/>
              <a:t> </a:t>
            </a:r>
            <a:r>
              <a:rPr sz="4400" spc="-5" dirty="0"/>
              <a:t>phần</a:t>
            </a:r>
            <a:r>
              <a:rPr sz="4400" dirty="0"/>
              <a:t> </a:t>
            </a:r>
            <a:r>
              <a:rPr sz="4400" spc="-5" dirty="0"/>
              <a:t>của</a:t>
            </a:r>
            <a:r>
              <a:rPr sz="4400" spc="-20" dirty="0"/>
              <a:t> </a:t>
            </a:r>
            <a:r>
              <a:rPr sz="4400" spc="-10" dirty="0"/>
              <a:t>DSS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920990" cy="4024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• CSDL hỗ trợ ra QĐ (DSS Database): </a:t>
            </a:r>
            <a:r>
              <a:rPr sz="3200" spc="-10" dirty="0">
                <a:latin typeface="Arial"/>
                <a:cs typeface="Arial"/>
              </a:rPr>
              <a:t>tập </a:t>
            </a:r>
            <a:r>
              <a:rPr sz="3200" spc="-5" dirty="0">
                <a:latin typeface="Arial"/>
                <a:cs typeface="Arial"/>
              </a:rPr>
              <a:t> hợp dữ liệu hiện thời </a:t>
            </a:r>
            <a:r>
              <a:rPr sz="3200" spc="-10" dirty="0">
                <a:latin typeface="Arial"/>
                <a:cs typeface="Arial"/>
              </a:rPr>
              <a:t>hoặc </a:t>
            </a:r>
            <a:r>
              <a:rPr sz="3200" spc="-5" dirty="0">
                <a:latin typeface="Arial"/>
                <a:cs typeface="Arial"/>
              </a:rPr>
              <a:t>các DL thu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nhận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được trước</a:t>
            </a:r>
            <a:r>
              <a:rPr sz="3200" spc="-10" dirty="0">
                <a:latin typeface="Arial"/>
                <a:cs typeface="Arial"/>
              </a:rPr>
              <a:t> đó</a:t>
            </a:r>
            <a:endParaRPr sz="32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Arial"/>
                <a:cs typeface="Arial"/>
              </a:rPr>
              <a:t>• </a:t>
            </a:r>
            <a:r>
              <a:rPr sz="3200" spc="-5" dirty="0">
                <a:latin typeface="Arial"/>
                <a:cs typeface="Arial"/>
              </a:rPr>
              <a:t>HT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phần</a:t>
            </a:r>
            <a:r>
              <a:rPr sz="3200" dirty="0">
                <a:latin typeface="Arial"/>
                <a:cs typeface="Arial"/>
              </a:rPr>
              <a:t> mềm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hỗ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trợ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ra</a:t>
            </a:r>
            <a:r>
              <a:rPr sz="3200" dirty="0">
                <a:latin typeface="Arial"/>
                <a:cs typeface="Arial"/>
              </a:rPr>
              <a:t> QĐ</a:t>
            </a:r>
            <a:r>
              <a:rPr sz="3200" spc="8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(DSS 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software system): là </a:t>
            </a:r>
            <a:r>
              <a:rPr sz="3200" dirty="0">
                <a:latin typeface="Arial"/>
                <a:cs typeface="Arial"/>
              </a:rPr>
              <a:t>HT </a:t>
            </a:r>
            <a:r>
              <a:rPr sz="3200" spc="-10" dirty="0">
                <a:latin typeface="Arial"/>
                <a:cs typeface="Arial"/>
              </a:rPr>
              <a:t>phần </a:t>
            </a:r>
            <a:r>
              <a:rPr sz="3200" spc="-5" dirty="0">
                <a:latin typeface="Arial"/>
                <a:cs typeface="Arial"/>
              </a:rPr>
              <a:t>mềm chứa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spc="6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công</a:t>
            </a:r>
            <a:r>
              <a:rPr sz="3200" spc="6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cụ,</a:t>
            </a:r>
            <a:r>
              <a:rPr sz="3200" spc="6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phần</a:t>
            </a:r>
            <a:r>
              <a:rPr sz="3200" spc="6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mềm</a:t>
            </a:r>
            <a:r>
              <a:rPr sz="3200" spc="6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được</a:t>
            </a:r>
            <a:r>
              <a:rPr sz="3200" spc="6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sử</a:t>
            </a:r>
            <a:r>
              <a:rPr sz="3200" spc="6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dụng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để phân tích, </a:t>
            </a:r>
            <a:r>
              <a:rPr sz="3200" spc="-85" dirty="0">
                <a:latin typeface="Arial"/>
                <a:cs typeface="Arial"/>
              </a:rPr>
              <a:t>OLAP, </a:t>
            </a:r>
            <a:r>
              <a:rPr sz="3200" spc="-10" dirty="0">
                <a:latin typeface="Arial"/>
                <a:cs typeface="Arial"/>
              </a:rPr>
              <a:t>data </a:t>
            </a:r>
            <a:r>
              <a:rPr sz="3200" spc="-5" dirty="0">
                <a:latin typeface="Arial"/>
                <a:cs typeface="Arial"/>
              </a:rPr>
              <a:t>mining, mô </a:t>
            </a:r>
            <a:r>
              <a:rPr sz="3200" spc="-10" dirty="0">
                <a:latin typeface="Arial"/>
                <a:cs typeface="Arial"/>
              </a:rPr>
              <a:t>hình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toán,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mô hình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khác.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69234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</a:t>
            </a:r>
            <a:r>
              <a:rPr sz="4400" spc="-15" dirty="0"/>
              <a:t> </a:t>
            </a:r>
            <a:r>
              <a:rPr sz="4400" spc="-5" dirty="0"/>
              <a:t>nguồn</a:t>
            </a:r>
            <a:r>
              <a:rPr sz="4400" spc="10" dirty="0"/>
              <a:t> </a:t>
            </a:r>
            <a:r>
              <a:rPr sz="4400" spc="-20" dirty="0"/>
              <a:t>tài</a:t>
            </a:r>
            <a:r>
              <a:rPr sz="4400" spc="-5" dirty="0"/>
              <a:t> </a:t>
            </a:r>
            <a:r>
              <a:rPr sz="4400" spc="-15" dirty="0"/>
              <a:t>nguyên</a:t>
            </a:r>
            <a:r>
              <a:rPr sz="4400" spc="10" dirty="0"/>
              <a:t> </a:t>
            </a:r>
            <a:r>
              <a:rPr sz="4400" spc="-5" dirty="0"/>
              <a:t>của</a:t>
            </a:r>
            <a:r>
              <a:rPr sz="4400" spc="-10" dirty="0"/>
              <a:t> DSS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1154"/>
            <a:ext cx="2356485" cy="29521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Phần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cứng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Phần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mềm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Dữ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•	Mô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hình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Con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người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1838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Phân</a:t>
            </a:r>
            <a:r>
              <a:rPr sz="4400" spc="-20" dirty="0"/>
              <a:t> </a:t>
            </a:r>
            <a:r>
              <a:rPr sz="4400" spc="-5" dirty="0"/>
              <a:t>loại</a:t>
            </a:r>
            <a:r>
              <a:rPr sz="4400" spc="-35" dirty="0"/>
              <a:t> </a:t>
            </a:r>
            <a:r>
              <a:rPr sz="4400" spc="-10" dirty="0"/>
              <a:t>DSS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65809" y="1597152"/>
            <a:ext cx="3889375" cy="4297045"/>
            <a:chOff x="765809" y="1597152"/>
            <a:chExt cx="3889375" cy="4297045"/>
          </a:xfrm>
        </p:grpSpPr>
        <p:sp>
          <p:nvSpPr>
            <p:cNvPr id="4" name="object 4"/>
            <p:cNvSpPr/>
            <p:nvPr/>
          </p:nvSpPr>
          <p:spPr>
            <a:xfrm>
              <a:off x="765809" y="1597152"/>
              <a:ext cx="3889375" cy="4297045"/>
            </a:xfrm>
            <a:custGeom>
              <a:avLst/>
              <a:gdLst/>
              <a:ahLst/>
              <a:cxnLst/>
              <a:rect l="l" t="t" r="r" b="b"/>
              <a:pathLst>
                <a:path w="3889375" h="4297045">
                  <a:moveTo>
                    <a:pt x="3500374" y="0"/>
                  </a:moveTo>
                  <a:lnTo>
                    <a:pt x="388924" y="0"/>
                  </a:lnTo>
                  <a:lnTo>
                    <a:pt x="340139" y="3030"/>
                  </a:lnTo>
                  <a:lnTo>
                    <a:pt x="293162" y="11877"/>
                  </a:lnTo>
                  <a:lnTo>
                    <a:pt x="248357" y="26177"/>
                  </a:lnTo>
                  <a:lnTo>
                    <a:pt x="206090" y="45565"/>
                  </a:lnTo>
                  <a:lnTo>
                    <a:pt x="166724" y="69676"/>
                  </a:lnTo>
                  <a:lnTo>
                    <a:pt x="130625" y="98147"/>
                  </a:lnTo>
                  <a:lnTo>
                    <a:pt x="98156" y="130612"/>
                  </a:lnTo>
                  <a:lnTo>
                    <a:pt x="69682" y="166707"/>
                  </a:lnTo>
                  <a:lnTo>
                    <a:pt x="45569" y="206067"/>
                  </a:lnTo>
                  <a:lnTo>
                    <a:pt x="26179" y="248329"/>
                  </a:lnTo>
                  <a:lnTo>
                    <a:pt x="11878" y="293127"/>
                  </a:lnTo>
                  <a:lnTo>
                    <a:pt x="3030" y="340096"/>
                  </a:lnTo>
                  <a:lnTo>
                    <a:pt x="0" y="388874"/>
                  </a:lnTo>
                  <a:lnTo>
                    <a:pt x="0" y="3908044"/>
                  </a:lnTo>
                  <a:lnTo>
                    <a:pt x="3030" y="3956818"/>
                  </a:lnTo>
                  <a:lnTo>
                    <a:pt x="11878" y="4003786"/>
                  </a:lnTo>
                  <a:lnTo>
                    <a:pt x="26179" y="4048583"/>
                  </a:lnTo>
                  <a:lnTo>
                    <a:pt x="45569" y="4090844"/>
                  </a:lnTo>
                  <a:lnTo>
                    <a:pt x="69682" y="4130205"/>
                  </a:lnTo>
                  <a:lnTo>
                    <a:pt x="98156" y="4166300"/>
                  </a:lnTo>
                  <a:lnTo>
                    <a:pt x="130625" y="4198766"/>
                  </a:lnTo>
                  <a:lnTo>
                    <a:pt x="166724" y="4227237"/>
                  </a:lnTo>
                  <a:lnTo>
                    <a:pt x="206090" y="4251350"/>
                  </a:lnTo>
                  <a:lnTo>
                    <a:pt x="248357" y="4270739"/>
                  </a:lnTo>
                  <a:lnTo>
                    <a:pt x="293162" y="4285039"/>
                  </a:lnTo>
                  <a:lnTo>
                    <a:pt x="340139" y="4293887"/>
                  </a:lnTo>
                  <a:lnTo>
                    <a:pt x="388924" y="4296918"/>
                  </a:lnTo>
                  <a:lnTo>
                    <a:pt x="3500374" y="4296918"/>
                  </a:lnTo>
                  <a:lnTo>
                    <a:pt x="3549151" y="4293887"/>
                  </a:lnTo>
                  <a:lnTo>
                    <a:pt x="3596120" y="4285039"/>
                  </a:lnTo>
                  <a:lnTo>
                    <a:pt x="3640918" y="4270739"/>
                  </a:lnTo>
                  <a:lnTo>
                    <a:pt x="3683180" y="4251350"/>
                  </a:lnTo>
                  <a:lnTo>
                    <a:pt x="3722540" y="4227237"/>
                  </a:lnTo>
                  <a:lnTo>
                    <a:pt x="3758635" y="4198766"/>
                  </a:lnTo>
                  <a:lnTo>
                    <a:pt x="3791100" y="4166300"/>
                  </a:lnTo>
                  <a:lnTo>
                    <a:pt x="3819571" y="4130205"/>
                  </a:lnTo>
                  <a:lnTo>
                    <a:pt x="3843682" y="4090844"/>
                  </a:lnTo>
                  <a:lnTo>
                    <a:pt x="3863070" y="4048583"/>
                  </a:lnTo>
                  <a:lnTo>
                    <a:pt x="3877370" y="4003786"/>
                  </a:lnTo>
                  <a:lnTo>
                    <a:pt x="3886217" y="3956818"/>
                  </a:lnTo>
                  <a:lnTo>
                    <a:pt x="3889248" y="3908044"/>
                  </a:lnTo>
                  <a:lnTo>
                    <a:pt x="3889248" y="388874"/>
                  </a:lnTo>
                  <a:lnTo>
                    <a:pt x="3886217" y="340096"/>
                  </a:lnTo>
                  <a:lnTo>
                    <a:pt x="3877370" y="293127"/>
                  </a:lnTo>
                  <a:lnTo>
                    <a:pt x="3863070" y="248329"/>
                  </a:lnTo>
                  <a:lnTo>
                    <a:pt x="3843682" y="206067"/>
                  </a:lnTo>
                  <a:lnTo>
                    <a:pt x="3819571" y="166707"/>
                  </a:lnTo>
                  <a:lnTo>
                    <a:pt x="3791100" y="130612"/>
                  </a:lnTo>
                  <a:lnTo>
                    <a:pt x="3758635" y="98147"/>
                  </a:lnTo>
                  <a:lnTo>
                    <a:pt x="3722540" y="69676"/>
                  </a:lnTo>
                  <a:lnTo>
                    <a:pt x="3683180" y="45565"/>
                  </a:lnTo>
                  <a:lnTo>
                    <a:pt x="3640918" y="26177"/>
                  </a:lnTo>
                  <a:lnTo>
                    <a:pt x="3596120" y="11877"/>
                  </a:lnTo>
                  <a:lnTo>
                    <a:pt x="3549151" y="3030"/>
                  </a:lnTo>
                  <a:lnTo>
                    <a:pt x="3500374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5572" y="2887599"/>
              <a:ext cx="3110865" cy="1296670"/>
            </a:xfrm>
            <a:custGeom>
              <a:avLst/>
              <a:gdLst/>
              <a:ahLst/>
              <a:cxnLst/>
              <a:rect l="l" t="t" r="r" b="b"/>
              <a:pathLst>
                <a:path w="3110865" h="1296670">
                  <a:moveTo>
                    <a:pt x="2980816" y="0"/>
                  </a:moveTo>
                  <a:lnTo>
                    <a:pt x="129667" y="0"/>
                  </a:lnTo>
                  <a:lnTo>
                    <a:pt x="79183" y="10187"/>
                  </a:lnTo>
                  <a:lnTo>
                    <a:pt x="37968" y="37972"/>
                  </a:lnTo>
                  <a:lnTo>
                    <a:pt x="10185" y="79188"/>
                  </a:lnTo>
                  <a:lnTo>
                    <a:pt x="0" y="129666"/>
                  </a:lnTo>
                  <a:lnTo>
                    <a:pt x="0" y="1166495"/>
                  </a:lnTo>
                  <a:lnTo>
                    <a:pt x="10185" y="1216973"/>
                  </a:lnTo>
                  <a:lnTo>
                    <a:pt x="37968" y="1258189"/>
                  </a:lnTo>
                  <a:lnTo>
                    <a:pt x="79183" y="1285974"/>
                  </a:lnTo>
                  <a:lnTo>
                    <a:pt x="129667" y="1296162"/>
                  </a:lnTo>
                  <a:lnTo>
                    <a:pt x="2980816" y="1296162"/>
                  </a:lnTo>
                  <a:lnTo>
                    <a:pt x="3031295" y="1285974"/>
                  </a:lnTo>
                  <a:lnTo>
                    <a:pt x="3072511" y="1258189"/>
                  </a:lnTo>
                  <a:lnTo>
                    <a:pt x="3100296" y="1216973"/>
                  </a:lnTo>
                  <a:lnTo>
                    <a:pt x="3110484" y="1166495"/>
                  </a:lnTo>
                  <a:lnTo>
                    <a:pt x="3110484" y="129666"/>
                  </a:lnTo>
                  <a:lnTo>
                    <a:pt x="3100296" y="79188"/>
                  </a:lnTo>
                  <a:lnTo>
                    <a:pt x="3072511" y="37973"/>
                  </a:lnTo>
                  <a:lnTo>
                    <a:pt x="3031295" y="10187"/>
                  </a:lnTo>
                  <a:lnTo>
                    <a:pt x="298081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5572" y="2887599"/>
              <a:ext cx="3110865" cy="1296670"/>
            </a:xfrm>
            <a:custGeom>
              <a:avLst/>
              <a:gdLst/>
              <a:ahLst/>
              <a:cxnLst/>
              <a:rect l="l" t="t" r="r" b="b"/>
              <a:pathLst>
                <a:path w="3110865" h="1296670">
                  <a:moveTo>
                    <a:pt x="0" y="129666"/>
                  </a:moveTo>
                  <a:lnTo>
                    <a:pt x="10185" y="79188"/>
                  </a:lnTo>
                  <a:lnTo>
                    <a:pt x="37968" y="37972"/>
                  </a:lnTo>
                  <a:lnTo>
                    <a:pt x="79183" y="10187"/>
                  </a:lnTo>
                  <a:lnTo>
                    <a:pt x="129667" y="0"/>
                  </a:lnTo>
                  <a:lnTo>
                    <a:pt x="2980816" y="0"/>
                  </a:lnTo>
                  <a:lnTo>
                    <a:pt x="3031295" y="10187"/>
                  </a:lnTo>
                  <a:lnTo>
                    <a:pt x="3072511" y="37973"/>
                  </a:lnTo>
                  <a:lnTo>
                    <a:pt x="3100296" y="79188"/>
                  </a:lnTo>
                  <a:lnTo>
                    <a:pt x="3110484" y="129666"/>
                  </a:lnTo>
                  <a:lnTo>
                    <a:pt x="3110484" y="1166495"/>
                  </a:lnTo>
                  <a:lnTo>
                    <a:pt x="3100296" y="1216973"/>
                  </a:lnTo>
                  <a:lnTo>
                    <a:pt x="3072511" y="1258189"/>
                  </a:lnTo>
                  <a:lnTo>
                    <a:pt x="3031295" y="1285974"/>
                  </a:lnTo>
                  <a:lnTo>
                    <a:pt x="2980816" y="1296162"/>
                  </a:lnTo>
                  <a:lnTo>
                    <a:pt x="129667" y="1296162"/>
                  </a:lnTo>
                  <a:lnTo>
                    <a:pt x="79183" y="1285974"/>
                  </a:lnTo>
                  <a:lnTo>
                    <a:pt x="37968" y="1258189"/>
                  </a:lnTo>
                  <a:lnTo>
                    <a:pt x="10185" y="1216973"/>
                  </a:lnTo>
                  <a:lnTo>
                    <a:pt x="0" y="1166495"/>
                  </a:lnTo>
                  <a:lnTo>
                    <a:pt x="0" y="12966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15491" y="1629410"/>
            <a:ext cx="3464560" cy="22072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065" marR="5080" algn="ctr">
              <a:lnSpc>
                <a:spcPts val="2860"/>
              </a:lnSpc>
              <a:spcBef>
                <a:spcPts val="409"/>
              </a:spcBef>
            </a:pPr>
            <a:r>
              <a:rPr sz="2600" spc="10" dirty="0">
                <a:latin typeface="Calibri"/>
                <a:cs typeface="Calibri"/>
              </a:rPr>
              <a:t>HTTT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hỗ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trợ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ra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QĐ h</a:t>
            </a:r>
            <a:r>
              <a:rPr sz="2600" spc="-5" dirty="0">
                <a:latin typeface="Arial"/>
                <a:cs typeface="Arial"/>
              </a:rPr>
              <a:t>ư</a:t>
            </a:r>
            <a:r>
              <a:rPr sz="2600" spc="-5" dirty="0">
                <a:latin typeface="Calibri"/>
                <a:cs typeface="Calibri"/>
              </a:rPr>
              <a:t>ớng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mô </a:t>
            </a:r>
            <a:r>
              <a:rPr sz="2600" dirty="0">
                <a:latin typeface="Calibri"/>
                <a:cs typeface="Calibri"/>
              </a:rPr>
              <a:t>hình </a:t>
            </a:r>
            <a:r>
              <a:rPr sz="2600" spc="-10" dirty="0">
                <a:latin typeface="Calibri"/>
                <a:cs typeface="Calibri"/>
              </a:rPr>
              <a:t>(Model Driven 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DSS)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Calibri"/>
              <a:cs typeface="Calibri"/>
            </a:endParaRPr>
          </a:p>
          <a:p>
            <a:pPr marL="438150" marR="504825" algn="ctr">
              <a:lnSpc>
                <a:spcPts val="2420"/>
              </a:lnSpc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Phát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triển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những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ă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m </a:t>
            </a:r>
            <a:r>
              <a:rPr sz="2200" spc="-48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1970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1980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43000" y="4370070"/>
            <a:ext cx="3135630" cy="1321435"/>
            <a:chOff x="1143000" y="4370070"/>
            <a:chExt cx="3135630" cy="1321435"/>
          </a:xfrm>
        </p:grpSpPr>
        <p:sp>
          <p:nvSpPr>
            <p:cNvPr id="9" name="object 9"/>
            <p:cNvSpPr/>
            <p:nvPr/>
          </p:nvSpPr>
          <p:spPr>
            <a:xfrm>
              <a:off x="1155573" y="4382643"/>
              <a:ext cx="3110865" cy="1296670"/>
            </a:xfrm>
            <a:custGeom>
              <a:avLst/>
              <a:gdLst/>
              <a:ahLst/>
              <a:cxnLst/>
              <a:rect l="l" t="t" r="r" b="b"/>
              <a:pathLst>
                <a:path w="3110865" h="1296670">
                  <a:moveTo>
                    <a:pt x="2980816" y="0"/>
                  </a:moveTo>
                  <a:lnTo>
                    <a:pt x="129667" y="0"/>
                  </a:lnTo>
                  <a:lnTo>
                    <a:pt x="79183" y="10187"/>
                  </a:lnTo>
                  <a:lnTo>
                    <a:pt x="37968" y="37972"/>
                  </a:lnTo>
                  <a:lnTo>
                    <a:pt x="10185" y="79188"/>
                  </a:lnTo>
                  <a:lnTo>
                    <a:pt x="0" y="129666"/>
                  </a:lnTo>
                  <a:lnTo>
                    <a:pt x="0" y="1166494"/>
                  </a:lnTo>
                  <a:lnTo>
                    <a:pt x="10185" y="1216978"/>
                  </a:lnTo>
                  <a:lnTo>
                    <a:pt x="37968" y="1258193"/>
                  </a:lnTo>
                  <a:lnTo>
                    <a:pt x="79183" y="1285976"/>
                  </a:lnTo>
                  <a:lnTo>
                    <a:pt x="129667" y="1296161"/>
                  </a:lnTo>
                  <a:lnTo>
                    <a:pt x="2980816" y="1296161"/>
                  </a:lnTo>
                  <a:lnTo>
                    <a:pt x="3031295" y="1285976"/>
                  </a:lnTo>
                  <a:lnTo>
                    <a:pt x="3072511" y="1258193"/>
                  </a:lnTo>
                  <a:lnTo>
                    <a:pt x="3100296" y="1216978"/>
                  </a:lnTo>
                  <a:lnTo>
                    <a:pt x="3110484" y="1166494"/>
                  </a:lnTo>
                  <a:lnTo>
                    <a:pt x="3110484" y="129666"/>
                  </a:lnTo>
                  <a:lnTo>
                    <a:pt x="3100296" y="79188"/>
                  </a:lnTo>
                  <a:lnTo>
                    <a:pt x="3072511" y="37972"/>
                  </a:lnTo>
                  <a:lnTo>
                    <a:pt x="3031295" y="10187"/>
                  </a:lnTo>
                  <a:lnTo>
                    <a:pt x="298081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5573" y="4382643"/>
              <a:ext cx="3110865" cy="1296670"/>
            </a:xfrm>
            <a:custGeom>
              <a:avLst/>
              <a:gdLst/>
              <a:ahLst/>
              <a:cxnLst/>
              <a:rect l="l" t="t" r="r" b="b"/>
              <a:pathLst>
                <a:path w="3110865" h="1296670">
                  <a:moveTo>
                    <a:pt x="0" y="129666"/>
                  </a:moveTo>
                  <a:lnTo>
                    <a:pt x="10185" y="79188"/>
                  </a:lnTo>
                  <a:lnTo>
                    <a:pt x="37968" y="37972"/>
                  </a:lnTo>
                  <a:lnTo>
                    <a:pt x="79183" y="10187"/>
                  </a:lnTo>
                  <a:lnTo>
                    <a:pt x="129667" y="0"/>
                  </a:lnTo>
                  <a:lnTo>
                    <a:pt x="2980816" y="0"/>
                  </a:lnTo>
                  <a:lnTo>
                    <a:pt x="3031295" y="10187"/>
                  </a:lnTo>
                  <a:lnTo>
                    <a:pt x="3072511" y="37972"/>
                  </a:lnTo>
                  <a:lnTo>
                    <a:pt x="3100296" y="79188"/>
                  </a:lnTo>
                  <a:lnTo>
                    <a:pt x="3110484" y="129666"/>
                  </a:lnTo>
                  <a:lnTo>
                    <a:pt x="3110484" y="1166494"/>
                  </a:lnTo>
                  <a:lnTo>
                    <a:pt x="3100296" y="1216978"/>
                  </a:lnTo>
                  <a:lnTo>
                    <a:pt x="3072511" y="1258193"/>
                  </a:lnTo>
                  <a:lnTo>
                    <a:pt x="3031295" y="1285976"/>
                  </a:lnTo>
                  <a:lnTo>
                    <a:pt x="2980816" y="1296161"/>
                  </a:lnTo>
                  <a:lnTo>
                    <a:pt x="129667" y="1296161"/>
                  </a:lnTo>
                  <a:lnTo>
                    <a:pt x="79183" y="1285976"/>
                  </a:lnTo>
                  <a:lnTo>
                    <a:pt x="37968" y="1258193"/>
                  </a:lnTo>
                  <a:lnTo>
                    <a:pt x="10185" y="1216978"/>
                  </a:lnTo>
                  <a:lnTo>
                    <a:pt x="0" y="1166494"/>
                  </a:lnTo>
                  <a:lnTo>
                    <a:pt x="0" y="12966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38503" y="4509770"/>
            <a:ext cx="2942590" cy="9753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065" marR="5080" indent="1270" algn="ctr">
              <a:lnSpc>
                <a:spcPts val="2420"/>
              </a:lnSpc>
              <a:spcBef>
                <a:spcPts val="36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HT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đơ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lẻ, 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đ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ộc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lập,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sử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dụng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phân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tích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và </a:t>
            </a:r>
            <a:r>
              <a:rPr sz="2200" spc="-48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các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dạng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phân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tích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khác.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6141" y="1597152"/>
            <a:ext cx="3889375" cy="4297045"/>
          </a:xfrm>
          <a:custGeom>
            <a:avLst/>
            <a:gdLst/>
            <a:ahLst/>
            <a:cxnLst/>
            <a:rect l="l" t="t" r="r" b="b"/>
            <a:pathLst>
              <a:path w="3889375" h="4297045">
                <a:moveTo>
                  <a:pt x="3500374" y="0"/>
                </a:moveTo>
                <a:lnTo>
                  <a:pt x="388874" y="0"/>
                </a:lnTo>
                <a:lnTo>
                  <a:pt x="340096" y="3030"/>
                </a:lnTo>
                <a:lnTo>
                  <a:pt x="293127" y="11877"/>
                </a:lnTo>
                <a:lnTo>
                  <a:pt x="248329" y="26177"/>
                </a:lnTo>
                <a:lnTo>
                  <a:pt x="206067" y="45565"/>
                </a:lnTo>
                <a:lnTo>
                  <a:pt x="166707" y="69676"/>
                </a:lnTo>
                <a:lnTo>
                  <a:pt x="130612" y="98147"/>
                </a:lnTo>
                <a:lnTo>
                  <a:pt x="98147" y="130612"/>
                </a:lnTo>
                <a:lnTo>
                  <a:pt x="69676" y="166707"/>
                </a:lnTo>
                <a:lnTo>
                  <a:pt x="45565" y="206067"/>
                </a:lnTo>
                <a:lnTo>
                  <a:pt x="26177" y="248329"/>
                </a:lnTo>
                <a:lnTo>
                  <a:pt x="11877" y="293127"/>
                </a:lnTo>
                <a:lnTo>
                  <a:pt x="3030" y="340096"/>
                </a:lnTo>
                <a:lnTo>
                  <a:pt x="0" y="388874"/>
                </a:lnTo>
                <a:lnTo>
                  <a:pt x="0" y="3908044"/>
                </a:lnTo>
                <a:lnTo>
                  <a:pt x="3030" y="3956818"/>
                </a:lnTo>
                <a:lnTo>
                  <a:pt x="11877" y="4003786"/>
                </a:lnTo>
                <a:lnTo>
                  <a:pt x="26177" y="4048583"/>
                </a:lnTo>
                <a:lnTo>
                  <a:pt x="45565" y="4090844"/>
                </a:lnTo>
                <a:lnTo>
                  <a:pt x="69676" y="4130205"/>
                </a:lnTo>
                <a:lnTo>
                  <a:pt x="98147" y="4166300"/>
                </a:lnTo>
                <a:lnTo>
                  <a:pt x="130612" y="4198766"/>
                </a:lnTo>
                <a:lnTo>
                  <a:pt x="166707" y="4227237"/>
                </a:lnTo>
                <a:lnTo>
                  <a:pt x="206067" y="4251350"/>
                </a:lnTo>
                <a:lnTo>
                  <a:pt x="248329" y="4270739"/>
                </a:lnTo>
                <a:lnTo>
                  <a:pt x="293127" y="4285039"/>
                </a:lnTo>
                <a:lnTo>
                  <a:pt x="340096" y="4293887"/>
                </a:lnTo>
                <a:lnTo>
                  <a:pt x="388874" y="4296918"/>
                </a:lnTo>
                <a:lnTo>
                  <a:pt x="3500374" y="4296918"/>
                </a:lnTo>
                <a:lnTo>
                  <a:pt x="3549151" y="4293887"/>
                </a:lnTo>
                <a:lnTo>
                  <a:pt x="3596120" y="4285039"/>
                </a:lnTo>
                <a:lnTo>
                  <a:pt x="3640918" y="4270739"/>
                </a:lnTo>
                <a:lnTo>
                  <a:pt x="3683180" y="4251350"/>
                </a:lnTo>
                <a:lnTo>
                  <a:pt x="3722540" y="4227237"/>
                </a:lnTo>
                <a:lnTo>
                  <a:pt x="3758635" y="4198766"/>
                </a:lnTo>
                <a:lnTo>
                  <a:pt x="3791100" y="4166300"/>
                </a:lnTo>
                <a:lnTo>
                  <a:pt x="3819571" y="4130205"/>
                </a:lnTo>
                <a:lnTo>
                  <a:pt x="3843682" y="4090844"/>
                </a:lnTo>
                <a:lnTo>
                  <a:pt x="3863070" y="4048583"/>
                </a:lnTo>
                <a:lnTo>
                  <a:pt x="3877370" y="4003786"/>
                </a:lnTo>
                <a:lnTo>
                  <a:pt x="3886217" y="3956818"/>
                </a:lnTo>
                <a:lnTo>
                  <a:pt x="3889248" y="3908044"/>
                </a:lnTo>
                <a:lnTo>
                  <a:pt x="3889248" y="388874"/>
                </a:lnTo>
                <a:lnTo>
                  <a:pt x="3886217" y="340096"/>
                </a:lnTo>
                <a:lnTo>
                  <a:pt x="3877370" y="293127"/>
                </a:lnTo>
                <a:lnTo>
                  <a:pt x="3863070" y="248329"/>
                </a:lnTo>
                <a:lnTo>
                  <a:pt x="3843682" y="206067"/>
                </a:lnTo>
                <a:lnTo>
                  <a:pt x="3819571" y="166707"/>
                </a:lnTo>
                <a:lnTo>
                  <a:pt x="3791100" y="130612"/>
                </a:lnTo>
                <a:lnTo>
                  <a:pt x="3758635" y="98147"/>
                </a:lnTo>
                <a:lnTo>
                  <a:pt x="3722540" y="69676"/>
                </a:lnTo>
                <a:lnTo>
                  <a:pt x="3683180" y="45565"/>
                </a:lnTo>
                <a:lnTo>
                  <a:pt x="3640918" y="26177"/>
                </a:lnTo>
                <a:lnTo>
                  <a:pt x="3596120" y="11877"/>
                </a:lnTo>
                <a:lnTo>
                  <a:pt x="3549151" y="3030"/>
                </a:lnTo>
                <a:lnTo>
                  <a:pt x="3500374" y="0"/>
                </a:lnTo>
                <a:close/>
              </a:path>
            </a:pathLst>
          </a:custGeom>
          <a:solidFill>
            <a:srgbClr val="D0D7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58994" y="1810766"/>
            <a:ext cx="3463925" cy="7842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2865" marR="5080" indent="-50800">
              <a:lnSpc>
                <a:spcPts val="2860"/>
              </a:lnSpc>
              <a:spcBef>
                <a:spcPts val="409"/>
              </a:spcBef>
            </a:pPr>
            <a:r>
              <a:rPr sz="2600" spc="10" dirty="0">
                <a:latin typeface="Calibri"/>
                <a:cs typeface="Calibri"/>
              </a:rPr>
              <a:t>HTTT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hỗ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trợ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ra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QĐ h</a:t>
            </a:r>
            <a:r>
              <a:rPr sz="2600" spc="-5" dirty="0">
                <a:latin typeface="Arial"/>
                <a:cs typeface="Arial"/>
              </a:rPr>
              <a:t>ư</a:t>
            </a:r>
            <a:r>
              <a:rPr sz="2600" spc="-5" dirty="0">
                <a:latin typeface="Calibri"/>
                <a:cs typeface="Calibri"/>
              </a:rPr>
              <a:t>ớng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dữ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liệu </a:t>
            </a:r>
            <a:r>
              <a:rPr sz="2600" spc="-20" dirty="0">
                <a:latin typeface="Calibri"/>
                <a:cs typeface="Calibri"/>
              </a:rPr>
              <a:t>(Data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driven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DSS)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23332" y="2874264"/>
            <a:ext cx="3135630" cy="2818130"/>
            <a:chOff x="5323332" y="2874264"/>
            <a:chExt cx="3135630" cy="2818130"/>
          </a:xfrm>
        </p:grpSpPr>
        <p:sp>
          <p:nvSpPr>
            <p:cNvPr id="15" name="object 15"/>
            <p:cNvSpPr/>
            <p:nvPr/>
          </p:nvSpPr>
          <p:spPr>
            <a:xfrm>
              <a:off x="5335905" y="2886837"/>
              <a:ext cx="3110865" cy="2792730"/>
            </a:xfrm>
            <a:custGeom>
              <a:avLst/>
              <a:gdLst/>
              <a:ahLst/>
              <a:cxnLst/>
              <a:rect l="l" t="t" r="r" b="b"/>
              <a:pathLst>
                <a:path w="3110865" h="2792729">
                  <a:moveTo>
                    <a:pt x="2831211" y="0"/>
                  </a:moveTo>
                  <a:lnTo>
                    <a:pt x="279273" y="0"/>
                  </a:lnTo>
                  <a:lnTo>
                    <a:pt x="233988" y="3656"/>
                  </a:lnTo>
                  <a:lnTo>
                    <a:pt x="191024" y="14243"/>
                  </a:lnTo>
                  <a:lnTo>
                    <a:pt x="150957" y="31183"/>
                  </a:lnTo>
                  <a:lnTo>
                    <a:pt x="114364" y="53900"/>
                  </a:lnTo>
                  <a:lnTo>
                    <a:pt x="81819" y="81819"/>
                  </a:lnTo>
                  <a:lnTo>
                    <a:pt x="53900" y="114364"/>
                  </a:lnTo>
                  <a:lnTo>
                    <a:pt x="31183" y="150957"/>
                  </a:lnTo>
                  <a:lnTo>
                    <a:pt x="14243" y="191024"/>
                  </a:lnTo>
                  <a:lnTo>
                    <a:pt x="3656" y="233988"/>
                  </a:lnTo>
                  <a:lnTo>
                    <a:pt x="0" y="279273"/>
                  </a:lnTo>
                  <a:lnTo>
                    <a:pt x="0" y="2513457"/>
                  </a:lnTo>
                  <a:lnTo>
                    <a:pt x="3656" y="2558741"/>
                  </a:lnTo>
                  <a:lnTo>
                    <a:pt x="14243" y="2601705"/>
                  </a:lnTo>
                  <a:lnTo>
                    <a:pt x="31183" y="2641772"/>
                  </a:lnTo>
                  <a:lnTo>
                    <a:pt x="53900" y="2678365"/>
                  </a:lnTo>
                  <a:lnTo>
                    <a:pt x="81819" y="2710910"/>
                  </a:lnTo>
                  <a:lnTo>
                    <a:pt x="114364" y="2738829"/>
                  </a:lnTo>
                  <a:lnTo>
                    <a:pt x="150957" y="2761546"/>
                  </a:lnTo>
                  <a:lnTo>
                    <a:pt x="191024" y="2778486"/>
                  </a:lnTo>
                  <a:lnTo>
                    <a:pt x="233988" y="2789073"/>
                  </a:lnTo>
                  <a:lnTo>
                    <a:pt x="279273" y="2792729"/>
                  </a:lnTo>
                  <a:lnTo>
                    <a:pt x="2831211" y="2792729"/>
                  </a:lnTo>
                  <a:lnTo>
                    <a:pt x="2876495" y="2789073"/>
                  </a:lnTo>
                  <a:lnTo>
                    <a:pt x="2919459" y="2778486"/>
                  </a:lnTo>
                  <a:lnTo>
                    <a:pt x="2959526" y="2761546"/>
                  </a:lnTo>
                  <a:lnTo>
                    <a:pt x="2996119" y="2738829"/>
                  </a:lnTo>
                  <a:lnTo>
                    <a:pt x="3028664" y="2710910"/>
                  </a:lnTo>
                  <a:lnTo>
                    <a:pt x="3056583" y="2678365"/>
                  </a:lnTo>
                  <a:lnTo>
                    <a:pt x="3079300" y="2641772"/>
                  </a:lnTo>
                  <a:lnTo>
                    <a:pt x="3096240" y="2601705"/>
                  </a:lnTo>
                  <a:lnTo>
                    <a:pt x="3106827" y="2558741"/>
                  </a:lnTo>
                  <a:lnTo>
                    <a:pt x="3110484" y="2513457"/>
                  </a:lnTo>
                  <a:lnTo>
                    <a:pt x="3110484" y="279273"/>
                  </a:lnTo>
                  <a:lnTo>
                    <a:pt x="3106827" y="233988"/>
                  </a:lnTo>
                  <a:lnTo>
                    <a:pt x="3096240" y="191024"/>
                  </a:lnTo>
                  <a:lnTo>
                    <a:pt x="3079300" y="150957"/>
                  </a:lnTo>
                  <a:lnTo>
                    <a:pt x="3056583" y="114364"/>
                  </a:lnTo>
                  <a:lnTo>
                    <a:pt x="3028664" y="81819"/>
                  </a:lnTo>
                  <a:lnTo>
                    <a:pt x="2996119" y="53900"/>
                  </a:lnTo>
                  <a:lnTo>
                    <a:pt x="2959526" y="31183"/>
                  </a:lnTo>
                  <a:lnTo>
                    <a:pt x="2919459" y="14243"/>
                  </a:lnTo>
                  <a:lnTo>
                    <a:pt x="2876495" y="3656"/>
                  </a:lnTo>
                  <a:lnTo>
                    <a:pt x="283121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35905" y="2886837"/>
              <a:ext cx="3110865" cy="2792730"/>
            </a:xfrm>
            <a:custGeom>
              <a:avLst/>
              <a:gdLst/>
              <a:ahLst/>
              <a:cxnLst/>
              <a:rect l="l" t="t" r="r" b="b"/>
              <a:pathLst>
                <a:path w="3110865" h="2792729">
                  <a:moveTo>
                    <a:pt x="0" y="279273"/>
                  </a:moveTo>
                  <a:lnTo>
                    <a:pt x="3656" y="233988"/>
                  </a:lnTo>
                  <a:lnTo>
                    <a:pt x="14243" y="191024"/>
                  </a:lnTo>
                  <a:lnTo>
                    <a:pt x="31183" y="150957"/>
                  </a:lnTo>
                  <a:lnTo>
                    <a:pt x="53900" y="114364"/>
                  </a:lnTo>
                  <a:lnTo>
                    <a:pt x="81819" y="81819"/>
                  </a:lnTo>
                  <a:lnTo>
                    <a:pt x="114364" y="53900"/>
                  </a:lnTo>
                  <a:lnTo>
                    <a:pt x="150957" y="31183"/>
                  </a:lnTo>
                  <a:lnTo>
                    <a:pt x="191024" y="14243"/>
                  </a:lnTo>
                  <a:lnTo>
                    <a:pt x="233988" y="3656"/>
                  </a:lnTo>
                  <a:lnTo>
                    <a:pt x="279273" y="0"/>
                  </a:lnTo>
                  <a:lnTo>
                    <a:pt x="2831211" y="0"/>
                  </a:lnTo>
                  <a:lnTo>
                    <a:pt x="2876495" y="3656"/>
                  </a:lnTo>
                  <a:lnTo>
                    <a:pt x="2919459" y="14243"/>
                  </a:lnTo>
                  <a:lnTo>
                    <a:pt x="2959526" y="31183"/>
                  </a:lnTo>
                  <a:lnTo>
                    <a:pt x="2996119" y="53900"/>
                  </a:lnTo>
                  <a:lnTo>
                    <a:pt x="3028664" y="81819"/>
                  </a:lnTo>
                  <a:lnTo>
                    <a:pt x="3056583" y="114364"/>
                  </a:lnTo>
                  <a:lnTo>
                    <a:pt x="3079300" y="150957"/>
                  </a:lnTo>
                  <a:lnTo>
                    <a:pt x="3096240" y="191024"/>
                  </a:lnTo>
                  <a:lnTo>
                    <a:pt x="3106827" y="233988"/>
                  </a:lnTo>
                  <a:lnTo>
                    <a:pt x="3110484" y="279273"/>
                  </a:lnTo>
                  <a:lnTo>
                    <a:pt x="3110484" y="2513457"/>
                  </a:lnTo>
                  <a:lnTo>
                    <a:pt x="3106827" y="2558741"/>
                  </a:lnTo>
                  <a:lnTo>
                    <a:pt x="3096240" y="2601705"/>
                  </a:lnTo>
                  <a:lnTo>
                    <a:pt x="3079300" y="2641772"/>
                  </a:lnTo>
                  <a:lnTo>
                    <a:pt x="3056583" y="2678365"/>
                  </a:lnTo>
                  <a:lnTo>
                    <a:pt x="3028664" y="2710910"/>
                  </a:lnTo>
                  <a:lnTo>
                    <a:pt x="2996119" y="2738829"/>
                  </a:lnTo>
                  <a:lnTo>
                    <a:pt x="2959526" y="2761546"/>
                  </a:lnTo>
                  <a:lnTo>
                    <a:pt x="2919459" y="2778486"/>
                  </a:lnTo>
                  <a:lnTo>
                    <a:pt x="2876495" y="2789073"/>
                  </a:lnTo>
                  <a:lnTo>
                    <a:pt x="2831211" y="2792729"/>
                  </a:lnTo>
                  <a:lnTo>
                    <a:pt x="279273" y="2792729"/>
                  </a:lnTo>
                  <a:lnTo>
                    <a:pt x="233988" y="2789073"/>
                  </a:lnTo>
                  <a:lnTo>
                    <a:pt x="191024" y="2778486"/>
                  </a:lnTo>
                  <a:lnTo>
                    <a:pt x="150957" y="2761546"/>
                  </a:lnTo>
                  <a:lnTo>
                    <a:pt x="114364" y="2738829"/>
                  </a:lnTo>
                  <a:lnTo>
                    <a:pt x="81819" y="2710910"/>
                  </a:lnTo>
                  <a:lnTo>
                    <a:pt x="53900" y="2678365"/>
                  </a:lnTo>
                  <a:lnTo>
                    <a:pt x="31183" y="2641772"/>
                  </a:lnTo>
                  <a:lnTo>
                    <a:pt x="14243" y="2601705"/>
                  </a:lnTo>
                  <a:lnTo>
                    <a:pt x="3656" y="2558741"/>
                  </a:lnTo>
                  <a:lnTo>
                    <a:pt x="0" y="2513457"/>
                  </a:lnTo>
                  <a:lnTo>
                    <a:pt x="0" y="27927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79796" y="3915664"/>
            <a:ext cx="2821940" cy="6686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52705" marR="5080" indent="-40640">
              <a:lnSpc>
                <a:spcPts val="2420"/>
              </a:lnSpc>
              <a:spcBef>
                <a:spcPts val="36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Phân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tích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khối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ư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ợng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lớn </a:t>
            </a:r>
            <a:r>
              <a:rPr sz="2200" spc="-48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DL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ư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trong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HT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tổ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chức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63690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Các</a:t>
            </a:r>
            <a:r>
              <a:rPr sz="4400" spc="-15" dirty="0"/>
              <a:t> </a:t>
            </a:r>
            <a:r>
              <a:rPr sz="4400" spc="-5" dirty="0"/>
              <a:t>hệ</a:t>
            </a:r>
            <a:r>
              <a:rPr sz="4400" spc="10" dirty="0"/>
              <a:t> </a:t>
            </a:r>
            <a:r>
              <a:rPr sz="4400" spc="-5" dirty="0"/>
              <a:t>thống </a:t>
            </a:r>
            <a:r>
              <a:rPr sz="4400" spc="-10" dirty="0"/>
              <a:t>con</a:t>
            </a:r>
            <a:r>
              <a:rPr sz="4400" spc="-5" dirty="0"/>
              <a:t> </a:t>
            </a:r>
            <a:r>
              <a:rPr sz="4400" spc="-15" dirty="0"/>
              <a:t>trong</a:t>
            </a:r>
            <a:r>
              <a:rPr sz="4400" spc="-5" dirty="0"/>
              <a:t> </a:t>
            </a:r>
            <a:r>
              <a:rPr sz="4400" spc="-10" dirty="0"/>
              <a:t>DSS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3657472" y="1725041"/>
            <a:ext cx="5194935" cy="1133475"/>
            <a:chOff x="3657472" y="1725041"/>
            <a:chExt cx="5194935" cy="1133475"/>
          </a:xfrm>
        </p:grpSpPr>
        <p:sp>
          <p:nvSpPr>
            <p:cNvPr id="4" name="object 4"/>
            <p:cNvSpPr/>
            <p:nvPr/>
          </p:nvSpPr>
          <p:spPr>
            <a:xfrm>
              <a:off x="3670172" y="1737741"/>
              <a:ext cx="5169535" cy="1108075"/>
            </a:xfrm>
            <a:custGeom>
              <a:avLst/>
              <a:gdLst/>
              <a:ahLst/>
              <a:cxnLst/>
              <a:rect l="l" t="t" r="r" b="b"/>
              <a:pathLst>
                <a:path w="5169534" h="1108075">
                  <a:moveTo>
                    <a:pt x="4984750" y="0"/>
                  </a:moveTo>
                  <a:lnTo>
                    <a:pt x="0" y="0"/>
                  </a:lnTo>
                  <a:lnTo>
                    <a:pt x="0" y="1107948"/>
                  </a:lnTo>
                  <a:lnTo>
                    <a:pt x="4984750" y="1107948"/>
                  </a:lnTo>
                  <a:lnTo>
                    <a:pt x="5033838" y="1101351"/>
                  </a:lnTo>
                  <a:lnTo>
                    <a:pt x="5077949" y="1082736"/>
                  </a:lnTo>
                  <a:lnTo>
                    <a:pt x="5115321" y="1053861"/>
                  </a:lnTo>
                  <a:lnTo>
                    <a:pt x="5144196" y="1016489"/>
                  </a:lnTo>
                  <a:lnTo>
                    <a:pt x="5162811" y="972378"/>
                  </a:lnTo>
                  <a:lnTo>
                    <a:pt x="5169408" y="923289"/>
                  </a:lnTo>
                  <a:lnTo>
                    <a:pt x="5169408" y="184658"/>
                  </a:lnTo>
                  <a:lnTo>
                    <a:pt x="5162811" y="135569"/>
                  </a:lnTo>
                  <a:lnTo>
                    <a:pt x="5144196" y="91458"/>
                  </a:lnTo>
                  <a:lnTo>
                    <a:pt x="5115321" y="54086"/>
                  </a:lnTo>
                  <a:lnTo>
                    <a:pt x="5077949" y="25211"/>
                  </a:lnTo>
                  <a:lnTo>
                    <a:pt x="5033838" y="6596"/>
                  </a:lnTo>
                  <a:lnTo>
                    <a:pt x="4984750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70172" y="1737741"/>
              <a:ext cx="5169535" cy="1108075"/>
            </a:xfrm>
            <a:custGeom>
              <a:avLst/>
              <a:gdLst/>
              <a:ahLst/>
              <a:cxnLst/>
              <a:rect l="l" t="t" r="r" b="b"/>
              <a:pathLst>
                <a:path w="5169534" h="1108075">
                  <a:moveTo>
                    <a:pt x="5169408" y="184658"/>
                  </a:moveTo>
                  <a:lnTo>
                    <a:pt x="5169408" y="923289"/>
                  </a:lnTo>
                  <a:lnTo>
                    <a:pt x="5162811" y="972378"/>
                  </a:lnTo>
                  <a:lnTo>
                    <a:pt x="5144196" y="1016489"/>
                  </a:lnTo>
                  <a:lnTo>
                    <a:pt x="5115321" y="1053861"/>
                  </a:lnTo>
                  <a:lnTo>
                    <a:pt x="5077949" y="1082736"/>
                  </a:lnTo>
                  <a:lnTo>
                    <a:pt x="5033838" y="1101351"/>
                  </a:lnTo>
                  <a:lnTo>
                    <a:pt x="4984750" y="1107948"/>
                  </a:lnTo>
                  <a:lnTo>
                    <a:pt x="0" y="1107948"/>
                  </a:lnTo>
                  <a:lnTo>
                    <a:pt x="0" y="0"/>
                  </a:lnTo>
                  <a:lnTo>
                    <a:pt x="4984750" y="0"/>
                  </a:lnTo>
                  <a:lnTo>
                    <a:pt x="5033838" y="6596"/>
                  </a:lnTo>
                  <a:lnTo>
                    <a:pt x="5077949" y="25211"/>
                  </a:lnTo>
                  <a:lnTo>
                    <a:pt x="5115321" y="54086"/>
                  </a:lnTo>
                  <a:lnTo>
                    <a:pt x="5144196" y="91458"/>
                  </a:lnTo>
                  <a:lnTo>
                    <a:pt x="5162811" y="135569"/>
                  </a:lnTo>
                  <a:lnTo>
                    <a:pt x="5169408" y="184658"/>
                  </a:lnTo>
                  <a:close/>
                </a:path>
              </a:pathLst>
            </a:custGeom>
            <a:ln w="25146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703065" y="1975866"/>
            <a:ext cx="4869815" cy="5835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latin typeface="Calibri"/>
                <a:cs typeface="Calibri"/>
              </a:rPr>
              <a:t>•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Là </a:t>
            </a:r>
            <a:r>
              <a:rPr sz="1200" dirty="0">
                <a:latin typeface="Calibri"/>
                <a:cs typeface="Calibri"/>
              </a:rPr>
              <a:t>chỗ</a:t>
            </a:r>
            <a:r>
              <a:rPr sz="1200" spc="-5" dirty="0">
                <a:latin typeface="Calibri"/>
                <a:cs typeface="Calibri"/>
              </a:rPr>
              <a:t> dựa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quan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trọng về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DL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sử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dụng </a:t>
            </a:r>
            <a:r>
              <a:rPr sz="1200" spc="-10" dirty="0">
                <a:latin typeface="Calibri"/>
                <a:cs typeface="Calibri"/>
              </a:rPr>
              <a:t>trong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việc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ra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QĐ.</a:t>
            </a:r>
            <a:endParaRPr sz="1200">
              <a:latin typeface="Calibri"/>
              <a:cs typeface="Calibri"/>
            </a:endParaRPr>
          </a:p>
          <a:p>
            <a:pPr marL="127000" marR="5080" indent="-11430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•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Cung cấp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các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Arial"/>
                <a:cs typeface="Arial"/>
              </a:rPr>
              <a:t>đ</a:t>
            </a:r>
            <a:r>
              <a:rPr sz="1200" spc="-5" dirty="0">
                <a:latin typeface="Calibri"/>
                <a:cs typeface="Calibri"/>
              </a:rPr>
              <a:t>iều</a:t>
            </a:r>
            <a:r>
              <a:rPr sz="1200" dirty="0">
                <a:latin typeface="Calibri"/>
                <a:cs typeface="Calibri"/>
              </a:rPr>
              <a:t> kiện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thuận lợi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giúp </a:t>
            </a:r>
            <a:r>
              <a:rPr sz="1200" spc="-10" dirty="0">
                <a:latin typeface="Calibri"/>
                <a:cs typeface="Calibri"/>
              </a:rPr>
              <a:t>tổ</a:t>
            </a:r>
            <a:r>
              <a:rPr sz="1200" spc="-5" dirty="0">
                <a:latin typeface="Calibri"/>
                <a:cs typeface="Calibri"/>
              </a:rPr>
              <a:t> chức</a:t>
            </a:r>
            <a:r>
              <a:rPr sz="1200" spc="-10" dirty="0">
                <a:latin typeface="Calibri"/>
                <a:cs typeface="Calibri"/>
              </a:rPr>
              <a:t> và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sắp </a:t>
            </a:r>
            <a:r>
              <a:rPr sz="1200" spc="-10" dirty="0">
                <a:latin typeface="Calibri"/>
                <a:cs typeface="Calibri"/>
              </a:rPr>
              <a:t>xếp </a:t>
            </a:r>
            <a:r>
              <a:rPr sz="1200" spc="-5" dirty="0">
                <a:latin typeface="Calibri"/>
                <a:cs typeface="Calibri"/>
              </a:rPr>
              <a:t>dữ </a:t>
            </a:r>
            <a:r>
              <a:rPr sz="1200" dirty="0">
                <a:latin typeface="Calibri"/>
                <a:cs typeface="Calibri"/>
              </a:rPr>
              <a:t>liệu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một</a:t>
            </a:r>
            <a:r>
              <a:rPr sz="1200" spc="-5" dirty="0">
                <a:latin typeface="Calibri"/>
                <a:cs typeface="Calibri"/>
              </a:rPr>
              <a:t> cách dê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dàng.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680" y="1587119"/>
            <a:ext cx="2933700" cy="1410335"/>
            <a:chOff x="749680" y="1587119"/>
            <a:chExt cx="2933700" cy="1410335"/>
          </a:xfrm>
        </p:grpSpPr>
        <p:sp>
          <p:nvSpPr>
            <p:cNvPr id="8" name="object 8"/>
            <p:cNvSpPr/>
            <p:nvPr/>
          </p:nvSpPr>
          <p:spPr>
            <a:xfrm>
              <a:off x="762380" y="1599819"/>
              <a:ext cx="2908300" cy="1384935"/>
            </a:xfrm>
            <a:custGeom>
              <a:avLst/>
              <a:gdLst/>
              <a:ahLst/>
              <a:cxnLst/>
              <a:rect l="l" t="t" r="r" b="b"/>
              <a:pathLst>
                <a:path w="2908300" h="1384935">
                  <a:moveTo>
                    <a:pt x="2677033" y="0"/>
                  </a:moveTo>
                  <a:lnTo>
                    <a:pt x="230759" y="0"/>
                  </a:lnTo>
                  <a:lnTo>
                    <a:pt x="184253" y="4690"/>
                  </a:lnTo>
                  <a:lnTo>
                    <a:pt x="140937" y="18143"/>
                  </a:lnTo>
                  <a:lnTo>
                    <a:pt x="101739" y="39426"/>
                  </a:lnTo>
                  <a:lnTo>
                    <a:pt x="67587" y="67611"/>
                  </a:lnTo>
                  <a:lnTo>
                    <a:pt x="39410" y="101767"/>
                  </a:lnTo>
                  <a:lnTo>
                    <a:pt x="18134" y="140964"/>
                  </a:lnTo>
                  <a:lnTo>
                    <a:pt x="4688" y="184271"/>
                  </a:lnTo>
                  <a:lnTo>
                    <a:pt x="0" y="230758"/>
                  </a:lnTo>
                  <a:lnTo>
                    <a:pt x="0" y="1153794"/>
                  </a:lnTo>
                  <a:lnTo>
                    <a:pt x="4688" y="1200282"/>
                  </a:lnTo>
                  <a:lnTo>
                    <a:pt x="18134" y="1243589"/>
                  </a:lnTo>
                  <a:lnTo>
                    <a:pt x="39410" y="1282786"/>
                  </a:lnTo>
                  <a:lnTo>
                    <a:pt x="67587" y="1316942"/>
                  </a:lnTo>
                  <a:lnTo>
                    <a:pt x="101739" y="1345127"/>
                  </a:lnTo>
                  <a:lnTo>
                    <a:pt x="140937" y="1366410"/>
                  </a:lnTo>
                  <a:lnTo>
                    <a:pt x="184253" y="1379863"/>
                  </a:lnTo>
                  <a:lnTo>
                    <a:pt x="230759" y="1384553"/>
                  </a:lnTo>
                  <a:lnTo>
                    <a:pt x="2677033" y="1384553"/>
                  </a:lnTo>
                  <a:lnTo>
                    <a:pt x="2723520" y="1379863"/>
                  </a:lnTo>
                  <a:lnTo>
                    <a:pt x="2766827" y="1366410"/>
                  </a:lnTo>
                  <a:lnTo>
                    <a:pt x="2806024" y="1345127"/>
                  </a:lnTo>
                  <a:lnTo>
                    <a:pt x="2840180" y="1316942"/>
                  </a:lnTo>
                  <a:lnTo>
                    <a:pt x="2868365" y="1282786"/>
                  </a:lnTo>
                  <a:lnTo>
                    <a:pt x="2889648" y="1243589"/>
                  </a:lnTo>
                  <a:lnTo>
                    <a:pt x="2903101" y="1200282"/>
                  </a:lnTo>
                  <a:lnTo>
                    <a:pt x="2907792" y="1153794"/>
                  </a:lnTo>
                  <a:lnTo>
                    <a:pt x="2907792" y="230758"/>
                  </a:lnTo>
                  <a:lnTo>
                    <a:pt x="2903101" y="184271"/>
                  </a:lnTo>
                  <a:lnTo>
                    <a:pt x="2889648" y="140964"/>
                  </a:lnTo>
                  <a:lnTo>
                    <a:pt x="2868365" y="101767"/>
                  </a:lnTo>
                  <a:lnTo>
                    <a:pt x="2840180" y="67611"/>
                  </a:lnTo>
                  <a:lnTo>
                    <a:pt x="2806024" y="39426"/>
                  </a:lnTo>
                  <a:lnTo>
                    <a:pt x="2766827" y="18143"/>
                  </a:lnTo>
                  <a:lnTo>
                    <a:pt x="2723520" y="4690"/>
                  </a:lnTo>
                  <a:lnTo>
                    <a:pt x="267703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2380" y="1599819"/>
              <a:ext cx="2908300" cy="1384935"/>
            </a:xfrm>
            <a:custGeom>
              <a:avLst/>
              <a:gdLst/>
              <a:ahLst/>
              <a:cxnLst/>
              <a:rect l="l" t="t" r="r" b="b"/>
              <a:pathLst>
                <a:path w="2908300" h="1384935">
                  <a:moveTo>
                    <a:pt x="0" y="230758"/>
                  </a:moveTo>
                  <a:lnTo>
                    <a:pt x="4688" y="184271"/>
                  </a:lnTo>
                  <a:lnTo>
                    <a:pt x="18134" y="140964"/>
                  </a:lnTo>
                  <a:lnTo>
                    <a:pt x="39410" y="101767"/>
                  </a:lnTo>
                  <a:lnTo>
                    <a:pt x="67587" y="67611"/>
                  </a:lnTo>
                  <a:lnTo>
                    <a:pt x="101739" y="39426"/>
                  </a:lnTo>
                  <a:lnTo>
                    <a:pt x="140937" y="18143"/>
                  </a:lnTo>
                  <a:lnTo>
                    <a:pt x="184253" y="4690"/>
                  </a:lnTo>
                  <a:lnTo>
                    <a:pt x="230759" y="0"/>
                  </a:lnTo>
                  <a:lnTo>
                    <a:pt x="2677033" y="0"/>
                  </a:lnTo>
                  <a:lnTo>
                    <a:pt x="2723520" y="4690"/>
                  </a:lnTo>
                  <a:lnTo>
                    <a:pt x="2766827" y="18143"/>
                  </a:lnTo>
                  <a:lnTo>
                    <a:pt x="2806024" y="39426"/>
                  </a:lnTo>
                  <a:lnTo>
                    <a:pt x="2840180" y="67611"/>
                  </a:lnTo>
                  <a:lnTo>
                    <a:pt x="2868365" y="101767"/>
                  </a:lnTo>
                  <a:lnTo>
                    <a:pt x="2889648" y="140964"/>
                  </a:lnTo>
                  <a:lnTo>
                    <a:pt x="2903101" y="184271"/>
                  </a:lnTo>
                  <a:lnTo>
                    <a:pt x="2907792" y="230758"/>
                  </a:lnTo>
                  <a:lnTo>
                    <a:pt x="2907792" y="1153794"/>
                  </a:lnTo>
                  <a:lnTo>
                    <a:pt x="2903101" y="1200282"/>
                  </a:lnTo>
                  <a:lnTo>
                    <a:pt x="2889648" y="1243589"/>
                  </a:lnTo>
                  <a:lnTo>
                    <a:pt x="2868365" y="1282786"/>
                  </a:lnTo>
                  <a:lnTo>
                    <a:pt x="2840180" y="1316942"/>
                  </a:lnTo>
                  <a:lnTo>
                    <a:pt x="2806024" y="1345127"/>
                  </a:lnTo>
                  <a:lnTo>
                    <a:pt x="2766827" y="1366410"/>
                  </a:lnTo>
                  <a:lnTo>
                    <a:pt x="2723520" y="1379863"/>
                  </a:lnTo>
                  <a:lnTo>
                    <a:pt x="2677033" y="1384553"/>
                  </a:lnTo>
                  <a:lnTo>
                    <a:pt x="230759" y="1384553"/>
                  </a:lnTo>
                  <a:lnTo>
                    <a:pt x="184253" y="1379863"/>
                  </a:lnTo>
                  <a:lnTo>
                    <a:pt x="140937" y="1366410"/>
                  </a:lnTo>
                  <a:lnTo>
                    <a:pt x="101739" y="1345127"/>
                  </a:lnTo>
                  <a:lnTo>
                    <a:pt x="67587" y="1316942"/>
                  </a:lnTo>
                  <a:lnTo>
                    <a:pt x="39410" y="1282786"/>
                  </a:lnTo>
                  <a:lnTo>
                    <a:pt x="18134" y="1243589"/>
                  </a:lnTo>
                  <a:lnTo>
                    <a:pt x="4688" y="1200282"/>
                  </a:lnTo>
                  <a:lnTo>
                    <a:pt x="0" y="1153794"/>
                  </a:lnTo>
                  <a:lnTo>
                    <a:pt x="0" y="230758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5641" y="1817877"/>
            <a:ext cx="2541270" cy="8877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065" marR="5080" indent="-635" algn="ctr">
              <a:lnSpc>
                <a:spcPts val="2200"/>
              </a:lnSpc>
              <a:spcBef>
                <a:spcPts val="335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Phân hệ quản trị dữ liệu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(Data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Sub-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System)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57472" y="3179698"/>
            <a:ext cx="5194935" cy="1133475"/>
            <a:chOff x="3657472" y="3179698"/>
            <a:chExt cx="5194935" cy="1133475"/>
          </a:xfrm>
        </p:grpSpPr>
        <p:sp>
          <p:nvSpPr>
            <p:cNvPr id="12" name="object 12"/>
            <p:cNvSpPr/>
            <p:nvPr/>
          </p:nvSpPr>
          <p:spPr>
            <a:xfrm>
              <a:off x="3670172" y="3192398"/>
              <a:ext cx="5169535" cy="1108075"/>
            </a:xfrm>
            <a:custGeom>
              <a:avLst/>
              <a:gdLst/>
              <a:ahLst/>
              <a:cxnLst/>
              <a:rect l="l" t="t" r="r" b="b"/>
              <a:pathLst>
                <a:path w="5169534" h="1108075">
                  <a:moveTo>
                    <a:pt x="4984750" y="0"/>
                  </a:moveTo>
                  <a:lnTo>
                    <a:pt x="0" y="0"/>
                  </a:lnTo>
                  <a:lnTo>
                    <a:pt x="0" y="1107948"/>
                  </a:lnTo>
                  <a:lnTo>
                    <a:pt x="4984750" y="1107948"/>
                  </a:lnTo>
                  <a:lnTo>
                    <a:pt x="5033838" y="1101351"/>
                  </a:lnTo>
                  <a:lnTo>
                    <a:pt x="5077949" y="1082736"/>
                  </a:lnTo>
                  <a:lnTo>
                    <a:pt x="5115321" y="1053861"/>
                  </a:lnTo>
                  <a:lnTo>
                    <a:pt x="5144196" y="1016489"/>
                  </a:lnTo>
                  <a:lnTo>
                    <a:pt x="5162811" y="972378"/>
                  </a:lnTo>
                  <a:lnTo>
                    <a:pt x="5169408" y="923289"/>
                  </a:lnTo>
                  <a:lnTo>
                    <a:pt x="5169408" y="184658"/>
                  </a:lnTo>
                  <a:lnTo>
                    <a:pt x="5162811" y="135569"/>
                  </a:lnTo>
                  <a:lnTo>
                    <a:pt x="5144196" y="91458"/>
                  </a:lnTo>
                  <a:lnTo>
                    <a:pt x="5115321" y="54086"/>
                  </a:lnTo>
                  <a:lnTo>
                    <a:pt x="5077949" y="25211"/>
                  </a:lnTo>
                  <a:lnTo>
                    <a:pt x="5033838" y="6596"/>
                  </a:lnTo>
                  <a:lnTo>
                    <a:pt x="4984750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70172" y="3192398"/>
              <a:ext cx="5169535" cy="1108075"/>
            </a:xfrm>
            <a:custGeom>
              <a:avLst/>
              <a:gdLst/>
              <a:ahLst/>
              <a:cxnLst/>
              <a:rect l="l" t="t" r="r" b="b"/>
              <a:pathLst>
                <a:path w="5169534" h="1108075">
                  <a:moveTo>
                    <a:pt x="5169408" y="184658"/>
                  </a:moveTo>
                  <a:lnTo>
                    <a:pt x="5169408" y="923289"/>
                  </a:lnTo>
                  <a:lnTo>
                    <a:pt x="5162811" y="972378"/>
                  </a:lnTo>
                  <a:lnTo>
                    <a:pt x="5144196" y="1016489"/>
                  </a:lnTo>
                  <a:lnTo>
                    <a:pt x="5115321" y="1053861"/>
                  </a:lnTo>
                  <a:lnTo>
                    <a:pt x="5077949" y="1082736"/>
                  </a:lnTo>
                  <a:lnTo>
                    <a:pt x="5033838" y="1101351"/>
                  </a:lnTo>
                  <a:lnTo>
                    <a:pt x="4984750" y="1107948"/>
                  </a:lnTo>
                  <a:lnTo>
                    <a:pt x="0" y="1107948"/>
                  </a:lnTo>
                  <a:lnTo>
                    <a:pt x="0" y="0"/>
                  </a:lnTo>
                  <a:lnTo>
                    <a:pt x="4984750" y="0"/>
                  </a:lnTo>
                  <a:lnTo>
                    <a:pt x="5033838" y="6596"/>
                  </a:lnTo>
                  <a:lnTo>
                    <a:pt x="5077949" y="25211"/>
                  </a:lnTo>
                  <a:lnTo>
                    <a:pt x="5115321" y="54086"/>
                  </a:lnTo>
                  <a:lnTo>
                    <a:pt x="5144196" y="91458"/>
                  </a:lnTo>
                  <a:lnTo>
                    <a:pt x="5162811" y="135569"/>
                  </a:lnTo>
                  <a:lnTo>
                    <a:pt x="5169408" y="184658"/>
                  </a:lnTo>
                  <a:close/>
                </a:path>
              </a:pathLst>
            </a:custGeom>
            <a:ln w="25146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03065" y="3430015"/>
            <a:ext cx="4867275" cy="5835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latin typeface="Calibri"/>
                <a:cs typeface="Calibri"/>
              </a:rPr>
              <a:t>•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Cần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thiết </a:t>
            </a:r>
            <a:r>
              <a:rPr sz="1200" spc="-5" dirty="0">
                <a:latin typeface="Arial"/>
                <a:cs typeface="Arial"/>
              </a:rPr>
              <a:t>đ</a:t>
            </a:r>
            <a:r>
              <a:rPr sz="1200" spc="-5" dirty="0">
                <a:latin typeface="Calibri"/>
                <a:cs typeface="Calibri"/>
              </a:rPr>
              <a:t>ể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phân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tích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8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•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Mô </a:t>
            </a:r>
            <a:r>
              <a:rPr sz="1200" spc="-5" dirty="0">
                <a:latin typeface="Calibri"/>
                <a:cs typeface="Calibri"/>
              </a:rPr>
              <a:t>hình </a:t>
            </a:r>
            <a:r>
              <a:rPr sz="1200" dirty="0">
                <a:latin typeface="Calibri"/>
                <a:cs typeface="Calibri"/>
              </a:rPr>
              <a:t>mô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tả </a:t>
            </a:r>
            <a:r>
              <a:rPr sz="1200" dirty="0">
                <a:latin typeface="Calibri"/>
                <a:cs typeface="Calibri"/>
              </a:rPr>
              <a:t>mối </a:t>
            </a:r>
            <a:r>
              <a:rPr sz="1200" spc="-5" dirty="0">
                <a:latin typeface="Calibri"/>
                <a:cs typeface="Calibri"/>
              </a:rPr>
              <a:t>quan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hệ </a:t>
            </a:r>
            <a:r>
              <a:rPr sz="1200" dirty="0">
                <a:latin typeface="Calibri"/>
                <a:cs typeface="Calibri"/>
              </a:rPr>
              <a:t>giữa </a:t>
            </a:r>
            <a:r>
              <a:rPr sz="1200" spc="-5" dirty="0">
                <a:latin typeface="Calibri"/>
                <a:cs typeface="Calibri"/>
              </a:rPr>
              <a:t>các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thông </a:t>
            </a:r>
            <a:r>
              <a:rPr sz="1200" spc="-5" dirty="0">
                <a:latin typeface="Calibri"/>
                <a:cs typeface="Calibri"/>
              </a:rPr>
              <a:t>số </a:t>
            </a:r>
            <a:r>
              <a:rPr sz="1200" dirty="0">
                <a:latin typeface="Calibri"/>
                <a:cs typeface="Calibri"/>
              </a:rPr>
              <a:t>khác</a:t>
            </a:r>
            <a:r>
              <a:rPr sz="1200" spc="-5" dirty="0">
                <a:latin typeface="Calibri"/>
                <a:cs typeface="Calibri"/>
              </a:rPr>
              <a:t> nhau </a:t>
            </a:r>
            <a:r>
              <a:rPr sz="1200" spc="-10" dirty="0">
                <a:latin typeface="Calibri"/>
                <a:cs typeface="Calibri"/>
              </a:rPr>
              <a:t>trong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45" dirty="0">
                <a:latin typeface="Calibri"/>
                <a:cs typeface="Calibri"/>
              </a:rPr>
              <a:t>HT.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Ví dụ: </a:t>
            </a:r>
            <a:r>
              <a:rPr sz="1200" dirty="0">
                <a:latin typeface="Calibri"/>
                <a:cs typeface="Calibri"/>
              </a:rPr>
              <a:t>mô</a:t>
            </a:r>
            <a:endParaRPr sz="1200">
              <a:latin typeface="Calibri"/>
              <a:cs typeface="Calibri"/>
            </a:endParaRPr>
          </a:p>
          <a:p>
            <a:pPr marL="127000">
              <a:lnSpc>
                <a:spcPts val="1380"/>
              </a:lnSpc>
            </a:pPr>
            <a:r>
              <a:rPr sz="1200" spc="-5" dirty="0">
                <a:latin typeface="Calibri"/>
                <a:cs typeface="Calibri"/>
              </a:rPr>
              <a:t>hình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quy hoạch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tuyến tính, mô phỏng,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mô hình thống </a:t>
            </a:r>
            <a:r>
              <a:rPr sz="1200" spc="-20" dirty="0">
                <a:latin typeface="Calibri"/>
                <a:cs typeface="Calibri"/>
              </a:rPr>
              <a:t>kê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9680" y="3041014"/>
            <a:ext cx="2933700" cy="1410335"/>
            <a:chOff x="749680" y="3041014"/>
            <a:chExt cx="2933700" cy="1410335"/>
          </a:xfrm>
        </p:grpSpPr>
        <p:sp>
          <p:nvSpPr>
            <p:cNvPr id="16" name="object 16"/>
            <p:cNvSpPr/>
            <p:nvPr/>
          </p:nvSpPr>
          <p:spPr>
            <a:xfrm>
              <a:off x="762380" y="3053714"/>
              <a:ext cx="2908300" cy="1384935"/>
            </a:xfrm>
            <a:custGeom>
              <a:avLst/>
              <a:gdLst/>
              <a:ahLst/>
              <a:cxnLst/>
              <a:rect l="l" t="t" r="r" b="b"/>
              <a:pathLst>
                <a:path w="2908300" h="1384935">
                  <a:moveTo>
                    <a:pt x="2677033" y="0"/>
                  </a:moveTo>
                  <a:lnTo>
                    <a:pt x="230759" y="0"/>
                  </a:lnTo>
                  <a:lnTo>
                    <a:pt x="184253" y="4690"/>
                  </a:lnTo>
                  <a:lnTo>
                    <a:pt x="140937" y="18143"/>
                  </a:lnTo>
                  <a:lnTo>
                    <a:pt x="101739" y="39426"/>
                  </a:lnTo>
                  <a:lnTo>
                    <a:pt x="67587" y="67611"/>
                  </a:lnTo>
                  <a:lnTo>
                    <a:pt x="39410" y="101767"/>
                  </a:lnTo>
                  <a:lnTo>
                    <a:pt x="18134" y="140964"/>
                  </a:lnTo>
                  <a:lnTo>
                    <a:pt x="4688" y="184271"/>
                  </a:lnTo>
                  <a:lnTo>
                    <a:pt x="0" y="230759"/>
                  </a:lnTo>
                  <a:lnTo>
                    <a:pt x="0" y="1153795"/>
                  </a:lnTo>
                  <a:lnTo>
                    <a:pt x="4688" y="1200282"/>
                  </a:lnTo>
                  <a:lnTo>
                    <a:pt x="18134" y="1243589"/>
                  </a:lnTo>
                  <a:lnTo>
                    <a:pt x="39410" y="1282786"/>
                  </a:lnTo>
                  <a:lnTo>
                    <a:pt x="67587" y="1316942"/>
                  </a:lnTo>
                  <a:lnTo>
                    <a:pt x="101739" y="1345127"/>
                  </a:lnTo>
                  <a:lnTo>
                    <a:pt x="140937" y="1366410"/>
                  </a:lnTo>
                  <a:lnTo>
                    <a:pt x="184253" y="1379863"/>
                  </a:lnTo>
                  <a:lnTo>
                    <a:pt x="230759" y="1384554"/>
                  </a:lnTo>
                  <a:lnTo>
                    <a:pt x="2677033" y="1384554"/>
                  </a:lnTo>
                  <a:lnTo>
                    <a:pt x="2723520" y="1379863"/>
                  </a:lnTo>
                  <a:lnTo>
                    <a:pt x="2766827" y="1366410"/>
                  </a:lnTo>
                  <a:lnTo>
                    <a:pt x="2806024" y="1345127"/>
                  </a:lnTo>
                  <a:lnTo>
                    <a:pt x="2840180" y="1316942"/>
                  </a:lnTo>
                  <a:lnTo>
                    <a:pt x="2868365" y="1282786"/>
                  </a:lnTo>
                  <a:lnTo>
                    <a:pt x="2889648" y="1243589"/>
                  </a:lnTo>
                  <a:lnTo>
                    <a:pt x="2903101" y="1200282"/>
                  </a:lnTo>
                  <a:lnTo>
                    <a:pt x="2907792" y="1153795"/>
                  </a:lnTo>
                  <a:lnTo>
                    <a:pt x="2907792" y="230759"/>
                  </a:lnTo>
                  <a:lnTo>
                    <a:pt x="2903101" y="184271"/>
                  </a:lnTo>
                  <a:lnTo>
                    <a:pt x="2889648" y="140964"/>
                  </a:lnTo>
                  <a:lnTo>
                    <a:pt x="2868365" y="101767"/>
                  </a:lnTo>
                  <a:lnTo>
                    <a:pt x="2840180" y="67611"/>
                  </a:lnTo>
                  <a:lnTo>
                    <a:pt x="2806024" y="39426"/>
                  </a:lnTo>
                  <a:lnTo>
                    <a:pt x="2766827" y="18143"/>
                  </a:lnTo>
                  <a:lnTo>
                    <a:pt x="2723520" y="4690"/>
                  </a:lnTo>
                  <a:lnTo>
                    <a:pt x="267703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380" y="3053714"/>
              <a:ext cx="2908300" cy="1384935"/>
            </a:xfrm>
            <a:custGeom>
              <a:avLst/>
              <a:gdLst/>
              <a:ahLst/>
              <a:cxnLst/>
              <a:rect l="l" t="t" r="r" b="b"/>
              <a:pathLst>
                <a:path w="2908300" h="1384935">
                  <a:moveTo>
                    <a:pt x="0" y="230759"/>
                  </a:moveTo>
                  <a:lnTo>
                    <a:pt x="4688" y="184271"/>
                  </a:lnTo>
                  <a:lnTo>
                    <a:pt x="18134" y="140964"/>
                  </a:lnTo>
                  <a:lnTo>
                    <a:pt x="39410" y="101767"/>
                  </a:lnTo>
                  <a:lnTo>
                    <a:pt x="67587" y="67611"/>
                  </a:lnTo>
                  <a:lnTo>
                    <a:pt x="101739" y="39426"/>
                  </a:lnTo>
                  <a:lnTo>
                    <a:pt x="140937" y="18143"/>
                  </a:lnTo>
                  <a:lnTo>
                    <a:pt x="184253" y="4690"/>
                  </a:lnTo>
                  <a:lnTo>
                    <a:pt x="230759" y="0"/>
                  </a:lnTo>
                  <a:lnTo>
                    <a:pt x="2677033" y="0"/>
                  </a:lnTo>
                  <a:lnTo>
                    <a:pt x="2723520" y="4690"/>
                  </a:lnTo>
                  <a:lnTo>
                    <a:pt x="2766827" y="18143"/>
                  </a:lnTo>
                  <a:lnTo>
                    <a:pt x="2806024" y="39426"/>
                  </a:lnTo>
                  <a:lnTo>
                    <a:pt x="2840180" y="67611"/>
                  </a:lnTo>
                  <a:lnTo>
                    <a:pt x="2868365" y="101767"/>
                  </a:lnTo>
                  <a:lnTo>
                    <a:pt x="2889648" y="140964"/>
                  </a:lnTo>
                  <a:lnTo>
                    <a:pt x="2903101" y="184271"/>
                  </a:lnTo>
                  <a:lnTo>
                    <a:pt x="2907792" y="230759"/>
                  </a:lnTo>
                  <a:lnTo>
                    <a:pt x="2907792" y="1153795"/>
                  </a:lnTo>
                  <a:lnTo>
                    <a:pt x="2903101" y="1200282"/>
                  </a:lnTo>
                  <a:lnTo>
                    <a:pt x="2889648" y="1243589"/>
                  </a:lnTo>
                  <a:lnTo>
                    <a:pt x="2868365" y="1282786"/>
                  </a:lnTo>
                  <a:lnTo>
                    <a:pt x="2840180" y="1316942"/>
                  </a:lnTo>
                  <a:lnTo>
                    <a:pt x="2806024" y="1345127"/>
                  </a:lnTo>
                  <a:lnTo>
                    <a:pt x="2766827" y="1366410"/>
                  </a:lnTo>
                  <a:lnTo>
                    <a:pt x="2723520" y="1379863"/>
                  </a:lnTo>
                  <a:lnTo>
                    <a:pt x="2677033" y="1384554"/>
                  </a:lnTo>
                  <a:lnTo>
                    <a:pt x="230759" y="1384554"/>
                  </a:lnTo>
                  <a:lnTo>
                    <a:pt x="184253" y="1379863"/>
                  </a:lnTo>
                  <a:lnTo>
                    <a:pt x="140937" y="1366410"/>
                  </a:lnTo>
                  <a:lnTo>
                    <a:pt x="101739" y="1345127"/>
                  </a:lnTo>
                  <a:lnTo>
                    <a:pt x="67587" y="1316942"/>
                  </a:lnTo>
                  <a:lnTo>
                    <a:pt x="39410" y="1282786"/>
                  </a:lnTo>
                  <a:lnTo>
                    <a:pt x="18134" y="1243589"/>
                  </a:lnTo>
                  <a:lnTo>
                    <a:pt x="4688" y="1200282"/>
                  </a:lnTo>
                  <a:lnTo>
                    <a:pt x="0" y="1153795"/>
                  </a:lnTo>
                  <a:lnTo>
                    <a:pt x="0" y="230759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25067" y="3272027"/>
            <a:ext cx="2581910" cy="8877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ctr">
              <a:lnSpc>
                <a:spcPts val="2200"/>
              </a:lnSpc>
              <a:spcBef>
                <a:spcPts val="335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Phân hệ quản lý mô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hình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(Model Management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Sub-System)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57472" y="4633595"/>
            <a:ext cx="5194935" cy="1133475"/>
            <a:chOff x="3657472" y="4633595"/>
            <a:chExt cx="5194935" cy="1133475"/>
          </a:xfrm>
        </p:grpSpPr>
        <p:sp>
          <p:nvSpPr>
            <p:cNvPr id="20" name="object 20"/>
            <p:cNvSpPr/>
            <p:nvPr/>
          </p:nvSpPr>
          <p:spPr>
            <a:xfrm>
              <a:off x="3670172" y="4646295"/>
              <a:ext cx="5169535" cy="1108075"/>
            </a:xfrm>
            <a:custGeom>
              <a:avLst/>
              <a:gdLst/>
              <a:ahLst/>
              <a:cxnLst/>
              <a:rect l="l" t="t" r="r" b="b"/>
              <a:pathLst>
                <a:path w="5169534" h="1108075">
                  <a:moveTo>
                    <a:pt x="4984750" y="0"/>
                  </a:moveTo>
                  <a:lnTo>
                    <a:pt x="0" y="0"/>
                  </a:lnTo>
                  <a:lnTo>
                    <a:pt x="0" y="1107947"/>
                  </a:lnTo>
                  <a:lnTo>
                    <a:pt x="4984750" y="1107947"/>
                  </a:lnTo>
                  <a:lnTo>
                    <a:pt x="5033838" y="1101351"/>
                  </a:lnTo>
                  <a:lnTo>
                    <a:pt x="5077949" y="1082736"/>
                  </a:lnTo>
                  <a:lnTo>
                    <a:pt x="5115321" y="1053861"/>
                  </a:lnTo>
                  <a:lnTo>
                    <a:pt x="5144196" y="1016489"/>
                  </a:lnTo>
                  <a:lnTo>
                    <a:pt x="5162811" y="972378"/>
                  </a:lnTo>
                  <a:lnTo>
                    <a:pt x="5169408" y="923289"/>
                  </a:lnTo>
                  <a:lnTo>
                    <a:pt x="5169408" y="184657"/>
                  </a:lnTo>
                  <a:lnTo>
                    <a:pt x="5162811" y="135569"/>
                  </a:lnTo>
                  <a:lnTo>
                    <a:pt x="5144196" y="91458"/>
                  </a:lnTo>
                  <a:lnTo>
                    <a:pt x="5115321" y="54086"/>
                  </a:lnTo>
                  <a:lnTo>
                    <a:pt x="5077949" y="25211"/>
                  </a:lnTo>
                  <a:lnTo>
                    <a:pt x="5033838" y="6596"/>
                  </a:lnTo>
                  <a:lnTo>
                    <a:pt x="4984750" y="0"/>
                  </a:lnTo>
                  <a:close/>
                </a:path>
              </a:pathLst>
            </a:custGeom>
            <a:solidFill>
              <a:srgbClr val="D0D7E8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70172" y="4646295"/>
              <a:ext cx="5169535" cy="1108075"/>
            </a:xfrm>
            <a:custGeom>
              <a:avLst/>
              <a:gdLst/>
              <a:ahLst/>
              <a:cxnLst/>
              <a:rect l="l" t="t" r="r" b="b"/>
              <a:pathLst>
                <a:path w="5169534" h="1108075">
                  <a:moveTo>
                    <a:pt x="5169408" y="184657"/>
                  </a:moveTo>
                  <a:lnTo>
                    <a:pt x="5169408" y="923289"/>
                  </a:lnTo>
                  <a:lnTo>
                    <a:pt x="5162811" y="972378"/>
                  </a:lnTo>
                  <a:lnTo>
                    <a:pt x="5144196" y="1016489"/>
                  </a:lnTo>
                  <a:lnTo>
                    <a:pt x="5115321" y="1053861"/>
                  </a:lnTo>
                  <a:lnTo>
                    <a:pt x="5077949" y="1082736"/>
                  </a:lnTo>
                  <a:lnTo>
                    <a:pt x="5033838" y="1101351"/>
                  </a:lnTo>
                  <a:lnTo>
                    <a:pt x="4984750" y="1107947"/>
                  </a:lnTo>
                  <a:lnTo>
                    <a:pt x="0" y="1107947"/>
                  </a:lnTo>
                  <a:lnTo>
                    <a:pt x="0" y="0"/>
                  </a:lnTo>
                  <a:lnTo>
                    <a:pt x="4984750" y="0"/>
                  </a:lnTo>
                  <a:lnTo>
                    <a:pt x="5033838" y="6596"/>
                  </a:lnTo>
                  <a:lnTo>
                    <a:pt x="5077949" y="25211"/>
                  </a:lnTo>
                  <a:lnTo>
                    <a:pt x="5115321" y="54086"/>
                  </a:lnTo>
                  <a:lnTo>
                    <a:pt x="5144196" y="91458"/>
                  </a:lnTo>
                  <a:lnTo>
                    <a:pt x="5162811" y="135569"/>
                  </a:lnTo>
                  <a:lnTo>
                    <a:pt x="5169408" y="184657"/>
                  </a:lnTo>
                  <a:close/>
                </a:path>
              </a:pathLst>
            </a:custGeom>
            <a:ln w="25146">
              <a:solidFill>
                <a:srgbClr val="D0D7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703065" y="4786629"/>
            <a:ext cx="4979035" cy="7791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latin typeface="Calibri"/>
                <a:cs typeface="Calibri"/>
              </a:rPr>
              <a:t>•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Cung cấp các </a:t>
            </a:r>
            <a:r>
              <a:rPr sz="1200" dirty="0">
                <a:latin typeface="Calibri"/>
                <a:cs typeface="Calibri"/>
              </a:rPr>
              <a:t>thực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5" dirty="0">
                <a:latin typeface="Arial"/>
                <a:cs typeface="Arial"/>
              </a:rPr>
              <a:t>đơ</a:t>
            </a:r>
            <a:r>
              <a:rPr sz="1200" spc="-5" dirty="0">
                <a:latin typeface="Calibri"/>
                <a:cs typeface="Calibri"/>
              </a:rPr>
              <a:t>n,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các biểu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</a:t>
            </a:r>
            <a:r>
              <a:rPr sz="1200" spc="-5" dirty="0">
                <a:latin typeface="Arial"/>
                <a:cs typeface="Arial"/>
              </a:rPr>
              <a:t>ư</a:t>
            </a:r>
            <a:r>
              <a:rPr sz="1200" spc="-5" dirty="0">
                <a:latin typeface="Calibri"/>
                <a:cs typeface="Calibri"/>
              </a:rPr>
              <a:t>ợng</a:t>
            </a:r>
            <a:r>
              <a:rPr sz="1200" dirty="0">
                <a:latin typeface="Calibri"/>
                <a:cs typeface="Calibri"/>
              </a:rPr>
              <a:t> cho </a:t>
            </a:r>
            <a:r>
              <a:rPr sz="1200" spc="-5" dirty="0">
                <a:latin typeface="Calibri"/>
                <a:cs typeface="Calibri"/>
              </a:rPr>
              <a:t>ng</a:t>
            </a:r>
            <a:r>
              <a:rPr sz="1200" spc="-5" dirty="0">
                <a:latin typeface="Arial"/>
                <a:cs typeface="Arial"/>
              </a:rPr>
              <a:t>ư</a:t>
            </a:r>
            <a:r>
              <a:rPr sz="1200" spc="-5" dirty="0">
                <a:latin typeface="Calibri"/>
                <a:cs typeface="Calibri"/>
              </a:rPr>
              <a:t>ời sử dụng</a:t>
            </a:r>
            <a:r>
              <a:rPr sz="1200" dirty="0">
                <a:latin typeface="Calibri"/>
                <a:cs typeface="Calibri"/>
              </a:rPr>
              <a:t> giao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tiếp </a:t>
            </a:r>
            <a:r>
              <a:rPr sz="1200" spc="-10" dirty="0">
                <a:latin typeface="Calibri"/>
                <a:cs typeface="Calibri"/>
              </a:rPr>
              <a:t>với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45" dirty="0">
                <a:latin typeface="Calibri"/>
                <a:cs typeface="Calibri"/>
              </a:rPr>
              <a:t>HT.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alibri"/>
                <a:cs typeface="Calibri"/>
              </a:rPr>
              <a:t>•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Cung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cấp các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trợ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giúp </a:t>
            </a:r>
            <a:r>
              <a:rPr sz="1200" spc="-5" dirty="0">
                <a:latin typeface="Calibri"/>
                <a:cs typeface="Calibri"/>
              </a:rPr>
              <a:t>nhanh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chóng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và</a:t>
            </a:r>
            <a:r>
              <a:rPr sz="1200" spc="-5" dirty="0">
                <a:latin typeface="Calibri"/>
                <a:cs typeface="Calibri"/>
              </a:rPr>
              <a:t> dễ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dàng </a:t>
            </a:r>
            <a:r>
              <a:rPr sz="1200" dirty="0">
                <a:latin typeface="Calibri"/>
                <a:cs typeface="Calibri"/>
              </a:rPr>
              <a:t>cho </a:t>
            </a:r>
            <a:r>
              <a:rPr sz="1200" spc="-5" dirty="0">
                <a:latin typeface="Calibri"/>
                <a:cs typeface="Calibri"/>
              </a:rPr>
              <a:t>ng</a:t>
            </a:r>
            <a:r>
              <a:rPr sz="1200" spc="-5" dirty="0">
                <a:latin typeface="Arial"/>
                <a:cs typeface="Arial"/>
              </a:rPr>
              <a:t>ư</a:t>
            </a:r>
            <a:r>
              <a:rPr sz="1200" spc="-5" dirty="0">
                <a:latin typeface="Calibri"/>
                <a:cs typeface="Calibri"/>
              </a:rPr>
              <a:t>ời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sử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dụng.</a:t>
            </a:r>
            <a:endParaRPr sz="1200">
              <a:latin typeface="Calibri"/>
              <a:cs typeface="Calibri"/>
            </a:endParaRPr>
          </a:p>
          <a:p>
            <a:pPr marL="127000" marR="5080" indent="-114300">
              <a:lnSpc>
                <a:spcPts val="1320"/>
              </a:lnSpc>
              <a:spcBef>
                <a:spcPts val="245"/>
              </a:spcBef>
            </a:pPr>
            <a:r>
              <a:rPr sz="1200" dirty="0">
                <a:latin typeface="Calibri"/>
                <a:cs typeface="Calibri"/>
              </a:rPr>
              <a:t>•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Biến </a:t>
            </a:r>
            <a:r>
              <a:rPr sz="1200" spc="-5" dirty="0">
                <a:latin typeface="Arial"/>
                <a:cs typeface="Arial"/>
              </a:rPr>
              <a:t>đ</a:t>
            </a:r>
            <a:r>
              <a:rPr sz="1200" spc="-5" dirty="0">
                <a:latin typeface="Calibri"/>
                <a:cs typeface="Calibri"/>
              </a:rPr>
              <a:t>ổi các truy </a:t>
            </a:r>
            <a:r>
              <a:rPr sz="1200" spc="-10" dirty="0">
                <a:latin typeface="Calibri"/>
                <a:cs typeface="Calibri"/>
              </a:rPr>
              <a:t>vấn</a:t>
            </a:r>
            <a:r>
              <a:rPr sz="1200" spc="-5" dirty="0">
                <a:latin typeface="Calibri"/>
                <a:cs typeface="Calibri"/>
              </a:rPr>
              <a:t> do ng</a:t>
            </a:r>
            <a:r>
              <a:rPr sz="1200" spc="-5" dirty="0">
                <a:latin typeface="Arial"/>
                <a:cs typeface="Arial"/>
              </a:rPr>
              <a:t>ư</a:t>
            </a:r>
            <a:r>
              <a:rPr sz="1200" spc="-5" dirty="0">
                <a:latin typeface="Calibri"/>
                <a:cs typeface="Calibri"/>
              </a:rPr>
              <a:t>ời sử dụng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" dirty="0">
                <a:latin typeface="Arial"/>
                <a:cs typeface="Arial"/>
              </a:rPr>
              <a:t>đư</a:t>
            </a:r>
            <a:r>
              <a:rPr sz="1200" spc="-5" dirty="0">
                <a:latin typeface="Calibri"/>
                <a:cs typeface="Calibri"/>
              </a:rPr>
              <a:t>a </a:t>
            </a:r>
            <a:r>
              <a:rPr sz="1200" spc="-15" dirty="0">
                <a:latin typeface="Calibri"/>
                <a:cs typeface="Calibri"/>
              </a:rPr>
              <a:t>ra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thành </a:t>
            </a:r>
            <a:r>
              <a:rPr sz="1200" spc="-5" dirty="0">
                <a:latin typeface="Calibri"/>
                <a:cs typeface="Calibri"/>
              </a:rPr>
              <a:t>các dạng </a:t>
            </a:r>
            <a:r>
              <a:rPr sz="1200" dirty="0">
                <a:latin typeface="Calibri"/>
                <a:cs typeface="Calibri"/>
              </a:rPr>
              <a:t>mà </a:t>
            </a:r>
            <a:r>
              <a:rPr sz="1200" spc="-5" dirty="0">
                <a:latin typeface="Calibri"/>
                <a:cs typeface="Calibri"/>
              </a:rPr>
              <a:t>các HT</a:t>
            </a:r>
            <a:r>
              <a:rPr sz="1200" dirty="0">
                <a:latin typeface="Calibri"/>
                <a:cs typeface="Calibri"/>
              </a:rPr>
              <a:t> khác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có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thể chấp</a:t>
            </a:r>
            <a:r>
              <a:rPr sz="1200" spc="-5" dirty="0">
                <a:latin typeface="Calibri"/>
                <a:cs typeface="Calibri"/>
              </a:rPr>
              <a:t> nhận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và</a:t>
            </a:r>
            <a:r>
              <a:rPr sz="1200" spc="-5" dirty="0">
                <a:latin typeface="Calibri"/>
                <a:cs typeface="Calibri"/>
              </a:rPr>
              <a:t> sử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dụng </a:t>
            </a:r>
            <a:r>
              <a:rPr sz="1200" dirty="0">
                <a:latin typeface="Calibri"/>
                <a:cs typeface="Calibri"/>
              </a:rPr>
              <a:t>d</a:t>
            </a:r>
            <a:r>
              <a:rPr sz="1200" dirty="0">
                <a:latin typeface="Arial"/>
                <a:cs typeface="Arial"/>
              </a:rPr>
              <a:t>ư</a:t>
            </a:r>
            <a:r>
              <a:rPr sz="1200" dirty="0">
                <a:latin typeface="Calibri"/>
                <a:cs typeface="Calibri"/>
              </a:rPr>
              <a:t>ợc.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49808" y="4495038"/>
            <a:ext cx="2933065" cy="1410970"/>
            <a:chOff x="749808" y="4495038"/>
            <a:chExt cx="2933065" cy="1410970"/>
          </a:xfrm>
        </p:grpSpPr>
        <p:sp>
          <p:nvSpPr>
            <p:cNvPr id="24" name="object 24"/>
            <p:cNvSpPr/>
            <p:nvPr/>
          </p:nvSpPr>
          <p:spPr>
            <a:xfrm>
              <a:off x="762381" y="4507611"/>
              <a:ext cx="2908300" cy="1385570"/>
            </a:xfrm>
            <a:custGeom>
              <a:avLst/>
              <a:gdLst/>
              <a:ahLst/>
              <a:cxnLst/>
              <a:rect l="l" t="t" r="r" b="b"/>
              <a:pathLst>
                <a:path w="2908300" h="1385570">
                  <a:moveTo>
                    <a:pt x="2676906" y="0"/>
                  </a:moveTo>
                  <a:lnTo>
                    <a:pt x="230885" y="0"/>
                  </a:lnTo>
                  <a:lnTo>
                    <a:pt x="184356" y="4691"/>
                  </a:lnTo>
                  <a:lnTo>
                    <a:pt x="141017" y="18145"/>
                  </a:lnTo>
                  <a:lnTo>
                    <a:pt x="101798" y="39433"/>
                  </a:lnTo>
                  <a:lnTo>
                    <a:pt x="67627" y="67627"/>
                  </a:lnTo>
                  <a:lnTo>
                    <a:pt x="39433" y="101798"/>
                  </a:lnTo>
                  <a:lnTo>
                    <a:pt x="18145" y="141017"/>
                  </a:lnTo>
                  <a:lnTo>
                    <a:pt x="4691" y="184356"/>
                  </a:lnTo>
                  <a:lnTo>
                    <a:pt x="0" y="230886"/>
                  </a:lnTo>
                  <a:lnTo>
                    <a:pt x="0" y="1154430"/>
                  </a:lnTo>
                  <a:lnTo>
                    <a:pt x="4691" y="1200959"/>
                  </a:lnTo>
                  <a:lnTo>
                    <a:pt x="18145" y="1244298"/>
                  </a:lnTo>
                  <a:lnTo>
                    <a:pt x="39433" y="1283517"/>
                  </a:lnTo>
                  <a:lnTo>
                    <a:pt x="67627" y="1317688"/>
                  </a:lnTo>
                  <a:lnTo>
                    <a:pt x="101798" y="1345882"/>
                  </a:lnTo>
                  <a:lnTo>
                    <a:pt x="141017" y="1367170"/>
                  </a:lnTo>
                  <a:lnTo>
                    <a:pt x="184356" y="1380624"/>
                  </a:lnTo>
                  <a:lnTo>
                    <a:pt x="230885" y="1385316"/>
                  </a:lnTo>
                  <a:lnTo>
                    <a:pt x="2676906" y="1385316"/>
                  </a:lnTo>
                  <a:lnTo>
                    <a:pt x="2723435" y="1380624"/>
                  </a:lnTo>
                  <a:lnTo>
                    <a:pt x="2766774" y="1367170"/>
                  </a:lnTo>
                  <a:lnTo>
                    <a:pt x="2805993" y="1345882"/>
                  </a:lnTo>
                  <a:lnTo>
                    <a:pt x="2840164" y="1317688"/>
                  </a:lnTo>
                  <a:lnTo>
                    <a:pt x="2868358" y="1283517"/>
                  </a:lnTo>
                  <a:lnTo>
                    <a:pt x="2889646" y="1244298"/>
                  </a:lnTo>
                  <a:lnTo>
                    <a:pt x="2903100" y="1200959"/>
                  </a:lnTo>
                  <a:lnTo>
                    <a:pt x="2907792" y="1154430"/>
                  </a:lnTo>
                  <a:lnTo>
                    <a:pt x="2907792" y="230886"/>
                  </a:lnTo>
                  <a:lnTo>
                    <a:pt x="2903100" y="184356"/>
                  </a:lnTo>
                  <a:lnTo>
                    <a:pt x="2889646" y="141017"/>
                  </a:lnTo>
                  <a:lnTo>
                    <a:pt x="2868358" y="101798"/>
                  </a:lnTo>
                  <a:lnTo>
                    <a:pt x="2840164" y="67627"/>
                  </a:lnTo>
                  <a:lnTo>
                    <a:pt x="2805993" y="39433"/>
                  </a:lnTo>
                  <a:lnTo>
                    <a:pt x="2766774" y="18145"/>
                  </a:lnTo>
                  <a:lnTo>
                    <a:pt x="2723435" y="4691"/>
                  </a:lnTo>
                  <a:lnTo>
                    <a:pt x="267690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2381" y="4507611"/>
              <a:ext cx="2908300" cy="1385570"/>
            </a:xfrm>
            <a:custGeom>
              <a:avLst/>
              <a:gdLst/>
              <a:ahLst/>
              <a:cxnLst/>
              <a:rect l="l" t="t" r="r" b="b"/>
              <a:pathLst>
                <a:path w="2908300" h="1385570">
                  <a:moveTo>
                    <a:pt x="0" y="230886"/>
                  </a:moveTo>
                  <a:lnTo>
                    <a:pt x="4691" y="184356"/>
                  </a:lnTo>
                  <a:lnTo>
                    <a:pt x="18145" y="141017"/>
                  </a:lnTo>
                  <a:lnTo>
                    <a:pt x="39433" y="101798"/>
                  </a:lnTo>
                  <a:lnTo>
                    <a:pt x="67627" y="67627"/>
                  </a:lnTo>
                  <a:lnTo>
                    <a:pt x="101798" y="39433"/>
                  </a:lnTo>
                  <a:lnTo>
                    <a:pt x="141017" y="18145"/>
                  </a:lnTo>
                  <a:lnTo>
                    <a:pt x="184356" y="4691"/>
                  </a:lnTo>
                  <a:lnTo>
                    <a:pt x="230885" y="0"/>
                  </a:lnTo>
                  <a:lnTo>
                    <a:pt x="2676906" y="0"/>
                  </a:lnTo>
                  <a:lnTo>
                    <a:pt x="2723435" y="4691"/>
                  </a:lnTo>
                  <a:lnTo>
                    <a:pt x="2766774" y="18145"/>
                  </a:lnTo>
                  <a:lnTo>
                    <a:pt x="2805993" y="39433"/>
                  </a:lnTo>
                  <a:lnTo>
                    <a:pt x="2840164" y="67627"/>
                  </a:lnTo>
                  <a:lnTo>
                    <a:pt x="2868358" y="101798"/>
                  </a:lnTo>
                  <a:lnTo>
                    <a:pt x="2889646" y="141017"/>
                  </a:lnTo>
                  <a:lnTo>
                    <a:pt x="2903100" y="184356"/>
                  </a:lnTo>
                  <a:lnTo>
                    <a:pt x="2907792" y="230886"/>
                  </a:lnTo>
                  <a:lnTo>
                    <a:pt x="2907792" y="1154430"/>
                  </a:lnTo>
                  <a:lnTo>
                    <a:pt x="2903100" y="1200959"/>
                  </a:lnTo>
                  <a:lnTo>
                    <a:pt x="2889646" y="1244298"/>
                  </a:lnTo>
                  <a:lnTo>
                    <a:pt x="2868358" y="1283517"/>
                  </a:lnTo>
                  <a:lnTo>
                    <a:pt x="2840164" y="1317688"/>
                  </a:lnTo>
                  <a:lnTo>
                    <a:pt x="2805993" y="1345882"/>
                  </a:lnTo>
                  <a:lnTo>
                    <a:pt x="2766774" y="1367170"/>
                  </a:lnTo>
                  <a:lnTo>
                    <a:pt x="2723435" y="1380624"/>
                  </a:lnTo>
                  <a:lnTo>
                    <a:pt x="2676906" y="1385316"/>
                  </a:lnTo>
                  <a:lnTo>
                    <a:pt x="230885" y="1385316"/>
                  </a:lnTo>
                  <a:lnTo>
                    <a:pt x="184356" y="1380624"/>
                  </a:lnTo>
                  <a:lnTo>
                    <a:pt x="141017" y="1367170"/>
                  </a:lnTo>
                  <a:lnTo>
                    <a:pt x="101798" y="1345882"/>
                  </a:lnTo>
                  <a:lnTo>
                    <a:pt x="67627" y="1317688"/>
                  </a:lnTo>
                  <a:lnTo>
                    <a:pt x="39433" y="1283517"/>
                  </a:lnTo>
                  <a:lnTo>
                    <a:pt x="18145" y="1244298"/>
                  </a:lnTo>
                  <a:lnTo>
                    <a:pt x="4691" y="1200959"/>
                  </a:lnTo>
                  <a:lnTo>
                    <a:pt x="0" y="1154430"/>
                  </a:lnTo>
                  <a:lnTo>
                    <a:pt x="0" y="230886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93063" y="4726432"/>
            <a:ext cx="2645410" cy="8877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ctr">
              <a:lnSpc>
                <a:spcPts val="2200"/>
              </a:lnSpc>
              <a:spcBef>
                <a:spcPts val="335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Phân hệ quản lý hội thoại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(Dialogue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Management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Sub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System)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29" name="Date Placeholder 2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88994" y="838818"/>
            <a:ext cx="4416425" cy="135191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pc="-30" dirty="0">
                <a:solidFill>
                  <a:srgbClr val="00AF50"/>
                </a:solidFill>
              </a:rPr>
              <a:t>M</a:t>
            </a:r>
            <a:r>
              <a:rPr sz="3200" spc="-30" dirty="0">
                <a:solidFill>
                  <a:srgbClr val="00AF50"/>
                </a:solidFill>
              </a:rPr>
              <a:t>ỘT</a:t>
            </a:r>
            <a:r>
              <a:rPr sz="3200" spc="170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SỐ</a:t>
            </a:r>
            <a:r>
              <a:rPr sz="3200" spc="165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VÍ</a:t>
            </a:r>
            <a:r>
              <a:rPr sz="3200" spc="160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DỤ</a:t>
            </a:r>
            <a:r>
              <a:rPr sz="3200" spc="165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VỀ</a:t>
            </a:r>
            <a:r>
              <a:rPr sz="3200" spc="165" dirty="0">
                <a:solidFill>
                  <a:srgbClr val="00AF50"/>
                </a:solidFill>
              </a:rPr>
              <a:t> </a:t>
            </a:r>
            <a:r>
              <a:rPr spc="20" dirty="0">
                <a:solidFill>
                  <a:srgbClr val="00AF50"/>
                </a:solidFill>
              </a:rPr>
              <a:t>HTTT</a:t>
            </a:r>
            <a:endParaRPr sz="3200"/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200" spc="-5" dirty="0">
                <a:solidFill>
                  <a:srgbClr val="00AF50"/>
                </a:solidFill>
              </a:rPr>
              <a:t>HỖ</a:t>
            </a:r>
            <a:r>
              <a:rPr sz="3200" spc="170" dirty="0">
                <a:solidFill>
                  <a:srgbClr val="00AF50"/>
                </a:solidFill>
              </a:rPr>
              <a:t> </a:t>
            </a:r>
            <a:r>
              <a:rPr sz="3200" spc="-15" dirty="0">
                <a:solidFill>
                  <a:srgbClr val="00AF50"/>
                </a:solidFill>
              </a:rPr>
              <a:t>TRỢ</a:t>
            </a:r>
            <a:r>
              <a:rPr sz="3200" spc="175" dirty="0">
                <a:solidFill>
                  <a:srgbClr val="00AF50"/>
                </a:solidFill>
              </a:rPr>
              <a:t> </a:t>
            </a:r>
            <a:r>
              <a:rPr sz="3200" spc="-5" dirty="0">
                <a:solidFill>
                  <a:srgbClr val="00AF50"/>
                </a:solidFill>
              </a:rPr>
              <a:t>RA</a:t>
            </a:r>
            <a:r>
              <a:rPr sz="3200" spc="160" dirty="0">
                <a:solidFill>
                  <a:srgbClr val="00AF50"/>
                </a:solidFill>
              </a:rPr>
              <a:t> </a:t>
            </a:r>
            <a:r>
              <a:rPr sz="3200" spc="-10" dirty="0">
                <a:solidFill>
                  <a:srgbClr val="00AF50"/>
                </a:solidFill>
              </a:rPr>
              <a:t>QUYẾT</a:t>
            </a:r>
            <a:r>
              <a:rPr sz="3200" spc="180" dirty="0">
                <a:solidFill>
                  <a:srgbClr val="00AF50"/>
                </a:solidFill>
              </a:rPr>
              <a:t> 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ĐỊNH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145539" y="2840481"/>
            <a:ext cx="7147559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636395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spc="-5" dirty="0">
                <a:latin typeface="Times New Roman"/>
                <a:cs typeface="Times New Roman"/>
              </a:rPr>
              <a:t>Hệ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quản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lý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sản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xuất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(Manufacturing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Management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System)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spc="-5" dirty="0">
                <a:latin typeface="Times New Roman"/>
                <a:cs typeface="Times New Roman"/>
              </a:rPr>
              <a:t>HTTT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hỗ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trợ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quyết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hàng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không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(Airline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DSS)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•	</a:t>
            </a:r>
            <a:r>
              <a:rPr sz="2800" dirty="0">
                <a:latin typeface="Times New Roman"/>
                <a:cs typeface="Times New Roman"/>
              </a:rPr>
              <a:t>HTTT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lý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(Geographic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Informatuon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45599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Hệ</a:t>
            </a:r>
            <a:r>
              <a:rPr sz="4400" spc="-10" dirty="0"/>
              <a:t> </a:t>
            </a:r>
            <a:r>
              <a:rPr sz="4400" spc="-5" dirty="0"/>
              <a:t>quản</a:t>
            </a:r>
            <a:r>
              <a:rPr sz="4400" dirty="0"/>
              <a:t> </a:t>
            </a:r>
            <a:r>
              <a:rPr sz="4400" spc="-5" dirty="0"/>
              <a:t>lý</a:t>
            </a:r>
            <a:r>
              <a:rPr sz="4400" spc="-10" dirty="0"/>
              <a:t> </a:t>
            </a:r>
            <a:r>
              <a:rPr sz="4400" spc="-5" dirty="0"/>
              <a:t>sản</a:t>
            </a:r>
            <a:r>
              <a:rPr sz="4400" spc="-15" dirty="0"/>
              <a:t> </a:t>
            </a:r>
            <a:r>
              <a:rPr sz="4400" spc="-25" dirty="0"/>
              <a:t>xuất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7555"/>
            <a:ext cx="7920355" cy="3957954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820"/>
              </a:spcBef>
            </a:pPr>
            <a:r>
              <a:rPr sz="3000" dirty="0">
                <a:latin typeface="Arial"/>
                <a:cs typeface="Arial"/>
              </a:rPr>
              <a:t>•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Là </a:t>
            </a:r>
            <a:r>
              <a:rPr sz="3000" dirty="0">
                <a:latin typeface="Arial"/>
                <a:cs typeface="Arial"/>
              </a:rPr>
              <a:t>HT </a:t>
            </a:r>
            <a:r>
              <a:rPr sz="3000" spc="-5" dirty="0">
                <a:latin typeface="Arial"/>
                <a:cs typeface="Arial"/>
              </a:rPr>
              <a:t>được </a:t>
            </a:r>
            <a:r>
              <a:rPr sz="3000" dirty="0">
                <a:latin typeface="Arial"/>
                <a:cs typeface="Arial"/>
              </a:rPr>
              <a:t>xây </a:t>
            </a:r>
            <a:r>
              <a:rPr sz="3000" spc="-5" dirty="0">
                <a:latin typeface="Arial"/>
                <a:cs typeface="Arial"/>
              </a:rPr>
              <a:t>dựng </a:t>
            </a:r>
            <a:r>
              <a:rPr sz="3000" dirty="0">
                <a:latin typeface="Arial"/>
                <a:cs typeface="Arial"/>
              </a:rPr>
              <a:t>để </a:t>
            </a:r>
            <a:r>
              <a:rPr sz="3000" spc="-10" dirty="0">
                <a:latin typeface="Arial"/>
                <a:cs typeface="Arial"/>
              </a:rPr>
              <a:t>quản </a:t>
            </a:r>
            <a:r>
              <a:rPr sz="3000" spc="-5" dirty="0">
                <a:latin typeface="Arial"/>
                <a:cs typeface="Arial"/>
              </a:rPr>
              <a:t>lý </a:t>
            </a:r>
            <a:r>
              <a:rPr sz="3000" spc="-10" dirty="0">
                <a:latin typeface="Arial"/>
                <a:cs typeface="Arial"/>
              </a:rPr>
              <a:t>quá </a:t>
            </a:r>
            <a:r>
              <a:rPr sz="3000" dirty="0">
                <a:latin typeface="Arial"/>
                <a:cs typeface="Arial"/>
              </a:rPr>
              <a:t>trình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sản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xuất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trong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một</a:t>
            </a:r>
            <a:r>
              <a:rPr sz="3000" spc="-5" dirty="0">
                <a:latin typeface="Arial"/>
                <a:cs typeface="Arial"/>
              </a:rPr>
              <a:t> doanh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nghiệp.</a:t>
            </a:r>
            <a:endParaRPr sz="3000">
              <a:latin typeface="Arial"/>
              <a:cs typeface="Arial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720"/>
              </a:spcBef>
            </a:pPr>
            <a:r>
              <a:rPr sz="3000" dirty="0">
                <a:latin typeface="Arial"/>
                <a:cs typeface="Arial"/>
              </a:rPr>
              <a:t>•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Cung </a:t>
            </a:r>
            <a:r>
              <a:rPr sz="3000" spc="-10" dirty="0">
                <a:latin typeface="Arial"/>
                <a:cs typeface="Arial"/>
              </a:rPr>
              <a:t>cấp các </a:t>
            </a:r>
            <a:r>
              <a:rPr sz="3000" spc="-5" dirty="0">
                <a:latin typeface="Arial"/>
                <a:cs typeface="Arial"/>
              </a:rPr>
              <a:t>công cụ để </a:t>
            </a:r>
            <a:r>
              <a:rPr sz="3000" dirty="0">
                <a:latin typeface="Arial"/>
                <a:cs typeface="Arial"/>
              </a:rPr>
              <a:t>xây </a:t>
            </a:r>
            <a:r>
              <a:rPr sz="3000" spc="-5" dirty="0">
                <a:latin typeface="Arial"/>
                <a:cs typeface="Arial"/>
              </a:rPr>
              <a:t>dựng </a:t>
            </a:r>
            <a:r>
              <a:rPr sz="3000" dirty="0">
                <a:latin typeface="Arial"/>
                <a:cs typeface="Arial"/>
              </a:rPr>
              <a:t>các mô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hình </a:t>
            </a:r>
            <a:r>
              <a:rPr sz="3000" spc="-10" dirty="0">
                <a:latin typeface="Arial"/>
                <a:cs typeface="Arial"/>
              </a:rPr>
              <a:t>quản </a:t>
            </a:r>
            <a:r>
              <a:rPr sz="3000" spc="-5" dirty="0">
                <a:latin typeface="Arial"/>
                <a:cs typeface="Arial"/>
              </a:rPr>
              <a:t>lý như </a:t>
            </a:r>
            <a:r>
              <a:rPr sz="3000" dirty="0">
                <a:latin typeface="Arial"/>
                <a:cs typeface="Arial"/>
              </a:rPr>
              <a:t>mô </a:t>
            </a:r>
            <a:r>
              <a:rPr sz="3000" spc="-5" dirty="0">
                <a:latin typeface="Arial"/>
                <a:cs typeface="Arial"/>
              </a:rPr>
              <a:t>hình </a:t>
            </a:r>
            <a:r>
              <a:rPr sz="3000" dirty="0">
                <a:latin typeface="Arial"/>
                <a:cs typeface="Arial"/>
              </a:rPr>
              <a:t>tối ưu (quy </a:t>
            </a:r>
            <a:r>
              <a:rPr sz="3000" spc="-10" dirty="0">
                <a:latin typeface="Arial"/>
                <a:cs typeface="Arial"/>
              </a:rPr>
              <a:t>hoạch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tuyến tính, </a:t>
            </a:r>
            <a:r>
              <a:rPr sz="3000" spc="-5" dirty="0">
                <a:latin typeface="Arial"/>
                <a:cs typeface="Arial"/>
              </a:rPr>
              <a:t>quy </a:t>
            </a:r>
            <a:r>
              <a:rPr sz="3000" spc="-10" dirty="0">
                <a:latin typeface="Arial"/>
                <a:cs typeface="Arial"/>
              </a:rPr>
              <a:t>hoạch</a:t>
            </a:r>
            <a:r>
              <a:rPr sz="3000" spc="-5" dirty="0">
                <a:latin typeface="Arial"/>
                <a:cs typeface="Arial"/>
              </a:rPr>
              <a:t> nguyên, quy </a:t>
            </a:r>
            <a:r>
              <a:rPr sz="3000" spc="-10" dirty="0">
                <a:latin typeface="Arial"/>
                <a:cs typeface="Arial"/>
              </a:rPr>
              <a:t>hoạch </a:t>
            </a:r>
            <a:r>
              <a:rPr sz="3000" spc="-5" dirty="0">
                <a:latin typeface="Arial"/>
                <a:cs typeface="Arial"/>
              </a:rPr>
              <a:t> động),</a:t>
            </a:r>
            <a:r>
              <a:rPr sz="3000" dirty="0">
                <a:latin typeface="Arial"/>
                <a:cs typeface="Arial"/>
              </a:rPr>
              <a:t> mô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hình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thống</a:t>
            </a:r>
            <a:r>
              <a:rPr sz="3000" dirty="0">
                <a:latin typeface="Arial"/>
                <a:cs typeface="Arial"/>
              </a:rPr>
              <a:t> kê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để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dự</a:t>
            </a:r>
            <a:r>
              <a:rPr sz="3000" spc="819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báo,</a:t>
            </a:r>
            <a:r>
              <a:rPr sz="3000" spc="8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mô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hình </a:t>
            </a:r>
            <a:r>
              <a:rPr sz="3000" dirty="0">
                <a:latin typeface="Arial"/>
                <a:cs typeface="Arial"/>
              </a:rPr>
              <a:t>Pert </a:t>
            </a:r>
            <a:r>
              <a:rPr sz="3000" spc="-5" dirty="0">
                <a:latin typeface="Arial"/>
                <a:cs typeface="Arial"/>
              </a:rPr>
              <a:t>để </a:t>
            </a:r>
            <a:r>
              <a:rPr sz="3000" spc="-10" dirty="0">
                <a:latin typeface="Arial"/>
                <a:cs typeface="Arial"/>
              </a:rPr>
              <a:t>quản </a:t>
            </a:r>
            <a:r>
              <a:rPr sz="3000" spc="-5" dirty="0">
                <a:latin typeface="Arial"/>
                <a:cs typeface="Arial"/>
              </a:rPr>
              <a:t>lý </a:t>
            </a:r>
            <a:r>
              <a:rPr sz="3000" dirty="0">
                <a:latin typeface="Arial"/>
                <a:cs typeface="Arial"/>
              </a:rPr>
              <a:t>công việc </a:t>
            </a:r>
            <a:r>
              <a:rPr sz="3000" spc="-5" dirty="0">
                <a:latin typeface="Arial"/>
                <a:cs typeface="Arial"/>
              </a:rPr>
              <a:t>trong </a:t>
            </a:r>
            <a:r>
              <a:rPr sz="3000" spc="-10" dirty="0">
                <a:latin typeface="Arial"/>
                <a:cs typeface="Arial"/>
              </a:rPr>
              <a:t>quá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trình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chỉ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đạo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sản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xuất.</a:t>
            </a:r>
            <a:endParaRPr sz="3000">
              <a:latin typeface="Arial"/>
              <a:cs typeface="Arial"/>
            </a:endParaRPr>
          </a:p>
          <a:p>
            <a:pPr marL="355600" marR="6350" indent="-342900" algn="just">
              <a:lnSpc>
                <a:spcPct val="80000"/>
              </a:lnSpc>
              <a:spcBef>
                <a:spcPts val="720"/>
              </a:spcBef>
            </a:pPr>
            <a:r>
              <a:rPr sz="3000" dirty="0">
                <a:latin typeface="Arial"/>
                <a:cs typeface="Arial"/>
              </a:rPr>
              <a:t>•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Hỗ </a:t>
            </a:r>
            <a:r>
              <a:rPr sz="3000" dirty="0">
                <a:latin typeface="Arial"/>
                <a:cs typeface="Arial"/>
              </a:rPr>
              <a:t>trợ các </a:t>
            </a:r>
            <a:r>
              <a:rPr sz="3000" spc="-10" dirty="0">
                <a:latin typeface="Arial"/>
                <a:cs typeface="Arial"/>
              </a:rPr>
              <a:t>nhà quản </a:t>
            </a:r>
            <a:r>
              <a:rPr sz="3000" spc="-5" dirty="0">
                <a:latin typeface="Arial"/>
                <a:cs typeface="Arial"/>
              </a:rPr>
              <a:t>lý đưa </a:t>
            </a:r>
            <a:r>
              <a:rPr sz="3000" dirty="0">
                <a:latin typeface="Arial"/>
                <a:cs typeface="Arial"/>
              </a:rPr>
              <a:t>ra các </a:t>
            </a:r>
            <a:r>
              <a:rPr sz="3000" spc="-10" dirty="0">
                <a:latin typeface="Arial"/>
                <a:cs typeface="Arial"/>
              </a:rPr>
              <a:t>phương </a:t>
            </a:r>
            <a:r>
              <a:rPr sz="3000" spc="-5" dirty="0">
                <a:latin typeface="Arial"/>
                <a:cs typeface="Arial"/>
              </a:rPr>
              <a:t> án,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cách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thức sản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xuất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hiệu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quả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nhất.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5925" marR="5080">
              <a:lnSpc>
                <a:spcPts val="4780"/>
              </a:lnSpc>
              <a:spcBef>
                <a:spcPts val="215"/>
              </a:spcBef>
            </a:pPr>
            <a:r>
              <a:rPr spc="20" dirty="0"/>
              <a:t>HTTT</a:t>
            </a:r>
            <a:r>
              <a:rPr spc="-30" dirty="0"/>
              <a:t> </a:t>
            </a:r>
            <a:r>
              <a:rPr dirty="0"/>
              <a:t>hỗ</a:t>
            </a:r>
            <a:r>
              <a:rPr spc="-10" dirty="0"/>
              <a:t> </a:t>
            </a:r>
            <a:r>
              <a:rPr spc="-25" dirty="0"/>
              <a:t>trợ</a:t>
            </a:r>
            <a:r>
              <a:rPr spc="-5" dirty="0"/>
              <a:t> </a:t>
            </a:r>
            <a:r>
              <a:rPr spc="-45" dirty="0"/>
              <a:t>ra</a:t>
            </a:r>
            <a:r>
              <a:rPr spc="-10" dirty="0"/>
              <a:t> </a:t>
            </a:r>
            <a:r>
              <a:rPr spc="-20" dirty="0"/>
              <a:t>quyết</a:t>
            </a:r>
            <a:r>
              <a:rPr dirty="0"/>
              <a:t> </a:t>
            </a:r>
            <a:r>
              <a:rPr spc="-5" dirty="0">
                <a:latin typeface="Times New Roman"/>
                <a:cs typeface="Times New Roman"/>
              </a:rPr>
              <a:t>định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/>
              <a:t>hàng </a:t>
            </a:r>
            <a:r>
              <a:rPr spc="-890" dirty="0"/>
              <a:t> </a:t>
            </a:r>
            <a:r>
              <a:rPr dirty="0"/>
              <a:t>không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7555"/>
            <a:ext cx="7920990" cy="38665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080" indent="-342900" algn="just">
              <a:lnSpc>
                <a:spcPts val="2880"/>
              </a:lnSpc>
              <a:spcBef>
                <a:spcPts val="795"/>
              </a:spcBef>
            </a:pPr>
            <a:r>
              <a:rPr sz="3000" dirty="0">
                <a:latin typeface="Arial"/>
                <a:cs typeface="Arial"/>
              </a:rPr>
              <a:t>•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Hệ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thống</a:t>
            </a:r>
            <a:r>
              <a:rPr sz="3000" dirty="0">
                <a:latin typeface="Arial"/>
                <a:cs typeface="Arial"/>
              </a:rPr>
              <a:t> AAIMS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(American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Analytical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Information </a:t>
            </a:r>
            <a:r>
              <a:rPr sz="3000" dirty="0">
                <a:latin typeface="Arial"/>
                <a:cs typeface="Arial"/>
              </a:rPr>
              <a:t>System) ở </a:t>
            </a:r>
            <a:r>
              <a:rPr sz="3000" spc="-5" dirty="0">
                <a:latin typeface="Arial"/>
                <a:cs typeface="Arial"/>
              </a:rPr>
              <a:t>Mỹ </a:t>
            </a:r>
            <a:r>
              <a:rPr sz="3000" dirty="0">
                <a:latin typeface="Arial"/>
                <a:cs typeface="Arial"/>
              </a:rPr>
              <a:t>trợ </a:t>
            </a:r>
            <a:r>
              <a:rPr sz="3000" spc="-10" dirty="0">
                <a:latin typeface="Arial"/>
                <a:cs typeface="Arial"/>
              </a:rPr>
              <a:t>giúp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-10" dirty="0">
                <a:latin typeface="Arial"/>
                <a:cs typeface="Arial"/>
              </a:rPr>
              <a:t>quyết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định hàng </a:t>
            </a:r>
            <a:r>
              <a:rPr sz="3000" spc="-5" dirty="0">
                <a:latin typeface="Arial"/>
                <a:cs typeface="Arial"/>
              </a:rPr>
              <a:t>không đa </a:t>
            </a:r>
            <a:r>
              <a:rPr sz="3000" spc="-10" dirty="0">
                <a:latin typeface="Arial"/>
                <a:cs typeface="Arial"/>
              </a:rPr>
              <a:t>dạng bằng </a:t>
            </a:r>
            <a:r>
              <a:rPr sz="3000" dirty="0">
                <a:latin typeface="Arial"/>
                <a:cs typeface="Arial"/>
              </a:rPr>
              <a:t>cách </a:t>
            </a:r>
            <a:r>
              <a:rPr sz="3000" spc="-10" dirty="0">
                <a:latin typeface="Arial"/>
                <a:cs typeface="Arial"/>
              </a:rPr>
              <a:t>phân 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tích </a:t>
            </a:r>
            <a:r>
              <a:rPr sz="3000" spc="-5" dirty="0">
                <a:latin typeface="Arial"/>
                <a:cs typeface="Arial"/>
              </a:rPr>
              <a:t>dữ liệu </a:t>
            </a:r>
            <a:r>
              <a:rPr sz="3000" dirty="0">
                <a:latin typeface="Arial"/>
                <a:cs typeface="Arial"/>
              </a:rPr>
              <a:t>thu thập </a:t>
            </a:r>
            <a:r>
              <a:rPr sz="3000" spc="-5" dirty="0">
                <a:latin typeface="Arial"/>
                <a:cs typeface="Arial"/>
              </a:rPr>
              <a:t>được </a:t>
            </a:r>
            <a:r>
              <a:rPr sz="3000" dirty="0">
                <a:latin typeface="Arial"/>
                <a:cs typeface="Arial"/>
              </a:rPr>
              <a:t>về </a:t>
            </a:r>
            <a:r>
              <a:rPr sz="3000" spc="-10" dirty="0">
                <a:latin typeface="Arial"/>
                <a:cs typeface="Arial"/>
              </a:rPr>
              <a:t>năng </a:t>
            </a:r>
            <a:r>
              <a:rPr sz="3000" spc="-5" dirty="0">
                <a:latin typeface="Arial"/>
                <a:cs typeface="Arial"/>
              </a:rPr>
              <a:t>lực </a:t>
            </a:r>
            <a:r>
              <a:rPr sz="3000" dirty="0">
                <a:latin typeface="Arial"/>
                <a:cs typeface="Arial"/>
              </a:rPr>
              <a:t>sử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dụng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-5" dirty="0">
                <a:latin typeface="Arial"/>
                <a:cs typeface="Arial"/>
              </a:rPr>
              <a:t>đường </a:t>
            </a:r>
            <a:r>
              <a:rPr sz="3000" spc="-60" dirty="0">
                <a:latin typeface="Arial"/>
                <a:cs typeface="Arial"/>
              </a:rPr>
              <a:t>bay, </a:t>
            </a:r>
            <a:r>
              <a:rPr sz="3000" dirty="0">
                <a:latin typeface="Arial"/>
                <a:cs typeface="Arial"/>
              </a:rPr>
              <a:t>khả </a:t>
            </a:r>
            <a:r>
              <a:rPr sz="3000" spc="-10" dirty="0">
                <a:latin typeface="Arial"/>
                <a:cs typeface="Arial"/>
              </a:rPr>
              <a:t>năng </a:t>
            </a:r>
            <a:r>
              <a:rPr sz="3000" dirty="0">
                <a:latin typeface="Arial"/>
                <a:cs typeface="Arial"/>
              </a:rPr>
              <a:t>sử </a:t>
            </a:r>
            <a:r>
              <a:rPr sz="3000" spc="-10" dirty="0">
                <a:latin typeface="Arial"/>
                <a:cs typeface="Arial"/>
              </a:rPr>
              <a:t>dụng </a:t>
            </a:r>
            <a:r>
              <a:rPr sz="3000" dirty="0">
                <a:latin typeface="Arial"/>
                <a:cs typeface="Arial"/>
              </a:rPr>
              <a:t>các 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chỗ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trên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máy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60" dirty="0">
                <a:latin typeface="Arial"/>
                <a:cs typeface="Arial"/>
              </a:rPr>
              <a:t>bay.</a:t>
            </a:r>
            <a:endParaRPr sz="3000">
              <a:latin typeface="Arial"/>
              <a:cs typeface="Arial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745"/>
              </a:spcBef>
            </a:pPr>
            <a:r>
              <a:rPr sz="3000" dirty="0">
                <a:latin typeface="Arial"/>
                <a:cs typeface="Arial"/>
              </a:rPr>
              <a:t>•</a:t>
            </a:r>
            <a:r>
              <a:rPr sz="3000" spc="80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Giúp</a:t>
            </a:r>
            <a:r>
              <a:rPr sz="3000" spc="7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74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nhà</a:t>
            </a:r>
            <a:r>
              <a:rPr sz="3000" spc="74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quản</a:t>
            </a:r>
            <a:r>
              <a:rPr sz="3000" spc="75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lý</a:t>
            </a:r>
            <a:r>
              <a:rPr sz="3000" spc="7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đưa</a:t>
            </a:r>
            <a:r>
              <a:rPr sz="3000" spc="7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ra</a:t>
            </a:r>
            <a:r>
              <a:rPr sz="3000" spc="74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7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QĐ</a:t>
            </a:r>
            <a:r>
              <a:rPr sz="3000" spc="75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về </a:t>
            </a:r>
            <a:r>
              <a:rPr sz="3000" spc="-82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phân </a:t>
            </a:r>
            <a:r>
              <a:rPr sz="3000" spc="-5" dirty="0">
                <a:latin typeface="Arial"/>
                <a:cs typeface="Arial"/>
              </a:rPr>
              <a:t>bổ </a:t>
            </a:r>
            <a:r>
              <a:rPr sz="3000" dirty="0">
                <a:latin typeface="Arial"/>
                <a:cs typeface="Arial"/>
              </a:rPr>
              <a:t>máy </a:t>
            </a:r>
            <a:r>
              <a:rPr sz="3000" spc="-60" dirty="0">
                <a:latin typeface="Arial"/>
                <a:cs typeface="Arial"/>
              </a:rPr>
              <a:t>bay, </a:t>
            </a:r>
            <a:r>
              <a:rPr sz="3000" spc="-10" dirty="0">
                <a:latin typeface="Arial"/>
                <a:cs typeface="Arial"/>
              </a:rPr>
              <a:t>nhu </a:t>
            </a:r>
            <a:r>
              <a:rPr sz="3000" dirty="0">
                <a:latin typeface="Arial"/>
                <a:cs typeface="Arial"/>
              </a:rPr>
              <a:t>cầu của các </a:t>
            </a:r>
            <a:r>
              <a:rPr sz="3000" spc="-5" dirty="0">
                <a:latin typeface="Arial"/>
                <a:cs typeface="Arial"/>
              </a:rPr>
              <a:t>đường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0" dirty="0">
                <a:latin typeface="Arial"/>
                <a:cs typeface="Arial"/>
              </a:rPr>
              <a:t>bay, </a:t>
            </a:r>
            <a:r>
              <a:rPr sz="3000" spc="-5" dirty="0">
                <a:latin typeface="Arial"/>
                <a:cs typeface="Arial"/>
              </a:rPr>
              <a:t>giá </a:t>
            </a:r>
            <a:r>
              <a:rPr sz="3000" dirty="0">
                <a:latin typeface="Arial"/>
                <a:cs typeface="Arial"/>
              </a:rPr>
              <a:t>cả và </a:t>
            </a:r>
            <a:r>
              <a:rPr sz="3000" spc="-10" dirty="0">
                <a:latin typeface="Arial"/>
                <a:cs typeface="Arial"/>
              </a:rPr>
              <a:t>phân loại </a:t>
            </a:r>
            <a:r>
              <a:rPr sz="3000" dirty="0">
                <a:latin typeface="Arial"/>
                <a:cs typeface="Arial"/>
              </a:rPr>
              <a:t>vé cho các </a:t>
            </a:r>
            <a:r>
              <a:rPr sz="3000" spc="-5" dirty="0">
                <a:latin typeface="Arial"/>
                <a:cs typeface="Arial"/>
              </a:rPr>
              <a:t>chuyến 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0" dirty="0">
                <a:latin typeface="Arial"/>
                <a:cs typeface="Arial"/>
              </a:rPr>
              <a:t>bay.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61263"/>
            <a:ext cx="26219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20" dirty="0"/>
              <a:t>HTTT</a:t>
            </a:r>
            <a:r>
              <a:rPr sz="4400" spc="-35" dirty="0"/>
              <a:t> </a:t>
            </a:r>
            <a:r>
              <a:rPr sz="4400" spc="-5" dirty="0">
                <a:latin typeface="Times New Roman"/>
                <a:cs typeface="Times New Roman"/>
              </a:rPr>
              <a:t>địa</a:t>
            </a:r>
            <a:r>
              <a:rPr sz="4400" spc="-135" dirty="0">
                <a:latin typeface="Times New Roman"/>
                <a:cs typeface="Times New Roman"/>
              </a:rPr>
              <a:t> </a:t>
            </a:r>
            <a:r>
              <a:rPr sz="4400" spc="-10" dirty="0"/>
              <a:t>lý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18995"/>
            <a:ext cx="7933690" cy="363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•</a:t>
            </a:r>
            <a:r>
              <a:rPr sz="3200" spc="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Tích hợp các đồ </a:t>
            </a:r>
            <a:r>
              <a:rPr sz="3200" spc="-10" dirty="0">
                <a:latin typeface="Arial"/>
                <a:cs typeface="Arial"/>
              </a:rPr>
              <a:t>họa </a:t>
            </a:r>
            <a:r>
              <a:rPr sz="3200" spc="-5" dirty="0">
                <a:latin typeface="Arial"/>
                <a:cs typeface="Arial"/>
              </a:rPr>
              <a:t>máy tính và CSDL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địa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lý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với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 DSS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đặc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trưng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khác.</a:t>
            </a:r>
            <a:endParaRPr sz="3200">
              <a:latin typeface="Arial"/>
              <a:cs typeface="Arial"/>
            </a:endParaRPr>
          </a:p>
          <a:p>
            <a:pPr marL="355600" marR="18415" indent="-342900" algn="just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Arial"/>
                <a:cs typeface="Arial"/>
              </a:rPr>
              <a:t>• Hiển thị các bản đồ địa lý trợ giúp ra QĐ 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trong</a:t>
            </a:r>
            <a:r>
              <a:rPr sz="3200" spc="2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việc</a:t>
            </a:r>
            <a:r>
              <a:rPr sz="3200" spc="2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phân</a:t>
            </a:r>
            <a:r>
              <a:rPr sz="3200" spc="26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bổ</a:t>
            </a:r>
            <a:r>
              <a:rPr sz="3200" spc="2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dân</a:t>
            </a:r>
            <a:r>
              <a:rPr sz="3200" spc="2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cư</a:t>
            </a:r>
            <a:r>
              <a:rPr sz="3200" spc="2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theo</a:t>
            </a:r>
            <a:r>
              <a:rPr sz="3200" spc="2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vùng</a:t>
            </a:r>
            <a:r>
              <a:rPr sz="3200" spc="2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địa </a:t>
            </a:r>
            <a:r>
              <a:rPr sz="3200" spc="-88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lý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5" dirty="0">
                <a:latin typeface="Arial"/>
                <a:cs typeface="Arial"/>
              </a:rPr>
              <a:t> các </a:t>
            </a:r>
            <a:r>
              <a:rPr sz="3200" spc="-10" dirty="0">
                <a:latin typeface="Arial"/>
                <a:cs typeface="Arial"/>
              </a:rPr>
              <a:t>nguồn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phân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bổ khác.</a:t>
            </a:r>
            <a:endParaRPr sz="3200">
              <a:latin typeface="Arial"/>
              <a:cs typeface="Arial"/>
            </a:endParaRPr>
          </a:p>
          <a:p>
            <a:pPr marL="355600" marR="19050" indent="-342900" algn="just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Arial"/>
                <a:cs typeface="Arial"/>
              </a:rPr>
              <a:t>• Hỗ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trợ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QĐ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lựa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chọn các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vị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trí</a:t>
            </a:r>
            <a:r>
              <a:rPr sz="3200" spc="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cửa </a:t>
            </a:r>
            <a:r>
              <a:rPr sz="3200" spc="-87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hàng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bán lẻ, chỉ</a:t>
            </a:r>
            <a:r>
              <a:rPr sz="3200" spc="-10" dirty="0">
                <a:latin typeface="Arial"/>
                <a:cs typeface="Arial"/>
              </a:rPr>
              <a:t> đường </a:t>
            </a:r>
            <a:r>
              <a:rPr sz="3200" spc="-5" dirty="0">
                <a:latin typeface="Arial"/>
                <a:cs typeface="Arial"/>
              </a:rPr>
              <a:t>cho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các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lái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xe,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…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" y="0"/>
              <a:ext cx="910056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55594" y="1929892"/>
            <a:ext cx="50634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AF50"/>
                </a:solidFill>
              </a:rPr>
              <a:t>C</a:t>
            </a:r>
            <a:r>
              <a:rPr sz="2850" spc="-5" dirty="0">
                <a:solidFill>
                  <a:srgbClr val="00AF50"/>
                </a:solidFill>
              </a:rPr>
              <a:t>ÁC</a:t>
            </a:r>
            <a:r>
              <a:rPr sz="2850" spc="150" dirty="0">
                <a:solidFill>
                  <a:srgbClr val="00AF50"/>
                </a:solidFill>
              </a:rPr>
              <a:t> </a:t>
            </a:r>
            <a:r>
              <a:rPr sz="2850" dirty="0">
                <a:solidFill>
                  <a:srgbClr val="00AF50"/>
                </a:solidFill>
              </a:rPr>
              <a:t>DẠNG</a:t>
            </a:r>
            <a:r>
              <a:rPr sz="2850" spc="160" dirty="0">
                <a:solidFill>
                  <a:srgbClr val="00AF50"/>
                </a:solidFill>
              </a:rPr>
              <a:t> </a:t>
            </a:r>
            <a:r>
              <a:rPr sz="2850" spc="20" dirty="0">
                <a:solidFill>
                  <a:srgbClr val="00AF50"/>
                </a:solidFill>
              </a:rPr>
              <a:t>MÔ</a:t>
            </a:r>
            <a:r>
              <a:rPr sz="2850" spc="155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</a:rPr>
              <a:t>HÌNH</a:t>
            </a:r>
            <a:r>
              <a:rPr sz="2850" spc="145" dirty="0">
                <a:solidFill>
                  <a:srgbClr val="00AF50"/>
                </a:solidFill>
              </a:rPr>
              <a:t> </a:t>
            </a:r>
            <a:r>
              <a:rPr sz="2850" spc="5" dirty="0">
                <a:solidFill>
                  <a:srgbClr val="00AF50"/>
                </a:solidFill>
              </a:rPr>
              <a:t>TRONG</a:t>
            </a:r>
            <a:endParaRPr sz="28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spc="15" dirty="0">
                <a:solidFill>
                  <a:srgbClr val="00AF50"/>
                </a:solidFill>
              </a:rPr>
              <a:t>HTTT </a:t>
            </a:r>
            <a:r>
              <a:rPr sz="2850" spc="15" dirty="0">
                <a:solidFill>
                  <a:srgbClr val="00AF50"/>
                </a:solidFill>
              </a:rPr>
              <a:t>HỖ</a:t>
            </a:r>
            <a:r>
              <a:rPr sz="2850" spc="155" dirty="0">
                <a:solidFill>
                  <a:srgbClr val="00AF50"/>
                </a:solidFill>
              </a:rPr>
              <a:t> </a:t>
            </a:r>
            <a:r>
              <a:rPr sz="2850" spc="5" dirty="0">
                <a:solidFill>
                  <a:srgbClr val="00AF50"/>
                </a:solidFill>
              </a:rPr>
              <a:t>TRỢ</a:t>
            </a:r>
            <a:r>
              <a:rPr sz="2850" spc="165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</a:rPr>
              <a:t>RA</a:t>
            </a:r>
            <a:r>
              <a:rPr sz="2850" spc="170" dirty="0">
                <a:solidFill>
                  <a:srgbClr val="00AF50"/>
                </a:solidFill>
              </a:rPr>
              <a:t> </a:t>
            </a:r>
            <a:r>
              <a:rPr sz="2850" spc="10" dirty="0">
                <a:solidFill>
                  <a:srgbClr val="00AF50"/>
                </a:solidFill>
              </a:rPr>
              <a:t>QUYẾT</a:t>
            </a:r>
            <a:r>
              <a:rPr sz="2850" spc="155" dirty="0">
                <a:solidFill>
                  <a:srgbClr val="00AF50"/>
                </a:solidFill>
              </a:rPr>
              <a:t> </a:t>
            </a:r>
            <a:r>
              <a:rPr sz="2850" spc="15" dirty="0">
                <a:solidFill>
                  <a:srgbClr val="00AF50"/>
                </a:solidFill>
                <a:latin typeface="Times New Roman"/>
                <a:cs typeface="Times New Roman"/>
              </a:rPr>
              <a:t>ĐỊNH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2593594" y="3872483"/>
            <a:ext cx="5767705" cy="1525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876935" indent="-342900">
              <a:lnSpc>
                <a:spcPts val="2590"/>
              </a:lnSpc>
              <a:spcBef>
                <a:spcPts val="425"/>
              </a:spcBef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•	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mô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hình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toán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học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(Mathematical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•	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mô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hình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thống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kê</a:t>
            </a:r>
            <a:r>
              <a:rPr sz="2400" spc="-5" dirty="0">
                <a:latin typeface="Times New Roman"/>
                <a:cs typeface="Times New Roman"/>
              </a:rPr>
              <a:t> (Statistical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•	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mô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hình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quản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lý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(Manegement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Models)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41319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30" dirty="0"/>
              <a:t> </a:t>
            </a:r>
            <a:r>
              <a:rPr sz="4400" spc="-5" dirty="0"/>
              <a:t>hình</a:t>
            </a:r>
            <a:r>
              <a:rPr sz="4400" spc="-20" dirty="0"/>
              <a:t> </a:t>
            </a:r>
            <a:r>
              <a:rPr sz="4400" spc="-10" dirty="0"/>
              <a:t>toán</a:t>
            </a:r>
            <a:r>
              <a:rPr sz="4400" spc="-25" dirty="0"/>
              <a:t> </a:t>
            </a:r>
            <a:r>
              <a:rPr sz="4400" spc="-5" dirty="0"/>
              <a:t>học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15339" y="1527556"/>
            <a:ext cx="7682230" cy="423227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20"/>
              </a:spcBef>
              <a:tabLst>
                <a:tab pos="380365" algn="l"/>
              </a:tabLst>
            </a:pPr>
            <a:r>
              <a:rPr sz="3000" dirty="0">
                <a:latin typeface="Arial"/>
                <a:cs typeface="Arial"/>
              </a:rPr>
              <a:t>•	</a:t>
            </a:r>
            <a:r>
              <a:rPr sz="3000" spc="-5" dirty="0">
                <a:latin typeface="Arial"/>
                <a:cs typeface="Arial"/>
              </a:rPr>
              <a:t>Phương</a:t>
            </a:r>
            <a:r>
              <a:rPr sz="3000" spc="-5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trình:</a:t>
            </a:r>
            <a:endParaRPr sz="3000">
              <a:latin typeface="Arial"/>
              <a:cs typeface="Arial"/>
            </a:endParaRPr>
          </a:p>
          <a:p>
            <a:pPr marL="38100" marR="1487170">
              <a:lnSpc>
                <a:spcPct val="120000"/>
              </a:lnSpc>
            </a:pPr>
            <a:r>
              <a:rPr sz="3000" dirty="0">
                <a:latin typeface="Arial"/>
                <a:cs typeface="Arial"/>
              </a:rPr>
              <a:t>O = </a:t>
            </a:r>
            <a:r>
              <a:rPr sz="3000" spc="-5" dirty="0">
                <a:latin typeface="Arial"/>
                <a:cs typeface="Arial"/>
              </a:rPr>
              <a:t>f(cv</a:t>
            </a:r>
            <a:r>
              <a:rPr sz="3000" spc="-7" baseline="-20833" dirty="0">
                <a:latin typeface="Arial"/>
                <a:cs typeface="Arial"/>
              </a:rPr>
              <a:t>1,</a:t>
            </a:r>
            <a:r>
              <a:rPr sz="3000" spc="419" baseline="-20833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cv</a:t>
            </a:r>
            <a:r>
              <a:rPr sz="3000" spc="-7" baseline="-20833" dirty="0">
                <a:latin typeface="Arial"/>
                <a:cs typeface="Arial"/>
              </a:rPr>
              <a:t>2</a:t>
            </a:r>
            <a:r>
              <a:rPr sz="3000" spc="-5" dirty="0">
                <a:latin typeface="Arial"/>
                <a:cs typeface="Arial"/>
              </a:rPr>
              <a:t>,</a:t>
            </a:r>
            <a:r>
              <a:rPr sz="3000" spc="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…,cv</a:t>
            </a:r>
            <a:r>
              <a:rPr sz="3000" spc="-7" baseline="-20833" dirty="0">
                <a:latin typeface="Arial"/>
                <a:cs typeface="Arial"/>
              </a:rPr>
              <a:t>n</a:t>
            </a:r>
            <a:r>
              <a:rPr sz="3000" spc="-5" dirty="0">
                <a:latin typeface="Arial"/>
                <a:cs typeface="Arial"/>
              </a:rPr>
              <a:t>;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uv</a:t>
            </a:r>
            <a:r>
              <a:rPr sz="3000" spc="-7" baseline="-20833" dirty="0">
                <a:latin typeface="Arial"/>
                <a:cs typeface="Arial"/>
              </a:rPr>
              <a:t>1</a:t>
            </a:r>
            <a:r>
              <a:rPr sz="3000" spc="-5" dirty="0">
                <a:latin typeface="Arial"/>
                <a:cs typeface="Arial"/>
              </a:rPr>
              <a:t>,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uv</a:t>
            </a:r>
            <a:r>
              <a:rPr sz="3000" spc="-7" baseline="-20833" dirty="0">
                <a:latin typeface="Arial"/>
                <a:cs typeface="Arial"/>
              </a:rPr>
              <a:t>2</a:t>
            </a:r>
            <a:r>
              <a:rPr sz="3000" spc="-5" dirty="0">
                <a:latin typeface="Arial"/>
                <a:cs typeface="Arial"/>
              </a:rPr>
              <a:t>,…</a:t>
            </a:r>
            <a:r>
              <a:rPr sz="3000" spc="-7" baseline="-20833" dirty="0">
                <a:latin typeface="Arial"/>
                <a:cs typeface="Arial"/>
              </a:rPr>
              <a:t>,</a:t>
            </a:r>
            <a:r>
              <a:rPr sz="3000" spc="-5" dirty="0">
                <a:latin typeface="Arial"/>
                <a:cs typeface="Arial"/>
              </a:rPr>
              <a:t>uv</a:t>
            </a:r>
            <a:r>
              <a:rPr sz="3000" spc="-7" baseline="-20833" dirty="0">
                <a:latin typeface="Arial"/>
                <a:cs typeface="Arial"/>
              </a:rPr>
              <a:t>n</a:t>
            </a:r>
            <a:r>
              <a:rPr sz="3000" spc="-5" dirty="0">
                <a:latin typeface="Arial"/>
                <a:cs typeface="Arial"/>
              </a:rPr>
              <a:t>) </a:t>
            </a:r>
            <a:r>
              <a:rPr sz="3000" spc="-815" dirty="0">
                <a:latin typeface="Arial"/>
                <a:cs typeface="Arial"/>
              </a:rPr>
              <a:t> </a:t>
            </a:r>
            <a:r>
              <a:rPr sz="3000" spc="-25" dirty="0">
                <a:latin typeface="Arial"/>
                <a:cs typeface="Arial"/>
              </a:rPr>
              <a:t>Trong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đó:</a:t>
            </a:r>
            <a:endParaRPr sz="3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  <a:tabLst>
                <a:tab pos="380365" algn="l"/>
              </a:tabLst>
            </a:pPr>
            <a:r>
              <a:rPr sz="3000" dirty="0">
                <a:latin typeface="Arial"/>
                <a:cs typeface="Arial"/>
              </a:rPr>
              <a:t>-	O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là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hàm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mục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tiêu</a:t>
            </a:r>
            <a:endParaRPr sz="3000">
              <a:latin typeface="Arial"/>
              <a:cs typeface="Arial"/>
            </a:endParaRPr>
          </a:p>
          <a:p>
            <a:pPr marL="381000" marR="30480" indent="-342900">
              <a:lnSpc>
                <a:spcPct val="100000"/>
              </a:lnSpc>
              <a:spcBef>
                <a:spcPts val="720"/>
              </a:spcBef>
              <a:tabLst>
                <a:tab pos="380365" algn="l"/>
              </a:tabLst>
            </a:pPr>
            <a:r>
              <a:rPr sz="3000" dirty="0">
                <a:latin typeface="Arial"/>
                <a:cs typeface="Arial"/>
              </a:rPr>
              <a:t>-	</a:t>
            </a:r>
            <a:r>
              <a:rPr sz="3000" spc="-5" dirty="0">
                <a:latin typeface="Arial"/>
                <a:cs typeface="Arial"/>
              </a:rPr>
              <a:t>Cv</a:t>
            </a:r>
            <a:r>
              <a:rPr sz="3000" spc="-7" baseline="-20833" dirty="0">
                <a:latin typeface="Arial"/>
                <a:cs typeface="Arial"/>
              </a:rPr>
              <a:t>i</a:t>
            </a:r>
            <a:r>
              <a:rPr sz="3000" spc="-22" baseline="-2083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(i=1,2,…,n)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là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biến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điều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khiển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được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(còn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gọi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là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5" dirty="0">
                <a:latin typeface="Arial"/>
                <a:cs typeface="Arial"/>
              </a:rPr>
              <a:t> biến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quyết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định)</a:t>
            </a:r>
            <a:endParaRPr sz="3000">
              <a:latin typeface="Arial"/>
              <a:cs typeface="Arial"/>
            </a:endParaRPr>
          </a:p>
          <a:p>
            <a:pPr marL="381000" marR="31750" indent="-342900">
              <a:lnSpc>
                <a:spcPct val="100000"/>
              </a:lnSpc>
              <a:spcBef>
                <a:spcPts val="720"/>
              </a:spcBef>
              <a:tabLst>
                <a:tab pos="380365" algn="l"/>
              </a:tabLst>
            </a:pPr>
            <a:r>
              <a:rPr sz="3000" dirty="0">
                <a:latin typeface="Arial"/>
                <a:cs typeface="Arial"/>
              </a:rPr>
              <a:t>-	</a:t>
            </a:r>
            <a:r>
              <a:rPr sz="3000" spc="-5" dirty="0">
                <a:latin typeface="Arial"/>
                <a:cs typeface="Arial"/>
              </a:rPr>
              <a:t>Uv</a:t>
            </a:r>
            <a:r>
              <a:rPr sz="3000" spc="-7" baseline="-20833" dirty="0">
                <a:latin typeface="Arial"/>
                <a:cs typeface="Arial"/>
              </a:rPr>
              <a:t>i</a:t>
            </a:r>
            <a:r>
              <a:rPr sz="3000" spc="412" baseline="-2083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(i=1,2,..,n)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là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biến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không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điều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khiển </a:t>
            </a:r>
            <a:r>
              <a:rPr sz="3000" spc="-819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được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(còn</a:t>
            </a:r>
            <a:r>
              <a:rPr sz="3000" spc="-5" dirty="0">
                <a:latin typeface="Arial"/>
                <a:cs typeface="Arial"/>
              </a:rPr>
              <a:t> gọi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là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các</a:t>
            </a:r>
            <a:r>
              <a:rPr sz="3000" spc="-5" dirty="0">
                <a:latin typeface="Arial"/>
                <a:cs typeface="Arial"/>
              </a:rPr>
              <a:t> biến</a:t>
            </a:r>
            <a:r>
              <a:rPr sz="3000" spc="-1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môi</a:t>
            </a:r>
            <a:r>
              <a:rPr sz="3000" spc="-5" dirty="0">
                <a:latin typeface="Arial"/>
                <a:cs typeface="Arial"/>
              </a:rPr>
              <a:t> trường)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55175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20" dirty="0"/>
              <a:t> </a:t>
            </a:r>
            <a:r>
              <a:rPr sz="4400" spc="-5" dirty="0"/>
              <a:t>hình</a:t>
            </a:r>
            <a:r>
              <a:rPr sz="4400" spc="-15" dirty="0"/>
              <a:t> </a:t>
            </a:r>
            <a:r>
              <a:rPr sz="4400" spc="-10" dirty="0"/>
              <a:t>toán</a:t>
            </a:r>
            <a:r>
              <a:rPr sz="4400" spc="-15" dirty="0"/>
              <a:t> </a:t>
            </a:r>
            <a:r>
              <a:rPr sz="4400" spc="-5" dirty="0"/>
              <a:t>học</a:t>
            </a:r>
            <a:r>
              <a:rPr sz="4400" spc="-15" dirty="0"/>
              <a:t> </a:t>
            </a:r>
            <a:r>
              <a:rPr sz="4400" spc="-5" dirty="0"/>
              <a:t>(tiếp)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28039" y="1525761"/>
            <a:ext cx="7701280" cy="41376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75"/>
              </a:spcBef>
              <a:tabLst>
                <a:tab pos="367665" algn="l"/>
              </a:tabLst>
            </a:pPr>
            <a:r>
              <a:rPr sz="3000" dirty="0">
                <a:latin typeface="Arial"/>
                <a:cs typeface="Arial"/>
              </a:rPr>
              <a:t>•	Các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phương</a:t>
            </a:r>
            <a:r>
              <a:rPr sz="30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trình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toán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học:</a:t>
            </a:r>
            <a:endParaRPr sz="300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320"/>
              </a:spcBef>
              <a:tabLst>
                <a:tab pos="767715" algn="l"/>
              </a:tabLst>
            </a:pPr>
            <a:r>
              <a:rPr sz="2600" spc="-5" dirty="0">
                <a:latin typeface="Arial"/>
                <a:cs typeface="Arial"/>
              </a:rPr>
              <a:t>-	Phươngtrình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tuyến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tính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(linear):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= aX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+ b</a:t>
            </a:r>
            <a:endParaRPr sz="2600">
              <a:latin typeface="Arial"/>
              <a:cs typeface="Arial"/>
            </a:endParaRPr>
          </a:p>
          <a:p>
            <a:pPr marL="768350" marR="1581150" indent="-285750">
              <a:lnSpc>
                <a:spcPts val="2810"/>
              </a:lnSpc>
              <a:spcBef>
                <a:spcPts val="665"/>
              </a:spcBef>
              <a:tabLst>
                <a:tab pos="767715" algn="l"/>
              </a:tabLst>
            </a:pPr>
            <a:r>
              <a:rPr sz="2600" spc="-5" dirty="0">
                <a:latin typeface="Arial"/>
                <a:cs typeface="Arial"/>
              </a:rPr>
              <a:t>-	Phương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trình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đa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thức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(polynominal): </a:t>
            </a:r>
            <a:r>
              <a:rPr sz="2600" spc="-7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Y=a</a:t>
            </a:r>
            <a:r>
              <a:rPr sz="2550" baseline="-21241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X</a:t>
            </a:r>
            <a:r>
              <a:rPr sz="2550" baseline="26143" dirty="0">
                <a:latin typeface="Arial"/>
                <a:cs typeface="Arial"/>
              </a:rPr>
              <a:t>n</a:t>
            </a:r>
            <a:r>
              <a:rPr sz="2550" spc="375" baseline="26143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+ </a:t>
            </a:r>
            <a:r>
              <a:rPr sz="2600" spc="5" dirty="0">
                <a:latin typeface="Arial"/>
                <a:cs typeface="Arial"/>
              </a:rPr>
              <a:t>a</a:t>
            </a:r>
            <a:r>
              <a:rPr sz="2550" spc="7" baseline="-21241" dirty="0">
                <a:latin typeface="Arial"/>
                <a:cs typeface="Arial"/>
              </a:rPr>
              <a:t>n-1</a:t>
            </a: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26143" dirty="0">
                <a:latin typeface="Arial"/>
                <a:cs typeface="Arial"/>
              </a:rPr>
              <a:t>n-1</a:t>
            </a:r>
            <a:r>
              <a:rPr sz="2600" spc="5" dirty="0">
                <a:latin typeface="Arial"/>
                <a:cs typeface="Arial"/>
              </a:rPr>
              <a:t>+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…+ </a:t>
            </a:r>
            <a:r>
              <a:rPr sz="2600" spc="5" dirty="0">
                <a:latin typeface="Arial"/>
                <a:cs typeface="Arial"/>
              </a:rPr>
              <a:t>a</a:t>
            </a:r>
            <a:r>
              <a:rPr sz="2550" spc="7" baseline="-21241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26143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+a</a:t>
            </a:r>
            <a:r>
              <a:rPr sz="2550" spc="7" baseline="-21241" dirty="0">
                <a:latin typeface="Arial"/>
                <a:cs typeface="Arial"/>
              </a:rPr>
              <a:t>0</a:t>
            </a: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26143" dirty="0">
                <a:latin typeface="Arial"/>
                <a:cs typeface="Arial"/>
              </a:rPr>
              <a:t>o</a:t>
            </a:r>
            <a:endParaRPr sz="2550" baseline="26143">
              <a:latin typeface="Arial"/>
              <a:cs typeface="Arial"/>
            </a:endParaRPr>
          </a:p>
          <a:p>
            <a:pPr marL="768350" marR="17780" indent="-285750">
              <a:lnSpc>
                <a:spcPts val="2810"/>
              </a:lnSpc>
              <a:spcBef>
                <a:spcPts val="620"/>
              </a:spcBef>
              <a:tabLst>
                <a:tab pos="767715" algn="l"/>
              </a:tabLst>
            </a:pPr>
            <a:r>
              <a:rPr sz="2600" dirty="0">
                <a:latin typeface="Arial"/>
                <a:cs typeface="Arial"/>
              </a:rPr>
              <a:t>-	</a:t>
            </a:r>
            <a:r>
              <a:rPr sz="2600" spc="-5" dirty="0">
                <a:latin typeface="Arial"/>
                <a:cs typeface="Arial"/>
              </a:rPr>
              <a:t>Phương </a:t>
            </a:r>
            <a:r>
              <a:rPr sz="2600" dirty="0">
                <a:latin typeface="Arial"/>
                <a:cs typeface="Arial"/>
              </a:rPr>
              <a:t>trình </a:t>
            </a:r>
            <a:r>
              <a:rPr sz="2600" spc="-5" dirty="0">
                <a:latin typeface="Arial"/>
                <a:cs typeface="Arial"/>
              </a:rPr>
              <a:t>hàm lũy </a:t>
            </a:r>
            <a:r>
              <a:rPr sz="2600" dirty="0">
                <a:latin typeface="Arial"/>
                <a:cs typeface="Arial"/>
              </a:rPr>
              <a:t>thừa </a:t>
            </a:r>
            <a:r>
              <a:rPr sz="2600" spc="-5" dirty="0">
                <a:latin typeface="Arial"/>
                <a:cs typeface="Arial"/>
              </a:rPr>
              <a:t>phân </a:t>
            </a:r>
            <a:r>
              <a:rPr sz="2600" dirty="0">
                <a:latin typeface="Arial"/>
                <a:cs typeface="Arial"/>
              </a:rPr>
              <a:t>số (Fractional </a:t>
            </a:r>
            <a:r>
              <a:rPr sz="2600" spc="-7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power):</a:t>
            </a:r>
            <a:endParaRPr sz="2600">
              <a:latin typeface="Arial"/>
              <a:cs typeface="Arial"/>
            </a:endParaRPr>
          </a:p>
          <a:p>
            <a:pPr marL="768350">
              <a:lnSpc>
                <a:spcPts val="2765"/>
              </a:lnSpc>
            </a:pPr>
            <a:r>
              <a:rPr sz="2600" spc="-5" dirty="0">
                <a:latin typeface="Arial"/>
                <a:cs typeface="Arial"/>
              </a:rPr>
              <a:t>Y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aX</a:t>
            </a:r>
            <a:r>
              <a:rPr sz="2550" spc="7" baseline="26143" dirty="0">
                <a:latin typeface="Arial"/>
                <a:cs typeface="Arial"/>
              </a:rPr>
              <a:t>1/n</a:t>
            </a:r>
            <a:r>
              <a:rPr sz="2550" spc="367" baseline="26143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+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b</a:t>
            </a:r>
            <a:endParaRPr sz="260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310"/>
              </a:spcBef>
              <a:tabLst>
                <a:tab pos="767715" algn="l"/>
              </a:tabLst>
            </a:pPr>
            <a:r>
              <a:rPr sz="2600" spc="-5" dirty="0">
                <a:latin typeface="Arial"/>
                <a:cs typeface="Arial"/>
              </a:rPr>
              <a:t>-	Phương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trình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e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mũ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(Exponential):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Y=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550" spc="30" baseline="26143" dirty="0">
                <a:latin typeface="Arial"/>
                <a:cs typeface="Arial"/>
              </a:rPr>
              <a:t>aX</a:t>
            </a:r>
            <a:endParaRPr sz="2550" baseline="26143">
              <a:latin typeface="Arial"/>
              <a:cs typeface="Arial"/>
            </a:endParaRPr>
          </a:p>
          <a:p>
            <a:pPr marL="768350" marR="1125220" indent="-285750">
              <a:lnSpc>
                <a:spcPts val="2810"/>
              </a:lnSpc>
              <a:spcBef>
                <a:spcPts val="665"/>
              </a:spcBef>
              <a:tabLst>
                <a:tab pos="767715" algn="l"/>
              </a:tabLst>
            </a:pPr>
            <a:r>
              <a:rPr sz="2600" spc="-5" dirty="0">
                <a:latin typeface="Arial"/>
                <a:cs typeface="Arial"/>
              </a:rPr>
              <a:t>-	Phương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trình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hàm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logarit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(Logarithmic): </a:t>
            </a:r>
            <a:r>
              <a:rPr sz="2600" spc="-7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= a ln(X)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+ b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41128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25" dirty="0"/>
              <a:t> </a:t>
            </a:r>
            <a:r>
              <a:rPr sz="4400" spc="-5" dirty="0"/>
              <a:t>hình</a:t>
            </a:r>
            <a:r>
              <a:rPr sz="4400" spc="-10" dirty="0"/>
              <a:t> </a:t>
            </a:r>
            <a:r>
              <a:rPr sz="4400" spc="-5" dirty="0"/>
              <a:t>thống</a:t>
            </a:r>
            <a:r>
              <a:rPr sz="4400" spc="-25" dirty="0"/>
              <a:t> </a:t>
            </a:r>
            <a:r>
              <a:rPr sz="4400" spc="-125" dirty="0"/>
              <a:t>kê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74139" y="1927606"/>
            <a:ext cx="662495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"/>
                <a:cs typeface="Arial"/>
              </a:rPr>
              <a:t>• Các phương trình được biểu </a:t>
            </a:r>
            <a:r>
              <a:rPr sz="3200" spc="-10" dirty="0">
                <a:latin typeface="Arial"/>
                <a:cs typeface="Arial"/>
              </a:rPr>
              <a:t>diễn </a:t>
            </a:r>
            <a:r>
              <a:rPr sz="3200" spc="-5" dirty="0">
                <a:latin typeface="Arial"/>
                <a:cs typeface="Arial"/>
              </a:rPr>
              <a:t> dưới dạng các hàm của các </a:t>
            </a:r>
            <a:r>
              <a:rPr sz="3200" spc="-10" dirty="0">
                <a:latin typeface="Arial"/>
                <a:cs typeface="Arial"/>
              </a:rPr>
              <a:t>biến </a:t>
            </a:r>
            <a:r>
              <a:rPr sz="3200" spc="-5" dirty="0">
                <a:latin typeface="Arial"/>
                <a:cs typeface="Arial"/>
              </a:rPr>
              <a:t> ngẫu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nhiên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381190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25" dirty="0"/>
              <a:t> </a:t>
            </a:r>
            <a:r>
              <a:rPr sz="4400" spc="-5" dirty="0"/>
              <a:t>hình</a:t>
            </a:r>
            <a:r>
              <a:rPr sz="4400" spc="-20" dirty="0"/>
              <a:t> </a:t>
            </a:r>
            <a:r>
              <a:rPr sz="4400" spc="-5" dirty="0"/>
              <a:t>quản</a:t>
            </a:r>
            <a:r>
              <a:rPr sz="4400" spc="5" dirty="0"/>
              <a:t> </a:t>
            </a:r>
            <a:r>
              <a:rPr sz="4400" spc="-5" dirty="0"/>
              <a:t>lý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520372"/>
            <a:ext cx="7917815" cy="155194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354965" algn="l"/>
              </a:tabLst>
            </a:pPr>
            <a:r>
              <a:rPr sz="3200" spc="-5" dirty="0">
                <a:latin typeface="Arial"/>
                <a:cs typeface="Arial"/>
              </a:rPr>
              <a:t>•	Dạng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mô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hình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quy</a:t>
            </a:r>
            <a:r>
              <a:rPr sz="3200" spc="-10" dirty="0">
                <a:latin typeface="Arial"/>
                <a:cs typeface="Arial"/>
              </a:rPr>
              <a:t> hoạch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toán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học:</a:t>
            </a:r>
            <a:endParaRPr sz="3200">
              <a:latin typeface="Arial"/>
              <a:cs typeface="Arial"/>
            </a:endParaRPr>
          </a:p>
          <a:p>
            <a:pPr marL="755650" marR="5080" indent="-285750">
              <a:lnSpc>
                <a:spcPct val="100000"/>
              </a:lnSpc>
              <a:spcBef>
                <a:spcPts val="680"/>
              </a:spcBef>
              <a:tabLst>
                <a:tab pos="1557655" algn="l"/>
                <a:tab pos="2557780" algn="l"/>
                <a:tab pos="3439160" algn="l"/>
                <a:tab pos="4716780" algn="l"/>
                <a:tab pos="5894705" algn="l"/>
                <a:tab pos="6795134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Mô	</a:t>
            </a:r>
            <a:r>
              <a:rPr sz="2800" spc="-5" dirty="0">
                <a:latin typeface="Arial"/>
                <a:cs typeface="Arial"/>
              </a:rPr>
              <a:t>hìn</a:t>
            </a:r>
            <a:r>
              <a:rPr sz="2800" dirty="0">
                <a:latin typeface="Arial"/>
                <a:cs typeface="Arial"/>
              </a:rPr>
              <a:t>h	quy	hoạch	tuyến	tính	(Li</a:t>
            </a:r>
            <a:r>
              <a:rPr sz="2800" spc="5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spc="5" dirty="0">
                <a:latin typeface="Arial"/>
                <a:cs typeface="Arial"/>
              </a:rPr>
              <a:t>a</a:t>
            </a:r>
            <a:r>
              <a:rPr sz="2800" dirty="0">
                <a:latin typeface="Arial"/>
                <a:cs typeface="Arial"/>
              </a:rPr>
              <a:t>r  Programming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7939" y="3131566"/>
            <a:ext cx="58299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7610" algn="l"/>
                <a:tab pos="2294890" algn="l"/>
                <a:tab pos="3272154" algn="l"/>
                <a:tab pos="4648200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Mô	</a:t>
            </a:r>
            <a:r>
              <a:rPr sz="2800" spc="-5" dirty="0">
                <a:latin typeface="Arial"/>
                <a:cs typeface="Arial"/>
              </a:rPr>
              <a:t>hình	</a:t>
            </a:r>
            <a:r>
              <a:rPr sz="2800" dirty="0">
                <a:latin typeface="Arial"/>
                <a:cs typeface="Arial"/>
              </a:rPr>
              <a:t>quy	hoạch	</a:t>
            </a:r>
            <a:r>
              <a:rPr sz="2800" spc="-5" dirty="0">
                <a:latin typeface="Arial"/>
                <a:cs typeface="Arial"/>
              </a:rPr>
              <a:t>nguyên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7985" y="3131566"/>
            <a:ext cx="12522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(Integer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7939" y="3473500"/>
            <a:ext cx="7461884" cy="14763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Arial"/>
                <a:cs typeface="Arial"/>
              </a:rPr>
              <a:t>Programming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Models)</a:t>
            </a:r>
            <a:endParaRPr sz="28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670"/>
              </a:spcBef>
              <a:tabLst>
                <a:tab pos="1217295" algn="l"/>
                <a:tab pos="2334260" algn="l"/>
                <a:tab pos="3332479" algn="l"/>
                <a:tab pos="4728210" algn="l"/>
                <a:tab pos="5944870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Mô	</a:t>
            </a:r>
            <a:r>
              <a:rPr sz="2800" spc="-5" dirty="0">
                <a:latin typeface="Arial"/>
                <a:cs typeface="Arial"/>
              </a:rPr>
              <a:t>hìn</a:t>
            </a:r>
            <a:r>
              <a:rPr sz="2800" dirty="0">
                <a:latin typeface="Arial"/>
                <a:cs typeface="Arial"/>
              </a:rPr>
              <a:t>h	quy	hoạch	động	(Dyn</a:t>
            </a:r>
            <a:r>
              <a:rPr sz="2800" spc="5" dirty="0">
                <a:latin typeface="Arial"/>
                <a:cs typeface="Arial"/>
              </a:rPr>
              <a:t>a</a:t>
            </a:r>
            <a:r>
              <a:rPr sz="2800" dirty="0">
                <a:latin typeface="Arial"/>
                <a:cs typeface="Arial"/>
              </a:rPr>
              <a:t>mic  Programming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Models)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57454"/>
            <a:ext cx="70262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/>
              <a:t>Mô</a:t>
            </a:r>
            <a:r>
              <a:rPr sz="4400" spc="-10" dirty="0"/>
              <a:t> </a:t>
            </a:r>
            <a:r>
              <a:rPr sz="4400" spc="-5" dirty="0"/>
              <a:t>hình quy</a:t>
            </a:r>
            <a:r>
              <a:rPr sz="4400" spc="10" dirty="0"/>
              <a:t> </a:t>
            </a:r>
            <a:r>
              <a:rPr sz="4400" spc="-5" dirty="0"/>
              <a:t>hoạch</a:t>
            </a:r>
            <a:r>
              <a:rPr sz="4400" dirty="0"/>
              <a:t> </a:t>
            </a:r>
            <a:r>
              <a:rPr sz="4400" spc="-15" dirty="0"/>
              <a:t>tuyến</a:t>
            </a:r>
            <a:r>
              <a:rPr sz="4400" dirty="0"/>
              <a:t> </a:t>
            </a:r>
            <a:r>
              <a:rPr sz="4400" spc="-5" dirty="0"/>
              <a:t>tính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15339" y="1622044"/>
            <a:ext cx="563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sz="1800" dirty="0">
                <a:latin typeface="Arial"/>
                <a:cs typeface="Arial"/>
              </a:rPr>
              <a:t>•	</a:t>
            </a:r>
            <a:r>
              <a:rPr sz="1800" spc="-5" dirty="0">
                <a:latin typeface="Times New Roman"/>
                <a:cs typeface="Times New Roman"/>
              </a:rPr>
              <a:t>Xác </a:t>
            </a:r>
            <a:r>
              <a:rPr sz="1800" dirty="0">
                <a:latin typeface="Times New Roman"/>
                <a:cs typeface="Times New Roman"/>
              </a:rPr>
              <a:t>định vecto</a:t>
            </a:r>
            <a:r>
              <a:rPr sz="1800" spc="-5" dirty="0">
                <a:latin typeface="Times New Roman"/>
                <a:cs typeface="Times New Roman"/>
              </a:rPr>
              <a:t> X</a:t>
            </a:r>
            <a:r>
              <a:rPr sz="1800" dirty="0">
                <a:latin typeface="Times New Roman"/>
                <a:cs typeface="Times New Roman"/>
              </a:rPr>
              <a:t> =</a:t>
            </a:r>
            <a:r>
              <a:rPr sz="1800" spc="-5" dirty="0">
                <a:latin typeface="Times New Roman"/>
                <a:cs typeface="Times New Roman"/>
              </a:rPr>
              <a:t> (x</a:t>
            </a:r>
            <a:r>
              <a:rPr sz="1800" spc="-7" baseline="-20833" dirty="0">
                <a:latin typeface="Times New Roman"/>
                <a:cs typeface="Times New Roman"/>
              </a:rPr>
              <a:t>1</a:t>
            </a:r>
            <a:r>
              <a:rPr sz="1800" spc="-5" dirty="0">
                <a:latin typeface="Times New Roman"/>
                <a:cs typeface="Times New Roman"/>
              </a:rPr>
              <a:t>,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, …,x</a:t>
            </a:r>
            <a:r>
              <a:rPr sz="1800" baseline="-20833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sao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hàm mục </a:t>
            </a:r>
            <a:r>
              <a:rPr sz="1800" spc="-5" dirty="0">
                <a:latin typeface="Times New Roman"/>
                <a:cs typeface="Times New Roman"/>
              </a:rPr>
              <a:t>tiêu: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06621" y="2200910"/>
            <a:ext cx="303530" cy="212090"/>
          </a:xfrm>
          <a:custGeom>
            <a:avLst/>
            <a:gdLst/>
            <a:ahLst/>
            <a:cxnLst/>
            <a:rect l="l" t="t" r="r" b="b"/>
            <a:pathLst>
              <a:path w="303529" h="212089">
                <a:moveTo>
                  <a:pt x="235585" y="0"/>
                </a:moveTo>
                <a:lnTo>
                  <a:pt x="232537" y="8636"/>
                </a:lnTo>
                <a:lnTo>
                  <a:pt x="244822" y="13946"/>
                </a:lnTo>
                <a:lnTo>
                  <a:pt x="255381" y="21304"/>
                </a:lnTo>
                <a:lnTo>
                  <a:pt x="276772" y="55429"/>
                </a:lnTo>
                <a:lnTo>
                  <a:pt x="283844" y="104775"/>
                </a:lnTo>
                <a:lnTo>
                  <a:pt x="283059" y="123517"/>
                </a:lnTo>
                <a:lnTo>
                  <a:pt x="271272" y="169290"/>
                </a:lnTo>
                <a:lnTo>
                  <a:pt x="244965" y="197865"/>
                </a:lnTo>
                <a:lnTo>
                  <a:pt x="232917" y="203200"/>
                </a:lnTo>
                <a:lnTo>
                  <a:pt x="235585" y="211709"/>
                </a:lnTo>
                <a:lnTo>
                  <a:pt x="276054" y="187705"/>
                </a:lnTo>
                <a:lnTo>
                  <a:pt x="298783" y="143335"/>
                </a:lnTo>
                <a:lnTo>
                  <a:pt x="303149" y="105917"/>
                </a:lnTo>
                <a:lnTo>
                  <a:pt x="302053" y="86536"/>
                </a:lnTo>
                <a:lnTo>
                  <a:pt x="285623" y="37084"/>
                </a:lnTo>
                <a:lnTo>
                  <a:pt x="250940" y="5544"/>
                </a:lnTo>
                <a:lnTo>
                  <a:pt x="235585" y="0"/>
                </a:lnTo>
                <a:close/>
              </a:path>
              <a:path w="30352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52139" y="2131059"/>
            <a:ext cx="790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𝐽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𝑓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4055617" y="1796080"/>
            <a:ext cx="2342515" cy="91440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R="1488440" algn="ctr">
              <a:lnSpc>
                <a:spcPct val="100000"/>
              </a:lnSpc>
              <a:spcBef>
                <a:spcPts val="560"/>
              </a:spcBef>
            </a:pPr>
            <a:r>
              <a:rPr sz="1300" spc="105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15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1110" dirty="0">
                <a:latin typeface="Cambria Math"/>
                <a:cs typeface="Cambria Math"/>
              </a:rPr>
              <a:t>∑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45" dirty="0">
                <a:latin typeface="Cambria Math"/>
                <a:cs typeface="Cambria Math"/>
              </a:rPr>
              <a:t>𝑐</a:t>
            </a:r>
            <a:r>
              <a:rPr sz="1950" spc="397" baseline="-14957" dirty="0">
                <a:latin typeface="Cambria Math"/>
                <a:cs typeface="Cambria Math"/>
              </a:rPr>
              <a:t>𝑖</a:t>
            </a:r>
            <a:r>
              <a:rPr sz="1800" spc="-20" dirty="0">
                <a:latin typeface="Cambria Math"/>
                <a:cs typeface="Cambria Math"/>
              </a:rPr>
              <a:t>𝑥</a:t>
            </a:r>
            <a:r>
              <a:rPr sz="1950" spc="225" baseline="-14957" dirty="0">
                <a:latin typeface="Cambria Math"/>
                <a:cs typeface="Cambria Math"/>
              </a:rPr>
              <a:t>𝑖</a:t>
            </a:r>
            <a:r>
              <a:rPr sz="1950" baseline="-14957" dirty="0">
                <a:latin typeface="Cambria Math"/>
                <a:cs typeface="Cambria Math"/>
              </a:rPr>
              <a:t> </a:t>
            </a:r>
            <a:r>
              <a:rPr sz="1950" spc="7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→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ma</a:t>
            </a:r>
            <a:r>
              <a:rPr sz="1800" spc="5" dirty="0">
                <a:latin typeface="Cambria Math"/>
                <a:cs typeface="Cambria Math"/>
              </a:rPr>
              <a:t>x</a:t>
            </a:r>
            <a:r>
              <a:rPr sz="1800" dirty="0">
                <a:latin typeface="Cambria Math"/>
                <a:cs typeface="Cambria Math"/>
              </a:rPr>
              <a:t>(</a:t>
            </a:r>
            <a:r>
              <a:rPr sz="1800" spc="-5" dirty="0">
                <a:latin typeface="Cambria Math"/>
                <a:cs typeface="Cambria Math"/>
              </a:rPr>
              <a:t>𝑚𝑖</a:t>
            </a:r>
            <a:r>
              <a:rPr sz="1800" spc="45" dirty="0">
                <a:latin typeface="Cambria Math"/>
                <a:cs typeface="Cambria Math"/>
              </a:rPr>
              <a:t>𝑛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R="1485900" algn="ctr">
              <a:lnSpc>
                <a:spcPct val="100000"/>
              </a:lnSpc>
              <a:spcBef>
                <a:spcPts val="640"/>
              </a:spcBef>
            </a:pPr>
            <a:r>
              <a:rPr sz="1300" spc="35" dirty="0">
                <a:latin typeface="Cambria Math"/>
                <a:cs typeface="Cambria Math"/>
              </a:rPr>
              <a:t>𝑖=1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739" y="2700273"/>
            <a:ext cx="233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Thỏa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mãn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các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ràng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buộc: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6320" y="2874310"/>
            <a:ext cx="2371725" cy="279463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R="2032635" algn="r">
              <a:lnSpc>
                <a:spcPct val="100000"/>
              </a:lnSpc>
              <a:spcBef>
                <a:spcPts val="560"/>
              </a:spcBef>
            </a:pPr>
            <a:r>
              <a:rPr sz="1300" spc="105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  <a:p>
            <a:pPr marL="126364">
              <a:lnSpc>
                <a:spcPct val="100000"/>
              </a:lnSpc>
              <a:spcBef>
                <a:spcPts val="615"/>
              </a:spcBef>
            </a:pPr>
            <a:r>
              <a:rPr sz="1800" spc="1110" dirty="0">
                <a:latin typeface="Cambria Math"/>
                <a:cs typeface="Cambria Math"/>
              </a:rPr>
              <a:t>∑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𝑎</a:t>
            </a:r>
            <a:r>
              <a:rPr sz="1950" spc="225" baseline="-14957" dirty="0">
                <a:latin typeface="Cambria Math"/>
                <a:cs typeface="Cambria Math"/>
              </a:rPr>
              <a:t>𝑖</a:t>
            </a:r>
            <a:r>
              <a:rPr sz="1950" spc="787" baseline="-14957" dirty="0">
                <a:latin typeface="Cambria Math"/>
                <a:cs typeface="Cambria Math"/>
              </a:rPr>
              <a:t>𝑗</a:t>
            </a:r>
            <a:r>
              <a:rPr sz="1800" spc="-180" dirty="0">
                <a:latin typeface="Cambria Math"/>
                <a:cs typeface="Cambria Math"/>
              </a:rPr>
              <a:t>𝑥</a:t>
            </a:r>
            <a:r>
              <a:rPr sz="1950" spc="622" baseline="-14957" dirty="0">
                <a:latin typeface="Cambria Math"/>
                <a:cs typeface="Cambria Math"/>
              </a:rPr>
              <a:t>𝑗</a:t>
            </a:r>
            <a:r>
              <a:rPr sz="1950" baseline="-14957" dirty="0">
                <a:latin typeface="Cambria Math"/>
                <a:cs typeface="Cambria Math"/>
              </a:rPr>
              <a:t> 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𝑏</a:t>
            </a:r>
            <a:r>
              <a:rPr sz="1950" spc="225" baseline="-14957" dirty="0">
                <a:latin typeface="Cambria Math"/>
                <a:cs typeface="Cambria Math"/>
              </a:rPr>
              <a:t>𝑖</a:t>
            </a:r>
            <a:r>
              <a:rPr sz="1950" baseline="-14957" dirty="0">
                <a:latin typeface="Cambria Math"/>
                <a:cs typeface="Cambria Math"/>
              </a:rPr>
              <a:t>  </a:t>
            </a:r>
            <a:r>
              <a:rPr sz="1950" spc="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(𝑖</a:t>
            </a:r>
            <a:r>
              <a:rPr sz="1800" spc="1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150" dirty="0">
                <a:latin typeface="Cambria Math"/>
                <a:cs typeface="Cambria Math"/>
              </a:rPr>
              <a:t>𝐼</a:t>
            </a:r>
            <a:r>
              <a:rPr sz="1950" spc="172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L="127000">
              <a:lnSpc>
                <a:spcPts val="1365"/>
              </a:lnSpc>
              <a:spcBef>
                <a:spcPts val="640"/>
              </a:spcBef>
            </a:pPr>
            <a:r>
              <a:rPr sz="1300" spc="70" dirty="0">
                <a:latin typeface="Cambria Math"/>
                <a:cs typeface="Cambria Math"/>
              </a:rPr>
              <a:t>𝑗=1</a:t>
            </a:r>
            <a:endParaRPr sz="1300">
              <a:latin typeface="Cambria Math"/>
              <a:cs typeface="Cambria Math"/>
            </a:endParaRPr>
          </a:p>
          <a:p>
            <a:pPr marL="133985">
              <a:lnSpc>
                <a:spcPts val="1365"/>
              </a:lnSpc>
            </a:pPr>
            <a:r>
              <a:rPr sz="1300" spc="105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15"/>
              </a:spcBef>
            </a:pPr>
            <a:r>
              <a:rPr sz="1800" spc="1110" dirty="0">
                <a:latin typeface="Cambria Math"/>
                <a:cs typeface="Cambria Math"/>
              </a:rPr>
              <a:t>∑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𝑎</a:t>
            </a:r>
            <a:r>
              <a:rPr sz="1950" spc="225" baseline="-14957" dirty="0">
                <a:latin typeface="Cambria Math"/>
                <a:cs typeface="Cambria Math"/>
              </a:rPr>
              <a:t>𝑖</a:t>
            </a:r>
            <a:r>
              <a:rPr sz="1950" spc="787" baseline="-14957" dirty="0">
                <a:latin typeface="Cambria Math"/>
                <a:cs typeface="Cambria Math"/>
              </a:rPr>
              <a:t>𝑗</a:t>
            </a:r>
            <a:r>
              <a:rPr sz="1800" spc="-180" dirty="0">
                <a:latin typeface="Cambria Math"/>
                <a:cs typeface="Cambria Math"/>
              </a:rPr>
              <a:t>𝑥</a:t>
            </a:r>
            <a:r>
              <a:rPr sz="1950" spc="622" baseline="-14957" dirty="0">
                <a:latin typeface="Cambria Math"/>
                <a:cs typeface="Cambria Math"/>
              </a:rPr>
              <a:t>𝑗</a:t>
            </a:r>
            <a:r>
              <a:rPr sz="1950" baseline="-14957" dirty="0">
                <a:latin typeface="Cambria Math"/>
                <a:cs typeface="Cambria Math"/>
              </a:rPr>
              <a:t> 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&gt;=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𝑏</a:t>
            </a:r>
            <a:r>
              <a:rPr sz="1950" spc="225" baseline="-14957" dirty="0">
                <a:latin typeface="Cambria Math"/>
                <a:cs typeface="Cambria Math"/>
              </a:rPr>
              <a:t>𝑖</a:t>
            </a:r>
            <a:r>
              <a:rPr sz="1950" baseline="-14957" dirty="0">
                <a:latin typeface="Cambria Math"/>
                <a:cs typeface="Cambria Math"/>
              </a:rPr>
              <a:t>  </a:t>
            </a:r>
            <a:r>
              <a:rPr sz="1950" spc="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(𝑖</a:t>
            </a:r>
            <a:r>
              <a:rPr sz="1800" spc="1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110" dirty="0">
                <a:latin typeface="Cambria Math"/>
                <a:cs typeface="Cambria Math"/>
              </a:rPr>
              <a:t>𝐼</a:t>
            </a:r>
            <a:r>
              <a:rPr sz="1950" spc="172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R="1983739" algn="ctr">
              <a:lnSpc>
                <a:spcPts val="1360"/>
              </a:lnSpc>
              <a:spcBef>
                <a:spcPts val="640"/>
              </a:spcBef>
            </a:pPr>
            <a:r>
              <a:rPr sz="1300" spc="65" dirty="0">
                <a:latin typeface="Cambria Math"/>
                <a:cs typeface="Cambria Math"/>
              </a:rPr>
              <a:t>𝑗=1</a:t>
            </a:r>
            <a:endParaRPr sz="1300">
              <a:latin typeface="Cambria Math"/>
              <a:cs typeface="Cambria Math"/>
            </a:endParaRPr>
          </a:p>
          <a:p>
            <a:pPr marR="1986914" algn="ctr">
              <a:lnSpc>
                <a:spcPts val="1360"/>
              </a:lnSpc>
            </a:pPr>
            <a:r>
              <a:rPr sz="1300" spc="105" dirty="0">
                <a:latin typeface="Cambria Math"/>
                <a:cs typeface="Cambria Math"/>
              </a:rPr>
              <a:t>𝑛</a:t>
            </a: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15"/>
              </a:spcBef>
            </a:pPr>
            <a:r>
              <a:rPr sz="1800" spc="1110" dirty="0">
                <a:latin typeface="Cambria Math"/>
                <a:cs typeface="Cambria Math"/>
              </a:rPr>
              <a:t>∑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𝑎</a:t>
            </a:r>
            <a:r>
              <a:rPr sz="1950" spc="225" baseline="-14957" dirty="0">
                <a:latin typeface="Cambria Math"/>
                <a:cs typeface="Cambria Math"/>
              </a:rPr>
              <a:t>𝑖</a:t>
            </a:r>
            <a:r>
              <a:rPr sz="1950" spc="787" baseline="-14957" dirty="0">
                <a:latin typeface="Cambria Math"/>
                <a:cs typeface="Cambria Math"/>
              </a:rPr>
              <a:t>𝑗</a:t>
            </a:r>
            <a:r>
              <a:rPr sz="1800" spc="-180" dirty="0">
                <a:latin typeface="Cambria Math"/>
                <a:cs typeface="Cambria Math"/>
              </a:rPr>
              <a:t>𝑥</a:t>
            </a:r>
            <a:r>
              <a:rPr sz="1950" spc="622" baseline="-14957" dirty="0">
                <a:latin typeface="Cambria Math"/>
                <a:cs typeface="Cambria Math"/>
              </a:rPr>
              <a:t>𝑗</a:t>
            </a:r>
            <a:r>
              <a:rPr sz="1950" baseline="-14957" dirty="0">
                <a:latin typeface="Cambria Math"/>
                <a:cs typeface="Cambria Math"/>
              </a:rPr>
              <a:t> 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&lt;=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𝑏</a:t>
            </a:r>
            <a:r>
              <a:rPr sz="1950" spc="225" baseline="-14957" dirty="0">
                <a:latin typeface="Cambria Math"/>
                <a:cs typeface="Cambria Math"/>
              </a:rPr>
              <a:t>𝑖</a:t>
            </a:r>
            <a:r>
              <a:rPr sz="1950" baseline="-14957" dirty="0">
                <a:latin typeface="Cambria Math"/>
                <a:cs typeface="Cambria Math"/>
              </a:rPr>
              <a:t>  </a:t>
            </a:r>
            <a:r>
              <a:rPr sz="1950" spc="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(𝑖</a:t>
            </a:r>
            <a:r>
              <a:rPr sz="1800" spc="1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110" dirty="0">
                <a:latin typeface="Cambria Math"/>
                <a:cs typeface="Cambria Math"/>
              </a:rPr>
              <a:t>𝐼</a:t>
            </a:r>
            <a:r>
              <a:rPr sz="1950" spc="172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R="2023110" algn="r">
              <a:lnSpc>
                <a:spcPct val="100000"/>
              </a:lnSpc>
              <a:spcBef>
                <a:spcPts val="635"/>
              </a:spcBef>
            </a:pPr>
            <a:r>
              <a:rPr sz="1300" spc="65" dirty="0">
                <a:latin typeface="Cambria Math"/>
                <a:cs typeface="Cambria Math"/>
              </a:rPr>
              <a:t>𝑗=1</a:t>
            </a:r>
            <a:endParaRPr sz="1300">
              <a:latin typeface="Cambria Math"/>
              <a:cs typeface="Cambria Math"/>
            </a:endParaRPr>
          </a:p>
          <a:p>
            <a:pPr marL="199390">
              <a:lnSpc>
                <a:spcPct val="100000"/>
              </a:lnSpc>
              <a:spcBef>
                <a:spcPts val="365"/>
              </a:spcBef>
            </a:pPr>
            <a:r>
              <a:rPr sz="1800" spc="-5" dirty="0">
                <a:latin typeface="Times New Roman"/>
                <a:cs typeface="Times New Roman"/>
              </a:rPr>
              <a:t>X</a:t>
            </a:r>
            <a:r>
              <a:rPr sz="1800" spc="-7" baseline="-20833" dirty="0">
                <a:latin typeface="Times New Roman"/>
                <a:cs typeface="Times New Roman"/>
              </a:rPr>
              <a:t>i</a:t>
            </a:r>
            <a:r>
              <a:rPr sz="1800" spc="202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i=1,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5339" y="5698235"/>
            <a:ext cx="5186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imes New Roman"/>
                <a:cs typeface="Times New Roman"/>
              </a:rPr>
              <a:t>Trong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đó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baseline="-20833" dirty="0">
                <a:latin typeface="Times New Roman"/>
                <a:cs typeface="Times New Roman"/>
              </a:rPr>
              <a:t>3</a:t>
            </a:r>
            <a:r>
              <a:rPr sz="1800" spc="21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là</a:t>
            </a:r>
            <a:r>
              <a:rPr sz="1800" spc="-5" dirty="0">
                <a:latin typeface="Times New Roman"/>
                <a:cs typeface="Times New Roman"/>
              </a:rPr>
              <a:t> tập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không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giao nhau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của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các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chỉ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số.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2393</Words>
  <Application>Microsoft Office PowerPoint</Application>
  <PresentationFormat>On-screen Show (4:3)</PresentationFormat>
  <Paragraphs>334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CHƯƠNG 4: HỆ THỐNG XỬ LÝ GIAO DỊCH</vt:lpstr>
      <vt:lpstr>Các hệ thống thông tin theo mức  quản lý</vt:lpstr>
      <vt:lpstr>Tổng quan về HT xử lý giao dịch</vt:lpstr>
      <vt:lpstr>Mô hình HT xử lý giao dịch</vt:lpstr>
      <vt:lpstr>Các đặc trưng của HT xử lý giao dịch</vt:lpstr>
      <vt:lpstr>Các hoạt động xử lý giao dịch</vt:lpstr>
      <vt:lpstr>Hệ thống xử lý giao dịch POS</vt:lpstr>
      <vt:lpstr>Các chế độ xử lý giao dịch</vt:lpstr>
      <vt:lpstr>Mục tiêu của các HTTT xử lý giao dịch</vt:lpstr>
      <vt:lpstr>Mục tiêu của các HTTT xử lý giao dịch  (tiếp)</vt:lpstr>
      <vt:lpstr>PowerPoint Presentation</vt:lpstr>
      <vt:lpstr>Hệ thống xử lý đơn hàng trực tuyến  (Online Order Processing System)</vt:lpstr>
      <vt:lpstr>Hệ thống xử lý giao dịch mua hàng  (Purchassing Transaction Processing  System)</vt:lpstr>
      <vt:lpstr>Vấn đề kiểm soát và quản lý Hệ thống  giao dịch</vt:lpstr>
      <vt:lpstr>HỆ THỐNG HỖ TRỢ RA  QUYẾT ĐỊNH</vt:lpstr>
      <vt:lpstr>MỘT SỐ KHÁI NIỆM CƠ BẢN</vt:lpstr>
      <vt:lpstr>Các mức quản lý</vt:lpstr>
      <vt:lpstr>Quyết định</vt:lpstr>
      <vt:lpstr>Phân loại quyết định</vt:lpstr>
      <vt:lpstr>Cấu trúc của QĐ và đặc điểm của TT</vt:lpstr>
      <vt:lpstr>HTTT HỖ TRỢ RA QUYẾT ĐỊNH</vt:lpstr>
      <vt:lpstr>Khái niệm HTTT trợ giúp ra quyết định (DSS)</vt:lpstr>
      <vt:lpstr>Sự khác nhau giữa MIS và DSS</vt:lpstr>
      <vt:lpstr>Các đặc trưng của DSS</vt:lpstr>
      <vt:lpstr>Các thành phần của DSS</vt:lpstr>
      <vt:lpstr>Các nguồn tài nguyên của DSS</vt:lpstr>
      <vt:lpstr>Phân loại DSS</vt:lpstr>
      <vt:lpstr>Các hệ thống con trong DSS</vt:lpstr>
      <vt:lpstr>MỘT SỐ VÍ DỤ VỀ HTTT HỖ TRỢ RA QUYẾT ĐỊNH</vt:lpstr>
      <vt:lpstr>Hệ quản lý sản xuất</vt:lpstr>
      <vt:lpstr>HTTT hỗ trợ ra quyết định hàng  không</vt:lpstr>
      <vt:lpstr>HTTT địa lý</vt:lpstr>
      <vt:lpstr>CÁC DẠNG MÔ HÌNH TRONG HTTT HỖ TRỢ RA QUYẾT ĐỊNH</vt:lpstr>
      <vt:lpstr>Mô hình toán học</vt:lpstr>
      <vt:lpstr>Mô hình toán học (tiếp)</vt:lpstr>
      <vt:lpstr>Mô hình thống kê</vt:lpstr>
      <vt:lpstr>Mô hình quản lý</vt:lpstr>
      <vt:lpstr>Mô hình quy hoạch tuyến tính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PHẦN C: CÁC HTTT DƯỚI GÓC ĐỘ QUẢN LÝ VÀ RA QUYẾT ĐỊNH</dc:title>
  <cp:lastModifiedBy>Admin-DL</cp:lastModifiedBy>
  <cp:revision>3</cp:revision>
  <dcterms:created xsi:type="dcterms:W3CDTF">2022-04-25T11:21:16Z</dcterms:created>
  <dcterms:modified xsi:type="dcterms:W3CDTF">2024-03-11T00:17:48Z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2015-06-15T00:00:00Z</vt:filetime>
  </property>
  <property fmtid="{D5CDD505-2E9C-101B-9397-08002B2CF9AE}" pid="3" name="Creator">
    <vt:lpwstr>Foxit Software Inc.</vt:lpwstr>
  </property>
  <property fmtid="{D5CDD505-2E9C-101B-9397-08002B2CF9AE}" pid="4" name="LastSaved">
    <vt:filetime>2022-04-25T00:00:00Z</vt:filetime>
  </property>
</Properties>
</file>