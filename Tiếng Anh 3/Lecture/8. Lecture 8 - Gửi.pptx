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27"/>
  </p:notesMasterIdLst>
  <p:sldIdLst>
    <p:sldId id="340" r:id="rId2"/>
    <p:sldId id="285" r:id="rId3"/>
    <p:sldId id="1529" r:id="rId4"/>
    <p:sldId id="1530" r:id="rId5"/>
    <p:sldId id="1531" r:id="rId6"/>
    <p:sldId id="1532" r:id="rId7"/>
    <p:sldId id="1533" r:id="rId8"/>
    <p:sldId id="1534" r:id="rId9"/>
    <p:sldId id="1558" r:id="rId10"/>
    <p:sldId id="1535" r:id="rId11"/>
    <p:sldId id="1540" r:id="rId12"/>
    <p:sldId id="1541" r:id="rId13"/>
    <p:sldId id="1527" r:id="rId14"/>
    <p:sldId id="286" r:id="rId15"/>
    <p:sldId id="291" r:id="rId16"/>
    <p:sldId id="295" r:id="rId17"/>
    <p:sldId id="302" r:id="rId18"/>
    <p:sldId id="303" r:id="rId19"/>
    <p:sldId id="304" r:id="rId20"/>
    <p:sldId id="305" r:id="rId21"/>
    <p:sldId id="306" r:id="rId22"/>
    <p:sldId id="307" r:id="rId23"/>
    <p:sldId id="311" r:id="rId24"/>
    <p:sldId id="308" r:id="rId25"/>
    <p:sldId id="259" r:id="rId26"/>
  </p:sldIdLst>
  <p:sldSz cx="9144000" cy="5143500" type="screen16x9"/>
  <p:notesSz cx="6858000" cy="9144000"/>
  <p:embeddedFontLst>
    <p:embeddedFont>
      <p:font typeface="Oswald" panose="00000500000000000000" pitchFamily="2" charset="0"/>
      <p:regular r:id="rId28"/>
      <p:bold r:id="rId29"/>
    </p:embeddedFont>
    <p:embeddedFont>
      <p:font typeface="Roboto Condensed" panose="020000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6BF66B-BF0D-49A5-ABA2-E6C1EFEF6E1B}">
  <a:tblStyle styleId="{B46BF66B-BF0D-49A5-ABA2-E6C1EFEF6E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74"/>
    <p:restoredTop sz="94682"/>
  </p:normalViewPr>
  <p:slideViewPr>
    <p:cSldViewPr snapToGrid="0">
      <p:cViewPr varScale="1">
        <p:scale>
          <a:sx n="82" d="100"/>
          <a:sy n="82" d="100"/>
        </p:scale>
        <p:origin x="6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86544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>
            <a:extLst>
              <a:ext uri="{FF2B5EF4-FFF2-40B4-BE49-F238E27FC236}">
                <a16:creationId xmlns:a16="http://schemas.microsoft.com/office/drawing/2014/main" id="{8387AF59-40DB-EC42-A946-E1B75B91EE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7586" name="Notes Placeholder 2">
            <a:extLst>
              <a:ext uri="{FF2B5EF4-FFF2-40B4-BE49-F238E27FC236}">
                <a16:creationId xmlns:a16="http://schemas.microsoft.com/office/drawing/2014/main" id="{A22A2B33-E6C8-E542-BCAC-92F785801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VN" altLang="en-VN"/>
          </a:p>
        </p:txBody>
      </p:sp>
      <p:sp>
        <p:nvSpPr>
          <p:cNvPr id="67587" name="Slide Number Placeholder 3">
            <a:extLst>
              <a:ext uri="{FF2B5EF4-FFF2-40B4-BE49-F238E27FC236}">
                <a16:creationId xmlns:a16="http://schemas.microsoft.com/office/drawing/2014/main" id="{7505BACA-2762-AE4B-897C-B6D71B9A8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342034A-C79B-594D-93A1-6580CEA16A34}" type="slidenum">
              <a:rPr lang="en-US" altLang="en-V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V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903558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2423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rgbClr val="FF9900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25" name="Google Shape;25;p3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30" name="Google Shape;30;p3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31" name="Google Shape;31;p3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81D1EC"/>
            </a:solidFill>
            <a:ln>
              <a:noFill/>
            </a:ln>
          </p:spPr>
        </p:sp>
      </p:grpSp>
      <p:sp>
        <p:nvSpPr>
          <p:cNvPr id="36" name="Google Shape;36;p3"/>
          <p:cNvSpPr txBox="1">
            <a:spLocks noGrp="1"/>
          </p:cNvSpPr>
          <p:nvPr>
            <p:ph type="ctrTitle"/>
          </p:nvPr>
        </p:nvSpPr>
        <p:spPr>
          <a:xfrm>
            <a:off x="685800" y="2421550"/>
            <a:ext cx="50745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subTitle" idx="1"/>
          </p:nvPr>
        </p:nvSpPr>
        <p:spPr>
          <a:xfrm>
            <a:off x="685800" y="3449654"/>
            <a:ext cx="50745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6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72" name="Google Shape;72;p6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6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</p:sp>
      </p:grpSp>
      <p:grpSp>
        <p:nvGrpSpPr>
          <p:cNvPr id="77" name="Google Shape;77;p6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78" name="Google Shape;78;p6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6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sp>
        <p:nvSpPr>
          <p:cNvPr id="83" name="Google Shape;83;p6"/>
          <p:cNvSpPr txBox="1">
            <a:spLocks noGrp="1"/>
          </p:cNvSpPr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"/>
          <p:cNvSpPr txBox="1">
            <a:spLocks noGrp="1"/>
          </p:cNvSpPr>
          <p:nvPr>
            <p:ph type="body" idx="1"/>
          </p:nvPr>
        </p:nvSpPr>
        <p:spPr>
          <a:xfrm>
            <a:off x="1031425" y="1860875"/>
            <a:ext cx="2796000" cy="30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»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85" name="Google Shape;85;p6"/>
          <p:cNvSpPr txBox="1">
            <a:spLocks noGrp="1"/>
          </p:cNvSpPr>
          <p:nvPr>
            <p:ph type="body" idx="2"/>
          </p:nvPr>
        </p:nvSpPr>
        <p:spPr>
          <a:xfrm>
            <a:off x="3995772" y="1860875"/>
            <a:ext cx="2796000" cy="30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»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86" name="Google Shape;86;p6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137" name="Google Shape;137;p10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0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0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0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</p:sp>
      </p:grpSp>
      <p:grpSp>
        <p:nvGrpSpPr>
          <p:cNvPr id="142" name="Google Shape;142;p10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143" name="Google Shape;143;p10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0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0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0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0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sp>
        <p:nvSpPr>
          <p:cNvPr id="148" name="Google Shape;148;p10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72E24-314E-4540-8891-7A9F7A7F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F40F9-C8F5-B045-9821-B5763E9345F9}" type="datetime1">
              <a:rPr lang="en-US" altLang="en-US"/>
              <a:pPr>
                <a:defRPr/>
              </a:pPr>
              <a:t>11-Aug-23</a:t>
            </a:fld>
            <a:endParaRPr lang="en-US" sz="135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5DCD04-E2FB-9044-837D-D0D239725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CB543-2382-434E-BE30-9FCA2C09B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00982-94A7-D445-84F5-85F7FB74FFC5}" type="slidenum">
              <a:rPr lang="en-US" altLang="en-US"/>
              <a:pPr>
                <a:defRPr/>
              </a:pPr>
              <a:t>‹#›</a:t>
            </a:fld>
            <a:endParaRPr lang="en-US" altLang="en-VN" sz="1350"/>
          </a:p>
        </p:txBody>
      </p:sp>
    </p:spTree>
    <p:extLst>
      <p:ext uri="{BB962C8B-B14F-4D97-AF65-F5344CB8AC3E}">
        <p14:creationId xmlns:p14="http://schemas.microsoft.com/office/powerpoint/2010/main" val="4037747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31425" y="1777125"/>
            <a:ext cx="5760300" cy="25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rgbClr val="4BB5D9"/>
              </a:buClr>
              <a:buSzPts val="2000"/>
              <a:buFont typeface="Roboto Condensed"/>
              <a:buChar char="»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4BB5D9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●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○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■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6" r:id="rId3"/>
    <p:sldLayoutId id="2147483659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33A90BD4-6837-B34D-AC01-EAFD2B9DCA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36263" y="2571750"/>
            <a:ext cx="6288452" cy="101348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 eaLnBrk="1" hangingPunct="1"/>
            <a:r>
              <a:rPr lang="en-US" altLang="en-VN" sz="27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9: WRITING PRACTICE</a:t>
            </a:r>
            <a:br>
              <a:rPr lang="en-US" altLang="en-VN" sz="27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VN" sz="27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QUESTIONS: 6-7 (PART 2)</a:t>
            </a:r>
            <a:endParaRPr lang="vi-VN" altLang="en-V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6" descr="HN] Trường Đại Học Công Nghệ Đông Á Tuyển Dụng Quản Lý Phòng Tập Gym 2018 -  YBOX">
            <a:extLst>
              <a:ext uri="{FF2B5EF4-FFF2-40B4-BE49-F238E27FC236}">
                <a16:creationId xmlns:a16="http://schemas.microsoft.com/office/drawing/2014/main" id="{EF43CF5E-1794-712A-567D-2AC56C54E0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3" t="25697" r="11786" b="34178"/>
          <a:stretch/>
        </p:blipFill>
        <p:spPr bwMode="auto">
          <a:xfrm>
            <a:off x="1638550" y="302216"/>
            <a:ext cx="5436426" cy="181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447" y="300942"/>
            <a:ext cx="7163451" cy="1004348"/>
          </a:xfrm>
          <a:solidFill>
            <a:srgbClr val="FFFF00"/>
          </a:solidFill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Writing questions 6-7: Respond to a written request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680" y="1625780"/>
            <a:ext cx="7702639" cy="2649676"/>
          </a:xfrm>
          <a:solidFill>
            <a:srgbClr val="CCFFFF"/>
          </a:solidFill>
        </p:spPr>
        <p:txBody>
          <a:bodyPr/>
          <a:lstStyle/>
          <a:p>
            <a:r>
              <a:rPr lang="en-US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 will read an e-mail and respond to it.</a:t>
            </a:r>
          </a:p>
          <a:p>
            <a:r>
              <a:rPr lang="en-US" sz="24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n-US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will be given specific tasks for each response. You may be asked to provide information, ask questions, make a request or suggestion, or explain a problem. </a:t>
            </a:r>
          </a:p>
          <a:p>
            <a:r>
              <a:rPr lang="en-US" sz="24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will have ten minutes to read each e-mail and write your response to it.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9168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7697" y="445231"/>
            <a:ext cx="3169620" cy="687799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Question Types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8373" y="1305290"/>
            <a:ext cx="7702639" cy="3392979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24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will be given specific tasks to address in each response. The tasks will be relevant to the e-mail and may be worded such as the following:</a:t>
            </a:r>
            <a:endParaRPr lang="en-US" sz="24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Ask THREE questions.</a:t>
            </a:r>
            <a:endParaRPr lang="en-US" sz="24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 TWO requests for information. </a:t>
            </a:r>
            <a:endParaRPr lang="en-US" sz="24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 ONE suggestion.</a:t>
            </a:r>
            <a:endParaRPr lang="en-US" sz="24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Give TWO pieces of information. </a:t>
            </a:r>
          </a:p>
          <a:p>
            <a:pPr lvl="1"/>
            <a:r>
              <a:rPr lang="en-US" sz="24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 ONE problem. </a:t>
            </a:r>
            <a:endParaRPr lang="en-US" sz="24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13393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0975" y="278640"/>
            <a:ext cx="3742050" cy="680365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good response…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4146" y="1312724"/>
            <a:ext cx="7011182" cy="2664544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28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addresses all the tasks;</a:t>
            </a:r>
          </a:p>
          <a:p>
            <a:r>
              <a:rPr lang="en-US" sz="28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 a variety of sentences;</a:t>
            </a:r>
          </a:p>
          <a:p>
            <a:r>
              <a:rPr lang="en-US" sz="28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 logically organized ideas;</a:t>
            </a:r>
          </a:p>
          <a:p>
            <a:r>
              <a:rPr lang="en-US" sz="28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contains few or no grammar or vocabulary errors. </a:t>
            </a:r>
            <a:endParaRPr lang="en-US" sz="28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90454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341" y="196801"/>
            <a:ext cx="5760300" cy="717536"/>
          </a:xfrm>
          <a:solidFill>
            <a:srgbClr val="FFFF00"/>
          </a:solidFill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 to remember…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680" y="1104568"/>
            <a:ext cx="7702639" cy="3274144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Begin your e-mail with an appropriate introduction.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Keep your audience in mind. You may be responding to an e-mail from a boss, a job hunter, a repairperson, or someone else. Use language appropriate for the audience.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3333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 sure to address all the tasks in your response. </a:t>
            </a:r>
            <a:endParaRPr lang="en-US" sz="24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5065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8750" y="196801"/>
            <a:ext cx="2455943" cy="591219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C0BE46-0FAC-734E-B1E5-1EE56B581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60ED8D-70DB-7C42-81E5-94B4CE528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34" y="996175"/>
            <a:ext cx="8608742" cy="392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72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C0BE46-0FAC-734E-B1E5-1EE56B581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6EC54F-63C1-4941-8C86-E9A5F7B88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32" y="1033133"/>
            <a:ext cx="7726752" cy="40243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4475131-3BFA-E4E1-5CDF-E2173FC96090}"/>
              </a:ext>
            </a:extLst>
          </p:cNvPr>
          <p:cNvSpPr txBox="1">
            <a:spLocks/>
          </p:cNvSpPr>
          <p:nvPr/>
        </p:nvSpPr>
        <p:spPr>
          <a:xfrm>
            <a:off x="3186574" y="247672"/>
            <a:ext cx="2455943" cy="59121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935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2937" y="239719"/>
            <a:ext cx="4114680" cy="639532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response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C0BE46-0FAC-734E-B1E5-1EE56B581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37088F-6D3B-9B44-9585-76E33B78D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65" y="1221343"/>
            <a:ext cx="8456689" cy="340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805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448" y="300942"/>
            <a:ext cx="7702638" cy="553985"/>
          </a:xfrm>
          <a:solidFill>
            <a:srgbClr val="FFFF00"/>
          </a:solidFill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emails and the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680" y="1090852"/>
            <a:ext cx="7702639" cy="3889095"/>
          </a:xfrm>
        </p:spPr>
        <p:txBody>
          <a:bodyPr/>
          <a:lstStyle/>
          <a:p>
            <a:r>
              <a:rPr lang="en-US" sz="24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 1: Quickly identify the subject of the e-mail. </a:t>
            </a:r>
          </a:p>
          <a:p>
            <a:pPr lvl="1"/>
            <a:r>
              <a:rPr lang="en-US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should practice quickly identifying what the subject of an e-mail is.</a:t>
            </a:r>
          </a:p>
          <a:p>
            <a:pPr lvl="1"/>
            <a:r>
              <a:rPr lang="en-US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Always look first at the </a:t>
            </a:r>
            <a:r>
              <a:rPr lang="en-US" sz="24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 </a:t>
            </a:r>
            <a:r>
              <a:rPr lang="en-US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top of the e-mail. A header includes: </a:t>
            </a:r>
          </a:p>
          <a:p>
            <a:pPr lvl="2"/>
            <a:r>
              <a:rPr lang="en-US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sender, the sender’s e-mail address, and often the sender’s title or company </a:t>
            </a:r>
          </a:p>
          <a:p>
            <a:pPr lvl="2"/>
            <a:r>
              <a:rPr lang="en-US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date</a:t>
            </a:r>
          </a:p>
          <a:p>
            <a:pPr lvl="2"/>
            <a:r>
              <a:rPr lang="en-US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subject of the email</a:t>
            </a:r>
          </a:p>
          <a:p>
            <a:pPr lvl="2"/>
            <a:r>
              <a:rPr lang="en-US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recipient (who the e-mail is sent to).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4424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4145" y="1254404"/>
            <a:ext cx="7702639" cy="3027664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 1: Quickly identify the subject of the e-mail.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many cases, the subject line in the header will tell you much of what you need to know. Always search in this order: (1) subject line, (2) directions, (3) body of the message.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7ECA0E-BF15-98BA-24D1-3EB9F15A05F4}"/>
              </a:ext>
            </a:extLst>
          </p:cNvPr>
          <p:cNvSpPr txBox="1">
            <a:spLocks/>
          </p:cNvSpPr>
          <p:nvPr/>
        </p:nvSpPr>
        <p:spPr>
          <a:xfrm>
            <a:off x="1112448" y="300942"/>
            <a:ext cx="7702638" cy="55398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emails and the questions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427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448" y="300942"/>
            <a:ext cx="5760300" cy="100434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emails and the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4145" y="1254404"/>
            <a:ext cx="7702639" cy="1004349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 2: Read the directions carefully.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directions provide you with key information about what to include in your response: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22CDFE-2491-4D43-9477-D0E1C598F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6" y="2760855"/>
            <a:ext cx="9105484" cy="717402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6D5104B-B2DA-F341-B2D1-D95771A1DE63}"/>
              </a:ext>
            </a:extLst>
          </p:cNvPr>
          <p:cNvSpPr txBox="1">
            <a:spLocks/>
          </p:cNvSpPr>
          <p:nvPr/>
        </p:nvSpPr>
        <p:spPr>
          <a:xfrm>
            <a:off x="723484" y="3492897"/>
            <a:ext cx="7702639" cy="1858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BB5D9"/>
              </a:buClr>
              <a:buSzPts val="1800"/>
              <a:buFont typeface="Roboto Condensed"/>
              <a:buChar char="»"/>
              <a:defRPr sz="1800" b="0" i="0" u="none" strike="noStrike" cap="none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B5D9"/>
              </a:buClr>
              <a:buSzPts val="1800"/>
              <a:buFont typeface="Roboto Condensed"/>
              <a:buChar char="⋄"/>
              <a:defRPr sz="1800" b="0" i="0" u="none" strike="noStrike" cap="none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1800"/>
              <a:buFont typeface="Roboto Condensed"/>
              <a:buChar char="⋄"/>
              <a:defRPr sz="1800" b="0" i="0" u="none" strike="noStrike" cap="none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1800"/>
              <a:buFont typeface="Roboto Condensed"/>
              <a:buChar char="⋄"/>
              <a:defRPr sz="1800" b="0" i="0" u="none" strike="noStrike" cap="none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1800"/>
              <a:buFont typeface="Roboto Condensed"/>
              <a:buChar char="⋄"/>
              <a:defRPr sz="1800" b="0" i="0" u="none" strike="noStrike" cap="none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1800"/>
              <a:buFont typeface="Roboto Condensed"/>
              <a:buChar char="⋄"/>
              <a:defRPr sz="1800" b="0" i="0" u="none" strike="noStrike" cap="none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1800"/>
              <a:buFont typeface="Roboto Condensed"/>
              <a:buChar char="●"/>
              <a:defRPr sz="1800" b="0" i="0" u="none" strike="noStrike" cap="none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1800"/>
              <a:buFont typeface="Roboto Condensed"/>
              <a:buChar char="○"/>
              <a:defRPr sz="1800" b="0" i="0" u="none" strike="noStrike" cap="none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1800"/>
              <a:buFont typeface="Roboto Condensed"/>
              <a:buChar char="■"/>
              <a:defRPr sz="1800" b="0" i="0" u="none" strike="noStrike" cap="none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directions provide important information about: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you should play in your response.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specific tasks that you must address in your response. </a:t>
            </a:r>
          </a:p>
        </p:txBody>
      </p:sp>
    </p:spTree>
    <p:extLst>
      <p:ext uri="{BB962C8B-B14F-4D97-AF65-F5344CB8AC3E}">
        <p14:creationId xmlns:p14="http://schemas.microsoft.com/office/powerpoint/2010/main" val="1711435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448" y="300942"/>
            <a:ext cx="5760300" cy="100434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emails and the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4145" y="1254404"/>
            <a:ext cx="7702639" cy="3889095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 2: Read the directions carefully.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tasks described in the directions vary and may involve: 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for more information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actions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of a problem. 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description of something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opinion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09403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424" y="1180174"/>
            <a:ext cx="7012981" cy="70188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STRUCTURING YOUR RESPONSE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5225" y="1882064"/>
            <a:ext cx="6795404" cy="166667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 1 Learn the basic template for a successful response. </a:t>
            </a:r>
            <a:endParaRPr lang="vi-V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 2 Learn common language used to respond.</a:t>
            </a:r>
            <a:endParaRPr lang="vi-V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20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61797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2457" y="196801"/>
            <a:ext cx="6588677" cy="6807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 1 Learn the basic template for a successful response.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48994" y="772954"/>
            <a:ext cx="6863512" cy="478903"/>
          </a:xfrm>
        </p:spPr>
        <p:txBody>
          <a:bodyPr/>
          <a:lstStyle/>
          <a:p>
            <a:r>
              <a:rPr lang="en-US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response will usually include</a:t>
            </a:r>
            <a:r>
              <a:rPr lang="vi-VN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parts: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386" y="1365987"/>
            <a:ext cx="6381748" cy="377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8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3621" y="196801"/>
            <a:ext cx="6271149" cy="6807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 2 Learn common language used to respond.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494" y="1185961"/>
            <a:ext cx="8873990" cy="3760738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should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familiarize yourself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language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typically used in responses for Questions 6 and 7. 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 that you will want to use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vi-V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less formal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language, depending to whom the response is addressed.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your response is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addressed to someone with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higher position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(such as a manager or an owner), you should use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vi-V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formal language.</a:t>
            </a:r>
            <a:endParaRPr lang="vi-V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your response is addressed to a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co-worker or peer,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should use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formal language.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83064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1899" y="196801"/>
            <a:ext cx="7143746" cy="68070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common language for responses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7939" y="1156608"/>
            <a:ext cx="8143195" cy="349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293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1899" y="196801"/>
            <a:ext cx="7143746" cy="68070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common language for responses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34" y="1215817"/>
            <a:ext cx="7715250" cy="333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983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1899" y="196801"/>
            <a:ext cx="7143746" cy="68070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common language for responses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584" y="1382486"/>
            <a:ext cx="76962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69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1899" y="196801"/>
            <a:ext cx="7143746" cy="68070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common language for responses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34" y="1548492"/>
            <a:ext cx="7677150" cy="204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56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1899" y="196801"/>
            <a:ext cx="7143746" cy="68070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common language for responses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5" y="1692047"/>
            <a:ext cx="7686675" cy="16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615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1899" y="196801"/>
            <a:ext cx="7143746" cy="68070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common language for responses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04" y="1730148"/>
            <a:ext cx="7410450" cy="192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896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1899" y="196801"/>
            <a:ext cx="7143746" cy="68070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common language for responses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07" y="1798183"/>
            <a:ext cx="7505700" cy="152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803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1899" y="196801"/>
            <a:ext cx="7143746" cy="68070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common language for responses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7" y="1828800"/>
            <a:ext cx="7667625" cy="204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603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1899" y="196801"/>
            <a:ext cx="7143746" cy="68070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common language for responses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265" y="1421266"/>
            <a:ext cx="7505700" cy="185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36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>
            <a:spLocks noGrp="1"/>
          </p:cNvSpPr>
          <p:nvPr>
            <p:ph type="ctrTitle"/>
          </p:nvPr>
        </p:nvSpPr>
        <p:spPr>
          <a:xfrm>
            <a:off x="1581196" y="1654015"/>
            <a:ext cx="5718506" cy="15408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vi-VN" sz="4400" dirty="0">
                <a:ln w="0">
                  <a:solidFill>
                    <a:srgbClr val="FF0000"/>
                  </a:solidFill>
                </a:ln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</a:t>
            </a:r>
            <a:r>
              <a:rPr lang="en-US" sz="4400" dirty="0">
                <a:ln w="0">
                  <a:solidFill>
                    <a:srgbClr val="FF0000"/>
                  </a:solidFill>
                </a:ln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lang="vi-VN" sz="4400" dirty="0">
                <a:ln w="0">
                  <a:solidFill>
                    <a:srgbClr val="FF0000"/>
                  </a:solidFill>
                </a:ln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ATTENTION!</a:t>
            </a:r>
            <a:endParaRPr lang="en-US" sz="4000" dirty="0">
              <a:ln w="0">
                <a:solidFill>
                  <a:srgbClr val="FF0000"/>
                </a:solidFill>
              </a:ln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Google Shape;191;p15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lsey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690</Words>
  <Application>Microsoft Office PowerPoint</Application>
  <PresentationFormat>On-screen Show (16:9)</PresentationFormat>
  <Paragraphs>96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Roboto Condensed</vt:lpstr>
      <vt:lpstr>Times New Roman</vt:lpstr>
      <vt:lpstr>Oswald</vt:lpstr>
      <vt:lpstr>Wolsey template</vt:lpstr>
      <vt:lpstr>LECTURE 9: WRITING PRACTICE QUESTIONS: 6-7 (PART 2)</vt:lpstr>
      <vt:lpstr>Writing questions 6-7: Respond to a written request</vt:lpstr>
      <vt:lpstr>Question Types </vt:lpstr>
      <vt:lpstr>A good response…</vt:lpstr>
      <vt:lpstr>Things to remember…</vt:lpstr>
      <vt:lpstr>Example</vt:lpstr>
      <vt:lpstr>PowerPoint Presentation</vt:lpstr>
      <vt:lpstr>Sample response</vt:lpstr>
      <vt:lpstr>Understanding the emails and the questions</vt:lpstr>
      <vt:lpstr>PowerPoint Presentation</vt:lpstr>
      <vt:lpstr>Understanding the emails and the questions</vt:lpstr>
      <vt:lpstr>Understanding the emails and the questions</vt:lpstr>
      <vt:lpstr>STRUCTURING YOUR RESPONSE </vt:lpstr>
      <vt:lpstr>TIP 1 Learn the basic template for a successful response.</vt:lpstr>
      <vt:lpstr>TIP 2 Learn common language used to respond. </vt:lpstr>
      <vt:lpstr>Examples of common language for responses</vt:lpstr>
      <vt:lpstr>Examples of common language for responses</vt:lpstr>
      <vt:lpstr>Examples of common language for responses</vt:lpstr>
      <vt:lpstr>Examples of common language for responses</vt:lpstr>
      <vt:lpstr>Examples of common language for responses</vt:lpstr>
      <vt:lpstr>Examples of common language for responses</vt:lpstr>
      <vt:lpstr>Examples of common language for responses</vt:lpstr>
      <vt:lpstr>Examples of common language for responses</vt:lpstr>
      <vt:lpstr>Examples of common language for responses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LESSON 9  WRITING PRACTICE QUESTIONS: 5-7 – PART 2</dc:title>
  <cp:lastModifiedBy>ADMIN</cp:lastModifiedBy>
  <cp:revision>41</cp:revision>
  <dcterms:modified xsi:type="dcterms:W3CDTF">2023-08-11T04:00:16Z</dcterms:modified>
</cp:coreProperties>
</file>