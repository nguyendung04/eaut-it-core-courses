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20"/>
  </p:notesMasterIdLst>
  <p:sldIdLst>
    <p:sldId id="1763" r:id="rId3"/>
    <p:sldId id="257" r:id="rId4"/>
    <p:sldId id="258" r:id="rId5"/>
    <p:sldId id="259" r:id="rId6"/>
    <p:sldId id="260" r:id="rId7"/>
    <p:sldId id="261" r:id="rId8"/>
    <p:sldId id="287" r:id="rId9"/>
    <p:sldId id="289" r:id="rId10"/>
    <p:sldId id="290" r:id="rId11"/>
    <p:sldId id="291" r:id="rId12"/>
    <p:sldId id="262" r:id="rId13"/>
    <p:sldId id="263" r:id="rId14"/>
    <p:sldId id="265" r:id="rId15"/>
    <p:sldId id="266" r:id="rId16"/>
    <p:sldId id="303" r:id="rId17"/>
    <p:sldId id="305" r:id="rId18"/>
    <p:sldId id="34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9F6"/>
    <a:srgbClr val="4924E8"/>
    <a:srgbClr val="FFFFCC"/>
    <a:srgbClr val="00FFFF"/>
    <a:srgbClr val="CCECFF"/>
    <a:srgbClr val="251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18"/>
  </p:normalViewPr>
  <p:slideViewPr>
    <p:cSldViewPr snapToGrid="0">
      <p:cViewPr varScale="1">
        <p:scale>
          <a:sx n="62" d="100"/>
          <a:sy n="62" d="100"/>
        </p:scale>
        <p:origin x="6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24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22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2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spcBef>
                <a:spcPct val="0"/>
              </a:spcBef>
            </a:pPr>
            <a:fld id="{34A18DCA-33BA-FF43-8FC3-1CAD33B27111}" type="slidenum">
              <a:rPr lang="en-US" altLang="en-US" smtClean="0">
                <a:latin typeface="Arial" panose="020B0604020202020204" pitchFamily="34" charset="0"/>
              </a:r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366">
            <a:off x="960001" y="5013855"/>
            <a:ext cx="7511600" cy="5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Bellota Text"/>
                <a:ea typeface="Bellota Text"/>
                <a:cs typeface="Bellota Text"/>
                <a:sym typeface="Bellota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60133" y="1275351"/>
            <a:ext cx="8354400" cy="3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333"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26533" y="-168333"/>
            <a:ext cx="12802991" cy="7097208"/>
            <a:chOff x="-169900" y="-126250"/>
            <a:chExt cx="9602243" cy="5322906"/>
          </a:xfrm>
        </p:grpSpPr>
        <p:sp>
          <p:nvSpPr>
            <p:cNvPr id="12" name="Google Shape;12;p2"/>
            <p:cNvSpPr/>
            <p:nvPr/>
          </p:nvSpPr>
          <p:spPr>
            <a:xfrm>
              <a:off x="984203" y="-126250"/>
              <a:ext cx="1689025" cy="693625"/>
            </a:xfrm>
            <a:custGeom>
              <a:avLst/>
              <a:gdLst/>
              <a:ahLst/>
              <a:cxnLst/>
              <a:rect l="l" t="t" r="r" b="b"/>
              <a:pathLst>
                <a:path w="67561" h="27745" extrusionOk="0">
                  <a:moveTo>
                    <a:pt x="334" y="0"/>
                  </a:moveTo>
                  <a:cubicBezTo>
                    <a:pt x="-1055" y="7285"/>
                    <a:pt x="2215" y="18039"/>
                    <a:pt x="9251" y="20383"/>
                  </a:cubicBezTo>
                  <a:cubicBezTo>
                    <a:pt x="15072" y="22322"/>
                    <a:pt x="20955" y="13461"/>
                    <a:pt x="26874" y="15075"/>
                  </a:cubicBezTo>
                  <a:cubicBezTo>
                    <a:pt x="30259" y="15998"/>
                    <a:pt x="31126" y="20757"/>
                    <a:pt x="33880" y="22931"/>
                  </a:cubicBezTo>
                  <a:cubicBezTo>
                    <a:pt x="40000" y="27763"/>
                    <a:pt x="49712" y="29036"/>
                    <a:pt x="57024" y="26328"/>
                  </a:cubicBezTo>
                  <a:cubicBezTo>
                    <a:pt x="64029" y="23734"/>
                    <a:pt x="68895" y="13648"/>
                    <a:pt x="67215" y="6370"/>
                  </a:cubicBezTo>
                  <a:cubicBezTo>
                    <a:pt x="66702" y="4149"/>
                    <a:pt x="63733" y="3060"/>
                    <a:pt x="63181" y="849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" name="Google Shape;13;p2"/>
            <p:cNvSpPr/>
            <p:nvPr/>
          </p:nvSpPr>
          <p:spPr>
            <a:xfrm>
              <a:off x="7310218" y="-42400"/>
              <a:ext cx="2122125" cy="2907300"/>
            </a:xfrm>
            <a:custGeom>
              <a:avLst/>
              <a:gdLst/>
              <a:ahLst/>
              <a:cxnLst/>
              <a:rect l="l" t="t" r="r" b="b"/>
              <a:pathLst>
                <a:path w="84885" h="116292" extrusionOk="0">
                  <a:moveTo>
                    <a:pt x="8873" y="0"/>
                  </a:moveTo>
                  <a:cubicBezTo>
                    <a:pt x="-2378" y="12058"/>
                    <a:pt x="-3204" y="37592"/>
                    <a:pt x="8236" y="49471"/>
                  </a:cubicBezTo>
                  <a:cubicBezTo>
                    <a:pt x="11927" y="53304"/>
                    <a:pt x="16982" y="56362"/>
                    <a:pt x="22250" y="57115"/>
                  </a:cubicBezTo>
                  <a:cubicBezTo>
                    <a:pt x="30458" y="58288"/>
                    <a:pt x="42904" y="55354"/>
                    <a:pt x="46454" y="62847"/>
                  </a:cubicBezTo>
                  <a:cubicBezTo>
                    <a:pt x="52405" y="75408"/>
                    <a:pt x="50993" y="91330"/>
                    <a:pt x="59194" y="102552"/>
                  </a:cubicBezTo>
                  <a:cubicBezTo>
                    <a:pt x="64710" y="110100"/>
                    <a:pt x="79274" y="121283"/>
                    <a:pt x="84885" y="113805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4;p2"/>
            <p:cNvSpPr/>
            <p:nvPr/>
          </p:nvSpPr>
          <p:spPr>
            <a:xfrm>
              <a:off x="1491500" y="4297331"/>
              <a:ext cx="6225075" cy="899325"/>
            </a:xfrm>
            <a:custGeom>
              <a:avLst/>
              <a:gdLst/>
              <a:ahLst/>
              <a:cxnLst/>
              <a:rect l="l" t="t" r="r" b="b"/>
              <a:pathLst>
                <a:path w="249003" h="35973" extrusionOk="0">
                  <a:moveTo>
                    <a:pt x="0" y="35973"/>
                  </a:moveTo>
                  <a:cubicBezTo>
                    <a:pt x="2895" y="27274"/>
                    <a:pt x="6198" y="15829"/>
                    <a:pt x="14862" y="12830"/>
                  </a:cubicBezTo>
                  <a:cubicBezTo>
                    <a:pt x="26748" y="8716"/>
                    <a:pt x="40002" y="14373"/>
                    <a:pt x="52443" y="16227"/>
                  </a:cubicBezTo>
                  <a:cubicBezTo>
                    <a:pt x="71299" y="19037"/>
                    <a:pt x="90753" y="22331"/>
                    <a:pt x="109558" y="19199"/>
                  </a:cubicBezTo>
                  <a:cubicBezTo>
                    <a:pt x="125060" y="16617"/>
                    <a:pt x="137004" y="1471"/>
                    <a:pt x="152659" y="90"/>
                  </a:cubicBezTo>
                  <a:cubicBezTo>
                    <a:pt x="160798" y="-628"/>
                    <a:pt x="167161" y="7821"/>
                    <a:pt x="174953" y="10282"/>
                  </a:cubicBezTo>
                  <a:cubicBezTo>
                    <a:pt x="181441" y="12331"/>
                    <a:pt x="188532" y="11344"/>
                    <a:pt x="195336" y="11344"/>
                  </a:cubicBezTo>
                  <a:cubicBezTo>
                    <a:pt x="211931" y="11344"/>
                    <a:pt x="230950" y="9116"/>
                    <a:pt x="244595" y="18562"/>
                  </a:cubicBezTo>
                  <a:cubicBezTo>
                    <a:pt x="249354" y="21857"/>
                    <a:pt x="249613" y="29934"/>
                    <a:pt x="248204" y="3554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-169900" y="1250050"/>
              <a:ext cx="723600" cy="2707100"/>
            </a:xfrm>
            <a:custGeom>
              <a:avLst/>
              <a:gdLst/>
              <a:ahLst/>
              <a:cxnLst/>
              <a:rect l="l" t="t" r="r" b="b"/>
              <a:pathLst>
                <a:path w="28944" h="108284" extrusionOk="0">
                  <a:moveTo>
                    <a:pt x="213" y="0"/>
                  </a:moveTo>
                  <a:cubicBezTo>
                    <a:pt x="4173" y="5278"/>
                    <a:pt x="14169" y="5237"/>
                    <a:pt x="16349" y="11465"/>
                  </a:cubicBezTo>
                  <a:cubicBezTo>
                    <a:pt x="20768" y="24091"/>
                    <a:pt x="12570" y="38827"/>
                    <a:pt x="16561" y="51594"/>
                  </a:cubicBezTo>
                  <a:cubicBezTo>
                    <a:pt x="18984" y="59345"/>
                    <a:pt x="29417" y="64511"/>
                    <a:pt x="28876" y="72614"/>
                  </a:cubicBezTo>
                  <a:cubicBezTo>
                    <a:pt x="28186" y="82952"/>
                    <a:pt x="11900" y="84554"/>
                    <a:pt x="4034" y="91298"/>
                  </a:cubicBezTo>
                  <a:cubicBezTo>
                    <a:pt x="-384" y="95086"/>
                    <a:pt x="3230" y="103443"/>
                    <a:pt x="0" y="108284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5244300" y="-81825"/>
              <a:ext cx="830000" cy="604775"/>
            </a:xfrm>
            <a:custGeom>
              <a:avLst/>
              <a:gdLst/>
              <a:ahLst/>
              <a:cxnLst/>
              <a:rect l="l" t="t" r="r" b="b"/>
              <a:pathLst>
                <a:path w="33200" h="24191" extrusionOk="0">
                  <a:moveTo>
                    <a:pt x="0" y="0"/>
                  </a:moveTo>
                  <a:cubicBezTo>
                    <a:pt x="2718" y="5439"/>
                    <a:pt x="-185" y="13261"/>
                    <a:pt x="3821" y="17835"/>
                  </a:cubicBezTo>
                  <a:cubicBezTo>
                    <a:pt x="6098" y="20435"/>
                    <a:pt x="10776" y="18533"/>
                    <a:pt x="14013" y="19746"/>
                  </a:cubicBezTo>
                  <a:cubicBezTo>
                    <a:pt x="18774" y="21531"/>
                    <a:pt x="23692" y="25058"/>
                    <a:pt x="28663" y="23992"/>
                  </a:cubicBezTo>
                  <a:cubicBezTo>
                    <a:pt x="36604" y="22290"/>
                    <a:pt x="31319" y="7964"/>
                    <a:pt x="32909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Google Shape;17;p2"/>
            <p:cNvSpPr/>
            <p:nvPr/>
          </p:nvSpPr>
          <p:spPr>
            <a:xfrm>
              <a:off x="254725" y="9767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" name="Google Shape;18;p2"/>
            <p:cNvSpPr/>
            <p:nvPr/>
          </p:nvSpPr>
          <p:spPr>
            <a:xfrm>
              <a:off x="8138100" y="44940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" name="Google Shape;19;p2"/>
            <p:cNvSpPr/>
            <p:nvPr/>
          </p:nvSpPr>
          <p:spPr>
            <a:xfrm rot="-5400000">
              <a:off x="2130700" y="476362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2"/>
            <p:cNvSpPr/>
            <p:nvPr/>
          </p:nvSpPr>
          <p:spPr>
            <a:xfrm rot="8733401">
              <a:off x="8068869" y="881926"/>
              <a:ext cx="186328" cy="30255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Google Shape;21;p2"/>
            <p:cNvSpPr/>
            <p:nvPr/>
          </p:nvSpPr>
          <p:spPr>
            <a:xfrm rot="-3429132">
              <a:off x="4898561" y="220405"/>
              <a:ext cx="186322" cy="30254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1199838250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5062467" y="1487139"/>
            <a:ext cx="2066800" cy="1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 rot="181">
            <a:off x="2298325" y="4759861"/>
            <a:ext cx="75956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/>
          </p:nvPr>
        </p:nvSpPr>
        <p:spPr>
          <a:xfrm>
            <a:off x="2297933" y="3294733"/>
            <a:ext cx="7595600" cy="14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-467199" y="-100046"/>
            <a:ext cx="12143025" cy="6979364"/>
            <a:chOff x="-350400" y="-75035"/>
            <a:chExt cx="9107269" cy="5234523"/>
          </a:xfrm>
        </p:grpSpPr>
        <p:sp>
          <p:nvSpPr>
            <p:cNvPr id="27" name="Google Shape;27;p3"/>
            <p:cNvSpPr/>
            <p:nvPr/>
          </p:nvSpPr>
          <p:spPr>
            <a:xfrm>
              <a:off x="212200" y="30044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Google Shape;28;p3"/>
            <p:cNvSpPr/>
            <p:nvPr/>
          </p:nvSpPr>
          <p:spPr>
            <a:xfrm rot="8100000">
              <a:off x="2471703" y="529702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29;p3"/>
            <p:cNvSpPr/>
            <p:nvPr/>
          </p:nvSpPr>
          <p:spPr>
            <a:xfrm rot="-6069090">
              <a:off x="8497275" y="391277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30;p3"/>
            <p:cNvSpPr/>
            <p:nvPr/>
          </p:nvSpPr>
          <p:spPr>
            <a:xfrm>
              <a:off x="8193950" y="2055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" name="Google Shape;31;p3"/>
            <p:cNvSpPr/>
            <p:nvPr/>
          </p:nvSpPr>
          <p:spPr>
            <a:xfrm rot="8100000">
              <a:off x="4621628" y="78427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" name="Google Shape;32;p3"/>
            <p:cNvSpPr/>
            <p:nvPr/>
          </p:nvSpPr>
          <p:spPr>
            <a:xfrm rot="-6069090">
              <a:off x="793275" y="402232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Google Shape;33;p3"/>
            <p:cNvSpPr/>
            <p:nvPr/>
          </p:nvSpPr>
          <p:spPr>
            <a:xfrm>
              <a:off x="5047900" y="-75035"/>
              <a:ext cx="2930025" cy="907225"/>
            </a:xfrm>
            <a:custGeom>
              <a:avLst/>
              <a:gdLst/>
              <a:ahLst/>
              <a:cxnLst/>
              <a:rect l="l" t="t" r="r" b="b"/>
              <a:pathLst>
                <a:path w="117201" h="36289" extrusionOk="0">
                  <a:moveTo>
                    <a:pt x="0" y="0"/>
                  </a:moveTo>
                  <a:cubicBezTo>
                    <a:pt x="4153" y="2307"/>
                    <a:pt x="4670" y="8278"/>
                    <a:pt x="6794" y="12527"/>
                  </a:cubicBezTo>
                  <a:cubicBezTo>
                    <a:pt x="11674" y="22287"/>
                    <a:pt x="18740" y="34357"/>
                    <a:pt x="29512" y="36095"/>
                  </a:cubicBezTo>
                  <a:cubicBezTo>
                    <a:pt x="35351" y="37037"/>
                    <a:pt x="42378" y="34343"/>
                    <a:pt x="46073" y="29725"/>
                  </a:cubicBezTo>
                  <a:cubicBezTo>
                    <a:pt x="51015" y="23548"/>
                    <a:pt x="52008" y="13191"/>
                    <a:pt x="59237" y="9979"/>
                  </a:cubicBezTo>
                  <a:cubicBezTo>
                    <a:pt x="66491" y="6756"/>
                    <a:pt x="75225" y="11023"/>
                    <a:pt x="82805" y="13376"/>
                  </a:cubicBezTo>
                  <a:cubicBezTo>
                    <a:pt x="89996" y="15608"/>
                    <a:pt x="97848" y="16282"/>
                    <a:pt x="105311" y="15287"/>
                  </a:cubicBezTo>
                  <a:cubicBezTo>
                    <a:pt x="109297" y="14756"/>
                    <a:pt x="114128" y="13151"/>
                    <a:pt x="115927" y="9554"/>
                  </a:cubicBezTo>
                  <a:cubicBezTo>
                    <a:pt x="117364" y="6680"/>
                    <a:pt x="116186" y="3048"/>
                    <a:pt x="117201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Google Shape;34;p3"/>
            <p:cNvSpPr/>
            <p:nvPr/>
          </p:nvSpPr>
          <p:spPr>
            <a:xfrm>
              <a:off x="-350400" y="3636288"/>
              <a:ext cx="5343800" cy="1523200"/>
            </a:xfrm>
            <a:custGeom>
              <a:avLst/>
              <a:gdLst/>
              <a:ahLst/>
              <a:cxnLst/>
              <a:rect l="l" t="t" r="r" b="b"/>
              <a:pathLst>
                <a:path w="213752" h="60928" extrusionOk="0">
                  <a:moveTo>
                    <a:pt x="0" y="10183"/>
                  </a:moveTo>
                  <a:cubicBezTo>
                    <a:pt x="5697" y="10183"/>
                    <a:pt x="9793" y="4047"/>
                    <a:pt x="15287" y="2539"/>
                  </a:cubicBezTo>
                  <a:cubicBezTo>
                    <a:pt x="26550" y="-552"/>
                    <a:pt x="38954" y="-784"/>
                    <a:pt x="50320" y="1902"/>
                  </a:cubicBezTo>
                  <a:cubicBezTo>
                    <a:pt x="64143" y="5169"/>
                    <a:pt x="73660" y="19053"/>
                    <a:pt x="87264" y="23134"/>
                  </a:cubicBezTo>
                  <a:cubicBezTo>
                    <a:pt x="97241" y="26127"/>
                    <a:pt x="108239" y="19729"/>
                    <a:pt x="118476" y="21648"/>
                  </a:cubicBezTo>
                  <a:cubicBezTo>
                    <a:pt x="127590" y="23357"/>
                    <a:pt x="133413" y="33293"/>
                    <a:pt x="142256" y="36086"/>
                  </a:cubicBezTo>
                  <a:cubicBezTo>
                    <a:pt x="159421" y="41507"/>
                    <a:pt x="178503" y="35479"/>
                    <a:pt x="196186" y="38846"/>
                  </a:cubicBezTo>
                  <a:cubicBezTo>
                    <a:pt x="205351" y="40591"/>
                    <a:pt x="215642" y="51876"/>
                    <a:pt x="213384" y="6092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1769820865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ackground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475414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1DBBE-D689-5447-A8B4-D9AC91512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F331F-BBEA-A740-83AB-C8429EA79CA2}" type="datetime1">
              <a:rPr lang="en-US"/>
              <a:pPr>
                <a:defRPr/>
              </a:pPr>
              <a:t>11-Aug-23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C54A8-264E-0E4F-8EBD-F1BADB4E6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06E76-C50B-CF4E-83C0-BCC4FF655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B161E-5674-8742-A449-7A6C2F4E3F8C}" type="slidenum">
              <a:rPr lang="en-US" altLang="en-VN"/>
              <a:pPr>
                <a:defRPr/>
              </a:pPr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57173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1A15FA3-1228-4010-98EC-EB2F76E62EA5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238395-3F77-4C89-AB08-DE09109ACB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66000"/>
            <a:ext cx="10272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9269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3" r:id="rId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7"/>
          <p:cNvSpPr txBox="1">
            <a:spLocks noGrp="1"/>
          </p:cNvSpPr>
          <p:nvPr>
            <p:ph type="ctrTitle"/>
          </p:nvPr>
        </p:nvSpPr>
        <p:spPr>
          <a:xfrm>
            <a:off x="983226" y="623778"/>
            <a:ext cx="10170277" cy="5649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SzPts val="1100"/>
            </a:pP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67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</a:t>
            </a:r>
            <a:br>
              <a:rPr lang="en-US" sz="5867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67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TOEIC SPEAKING </a:t>
            </a:r>
            <a:br>
              <a:rPr lang="en-US" sz="5867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67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67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4-5-6</a:t>
            </a:r>
            <a:br>
              <a:rPr lang="en-US" sz="5867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33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333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7960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89" y="1745934"/>
            <a:ext cx="11318618" cy="43550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3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answer three questions.</a:t>
            </a:r>
          </a:p>
          <a:p>
            <a:pPr>
              <a:lnSpc>
                <a:spcPct val="150000"/>
              </a:lnSpc>
            </a:pPr>
            <a:r>
              <a:rPr lang="en-US" sz="33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will have 3 seconds per question to prepare your response.</a:t>
            </a:r>
          </a:p>
          <a:p>
            <a:pPr>
              <a:lnSpc>
                <a:spcPct val="150000"/>
              </a:lnSpc>
            </a:pPr>
            <a:r>
              <a:rPr lang="en-US" sz="33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4 and 5: You will have 15 seconds to respond </a:t>
            </a:r>
          </a:p>
          <a:p>
            <a:pPr>
              <a:lnSpc>
                <a:spcPct val="150000"/>
              </a:lnSpc>
            </a:pPr>
            <a:r>
              <a:rPr lang="en-US" sz="33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6: You will have 30 seconds to respond</a:t>
            </a:r>
          </a:p>
        </p:txBody>
      </p:sp>
      <p:sp>
        <p:nvSpPr>
          <p:cNvPr id="5" name="Freeform 4"/>
          <p:cNvSpPr/>
          <p:nvPr/>
        </p:nvSpPr>
        <p:spPr>
          <a:xfrm>
            <a:off x="3052445" y="534035"/>
            <a:ext cx="6924675" cy="735330"/>
          </a:xfrm>
          <a:custGeom>
            <a:avLst/>
            <a:gdLst>
              <a:gd name="connsiteX0" fmla="*/ 0 w 6102096"/>
              <a:gd name="connsiteY0" fmla="*/ 87782 h 877824"/>
              <a:gd name="connsiteX1" fmla="*/ 87782 w 6102096"/>
              <a:gd name="connsiteY1" fmla="*/ 0 h 877824"/>
              <a:gd name="connsiteX2" fmla="*/ 6014314 w 6102096"/>
              <a:gd name="connsiteY2" fmla="*/ 0 h 877824"/>
              <a:gd name="connsiteX3" fmla="*/ 6102096 w 6102096"/>
              <a:gd name="connsiteY3" fmla="*/ 87782 h 877824"/>
              <a:gd name="connsiteX4" fmla="*/ 6102096 w 6102096"/>
              <a:gd name="connsiteY4" fmla="*/ 790042 h 877824"/>
              <a:gd name="connsiteX5" fmla="*/ 6014314 w 6102096"/>
              <a:gd name="connsiteY5" fmla="*/ 877824 h 877824"/>
              <a:gd name="connsiteX6" fmla="*/ 87782 w 6102096"/>
              <a:gd name="connsiteY6" fmla="*/ 877824 h 877824"/>
              <a:gd name="connsiteX7" fmla="*/ 0 w 6102096"/>
              <a:gd name="connsiteY7" fmla="*/ 790042 h 877824"/>
              <a:gd name="connsiteX8" fmla="*/ 0 w 6102096"/>
              <a:gd name="connsiteY8" fmla="*/ 87782 h 87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2096" h="877824">
                <a:moveTo>
                  <a:pt x="0" y="87782"/>
                </a:moveTo>
                <a:cubicBezTo>
                  <a:pt x="0" y="39301"/>
                  <a:pt x="39301" y="0"/>
                  <a:pt x="87782" y="0"/>
                </a:cubicBezTo>
                <a:lnTo>
                  <a:pt x="6014314" y="0"/>
                </a:lnTo>
                <a:cubicBezTo>
                  <a:pt x="6062795" y="0"/>
                  <a:pt x="6102096" y="39301"/>
                  <a:pt x="6102096" y="87782"/>
                </a:cubicBezTo>
                <a:lnTo>
                  <a:pt x="6102096" y="790042"/>
                </a:lnTo>
                <a:cubicBezTo>
                  <a:pt x="6102096" y="838523"/>
                  <a:pt x="6062795" y="877824"/>
                  <a:pt x="6014314" y="877824"/>
                </a:cubicBezTo>
                <a:lnTo>
                  <a:pt x="87782" y="877824"/>
                </a:lnTo>
                <a:cubicBezTo>
                  <a:pt x="39301" y="877824"/>
                  <a:pt x="0" y="838523"/>
                  <a:pt x="0" y="790042"/>
                </a:cubicBezTo>
                <a:lnTo>
                  <a:pt x="0" y="87782"/>
                </a:lnTo>
                <a:close/>
              </a:path>
            </a:pathLst>
          </a:custGeom>
          <a:solidFill>
            <a:srgbClr val="92D050"/>
          </a:solidFill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2391" tIns="132391" rIns="1130916" bIns="132391" spcCol="1270" anchor="ctr"/>
          <a:lstStyle/>
          <a:p>
            <a:pPr lvl="2" algn="ctr" defTabSz="1244600">
              <a:defRPr/>
            </a:pPr>
            <a:r>
              <a:rPr lang="en-US" sz="3200" b="1" dirty="0">
                <a:solidFill>
                  <a:srgbClr val="FF0000"/>
                </a:solidFill>
                <a:latin typeface="Times" pitchFamily="2" charset="0"/>
              </a:rPr>
              <a:t>I. Respond to Quesstions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6" y="262192"/>
            <a:ext cx="11563348" cy="175420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n-US" sz="30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en-US" sz="30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that a Canadian marketing firm is doing research in your country. You have agreed to participate in a telephone interview about television 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6" y="2335782"/>
            <a:ext cx="11868148" cy="2894980"/>
          </a:xfrm>
          <a:solidFill>
            <a:srgbClr val="DDF9F6"/>
          </a:solidFill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4: </a:t>
            </a:r>
            <a:r>
              <a:rPr lang="en-US" sz="27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 seconds to respond): How often do you watch television?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5: </a:t>
            </a:r>
            <a:r>
              <a:rPr lang="en-US" sz="27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 seconds to respond): What kind of programs do you usually watch?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6: </a:t>
            </a:r>
            <a:r>
              <a:rPr lang="en-US" sz="27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(30 seconds to respond): Describe your favorite television program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7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7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7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20433"/>
          <a:stretch>
            <a:fillRect/>
          </a:stretch>
        </p:blipFill>
        <p:spPr>
          <a:xfrm>
            <a:off x="668497" y="1149047"/>
            <a:ext cx="10861516" cy="1694166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1178" y="2663387"/>
            <a:ext cx="10404610" cy="3970323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1781176" y="224290"/>
            <a:ext cx="7577138" cy="735330"/>
          </a:xfrm>
          <a:custGeom>
            <a:avLst/>
            <a:gdLst>
              <a:gd name="connsiteX0" fmla="*/ 0 w 6102096"/>
              <a:gd name="connsiteY0" fmla="*/ 87782 h 877824"/>
              <a:gd name="connsiteX1" fmla="*/ 87782 w 6102096"/>
              <a:gd name="connsiteY1" fmla="*/ 0 h 877824"/>
              <a:gd name="connsiteX2" fmla="*/ 6014314 w 6102096"/>
              <a:gd name="connsiteY2" fmla="*/ 0 h 877824"/>
              <a:gd name="connsiteX3" fmla="*/ 6102096 w 6102096"/>
              <a:gd name="connsiteY3" fmla="*/ 87782 h 877824"/>
              <a:gd name="connsiteX4" fmla="*/ 6102096 w 6102096"/>
              <a:gd name="connsiteY4" fmla="*/ 790042 h 877824"/>
              <a:gd name="connsiteX5" fmla="*/ 6014314 w 6102096"/>
              <a:gd name="connsiteY5" fmla="*/ 877824 h 877824"/>
              <a:gd name="connsiteX6" fmla="*/ 87782 w 6102096"/>
              <a:gd name="connsiteY6" fmla="*/ 877824 h 877824"/>
              <a:gd name="connsiteX7" fmla="*/ 0 w 6102096"/>
              <a:gd name="connsiteY7" fmla="*/ 790042 h 877824"/>
              <a:gd name="connsiteX8" fmla="*/ 0 w 6102096"/>
              <a:gd name="connsiteY8" fmla="*/ 87782 h 87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2096" h="877824">
                <a:moveTo>
                  <a:pt x="0" y="87782"/>
                </a:moveTo>
                <a:cubicBezTo>
                  <a:pt x="0" y="39301"/>
                  <a:pt x="39301" y="0"/>
                  <a:pt x="87782" y="0"/>
                </a:cubicBezTo>
                <a:lnTo>
                  <a:pt x="6014314" y="0"/>
                </a:lnTo>
                <a:cubicBezTo>
                  <a:pt x="6062795" y="0"/>
                  <a:pt x="6102096" y="39301"/>
                  <a:pt x="6102096" y="87782"/>
                </a:cubicBezTo>
                <a:lnTo>
                  <a:pt x="6102096" y="790042"/>
                </a:lnTo>
                <a:cubicBezTo>
                  <a:pt x="6102096" y="838523"/>
                  <a:pt x="6062795" y="877824"/>
                  <a:pt x="6014314" y="877824"/>
                </a:cubicBezTo>
                <a:lnTo>
                  <a:pt x="87782" y="877824"/>
                </a:lnTo>
                <a:cubicBezTo>
                  <a:pt x="39301" y="877824"/>
                  <a:pt x="0" y="838523"/>
                  <a:pt x="0" y="790042"/>
                </a:cubicBezTo>
                <a:lnTo>
                  <a:pt x="0" y="87782"/>
                </a:lnTo>
                <a:close/>
              </a:path>
            </a:pathLst>
          </a:custGeom>
          <a:solidFill>
            <a:srgbClr val="92D050"/>
          </a:solidFill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2391" tIns="132391" rIns="1130916" bIns="132391" spcCol="1270" anchor="ctr"/>
          <a:lstStyle/>
          <a:p>
            <a:pPr lvl="2" algn="ctr" defTabSz="1244600">
              <a:defRPr/>
            </a:pPr>
            <a:r>
              <a:rPr lang="en-US" sz="3200" b="1" dirty="0">
                <a:solidFill>
                  <a:srgbClr val="FF0000"/>
                </a:solidFill>
                <a:latin typeface="Times" pitchFamily="2" charset="0"/>
              </a:rPr>
              <a:t>II. Structuring your responds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01A53A-EFFD-8940-BD26-E088F6382E05}"/>
              </a:ext>
            </a:extLst>
          </p:cNvPr>
          <p:cNvSpPr txBox="1">
            <a:spLocks/>
          </p:cNvSpPr>
          <p:nvPr/>
        </p:nvSpPr>
        <p:spPr>
          <a:xfrm>
            <a:off x="161926" y="509640"/>
            <a:ext cx="11868148" cy="44982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buFont typeface="Arial" panose="020B0604020202020204"/>
              <a:buNone/>
            </a:pPr>
            <a:r>
              <a:rPr lang="en-US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Question: </a:t>
            </a:r>
            <a:r>
              <a:rPr lang="en-US" sz="27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 your favorite place to buy clothing?</a:t>
            </a:r>
          </a:p>
          <a:p>
            <a:pPr marL="0" indent="0" algn="just">
              <a:lnSpc>
                <a:spcPct val="200000"/>
              </a:lnSpc>
              <a:buFont typeface="Arial" panose="020B0604020202020204"/>
              <a:buNone/>
            </a:pPr>
            <a:r>
              <a:rPr lang="en-US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Response: </a:t>
            </a:r>
            <a:r>
              <a:rPr lang="en-US" sz="27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favorite place to buy clothing is </a:t>
            </a:r>
            <a:r>
              <a:rPr lang="en-US" sz="27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Del’s</a:t>
            </a:r>
            <a:r>
              <a:rPr lang="en-US" sz="27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 Store. I like it because the prices are good and the selection is nice. Last year, I got a new winter coat for only $30. I also like it because the clerks there are very friendly. They always say hello and are really helpful.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49" y="159488"/>
            <a:ext cx="11947451" cy="1469316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83124"/>
            <a:ext cx="12155756" cy="4503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602" y="0"/>
            <a:ext cx="6187933" cy="969534"/>
          </a:xfrm>
          <a:solidFill>
            <a:srgbClr val="DDF9F6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question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6142" y="1609364"/>
            <a:ext cx="8593393" cy="4620127"/>
          </a:xfrm>
          <a:solidFill>
            <a:srgbClr val="FFFFCC"/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vi-VN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shoul</a:t>
            </a:r>
            <a:r>
              <a:rPr lang="en-US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say:</a:t>
            </a:r>
            <a:endParaRPr lang="vi-VN" sz="2800" b="1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it is? (Nhà hàng đó ở đâu?);</a:t>
            </a:r>
          </a:p>
          <a:p>
            <a:pPr algn="just"/>
            <a:r>
              <a:rPr lang="vi-VN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look like inside and outside? (Hình dáng bên ngoài và bên trong của nó như thế nào?);</a:t>
            </a:r>
          </a:p>
          <a:p>
            <a:pPr algn="just"/>
            <a:r>
              <a:rPr lang="vi-VN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kinds of food do they </a:t>
            </a:r>
            <a:r>
              <a:rPr lang="vi-VN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vi-VN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explain what makes this restaurant so special to you? (Nhà hàng đó </a:t>
            </a:r>
            <a:r>
              <a:rPr lang="vi-VN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 vụ</a:t>
            </a:r>
            <a:r>
              <a:rPr lang="vi-VN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thức ăn gì và giải thích điều gì khiến cho nhà hàng đó đặc biệt với bạn và với những người khác?).</a:t>
            </a:r>
            <a:endParaRPr lang="en-US" sz="28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939" y="868820"/>
            <a:ext cx="3083178" cy="2859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65597"/>
            <a:ext cx="9601196" cy="924025"/>
          </a:xfrm>
          <a:solidFill>
            <a:srgbClr val="FFFFCC"/>
          </a:solidFill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your favorite restaurant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002" y="1373024"/>
            <a:ext cx="7333909" cy="4719767"/>
          </a:xfrm>
          <a:solidFill>
            <a:srgbClr val="DDF9F6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it is?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 for giving me the chance to talk about my favorite restaurant. The name of my favorite restaurant is </a:t>
            </a:r>
            <a:r>
              <a:rPr lang="en-US" sz="2800" i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(say the name of the restaurant you are going to talk about</a:t>
            </a: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it’s situated in the center of the city I am currently living in. (Hanoi)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68" y="1373024"/>
            <a:ext cx="4117030" cy="2588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45932"/>
            <a:ext cx="9601196" cy="924025"/>
          </a:xfrm>
          <a:solidFill>
            <a:srgbClr val="FFFFCC"/>
          </a:solidFill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your favorite restaurant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301" y="1373024"/>
            <a:ext cx="7060019" cy="4719767"/>
          </a:xfrm>
          <a:solidFill>
            <a:srgbClr val="DDF9F6"/>
          </a:solidFill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rgbClr val="4924E8"/>
                </a:solidFill>
                <a:cs typeface="Times New Roman" panose="02020603050405020304" pitchFamily="18" charset="0"/>
              </a:rPr>
              <a:t>What does it look like inside and outside? </a:t>
            </a:r>
            <a:endParaRPr lang="en-US" sz="2800" dirty="0">
              <a:solidFill>
                <a:srgbClr val="4924E8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has 3 floors and the seating arrangement is quite nice. Paintings of famous artists have been hanging on the walls and the place is quite neat and clean. The interior decoration has a charming and gorgeous feeling.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554" y="1528672"/>
            <a:ext cx="4345136" cy="32292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277" y="939511"/>
            <a:ext cx="8183629" cy="5772557"/>
          </a:xfrm>
          <a:solidFill>
            <a:srgbClr val="DDF9F6"/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kinds of foods do they serve and explain what makes this restaurant so special to you and others?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offers several dishes including exotic desserts, ice-creams and also offers a separate place for the kids to play and have fun.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prices are reasonable and the foods are served quickly as opposed to some other restaurants where you will have to wait for a long time for your food to appear on your table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96" y="1977654"/>
            <a:ext cx="3482837" cy="327541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7B9485-9AA4-2598-684E-A5F97D96E7AB}"/>
              </a:ext>
            </a:extLst>
          </p:cNvPr>
          <p:cNvSpPr txBox="1">
            <a:spLocks/>
          </p:cNvSpPr>
          <p:nvPr/>
        </p:nvSpPr>
        <p:spPr>
          <a:xfrm>
            <a:off x="1295402" y="145932"/>
            <a:ext cx="9601196" cy="924025"/>
          </a:xfrm>
          <a:prstGeom prst="rect">
            <a:avLst/>
          </a:prstGeom>
          <a:solidFill>
            <a:srgbClr val="FFFFCC"/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your favorite restaurant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0723" y="365445"/>
            <a:ext cx="4916130" cy="922582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sample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C90B96-C501-0F41-BDD5-A17EB275D3E9}"/>
              </a:ext>
            </a:extLst>
          </p:cNvPr>
          <p:cNvSpPr txBox="1">
            <a:spLocks/>
          </p:cNvSpPr>
          <p:nvPr/>
        </p:nvSpPr>
        <p:spPr>
          <a:xfrm>
            <a:off x="323852" y="1494481"/>
            <a:ext cx="11563348" cy="4498295"/>
          </a:xfrm>
          <a:prstGeom prst="rect">
            <a:avLst/>
          </a:prstGeom>
          <a:solidFill>
            <a:srgbClr val="DDF9F6"/>
          </a:solidFill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buFont typeface="Arial" panose="020B0604020202020204"/>
              <a:buNone/>
            </a:pPr>
            <a:r>
              <a:rPr lang="en-US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Question: </a:t>
            </a:r>
            <a:r>
              <a:rPr lang="en-US" sz="2800" i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your favorite restaurant</a:t>
            </a:r>
          </a:p>
          <a:p>
            <a:pPr marL="0" indent="0" algn="just">
              <a:lnSpc>
                <a:spcPct val="200000"/>
              </a:lnSpc>
              <a:buFont typeface="Arial" panose="020B0604020202020204"/>
              <a:buNone/>
            </a:pPr>
            <a:r>
              <a:rPr lang="en-US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Response: </a:t>
            </a:r>
            <a:r>
              <a:rPr lang="en-US" sz="2800" i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favorite restaurant is really cozy and nice. It’s in an old building, so the atmosphere is really “old-style”. The walls are made of brick, and the restaurant is lit with candles. The restaurant serves excellent Italian food. The lasagna is my favorite.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0" y="982132"/>
            <a:ext cx="12192000" cy="1530062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3556" y="2512194"/>
            <a:ext cx="11761742" cy="3902894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1295399" y="75247"/>
            <a:ext cx="9838055" cy="735330"/>
          </a:xfrm>
          <a:custGeom>
            <a:avLst/>
            <a:gdLst>
              <a:gd name="connsiteX0" fmla="*/ 0 w 6102096"/>
              <a:gd name="connsiteY0" fmla="*/ 87782 h 877824"/>
              <a:gd name="connsiteX1" fmla="*/ 87782 w 6102096"/>
              <a:gd name="connsiteY1" fmla="*/ 0 h 877824"/>
              <a:gd name="connsiteX2" fmla="*/ 6014314 w 6102096"/>
              <a:gd name="connsiteY2" fmla="*/ 0 h 877824"/>
              <a:gd name="connsiteX3" fmla="*/ 6102096 w 6102096"/>
              <a:gd name="connsiteY3" fmla="*/ 87782 h 877824"/>
              <a:gd name="connsiteX4" fmla="*/ 6102096 w 6102096"/>
              <a:gd name="connsiteY4" fmla="*/ 790042 h 877824"/>
              <a:gd name="connsiteX5" fmla="*/ 6014314 w 6102096"/>
              <a:gd name="connsiteY5" fmla="*/ 877824 h 877824"/>
              <a:gd name="connsiteX6" fmla="*/ 87782 w 6102096"/>
              <a:gd name="connsiteY6" fmla="*/ 877824 h 877824"/>
              <a:gd name="connsiteX7" fmla="*/ 0 w 6102096"/>
              <a:gd name="connsiteY7" fmla="*/ 790042 h 877824"/>
              <a:gd name="connsiteX8" fmla="*/ 0 w 6102096"/>
              <a:gd name="connsiteY8" fmla="*/ 87782 h 87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2096" h="877824">
                <a:moveTo>
                  <a:pt x="0" y="87782"/>
                </a:moveTo>
                <a:cubicBezTo>
                  <a:pt x="0" y="39301"/>
                  <a:pt x="39301" y="0"/>
                  <a:pt x="87782" y="0"/>
                </a:cubicBezTo>
                <a:lnTo>
                  <a:pt x="6014314" y="0"/>
                </a:lnTo>
                <a:cubicBezTo>
                  <a:pt x="6062795" y="0"/>
                  <a:pt x="6102096" y="39301"/>
                  <a:pt x="6102096" y="87782"/>
                </a:cubicBezTo>
                <a:lnTo>
                  <a:pt x="6102096" y="790042"/>
                </a:lnTo>
                <a:cubicBezTo>
                  <a:pt x="6102096" y="838523"/>
                  <a:pt x="6062795" y="877824"/>
                  <a:pt x="6014314" y="877824"/>
                </a:cubicBezTo>
                <a:lnTo>
                  <a:pt x="87782" y="877824"/>
                </a:lnTo>
                <a:cubicBezTo>
                  <a:pt x="39301" y="877824"/>
                  <a:pt x="0" y="838523"/>
                  <a:pt x="0" y="790042"/>
                </a:cubicBezTo>
                <a:lnTo>
                  <a:pt x="0" y="87782"/>
                </a:lnTo>
                <a:close/>
              </a:path>
            </a:pathLst>
          </a:custGeom>
          <a:solidFill>
            <a:srgbClr val="92D050"/>
          </a:solidFill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2391" tIns="132391" rIns="1130916" bIns="132391" spcCol="1270" anchor="ctr"/>
          <a:lstStyle/>
          <a:p>
            <a:pPr lvl="2" algn="ctr" defTabSz="1244600">
              <a:defRPr/>
            </a:pPr>
            <a:r>
              <a:rPr lang="en-US" sz="3200" b="1" dirty="0">
                <a:solidFill>
                  <a:srgbClr val="FF0000"/>
                </a:solidFill>
                <a:latin typeface="Times" pitchFamily="2" charset="0"/>
              </a:rPr>
              <a:t>III. Tips and Tasks for Answering Correctly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63" y="128588"/>
            <a:ext cx="11774673" cy="191452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428949"/>
            <a:ext cx="11176281" cy="38385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8" y="110595"/>
            <a:ext cx="11600151" cy="1575329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49" y="1801878"/>
            <a:ext cx="12188430" cy="4270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45" y="237098"/>
            <a:ext cx="11493910" cy="818147"/>
          </a:xfrm>
          <a:solidFill>
            <a:srgbClr val="FFFFCC"/>
          </a:solidFill>
        </p:spPr>
        <p:txBody>
          <a:bodyPr>
            <a:noAutofit/>
          </a:bodyPr>
          <a:lstStyle/>
          <a:p>
            <a:pPr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answer: What is your favorite place to go on vacation?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941" y="1375548"/>
            <a:ext cx="7600789" cy="5111015"/>
          </a:xfrm>
          <a:solidFill>
            <a:srgbClr val="DDF9F6"/>
          </a:solidFill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Structures:</a:t>
            </a:r>
          </a:p>
          <a:p>
            <a:pPr marL="0" indent="0" algn="just">
              <a:buNone/>
            </a:pPr>
            <a:r>
              <a:rPr lang="vi-VN" sz="3200" b="1" dirty="0">
                <a:solidFill>
                  <a:srgbClr val="4924E8"/>
                </a:solidFill>
                <a:cs typeface="Times New Roman" panose="02020603050405020304" pitchFamily="18" charset="0"/>
              </a:rPr>
              <a:t>It is famous/renowned/noted for</a:t>
            </a:r>
            <a:r>
              <a:rPr lang="vi-VN" sz="3200" dirty="0">
                <a:solidFill>
                  <a:srgbClr val="4924E8"/>
                </a:solidFill>
                <a:cs typeface="Times New Roman" panose="02020603050405020304" pitchFamily="18" charset="0"/>
              </a:rPr>
              <a:t>…: Nơi này nổi tiếng vì…</a:t>
            </a:r>
          </a:p>
          <a:p>
            <a:pPr marL="0" indent="0" algn="just">
              <a:buNone/>
            </a:pPr>
            <a:r>
              <a:rPr lang="vi-VN" sz="3200" b="1" dirty="0">
                <a:solidFill>
                  <a:srgbClr val="4924E8"/>
                </a:solidFill>
                <a:cs typeface="Times New Roman" panose="02020603050405020304" pitchFamily="18" charset="0"/>
              </a:rPr>
              <a:t>It is located/situated in…</a:t>
            </a:r>
            <a:r>
              <a:rPr lang="vi-VN" sz="3200" dirty="0">
                <a:solidFill>
                  <a:srgbClr val="4924E8"/>
                </a:solidFill>
                <a:cs typeface="Times New Roman" panose="02020603050405020304" pitchFamily="18" charset="0"/>
              </a:rPr>
              <a:t>: Nơi này nằm ở…</a:t>
            </a:r>
          </a:p>
          <a:p>
            <a:pPr marL="0" indent="0" algn="just">
              <a:buNone/>
            </a:pPr>
            <a:r>
              <a:rPr lang="vi-VN" sz="3200" dirty="0">
                <a:solidFill>
                  <a:srgbClr val="4924E8"/>
                </a:solidFill>
                <a:cs typeface="Times New Roman" panose="02020603050405020304" pitchFamily="18" charset="0"/>
              </a:rPr>
              <a:t>I come here whenever I need to </a:t>
            </a:r>
            <a:r>
              <a:rPr lang="vi-VN" sz="3200" b="1" dirty="0">
                <a:solidFill>
                  <a:srgbClr val="4924E8"/>
                </a:solidFill>
                <a:cs typeface="Times New Roman" panose="02020603050405020304" pitchFamily="18" charset="0"/>
              </a:rPr>
              <a:t>unwind/blow off some steam</a:t>
            </a:r>
            <a:r>
              <a:rPr lang="en-US" sz="3200" b="1" dirty="0">
                <a:solidFill>
                  <a:srgbClr val="4924E8"/>
                </a:solidFill>
                <a:cs typeface="Times New Roman" panose="02020603050405020304" pitchFamily="18" charset="0"/>
              </a:rPr>
              <a:t> (relax)</a:t>
            </a:r>
            <a:r>
              <a:rPr lang="vi-VN" sz="3200" dirty="0">
                <a:solidFill>
                  <a:srgbClr val="4924E8"/>
                </a:solidFill>
                <a:cs typeface="Times New Roman" panose="02020603050405020304" pitchFamily="18" charset="0"/>
              </a:rPr>
              <a:t>: Tôi đến đây mỗi khi cần thư giãn, xả stress.</a:t>
            </a:r>
          </a:p>
          <a:p>
            <a:pPr marL="0" indent="0" algn="just">
              <a:buNone/>
            </a:pPr>
            <a:r>
              <a:rPr lang="vi-VN" sz="3200" b="1" dirty="0">
                <a:solidFill>
                  <a:srgbClr val="4924E8"/>
                </a:solidFill>
                <a:cs typeface="Times New Roman" panose="02020603050405020304" pitchFamily="18" charset="0"/>
              </a:rPr>
              <a:t>What impresses/delights me the most is…:  </a:t>
            </a:r>
            <a:r>
              <a:rPr lang="vi-VN" sz="3200" dirty="0">
                <a:solidFill>
                  <a:srgbClr val="4924E8"/>
                </a:solidFill>
                <a:cs typeface="Times New Roman" panose="02020603050405020304" pitchFamily="18" charset="0"/>
              </a:rPr>
              <a:t>Điều gây ấn tượng với tôi/ làm tôi vui nhất là …</a:t>
            </a:r>
            <a:endParaRPr lang="en-US" sz="3200" dirty="0">
              <a:solidFill>
                <a:srgbClr val="4924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27" y="1800225"/>
            <a:ext cx="4198374" cy="4261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170247"/>
            <a:ext cx="11858625" cy="1145406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your preferred method of transportation?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50532" y="1830383"/>
            <a:ext cx="6872288" cy="726006"/>
          </a:xfrm>
          <a:solidFill>
            <a:srgbClr val="CCECFF"/>
          </a:solidFill>
        </p:spPr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preferred method of transportation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02921" y="3304236"/>
            <a:ext cx="5866446" cy="2368978"/>
          </a:xfrm>
          <a:solidFill>
            <a:srgbClr val="DDF9F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should say: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and how often you use it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4924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you use it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977" y="1137435"/>
            <a:ext cx="5310103" cy="49776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2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2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2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39F2DE-E31A-4844-AA84-E6276B67E714}" type="slidenum">
              <a:rPr lang="en-US" altLang="en-US" sz="1200">
                <a:solidFill>
                  <a:srgbClr val="045C75"/>
                </a:solidFill>
                <a:latin typeface="Arial" panose="020B0604020202020204" pitchFamily="34" charset="0"/>
              </a:rPr>
              <a:t>17</a:t>
            </a:fld>
            <a:endParaRPr lang="en-US" altLang="en-US" sz="1200">
              <a:solidFill>
                <a:srgbClr val="045C75"/>
              </a:solidFill>
              <a:latin typeface="Arial" panose="020B0604020202020204" pitchFamily="34" charset="0"/>
            </a:endParaRPr>
          </a:p>
        </p:txBody>
      </p:sp>
      <p:sp>
        <p:nvSpPr>
          <p:cNvPr id="183299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76200"/>
            <a:ext cx="8229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vi-VN" altLang="en-US" sz="3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14880" y="1866900"/>
            <a:ext cx="7586345" cy="96774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 fontScale="850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  <a:defRPr/>
            </a:pPr>
            <a:r>
              <a:rPr lang="en-US" sz="7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</a:rPr>
              <a:t>     HOMEWORK</a:t>
            </a:r>
            <a:endParaRPr lang="vi-VN" sz="7800" b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alatino Linotype" panose="0204050205050503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9615" y="4140550"/>
            <a:ext cx="966951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Progress practice: page 40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14748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ational Read a Book Day Activities by Slidesgo">
  <a:themeElements>
    <a:clrScheme name="Simple Light">
      <a:dk1>
        <a:srgbClr val="3C4140"/>
      </a:dk1>
      <a:lt1>
        <a:srgbClr val="44AB8A"/>
      </a:lt1>
      <a:dk2>
        <a:srgbClr val="E0F8F2"/>
      </a:dk2>
      <a:lt2>
        <a:srgbClr val="FFFFFF"/>
      </a:lt2>
      <a:accent1>
        <a:srgbClr val="95DEC8"/>
      </a:accent1>
      <a:accent2>
        <a:srgbClr val="B9D957"/>
      </a:accent2>
      <a:accent3>
        <a:srgbClr val="F3C95C"/>
      </a:accent3>
      <a:accent4>
        <a:srgbClr val="F17651"/>
      </a:accent4>
      <a:accent5>
        <a:srgbClr val="FFB7D2"/>
      </a:accent5>
      <a:accent6>
        <a:srgbClr val="E23E7C"/>
      </a:accent6>
      <a:hlink>
        <a:srgbClr val="3C41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1758</TotalTime>
  <Words>725</Words>
  <Application>Microsoft Office PowerPoint</Application>
  <PresentationFormat>Widescreen</PresentationFormat>
  <Paragraphs>54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Autour One</vt:lpstr>
      <vt:lpstr>Bellota Text</vt:lpstr>
      <vt:lpstr>Calibri</vt:lpstr>
      <vt:lpstr>Garamond</vt:lpstr>
      <vt:lpstr>Palatino Linotype</vt:lpstr>
      <vt:lpstr>Times</vt:lpstr>
      <vt:lpstr>Times New Roman</vt:lpstr>
      <vt:lpstr>Organic</vt:lpstr>
      <vt:lpstr>National Read a Book Day Activities by Slidesgo</vt:lpstr>
      <vt:lpstr>                LECTURE 11 TOEIC SPEAKING   Questions 4-5-6  </vt:lpstr>
      <vt:lpstr>PowerPoint Presentation</vt:lpstr>
      <vt:lpstr>Example 1: Imagine that a Canadian marketing firm is doing research in your country. You have agreed to participate in a telephone interview about television viewing</vt:lpstr>
      <vt:lpstr>PowerPoint Presentation</vt:lpstr>
      <vt:lpstr>PowerPoint Presentation</vt:lpstr>
      <vt:lpstr>PowerPoint Presentation</vt:lpstr>
      <vt:lpstr>Sample question</vt:lpstr>
      <vt:lpstr>Describe your favorite restaurant</vt:lpstr>
      <vt:lpstr>Describe your favorite restaurant</vt:lpstr>
      <vt:lpstr>PowerPoint Presentation</vt:lpstr>
      <vt:lpstr>Other sample</vt:lpstr>
      <vt:lpstr>PowerPoint Presentation</vt:lpstr>
      <vt:lpstr>PowerPoint Presentation</vt:lpstr>
      <vt:lpstr>PowerPoint Presentation</vt:lpstr>
      <vt:lpstr>Sample answer: What is your favorite place to go on vacation?</vt:lpstr>
      <vt:lpstr>1. What is your preferred method of transportation?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</cp:lastModifiedBy>
  <cp:revision>75</cp:revision>
  <dcterms:created xsi:type="dcterms:W3CDTF">2022-09-06T10:45:00Z</dcterms:created>
  <dcterms:modified xsi:type="dcterms:W3CDTF">2023-08-11T12:29:11Z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46F112B5F6A94DEE8AFB1BFB7A28DEAE</vt:lpwstr>
  </property>
  <property fmtid="{D5CDD505-2E9C-101B-9397-08002B2CF9AE}" pid="3" name="KSOProductBuildVer">
    <vt:lpwstr>1033-11.2.0.11537</vt:lpwstr>
  </property>
</Properties>
</file>