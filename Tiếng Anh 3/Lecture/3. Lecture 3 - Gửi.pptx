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16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9" r:id="rId12"/>
    <p:sldId id="273" r:id="rId13"/>
    <p:sldId id="276" r:id="rId14"/>
    <p:sldId id="27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/>
    <p:restoredTop sz="94674"/>
  </p:normalViewPr>
  <p:slideViewPr>
    <p:cSldViewPr>
      <p:cViewPr varScale="1">
        <p:scale>
          <a:sx n="62" d="100"/>
          <a:sy n="62" d="100"/>
        </p:scale>
        <p:origin x="1400" y="4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E6004-F8A8-40BF-9A5B-8CDE63D801C7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725C4-A02E-44F5-A1DB-D3D297E9D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01836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0622090A-5168-4A83-8B4E-317EF38B5D39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Rectangle 13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Rectangle 18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Straight Connector 17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Straight Connector 21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Rectangle 26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Oval 23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Oval 25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Oval 24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584061C0-0E8C-4AA5-949F-7BE93BD0DCD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0622090A-5168-4A83-8B4E-317EF38B5D39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84061C0-0E8C-4AA5-949F-7BE93BD0DCD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0622090A-5168-4A83-8B4E-317EF38B5D39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Straight Connector 13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Straight Connector 14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Straight Connector 16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Rectangle 17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Oval 18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Oval 19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Oval 20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Oval 21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Oval 22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Straight Connector 25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584061C0-0E8C-4AA5-949F-7BE93BD0DCD1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090A-5168-4A83-8B4E-317EF38B5D39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61C0-0E8C-4AA5-949F-7BE93BD0DCD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090A-5168-4A83-8B4E-317EF38B5D39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61C0-0E8C-4AA5-949F-7BE93BD0DCD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622090A-5168-4A83-8B4E-317EF38B5D39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84061C0-0E8C-4AA5-949F-7BE93BD0DCD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090A-5168-4A83-8B4E-317EF38B5D39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61C0-0E8C-4AA5-949F-7BE93BD0DC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Rectangle 11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Straight Connector 12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Oval 13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Content Placeholder 17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21" name="Date Placeholder 20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0622090A-5168-4A83-8B4E-317EF38B5D39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584061C0-0E8C-4AA5-949F-7BE93BD0DCD1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Oval 12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Straight Connector 11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Straight Connector 18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Straight Connector 19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Date Placeholder 1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0622090A-5168-4A83-8B4E-317EF38B5D39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584061C0-0E8C-4AA5-949F-7BE93BD0DCD1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090A-5168-4A83-8B4E-317EF38B5D39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61C0-0E8C-4AA5-949F-7BE93BD0DC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22090A-5168-4A83-8B4E-317EF38B5D39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061C0-0E8C-4AA5-949F-7BE93BD0DCD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traight Connector 15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0622090A-5168-4A83-8B4E-317EF38B5D39}" type="datetimeFigureOut">
              <a:rPr lang="en-US" smtClean="0"/>
              <a:t>11-Aug-23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Rectangle 9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Straight Connector 10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Oval 11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584061C0-0E8C-4AA5-949F-7BE93BD0DCD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62200" y="3429000"/>
            <a:ext cx="6172200" cy="1208562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C00000"/>
                </a:solidFill>
              </a:rPr>
              <a:t>LECTURE 3_WRITING</a:t>
            </a:r>
          </a:p>
        </p:txBody>
      </p:sp>
      <p:pic>
        <p:nvPicPr>
          <p:cNvPr id="3" name="Picture 6" descr="HN] Trường Đại Học Công Nghệ Đông Á Tuyển Dụng Quản Lý Phòng Tập Gym 2018 -  YBOX">
            <a:extLst>
              <a:ext uri="{FF2B5EF4-FFF2-40B4-BE49-F238E27FC236}">
                <a16:creationId xmlns:a16="http://schemas.microsoft.com/office/drawing/2014/main" id="{DC37863B-E8CE-2148-BB4D-D0F7F23638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3" t="25697" r="11786" b="34178"/>
          <a:stretch/>
        </p:blipFill>
        <p:spPr bwMode="auto">
          <a:xfrm>
            <a:off x="1600200" y="228600"/>
            <a:ext cx="7020561" cy="20864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4534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49284" y="874730"/>
            <a:ext cx="7685116" cy="60939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/>
          </a:p>
          <a:p>
            <a:r>
              <a:rPr lang="en-US" sz="2400" dirty="0"/>
              <a:t> </a:t>
            </a:r>
          </a:p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Five photos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br>
              <a:rPr lang="en-US" sz="2400" dirty="0"/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be given 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two words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each photo =&gt; write a sentence</a:t>
            </a:r>
          </a:p>
          <a:p>
            <a:endParaRPr lang="en-US" sz="1000" dirty="0"/>
          </a:p>
          <a:p>
            <a:r>
              <a:rPr lang="en-US" sz="28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ight minutes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complete</a:t>
            </a:r>
          </a:p>
          <a:p>
            <a:endParaRPr lang="en-US" sz="2400" dirty="0"/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Click on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“Next”: move to the next photo</a:t>
            </a:r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“Back”: go back to previous photos</a:t>
            </a:r>
          </a:p>
          <a:p>
            <a:endParaRPr lang="en-US" sz="800" dirty="0"/>
          </a:p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Your ability to write grammatically correct sentences relevant to the photos will be scored. 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5" name="Right Arrow 4"/>
          <p:cNvSpPr/>
          <p:nvPr/>
        </p:nvSpPr>
        <p:spPr>
          <a:xfrm>
            <a:off x="258074" y="4343400"/>
            <a:ext cx="533400" cy="228600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Arrow 6"/>
          <p:cNvSpPr/>
          <p:nvPr/>
        </p:nvSpPr>
        <p:spPr>
          <a:xfrm>
            <a:off x="242978" y="1752600"/>
            <a:ext cx="533400" cy="228600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258074" y="2514600"/>
            <a:ext cx="533400" cy="228600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258074" y="3571482"/>
            <a:ext cx="533400" cy="228600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/>
          <p:nvPr/>
        </p:nvSpPr>
        <p:spPr>
          <a:xfrm>
            <a:off x="2286000" y="381000"/>
            <a:ext cx="4419600" cy="584775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chemeClr val="accent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Writing Questions 1-5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ight Arrow 10"/>
          <p:cNvSpPr/>
          <p:nvPr/>
        </p:nvSpPr>
        <p:spPr>
          <a:xfrm>
            <a:off x="270230" y="5791200"/>
            <a:ext cx="533400" cy="228600"/>
          </a:xfrm>
          <a:prstGeom prst="rightArrow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57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04800" y="152400"/>
            <a:ext cx="8382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photos will depict common everyday scenes in places such as: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263" y="1143000"/>
            <a:ext cx="8382000" cy="1447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2765367"/>
            <a:ext cx="7207743" cy="39402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20279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52400"/>
            <a:ext cx="8991600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QUICK GUIDE: Write a Sentence Based on a Picture </a:t>
            </a:r>
            <a:br>
              <a:rPr lang="en-US" sz="2400" b="1" dirty="0">
                <a:solidFill>
                  <a:srgbClr val="C00000"/>
                </a:solidFill>
              </a:rPr>
            </a:br>
            <a:endParaRPr lang="en-US" sz="2400" b="1" dirty="0">
              <a:solidFill>
                <a:srgbClr val="C00000"/>
              </a:solidFill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91392795"/>
              </p:ext>
            </p:extLst>
          </p:nvPr>
        </p:nvGraphicFramePr>
        <p:xfrm>
          <a:off x="152400" y="838199"/>
          <a:ext cx="8610600" cy="585216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86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0723">
                <a:tc>
                  <a:txBody>
                    <a:bodyPr/>
                    <a:lstStyle/>
                    <a:p>
                      <a:r>
                        <a:rPr kumimoji="0" lang="en-US" sz="2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Definition</a:t>
                      </a:r>
                      <a:r>
                        <a:rPr lang="en-US" dirty="0"/>
                        <a:t> 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Test ability to write </a:t>
                      </a:r>
                      <a:r>
                        <a:rPr kumimoji="0" lang="en-US" sz="2400" b="1" i="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meaningful sentences </a:t>
                      </a: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using </a:t>
                      </a:r>
                      <a:r>
                        <a:rPr kumimoji="0" lang="en-US" sz="2400" b="1" i="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correct grammar.</a:t>
                      </a:r>
                      <a:r>
                        <a:rPr lang="en-US" sz="24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2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Targeted</a:t>
                      </a:r>
                      <a:br>
                        <a:rPr kumimoji="0" lang="en-US" sz="2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Skills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• </a:t>
                      </a: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 </a:t>
                      </a:r>
                      <a:r>
                        <a:rPr kumimoji="0" lang="en-US" sz="2400" b="1" i="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correct word order</a:t>
                      </a: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b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write sentences with </a:t>
                      </a:r>
                      <a:r>
                        <a:rPr kumimoji="0" lang="en-US" sz="2400" b="1" i="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one clause</a:t>
                      </a:r>
                      <a:r>
                        <a:rPr kumimoji="0" lang="en-US" sz="2400" b="0" i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or</a:t>
                      </a: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400" b="1" i="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two clauses</a:t>
                      </a: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b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use </a:t>
                      </a:r>
                      <a:r>
                        <a:rPr kumimoji="0" lang="en-US" sz="2400" b="1" i="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adjectives, adverbs</a:t>
                      </a: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and </a:t>
                      </a:r>
                      <a:r>
                        <a:rPr kumimoji="0" lang="en-US" sz="2400" b="1" i="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prepositions</a:t>
                      </a: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correctly.</a:t>
                      </a:r>
                      <a:b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use </a:t>
                      </a:r>
                      <a:r>
                        <a:rPr kumimoji="0" lang="en-US" sz="2400" b="1" i="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subordinating conjunctions </a:t>
                      </a: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correctly.</a:t>
                      </a:r>
                      <a:b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write sentences that are </a:t>
                      </a:r>
                      <a:r>
                        <a:rPr kumimoji="0" lang="en-US" sz="2400" b="1" i="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relevant to the photos</a:t>
                      </a: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kumimoji="0" lang="en-US" sz="2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Question</a:t>
                      </a:r>
                      <a:br>
                        <a:rPr kumimoji="0" lang="en-US" sz="2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Types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You will be given </a:t>
                      </a:r>
                      <a:r>
                        <a:rPr kumimoji="0" lang="en-US" sz="2400" b="1" i="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pair of words </a:t>
                      </a: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for each photo. The two words will be some</a:t>
                      </a:r>
                      <a:r>
                        <a:rPr kumimoji="0" lang="en-US" sz="2400" b="0" i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combination of the following:</a:t>
                      </a:r>
                      <a:b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Noun • Preposition</a:t>
                      </a:r>
                      <a:b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Verb • Coordinating conjunction</a:t>
                      </a:r>
                      <a:b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Adjective • Subordinating conjunction</a:t>
                      </a:r>
                      <a:b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Adverb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dirty="0"/>
                      </a:b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2416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2773387"/>
              </p:ext>
            </p:extLst>
          </p:nvPr>
        </p:nvGraphicFramePr>
        <p:xfrm>
          <a:off x="304800" y="914400"/>
          <a:ext cx="8382000" cy="5806440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05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828800">
                <a:tc>
                  <a:txBody>
                    <a:bodyPr/>
                    <a:lstStyle/>
                    <a:p>
                      <a:pPr algn="l"/>
                      <a:r>
                        <a:rPr kumimoji="0" lang="en-US" sz="2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Good</a:t>
                      </a:r>
                      <a:br>
                        <a:rPr kumimoji="0" lang="en-US" sz="2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Response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good response </a:t>
                      </a:r>
                      <a:r>
                        <a:rPr kumimoji="0" lang="en-US" sz="2400" b="1" i="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uses the two provided words </a:t>
                      </a: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correctly in terms of both</a:t>
                      </a:r>
                      <a:r>
                        <a:rPr kumimoji="0" lang="en-US" sz="2400" b="0" i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400" b="1" i="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grammatical structure </a:t>
                      </a: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kumimoji="0" lang="en-US" sz="2400" b="1" i="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word meaning </a:t>
                      </a: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and is </a:t>
                      </a:r>
                      <a:r>
                        <a:rPr kumimoji="0" lang="en-US" sz="2400" b="1" i="0" kern="1200" dirty="0">
                          <a:solidFill>
                            <a:srgbClr val="C00000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relevant to the photo</a:t>
                      </a: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b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0">
                <a:tc>
                  <a:txBody>
                    <a:bodyPr/>
                    <a:lstStyle/>
                    <a:p>
                      <a:pPr algn="l"/>
                      <a:r>
                        <a:rPr kumimoji="0" lang="en-US" sz="2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Things to</a:t>
                      </a:r>
                      <a:br>
                        <a:rPr kumimoji="0" lang="en-US" sz="2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400" b="1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Remember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b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indent="-342900" algn="just">
                        <a:buAutoNum type="arabicPeriod"/>
                      </a:pP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Begin by thinking about how you can use the two words to describe something</a:t>
                      </a:r>
                      <a:r>
                        <a:rPr kumimoji="0" lang="en-US" sz="2400" b="0" i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 the photo</a:t>
                      </a:r>
                    </a:p>
                    <a:p>
                      <a:pPr marL="342900" indent="-342900" algn="just">
                        <a:buAutoNum type="arabicPeriod"/>
                      </a:pP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Decide what your subject and main verb will be.</a:t>
                      </a:r>
                    </a:p>
                    <a:p>
                      <a:pPr marL="342900" indent="-342900" algn="l">
                        <a:buAutoNum type="arabicPeriod"/>
                      </a:pP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Nouns will always be provided in the singular form, and verbs will always be</a:t>
                      </a:r>
                      <a:r>
                        <a:rPr kumimoji="0" lang="en-US" sz="2400" b="0" i="0" kern="1200" baseline="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400" b="0" i="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provided in the base form. You can change these forms if you want.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27692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152400"/>
            <a:ext cx="8686800" cy="1077218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WALK THROUGH: Write a Sentence Based on a Picture </a:t>
            </a:r>
            <a:endParaRPr lang="en-US" sz="2800" b="1" dirty="0">
              <a:solidFill>
                <a:srgbClr val="C0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600" y="1120676"/>
            <a:ext cx="86106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What You’ll See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Questions 1-5, you will see the directions, and you will see a photo and two words on the screen. Look at the sample. Think about how you can use the words to describe something about the photos.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766574"/>
            <a:ext cx="8382000" cy="40914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0328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04800"/>
            <a:ext cx="8557312" cy="6324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8FD2E4A-A12E-F944-9035-FBFEE7E9FBC4}"/>
              </a:ext>
            </a:extLst>
          </p:cNvPr>
          <p:cNvSpPr txBox="1"/>
          <p:nvPr/>
        </p:nvSpPr>
        <p:spPr>
          <a:xfrm>
            <a:off x="152400" y="300874"/>
            <a:ext cx="35052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PRACTICE</a:t>
            </a:r>
            <a:endParaRPr lang="en-V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0816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4800" y="304800"/>
            <a:ext cx="83820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B What You’ll Do</a:t>
            </a:r>
            <a:br>
              <a:rPr lang="en-US" b="1" dirty="0"/>
            </a:br>
            <a:br>
              <a:rPr lang="en-US" dirty="0"/>
            </a:br>
            <a:r>
              <a:rPr lang="en-US" dirty="0"/>
              <a:t>Now, write a sentence for the photo in Part A using the word pairs given. Then look at the sample response. Notice that the </a:t>
            </a:r>
            <a:r>
              <a:rPr lang="en-US" b="1" dirty="0"/>
              <a:t>grammar</a:t>
            </a:r>
            <a:r>
              <a:rPr lang="en-US" dirty="0"/>
              <a:t> is correct, the response is </a:t>
            </a:r>
            <a:r>
              <a:rPr lang="en-US" b="1" dirty="0"/>
              <a:t>relevant to the photo</a:t>
            </a:r>
            <a:r>
              <a:rPr lang="en-US" dirty="0"/>
              <a:t>, and it </a:t>
            </a:r>
            <a:r>
              <a:rPr lang="en-US" b="1" dirty="0"/>
              <a:t>uses both of the words pro</a:t>
            </a:r>
            <a:r>
              <a:rPr lang="en-US" dirty="0"/>
              <a:t>vided.</a:t>
            </a:r>
          </a:p>
          <a:p>
            <a:br>
              <a:rPr lang="en-US" b="1" dirty="0"/>
            </a:br>
            <a:r>
              <a:rPr lang="en-US" dirty="0"/>
              <a:t>SAMPLE RESPONSE ► </a:t>
            </a:r>
            <a:r>
              <a:rPr lang="en-US" b="1" dirty="0">
                <a:solidFill>
                  <a:srgbClr val="C00000"/>
                </a:solidFill>
              </a:rPr>
              <a:t>The man is reading the newspaper </a:t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64527B-84CD-254C-B388-268AAFC834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890123"/>
            <a:ext cx="5052112" cy="37339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9489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52400" y="74506"/>
            <a:ext cx="8686800" cy="954107"/>
          </a:xfrm>
          <a:prstGeom prst="rect">
            <a:avLst/>
          </a:prstGeom>
          <a:solidFill>
            <a:srgbClr val="92D050"/>
          </a:solidFill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 IT RIGHT: Tips and Tasks for Answering Correctly </a:t>
            </a:r>
          </a:p>
        </p:txBody>
      </p:sp>
      <p:sp>
        <p:nvSpPr>
          <p:cNvPr id="4" name="Rectangle 3"/>
          <p:cNvSpPr/>
          <p:nvPr/>
        </p:nvSpPr>
        <p:spPr>
          <a:xfrm>
            <a:off x="152400" y="1033693"/>
            <a:ext cx="86868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GRAMMAR AND VOCABULARY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able to write sentences that are grammatical, coherent, and relevant to the photo.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Familiarize yourself with the basic grammar and vocabulary points</a:t>
            </a:r>
            <a:br>
              <a:rPr lang="en-US" b="1" dirty="0"/>
            </a:br>
            <a:r>
              <a:rPr lang="en-US" b="1" dirty="0">
                <a:solidFill>
                  <a:srgbClr val="C00000"/>
                </a:solidFill>
              </a:rPr>
              <a:t>» TIP 1 Learn the basics of good sentence-writing in English. </a:t>
            </a:r>
          </a:p>
          <a:p>
            <a:r>
              <a:rPr lang="en-US" b="1" dirty="0">
                <a:solidFill>
                  <a:srgbClr val="C00000"/>
                </a:solidFill>
              </a:rPr>
              <a:t>The S-V-0 pattern (subject-verb-object).</a:t>
            </a:r>
            <a:br>
              <a:rPr lang="en-US" b="1" dirty="0">
                <a:solidFill>
                  <a:srgbClr val="C00000"/>
                </a:solidFill>
              </a:rPr>
            </a:br>
            <a:br>
              <a:rPr lang="en-US" b="1" dirty="0">
                <a:solidFill>
                  <a:srgbClr val="C00000"/>
                </a:solidFill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325919"/>
            <a:ext cx="7315200" cy="3457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2881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2400" y="13174"/>
            <a:ext cx="86868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 2 Use correct capitalization and punctuation.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write a good sentence that is easy to understand, you need to use capitalization and punctuation correctly. </a:t>
            </a:r>
          </a:p>
        </p:txBody>
      </p:sp>
      <p:sp>
        <p:nvSpPr>
          <p:cNvPr id="3" name="Rectangle 2"/>
          <p:cNvSpPr/>
          <p:nvPr/>
        </p:nvSpPr>
        <p:spPr>
          <a:xfrm>
            <a:off x="152400" y="1066800"/>
            <a:ext cx="8763000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Capitalization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the use of capital letters. 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sentences in English begin with a capital letter. 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English language also uses capital letters to begin all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proper nouns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 of people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Companies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Months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Day</a:t>
            </a:r>
          </a:p>
          <a:p>
            <a:pPr marL="285750" indent="-285750">
              <a:buFont typeface="Wingdings" pitchFamily="2" charset="2"/>
              <a:buChar char="§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Titles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Mary Smith               • Tuesday, June 3                  • Fox Theater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IBM                           • Dr. Evans, Mr. Smith         • Miami, Florida, USA</a:t>
            </a:r>
          </a:p>
        </p:txBody>
      </p:sp>
      <p:sp>
        <p:nvSpPr>
          <p:cNvPr id="4" name="Rectangle 3"/>
          <p:cNvSpPr/>
          <p:nvPr/>
        </p:nvSpPr>
        <p:spPr>
          <a:xfrm>
            <a:off x="304800" y="5410200"/>
            <a:ext cx="8221579" cy="20005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Punctuation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the symbols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periods (.)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 marks (?)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commas (,)</a:t>
            </a:r>
            <a:b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264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 build="p"/>
      <p:bldP spid="4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04273" y="304800"/>
            <a:ext cx="8610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TIP 3 Know the basic grammar features to use in your sentences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Choose the right sentence structure and verb tense.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most cases, you will be able to use the basic S-V-0 structure with the present continuous tense.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However, in some cases, you will use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is/are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subject.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verb tense that you use depends on the photo. 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93" y="2819400"/>
            <a:ext cx="8517013" cy="22885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0602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76200"/>
            <a:ext cx="8534400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Function Words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TIP Familiarize yourself with function words.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dirty="0"/>
            </a:br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983500"/>
              </p:ext>
            </p:extLst>
          </p:nvPr>
        </p:nvGraphicFramePr>
        <p:xfrm>
          <a:off x="152400" y="914400"/>
          <a:ext cx="8534400" cy="603447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352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7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7689"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Function Word Types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Usage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0" lang="en-US" sz="24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Examples</a:t>
                      </a:r>
                      <a:r>
                        <a:rPr lang="en-US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3030">
                <a:tc>
                  <a:txBody>
                    <a:bodyPr/>
                    <a:lstStyle/>
                    <a:p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Coordinating Conjunctions</a:t>
                      </a:r>
                      <a:b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and, but, or, yet, for, nor, so</a:t>
                      </a: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Connect two clauses</a:t>
                      </a:r>
                      <a:b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Ideas connected by the conjunction receive equal emphasis</a:t>
                      </a: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Teresa enjoys watching movies,</a:t>
                      </a:r>
                      <a:r>
                        <a:rPr kumimoji="0" lang="en-US" sz="2000" b="0" i="1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and she enjoys reading books.</a:t>
                      </a:r>
                      <a:b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 ’ll order either the soup or the</a:t>
                      </a:r>
                      <a:r>
                        <a:rPr kumimoji="0" lang="en-US" sz="2000" b="0" i="1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salad</a:t>
                      </a: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6885">
                <a:tc>
                  <a:txBody>
                    <a:bodyPr/>
                    <a:lstStyle/>
                    <a:p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Subordinating Conjunctions</a:t>
                      </a:r>
                      <a:b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Time / location: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after, before</a:t>
                      </a:r>
                      <a:r>
                        <a:rPr kumimoji="0" lang="en-US" sz="2000" b="0" i="1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since, when, while, until, where,</a:t>
                      </a:r>
                      <a:r>
                        <a:rPr kumimoji="0" lang="en-US" sz="2000" b="0" i="1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wherever</a:t>
                      </a:r>
                      <a:b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Cause / effect: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because, since, so</a:t>
                      </a:r>
                      <a:r>
                        <a:rPr kumimoji="0" lang="en-US" sz="2000" b="0" i="1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that, why</a:t>
                      </a:r>
                      <a:b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Contrast: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whereas, although</a:t>
                      </a:r>
                      <a:b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Similarity: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like, just as</a:t>
                      </a:r>
                      <a:b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Condition: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if, unless, until, in case,</a:t>
                      </a:r>
                      <a:r>
                        <a:rPr kumimoji="0" lang="en-US" sz="2000" b="0" i="1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as if, as though, provided that</a:t>
                      </a: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Connect an independent</a:t>
                      </a:r>
                      <a:r>
                        <a:rPr kumimoji="0" lang="en-US" sz="20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clause and a dependent</a:t>
                      </a:r>
                      <a:r>
                        <a:rPr kumimoji="0" lang="en-US" sz="20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clause</a:t>
                      </a:r>
                      <a:b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Express the relationship</a:t>
                      </a:r>
                      <a:r>
                        <a:rPr kumimoji="0" lang="en-US" sz="20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between two clauses</a:t>
                      </a:r>
                      <a:r>
                        <a:rPr kumimoji="0" lang="en-US" sz="20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</a:p>
                    <a:p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Idea in the first clause</a:t>
                      </a:r>
                      <a:r>
                        <a:rPr kumimoji="0" lang="en-US" sz="20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more important than</a:t>
                      </a:r>
                      <a:r>
                        <a:rPr kumimoji="0" lang="en-US" sz="20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idea in the second</a:t>
                      </a:r>
                      <a:r>
                        <a:rPr kumimoji="0" lang="en-US" sz="2000" b="0" i="0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clause</a:t>
                      </a:r>
                      <a: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After she bought the ticket, she</a:t>
                      </a:r>
                      <a:b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boarded the train. </a:t>
                      </a:r>
                      <a:b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Elisa studies because she wants</a:t>
                      </a:r>
                      <a:b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good grade. </a:t>
                      </a:r>
                      <a:b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Unless he takes his medicine,</a:t>
                      </a:r>
                      <a:b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Jack will not feel better.</a:t>
                      </a:r>
                      <a:b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br>
                        <a:rPr lang="en-US" sz="200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20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682773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633970"/>
              </p:ext>
            </p:extLst>
          </p:nvPr>
        </p:nvGraphicFramePr>
        <p:xfrm>
          <a:off x="152400" y="152400"/>
          <a:ext cx="8839200" cy="6553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4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64716">
                <a:tc>
                  <a:txBody>
                    <a:bodyPr/>
                    <a:lstStyle/>
                    <a:p>
                      <a:r>
                        <a:rPr kumimoji="0" lang="en-US" sz="24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Correlative Conjunctions</a:t>
                      </a:r>
                      <a:br>
                        <a:rPr kumimoji="0" lang="en-US" sz="2400" b="1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400" b="0" i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both . . . and; not only. . . but</a:t>
                      </a:r>
                      <a:r>
                        <a:rPr kumimoji="0" lang="en-US" sz="2400" b="0" i="1" kern="1200" baseline="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400" b="0" i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also; not. . . but; either. . . or; neither. . . nor; whether. . . or; as</a:t>
                      </a:r>
                      <a:r>
                        <a:rPr kumimoji="0" lang="en-US" sz="2400" b="0" i="1" kern="1200" baseline="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400" b="0" i="1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 . . as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4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Connect two ideas</a:t>
                      </a:r>
                      <a:br>
                        <a:rPr kumimoji="0" lang="en-US" sz="24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4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Ideas receive equal</a:t>
                      </a:r>
                      <a:br>
                        <a:rPr kumimoji="0" lang="en-US" sz="24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4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emphasis</a:t>
                      </a:r>
                      <a:br>
                        <a:rPr kumimoji="0" lang="en-US" sz="24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4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Second noun must agree with the verb that follows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4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Connect two ideas</a:t>
                      </a:r>
                      <a:br>
                        <a:rPr kumimoji="0" lang="en-US" sz="24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4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Ideas receive equal</a:t>
                      </a:r>
                      <a:br>
                        <a:rPr kumimoji="0" lang="en-US" sz="24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4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emphasis</a:t>
                      </a:r>
                      <a:br>
                        <a:rPr kumimoji="0" lang="en-US" sz="24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400" b="0" i="0" kern="1200" dirty="0">
                          <a:solidFill>
                            <a:schemeClr val="lt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Second noun must agree with the verb that follows</a:t>
                      </a: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4242">
                <a:tc>
                  <a:txBody>
                    <a:bodyPr/>
                    <a:lstStyle/>
                    <a:p>
                      <a:r>
                        <a:rPr kumimoji="0" lang="en-US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Non-Location Prepositions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Don’t indicate location</a:t>
                      </a:r>
                      <a:b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Often part of phrasal</a:t>
                      </a:r>
                      <a:b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verbs</a:t>
                      </a:r>
                      <a:b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Often idiomatic, so they</a:t>
                      </a:r>
                      <a:b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must be memorized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He goes to work </a:t>
                      </a:r>
                      <a:r>
                        <a:rPr kumimoji="0" lang="en-US" sz="2000" b="0" i="1" u="sng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by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bus.</a:t>
                      </a:r>
                      <a:b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Ellen must </a:t>
                      </a:r>
                      <a:r>
                        <a:rPr kumimoji="0" lang="en-US" sz="2000" b="0" i="1" u="sng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turn in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the project on Monday.</a:t>
                      </a:r>
                      <a:b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They should </a:t>
                      </a:r>
                      <a:r>
                        <a:rPr kumimoji="0" lang="en-US" sz="2000" b="0" i="1" u="sng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pay for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it at the</a:t>
                      </a:r>
                      <a:r>
                        <a:rPr kumimoji="0" lang="en-US" sz="2000" b="0" i="1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register.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4242">
                <a:tc>
                  <a:txBody>
                    <a:bodyPr/>
                    <a:lstStyle/>
                    <a:p>
                      <a:r>
                        <a:rPr kumimoji="0" lang="en-US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Intensifiers</a:t>
                      </a:r>
                      <a:br>
                        <a:rPr kumimoji="0" lang="en-US" sz="2000" b="1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very, too much/many, quite,</a:t>
                      </a:r>
                      <a:r>
                        <a:rPr kumimoji="0" lang="en-US" sz="2000" b="0" i="1" kern="1200" baseline="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rather, so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b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endParaRPr 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Typically modify</a:t>
                      </a:r>
                      <a:b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adverbs and adjectives</a:t>
                      </a:r>
                      <a:b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Make the meaning of</a:t>
                      </a:r>
                      <a:b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words they modify</a:t>
                      </a:r>
                      <a:b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stronger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She is very happy with the results.</a:t>
                      </a:r>
                      <a:b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It is quite cold there.</a:t>
                      </a:r>
                      <a:b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</a:b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kumimoji="0" lang="en-US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ferry is traveling rather slowly.</a:t>
                      </a:r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36321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F71D17-763E-814B-935C-F3B5CEC57326}"/>
              </a:ext>
            </a:extLst>
          </p:cNvPr>
          <p:cNvSpPr txBox="1"/>
          <p:nvPr/>
        </p:nvSpPr>
        <p:spPr>
          <a:xfrm>
            <a:off x="2362200" y="188314"/>
            <a:ext cx="4724400" cy="5847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HOMEWORK</a:t>
            </a:r>
            <a:endParaRPr lang="en-VN" sz="32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7D5196-B8DC-724F-8D74-566047CF2A83}"/>
              </a:ext>
            </a:extLst>
          </p:cNvPr>
          <p:cNvSpPr txBox="1"/>
          <p:nvPr/>
        </p:nvSpPr>
        <p:spPr>
          <a:xfrm>
            <a:off x="381000" y="1911046"/>
            <a:ext cx="8153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https://www.englishclub.com/esl-exams/ets-toeic-practice-writing.php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AD931A-9FD4-1548-A1BE-4515DA66E0CA}"/>
              </a:ext>
            </a:extLst>
          </p:cNvPr>
          <p:cNvSpPr txBox="1"/>
          <p:nvPr/>
        </p:nvSpPr>
        <p:spPr>
          <a:xfrm>
            <a:off x="187369" y="2764572"/>
            <a:ext cx="85406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https://www.examenglish.com/TOEIC/TOEIC_writing_part1_sample_test.htm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B1ED1E-FCCB-8D47-939B-84B74C2526A4}"/>
              </a:ext>
            </a:extLst>
          </p:cNvPr>
          <p:cNvSpPr txBox="1"/>
          <p:nvPr/>
        </p:nvSpPr>
        <p:spPr>
          <a:xfrm>
            <a:off x="301669" y="1057520"/>
            <a:ext cx="838513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VN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https://www.jaimeselwood.com/uploads/2/6/6/7/26678157/toeic__writing_practice_test_2018.pdf</a:t>
            </a:r>
          </a:p>
        </p:txBody>
      </p:sp>
    </p:spTree>
    <p:extLst>
      <p:ext uri="{BB962C8B-B14F-4D97-AF65-F5344CB8AC3E}">
        <p14:creationId xmlns:p14="http://schemas.microsoft.com/office/powerpoint/2010/main" val="12298147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el">
  <a:themeElements>
    <a:clrScheme name="Oriel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Oriel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iel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1031</TotalTime>
  <Words>1151</Words>
  <Application>Microsoft Office PowerPoint</Application>
  <PresentationFormat>On-screen Show (4:3)</PresentationFormat>
  <Paragraphs>80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Calibri</vt:lpstr>
      <vt:lpstr>Century Schoolbook</vt:lpstr>
      <vt:lpstr>Times New Roman</vt:lpstr>
      <vt:lpstr>Wingdings</vt:lpstr>
      <vt:lpstr>Wingdings 2</vt:lpstr>
      <vt:lpstr>Oriel</vt:lpstr>
      <vt:lpstr>LECTURE 3_WRITING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56</cp:revision>
  <dcterms:created xsi:type="dcterms:W3CDTF">2022-08-09T04:05:57Z</dcterms:created>
  <dcterms:modified xsi:type="dcterms:W3CDTF">2023-08-11T03:21:08Z</dcterms:modified>
</cp:coreProperties>
</file>