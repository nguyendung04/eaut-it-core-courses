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4" r:id="rId2"/>
    <p:sldMasterId id="2147483674" r:id="rId3"/>
  </p:sldMasterIdLst>
  <p:notesMasterIdLst>
    <p:notesMasterId r:id="rId65"/>
  </p:notesMasterIdLst>
  <p:sldIdLst>
    <p:sldId id="259" r:id="rId4"/>
    <p:sldId id="260" r:id="rId5"/>
    <p:sldId id="277" r:id="rId6"/>
    <p:sldId id="261" r:id="rId7"/>
    <p:sldId id="262" r:id="rId8"/>
    <p:sldId id="278" r:id="rId9"/>
    <p:sldId id="263" r:id="rId10"/>
    <p:sldId id="264" r:id="rId11"/>
    <p:sldId id="265" r:id="rId12"/>
    <p:sldId id="267" r:id="rId13"/>
    <p:sldId id="268" r:id="rId14"/>
    <p:sldId id="269" r:id="rId15"/>
    <p:sldId id="270" r:id="rId16"/>
    <p:sldId id="271" r:id="rId17"/>
    <p:sldId id="272" r:id="rId18"/>
    <p:sldId id="280" r:id="rId19"/>
    <p:sldId id="281" r:id="rId20"/>
    <p:sldId id="282" r:id="rId21"/>
    <p:sldId id="279" r:id="rId22"/>
    <p:sldId id="273" r:id="rId23"/>
    <p:sldId id="274" r:id="rId24"/>
    <p:sldId id="283" r:id="rId25"/>
    <p:sldId id="276" r:id="rId26"/>
    <p:sldId id="284" r:id="rId27"/>
    <p:sldId id="285" r:id="rId28"/>
    <p:sldId id="286" r:id="rId29"/>
    <p:sldId id="287" r:id="rId30"/>
    <p:sldId id="288" r:id="rId31"/>
    <p:sldId id="289" r:id="rId32"/>
    <p:sldId id="290" r:id="rId33"/>
    <p:sldId id="291" r:id="rId34"/>
    <p:sldId id="292" r:id="rId35"/>
    <p:sldId id="294" r:id="rId36"/>
    <p:sldId id="295" r:id="rId37"/>
    <p:sldId id="297" r:id="rId38"/>
    <p:sldId id="296" r:id="rId39"/>
    <p:sldId id="298" r:id="rId40"/>
    <p:sldId id="302" r:id="rId41"/>
    <p:sldId id="299" r:id="rId42"/>
    <p:sldId id="303" r:id="rId43"/>
    <p:sldId id="304" r:id="rId44"/>
    <p:sldId id="305" r:id="rId45"/>
    <p:sldId id="306" r:id="rId46"/>
    <p:sldId id="300" r:id="rId47"/>
    <p:sldId id="307" r:id="rId48"/>
    <p:sldId id="308" r:id="rId49"/>
    <p:sldId id="309" r:id="rId50"/>
    <p:sldId id="310" r:id="rId51"/>
    <p:sldId id="320" r:id="rId52"/>
    <p:sldId id="311" r:id="rId53"/>
    <p:sldId id="312" r:id="rId54"/>
    <p:sldId id="313" r:id="rId55"/>
    <p:sldId id="314" r:id="rId56"/>
    <p:sldId id="315" r:id="rId57"/>
    <p:sldId id="316" r:id="rId58"/>
    <p:sldId id="317" r:id="rId59"/>
    <p:sldId id="318" r:id="rId60"/>
    <p:sldId id="319" r:id="rId61"/>
    <p:sldId id="321" r:id="rId62"/>
    <p:sldId id="322" r:id="rId63"/>
    <p:sldId id="323" r:id="rId64"/>
  </p:sldIdLst>
  <p:sldSz cx="9144000" cy="6858000" type="screen4x3"/>
  <p:notesSz cx="6858000" cy="9144000"/>
  <p:custDataLst>
    <p:tags r:id="rId66"/>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5pPr>
    <a:lvl6pPr marL="2286000" algn="l" defTabSz="914400" rtl="0" eaLnBrk="1" latinLnBrk="0" hangingPunct="1">
      <a:defRPr kern="1200">
        <a:solidFill>
          <a:schemeClr val="tx1"/>
        </a:solidFill>
        <a:latin typeface="Calibri" pitchFamily="34" charset="0"/>
        <a:ea typeface="ＭＳ Ｐゴシック" pitchFamily="123" charset="-128"/>
        <a:cs typeface="+mn-cs"/>
      </a:defRPr>
    </a:lvl6pPr>
    <a:lvl7pPr marL="2743200" algn="l" defTabSz="914400" rtl="0" eaLnBrk="1" latinLnBrk="0" hangingPunct="1">
      <a:defRPr kern="1200">
        <a:solidFill>
          <a:schemeClr val="tx1"/>
        </a:solidFill>
        <a:latin typeface="Calibri" pitchFamily="34" charset="0"/>
        <a:ea typeface="ＭＳ Ｐゴシック" pitchFamily="123" charset="-128"/>
        <a:cs typeface="+mn-cs"/>
      </a:defRPr>
    </a:lvl7pPr>
    <a:lvl8pPr marL="3200400" algn="l" defTabSz="914400" rtl="0" eaLnBrk="1" latinLnBrk="0" hangingPunct="1">
      <a:defRPr kern="1200">
        <a:solidFill>
          <a:schemeClr val="tx1"/>
        </a:solidFill>
        <a:latin typeface="Calibri" pitchFamily="34" charset="0"/>
        <a:ea typeface="ＭＳ Ｐゴシック" pitchFamily="123" charset="-128"/>
        <a:cs typeface="+mn-cs"/>
      </a:defRPr>
    </a:lvl8pPr>
    <a:lvl9pPr marL="3657600" algn="l" defTabSz="914400" rtl="0" eaLnBrk="1" latinLnBrk="0" hangingPunct="1">
      <a:defRPr kern="1200">
        <a:solidFill>
          <a:schemeClr val="tx1"/>
        </a:solidFill>
        <a:latin typeface="Calibri" pitchFamily="34" charset="0"/>
        <a:ea typeface="ＭＳ Ｐゴシック" pitchFamily="123" charset="-128"/>
        <a:cs typeface="+mn-cs"/>
      </a:defRPr>
    </a:lvl9pPr>
  </p:defaultTextStyle>
  <p:extLst>
    <p:ext uri="{EFAFB233-063F-42B5-8137-9DF3F51BA10A}">
      <p15:sldGuideLst xmlns:p15="http://schemas.microsoft.com/office/powerpoint/2012/main">
        <p15:guide id="1" orient="horz" pos="2154">
          <p15:clr>
            <a:srgbClr val="A4A3A4"/>
          </p15:clr>
        </p15:guide>
        <p15:guide id="2" pos="60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66CC33"/>
    <a:srgbClr val="336633"/>
    <a:srgbClr val="66C067"/>
    <a:srgbClr val="B6DCAE"/>
    <a:srgbClr val="CC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729" autoAdjust="0"/>
  </p:normalViewPr>
  <p:slideViewPr>
    <p:cSldViewPr snapToGrid="0" snapToObjects="1">
      <p:cViewPr varScale="1">
        <p:scale>
          <a:sx n="67" d="100"/>
          <a:sy n="67" d="100"/>
        </p:scale>
        <p:origin x="1362" y="60"/>
      </p:cViewPr>
      <p:guideLst>
        <p:guide orient="horz" pos="2154"/>
        <p:guide pos="608"/>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02" d="100"/>
          <a:sy n="102" d="100"/>
        </p:scale>
        <p:origin x="-4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716F2529-7442-4C57-BAFE-E764E2676846}" type="datetimeFigureOut">
              <a:rPr lang="en-US"/>
              <a:pPr>
                <a:defRPr/>
              </a:pPr>
              <a:t>4/8/2022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A9BAC566-14D6-46E5-9550-856BC12D5853}" type="slidenum">
              <a:rPr lang="en-US"/>
              <a:pPr>
                <a:defRPr/>
              </a:pPr>
              <a:t>‹#›</a:t>
            </a:fld>
            <a:endParaRPr lang="en-US"/>
          </a:p>
        </p:txBody>
      </p:sp>
    </p:spTree>
    <p:extLst>
      <p:ext uri="{BB962C8B-B14F-4D97-AF65-F5344CB8AC3E}">
        <p14:creationId xmlns:p14="http://schemas.microsoft.com/office/powerpoint/2010/main" val="154251708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727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P Bank 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557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1953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722688" y="-223838"/>
            <a:ext cx="17291051" cy="786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83"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b="0" i="0" u="none"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6"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52110" y="614249"/>
            <a:ext cx="8570976" cy="740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indent="57150">
              <a:lnSpc>
                <a:spcPct val="150000"/>
              </a:lnSpc>
            </a:pPr>
            <a:r>
              <a:rPr lang="vi-VN" sz="2100" b="1" smtClean="0">
                <a:solidFill>
                  <a:srgbClr val="002060"/>
                </a:solidFill>
                <a:latin typeface="Cambria" panose="02040503050406030204" pitchFamily="18" charset="0"/>
              </a:rPr>
              <a:t>3.1</a:t>
            </a:r>
            <a:r>
              <a:rPr lang="vi-VN" sz="2100" b="1">
                <a:solidFill>
                  <a:srgbClr val="002060"/>
                </a:solidFill>
                <a:latin typeface="Cambria" panose="02040503050406030204" pitchFamily="18" charset="0"/>
              </a:rPr>
              <a:t>. Một số khái niệm &amp; định </a:t>
            </a:r>
            <a:r>
              <a:rPr lang="vi-VN" sz="2100" b="1" smtClean="0">
                <a:solidFill>
                  <a:srgbClr val="002060"/>
                </a:solidFill>
                <a:latin typeface="Cambria" panose="02040503050406030204" pitchFamily="18" charset="0"/>
              </a:rPr>
              <a:t>nghĩa</a:t>
            </a:r>
            <a:endParaRPr lang="vi-VN" sz="2100" b="1">
              <a:solidFill>
                <a:srgbClr val="002060"/>
              </a:solidFill>
              <a:latin typeface="Cambria" panose="02040503050406030204" pitchFamily="18" charset="0"/>
            </a:endParaRPr>
          </a:p>
          <a:p>
            <a:pPr indent="57150">
              <a:lnSpc>
                <a:spcPct val="150000"/>
              </a:lnSpc>
            </a:pPr>
            <a:r>
              <a:rPr lang="vi-VN" sz="2100" b="1">
                <a:solidFill>
                  <a:srgbClr val="002060"/>
                </a:solidFill>
                <a:latin typeface="Cambria" panose="02040503050406030204" pitchFamily="18" charset="0"/>
              </a:rPr>
              <a:t>3.2. Lĩnh vực ứng dụng kỹ thuật xử lý ảnh</a:t>
            </a:r>
          </a:p>
          <a:p>
            <a:pPr indent="57150">
              <a:lnSpc>
                <a:spcPct val="150000"/>
              </a:lnSpc>
            </a:pPr>
            <a:r>
              <a:rPr lang="vi-VN" sz="2100" b="1">
                <a:solidFill>
                  <a:srgbClr val="002060"/>
                </a:solidFill>
                <a:latin typeface="Cambria" panose="02040503050406030204" pitchFamily="18" charset="0"/>
              </a:rPr>
              <a:t>3.3. Hệ màu</a:t>
            </a:r>
          </a:p>
          <a:p>
            <a:pPr indent="57150">
              <a:lnSpc>
                <a:spcPct val="150000"/>
              </a:lnSpc>
            </a:pPr>
            <a:r>
              <a:rPr lang="vi-VN" sz="2100" b="1">
                <a:solidFill>
                  <a:srgbClr val="002060"/>
                </a:solidFill>
                <a:latin typeface="Cambria" panose="02040503050406030204" pitchFamily="18" charset="0"/>
              </a:rPr>
              <a:t>3.4. Một số kỹ thuật nén ảnh (JPEG, GIF,…)</a:t>
            </a:r>
          </a:p>
          <a:p>
            <a:pPr indent="400050">
              <a:lnSpc>
                <a:spcPct val="150000"/>
              </a:lnSpc>
            </a:pPr>
            <a:r>
              <a:rPr lang="vi-VN" sz="2100" b="1">
                <a:solidFill>
                  <a:srgbClr val="002060"/>
                </a:solidFill>
                <a:latin typeface="Cambria" panose="02040503050406030204" pitchFamily="18" charset="0"/>
              </a:rPr>
              <a:t>3.4.1. Nén không tổn hao</a:t>
            </a:r>
          </a:p>
          <a:p>
            <a:pPr indent="400050">
              <a:lnSpc>
                <a:spcPct val="150000"/>
              </a:lnSpc>
            </a:pPr>
            <a:r>
              <a:rPr lang="vi-VN" sz="2100" b="1">
                <a:solidFill>
                  <a:srgbClr val="002060"/>
                </a:solidFill>
                <a:latin typeface="Cambria" panose="02040503050406030204" pitchFamily="18" charset="0"/>
              </a:rPr>
              <a:t>3.4.2. Nén tổn hao</a:t>
            </a:r>
          </a:p>
          <a:p>
            <a:pPr indent="57150">
              <a:lnSpc>
                <a:spcPct val="150000"/>
              </a:lnSpc>
            </a:pPr>
            <a:r>
              <a:rPr lang="vi-VN" sz="2100" b="1">
                <a:solidFill>
                  <a:srgbClr val="002060"/>
                </a:solidFill>
                <a:latin typeface="Cambria" panose="02040503050406030204" pitchFamily="18" charset="0"/>
              </a:rPr>
              <a:t>3.5. Một số kỹ thuật nén dữ liệu video.</a:t>
            </a:r>
          </a:p>
          <a:p>
            <a:pPr indent="400050">
              <a:lnSpc>
                <a:spcPct val="150000"/>
              </a:lnSpc>
            </a:pPr>
            <a:r>
              <a:rPr lang="vi-VN" sz="2100" b="1" smtClean="0">
                <a:solidFill>
                  <a:srgbClr val="002060"/>
                </a:solidFill>
                <a:latin typeface="Cambria" panose="02040503050406030204" pitchFamily="18" charset="0"/>
              </a:rPr>
              <a:t>3.5.1. Nguyên lý nén video</a:t>
            </a:r>
          </a:p>
          <a:p>
            <a:pPr indent="400050">
              <a:lnSpc>
                <a:spcPct val="150000"/>
              </a:lnSpc>
            </a:pPr>
            <a:r>
              <a:rPr lang="vi-VN" sz="2100" b="1" smtClean="0">
                <a:solidFill>
                  <a:srgbClr val="002060"/>
                </a:solidFill>
                <a:latin typeface="Cambria" panose="02040503050406030204" pitchFamily="18" charset="0"/>
              </a:rPr>
              <a:t>3.5.2. Kỹ thuật giảm dư thừa thông tin trong miền không gian</a:t>
            </a:r>
          </a:p>
          <a:p>
            <a:pPr indent="400050">
              <a:lnSpc>
                <a:spcPct val="150000"/>
              </a:lnSpc>
            </a:pPr>
            <a:r>
              <a:rPr lang="vi-VN" sz="2100" b="1" smtClean="0">
                <a:solidFill>
                  <a:srgbClr val="002060"/>
                </a:solidFill>
                <a:latin typeface="Cambria" panose="02040503050406030204" pitchFamily="18" charset="0"/>
              </a:rPr>
              <a:t>3.5.3. Kỹ thuật giảm dư thừa thông tin trong miền thời gian</a:t>
            </a:r>
          </a:p>
          <a:p>
            <a:pPr indent="57150">
              <a:lnSpc>
                <a:spcPct val="150000"/>
              </a:lnSpc>
            </a:pPr>
            <a:r>
              <a:rPr lang="vi-VN" sz="2100" b="1" smtClean="0">
                <a:solidFill>
                  <a:srgbClr val="002060"/>
                </a:solidFill>
                <a:latin typeface="Cambria" panose="02040503050406030204" pitchFamily="18" charset="0"/>
              </a:rPr>
              <a:t>3.6. Sơ đồ tổng quát của mã hóa video</a:t>
            </a:r>
          </a:p>
          <a:p>
            <a:pPr indent="57150">
              <a:lnSpc>
                <a:spcPct val="150000"/>
              </a:lnSpc>
            </a:pPr>
            <a:r>
              <a:rPr lang="vi-VN" sz="2100" b="1" smtClean="0">
                <a:solidFill>
                  <a:srgbClr val="002060"/>
                </a:solidFill>
                <a:latin typeface="Cambria" panose="02040503050406030204" pitchFamily="18" charset="0"/>
              </a:rPr>
              <a:t>3.7</a:t>
            </a:r>
            <a:r>
              <a:rPr lang="vi-VN" sz="2100" b="1">
                <a:solidFill>
                  <a:srgbClr val="002060"/>
                </a:solidFill>
                <a:latin typeface="Cambria" panose="02040503050406030204" pitchFamily="18" charset="0"/>
              </a:rPr>
              <a:t>. Một số định dạng file </a:t>
            </a:r>
            <a:r>
              <a:rPr lang="vi-VN" sz="2100" b="1" smtClean="0">
                <a:solidFill>
                  <a:srgbClr val="002060"/>
                </a:solidFill>
                <a:latin typeface="Cambria" panose="02040503050406030204" pitchFamily="18" charset="0"/>
              </a:rPr>
              <a:t>video</a:t>
            </a:r>
            <a:endParaRPr lang="en-US" sz="2100" b="1" smtClean="0">
              <a:solidFill>
                <a:srgbClr val="002060"/>
              </a:solidFill>
              <a:latin typeface="Cambria" panose="02040503050406030204" pitchFamily="18" charset="0"/>
            </a:endParaRPr>
          </a:p>
          <a:p>
            <a:pPr indent="57150">
              <a:lnSpc>
                <a:spcPct val="150000"/>
              </a:lnSpc>
            </a:pPr>
            <a:r>
              <a:rPr lang="vi-VN" sz="2100" b="1" smtClean="0">
                <a:solidFill>
                  <a:srgbClr val="002060"/>
                </a:solidFill>
                <a:latin typeface="Cambria" panose="02040503050406030204" pitchFamily="18" charset="0"/>
              </a:rPr>
              <a:t>3.8</a:t>
            </a:r>
            <a:r>
              <a:rPr lang="vi-VN" sz="2100" b="1">
                <a:solidFill>
                  <a:srgbClr val="002060"/>
                </a:solidFill>
                <a:latin typeface="Cambria" panose="02040503050406030204" pitchFamily="18" charset="0"/>
              </a:rPr>
              <a:t>. Giới thiệu một số công cụ xử lý ảnh và video</a:t>
            </a:r>
          </a:p>
          <a:p>
            <a:pPr marL="457200" indent="-457200">
              <a:lnSpc>
                <a:spcPct val="150000"/>
              </a:lnSpc>
              <a:buFont typeface="Wingdings" panose="05000000000000000000" pitchFamily="2" charset="2"/>
              <a:buChar char="v"/>
            </a:pPr>
            <a:endParaRPr lang="vi-VN" sz="2200" b="1" smtClean="0">
              <a:solidFill>
                <a:srgbClr val="C00000"/>
              </a:solidFill>
              <a:latin typeface="Cambria" panose="02040503050406030204" pitchFamily="18" charset="0"/>
            </a:endParaRPr>
          </a:p>
          <a:p>
            <a:pPr marL="457200" indent="-457200">
              <a:lnSpc>
                <a:spcPct val="150000"/>
              </a:lnSpc>
              <a:buFont typeface="Wingdings" panose="05000000000000000000" pitchFamily="2" charset="2"/>
              <a:buChar char="v"/>
            </a:pPr>
            <a:r>
              <a:rPr lang="en-US" sz="2200" b="1" smtClean="0">
                <a:solidFill>
                  <a:schemeClr val="bg1"/>
                </a:solidFill>
                <a:latin typeface="Cambria" panose="02040503050406030204" pitchFamily="18" charset="0"/>
              </a:rPr>
              <a:t>Chương 5:  </a:t>
            </a:r>
            <a:r>
              <a:rPr lang="en-US" altLang="en-US" sz="2200" b="1" err="1" smtClean="0">
                <a:solidFill>
                  <a:schemeClr val="bg1"/>
                </a:solidFill>
                <a:latin typeface="Cambria" panose="02040503050406030204" pitchFamily="18" charset="0"/>
              </a:rPr>
              <a:t>Tập</a:t>
            </a:r>
            <a:r>
              <a:rPr lang="en-US" altLang="en-US" sz="2200" b="1" smtClean="0">
                <a:solidFill>
                  <a:schemeClr val="bg1"/>
                </a:solidFill>
                <a:latin typeface="Cambria" panose="02040503050406030204" pitchFamily="18" charset="0"/>
              </a:rPr>
              <a:t> </a:t>
            </a:r>
            <a:r>
              <a:rPr lang="en-US" altLang="en-US" sz="2200" b="1" err="1" smtClean="0">
                <a:solidFill>
                  <a:schemeClr val="bg1"/>
                </a:solidFill>
                <a:latin typeface="Cambria" panose="02040503050406030204" pitchFamily="18" charset="0"/>
              </a:rPr>
              <a:t>lệnh</a:t>
            </a:r>
            <a:r>
              <a:rPr lang="en-US" altLang="en-US" sz="2200" b="1" smtClean="0">
                <a:solidFill>
                  <a:schemeClr val="bg1"/>
                </a:solidFill>
                <a:latin typeface="Cambria" panose="02040503050406030204" pitchFamily="18" charset="0"/>
              </a:rPr>
              <a:t>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52975"/>
            <a:ext cx="8603228" cy="738664"/>
          </a:xfrm>
          <a:prstGeom prst="rect">
            <a:avLst/>
          </a:prstGeom>
          <a:noFill/>
        </p:spPr>
        <p:txBody>
          <a:bodyPr wrap="square" lIns="91440" tIns="45720" rIns="91440" bIns="45720">
            <a:spAutoFit/>
          </a:bodyPr>
          <a:lstStyle/>
          <a:p>
            <a:pPr>
              <a:lnSpc>
                <a:spcPct val="150000"/>
              </a:lnSpc>
            </a:pPr>
            <a:r>
              <a:rPr lang="vi-VN" sz="2800" b="1">
                <a:solidFill>
                  <a:srgbClr val="C00000"/>
                </a:solidFill>
                <a:latin typeface="Cambria" panose="02040503050406030204" pitchFamily="18" charset="0"/>
              </a:rPr>
              <a:t>Chương 3</a:t>
            </a:r>
            <a:r>
              <a:rPr lang="en-US" sz="2800" b="1" smtClean="0">
                <a:solidFill>
                  <a:srgbClr val="C00000"/>
                </a:solidFill>
                <a:latin typeface="Cambria" panose="02040503050406030204" pitchFamily="18" charset="0"/>
              </a:rPr>
              <a:t>:</a:t>
            </a:r>
            <a:r>
              <a:rPr lang="en-US" sz="2800" smtClean="0">
                <a:solidFill>
                  <a:srgbClr val="0070C0"/>
                </a:solidFill>
                <a:latin typeface="Cambria" panose="02040503050406030204" pitchFamily="18" charset="0"/>
              </a:rPr>
              <a:t> </a:t>
            </a:r>
            <a:r>
              <a:rPr lang="vi-VN" sz="2800" b="1">
                <a:solidFill>
                  <a:srgbClr val="0070C0"/>
                </a:solidFill>
                <a:latin typeface="Cambria" panose="02040503050406030204" pitchFamily="18" charset="0"/>
              </a:rPr>
              <a:t>Hình ảnh &amp; video</a:t>
            </a:r>
            <a:endParaRPr lang="en-US" sz="2800" b="1">
              <a:solidFill>
                <a:srgbClr val="0070C0"/>
              </a:solidFill>
              <a:latin typeface="Cambria" panose="02040503050406030204" pitchFamily="18" charset="0"/>
            </a:endParaRPr>
          </a:p>
        </p:txBody>
      </p:sp>
      <p:sp>
        <p:nvSpPr>
          <p:cNvPr id="7" name="Line 16"/>
          <p:cNvSpPr>
            <a:spLocks noChangeShapeType="1"/>
          </p:cNvSpPr>
          <p:nvPr/>
        </p:nvSpPr>
        <p:spPr bwMode="auto">
          <a:xfrm>
            <a:off x="250825" y="589398"/>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772442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Hình ảnh tĩnh có thể được biểu diễn bởi hàm hai chiều f(x,y), trong đó, x và y là tọa độ không gian phẳng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2 chiều)</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Xử lý ảnh số là  quá trình biến đổi ảnh số trên máy tính (PC</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Ảnh </a:t>
            </a:r>
            <a:r>
              <a:rPr lang="vi-VN" sz="2200" b="1" smtClean="0">
                <a:solidFill>
                  <a:srgbClr val="002060"/>
                </a:solidFill>
                <a:latin typeface="Cambria" panose="02040503050406030204" pitchFamily="18" charset="0"/>
              </a:rPr>
              <a:t>số </a:t>
            </a:r>
            <a:r>
              <a:rPr lang="vi-VN" sz="2200" b="1">
                <a:solidFill>
                  <a:srgbClr val="002060"/>
                </a:solidFill>
                <a:latin typeface="Cambria" panose="02040503050406030204" pitchFamily="18" charset="0"/>
              </a:rPr>
              <a:t>được tạo ra bởi một số hữu hạn các điểm ảnh, mỗi điểm ảnh nằm tại một vị trí nhất định và có 1 giá trị nhất định</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Một điểm ảnh trong một ảnh còn được gọi là một pixel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vi-VN" sz="2800" b="1">
                <a:solidFill>
                  <a:srgbClr val="002060"/>
                </a:solidFill>
                <a:latin typeface="Cambria" panose="02040503050406030204" pitchFamily="18" charset="0"/>
              </a:rPr>
              <a:t>3.1.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822481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Điểm </a:t>
            </a:r>
            <a:r>
              <a:rPr lang="vi-VN" sz="2200" b="1">
                <a:solidFill>
                  <a:srgbClr val="002060"/>
                </a:solidFill>
                <a:latin typeface="Cambria" panose="02040503050406030204" pitchFamily="18" charset="0"/>
              </a:rPr>
              <a:t>ảnh được xem như là dấu hiệu hay cường độ sáng tại 1 toạ độ trong không gian của đối tượng và ảnh được xem như là 1 tập hợp các điểm ảnh</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Mức </a:t>
            </a:r>
            <a:r>
              <a:rPr lang="en-US" sz="2200" b="1">
                <a:solidFill>
                  <a:srgbClr val="002060"/>
                </a:solidFill>
                <a:latin typeface="Cambria" panose="02040503050406030204" pitchFamily="18" charset="0"/>
              </a:rPr>
              <a:t>xám, màu: Là số các giá trị có thể có của các điểm ảnh của </a:t>
            </a:r>
            <a:r>
              <a:rPr lang="en-US" sz="2200" b="1" smtClean="0">
                <a:solidFill>
                  <a:srgbClr val="002060"/>
                </a:solidFill>
                <a:latin typeface="Cambria" panose="02040503050406030204" pitchFamily="18" charset="0"/>
              </a:rPr>
              <a:t>ảnh</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Hệ thống thị giác là </a:t>
            </a:r>
            <a:r>
              <a:rPr lang="vi-VN" sz="2200" b="1" smtClean="0">
                <a:solidFill>
                  <a:srgbClr val="002060"/>
                </a:solidFill>
                <a:latin typeface="Cambria" panose="02040503050406030204" pitchFamily="18" charset="0"/>
              </a:rPr>
              <a:t>cơ</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quan </a:t>
            </a:r>
            <a:r>
              <a:rPr lang="vi-VN" sz="2200" b="1">
                <a:solidFill>
                  <a:srgbClr val="002060"/>
                </a:solidFill>
                <a:latin typeface="Cambria" panose="02040503050406030204" pitchFamily="18" charset="0"/>
              </a:rPr>
              <a:t>cảm nhận hình ảnh quang học  tương  đối hoàn hảo,  cho phép con người cảm nhận được hình ảnh quang học trong thiên nhiên</a:t>
            </a:r>
            <a:endParaRPr lang="en-US"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vi-VN" sz="2800" b="1">
                <a:solidFill>
                  <a:srgbClr val="002060"/>
                </a:solidFill>
                <a:latin typeface="Cambria" panose="02040503050406030204" pitchFamily="18" charset="0"/>
              </a:rPr>
              <a:t>3.1.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574514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Có thể tạm phân biệt các hệ thống xử lý ảnh theo mức độ phức tạp của thuật toán xử lý như sau:</a:t>
            </a:r>
          </a:p>
          <a:p>
            <a:pPr marL="6286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Xử </a:t>
            </a:r>
            <a:r>
              <a:rPr lang="vi-VN" sz="2200" b="1">
                <a:solidFill>
                  <a:srgbClr val="002060"/>
                </a:solidFill>
                <a:latin typeface="Cambria" panose="02040503050406030204" pitchFamily="18" charset="0"/>
              </a:rPr>
              <a:t>lý ảnh mức </a:t>
            </a:r>
            <a:r>
              <a:rPr lang="vi-VN" sz="2200" b="1" smtClean="0">
                <a:solidFill>
                  <a:srgbClr val="002060"/>
                </a:solidFill>
                <a:latin typeface="Cambria" panose="02040503050406030204" pitchFamily="18" charset="0"/>
              </a:rPr>
              <a:t>thấp</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đó là các quá trình biến đổi đơn giản như thực hiện các bộ lọc nhằm khử nhiễu trong ảnh, tăng cường độ tương phản hay độ nét của ảnh</a:t>
            </a:r>
            <a:endParaRPr lang="en-US" sz="2200" b="1" smtClean="0">
              <a:solidFill>
                <a:srgbClr val="002060"/>
              </a:solidFill>
              <a:latin typeface="Cambria" panose="02040503050406030204" pitchFamily="18" charset="0"/>
            </a:endParaRPr>
          </a:p>
          <a:p>
            <a:pPr marL="6286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Xử </a:t>
            </a:r>
            <a:r>
              <a:rPr lang="vi-VN" sz="2200" b="1">
                <a:solidFill>
                  <a:srgbClr val="002060"/>
                </a:solidFill>
                <a:latin typeface="Cambria" panose="02040503050406030204" pitchFamily="18" charset="0"/>
              </a:rPr>
              <a:t>lý ảnh mức </a:t>
            </a:r>
            <a:r>
              <a:rPr lang="vi-VN" sz="2200" b="1" smtClean="0">
                <a:solidFill>
                  <a:srgbClr val="002060"/>
                </a:solidFill>
                <a:latin typeface="Cambria" panose="02040503050406030204" pitchFamily="18" charset="0"/>
              </a:rPr>
              <a:t>trung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thường </a:t>
            </a:r>
            <a:r>
              <a:rPr lang="vi-VN" sz="2200" b="1">
                <a:solidFill>
                  <a:srgbClr val="002060"/>
                </a:solidFill>
                <a:latin typeface="Cambria" panose="02040503050406030204" pitchFamily="18" charset="0"/>
              </a:rPr>
              <a:t>được sử dụng để </a:t>
            </a:r>
            <a:r>
              <a:rPr lang="vi-VN" sz="2200" b="1" smtClean="0">
                <a:solidFill>
                  <a:srgbClr val="002060"/>
                </a:solidFill>
                <a:latin typeface="Cambria" panose="02040503050406030204" pitchFamily="18" charset="0"/>
              </a:rPr>
              <a:t>phân </a:t>
            </a:r>
            <a:r>
              <a:rPr lang="vi-VN" sz="2200" b="1">
                <a:solidFill>
                  <a:srgbClr val="002060"/>
                </a:solidFill>
                <a:latin typeface="Cambria" panose="02040503050406030204" pitchFamily="18" charset="0"/>
              </a:rPr>
              <a:t>lớp, phân đọan ảnh, xác định và dự </a:t>
            </a:r>
            <a:r>
              <a:rPr lang="en-US" sz="2200" b="1" smtClean="0">
                <a:solidFill>
                  <a:srgbClr val="002060"/>
                </a:solidFill>
                <a:latin typeface="Cambria" panose="02040503050406030204" pitchFamily="18" charset="0"/>
              </a:rPr>
              <a:t>đoán</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biên ảnh, nén </a:t>
            </a:r>
            <a:r>
              <a:rPr lang="en-US" sz="2200" b="1">
                <a:solidFill>
                  <a:srgbClr val="002060"/>
                </a:solidFill>
                <a:latin typeface="Cambria" panose="02040503050406030204" pitchFamily="18" charset="0"/>
              </a:rPr>
              <a:t>ả</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để lưu trữ hoặc truyền phát. </a:t>
            </a:r>
            <a:endParaRPr lang="en-US" sz="2200" b="1" smtClean="0">
              <a:solidFill>
                <a:srgbClr val="002060"/>
              </a:solidFill>
              <a:latin typeface="Cambria" panose="02040503050406030204" pitchFamily="18" charset="0"/>
            </a:endParaRPr>
          </a:p>
          <a:p>
            <a:pPr marL="6286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Xử </a:t>
            </a:r>
            <a:r>
              <a:rPr lang="vi-VN" sz="2200" b="1">
                <a:solidFill>
                  <a:srgbClr val="002060"/>
                </a:solidFill>
                <a:latin typeface="Cambria" panose="02040503050406030204" pitchFamily="18" charset="0"/>
              </a:rPr>
              <a:t>lý ảnh mức </a:t>
            </a:r>
            <a:r>
              <a:rPr lang="vi-VN" sz="2200" b="1" smtClean="0">
                <a:solidFill>
                  <a:srgbClr val="002060"/>
                </a:solidFill>
                <a:latin typeface="Cambria" panose="02040503050406030204" pitchFamily="18" charset="0"/>
              </a:rPr>
              <a:t>cao</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là quá trình phân tích và nhận dạng </a:t>
            </a:r>
            <a:r>
              <a:rPr lang="vi-VN" sz="2200" b="1" smtClean="0">
                <a:solidFill>
                  <a:srgbClr val="002060"/>
                </a:solidFill>
                <a:latin typeface="Cambria" panose="02040503050406030204" pitchFamily="18" charset="0"/>
              </a:rPr>
              <a:t>h</a:t>
            </a:r>
            <a:r>
              <a:rPr lang="en-US" sz="2200" b="1" smtClean="0">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Đây cũng là quá trình xử lý được thực hiện trong hệ thống </a:t>
            </a:r>
            <a:r>
              <a:rPr lang="vi-VN" sz="2200" b="1" smtClean="0">
                <a:solidFill>
                  <a:srgbClr val="002060"/>
                </a:solidFill>
                <a:latin typeface="Cambria" panose="02040503050406030204" pitchFamily="18" charset="0"/>
              </a:rPr>
              <a:t>th</a:t>
            </a:r>
            <a:r>
              <a:rPr lang="en-US" sz="2200" b="1">
                <a:solidFill>
                  <a:srgbClr val="002060"/>
                </a:solidFill>
                <a:latin typeface="Cambria" panose="02040503050406030204" pitchFamily="18" charset="0"/>
              </a:rPr>
              <a:t>ị</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giác của con người.</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vi-VN" sz="2800" b="1">
                <a:solidFill>
                  <a:srgbClr val="002060"/>
                </a:solidFill>
                <a:latin typeface="Cambria" panose="02040503050406030204" pitchFamily="18" charset="0"/>
              </a:rPr>
              <a:t>3.1.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11541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Trong y </a:t>
            </a:r>
            <a:r>
              <a:rPr lang="vi-VN" sz="2200" b="1" smtClean="0">
                <a:solidFill>
                  <a:srgbClr val="002060"/>
                </a:solidFill>
                <a:latin typeface="Cambria" panose="02040503050406030204" pitchFamily="18" charset="0"/>
              </a:rPr>
              <a:t>học</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các thuật </a:t>
            </a:r>
            <a:r>
              <a:rPr lang="en-US" sz="2200" b="1" smtClean="0">
                <a:solidFill>
                  <a:srgbClr val="002060"/>
                </a:solidFill>
                <a:latin typeface="Cambria" panose="02040503050406030204" pitchFamily="18" charset="0"/>
              </a:rPr>
              <a:t>toán</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xử lý ảnh cho phép biến đổi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được tạo ra từ nguồn bức xạ X -ray hay nguồn bức xạ siêu âm thành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quang học trên bề mặt film x-quang hoặc trực tiếp trên bề mặt màn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hiển thị.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các cơ quan chức năng của con người sau đó có thể được xử lý tiếp để nâng cao độ tương phản, lọc, tách các thành phần cần thiết (chụp cắt lớp) hoặc tạo ra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trong không gian ba chiều (siêu âm 3 chiều).</a:t>
            </a:r>
            <a:endParaRPr lang="en-US" sz="2200" b="1" smtClean="0">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3.2. </a:t>
            </a:r>
            <a:r>
              <a:rPr lang="vi-VN" sz="2800" b="1" smtClean="0">
                <a:solidFill>
                  <a:srgbClr val="002060"/>
                </a:solidFill>
                <a:latin typeface="Cambria" panose="02040503050406030204" pitchFamily="18" charset="0"/>
              </a:rPr>
              <a:t>Lĩnh </a:t>
            </a:r>
            <a:r>
              <a:rPr lang="vi-VN" sz="2800" b="1">
                <a:solidFill>
                  <a:srgbClr val="002060"/>
                </a:solidFill>
                <a:latin typeface="Cambria" panose="02040503050406030204" pitchFamily="18" charset="0"/>
              </a:rPr>
              <a:t>vực ứng dụng kỹ thuật xử lý ảnh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403918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Trong </a:t>
            </a:r>
            <a:r>
              <a:rPr lang="vi-VN" sz="2200" b="1">
                <a:solidFill>
                  <a:srgbClr val="002060"/>
                </a:solidFill>
                <a:latin typeface="Cambria" panose="02040503050406030204" pitchFamily="18" charset="0"/>
              </a:rPr>
              <a:t>lĩnh vực địa chất, hình ảnh nhận được từ vệ tinh có thể được phân tích để xác định cấu trúc bề mặt trái đất. Kỹ thuật làm nổi đường biên (image enhancement) và khôi phục hình ảnh (image restoration) cho phép nâng cao chất lượng ảnh vệ tinh và tạo ra các bản đồ địa hình 3-D với độ chính xác cao.  </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Trong ngành khí tượng học, ảnh nhận được từ hệ thống vệ tinh theo dõi thời tiết cũng được xử lý, nâng cao chất lượng và ghép hình để tạo ra ảnh bề mặt trái đất trên một vùng rộng lớn, qua đó có thể thực hiện việc dự báo thời tiết một cách chính xác hơn.</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3.2. </a:t>
            </a:r>
            <a:r>
              <a:rPr lang="vi-VN" sz="2800" b="1" smtClean="0">
                <a:solidFill>
                  <a:srgbClr val="002060"/>
                </a:solidFill>
                <a:latin typeface="Cambria" panose="02040503050406030204" pitchFamily="18" charset="0"/>
              </a:rPr>
              <a:t>Lĩnh </a:t>
            </a:r>
            <a:r>
              <a:rPr lang="vi-VN" sz="2800" b="1">
                <a:solidFill>
                  <a:srgbClr val="002060"/>
                </a:solidFill>
                <a:latin typeface="Cambria" panose="02040503050406030204" pitchFamily="18" charset="0"/>
              </a:rPr>
              <a:t>vực ứng dụng kỹ thuật xử lý ảnh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837880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358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Xử lý ảnh còn được sử dụng nhiều trong các hệ thống quản lý chất lượng  và số lượng hàng hóa trong các dây truyền tự động, ví dụ như hệ thống phân tích ảnh để phát hiện bọt khí bên vật thể đúc bằng nhựa, phát hiện các linh kiện không đạt tiêu chuẩn (bị biến dạng) trong quá trình sản xuất hoặc hệ thống đếm sản phẩm thông qua hình ảnh nhận được từ camera quan sát</a:t>
            </a:r>
            <a:r>
              <a:rPr lang="vi-VN" sz="2200" b="1" smtClean="0">
                <a:solidFill>
                  <a:srgbClr val="002060"/>
                </a:solidFill>
                <a:latin typeface="Cambria" panose="02040503050406030204" pitchFamily="18" charset="0"/>
              </a:rPr>
              <a:t>.</a:t>
            </a: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3.2. </a:t>
            </a:r>
            <a:r>
              <a:rPr lang="vi-VN" sz="2800" b="1" smtClean="0">
                <a:solidFill>
                  <a:srgbClr val="002060"/>
                </a:solidFill>
                <a:latin typeface="Cambria" panose="02040503050406030204" pitchFamily="18" charset="0"/>
              </a:rPr>
              <a:t>Lĩnh </a:t>
            </a:r>
            <a:r>
              <a:rPr lang="vi-VN" sz="2800" b="1">
                <a:solidFill>
                  <a:srgbClr val="002060"/>
                </a:solidFill>
                <a:latin typeface="Cambria" panose="02040503050406030204" pitchFamily="18" charset="0"/>
              </a:rPr>
              <a:t>vực ứng dụng kỹ thuật xử lý ảnh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817330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Xử </a:t>
            </a:r>
            <a:r>
              <a:rPr lang="vi-VN" sz="2200" b="1">
                <a:solidFill>
                  <a:srgbClr val="002060"/>
                </a:solidFill>
                <a:latin typeface="Cambria" panose="02040503050406030204" pitchFamily="18" charset="0"/>
              </a:rPr>
              <a:t>lý ảnh còn được sử dụng rộng rãi trong lĩnh vực hình sự và các hệ thống bảo mật hoặc kiểm soát truy cập</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Ngoài ra, có thể kể đến các ứng dụng quan trọng khác của kỹ thuật xử lý ảnh tĩnh cũng như ảnh động trong đời sống như tự động nhận dạng, nhận dạng mục tiêu quân sự, máy nhìn công nghiệp trong các hệ thống điều khiển tự động, nén ảnh tĩnh, ảnh động để lưu và truyền trong mạng viễn thông v.v.</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3.2. </a:t>
            </a:r>
            <a:r>
              <a:rPr lang="vi-VN" sz="2800" b="1" smtClean="0">
                <a:solidFill>
                  <a:srgbClr val="002060"/>
                </a:solidFill>
                <a:latin typeface="Cambria" panose="02040503050406030204" pitchFamily="18" charset="0"/>
              </a:rPr>
              <a:t>Lĩnh </a:t>
            </a:r>
            <a:r>
              <a:rPr lang="vi-VN" sz="2800" b="1">
                <a:solidFill>
                  <a:srgbClr val="002060"/>
                </a:solidFill>
                <a:latin typeface="Cambria" panose="02040503050406030204" pitchFamily="18" charset="0"/>
              </a:rPr>
              <a:t>vực ứng dụng kỹ thuật xử lý ảnh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0646430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a:solidFill>
                  <a:srgbClr val="002060"/>
                </a:solidFill>
                <a:latin typeface="Cambria" panose="02040503050406030204" pitchFamily="18" charset="0"/>
              </a:rPr>
              <a:t>3.3.1. M</a:t>
            </a:r>
            <a:r>
              <a:rPr lang="en-US" sz="2200" b="1" smtClean="0">
                <a:solidFill>
                  <a:srgbClr val="002060"/>
                </a:solidFill>
                <a:latin typeface="Cambria" panose="02040503050406030204" pitchFamily="18" charset="0"/>
              </a:rPr>
              <a:t>àu sắc</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Màu sắc được sử dụng trong các ứng dụng đồ họa máy tính để giúp người dùng hiểu rõ về đối tượng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học</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màn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đồ họa sử dụng các Màu sắc chromatic. Chúng dựa </a:t>
            </a:r>
            <a:r>
              <a:rPr lang="vi-VN" sz="2200" b="1" smtClean="0">
                <a:solidFill>
                  <a:srgbClr val="002060"/>
                </a:solidFill>
                <a:latin typeface="Cambria" panose="02040503050406030204" pitchFamily="18" charset="0"/>
              </a:rPr>
              <a:t>trên lý thuyết về bộ </a:t>
            </a:r>
            <a:r>
              <a:rPr lang="vi-VN" sz="2200" b="1">
                <a:solidFill>
                  <a:srgbClr val="002060"/>
                </a:solidFill>
                <a:latin typeface="Cambria" panose="02040503050406030204" pitchFamily="18" charset="0"/>
              </a:rPr>
              <a:t>não người là </a:t>
            </a:r>
            <a:r>
              <a:rPr lang="vi-VN" sz="2200" b="1" smtClean="0">
                <a:solidFill>
                  <a:srgbClr val="002060"/>
                </a:solidFill>
                <a:latin typeface="Cambria" panose="02040503050406030204" pitchFamily="18" charset="0"/>
              </a:rPr>
              <a:t>Màu </a:t>
            </a:r>
            <a:r>
              <a:rPr lang="vi-VN" sz="2200" b="1">
                <a:solidFill>
                  <a:srgbClr val="002060"/>
                </a:solidFill>
                <a:latin typeface="Cambria" panose="02040503050406030204" pitchFamily="18" charset="0"/>
              </a:rPr>
              <a:t>sắc ánh sáng được tiếp nhận như </a:t>
            </a:r>
            <a:r>
              <a:rPr lang="vi-VN" sz="2200" b="1" smtClean="0">
                <a:solidFill>
                  <a:srgbClr val="002060"/>
                </a:solidFill>
                <a:latin typeface="Cambria" panose="02040503050406030204" pitchFamily="18" charset="0"/>
              </a:rPr>
              <a:t>sự </a:t>
            </a:r>
            <a:r>
              <a:rPr lang="vi-VN" sz="2200" b="1">
                <a:solidFill>
                  <a:srgbClr val="002060"/>
                </a:solidFill>
                <a:latin typeface="Cambria" panose="02040503050406030204" pitchFamily="18" charset="0"/>
              </a:rPr>
              <a:t>phối hợp từ 3 Màu là đỏ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red), xanh lá </a:t>
            </a:r>
            <a:r>
              <a:rPr lang="vi-VN" sz="2200" b="1" smtClean="0">
                <a:solidFill>
                  <a:srgbClr val="002060"/>
                </a:solidFill>
                <a:latin typeface="Cambria" panose="02040503050406030204" pitchFamily="18" charset="0"/>
              </a:rPr>
              <a:t>cây  </a:t>
            </a:r>
            <a:r>
              <a:rPr lang="vi-VN" sz="2200" b="1">
                <a:solidFill>
                  <a:srgbClr val="002060"/>
                </a:solidFill>
                <a:latin typeface="Cambria" panose="02040503050406030204" pitchFamily="18" charset="0"/>
              </a:rPr>
              <a:t>(green),  và  </a:t>
            </a:r>
            <a:r>
              <a:rPr lang="en-US" sz="2200" b="1" smtClean="0">
                <a:solidFill>
                  <a:srgbClr val="002060"/>
                </a:solidFill>
                <a:latin typeface="Cambria" panose="02040503050406030204" pitchFamily="18" charset="0"/>
              </a:rPr>
              <a:t>x</a:t>
            </a:r>
            <a:r>
              <a:rPr lang="vi-VN" sz="2200" b="1" smtClean="0">
                <a:solidFill>
                  <a:srgbClr val="002060"/>
                </a:solidFill>
                <a:latin typeface="Cambria" panose="02040503050406030204" pitchFamily="18" charset="0"/>
              </a:rPr>
              <a:t>anh </a:t>
            </a:r>
            <a:r>
              <a:rPr lang="vi-VN" sz="2200" b="1">
                <a:solidFill>
                  <a:srgbClr val="002060"/>
                </a:solidFill>
                <a:latin typeface="Cambria" panose="02040503050406030204" pitchFamily="18" charset="0"/>
              </a:rPr>
              <a:t>dương (blue</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Màu được mô tả  bằng 3 thuộc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là  Màu  sắc (hue), độ  bão  hòa (saturation), và  độ  sáng (brightness)</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a:solidFill>
                  <a:srgbClr val="002060"/>
                </a:solidFill>
                <a:latin typeface="Cambria" panose="02040503050406030204" pitchFamily="18" charset="0"/>
              </a:rPr>
              <a:t>3.3. Hệ màu</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422518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nSpc>
                <a:spcPct val="150000"/>
              </a:lnSpc>
            </a:pPr>
            <a:r>
              <a:rPr lang="en-US" sz="2400" b="1" smtClean="0">
                <a:solidFill>
                  <a:srgbClr val="002060"/>
                </a:solidFill>
                <a:latin typeface="Cambria" panose="02040503050406030204" pitchFamily="18" charset="0"/>
              </a:rPr>
              <a:t>3.3.2.</a:t>
            </a:r>
            <a:r>
              <a:rPr lang="en-US" sz="2400" b="1">
                <a:solidFill>
                  <a:srgbClr val="002060"/>
                </a:solidFill>
                <a:latin typeface="Cambria" panose="02040503050406030204" pitchFamily="18" charset="0"/>
              </a:rPr>
              <a:t>	Mô hình màu RGB</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200" b="1">
                <a:solidFill>
                  <a:srgbClr val="002060"/>
                </a:solidFill>
                <a:latin typeface="Cambria" panose="02040503050406030204" pitchFamily="18" charset="0"/>
              </a:rPr>
              <a:t>Mô </a:t>
            </a:r>
            <a:r>
              <a:rPr lang="en-US" sz="2200" b="1" smtClean="0">
                <a:solidFill>
                  <a:srgbClr val="002060"/>
                </a:solidFill>
                <a:latin typeface="Cambria" panose="02040503050406030204" pitchFamily="18" charset="0"/>
              </a:rPr>
              <a:t>hình </a:t>
            </a:r>
            <a:r>
              <a:rPr lang="en-US" sz="2200" b="1">
                <a:solidFill>
                  <a:srgbClr val="002060"/>
                </a:solidFill>
                <a:latin typeface="Cambria" panose="02040503050406030204" pitchFamily="18" charset="0"/>
              </a:rPr>
              <a:t>màu RGB mô tả màu sắc bằng 3 thành phần </a:t>
            </a:r>
            <a:r>
              <a:rPr lang="en-US" sz="2200" b="1" smtClean="0">
                <a:solidFill>
                  <a:srgbClr val="002060"/>
                </a:solidFill>
                <a:latin typeface="Cambria" panose="02040503050406030204" pitchFamily="18" charset="0"/>
              </a:rPr>
              <a:t>chính </a:t>
            </a:r>
            <a:r>
              <a:rPr lang="en-US" sz="2200" b="1">
                <a:solidFill>
                  <a:srgbClr val="002060"/>
                </a:solidFill>
                <a:latin typeface="Cambria" panose="02040503050406030204" pitchFamily="18" charset="0"/>
              </a:rPr>
              <a:t>là Red - Green và </a:t>
            </a:r>
            <a:r>
              <a:rPr lang="en-US" sz="2200" b="1" smtClean="0">
                <a:solidFill>
                  <a:srgbClr val="002060"/>
                </a:solidFill>
                <a:latin typeface="Cambria" panose="02040503050406030204" pitchFamily="18" charset="0"/>
              </a:rPr>
              <a:t>Blue</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Trong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lập </a:t>
            </a:r>
            <a:r>
              <a:rPr lang="vi-VN" sz="2200" b="1" smtClean="0">
                <a:solidFill>
                  <a:srgbClr val="002060"/>
                </a:solidFill>
                <a:latin typeface="Cambria" panose="02040503050406030204" pitchFamily="18" charset="0"/>
              </a:rPr>
              <a:t>phương, </a:t>
            </a:r>
            <a:r>
              <a:rPr lang="vi-VN" sz="2200" b="1">
                <a:solidFill>
                  <a:srgbClr val="002060"/>
                </a:solidFill>
                <a:latin typeface="Cambria" panose="02040503050406030204" pitchFamily="18" charset="0"/>
              </a:rPr>
              <a:t>mỗi màu gốc (R,G,B) có các gốc đối diện là các màu bù với </a:t>
            </a:r>
            <a:r>
              <a:rPr lang="vi-VN" sz="2200" b="1" smtClean="0">
                <a:solidFill>
                  <a:srgbClr val="002060"/>
                </a:solidFill>
                <a:latin typeface="Cambria" panose="02040503050406030204" pitchFamily="18" charset="0"/>
              </a:rPr>
              <a:t>nó</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àu </a:t>
            </a:r>
            <a:r>
              <a:rPr lang="vi-VN" sz="2200" b="1">
                <a:solidFill>
                  <a:srgbClr val="002060"/>
                </a:solidFill>
                <a:latin typeface="Cambria" panose="02040503050406030204" pitchFamily="18" charset="0"/>
              </a:rPr>
              <a:t>bù được tạo ra từ các màu gốc bằng cách trộn các màu cơ bản </a:t>
            </a:r>
            <a:r>
              <a:rPr lang="vi-VN" sz="2200" b="1" smtClean="0">
                <a:solidFill>
                  <a:srgbClr val="002060"/>
                </a:solidFill>
                <a:latin typeface="Cambria" panose="02040503050406030204" pitchFamily="18" charset="0"/>
              </a:rPr>
              <a:t>với nhau</a:t>
            </a:r>
            <a:endParaRPr lang="en-US" sz="2200" b="1" smtClean="0">
              <a:solidFill>
                <a:srgbClr val="002060"/>
              </a:solidFill>
              <a:latin typeface="Cambria" panose="02040503050406030204" pitchFamily="18" charset="0"/>
            </a:endParaRPr>
          </a:p>
          <a:p>
            <a:pPr algn="just">
              <a:lnSpc>
                <a:spcPct val="150000"/>
              </a:lnSpc>
            </a:pPr>
            <a:endParaRPr lang="vi-VN" sz="2200" b="1">
              <a:solidFill>
                <a:srgbClr val="002060"/>
              </a:solidFill>
              <a:latin typeface="Cambria" panose="02040503050406030204" pitchFamily="18" charset="0"/>
            </a:endParaRPr>
          </a:p>
        </p:txBody>
      </p:sp>
      <p:pic>
        <p:nvPicPr>
          <p:cNvPr id="9" name="image16.jpeg"/>
          <p:cNvPicPr/>
          <p:nvPr/>
        </p:nvPicPr>
        <p:blipFill>
          <a:blip r:embed="rId2" cstate="print"/>
          <a:stretch>
            <a:fillRect/>
          </a:stretch>
        </p:blipFill>
        <p:spPr>
          <a:xfrm>
            <a:off x="4910105" y="3689696"/>
            <a:ext cx="3872230" cy="225188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274" y="3689696"/>
            <a:ext cx="3186113" cy="3034772"/>
          </a:xfrm>
          <a:prstGeom prst="rect">
            <a:avLst/>
          </a:prstGeom>
        </p:spPr>
      </p:pic>
    </p:spTree>
    <p:extLst>
      <p:ext uri="{BB962C8B-B14F-4D97-AF65-F5344CB8AC3E}">
        <p14:creationId xmlns:p14="http://schemas.microsoft.com/office/powerpoint/2010/main" val="24126211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nSpc>
                <a:spcPct val="150000"/>
              </a:lnSpc>
            </a:pPr>
            <a:r>
              <a:rPr lang="en-US" sz="2400" b="1" smtClean="0">
                <a:solidFill>
                  <a:srgbClr val="002060"/>
                </a:solidFill>
                <a:latin typeface="Cambria" panose="02040503050406030204" pitchFamily="18" charset="0"/>
              </a:rPr>
              <a:t>3.3.2.</a:t>
            </a:r>
            <a:r>
              <a:rPr lang="en-US" sz="2400" b="1">
                <a:solidFill>
                  <a:srgbClr val="002060"/>
                </a:solidFill>
                <a:latin typeface="Cambria" panose="02040503050406030204" pitchFamily="18" charset="0"/>
              </a:rPr>
              <a:t>	Mô hình màu RGB</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Hệ màu RGB (Red - Green - Blue) ra đời đầu tiên dựa trên sự pha trộn từ 3 nguồn ánh sáng cơ bản là Red (đỏ cờ), Green </a:t>
            </a:r>
            <a:r>
              <a:rPr lang="vi-VN" sz="2200" b="1" smtClean="0">
                <a:solidFill>
                  <a:srgbClr val="002060"/>
                </a:solidFill>
                <a:latin typeface="Cambria" panose="02040503050406030204" pitchFamily="18" charset="0"/>
              </a:rPr>
              <a:t>(xanh </a:t>
            </a:r>
            <a:r>
              <a:rPr lang="vi-VN" sz="2200" b="1">
                <a:solidFill>
                  <a:srgbClr val="002060"/>
                </a:solidFill>
                <a:latin typeface="Cambria" panose="02040503050406030204" pitchFamily="18" charset="0"/>
              </a:rPr>
              <a:t>lá), và Blue </a:t>
            </a:r>
            <a:r>
              <a:rPr lang="vi-VN" sz="2200" b="1" smtClean="0">
                <a:solidFill>
                  <a:srgbClr val="002060"/>
                </a:solidFill>
                <a:latin typeface="Cambria" panose="02040503050406030204" pitchFamily="18" charset="0"/>
              </a:rPr>
              <a:t>(xanh </a:t>
            </a:r>
            <a:r>
              <a:rPr lang="vi-VN" sz="2200" b="1">
                <a:solidFill>
                  <a:srgbClr val="002060"/>
                </a:solidFill>
                <a:latin typeface="Cambria" panose="02040503050406030204" pitchFamily="18" charset="0"/>
              </a:rPr>
              <a:t>dương) để tạo nên tất cả các màu còn lại, ngoại trừ màu đen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àu </a:t>
            </a:r>
            <a:r>
              <a:rPr lang="vi-VN" sz="2200" b="1">
                <a:solidFill>
                  <a:srgbClr val="002060"/>
                </a:solidFill>
                <a:latin typeface="Cambria" panose="02040503050406030204" pitchFamily="18" charset="0"/>
              </a:rPr>
              <a:t>đen: </a:t>
            </a:r>
            <a:r>
              <a:rPr lang="vi-VN" sz="2200" b="1" smtClean="0">
                <a:solidFill>
                  <a:srgbClr val="002060"/>
                </a:solidFill>
                <a:latin typeface="Cambria" panose="02040503050406030204" pitchFamily="18" charset="0"/>
              </a:rPr>
              <a:t>là </a:t>
            </a:r>
            <a:r>
              <a:rPr lang="vi-VN" sz="2200" b="1">
                <a:solidFill>
                  <a:srgbClr val="002060"/>
                </a:solidFill>
                <a:latin typeface="Cambria" panose="02040503050406030204" pitchFamily="18" charset="0"/>
              </a:rPr>
              <a:t>"không màu", lúc cả 3 nguồn sáng đều tắt (lúc màn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tối thui</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Màu </a:t>
            </a:r>
            <a:r>
              <a:rPr lang="vi-VN" sz="2200" b="1">
                <a:solidFill>
                  <a:srgbClr val="002060"/>
                </a:solidFill>
                <a:latin typeface="Cambria" panose="02040503050406030204" pitchFamily="18" charset="0"/>
              </a:rPr>
              <a:t>trắng xuất hiện khi cả 3 nguồn sáng trên chiếu sáng ở cường độ tối </a:t>
            </a:r>
            <a:r>
              <a:rPr lang="vi-VN" sz="2200" b="1" smtClean="0">
                <a:solidFill>
                  <a:srgbClr val="002060"/>
                </a:solidFill>
                <a:latin typeface="Cambria" panose="02040503050406030204" pitchFamily="18" charset="0"/>
              </a:rPr>
              <a:t>đa</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àu </a:t>
            </a:r>
            <a:r>
              <a:rPr lang="vi-VN" sz="2200" b="1">
                <a:solidFill>
                  <a:srgbClr val="002060"/>
                </a:solidFill>
                <a:latin typeface="Cambria" panose="02040503050406030204" pitchFamily="18" charset="0"/>
              </a:rPr>
              <a:t>xám là do pha trộn 3 nguồn có cường độ chiếu sáng bằng nhau.</a:t>
            </a:r>
          </a:p>
        </p:txBody>
      </p:sp>
    </p:spTree>
    <p:extLst>
      <p:ext uri="{BB962C8B-B14F-4D97-AF65-F5344CB8AC3E}">
        <p14:creationId xmlns:p14="http://schemas.microsoft.com/office/powerpoint/2010/main" val="10740749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nSpc>
                <a:spcPct val="150000"/>
              </a:lnSpc>
            </a:pPr>
            <a:r>
              <a:rPr lang="en-US" sz="2400" b="1" smtClean="0">
                <a:solidFill>
                  <a:srgbClr val="002060"/>
                </a:solidFill>
                <a:latin typeface="Cambria" panose="02040503050406030204" pitchFamily="18" charset="0"/>
              </a:rPr>
              <a:t>3.3.2.</a:t>
            </a:r>
            <a:r>
              <a:rPr lang="en-US" sz="2400" b="1">
                <a:solidFill>
                  <a:srgbClr val="002060"/>
                </a:solidFill>
                <a:latin typeface="Cambria" panose="02040503050406030204" pitchFamily="18" charset="0"/>
              </a:rPr>
              <a:t>	Mô hình màu RGB</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màu khác là do sự hòa trộn 3 màu trên với tỉ lệ khác nhau theo qui tắc màu cộng (additive primaries) - cộng thêm màu từ màu đen ban đầu, là màu lúc màn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"cúp điện", tối thui.. với thang màu từ 0 đến </a:t>
            </a:r>
            <a:r>
              <a:rPr lang="vi-VN" sz="2200" b="1" smtClean="0">
                <a:solidFill>
                  <a:srgbClr val="002060"/>
                </a:solidFill>
                <a:latin typeface="Cambria" panose="02040503050406030204" pitchFamily="18" charset="0"/>
              </a:rPr>
              <a:t>255</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RGB là hệ màu phổ biến cho các máy hiển thị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bằng đèn phóng như màn hính vi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nh</a:t>
            </a:r>
            <a:r>
              <a:rPr lang="vi-VN" sz="2200" b="1">
                <a:solidFill>
                  <a:srgbClr val="002060"/>
                </a:solidFill>
                <a:latin typeface="Cambria" panose="02040503050406030204" pitchFamily="18" charset="0"/>
              </a:rPr>
              <a:t>, tivi màu, máy chiếu phim...</a:t>
            </a:r>
          </a:p>
        </p:txBody>
      </p:sp>
      <p:pic>
        <p:nvPicPr>
          <p:cNvPr id="7" name="image17.jpeg"/>
          <p:cNvPicPr/>
          <p:nvPr/>
        </p:nvPicPr>
        <p:blipFill>
          <a:blip r:embed="rId2" cstate="print"/>
          <a:stretch>
            <a:fillRect/>
          </a:stretch>
        </p:blipFill>
        <p:spPr>
          <a:xfrm>
            <a:off x="4829175" y="3800606"/>
            <a:ext cx="3469698" cy="2614049"/>
          </a:xfrm>
          <a:prstGeom prst="rect">
            <a:avLst/>
          </a:prstGeom>
        </p:spPr>
      </p:pic>
    </p:spTree>
    <p:extLst>
      <p:ext uri="{BB962C8B-B14F-4D97-AF65-F5344CB8AC3E}">
        <p14:creationId xmlns:p14="http://schemas.microsoft.com/office/powerpoint/2010/main" val="10312465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46331"/>
          </a:xfrm>
          <a:prstGeom prst="rect">
            <a:avLst/>
          </a:prstGeom>
          <a:noFill/>
        </p:spPr>
        <p:txBody>
          <a:bodyPr wrap="square" lIns="91440" tIns="45720" rIns="91440" bIns="45720">
            <a:spAutoFit/>
          </a:bodyPr>
          <a:lstStyle/>
          <a:p>
            <a:pPr>
              <a:lnSpc>
                <a:spcPct val="150000"/>
              </a:lnSpc>
            </a:pPr>
            <a:r>
              <a:rPr lang="en-US" sz="2400" b="1" smtClean="0">
                <a:solidFill>
                  <a:srgbClr val="002060"/>
                </a:solidFill>
                <a:latin typeface="Cambria" panose="02040503050406030204" pitchFamily="18" charset="0"/>
              </a:rPr>
              <a:t>3.3.3. Mô </a:t>
            </a:r>
            <a:r>
              <a:rPr lang="en-US" sz="2400" b="1">
                <a:solidFill>
                  <a:srgbClr val="002060"/>
                </a:solidFill>
                <a:latin typeface="Cambria" panose="02040503050406030204" pitchFamily="18" charset="0"/>
              </a:rPr>
              <a:t>hình màu CMYK</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Tương tự như mô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màu RGB nhưng 3 thành phần </a:t>
            </a:r>
            <a:r>
              <a:rPr lang="vi-VN" sz="2200" b="1" smtClean="0">
                <a:solidFill>
                  <a:srgbClr val="002060"/>
                </a:solidFill>
                <a:latin typeface="Cambria" panose="02040503050406030204" pitchFamily="18" charset="0"/>
              </a:rPr>
              <a:t>ch</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là Cyan - Magenta </a:t>
            </a:r>
            <a:r>
              <a:rPr lang="vi-VN" sz="2200" b="1" smtClean="0">
                <a:solidFill>
                  <a:srgbClr val="002060"/>
                </a:solidFill>
                <a:latin typeface="Cambria" panose="02040503050406030204" pitchFamily="18" charset="0"/>
              </a:rPr>
              <a:t>– Yellow</a:t>
            </a:r>
            <a:r>
              <a:rPr lang="en-US" sz="2200" b="1" smtClean="0">
                <a:solidFill>
                  <a:srgbClr val="002060"/>
                </a:solidFill>
                <a:latin typeface="Cambria" panose="02040503050406030204" pitchFamily="18" charset="0"/>
              </a:rPr>
              <a:t>. </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3 </a:t>
            </a:r>
            <a:r>
              <a:rPr lang="vi-VN" sz="2200" b="1">
                <a:solidFill>
                  <a:srgbClr val="002060"/>
                </a:solidFill>
                <a:latin typeface="Cambria" panose="02040503050406030204" pitchFamily="18" charset="0"/>
              </a:rPr>
              <a:t>màu này là 3 màu đối nghịch với 3 màu cơ bản RGB, được pha trộn theo qui tắc màu trừ, sự thêm vào các màu này giống như là quá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trừ bớt màu RGB từ màu trắng ban đầu (là màu lúc tờ giấy chưa in, còn mới, trắng tinh) thang màu từ 0 đến 100%.</a:t>
            </a:r>
          </a:p>
        </p:txBody>
      </p:sp>
      <p:pic>
        <p:nvPicPr>
          <p:cNvPr id="9" name="image18.jpeg"/>
          <p:cNvPicPr/>
          <p:nvPr/>
        </p:nvPicPr>
        <p:blipFill>
          <a:blip r:embed="rId2" cstate="print"/>
          <a:stretch>
            <a:fillRect/>
          </a:stretch>
        </p:blipFill>
        <p:spPr>
          <a:xfrm>
            <a:off x="6356342" y="4272575"/>
            <a:ext cx="2133600" cy="1790700"/>
          </a:xfrm>
          <a:prstGeom prst="rect">
            <a:avLst/>
          </a:prstGeom>
        </p:spPr>
      </p:pic>
    </p:spTree>
    <p:extLst>
      <p:ext uri="{BB962C8B-B14F-4D97-AF65-F5344CB8AC3E}">
        <p14:creationId xmlns:p14="http://schemas.microsoft.com/office/powerpoint/2010/main" val="32113552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46331"/>
          </a:xfrm>
          <a:prstGeom prst="rect">
            <a:avLst/>
          </a:prstGeom>
          <a:noFill/>
        </p:spPr>
        <p:txBody>
          <a:bodyPr wrap="square" lIns="91440" tIns="45720" rIns="91440" bIns="45720">
            <a:spAutoFit/>
          </a:bodyPr>
          <a:lstStyle/>
          <a:p>
            <a:pPr>
              <a:lnSpc>
                <a:spcPct val="150000"/>
              </a:lnSpc>
            </a:pPr>
            <a:r>
              <a:rPr lang="en-US" sz="2400" b="1" smtClean="0">
                <a:solidFill>
                  <a:srgbClr val="002060"/>
                </a:solidFill>
                <a:latin typeface="Cambria" panose="02040503050406030204" pitchFamily="18" charset="0"/>
              </a:rPr>
              <a:t>3.3.4</a:t>
            </a:r>
            <a:r>
              <a:rPr lang="en-US" sz="2400" b="1">
                <a:solidFill>
                  <a:srgbClr val="002060"/>
                </a:solidFill>
                <a:latin typeface="Cambria" panose="02040503050406030204" pitchFamily="18" charset="0"/>
              </a:rPr>
              <a:t>.	Mô hình màu HSV</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ô 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này là sự biến đổi của mô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RGB</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HSV được mô tả bằng lệnh lập phương RGB quay trên đỉnh Black. </a:t>
            </a:r>
            <a:r>
              <a:rPr lang="vi-VN" sz="2200" b="1" smtClean="0">
                <a:solidFill>
                  <a:srgbClr val="002060"/>
                </a:solidFill>
                <a:latin typeface="Cambria" panose="02040503050406030204" pitchFamily="18" charset="0"/>
              </a:rPr>
              <a:t>H(Hue</a:t>
            </a:r>
            <a:r>
              <a:rPr lang="vi-VN" sz="2200" b="1">
                <a:solidFill>
                  <a:srgbClr val="002060"/>
                </a:solidFill>
                <a:latin typeface="Cambria" panose="02040503050406030204" pitchFamily="18" charset="0"/>
              </a:rPr>
              <a:t>) là góc quay trục </a:t>
            </a:r>
            <a:r>
              <a:rPr lang="vi-VN" sz="2200" b="1" smtClean="0">
                <a:solidFill>
                  <a:srgbClr val="002060"/>
                </a:solidFill>
                <a:latin typeface="Cambria" panose="02040503050406030204" pitchFamily="18" charset="0"/>
              </a:rPr>
              <a:t>V(value</a:t>
            </a:r>
            <a:r>
              <a:rPr lang="vi-VN" sz="2200" b="1">
                <a:solidFill>
                  <a:srgbClr val="002060"/>
                </a:solidFill>
                <a:latin typeface="Cambria" panose="02040503050406030204" pitchFamily="18" charset="0"/>
              </a:rPr>
              <a:t>) qua 2 đỉnh Black và  White.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giá trị  biến </a:t>
            </a:r>
            <a:r>
              <a:rPr lang="vi-VN" sz="2200" b="1" smtClean="0">
                <a:solidFill>
                  <a:srgbClr val="002060"/>
                </a:solidFill>
                <a:latin typeface="Cambria" panose="02040503050406030204" pitchFamily="18" charset="0"/>
              </a:rPr>
              <a:t>thi</a:t>
            </a:r>
            <a:r>
              <a:rPr lang="en-US" sz="2200" b="1">
                <a:solidFill>
                  <a:srgbClr val="002060"/>
                </a:solidFill>
                <a:latin typeface="Cambria" panose="02040503050406030204" pitchFamily="18" charset="0"/>
              </a:rPr>
              <a:t>ê</a:t>
            </a:r>
            <a:r>
              <a:rPr lang="vi-VN" sz="2200" b="1" smtClean="0">
                <a:solidFill>
                  <a:srgbClr val="002060"/>
                </a:solidFill>
                <a:latin typeface="Cambria" panose="02040503050406030204" pitchFamily="18" charset="0"/>
              </a:rPr>
              <a:t>n </a:t>
            </a:r>
            <a:r>
              <a:rPr lang="vi-VN" sz="2200" b="1">
                <a:solidFill>
                  <a:srgbClr val="002060"/>
                </a:solidFill>
                <a:latin typeface="Cambria" panose="02040503050406030204" pitchFamily="18" charset="0"/>
              </a:rPr>
              <a:t>của H, S, V như sau: (Hue) </a:t>
            </a:r>
            <a:r>
              <a:rPr lang="vi-VN" sz="2200" b="1" smtClean="0">
                <a:solidFill>
                  <a:srgbClr val="002060"/>
                </a:solidFill>
                <a:latin typeface="Cambria" panose="02040503050406030204" pitchFamily="18" charset="0"/>
              </a:rPr>
              <a:t>chỉ </a:t>
            </a:r>
            <a:r>
              <a:rPr lang="vi-VN" sz="2200" b="1">
                <a:solidFill>
                  <a:srgbClr val="002060"/>
                </a:solidFill>
                <a:latin typeface="Cambria" panose="02040503050406030204" pitchFamily="18" charset="0"/>
              </a:rPr>
              <a:t>sắc thái có giá trị từ 00 </a:t>
            </a:r>
            <a:r>
              <a:rPr lang="vi-VN" sz="2200" b="1" smtClean="0">
                <a:solidFill>
                  <a:srgbClr val="002060"/>
                </a:solidFill>
                <a:latin typeface="Cambria" panose="02040503050406030204" pitchFamily="18" charset="0"/>
              </a:rPr>
              <a:t>- 3600 </a:t>
            </a:r>
            <a:r>
              <a:rPr lang="vi-VN" sz="2200" b="1">
                <a:solidFill>
                  <a:srgbClr val="002060"/>
                </a:solidFill>
                <a:latin typeface="Cambria" panose="02040503050406030204" pitchFamily="18" charset="0"/>
              </a:rPr>
              <a:t>. S (Saturation) chỉ  độ bão </a:t>
            </a:r>
            <a:r>
              <a:rPr lang="vi-VN" sz="2200" b="1" smtClean="0">
                <a:solidFill>
                  <a:srgbClr val="002060"/>
                </a:solidFill>
                <a:latin typeface="Cambria" panose="02040503050406030204" pitchFamily="18" charset="0"/>
              </a:rPr>
              <a:t>h</a:t>
            </a:r>
            <a:r>
              <a:rPr lang="en-US" sz="2200" b="1" smtClean="0">
                <a:solidFill>
                  <a:srgbClr val="002060"/>
                </a:solidFill>
                <a:latin typeface="Cambria" panose="02040503050406030204" pitchFamily="18" charset="0"/>
              </a:rPr>
              <a:t>òa</a:t>
            </a:r>
            <a:r>
              <a:rPr lang="vi-VN" sz="2200" b="1" smtClean="0">
                <a:solidFill>
                  <a:srgbClr val="002060"/>
                </a:solidFill>
                <a:latin typeface="Cambria" panose="02040503050406030204" pitchFamily="18" charset="0"/>
              </a:rPr>
              <a:t>. V(Value</a:t>
            </a:r>
            <a:r>
              <a:rPr lang="vi-VN" sz="2200" b="1">
                <a:solidFill>
                  <a:srgbClr val="002060"/>
                </a:solidFill>
                <a:latin typeface="Cambria" panose="02040503050406030204" pitchFamily="18" charset="0"/>
              </a:rPr>
              <a:t>) có giá trị  từ 0 - 1. Các Màu đạt giá trị bão hòa khi s = 1 và v = 1.</a:t>
            </a:r>
          </a:p>
        </p:txBody>
      </p:sp>
    </p:spTree>
    <p:extLst>
      <p:ext uri="{BB962C8B-B14F-4D97-AF65-F5344CB8AC3E}">
        <p14:creationId xmlns:p14="http://schemas.microsoft.com/office/powerpoint/2010/main" val="40830603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400" b="1">
                <a:solidFill>
                  <a:srgbClr val="002060"/>
                </a:solidFill>
                <a:latin typeface="Cambria" panose="02040503050406030204" pitchFamily="18" charset="0"/>
              </a:rPr>
              <a:t>Tại sao phải nén tín hiệu?</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Ảnh được sủ dụng mọi lúc, mọi nơi</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Hạn chế về không gian lưu trữ và tốc độ đường truyền</a:t>
            </a:r>
          </a:p>
          <a:p>
            <a:pPr marL="342900" indent="-342900" algn="just">
              <a:lnSpc>
                <a:spcPct val="150000"/>
              </a:lnSpc>
              <a:buFont typeface="Wingdings" panose="05000000000000000000" pitchFamily="2" charset="2"/>
              <a:buChar char="v"/>
            </a:pPr>
            <a:r>
              <a:rPr lang="vi-VN" sz="2400" b="1">
                <a:solidFill>
                  <a:srgbClr val="002060"/>
                </a:solidFill>
                <a:latin typeface="Cambria" panose="02040503050406030204" pitchFamily="18" charset="0"/>
              </a:rPr>
              <a:t>Lý do phải xử lý ảnh</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Ảnh có thể bị lỗi trong quá trình thu ảnh, truyền dẫn và hiển thị (hồi phục, nâng cao chất lượng ảnh, nội suy) </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Ảnh có thể mang các nội dung nhạy cảm (vd, chống lại copy không hợp pháp, giả mạo và lừa đảo) </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Tạo các bức ảnh có hiệu ứng nghệ thuật</a:t>
            </a:r>
          </a:p>
          <a:p>
            <a:pPr marL="342900" indent="-342900" algn="just">
              <a:lnSpc>
                <a:spcPct val="150000"/>
              </a:lnSpc>
              <a:buFont typeface="Wingdings" panose="05000000000000000000" pitchFamily="2" charset="2"/>
              <a:buChar char="v"/>
            </a:pPr>
            <a:r>
              <a:rPr lang="vi-VN" sz="2400" b="1">
                <a:solidFill>
                  <a:srgbClr val="002060"/>
                </a:solidFill>
                <a:latin typeface="Cambria" panose="02040503050406030204" pitchFamily="18" charset="0"/>
              </a:rPr>
              <a:t>Lý do phải phân tích ảnh</a:t>
            </a:r>
          </a:p>
          <a:p>
            <a:pPr marL="631825" indent="-282575"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Dạy máy tính có khả năng “nhìn” được (nhận dạng)</a:t>
            </a:r>
          </a:p>
          <a:p>
            <a:pPr marL="512763" indent="-277813" algn="just">
              <a:lnSpc>
                <a:spcPct val="150000"/>
              </a:lnSpc>
              <a:buFont typeface="Cambria" panose="02040503050406030204" pitchFamily="18" charset="0"/>
              <a:buChar char="⁺"/>
            </a:pPr>
            <a:endParaRPr lang="vi-VN" sz="2400" b="1">
              <a:solidFill>
                <a:srgbClr val="002060"/>
              </a:solidFill>
              <a:latin typeface="Cambria" panose="02040503050406030204" pitchFamily="18" charset="0"/>
            </a:endParaRPr>
          </a:p>
        </p:txBody>
      </p:sp>
    </p:spTree>
    <p:extLst>
      <p:ext uri="{BB962C8B-B14F-4D97-AF65-F5344CB8AC3E}">
        <p14:creationId xmlns:p14="http://schemas.microsoft.com/office/powerpoint/2010/main" val="10327283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234950" algn="just">
              <a:lnSpc>
                <a:spcPct val="150000"/>
              </a:lnSpc>
            </a:pPr>
            <a:r>
              <a:rPr lang="vi-VN" sz="2400" b="1">
                <a:solidFill>
                  <a:srgbClr val="002060"/>
                </a:solidFill>
                <a:latin typeface="Cambria" panose="02040503050406030204" pitchFamily="18" charset="0"/>
              </a:rPr>
              <a:t>Các giai đoạn chính trong hệ </a:t>
            </a:r>
            <a:r>
              <a:rPr lang="vi-VN" sz="2400" b="1" smtClean="0">
                <a:solidFill>
                  <a:srgbClr val="002060"/>
                </a:solidFill>
                <a:latin typeface="Cambria" panose="02040503050406030204" pitchFamily="18" charset="0"/>
              </a:rPr>
              <a:t>thống</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xử</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lý </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ảnh </a:t>
            </a:r>
            <a:endParaRPr lang="vi-VN" sz="2400" b="1">
              <a:solidFill>
                <a:srgbClr val="002060"/>
              </a:solidFill>
              <a:latin typeface="Cambria" panose="02040503050406030204" pitchFamily="18" charset="0"/>
            </a:endParaRPr>
          </a:p>
        </p:txBody>
      </p:sp>
      <p:pic>
        <p:nvPicPr>
          <p:cNvPr id="9" name="image12.jpeg"/>
          <p:cNvPicPr/>
          <p:nvPr/>
        </p:nvPicPr>
        <p:blipFill>
          <a:blip r:embed="rId2" cstate="print"/>
          <a:stretch>
            <a:fillRect/>
          </a:stretch>
        </p:blipFill>
        <p:spPr>
          <a:xfrm>
            <a:off x="94400" y="1307616"/>
            <a:ext cx="7653062" cy="4827177"/>
          </a:xfrm>
          <a:prstGeom prst="rect">
            <a:avLst/>
          </a:prstGeom>
        </p:spPr>
      </p:pic>
    </p:spTree>
    <p:extLst>
      <p:ext uri="{BB962C8B-B14F-4D97-AF65-F5344CB8AC3E}">
        <p14:creationId xmlns:p14="http://schemas.microsoft.com/office/powerpoint/2010/main" val="22438649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Thu </a:t>
            </a:r>
            <a:r>
              <a:rPr lang="vi-VN" sz="2400" b="1">
                <a:solidFill>
                  <a:srgbClr val="002060"/>
                </a:solidFill>
                <a:latin typeface="Cambria" panose="02040503050406030204" pitchFamily="18" charset="0"/>
              </a:rPr>
              <a:t>nhận ảnh: là giai đoạn đầu tiên và quan trọng </a:t>
            </a:r>
            <a:r>
              <a:rPr lang="vi-VN" sz="2400" b="1" smtClean="0">
                <a:solidFill>
                  <a:srgbClr val="002060"/>
                </a:solidFill>
                <a:latin typeface="Cambria" panose="02040503050406030204" pitchFamily="18" charset="0"/>
              </a:rPr>
              <a:t>nhất</a:t>
            </a:r>
            <a:r>
              <a:rPr lang="en-US" sz="2400" b="1" smtClean="0">
                <a:solidFill>
                  <a:srgbClr val="002060"/>
                </a:solidFill>
                <a:latin typeface="Cambria" panose="02040503050406030204" pitchFamily="18" charset="0"/>
              </a:rPr>
              <a:t>.</a:t>
            </a:r>
            <a:r>
              <a:rPr lang="vi-VN"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Ảnh nhận được tại đây chình là ảnh </a:t>
            </a:r>
            <a:r>
              <a:rPr lang="vi-VN" sz="2400" b="1" smtClean="0">
                <a:solidFill>
                  <a:srgbClr val="002060"/>
                </a:solidFill>
                <a:latin typeface="Cambria" panose="02040503050406030204" pitchFamily="18" charset="0"/>
              </a:rPr>
              <a:t>gốc</a:t>
            </a:r>
            <a:endParaRPr lang="en-US" sz="2400" b="1" smtClean="0">
              <a:solidFill>
                <a:srgbClr val="002060"/>
              </a:solidFill>
              <a:latin typeface="Cambria" panose="02040503050406030204" pitchFamily="18" charset="0"/>
            </a:endParaRPr>
          </a:p>
          <a:p>
            <a:pPr marL="747713" indent="-282575" algn="just">
              <a:lnSpc>
                <a:spcPct val="150000"/>
              </a:lnSpc>
              <a:buFont typeface="Cambria" panose="02040503050406030204" pitchFamily="18" charset="0"/>
              <a:buChar char="⁺"/>
            </a:pPr>
            <a:r>
              <a:rPr lang="vi-VN" sz="2400" b="1">
                <a:solidFill>
                  <a:srgbClr val="002060"/>
                </a:solidFill>
                <a:latin typeface="Cambria" panose="02040503050406030204" pitchFamily="18" charset="0"/>
              </a:rPr>
              <a:t>Qua các camera (tương tự, số</a:t>
            </a:r>
            <a:r>
              <a:rPr lang="vi-VN" sz="2400" b="1" smtClean="0">
                <a:solidFill>
                  <a:srgbClr val="002060"/>
                </a:solidFill>
                <a:latin typeface="Cambria" panose="02040503050406030204" pitchFamily="18" charset="0"/>
              </a:rPr>
              <a:t>).</a:t>
            </a:r>
            <a:endParaRPr lang="en-US" sz="2400" b="1" smtClean="0">
              <a:solidFill>
                <a:srgbClr val="002060"/>
              </a:solidFill>
              <a:latin typeface="Cambria" panose="02040503050406030204" pitchFamily="18" charset="0"/>
            </a:endParaRPr>
          </a:p>
          <a:p>
            <a:pPr marL="747713" indent="-282575"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rPr>
              <a:t>Từ </a:t>
            </a:r>
            <a:r>
              <a:rPr lang="vi-VN" sz="2400" b="1">
                <a:solidFill>
                  <a:srgbClr val="002060"/>
                </a:solidFill>
                <a:latin typeface="Cambria" panose="02040503050406030204" pitchFamily="18" charset="0"/>
              </a:rPr>
              <a:t>vệ tinh qua các bộ cảm ứng (Sensors).</a:t>
            </a:r>
          </a:p>
          <a:p>
            <a:pPr marL="747713" indent="-282575"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rPr>
              <a:t>Qua </a:t>
            </a:r>
            <a:r>
              <a:rPr lang="vi-VN" sz="2400" b="1">
                <a:solidFill>
                  <a:srgbClr val="002060"/>
                </a:solidFill>
                <a:latin typeface="Cambria" panose="02040503050406030204" pitchFamily="18" charset="0"/>
              </a:rPr>
              <a:t>các máy quét ảnh (Scaners).</a:t>
            </a:r>
          </a:p>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Tiền </a:t>
            </a:r>
            <a:r>
              <a:rPr lang="vi-VN" sz="2400" b="1">
                <a:solidFill>
                  <a:srgbClr val="002060"/>
                </a:solidFill>
                <a:latin typeface="Cambria" panose="02040503050406030204" pitchFamily="18" charset="0"/>
              </a:rPr>
              <a:t>xử lý </a:t>
            </a:r>
            <a:r>
              <a:rPr lang="vi-VN" sz="2400" b="1" smtClean="0">
                <a:solidFill>
                  <a:srgbClr val="002060"/>
                </a:solidFill>
                <a:latin typeface="Cambria" panose="02040503050406030204" pitchFamily="18" charset="0"/>
              </a:rPr>
              <a:t>ảnh</a:t>
            </a:r>
            <a:r>
              <a:rPr lang="en-US"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giai đoạn xử lý tương đối đơn giản nhằm nâng cao chất lượng ảnh để trợ giúp cho các quá </a:t>
            </a:r>
            <a:r>
              <a:rPr lang="vi-VN" sz="2400" b="1" smtClean="0">
                <a:solidFill>
                  <a:srgbClr val="002060"/>
                </a:solidFill>
                <a:latin typeface="Cambria" panose="02040503050406030204" pitchFamily="18" charset="0"/>
              </a:rPr>
              <a:t>trình </a:t>
            </a:r>
            <a:r>
              <a:rPr lang="vi-VN" sz="2400" b="1">
                <a:solidFill>
                  <a:srgbClr val="002060"/>
                </a:solidFill>
                <a:latin typeface="Cambria" panose="02040503050406030204" pitchFamily="18" charset="0"/>
              </a:rPr>
              <a:t>xử lý nâng cao tiếp </a:t>
            </a:r>
            <a:r>
              <a:rPr lang="vi-VN" sz="2400" b="1" smtClean="0">
                <a:solidFill>
                  <a:srgbClr val="002060"/>
                </a:solidFill>
                <a:latin typeface="Cambria" panose="02040503050406030204" pitchFamily="18" charset="0"/>
              </a:rPr>
              <a:t>theo</a:t>
            </a:r>
            <a:endParaRPr lang="en-US" sz="2400" b="1" smtClean="0">
              <a:solidFill>
                <a:srgbClr val="002060"/>
              </a:solidFill>
              <a:latin typeface="Cambria" panose="02040503050406030204" pitchFamily="18" charset="0"/>
            </a:endParaRPr>
          </a:p>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Phân đoạn</a:t>
            </a:r>
            <a:r>
              <a:rPr lang="en-US" sz="2400" b="1">
                <a:solidFill>
                  <a:srgbClr val="002060"/>
                </a:solidFill>
                <a:latin typeface="Cambria" panose="02040503050406030204" pitchFamily="18" charset="0"/>
              </a:rPr>
              <a:t>: là quá </a:t>
            </a:r>
            <a:r>
              <a:rPr lang="en-US" sz="2400" b="1" smtClean="0">
                <a:solidFill>
                  <a:srgbClr val="002060"/>
                </a:solidFill>
                <a:latin typeface="Cambria" panose="02040503050406030204" pitchFamily="18" charset="0"/>
              </a:rPr>
              <a:t>trình </a:t>
            </a:r>
            <a:r>
              <a:rPr lang="en-US" sz="2400" b="1">
                <a:solidFill>
                  <a:srgbClr val="002060"/>
                </a:solidFill>
                <a:latin typeface="Cambria" panose="02040503050406030204" pitchFamily="18" charset="0"/>
              </a:rPr>
              <a:t>tách </a:t>
            </a:r>
            <a:r>
              <a:rPr lang="en-US" sz="2400" b="1" smtClean="0">
                <a:solidFill>
                  <a:srgbClr val="002060"/>
                </a:solidFill>
                <a:latin typeface="Cambria" panose="02040503050406030204" pitchFamily="18" charset="0"/>
              </a:rPr>
              <a:t>hình </a:t>
            </a:r>
            <a:r>
              <a:rPr lang="en-US" sz="2400" b="1">
                <a:solidFill>
                  <a:srgbClr val="002060"/>
                </a:solidFill>
                <a:latin typeface="Cambria" panose="02040503050406030204" pitchFamily="18" charset="0"/>
              </a:rPr>
              <a:t>ảnh thành các phần hoặc vật thể riêng biệt</a:t>
            </a:r>
            <a:endParaRPr lang="vi-VN" sz="2400" b="1">
              <a:solidFill>
                <a:srgbClr val="002060"/>
              </a:solidFill>
              <a:latin typeface="Cambria" panose="02040503050406030204" pitchFamily="18" charset="0"/>
            </a:endParaRPr>
          </a:p>
        </p:txBody>
      </p:sp>
    </p:spTree>
    <p:extLst>
      <p:ext uri="{BB962C8B-B14F-4D97-AF65-F5344CB8AC3E}">
        <p14:creationId xmlns:p14="http://schemas.microsoft.com/office/powerpoint/2010/main" val="7969180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Biểu diễn và mô tả</a:t>
            </a:r>
            <a:r>
              <a:rPr lang="en-US"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Các vật thể sau khi phân </a:t>
            </a:r>
            <a:r>
              <a:rPr lang="en-US" sz="2400" b="1" smtClean="0">
                <a:solidFill>
                  <a:srgbClr val="002060"/>
                </a:solidFill>
                <a:latin typeface="Cambria" panose="02040503050406030204" pitchFamily="18" charset="0"/>
              </a:rPr>
              <a:t>đoạn</a:t>
            </a:r>
            <a:r>
              <a:rPr lang="vi-VN"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có thể được mô tả dưới dạng chuỗi các điểm ảnh tạo nên ranh </a:t>
            </a:r>
            <a:r>
              <a:rPr lang="vi-VN" sz="2400" b="1" smtClean="0">
                <a:solidFill>
                  <a:srgbClr val="002060"/>
                </a:solidFill>
                <a:latin typeface="Cambria" panose="02040503050406030204" pitchFamily="18" charset="0"/>
              </a:rPr>
              <a:t>giới</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một vùng</a:t>
            </a:r>
            <a:r>
              <a:rPr lang="en-US"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cần tập trung sự chú ý vào </a:t>
            </a:r>
            <a:r>
              <a:rPr lang="vi-VN" sz="2400" b="1" smtClean="0">
                <a:solidFill>
                  <a:srgbClr val="002060"/>
                </a:solidFill>
                <a:latin typeface="Cambria" panose="02040503050406030204" pitchFamily="18" charset="0"/>
              </a:rPr>
              <a:t>h</a:t>
            </a:r>
            <a:r>
              <a:rPr lang="en-US" sz="2400" b="1" smtClean="0">
                <a:solidFill>
                  <a:srgbClr val="002060"/>
                </a:solidFill>
                <a:latin typeface="Cambria" panose="02040503050406030204" pitchFamily="18" charset="0"/>
              </a:rPr>
              <a:t>ì</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dạng bên </a:t>
            </a:r>
            <a:r>
              <a:rPr lang="vi-VN" sz="2400" b="1" smtClean="0">
                <a:solidFill>
                  <a:srgbClr val="002060"/>
                </a:solidFill>
                <a:latin typeface="Cambria" panose="02040503050406030204" pitchFamily="18" charset="0"/>
              </a:rPr>
              <a:t>ng</a:t>
            </a:r>
            <a:r>
              <a:rPr lang="en-US" sz="2400" b="1" smtClean="0">
                <a:solidFill>
                  <a:srgbClr val="002060"/>
                </a:solidFill>
                <a:latin typeface="Cambria" panose="02040503050406030204" pitchFamily="18" charset="0"/>
              </a:rPr>
              <a:t>oài</a:t>
            </a:r>
            <a:r>
              <a:rPr lang="vi-VN"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của chi tiết ảnh như độ cong, các góc </a:t>
            </a:r>
            <a:r>
              <a:rPr lang="vi-VN" sz="2400" b="1" smtClean="0">
                <a:solidFill>
                  <a:srgbClr val="002060"/>
                </a:solidFill>
                <a:latin typeface="Cambria" panose="02040503050406030204" pitchFamily="18" charset="0"/>
              </a:rPr>
              <a:t>cạnh</a:t>
            </a:r>
            <a:r>
              <a:rPr lang="en-US" sz="2400" b="1" smtClean="0">
                <a:solidFill>
                  <a:srgbClr val="002060"/>
                </a:solidFill>
                <a:latin typeface="Cambria" panose="02040503050406030204" pitchFamily="18" charset="0"/>
              </a:rPr>
              <a:t>…</a:t>
            </a:r>
          </a:p>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Nén ảnh</a:t>
            </a:r>
            <a:r>
              <a:rPr lang="en-US"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giảm thiểu dung lượng bộ nhớ cần thiết để lưu trữ </a:t>
            </a:r>
            <a:r>
              <a:rPr lang="vi-VN" sz="2400" b="1" smtClean="0">
                <a:solidFill>
                  <a:srgbClr val="002060"/>
                </a:solidFill>
                <a:latin typeface="Cambria" panose="02040503050406030204" pitchFamily="18" charset="0"/>
              </a:rPr>
              <a:t>h</a:t>
            </a:r>
            <a:r>
              <a:rPr lang="en-US" sz="2400" b="1">
                <a:solidFill>
                  <a:srgbClr val="002060"/>
                </a:solidFill>
                <a:latin typeface="Cambria" panose="02040503050406030204" pitchFamily="18" charset="0"/>
              </a:rPr>
              <a:t>ì</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ảnh, hay giảm băng thông kênh truyền, cần thiết để truyền </a:t>
            </a:r>
            <a:r>
              <a:rPr lang="vi-VN" sz="2400" b="1" smtClean="0">
                <a:solidFill>
                  <a:srgbClr val="002060"/>
                </a:solidFill>
                <a:latin typeface="Cambria" panose="02040503050406030204" pitchFamily="18" charset="0"/>
              </a:rPr>
              <a:t>t</a:t>
            </a:r>
            <a:r>
              <a:rPr lang="en-US" sz="2400" b="1">
                <a:solidFill>
                  <a:srgbClr val="002060"/>
                </a:solidFill>
                <a:latin typeface="Cambria" panose="02040503050406030204" pitchFamily="18" charset="0"/>
              </a:rPr>
              <a:t>í</a:t>
            </a:r>
            <a:r>
              <a:rPr lang="vi-VN" sz="2400" b="1" smtClean="0">
                <a:solidFill>
                  <a:srgbClr val="002060"/>
                </a:solidFill>
                <a:latin typeface="Cambria" panose="02040503050406030204" pitchFamily="18" charset="0"/>
              </a:rPr>
              <a:t>n </a:t>
            </a:r>
            <a:r>
              <a:rPr lang="vi-VN" sz="2400" b="1">
                <a:solidFill>
                  <a:srgbClr val="002060"/>
                </a:solidFill>
                <a:latin typeface="Cambria" panose="02040503050406030204" pitchFamily="18" charset="0"/>
              </a:rPr>
              <a:t>hiệu </a:t>
            </a:r>
            <a:r>
              <a:rPr lang="vi-VN" sz="2400" b="1" smtClean="0">
                <a:solidFill>
                  <a:srgbClr val="002060"/>
                </a:solidFill>
                <a:latin typeface="Cambria" panose="02040503050406030204" pitchFamily="18" charset="0"/>
              </a:rPr>
              <a:t>h</a:t>
            </a:r>
            <a:r>
              <a:rPr lang="en-US" sz="2400" b="1">
                <a:solidFill>
                  <a:srgbClr val="002060"/>
                </a:solidFill>
                <a:latin typeface="Cambria" panose="02040503050406030204" pitchFamily="18" charset="0"/>
              </a:rPr>
              <a:t>ì</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ảnh </a:t>
            </a:r>
            <a:r>
              <a:rPr lang="vi-VN" sz="2400" b="1" smtClean="0">
                <a:solidFill>
                  <a:srgbClr val="002060"/>
                </a:solidFill>
                <a:latin typeface="Cambria" panose="02040503050406030204" pitchFamily="18" charset="0"/>
              </a:rPr>
              <a:t>số</a:t>
            </a:r>
            <a:endParaRPr lang="en-US" sz="2400" b="1" smtClean="0">
              <a:solidFill>
                <a:srgbClr val="002060"/>
              </a:solidFill>
              <a:latin typeface="Cambria" panose="02040503050406030204" pitchFamily="18" charset="0"/>
            </a:endParaRPr>
          </a:p>
          <a:p>
            <a:pPr marL="465138" indent="-3492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Nhận dạng</a:t>
            </a:r>
            <a:r>
              <a:rPr lang="en-US"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là quá </a:t>
            </a:r>
            <a:r>
              <a:rPr lang="vi-VN" sz="2400" b="1" smtClean="0">
                <a:solidFill>
                  <a:srgbClr val="002060"/>
                </a:solidFill>
                <a:latin typeface="Cambria" panose="02040503050406030204" pitchFamily="18" charset="0"/>
              </a:rPr>
              <a:t>tr</a:t>
            </a:r>
            <a:r>
              <a:rPr lang="en-US" sz="2400" b="1">
                <a:solidFill>
                  <a:srgbClr val="002060"/>
                </a:solidFill>
                <a:latin typeface="Cambria" panose="02040503050406030204" pitchFamily="18" charset="0"/>
              </a:rPr>
              <a:t>ì</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phân loại vật thể dựa trên cơ sở các chi tiết mô tả vật thể đó</a:t>
            </a:r>
          </a:p>
        </p:txBody>
      </p:sp>
    </p:spTree>
    <p:extLst>
      <p:ext uri="{BB962C8B-B14F-4D97-AF65-F5344CB8AC3E}">
        <p14:creationId xmlns:p14="http://schemas.microsoft.com/office/powerpoint/2010/main" val="9373516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rPr>
              <a:t>C</a:t>
            </a:r>
            <a:r>
              <a:rPr lang="vi-VN" sz="2400" b="1" smtClean="0">
                <a:solidFill>
                  <a:srgbClr val="002060"/>
                </a:solidFill>
                <a:latin typeface="Cambria" panose="02040503050406030204" pitchFamily="18" charset="0"/>
              </a:rPr>
              <a:t>ó </a:t>
            </a:r>
            <a:r>
              <a:rPr lang="vi-VN" sz="2400" b="1">
                <a:solidFill>
                  <a:srgbClr val="002060"/>
                </a:solidFill>
                <a:latin typeface="Cambria" panose="02040503050406030204" pitchFamily="18" charset="0"/>
              </a:rPr>
              <a:t>4 cách tiếp cận cơ bản trong nén ảnh</a:t>
            </a:r>
            <a:endParaRPr lang="en-US" sz="2400" b="1" smtClean="0">
              <a:solidFill>
                <a:srgbClr val="002060"/>
              </a:solidFill>
              <a:latin typeface="Cambria" panose="02040503050406030204" pitchFamily="18" charset="0"/>
            </a:endParaRPr>
          </a:p>
          <a:p>
            <a:pPr marL="568325" indent="-333375" algn="just">
              <a:lnSpc>
                <a:spcPct val="150000"/>
              </a:lnSpc>
              <a:buFont typeface="Cambria" panose="02040503050406030204" pitchFamily="18" charset="0"/>
              <a:buChar char="⁺"/>
            </a:pPr>
            <a:r>
              <a:rPr lang="en-US" sz="2400" b="1" smtClean="0">
                <a:solidFill>
                  <a:srgbClr val="002060"/>
                </a:solidFill>
                <a:latin typeface="Cambria" panose="02040503050406030204" pitchFamily="18" charset="0"/>
              </a:rPr>
              <a:t>Nén </a:t>
            </a:r>
            <a:r>
              <a:rPr lang="en-US" sz="2400" b="1">
                <a:solidFill>
                  <a:srgbClr val="002060"/>
                </a:solidFill>
                <a:latin typeface="Cambria" panose="02040503050406030204" pitchFamily="18" charset="0"/>
              </a:rPr>
              <a:t>ảnh thống </a:t>
            </a:r>
            <a:r>
              <a:rPr lang="en-US" sz="2400" b="1" smtClean="0">
                <a:solidFill>
                  <a:srgbClr val="002060"/>
                </a:solidFill>
                <a:latin typeface="Cambria" panose="02040503050406030204" pitchFamily="18" charset="0"/>
              </a:rPr>
              <a:t>kê: </a:t>
            </a:r>
            <a:r>
              <a:rPr lang="vi-VN" sz="2400" b="1">
                <a:solidFill>
                  <a:srgbClr val="002060"/>
                </a:solidFill>
                <a:latin typeface="Cambria" panose="02040503050406030204" pitchFamily="18" charset="0"/>
              </a:rPr>
              <a:t>Kỹ thuật nén này dựa vào việc thống kê tần xuất xuất hiện của giá trị các điểm ảnh, trên cơ sở đó mà có chiến lược mã hóa </a:t>
            </a:r>
            <a:r>
              <a:rPr lang="vi-VN" sz="2400" b="1" smtClean="0">
                <a:solidFill>
                  <a:srgbClr val="002060"/>
                </a:solidFill>
                <a:latin typeface="Cambria" panose="02040503050406030204" pitchFamily="18" charset="0"/>
              </a:rPr>
              <a:t>th</a:t>
            </a:r>
            <a:r>
              <a:rPr lang="en-US" sz="2400" b="1">
                <a:solidFill>
                  <a:srgbClr val="002060"/>
                </a:solidFill>
                <a:latin typeface="Cambria" panose="02040503050406030204" pitchFamily="18" charset="0"/>
              </a:rPr>
              <a:t>í</a:t>
            </a:r>
            <a:r>
              <a:rPr lang="vi-VN" sz="2400" b="1" smtClean="0">
                <a:solidFill>
                  <a:srgbClr val="002060"/>
                </a:solidFill>
                <a:latin typeface="Cambria" panose="02040503050406030204" pitchFamily="18" charset="0"/>
              </a:rPr>
              <a:t>ch </a:t>
            </a:r>
            <a:r>
              <a:rPr lang="vi-VN" sz="2400" b="1">
                <a:solidFill>
                  <a:srgbClr val="002060"/>
                </a:solidFill>
                <a:latin typeface="Cambria" panose="02040503050406030204" pitchFamily="18" charset="0"/>
              </a:rPr>
              <a:t>hợp. </a:t>
            </a:r>
            <a:endParaRPr lang="en-US" sz="2400" b="1" smtClean="0">
              <a:solidFill>
                <a:srgbClr val="002060"/>
              </a:solidFill>
              <a:latin typeface="Cambria" panose="02040503050406030204" pitchFamily="18" charset="0"/>
            </a:endParaRPr>
          </a:p>
          <a:p>
            <a:pPr marL="234950" algn="just">
              <a:lnSpc>
                <a:spcPct val="150000"/>
              </a:lnSpc>
            </a:pPr>
            <a:r>
              <a:rPr lang="en-US" sz="2400" b="1" smtClean="0">
                <a:solidFill>
                  <a:srgbClr val="002060"/>
                </a:solidFill>
                <a:latin typeface="Cambria" panose="02040503050406030204" pitchFamily="18" charset="0"/>
              </a:rPr>
              <a:t>VD: </a:t>
            </a:r>
            <a:r>
              <a:rPr lang="vi-VN" sz="2400" b="1" smtClean="0">
                <a:solidFill>
                  <a:srgbClr val="002060"/>
                </a:solidFill>
                <a:latin typeface="Cambria" panose="02040503050406030204" pitchFamily="18" charset="0"/>
              </a:rPr>
              <a:t> </a:t>
            </a:r>
            <a:r>
              <a:rPr lang="vi-VN" sz="2400" b="1">
                <a:solidFill>
                  <a:srgbClr val="002060"/>
                </a:solidFill>
                <a:latin typeface="Cambria" panose="02040503050406030204" pitchFamily="18" charset="0"/>
              </a:rPr>
              <a:t>*.TIF</a:t>
            </a:r>
            <a:endParaRPr lang="en-US" sz="2400" b="1" smtClean="0">
              <a:solidFill>
                <a:srgbClr val="002060"/>
              </a:solidFill>
              <a:latin typeface="Cambria" panose="02040503050406030204" pitchFamily="18" charset="0"/>
            </a:endParaRPr>
          </a:p>
          <a:p>
            <a:pPr marL="568325" indent="-333375" algn="just">
              <a:lnSpc>
                <a:spcPct val="150000"/>
              </a:lnSpc>
              <a:buFont typeface="Cambria" panose="02040503050406030204" pitchFamily="18" charset="0"/>
              <a:buChar char="⁺"/>
            </a:pPr>
            <a:r>
              <a:rPr lang="en-US" sz="2400" b="1" smtClean="0">
                <a:solidFill>
                  <a:srgbClr val="002060"/>
                </a:solidFill>
                <a:latin typeface="Cambria" panose="02040503050406030204" pitchFamily="18" charset="0"/>
              </a:rPr>
              <a:t>Nén </a:t>
            </a:r>
            <a:r>
              <a:rPr lang="en-US" sz="2400" b="1">
                <a:solidFill>
                  <a:srgbClr val="002060"/>
                </a:solidFill>
                <a:latin typeface="Cambria" panose="02040503050406030204" pitchFamily="18" charset="0"/>
              </a:rPr>
              <a:t>ảnh không gian: Kỹ thuật này dựa vào vị </a:t>
            </a:r>
            <a:r>
              <a:rPr lang="en-US" sz="2400" b="1" smtClean="0">
                <a:solidFill>
                  <a:srgbClr val="002060"/>
                </a:solidFill>
                <a:latin typeface="Cambria" panose="02040503050406030204" pitchFamily="18" charset="0"/>
              </a:rPr>
              <a:t>trí </a:t>
            </a:r>
            <a:r>
              <a:rPr lang="en-US" sz="2400" b="1">
                <a:solidFill>
                  <a:srgbClr val="002060"/>
                </a:solidFill>
                <a:latin typeface="Cambria" panose="02040503050406030204" pitchFamily="18" charset="0"/>
              </a:rPr>
              <a:t>không gian của các điểm ảnh để tiến hành mã hóa. Kỹ thuật lợi dụng sự giống nhau của các điểm ảnh trong các vùng gần </a:t>
            </a:r>
            <a:r>
              <a:rPr lang="en-US" sz="2400" b="1" smtClean="0">
                <a:solidFill>
                  <a:srgbClr val="002060"/>
                </a:solidFill>
                <a:latin typeface="Cambria" panose="02040503050406030204" pitchFamily="18" charset="0"/>
              </a:rPr>
              <a:t>nhau</a:t>
            </a:r>
          </a:p>
          <a:p>
            <a:pPr marL="234950" algn="just">
              <a:lnSpc>
                <a:spcPct val="150000"/>
              </a:lnSpc>
            </a:pPr>
            <a:r>
              <a:rPr lang="en-US" sz="2400" b="1">
                <a:solidFill>
                  <a:srgbClr val="002060"/>
                </a:solidFill>
                <a:latin typeface="Cambria" panose="02040503050406030204" pitchFamily="18" charset="0"/>
              </a:rPr>
              <a:t>VD:   *.PCX</a:t>
            </a:r>
          </a:p>
          <a:p>
            <a:pPr marL="512763" indent="-277813" algn="just">
              <a:lnSpc>
                <a:spcPct val="150000"/>
              </a:lnSpc>
              <a:buFont typeface="Cambria" panose="02040503050406030204" pitchFamily="18" charset="0"/>
              <a:buChar char="⁺"/>
            </a:pPr>
            <a:endParaRPr lang="vi-VN" sz="2400" b="1">
              <a:solidFill>
                <a:srgbClr val="002060"/>
              </a:solidFill>
              <a:latin typeface="Cambria" panose="02040503050406030204" pitchFamily="18" charset="0"/>
            </a:endParaRPr>
          </a:p>
        </p:txBody>
      </p:sp>
    </p:spTree>
    <p:extLst>
      <p:ext uri="{BB962C8B-B14F-4D97-AF65-F5344CB8AC3E}">
        <p14:creationId xmlns:p14="http://schemas.microsoft.com/office/powerpoint/2010/main" val="12751081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65150" indent="-282575"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rPr>
              <a:t>Nén </a:t>
            </a:r>
            <a:r>
              <a:rPr lang="vi-VN" sz="2400" b="1">
                <a:solidFill>
                  <a:srgbClr val="002060"/>
                </a:solidFill>
                <a:latin typeface="Cambria" panose="02040503050406030204" pitchFamily="18" charset="0"/>
              </a:rPr>
              <a:t>ảnh sử dụng phép biến đổi: Đây là kỹ thuật tiếp cận theo hướng nén không bảo toàn và do vậy kỹ thuật thường hiệu quả hơn. </a:t>
            </a:r>
            <a:endParaRPr lang="en-US" sz="2400" b="1" smtClean="0">
              <a:solidFill>
                <a:srgbClr val="002060"/>
              </a:solidFill>
              <a:latin typeface="Cambria" panose="02040503050406030204" pitchFamily="18" charset="0"/>
            </a:endParaRPr>
          </a:p>
          <a:p>
            <a:pPr algn="just">
              <a:lnSpc>
                <a:spcPct val="150000"/>
              </a:lnSpc>
            </a:pPr>
            <a:r>
              <a:rPr lang="en-US" sz="2400" b="1" smtClean="0">
                <a:solidFill>
                  <a:srgbClr val="002060"/>
                </a:solidFill>
                <a:latin typeface="Cambria" panose="02040503050406030204" pitchFamily="18" charset="0"/>
              </a:rPr>
              <a:t>VD:  </a:t>
            </a:r>
            <a:r>
              <a:rPr lang="vi-VN" sz="2400" b="1" smtClean="0">
                <a:solidFill>
                  <a:srgbClr val="002060"/>
                </a:solidFill>
                <a:latin typeface="Cambria" panose="02040503050406030204" pitchFamily="18" charset="0"/>
              </a:rPr>
              <a:t>*.</a:t>
            </a:r>
            <a:r>
              <a:rPr lang="vi-VN" sz="2400" b="1">
                <a:solidFill>
                  <a:srgbClr val="002060"/>
                </a:solidFill>
                <a:latin typeface="Cambria" panose="02040503050406030204" pitchFamily="18" charset="0"/>
              </a:rPr>
              <a:t>JPG </a:t>
            </a:r>
            <a:endParaRPr lang="en-US" sz="2400" b="1" smtClean="0">
              <a:solidFill>
                <a:srgbClr val="002060"/>
              </a:solidFill>
              <a:latin typeface="Cambria" panose="02040503050406030204" pitchFamily="18" charset="0"/>
            </a:endParaRPr>
          </a:p>
          <a:p>
            <a:pPr marL="565150" indent="-331788"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rPr>
              <a:t>Nén </a:t>
            </a:r>
            <a:r>
              <a:rPr lang="vi-VN" sz="2400" b="1">
                <a:solidFill>
                  <a:srgbClr val="002060"/>
                </a:solidFill>
                <a:latin typeface="Cambria" panose="02040503050406030204" pitchFamily="18" charset="0"/>
              </a:rPr>
              <a:t>ảnh Fractal: Sử dụng </a:t>
            </a:r>
            <a:r>
              <a:rPr lang="vi-VN" sz="2400" b="1" smtClean="0">
                <a:solidFill>
                  <a:srgbClr val="002060"/>
                </a:solidFill>
                <a:latin typeface="Cambria" panose="02040503050406030204" pitchFamily="18" charset="0"/>
              </a:rPr>
              <a:t>t</a:t>
            </a:r>
            <a:r>
              <a:rPr lang="en-US" sz="2400" b="1">
                <a:solidFill>
                  <a:srgbClr val="002060"/>
                </a:solidFill>
                <a:latin typeface="Cambria" panose="02040503050406030204" pitchFamily="18" charset="0"/>
              </a:rPr>
              <a:t>í</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chất Fractal của các đối tượng ảnh, thể hiện sự lặp lại của các chi tiết. Kỹ thuật nén sẽ </a:t>
            </a:r>
            <a:r>
              <a:rPr lang="vi-VN" sz="2400" b="1" smtClean="0">
                <a:solidFill>
                  <a:srgbClr val="002060"/>
                </a:solidFill>
                <a:latin typeface="Cambria" panose="02040503050406030204" pitchFamily="18" charset="0"/>
              </a:rPr>
              <a:t>t</a:t>
            </a:r>
            <a:r>
              <a:rPr lang="en-US" sz="2400" b="1">
                <a:solidFill>
                  <a:srgbClr val="002060"/>
                </a:solidFill>
                <a:latin typeface="Cambria" panose="02040503050406030204" pitchFamily="18" charset="0"/>
              </a:rPr>
              <a:t>í</a:t>
            </a:r>
            <a:r>
              <a:rPr lang="vi-VN" sz="2400" b="1" smtClean="0">
                <a:solidFill>
                  <a:srgbClr val="002060"/>
                </a:solidFill>
                <a:latin typeface="Cambria" panose="02040503050406030204" pitchFamily="18" charset="0"/>
              </a:rPr>
              <a:t>nh </a:t>
            </a:r>
            <a:r>
              <a:rPr lang="vi-VN" sz="2400" b="1">
                <a:solidFill>
                  <a:srgbClr val="002060"/>
                </a:solidFill>
                <a:latin typeface="Cambria" panose="02040503050406030204" pitchFamily="18" charset="0"/>
              </a:rPr>
              <a:t>toán để chỉ cần lưu trữ phần gốc ảnh và quy luật sinh ra ảnh theo nguyên lý Fractal.</a:t>
            </a:r>
          </a:p>
        </p:txBody>
      </p:sp>
    </p:spTree>
    <p:extLst>
      <p:ext uri="{BB962C8B-B14F-4D97-AF65-F5344CB8AC3E}">
        <p14:creationId xmlns:p14="http://schemas.microsoft.com/office/powerpoint/2010/main" val="26936514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 Một số kỹ thuật nén ảnh (JPEG, GIF,…)</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52110" y="661285"/>
            <a:ext cx="8570976" cy="580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30000"/>
              </a:lnSpc>
              <a:buFont typeface="Wingdings" panose="05000000000000000000" pitchFamily="2" charset="2"/>
              <a:buChar char="v"/>
            </a:pPr>
            <a:r>
              <a:rPr lang="vi-VN" sz="2400" b="1">
                <a:solidFill>
                  <a:srgbClr val="002060"/>
                </a:solidFill>
                <a:latin typeface="Cambria" panose="02040503050406030204" pitchFamily="18" charset="0"/>
              </a:rPr>
              <a:t>Các tiêu chuẩn nén </a:t>
            </a:r>
            <a:r>
              <a:rPr lang="vi-VN" sz="2400" b="1" smtClean="0">
                <a:solidFill>
                  <a:srgbClr val="002060"/>
                </a:solidFill>
                <a:latin typeface="Cambria" panose="02040503050406030204" pitchFamily="18" charset="0"/>
              </a:rPr>
              <a:t>ảnh</a:t>
            </a:r>
            <a:endParaRPr lang="en-US" sz="2400" b="1" smtClean="0">
              <a:solidFill>
                <a:srgbClr val="002060"/>
              </a:solidFill>
              <a:latin typeface="Cambria" panose="02040503050406030204" pitchFamily="18" charset="0"/>
            </a:endParaRPr>
          </a:p>
          <a:p>
            <a:pPr marL="565150" indent="-331788" algn="just">
              <a:lnSpc>
                <a:spcPct val="130000"/>
              </a:lnSpc>
              <a:buFont typeface="Arial" panose="020B0604020202020204" pitchFamily="34" charset="0"/>
              <a:buChar char="•"/>
            </a:pPr>
            <a:r>
              <a:rPr lang="vi-VN" sz="2400" b="1">
                <a:solidFill>
                  <a:srgbClr val="002060"/>
                </a:solidFill>
                <a:latin typeface="Cambria" panose="02040503050406030204" pitchFamily="18" charset="0"/>
              </a:rPr>
              <a:t>JPEG (The Joint Photographic Expert Group): dùng cho nén ảnh tĩnh, </a:t>
            </a:r>
            <a:r>
              <a:rPr lang="vi-VN" sz="2400" b="1" smtClean="0">
                <a:solidFill>
                  <a:srgbClr val="002060"/>
                </a:solidFill>
                <a:latin typeface="Cambria" panose="02040503050406030204" pitchFamily="18" charset="0"/>
              </a:rPr>
              <a:t>phát</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triển </a:t>
            </a:r>
            <a:r>
              <a:rPr lang="vi-VN" sz="2400" b="1">
                <a:solidFill>
                  <a:srgbClr val="002060"/>
                </a:solidFill>
                <a:latin typeface="Cambria" panose="02040503050406030204" pitchFamily="18" charset="0"/>
              </a:rPr>
              <a:t>bởi sự kết hợp giữa ITU-TS </a:t>
            </a:r>
            <a:r>
              <a:rPr lang="vi-VN" sz="2400" b="1" smtClean="0">
                <a:solidFill>
                  <a:srgbClr val="002060"/>
                </a:solidFill>
                <a:latin typeface="Cambria" panose="02040503050406030204" pitchFamily="18" charset="0"/>
              </a:rPr>
              <a:t>và </a:t>
            </a:r>
            <a:r>
              <a:rPr lang="vi-VN" sz="2400" b="1">
                <a:solidFill>
                  <a:srgbClr val="002060"/>
                </a:solidFill>
                <a:latin typeface="Cambria" panose="02040503050406030204" pitchFamily="18" charset="0"/>
              </a:rPr>
              <a:t>ISO </a:t>
            </a:r>
            <a:endParaRPr lang="en-US" sz="2400" b="1" smtClean="0">
              <a:solidFill>
                <a:srgbClr val="002060"/>
              </a:solidFill>
              <a:latin typeface="Cambria" panose="02040503050406030204" pitchFamily="18" charset="0"/>
            </a:endParaRPr>
          </a:p>
          <a:p>
            <a:pPr marL="565150" indent="-331788" algn="just">
              <a:lnSpc>
                <a:spcPct val="130000"/>
              </a:lnSpc>
              <a:buFont typeface="Arial" panose="020B0604020202020204" pitchFamily="34" charset="0"/>
              <a:buChar char="•"/>
            </a:pPr>
            <a:r>
              <a:rPr lang="vi-VN" sz="2400" b="1" smtClean="0">
                <a:solidFill>
                  <a:srgbClr val="002060"/>
                </a:solidFill>
                <a:latin typeface="Cambria" panose="02040503050406030204" pitchFamily="18" charset="0"/>
              </a:rPr>
              <a:t>MPEG-1</a:t>
            </a:r>
            <a:r>
              <a:rPr lang="vi-VN" sz="2400" b="1">
                <a:solidFill>
                  <a:srgbClr val="002060"/>
                </a:solidFill>
                <a:latin typeface="Cambria" panose="02040503050406030204" pitchFamily="18" charset="0"/>
              </a:rPr>
              <a:t>, MPEG-2, MPEG-4, MPEG-7: do Ủy ban ISO </a:t>
            </a:r>
            <a:r>
              <a:rPr lang="vi-VN" sz="2400" b="1" smtClean="0">
                <a:solidFill>
                  <a:srgbClr val="002060"/>
                </a:solidFill>
                <a:latin typeface="Cambria" panose="02040503050406030204" pitchFamily="18" charset="0"/>
              </a:rPr>
              <a:t>IEC/JTC1/SC29-</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/WG11 </a:t>
            </a:r>
            <a:r>
              <a:rPr lang="vi-VN" sz="2400" b="1">
                <a:solidFill>
                  <a:srgbClr val="002060"/>
                </a:solidFill>
                <a:latin typeface="Cambria" panose="02040503050406030204" pitchFamily="18" charset="0"/>
              </a:rPr>
              <a:t>phát triển cho mã hoá kết hợp giữa video và audio.</a:t>
            </a:r>
          </a:p>
          <a:p>
            <a:pPr marL="565150" indent="-331788" algn="just">
              <a:lnSpc>
                <a:spcPct val="130000"/>
              </a:lnSpc>
              <a:buFont typeface="Arial" panose="020B0604020202020204" pitchFamily="34" charset="0"/>
              <a:buChar char="•"/>
            </a:pPr>
            <a:r>
              <a:rPr lang="vi-VN" sz="2400" b="1">
                <a:solidFill>
                  <a:srgbClr val="002060"/>
                </a:solidFill>
                <a:latin typeface="Cambria" panose="02040503050406030204" pitchFamily="18" charset="0"/>
              </a:rPr>
              <a:t>H.261: do Nhóm nghiên cứu XI phát triển và được biết rộng rãi như </a:t>
            </a:r>
            <a:r>
              <a:rPr lang="vi-VN" sz="2400" b="1" smtClean="0">
                <a:solidFill>
                  <a:srgbClr val="002060"/>
                </a:solidFill>
                <a:latin typeface="Cambria" panose="02040503050406030204" pitchFamily="18" charset="0"/>
              </a:rPr>
              <a:t>tiêu</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chuẩn </a:t>
            </a:r>
            <a:r>
              <a:rPr lang="vi-VN" sz="2400" b="1">
                <a:solidFill>
                  <a:srgbClr val="002060"/>
                </a:solidFill>
                <a:latin typeface="Cambria" panose="02040503050406030204" pitchFamily="18" charset="0"/>
              </a:rPr>
              <a:t>mã hoá video cho các dịch vụ nghe nhìn tốc độ nx 64Kbps.</a:t>
            </a:r>
          </a:p>
          <a:p>
            <a:pPr marL="565150" indent="-331788" algn="just">
              <a:lnSpc>
                <a:spcPct val="130000"/>
              </a:lnSpc>
              <a:buFont typeface="Arial" panose="020B0604020202020204" pitchFamily="34" charset="0"/>
              <a:buChar char="•"/>
            </a:pPr>
            <a:r>
              <a:rPr lang="vi-VN" sz="2400" b="1">
                <a:solidFill>
                  <a:srgbClr val="002060"/>
                </a:solidFill>
                <a:latin typeface="Cambria" panose="02040503050406030204" pitchFamily="18" charset="0"/>
              </a:rPr>
              <a:t>ITU-TS H.263 cho các ứng dụng điện thoại thấy hình tốc độ dưới 64Kbps</a:t>
            </a: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Tree>
    <p:extLst>
      <p:ext uri="{BB962C8B-B14F-4D97-AF65-F5344CB8AC3E}">
        <p14:creationId xmlns:p14="http://schemas.microsoft.com/office/powerpoint/2010/main" val="376621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3.4.1. Nén không tổn hao</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8" name="TextBox 16"/>
          <p:cNvSpPr txBox="1">
            <a:spLocks noChangeArrowheads="1"/>
          </p:cNvSpPr>
          <p:nvPr/>
        </p:nvSpPr>
        <p:spPr bwMode="auto">
          <a:xfrm>
            <a:off x="152110" y="661285"/>
            <a:ext cx="85709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282575" indent="-282575" algn="just">
              <a:lnSpc>
                <a:spcPct val="150000"/>
              </a:lnSpc>
            </a:pPr>
            <a:r>
              <a:rPr lang="en-US" sz="2400" b="1" smtClean="0">
                <a:solidFill>
                  <a:srgbClr val="002060"/>
                </a:solidFill>
                <a:latin typeface="Cambria" panose="02040503050406030204" pitchFamily="18" charset="0"/>
              </a:rPr>
              <a:t>C</a:t>
            </a:r>
            <a:r>
              <a:rPr lang="vi-VN" sz="2400" b="1" smtClean="0">
                <a:solidFill>
                  <a:srgbClr val="002060"/>
                </a:solidFill>
                <a:latin typeface="Cambria" panose="02040503050406030204" pitchFamily="18" charset="0"/>
              </a:rPr>
              <a:t>ác </a:t>
            </a:r>
            <a:r>
              <a:rPr lang="vi-VN" sz="2400" b="1">
                <a:solidFill>
                  <a:srgbClr val="002060"/>
                </a:solidFill>
                <a:latin typeface="Cambria" panose="02040503050406030204" pitchFamily="18" charset="0"/>
              </a:rPr>
              <a:t>kỹ thuật nén ảnh không tổn thất phổ biến</a:t>
            </a:r>
          </a:p>
          <a:p>
            <a:pPr marL="625475"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WinZip: Dựa trên thuật toán Lempel-Ziv được phát minh cách đây </a:t>
            </a:r>
            <a:r>
              <a:rPr lang="vi-VN" sz="2400" b="1" smtClean="0">
                <a:solidFill>
                  <a:srgbClr val="002060"/>
                </a:solidFill>
                <a:latin typeface="Cambria" panose="02040503050406030204" pitchFamily="18" charset="0"/>
              </a:rPr>
              <a:t>30</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năm</a:t>
            </a:r>
            <a:r>
              <a:rPr lang="vi-VN" sz="2400" b="1">
                <a:solidFill>
                  <a:srgbClr val="002060"/>
                </a:solidFill>
                <a:latin typeface="Cambria" panose="02040503050406030204" pitchFamily="18" charset="0"/>
              </a:rPr>
              <a:t>.</a:t>
            </a:r>
          </a:p>
          <a:p>
            <a:pPr marL="625475"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GIF (Graphic Interchange Format): Dựa trên thuật toán LZ nâng cao, </a:t>
            </a:r>
            <a:r>
              <a:rPr lang="vi-VN" sz="2400" b="1" smtClean="0">
                <a:solidFill>
                  <a:srgbClr val="002060"/>
                </a:solidFill>
                <a:latin typeface="Cambria" panose="02040503050406030204" pitchFamily="18" charset="0"/>
              </a:rPr>
              <a:t>tạo</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ra </a:t>
            </a:r>
            <a:r>
              <a:rPr lang="vi-VN" sz="2400" b="1">
                <a:solidFill>
                  <a:srgbClr val="002060"/>
                </a:solidFill>
                <a:latin typeface="Cambria" panose="02040503050406030204" pitchFamily="18" charset="0"/>
              </a:rPr>
              <a:t>bởi Welch năm </a:t>
            </a:r>
            <a:r>
              <a:rPr lang="vi-VN" sz="2400" b="1" smtClean="0">
                <a:solidFill>
                  <a:srgbClr val="002060"/>
                </a:solidFill>
                <a:latin typeface="Cambria" panose="02040503050406030204" pitchFamily="18" charset="0"/>
              </a:rPr>
              <a:t>1984.</a:t>
            </a:r>
            <a:endParaRPr lang="vi-VN" sz="2400" b="1">
              <a:solidFill>
                <a:srgbClr val="002060"/>
              </a:solidFill>
              <a:latin typeface="Cambria" panose="02040503050406030204" pitchFamily="18" charset="0"/>
            </a:endParaRPr>
          </a:p>
          <a:p>
            <a:pPr marL="625475"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PNG (Portable Network Graphics</a:t>
            </a:r>
            <a:r>
              <a:rPr lang="vi-VN" sz="2400" b="1" smtClean="0">
                <a:solidFill>
                  <a:srgbClr val="002060"/>
                </a:solidFill>
                <a:latin typeface="Cambria" panose="02040503050406030204" pitchFamily="18" charset="0"/>
              </a:rPr>
              <a:t>)</a:t>
            </a:r>
            <a:endParaRPr lang="en-US" sz="2400" b="1" smtClean="0">
              <a:solidFill>
                <a:srgbClr val="002060"/>
              </a:solidFill>
              <a:latin typeface="Cambria" panose="02040503050406030204" pitchFamily="18" charset="0"/>
            </a:endParaRPr>
          </a:p>
          <a:p>
            <a:pPr marL="625475" indent="-342900" algn="just">
              <a:lnSpc>
                <a:spcPct val="150000"/>
              </a:lnSpc>
              <a:buFont typeface="Arial" panose="020B0604020202020204" pitchFamily="34" charset="0"/>
              <a:buChar char="•"/>
            </a:pPr>
            <a:endParaRPr lang="vi-VN" sz="2400" b="1">
              <a:solidFill>
                <a:srgbClr val="002060"/>
              </a:solidFill>
              <a:latin typeface="Cambria" panose="020405030504060302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351" y="4183865"/>
            <a:ext cx="8644911" cy="1651670"/>
          </a:xfrm>
          <a:prstGeom prst="rect">
            <a:avLst/>
          </a:prstGeom>
        </p:spPr>
      </p:pic>
    </p:spTree>
    <p:extLst>
      <p:ext uri="{BB962C8B-B14F-4D97-AF65-F5344CB8AC3E}">
        <p14:creationId xmlns:p14="http://schemas.microsoft.com/office/powerpoint/2010/main" val="22863321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3.4.2. Nén tổn hao</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661285"/>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57200" indent="-457200" algn="just">
              <a:lnSpc>
                <a:spcPct val="150000"/>
              </a:lnSpc>
              <a:buAutoNum type="alphaLcPeriod"/>
            </a:pPr>
            <a:r>
              <a:rPr lang="vi-VN" sz="2400" b="1" smtClean="0">
                <a:solidFill>
                  <a:srgbClr val="002060"/>
                </a:solidFill>
                <a:latin typeface="Cambria" panose="02040503050406030204" pitchFamily="18" charset="0"/>
              </a:rPr>
              <a:t>TỔNG </a:t>
            </a:r>
            <a:r>
              <a:rPr lang="vi-VN" sz="2400" b="1">
                <a:solidFill>
                  <a:srgbClr val="002060"/>
                </a:solidFill>
                <a:latin typeface="Cambria" panose="02040503050406030204" pitchFamily="18" charset="0"/>
              </a:rPr>
              <a:t>QUAN JPEG </a:t>
            </a:r>
            <a:r>
              <a:rPr lang="vi-VN" sz="2400" b="1" smtClean="0">
                <a:solidFill>
                  <a:srgbClr val="002060"/>
                </a:solidFill>
                <a:latin typeface="Cambria" panose="02040503050406030204" pitchFamily="18" charset="0"/>
              </a:rPr>
              <a:t>2000</a:t>
            </a:r>
            <a:endParaRPr lang="en-US" sz="2400" b="1" smtClean="0">
              <a:solidFill>
                <a:srgbClr val="002060"/>
              </a:solidFill>
              <a:latin typeface="Cambria" panose="02040503050406030204" pitchFamily="18" charset="0"/>
            </a:endParaRPr>
          </a:p>
          <a:p>
            <a:pPr marL="4651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Ảnh số hóa ngày càng phổ biến và yêu cầu </a:t>
            </a:r>
            <a:r>
              <a:rPr lang="vi-VN" sz="2400" b="1" smtClean="0">
                <a:solidFill>
                  <a:srgbClr val="002060"/>
                </a:solidFill>
                <a:latin typeface="Cambria" panose="02040503050406030204" pitchFamily="18" charset="0"/>
              </a:rPr>
              <a:t>chất</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lượng </a:t>
            </a:r>
            <a:r>
              <a:rPr lang="vi-VN" sz="2400" b="1">
                <a:solidFill>
                  <a:srgbClr val="002060"/>
                </a:solidFill>
                <a:latin typeface="Cambria" panose="02040503050406030204" pitchFamily="18" charset="0"/>
              </a:rPr>
              <a:t>ngày càng cao, ngoài ra còn có các nhu </a:t>
            </a:r>
            <a:r>
              <a:rPr lang="vi-VN" sz="2400" b="1" smtClean="0">
                <a:solidFill>
                  <a:srgbClr val="002060"/>
                </a:solidFill>
                <a:latin typeface="Cambria" panose="02040503050406030204" pitchFamily="18" charset="0"/>
              </a:rPr>
              <a:t>cầu</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về </a:t>
            </a:r>
            <a:r>
              <a:rPr lang="vi-VN" sz="2400" b="1">
                <a:solidFill>
                  <a:srgbClr val="002060"/>
                </a:solidFill>
                <a:latin typeface="Cambria" panose="02040503050406030204" pitchFamily="18" charset="0"/>
              </a:rPr>
              <a:t>xử lí ảnh kéo theo</a:t>
            </a:r>
          </a:p>
          <a:p>
            <a:pPr marL="465138" indent="-2984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Nén </a:t>
            </a:r>
            <a:r>
              <a:rPr lang="vi-VN" sz="2400" b="1">
                <a:solidFill>
                  <a:srgbClr val="002060"/>
                </a:solidFill>
                <a:latin typeface="Cambria" panose="02040503050406030204" pitchFamily="18" charset="0"/>
              </a:rPr>
              <a:t>hình ảnh không chỉ làm giảm dung lượng </a:t>
            </a:r>
            <a:r>
              <a:rPr lang="vi-VN" sz="2400" b="1" smtClean="0">
                <a:solidFill>
                  <a:srgbClr val="002060"/>
                </a:solidFill>
                <a:latin typeface="Cambria" panose="02040503050406030204" pitchFamily="18" charset="0"/>
              </a:rPr>
              <a:t>mà</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còn </a:t>
            </a:r>
            <a:r>
              <a:rPr lang="vi-VN" sz="2400" b="1">
                <a:solidFill>
                  <a:srgbClr val="002060"/>
                </a:solidFill>
                <a:latin typeface="Cambria" panose="02040503050406030204" pitchFamily="18" charset="0"/>
              </a:rPr>
              <a:t>phải cho phép tách ghép để sắp xếp xử lí </a:t>
            </a:r>
            <a:r>
              <a:rPr lang="vi-VN" sz="2400" b="1" smtClean="0">
                <a:solidFill>
                  <a:srgbClr val="002060"/>
                </a:solidFill>
                <a:latin typeface="Cambria" panose="02040503050406030204" pitchFamily="18" charset="0"/>
              </a:rPr>
              <a:t>và</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đáp </a:t>
            </a:r>
            <a:r>
              <a:rPr lang="vi-VN" sz="2400" b="1">
                <a:solidFill>
                  <a:srgbClr val="002060"/>
                </a:solidFill>
                <a:latin typeface="Cambria" panose="02040503050406030204" pitchFamily="18" charset="0"/>
              </a:rPr>
              <a:t>ứng các nhu cầu trên các thiết bị cụ thể</a:t>
            </a:r>
          </a:p>
          <a:p>
            <a:pPr marL="465138" indent="-29845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rPr>
              <a:t>Yêu </a:t>
            </a:r>
            <a:r>
              <a:rPr lang="vi-VN" sz="2400" b="1">
                <a:solidFill>
                  <a:srgbClr val="002060"/>
                </a:solidFill>
                <a:latin typeface="Cambria" panose="02040503050406030204" pitchFamily="18" charset="0"/>
              </a:rPr>
              <a:t>cầu về hiệu suất nén với tỉ số nén </a:t>
            </a:r>
            <a:r>
              <a:rPr lang="vi-VN" sz="2400" b="1" smtClean="0">
                <a:solidFill>
                  <a:srgbClr val="002060"/>
                </a:solidFill>
                <a:latin typeface="Cambria" panose="02040503050406030204" pitchFamily="18" charset="0"/>
              </a:rPr>
              <a:t>cao</a:t>
            </a:r>
            <a:endParaRPr lang="en-US" sz="2400" b="1" smtClean="0">
              <a:solidFill>
                <a:srgbClr val="002060"/>
              </a:solidFill>
              <a:latin typeface="Cambria" panose="02040503050406030204" pitchFamily="18" charset="0"/>
            </a:endParaRPr>
          </a:p>
          <a:p>
            <a:pPr marL="166688" algn="just">
              <a:lnSpc>
                <a:spcPct val="150000"/>
              </a:lnSpc>
            </a:pPr>
            <a:r>
              <a:rPr lang="en-US" sz="2400" b="1" smtClean="0">
                <a:solidFill>
                  <a:srgbClr val="002060"/>
                </a:solidFill>
                <a:latin typeface="Cambria" panose="02040503050406030204" pitchFamily="18" charset="0"/>
              </a:rPr>
              <a:t>=&gt; Sự phát triểu của IPEG 2000 là điều tất yếu</a:t>
            </a:r>
            <a:endParaRPr lang="vi-VN" sz="2400" b="1">
              <a:solidFill>
                <a:srgbClr val="002060"/>
              </a:solidFill>
              <a:latin typeface="Cambria" panose="02040503050406030204" pitchFamily="18" charset="0"/>
            </a:endParaRPr>
          </a:p>
        </p:txBody>
      </p:sp>
    </p:spTree>
    <p:extLst>
      <p:ext uri="{BB962C8B-B14F-4D97-AF65-F5344CB8AC3E}">
        <p14:creationId xmlns:p14="http://schemas.microsoft.com/office/powerpoint/2010/main" val="3850686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indent="57150">
              <a:lnSpc>
                <a:spcPct val="150000"/>
              </a:lnSpc>
            </a:pPr>
            <a:r>
              <a:rPr lang="vi-VN" sz="2400" b="1">
                <a:solidFill>
                  <a:srgbClr val="002060"/>
                </a:solidFill>
                <a:latin typeface="Cambria" panose="02040503050406030204" pitchFamily="18" charset="0"/>
              </a:rPr>
              <a:t>3.4.2. Nén tổn hao</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661285"/>
            <a:ext cx="85709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57200" indent="-457200" algn="just">
              <a:lnSpc>
                <a:spcPct val="150000"/>
              </a:lnSpc>
              <a:buAutoNum type="alphaLcPeriod"/>
            </a:pPr>
            <a:r>
              <a:rPr lang="vi-VN" sz="2400" b="1" smtClean="0">
                <a:solidFill>
                  <a:srgbClr val="002060"/>
                </a:solidFill>
                <a:latin typeface="Cambria" panose="02040503050406030204" pitchFamily="18" charset="0"/>
              </a:rPr>
              <a:t>TỔNG </a:t>
            </a:r>
            <a:r>
              <a:rPr lang="vi-VN" sz="2400" b="1">
                <a:solidFill>
                  <a:srgbClr val="002060"/>
                </a:solidFill>
                <a:latin typeface="Cambria" panose="02040503050406030204" pitchFamily="18" charset="0"/>
              </a:rPr>
              <a:t>QUAN JPEG </a:t>
            </a:r>
            <a:r>
              <a:rPr lang="vi-VN" sz="2400" b="1" smtClean="0">
                <a:solidFill>
                  <a:srgbClr val="002060"/>
                </a:solidFill>
                <a:latin typeface="Cambria" panose="02040503050406030204" pitchFamily="18" charset="0"/>
              </a:rPr>
              <a:t>2000</a:t>
            </a:r>
            <a:endParaRPr lang="en-US" sz="2400" b="1" smtClean="0">
              <a:solidFill>
                <a:srgbClr val="002060"/>
              </a:solidFill>
              <a:latin typeface="Cambria" panose="02040503050406030204" pitchFamily="18" charset="0"/>
            </a:endParaRPr>
          </a:p>
          <a:p>
            <a:pPr marL="4651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JPEG-2000 có tỉ </a:t>
            </a:r>
            <a:r>
              <a:rPr lang="vi-VN" sz="2400" b="1" smtClean="0">
                <a:solidFill>
                  <a:srgbClr val="002060"/>
                </a:solidFill>
                <a:latin typeface="Cambria" panose="02040503050406030204" pitchFamily="18" charset="0"/>
              </a:rPr>
              <a:t>lệ</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xuyên </a:t>
            </a:r>
            <a:r>
              <a:rPr lang="vi-VN" sz="2400" b="1">
                <a:solidFill>
                  <a:srgbClr val="002060"/>
                </a:solidFill>
                <a:latin typeface="Cambria" panose="02040503050406030204" pitchFamily="18" charset="0"/>
              </a:rPr>
              <a:t>âm thấp </a:t>
            </a:r>
            <a:r>
              <a:rPr lang="vi-VN" sz="2400" b="1" smtClean="0">
                <a:solidFill>
                  <a:srgbClr val="002060"/>
                </a:solidFill>
                <a:latin typeface="Cambria" panose="02040503050406030204" pitchFamily="18" charset="0"/>
              </a:rPr>
              <a:t>hơn</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hẳn </a:t>
            </a:r>
            <a:r>
              <a:rPr lang="vi-VN" sz="2400" b="1">
                <a:solidFill>
                  <a:srgbClr val="002060"/>
                </a:solidFill>
                <a:latin typeface="Cambria" panose="02040503050406030204" pitchFamily="18" charset="0"/>
              </a:rPr>
              <a:t>công </a:t>
            </a:r>
            <a:r>
              <a:rPr lang="vi-VN" sz="2400" b="1" smtClean="0">
                <a:solidFill>
                  <a:srgbClr val="002060"/>
                </a:solidFill>
                <a:latin typeface="Cambria" panose="02040503050406030204" pitchFamily="18" charset="0"/>
              </a:rPr>
              <a:t>nghệ</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truyền </a:t>
            </a:r>
            <a:r>
              <a:rPr lang="vi-VN" sz="2400" b="1" smtClean="0">
                <a:solidFill>
                  <a:srgbClr val="002060"/>
                </a:solidFill>
                <a:latin typeface="Cambria" panose="02040503050406030204" pitchFamily="18" charset="0"/>
              </a:rPr>
              <a:t>thống</a:t>
            </a:r>
            <a:endParaRPr lang="en-US" sz="2400" b="1" smtClean="0">
              <a:solidFill>
                <a:srgbClr val="002060"/>
              </a:solidFill>
              <a:latin typeface="Cambria" panose="02040503050406030204" pitchFamily="18" charset="0"/>
            </a:endParaRPr>
          </a:p>
          <a:p>
            <a:pPr marL="4651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Cho phép tách </a:t>
            </a:r>
            <a:r>
              <a:rPr lang="vi-VN" sz="2400" b="1" smtClean="0">
                <a:solidFill>
                  <a:srgbClr val="002060"/>
                </a:solidFill>
                <a:latin typeface="Cambria" panose="02040503050406030204" pitchFamily="18" charset="0"/>
              </a:rPr>
              <a:t>các</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phân </a:t>
            </a:r>
            <a:r>
              <a:rPr lang="vi-VN" sz="2400" b="1">
                <a:solidFill>
                  <a:srgbClr val="002060"/>
                </a:solidFill>
                <a:latin typeface="Cambria" panose="02040503050406030204" pitchFamily="18" charset="0"/>
              </a:rPr>
              <a:t>giải </a:t>
            </a:r>
            <a:r>
              <a:rPr lang="vi-VN" sz="2400" b="1" smtClean="0">
                <a:solidFill>
                  <a:srgbClr val="002060"/>
                </a:solidFill>
                <a:latin typeface="Cambria" panose="02040503050406030204" pitchFamily="18" charset="0"/>
              </a:rPr>
              <a:t>khác</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nhau</a:t>
            </a:r>
            <a:r>
              <a:rPr lang="vi-VN" sz="2400" b="1">
                <a:solidFill>
                  <a:srgbClr val="002060"/>
                </a:solidFill>
                <a:latin typeface="Cambria" panose="02040503050406030204" pitchFamily="18" charset="0"/>
              </a:rPr>
              <a:t>, các </a:t>
            </a:r>
            <a:r>
              <a:rPr lang="vi-VN" sz="2400" b="1" smtClean="0">
                <a:solidFill>
                  <a:srgbClr val="002060"/>
                </a:solidFill>
                <a:latin typeface="Cambria" panose="02040503050406030204" pitchFamily="18" charset="0"/>
              </a:rPr>
              <a:t>miền</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quan </a:t>
            </a:r>
            <a:r>
              <a:rPr lang="vi-VN" sz="2400" b="1">
                <a:solidFill>
                  <a:srgbClr val="002060"/>
                </a:solidFill>
                <a:latin typeface="Cambria" panose="02040503050406030204" pitchFamily="18" charset="0"/>
              </a:rPr>
              <a:t>tâm và đưa </a:t>
            </a:r>
            <a:r>
              <a:rPr lang="vi-VN" sz="2400" b="1" smtClean="0">
                <a:solidFill>
                  <a:srgbClr val="002060"/>
                </a:solidFill>
                <a:latin typeface="Cambria" panose="02040503050406030204" pitchFamily="18" charset="0"/>
              </a:rPr>
              <a:t>ra</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được </a:t>
            </a:r>
            <a:r>
              <a:rPr lang="vi-VN" sz="2400" b="1">
                <a:solidFill>
                  <a:srgbClr val="002060"/>
                </a:solidFill>
                <a:latin typeface="Cambria" panose="02040503050406030204" pitchFamily="18" charset="0"/>
              </a:rPr>
              <a:t>một dòng bit </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nén đơn</a:t>
            </a:r>
            <a:endParaRPr lang="en-US" sz="2400" b="1" smtClean="0">
              <a:solidFill>
                <a:srgbClr val="002060"/>
              </a:solidFill>
              <a:latin typeface="Cambria" panose="02040503050406030204" pitchFamily="18" charset="0"/>
            </a:endParaRPr>
          </a:p>
          <a:p>
            <a:pPr marL="4651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rPr>
              <a:t>JPEG-2000 </a:t>
            </a:r>
            <a:r>
              <a:rPr lang="vi-VN" sz="2400" b="1" smtClean="0">
                <a:solidFill>
                  <a:srgbClr val="002060"/>
                </a:solidFill>
                <a:latin typeface="Cambria" panose="02040503050406030204" pitchFamily="18" charset="0"/>
              </a:rPr>
              <a:t>sử</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dụng </a:t>
            </a:r>
            <a:r>
              <a:rPr lang="vi-VN" sz="2400" b="1">
                <a:solidFill>
                  <a:srgbClr val="002060"/>
                </a:solidFill>
                <a:latin typeface="Cambria" panose="02040503050406030204" pitchFamily="18" charset="0"/>
              </a:rPr>
              <a:t>kĩ thuật </a:t>
            </a:r>
            <a:r>
              <a:rPr lang="vi-VN" sz="2400" b="1" smtClean="0">
                <a:solidFill>
                  <a:srgbClr val="002060"/>
                </a:solidFill>
                <a:latin typeface="Cambria" panose="02040503050406030204" pitchFamily="18" charset="0"/>
              </a:rPr>
              <a:t>mã</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hóa </a:t>
            </a:r>
            <a:r>
              <a:rPr lang="vi-VN" sz="2400" b="1">
                <a:solidFill>
                  <a:srgbClr val="002060"/>
                </a:solidFill>
                <a:latin typeface="Cambria" panose="02040503050406030204" pitchFamily="18" charset="0"/>
              </a:rPr>
              <a:t>dạng sóng </a:t>
            </a:r>
            <a:r>
              <a:rPr lang="vi-VN" sz="2400" b="1" smtClean="0">
                <a:solidFill>
                  <a:srgbClr val="002060"/>
                </a:solidFill>
                <a:latin typeface="Cambria" panose="02040503050406030204" pitchFamily="18" charset="0"/>
              </a:rPr>
              <a:t>rời</a:t>
            </a:r>
            <a:r>
              <a:rPr lang="en-US" sz="2400" b="1" smtClean="0">
                <a:solidFill>
                  <a:srgbClr val="002060"/>
                </a:solidFill>
                <a:latin typeface="Cambria" panose="02040503050406030204" pitchFamily="18" charset="0"/>
              </a:rPr>
              <a:t> </a:t>
            </a:r>
            <a:r>
              <a:rPr lang="vi-VN" sz="2400" b="1" smtClean="0">
                <a:solidFill>
                  <a:srgbClr val="002060"/>
                </a:solidFill>
                <a:latin typeface="Cambria" panose="02040503050406030204" pitchFamily="18" charset="0"/>
              </a:rPr>
              <a:t>rạc </a:t>
            </a:r>
            <a:r>
              <a:rPr lang="vi-VN" sz="2400" b="1">
                <a:solidFill>
                  <a:srgbClr val="002060"/>
                </a:solidFill>
                <a:latin typeface="Cambria" panose="02040503050406030204" pitchFamily="18" charset="0"/>
              </a:rPr>
              <a:t>DWT-Discrete </a:t>
            </a:r>
            <a:r>
              <a:rPr lang="vi-VN" sz="2400" b="1" smtClean="0">
                <a:solidFill>
                  <a:srgbClr val="002060"/>
                </a:solidFill>
                <a:latin typeface="Cambria" panose="02040503050406030204" pitchFamily="18" charset="0"/>
              </a:rPr>
              <a:t>Wavelet </a:t>
            </a:r>
            <a:r>
              <a:rPr lang="vi-VN" sz="2400" b="1">
                <a:solidFill>
                  <a:srgbClr val="002060"/>
                </a:solidFill>
                <a:latin typeface="Cambria" panose="02040503050406030204" pitchFamily="18" charset="0"/>
              </a:rPr>
              <a:t>Transform</a:t>
            </a:r>
          </a:p>
        </p:txBody>
      </p:sp>
    </p:spTree>
    <p:extLst>
      <p:ext uri="{BB962C8B-B14F-4D97-AF65-F5344CB8AC3E}">
        <p14:creationId xmlns:p14="http://schemas.microsoft.com/office/powerpoint/2010/main" val="32470090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ƯU ĐIỂM CỦA JPEG2000 SO VỚI </a:t>
            </a:r>
            <a:r>
              <a:rPr lang="vi-VN" sz="2400" b="1" smtClean="0">
                <a:solidFill>
                  <a:srgbClr val="002060"/>
                </a:solidFill>
                <a:latin typeface="Cambria" panose="02040503050406030204" pitchFamily="18" charset="0"/>
                <a:ea typeface="Cambria" panose="02040503050406030204" pitchFamily="18" charset="0"/>
              </a:rPr>
              <a:t>JPEG</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Sử dụng được với truyền dẫn và hiển thị lũy tiến về chất lượng, độ phân giải, các thành phần màu có tính định vị không </a:t>
            </a:r>
            <a:r>
              <a:rPr lang="vi-VN" sz="2400" b="1" smtClean="0">
                <a:solidFill>
                  <a:srgbClr val="002060"/>
                </a:solidFill>
                <a:latin typeface="Cambria" panose="02040503050406030204" pitchFamily="18" charset="0"/>
                <a:ea typeface="Cambria" panose="02040503050406030204" pitchFamily="18" charset="0"/>
              </a:rPr>
              <a:t>gian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Sử dụng một cơ chế nén ảnh cho cả 2 dạng </a:t>
            </a:r>
            <a:r>
              <a:rPr lang="vi-VN" sz="2400" b="1" smtClean="0">
                <a:solidFill>
                  <a:srgbClr val="002060"/>
                </a:solidFill>
                <a:latin typeface="Cambria" panose="02040503050406030204" pitchFamily="18" charset="0"/>
                <a:ea typeface="Cambria" panose="02040503050406030204" pitchFamily="18" charset="0"/>
              </a:rPr>
              <a:t>thứ</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nén </a:t>
            </a:r>
            <a:r>
              <a:rPr lang="vi-VN" sz="2400" b="1">
                <a:solidFill>
                  <a:srgbClr val="002060"/>
                </a:solidFill>
                <a:latin typeface="Cambria" panose="02040503050406030204" pitchFamily="18" charset="0"/>
                <a:ea typeface="Cambria" panose="02040503050406030204" pitchFamily="18" charset="0"/>
              </a:rPr>
              <a:t>(có tổn thất và không tổn </a:t>
            </a:r>
            <a:r>
              <a:rPr lang="vi-VN" sz="2400" b="1" smtClean="0">
                <a:solidFill>
                  <a:srgbClr val="002060"/>
                </a:solidFill>
                <a:latin typeface="Cambria" panose="02040503050406030204" pitchFamily="18" charset="0"/>
                <a:ea typeface="Cambria" panose="02040503050406030204" pitchFamily="18" charset="0"/>
              </a:rPr>
              <a:t>thất</a:t>
            </a:r>
            <a:r>
              <a:rPr lang="en-US" sz="2400" b="1" smtClean="0">
                <a:solidFill>
                  <a:srgbClr val="002060"/>
                </a:solidFill>
                <a:latin typeface="Cambria" panose="02040503050406030204" pitchFamily="18" charset="0"/>
                <a:ea typeface="Cambria" panose="02040503050406030204" pitchFamily="18" charset="0"/>
              </a:rPr>
              <a:t>)</a:t>
            </a: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JPEG2000 có thể đưa ra tỷ lệ nén cao hơn nhiều so với JPEG. Tỷ lệ nén có thể lên tới 200:1 </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Có khả năng mã hóa ảnh với tỉ lệ nén theo từng vùng khác nhau (</a:t>
            </a:r>
            <a:r>
              <a:rPr lang="vi-VN" sz="2400" b="1" smtClean="0">
                <a:solidFill>
                  <a:srgbClr val="002060"/>
                </a:solidFill>
                <a:latin typeface="Cambria" panose="02040503050406030204" pitchFamily="18" charset="0"/>
                <a:ea typeface="Cambria" panose="02040503050406030204" pitchFamily="18" charset="0"/>
              </a:rPr>
              <a:t>ROI</a:t>
            </a:r>
            <a:r>
              <a:rPr lang="en-US" sz="2400" b="1" smtClean="0">
                <a:solidFill>
                  <a:srgbClr val="002060"/>
                </a:solidFill>
                <a:latin typeface="Cambria" panose="02040503050406030204" pitchFamily="18" charset="0"/>
                <a:ea typeface="Cambria" panose="02040503050406030204" pitchFamily="18" charset="0"/>
              </a:rPr>
              <a:t>)</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73022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smtClean="0">
                <a:solidFill>
                  <a:srgbClr val="002060"/>
                </a:solidFill>
                <a:latin typeface="Cambria" panose="02040503050406030204" pitchFamily="18" charset="0"/>
                <a:ea typeface="Cambria" panose="02040503050406030204" pitchFamily="18" charset="0"/>
              </a:rPr>
              <a:t>JPEG2K </a:t>
            </a:r>
            <a:r>
              <a:rPr lang="vi-VN" sz="2400" b="1">
                <a:solidFill>
                  <a:srgbClr val="002060"/>
                </a:solidFill>
                <a:latin typeface="Cambria" panose="02040503050406030204" pitchFamily="18" charset="0"/>
                <a:ea typeface="Cambria" panose="02040503050406030204" pitchFamily="18" charset="0"/>
              </a:rPr>
              <a:t>sử dụng phép biến đổi wavelet và các phương pháp đặc biệt để có được ảnh nén tối ưu nhất </a:t>
            </a:r>
            <a:endParaRPr lang="en-US" sz="2400" b="1" smtClean="0">
              <a:solidFill>
                <a:srgbClr val="002060"/>
              </a:solidFill>
              <a:latin typeface="Cambria" panose="02040503050406030204" pitchFamily="18" charset="0"/>
              <a:ea typeface="Cambria" panose="02040503050406030204" pitchFamily="18" charset="0"/>
            </a:endParaRPr>
          </a:p>
          <a:p>
            <a:pPr marL="565150" indent="-215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Cho </a:t>
            </a:r>
            <a:r>
              <a:rPr lang="vi-VN" sz="2400" b="1">
                <a:solidFill>
                  <a:srgbClr val="002060"/>
                </a:solidFill>
                <a:latin typeface="Cambria" panose="02040503050406030204" pitchFamily="18" charset="0"/>
                <a:ea typeface="Cambria" panose="02040503050406030204" pitchFamily="18" charset="0"/>
              </a:rPr>
              <a:t>chất lượng tốt nhất khi sử dụng nén ảnh </a:t>
            </a:r>
            <a:r>
              <a:rPr lang="vi-VN" sz="2400" b="1" smtClean="0">
                <a:solidFill>
                  <a:srgbClr val="002060"/>
                </a:solidFill>
                <a:latin typeface="Cambria" panose="02040503050406030204" pitchFamily="18" charset="0"/>
                <a:ea typeface="Cambria" panose="02040503050406030204" pitchFamily="18" charset="0"/>
              </a:rPr>
              <a:t>tĩnh</a:t>
            </a:r>
            <a:endParaRPr lang="en-US" sz="2400" b="1" smtClean="0">
              <a:solidFill>
                <a:srgbClr val="002060"/>
              </a:solidFill>
              <a:latin typeface="Cambria" panose="02040503050406030204" pitchFamily="18" charset="0"/>
              <a:ea typeface="Cambria" panose="02040503050406030204" pitchFamily="18" charset="0"/>
            </a:endParaRPr>
          </a:p>
          <a:p>
            <a:pPr marL="565150" indent="-215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 Sử </a:t>
            </a:r>
            <a:r>
              <a:rPr lang="vi-VN" sz="2400" b="1">
                <a:solidFill>
                  <a:srgbClr val="002060"/>
                </a:solidFill>
                <a:latin typeface="Cambria" panose="02040503050406030204" pitchFamily="18" charset="0"/>
                <a:ea typeface="Cambria" panose="02040503050406030204" pitchFamily="18" charset="0"/>
              </a:rPr>
              <a:t>dụng được với truyền dẫn và hiển thị lũy tiến về chất lượng, độ phân giải. </a:t>
            </a:r>
            <a:endParaRPr lang="en-US" sz="2400" b="1" smtClean="0">
              <a:solidFill>
                <a:srgbClr val="002060"/>
              </a:solidFill>
              <a:latin typeface="Cambria" panose="02040503050406030204" pitchFamily="18" charset="0"/>
              <a:ea typeface="Cambria" panose="02040503050406030204" pitchFamily="18" charset="0"/>
            </a:endParaRPr>
          </a:p>
          <a:p>
            <a:pPr marL="565150" indent="-215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Truy </a:t>
            </a:r>
            <a:r>
              <a:rPr lang="vi-VN" sz="2400" b="1">
                <a:solidFill>
                  <a:srgbClr val="002060"/>
                </a:solidFill>
                <a:latin typeface="Cambria" panose="02040503050406030204" pitchFamily="18" charset="0"/>
                <a:ea typeface="Cambria" panose="02040503050406030204" pitchFamily="18" charset="0"/>
              </a:rPr>
              <a:t>cập và giải nén tại mọi thời điểm trong khi nhận dữ liệu </a:t>
            </a:r>
            <a:endParaRPr lang="en-US" sz="2400" b="1" smtClean="0">
              <a:solidFill>
                <a:srgbClr val="002060"/>
              </a:solidFill>
              <a:latin typeface="Cambria" panose="02040503050406030204" pitchFamily="18" charset="0"/>
              <a:ea typeface="Cambria" panose="02040503050406030204" pitchFamily="18" charset="0"/>
            </a:endParaRPr>
          </a:p>
          <a:p>
            <a:pPr marL="565150" indent="-215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Giải </a:t>
            </a:r>
            <a:r>
              <a:rPr lang="vi-VN" sz="2400" b="1">
                <a:solidFill>
                  <a:srgbClr val="002060"/>
                </a:solidFill>
                <a:latin typeface="Cambria" panose="02040503050406030204" pitchFamily="18" charset="0"/>
                <a:ea typeface="Cambria" panose="02040503050406030204" pitchFamily="18" charset="0"/>
              </a:rPr>
              <a:t>nén từng vùng ảnh mà không giải nén toàn bộ ảnh </a:t>
            </a:r>
          </a:p>
        </p:txBody>
      </p:sp>
    </p:spTree>
    <p:extLst>
      <p:ext uri="{BB962C8B-B14F-4D97-AF65-F5344CB8AC3E}">
        <p14:creationId xmlns:p14="http://schemas.microsoft.com/office/powerpoint/2010/main" val="2009167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46331"/>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CHUẨN </a:t>
            </a:r>
            <a:r>
              <a:rPr lang="vi-VN" sz="2400" b="1" smtClean="0">
                <a:solidFill>
                  <a:srgbClr val="002060"/>
                </a:solidFill>
                <a:latin typeface="Cambria" panose="02040503050406030204" pitchFamily="18" charset="0"/>
                <a:ea typeface="Cambria" panose="02040503050406030204" pitchFamily="18" charset="0"/>
              </a:rPr>
              <a:t>JPEG2K</a:t>
            </a:r>
            <a:endParaRPr lang="en-US" sz="2400" b="1" smtClean="0">
              <a:solidFill>
                <a:srgbClr val="002060"/>
              </a:solidFill>
              <a:latin typeface="Cambria" panose="02040503050406030204" pitchFamily="18" charset="0"/>
              <a:ea typeface="Cambria" panose="02040503050406030204" pitchFamily="18" charset="0"/>
            </a:endParaRPr>
          </a:p>
          <a:p>
            <a:pPr marL="565150" indent="-215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Có khả năng mã hóa ảnh với tỷ lệ nén theo từng vùng khác nhau</a:t>
            </a:r>
          </a:p>
          <a:p>
            <a:pPr marL="565150" indent="-215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Nén một lần nhưng có thể giải nén với nhiều cấp chất lượng tùy theo yêu cầu của người sử dụng</a:t>
            </a:r>
          </a:p>
          <a:p>
            <a:pPr marL="565150" indent="-215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ISO và ủy ban JPEG đã đưa ra quyết định thay thế IPEG bằng JPEG2k </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58028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57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Các bước nén ảnh trong JPEG </a:t>
            </a:r>
            <a:r>
              <a:rPr lang="vi-VN" sz="2400" b="1" smtClean="0">
                <a:solidFill>
                  <a:srgbClr val="002060"/>
                </a:solidFill>
                <a:latin typeface="Cambria" panose="02040503050406030204" pitchFamily="18" charset="0"/>
                <a:ea typeface="Cambria" panose="02040503050406030204" pitchFamily="18" charset="0"/>
              </a:rPr>
              <a:t>2000</a:t>
            </a:r>
            <a:endParaRPr lang="en-US" sz="2400" b="1" smtClean="0">
              <a:solidFill>
                <a:srgbClr val="002060"/>
              </a:solidFill>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220" y="1426695"/>
            <a:ext cx="8612563" cy="3660694"/>
          </a:xfrm>
          <a:prstGeom prst="rect">
            <a:avLst/>
          </a:prstGeom>
        </p:spPr>
      </p:pic>
    </p:spTree>
    <p:extLst>
      <p:ext uri="{BB962C8B-B14F-4D97-AF65-F5344CB8AC3E}">
        <p14:creationId xmlns:p14="http://schemas.microsoft.com/office/powerpoint/2010/main" val="23617255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Các bước nén ảnh trong JPEG </a:t>
            </a:r>
            <a:r>
              <a:rPr lang="vi-VN" sz="2400" b="1" smtClean="0">
                <a:solidFill>
                  <a:srgbClr val="002060"/>
                </a:solidFill>
                <a:latin typeface="Cambria" panose="02040503050406030204" pitchFamily="18" charset="0"/>
                <a:ea typeface="Cambria" panose="02040503050406030204" pitchFamily="18" charset="0"/>
              </a:rPr>
              <a:t>2000</a:t>
            </a:r>
            <a:endParaRPr lang="en-US" sz="2400" b="1" smtClean="0">
              <a:solidFill>
                <a:srgbClr val="002060"/>
              </a:solidFill>
              <a:latin typeface="Cambria" panose="02040503050406030204" pitchFamily="18" charset="0"/>
              <a:ea typeface="Cambria" panose="02040503050406030204" pitchFamily="18" charset="0"/>
            </a:endParaRPr>
          </a:p>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Bước 1: </a:t>
            </a:r>
            <a:r>
              <a:rPr lang="vi-VN" sz="2400" b="1">
                <a:solidFill>
                  <a:srgbClr val="002060"/>
                </a:solidFill>
                <a:latin typeface="Cambria" panose="02040503050406030204" pitchFamily="18" charset="0"/>
                <a:ea typeface="Cambria" panose="02040503050406030204" pitchFamily="18" charset="0"/>
              </a:rPr>
              <a:t>Xử lý trước biến </a:t>
            </a:r>
            <a:r>
              <a:rPr lang="vi-VN" sz="2400" b="1" smtClean="0">
                <a:solidFill>
                  <a:srgbClr val="002060"/>
                </a:solidFill>
                <a:latin typeface="Cambria" panose="02040503050406030204" pitchFamily="18" charset="0"/>
                <a:ea typeface="Cambria" panose="02040503050406030204" pitchFamily="18" charset="0"/>
              </a:rPr>
              <a:t>đổi</a:t>
            </a:r>
            <a:r>
              <a:rPr lang="en-US" sz="2400" b="1" smtClean="0">
                <a:solidFill>
                  <a:srgbClr val="002060"/>
                </a:solidFill>
                <a:latin typeface="Cambria" panose="02040503050406030204" pitchFamily="18" charset="0"/>
                <a:ea typeface="Cambria" panose="02040503050406030204" pitchFamily="18" charset="0"/>
              </a:rPr>
              <a:t> </a:t>
            </a:r>
          </a:p>
          <a:p>
            <a:pPr marL="1479550" indent="-331788"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L</a:t>
            </a:r>
            <a:r>
              <a:rPr lang="vi-VN" sz="2400" b="1" smtClean="0">
                <a:solidFill>
                  <a:srgbClr val="002060"/>
                </a:solidFill>
                <a:latin typeface="Cambria" panose="02040503050406030204" pitchFamily="18" charset="0"/>
                <a:ea typeface="Cambria" panose="02040503050406030204" pitchFamily="18" charset="0"/>
              </a:rPr>
              <a:t>à </a:t>
            </a:r>
            <a:r>
              <a:rPr lang="vi-VN" sz="2400" b="1">
                <a:solidFill>
                  <a:srgbClr val="002060"/>
                </a:solidFill>
                <a:latin typeface="Cambria" panose="02040503050406030204" pitchFamily="18" charset="0"/>
                <a:ea typeface="Cambria" panose="02040503050406030204" pitchFamily="18" charset="0"/>
              </a:rPr>
              <a:t>giai đoạn đảm bảo dữ </a:t>
            </a:r>
            <a:r>
              <a:rPr lang="vi-VN" sz="2400" b="1" smtClean="0">
                <a:solidFill>
                  <a:srgbClr val="002060"/>
                </a:solidFill>
                <a:latin typeface="Cambria" panose="02040503050406030204" pitchFamily="18" charset="0"/>
                <a:ea typeface="Cambria" panose="02040503050406030204" pitchFamily="18" charset="0"/>
              </a:rPr>
              <a:t>liệu</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đưa </a:t>
            </a:r>
            <a:r>
              <a:rPr lang="vi-VN" sz="2400" b="1">
                <a:solidFill>
                  <a:srgbClr val="002060"/>
                </a:solidFill>
                <a:latin typeface="Cambria" panose="02040503050406030204" pitchFamily="18" charset="0"/>
                <a:ea typeface="Cambria" panose="02040503050406030204" pitchFamily="18" charset="0"/>
              </a:rPr>
              <a:t>vào nén ảnh có dạng đối xứng qua 0</a:t>
            </a:r>
          </a:p>
          <a:p>
            <a:pPr marL="166688" algn="just">
              <a:lnSpc>
                <a:spcPct val="150000"/>
              </a:lnSpc>
            </a:pPr>
            <a:r>
              <a:rPr lang="en-US" sz="2400" b="1">
                <a:solidFill>
                  <a:srgbClr val="002060"/>
                </a:solidFill>
                <a:latin typeface="Cambria" panose="02040503050406030204" pitchFamily="18" charset="0"/>
                <a:ea typeface="Cambria" panose="02040503050406030204" pitchFamily="18" charset="0"/>
              </a:rPr>
              <a:t>Bước 2: </a:t>
            </a:r>
            <a:r>
              <a:rPr lang="en-US" sz="2400" b="1" smtClean="0">
                <a:solidFill>
                  <a:srgbClr val="002060"/>
                </a:solidFill>
                <a:latin typeface="Cambria" panose="02040503050406030204" pitchFamily="18" charset="0"/>
                <a:ea typeface="Cambria" panose="02040503050406030204" pitchFamily="18" charset="0"/>
              </a:rPr>
              <a:t>Biến </a:t>
            </a:r>
            <a:r>
              <a:rPr lang="en-US" sz="2400" b="1">
                <a:solidFill>
                  <a:srgbClr val="002060"/>
                </a:solidFill>
                <a:latin typeface="Cambria" panose="02040503050406030204" pitchFamily="18" charset="0"/>
                <a:ea typeface="Cambria" panose="02040503050406030204" pitchFamily="18" charset="0"/>
              </a:rPr>
              <a:t>đổi liên thành </a:t>
            </a:r>
            <a:r>
              <a:rPr lang="en-US" sz="2400" b="1" smtClean="0">
                <a:solidFill>
                  <a:srgbClr val="002060"/>
                </a:solidFill>
                <a:latin typeface="Cambria" panose="02040503050406030204" pitchFamily="18" charset="0"/>
                <a:ea typeface="Cambria" panose="02040503050406030204" pitchFamily="18" charset="0"/>
              </a:rPr>
              <a:t>phần</a:t>
            </a:r>
          </a:p>
          <a:p>
            <a:pPr marL="1479550" indent="-331788"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Loại bỏ tính tương quan giữa các thành phần của </a:t>
            </a:r>
            <a:r>
              <a:rPr lang="vi-VN" sz="2400" b="1" smtClean="0">
                <a:solidFill>
                  <a:srgbClr val="002060"/>
                </a:solidFill>
                <a:latin typeface="Cambria" panose="02040503050406030204" pitchFamily="18" charset="0"/>
                <a:ea typeface="Cambria" panose="02040503050406030204" pitchFamily="18" charset="0"/>
              </a:rPr>
              <a:t>ảnh</a:t>
            </a:r>
            <a:endParaRPr lang="en-US" sz="2400" b="1" smtClean="0">
              <a:solidFill>
                <a:srgbClr val="002060"/>
              </a:solidFill>
              <a:latin typeface="Cambria" panose="02040503050406030204" pitchFamily="18" charset="0"/>
              <a:ea typeface="Cambria" panose="02040503050406030204" pitchFamily="18" charset="0"/>
            </a:endParaRPr>
          </a:p>
          <a:p>
            <a:pPr marL="1479550" indent="-331788"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Chuyển từ RGB sang YCrBr sử dụng ICT và </a:t>
            </a:r>
            <a:r>
              <a:rPr lang="en-US" sz="2400" b="1" smtClean="0">
                <a:solidFill>
                  <a:srgbClr val="002060"/>
                </a:solidFill>
                <a:latin typeface="Cambria" panose="02040503050406030204" pitchFamily="18" charset="0"/>
                <a:ea typeface="Cambria" panose="02040503050406030204" pitchFamily="18" charset="0"/>
              </a:rPr>
              <a:t>RCT</a:t>
            </a:r>
          </a:p>
          <a:p>
            <a:pPr marL="1479550" indent="-331788"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Làm tăng hiệu quả nén </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834263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Các bước nén ảnh trong JPEG </a:t>
            </a:r>
            <a:r>
              <a:rPr lang="vi-VN" sz="2400" b="1" smtClean="0">
                <a:solidFill>
                  <a:srgbClr val="002060"/>
                </a:solidFill>
                <a:latin typeface="Cambria" panose="02040503050406030204" pitchFamily="18" charset="0"/>
                <a:ea typeface="Cambria" panose="02040503050406030204" pitchFamily="18" charset="0"/>
              </a:rPr>
              <a:t>2000</a:t>
            </a:r>
            <a:endParaRPr lang="en-US" sz="2400" b="1" smtClean="0">
              <a:solidFill>
                <a:srgbClr val="002060"/>
              </a:solidFill>
              <a:latin typeface="Cambria" panose="02040503050406030204" pitchFamily="18" charset="0"/>
              <a:ea typeface="Cambria" panose="02040503050406030204" pitchFamily="18" charset="0"/>
            </a:endParaRPr>
          </a:p>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Bước 3: </a:t>
            </a:r>
            <a:r>
              <a:rPr lang="vi-VN" sz="2400" b="1">
                <a:solidFill>
                  <a:srgbClr val="002060"/>
                </a:solidFill>
                <a:latin typeface="Cambria" panose="02040503050406030204" pitchFamily="18" charset="0"/>
                <a:ea typeface="Cambria" panose="02040503050406030204" pitchFamily="18" charset="0"/>
              </a:rPr>
              <a:t>Biến đổi riêng thành phần (biến đổi Wavelet</a:t>
            </a:r>
            <a:r>
              <a:rPr lang="vi-VN" sz="2400" b="1" smtClean="0">
                <a:solidFill>
                  <a:srgbClr val="002060"/>
                </a:solidFill>
                <a:latin typeface="Cambria" panose="02040503050406030204" pitchFamily="18" charset="0"/>
                <a:ea typeface="Cambria" panose="02040503050406030204" pitchFamily="18" charset="0"/>
              </a:rPr>
              <a:t>)</a:t>
            </a:r>
            <a:endParaRPr lang="en-US" sz="2400" b="1" smtClean="0">
              <a:solidFill>
                <a:srgbClr val="002060"/>
              </a:solidFill>
              <a:latin typeface="Cambria" panose="02040503050406030204" pitchFamily="18" charset="0"/>
              <a:ea typeface="Cambria" panose="02040503050406030204" pitchFamily="18" charset="0"/>
            </a:endParaRPr>
          </a:p>
          <a:p>
            <a:pPr marL="1479550" indent="-331788"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Sử dụng biến đổi wavelet. </a:t>
            </a:r>
            <a:r>
              <a:rPr lang="vi-VN" sz="2400" b="1" smtClean="0">
                <a:solidFill>
                  <a:srgbClr val="002060"/>
                </a:solidFill>
                <a:latin typeface="Cambria" panose="02040503050406030204" pitchFamily="18" charset="0"/>
                <a:ea typeface="Cambria" panose="02040503050406030204" pitchFamily="18" charset="0"/>
              </a:rPr>
              <a:t>Chia </a:t>
            </a:r>
            <a:r>
              <a:rPr lang="vi-VN" sz="2400" b="1">
                <a:solidFill>
                  <a:srgbClr val="002060"/>
                </a:solidFill>
                <a:latin typeface="Cambria" panose="02040503050406030204" pitchFamily="18" charset="0"/>
                <a:ea typeface="Cambria" panose="02040503050406030204" pitchFamily="18" charset="0"/>
              </a:rPr>
              <a:t>tín hiệu thành các </a:t>
            </a:r>
            <a:r>
              <a:rPr lang="vi-VN" sz="2400" b="1" smtClean="0">
                <a:solidFill>
                  <a:srgbClr val="002060"/>
                </a:solidFill>
                <a:latin typeface="Cambria" panose="02040503050406030204" pitchFamily="18" charset="0"/>
                <a:ea typeface="Cambria" panose="02040503050406030204" pitchFamily="18" charset="0"/>
              </a:rPr>
              <a:t>b</a:t>
            </a:r>
            <a:r>
              <a:rPr lang="en-US" sz="2400" b="1">
                <a:solidFill>
                  <a:srgbClr val="002060"/>
                </a:solidFill>
                <a:latin typeface="Cambria" panose="02040503050406030204" pitchFamily="18" charset="0"/>
                <a:ea typeface="Cambria" panose="02040503050406030204" pitchFamily="18" charset="0"/>
              </a:rPr>
              <a:t>ă</a:t>
            </a:r>
            <a:r>
              <a:rPr lang="vi-VN" sz="2400" b="1" smtClean="0">
                <a:solidFill>
                  <a:srgbClr val="002060"/>
                </a:solidFill>
                <a:latin typeface="Cambria" panose="02040503050406030204" pitchFamily="18" charset="0"/>
                <a:ea typeface="Cambria" panose="02040503050406030204" pitchFamily="18" charset="0"/>
              </a:rPr>
              <a:t>ng</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con </a:t>
            </a:r>
            <a:r>
              <a:rPr lang="vi-VN" sz="2400" b="1">
                <a:solidFill>
                  <a:srgbClr val="002060"/>
                </a:solidFill>
                <a:latin typeface="Cambria" panose="02040503050406030204" pitchFamily="18" charset="0"/>
                <a:ea typeface="Cambria" panose="02040503050406030204" pitchFamily="18" charset="0"/>
              </a:rPr>
              <a:t>và mỗi băng sẽ </a:t>
            </a:r>
            <a:r>
              <a:rPr lang="vi-VN" sz="2400" b="1" smtClean="0">
                <a:solidFill>
                  <a:srgbClr val="002060"/>
                </a:solidFill>
                <a:latin typeface="Cambria" panose="02040503050406030204" pitchFamily="18" charset="0"/>
                <a:ea typeface="Cambria" panose="02040503050406030204" pitchFamily="18" charset="0"/>
              </a:rPr>
              <a:t>được</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mã </a:t>
            </a:r>
            <a:r>
              <a:rPr lang="vi-VN" sz="2400" b="1">
                <a:solidFill>
                  <a:srgbClr val="002060"/>
                </a:solidFill>
                <a:latin typeface="Cambria" panose="02040503050406030204" pitchFamily="18" charset="0"/>
                <a:ea typeface="Cambria" panose="02040503050406030204" pitchFamily="18" charset="0"/>
              </a:rPr>
              <a:t>hóa riêng </a:t>
            </a:r>
            <a:r>
              <a:rPr lang="vi-VN" sz="2400" b="1" smtClean="0">
                <a:solidFill>
                  <a:srgbClr val="002060"/>
                </a:solidFill>
                <a:latin typeface="Cambria" panose="02040503050406030204" pitchFamily="18" charset="0"/>
                <a:ea typeface="Cambria" panose="02040503050406030204" pitchFamily="18" charset="0"/>
              </a:rPr>
              <a:t>rẽ</a:t>
            </a:r>
            <a:endParaRPr lang="en-US" sz="2400" b="1" smtClean="0">
              <a:solidFill>
                <a:srgbClr val="002060"/>
              </a:solidFill>
              <a:latin typeface="Cambria" panose="02040503050406030204" pitchFamily="18" charset="0"/>
              <a:ea typeface="Cambria" panose="02040503050406030204" pitchFamily="18" charset="0"/>
            </a:endParaRPr>
          </a:p>
          <a:p>
            <a:pPr marL="1479550" indent="-331788"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Thường sử dụng </a:t>
            </a:r>
            <a:r>
              <a:rPr lang="vi-VN" sz="2400" b="1" smtClean="0">
                <a:solidFill>
                  <a:srgbClr val="002060"/>
                </a:solidFill>
                <a:latin typeface="Cambria" panose="02040503050406030204" pitchFamily="18" charset="0"/>
                <a:ea typeface="Cambria" panose="02040503050406030204" pitchFamily="18" charset="0"/>
              </a:rPr>
              <a:t>hàm</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wavelet </a:t>
            </a:r>
            <a:r>
              <a:rPr lang="vi-VN" sz="2400" b="1">
                <a:solidFill>
                  <a:srgbClr val="002060"/>
                </a:solidFill>
                <a:latin typeface="Cambria" panose="02040503050406030204" pitchFamily="18" charset="0"/>
                <a:ea typeface="Cambria" panose="02040503050406030204" pitchFamily="18" charset="0"/>
              </a:rPr>
              <a:t>Daubechies</a:t>
            </a:r>
          </a:p>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Bước 4: </a:t>
            </a:r>
            <a:r>
              <a:rPr lang="vi-VN" sz="2400" b="1">
                <a:solidFill>
                  <a:srgbClr val="002060"/>
                </a:solidFill>
                <a:latin typeface="Cambria" panose="02040503050406030204" pitchFamily="18" charset="0"/>
                <a:ea typeface="Cambria" panose="02040503050406030204" pitchFamily="18" charset="0"/>
              </a:rPr>
              <a:t>Lượng tử </a:t>
            </a:r>
            <a:r>
              <a:rPr lang="vi-VN" sz="2400" b="1" smtClean="0">
                <a:solidFill>
                  <a:srgbClr val="002060"/>
                </a:solidFill>
                <a:latin typeface="Cambria" panose="02040503050406030204" pitchFamily="18" charset="0"/>
                <a:ea typeface="Cambria" panose="02040503050406030204" pitchFamily="18" charset="0"/>
              </a:rPr>
              <a:t>hóa</a:t>
            </a:r>
            <a:endParaRPr lang="en-US" sz="2400" b="1" smtClean="0">
              <a:solidFill>
                <a:srgbClr val="002060"/>
              </a:solidFill>
              <a:latin typeface="Cambria" panose="02040503050406030204" pitchFamily="18" charset="0"/>
              <a:ea typeface="Cambria" panose="02040503050406030204" pitchFamily="18" charset="0"/>
            </a:endParaRPr>
          </a:p>
          <a:p>
            <a:pPr marL="1479550" indent="-331788"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Cho phép đạt tỉ lệ nén cao </a:t>
            </a:r>
            <a:r>
              <a:rPr lang="vi-VN" sz="2400" b="1" smtClean="0">
                <a:solidFill>
                  <a:srgbClr val="002060"/>
                </a:solidFill>
                <a:latin typeface="Cambria" panose="02040503050406030204" pitchFamily="18" charset="0"/>
                <a:ea typeface="Cambria" panose="02040503050406030204" pitchFamily="18" charset="0"/>
              </a:rPr>
              <a:t>hơn</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bằng </a:t>
            </a:r>
            <a:r>
              <a:rPr lang="vi-VN" sz="2400" b="1">
                <a:solidFill>
                  <a:srgbClr val="002060"/>
                </a:solidFill>
                <a:latin typeface="Cambria" panose="02040503050406030204" pitchFamily="18" charset="0"/>
                <a:ea typeface="Cambria" panose="02040503050406030204" pitchFamily="18" charset="0"/>
              </a:rPr>
              <a:t>cách thể hiện các giá </a:t>
            </a:r>
            <a:r>
              <a:rPr lang="vi-VN" sz="2400" b="1" smtClean="0">
                <a:solidFill>
                  <a:srgbClr val="002060"/>
                </a:solidFill>
                <a:latin typeface="Cambria" panose="02040503050406030204" pitchFamily="18" charset="0"/>
                <a:ea typeface="Cambria" panose="02040503050406030204" pitchFamily="18" charset="0"/>
              </a:rPr>
              <a:t>trị</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biến </a:t>
            </a:r>
            <a:r>
              <a:rPr lang="vi-VN" sz="2400" b="1">
                <a:solidFill>
                  <a:srgbClr val="002060"/>
                </a:solidFill>
                <a:latin typeface="Cambria" panose="02040503050406030204" pitchFamily="18" charset="0"/>
                <a:ea typeface="Cambria" panose="02040503050406030204" pitchFamily="18" charset="0"/>
              </a:rPr>
              <a:t>đổi với độ chính xác </a:t>
            </a:r>
            <a:r>
              <a:rPr lang="vi-VN" sz="2400" b="1" smtClean="0">
                <a:solidFill>
                  <a:srgbClr val="002060"/>
                </a:solidFill>
                <a:latin typeface="Cambria" panose="02040503050406030204" pitchFamily="18" charset="0"/>
                <a:ea typeface="Cambria" panose="02040503050406030204" pitchFamily="18" charset="0"/>
              </a:rPr>
              <a:t>tương</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ứng </a:t>
            </a:r>
            <a:r>
              <a:rPr lang="vi-VN" sz="2400" b="1">
                <a:solidFill>
                  <a:srgbClr val="002060"/>
                </a:solidFill>
                <a:latin typeface="Cambria" panose="02040503050406030204" pitchFamily="18" charset="0"/>
                <a:ea typeface="Cambria" panose="02040503050406030204" pitchFamily="18" charset="0"/>
              </a:rPr>
              <a:t>cần thiết với mức chi </a:t>
            </a:r>
            <a:r>
              <a:rPr lang="vi-VN" sz="2400" b="1" smtClean="0">
                <a:solidFill>
                  <a:srgbClr val="002060"/>
                </a:solidFill>
                <a:latin typeface="Cambria" panose="02040503050406030204" pitchFamily="18" charset="0"/>
                <a:ea typeface="Cambria" panose="02040503050406030204" pitchFamily="18" charset="0"/>
              </a:rPr>
              <a:t>tiết</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của </a:t>
            </a:r>
            <a:r>
              <a:rPr lang="vi-VN" sz="2400" b="1">
                <a:solidFill>
                  <a:srgbClr val="002060"/>
                </a:solidFill>
                <a:latin typeface="Cambria" panose="02040503050406030204" pitchFamily="18" charset="0"/>
                <a:ea typeface="Cambria" panose="02040503050406030204" pitchFamily="18" charset="0"/>
              </a:rPr>
              <a:t>ảnh </a:t>
            </a:r>
            <a:r>
              <a:rPr lang="vi-VN" sz="2400" b="1" smtClean="0">
                <a:solidFill>
                  <a:srgbClr val="002060"/>
                </a:solidFill>
                <a:latin typeface="Cambria" panose="02040503050406030204" pitchFamily="18" charset="0"/>
                <a:ea typeface="Cambria" panose="02040503050406030204" pitchFamily="18" charset="0"/>
              </a:rPr>
              <a:t>cần</a:t>
            </a:r>
            <a:r>
              <a:rPr lang="en-US" sz="2400" b="1" smtClean="0">
                <a:solidFill>
                  <a:srgbClr val="002060"/>
                </a:solidFill>
                <a:latin typeface="Cambria" panose="02040503050406030204" pitchFamily="18" charset="0"/>
                <a:ea typeface="Cambria" panose="02040503050406030204" pitchFamily="18" charset="0"/>
              </a:rPr>
              <a:t> nén</a:t>
            </a:r>
          </a:p>
          <a:p>
            <a:pPr marL="1479550" indent="-331788"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Các hệ số biến đổi sẽ được lượng tử hoá theo phép lượng tử hoá vô hướng </a:t>
            </a:r>
          </a:p>
        </p:txBody>
      </p:sp>
    </p:spTree>
    <p:extLst>
      <p:ext uri="{BB962C8B-B14F-4D97-AF65-F5344CB8AC3E}">
        <p14:creationId xmlns:p14="http://schemas.microsoft.com/office/powerpoint/2010/main" val="5633519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vi-VN" sz="2400" b="1">
                <a:solidFill>
                  <a:srgbClr val="002060"/>
                </a:solidFill>
                <a:latin typeface="Cambria" panose="02040503050406030204" pitchFamily="18" charset="0"/>
                <a:ea typeface="Cambria" panose="02040503050406030204" pitchFamily="18" charset="0"/>
              </a:rPr>
              <a:t>Các bước nén ảnh trong JPEG </a:t>
            </a:r>
            <a:r>
              <a:rPr lang="vi-VN" sz="2400" b="1" smtClean="0">
                <a:solidFill>
                  <a:srgbClr val="002060"/>
                </a:solidFill>
                <a:latin typeface="Cambria" panose="02040503050406030204" pitchFamily="18" charset="0"/>
                <a:ea typeface="Cambria" panose="02040503050406030204" pitchFamily="18" charset="0"/>
              </a:rPr>
              <a:t>2000</a:t>
            </a:r>
            <a:endParaRPr lang="en-US" sz="2400" b="1" smtClean="0">
              <a:solidFill>
                <a:srgbClr val="002060"/>
              </a:solidFill>
              <a:latin typeface="Cambria" panose="02040503050406030204" pitchFamily="18" charset="0"/>
              <a:ea typeface="Cambria" panose="02040503050406030204" pitchFamily="18" charset="0"/>
            </a:endParaRPr>
          </a:p>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Bước 5: </a:t>
            </a:r>
            <a:r>
              <a:rPr lang="vi-VN" sz="2400" b="1">
                <a:solidFill>
                  <a:srgbClr val="002060"/>
                </a:solidFill>
                <a:latin typeface="Cambria" panose="02040503050406030204" pitchFamily="18" charset="0"/>
                <a:ea typeface="Cambria" panose="02040503050406030204" pitchFamily="18" charset="0"/>
              </a:rPr>
              <a:t>Mã </a:t>
            </a:r>
            <a:r>
              <a:rPr lang="vi-VN" sz="2400" b="1" smtClean="0">
                <a:solidFill>
                  <a:srgbClr val="002060"/>
                </a:solidFill>
                <a:latin typeface="Cambria" panose="02040503050406030204" pitchFamily="18" charset="0"/>
                <a:ea typeface="Cambria" panose="02040503050406030204" pitchFamily="18" charset="0"/>
              </a:rPr>
              <a:t>hóa</a:t>
            </a:r>
            <a:endParaRPr lang="en-US" sz="2400" b="1" smtClean="0">
              <a:solidFill>
                <a:srgbClr val="002060"/>
              </a:solidFill>
              <a:latin typeface="Cambria" panose="02040503050406030204" pitchFamily="18" charset="0"/>
              <a:ea typeface="Cambria" panose="02040503050406030204" pitchFamily="18" charset="0"/>
            </a:endParaRPr>
          </a:p>
          <a:p>
            <a:pPr marL="13795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JPEG-2000 cho phép sử dụng nhiều phương pháp mã hóa khác </a:t>
            </a:r>
            <a:r>
              <a:rPr lang="vi-VN" sz="2400" b="1" smtClean="0">
                <a:solidFill>
                  <a:srgbClr val="002060"/>
                </a:solidFill>
                <a:latin typeface="Cambria" panose="02040503050406030204" pitchFamily="18" charset="0"/>
                <a:ea typeface="Cambria" panose="02040503050406030204" pitchFamily="18" charset="0"/>
              </a:rPr>
              <a:t>nhau</a:t>
            </a:r>
            <a:endParaRPr lang="en-US" sz="2400" b="1" smtClean="0">
              <a:solidFill>
                <a:srgbClr val="002060"/>
              </a:solidFill>
              <a:latin typeface="Cambria" panose="02040503050406030204" pitchFamily="18" charset="0"/>
              <a:ea typeface="Cambria" panose="02040503050406030204" pitchFamily="18" charset="0"/>
            </a:endParaRPr>
          </a:p>
          <a:p>
            <a:pPr marL="1379538" indent="-29845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Trong thực tế sử dụng 2 phương pháp phổ biến là SPIHT và EZW </a:t>
            </a:r>
          </a:p>
        </p:txBody>
      </p:sp>
    </p:spTree>
    <p:extLst>
      <p:ext uri="{BB962C8B-B14F-4D97-AF65-F5344CB8AC3E}">
        <p14:creationId xmlns:p14="http://schemas.microsoft.com/office/powerpoint/2010/main" val="31653909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457200" indent="-457200" algn="just">
              <a:lnSpc>
                <a:spcPct val="150000"/>
              </a:lnSpc>
              <a:buAutoNum type="alphaLcPeriod"/>
            </a:pPr>
            <a:r>
              <a:rPr lang="vi-VN" sz="2400" b="1" smtClean="0">
                <a:solidFill>
                  <a:srgbClr val="002060"/>
                </a:solidFill>
                <a:latin typeface="Cambria" panose="02040503050406030204" pitchFamily="18" charset="0"/>
              </a:rPr>
              <a:t>JPEG </a:t>
            </a:r>
            <a:r>
              <a:rPr lang="vi-VN" sz="2400" b="1">
                <a:solidFill>
                  <a:srgbClr val="002060"/>
                </a:solidFill>
                <a:latin typeface="Cambria" panose="02040503050406030204" pitchFamily="18" charset="0"/>
              </a:rPr>
              <a:t>2000</a:t>
            </a:r>
            <a:endParaRPr lang="en-US"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SPIHT: </a:t>
            </a:r>
          </a:p>
          <a:p>
            <a:pPr marL="509588" indent="-342900"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P</a:t>
            </a:r>
            <a:r>
              <a:rPr lang="vi-VN" sz="2400" b="1" smtClean="0">
                <a:solidFill>
                  <a:srgbClr val="002060"/>
                </a:solidFill>
                <a:latin typeface="Cambria" panose="02040503050406030204" pitchFamily="18" charset="0"/>
                <a:ea typeface="Cambria" panose="02040503050406030204" pitchFamily="18" charset="0"/>
              </a:rPr>
              <a:t>hương </a:t>
            </a:r>
            <a:r>
              <a:rPr lang="vi-VN" sz="2400" b="1">
                <a:solidFill>
                  <a:srgbClr val="002060"/>
                </a:solidFill>
                <a:latin typeface="Cambria" panose="02040503050406030204" pitchFamily="18" charset="0"/>
                <a:ea typeface="Cambria" panose="02040503050406030204" pitchFamily="18" charset="0"/>
              </a:rPr>
              <a:t>pháp mã hoá phân cấp theo phân vùng </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SPIHT được thiết kế tối ưu cho truyền dẫn luỹ </a:t>
            </a:r>
            <a:r>
              <a:rPr lang="vi-VN" sz="2400" b="1" smtClean="0">
                <a:solidFill>
                  <a:srgbClr val="002060"/>
                </a:solidFill>
                <a:latin typeface="Cambria" panose="02040503050406030204" pitchFamily="18" charset="0"/>
                <a:ea typeface="Cambria" panose="02040503050406030204" pitchFamily="18" charset="0"/>
              </a:rPr>
              <a:t>tiến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Sử dụng kỹ thuật embedded coding - Có nghĩa là: một ảnh sau nén với kích cỡ (lưu trữ) lớn (tỷ lệ nén thấp) sẽ chứa chính dữ liệu sau nén của ảnh có kích cỡ (lưu trữ) nhỏ (tỷ lệ nén </a:t>
            </a:r>
            <a:r>
              <a:rPr lang="vi-VN" sz="2400" b="1" smtClean="0">
                <a:solidFill>
                  <a:srgbClr val="002060"/>
                </a:solidFill>
                <a:latin typeface="Cambria" panose="02040503050406030204" pitchFamily="18" charset="0"/>
                <a:ea typeface="Cambria" panose="02040503050406030204" pitchFamily="18" charset="0"/>
              </a:rPr>
              <a:t>cao</a:t>
            </a:r>
            <a:endParaRPr lang="en-US" sz="2400" b="1" smtClean="0">
              <a:solidFill>
                <a:srgbClr val="002060"/>
              </a:solidFill>
              <a:latin typeface="Cambria" panose="02040503050406030204" pitchFamily="18" charset="0"/>
              <a:ea typeface="Cambria" panose="02040503050406030204" pitchFamily="18" charset="0"/>
            </a:endParaRPr>
          </a:p>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EZW</a:t>
            </a: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Cũng dựa trên phương pháp mã hóa lũy </a:t>
            </a:r>
            <a:r>
              <a:rPr lang="vi-VN" sz="2400" b="1" smtClean="0">
                <a:solidFill>
                  <a:srgbClr val="002060"/>
                </a:solidFill>
                <a:latin typeface="Cambria" panose="02040503050406030204" pitchFamily="18" charset="0"/>
                <a:ea typeface="Cambria" panose="02040503050406030204" pitchFamily="18" charset="0"/>
              </a:rPr>
              <a:t>tiến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Phương pháp này chủ yếu dựa trên khái niệm về cây zero (zerotree). </a:t>
            </a:r>
          </a:p>
        </p:txBody>
      </p:sp>
    </p:spTree>
    <p:extLst>
      <p:ext uri="{BB962C8B-B14F-4D97-AF65-F5344CB8AC3E}">
        <p14:creationId xmlns:p14="http://schemas.microsoft.com/office/powerpoint/2010/main" val="15154730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 Một số kỹ thuật nén dữ liệu video.</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en-US" sz="2400" b="1" smtClean="0">
                <a:solidFill>
                  <a:srgbClr val="002060"/>
                </a:solidFill>
                <a:latin typeface="Cambria" panose="02040503050406030204" pitchFamily="18" charset="0"/>
                <a:ea typeface="Cambria" panose="02040503050406030204" pitchFamily="18" charset="0"/>
              </a:rPr>
              <a:t>Một số khái niệm cơ bản</a:t>
            </a:r>
          </a:p>
          <a:p>
            <a:pPr marL="509588" indent="-342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Tr</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tự video số bao gồm các frame hay ảnh sẽ </a:t>
            </a:r>
            <a:r>
              <a:rPr lang="vi-VN" sz="2400" b="1" smtClean="0">
                <a:solidFill>
                  <a:srgbClr val="002060"/>
                </a:solidFill>
                <a:latin typeface="Cambria" panose="02040503050406030204" pitchFamily="18" charset="0"/>
                <a:ea typeface="Cambria" panose="02040503050406030204" pitchFamily="18" charset="0"/>
              </a:rPr>
              <a:t>tr</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chiếu theo tốc độ cố </a:t>
            </a:r>
            <a:r>
              <a:rPr lang="vi-VN" sz="2400" b="1" smtClean="0">
                <a:solidFill>
                  <a:srgbClr val="002060"/>
                </a:solidFill>
                <a:latin typeface="Cambria" panose="02040503050406030204" pitchFamily="18" charset="0"/>
                <a:ea typeface="Cambria" panose="02040503050406030204" pitchFamily="18" charset="0"/>
              </a:rPr>
              <a:t>định</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Tốc độ chuyển động của frame video được xác định bởi các yếu tố</a:t>
            </a:r>
            <a:r>
              <a:rPr lang="vi-VN" sz="2400" b="1" smtClean="0">
                <a:solidFill>
                  <a:srgbClr val="002060"/>
                </a:solidFill>
                <a:latin typeface="Cambria" panose="02040503050406030204" pitchFamily="18" charset="0"/>
                <a:ea typeface="Cambria" panose="02040503050406030204" pitchFamily="18" charset="0"/>
              </a:rPr>
              <a:t>:</a:t>
            </a:r>
            <a:r>
              <a:rPr lang="en-US" sz="2400" b="1" smtClean="0">
                <a:solidFill>
                  <a:srgbClr val="002060"/>
                </a:solidFill>
                <a:latin typeface="Cambria" panose="02040503050406030204" pitchFamily="18" charset="0"/>
                <a:ea typeface="Cambria" panose="02040503050406030204" pitchFamily="18" charset="0"/>
              </a:rPr>
              <a:t> </a:t>
            </a:r>
          </a:p>
          <a:p>
            <a:pPr marL="852488" indent="-333375"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ea typeface="Cambria" panose="02040503050406030204" pitchFamily="18" charset="0"/>
              </a:rPr>
              <a:t>Tốc </a:t>
            </a:r>
            <a:r>
              <a:rPr lang="vi-VN" sz="2400" b="1">
                <a:solidFill>
                  <a:srgbClr val="002060"/>
                </a:solidFill>
                <a:latin typeface="Cambria" panose="02040503050406030204" pitchFamily="18" charset="0"/>
                <a:ea typeface="Cambria" panose="02040503050406030204" pitchFamily="18" charset="0"/>
              </a:rPr>
              <a:t>độ frame đủ cao để chuyển động trơn tru (trên 25 frame/sec).</a:t>
            </a:r>
          </a:p>
          <a:p>
            <a:pPr marL="852488" indent="-333375"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ea typeface="Cambria" panose="02040503050406030204" pitchFamily="18" charset="0"/>
              </a:rPr>
              <a:t>Tốc </a:t>
            </a:r>
            <a:r>
              <a:rPr lang="vi-VN" sz="2400" b="1">
                <a:solidFill>
                  <a:srgbClr val="002060"/>
                </a:solidFill>
                <a:latin typeface="Cambria" panose="02040503050406030204" pitchFamily="18" charset="0"/>
                <a:ea typeface="Cambria" panose="02040503050406030204" pitchFamily="18" charset="0"/>
              </a:rPr>
              <a:t>độ frame càng cao đòi hỏi băng thông càng lớn để truyền </a:t>
            </a:r>
            <a:r>
              <a:rPr lang="vi-VN" sz="2400" b="1" smtClean="0">
                <a:solidFill>
                  <a:srgbClr val="002060"/>
                </a:solidFill>
                <a:latin typeface="Cambria" panose="02040503050406030204" pitchFamily="18" charset="0"/>
                <a:ea typeface="Cambria" panose="02040503050406030204" pitchFamily="18" charset="0"/>
              </a:rPr>
              <a:t>t</a:t>
            </a:r>
            <a:r>
              <a:rPr lang="en-US" sz="2400" b="1">
                <a:solidFill>
                  <a:srgbClr val="002060"/>
                </a:solidFill>
                <a:latin typeface="Cambria" panose="02040503050406030204" pitchFamily="18" charset="0"/>
                <a:ea typeface="Cambria" panose="02040503050406030204" pitchFamily="18" charset="0"/>
              </a:rPr>
              <a:t>í</a:t>
            </a:r>
            <a:r>
              <a:rPr lang="vi-VN" sz="2400" b="1" smtClean="0">
                <a:solidFill>
                  <a:srgbClr val="002060"/>
                </a:solidFill>
                <a:latin typeface="Cambria" panose="02040503050406030204" pitchFamily="18" charset="0"/>
                <a:ea typeface="Cambria" panose="02040503050406030204" pitchFamily="18" charset="0"/>
              </a:rPr>
              <a:t>n </a:t>
            </a:r>
            <a:r>
              <a:rPr lang="vi-VN" sz="2400" b="1">
                <a:solidFill>
                  <a:srgbClr val="002060"/>
                </a:solidFill>
                <a:latin typeface="Cambria" panose="02040503050406030204" pitchFamily="18" charset="0"/>
                <a:ea typeface="Cambria" panose="02040503050406030204" pitchFamily="18" charset="0"/>
              </a:rPr>
              <a:t>hiệu video.</a:t>
            </a:r>
          </a:p>
          <a:p>
            <a:pPr marL="852488" indent="-333375" algn="just">
              <a:lnSpc>
                <a:spcPct val="150000"/>
              </a:lnSpc>
              <a:buFont typeface="Cambria" panose="02040503050406030204" pitchFamily="18" charset="0"/>
              <a:buChar char="⁺"/>
            </a:pPr>
            <a:r>
              <a:rPr lang="vi-VN" sz="2400" b="1">
                <a:solidFill>
                  <a:srgbClr val="002060"/>
                </a:solidFill>
                <a:latin typeface="Cambria" panose="02040503050406030204" pitchFamily="18" charset="0"/>
                <a:ea typeface="Cambria" panose="02040503050406030204" pitchFamily="18" charset="0"/>
              </a:rPr>
              <a:t>Ảnh trên màn </a:t>
            </a:r>
            <a:r>
              <a:rPr lang="vi-VN" sz="2400" b="1" smtClean="0">
                <a:solidFill>
                  <a:srgbClr val="002060"/>
                </a:solidFill>
                <a:latin typeface="Cambria" panose="02040503050406030204" pitchFamily="18" charset="0"/>
                <a:ea typeface="Cambria" panose="02040503050406030204" pitchFamily="18" charset="0"/>
              </a:rPr>
              <a: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mất đi nếu không được làm tươi sau chu kỳ ngắn</a:t>
            </a:r>
          </a:p>
        </p:txBody>
      </p:sp>
    </p:spTree>
    <p:extLst>
      <p:ext uri="{BB962C8B-B14F-4D97-AF65-F5344CB8AC3E}">
        <p14:creationId xmlns:p14="http://schemas.microsoft.com/office/powerpoint/2010/main" val="16863296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131785"/>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3.5.1. Nguyên lý nén video</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Nén </a:t>
            </a:r>
            <a:r>
              <a:rPr lang="vi-VN" sz="2400" b="1">
                <a:solidFill>
                  <a:srgbClr val="002060"/>
                </a:solidFill>
                <a:latin typeface="Cambria" panose="02040503050406030204" pitchFamily="18" charset="0"/>
                <a:ea typeface="Cambria" panose="02040503050406030204" pitchFamily="18" charset="0"/>
              </a:rPr>
              <a:t>video số là một quá </a:t>
            </a:r>
            <a:r>
              <a:rPr lang="vi-VN" sz="2400" b="1" smtClean="0">
                <a:solidFill>
                  <a:srgbClr val="002060"/>
                </a:solidFill>
                <a:latin typeface="Cambria" panose="02040503050406030204" pitchFamily="18" charset="0"/>
                <a:ea typeface="Cambria" panose="02040503050406030204" pitchFamily="18" charset="0"/>
              </a:rPr>
              <a:t>tr</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trong đó người ta </a:t>
            </a:r>
            <a:r>
              <a:rPr lang="vi-VN" sz="2400" b="1" smtClean="0">
                <a:solidFill>
                  <a:srgbClr val="002060"/>
                </a:solidFill>
                <a:latin typeface="Cambria" panose="02040503050406030204" pitchFamily="18" charset="0"/>
                <a:ea typeface="Cambria" panose="02040503050406030204" pitchFamily="18" charset="0"/>
              </a:rPr>
              <a:t>t</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m </a:t>
            </a:r>
            <a:r>
              <a:rPr lang="vi-VN" sz="2400" b="1">
                <a:solidFill>
                  <a:srgbClr val="002060"/>
                </a:solidFill>
                <a:latin typeface="Cambria" panose="02040503050406030204" pitchFamily="18" charset="0"/>
                <a:ea typeface="Cambria" panose="02040503050406030204" pitchFamily="18" charset="0"/>
              </a:rPr>
              <a:t>các giải pháp để giảm số lượng số liệu biểu thị </a:t>
            </a:r>
            <a:r>
              <a:rPr lang="vi-VN" sz="2400" b="1" smtClean="0">
                <a:solidFill>
                  <a:srgbClr val="002060"/>
                </a:solidFill>
                <a:latin typeface="Cambria" panose="02040503050406030204" pitchFamily="18" charset="0"/>
                <a:ea typeface="Cambria" panose="02040503050406030204" pitchFamily="18" charset="0"/>
              </a:rPr>
              <a: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ảnh video để đáp ứng tốc độ bit yêu cầu mà vẫn đáp ứng chất lượng video được khôi phục ở </a:t>
            </a:r>
            <a:r>
              <a:rPr lang="vi-VN" sz="2400" b="1" smtClean="0">
                <a:solidFill>
                  <a:srgbClr val="002060"/>
                </a:solidFill>
                <a:latin typeface="Cambria" panose="02040503050406030204" pitchFamily="18" charset="0"/>
                <a:ea typeface="Cambria" panose="02040503050406030204" pitchFamily="18" charset="0"/>
              </a:rPr>
              <a:t>ph</a:t>
            </a:r>
            <a:r>
              <a:rPr lang="en-US" sz="2400" b="1">
                <a:solidFill>
                  <a:srgbClr val="002060"/>
                </a:solidFill>
                <a:latin typeface="Cambria" panose="02040503050406030204" pitchFamily="18" charset="0"/>
                <a:ea typeface="Cambria" panose="02040503050406030204" pitchFamily="18" charset="0"/>
              </a:rPr>
              <a:t>í</a:t>
            </a:r>
            <a:r>
              <a:rPr lang="vi-VN" sz="2400" b="1" smtClean="0">
                <a:solidFill>
                  <a:srgbClr val="002060"/>
                </a:solidFill>
                <a:latin typeface="Cambria" panose="02040503050406030204" pitchFamily="18" charset="0"/>
                <a:ea typeface="Cambria" panose="02040503050406030204" pitchFamily="18" charset="0"/>
              </a:rPr>
              <a:t>a </a:t>
            </a:r>
            <a:r>
              <a:rPr lang="vi-VN" sz="2400" b="1">
                <a:solidFill>
                  <a:srgbClr val="002060"/>
                </a:solidFill>
                <a:latin typeface="Cambria" panose="02040503050406030204" pitchFamily="18" charset="0"/>
                <a:ea typeface="Cambria" panose="02040503050406030204" pitchFamily="18" charset="0"/>
              </a:rPr>
              <a:t>thu phải thỏa mãn yêu cầu ứng dụng và độ phức tạp </a:t>
            </a:r>
            <a:r>
              <a:rPr lang="vi-VN" sz="2400" b="1" smtClean="0">
                <a:solidFill>
                  <a:srgbClr val="002060"/>
                </a:solidFill>
                <a:latin typeface="Cambria" panose="02040503050406030204" pitchFamily="18" charset="0"/>
                <a:ea typeface="Cambria" panose="02040503050406030204" pitchFamily="18" charset="0"/>
              </a:rPr>
              <a:t>t</a:t>
            </a:r>
            <a:r>
              <a:rPr lang="en-US" sz="2400" b="1">
                <a:solidFill>
                  <a:srgbClr val="002060"/>
                </a:solidFill>
                <a:latin typeface="Cambria" panose="02040503050406030204" pitchFamily="18" charset="0"/>
                <a:ea typeface="Cambria" panose="02040503050406030204" pitchFamily="18" charset="0"/>
              </a:rPr>
              <a:t>í</a:t>
            </a:r>
            <a:r>
              <a:rPr lang="vi-VN" sz="2400" b="1" smtClean="0">
                <a:solidFill>
                  <a:srgbClr val="002060"/>
                </a:solidFill>
                <a:latin typeface="Cambria" panose="02040503050406030204" pitchFamily="18" charset="0"/>
                <a:ea typeface="Cambria" panose="02040503050406030204" pitchFamily="18" charset="0"/>
              </a:rPr>
              <a:t>nh toán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Nén video có nhiệm vụ rất quan trọng </a:t>
            </a:r>
            <a:r>
              <a:rPr lang="vi-VN" sz="2400" b="1" smtClean="0">
                <a:solidFill>
                  <a:srgbClr val="002060"/>
                </a:solidFill>
                <a:latin typeface="Cambria" panose="02040503050406030204" pitchFamily="18" charset="0"/>
                <a:ea typeface="Cambria" panose="02040503050406030204" pitchFamily="18" charset="0"/>
              </a:rPr>
              <a:t>v</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lượng dư của số liệu trong các </a:t>
            </a:r>
            <a:r>
              <a:rPr lang="vi-VN" sz="2400" b="1" smtClean="0">
                <a:solidFill>
                  <a:srgbClr val="002060"/>
                </a:solidFill>
                <a:latin typeface="Cambria" panose="02040503050406030204" pitchFamily="18" charset="0"/>
                <a:ea typeface="Cambria" panose="02040503050406030204" pitchFamily="18" charset="0"/>
              </a:rPr>
              <a: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ảnh nguyên thủy thường lớn hơn nhiều dung lượng mà các thiết bị điện tử ngày nay có thể xử lý.</a:t>
            </a:r>
          </a:p>
        </p:txBody>
      </p:sp>
    </p:spTree>
    <p:extLst>
      <p:ext uri="{BB962C8B-B14F-4D97-AF65-F5344CB8AC3E}">
        <p14:creationId xmlns:p14="http://schemas.microsoft.com/office/powerpoint/2010/main" val="42552124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131785"/>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3.5.1. Nguyên lý nén video</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T</a:t>
            </a:r>
            <a:r>
              <a:rPr lang="vi-VN" sz="2400" b="1" smtClean="0">
                <a:solidFill>
                  <a:srgbClr val="002060"/>
                </a:solidFill>
                <a:latin typeface="Cambria" panose="02040503050406030204" pitchFamily="18" charset="0"/>
                <a:ea typeface="Cambria" panose="02040503050406030204" pitchFamily="18" charset="0"/>
              </a:rPr>
              <a:t>hông </a:t>
            </a:r>
            <a:r>
              <a:rPr lang="vi-VN" sz="2400" b="1">
                <a:solidFill>
                  <a:srgbClr val="002060"/>
                </a:solidFill>
                <a:latin typeface="Cambria" panose="02040503050406030204" pitchFamily="18" charset="0"/>
                <a:ea typeface="Cambria" panose="02040503050406030204" pitchFamily="18" charset="0"/>
              </a:rPr>
              <a:t>tin và số liệu là hai khái niệm khác nhau nhưng liên quan chặt chẽ với </a:t>
            </a:r>
            <a:r>
              <a:rPr lang="vi-VN" sz="2400" b="1" smtClean="0">
                <a:solidFill>
                  <a:srgbClr val="002060"/>
                </a:solidFill>
                <a:latin typeface="Cambria" panose="02040503050406030204" pitchFamily="18" charset="0"/>
                <a:ea typeface="Cambria" panose="02040503050406030204" pitchFamily="18" charset="0"/>
              </a:rPr>
              <a:t>nhau</a:t>
            </a:r>
            <a:endParaRPr lang="en-US" sz="2400" b="1">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Số liệu biểu thị thông tin và chất lượng số liệu có thể đo </a:t>
            </a:r>
            <a:r>
              <a:rPr lang="vi-VN" sz="2400" b="1" smtClean="0">
                <a:solidFill>
                  <a:srgbClr val="002060"/>
                </a:solidFill>
                <a:latin typeface="Cambria" panose="02040503050406030204" pitchFamily="18" charset="0"/>
                <a:ea typeface="Cambria" panose="02040503050406030204" pitchFamily="18" charset="0"/>
              </a:rPr>
              <a:t>được</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Nội dung của số liệu video thường được đo bằng số đơn vị bit</a:t>
            </a:r>
          </a:p>
        </p:txBody>
      </p:sp>
    </p:spTree>
    <p:extLst>
      <p:ext uri="{BB962C8B-B14F-4D97-AF65-F5344CB8AC3E}">
        <p14:creationId xmlns:p14="http://schemas.microsoft.com/office/powerpoint/2010/main" val="36677088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131785"/>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3.5.1. Nguyên lý nén video</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8" name="image78.png"/>
          <p:cNvPicPr/>
          <p:nvPr/>
        </p:nvPicPr>
        <p:blipFill>
          <a:blip r:embed="rId2" cstate="print"/>
          <a:stretch>
            <a:fillRect/>
          </a:stretch>
        </p:blipFill>
        <p:spPr>
          <a:xfrm>
            <a:off x="706582" y="1319992"/>
            <a:ext cx="8016504" cy="2156410"/>
          </a:xfrm>
          <a:prstGeom prst="rect">
            <a:avLst/>
          </a:prstGeom>
        </p:spPr>
      </p:pic>
    </p:spTree>
    <p:extLst>
      <p:ext uri="{BB962C8B-B14F-4D97-AF65-F5344CB8AC3E}">
        <p14:creationId xmlns:p14="http://schemas.microsoft.com/office/powerpoint/2010/main" val="24538246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131785"/>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3.5.1. Nguyên lý nén video</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Tốc độ bit hay còn gọi là tốc độ mã hóa là một tham số quan trọng trong nén video và thường được biểu thị bằng đơn vị </a:t>
            </a:r>
            <a:r>
              <a:rPr lang="vi-VN" sz="2400" b="1" smtClean="0">
                <a:solidFill>
                  <a:srgbClr val="002060"/>
                </a:solidFill>
                <a:latin typeface="Cambria" panose="02040503050406030204" pitchFamily="18" charset="0"/>
                <a:ea typeface="Cambria" panose="02040503050406030204" pitchFamily="18" charset="0"/>
              </a:rPr>
              <a:t>bit/giây</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Chất lượng </a:t>
            </a:r>
            <a:r>
              <a:rPr lang="vi-VN" sz="2400" b="1" smtClean="0">
                <a:solidFill>
                  <a:srgbClr val="002060"/>
                </a:solidFill>
                <a:latin typeface="Cambria" panose="02040503050406030204" pitchFamily="18" charset="0"/>
                <a:ea typeface="Cambria" panose="02040503050406030204" pitchFamily="18" charset="0"/>
              </a:rPr>
              <a: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ảnh được cấu trúc lại ở </a:t>
            </a:r>
            <a:r>
              <a:rPr lang="vi-VN" sz="2400" b="1" smtClean="0">
                <a:solidFill>
                  <a:srgbClr val="002060"/>
                </a:solidFill>
                <a:latin typeface="Cambria" panose="02040503050406030204" pitchFamily="18" charset="0"/>
                <a:ea typeface="Cambria" panose="02040503050406030204" pitchFamily="18" charset="0"/>
              </a:rPr>
              <a:t>ph</a:t>
            </a:r>
            <a:r>
              <a:rPr lang="en-US" sz="2400" b="1">
                <a:solidFill>
                  <a:srgbClr val="002060"/>
                </a:solidFill>
                <a:latin typeface="Cambria" panose="02040503050406030204" pitchFamily="18" charset="0"/>
                <a:ea typeface="Cambria" panose="02040503050406030204" pitchFamily="18" charset="0"/>
              </a:rPr>
              <a:t>í</a:t>
            </a:r>
            <a:r>
              <a:rPr lang="vi-VN" sz="2400" b="1" smtClean="0">
                <a:solidFill>
                  <a:srgbClr val="002060"/>
                </a:solidFill>
                <a:latin typeface="Cambria" panose="02040503050406030204" pitchFamily="18" charset="0"/>
                <a:ea typeface="Cambria" panose="02040503050406030204" pitchFamily="18" charset="0"/>
              </a:rPr>
              <a:t>a </a:t>
            </a:r>
            <a:r>
              <a:rPr lang="vi-VN" sz="2400" b="1">
                <a:solidFill>
                  <a:srgbClr val="002060"/>
                </a:solidFill>
                <a:latin typeface="Cambria" panose="02040503050406030204" pitchFamily="18" charset="0"/>
                <a:ea typeface="Cambria" panose="02040503050406030204" pitchFamily="18" charset="0"/>
              </a:rPr>
              <a:t>thu phụ thuộc vào ứng dụng </a:t>
            </a:r>
            <a:r>
              <a:rPr lang="vi-VN" sz="2400" b="1" smtClean="0">
                <a:solidFill>
                  <a:srgbClr val="002060"/>
                </a:solidFill>
                <a:latin typeface="Cambria" panose="02040503050406030204" pitchFamily="18" charset="0"/>
                <a:ea typeface="Cambria" panose="02040503050406030204" pitchFamily="18" charset="0"/>
              </a:rPr>
              <a:t>v</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vậy sẽ có loại nén tổn thất và nén không tổn </a:t>
            </a:r>
            <a:r>
              <a:rPr lang="vi-VN" sz="2400" b="1" smtClean="0">
                <a:solidFill>
                  <a:srgbClr val="002060"/>
                </a:solidFill>
                <a:latin typeface="Cambria" panose="02040503050406030204" pitchFamily="18" charset="0"/>
                <a:ea typeface="Cambria" panose="02040503050406030204" pitchFamily="18" charset="0"/>
              </a:rPr>
              <a:t>thất</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Trong ứng dụng truyền các ảnh động, các chương </a:t>
            </a:r>
            <a:r>
              <a:rPr lang="vi-VN" sz="2400" b="1" smtClean="0">
                <a:solidFill>
                  <a:srgbClr val="002060"/>
                </a:solidFill>
                <a:latin typeface="Cambria" panose="02040503050406030204" pitchFamily="18" charset="0"/>
                <a:ea typeface="Cambria" panose="02040503050406030204" pitchFamily="18" charset="0"/>
              </a:rPr>
              <a:t>tr</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a:t>
            </a:r>
            <a:r>
              <a:rPr lang="vi-VN" sz="2400" b="1">
                <a:solidFill>
                  <a:srgbClr val="002060"/>
                </a:solidFill>
                <a:latin typeface="Cambria" panose="02040503050406030204" pitchFamily="18" charset="0"/>
                <a:ea typeface="Cambria" panose="02040503050406030204" pitchFamily="18" charset="0"/>
              </a:rPr>
              <a:t>truyền </a:t>
            </a:r>
            <a:r>
              <a:rPr lang="vi-VN" sz="2400" b="1" smtClean="0">
                <a:solidFill>
                  <a:srgbClr val="002060"/>
                </a:solidFill>
                <a:latin typeface="Cambria" panose="02040503050406030204" pitchFamily="18" charset="0"/>
                <a:ea typeface="Cambria" panose="02040503050406030204" pitchFamily="18" charset="0"/>
              </a:rPr>
              <a: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nh th</a:t>
            </a:r>
            <a:r>
              <a:rPr lang="en-US" sz="2400" b="1">
                <a:solidFill>
                  <a:srgbClr val="002060"/>
                </a:solidFill>
                <a:latin typeface="Cambria" panose="02040503050406030204" pitchFamily="18" charset="0"/>
                <a:ea typeface="Cambria" panose="02040503050406030204" pitchFamily="18" charset="0"/>
              </a:rPr>
              <a:t>ì</a:t>
            </a:r>
            <a:r>
              <a:rPr lang="vi-VN"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cho phép một lượng tổn thất nào đó</a:t>
            </a:r>
          </a:p>
        </p:txBody>
      </p:sp>
    </p:spTree>
    <p:extLst>
      <p:ext uri="{BB962C8B-B14F-4D97-AF65-F5344CB8AC3E}">
        <p14:creationId xmlns:p14="http://schemas.microsoft.com/office/powerpoint/2010/main" val="34806366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131785"/>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3.5.1. Nguyên lý nén video</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19858" y="755097"/>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Nguyên lý của việc nén video dựa trên các kỹ thuật </a:t>
            </a:r>
            <a:r>
              <a:rPr lang="vi-VN" sz="2400" b="1" smtClean="0">
                <a:solidFill>
                  <a:srgbClr val="002060"/>
                </a:solidFill>
                <a:latin typeface="Cambria" panose="02040503050406030204" pitchFamily="18" charset="0"/>
                <a:ea typeface="Cambria" panose="02040503050406030204" pitchFamily="18" charset="0"/>
              </a:rPr>
              <a:t>giảm </a:t>
            </a:r>
            <a:r>
              <a:rPr lang="vi-VN" sz="2400" b="1">
                <a:solidFill>
                  <a:srgbClr val="002060"/>
                </a:solidFill>
                <a:latin typeface="Cambria" panose="02040503050406030204" pitchFamily="18" charset="0"/>
                <a:ea typeface="Cambria" panose="02040503050406030204" pitchFamily="18" charset="0"/>
              </a:rPr>
              <a:t>các dư thừa thông tin sau</a:t>
            </a:r>
            <a:r>
              <a:rPr lang="vi-VN" sz="2400" b="1" smtClean="0">
                <a:solidFill>
                  <a:srgbClr val="002060"/>
                </a:solidFill>
                <a:latin typeface="Cambria" panose="02040503050406030204" pitchFamily="18" charset="0"/>
                <a:ea typeface="Cambria" panose="02040503050406030204" pitchFamily="18" charset="0"/>
              </a:rPr>
              <a:t>:</a:t>
            </a:r>
            <a:endParaRPr lang="en-US" sz="2400" b="1" smtClean="0">
              <a:solidFill>
                <a:srgbClr val="002060"/>
              </a:solidFill>
              <a:latin typeface="Cambria" panose="02040503050406030204" pitchFamily="18" charset="0"/>
              <a:ea typeface="Cambria" panose="02040503050406030204" pitchFamily="18" charset="0"/>
            </a:endParaRPr>
          </a:p>
          <a:p>
            <a:pPr marL="804863" indent="-347663" algn="just">
              <a:lnSpc>
                <a:spcPct val="150000"/>
              </a:lnSpc>
              <a:buFont typeface="Cambria" panose="02040503050406030204" pitchFamily="18" charset="0"/>
              <a:buChar char="⁺"/>
            </a:pPr>
            <a:r>
              <a:rPr lang="vi-VN" sz="2400" b="1">
                <a:solidFill>
                  <a:srgbClr val="002060"/>
                </a:solidFill>
                <a:latin typeface="Cambria" panose="02040503050406030204" pitchFamily="18" charset="0"/>
                <a:ea typeface="Cambria" panose="02040503050406030204" pitchFamily="18" charset="0"/>
              </a:rPr>
              <a:t>Dư thừa thông tin trong miền không </a:t>
            </a:r>
            <a:r>
              <a:rPr lang="vi-VN" sz="2400" b="1" smtClean="0">
                <a:solidFill>
                  <a:srgbClr val="002060"/>
                </a:solidFill>
                <a:latin typeface="Cambria" panose="02040503050406030204" pitchFamily="18" charset="0"/>
                <a:ea typeface="Cambria" panose="02040503050406030204" pitchFamily="18" charset="0"/>
              </a:rPr>
              <a:t>gian</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xuất </a:t>
            </a:r>
            <a:r>
              <a:rPr lang="vi-VN" sz="2400" b="1">
                <a:solidFill>
                  <a:srgbClr val="002060"/>
                </a:solidFill>
                <a:latin typeface="Cambria" panose="02040503050406030204" pitchFamily="18" charset="0"/>
                <a:ea typeface="Cambria" panose="02040503050406030204" pitchFamily="18" charset="0"/>
              </a:rPr>
              <a:t>hiện giữa các pixel trong cùng một khung </a:t>
            </a:r>
            <a:r>
              <a:rPr lang="vi-VN" sz="2400" b="1" smtClean="0">
                <a:solidFill>
                  <a:srgbClr val="002060"/>
                </a:solidFill>
                <a:latin typeface="Cambria" panose="02040503050406030204" pitchFamily="18" charset="0"/>
                <a:ea typeface="Cambria" panose="02040503050406030204" pitchFamily="18" charset="0"/>
              </a:rPr>
              <a:t>hình</a:t>
            </a:r>
            <a:r>
              <a:rPr lang="en-US"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Thông tin dư thừa được loại bỏ bằng kỹ thuật mã hóa </a:t>
            </a:r>
            <a:r>
              <a:rPr lang="vi-VN" sz="2400" b="1" smtClean="0">
                <a:solidFill>
                  <a:srgbClr val="002060"/>
                </a:solidFill>
                <a:latin typeface="Cambria" panose="02040503050406030204" pitchFamily="18" charset="0"/>
                <a:ea typeface="Cambria" panose="02040503050406030204" pitchFamily="18" charset="0"/>
              </a:rPr>
              <a:t>biến đổi</a:t>
            </a:r>
            <a:endParaRPr lang="en-US" sz="2400" b="1" smtClean="0">
              <a:solidFill>
                <a:srgbClr val="002060"/>
              </a:solidFill>
              <a:latin typeface="Cambria" panose="02040503050406030204" pitchFamily="18" charset="0"/>
              <a:ea typeface="Cambria" panose="02040503050406030204" pitchFamily="18" charset="0"/>
            </a:endParaRPr>
          </a:p>
          <a:p>
            <a:pPr marL="804863" indent="-347663" algn="just">
              <a:lnSpc>
                <a:spcPct val="150000"/>
              </a:lnSpc>
              <a:buFont typeface="Cambria" panose="02040503050406030204" pitchFamily="18" charset="0"/>
              <a:buChar char="⁺"/>
            </a:pPr>
            <a:r>
              <a:rPr lang="vi-VN" sz="2400" b="1" smtClean="0">
                <a:solidFill>
                  <a:srgbClr val="002060"/>
                </a:solidFill>
                <a:latin typeface="Cambria" panose="02040503050406030204" pitchFamily="18" charset="0"/>
                <a:ea typeface="Cambria" panose="02040503050406030204" pitchFamily="18" charset="0"/>
              </a:rPr>
              <a:t>Dư </a:t>
            </a:r>
            <a:r>
              <a:rPr lang="vi-VN" sz="2400" b="1">
                <a:solidFill>
                  <a:srgbClr val="002060"/>
                </a:solidFill>
                <a:latin typeface="Cambria" panose="02040503050406030204" pitchFamily="18" charset="0"/>
                <a:ea typeface="Cambria" panose="02040503050406030204" pitchFamily="18" charset="0"/>
              </a:rPr>
              <a:t>thừa thông tin trong miền thời </a:t>
            </a:r>
            <a:r>
              <a:rPr lang="vi-VN" sz="2400" b="1" smtClean="0">
                <a:solidFill>
                  <a:srgbClr val="002060"/>
                </a:solidFill>
                <a:latin typeface="Cambria" panose="02040503050406030204" pitchFamily="18" charset="0"/>
                <a:ea typeface="Cambria" panose="02040503050406030204" pitchFamily="18" charset="0"/>
              </a:rPr>
              <a:t>gian</a:t>
            </a:r>
            <a:r>
              <a:rPr lang="en-US"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xuất hiện khi giữa các khung ảnh liên tiếp có những thông tin tương </a:t>
            </a:r>
            <a:r>
              <a:rPr lang="vi-VN" sz="2400" b="1" smtClean="0">
                <a:solidFill>
                  <a:srgbClr val="002060"/>
                </a:solidFill>
                <a:latin typeface="Cambria" panose="02040503050406030204" pitchFamily="18" charset="0"/>
                <a:ea typeface="Cambria" panose="02040503050406030204" pitchFamily="18" charset="0"/>
              </a:rPr>
              <a:t>đồng</a:t>
            </a:r>
            <a:r>
              <a:rPr lang="en-US"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Để loại bỏ dư thừa này người ta </a:t>
            </a:r>
            <a:r>
              <a:rPr lang="vi-VN" sz="2400" b="1" smtClean="0">
                <a:solidFill>
                  <a:srgbClr val="002060"/>
                </a:solidFill>
                <a:latin typeface="Cambria" panose="02040503050406030204" pitchFamily="18" charset="0"/>
                <a:ea typeface="Cambria" panose="02040503050406030204" pitchFamily="18" charset="0"/>
              </a:rPr>
              <a:t>dùng </a:t>
            </a:r>
            <a:r>
              <a:rPr lang="vi-VN" sz="2400" b="1">
                <a:solidFill>
                  <a:srgbClr val="002060"/>
                </a:solidFill>
                <a:latin typeface="Cambria" panose="02040503050406030204" pitchFamily="18" charset="0"/>
                <a:ea typeface="Cambria" panose="02040503050406030204" pitchFamily="18" charset="0"/>
              </a:rPr>
              <a:t>mã entropy, cụ thể là mã có độ dài thay </a:t>
            </a:r>
            <a:r>
              <a:rPr lang="vi-VN" sz="2400" b="1" smtClean="0">
                <a:solidFill>
                  <a:srgbClr val="002060"/>
                </a:solidFill>
                <a:latin typeface="Cambria" panose="02040503050406030204" pitchFamily="18" charset="0"/>
                <a:ea typeface="Cambria" panose="02040503050406030204" pitchFamily="18" charset="0"/>
              </a:rPr>
              <a:t>đổi</a:t>
            </a:r>
            <a:endParaRPr lang="en-US" sz="2400" b="1" smtClean="0">
              <a:solidFill>
                <a:srgbClr val="002060"/>
              </a:solidFill>
              <a:latin typeface="Cambria" panose="02040503050406030204" pitchFamily="18" charset="0"/>
              <a:ea typeface="Cambria" panose="02040503050406030204" pitchFamily="18" charset="0"/>
            </a:endParaRPr>
          </a:p>
          <a:p>
            <a:pPr marL="804863" indent="-347663" algn="just">
              <a:lnSpc>
                <a:spcPct val="150000"/>
              </a:lnSpc>
              <a:buFont typeface="Cambria" panose="02040503050406030204" pitchFamily="18" charset="0"/>
              <a:buChar char="⁺"/>
            </a:pPr>
            <a:r>
              <a:rPr lang="en-US" sz="2400" b="1" smtClean="0">
                <a:solidFill>
                  <a:srgbClr val="002060"/>
                </a:solidFill>
                <a:latin typeface="Cambria" panose="02040503050406030204" pitchFamily="18" charset="0"/>
                <a:ea typeface="Cambria" panose="02040503050406030204" pitchFamily="18" charset="0"/>
              </a:rPr>
              <a:t>Dư thừa thông tin trong dữ liệu ảnh sau khi nén</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009220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1685783"/>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3.5.2. Kỹ thuật giảm dư thừa thông tin trong miền không gian</a:t>
            </a:r>
          </a:p>
          <a:p>
            <a:pPr algn="just">
              <a:lnSpc>
                <a:spcPct val="150000"/>
              </a:lnSpc>
            </a:pPr>
            <a:r>
              <a:rPr lang="vi-VN" sz="2400" b="1" smtClean="0">
                <a:solidFill>
                  <a:srgbClr val="002060"/>
                </a:solidFill>
                <a:latin typeface="Cambria" panose="02040503050406030204" pitchFamily="18" charset="0"/>
              </a:rPr>
              <a:t>.</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124008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61" y="1326944"/>
            <a:ext cx="857097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623888" indent="-457200" algn="just">
              <a:lnSpc>
                <a:spcPct val="150000"/>
              </a:lnSpc>
              <a:buAutoNum type="alphaLcPeriod"/>
            </a:pPr>
            <a:r>
              <a:rPr lang="vi-VN" sz="2400" b="1" smtClean="0">
                <a:solidFill>
                  <a:srgbClr val="002060"/>
                </a:solidFill>
                <a:latin typeface="Cambria" panose="02040503050406030204" pitchFamily="18" charset="0"/>
                <a:ea typeface="Cambria" panose="02040503050406030204" pitchFamily="18" charset="0"/>
              </a:rPr>
              <a:t>Mã </a:t>
            </a:r>
            <a:r>
              <a:rPr lang="vi-VN" sz="2400" b="1">
                <a:solidFill>
                  <a:srgbClr val="002060"/>
                </a:solidFill>
                <a:latin typeface="Cambria" panose="02040503050406030204" pitchFamily="18" charset="0"/>
                <a:ea typeface="Cambria" panose="02040503050406030204" pitchFamily="18" charset="0"/>
              </a:rPr>
              <a:t>hóa bằng phương pháp dự </a:t>
            </a:r>
            <a:r>
              <a:rPr lang="vi-VN" sz="2400" b="1" smtClean="0">
                <a:solidFill>
                  <a:srgbClr val="002060"/>
                </a:solidFill>
                <a:latin typeface="Cambria" panose="02040503050406030204" pitchFamily="18" charset="0"/>
                <a:ea typeface="Cambria" panose="02040503050406030204" pitchFamily="18" charset="0"/>
              </a:rPr>
              <a:t>đoán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P</a:t>
            </a:r>
            <a:r>
              <a:rPr lang="vi-VN" sz="2400" b="1" smtClean="0">
                <a:solidFill>
                  <a:srgbClr val="002060"/>
                </a:solidFill>
                <a:latin typeface="Cambria" panose="02040503050406030204" pitchFamily="18" charset="0"/>
                <a:ea typeface="Cambria" panose="02040503050406030204" pitchFamily="18" charset="0"/>
              </a:rPr>
              <a:t>hương </a:t>
            </a:r>
            <a:r>
              <a:rPr lang="vi-VN" sz="2400" b="1">
                <a:solidFill>
                  <a:srgbClr val="002060"/>
                </a:solidFill>
                <a:latin typeface="Cambria" panose="02040503050406030204" pitchFamily="18" charset="0"/>
                <a:ea typeface="Cambria" panose="02040503050406030204" pitchFamily="18" charset="0"/>
              </a:rPr>
              <a:t>pháp giảm dư thông không gian được đưa ra dựa trên </a:t>
            </a:r>
            <a:r>
              <a:rPr lang="vi-VN" sz="2400" b="1" smtClean="0">
                <a:solidFill>
                  <a:srgbClr val="002060"/>
                </a:solidFill>
                <a:latin typeface="Cambria" panose="02040503050406030204" pitchFamily="18" charset="0"/>
                <a:ea typeface="Cambria" panose="02040503050406030204" pitchFamily="18" charset="0"/>
              </a:rPr>
              <a:t>việc </a:t>
            </a:r>
            <a:r>
              <a:rPr lang="vi-VN" sz="2400" b="1">
                <a:solidFill>
                  <a:srgbClr val="002060"/>
                </a:solidFill>
                <a:latin typeface="Cambria" panose="02040503050406030204" pitchFamily="18" charset="0"/>
                <a:ea typeface="Cambria" panose="02040503050406030204" pitchFamily="18" charset="0"/>
              </a:rPr>
              <a:t>dự báo giá trị của các pixel hiện tại dựa vào giá trị của pixel đã được mã hóa trước </a:t>
            </a:r>
            <a:r>
              <a:rPr lang="vi-VN" sz="2400" b="1" smtClean="0">
                <a:solidFill>
                  <a:srgbClr val="002060"/>
                </a:solidFill>
                <a:latin typeface="Cambria" panose="02040503050406030204" pitchFamily="18" charset="0"/>
                <a:ea typeface="Cambria" panose="02040503050406030204" pitchFamily="18" charset="0"/>
              </a:rPr>
              <a:t>đó</a:t>
            </a:r>
            <a:endParaRPr lang="en-US" sz="2400" b="1" smtClean="0">
              <a:solidFill>
                <a:srgbClr val="002060"/>
              </a:solidFill>
              <a:latin typeface="Cambria" panose="02040503050406030204" pitchFamily="18" charset="0"/>
              <a:ea typeface="Cambria" panose="02040503050406030204" pitchFamily="18" charset="0"/>
            </a:endParaRPr>
          </a:p>
          <a:p>
            <a:pPr marL="166688" algn="just">
              <a:lnSpc>
                <a:spcPct val="150000"/>
              </a:lnSpc>
            </a:pPr>
            <a:endParaRPr lang="vi-VN" sz="2400" b="1">
              <a:solidFill>
                <a:srgbClr val="002060"/>
              </a:solidFill>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874" y="3705077"/>
            <a:ext cx="7444175" cy="2826740"/>
          </a:xfrm>
          <a:prstGeom prst="rect">
            <a:avLst/>
          </a:prstGeom>
        </p:spPr>
      </p:pic>
    </p:spTree>
    <p:extLst>
      <p:ext uri="{BB962C8B-B14F-4D97-AF65-F5344CB8AC3E}">
        <p14:creationId xmlns:p14="http://schemas.microsoft.com/office/powerpoint/2010/main" val="25579409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623888" indent="-457200" algn="just">
              <a:lnSpc>
                <a:spcPct val="150000"/>
              </a:lnSpc>
              <a:buAutoNum type="alphaLcPeriod"/>
            </a:pPr>
            <a:r>
              <a:rPr lang="vi-VN" sz="2400" b="1">
                <a:solidFill>
                  <a:srgbClr val="002060"/>
                </a:solidFill>
                <a:latin typeface="Cambria" panose="02040503050406030204" pitchFamily="18" charset="0"/>
                <a:ea typeface="Cambria" panose="02040503050406030204" pitchFamily="18" charset="0"/>
              </a:rPr>
              <a:t>Mã hóa bằng phương pháp dự </a:t>
            </a:r>
            <a:r>
              <a:rPr lang="vi-VN" sz="2400" b="1" smtClean="0">
                <a:solidFill>
                  <a:srgbClr val="002060"/>
                </a:solidFill>
                <a:latin typeface="Cambria" panose="02040503050406030204" pitchFamily="18" charset="0"/>
                <a:ea typeface="Cambria" panose="02040503050406030204" pitchFamily="18" charset="0"/>
              </a:rPr>
              <a:t>đoán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70973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61" y="839099"/>
            <a:ext cx="85709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S</a:t>
            </a:r>
            <a:r>
              <a:rPr lang="vi-VN" sz="2400" b="1" smtClean="0">
                <a:solidFill>
                  <a:srgbClr val="002060"/>
                </a:solidFill>
                <a:latin typeface="Cambria" panose="02040503050406030204" pitchFamily="18" charset="0"/>
                <a:ea typeface="Cambria" panose="02040503050406030204" pitchFamily="18" charset="0"/>
              </a:rPr>
              <a:t>ự </a:t>
            </a:r>
            <a:r>
              <a:rPr lang="vi-VN" sz="2400" b="1">
                <a:solidFill>
                  <a:srgbClr val="002060"/>
                </a:solidFill>
                <a:latin typeface="Cambria" panose="02040503050406030204" pitchFamily="18" charset="0"/>
                <a:ea typeface="Cambria" panose="02040503050406030204" pitchFamily="18" charset="0"/>
              </a:rPr>
              <a:t>sai </a:t>
            </a:r>
            <a:r>
              <a:rPr lang="vi-VN" sz="2400" b="1" smtClean="0">
                <a:solidFill>
                  <a:srgbClr val="002060"/>
                </a:solidFill>
                <a:latin typeface="Cambria" panose="02040503050406030204" pitchFamily="18" charset="0"/>
                <a:ea typeface="Cambria" panose="02040503050406030204" pitchFamily="18" charset="0"/>
              </a:rPr>
              <a:t>khác </a:t>
            </a:r>
            <a:r>
              <a:rPr lang="vi-VN" sz="2400" b="1">
                <a:solidFill>
                  <a:srgbClr val="002060"/>
                </a:solidFill>
                <a:latin typeface="Cambria" panose="02040503050406030204" pitchFamily="18" charset="0"/>
                <a:ea typeface="Cambria" panose="02040503050406030204" pitchFamily="18" charset="0"/>
              </a:rPr>
              <a:t>giữa giá trị của pixel hiện tại và giá trị dự đoán từ bộ dự đoán được lượng tử và mã hóa </a:t>
            </a:r>
            <a:r>
              <a:rPr lang="vi-VN" sz="2400" b="1" smtClean="0">
                <a:solidFill>
                  <a:srgbClr val="002060"/>
                </a:solidFill>
                <a:latin typeface="Cambria" panose="02040503050406030204" pitchFamily="18" charset="0"/>
                <a:ea typeface="Cambria" panose="02040503050406030204" pitchFamily="18" charset="0"/>
              </a:rPr>
              <a:t>trước </a:t>
            </a:r>
            <a:r>
              <a:rPr lang="vi-VN" sz="2400" b="1">
                <a:solidFill>
                  <a:srgbClr val="002060"/>
                </a:solidFill>
                <a:latin typeface="Cambria" panose="02040503050406030204" pitchFamily="18" charset="0"/>
                <a:ea typeface="Cambria" panose="02040503050406030204" pitchFamily="18" charset="0"/>
              </a:rPr>
              <a:t>khi truyền </a:t>
            </a:r>
            <a:r>
              <a:rPr lang="vi-VN" sz="2400" b="1" smtClean="0">
                <a:solidFill>
                  <a:srgbClr val="002060"/>
                </a:solidFill>
                <a:latin typeface="Cambria" panose="02040503050406030204" pitchFamily="18" charset="0"/>
                <a:ea typeface="Cambria" panose="02040503050406030204" pitchFamily="18" charset="0"/>
              </a:rPr>
              <a:t>đi</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a:t>
            </a:r>
            <a:r>
              <a:rPr lang="en-US" sz="2400" b="1" smtClean="0">
                <a:solidFill>
                  <a:srgbClr val="002060"/>
                </a:solidFill>
                <a:latin typeface="Cambria" panose="02040503050406030204" pitchFamily="18" charset="0"/>
                <a:ea typeface="Cambria" panose="02040503050406030204" pitchFamily="18" charset="0"/>
              </a:rPr>
              <a:t>S</a:t>
            </a:r>
            <a:r>
              <a:rPr lang="vi-VN" sz="2400" b="1" smtClean="0">
                <a:solidFill>
                  <a:srgbClr val="002060"/>
                </a:solidFill>
                <a:latin typeface="Cambria" panose="02040503050406030204" pitchFamily="18" charset="0"/>
                <a:ea typeface="Cambria" panose="02040503050406030204" pitchFamily="18" charset="0"/>
              </a:rPr>
              <a:t>ự </a:t>
            </a:r>
            <a:r>
              <a:rPr lang="vi-VN" sz="2400" b="1">
                <a:solidFill>
                  <a:srgbClr val="002060"/>
                </a:solidFill>
                <a:latin typeface="Cambria" panose="02040503050406030204" pitchFamily="18" charset="0"/>
                <a:ea typeface="Cambria" panose="02040503050406030204" pitchFamily="18" charset="0"/>
              </a:rPr>
              <a:t>sai khác này được cộng với giá trị dự đoán từ bộ </a:t>
            </a:r>
            <a:r>
              <a:rPr lang="vi-VN" sz="2400" b="1" smtClean="0">
                <a:solidFill>
                  <a:srgbClr val="002060"/>
                </a:solidFill>
                <a:latin typeface="Cambria" panose="02040503050406030204" pitchFamily="18" charset="0"/>
                <a:ea typeface="Cambria" panose="02040503050406030204" pitchFamily="18" charset="0"/>
              </a:rPr>
              <a:t>dự</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đoán </a:t>
            </a:r>
            <a:r>
              <a:rPr lang="vi-VN" sz="2400" b="1">
                <a:solidFill>
                  <a:srgbClr val="002060"/>
                </a:solidFill>
                <a:latin typeface="Cambria" panose="02040503050406030204" pitchFamily="18" charset="0"/>
                <a:ea typeface="Cambria" panose="02040503050406030204" pitchFamily="18" charset="0"/>
              </a:rPr>
              <a:t>để khôi phục lại giá trị đúng của pixel hiện </a:t>
            </a:r>
            <a:r>
              <a:rPr lang="vi-VN" sz="2400" b="1" smtClean="0">
                <a:solidFill>
                  <a:srgbClr val="002060"/>
                </a:solidFill>
                <a:latin typeface="Cambria" panose="02040503050406030204" pitchFamily="18" charset="0"/>
                <a:ea typeface="Cambria" panose="02040503050406030204" pitchFamily="18" charset="0"/>
              </a:rPr>
              <a:t>tại</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Trong trường hợp bộ lượng tử không </a:t>
            </a:r>
            <a:r>
              <a:rPr lang="vi-VN" sz="2400" b="1" smtClean="0">
                <a:solidFill>
                  <a:srgbClr val="002060"/>
                </a:solidFill>
                <a:latin typeface="Cambria" panose="02040503050406030204" pitchFamily="18" charset="0"/>
                <a:ea typeface="Cambria" panose="02040503050406030204" pitchFamily="18" charset="0"/>
              </a:rPr>
              <a:t>được </a:t>
            </a:r>
            <a:r>
              <a:rPr lang="vi-VN" sz="2400" b="1">
                <a:solidFill>
                  <a:srgbClr val="002060"/>
                </a:solidFill>
                <a:latin typeface="Cambria" panose="02040503050406030204" pitchFamily="18" charset="0"/>
                <a:ea typeface="Cambria" panose="02040503050406030204" pitchFamily="18" charset="0"/>
              </a:rPr>
              <a:t>sử dụng thì kỹ thuật này được gọi là mã hóa không tổn hao</a:t>
            </a:r>
          </a:p>
        </p:txBody>
      </p:sp>
    </p:spTree>
    <p:extLst>
      <p:ext uri="{BB962C8B-B14F-4D97-AF65-F5344CB8AC3E}">
        <p14:creationId xmlns:p14="http://schemas.microsoft.com/office/powerpoint/2010/main" val="25210014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623888" indent="-457200" algn="just">
              <a:lnSpc>
                <a:spcPct val="150000"/>
              </a:lnSpc>
              <a:buAutoNum type="alphaLcPeriod"/>
            </a:pPr>
            <a:r>
              <a:rPr lang="vi-VN" sz="2400" b="1">
                <a:solidFill>
                  <a:srgbClr val="002060"/>
                </a:solidFill>
                <a:latin typeface="Cambria" panose="02040503050406030204" pitchFamily="18" charset="0"/>
                <a:ea typeface="Cambria" panose="02040503050406030204" pitchFamily="18" charset="0"/>
              </a:rPr>
              <a:t>Mã hóa bằng phương pháp dự </a:t>
            </a:r>
            <a:r>
              <a:rPr lang="vi-VN" sz="2400" b="1" smtClean="0">
                <a:solidFill>
                  <a:srgbClr val="002060"/>
                </a:solidFill>
                <a:latin typeface="Cambria" panose="02040503050406030204" pitchFamily="18" charset="0"/>
                <a:ea typeface="Cambria" panose="02040503050406030204" pitchFamily="18" charset="0"/>
              </a:rPr>
              <a:t>đoán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70973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61" y="839099"/>
            <a:ext cx="857097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Bộ dự đoán cho kết quả tốt nhất nếu quá trình dự báo được dựa trên những giá trị của </a:t>
            </a:r>
            <a:r>
              <a:rPr lang="vi-VN" sz="2400" b="1" smtClean="0">
                <a:solidFill>
                  <a:srgbClr val="002060"/>
                </a:solidFill>
                <a:latin typeface="Cambria" panose="02040503050406030204" pitchFamily="18" charset="0"/>
                <a:ea typeface="Cambria" panose="02040503050406030204" pitchFamily="18" charset="0"/>
              </a:rPr>
              <a:t>các </a:t>
            </a:r>
            <a:r>
              <a:rPr lang="vi-VN" sz="2400" b="1">
                <a:solidFill>
                  <a:srgbClr val="002060"/>
                </a:solidFill>
                <a:latin typeface="Cambria" panose="02040503050406030204" pitchFamily="18" charset="0"/>
                <a:ea typeface="Cambria" panose="02040503050406030204" pitchFamily="18" charset="0"/>
              </a:rPr>
              <a:t>pixel liền kề đã được mã hóa trước </a:t>
            </a:r>
            <a:r>
              <a:rPr lang="vi-VN" sz="2400" b="1" smtClean="0">
                <a:solidFill>
                  <a:srgbClr val="002060"/>
                </a:solidFill>
                <a:latin typeface="Cambria" panose="02040503050406030204" pitchFamily="18" charset="0"/>
                <a:ea typeface="Cambria" panose="02040503050406030204" pitchFamily="18" charset="0"/>
              </a:rPr>
              <a:t>đó</a:t>
            </a:r>
            <a:endParaRPr lang="en-US" sz="2400" b="1">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Nếu bộ dự đoán sử dụng </a:t>
            </a:r>
            <a:r>
              <a:rPr lang="vi-VN" sz="2400" b="1" smtClean="0">
                <a:solidFill>
                  <a:srgbClr val="002060"/>
                </a:solidFill>
                <a:latin typeface="Cambria" panose="02040503050406030204" pitchFamily="18" charset="0"/>
                <a:ea typeface="Cambria" panose="02040503050406030204" pitchFamily="18" charset="0"/>
              </a:rPr>
              <a:t>cả </a:t>
            </a:r>
            <a:r>
              <a:rPr lang="vi-VN" sz="2400" b="1">
                <a:solidFill>
                  <a:srgbClr val="002060"/>
                </a:solidFill>
                <a:latin typeface="Cambria" panose="02040503050406030204" pitchFamily="18" charset="0"/>
                <a:ea typeface="Cambria" panose="02040503050406030204" pitchFamily="18" charset="0"/>
              </a:rPr>
              <a:t>hai kỹ thuật trên thì được gọi là “mã hóa dự đoán lai”</a:t>
            </a:r>
          </a:p>
        </p:txBody>
      </p:sp>
    </p:spTree>
    <p:extLst>
      <p:ext uri="{BB962C8B-B14F-4D97-AF65-F5344CB8AC3E}">
        <p14:creationId xmlns:p14="http://schemas.microsoft.com/office/powerpoint/2010/main" val="27428471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 </a:t>
            </a:r>
            <a:r>
              <a:rPr lang="vi-VN" sz="2400" b="1" smtClean="0">
                <a:solidFill>
                  <a:srgbClr val="002060"/>
                </a:solidFill>
                <a:latin typeface="Cambria" panose="02040503050406030204" pitchFamily="18" charset="0"/>
                <a:ea typeface="Cambria" panose="02040503050406030204" pitchFamily="18" charset="0"/>
              </a:rPr>
              <a:t>Mã </a:t>
            </a:r>
            <a:r>
              <a:rPr lang="vi-VN" sz="2400" b="1">
                <a:solidFill>
                  <a:srgbClr val="002060"/>
                </a:solidFill>
                <a:latin typeface="Cambria" panose="02040503050406030204" pitchFamily="18" charset="0"/>
                <a:ea typeface="Cambria" panose="02040503050406030204" pitchFamily="18" charset="0"/>
              </a:rPr>
              <a:t>hóa bằng phương pháp biến đổi</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70973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61" y="839099"/>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T</a:t>
            </a:r>
            <a:r>
              <a:rPr lang="vi-VN" sz="2400" b="1" smtClean="0">
                <a:solidFill>
                  <a:srgbClr val="002060"/>
                </a:solidFill>
                <a:latin typeface="Cambria" panose="02040503050406030204" pitchFamily="18" charset="0"/>
                <a:ea typeface="Cambria" panose="02040503050406030204" pitchFamily="18" charset="0"/>
              </a:rPr>
              <a:t>rong </a:t>
            </a:r>
            <a:r>
              <a:rPr lang="vi-VN" sz="2400" b="1">
                <a:solidFill>
                  <a:srgbClr val="002060"/>
                </a:solidFill>
                <a:latin typeface="Cambria" panose="02040503050406030204" pitchFamily="18" charset="0"/>
                <a:ea typeface="Cambria" panose="02040503050406030204" pitchFamily="18" charset="0"/>
              </a:rPr>
              <a:t>mã hóa tín hiệu video, biến đổi DCT </a:t>
            </a:r>
            <a:r>
              <a:rPr lang="en-US" sz="2400" b="1" smtClean="0">
                <a:solidFill>
                  <a:srgbClr val="002060"/>
                </a:solidFill>
                <a:latin typeface="Cambria" panose="02040503050406030204" pitchFamily="18" charset="0"/>
                <a:ea typeface="Cambria" panose="02040503050406030204" pitchFamily="18" charset="0"/>
              </a:rPr>
              <a:t>(biển đổi cosin rời rạc) </a:t>
            </a:r>
            <a:r>
              <a:rPr lang="vi-VN" sz="2400" b="1" smtClean="0">
                <a:solidFill>
                  <a:srgbClr val="002060"/>
                </a:solidFill>
                <a:latin typeface="Cambria" panose="02040503050406030204" pitchFamily="18" charset="0"/>
                <a:ea typeface="Cambria" panose="02040503050406030204" pitchFamily="18" charset="0"/>
              </a:rPr>
              <a:t>cũng </a:t>
            </a:r>
            <a:r>
              <a:rPr lang="vi-VN" sz="2400" b="1">
                <a:solidFill>
                  <a:srgbClr val="002060"/>
                </a:solidFill>
                <a:latin typeface="Cambria" panose="02040503050406030204" pitchFamily="18" charset="0"/>
                <a:ea typeface="Cambria" panose="02040503050406030204" pitchFamily="18" charset="0"/>
              </a:rPr>
              <a:t>được sử dụng</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Tuy nhiên, p</a:t>
            </a:r>
            <a:r>
              <a:rPr lang="vi-VN" sz="2400" b="1" smtClean="0">
                <a:solidFill>
                  <a:srgbClr val="002060"/>
                </a:solidFill>
                <a:latin typeface="Cambria" panose="02040503050406030204" pitchFamily="18" charset="0"/>
                <a:ea typeface="Cambria" panose="02040503050406030204" pitchFamily="18" charset="0"/>
              </a:rPr>
              <a:t>hép </a:t>
            </a:r>
            <a:r>
              <a:rPr lang="vi-VN" sz="2400" b="1">
                <a:solidFill>
                  <a:srgbClr val="002060"/>
                </a:solidFill>
                <a:latin typeface="Cambria" panose="02040503050406030204" pitchFamily="18" charset="0"/>
                <a:ea typeface="Cambria" panose="02040503050406030204" pitchFamily="18" charset="0"/>
              </a:rPr>
              <a:t>biến đổi các giá trị từ miền không </a:t>
            </a:r>
            <a:r>
              <a:rPr lang="vi-VN" sz="2400" b="1" smtClean="0">
                <a:solidFill>
                  <a:srgbClr val="002060"/>
                </a:solidFill>
                <a:latin typeface="Cambria" panose="02040503050406030204" pitchFamily="18" charset="0"/>
                <a:ea typeface="Cambria" panose="02040503050406030204" pitchFamily="18" charset="0"/>
              </a:rPr>
              <a:t>gian </a:t>
            </a:r>
            <a:r>
              <a:rPr lang="vi-VN" sz="2400" b="1">
                <a:solidFill>
                  <a:srgbClr val="002060"/>
                </a:solidFill>
                <a:latin typeface="Cambria" panose="02040503050406030204" pitchFamily="18" charset="0"/>
                <a:ea typeface="Cambria" panose="02040503050406030204" pitchFamily="18" charset="0"/>
              </a:rPr>
              <a:t>pixel sang miền không gian khác chưa phải là nén tín </a:t>
            </a:r>
            <a:r>
              <a:rPr lang="vi-VN" sz="2400" b="1" smtClean="0">
                <a:solidFill>
                  <a:srgbClr val="002060"/>
                </a:solidFill>
                <a:latin typeface="Cambria" panose="02040503050406030204" pitchFamily="18" charset="0"/>
                <a:ea typeface="Cambria" panose="02040503050406030204" pitchFamily="18" charset="0"/>
              </a:rPr>
              <a:t>hiệu</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Do tính trực giao của phép biến đổi, năng lượng trên </a:t>
            </a:r>
            <a:r>
              <a:rPr lang="vi-VN" sz="2400" b="1" smtClean="0">
                <a:solidFill>
                  <a:srgbClr val="002060"/>
                </a:solidFill>
                <a:latin typeface="Cambria" panose="02040503050406030204" pitchFamily="18" charset="0"/>
                <a:ea typeface="Cambria" panose="02040503050406030204" pitchFamily="18" charset="0"/>
              </a:rPr>
              <a:t>cả </a:t>
            </a:r>
            <a:r>
              <a:rPr lang="vi-VN" sz="2400" b="1">
                <a:solidFill>
                  <a:srgbClr val="002060"/>
                </a:solidFill>
                <a:latin typeface="Cambria" panose="02040503050406030204" pitchFamily="18" charset="0"/>
                <a:ea typeface="Cambria" panose="02040503050406030204" pitchFamily="18" charset="0"/>
              </a:rPr>
              <a:t>hai miền pixel và miền không gian sau biến đổi đều bằng nhau</a:t>
            </a:r>
          </a:p>
        </p:txBody>
      </p:sp>
    </p:spTree>
    <p:extLst>
      <p:ext uri="{BB962C8B-B14F-4D97-AF65-F5344CB8AC3E}">
        <p14:creationId xmlns:p14="http://schemas.microsoft.com/office/powerpoint/2010/main" val="5545284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166688" algn="just">
              <a:lnSpc>
                <a:spcPct val="150000"/>
              </a:lnSpc>
            </a:pPr>
            <a:r>
              <a:rPr lang="en-US" sz="2400" b="1" smtClean="0">
                <a:solidFill>
                  <a:srgbClr val="002060"/>
                </a:solidFill>
                <a:latin typeface="Cambria" panose="02040503050406030204" pitchFamily="18" charset="0"/>
                <a:ea typeface="Cambria" panose="02040503050406030204" pitchFamily="18" charset="0"/>
              </a:rPr>
              <a:t>b. </a:t>
            </a:r>
            <a:r>
              <a:rPr lang="vi-VN" sz="2400" b="1" smtClean="0">
                <a:solidFill>
                  <a:srgbClr val="002060"/>
                </a:solidFill>
                <a:latin typeface="Cambria" panose="02040503050406030204" pitchFamily="18" charset="0"/>
                <a:ea typeface="Cambria" panose="02040503050406030204" pitchFamily="18" charset="0"/>
              </a:rPr>
              <a:t>Mã </a:t>
            </a:r>
            <a:r>
              <a:rPr lang="vi-VN" sz="2400" b="1">
                <a:solidFill>
                  <a:srgbClr val="002060"/>
                </a:solidFill>
                <a:latin typeface="Cambria" panose="02040503050406030204" pitchFamily="18" charset="0"/>
                <a:ea typeface="Cambria" panose="02040503050406030204" pitchFamily="18" charset="0"/>
              </a:rPr>
              <a:t>hóa bằng phương pháp biến đổi</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70973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61" y="839099"/>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Hệ số </a:t>
            </a:r>
            <a:r>
              <a:rPr lang="en-US" sz="2400" b="1">
                <a:solidFill>
                  <a:srgbClr val="002060"/>
                </a:solidFill>
                <a:latin typeface="Cambria" panose="02040503050406030204" pitchFamily="18" charset="0"/>
                <a:ea typeface="Cambria" panose="02040503050406030204" pitchFamily="18" charset="0"/>
              </a:rPr>
              <a:t>DC có giá trị cao </a:t>
            </a:r>
            <a:r>
              <a:rPr lang="en-US" sz="2400" b="1" smtClean="0">
                <a:solidFill>
                  <a:srgbClr val="002060"/>
                </a:solidFill>
                <a:latin typeface="Cambria" panose="02040503050406030204" pitchFamily="18" charset="0"/>
                <a:ea typeface="Cambria" panose="02040503050406030204" pitchFamily="18" charset="0"/>
              </a:rPr>
              <a:t>nhất</a:t>
            </a: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Các hệ số AC càng xa hệ số DC thì giá trị càng </a:t>
            </a:r>
            <a:r>
              <a:rPr lang="vi-VN" sz="2400" b="1" smtClean="0">
                <a:solidFill>
                  <a:srgbClr val="002060"/>
                </a:solidFill>
                <a:latin typeface="Cambria" panose="02040503050406030204" pitchFamily="18" charset="0"/>
                <a:ea typeface="Cambria" panose="02040503050406030204" pitchFamily="18" charset="0"/>
              </a:rPr>
              <a:t>bé</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Dựa vào đặc </a:t>
            </a:r>
            <a:r>
              <a:rPr lang="vi-VN" sz="2400" b="1" smtClean="0">
                <a:solidFill>
                  <a:srgbClr val="002060"/>
                </a:solidFill>
                <a:latin typeface="Cambria" panose="02040503050406030204" pitchFamily="18" charset="0"/>
                <a:ea typeface="Cambria" panose="02040503050406030204" pitchFamily="18" charset="0"/>
              </a:rPr>
              <a:t>điểm </a:t>
            </a:r>
            <a:r>
              <a:rPr lang="vi-VN" sz="2400" b="1">
                <a:solidFill>
                  <a:srgbClr val="002060"/>
                </a:solidFill>
                <a:latin typeface="Cambria" panose="02040503050406030204" pitchFamily="18" charset="0"/>
                <a:ea typeface="Cambria" panose="02040503050406030204" pitchFamily="18" charset="0"/>
              </a:rPr>
              <a:t>của mắt người là ít nhạy cảm với các hình ảnh bị méo ở tần số cao nên bộ lượng tử được </a:t>
            </a:r>
            <a:r>
              <a:rPr lang="vi-VN" sz="2400" b="1" smtClean="0">
                <a:solidFill>
                  <a:srgbClr val="002060"/>
                </a:solidFill>
                <a:latin typeface="Cambria" panose="02040503050406030204" pitchFamily="18" charset="0"/>
                <a:ea typeface="Cambria" panose="02040503050406030204" pitchFamily="18" charset="0"/>
              </a:rPr>
              <a:t>sử </a:t>
            </a:r>
            <a:r>
              <a:rPr lang="vi-VN" sz="2400" b="1">
                <a:solidFill>
                  <a:srgbClr val="002060"/>
                </a:solidFill>
                <a:latin typeface="Cambria" panose="02040503050406030204" pitchFamily="18" charset="0"/>
                <a:ea typeface="Cambria" panose="02040503050406030204" pitchFamily="18" charset="0"/>
              </a:rPr>
              <a:t>dụng nhằm loại bỏ đi các hệ số AC tại vùng tần số </a:t>
            </a:r>
            <a:r>
              <a:rPr lang="vi-VN" sz="2400" b="1" smtClean="0">
                <a:solidFill>
                  <a:srgbClr val="002060"/>
                </a:solidFill>
                <a:latin typeface="Cambria" panose="02040503050406030204" pitchFamily="18" charset="0"/>
                <a:ea typeface="Cambria" panose="02040503050406030204" pitchFamily="18" charset="0"/>
              </a:rPr>
              <a:t>này</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V</a:t>
            </a:r>
            <a:r>
              <a:rPr lang="vi-VN" sz="2400" b="1" smtClean="0">
                <a:solidFill>
                  <a:srgbClr val="002060"/>
                </a:solidFill>
                <a:latin typeface="Cambria" panose="02040503050406030204" pitchFamily="18" charset="0"/>
                <a:ea typeface="Cambria" panose="02040503050406030204" pitchFamily="18" charset="0"/>
              </a:rPr>
              <a:t>ới </a:t>
            </a:r>
            <a:r>
              <a:rPr lang="vi-VN" sz="2400" b="1">
                <a:solidFill>
                  <a:srgbClr val="002060"/>
                </a:solidFill>
                <a:latin typeface="Cambria" panose="02040503050406030204" pitchFamily="18" charset="0"/>
                <a:ea typeface="Cambria" panose="02040503050406030204" pitchFamily="18" charset="0"/>
              </a:rPr>
              <a:t>các hệ số có giá trị nhỏ sau khi qua bộ </a:t>
            </a:r>
            <a:r>
              <a:rPr lang="vi-VN" sz="2400" b="1" smtClean="0">
                <a:solidFill>
                  <a:srgbClr val="002060"/>
                </a:solidFill>
                <a:latin typeface="Cambria" panose="02040503050406030204" pitchFamily="18" charset="0"/>
                <a:ea typeface="Cambria" panose="02040503050406030204" pitchFamily="18" charset="0"/>
              </a:rPr>
              <a:t>lượng</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tử </a:t>
            </a:r>
            <a:r>
              <a:rPr lang="vi-VN" sz="2400" b="1">
                <a:solidFill>
                  <a:srgbClr val="002060"/>
                </a:solidFill>
                <a:latin typeface="Cambria" panose="02040503050406030204" pitchFamily="18" charset="0"/>
                <a:ea typeface="Cambria" panose="02040503050406030204" pitchFamily="18" charset="0"/>
              </a:rPr>
              <a:t>sẽ bị nén về mức 0. Đây chính là quá trình loại bỏ những hệ số DCT ở vùng tần số cao</a:t>
            </a:r>
          </a:p>
        </p:txBody>
      </p:sp>
    </p:spTree>
    <p:extLst>
      <p:ext uri="{BB962C8B-B14F-4D97-AF65-F5344CB8AC3E}">
        <p14:creationId xmlns:p14="http://schemas.microsoft.com/office/powerpoint/2010/main" val="25976281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3.5.3. Kỹ thuật giảm dư thừa thông tin trong miền thời </a:t>
            </a:r>
            <a:r>
              <a:rPr lang="vi-VN" sz="2400" b="1" smtClean="0">
                <a:solidFill>
                  <a:srgbClr val="002060"/>
                </a:solidFill>
                <a:latin typeface="Cambria" panose="02040503050406030204" pitchFamily="18" charset="0"/>
              </a:rPr>
              <a:t>gian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a:t>
            </a:r>
            <a:r>
              <a:rPr lang="en-US" sz="2400" b="1" smtClean="0">
                <a:solidFill>
                  <a:srgbClr val="002060"/>
                </a:solidFill>
                <a:latin typeface="Cambria" panose="02040503050406030204" pitchFamily="18" charset="0"/>
                <a:ea typeface="Cambria" panose="02040503050406030204" pitchFamily="18" charset="0"/>
              </a:rPr>
              <a:t>T</a:t>
            </a:r>
            <a:r>
              <a:rPr lang="vi-VN" sz="2400" b="1" smtClean="0">
                <a:solidFill>
                  <a:srgbClr val="002060"/>
                </a:solidFill>
                <a:latin typeface="Cambria" panose="02040503050406030204" pitchFamily="18" charset="0"/>
                <a:ea typeface="Cambria" panose="02040503050406030204" pitchFamily="18" charset="0"/>
              </a:rPr>
              <a:t>hực </a:t>
            </a:r>
            <a:r>
              <a:rPr lang="vi-VN" sz="2400" b="1">
                <a:solidFill>
                  <a:srgbClr val="002060"/>
                </a:solidFill>
                <a:latin typeface="Cambria" panose="02040503050406030204" pitchFamily="18" charset="0"/>
                <a:ea typeface="Cambria" panose="02040503050406030204" pitchFamily="18" charset="0"/>
              </a:rPr>
              <a:t>hiện dựa trên việc tìm </a:t>
            </a:r>
            <a:r>
              <a:rPr lang="vi-VN" sz="2400" b="1" smtClean="0">
                <a:solidFill>
                  <a:srgbClr val="002060"/>
                </a:solidFill>
                <a:latin typeface="Cambria" panose="02040503050406030204" pitchFamily="18" charset="0"/>
                <a:ea typeface="Cambria" panose="02040503050406030204" pitchFamily="18" charset="0"/>
              </a:rPr>
              <a:t>ra </a:t>
            </a:r>
            <a:r>
              <a:rPr lang="vi-VN" sz="2400" b="1">
                <a:solidFill>
                  <a:srgbClr val="002060"/>
                </a:solidFill>
                <a:latin typeface="Cambria" panose="02040503050406030204" pitchFamily="18" charset="0"/>
                <a:ea typeface="Cambria" panose="02040503050406030204" pitchFamily="18" charset="0"/>
              </a:rPr>
              <a:t>sự khác nhau giữa các khung hình liên </a:t>
            </a:r>
            <a:r>
              <a:rPr lang="vi-VN" sz="2400" b="1" smtClean="0">
                <a:solidFill>
                  <a:srgbClr val="002060"/>
                </a:solidFill>
                <a:latin typeface="Cambria" panose="02040503050406030204" pitchFamily="18" charset="0"/>
                <a:ea typeface="Cambria" panose="02040503050406030204" pitchFamily="18" charset="0"/>
              </a:rPr>
              <a:t>tiếp</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a:t>
            </a:r>
            <a:r>
              <a:rPr lang="en-US" sz="2400" b="1">
                <a:solidFill>
                  <a:srgbClr val="002060"/>
                </a:solidFill>
                <a:latin typeface="Cambria" panose="02040503050406030204" pitchFamily="18" charset="0"/>
                <a:ea typeface="Cambria" panose="02040503050406030204" pitchFamily="18" charset="0"/>
              </a:rPr>
              <a:t>Đ</a:t>
            </a:r>
            <a:r>
              <a:rPr lang="vi-VN" sz="2400" b="1" smtClean="0">
                <a:solidFill>
                  <a:srgbClr val="002060"/>
                </a:solidFill>
                <a:latin typeface="Cambria" panose="02040503050406030204" pitchFamily="18" charset="0"/>
                <a:ea typeface="Cambria" panose="02040503050406030204" pitchFamily="18" charset="0"/>
              </a:rPr>
              <a:t>ối </a:t>
            </a:r>
            <a:r>
              <a:rPr lang="vi-VN" sz="2400" b="1">
                <a:solidFill>
                  <a:srgbClr val="002060"/>
                </a:solidFill>
                <a:latin typeface="Cambria" panose="02040503050406030204" pitchFamily="18" charset="0"/>
                <a:ea typeface="Cambria" panose="02040503050406030204" pitchFamily="18" charset="0"/>
              </a:rPr>
              <a:t>với các đối tượng chuyển động nhiều, </a:t>
            </a:r>
            <a:r>
              <a:rPr lang="vi-VN" sz="2400" b="1" smtClean="0">
                <a:solidFill>
                  <a:srgbClr val="002060"/>
                </a:solidFill>
                <a:latin typeface="Cambria" panose="02040503050406030204" pitchFamily="18" charset="0"/>
                <a:ea typeface="Cambria" panose="02040503050406030204" pitchFamily="18" charset="0"/>
              </a:rPr>
              <a:t>sự</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khác </a:t>
            </a:r>
            <a:r>
              <a:rPr lang="vi-VN" sz="2400" b="1">
                <a:solidFill>
                  <a:srgbClr val="002060"/>
                </a:solidFill>
                <a:latin typeface="Cambria" panose="02040503050406030204" pitchFamily="18" charset="0"/>
                <a:ea typeface="Cambria" panose="02040503050406030204" pitchFamily="18" charset="0"/>
              </a:rPr>
              <a:t>biệt giữa các khung hình là rất lớn. Điều này đồng nghĩa với việc chúng ta cần nhiều </a:t>
            </a:r>
            <a:r>
              <a:rPr lang="vi-VN" sz="2400" b="1" smtClean="0">
                <a:solidFill>
                  <a:srgbClr val="002060"/>
                </a:solidFill>
                <a:latin typeface="Cambria" panose="02040503050406030204" pitchFamily="18" charset="0"/>
                <a:ea typeface="Cambria" panose="02040503050406030204" pitchFamily="18" charset="0"/>
              </a:rPr>
              <a:t>thông </a:t>
            </a:r>
            <a:r>
              <a:rPr lang="vi-VN" sz="2400" b="1">
                <a:solidFill>
                  <a:srgbClr val="002060"/>
                </a:solidFill>
                <a:latin typeface="Cambria" panose="02040503050406030204" pitchFamily="18" charset="0"/>
                <a:ea typeface="Cambria" panose="02040503050406030204" pitchFamily="18" charset="0"/>
              </a:rPr>
              <a:t>tin để mã </a:t>
            </a:r>
            <a:r>
              <a:rPr lang="vi-VN" sz="2400" b="1" smtClean="0">
                <a:solidFill>
                  <a:srgbClr val="002060"/>
                </a:solidFill>
                <a:latin typeface="Cambria" panose="02040503050406030204" pitchFamily="18" charset="0"/>
                <a:ea typeface="Cambria" panose="02040503050406030204" pitchFamily="18" charset="0"/>
              </a:rPr>
              <a:t>hóa</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Để làm giảm lượng thông tin này, người ta tiến hành thêm một bước </a:t>
            </a:r>
            <a:r>
              <a:rPr lang="vi-VN" sz="2400" b="1" smtClean="0">
                <a:solidFill>
                  <a:srgbClr val="002060"/>
                </a:solidFill>
                <a:latin typeface="Cambria" panose="02040503050406030204" pitchFamily="18" charset="0"/>
                <a:ea typeface="Cambria" panose="02040503050406030204" pitchFamily="18" charset="0"/>
              </a:rPr>
              <a:t>trung </a:t>
            </a:r>
            <a:r>
              <a:rPr lang="vi-VN" sz="2400" b="1">
                <a:solidFill>
                  <a:srgbClr val="002060"/>
                </a:solidFill>
                <a:latin typeface="Cambria" panose="02040503050406030204" pitchFamily="18" charset="0"/>
                <a:ea typeface="Cambria" panose="02040503050406030204" pitchFamily="18" charset="0"/>
              </a:rPr>
              <a:t>gian gọi là ước lượng chuyển </a:t>
            </a:r>
            <a:r>
              <a:rPr lang="vi-VN" sz="2400" b="1" smtClean="0">
                <a:solidFill>
                  <a:srgbClr val="002060"/>
                </a:solidFill>
                <a:latin typeface="Cambria" panose="02040503050406030204" pitchFamily="18" charset="0"/>
                <a:ea typeface="Cambria" panose="02040503050406030204" pitchFamily="18" charset="0"/>
              </a:rPr>
              <a:t>động</a:t>
            </a:r>
            <a:r>
              <a:rPr lang="en-US" sz="2400" b="1" smtClean="0">
                <a:solidFill>
                  <a:srgbClr val="002060"/>
                </a:solidFill>
                <a:latin typeface="Cambria" panose="02040503050406030204" pitchFamily="18" charset="0"/>
                <a:ea typeface="Cambria" panose="02040503050406030204" pitchFamily="18" charset="0"/>
              </a:rPr>
              <a:t> </a:t>
            </a:r>
            <a:r>
              <a:rPr lang="vi-VN" sz="2400" b="1">
                <a:solidFill>
                  <a:srgbClr val="002060"/>
                </a:solidFill>
                <a:latin typeface="Cambria" panose="02040503050406030204" pitchFamily="18" charset="0"/>
                <a:ea typeface="Cambria" panose="02040503050406030204" pitchFamily="18" charset="0"/>
              </a:rPr>
              <a:t>cho các đối tượng trong </a:t>
            </a:r>
            <a:r>
              <a:rPr lang="vi-VN" sz="2400" b="1" smtClean="0">
                <a:solidFill>
                  <a:srgbClr val="002060"/>
                </a:solidFill>
                <a:latin typeface="Cambria" panose="02040503050406030204" pitchFamily="18" charset="0"/>
                <a:ea typeface="Cambria" panose="02040503050406030204" pitchFamily="18" charset="0"/>
              </a:rPr>
              <a:t>hình</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Dựa vào các </a:t>
            </a:r>
            <a:r>
              <a:rPr lang="vi-VN" sz="2400" b="1" smtClean="0">
                <a:solidFill>
                  <a:srgbClr val="002060"/>
                </a:solidFill>
                <a:latin typeface="Cambria" panose="02040503050406030204" pitchFamily="18" charset="0"/>
                <a:ea typeface="Cambria" panose="02040503050406030204" pitchFamily="18" charset="0"/>
              </a:rPr>
              <a:t>vector </a:t>
            </a:r>
            <a:r>
              <a:rPr lang="vi-VN" sz="2400" b="1">
                <a:solidFill>
                  <a:srgbClr val="002060"/>
                </a:solidFill>
                <a:latin typeface="Cambria" panose="02040503050406030204" pitchFamily="18" charset="0"/>
                <a:ea typeface="Cambria" panose="02040503050406030204" pitchFamily="18" charset="0"/>
              </a:rPr>
              <a:t>này và khung hình trước đó, khung hình hiện tại sẽ được dự đoán. Quá trình này được </a:t>
            </a:r>
            <a:r>
              <a:rPr lang="vi-VN" sz="2400" b="1" smtClean="0">
                <a:solidFill>
                  <a:srgbClr val="002060"/>
                </a:solidFill>
                <a:latin typeface="Cambria" panose="02040503050406030204" pitchFamily="18" charset="0"/>
                <a:ea typeface="Cambria" panose="02040503050406030204" pitchFamily="18" charset="0"/>
              </a:rPr>
              <a:t>gọi </a:t>
            </a:r>
            <a:r>
              <a:rPr lang="vi-VN" sz="2400" b="1">
                <a:solidFill>
                  <a:srgbClr val="002060"/>
                </a:solidFill>
                <a:latin typeface="Cambria" panose="02040503050406030204" pitchFamily="18" charset="0"/>
                <a:ea typeface="Cambria" panose="02040503050406030204" pitchFamily="18" charset="0"/>
              </a:rPr>
              <a:t>là </a:t>
            </a:r>
            <a:r>
              <a:rPr lang="vi-VN" sz="2400" b="1" smtClean="0">
                <a:solidFill>
                  <a:srgbClr val="002060"/>
                </a:solidFill>
                <a:latin typeface="Cambria" panose="02040503050406030204" pitchFamily="18" charset="0"/>
                <a:ea typeface="Cambria" panose="02040503050406030204" pitchFamily="18" charset="0"/>
              </a:rPr>
              <a:t>bù </a:t>
            </a:r>
            <a:r>
              <a:rPr lang="vi-VN" sz="2400" b="1">
                <a:solidFill>
                  <a:srgbClr val="002060"/>
                </a:solidFill>
                <a:latin typeface="Cambria" panose="02040503050406030204" pitchFamily="18" charset="0"/>
                <a:ea typeface="Cambria" panose="02040503050406030204" pitchFamily="18" charset="0"/>
              </a:rPr>
              <a:t>chuyển </a:t>
            </a:r>
            <a:r>
              <a:rPr lang="vi-VN" sz="2400" b="1" smtClean="0">
                <a:solidFill>
                  <a:srgbClr val="002060"/>
                </a:solidFill>
                <a:latin typeface="Cambria" panose="02040503050406030204" pitchFamily="18" charset="0"/>
                <a:ea typeface="Cambria" panose="02040503050406030204" pitchFamily="18" charset="0"/>
              </a:rPr>
              <a:t>động</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347810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3.5.3. Kỹ thuật giảm dư thừa thông tin trong miền thời </a:t>
            </a:r>
            <a:r>
              <a:rPr lang="vi-VN" sz="2400" b="1" smtClean="0">
                <a:solidFill>
                  <a:srgbClr val="002060"/>
                </a:solidFill>
                <a:latin typeface="Cambria" panose="02040503050406030204" pitchFamily="18" charset="0"/>
              </a:rPr>
              <a:t>gian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en-US" sz="2400" b="1">
                <a:solidFill>
                  <a:srgbClr val="002060"/>
                </a:solidFill>
                <a:latin typeface="Cambria" panose="02040503050406030204" pitchFamily="18" charset="0"/>
                <a:ea typeface="Cambria" panose="02040503050406030204" pitchFamily="18" charset="0"/>
              </a:rPr>
              <a:t>Ư</a:t>
            </a:r>
            <a:r>
              <a:rPr lang="vi-VN" sz="2400" b="1" smtClean="0">
                <a:solidFill>
                  <a:srgbClr val="002060"/>
                </a:solidFill>
                <a:latin typeface="Cambria" panose="02040503050406030204" pitchFamily="18" charset="0"/>
                <a:ea typeface="Cambria" panose="02040503050406030204" pitchFamily="18" charset="0"/>
              </a:rPr>
              <a:t>ớc </a:t>
            </a:r>
            <a:r>
              <a:rPr lang="vi-VN" sz="2400" b="1">
                <a:solidFill>
                  <a:srgbClr val="002060"/>
                </a:solidFill>
                <a:latin typeface="Cambria" panose="02040503050406030204" pitchFamily="18" charset="0"/>
                <a:ea typeface="Cambria" panose="02040503050406030204" pitchFamily="18" charset="0"/>
              </a:rPr>
              <a:t>lượng chuyển </a:t>
            </a:r>
            <a:r>
              <a:rPr lang="vi-VN" sz="2400" b="1" smtClean="0">
                <a:solidFill>
                  <a:srgbClr val="002060"/>
                </a:solidFill>
                <a:latin typeface="Cambria" panose="02040503050406030204" pitchFamily="18" charset="0"/>
                <a:ea typeface="Cambria" panose="02040503050406030204" pitchFamily="18" charset="0"/>
              </a:rPr>
              <a:t>động</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Trong các tiêu chuẩn mã hóa video, thuật toán BMA (Block Matching Algorith) thường </a:t>
            </a:r>
            <a:r>
              <a:rPr lang="vi-VN" sz="2400" b="1" smtClean="0">
                <a:solidFill>
                  <a:srgbClr val="002060"/>
                </a:solidFill>
                <a:latin typeface="Cambria" panose="02040503050406030204" pitchFamily="18" charset="0"/>
                <a:ea typeface="Cambria" panose="02040503050406030204" pitchFamily="18" charset="0"/>
              </a:rPr>
              <a:t>được </a:t>
            </a:r>
            <a:r>
              <a:rPr lang="vi-VN" sz="2400" b="1">
                <a:solidFill>
                  <a:srgbClr val="002060"/>
                </a:solidFill>
                <a:latin typeface="Cambria" panose="02040503050406030204" pitchFamily="18" charset="0"/>
                <a:ea typeface="Cambria" panose="02040503050406030204" pitchFamily="18" charset="0"/>
              </a:rPr>
              <a:t>sử dụng để ước lượng chuyển </a:t>
            </a:r>
            <a:r>
              <a:rPr lang="vi-VN" sz="2400" b="1" smtClean="0">
                <a:solidFill>
                  <a:srgbClr val="002060"/>
                </a:solidFill>
                <a:latin typeface="Cambria" panose="02040503050406030204" pitchFamily="18" charset="0"/>
                <a:ea typeface="Cambria" panose="02040503050406030204" pitchFamily="18" charset="0"/>
              </a:rPr>
              <a:t>động</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M</a:t>
            </a:r>
            <a:r>
              <a:rPr lang="vi-VN" sz="2400" b="1" smtClean="0">
                <a:solidFill>
                  <a:srgbClr val="002060"/>
                </a:solidFill>
                <a:latin typeface="Cambria" panose="02040503050406030204" pitchFamily="18" charset="0"/>
                <a:ea typeface="Cambria" panose="02040503050406030204" pitchFamily="18" charset="0"/>
              </a:rPr>
              <a:t>ột </a:t>
            </a:r>
            <a:r>
              <a:rPr lang="vi-VN" sz="2400" b="1">
                <a:solidFill>
                  <a:srgbClr val="002060"/>
                </a:solidFill>
                <a:latin typeface="Cambria" panose="02040503050406030204" pitchFamily="18" charset="0"/>
                <a:ea typeface="Cambria" panose="02040503050406030204" pitchFamily="18" charset="0"/>
              </a:rPr>
              <a:t>khung hình được chia </a:t>
            </a:r>
            <a:r>
              <a:rPr lang="vi-VN" sz="2400" b="1" smtClean="0">
                <a:solidFill>
                  <a:srgbClr val="002060"/>
                </a:solidFill>
                <a:latin typeface="Cambria" panose="02040503050406030204" pitchFamily="18" charset="0"/>
                <a:ea typeface="Cambria" panose="02040503050406030204" pitchFamily="18" charset="0"/>
              </a:rPr>
              <a:t>thành </a:t>
            </a:r>
            <a:r>
              <a:rPr lang="vi-VN" sz="2400" b="1">
                <a:solidFill>
                  <a:srgbClr val="002060"/>
                </a:solidFill>
                <a:latin typeface="Cambria" panose="02040503050406030204" pitchFamily="18" charset="0"/>
                <a:ea typeface="Cambria" panose="02040503050406030204" pitchFamily="18" charset="0"/>
              </a:rPr>
              <a:t>các khối có kích thước N x N </a:t>
            </a:r>
            <a:r>
              <a:rPr lang="vi-VN" sz="2400" b="1" smtClean="0">
                <a:solidFill>
                  <a:srgbClr val="002060"/>
                </a:solidFill>
                <a:latin typeface="Cambria" panose="02040503050406030204" pitchFamily="18" charset="0"/>
                <a:ea typeface="Cambria" panose="02040503050406030204" pitchFamily="18" charset="0"/>
              </a:rPr>
              <a:t>pixel</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Mỗi khối pixel này sẽ được di chuyển quanh vị trí </a:t>
            </a:r>
            <a:r>
              <a:rPr lang="vi-VN" sz="2400" b="1" smtClean="0">
                <a:solidFill>
                  <a:srgbClr val="002060"/>
                </a:solidFill>
                <a:latin typeface="Cambria" panose="02040503050406030204" pitchFamily="18" charset="0"/>
                <a:ea typeface="Cambria" panose="02040503050406030204" pitchFamily="18" charset="0"/>
              </a:rPr>
              <a:t>ban </a:t>
            </a:r>
            <a:r>
              <a:rPr lang="vi-VN" sz="2400" b="1">
                <a:solidFill>
                  <a:srgbClr val="002060"/>
                </a:solidFill>
                <a:latin typeface="Cambria" panose="02040503050406030204" pitchFamily="18" charset="0"/>
                <a:ea typeface="Cambria" panose="02040503050406030204" pitchFamily="18" charset="0"/>
              </a:rPr>
              <a:t>đầu một khoảng w pixel để tìm ra vị trí của khối trong khoảng (N+2w) x (N+2w) có cùng </a:t>
            </a:r>
            <a:r>
              <a:rPr lang="vi-VN" sz="2400" b="1" smtClean="0">
                <a:solidFill>
                  <a:srgbClr val="002060"/>
                </a:solidFill>
                <a:latin typeface="Cambria" panose="02040503050406030204" pitchFamily="18" charset="0"/>
                <a:ea typeface="Cambria" panose="02040503050406030204" pitchFamily="18" charset="0"/>
              </a:rPr>
              <a:t>tọa </a:t>
            </a:r>
            <a:r>
              <a:rPr lang="vi-VN" sz="2400" b="1">
                <a:solidFill>
                  <a:srgbClr val="002060"/>
                </a:solidFill>
                <a:latin typeface="Cambria" panose="02040503050406030204" pitchFamily="18" charset="0"/>
                <a:ea typeface="Cambria" panose="02040503050406030204" pitchFamily="18" charset="0"/>
              </a:rPr>
              <a:t>độ nhưng ở khung hình trước đó giống với nó nhất</a:t>
            </a:r>
            <a:endParaRPr lang="en-US" sz="2400" b="1" smtClean="0">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734868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3.5.3. Kỹ thuật giảm dư thừa thông tin trong miền thời </a:t>
            </a:r>
            <a:r>
              <a:rPr lang="vi-VN" sz="2400" b="1" smtClean="0">
                <a:solidFill>
                  <a:srgbClr val="002060"/>
                </a:solidFill>
                <a:latin typeface="Cambria" panose="02040503050406030204" pitchFamily="18" charset="0"/>
              </a:rPr>
              <a:t>gian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9588" indent="-342900"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Khoảng </a:t>
            </a:r>
            <a:r>
              <a:rPr lang="vi-VN" sz="2400" b="1">
                <a:solidFill>
                  <a:srgbClr val="002060"/>
                </a:solidFill>
                <a:latin typeface="Cambria" panose="02040503050406030204" pitchFamily="18" charset="0"/>
                <a:ea typeface="Cambria" panose="02040503050406030204" pitchFamily="18" charset="0"/>
              </a:rPr>
              <a:t>cách từ tâm hình vuông </a:t>
            </a:r>
            <a:r>
              <a:rPr lang="vi-VN" sz="2400" b="1" smtClean="0">
                <a:solidFill>
                  <a:srgbClr val="002060"/>
                </a:solidFill>
                <a:latin typeface="Cambria" panose="02040503050406030204" pitchFamily="18" charset="0"/>
                <a:ea typeface="Cambria" panose="02040503050406030204" pitchFamily="18" charset="0"/>
              </a:rPr>
              <a:t>(</a:t>
            </a:r>
            <a:r>
              <a:rPr lang="vi-VN" sz="2400" b="1">
                <a:solidFill>
                  <a:srgbClr val="002060"/>
                </a:solidFill>
                <a:latin typeface="Cambria" panose="02040503050406030204" pitchFamily="18" charset="0"/>
                <a:ea typeface="Cambria" panose="02040503050406030204" pitchFamily="18" charset="0"/>
              </a:rPr>
              <a:t>N+2w) x (N+2w) tới tọa độ khối tìm được chính là khoảng chuyển động của khối pixel N x </a:t>
            </a:r>
            <a:r>
              <a:rPr lang="vi-VN" sz="2400" b="1" smtClean="0">
                <a:solidFill>
                  <a:srgbClr val="002060"/>
                </a:solidFill>
                <a:latin typeface="Cambria" panose="02040503050406030204" pitchFamily="18" charset="0"/>
                <a:ea typeface="Cambria" panose="02040503050406030204" pitchFamily="18" charset="0"/>
              </a:rPr>
              <a:t>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Để tìm và đánh giá mức độ giống nhau giữa hai khối pixel, chúng ta sử dụng một </a:t>
            </a:r>
            <a:r>
              <a:rPr lang="vi-VN" sz="2400" b="1" smtClean="0">
                <a:solidFill>
                  <a:srgbClr val="002060"/>
                </a:solidFill>
                <a:latin typeface="Cambria" panose="02040503050406030204" pitchFamily="18" charset="0"/>
                <a:ea typeface="Cambria" panose="02040503050406030204" pitchFamily="18" charset="0"/>
              </a:rPr>
              <a:t>sốphương </a:t>
            </a:r>
            <a:r>
              <a:rPr lang="vi-VN" sz="2400" b="1">
                <a:solidFill>
                  <a:srgbClr val="002060"/>
                </a:solidFill>
                <a:latin typeface="Cambria" panose="02040503050406030204" pitchFamily="18" charset="0"/>
                <a:ea typeface="Cambria" panose="02040503050406030204" pitchFamily="18" charset="0"/>
              </a:rPr>
              <a:t>pháp như sử dụng hàm tương quan chéo (Crosscorrelation function - CCF), hàm </a:t>
            </a:r>
            <a:r>
              <a:rPr lang="vi-VN" sz="2400" b="1" smtClean="0">
                <a:solidFill>
                  <a:srgbClr val="002060"/>
                </a:solidFill>
                <a:latin typeface="Cambria" panose="02040503050406030204" pitchFamily="18" charset="0"/>
                <a:ea typeface="Cambria" panose="02040503050406030204" pitchFamily="18" charset="0"/>
              </a:rPr>
              <a:t>trung </a:t>
            </a:r>
            <a:r>
              <a:rPr lang="vi-VN" sz="2400" b="1">
                <a:solidFill>
                  <a:srgbClr val="002060"/>
                </a:solidFill>
                <a:latin typeface="Cambria" panose="02040503050406030204" pitchFamily="18" charset="0"/>
                <a:ea typeface="Cambria" panose="02040503050406030204" pitchFamily="18" charset="0"/>
              </a:rPr>
              <a:t>bình bình phương lỗi (Mean Square Error – MSE) và hàm trung bình tuyệt đối của lỗi </a:t>
            </a:r>
            <a:r>
              <a:rPr lang="vi-VN" sz="2400" b="1" smtClean="0">
                <a:solidFill>
                  <a:srgbClr val="002060"/>
                </a:solidFill>
                <a:latin typeface="Cambria" panose="02040503050406030204" pitchFamily="18" charset="0"/>
                <a:ea typeface="Cambria" panose="02040503050406030204" pitchFamily="18" charset="0"/>
              </a:rPr>
              <a:t>(</a:t>
            </a:r>
            <a:r>
              <a:rPr lang="vi-VN" sz="2400" b="1">
                <a:solidFill>
                  <a:srgbClr val="002060"/>
                </a:solidFill>
                <a:latin typeface="Cambria" panose="02040503050406030204" pitchFamily="18" charset="0"/>
                <a:ea typeface="Cambria" panose="02040503050406030204" pitchFamily="18" charset="0"/>
              </a:rPr>
              <a:t>Mean absolute error – MAE)</a:t>
            </a:r>
          </a:p>
        </p:txBody>
      </p:sp>
    </p:spTree>
    <p:extLst>
      <p:ext uri="{BB962C8B-B14F-4D97-AF65-F5344CB8AC3E}">
        <p14:creationId xmlns:p14="http://schemas.microsoft.com/office/powerpoint/2010/main" val="36338416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3.5.3. Kỹ thuật giảm dư thừa thông tin trong miền thời </a:t>
            </a:r>
            <a:r>
              <a:rPr lang="vi-VN" sz="2400" b="1" smtClean="0">
                <a:solidFill>
                  <a:srgbClr val="002060"/>
                </a:solidFill>
                <a:latin typeface="Cambria" panose="02040503050406030204" pitchFamily="18" charset="0"/>
              </a:rPr>
              <a:t>gian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Bù chuyển </a:t>
            </a:r>
            <a:r>
              <a:rPr lang="vi-VN" sz="2400" b="1" smtClean="0">
                <a:solidFill>
                  <a:srgbClr val="002060"/>
                </a:solidFill>
                <a:latin typeface="Cambria" panose="02040503050406030204" pitchFamily="18" charset="0"/>
                <a:ea typeface="Cambria" panose="02040503050406030204" pitchFamily="18" charset="0"/>
              </a:rPr>
              <a:t>động</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Sau quá trình ước lượng chuyển động ta có được vector chuyển động của các đối tượng </a:t>
            </a:r>
            <a:r>
              <a:rPr lang="vi-VN" sz="2400" b="1" smtClean="0">
                <a:solidFill>
                  <a:srgbClr val="002060"/>
                </a:solidFill>
                <a:latin typeface="Cambria" panose="02040503050406030204" pitchFamily="18" charset="0"/>
                <a:ea typeface="Cambria" panose="02040503050406030204" pitchFamily="18" charset="0"/>
              </a:rPr>
              <a:t>trong </a:t>
            </a:r>
            <a:r>
              <a:rPr lang="vi-VN" sz="2400" b="1">
                <a:solidFill>
                  <a:srgbClr val="002060"/>
                </a:solidFill>
                <a:latin typeface="Cambria" panose="02040503050406030204" pitchFamily="18" charset="0"/>
                <a:ea typeface="Cambria" panose="02040503050406030204" pitchFamily="18" charset="0"/>
              </a:rPr>
              <a:t>khối pixel N x </a:t>
            </a:r>
            <a:r>
              <a:rPr lang="vi-VN" sz="2400" b="1" smtClean="0">
                <a:solidFill>
                  <a:srgbClr val="002060"/>
                </a:solidFill>
                <a:latin typeface="Cambria" panose="02040503050406030204" pitchFamily="18" charset="0"/>
                <a:ea typeface="Cambria" panose="02040503050406030204" pitchFamily="18" charset="0"/>
              </a:rPr>
              <a:t>N</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Dựa vào các vector chuyển động, các khối pixel N x N trong khung </a:t>
            </a:r>
            <a:r>
              <a:rPr lang="vi-VN" sz="2400" b="1" smtClean="0">
                <a:solidFill>
                  <a:srgbClr val="002060"/>
                </a:solidFill>
                <a:latin typeface="Cambria" panose="02040503050406030204" pitchFamily="18" charset="0"/>
                <a:ea typeface="Cambria" panose="02040503050406030204" pitchFamily="18" charset="0"/>
              </a:rPr>
              <a:t>hình </a:t>
            </a:r>
            <a:r>
              <a:rPr lang="vi-VN" sz="2400" b="1">
                <a:solidFill>
                  <a:srgbClr val="002060"/>
                </a:solidFill>
                <a:latin typeface="Cambria" panose="02040503050406030204" pitchFamily="18" charset="0"/>
                <a:ea typeface="Cambria" panose="02040503050406030204" pitchFamily="18" charset="0"/>
              </a:rPr>
              <a:t>trước đó được dịch chuyển theo hướng và độ lớn của vector chuyển động đã chỉ </a:t>
            </a:r>
            <a:r>
              <a:rPr lang="vi-VN" sz="2400" b="1" smtClean="0">
                <a:solidFill>
                  <a:srgbClr val="002060"/>
                </a:solidFill>
                <a:latin typeface="Cambria" panose="02040503050406030204" pitchFamily="18" charset="0"/>
                <a:ea typeface="Cambria" panose="02040503050406030204" pitchFamily="18" charset="0"/>
              </a:rPr>
              <a:t>ra</a:t>
            </a:r>
            <a:endParaRPr lang="en-US" sz="2400" b="1" smtClean="0">
              <a:solidFill>
                <a:srgbClr val="002060"/>
              </a:solidFill>
              <a:latin typeface="Cambria" panose="02040503050406030204" pitchFamily="18" charset="0"/>
              <a:ea typeface="Cambria" panose="02040503050406030204" pitchFamily="18" charset="0"/>
            </a:endParaRPr>
          </a:p>
          <a:p>
            <a:pPr marL="509588" indent="-342900"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Quá </a:t>
            </a:r>
            <a:r>
              <a:rPr lang="vi-VN" sz="2400" b="1" smtClean="0">
                <a:solidFill>
                  <a:srgbClr val="002060"/>
                </a:solidFill>
                <a:latin typeface="Cambria" panose="02040503050406030204" pitchFamily="18" charset="0"/>
                <a:ea typeface="Cambria" panose="02040503050406030204" pitchFamily="18" charset="0"/>
              </a:rPr>
              <a:t>trình </a:t>
            </a:r>
            <a:r>
              <a:rPr lang="vi-VN" sz="2400" b="1">
                <a:solidFill>
                  <a:srgbClr val="002060"/>
                </a:solidFill>
                <a:latin typeface="Cambria" panose="02040503050406030204" pitchFamily="18" charset="0"/>
                <a:ea typeface="Cambria" panose="02040503050406030204" pitchFamily="18" charset="0"/>
              </a:rPr>
              <a:t>này được gọi là bù chuyển </a:t>
            </a:r>
            <a:r>
              <a:rPr lang="vi-VN" sz="2400" b="1" smtClean="0">
                <a:solidFill>
                  <a:srgbClr val="002060"/>
                </a:solidFill>
                <a:latin typeface="Cambria" panose="02040503050406030204" pitchFamily="18" charset="0"/>
                <a:ea typeface="Cambria" panose="02040503050406030204" pitchFamily="18" charset="0"/>
              </a:rPr>
              <a:t>động</a:t>
            </a:r>
            <a:r>
              <a:rPr lang="en-US" sz="2400" b="1" smtClean="0">
                <a:solidFill>
                  <a:srgbClr val="002060"/>
                </a:solidFill>
                <a:latin typeface="Cambria" panose="02040503050406030204" pitchFamily="18" charset="0"/>
                <a:ea typeface="Cambria" panose="02040503050406030204" pitchFamily="18" charset="0"/>
              </a:rPr>
              <a:t>, k</a:t>
            </a:r>
            <a:r>
              <a:rPr lang="vi-VN" sz="2400" b="1" smtClean="0">
                <a:solidFill>
                  <a:srgbClr val="002060"/>
                </a:solidFill>
                <a:latin typeface="Cambria" panose="02040503050406030204" pitchFamily="18" charset="0"/>
                <a:ea typeface="Cambria" panose="02040503050406030204" pitchFamily="18" charset="0"/>
              </a:rPr>
              <a:t>ết </a:t>
            </a:r>
            <a:r>
              <a:rPr lang="vi-VN" sz="2400" b="1">
                <a:solidFill>
                  <a:srgbClr val="002060"/>
                </a:solidFill>
                <a:latin typeface="Cambria" panose="02040503050406030204" pitchFamily="18" charset="0"/>
                <a:ea typeface="Cambria" panose="02040503050406030204" pitchFamily="18" charset="0"/>
              </a:rPr>
              <a:t>quả của quá trình này là một khung hình mới được </a:t>
            </a:r>
            <a:r>
              <a:rPr lang="vi-VN" sz="2400" b="1" smtClean="0">
                <a:solidFill>
                  <a:srgbClr val="002060"/>
                </a:solidFill>
                <a:latin typeface="Cambria" panose="02040503050406030204" pitchFamily="18" charset="0"/>
                <a:ea typeface="Cambria" panose="02040503050406030204" pitchFamily="18" charset="0"/>
              </a:rPr>
              <a:t>cho </a:t>
            </a:r>
            <a:r>
              <a:rPr lang="vi-VN" sz="2400" b="1">
                <a:solidFill>
                  <a:srgbClr val="002060"/>
                </a:solidFill>
                <a:latin typeface="Cambria" panose="02040503050406030204" pitchFamily="18" charset="0"/>
                <a:ea typeface="Cambria" panose="02040503050406030204" pitchFamily="18" charset="0"/>
              </a:rPr>
              <a:t>là giống với khung hình hiện thời</a:t>
            </a:r>
          </a:p>
        </p:txBody>
      </p:sp>
    </p:spTree>
    <p:extLst>
      <p:ext uri="{BB962C8B-B14F-4D97-AF65-F5344CB8AC3E}">
        <p14:creationId xmlns:p14="http://schemas.microsoft.com/office/powerpoint/2010/main" val="697278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3.5.3. Kỹ thuật giảm dư thừa thông tin trong miền thời </a:t>
            </a:r>
            <a:r>
              <a:rPr lang="vi-VN" sz="2400" b="1" smtClean="0">
                <a:solidFill>
                  <a:srgbClr val="002060"/>
                </a:solidFill>
                <a:latin typeface="Cambria" panose="02040503050406030204" pitchFamily="18" charset="0"/>
              </a:rPr>
              <a:t>gian</a:t>
            </a:r>
            <a:endParaRPr lang="vi-VN" sz="24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Mã hóa có chiều dài thay đổi (VLC</a:t>
            </a:r>
            <a:r>
              <a:rPr lang="vi-VN" sz="2400" b="1" smtClean="0">
                <a:solidFill>
                  <a:srgbClr val="002060"/>
                </a:solidFill>
                <a:latin typeface="Cambria" panose="02040503050406030204" pitchFamily="18" charset="0"/>
                <a:ea typeface="Cambria" panose="02040503050406030204" pitchFamily="18" charset="0"/>
              </a:rPr>
              <a:t>)</a:t>
            </a:r>
            <a:endParaRPr lang="en-US" sz="2400" b="1" smtClean="0">
              <a:solidFill>
                <a:srgbClr val="002060"/>
              </a:solidFill>
              <a:latin typeface="Cambria" panose="02040503050406030204" pitchFamily="18" charset="0"/>
              <a:ea typeface="Cambria" panose="02040503050406030204" pitchFamily="18" charset="0"/>
            </a:endParaRPr>
          </a:p>
          <a:p>
            <a:pPr marL="512763" indent="-34766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M</a:t>
            </a:r>
            <a:r>
              <a:rPr lang="vi-VN" sz="2400" b="1" smtClean="0">
                <a:solidFill>
                  <a:srgbClr val="002060"/>
                </a:solidFill>
                <a:latin typeface="Cambria" panose="02040503050406030204" pitchFamily="18" charset="0"/>
                <a:ea typeface="Cambria" panose="02040503050406030204" pitchFamily="18" charset="0"/>
              </a:rPr>
              <a:t>uốn </a:t>
            </a:r>
            <a:r>
              <a:rPr lang="vi-VN" sz="2400" b="1">
                <a:solidFill>
                  <a:srgbClr val="002060"/>
                </a:solidFill>
                <a:latin typeface="Cambria" panose="02040503050406030204" pitchFamily="18" charset="0"/>
                <a:ea typeface="Cambria" panose="02040503050406030204" pitchFamily="18" charset="0"/>
              </a:rPr>
              <a:t>giảm số bit mã hóa tại đầu ra của bộ mã hóa, các hệ </a:t>
            </a:r>
            <a:r>
              <a:rPr lang="vi-VN" sz="2400" b="1" smtClean="0">
                <a:solidFill>
                  <a:srgbClr val="002060"/>
                </a:solidFill>
                <a:latin typeface="Cambria" panose="02040503050406030204" pitchFamily="18" charset="0"/>
                <a:ea typeface="Cambria" panose="02040503050406030204" pitchFamily="18" charset="0"/>
              </a:rPr>
              <a:t>số</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DCT </a:t>
            </a:r>
            <a:r>
              <a:rPr lang="vi-VN" sz="2400" b="1">
                <a:solidFill>
                  <a:srgbClr val="002060"/>
                </a:solidFill>
                <a:latin typeface="Cambria" panose="02040503050406030204" pitchFamily="18" charset="0"/>
                <a:ea typeface="Cambria" panose="02040503050406030204" pitchFamily="18" charset="0"/>
              </a:rPr>
              <a:t>và vector chuyển động sẽ được mã hóa bằng mã có chiều dài thay </a:t>
            </a:r>
            <a:r>
              <a:rPr lang="vi-VN" sz="2400" b="1" smtClean="0">
                <a:solidFill>
                  <a:srgbClr val="002060"/>
                </a:solidFill>
                <a:latin typeface="Cambria" panose="02040503050406030204" pitchFamily="18" charset="0"/>
                <a:ea typeface="Cambria" panose="02040503050406030204" pitchFamily="18" charset="0"/>
              </a:rPr>
              <a:t>đổi</a:t>
            </a:r>
            <a:endParaRPr lang="en-US" sz="2400" b="1" smtClean="0">
              <a:solidFill>
                <a:srgbClr val="002060"/>
              </a:solidFill>
              <a:latin typeface="Cambria" panose="02040503050406030204" pitchFamily="18" charset="0"/>
              <a:ea typeface="Cambria" panose="02040503050406030204" pitchFamily="18" charset="0"/>
            </a:endParaRPr>
          </a:p>
          <a:p>
            <a:pPr marL="512763" indent="-34766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Nguyên lý của việc mã hóa này là các từ mã ngắn sẽ được gán cho các thông </a:t>
            </a:r>
            <a:r>
              <a:rPr lang="vi-VN" sz="2400" b="1" smtClean="0">
                <a:solidFill>
                  <a:srgbClr val="002060"/>
                </a:solidFill>
                <a:latin typeface="Cambria" panose="02040503050406030204" pitchFamily="18" charset="0"/>
                <a:ea typeface="Cambria" panose="02040503050406030204" pitchFamily="18" charset="0"/>
              </a:rPr>
              <a:t>tin </a:t>
            </a:r>
            <a:r>
              <a:rPr lang="vi-VN" sz="2400" b="1">
                <a:solidFill>
                  <a:srgbClr val="002060"/>
                </a:solidFill>
                <a:latin typeface="Cambria" panose="02040503050406030204" pitchFamily="18" charset="0"/>
                <a:ea typeface="Cambria" panose="02040503050406030204" pitchFamily="18" charset="0"/>
              </a:rPr>
              <a:t>có xác suất xuất hiện lớn, các từ mã dài được gán cho các thông tin có xác suất xuất </a:t>
            </a:r>
            <a:r>
              <a:rPr lang="vi-VN" sz="2400" b="1" smtClean="0">
                <a:solidFill>
                  <a:srgbClr val="002060"/>
                </a:solidFill>
                <a:latin typeface="Cambria" panose="02040503050406030204" pitchFamily="18" charset="0"/>
                <a:ea typeface="Cambria" panose="02040503050406030204" pitchFamily="18" charset="0"/>
              </a:rPr>
              <a:t>hiện</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bé</a:t>
            </a:r>
            <a:endParaRPr lang="en-US" sz="2400" b="1" smtClean="0">
              <a:solidFill>
                <a:srgbClr val="002060"/>
              </a:solidFill>
              <a:latin typeface="Cambria" panose="02040503050406030204" pitchFamily="18" charset="0"/>
              <a:ea typeface="Cambria" panose="02040503050406030204" pitchFamily="18" charset="0"/>
            </a:endParaRPr>
          </a:p>
          <a:p>
            <a:pPr marL="512763" indent="-347663"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Đ</a:t>
            </a:r>
            <a:r>
              <a:rPr lang="vi-VN" sz="2400" b="1" smtClean="0">
                <a:solidFill>
                  <a:srgbClr val="002060"/>
                </a:solidFill>
                <a:latin typeface="Cambria" panose="02040503050406030204" pitchFamily="18" charset="0"/>
                <a:ea typeface="Cambria" panose="02040503050406030204" pitchFamily="18" charset="0"/>
              </a:rPr>
              <a:t>ộ </a:t>
            </a:r>
            <a:r>
              <a:rPr lang="vi-VN" sz="2400" b="1">
                <a:solidFill>
                  <a:srgbClr val="002060"/>
                </a:solidFill>
                <a:latin typeface="Cambria" panose="02040503050406030204" pitchFamily="18" charset="0"/>
                <a:ea typeface="Cambria" panose="02040503050406030204" pitchFamily="18" charset="0"/>
              </a:rPr>
              <a:t>dài của các từ mã sẽ biến đổi tỷ lệ nghịch với xác suất xuất hiện của ký hiệu </a:t>
            </a:r>
            <a:r>
              <a:rPr lang="vi-VN" sz="2400" b="1" smtClean="0">
                <a:solidFill>
                  <a:srgbClr val="002060"/>
                </a:solidFill>
                <a:latin typeface="Cambria" panose="02040503050406030204" pitchFamily="18" charset="0"/>
                <a:ea typeface="Cambria" panose="02040503050406030204" pitchFamily="18" charset="0"/>
              </a:rPr>
              <a:t>cần </a:t>
            </a:r>
            <a:r>
              <a:rPr lang="vi-VN" sz="2400" b="1">
                <a:solidFill>
                  <a:srgbClr val="002060"/>
                </a:solidFill>
                <a:latin typeface="Cambria" panose="02040503050406030204" pitchFamily="18" charset="0"/>
                <a:ea typeface="Cambria" panose="02040503050406030204" pitchFamily="18" charset="0"/>
              </a:rPr>
              <a:t>được mã hóa.</a:t>
            </a:r>
          </a:p>
        </p:txBody>
      </p:sp>
    </p:spTree>
    <p:extLst>
      <p:ext uri="{BB962C8B-B14F-4D97-AF65-F5344CB8AC3E}">
        <p14:creationId xmlns:p14="http://schemas.microsoft.com/office/powerpoint/2010/main" val="251249163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741389"/>
            <a:ext cx="8447656" cy="5316511"/>
          </a:xfrm>
          <a:prstGeom prst="rect">
            <a:avLst/>
          </a:prstGeom>
        </p:spPr>
      </p:pic>
    </p:spTree>
    <p:extLst>
      <p:ext uri="{BB962C8B-B14F-4D97-AF65-F5344CB8AC3E}">
        <p14:creationId xmlns:p14="http://schemas.microsoft.com/office/powerpoint/2010/main" val="22148086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Intraframe/Interframe </a:t>
            </a:r>
            <a:r>
              <a:rPr lang="vi-VN" sz="2400" b="1" smtClean="0">
                <a:solidFill>
                  <a:srgbClr val="002060"/>
                </a:solidFill>
                <a:latin typeface="Cambria" panose="02040503050406030204" pitchFamily="18" charset="0"/>
                <a:ea typeface="Cambria" panose="02040503050406030204" pitchFamily="18" charset="0"/>
              </a:rPr>
              <a:t>loop</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Q</a:t>
            </a:r>
            <a:r>
              <a:rPr lang="vi-VN" sz="2400" b="1" smtClean="0">
                <a:solidFill>
                  <a:srgbClr val="002060"/>
                </a:solidFill>
                <a:latin typeface="Cambria" panose="02040503050406030204" pitchFamily="18" charset="0"/>
                <a:ea typeface="Cambria" panose="02040503050406030204" pitchFamily="18" charset="0"/>
              </a:rPr>
              <a:t>uá </a:t>
            </a:r>
            <a:r>
              <a:rPr lang="vi-VN" sz="2400" b="1">
                <a:solidFill>
                  <a:srgbClr val="002060"/>
                </a:solidFill>
                <a:latin typeface="Cambria" panose="02040503050406030204" pitchFamily="18" charset="0"/>
                <a:ea typeface="Cambria" panose="02040503050406030204" pitchFamily="18" charset="0"/>
              </a:rPr>
              <a:t>trình dự đoán đóng vai trò rất quan trọng vì </a:t>
            </a:r>
            <a:r>
              <a:rPr lang="vi-VN" sz="2400" b="1" smtClean="0">
                <a:solidFill>
                  <a:srgbClr val="002060"/>
                </a:solidFill>
                <a:latin typeface="Cambria" panose="02040503050406030204" pitchFamily="18" charset="0"/>
                <a:ea typeface="Cambria" panose="02040503050406030204" pitchFamily="18" charset="0"/>
              </a:rPr>
              <a:t>nếu </a:t>
            </a:r>
            <a:r>
              <a:rPr lang="vi-VN" sz="2400" b="1">
                <a:solidFill>
                  <a:srgbClr val="002060"/>
                </a:solidFill>
                <a:latin typeface="Cambria" panose="02040503050406030204" pitchFamily="18" charset="0"/>
                <a:ea typeface="Cambria" panose="02040503050406030204" pitchFamily="18" charset="0"/>
              </a:rPr>
              <a:t>dự đoán càng chính xác thì giá trị khác biệt sẽ càng nhỏ và do đó cần ít thông tin </a:t>
            </a:r>
            <a:r>
              <a:rPr lang="vi-VN" sz="2400" b="1" smtClean="0">
                <a:solidFill>
                  <a:srgbClr val="002060"/>
                </a:solidFill>
                <a:latin typeface="Cambria" panose="02040503050406030204" pitchFamily="18" charset="0"/>
                <a:ea typeface="Cambria" panose="02040503050406030204" pitchFamily="18" charset="0"/>
              </a:rPr>
              <a:t>để</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truyền đi</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Với </a:t>
            </a:r>
            <a:r>
              <a:rPr lang="vi-VN" sz="2400" b="1" smtClean="0">
                <a:solidFill>
                  <a:srgbClr val="002060"/>
                </a:solidFill>
                <a:latin typeface="Cambria" panose="02040503050406030204" pitchFamily="18" charset="0"/>
                <a:ea typeface="Cambria" panose="02040503050406030204" pitchFamily="18" charset="0"/>
              </a:rPr>
              <a:t>chuỗi </a:t>
            </a:r>
            <a:r>
              <a:rPr lang="vi-VN" sz="2400" b="1">
                <a:solidFill>
                  <a:srgbClr val="002060"/>
                </a:solidFill>
                <a:latin typeface="Cambria" panose="02040503050406030204" pitchFamily="18" charset="0"/>
                <a:ea typeface="Cambria" panose="02040503050406030204" pitchFamily="18" charset="0"/>
              </a:rPr>
              <a:t>ảnh tĩnh, giá trị dự đoán của các pixel trong khung hình </a:t>
            </a:r>
            <a:r>
              <a:rPr lang="vi-VN" sz="2400" b="1" smtClean="0">
                <a:solidFill>
                  <a:srgbClr val="002060"/>
                </a:solidFill>
                <a:latin typeface="Cambria" panose="02040503050406030204" pitchFamily="18" charset="0"/>
                <a:ea typeface="Cambria" panose="02040503050406030204" pitchFamily="18" charset="0"/>
              </a:rPr>
              <a:t>hiện </a:t>
            </a:r>
            <a:r>
              <a:rPr lang="vi-VN" sz="2400" b="1">
                <a:solidFill>
                  <a:srgbClr val="002060"/>
                </a:solidFill>
                <a:latin typeface="Cambria" panose="02040503050406030204" pitchFamily="18" charset="0"/>
                <a:ea typeface="Cambria" panose="02040503050406030204" pitchFamily="18" charset="0"/>
              </a:rPr>
              <a:t>tại sẽ là các pixel cùng tọa độ trong khung hình trước </a:t>
            </a:r>
            <a:r>
              <a:rPr lang="vi-VN" sz="2400" b="1" smtClean="0">
                <a:solidFill>
                  <a:srgbClr val="002060"/>
                </a:solidFill>
                <a:latin typeface="Cambria" panose="02040503050406030204" pitchFamily="18" charset="0"/>
                <a:ea typeface="Cambria" panose="02040503050406030204" pitchFamily="18" charset="0"/>
              </a:rPr>
              <a:t>đó</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G</a:t>
            </a:r>
            <a:r>
              <a:rPr lang="vi-VN" sz="2400" b="1" smtClean="0">
                <a:solidFill>
                  <a:srgbClr val="002060"/>
                </a:solidFill>
                <a:latin typeface="Cambria" panose="02040503050406030204" pitchFamily="18" charset="0"/>
                <a:ea typeface="Cambria" panose="02040503050406030204" pitchFamily="18" charset="0"/>
              </a:rPr>
              <a:t>iá </a:t>
            </a:r>
            <a:r>
              <a:rPr lang="vi-VN" sz="2400" b="1">
                <a:solidFill>
                  <a:srgbClr val="002060"/>
                </a:solidFill>
                <a:latin typeface="Cambria" panose="02040503050406030204" pitchFamily="18" charset="0"/>
                <a:ea typeface="Cambria" panose="02040503050406030204" pitchFamily="18" charset="0"/>
              </a:rPr>
              <a:t>trị dự đoán được dựa trên các khối hoặc các pixel liền </a:t>
            </a:r>
            <a:r>
              <a:rPr lang="vi-VN" sz="2400" b="1" smtClean="0">
                <a:solidFill>
                  <a:srgbClr val="002060"/>
                </a:solidFill>
                <a:latin typeface="Cambria" panose="02040503050406030204" pitchFamily="18" charset="0"/>
                <a:ea typeface="Cambria" panose="02040503050406030204" pitchFamily="18" charset="0"/>
              </a:rPr>
              <a:t>kề</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trước </a:t>
            </a:r>
            <a:r>
              <a:rPr lang="vi-VN" sz="2400" b="1">
                <a:solidFill>
                  <a:srgbClr val="002060"/>
                </a:solidFill>
                <a:latin typeface="Cambria" panose="02040503050406030204" pitchFamily="18" charset="0"/>
                <a:ea typeface="Cambria" panose="02040503050406030204" pitchFamily="18" charset="0"/>
              </a:rPr>
              <a:t>đó trong cùng một khung hình</a:t>
            </a:r>
          </a:p>
        </p:txBody>
      </p:sp>
    </p:spTree>
    <p:extLst>
      <p:ext uri="{BB962C8B-B14F-4D97-AF65-F5344CB8AC3E}">
        <p14:creationId xmlns:p14="http://schemas.microsoft.com/office/powerpoint/2010/main" val="6568972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 Ước lượng chuyển </a:t>
            </a:r>
            <a:r>
              <a:rPr lang="vi-VN" sz="2400" b="1" smtClean="0">
                <a:solidFill>
                  <a:srgbClr val="002060"/>
                </a:solidFill>
                <a:latin typeface="Cambria" panose="02040503050406030204" pitchFamily="18" charset="0"/>
                <a:ea typeface="Cambria" panose="02040503050406030204" pitchFamily="18" charset="0"/>
              </a:rPr>
              <a:t>động</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N</a:t>
            </a:r>
            <a:r>
              <a:rPr lang="vi-VN" sz="2400" b="1" smtClean="0">
                <a:solidFill>
                  <a:srgbClr val="002060"/>
                </a:solidFill>
                <a:latin typeface="Cambria" panose="02040503050406030204" pitchFamily="18" charset="0"/>
                <a:ea typeface="Cambria" panose="02040503050406030204" pitchFamily="18" charset="0"/>
              </a:rPr>
              <a:t>gười </a:t>
            </a:r>
            <a:r>
              <a:rPr lang="vi-VN" sz="2400" b="1">
                <a:solidFill>
                  <a:srgbClr val="002060"/>
                </a:solidFill>
                <a:latin typeface="Cambria" panose="02040503050406030204" pitchFamily="18" charset="0"/>
                <a:ea typeface="Cambria" panose="02040503050406030204" pitchFamily="18" charset="0"/>
              </a:rPr>
              <a:t>ta sẽ gán cho mỗi nhóm pixel (block) một vector chuyển </a:t>
            </a:r>
            <a:r>
              <a:rPr lang="vi-VN" sz="2400" b="1" smtClean="0">
                <a:solidFill>
                  <a:srgbClr val="002060"/>
                </a:solidFill>
                <a:latin typeface="Cambria" panose="02040503050406030204" pitchFamily="18" charset="0"/>
                <a:ea typeface="Cambria" panose="02040503050406030204" pitchFamily="18" charset="0"/>
              </a:rPr>
              <a:t>động</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M</a:t>
            </a:r>
            <a:r>
              <a:rPr lang="vi-VN" sz="2400" b="1" smtClean="0">
                <a:solidFill>
                  <a:srgbClr val="002060"/>
                </a:solidFill>
                <a:latin typeface="Cambria" panose="02040503050406030204" pitchFamily="18" charset="0"/>
                <a:ea typeface="Cambria" panose="02040503050406030204" pitchFamily="18" charset="0"/>
              </a:rPr>
              <a:t>ỗi </a:t>
            </a:r>
            <a:r>
              <a:rPr lang="vi-VN" sz="2400" b="1">
                <a:solidFill>
                  <a:srgbClr val="002060"/>
                </a:solidFill>
                <a:latin typeface="Cambria" panose="02040503050406030204" pitchFamily="18" charset="0"/>
                <a:ea typeface="Cambria" panose="02040503050406030204" pitchFamily="18" charset="0"/>
              </a:rPr>
              <a:t>nhóm pixel là một hình vuông có kích thước 16x16 (được gọi là một </a:t>
            </a:r>
            <a:r>
              <a:rPr lang="vi-VN" sz="2400" b="1" smtClean="0">
                <a:solidFill>
                  <a:srgbClr val="002060"/>
                </a:solidFill>
                <a:latin typeface="Cambria" panose="02040503050406030204" pitchFamily="18" charset="0"/>
                <a:ea typeface="Cambria" panose="02040503050406030204" pitchFamily="18" charset="0"/>
              </a:rPr>
              <a:t>Macroblock </a:t>
            </a:r>
            <a:r>
              <a:rPr lang="vi-VN" sz="2400" b="1">
                <a:solidFill>
                  <a:srgbClr val="002060"/>
                </a:solidFill>
                <a:latin typeface="Cambria" panose="02040503050406030204" pitchFamily="18" charset="0"/>
                <a:ea typeface="Cambria" panose="02040503050406030204" pitchFamily="18" charset="0"/>
              </a:rPr>
              <a:t>- MB) được ước lượng chuyển động và được bù chuyển động</a:t>
            </a:r>
          </a:p>
        </p:txBody>
      </p:sp>
    </p:spTree>
    <p:extLst>
      <p:ext uri="{BB962C8B-B14F-4D97-AF65-F5344CB8AC3E}">
        <p14:creationId xmlns:p14="http://schemas.microsoft.com/office/powerpoint/2010/main" val="9093221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  Inter/Intra switch</a:t>
            </a: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Có </a:t>
            </a:r>
            <a:r>
              <a:rPr lang="en-US" sz="2400" b="1">
                <a:solidFill>
                  <a:srgbClr val="002060"/>
                </a:solidFill>
                <a:latin typeface="Cambria" panose="02040503050406030204" pitchFamily="18" charset="0"/>
                <a:ea typeface="Cambria" panose="02040503050406030204" pitchFamily="18" charset="0"/>
              </a:rPr>
              <a:t>tác dụng chuyển đổi giữa hai chế độ liên ảnh và nội </a:t>
            </a:r>
            <a:r>
              <a:rPr lang="en-US" sz="2400" b="1" smtClean="0">
                <a:solidFill>
                  <a:srgbClr val="002060"/>
                </a:solidFill>
                <a:latin typeface="Cambria" panose="02040503050406030204" pitchFamily="18" charset="0"/>
                <a:ea typeface="Cambria" panose="02040503050406030204" pitchFamily="18" charset="0"/>
              </a:rPr>
              <a:t>ảnh</a:t>
            </a: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Trong </a:t>
            </a:r>
            <a:r>
              <a:rPr lang="vi-VN" sz="2400" b="1" smtClean="0">
                <a:solidFill>
                  <a:srgbClr val="002060"/>
                </a:solidFill>
                <a:latin typeface="Cambria" panose="02040503050406030204" pitchFamily="18" charset="0"/>
                <a:ea typeface="Cambria" panose="02040503050406030204" pitchFamily="18" charset="0"/>
              </a:rPr>
              <a:t>chuẩn </a:t>
            </a:r>
            <a:r>
              <a:rPr lang="vi-VN" sz="2400" b="1">
                <a:solidFill>
                  <a:srgbClr val="002060"/>
                </a:solidFill>
                <a:latin typeface="Cambria" panose="02040503050406030204" pitchFamily="18" charset="0"/>
                <a:ea typeface="Cambria" panose="02040503050406030204" pitchFamily="18" charset="0"/>
              </a:rPr>
              <a:t>nén ảnh JPEG, tất cả các MB trong ảnh được nén ở chế độ nội </a:t>
            </a:r>
            <a:r>
              <a:rPr lang="vi-VN" sz="2400" b="1" smtClean="0">
                <a:solidFill>
                  <a:srgbClr val="002060"/>
                </a:solidFill>
                <a:latin typeface="Cambria" panose="02040503050406030204" pitchFamily="18" charset="0"/>
                <a:ea typeface="Cambria" panose="02040503050406030204" pitchFamily="18" charset="0"/>
              </a:rPr>
              <a:t>ảnh</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Ngoài ra, trong cùng một frame liên ảnh, một số MB được nén </a:t>
            </a:r>
            <a:r>
              <a:rPr lang="vi-VN" sz="2400" b="1" smtClean="0">
                <a:solidFill>
                  <a:srgbClr val="002060"/>
                </a:solidFill>
                <a:latin typeface="Cambria" panose="02040503050406030204" pitchFamily="18" charset="0"/>
                <a:ea typeface="Cambria" panose="02040503050406030204" pitchFamily="18" charset="0"/>
              </a:rPr>
              <a:t>ở</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chế </a:t>
            </a:r>
            <a:r>
              <a:rPr lang="vi-VN" sz="2400" b="1">
                <a:solidFill>
                  <a:srgbClr val="002060"/>
                </a:solidFill>
                <a:latin typeface="Cambria" panose="02040503050406030204" pitchFamily="18" charset="0"/>
                <a:ea typeface="Cambria" panose="02040503050406030204" pitchFamily="18" charset="0"/>
              </a:rPr>
              <a:t>độ nội ảnh để tối ưu hóa tỷ lệ nén.</a:t>
            </a:r>
          </a:p>
        </p:txBody>
      </p:sp>
    </p:spTree>
    <p:extLst>
      <p:ext uri="{BB962C8B-B14F-4D97-AF65-F5344CB8AC3E}">
        <p14:creationId xmlns:p14="http://schemas.microsoft.com/office/powerpoint/2010/main" val="1108959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smtClean="0">
                <a:solidFill>
                  <a:srgbClr val="002060"/>
                </a:solidFill>
                <a:latin typeface="Cambria" panose="02040503050406030204" pitchFamily="18" charset="0"/>
                <a:ea typeface="Cambria" panose="02040503050406030204" pitchFamily="18" charset="0"/>
              </a:rPr>
              <a:t>DCT</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Trên </a:t>
            </a:r>
            <a:r>
              <a:rPr lang="vi-VN" sz="2400" b="1">
                <a:solidFill>
                  <a:srgbClr val="002060"/>
                </a:solidFill>
                <a:latin typeface="Cambria" panose="02040503050406030204" pitchFamily="18" charset="0"/>
                <a:ea typeface="Cambria" panose="02040503050406030204" pitchFamily="18" charset="0"/>
              </a:rPr>
              <a:t>kênh Y và hai kênh màu U,V, mỗi MB được chia thành các khối nhỏ hơn có kích </a:t>
            </a:r>
            <a:r>
              <a:rPr lang="vi-VN" sz="2400" b="1" smtClean="0">
                <a:solidFill>
                  <a:srgbClr val="002060"/>
                </a:solidFill>
                <a:latin typeface="Cambria" panose="02040503050406030204" pitchFamily="18" charset="0"/>
                <a:ea typeface="Cambria" panose="02040503050406030204" pitchFamily="18" charset="0"/>
              </a:rPr>
              <a:t>thước 8x8</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S</a:t>
            </a:r>
            <a:r>
              <a:rPr lang="vi-VN" sz="2400" b="1" smtClean="0">
                <a:solidFill>
                  <a:srgbClr val="002060"/>
                </a:solidFill>
                <a:latin typeface="Cambria" panose="02040503050406030204" pitchFamily="18" charset="0"/>
                <a:ea typeface="Cambria" panose="02040503050406030204" pitchFamily="18" charset="0"/>
              </a:rPr>
              <a:t>ẽ </a:t>
            </a:r>
            <a:r>
              <a:rPr lang="vi-VN" sz="2400" b="1">
                <a:solidFill>
                  <a:srgbClr val="002060"/>
                </a:solidFill>
                <a:latin typeface="Cambria" panose="02040503050406030204" pitchFamily="18" charset="0"/>
                <a:ea typeface="Cambria" panose="02040503050406030204" pitchFamily="18" charset="0"/>
              </a:rPr>
              <a:t>có 4 khối 8x8 thuộc kênh Y và một số khối thuộc kênh màu tùy theo </a:t>
            </a:r>
            <a:r>
              <a:rPr lang="vi-VN" sz="2400" b="1" smtClean="0">
                <a:solidFill>
                  <a:srgbClr val="002060"/>
                </a:solidFill>
                <a:latin typeface="Cambria" panose="02040503050406030204" pitchFamily="18" charset="0"/>
                <a:ea typeface="Cambria" panose="02040503050406030204" pitchFamily="18" charset="0"/>
              </a:rPr>
              <a:t>độ </a:t>
            </a:r>
            <a:r>
              <a:rPr lang="vi-VN" sz="2400" b="1">
                <a:solidFill>
                  <a:srgbClr val="002060"/>
                </a:solidFill>
                <a:latin typeface="Cambria" panose="02040503050406030204" pitchFamily="18" charset="0"/>
                <a:ea typeface="Cambria" panose="02040503050406030204" pitchFamily="18" charset="0"/>
              </a:rPr>
              <a:t>phân giải của </a:t>
            </a:r>
            <a:r>
              <a:rPr lang="vi-VN" sz="2400" b="1" smtClean="0">
                <a:solidFill>
                  <a:srgbClr val="002060"/>
                </a:solidFill>
                <a:latin typeface="Cambria" panose="02040503050406030204" pitchFamily="18" charset="0"/>
                <a:ea typeface="Cambria" panose="02040503050406030204" pitchFamily="18" charset="0"/>
              </a:rPr>
              <a:t>ảnh</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Mỗi khối 8x8 này sẽ được biến đổi DCT để có được một ma trận 8x8 </a:t>
            </a:r>
            <a:r>
              <a:rPr lang="vi-VN" sz="2400" b="1" smtClean="0">
                <a:solidFill>
                  <a:srgbClr val="002060"/>
                </a:solidFill>
                <a:latin typeface="Cambria" panose="02040503050406030204" pitchFamily="18" charset="0"/>
                <a:ea typeface="Cambria" panose="02040503050406030204" pitchFamily="18" charset="0"/>
              </a:rPr>
              <a:t>các </a:t>
            </a:r>
            <a:r>
              <a:rPr lang="vi-VN" sz="2400" b="1">
                <a:solidFill>
                  <a:srgbClr val="002060"/>
                </a:solidFill>
                <a:latin typeface="Cambria" panose="02040503050406030204" pitchFamily="18" charset="0"/>
                <a:ea typeface="Cambria" panose="02040503050406030204" pitchFamily="18" charset="0"/>
              </a:rPr>
              <a:t>hệ số của biến đổi DCT.</a:t>
            </a:r>
          </a:p>
          <a:p>
            <a:pPr marL="566738" indent="-328613" algn="just">
              <a:lnSpc>
                <a:spcPct val="150000"/>
              </a:lnSpc>
              <a:buFont typeface="Arial" panose="020B0604020202020204" pitchFamily="34" charset="0"/>
              <a:buChar char="•"/>
            </a:pP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2668037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Lượng tử </a:t>
            </a:r>
            <a:r>
              <a:rPr lang="vi-VN" sz="2400" b="1" smtClean="0">
                <a:solidFill>
                  <a:srgbClr val="002060"/>
                </a:solidFill>
                <a:latin typeface="Cambria" panose="02040503050406030204" pitchFamily="18" charset="0"/>
                <a:ea typeface="Cambria" panose="02040503050406030204" pitchFamily="18" charset="0"/>
              </a:rPr>
              <a:t>hóa</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C</a:t>
            </a:r>
            <a:r>
              <a:rPr lang="vi-VN" sz="2400" b="1" smtClean="0">
                <a:solidFill>
                  <a:srgbClr val="002060"/>
                </a:solidFill>
                <a:latin typeface="Cambria" panose="02040503050406030204" pitchFamily="18" charset="0"/>
                <a:ea typeface="Cambria" panose="02040503050406030204" pitchFamily="18" charset="0"/>
              </a:rPr>
              <a:t>ó </a:t>
            </a:r>
            <a:r>
              <a:rPr lang="vi-VN" sz="2400" b="1">
                <a:solidFill>
                  <a:srgbClr val="002060"/>
                </a:solidFill>
                <a:latin typeface="Cambria" panose="02040503050406030204" pitchFamily="18" charset="0"/>
                <a:ea typeface="Cambria" panose="02040503050406030204" pitchFamily="18" charset="0"/>
              </a:rPr>
              <a:t>hai loại lượng tử </a:t>
            </a:r>
            <a:r>
              <a:rPr lang="vi-VN" sz="2400" b="1" smtClean="0">
                <a:solidFill>
                  <a:srgbClr val="002060"/>
                </a:solidFill>
                <a:latin typeface="Cambria" panose="02040503050406030204" pitchFamily="18" charset="0"/>
                <a:ea typeface="Cambria" panose="02040503050406030204" pitchFamily="18" charset="0"/>
              </a:rPr>
              <a:t>hóa</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Một loại có dead zone được </a:t>
            </a:r>
            <a:r>
              <a:rPr lang="vi-VN" sz="2400" b="1" smtClean="0">
                <a:solidFill>
                  <a:srgbClr val="002060"/>
                </a:solidFill>
                <a:latin typeface="Cambria" panose="02040503050406030204" pitchFamily="18" charset="0"/>
                <a:ea typeface="Cambria" panose="02040503050406030204" pitchFamily="18" charset="0"/>
              </a:rPr>
              <a:t>sử</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dụng </a:t>
            </a:r>
            <a:r>
              <a:rPr lang="vi-VN" sz="2400" b="1">
                <a:solidFill>
                  <a:srgbClr val="002060"/>
                </a:solidFill>
                <a:latin typeface="Cambria" panose="02040503050406030204" pitchFamily="18" charset="0"/>
                <a:ea typeface="Cambria" panose="02040503050406030204" pitchFamily="18" charset="0"/>
              </a:rPr>
              <a:t>cho các hệ số AC và hệ số DC của các MB nén liên </a:t>
            </a:r>
            <a:r>
              <a:rPr lang="vi-VN" sz="2400" b="1" smtClean="0">
                <a:solidFill>
                  <a:srgbClr val="002060"/>
                </a:solidFill>
                <a:latin typeface="Cambria" panose="02040503050406030204" pitchFamily="18" charset="0"/>
                <a:ea typeface="Cambria" panose="02040503050406030204" pitchFamily="18" charset="0"/>
              </a:rPr>
              <a:t>ảnh</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Loại còn lại không có dead </a:t>
            </a:r>
            <a:r>
              <a:rPr lang="vi-VN" sz="2400" b="1" smtClean="0">
                <a:solidFill>
                  <a:srgbClr val="002060"/>
                </a:solidFill>
                <a:latin typeface="Cambria" panose="02040503050406030204" pitchFamily="18" charset="0"/>
                <a:ea typeface="Cambria" panose="02040503050406030204" pitchFamily="18" charset="0"/>
              </a:rPr>
              <a:t>zone </a:t>
            </a:r>
            <a:r>
              <a:rPr lang="vi-VN" sz="2400" b="1">
                <a:solidFill>
                  <a:srgbClr val="002060"/>
                </a:solidFill>
                <a:latin typeface="Cambria" panose="02040503050406030204" pitchFamily="18" charset="0"/>
                <a:ea typeface="Cambria" panose="02040503050406030204" pitchFamily="18" charset="0"/>
              </a:rPr>
              <a:t>được sử dụng cho các hệ số DC của MB nội ảnh</a:t>
            </a:r>
          </a:p>
        </p:txBody>
      </p:sp>
    </p:spTree>
    <p:extLst>
      <p:ext uri="{BB962C8B-B14F-4D97-AF65-F5344CB8AC3E}">
        <p14:creationId xmlns:p14="http://schemas.microsoft.com/office/powerpoint/2010/main" val="38169478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Variable Length Coding</a:t>
            </a: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Các hệ số sau khi được lượng tử sẽ được mã hóa bằng mã có độ dài thay đổi. </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Ngoài </a:t>
            </a:r>
            <a:r>
              <a:rPr lang="vi-VN" sz="2400" b="1">
                <a:solidFill>
                  <a:srgbClr val="002060"/>
                </a:solidFill>
                <a:latin typeface="Cambria" panose="02040503050406030204" pitchFamily="18" charset="0"/>
                <a:ea typeface="Cambria" panose="02040503050406030204" pitchFamily="18" charset="0"/>
              </a:rPr>
              <a:t>ra, </a:t>
            </a:r>
            <a:r>
              <a:rPr lang="vi-VN" sz="2400" b="1" smtClean="0">
                <a:solidFill>
                  <a:srgbClr val="002060"/>
                </a:solidFill>
                <a:latin typeface="Cambria" panose="02040503050406030204" pitchFamily="18" charset="0"/>
                <a:ea typeface="Cambria" panose="02040503050406030204" pitchFamily="18" charset="0"/>
              </a:rPr>
              <a:t>giá </a:t>
            </a:r>
            <a:r>
              <a:rPr lang="vi-VN" sz="2400" b="1">
                <a:solidFill>
                  <a:srgbClr val="002060"/>
                </a:solidFill>
                <a:latin typeface="Cambria" panose="02040503050406030204" pitchFamily="18" charset="0"/>
                <a:ea typeface="Cambria" panose="02040503050406030204" pitchFamily="18" charset="0"/>
              </a:rPr>
              <a:t>trị của vector chuyển động cũng được mã hóa bằng mã này cùng với các hệ số lượng tử.</a:t>
            </a:r>
          </a:p>
        </p:txBody>
      </p:sp>
    </p:spTree>
    <p:extLst>
      <p:ext uri="{BB962C8B-B14F-4D97-AF65-F5344CB8AC3E}">
        <p14:creationId xmlns:p14="http://schemas.microsoft.com/office/powerpoint/2010/main" val="243283765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vi-VN" sz="2400" b="1">
                <a:solidFill>
                  <a:srgbClr val="002060"/>
                </a:solidFill>
                <a:latin typeface="Cambria" panose="02040503050406030204" pitchFamily="18" charset="0"/>
                <a:ea typeface="Cambria" panose="02040503050406030204" pitchFamily="18" charset="0"/>
              </a:rPr>
              <a:t>Giải lượng tử </a:t>
            </a:r>
            <a:r>
              <a:rPr lang="vi-VN" sz="2400" b="1" smtClean="0">
                <a:solidFill>
                  <a:srgbClr val="002060"/>
                </a:solidFill>
                <a:latin typeface="Cambria" panose="02040503050406030204" pitchFamily="18" charset="0"/>
                <a:ea typeface="Cambria" panose="02040503050406030204" pitchFamily="18" charset="0"/>
              </a:rPr>
              <a:t>và </a:t>
            </a:r>
            <a:r>
              <a:rPr lang="vi-VN" sz="2400" b="1">
                <a:solidFill>
                  <a:srgbClr val="002060"/>
                </a:solidFill>
                <a:latin typeface="Cambria" panose="02040503050406030204" pitchFamily="18" charset="0"/>
                <a:ea typeface="Cambria" panose="02040503050406030204" pitchFamily="18" charset="0"/>
              </a:rPr>
              <a:t>biến đổi DCT ngược </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Để </a:t>
            </a:r>
            <a:r>
              <a:rPr lang="vi-VN" sz="2400" b="1">
                <a:solidFill>
                  <a:srgbClr val="002060"/>
                </a:solidFill>
                <a:latin typeface="Cambria" panose="02040503050406030204" pitchFamily="18" charset="0"/>
                <a:ea typeface="Cambria" panose="02040503050406030204" pitchFamily="18" charset="0"/>
              </a:rPr>
              <a:t>tái tạo khung hình hiện thời, các hệ số DCT sau lượng tử được giải lượng tử và biến </a:t>
            </a:r>
            <a:r>
              <a:rPr lang="vi-VN" sz="2400" b="1" smtClean="0">
                <a:solidFill>
                  <a:srgbClr val="002060"/>
                </a:solidFill>
                <a:latin typeface="Cambria" panose="02040503050406030204" pitchFamily="18" charset="0"/>
                <a:ea typeface="Cambria" panose="02040503050406030204" pitchFamily="18" charset="0"/>
              </a:rPr>
              <a:t>đổi </a:t>
            </a:r>
            <a:r>
              <a:rPr lang="vi-VN" sz="2400" b="1">
                <a:solidFill>
                  <a:srgbClr val="002060"/>
                </a:solidFill>
                <a:latin typeface="Cambria" panose="02040503050406030204" pitchFamily="18" charset="0"/>
                <a:ea typeface="Cambria" panose="02040503050406030204" pitchFamily="18" charset="0"/>
              </a:rPr>
              <a:t>DCT </a:t>
            </a:r>
            <a:r>
              <a:rPr lang="vi-VN" sz="2400" b="1" smtClean="0">
                <a:solidFill>
                  <a:srgbClr val="002060"/>
                </a:solidFill>
                <a:latin typeface="Cambria" panose="02040503050406030204" pitchFamily="18" charset="0"/>
                <a:ea typeface="Cambria" panose="02040503050406030204" pitchFamily="18" charset="0"/>
              </a:rPr>
              <a:t>ngược</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Sau đó, các giá trị này được cộng với khung hình trước đó đang được bộ mã </a:t>
            </a:r>
            <a:r>
              <a:rPr lang="vi-VN" sz="2400" b="1" smtClean="0">
                <a:solidFill>
                  <a:srgbClr val="002060"/>
                </a:solidFill>
                <a:latin typeface="Cambria" panose="02040503050406030204" pitchFamily="18" charset="0"/>
                <a:ea typeface="Cambria" panose="02040503050406030204" pitchFamily="18" charset="0"/>
              </a:rPr>
              <a:t>hóa </a:t>
            </a:r>
            <a:r>
              <a:rPr lang="vi-VN" sz="2400" b="1">
                <a:solidFill>
                  <a:srgbClr val="002060"/>
                </a:solidFill>
                <a:latin typeface="Cambria" panose="02040503050406030204" pitchFamily="18" charset="0"/>
                <a:ea typeface="Cambria" panose="02040503050406030204" pitchFamily="18" charset="0"/>
              </a:rPr>
              <a:t>lưu giữ để tái tạo lại khung hình hiện thời. </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Khung </a:t>
            </a:r>
            <a:r>
              <a:rPr lang="vi-VN" sz="2400" b="1">
                <a:solidFill>
                  <a:srgbClr val="002060"/>
                </a:solidFill>
                <a:latin typeface="Cambria" panose="02040503050406030204" pitchFamily="18" charset="0"/>
                <a:ea typeface="Cambria" panose="02040503050406030204" pitchFamily="18" charset="0"/>
              </a:rPr>
              <a:t>hình hiện thời này sẽ lại được lưu </a:t>
            </a:r>
            <a:r>
              <a:rPr lang="vi-VN" sz="2400" b="1" smtClean="0">
                <a:solidFill>
                  <a:srgbClr val="002060"/>
                </a:solidFill>
                <a:latin typeface="Cambria" panose="02040503050406030204" pitchFamily="18" charset="0"/>
                <a:ea typeface="Cambria" panose="02040503050406030204" pitchFamily="18" charset="0"/>
              </a:rPr>
              <a:t>giữ</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để </a:t>
            </a:r>
            <a:r>
              <a:rPr lang="vi-VN" sz="2400" b="1">
                <a:solidFill>
                  <a:srgbClr val="002060"/>
                </a:solidFill>
                <a:latin typeface="Cambria" panose="02040503050406030204" pitchFamily="18" charset="0"/>
                <a:ea typeface="Cambria" panose="02040503050406030204" pitchFamily="18" charset="0"/>
              </a:rPr>
              <a:t>dùng cho quá trình dự đoán khung hình tiếp theo</a:t>
            </a:r>
          </a:p>
        </p:txBody>
      </p:sp>
    </p:spTree>
    <p:extLst>
      <p:ext uri="{BB962C8B-B14F-4D97-AF65-F5344CB8AC3E}">
        <p14:creationId xmlns:p14="http://schemas.microsoft.com/office/powerpoint/2010/main" val="313082925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en-US" sz="2400" b="1" smtClean="0">
                <a:solidFill>
                  <a:srgbClr val="002060"/>
                </a:solidFill>
                <a:latin typeface="Cambria" panose="02040503050406030204" pitchFamily="18" charset="0"/>
                <a:ea typeface="Cambria" panose="02040503050406030204" pitchFamily="18" charset="0"/>
              </a:rPr>
              <a:t>B</a:t>
            </a:r>
            <a:r>
              <a:rPr lang="vi-VN" sz="2400" b="1" smtClean="0">
                <a:solidFill>
                  <a:srgbClr val="002060"/>
                </a:solidFill>
                <a:latin typeface="Cambria" panose="02040503050406030204" pitchFamily="18" charset="0"/>
                <a:ea typeface="Cambria" panose="02040503050406030204" pitchFamily="18" charset="0"/>
              </a:rPr>
              <a:t>ộ đệm</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smtClean="0">
                <a:solidFill>
                  <a:srgbClr val="002060"/>
                </a:solidFill>
                <a:latin typeface="Cambria" panose="02040503050406030204" pitchFamily="18" charset="0"/>
                <a:ea typeface="Cambria" panose="02040503050406030204" pitchFamily="18" charset="0"/>
              </a:rPr>
              <a:t>Tốc </a:t>
            </a:r>
            <a:r>
              <a:rPr lang="vi-VN" sz="2400" b="1">
                <a:solidFill>
                  <a:srgbClr val="002060"/>
                </a:solidFill>
                <a:latin typeface="Cambria" panose="02040503050406030204" pitchFamily="18" charset="0"/>
                <a:ea typeface="Cambria" panose="02040503050406030204" pitchFamily="18" charset="0"/>
              </a:rPr>
              <a:t>độ bit được tạo ra bởi bộ mã hóa sẽ liên tục thay đổi vì tốc độ bit phụ thuộc vào </a:t>
            </a:r>
            <a:r>
              <a:rPr lang="vi-VN" sz="2400" b="1" smtClean="0">
                <a:solidFill>
                  <a:srgbClr val="002060"/>
                </a:solidFill>
                <a:latin typeface="Cambria" panose="02040503050406030204" pitchFamily="18" charset="0"/>
                <a:ea typeface="Cambria" panose="02040503050406030204" pitchFamily="18" charset="0"/>
              </a:rPr>
              <a:t>mức </a:t>
            </a:r>
            <a:r>
              <a:rPr lang="vi-VN" sz="2400" b="1">
                <a:solidFill>
                  <a:srgbClr val="002060"/>
                </a:solidFill>
                <a:latin typeface="Cambria" panose="02040503050406030204" pitchFamily="18" charset="0"/>
                <a:ea typeface="Cambria" panose="02040503050406030204" pitchFamily="18" charset="0"/>
              </a:rPr>
              <a:t>độ chuyển động của các đối tượng trong </a:t>
            </a:r>
            <a:r>
              <a:rPr lang="vi-VN" sz="2400" b="1" smtClean="0">
                <a:solidFill>
                  <a:srgbClr val="002060"/>
                </a:solidFill>
                <a:latin typeface="Cambria" panose="02040503050406030204" pitchFamily="18" charset="0"/>
                <a:ea typeface="Cambria" panose="02040503050406030204" pitchFamily="18" charset="0"/>
              </a:rPr>
              <a:t>video</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a:t>
            </a:r>
            <a:r>
              <a:rPr lang="en-US" sz="2400" b="1" smtClean="0">
                <a:solidFill>
                  <a:srgbClr val="002060"/>
                </a:solidFill>
                <a:latin typeface="Cambria" panose="02040503050406030204" pitchFamily="18" charset="0"/>
                <a:ea typeface="Cambria" panose="02040503050406030204" pitchFamily="18" charset="0"/>
              </a:rPr>
              <a:t>T</a:t>
            </a:r>
            <a:r>
              <a:rPr lang="vi-VN" sz="2400" b="1" smtClean="0">
                <a:solidFill>
                  <a:srgbClr val="002060"/>
                </a:solidFill>
                <a:latin typeface="Cambria" panose="02040503050406030204" pitchFamily="18" charset="0"/>
                <a:ea typeface="Cambria" panose="02040503050406030204" pitchFamily="18" charset="0"/>
              </a:rPr>
              <a:t>rước </a:t>
            </a:r>
            <a:r>
              <a:rPr lang="vi-VN" sz="2400" b="1">
                <a:solidFill>
                  <a:srgbClr val="002060"/>
                </a:solidFill>
                <a:latin typeface="Cambria" panose="02040503050406030204" pitchFamily="18" charset="0"/>
                <a:ea typeface="Cambria" panose="02040503050406030204" pitchFamily="18" charset="0"/>
              </a:rPr>
              <a:t>khi truyền tín hiệu video </a:t>
            </a:r>
            <a:r>
              <a:rPr lang="vi-VN" sz="2400" b="1" smtClean="0">
                <a:solidFill>
                  <a:srgbClr val="002060"/>
                </a:solidFill>
                <a:latin typeface="Cambria" panose="02040503050406030204" pitchFamily="18" charset="0"/>
                <a:ea typeface="Cambria" panose="02040503050406030204" pitchFamily="18" charset="0"/>
              </a:rPr>
              <a:t>trên </a:t>
            </a:r>
            <a:r>
              <a:rPr lang="vi-VN" sz="2400" b="1">
                <a:solidFill>
                  <a:srgbClr val="002060"/>
                </a:solidFill>
                <a:latin typeface="Cambria" panose="02040503050406030204" pitchFamily="18" charset="0"/>
                <a:ea typeface="Cambria" panose="02040503050406030204" pitchFamily="18" charset="0"/>
              </a:rPr>
              <a:t>các kênh truyền có băng thông cố định (ví dụ 2Mb/s) thì các bit được lưu trong bộ đệm </a:t>
            </a:r>
            <a:r>
              <a:rPr lang="vi-VN" sz="2400" b="1" smtClean="0">
                <a:solidFill>
                  <a:srgbClr val="002060"/>
                </a:solidFill>
                <a:latin typeface="Cambria" panose="02040503050406030204" pitchFamily="18" charset="0"/>
                <a:ea typeface="Cambria" panose="02040503050406030204" pitchFamily="18" charset="0"/>
              </a:rPr>
              <a:t>để </a:t>
            </a:r>
            <a:r>
              <a:rPr lang="vi-VN" sz="2400" b="1">
                <a:solidFill>
                  <a:srgbClr val="002060"/>
                </a:solidFill>
                <a:latin typeface="Cambria" panose="02040503050406030204" pitchFamily="18" charset="0"/>
                <a:ea typeface="Cambria" panose="02040503050406030204" pitchFamily="18" charset="0"/>
              </a:rPr>
              <a:t>điều tiết việc truyền </a:t>
            </a:r>
            <a:r>
              <a:rPr lang="vi-VN" sz="2400" b="1" smtClean="0">
                <a:solidFill>
                  <a:srgbClr val="002060"/>
                </a:solidFill>
                <a:latin typeface="Cambria" panose="02040503050406030204" pitchFamily="18" charset="0"/>
                <a:ea typeface="Cambria" panose="02040503050406030204" pitchFamily="18" charset="0"/>
              </a:rPr>
              <a:t>đi</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vi-VN" sz="2400" b="1">
                <a:solidFill>
                  <a:srgbClr val="002060"/>
                </a:solidFill>
                <a:latin typeface="Cambria" panose="02040503050406030204" pitchFamily="18" charset="0"/>
                <a:ea typeface="Cambria" panose="02040503050406030204" pitchFamily="18" charset="0"/>
              </a:rPr>
              <a:t> Bộ đệm trong trường hợp này chính là bộ nhớ có hai cổng ghi và </a:t>
            </a:r>
            <a:r>
              <a:rPr lang="vi-VN" sz="2400" b="1" smtClean="0">
                <a:solidFill>
                  <a:srgbClr val="002060"/>
                </a:solidFill>
                <a:latin typeface="Cambria" panose="02040503050406030204" pitchFamily="18" charset="0"/>
                <a:ea typeface="Cambria" panose="02040503050406030204" pitchFamily="18" charset="0"/>
              </a:rPr>
              <a:t>đọc</a:t>
            </a: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718535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3.6. Sơ đồ tổng quát của mã hóa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7663" indent="-347663" algn="just">
              <a:lnSpc>
                <a:spcPct val="150000"/>
              </a:lnSpc>
              <a:buFont typeface="Wingdings" panose="05000000000000000000" pitchFamily="2" charset="2"/>
              <a:buChar char="v"/>
            </a:pPr>
            <a:r>
              <a:rPr lang="en-US" sz="2400" b="1">
                <a:solidFill>
                  <a:srgbClr val="002060"/>
                </a:solidFill>
                <a:latin typeface="Cambria" panose="02040503050406030204" pitchFamily="18" charset="0"/>
                <a:ea typeface="Cambria" panose="02040503050406030204" pitchFamily="18" charset="0"/>
              </a:rPr>
              <a:t>Giải nén</a:t>
            </a: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Q</a:t>
            </a:r>
            <a:r>
              <a:rPr lang="vi-VN" sz="2400" b="1" smtClean="0">
                <a:solidFill>
                  <a:srgbClr val="002060"/>
                </a:solidFill>
                <a:latin typeface="Cambria" panose="02040503050406030204" pitchFamily="18" charset="0"/>
                <a:ea typeface="Cambria" panose="02040503050406030204" pitchFamily="18" charset="0"/>
              </a:rPr>
              <a:t>uá </a:t>
            </a:r>
            <a:r>
              <a:rPr lang="vi-VN" sz="2400" b="1">
                <a:solidFill>
                  <a:srgbClr val="002060"/>
                </a:solidFill>
                <a:latin typeface="Cambria" panose="02040503050406030204" pitchFamily="18" charset="0"/>
                <a:ea typeface="Cambria" panose="02040503050406030204" pitchFamily="18" charset="0"/>
              </a:rPr>
              <a:t>trình giải nén bao gồm các bước giống như quá trình nén nhưng thứ </a:t>
            </a:r>
            <a:r>
              <a:rPr lang="vi-VN" sz="2400" b="1" smtClean="0">
                <a:solidFill>
                  <a:srgbClr val="002060"/>
                </a:solidFill>
                <a:latin typeface="Cambria" panose="02040503050406030204" pitchFamily="18" charset="0"/>
                <a:ea typeface="Cambria" panose="02040503050406030204" pitchFamily="18" charset="0"/>
              </a:rPr>
              <a:t>tự</a:t>
            </a:r>
            <a:r>
              <a:rPr lang="en-US" sz="2400" b="1" smtClean="0">
                <a:solidFill>
                  <a:srgbClr val="002060"/>
                </a:solidFill>
                <a:latin typeface="Cambria" panose="02040503050406030204" pitchFamily="18" charset="0"/>
                <a:ea typeface="Cambria" panose="02040503050406030204" pitchFamily="18" charset="0"/>
              </a:rPr>
              <a:t> </a:t>
            </a:r>
            <a:r>
              <a:rPr lang="vi-VN" sz="2400" b="1" smtClean="0">
                <a:solidFill>
                  <a:srgbClr val="002060"/>
                </a:solidFill>
                <a:latin typeface="Cambria" panose="02040503050406030204" pitchFamily="18" charset="0"/>
                <a:ea typeface="Cambria" panose="02040503050406030204" pitchFamily="18" charset="0"/>
              </a:rPr>
              <a:t>ngược </a:t>
            </a:r>
            <a:r>
              <a:rPr lang="vi-VN" sz="2400" b="1">
                <a:solidFill>
                  <a:srgbClr val="002060"/>
                </a:solidFill>
                <a:latin typeface="Cambria" panose="02040503050406030204" pitchFamily="18" charset="0"/>
                <a:ea typeface="Cambria" panose="02040503050406030204" pitchFamily="18" charset="0"/>
              </a:rPr>
              <a:t>lại</a:t>
            </a:r>
          </a:p>
        </p:txBody>
      </p:sp>
    </p:spTree>
    <p:extLst>
      <p:ext uri="{BB962C8B-B14F-4D97-AF65-F5344CB8AC3E}">
        <p14:creationId xmlns:p14="http://schemas.microsoft.com/office/powerpoint/2010/main" val="3476698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3.7. Một số định dạng file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Định </a:t>
            </a:r>
            <a:r>
              <a:rPr lang="en-US" sz="2400" b="1">
                <a:solidFill>
                  <a:srgbClr val="002060"/>
                </a:solidFill>
                <a:latin typeface="Cambria" panose="02040503050406030204" pitchFamily="18" charset="0"/>
                <a:ea typeface="Cambria" panose="02040503050406030204" pitchFamily="18" charset="0"/>
              </a:rPr>
              <a:t>dạng SIF: 360 pixel </a:t>
            </a:r>
            <a:r>
              <a:rPr lang="en-US" sz="2400" b="1" smtClean="0">
                <a:solidFill>
                  <a:srgbClr val="002060"/>
                </a:solidFill>
                <a:latin typeface="Cambria" panose="02040503050406030204" pitchFamily="18" charset="0"/>
                <a:ea typeface="Cambria" panose="02040503050406030204" pitchFamily="18" charset="0"/>
              </a:rPr>
              <a:t>trên </a:t>
            </a:r>
            <a:r>
              <a:rPr lang="en-US" sz="2400" b="1">
                <a:solidFill>
                  <a:srgbClr val="002060"/>
                </a:solidFill>
                <a:latin typeface="Cambria" panose="02040503050406030204" pitchFamily="18" charset="0"/>
                <a:ea typeface="Cambria" panose="02040503050406030204" pitchFamily="18" charset="0"/>
              </a:rPr>
              <a:t>một dòng, 288 dòng trên một khung hình và 25 khung hình trên một giây</a:t>
            </a:r>
          </a:p>
          <a:p>
            <a:pPr marL="566738" indent="-328613"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Định dạng CIF: 360 pixel, mỗi khung hình có 288 dòng và tốc độ khung hình là 30 </a:t>
            </a:r>
            <a:r>
              <a:rPr lang="en-US" sz="2400" b="1" smtClean="0">
                <a:solidFill>
                  <a:srgbClr val="002060"/>
                </a:solidFill>
                <a:latin typeface="Cambria" panose="02040503050406030204" pitchFamily="18" charset="0"/>
                <a:ea typeface="Cambria" panose="02040503050406030204" pitchFamily="18" charset="0"/>
              </a:rPr>
              <a:t>hình/giây</a:t>
            </a:r>
            <a:endParaRPr lang="en-US" sz="2400" b="1">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Sub-QCIF, QSIF, </a:t>
            </a:r>
            <a:r>
              <a:rPr lang="en-US" sz="2400" b="1" smtClean="0">
                <a:solidFill>
                  <a:srgbClr val="002060"/>
                </a:solidFill>
                <a:latin typeface="Cambria" panose="02040503050406030204" pitchFamily="18" charset="0"/>
                <a:ea typeface="Cambria" panose="02040503050406030204" pitchFamily="18" charset="0"/>
              </a:rPr>
              <a:t>QCIF: </a:t>
            </a:r>
            <a:r>
              <a:rPr lang="vi-VN" sz="2400" b="1">
                <a:solidFill>
                  <a:srgbClr val="002060"/>
                </a:solidFill>
                <a:latin typeface="Cambria" panose="02040503050406030204" pitchFamily="18" charset="0"/>
                <a:ea typeface="Cambria" panose="02040503050406030204" pitchFamily="18" charset="0"/>
              </a:rPr>
              <a:t>Để cân bằng độ phân giải theo không gian và thời </a:t>
            </a:r>
            <a:r>
              <a:rPr lang="vi-VN" sz="2400" b="1" smtClean="0">
                <a:solidFill>
                  <a:srgbClr val="002060"/>
                </a:solidFill>
                <a:latin typeface="Cambria" panose="02040503050406030204" pitchFamily="18" charset="0"/>
                <a:ea typeface="Cambria" panose="02040503050406030204" pitchFamily="18" charset="0"/>
              </a:rPr>
              <a:t>gian</a:t>
            </a:r>
            <a:r>
              <a:rPr lang="vi-VN" sz="2400" b="1">
                <a:solidFill>
                  <a:srgbClr val="002060"/>
                </a:solidFill>
                <a:latin typeface="Cambria" panose="02040503050406030204" pitchFamily="18" charset="0"/>
                <a:ea typeface="Cambria" panose="02040503050406030204" pitchFamily="18" charset="0"/>
              </a:rPr>
              <a:t>, các định dạng SIF và CIF sẽ phải giảm độ phân giải theo không gian xuống một nửa. </a:t>
            </a:r>
            <a:r>
              <a:rPr lang="vi-VN" sz="2400" b="1" smtClean="0">
                <a:solidFill>
                  <a:srgbClr val="002060"/>
                </a:solidFill>
                <a:latin typeface="Cambria" panose="02040503050406030204" pitchFamily="18" charset="0"/>
                <a:ea typeface="Cambria" panose="02040503050406030204" pitchFamily="18" charset="0"/>
              </a:rPr>
              <a:t>Khi </a:t>
            </a:r>
            <a:r>
              <a:rPr lang="vi-VN" sz="2400" b="1">
                <a:solidFill>
                  <a:srgbClr val="002060"/>
                </a:solidFill>
                <a:latin typeface="Cambria" panose="02040503050406030204" pitchFamily="18" charset="0"/>
                <a:ea typeface="Cambria" panose="02040503050406030204" pitchFamily="18" charset="0"/>
              </a:rPr>
              <a:t>đó, các định dạng tương ứng sẽ được gọi là QSIF (Quarter-SIF) và QCIF (Quarter-CIF)</a:t>
            </a:r>
            <a:endParaRPr lang="en-US" sz="2400" b="1" smtClean="0">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3964633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3.7. Một số định dạng file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66738" indent="-328613" algn="just">
              <a:lnSpc>
                <a:spcPct val="150000"/>
              </a:lnSpc>
              <a:buFont typeface="Arial" panose="020B0604020202020204" pitchFamily="34" charset="0"/>
              <a:buChar char="•"/>
            </a:pPr>
            <a:r>
              <a:rPr lang="en-US" sz="2400" b="1">
                <a:solidFill>
                  <a:srgbClr val="002060"/>
                </a:solidFill>
                <a:latin typeface="Cambria" panose="02040503050406030204" pitchFamily="18" charset="0"/>
                <a:ea typeface="Cambria" panose="02040503050406030204" pitchFamily="18" charset="0"/>
              </a:rPr>
              <a:t>HDTV:  tiêu chuẩn truyền hình độ nét cao </a:t>
            </a:r>
            <a:r>
              <a:rPr lang="en-US" sz="2400" b="1" smtClean="0">
                <a:solidFill>
                  <a:srgbClr val="002060"/>
                </a:solidFill>
                <a:latin typeface="Cambria" panose="02040503050406030204" pitchFamily="18" charset="0"/>
                <a:ea typeface="Cambria" panose="02040503050406030204" pitchFamily="18" charset="0"/>
              </a:rPr>
              <a:t>để </a:t>
            </a:r>
            <a:r>
              <a:rPr lang="en-US" sz="2400" b="1">
                <a:solidFill>
                  <a:srgbClr val="002060"/>
                </a:solidFill>
                <a:latin typeface="Cambria" panose="02040503050406030204" pitchFamily="18" charset="0"/>
                <a:ea typeface="Cambria" panose="02040503050406030204" pitchFamily="18" charset="0"/>
              </a:rPr>
              <a:t>phân biệt với tiêu chuẩn truyền hình có độ nét chuẩn (SDTV). Trong tiêu chuẩn HDTV, </a:t>
            </a:r>
            <a:r>
              <a:rPr lang="en-US" sz="2400" b="1" smtClean="0">
                <a:solidFill>
                  <a:srgbClr val="002060"/>
                </a:solidFill>
                <a:latin typeface="Cambria" panose="02040503050406030204" pitchFamily="18" charset="0"/>
                <a:ea typeface="Cambria" panose="02040503050406030204" pitchFamily="18" charset="0"/>
              </a:rPr>
              <a:t>độ phân </a:t>
            </a:r>
            <a:r>
              <a:rPr lang="en-US" sz="2400" b="1">
                <a:solidFill>
                  <a:srgbClr val="002060"/>
                </a:solidFill>
                <a:latin typeface="Cambria" panose="02040503050406030204" pitchFamily="18" charset="0"/>
                <a:ea typeface="Cambria" panose="02040503050406030204" pitchFamily="18" charset="0"/>
              </a:rPr>
              <a:t>giải của hình ảnh có thể là 720p, 1080i/p</a:t>
            </a:r>
            <a:r>
              <a:rPr lang="en-US" sz="2400" b="1" smtClean="0">
                <a:solidFill>
                  <a:srgbClr val="002060"/>
                </a:solidFill>
                <a:latin typeface="Cambria" panose="02040503050406030204" pitchFamily="18" charset="0"/>
                <a:ea typeface="Cambria" panose="02040503050406030204" pitchFamily="18" charset="0"/>
              </a:rPr>
              <a:t>.</a:t>
            </a:r>
          </a:p>
          <a:p>
            <a:pPr marL="566738" indent="-328613" algn="just">
              <a:lnSpc>
                <a:spcPct val="150000"/>
              </a:lnSpc>
              <a:buFont typeface="Arial" panose="020B0604020202020204" pitchFamily="34" charset="0"/>
              <a:buChar char="•"/>
            </a:pPr>
            <a:r>
              <a:rPr lang="en-US" sz="2400" b="1" smtClean="0">
                <a:solidFill>
                  <a:srgbClr val="002060"/>
                </a:solidFill>
                <a:latin typeface="Cambria" panose="02040503050406030204" pitchFamily="18" charset="0"/>
                <a:ea typeface="Cambria" panose="02040503050406030204" pitchFamily="18" charset="0"/>
              </a:rPr>
              <a:t>U</a:t>
            </a:r>
            <a:r>
              <a:rPr lang="en-US" sz="2400" b="1" smtClean="0">
                <a:solidFill>
                  <a:srgbClr val="002060"/>
                </a:solidFill>
                <a:latin typeface="Cambria" panose="02040503050406030204" pitchFamily="18" charset="0"/>
                <a:ea typeface="Cambria" panose="02040503050406030204" pitchFamily="18" charset="0"/>
              </a:rPr>
              <a:t>tral </a:t>
            </a:r>
            <a:r>
              <a:rPr lang="en-US" sz="2400" b="1">
                <a:solidFill>
                  <a:srgbClr val="002060"/>
                </a:solidFill>
                <a:latin typeface="Cambria" panose="02040503050406030204" pitchFamily="18" charset="0"/>
                <a:ea typeface="Cambria" panose="02040503050406030204" pitchFamily="18" charset="0"/>
              </a:rPr>
              <a:t>HDTV: chuẩn 4K bao gồm hai độ phân giải độ nét cao: </a:t>
            </a:r>
            <a:r>
              <a:rPr lang="en-US" sz="2400" b="1" smtClean="0">
                <a:solidFill>
                  <a:srgbClr val="002060"/>
                </a:solidFill>
                <a:latin typeface="Cambria" panose="02040503050406030204" pitchFamily="18" charset="0"/>
                <a:ea typeface="Cambria" panose="02040503050406030204" pitchFamily="18" charset="0"/>
              </a:rPr>
              <a:t>3840 </a:t>
            </a:r>
            <a:r>
              <a:rPr lang="en-US" sz="2400" b="1">
                <a:solidFill>
                  <a:srgbClr val="002060"/>
                </a:solidFill>
                <a:latin typeface="Cambria" panose="02040503050406030204" pitchFamily="18" charset="0"/>
                <a:ea typeface="Cambria" panose="02040503050406030204" pitchFamily="18" charset="0"/>
              </a:rPr>
              <a:t>x 2160 pixel hoặc 4096 x 2160 </a:t>
            </a:r>
            <a:r>
              <a:rPr lang="en-US" sz="2400" b="1" smtClean="0">
                <a:solidFill>
                  <a:srgbClr val="002060"/>
                </a:solidFill>
                <a:latin typeface="Cambria" panose="02040503050406030204" pitchFamily="18" charset="0"/>
                <a:ea typeface="Cambria" panose="02040503050406030204" pitchFamily="18" charset="0"/>
              </a:rPr>
              <a:t>pixel. </a:t>
            </a:r>
            <a:r>
              <a:rPr lang="vi-VN" sz="2400" b="1">
                <a:solidFill>
                  <a:srgbClr val="002060"/>
                </a:solidFill>
                <a:latin typeface="Cambria" panose="02040503050406030204" pitchFamily="18" charset="0"/>
                <a:ea typeface="Cambria" panose="02040503050406030204" pitchFamily="18" charset="0"/>
              </a:rPr>
              <a:t>4K được hiểu là độ phân giải cao gấp bốn lần so </a:t>
            </a:r>
            <a:r>
              <a:rPr lang="vi-VN" sz="2400" b="1" smtClean="0">
                <a:solidFill>
                  <a:srgbClr val="002060"/>
                </a:solidFill>
                <a:latin typeface="Cambria" panose="02040503050406030204" pitchFamily="18" charset="0"/>
                <a:ea typeface="Cambria" panose="02040503050406030204" pitchFamily="18" charset="0"/>
              </a:rPr>
              <a:t>với </a:t>
            </a:r>
            <a:r>
              <a:rPr lang="vi-VN" sz="2400" b="1">
                <a:solidFill>
                  <a:srgbClr val="002060"/>
                </a:solidFill>
                <a:latin typeface="Cambria" panose="02040503050406030204" pitchFamily="18" charset="0"/>
                <a:ea typeface="Cambria" panose="02040503050406030204" pitchFamily="18" charset="0"/>
              </a:rPr>
              <a:t>độ phân giải độ nét cao full HD - 1080p (1920x1080 pixel) - là một trong những tiêu </a:t>
            </a:r>
            <a:r>
              <a:rPr lang="vi-VN" sz="2400" b="1" smtClean="0">
                <a:solidFill>
                  <a:srgbClr val="002060"/>
                </a:solidFill>
                <a:latin typeface="Cambria" panose="02040503050406030204" pitchFamily="18" charset="0"/>
                <a:ea typeface="Cambria" panose="02040503050406030204" pitchFamily="18" charset="0"/>
              </a:rPr>
              <a:t>chuẩn </a:t>
            </a:r>
            <a:r>
              <a:rPr lang="vi-VN" sz="2400" b="1">
                <a:solidFill>
                  <a:srgbClr val="002060"/>
                </a:solidFill>
                <a:latin typeface="Cambria" panose="02040503050406030204" pitchFamily="18" charset="0"/>
                <a:ea typeface="Cambria" panose="02040503050406030204" pitchFamily="18" charset="0"/>
              </a:rPr>
              <a:t>độ phân giải cao hiện nay</a:t>
            </a:r>
            <a:endParaRPr lang="en-US" sz="2400" b="1">
              <a:solidFill>
                <a:srgbClr val="002060"/>
              </a:solidFill>
              <a:latin typeface="Cambria" panose="02040503050406030204" pitchFamily="18" charset="0"/>
              <a:ea typeface="Cambria" panose="02040503050406030204" pitchFamily="18" charset="0"/>
            </a:endParaRPr>
          </a:p>
          <a:p>
            <a:pPr marL="566738" indent="-328613" algn="just">
              <a:lnSpc>
                <a:spcPct val="150000"/>
              </a:lnSpc>
              <a:buFont typeface="Arial" panose="020B0604020202020204" pitchFamily="34" charset="0"/>
              <a:buChar char="•"/>
            </a:pP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2399321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vi-VN" sz="2400" b="1">
                <a:solidFill>
                  <a:srgbClr val="002060"/>
                </a:solidFill>
                <a:latin typeface="Cambria" panose="02040503050406030204" pitchFamily="18" charset="0"/>
              </a:rPr>
              <a:t>3.8. Giới thiệu một số công cụ xử lý ảnh và video</a:t>
            </a:r>
          </a:p>
        </p:txBody>
      </p:sp>
      <p:sp>
        <p:nvSpPr>
          <p:cNvPr id="6" name="Line 16"/>
          <p:cNvSpPr>
            <a:spLocks noChangeShapeType="1"/>
          </p:cNvSpPr>
          <p:nvPr/>
        </p:nvSpPr>
        <p:spPr bwMode="auto">
          <a:xfrm>
            <a:off x="119858" y="61510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0" y="649843"/>
            <a:ext cx="8570976" cy="57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238125" algn="just">
              <a:lnSpc>
                <a:spcPct val="150000"/>
              </a:lnSpc>
            </a:pPr>
            <a:endParaRPr lang="vi-VN" sz="2400" b="1">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4836368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2340&quot;&gt;&lt;property id=&quot;20148&quot; value=&quot;5&quot;/&gt;&lt;property id=&quot;20300&quot; value=&quot;Slide 1&quot;/&gt;&lt;property id=&quot;20307&quot; value=&quot;257&quot;/&gt;&lt;/object&gt;&lt;object type=&quot;3&quot; unique_id=&quot;12341&quot;&gt;&lt;property id=&quot;20148&quot; value=&quot;5&quot;/&gt;&lt;property id=&quot;20300&quot; value=&quot;Slide 2&quot;/&gt;&lt;property id=&quot;20307&quot; value=&quot;269&quot;/&gt;&lt;/object&gt;&lt;object type=&quot;3&quot; unique_id=&quot;12342&quot;&gt;&lt;property id=&quot;20148&quot; value=&quot;5&quot;/&gt;&lt;property id=&quot;20300&quot; value=&quot;Slide 3&quot;/&gt;&lt;property id=&quot;20307&quot; value=&quot;270&quot;/&gt;&lt;/object&gt;&lt;object type=&quot;3&quot; unique_id=&quot;12343&quot;&gt;&lt;property id=&quot;20148&quot; value=&quot;5&quot;/&gt;&lt;property id=&quot;20300&quot; value=&quot;Slide 4&quot;/&gt;&lt;property id=&quot;20307&quot; value=&quot;271&quot;/&gt;&lt;/object&gt;&lt;object type=&quot;3&quot; unique_id=&quot;12344&quot;&gt;&lt;property id=&quot;20148&quot; value=&quot;5&quot;/&gt;&lt;property id=&quot;20300&quot; value=&quot;Slide 5&quot;/&gt;&lt;property id=&quot;20307&quot; value=&quot;272&quot;/&gt;&lt;/object&gt;&lt;object type=&quot;3&quot; unique_id=&quot;12345&quot;&gt;&lt;property id=&quot;20148&quot; value=&quot;5&quot;/&gt;&lt;property id=&quot;20300&quot; value=&quot;Slide 6&quot;/&gt;&lt;property id=&quot;20307&quot; value=&quot;258&quot;/&gt;&lt;/object&gt;&lt;/object&gt;&lt;object type=&quot;8&quot; unique_id=&quot;10106&quot;&gt;&lt;/object&gt;&lt;/object&gt;&lt;/database&gt;"/>
  <p:tag name="SECTOMILLISECCONVERTED" val="1"/>
</p:tagLst>
</file>

<file path=ppt/theme/theme1.xml><?xml version="1.0" encoding="utf-8"?>
<a:theme xmlns:a="http://schemas.openxmlformats.org/drawingml/2006/main" name="VPBank Slid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P Bank Blank 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4132</TotalTime>
  <Words>5425</Words>
  <Application>Microsoft Office PowerPoint</Application>
  <PresentationFormat>On-screen Show (4:3)</PresentationFormat>
  <Paragraphs>291</Paragraphs>
  <Slides>61</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61</vt:i4>
      </vt:variant>
    </vt:vector>
  </HeadingPairs>
  <TitlesOfParts>
    <vt:vector size="70" baseType="lpstr">
      <vt:lpstr>ＭＳ Ｐゴシック</vt:lpstr>
      <vt:lpstr>Arial</vt:lpstr>
      <vt:lpstr>Calibri</vt:lpstr>
      <vt:lpstr>Cambria</vt:lpstr>
      <vt:lpstr>ITCErasVO Demi</vt:lpstr>
      <vt:lpstr>Wingdings</vt:lpstr>
      <vt:lpstr>VPBank Slide divider</vt:lpstr>
      <vt:lpstr>VP Bank Blank White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H2T</dc:creator>
  <cp:lastModifiedBy>capuchino</cp:lastModifiedBy>
  <cp:revision>361</cp:revision>
  <dcterms:created xsi:type="dcterms:W3CDTF">2012-12-19T04:20:44Z</dcterms:created>
  <dcterms:modified xsi:type="dcterms:W3CDTF">2022-04-08T10:00:07Z</dcterms:modified>
</cp:coreProperties>
</file>