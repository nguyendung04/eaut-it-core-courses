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 id="2147483654" r:id="rId2"/>
    <p:sldMasterId id="2147483674" r:id="rId3"/>
  </p:sldMasterIdLst>
  <p:notesMasterIdLst>
    <p:notesMasterId r:id="rId39"/>
  </p:notesMasterIdLst>
  <p:sldIdLst>
    <p:sldId id="259" r:id="rId4"/>
    <p:sldId id="258"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6" r:id="rId30"/>
    <p:sldId id="285" r:id="rId31"/>
    <p:sldId id="287" r:id="rId32"/>
    <p:sldId id="288" r:id="rId33"/>
    <p:sldId id="289" r:id="rId34"/>
    <p:sldId id="290" r:id="rId35"/>
    <p:sldId id="291" r:id="rId36"/>
    <p:sldId id="292" r:id="rId37"/>
    <p:sldId id="293" r:id="rId38"/>
  </p:sldIdLst>
  <p:sldSz cx="9144000" cy="6858000" type="screen4x3"/>
  <p:notesSz cx="6858000" cy="9144000"/>
  <p:custDataLst>
    <p:tags r:id="rId40"/>
  </p:custDataLst>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23"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23"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23"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23"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23" charset="-128"/>
        <a:cs typeface="+mn-cs"/>
      </a:defRPr>
    </a:lvl5pPr>
    <a:lvl6pPr marL="2286000" algn="l" defTabSz="914400" rtl="0" eaLnBrk="1" latinLnBrk="0" hangingPunct="1">
      <a:defRPr kern="1200">
        <a:solidFill>
          <a:schemeClr val="tx1"/>
        </a:solidFill>
        <a:latin typeface="Calibri" pitchFamily="34" charset="0"/>
        <a:ea typeface="ＭＳ Ｐゴシック" pitchFamily="123" charset="-128"/>
        <a:cs typeface="+mn-cs"/>
      </a:defRPr>
    </a:lvl6pPr>
    <a:lvl7pPr marL="2743200" algn="l" defTabSz="914400" rtl="0" eaLnBrk="1" latinLnBrk="0" hangingPunct="1">
      <a:defRPr kern="1200">
        <a:solidFill>
          <a:schemeClr val="tx1"/>
        </a:solidFill>
        <a:latin typeface="Calibri" pitchFamily="34" charset="0"/>
        <a:ea typeface="ＭＳ Ｐゴシック" pitchFamily="123" charset="-128"/>
        <a:cs typeface="+mn-cs"/>
      </a:defRPr>
    </a:lvl7pPr>
    <a:lvl8pPr marL="3200400" algn="l" defTabSz="914400" rtl="0" eaLnBrk="1" latinLnBrk="0" hangingPunct="1">
      <a:defRPr kern="1200">
        <a:solidFill>
          <a:schemeClr val="tx1"/>
        </a:solidFill>
        <a:latin typeface="Calibri" pitchFamily="34" charset="0"/>
        <a:ea typeface="ＭＳ Ｐゴシック" pitchFamily="123" charset="-128"/>
        <a:cs typeface="+mn-cs"/>
      </a:defRPr>
    </a:lvl8pPr>
    <a:lvl9pPr marL="3657600" algn="l" defTabSz="914400" rtl="0" eaLnBrk="1" latinLnBrk="0" hangingPunct="1">
      <a:defRPr kern="1200">
        <a:solidFill>
          <a:schemeClr val="tx1"/>
        </a:solidFill>
        <a:latin typeface="Calibri" pitchFamily="34" charset="0"/>
        <a:ea typeface="ＭＳ Ｐゴシック" pitchFamily="123" charset="-128"/>
        <a:cs typeface="+mn-cs"/>
      </a:defRPr>
    </a:lvl9pPr>
  </p:defaultTextStyle>
  <p:extLst>
    <p:ext uri="{EFAFB233-063F-42B5-8137-9DF3F51BA10A}">
      <p15:sldGuideLst xmlns:p15="http://schemas.microsoft.com/office/powerpoint/2012/main">
        <p15:guide id="1" orient="horz" pos="2154">
          <p15:clr>
            <a:srgbClr val="A4A3A4"/>
          </p15:clr>
        </p15:guide>
        <p15:guide id="2" pos="60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a:srgbClr val="66CC33"/>
    <a:srgbClr val="336633"/>
    <a:srgbClr val="66C067"/>
    <a:srgbClr val="B6DCAE"/>
    <a:srgbClr val="CC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94729" autoAdjust="0"/>
  </p:normalViewPr>
  <p:slideViewPr>
    <p:cSldViewPr snapToGrid="0" snapToObjects="1">
      <p:cViewPr varScale="1">
        <p:scale>
          <a:sx n="67" d="100"/>
          <a:sy n="67" d="100"/>
        </p:scale>
        <p:origin x="1392" y="48"/>
      </p:cViewPr>
      <p:guideLst>
        <p:guide orient="horz" pos="2154"/>
        <p:guide pos="608"/>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102" d="100"/>
          <a:sy n="102" d="100"/>
        </p:scale>
        <p:origin x="-436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tags" Target="tags/tag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smtClean="0"/>
            </a:lvl1pPr>
          </a:lstStyle>
          <a:p>
            <a:pPr>
              <a:defRPr/>
            </a:pPr>
            <a:fld id="{716F2529-7442-4C57-BAFE-E764E2676846}" type="datetimeFigureOut">
              <a:rPr lang="en-US"/>
              <a:pPr>
                <a:defRPr/>
              </a:pPr>
              <a:t>3/10/2022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smtClean="0"/>
            </a:lvl1pPr>
          </a:lstStyle>
          <a:p>
            <a:pPr>
              <a:defRPr/>
            </a:pPr>
            <a:fld id="{A9BAC566-14D6-46E5-9550-856BC12D5853}" type="slidenum">
              <a:rPr lang="en-US"/>
              <a:pPr>
                <a:defRPr/>
              </a:pPr>
              <a:t>‹#›</a:t>
            </a:fld>
            <a:endParaRPr lang="en-US"/>
          </a:p>
        </p:txBody>
      </p:sp>
    </p:spTree>
    <p:extLst>
      <p:ext uri="{BB962C8B-B14F-4D97-AF65-F5344CB8AC3E}">
        <p14:creationId xmlns:p14="http://schemas.microsoft.com/office/powerpoint/2010/main" val="154251708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pitchFamily="123" charset="-128"/>
        <a:cs typeface="+mn-cs"/>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23"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23"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23"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23"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2727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VP Bank White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1557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81953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50" name="Picture 6"/>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722688" y="-223838"/>
            <a:ext cx="17291051" cy="786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683" r:id="rId1"/>
  </p:sldLayoutIdLst>
  <p:timing>
    <p:tnLst>
      <p:par>
        <p:cTn id="1" dur="indefinite" restart="never" nodeType="tmRoot"/>
      </p:par>
    </p:tnLst>
  </p:timing>
  <p:txStyles>
    <p:titleStyle>
      <a:lvl1pPr algn="ctr" defTabSz="457200" rtl="0" eaLnBrk="0" fontAlgn="base" hangingPunct="0">
        <a:spcBef>
          <a:spcPct val="0"/>
        </a:spcBef>
        <a:spcAft>
          <a:spcPct val="0"/>
        </a:spcAft>
        <a:defRPr sz="4400" b="0" i="0" u="none" kern="1200">
          <a:solidFill>
            <a:schemeClr val="tx1"/>
          </a:solidFill>
          <a:latin typeface="+mj-lt"/>
          <a:ea typeface="ＭＳ Ｐゴシック" pitchFamily="123" charset="-128"/>
          <a:cs typeface="+mj-cs"/>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5pPr>
      <a:lvl6pPr marL="457200" algn="ctr" defTabSz="457200" rtl="0" fontAlgn="base">
        <a:spcBef>
          <a:spcPct val="0"/>
        </a:spcBef>
        <a:spcAft>
          <a:spcPct val="0"/>
        </a:spcAft>
        <a:defRPr sz="4400">
          <a:solidFill>
            <a:schemeClr val="tx1"/>
          </a:solidFill>
          <a:latin typeface="Calibri" pitchFamily="34" charset="0"/>
          <a:ea typeface="ＭＳ Ｐゴシック" pitchFamily="123" charset="-128"/>
        </a:defRPr>
      </a:lvl6pPr>
      <a:lvl7pPr marL="914400" algn="ctr" defTabSz="457200" rtl="0" fontAlgn="base">
        <a:spcBef>
          <a:spcPct val="0"/>
        </a:spcBef>
        <a:spcAft>
          <a:spcPct val="0"/>
        </a:spcAft>
        <a:defRPr sz="4400">
          <a:solidFill>
            <a:schemeClr val="tx1"/>
          </a:solidFill>
          <a:latin typeface="Calibri" pitchFamily="34" charset="0"/>
          <a:ea typeface="ＭＳ Ｐゴシック" pitchFamily="123" charset="-128"/>
        </a:defRPr>
      </a:lvl7pPr>
      <a:lvl8pPr marL="1371600" algn="ctr" defTabSz="457200" rtl="0" fontAlgn="base">
        <a:spcBef>
          <a:spcPct val="0"/>
        </a:spcBef>
        <a:spcAft>
          <a:spcPct val="0"/>
        </a:spcAft>
        <a:defRPr sz="4400">
          <a:solidFill>
            <a:schemeClr val="tx1"/>
          </a:solidFill>
          <a:latin typeface="Calibri" pitchFamily="34" charset="0"/>
          <a:ea typeface="ＭＳ Ｐゴシック" pitchFamily="123" charset="-128"/>
        </a:defRPr>
      </a:lvl8pPr>
      <a:lvl9pPr marL="1828800" algn="ctr" defTabSz="457200" rtl="0" fontAlgn="base">
        <a:spcBef>
          <a:spcPct val="0"/>
        </a:spcBef>
        <a:spcAft>
          <a:spcPct val="0"/>
        </a:spcAft>
        <a:defRPr sz="4400">
          <a:solidFill>
            <a:schemeClr val="tx1"/>
          </a:solidFill>
          <a:latin typeface="Calibri" pitchFamily="34" charset="0"/>
          <a:ea typeface="ＭＳ Ｐゴシック" pitchFamily="123" charset="-128"/>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mn-lt"/>
          <a:ea typeface="ＭＳ Ｐゴシック" pitchFamily="123" charset="-128"/>
          <a:cs typeface="+mn-cs"/>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mn-lt"/>
          <a:ea typeface="ＭＳ Ｐゴシック" pitchFamily="123" charset="-128"/>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mn-lt"/>
          <a:ea typeface="ＭＳ Ｐゴシック" pitchFamily="123" charset="-128"/>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1"/>
  </p:sldLayoutIdLst>
  <p:timing>
    <p:tnLst>
      <p:par>
        <p:cTn id="1" dur="indefinite" restart="never" nodeType="tmRoot"/>
      </p:par>
    </p:tnLst>
  </p:timing>
  <p:txStyles>
    <p:titleStyle>
      <a:lvl1pPr algn="ctr" defTabSz="457200" rtl="0" eaLnBrk="0" fontAlgn="base" hangingPunct="0">
        <a:spcBef>
          <a:spcPct val="0"/>
        </a:spcBef>
        <a:spcAft>
          <a:spcPct val="0"/>
        </a:spcAft>
        <a:defRPr sz="4400" kern="1200">
          <a:solidFill>
            <a:schemeClr val="tx1"/>
          </a:solidFill>
          <a:latin typeface="+mj-lt"/>
          <a:ea typeface="ＭＳ Ｐゴシック" pitchFamily="123" charset="-128"/>
          <a:cs typeface="+mj-cs"/>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5pPr>
      <a:lvl6pPr marL="457200" algn="ctr" defTabSz="457200" rtl="0" fontAlgn="base">
        <a:spcBef>
          <a:spcPct val="0"/>
        </a:spcBef>
        <a:spcAft>
          <a:spcPct val="0"/>
        </a:spcAft>
        <a:defRPr sz="4400">
          <a:solidFill>
            <a:schemeClr val="tx1"/>
          </a:solidFill>
          <a:latin typeface="Calibri" pitchFamily="34" charset="0"/>
          <a:ea typeface="ＭＳ Ｐゴシック" pitchFamily="123" charset="-128"/>
        </a:defRPr>
      </a:lvl6pPr>
      <a:lvl7pPr marL="914400" algn="ctr" defTabSz="457200" rtl="0" fontAlgn="base">
        <a:spcBef>
          <a:spcPct val="0"/>
        </a:spcBef>
        <a:spcAft>
          <a:spcPct val="0"/>
        </a:spcAft>
        <a:defRPr sz="4400">
          <a:solidFill>
            <a:schemeClr val="tx1"/>
          </a:solidFill>
          <a:latin typeface="Calibri" pitchFamily="34" charset="0"/>
          <a:ea typeface="ＭＳ Ｐゴシック" pitchFamily="123" charset="-128"/>
        </a:defRPr>
      </a:lvl7pPr>
      <a:lvl8pPr marL="1371600" algn="ctr" defTabSz="457200" rtl="0" fontAlgn="base">
        <a:spcBef>
          <a:spcPct val="0"/>
        </a:spcBef>
        <a:spcAft>
          <a:spcPct val="0"/>
        </a:spcAft>
        <a:defRPr sz="4400">
          <a:solidFill>
            <a:schemeClr val="tx1"/>
          </a:solidFill>
          <a:latin typeface="Calibri" pitchFamily="34" charset="0"/>
          <a:ea typeface="ＭＳ Ｐゴシック" pitchFamily="123" charset="-128"/>
        </a:defRPr>
      </a:lvl8pPr>
      <a:lvl9pPr marL="1828800" algn="ctr" defTabSz="457200" rtl="0" fontAlgn="base">
        <a:spcBef>
          <a:spcPct val="0"/>
        </a:spcBef>
        <a:spcAft>
          <a:spcPct val="0"/>
        </a:spcAft>
        <a:defRPr sz="4400">
          <a:solidFill>
            <a:schemeClr val="tx1"/>
          </a:solidFill>
          <a:latin typeface="Calibri" pitchFamily="34" charset="0"/>
          <a:ea typeface="ＭＳ Ｐゴシック" pitchFamily="123" charset="-128"/>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mn-lt"/>
          <a:ea typeface="ＭＳ Ｐゴシック" pitchFamily="123" charset="-128"/>
          <a:cs typeface="+mn-cs"/>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mn-lt"/>
          <a:ea typeface="ＭＳ Ｐゴシック" pitchFamily="123" charset="-128"/>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mn-lt"/>
          <a:ea typeface="ＭＳ Ｐゴシック" pitchFamily="123" charset="-128"/>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074" name="Picture 6"/>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6" r:id="rId1"/>
  </p:sldLayoutIdLst>
  <p:timing>
    <p:tnLst>
      <p:par>
        <p:cTn id="1" dur="indefinite" restart="never" nodeType="tmRoot"/>
      </p:par>
    </p:tnLst>
  </p:timing>
  <p:txStyles>
    <p:titleStyle>
      <a:lvl1pPr algn="ctr" defTabSz="457200" rtl="0" eaLnBrk="0" fontAlgn="base" hangingPunct="0">
        <a:spcBef>
          <a:spcPct val="0"/>
        </a:spcBef>
        <a:spcAft>
          <a:spcPct val="0"/>
        </a:spcAft>
        <a:defRPr sz="4400" kern="1200">
          <a:solidFill>
            <a:schemeClr val="tx1"/>
          </a:solidFill>
          <a:latin typeface="+mj-lt"/>
          <a:ea typeface="ＭＳ Ｐゴシック" pitchFamily="123" charset="-128"/>
          <a:cs typeface="+mj-cs"/>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5pPr>
      <a:lvl6pPr marL="457200" algn="ctr" defTabSz="457200" rtl="0" fontAlgn="base">
        <a:spcBef>
          <a:spcPct val="0"/>
        </a:spcBef>
        <a:spcAft>
          <a:spcPct val="0"/>
        </a:spcAft>
        <a:defRPr sz="4400">
          <a:solidFill>
            <a:schemeClr val="tx1"/>
          </a:solidFill>
          <a:latin typeface="Calibri" pitchFamily="34" charset="0"/>
          <a:ea typeface="ＭＳ Ｐゴシック" pitchFamily="123" charset="-128"/>
        </a:defRPr>
      </a:lvl6pPr>
      <a:lvl7pPr marL="914400" algn="ctr" defTabSz="457200" rtl="0" fontAlgn="base">
        <a:spcBef>
          <a:spcPct val="0"/>
        </a:spcBef>
        <a:spcAft>
          <a:spcPct val="0"/>
        </a:spcAft>
        <a:defRPr sz="4400">
          <a:solidFill>
            <a:schemeClr val="tx1"/>
          </a:solidFill>
          <a:latin typeface="Calibri" pitchFamily="34" charset="0"/>
          <a:ea typeface="ＭＳ Ｐゴシック" pitchFamily="123" charset="-128"/>
        </a:defRPr>
      </a:lvl7pPr>
      <a:lvl8pPr marL="1371600" algn="ctr" defTabSz="457200" rtl="0" fontAlgn="base">
        <a:spcBef>
          <a:spcPct val="0"/>
        </a:spcBef>
        <a:spcAft>
          <a:spcPct val="0"/>
        </a:spcAft>
        <a:defRPr sz="4400">
          <a:solidFill>
            <a:schemeClr val="tx1"/>
          </a:solidFill>
          <a:latin typeface="Calibri" pitchFamily="34" charset="0"/>
          <a:ea typeface="ＭＳ Ｐゴシック" pitchFamily="123" charset="-128"/>
        </a:defRPr>
      </a:lvl8pPr>
      <a:lvl9pPr marL="1828800" algn="ctr" defTabSz="457200" rtl="0" fontAlgn="base">
        <a:spcBef>
          <a:spcPct val="0"/>
        </a:spcBef>
        <a:spcAft>
          <a:spcPct val="0"/>
        </a:spcAft>
        <a:defRPr sz="4400">
          <a:solidFill>
            <a:schemeClr val="tx1"/>
          </a:solidFill>
          <a:latin typeface="Calibri" pitchFamily="34" charset="0"/>
          <a:ea typeface="ＭＳ Ｐゴシック" pitchFamily="123" charset="-128"/>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mn-lt"/>
          <a:ea typeface="ＭＳ Ｐゴシック" pitchFamily="123" charset="-128"/>
          <a:cs typeface="+mn-cs"/>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mn-lt"/>
          <a:ea typeface="ＭＳ Ｐゴシック" pitchFamily="123" charset="-128"/>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mn-lt"/>
          <a:ea typeface="ＭＳ Ｐゴシック" pitchFamily="123" charset="-128"/>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Box 11"/>
          <p:cNvSpPr txBox="1">
            <a:spLocks noChangeArrowheads="1"/>
          </p:cNvSpPr>
          <p:nvPr/>
        </p:nvSpPr>
        <p:spPr bwMode="auto">
          <a:xfrm>
            <a:off x="0" y="276565"/>
            <a:ext cx="489428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eaLnBrk="1" hangingPunct="1"/>
            <a:r>
              <a:rPr lang="en-US" sz="4400" err="1" smtClean="0">
                <a:solidFill>
                  <a:srgbClr val="FFFFFF"/>
                </a:solidFill>
                <a:latin typeface="ITCErasVO Demi" pitchFamily="123" charset="0"/>
              </a:rPr>
              <a:t>Nội</a:t>
            </a:r>
            <a:r>
              <a:rPr lang="en-US" sz="4400" smtClean="0">
                <a:solidFill>
                  <a:srgbClr val="FFFFFF"/>
                </a:solidFill>
                <a:latin typeface="ITCErasVO Demi" pitchFamily="123" charset="0"/>
              </a:rPr>
              <a:t> dung </a:t>
            </a:r>
            <a:r>
              <a:rPr lang="en-US" sz="4400" err="1" smtClean="0">
                <a:solidFill>
                  <a:srgbClr val="FFFFFF"/>
                </a:solidFill>
                <a:latin typeface="ITCErasVO Demi" pitchFamily="123" charset="0"/>
              </a:rPr>
              <a:t>khóa</a:t>
            </a:r>
            <a:r>
              <a:rPr lang="en-US" sz="4400" smtClean="0">
                <a:solidFill>
                  <a:srgbClr val="FFFFFF"/>
                </a:solidFill>
                <a:latin typeface="ITCErasVO Demi" pitchFamily="123" charset="0"/>
              </a:rPr>
              <a:t> </a:t>
            </a:r>
            <a:r>
              <a:rPr lang="en-US" sz="4400" err="1" smtClean="0">
                <a:solidFill>
                  <a:srgbClr val="FFFFFF"/>
                </a:solidFill>
                <a:latin typeface="ITCErasVO Demi" pitchFamily="123" charset="0"/>
              </a:rPr>
              <a:t>học</a:t>
            </a:r>
            <a:endParaRPr lang="en-US" sz="4400">
              <a:solidFill>
                <a:srgbClr val="FFFFFF"/>
              </a:solidFill>
              <a:latin typeface="ITCErasVO Demi" pitchFamily="123" charset="0"/>
            </a:endParaRPr>
          </a:p>
        </p:txBody>
      </p:sp>
      <p:sp>
        <p:nvSpPr>
          <p:cNvPr id="6150" name="TextBox 16"/>
          <p:cNvSpPr txBox="1">
            <a:spLocks noChangeArrowheads="1"/>
          </p:cNvSpPr>
          <p:nvPr/>
        </p:nvSpPr>
        <p:spPr bwMode="auto">
          <a:xfrm>
            <a:off x="152110" y="1046006"/>
            <a:ext cx="8570976"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indent="341313">
              <a:lnSpc>
                <a:spcPct val="150000"/>
              </a:lnSpc>
            </a:pPr>
            <a:r>
              <a:rPr lang="vi-VN" sz="2200" b="1" smtClean="0">
                <a:solidFill>
                  <a:srgbClr val="002060"/>
                </a:solidFill>
                <a:latin typeface="Cambria" panose="02040503050406030204" pitchFamily="18" charset="0"/>
              </a:rPr>
              <a:t>1.1</a:t>
            </a:r>
            <a:r>
              <a:rPr lang="vi-VN" sz="2200" b="1">
                <a:solidFill>
                  <a:srgbClr val="002060"/>
                </a:solidFill>
                <a:latin typeface="Cambria" panose="02040503050406030204" pitchFamily="18" charset="0"/>
              </a:rPr>
              <a:t>. Giới thiệu chung</a:t>
            </a:r>
          </a:p>
          <a:p>
            <a:pPr indent="341313">
              <a:lnSpc>
                <a:spcPct val="150000"/>
              </a:lnSpc>
            </a:pPr>
            <a:r>
              <a:rPr lang="vi-VN" sz="2200" b="1">
                <a:solidFill>
                  <a:srgbClr val="002060"/>
                </a:solidFill>
                <a:latin typeface="Cambria" panose="02040503050406030204" pitchFamily="18" charset="0"/>
              </a:rPr>
              <a:t>1.2. Một số khái niệm cơ bản</a:t>
            </a:r>
          </a:p>
          <a:p>
            <a:pPr indent="341313">
              <a:lnSpc>
                <a:spcPct val="150000"/>
              </a:lnSpc>
            </a:pPr>
            <a:r>
              <a:rPr lang="vi-VN" sz="2200" b="1">
                <a:solidFill>
                  <a:srgbClr val="002060"/>
                </a:solidFill>
                <a:latin typeface="Cambria" panose="02040503050406030204" pitchFamily="18" charset="0"/>
              </a:rPr>
              <a:t>1.3. Hoàn cảnh sử dụng Multimedia.</a:t>
            </a:r>
          </a:p>
          <a:p>
            <a:pPr indent="341313">
              <a:lnSpc>
                <a:spcPct val="150000"/>
              </a:lnSpc>
            </a:pPr>
            <a:r>
              <a:rPr lang="vi-VN" sz="2200" b="1">
                <a:solidFill>
                  <a:srgbClr val="002060"/>
                </a:solidFill>
                <a:latin typeface="Cambria" panose="02040503050406030204" pitchFamily="18" charset="0"/>
              </a:rPr>
              <a:t>1.4. Các chuẩn Multimedia thông </a:t>
            </a:r>
            <a:r>
              <a:rPr lang="vi-VN" sz="2200" b="1" smtClean="0">
                <a:solidFill>
                  <a:srgbClr val="002060"/>
                </a:solidFill>
                <a:latin typeface="Cambria" panose="02040503050406030204" pitchFamily="18" charset="0"/>
              </a:rPr>
              <a:t>dụng</a:t>
            </a:r>
            <a:endParaRPr lang="en-US" sz="2200" b="1" smtClean="0">
              <a:solidFill>
                <a:srgbClr val="002060"/>
              </a:solidFill>
              <a:latin typeface="Cambria" panose="02040503050406030204" pitchFamily="18" charset="0"/>
            </a:endParaRPr>
          </a:p>
          <a:p>
            <a:pPr indent="341313">
              <a:lnSpc>
                <a:spcPct val="150000"/>
              </a:lnSpc>
            </a:pPr>
            <a:r>
              <a:rPr lang="vi-VN" sz="2200" b="1">
                <a:solidFill>
                  <a:srgbClr val="002060"/>
                </a:solidFill>
                <a:latin typeface="Cambria" panose="02040503050406030204" pitchFamily="18" charset="0"/>
              </a:rPr>
              <a:t>1.5. Các vấn đề bản quyền đối với các tác phẩm đa phương tiện</a:t>
            </a:r>
          </a:p>
          <a:p>
            <a:pPr indent="341313">
              <a:lnSpc>
                <a:spcPct val="150000"/>
              </a:lnSpc>
            </a:pPr>
            <a:r>
              <a:rPr lang="vi-VN" sz="2200" b="1">
                <a:solidFill>
                  <a:srgbClr val="002060"/>
                </a:solidFill>
                <a:latin typeface="Cambria" panose="02040503050406030204" pitchFamily="18" charset="0"/>
              </a:rPr>
              <a:t>1.6. Tổng quan về quá </a:t>
            </a:r>
            <a:r>
              <a:rPr lang="vi-VN" sz="2200" b="1" smtClean="0">
                <a:solidFill>
                  <a:srgbClr val="002060"/>
                </a:solidFill>
                <a:latin typeface="Cambria" panose="02040503050406030204" pitchFamily="18" charset="0"/>
              </a:rPr>
              <a:t>tr</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phát triển Multimedia </a:t>
            </a:r>
          </a:p>
          <a:p>
            <a:pPr indent="341313">
              <a:lnSpc>
                <a:spcPct val="150000"/>
              </a:lnSpc>
            </a:pPr>
            <a:r>
              <a:rPr lang="vi-VN" sz="2200" b="1">
                <a:solidFill>
                  <a:srgbClr val="002060"/>
                </a:solidFill>
                <a:latin typeface="Cambria" panose="02040503050406030204" pitchFamily="18" charset="0"/>
              </a:rPr>
              <a:t>1.7. Quá </a:t>
            </a:r>
            <a:r>
              <a:rPr lang="vi-VN" sz="2200" b="1" smtClean="0">
                <a:solidFill>
                  <a:srgbClr val="002060"/>
                </a:solidFill>
                <a:latin typeface="Cambria" panose="02040503050406030204" pitchFamily="18" charset="0"/>
              </a:rPr>
              <a:t>tr</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phát triển một sản phẩm Multimedia </a:t>
            </a:r>
          </a:p>
          <a:p>
            <a:pPr indent="341313">
              <a:lnSpc>
                <a:spcPct val="150000"/>
              </a:lnSpc>
            </a:pPr>
            <a:r>
              <a:rPr lang="vi-VN" sz="2200" b="1">
                <a:solidFill>
                  <a:srgbClr val="002060"/>
                </a:solidFill>
                <a:latin typeface="Cambria" panose="02040503050406030204" pitchFamily="18" charset="0"/>
              </a:rPr>
              <a:t>1.8. Các yêu cầu của hệ thống đa phương tiện</a:t>
            </a:r>
          </a:p>
          <a:p>
            <a:pPr marL="457200" indent="-457200">
              <a:lnSpc>
                <a:spcPct val="150000"/>
              </a:lnSpc>
              <a:buFont typeface="Wingdings" panose="05000000000000000000" pitchFamily="2" charset="2"/>
              <a:buChar char="v"/>
            </a:pPr>
            <a:endParaRPr lang="vi-VN" sz="2200" b="1">
              <a:solidFill>
                <a:srgbClr val="C00000"/>
              </a:solidFill>
              <a:latin typeface="Cambria" panose="02040503050406030204" pitchFamily="18" charset="0"/>
            </a:endParaRPr>
          </a:p>
          <a:p>
            <a:pPr marL="457200" indent="-457200">
              <a:lnSpc>
                <a:spcPct val="150000"/>
              </a:lnSpc>
              <a:buFont typeface="Wingdings" panose="05000000000000000000" pitchFamily="2" charset="2"/>
              <a:buChar char="v"/>
            </a:pPr>
            <a:r>
              <a:rPr lang="en-US" sz="2200" b="1" err="1" smtClean="0">
                <a:solidFill>
                  <a:schemeClr val="bg1"/>
                </a:solidFill>
                <a:latin typeface="Cambria" panose="02040503050406030204" pitchFamily="18" charset="0"/>
              </a:rPr>
              <a:t>Chương</a:t>
            </a:r>
            <a:r>
              <a:rPr lang="en-US" sz="2200" b="1" smtClean="0">
                <a:solidFill>
                  <a:schemeClr val="bg1"/>
                </a:solidFill>
                <a:latin typeface="Cambria" panose="02040503050406030204" pitchFamily="18" charset="0"/>
              </a:rPr>
              <a:t> 5:  </a:t>
            </a:r>
            <a:r>
              <a:rPr lang="en-US" altLang="en-US" sz="2200" b="1" err="1" smtClean="0">
                <a:solidFill>
                  <a:schemeClr val="bg1"/>
                </a:solidFill>
                <a:latin typeface="Cambria" panose="02040503050406030204" pitchFamily="18" charset="0"/>
              </a:rPr>
              <a:t>Tập</a:t>
            </a:r>
            <a:r>
              <a:rPr lang="en-US" altLang="en-US" sz="2200" b="1" smtClean="0">
                <a:solidFill>
                  <a:schemeClr val="bg1"/>
                </a:solidFill>
                <a:latin typeface="Cambria" panose="02040503050406030204" pitchFamily="18" charset="0"/>
              </a:rPr>
              <a:t> </a:t>
            </a:r>
            <a:r>
              <a:rPr lang="en-US" altLang="en-US" sz="2200" b="1" err="1" smtClean="0">
                <a:solidFill>
                  <a:schemeClr val="bg1"/>
                </a:solidFill>
                <a:latin typeface="Cambria" panose="02040503050406030204" pitchFamily="18" charset="0"/>
              </a:rPr>
              <a:t>lệnh</a:t>
            </a:r>
            <a:r>
              <a:rPr lang="en-US" altLang="en-US" sz="2200" b="1" smtClean="0">
                <a:solidFill>
                  <a:schemeClr val="bg1"/>
                </a:solidFill>
                <a:latin typeface="Cambria" panose="02040503050406030204" pitchFamily="18" charset="0"/>
              </a:rPr>
              <a:t> (Assembly programming language)</a:t>
            </a:r>
            <a:endParaRPr lang="en-US" sz="2200" b="1">
              <a:solidFill>
                <a:schemeClr val="bg1"/>
              </a:solidFill>
              <a:latin typeface="Cambria" panose="02040503050406030204" pitchFamily="18" charset="0"/>
            </a:endParaRPr>
          </a:p>
        </p:txBody>
      </p:sp>
      <p:sp>
        <p:nvSpPr>
          <p:cNvPr id="5" name="Rectangle 4"/>
          <p:cNvSpPr/>
          <p:nvPr/>
        </p:nvSpPr>
        <p:spPr>
          <a:xfrm>
            <a:off x="119858" y="78635"/>
            <a:ext cx="8603228" cy="658706"/>
          </a:xfrm>
          <a:prstGeom prst="rect">
            <a:avLst/>
          </a:prstGeom>
          <a:noFill/>
        </p:spPr>
        <p:txBody>
          <a:bodyPr wrap="square" lIns="91440" tIns="45720" rIns="91440" bIns="45720">
            <a:spAutoFit/>
          </a:bodyPr>
          <a:lstStyle/>
          <a:p>
            <a:pPr>
              <a:lnSpc>
                <a:spcPct val="150000"/>
              </a:lnSpc>
            </a:pPr>
            <a:r>
              <a:rPr lang="en-US" sz="2800" b="1" err="1">
                <a:solidFill>
                  <a:srgbClr val="C00000"/>
                </a:solidFill>
                <a:latin typeface="Cambria" panose="02040503050406030204" pitchFamily="18" charset="0"/>
              </a:rPr>
              <a:t>Chương</a:t>
            </a:r>
            <a:r>
              <a:rPr lang="en-US" sz="2800" b="1">
                <a:solidFill>
                  <a:srgbClr val="C00000"/>
                </a:solidFill>
                <a:latin typeface="Cambria" panose="02040503050406030204" pitchFamily="18" charset="0"/>
              </a:rPr>
              <a:t> 1:</a:t>
            </a:r>
            <a:r>
              <a:rPr lang="en-US" sz="2800">
                <a:solidFill>
                  <a:srgbClr val="0070C0"/>
                </a:solidFill>
                <a:latin typeface="Cambria" panose="02040503050406030204" pitchFamily="18" charset="0"/>
              </a:rPr>
              <a:t>  </a:t>
            </a:r>
            <a:r>
              <a:rPr lang="en-US" sz="2800" b="1" err="1">
                <a:solidFill>
                  <a:srgbClr val="0070C0"/>
                </a:solidFill>
                <a:latin typeface="Cambria" panose="02040503050406030204" pitchFamily="18" charset="0"/>
              </a:rPr>
              <a:t>Tổng</a:t>
            </a:r>
            <a:r>
              <a:rPr lang="en-US" sz="2800" b="1">
                <a:solidFill>
                  <a:srgbClr val="0070C0"/>
                </a:solidFill>
                <a:latin typeface="Cambria" panose="02040503050406030204" pitchFamily="18" charset="0"/>
              </a:rPr>
              <a:t> </a:t>
            </a:r>
            <a:r>
              <a:rPr lang="en-US" sz="2800" b="1" err="1">
                <a:solidFill>
                  <a:srgbClr val="0070C0"/>
                </a:solidFill>
                <a:latin typeface="Cambria" panose="02040503050406030204" pitchFamily="18" charset="0"/>
              </a:rPr>
              <a:t>quan</a:t>
            </a:r>
            <a:r>
              <a:rPr lang="en-US" sz="2800" b="1">
                <a:solidFill>
                  <a:srgbClr val="0070C0"/>
                </a:solidFill>
                <a:latin typeface="Cambria" panose="02040503050406030204" pitchFamily="18" charset="0"/>
              </a:rPr>
              <a:t> </a:t>
            </a:r>
            <a:r>
              <a:rPr lang="en-US" sz="2800" b="1" err="1">
                <a:solidFill>
                  <a:srgbClr val="0070C0"/>
                </a:solidFill>
                <a:latin typeface="Cambria" panose="02040503050406030204" pitchFamily="18" charset="0"/>
              </a:rPr>
              <a:t>về</a:t>
            </a:r>
            <a:r>
              <a:rPr lang="en-US" sz="2800" b="1">
                <a:solidFill>
                  <a:srgbClr val="0070C0"/>
                </a:solidFill>
                <a:latin typeface="Cambria" panose="02040503050406030204" pitchFamily="18" charset="0"/>
              </a:rPr>
              <a:t> </a:t>
            </a:r>
            <a:r>
              <a:rPr lang="en-US" sz="2800" b="1" err="1">
                <a:solidFill>
                  <a:srgbClr val="0070C0"/>
                </a:solidFill>
                <a:latin typeface="Cambria" panose="02040503050406030204" pitchFamily="18" charset="0"/>
              </a:rPr>
              <a:t>công</a:t>
            </a:r>
            <a:r>
              <a:rPr lang="en-US" sz="2800" b="1">
                <a:solidFill>
                  <a:srgbClr val="0070C0"/>
                </a:solidFill>
                <a:latin typeface="Cambria" panose="02040503050406030204" pitchFamily="18" charset="0"/>
              </a:rPr>
              <a:t> </a:t>
            </a:r>
            <a:r>
              <a:rPr lang="en-US" sz="2800" b="1" err="1">
                <a:solidFill>
                  <a:srgbClr val="0070C0"/>
                </a:solidFill>
                <a:latin typeface="Cambria" panose="02040503050406030204" pitchFamily="18" charset="0"/>
              </a:rPr>
              <a:t>nghệ</a:t>
            </a:r>
            <a:r>
              <a:rPr lang="en-US" sz="2800" b="1">
                <a:solidFill>
                  <a:srgbClr val="0070C0"/>
                </a:solidFill>
                <a:latin typeface="Cambria" panose="02040503050406030204" pitchFamily="18" charset="0"/>
              </a:rPr>
              <a:t> Multimedia</a:t>
            </a:r>
          </a:p>
        </p:txBody>
      </p:sp>
      <p:sp>
        <p:nvSpPr>
          <p:cNvPr id="7" name="Line 16"/>
          <p:cNvSpPr>
            <a:spLocks noChangeShapeType="1"/>
          </p:cNvSpPr>
          <p:nvPr/>
        </p:nvSpPr>
        <p:spPr bwMode="auto">
          <a:xfrm>
            <a:off x="250825" y="846582"/>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2772442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Box 11"/>
          <p:cNvSpPr txBox="1">
            <a:spLocks noChangeArrowheads="1"/>
          </p:cNvSpPr>
          <p:nvPr/>
        </p:nvSpPr>
        <p:spPr bwMode="auto">
          <a:xfrm>
            <a:off x="0" y="276565"/>
            <a:ext cx="489428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eaLnBrk="1" hangingPunct="1"/>
            <a:r>
              <a:rPr lang="en-US" sz="4400" err="1" smtClean="0">
                <a:solidFill>
                  <a:srgbClr val="FFFFFF"/>
                </a:solidFill>
                <a:latin typeface="ITCErasVO Demi" pitchFamily="123" charset="0"/>
              </a:rPr>
              <a:t>Nội</a:t>
            </a:r>
            <a:r>
              <a:rPr lang="en-US" sz="4400" smtClean="0">
                <a:solidFill>
                  <a:srgbClr val="FFFFFF"/>
                </a:solidFill>
                <a:latin typeface="ITCErasVO Demi" pitchFamily="123" charset="0"/>
              </a:rPr>
              <a:t> dung </a:t>
            </a:r>
            <a:r>
              <a:rPr lang="en-US" sz="4400" err="1" smtClean="0">
                <a:solidFill>
                  <a:srgbClr val="FFFFFF"/>
                </a:solidFill>
                <a:latin typeface="ITCErasVO Demi" pitchFamily="123" charset="0"/>
              </a:rPr>
              <a:t>khóa</a:t>
            </a:r>
            <a:r>
              <a:rPr lang="en-US" sz="4400" smtClean="0">
                <a:solidFill>
                  <a:srgbClr val="FFFFFF"/>
                </a:solidFill>
                <a:latin typeface="ITCErasVO Demi" pitchFamily="123" charset="0"/>
              </a:rPr>
              <a:t> </a:t>
            </a:r>
            <a:r>
              <a:rPr lang="en-US" sz="4400" err="1" smtClean="0">
                <a:solidFill>
                  <a:srgbClr val="FFFFFF"/>
                </a:solidFill>
                <a:latin typeface="ITCErasVO Demi" pitchFamily="123" charset="0"/>
              </a:rPr>
              <a:t>học</a:t>
            </a:r>
            <a:endParaRPr lang="en-US" sz="4400">
              <a:solidFill>
                <a:srgbClr val="FFFFFF"/>
              </a:solidFill>
              <a:latin typeface="ITCErasVO Demi" pitchFamily="123" charset="0"/>
            </a:endParaRPr>
          </a:p>
        </p:txBody>
      </p:sp>
      <p:sp>
        <p:nvSpPr>
          <p:cNvPr id="6150" name="TextBox 16"/>
          <p:cNvSpPr txBox="1">
            <a:spLocks noChangeArrowheads="1"/>
          </p:cNvSpPr>
          <p:nvPr/>
        </p:nvSpPr>
        <p:spPr bwMode="auto">
          <a:xfrm>
            <a:off x="119858" y="935271"/>
            <a:ext cx="8570976" cy="5678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Wingdings" panose="05000000000000000000" pitchFamily="2" charset="2"/>
              <a:buChar char="ü"/>
            </a:pPr>
            <a:r>
              <a:rPr lang="vi-VN" sz="2200" b="1">
                <a:solidFill>
                  <a:srgbClr val="002060"/>
                </a:solidFill>
                <a:latin typeface="Cambria" panose="02040503050406030204" pitchFamily="18" charset="0"/>
              </a:rPr>
              <a:t>Ý tưởng đặt nền móng cho lĩnh vực công nghệ này đã có từ năm </a:t>
            </a:r>
            <a:r>
              <a:rPr lang="vi-VN" sz="2200" b="1" smtClean="0">
                <a:solidFill>
                  <a:srgbClr val="002060"/>
                </a:solidFill>
                <a:latin typeface="Cambria" panose="02040503050406030204" pitchFamily="18" charset="0"/>
              </a:rPr>
              <a:t>1945</a:t>
            </a:r>
            <a:r>
              <a:rPr lang="en-US" sz="2200" b="1" smtClean="0">
                <a:solidFill>
                  <a:srgbClr val="002060"/>
                </a:solidFill>
                <a:latin typeface="Cambria" panose="02040503050406030204" pitchFamily="18" charset="0"/>
              </a:rPr>
              <a:t>: </a:t>
            </a:r>
            <a:r>
              <a:rPr lang="en-US" sz="2200" b="1" err="1" smtClean="0">
                <a:solidFill>
                  <a:srgbClr val="002060"/>
                </a:solidFill>
                <a:latin typeface="Cambria" panose="02040503050406030204" pitchFamily="18" charset="0"/>
              </a:rPr>
              <a:t>Mr</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Vanner</a:t>
            </a:r>
            <a:r>
              <a:rPr lang="en-US" sz="2200" b="1">
                <a:solidFill>
                  <a:srgbClr val="002060"/>
                </a:solidFill>
                <a:latin typeface="Cambria" panose="02040503050406030204" pitchFamily="18" charset="0"/>
              </a:rPr>
              <a:t> Brush </a:t>
            </a:r>
            <a:r>
              <a:rPr lang="en-US" sz="2200" b="1" smtClean="0">
                <a:solidFill>
                  <a:srgbClr val="002060"/>
                </a:solidFill>
                <a:latin typeface="Cambria" panose="02040503050406030204" pitchFamily="18" charset="0"/>
              </a:rPr>
              <a:t>“</a:t>
            </a:r>
            <a:r>
              <a:rPr lang="vi-VN" sz="2200" b="1" smtClean="0">
                <a:solidFill>
                  <a:srgbClr val="002060"/>
                </a:solidFill>
                <a:latin typeface="Cambria" panose="02040503050406030204" pitchFamily="18" charset="0"/>
              </a:rPr>
              <a:t>liệu </a:t>
            </a:r>
            <a:r>
              <a:rPr lang="vi-VN" sz="2200" b="1">
                <a:solidFill>
                  <a:srgbClr val="002060"/>
                </a:solidFill>
                <a:latin typeface="Cambria" panose="02040503050406030204" pitchFamily="18" charset="0"/>
              </a:rPr>
              <a:t>có thể chế tạo được loại thiết bị cho phép lưu trữ các dạng thông tin để thay cho </a:t>
            </a:r>
            <a:r>
              <a:rPr lang="vi-VN" sz="2200" b="1" smtClean="0">
                <a:solidFill>
                  <a:srgbClr val="002060"/>
                </a:solidFill>
                <a:latin typeface="Cambria" panose="02040503050406030204" pitchFamily="18" charset="0"/>
              </a:rPr>
              <a:t>sách</a:t>
            </a:r>
            <a:r>
              <a:rPr lang="en-US" sz="2200" b="1" smtClean="0">
                <a:solidFill>
                  <a:srgbClr val="002060"/>
                </a:solidFill>
                <a:latin typeface="Cambria" panose="02040503050406030204" pitchFamily="18" charset="0"/>
              </a:rPr>
              <a:t>”</a:t>
            </a:r>
          </a:p>
          <a:p>
            <a:pPr marL="342900" indent="-342900" algn="just">
              <a:lnSpc>
                <a:spcPct val="150000"/>
              </a:lnSpc>
              <a:buFont typeface="Wingdings" panose="05000000000000000000" pitchFamily="2" charset="2"/>
              <a:buChar char="ü"/>
            </a:pPr>
            <a:r>
              <a:rPr lang="en-US" sz="2200" b="1" err="1" smtClean="0">
                <a:solidFill>
                  <a:srgbClr val="002060"/>
                </a:solidFill>
                <a:latin typeface="Cambria" panose="02040503050406030204" pitchFamily="18" charset="0"/>
              </a:rPr>
              <a:t>Năm</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1960 </a:t>
            </a:r>
            <a:r>
              <a:rPr lang="vi-VN" sz="2200" b="1">
                <a:solidFill>
                  <a:srgbClr val="002060"/>
                </a:solidFill>
                <a:latin typeface="Cambria" panose="02040503050406030204" pitchFamily="18" charset="0"/>
              </a:rPr>
              <a:t>Ted Nelson và Andrries Van Dam đã công bố công trính nói về kỹ thuật truy nhập dữ liệu dưới cái tên gọi Hypertext và </a:t>
            </a:r>
            <a:r>
              <a:rPr lang="vi-VN" sz="2200" b="1" smtClean="0">
                <a:solidFill>
                  <a:srgbClr val="002060"/>
                </a:solidFill>
                <a:latin typeface="Cambria" panose="02040503050406030204" pitchFamily="18" charset="0"/>
              </a:rPr>
              <a:t>Hypermedia</a:t>
            </a:r>
            <a:endParaRPr lang="en-US" sz="2200" b="1" smtClean="0">
              <a:solidFill>
                <a:srgbClr val="002060"/>
              </a:solidFill>
              <a:latin typeface="Cambria" panose="02040503050406030204" pitchFamily="18" charset="0"/>
            </a:endParaRPr>
          </a:p>
          <a:p>
            <a:pPr marL="342900" indent="-342900" algn="just">
              <a:lnSpc>
                <a:spcPct val="150000"/>
              </a:lnSpc>
              <a:buFont typeface="Wingdings" panose="05000000000000000000" pitchFamily="2" charset="2"/>
              <a:buChar char="ü"/>
            </a:pPr>
            <a:r>
              <a:rPr lang="vi-VN" sz="2200" b="1">
                <a:solidFill>
                  <a:srgbClr val="002060"/>
                </a:solidFill>
                <a:latin typeface="Cambria" panose="02040503050406030204" pitchFamily="18" charset="0"/>
              </a:rPr>
              <a:t>Năm 1968 Engleband đã đưa ra được hệ thống sử dụng Hypertext trên máy tình với cái tên </a:t>
            </a:r>
            <a:r>
              <a:rPr lang="vi-VN" sz="2200" b="1" smtClean="0">
                <a:solidFill>
                  <a:srgbClr val="002060"/>
                </a:solidFill>
                <a:latin typeface="Cambria" panose="02040503050406030204" pitchFamily="18" charset="0"/>
              </a:rPr>
              <a:t>NLS</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Bộ</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quốc</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phòng</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Mỹ</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thành</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lập</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tổ</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chức</a:t>
            </a:r>
            <a:r>
              <a:rPr lang="en-US" sz="2200" b="1">
                <a:solidFill>
                  <a:srgbClr val="002060"/>
                </a:solidFill>
                <a:latin typeface="Cambria" panose="02040503050406030204" pitchFamily="18" charset="0"/>
              </a:rPr>
              <a:t> DARPA </a:t>
            </a:r>
            <a:r>
              <a:rPr lang="en-US" sz="2200" b="1" err="1">
                <a:solidFill>
                  <a:srgbClr val="002060"/>
                </a:solidFill>
                <a:latin typeface="Cambria" panose="02040503050406030204" pitchFamily="18" charset="0"/>
              </a:rPr>
              <a:t>để</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nghiên</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cứu</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về</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công</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nghệ</a:t>
            </a:r>
            <a:r>
              <a:rPr lang="en-US" sz="2200" b="1">
                <a:solidFill>
                  <a:srgbClr val="002060"/>
                </a:solidFill>
                <a:latin typeface="Cambria" panose="02040503050406030204" pitchFamily="18" charset="0"/>
              </a:rPr>
              <a:t> Multimedia</a:t>
            </a:r>
            <a:endParaRPr lang="en-US" sz="2200" b="1" smtClean="0">
              <a:solidFill>
                <a:srgbClr val="002060"/>
              </a:solidFill>
              <a:latin typeface="Cambria" panose="02040503050406030204" pitchFamily="18" charset="0"/>
            </a:endParaRPr>
          </a:p>
          <a:p>
            <a:pPr indent="341313" algn="just">
              <a:lnSpc>
                <a:spcPct val="150000"/>
              </a:lnSpc>
            </a:pPr>
            <a:r>
              <a:rPr lang="en-US" sz="2200" b="1" smtClean="0">
                <a:solidFill>
                  <a:srgbClr val="002060"/>
                </a:solidFill>
                <a:latin typeface="Cambria" panose="02040503050406030204" pitchFamily="18" charset="0"/>
              </a:rPr>
              <a:t> </a:t>
            </a:r>
            <a:r>
              <a:rPr lang="en-US" sz="2200" b="1" err="1" smtClean="0">
                <a:solidFill>
                  <a:schemeClr val="bg1"/>
                </a:solidFill>
                <a:latin typeface="Cambria" panose="02040503050406030204" pitchFamily="18" charset="0"/>
              </a:rPr>
              <a:t>Chương</a:t>
            </a:r>
            <a:r>
              <a:rPr lang="en-US" sz="2200" b="1" smtClean="0">
                <a:solidFill>
                  <a:schemeClr val="bg1"/>
                </a:solidFill>
                <a:latin typeface="Cambria" panose="02040503050406030204" pitchFamily="18" charset="0"/>
              </a:rPr>
              <a:t> 5:  </a:t>
            </a:r>
            <a:r>
              <a:rPr lang="en-US" altLang="en-US" sz="2200" b="1" err="1" smtClean="0">
                <a:solidFill>
                  <a:schemeClr val="bg1"/>
                </a:solidFill>
                <a:latin typeface="Cambria" panose="02040503050406030204" pitchFamily="18" charset="0"/>
              </a:rPr>
              <a:t>Tập</a:t>
            </a:r>
            <a:r>
              <a:rPr lang="en-US" altLang="en-US" sz="2200" b="1" smtClean="0">
                <a:solidFill>
                  <a:schemeClr val="bg1"/>
                </a:solidFill>
                <a:latin typeface="Cambria" panose="02040503050406030204" pitchFamily="18" charset="0"/>
              </a:rPr>
              <a:t> </a:t>
            </a:r>
            <a:r>
              <a:rPr lang="en-US" altLang="en-US" sz="2200" b="1" err="1" smtClean="0">
                <a:solidFill>
                  <a:schemeClr val="bg1"/>
                </a:solidFill>
                <a:latin typeface="Cambria" panose="02040503050406030204" pitchFamily="18" charset="0"/>
              </a:rPr>
              <a:t>lệnh</a:t>
            </a:r>
            <a:r>
              <a:rPr lang="en-US" altLang="en-US" sz="2200" b="1" smtClean="0">
                <a:solidFill>
                  <a:schemeClr val="bg1"/>
                </a:solidFill>
                <a:latin typeface="Cambria" panose="02040503050406030204" pitchFamily="18" charset="0"/>
              </a:rPr>
              <a:t> (Assembly programming language)</a:t>
            </a:r>
            <a:endParaRPr lang="en-US" sz="2200" b="1">
              <a:solidFill>
                <a:schemeClr val="bg1"/>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indent="231775">
              <a:lnSpc>
                <a:spcPct val="150000"/>
              </a:lnSpc>
            </a:pPr>
            <a:r>
              <a:rPr lang="vi-VN" sz="2800" b="1" smtClean="0">
                <a:solidFill>
                  <a:srgbClr val="002060"/>
                </a:solidFill>
                <a:latin typeface="Cambria" panose="02040503050406030204" pitchFamily="18" charset="0"/>
              </a:rPr>
              <a:t>1.1</a:t>
            </a:r>
            <a:r>
              <a:rPr lang="vi-VN" sz="2800" b="1">
                <a:solidFill>
                  <a:srgbClr val="002060"/>
                </a:solidFill>
                <a:latin typeface="Cambria" panose="02040503050406030204" pitchFamily="18" charset="0"/>
              </a:rPr>
              <a:t>. Giới thiệu chung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Box 11"/>
          <p:cNvSpPr txBox="1">
            <a:spLocks noChangeArrowheads="1"/>
          </p:cNvSpPr>
          <p:nvPr/>
        </p:nvSpPr>
        <p:spPr bwMode="auto">
          <a:xfrm>
            <a:off x="0" y="276565"/>
            <a:ext cx="489428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eaLnBrk="1" hangingPunct="1"/>
            <a:r>
              <a:rPr lang="en-US" sz="4400" err="1" smtClean="0">
                <a:solidFill>
                  <a:srgbClr val="FFFFFF"/>
                </a:solidFill>
                <a:latin typeface="ITCErasVO Demi" pitchFamily="123" charset="0"/>
              </a:rPr>
              <a:t>Nội</a:t>
            </a:r>
            <a:r>
              <a:rPr lang="en-US" sz="4400" smtClean="0">
                <a:solidFill>
                  <a:srgbClr val="FFFFFF"/>
                </a:solidFill>
                <a:latin typeface="ITCErasVO Demi" pitchFamily="123" charset="0"/>
              </a:rPr>
              <a:t> dung </a:t>
            </a:r>
            <a:r>
              <a:rPr lang="en-US" sz="4400" err="1" smtClean="0">
                <a:solidFill>
                  <a:srgbClr val="FFFFFF"/>
                </a:solidFill>
                <a:latin typeface="ITCErasVO Demi" pitchFamily="123" charset="0"/>
              </a:rPr>
              <a:t>khóa</a:t>
            </a:r>
            <a:r>
              <a:rPr lang="en-US" sz="4400" smtClean="0">
                <a:solidFill>
                  <a:srgbClr val="FFFFFF"/>
                </a:solidFill>
                <a:latin typeface="ITCErasVO Demi" pitchFamily="123" charset="0"/>
              </a:rPr>
              <a:t> </a:t>
            </a:r>
            <a:r>
              <a:rPr lang="en-US" sz="4400" err="1" smtClean="0">
                <a:solidFill>
                  <a:srgbClr val="FFFFFF"/>
                </a:solidFill>
                <a:latin typeface="ITCErasVO Demi" pitchFamily="123" charset="0"/>
              </a:rPr>
              <a:t>học</a:t>
            </a:r>
            <a:endParaRPr lang="en-US" sz="4400">
              <a:solidFill>
                <a:srgbClr val="FFFFFF"/>
              </a:solidFill>
              <a:latin typeface="ITCErasVO Demi" pitchFamily="123" charset="0"/>
            </a:endParaRPr>
          </a:p>
        </p:txBody>
      </p:sp>
      <p:sp>
        <p:nvSpPr>
          <p:cNvPr id="6150" name="TextBox 16"/>
          <p:cNvSpPr txBox="1">
            <a:spLocks noChangeArrowheads="1"/>
          </p:cNvSpPr>
          <p:nvPr/>
        </p:nvSpPr>
        <p:spPr bwMode="auto">
          <a:xfrm>
            <a:off x="119858" y="920573"/>
            <a:ext cx="8570976" cy="263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Wingdings" panose="05000000000000000000" pitchFamily="2" charset="2"/>
              <a:buChar char="ü"/>
            </a:pPr>
            <a:r>
              <a:rPr lang="vi-VN" sz="2200" b="1">
                <a:solidFill>
                  <a:srgbClr val="002060"/>
                </a:solidFill>
                <a:latin typeface="Cambria" panose="02040503050406030204" pitchFamily="18" charset="0"/>
              </a:rPr>
              <a:t>Năm 1978 phòng thì nghiệm khổng lồ MIT Media Laboratory chuyên nghiên cứu về công nghệ Multimedia được  thành </a:t>
            </a:r>
            <a:r>
              <a:rPr lang="vi-VN" sz="2200" b="1" smtClean="0">
                <a:solidFill>
                  <a:srgbClr val="002060"/>
                </a:solidFill>
                <a:latin typeface="Cambria" panose="02040503050406030204" pitchFamily="18" charset="0"/>
              </a:rPr>
              <a:t>lập</a:t>
            </a:r>
            <a:endParaRPr lang="en-US" sz="2200" b="1" smtClean="0">
              <a:solidFill>
                <a:srgbClr val="002060"/>
              </a:solidFill>
              <a:latin typeface="Cambria" panose="02040503050406030204" pitchFamily="18" charset="0"/>
            </a:endParaRPr>
          </a:p>
          <a:p>
            <a:pPr marL="342900" indent="-342900" algn="just">
              <a:lnSpc>
                <a:spcPct val="150000"/>
              </a:lnSpc>
              <a:buFont typeface="Wingdings" panose="05000000000000000000" pitchFamily="2" charset="2"/>
              <a:buChar char="ü"/>
            </a:pPr>
            <a:r>
              <a:rPr lang="en-US" sz="2200" b="1" err="1" smtClean="0">
                <a:solidFill>
                  <a:srgbClr val="002060"/>
                </a:solidFill>
                <a:latin typeface="Cambria" panose="02040503050406030204" pitchFamily="18" charset="0"/>
              </a:rPr>
              <a:t>Sau</a:t>
            </a:r>
            <a:r>
              <a:rPr lang="en-US" sz="2200" b="1" smtClean="0">
                <a:solidFill>
                  <a:srgbClr val="002060"/>
                </a:solidFill>
                <a:latin typeface="Cambria" panose="02040503050406030204" pitchFamily="18" charset="0"/>
              </a:rPr>
              <a:t> </a:t>
            </a:r>
            <a:r>
              <a:rPr lang="en-US" sz="2200" b="1" err="1" smtClean="0">
                <a:solidFill>
                  <a:srgbClr val="002060"/>
                </a:solidFill>
                <a:latin typeface="Cambria" panose="02040503050406030204" pitchFamily="18" charset="0"/>
              </a:rPr>
              <a:t>đó</a:t>
            </a:r>
            <a:r>
              <a:rPr lang="en-US" sz="2200" b="1" smtClean="0">
                <a:solidFill>
                  <a:srgbClr val="002060"/>
                </a:solidFill>
                <a:latin typeface="Cambria" panose="02040503050406030204" pitchFamily="18" charset="0"/>
              </a:rPr>
              <a:t>, m</a:t>
            </a:r>
            <a:r>
              <a:rPr lang="vi-VN" sz="2200" b="1" smtClean="0">
                <a:solidFill>
                  <a:srgbClr val="002060"/>
                </a:solidFill>
                <a:latin typeface="Cambria" panose="02040503050406030204" pitchFamily="18" charset="0"/>
              </a:rPr>
              <a:t>ột </a:t>
            </a:r>
            <a:r>
              <a:rPr lang="vi-VN" sz="2200" b="1">
                <a:solidFill>
                  <a:srgbClr val="002060"/>
                </a:solidFill>
                <a:latin typeface="Cambria" panose="02040503050406030204" pitchFamily="18" charset="0"/>
              </a:rPr>
              <a:t>loạt các công ty, các hãng lớn đã cho ra đời các phòng thì nghiệm </a:t>
            </a:r>
            <a:r>
              <a:rPr lang="vi-VN" sz="2200" b="1" smtClean="0">
                <a:solidFill>
                  <a:srgbClr val="002060"/>
                </a:solidFill>
                <a:latin typeface="Cambria" panose="02040503050406030204" pitchFamily="18" charset="0"/>
              </a:rPr>
              <a:t>về</a:t>
            </a:r>
            <a:r>
              <a:rPr lang="en-US" sz="2200" b="1">
                <a:solidFill>
                  <a:srgbClr val="002060"/>
                </a:solidFill>
                <a:latin typeface="Cambria" panose="02040503050406030204" pitchFamily="18" charset="0"/>
              </a:rPr>
              <a:t> Multimedia </a:t>
            </a:r>
            <a:r>
              <a:rPr lang="en-US" sz="2200" b="1" err="1">
                <a:solidFill>
                  <a:srgbClr val="002060"/>
                </a:solidFill>
                <a:latin typeface="Cambria" panose="02040503050406030204" pitchFamily="18" charset="0"/>
              </a:rPr>
              <a:t>như</a:t>
            </a:r>
            <a:r>
              <a:rPr lang="en-US" sz="2200" b="1">
                <a:solidFill>
                  <a:srgbClr val="002060"/>
                </a:solidFill>
                <a:latin typeface="Cambria" panose="02040503050406030204" pitchFamily="18" charset="0"/>
              </a:rPr>
              <a:t> AT &amp; T, BELL, </a:t>
            </a:r>
            <a:r>
              <a:rPr lang="en-US" sz="2200" b="1" err="1">
                <a:solidFill>
                  <a:srgbClr val="002060"/>
                </a:solidFill>
                <a:latin typeface="Cambria" panose="02040503050406030204" pitchFamily="18" charset="0"/>
              </a:rPr>
              <a:t>Olivity</a:t>
            </a:r>
            <a:r>
              <a:rPr lang="en-US" sz="2200" b="1">
                <a:solidFill>
                  <a:srgbClr val="002060"/>
                </a:solidFill>
                <a:latin typeface="Cambria" panose="02040503050406030204" pitchFamily="18" charset="0"/>
              </a:rPr>
              <a:t>...</a:t>
            </a:r>
            <a:endParaRPr lang="vi-VN" sz="2200" b="1">
              <a:solidFill>
                <a:srgbClr val="002060"/>
              </a:solidFill>
              <a:latin typeface="Cambria" panose="02040503050406030204" pitchFamily="18" charset="0"/>
            </a:endParaRPr>
          </a:p>
          <a:p>
            <a:pPr indent="341313" algn="just">
              <a:lnSpc>
                <a:spcPct val="150000"/>
              </a:lnSpc>
            </a:pPr>
            <a:r>
              <a:rPr lang="en-US" sz="2200" b="1" err="1" smtClean="0">
                <a:solidFill>
                  <a:schemeClr val="bg1"/>
                </a:solidFill>
                <a:latin typeface="Cambria" panose="02040503050406030204" pitchFamily="18" charset="0"/>
              </a:rPr>
              <a:t>Chương</a:t>
            </a:r>
            <a:r>
              <a:rPr lang="en-US" sz="2200" b="1" smtClean="0">
                <a:solidFill>
                  <a:schemeClr val="bg1"/>
                </a:solidFill>
                <a:latin typeface="Cambria" panose="02040503050406030204" pitchFamily="18" charset="0"/>
              </a:rPr>
              <a:t> 5:  </a:t>
            </a:r>
            <a:r>
              <a:rPr lang="en-US" altLang="en-US" sz="2200" b="1" err="1" smtClean="0">
                <a:solidFill>
                  <a:schemeClr val="bg1"/>
                </a:solidFill>
                <a:latin typeface="Cambria" panose="02040503050406030204" pitchFamily="18" charset="0"/>
              </a:rPr>
              <a:t>Tập</a:t>
            </a:r>
            <a:r>
              <a:rPr lang="en-US" altLang="en-US" sz="2200" b="1" smtClean="0">
                <a:solidFill>
                  <a:schemeClr val="bg1"/>
                </a:solidFill>
                <a:latin typeface="Cambria" panose="02040503050406030204" pitchFamily="18" charset="0"/>
              </a:rPr>
              <a:t> </a:t>
            </a:r>
            <a:r>
              <a:rPr lang="en-US" altLang="en-US" sz="2200" b="1" err="1" smtClean="0">
                <a:solidFill>
                  <a:schemeClr val="bg1"/>
                </a:solidFill>
                <a:latin typeface="Cambria" panose="02040503050406030204" pitchFamily="18" charset="0"/>
              </a:rPr>
              <a:t>lệnh</a:t>
            </a:r>
            <a:r>
              <a:rPr lang="en-US" altLang="en-US" sz="2200" b="1" smtClean="0">
                <a:solidFill>
                  <a:schemeClr val="bg1"/>
                </a:solidFill>
                <a:latin typeface="Cambria" panose="02040503050406030204" pitchFamily="18" charset="0"/>
              </a:rPr>
              <a:t> (Assembly programming language)</a:t>
            </a:r>
            <a:endParaRPr lang="en-US" sz="2200" b="1">
              <a:solidFill>
                <a:schemeClr val="bg1"/>
              </a:solidFill>
              <a:latin typeface="Cambria" panose="02040503050406030204" pitchFamily="18" charset="0"/>
            </a:endParaRPr>
          </a:p>
        </p:txBody>
      </p:sp>
      <p:sp>
        <p:nvSpPr>
          <p:cNvPr id="5" name="Rectangle 4"/>
          <p:cNvSpPr/>
          <p:nvPr/>
        </p:nvSpPr>
        <p:spPr>
          <a:xfrm>
            <a:off x="119858" y="67477"/>
            <a:ext cx="8603228" cy="658706"/>
          </a:xfrm>
          <a:prstGeom prst="rect">
            <a:avLst/>
          </a:prstGeom>
          <a:noFill/>
        </p:spPr>
        <p:txBody>
          <a:bodyPr wrap="square" lIns="91440" tIns="45720" rIns="91440" bIns="45720">
            <a:spAutoFit/>
          </a:bodyPr>
          <a:lstStyle/>
          <a:p>
            <a:pPr indent="231775">
              <a:lnSpc>
                <a:spcPct val="150000"/>
              </a:lnSpc>
            </a:pPr>
            <a:r>
              <a:rPr lang="vi-VN" sz="2800" b="1" smtClean="0">
                <a:solidFill>
                  <a:srgbClr val="002060"/>
                </a:solidFill>
                <a:latin typeface="Cambria" panose="02040503050406030204" pitchFamily="18" charset="0"/>
              </a:rPr>
              <a:t>1.1</a:t>
            </a:r>
            <a:r>
              <a:rPr lang="vi-VN" sz="2800" b="1">
                <a:solidFill>
                  <a:srgbClr val="002060"/>
                </a:solidFill>
                <a:latin typeface="Cambria" panose="02040503050406030204" pitchFamily="18" charset="0"/>
              </a:rPr>
              <a:t>. Giới thiệu chung</a:t>
            </a:r>
          </a:p>
        </p:txBody>
      </p:sp>
      <p:sp>
        <p:nvSpPr>
          <p:cNvPr id="6" name="Line 16"/>
          <p:cNvSpPr>
            <a:spLocks noChangeShapeType="1"/>
          </p:cNvSpPr>
          <p:nvPr/>
        </p:nvSpPr>
        <p:spPr bwMode="auto">
          <a:xfrm>
            <a:off x="119858" y="755901"/>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6076110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Box 11"/>
          <p:cNvSpPr txBox="1">
            <a:spLocks noChangeArrowheads="1"/>
          </p:cNvSpPr>
          <p:nvPr/>
        </p:nvSpPr>
        <p:spPr bwMode="auto">
          <a:xfrm>
            <a:off x="0" y="276565"/>
            <a:ext cx="489428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eaLnBrk="1" hangingPunct="1"/>
            <a:r>
              <a:rPr lang="en-US" sz="4400" err="1" smtClean="0">
                <a:solidFill>
                  <a:srgbClr val="FFFFFF"/>
                </a:solidFill>
                <a:latin typeface="ITCErasVO Demi" pitchFamily="123" charset="0"/>
              </a:rPr>
              <a:t>Nội</a:t>
            </a:r>
            <a:r>
              <a:rPr lang="en-US" sz="4400" smtClean="0">
                <a:solidFill>
                  <a:srgbClr val="FFFFFF"/>
                </a:solidFill>
                <a:latin typeface="ITCErasVO Demi" pitchFamily="123" charset="0"/>
              </a:rPr>
              <a:t> dung </a:t>
            </a:r>
            <a:r>
              <a:rPr lang="en-US" sz="4400" err="1" smtClean="0">
                <a:solidFill>
                  <a:srgbClr val="FFFFFF"/>
                </a:solidFill>
                <a:latin typeface="ITCErasVO Demi" pitchFamily="123" charset="0"/>
              </a:rPr>
              <a:t>khóa</a:t>
            </a:r>
            <a:r>
              <a:rPr lang="en-US" sz="4400" smtClean="0">
                <a:solidFill>
                  <a:srgbClr val="FFFFFF"/>
                </a:solidFill>
                <a:latin typeface="ITCErasVO Demi" pitchFamily="123" charset="0"/>
              </a:rPr>
              <a:t> </a:t>
            </a:r>
            <a:r>
              <a:rPr lang="en-US" sz="4400" err="1" smtClean="0">
                <a:solidFill>
                  <a:srgbClr val="FFFFFF"/>
                </a:solidFill>
                <a:latin typeface="ITCErasVO Demi" pitchFamily="123" charset="0"/>
              </a:rPr>
              <a:t>học</a:t>
            </a:r>
            <a:endParaRPr lang="en-US" sz="4400">
              <a:solidFill>
                <a:srgbClr val="FFFFFF"/>
              </a:solidFill>
              <a:latin typeface="ITCErasVO Demi" pitchFamily="123" charset="0"/>
            </a:endParaRPr>
          </a:p>
        </p:txBody>
      </p:sp>
      <p:sp>
        <p:nvSpPr>
          <p:cNvPr id="6150" name="TextBox 16"/>
          <p:cNvSpPr txBox="1">
            <a:spLocks noChangeArrowheads="1"/>
          </p:cNvSpPr>
          <p:nvPr/>
        </p:nvSpPr>
        <p:spPr bwMode="auto">
          <a:xfrm>
            <a:off x="180978" y="757422"/>
            <a:ext cx="8570976" cy="5678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en-US" sz="2200" b="1" smtClean="0">
                <a:solidFill>
                  <a:srgbClr val="002060"/>
                </a:solidFill>
                <a:latin typeface="Cambria" panose="02040503050406030204" pitchFamily="18" charset="0"/>
              </a:rPr>
              <a:t>T</a:t>
            </a:r>
            <a:r>
              <a:rPr lang="vi-VN" sz="2200" b="1" smtClean="0">
                <a:solidFill>
                  <a:srgbClr val="002060"/>
                </a:solidFill>
                <a:latin typeface="Cambria" panose="02040503050406030204" pitchFamily="18" charset="0"/>
              </a:rPr>
              <a:t>rong </a:t>
            </a:r>
            <a:r>
              <a:rPr lang="vi-VN" sz="2200" b="1">
                <a:solidFill>
                  <a:srgbClr val="002060"/>
                </a:solidFill>
                <a:latin typeface="Cambria" panose="02040503050406030204" pitchFamily="18" charset="0"/>
              </a:rPr>
              <a:t>lĩnh vực công nghệ Multimedia người ta chia dữ liệu </a:t>
            </a:r>
            <a:r>
              <a:rPr lang="en-US" sz="2200" b="1" smtClean="0">
                <a:solidFill>
                  <a:srgbClr val="002060"/>
                </a:solidFill>
                <a:latin typeface="Cambria" panose="02040503050406030204" pitchFamily="18" charset="0"/>
              </a:rPr>
              <a:t>M</a:t>
            </a:r>
            <a:r>
              <a:rPr lang="vi-VN" sz="2200" b="1" smtClean="0">
                <a:solidFill>
                  <a:srgbClr val="002060"/>
                </a:solidFill>
                <a:latin typeface="Cambria" panose="02040503050406030204" pitchFamily="18" charset="0"/>
              </a:rPr>
              <a:t>ultimedia </a:t>
            </a:r>
            <a:r>
              <a:rPr lang="vi-VN" sz="2200" b="1">
                <a:solidFill>
                  <a:srgbClr val="002060"/>
                </a:solidFill>
                <a:latin typeface="Cambria" panose="02040503050406030204" pitchFamily="18" charset="0"/>
              </a:rPr>
              <a:t>ở các dạng</a:t>
            </a:r>
            <a:r>
              <a:rPr lang="vi-VN" sz="2200" b="1" smtClean="0">
                <a:solidFill>
                  <a:srgbClr val="002060"/>
                </a:solidFill>
                <a:latin typeface="Cambria" panose="02040503050406030204" pitchFamily="18" charset="0"/>
              </a:rPr>
              <a:t>:</a:t>
            </a:r>
            <a:r>
              <a:rPr lang="en-US" sz="2200" b="1" smtClean="0">
                <a:solidFill>
                  <a:srgbClr val="002060"/>
                </a:solidFill>
                <a:latin typeface="Cambria" panose="02040503050406030204" pitchFamily="18" charset="0"/>
              </a:rPr>
              <a:t> </a:t>
            </a:r>
          </a:p>
          <a:p>
            <a:pPr marL="742950" indent="-461963" algn="just">
              <a:lnSpc>
                <a:spcPct val="150000"/>
              </a:lnSpc>
            </a:pPr>
            <a:r>
              <a:rPr lang="en-US" sz="2200" b="1">
                <a:solidFill>
                  <a:srgbClr val="002060"/>
                </a:solidFill>
                <a:latin typeface="Cambria" panose="02040503050406030204" pitchFamily="18" charset="0"/>
              </a:rPr>
              <a:t>1.	</a:t>
            </a:r>
            <a:r>
              <a:rPr lang="en-US" sz="2200" b="1" err="1">
                <a:solidFill>
                  <a:srgbClr val="002060"/>
                </a:solidFill>
                <a:latin typeface="Cambria" panose="02040503050406030204" pitchFamily="18" charset="0"/>
              </a:rPr>
              <a:t>Văn</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bản</a:t>
            </a:r>
            <a:r>
              <a:rPr lang="en-US" sz="2200" b="1">
                <a:solidFill>
                  <a:srgbClr val="002060"/>
                </a:solidFill>
                <a:latin typeface="Cambria" panose="02040503050406030204" pitchFamily="18" charset="0"/>
              </a:rPr>
              <a:t> (Text)</a:t>
            </a:r>
          </a:p>
          <a:p>
            <a:pPr marL="742950" indent="-461963" algn="just">
              <a:lnSpc>
                <a:spcPct val="150000"/>
              </a:lnSpc>
            </a:pPr>
            <a:r>
              <a:rPr lang="en-US" sz="2200" b="1">
                <a:solidFill>
                  <a:srgbClr val="002060"/>
                </a:solidFill>
                <a:latin typeface="Cambria" panose="02040503050406030204" pitchFamily="18" charset="0"/>
              </a:rPr>
              <a:t>2.	</a:t>
            </a:r>
            <a:r>
              <a:rPr lang="en-US" sz="2200" b="1" err="1">
                <a:solidFill>
                  <a:srgbClr val="002060"/>
                </a:solidFill>
                <a:latin typeface="Cambria" panose="02040503050406030204" pitchFamily="18" charset="0"/>
              </a:rPr>
              <a:t>Âm</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thanh</a:t>
            </a:r>
            <a:r>
              <a:rPr lang="en-US" sz="2200" b="1">
                <a:solidFill>
                  <a:srgbClr val="002060"/>
                </a:solidFill>
                <a:latin typeface="Cambria" panose="02040503050406030204" pitchFamily="18" charset="0"/>
              </a:rPr>
              <a:t> </a:t>
            </a:r>
            <a:r>
              <a:rPr lang="en-US" sz="2200" b="1" smtClean="0">
                <a:solidFill>
                  <a:srgbClr val="002060"/>
                </a:solidFill>
                <a:latin typeface="Cambria" panose="02040503050406030204" pitchFamily="18" charset="0"/>
              </a:rPr>
              <a:t>(Sound</a:t>
            </a:r>
            <a:r>
              <a:rPr lang="en-US" sz="2200" b="1">
                <a:solidFill>
                  <a:srgbClr val="002060"/>
                </a:solidFill>
                <a:latin typeface="Cambria" panose="02040503050406030204" pitchFamily="18" charset="0"/>
              </a:rPr>
              <a:t>)</a:t>
            </a:r>
          </a:p>
          <a:p>
            <a:pPr marL="742950" indent="-461963" algn="just">
              <a:lnSpc>
                <a:spcPct val="150000"/>
              </a:lnSpc>
            </a:pPr>
            <a:r>
              <a:rPr lang="en-US" sz="2200" b="1">
                <a:solidFill>
                  <a:srgbClr val="002060"/>
                </a:solidFill>
                <a:latin typeface="Cambria" panose="02040503050406030204" pitchFamily="18" charset="0"/>
              </a:rPr>
              <a:t>3.	Audio </a:t>
            </a:r>
            <a:r>
              <a:rPr lang="en-US" sz="2200" b="1" smtClean="0">
                <a:solidFill>
                  <a:srgbClr val="002060"/>
                </a:solidFill>
                <a:latin typeface="Cambria" panose="02040503050406030204" pitchFamily="18" charset="0"/>
              </a:rPr>
              <a:t>(</a:t>
            </a:r>
            <a:r>
              <a:rPr lang="en-US" sz="2200" b="1" err="1">
                <a:solidFill>
                  <a:srgbClr val="002060"/>
                </a:solidFill>
                <a:latin typeface="Cambria" panose="02040503050406030204" pitchFamily="18" charset="0"/>
              </a:rPr>
              <a:t>Â</a:t>
            </a:r>
            <a:r>
              <a:rPr lang="en-US" sz="2200" b="1" err="1" smtClean="0">
                <a:solidFill>
                  <a:srgbClr val="002060"/>
                </a:solidFill>
                <a:latin typeface="Cambria" panose="02040503050406030204" pitchFamily="18" charset="0"/>
              </a:rPr>
              <a:t>m</a:t>
            </a:r>
            <a:r>
              <a:rPr lang="en-US" sz="2200" b="1" smtClean="0">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thanh</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động</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có</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làn</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điệu</a:t>
            </a:r>
            <a:r>
              <a:rPr lang="en-US" sz="2200" b="1">
                <a:solidFill>
                  <a:srgbClr val="002060"/>
                </a:solidFill>
                <a:latin typeface="Cambria" panose="02040503050406030204" pitchFamily="18" charset="0"/>
              </a:rPr>
              <a:t>)</a:t>
            </a:r>
          </a:p>
          <a:p>
            <a:pPr marL="742950" indent="-461963" algn="just">
              <a:lnSpc>
                <a:spcPct val="150000"/>
              </a:lnSpc>
            </a:pPr>
            <a:r>
              <a:rPr lang="en-US" sz="2200" b="1">
                <a:solidFill>
                  <a:srgbClr val="002060"/>
                </a:solidFill>
                <a:latin typeface="Cambria" panose="02040503050406030204" pitchFamily="18" charset="0"/>
              </a:rPr>
              <a:t>4.	Image/ Picture (</a:t>
            </a:r>
            <a:r>
              <a:rPr lang="en-US" sz="2200" b="1" err="1" smtClean="0">
                <a:solidFill>
                  <a:srgbClr val="002060"/>
                </a:solidFill>
                <a:latin typeface="Cambria" panose="02040503050406030204" pitchFamily="18" charset="0"/>
              </a:rPr>
              <a:t>Hình</a:t>
            </a:r>
            <a:r>
              <a:rPr lang="en-US" sz="2200" b="1" smtClean="0">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ảnh</a:t>
            </a:r>
            <a:r>
              <a:rPr lang="en-US" sz="2200" b="1">
                <a:solidFill>
                  <a:srgbClr val="002060"/>
                </a:solidFill>
                <a:latin typeface="Cambria" panose="02040503050406030204" pitchFamily="18" charset="0"/>
              </a:rPr>
              <a:t>)</a:t>
            </a:r>
          </a:p>
          <a:p>
            <a:pPr marL="742950" indent="-461963" algn="just">
              <a:lnSpc>
                <a:spcPct val="150000"/>
              </a:lnSpc>
            </a:pPr>
            <a:r>
              <a:rPr lang="en-US" sz="2200" b="1">
                <a:solidFill>
                  <a:srgbClr val="002060"/>
                </a:solidFill>
                <a:latin typeface="Cambria" panose="02040503050406030204" pitchFamily="18" charset="0"/>
              </a:rPr>
              <a:t>5.	Motion picture </a:t>
            </a:r>
            <a:r>
              <a:rPr lang="en-US" sz="2200" b="1" smtClean="0">
                <a:solidFill>
                  <a:srgbClr val="002060"/>
                </a:solidFill>
                <a:latin typeface="Cambria" panose="02040503050406030204" pitchFamily="18" charset="0"/>
              </a:rPr>
              <a:t>(</a:t>
            </a:r>
            <a:r>
              <a:rPr lang="en-US" sz="2200" b="1" err="1">
                <a:solidFill>
                  <a:srgbClr val="002060"/>
                </a:solidFill>
                <a:latin typeface="Cambria" panose="02040503050406030204" pitchFamily="18" charset="0"/>
              </a:rPr>
              <a:t>Ả</a:t>
            </a:r>
            <a:r>
              <a:rPr lang="en-US" sz="2200" b="1" err="1" smtClean="0">
                <a:solidFill>
                  <a:srgbClr val="002060"/>
                </a:solidFill>
                <a:latin typeface="Cambria" panose="02040503050406030204" pitchFamily="18" charset="0"/>
              </a:rPr>
              <a:t>nh</a:t>
            </a:r>
            <a:r>
              <a:rPr lang="en-US" sz="2200" b="1" smtClean="0">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động</a:t>
            </a:r>
            <a:r>
              <a:rPr lang="en-US" sz="2200" b="1">
                <a:solidFill>
                  <a:srgbClr val="002060"/>
                </a:solidFill>
                <a:latin typeface="Cambria" panose="02040503050406030204" pitchFamily="18" charset="0"/>
              </a:rPr>
              <a:t>)</a:t>
            </a:r>
          </a:p>
          <a:p>
            <a:pPr marL="742950" indent="-461963" algn="just">
              <a:lnSpc>
                <a:spcPct val="150000"/>
              </a:lnSpc>
            </a:pPr>
            <a:r>
              <a:rPr lang="en-US" sz="2200" b="1">
                <a:solidFill>
                  <a:srgbClr val="002060"/>
                </a:solidFill>
                <a:latin typeface="Cambria" panose="02040503050406030204" pitchFamily="18" charset="0"/>
              </a:rPr>
              <a:t>6.	Video </a:t>
            </a:r>
            <a:r>
              <a:rPr lang="en-US" sz="2200" b="1" smtClean="0">
                <a:solidFill>
                  <a:srgbClr val="002060"/>
                </a:solidFill>
                <a:latin typeface="Cambria" panose="02040503050406030204" pitchFamily="18" charset="0"/>
              </a:rPr>
              <a:t>(</a:t>
            </a:r>
            <a:r>
              <a:rPr lang="en-US" sz="2200" b="1" err="1">
                <a:solidFill>
                  <a:srgbClr val="002060"/>
                </a:solidFill>
                <a:latin typeface="Cambria" panose="02040503050406030204" pitchFamily="18" charset="0"/>
              </a:rPr>
              <a:t>Ả</a:t>
            </a:r>
            <a:r>
              <a:rPr lang="en-US" sz="2200" b="1" err="1" smtClean="0">
                <a:solidFill>
                  <a:srgbClr val="002060"/>
                </a:solidFill>
                <a:latin typeface="Cambria" panose="02040503050406030204" pitchFamily="18" charset="0"/>
              </a:rPr>
              <a:t>nh</a:t>
            </a:r>
            <a:r>
              <a:rPr lang="en-US" sz="2200" b="1" smtClean="0">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động</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kết</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hợp</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âm</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thanh</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động</a:t>
            </a:r>
            <a:r>
              <a:rPr lang="en-US" sz="2200" b="1">
                <a:solidFill>
                  <a:srgbClr val="002060"/>
                </a:solidFill>
                <a:latin typeface="Cambria" panose="02040503050406030204" pitchFamily="18" charset="0"/>
              </a:rPr>
              <a:t>)</a:t>
            </a:r>
          </a:p>
          <a:p>
            <a:pPr marL="742950" indent="-461963" algn="just">
              <a:lnSpc>
                <a:spcPct val="150000"/>
              </a:lnSpc>
            </a:pPr>
            <a:r>
              <a:rPr lang="en-US" sz="2200" b="1">
                <a:solidFill>
                  <a:srgbClr val="002060"/>
                </a:solidFill>
                <a:latin typeface="Cambria" panose="02040503050406030204" pitchFamily="18" charset="0"/>
              </a:rPr>
              <a:t>7.	Animation </a:t>
            </a:r>
            <a:r>
              <a:rPr lang="en-US" sz="2200" b="1" smtClean="0">
                <a:solidFill>
                  <a:srgbClr val="002060"/>
                </a:solidFill>
                <a:latin typeface="Cambria" panose="02040503050406030204" pitchFamily="18" charset="0"/>
              </a:rPr>
              <a:t>(</a:t>
            </a:r>
            <a:r>
              <a:rPr lang="en-US" sz="2200" b="1" err="1" smtClean="0">
                <a:solidFill>
                  <a:srgbClr val="002060"/>
                </a:solidFill>
                <a:latin typeface="Cambria" panose="02040503050406030204" pitchFamily="18" charset="0"/>
              </a:rPr>
              <a:t>Hình</a:t>
            </a:r>
            <a:r>
              <a:rPr lang="en-US" sz="2200" b="1" smtClean="0">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ảnh</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sử</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dụng</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theo</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nguyên</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tắc</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chiếu</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phim</a:t>
            </a:r>
            <a:r>
              <a:rPr lang="en-US" sz="2200" b="1">
                <a:solidFill>
                  <a:srgbClr val="002060"/>
                </a:solidFill>
                <a:latin typeface="Cambria" panose="02040503050406030204" pitchFamily="18" charset="0"/>
              </a:rPr>
              <a:t>)</a:t>
            </a:r>
          </a:p>
          <a:p>
            <a:pPr marL="742950" indent="-461963" algn="just">
              <a:lnSpc>
                <a:spcPct val="150000"/>
              </a:lnSpc>
            </a:pPr>
            <a:r>
              <a:rPr lang="en-US" sz="2200" b="1" smtClean="0">
                <a:solidFill>
                  <a:srgbClr val="002060"/>
                </a:solidFill>
                <a:latin typeface="Cambria" panose="02040503050406030204" pitchFamily="18" charset="0"/>
              </a:rPr>
              <a:t>8</a:t>
            </a:r>
            <a:r>
              <a:rPr lang="en-US" sz="2200" b="1">
                <a:solidFill>
                  <a:srgbClr val="002060"/>
                </a:solidFill>
                <a:latin typeface="Cambria" panose="02040503050406030204" pitchFamily="18" charset="0"/>
              </a:rPr>
              <a:t>.	AVI (Audio-Video Interleaved AVI)</a:t>
            </a:r>
          </a:p>
          <a:p>
            <a:pPr marL="742950" indent="-461963" algn="just">
              <a:lnSpc>
                <a:spcPct val="150000"/>
              </a:lnSpc>
            </a:pPr>
            <a:r>
              <a:rPr lang="en-US" sz="2200" b="1">
                <a:solidFill>
                  <a:srgbClr val="002060"/>
                </a:solidFill>
                <a:latin typeface="Cambria" panose="02040503050406030204" pitchFamily="18" charset="0"/>
              </a:rPr>
              <a:t>9.	</a:t>
            </a:r>
            <a:r>
              <a:rPr lang="en-US" sz="2200" b="1" err="1">
                <a:solidFill>
                  <a:srgbClr val="002060"/>
                </a:solidFill>
                <a:latin typeface="Cambria" panose="02040503050406030204" pitchFamily="18" charset="0"/>
              </a:rPr>
              <a:t>Kết</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hợp</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giữa</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các</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dạng</a:t>
            </a:r>
            <a:r>
              <a:rPr lang="en-US" sz="2200" b="1">
                <a:solidFill>
                  <a:srgbClr val="002060"/>
                </a:solidFill>
                <a:latin typeface="Cambria" panose="02040503050406030204" pitchFamily="18" charset="0"/>
              </a:rPr>
              <a:t> </a:t>
            </a:r>
            <a:r>
              <a:rPr lang="en-US" sz="2200" b="1" err="1">
                <a:solidFill>
                  <a:srgbClr val="002060"/>
                </a:solidFill>
                <a:latin typeface="Cambria" panose="02040503050406030204" pitchFamily="18" charset="0"/>
              </a:rPr>
              <a:t>trên</a:t>
            </a:r>
            <a:r>
              <a:rPr lang="en-US" sz="2200" b="1" smtClean="0">
                <a:solidFill>
                  <a:srgbClr val="002060"/>
                </a:solidFill>
                <a:latin typeface="Cambria" panose="02040503050406030204" pitchFamily="18" charset="0"/>
              </a:rPr>
              <a:t>.</a:t>
            </a:r>
            <a:endParaRPr lang="en-US" sz="2200" b="1">
              <a:solidFill>
                <a:srgbClr val="002060"/>
              </a:solidFill>
              <a:latin typeface="Cambria" panose="02040503050406030204" pitchFamily="18" charset="0"/>
            </a:endParaRPr>
          </a:p>
        </p:txBody>
      </p:sp>
      <p:sp>
        <p:nvSpPr>
          <p:cNvPr id="5" name="Rectangle 4"/>
          <p:cNvSpPr/>
          <p:nvPr/>
        </p:nvSpPr>
        <p:spPr>
          <a:xfrm>
            <a:off x="119858" y="67477"/>
            <a:ext cx="8603228" cy="658706"/>
          </a:xfrm>
          <a:prstGeom prst="rect">
            <a:avLst/>
          </a:prstGeom>
          <a:noFill/>
        </p:spPr>
        <p:txBody>
          <a:bodyPr wrap="square" lIns="91440" tIns="45720" rIns="91440" bIns="45720">
            <a:spAutoFit/>
          </a:bodyPr>
          <a:lstStyle/>
          <a:p>
            <a:pPr indent="231775">
              <a:lnSpc>
                <a:spcPct val="150000"/>
              </a:lnSpc>
            </a:pPr>
            <a:r>
              <a:rPr lang="vi-VN" sz="2800" b="1" smtClean="0">
                <a:solidFill>
                  <a:srgbClr val="002060"/>
                </a:solidFill>
                <a:latin typeface="Cambria" panose="02040503050406030204" pitchFamily="18" charset="0"/>
              </a:rPr>
              <a:t>1.1</a:t>
            </a:r>
            <a:r>
              <a:rPr lang="vi-VN" sz="2800" b="1">
                <a:solidFill>
                  <a:srgbClr val="002060"/>
                </a:solidFill>
                <a:latin typeface="Cambria" panose="02040503050406030204" pitchFamily="18" charset="0"/>
              </a:rPr>
              <a:t>. Giới thiệu chung</a:t>
            </a:r>
          </a:p>
        </p:txBody>
      </p:sp>
      <p:sp>
        <p:nvSpPr>
          <p:cNvPr id="6" name="Line 16"/>
          <p:cNvSpPr>
            <a:spLocks noChangeShapeType="1"/>
          </p:cNvSpPr>
          <p:nvPr/>
        </p:nvSpPr>
        <p:spPr bwMode="auto">
          <a:xfrm>
            <a:off x="105604" y="726183"/>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42341636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Box 11"/>
          <p:cNvSpPr txBox="1">
            <a:spLocks noChangeArrowheads="1"/>
          </p:cNvSpPr>
          <p:nvPr/>
        </p:nvSpPr>
        <p:spPr bwMode="auto">
          <a:xfrm>
            <a:off x="0" y="276565"/>
            <a:ext cx="489428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eaLnBrk="1" hangingPunct="1"/>
            <a:r>
              <a:rPr lang="en-US" sz="4400" err="1" smtClean="0">
                <a:solidFill>
                  <a:srgbClr val="FFFFFF"/>
                </a:solidFill>
                <a:latin typeface="ITCErasVO Demi" pitchFamily="123" charset="0"/>
              </a:rPr>
              <a:t>Nội</a:t>
            </a:r>
            <a:r>
              <a:rPr lang="en-US" sz="4400" smtClean="0">
                <a:solidFill>
                  <a:srgbClr val="FFFFFF"/>
                </a:solidFill>
                <a:latin typeface="ITCErasVO Demi" pitchFamily="123" charset="0"/>
              </a:rPr>
              <a:t> dung </a:t>
            </a:r>
            <a:r>
              <a:rPr lang="en-US" sz="4400" err="1" smtClean="0">
                <a:solidFill>
                  <a:srgbClr val="FFFFFF"/>
                </a:solidFill>
                <a:latin typeface="ITCErasVO Demi" pitchFamily="123" charset="0"/>
              </a:rPr>
              <a:t>khóa</a:t>
            </a:r>
            <a:r>
              <a:rPr lang="en-US" sz="4400" smtClean="0">
                <a:solidFill>
                  <a:srgbClr val="FFFFFF"/>
                </a:solidFill>
                <a:latin typeface="ITCErasVO Demi" pitchFamily="123" charset="0"/>
              </a:rPr>
              <a:t> </a:t>
            </a:r>
            <a:r>
              <a:rPr lang="en-US" sz="4400" err="1" smtClean="0">
                <a:solidFill>
                  <a:srgbClr val="FFFFFF"/>
                </a:solidFill>
                <a:latin typeface="ITCErasVO Demi" pitchFamily="123" charset="0"/>
              </a:rPr>
              <a:t>học</a:t>
            </a:r>
            <a:endParaRPr lang="en-US" sz="4400">
              <a:solidFill>
                <a:srgbClr val="FFFFFF"/>
              </a:solidFill>
              <a:latin typeface="ITCErasVO Demi" pitchFamily="123" charset="0"/>
            </a:endParaRPr>
          </a:p>
        </p:txBody>
      </p:sp>
      <p:sp>
        <p:nvSpPr>
          <p:cNvPr id="6150" name="TextBox 16"/>
          <p:cNvSpPr txBox="1">
            <a:spLocks noChangeArrowheads="1"/>
          </p:cNvSpPr>
          <p:nvPr/>
        </p:nvSpPr>
        <p:spPr bwMode="auto">
          <a:xfrm>
            <a:off x="256353" y="757422"/>
            <a:ext cx="8570976" cy="161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r>
              <a:rPr lang="en-US" sz="2200" b="1">
                <a:solidFill>
                  <a:srgbClr val="002060"/>
                </a:solidFill>
                <a:latin typeface="Cambria" panose="02040503050406030204" pitchFamily="18" charset="0"/>
              </a:rPr>
              <a:t>•	</a:t>
            </a:r>
            <a:r>
              <a:rPr lang="en-US" sz="2200" b="1" smtClean="0">
                <a:solidFill>
                  <a:srgbClr val="002060"/>
                </a:solidFill>
                <a:latin typeface="Cambria" panose="02040503050406030204" pitchFamily="18" charset="0"/>
              </a:rPr>
              <a:t>Công </a:t>
            </a:r>
            <a:r>
              <a:rPr lang="en-US" sz="2200" b="1" err="1">
                <a:solidFill>
                  <a:srgbClr val="002060"/>
                </a:solidFill>
                <a:latin typeface="Cambria" panose="02040503050406030204" pitchFamily="18" charset="0"/>
              </a:rPr>
              <a:t>nghệ</a:t>
            </a:r>
            <a:r>
              <a:rPr lang="en-US" sz="2200" b="1">
                <a:solidFill>
                  <a:srgbClr val="002060"/>
                </a:solidFill>
                <a:latin typeface="Cambria" panose="02040503050406030204" pitchFamily="18" charset="0"/>
              </a:rPr>
              <a:t> Multimedia là công nghệ xử lý dữ liệu M</a:t>
            </a:r>
            <a:r>
              <a:rPr lang="en-US" sz="2200" b="1" smtClean="0">
                <a:solidFill>
                  <a:srgbClr val="002060"/>
                </a:solidFill>
                <a:latin typeface="Cambria" panose="02040503050406030204" pitchFamily="18" charset="0"/>
              </a:rPr>
              <a:t>ultimedia (</a:t>
            </a:r>
            <a:r>
              <a:rPr lang="vi-VN" sz="2200" b="1">
                <a:solidFill>
                  <a:srgbClr val="002060"/>
                </a:solidFill>
                <a:latin typeface="Cambria" panose="02040503050406030204" pitchFamily="18" charset="0"/>
              </a:rPr>
              <a:t>công nghệ Multimedia là công nghệ mã hóa, lưu trữ, vận chuyển, biến đổi, thể hiện dữ liệu </a:t>
            </a:r>
            <a:r>
              <a:rPr lang="vi-VN" sz="2200" b="1" smtClean="0">
                <a:solidFill>
                  <a:srgbClr val="002060"/>
                </a:solidFill>
                <a:latin typeface="Cambria" panose="02040503050406030204" pitchFamily="18" charset="0"/>
              </a:rPr>
              <a:t>multimedia</a:t>
            </a:r>
            <a:r>
              <a:rPr lang="en-US" sz="2200" b="1" smtClean="0">
                <a:solidFill>
                  <a:srgbClr val="002060"/>
                </a:solidFill>
                <a:latin typeface="Cambria" panose="02040503050406030204" pitchFamily="18" charset="0"/>
              </a:rPr>
              <a:t>) </a:t>
            </a:r>
            <a:endParaRPr lang="en-US" sz="2200" b="1">
              <a:solidFill>
                <a:srgbClr val="002060"/>
              </a:solidFill>
              <a:latin typeface="Cambria" panose="02040503050406030204" pitchFamily="18" charset="0"/>
            </a:endParaRPr>
          </a:p>
        </p:txBody>
      </p:sp>
      <p:sp>
        <p:nvSpPr>
          <p:cNvPr id="5" name="Rectangle 4"/>
          <p:cNvSpPr/>
          <p:nvPr/>
        </p:nvSpPr>
        <p:spPr>
          <a:xfrm>
            <a:off x="119858" y="67477"/>
            <a:ext cx="8603228" cy="658706"/>
          </a:xfrm>
          <a:prstGeom prst="rect">
            <a:avLst/>
          </a:prstGeom>
          <a:noFill/>
        </p:spPr>
        <p:txBody>
          <a:bodyPr wrap="square" lIns="91440" tIns="45720" rIns="91440" bIns="45720">
            <a:spAutoFit/>
          </a:bodyPr>
          <a:lstStyle/>
          <a:p>
            <a:pPr indent="231775">
              <a:lnSpc>
                <a:spcPct val="150000"/>
              </a:lnSpc>
            </a:pPr>
            <a:r>
              <a:rPr lang="vi-VN" sz="2800" b="1" smtClean="0">
                <a:solidFill>
                  <a:srgbClr val="002060"/>
                </a:solidFill>
                <a:latin typeface="Cambria" panose="02040503050406030204" pitchFamily="18" charset="0"/>
              </a:rPr>
              <a:t>1.1</a:t>
            </a:r>
            <a:r>
              <a:rPr lang="vi-VN" sz="2800" b="1">
                <a:solidFill>
                  <a:srgbClr val="002060"/>
                </a:solidFill>
                <a:latin typeface="Cambria" panose="02040503050406030204" pitchFamily="18" charset="0"/>
              </a:rPr>
              <a:t>. Giới thiệu chung</a:t>
            </a:r>
          </a:p>
        </p:txBody>
      </p:sp>
      <p:sp>
        <p:nvSpPr>
          <p:cNvPr id="6" name="Line 16"/>
          <p:cNvSpPr>
            <a:spLocks noChangeShapeType="1"/>
          </p:cNvSpPr>
          <p:nvPr/>
        </p:nvSpPr>
        <p:spPr bwMode="auto">
          <a:xfrm>
            <a:off x="105604" y="726183"/>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0961678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256353" y="862277"/>
            <a:ext cx="8570976" cy="6694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en-US" sz="2200" b="1" smtClean="0">
                <a:solidFill>
                  <a:srgbClr val="002060"/>
                </a:solidFill>
                <a:latin typeface="Cambria" panose="02040503050406030204" pitchFamily="18" charset="0"/>
              </a:rPr>
              <a:t>P</a:t>
            </a:r>
            <a:r>
              <a:rPr lang="vi-VN" sz="2200" b="1" smtClean="0">
                <a:solidFill>
                  <a:srgbClr val="002060"/>
                </a:solidFill>
                <a:latin typeface="Cambria" panose="02040503050406030204" pitchFamily="18" charset="0"/>
              </a:rPr>
              <a:t>hương tiện</a:t>
            </a:r>
            <a:r>
              <a:rPr lang="en-US"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chỉ đơn giản là một cách thức để truyền đạt thông tin.</a:t>
            </a:r>
            <a:r>
              <a:rPr lang="en-US" sz="2200" b="1" smtClean="0">
                <a:solidFill>
                  <a:srgbClr val="002060"/>
                </a:solidFill>
                <a:latin typeface="Cambria" panose="02040503050406030204" pitchFamily="18" charset="0"/>
              </a:rPr>
              <a:t> </a:t>
            </a:r>
          </a:p>
          <a:p>
            <a:pPr algn="just">
              <a:lnSpc>
                <a:spcPct val="150000"/>
              </a:lnSpc>
            </a:pPr>
            <a:r>
              <a:rPr lang="en-US" sz="2200" b="1" smtClean="0">
                <a:solidFill>
                  <a:srgbClr val="002060"/>
                </a:solidFill>
                <a:latin typeface="Cambria" panose="02040503050406030204" pitchFamily="18" charset="0"/>
              </a:rPr>
              <a:t>VD:  C</a:t>
            </a:r>
            <a:r>
              <a:rPr lang="vi-VN" sz="2200" b="1" smtClean="0">
                <a:solidFill>
                  <a:srgbClr val="002060"/>
                </a:solidFill>
                <a:latin typeface="Cambria" panose="02040503050406030204" pitchFamily="18" charset="0"/>
              </a:rPr>
              <a:t>on </a:t>
            </a:r>
            <a:r>
              <a:rPr lang="vi-VN" sz="2200" b="1">
                <a:solidFill>
                  <a:srgbClr val="002060"/>
                </a:solidFill>
                <a:latin typeface="Cambria" panose="02040503050406030204" pitchFamily="18" charset="0"/>
              </a:rPr>
              <a:t>người thường sử dụng lời nói, âm thanh, âm nhạc, văn bản, </a:t>
            </a:r>
            <a:r>
              <a:rPr lang="vi-VN" sz="2200" b="1" smtClean="0">
                <a:solidFill>
                  <a:srgbClr val="002060"/>
                </a:solidFill>
                <a:latin typeface="Cambria" panose="02040503050406030204" pitchFamily="18" charset="0"/>
              </a:rPr>
              <a:t>h</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ảnh, đồ hoạ, hoạt ảnh và video để truyền tải thông </a:t>
            </a:r>
            <a:r>
              <a:rPr lang="vi-VN" sz="2200" b="1" smtClean="0">
                <a:solidFill>
                  <a:srgbClr val="002060"/>
                </a:solidFill>
                <a:latin typeface="Cambria" panose="02040503050406030204" pitchFamily="18" charset="0"/>
              </a:rPr>
              <a:t>tin</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Đa phương tiện </a:t>
            </a:r>
            <a:r>
              <a:rPr lang="vi-VN" sz="2200" b="1" smtClean="0">
                <a:solidFill>
                  <a:srgbClr val="002060"/>
                </a:solidFill>
                <a:latin typeface="Cambria" panose="02040503050406030204" pitchFamily="18" charset="0"/>
              </a:rPr>
              <a:t>là </a:t>
            </a:r>
            <a:r>
              <a:rPr lang="vi-VN" sz="2200" b="1">
                <a:solidFill>
                  <a:srgbClr val="002060"/>
                </a:solidFill>
                <a:latin typeface="Cambria" panose="02040503050406030204" pitchFamily="18" charset="0"/>
              </a:rPr>
              <a:t>kỹ thuật mô phỏng và sử dụng đồng thời nhiều dạng  phương tiện chuyển hoá thông tin và các </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tác phẩm từ các kỹ thuật đó</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Dữ </a:t>
            </a:r>
            <a:r>
              <a:rPr lang="vi-VN" sz="2200" b="1">
                <a:solidFill>
                  <a:srgbClr val="002060"/>
                </a:solidFill>
                <a:latin typeface="Cambria" panose="02040503050406030204" pitchFamily="18" charset="0"/>
              </a:rPr>
              <a:t>liệu đa phương tiện:</a:t>
            </a:r>
            <a:r>
              <a:rPr lang="en-US" sz="2200" b="1">
                <a:solidFill>
                  <a:srgbClr val="002060"/>
                </a:solidFill>
                <a:latin typeface="Cambria" panose="02040503050406030204" pitchFamily="18" charset="0"/>
              </a:rPr>
              <a:t> Văn bản</a:t>
            </a:r>
            <a:r>
              <a:rPr lang="en-US" sz="2200" b="1" smtClean="0">
                <a:solidFill>
                  <a:srgbClr val="002060"/>
                </a:solidFill>
                <a:latin typeface="Cambria" panose="02040503050406030204" pitchFamily="18" charset="0"/>
              </a:rPr>
              <a:t>; Hình </a:t>
            </a:r>
            <a:r>
              <a:rPr lang="en-US" sz="2200" b="1">
                <a:solidFill>
                  <a:srgbClr val="002060"/>
                </a:solidFill>
                <a:latin typeface="Cambria" panose="02040503050406030204" pitchFamily="18" charset="0"/>
              </a:rPr>
              <a:t>ảnh</a:t>
            </a:r>
            <a:r>
              <a:rPr lang="en-US" sz="2200" b="1" smtClean="0">
                <a:solidFill>
                  <a:srgbClr val="002060"/>
                </a:solidFill>
                <a:latin typeface="Cambria" panose="02040503050406030204" pitchFamily="18" charset="0"/>
              </a:rPr>
              <a:t>; Âm </a:t>
            </a:r>
            <a:r>
              <a:rPr lang="en-US" sz="2200" b="1">
                <a:solidFill>
                  <a:srgbClr val="002060"/>
                </a:solidFill>
                <a:latin typeface="Cambria" panose="02040503050406030204" pitchFamily="18" charset="0"/>
              </a:rPr>
              <a:t>thanh</a:t>
            </a:r>
            <a:r>
              <a:rPr lang="en-US" sz="2200" b="1" smtClean="0">
                <a:solidFill>
                  <a:srgbClr val="002060"/>
                </a:solidFill>
                <a:latin typeface="Cambria" panose="02040503050406030204" pitchFamily="18" charset="0"/>
              </a:rPr>
              <a:t>; Hình </a:t>
            </a:r>
            <a:r>
              <a:rPr lang="en-US" sz="2200" b="1">
                <a:solidFill>
                  <a:srgbClr val="002060"/>
                </a:solidFill>
                <a:latin typeface="Cambria" panose="02040503050406030204" pitchFamily="18" charset="0"/>
              </a:rPr>
              <a:t>động</a:t>
            </a:r>
            <a:r>
              <a:rPr lang="en-US" sz="2200" b="1" smtClean="0">
                <a:solidFill>
                  <a:srgbClr val="002060"/>
                </a:solidFill>
                <a:latin typeface="Cambria" panose="02040503050406030204" pitchFamily="18" charset="0"/>
              </a:rPr>
              <a:t>.</a:t>
            </a:r>
          </a:p>
          <a:p>
            <a:pPr algn="just">
              <a:lnSpc>
                <a:spcPct val="150000"/>
              </a:lnSpc>
            </a:pPr>
            <a:r>
              <a:rPr lang="en-US" sz="2200" b="1">
                <a:solidFill>
                  <a:srgbClr val="002060"/>
                </a:solidFill>
                <a:latin typeface="Cambria" panose="02040503050406030204" pitchFamily="18" charset="0"/>
              </a:rPr>
              <a:t>VD:  Radio, vô tuyến, quảng cáo, phim, ảnh...</a:t>
            </a:r>
          </a:p>
          <a:p>
            <a:pPr indent="347663" algn="just">
              <a:lnSpc>
                <a:spcPct val="150000"/>
              </a:lnSpc>
            </a:pPr>
            <a:endParaRPr lang="vi-VN" sz="2200" b="1" smtClean="0">
              <a:solidFill>
                <a:srgbClr val="002060"/>
              </a:solidFill>
              <a:latin typeface="Cambria" panose="02040503050406030204" pitchFamily="18" charset="0"/>
            </a:endParaRPr>
          </a:p>
          <a:p>
            <a:pPr indent="347663" algn="just">
              <a:lnSpc>
                <a:spcPct val="150000"/>
              </a:lnSpc>
            </a:pPr>
            <a:r>
              <a:rPr lang="vi-VN" sz="2200" b="1" smtClean="0">
                <a:solidFill>
                  <a:srgbClr val="002060"/>
                </a:solidFill>
                <a:latin typeface="Cambria" panose="02040503050406030204" pitchFamily="18" charset="0"/>
              </a:rPr>
              <a:t> </a:t>
            </a:r>
            <a:endParaRPr lang="vi-VN" sz="2200" b="1">
              <a:solidFill>
                <a:srgbClr val="002060"/>
              </a:solidFill>
              <a:latin typeface="Cambria" panose="02040503050406030204" pitchFamily="18" charset="0"/>
            </a:endParaRPr>
          </a:p>
          <a:p>
            <a:pPr indent="347663" algn="just">
              <a:lnSpc>
                <a:spcPct val="150000"/>
              </a:lnSpc>
            </a:pPr>
            <a:endParaRPr lang="en-US" sz="2200" b="1" smtClean="0">
              <a:solidFill>
                <a:srgbClr val="002060"/>
              </a:solidFill>
              <a:latin typeface="Cambria" panose="02040503050406030204" pitchFamily="18" charset="0"/>
            </a:endParaRPr>
          </a:p>
        </p:txBody>
      </p:sp>
      <p:sp>
        <p:nvSpPr>
          <p:cNvPr id="5" name="Rectangle 4"/>
          <p:cNvSpPr/>
          <p:nvPr/>
        </p:nvSpPr>
        <p:spPr>
          <a:xfrm>
            <a:off x="119858" y="67477"/>
            <a:ext cx="8603228" cy="658706"/>
          </a:xfrm>
          <a:prstGeom prst="rect">
            <a:avLst/>
          </a:prstGeom>
          <a:noFill/>
        </p:spPr>
        <p:txBody>
          <a:bodyPr wrap="square" lIns="91440" tIns="45720" rIns="91440" bIns="45720">
            <a:spAutoFit/>
          </a:bodyPr>
          <a:lstStyle/>
          <a:p>
            <a:pPr indent="341313">
              <a:lnSpc>
                <a:spcPct val="150000"/>
              </a:lnSpc>
            </a:pPr>
            <a:r>
              <a:rPr lang="vi-VN" sz="2800" b="1">
                <a:solidFill>
                  <a:srgbClr val="002060"/>
                </a:solidFill>
                <a:latin typeface="Cambria" panose="02040503050406030204" pitchFamily="18" charset="0"/>
              </a:rPr>
              <a:t>1.2. Một số khái niệm cơ bản</a:t>
            </a:r>
          </a:p>
        </p:txBody>
      </p:sp>
      <p:sp>
        <p:nvSpPr>
          <p:cNvPr id="6" name="Line 16"/>
          <p:cNvSpPr>
            <a:spLocks noChangeShapeType="1"/>
          </p:cNvSpPr>
          <p:nvPr/>
        </p:nvSpPr>
        <p:spPr bwMode="auto">
          <a:xfrm>
            <a:off x="105604" y="726183"/>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3672694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256353" y="862277"/>
            <a:ext cx="8570976"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en-US" sz="2200" b="1" smtClean="0">
                <a:solidFill>
                  <a:srgbClr val="002060"/>
                </a:solidFill>
                <a:latin typeface="Cambria" panose="02040503050406030204" pitchFamily="18" charset="0"/>
              </a:rPr>
              <a:t>T</a:t>
            </a:r>
            <a:r>
              <a:rPr lang="vi-VN" sz="2200" b="1" smtClean="0">
                <a:solidFill>
                  <a:srgbClr val="002060"/>
                </a:solidFill>
                <a:latin typeface="Cambria" panose="02040503050406030204" pitchFamily="18" charset="0"/>
              </a:rPr>
              <a:t>ruyền thông đa phương tiện </a:t>
            </a:r>
            <a:r>
              <a:rPr lang="vi-VN" sz="2200" b="1">
                <a:solidFill>
                  <a:srgbClr val="002060"/>
                </a:solidFill>
                <a:latin typeface="Cambria" panose="02040503050406030204" pitchFamily="18" charset="0"/>
              </a:rPr>
              <a:t>là sử dụng nhiều hơn một loại phương tiện vào cùng một thời điểm</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algn="just">
              <a:lnSpc>
                <a:spcPct val="150000"/>
              </a:lnSpc>
            </a:pPr>
            <a:r>
              <a:rPr lang="en-US" sz="2200" b="1" smtClean="0">
                <a:solidFill>
                  <a:srgbClr val="002060"/>
                </a:solidFill>
                <a:latin typeface="Cambria" panose="02040503050406030204" pitchFamily="18" charset="0"/>
              </a:rPr>
              <a:t>VD:  S</a:t>
            </a:r>
            <a:r>
              <a:rPr lang="vi-VN" sz="2200" b="1" smtClean="0">
                <a:solidFill>
                  <a:srgbClr val="002060"/>
                </a:solidFill>
                <a:latin typeface="Cambria" panose="02040503050406030204" pitchFamily="18" charset="0"/>
              </a:rPr>
              <a:t>ử </a:t>
            </a:r>
            <a:r>
              <a:rPr lang="vi-VN" sz="2200" b="1">
                <a:solidFill>
                  <a:srgbClr val="002060"/>
                </a:solidFill>
                <a:latin typeface="Cambria" panose="02040503050406030204" pitchFamily="18" charset="0"/>
              </a:rPr>
              <a:t>dụng phim ảnh, truyền </a:t>
            </a:r>
            <a:r>
              <a:rPr lang="vi-VN" sz="2200" b="1" smtClean="0">
                <a:solidFill>
                  <a:srgbClr val="002060"/>
                </a:solidFill>
                <a:latin typeface="Cambria" panose="02040503050406030204" pitchFamily="18" charset="0"/>
              </a:rPr>
              <a:t>h</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kết hợp nhiều loại phương tiện (âm thanh, video, hoạt ảnh, hính ảnh tĩnh và chữ) để tạo ra nhiều loại thông điệp khác </a:t>
            </a:r>
            <a:r>
              <a:rPr lang="vi-VN" sz="2200" b="1" smtClean="0">
                <a:solidFill>
                  <a:srgbClr val="002060"/>
                </a:solidFill>
                <a:latin typeface="Cambria" panose="02040503050406030204" pitchFamily="18" charset="0"/>
              </a:rPr>
              <a:t>nhau</a:t>
            </a:r>
            <a:r>
              <a:rPr lang="en-US" sz="2200" b="1" smtClean="0">
                <a:solidFill>
                  <a:srgbClr val="002060"/>
                </a:solidFill>
                <a:latin typeface="Cambria" panose="02040503050406030204" pitchFamily="18" charset="0"/>
              </a:rPr>
              <a:t>.</a:t>
            </a:r>
            <a:endParaRPr lang="vi-VN" sz="2200" b="1">
              <a:solidFill>
                <a:srgbClr val="002060"/>
              </a:solidFill>
              <a:latin typeface="Cambria" panose="02040503050406030204" pitchFamily="18" charset="0"/>
            </a:endParaRPr>
          </a:p>
          <a:p>
            <a:pPr indent="347663" algn="just">
              <a:lnSpc>
                <a:spcPct val="150000"/>
              </a:lnSpc>
            </a:pPr>
            <a:r>
              <a:rPr lang="vi-VN" sz="2200" b="1">
                <a:solidFill>
                  <a:srgbClr val="002060"/>
                </a:solidFill>
                <a:latin typeface="Cambria" panose="02040503050406030204" pitchFamily="18" charset="0"/>
              </a:rPr>
              <a:t> </a:t>
            </a:r>
            <a:endParaRPr lang="en-US" sz="2200" b="1" smtClean="0">
              <a:solidFill>
                <a:srgbClr val="002060"/>
              </a:solidFill>
              <a:latin typeface="Cambria" panose="02040503050406030204" pitchFamily="18" charset="0"/>
            </a:endParaRPr>
          </a:p>
        </p:txBody>
      </p:sp>
      <p:sp>
        <p:nvSpPr>
          <p:cNvPr id="5" name="Rectangle 4"/>
          <p:cNvSpPr/>
          <p:nvPr/>
        </p:nvSpPr>
        <p:spPr>
          <a:xfrm>
            <a:off x="119858" y="67477"/>
            <a:ext cx="8603228" cy="658706"/>
          </a:xfrm>
          <a:prstGeom prst="rect">
            <a:avLst/>
          </a:prstGeom>
          <a:noFill/>
        </p:spPr>
        <p:txBody>
          <a:bodyPr wrap="square" lIns="91440" tIns="45720" rIns="91440" bIns="45720">
            <a:spAutoFit/>
          </a:bodyPr>
          <a:lstStyle/>
          <a:p>
            <a:pPr indent="341313">
              <a:lnSpc>
                <a:spcPct val="150000"/>
              </a:lnSpc>
            </a:pPr>
            <a:r>
              <a:rPr lang="vi-VN" sz="2800" b="1">
                <a:solidFill>
                  <a:srgbClr val="002060"/>
                </a:solidFill>
                <a:latin typeface="Cambria" panose="02040503050406030204" pitchFamily="18" charset="0"/>
              </a:rPr>
              <a:t>1.2. Một số khái niệm cơ bản</a:t>
            </a:r>
          </a:p>
        </p:txBody>
      </p:sp>
      <p:sp>
        <p:nvSpPr>
          <p:cNvPr id="6" name="Line 16"/>
          <p:cNvSpPr>
            <a:spLocks noChangeShapeType="1"/>
          </p:cNvSpPr>
          <p:nvPr/>
        </p:nvSpPr>
        <p:spPr bwMode="auto">
          <a:xfrm>
            <a:off x="105604" y="726183"/>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8288878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Box 11"/>
          <p:cNvSpPr txBox="1">
            <a:spLocks noChangeArrowheads="1"/>
          </p:cNvSpPr>
          <p:nvPr/>
        </p:nvSpPr>
        <p:spPr bwMode="auto">
          <a:xfrm>
            <a:off x="0" y="276565"/>
            <a:ext cx="489428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eaLnBrk="1" hangingPunct="1"/>
            <a:r>
              <a:rPr lang="en-US" sz="4400" err="1" smtClean="0">
                <a:solidFill>
                  <a:srgbClr val="FFFFFF"/>
                </a:solidFill>
                <a:latin typeface="ITCErasVO Demi" pitchFamily="123" charset="0"/>
              </a:rPr>
              <a:t>Nội</a:t>
            </a:r>
            <a:r>
              <a:rPr lang="en-US" sz="4400" smtClean="0">
                <a:solidFill>
                  <a:srgbClr val="FFFFFF"/>
                </a:solidFill>
                <a:latin typeface="ITCErasVO Demi" pitchFamily="123" charset="0"/>
              </a:rPr>
              <a:t> dung </a:t>
            </a:r>
            <a:r>
              <a:rPr lang="en-US" sz="4400" err="1" smtClean="0">
                <a:solidFill>
                  <a:srgbClr val="FFFFFF"/>
                </a:solidFill>
                <a:latin typeface="ITCErasVO Demi" pitchFamily="123" charset="0"/>
              </a:rPr>
              <a:t>khóa</a:t>
            </a:r>
            <a:r>
              <a:rPr lang="en-US" sz="4400" smtClean="0">
                <a:solidFill>
                  <a:srgbClr val="FFFFFF"/>
                </a:solidFill>
                <a:latin typeface="ITCErasVO Demi" pitchFamily="123" charset="0"/>
              </a:rPr>
              <a:t> </a:t>
            </a:r>
            <a:r>
              <a:rPr lang="en-US" sz="4400" err="1" smtClean="0">
                <a:solidFill>
                  <a:srgbClr val="FFFFFF"/>
                </a:solidFill>
                <a:latin typeface="ITCErasVO Demi" pitchFamily="123" charset="0"/>
              </a:rPr>
              <a:t>học</a:t>
            </a:r>
            <a:endParaRPr lang="en-US" sz="4400">
              <a:solidFill>
                <a:srgbClr val="FFFFFF"/>
              </a:solidFill>
              <a:latin typeface="ITCErasVO Demi" pitchFamily="123" charset="0"/>
            </a:endParaRPr>
          </a:p>
        </p:txBody>
      </p:sp>
      <p:sp>
        <p:nvSpPr>
          <p:cNvPr id="6150" name="TextBox 16"/>
          <p:cNvSpPr txBox="1">
            <a:spLocks noChangeArrowheads="1"/>
          </p:cNvSpPr>
          <p:nvPr/>
        </p:nvSpPr>
        <p:spPr bwMode="auto">
          <a:xfrm>
            <a:off x="204232" y="726183"/>
            <a:ext cx="8570976" cy="5678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r>
              <a:rPr lang="en-US" sz="2200" b="1" smtClean="0">
                <a:solidFill>
                  <a:srgbClr val="002060"/>
                </a:solidFill>
                <a:latin typeface="Cambria" panose="02040503050406030204" pitchFamily="18" charset="0"/>
              </a:rPr>
              <a:t>1.3.1. </a:t>
            </a:r>
            <a:r>
              <a:rPr lang="vi-VN" sz="2200" b="1" smtClean="0">
                <a:solidFill>
                  <a:srgbClr val="002060"/>
                </a:solidFill>
                <a:latin typeface="Cambria" panose="02040503050406030204" pitchFamily="18" charset="0"/>
              </a:rPr>
              <a:t>Ứng </a:t>
            </a:r>
            <a:r>
              <a:rPr lang="vi-VN" sz="2200" b="1">
                <a:solidFill>
                  <a:srgbClr val="002060"/>
                </a:solidFill>
                <a:latin typeface="Cambria" panose="02040503050406030204" pitchFamily="18" charset="0"/>
              </a:rPr>
              <a:t>dụng của đa phương </a:t>
            </a:r>
            <a:r>
              <a:rPr lang="vi-VN" sz="2200" b="1" smtClean="0">
                <a:solidFill>
                  <a:srgbClr val="002060"/>
                </a:solidFill>
                <a:latin typeface="Cambria" panose="02040503050406030204" pitchFamily="18" charset="0"/>
              </a:rPr>
              <a:t>tiện</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Chương trình video theo yêu cầu VOD;</a:t>
            </a: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Trò </a:t>
            </a:r>
            <a:r>
              <a:rPr lang="vi-VN" sz="2200" b="1">
                <a:solidFill>
                  <a:srgbClr val="002060"/>
                </a:solidFill>
                <a:latin typeface="Cambria" panose="02040503050406030204" pitchFamily="18" charset="0"/>
              </a:rPr>
              <a:t>chơi điện tử, video;</a:t>
            </a: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Giao </a:t>
            </a:r>
            <a:r>
              <a:rPr lang="vi-VN" sz="2200" b="1">
                <a:solidFill>
                  <a:srgbClr val="002060"/>
                </a:solidFill>
                <a:latin typeface="Cambria" panose="02040503050406030204" pitchFamily="18" charset="0"/>
              </a:rPr>
              <a:t>dịch, thương mại điện tử;</a:t>
            </a: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Thư điện tử cao cấp có kèm hình ảnh và âm thanh.</a:t>
            </a: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Giáo dục từ xa, dạy học với trợ giúp của máy tính, dạy qua sóng của đài phát thanh hoặc trên TV, </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Các </a:t>
            </a:r>
            <a:r>
              <a:rPr lang="vi-VN" sz="2200" b="1">
                <a:solidFill>
                  <a:srgbClr val="002060"/>
                </a:solidFill>
                <a:latin typeface="Cambria" panose="02040503050406030204" pitchFamily="18" charset="0"/>
              </a:rPr>
              <a:t>hoạt động tiến đến chính quyền điện tử và làm việc tại nhà</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Mô </a:t>
            </a:r>
            <a:r>
              <a:rPr lang="vi-VN" sz="2200" b="1">
                <a:solidFill>
                  <a:srgbClr val="002060"/>
                </a:solidFill>
                <a:latin typeface="Cambria" panose="02040503050406030204" pitchFamily="18" charset="0"/>
              </a:rPr>
              <a:t>phỏng, ví dụ lái máy bay trong buồng lái mô phỏng, giải phẫu từ xa;</a:t>
            </a:r>
          </a:p>
          <a:p>
            <a:pPr algn="just">
              <a:lnSpc>
                <a:spcPct val="150000"/>
              </a:lnSpc>
            </a:pPr>
            <a:endParaRPr lang="en-US" sz="2200" b="1">
              <a:solidFill>
                <a:srgbClr val="002060"/>
              </a:solidFill>
              <a:latin typeface="Cambria" panose="02040503050406030204" pitchFamily="18" charset="0"/>
            </a:endParaRPr>
          </a:p>
        </p:txBody>
      </p:sp>
      <p:sp>
        <p:nvSpPr>
          <p:cNvPr id="5" name="Rectangle 4"/>
          <p:cNvSpPr/>
          <p:nvPr/>
        </p:nvSpPr>
        <p:spPr>
          <a:xfrm>
            <a:off x="119858" y="67477"/>
            <a:ext cx="8603228" cy="658706"/>
          </a:xfrm>
          <a:prstGeom prst="rect">
            <a:avLst/>
          </a:prstGeom>
          <a:noFill/>
        </p:spPr>
        <p:txBody>
          <a:bodyPr wrap="square" lIns="91440" tIns="45720" rIns="91440" bIns="45720">
            <a:spAutoFit/>
          </a:bodyPr>
          <a:lstStyle/>
          <a:p>
            <a:pPr indent="231775">
              <a:lnSpc>
                <a:spcPct val="150000"/>
              </a:lnSpc>
            </a:pPr>
            <a:r>
              <a:rPr lang="vi-VN" sz="2800" b="1">
                <a:solidFill>
                  <a:srgbClr val="002060"/>
                </a:solidFill>
                <a:latin typeface="Cambria" panose="02040503050406030204" pitchFamily="18" charset="0"/>
              </a:rPr>
              <a:t>1.3	Hoàn cảnh sử dụng Multimedia</a:t>
            </a:r>
          </a:p>
        </p:txBody>
      </p:sp>
      <p:sp>
        <p:nvSpPr>
          <p:cNvPr id="6" name="Line 16"/>
          <p:cNvSpPr>
            <a:spLocks noChangeShapeType="1"/>
          </p:cNvSpPr>
          <p:nvPr/>
        </p:nvSpPr>
        <p:spPr bwMode="auto">
          <a:xfrm>
            <a:off x="105604" y="726183"/>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6644328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Box 11"/>
          <p:cNvSpPr txBox="1">
            <a:spLocks noChangeArrowheads="1"/>
          </p:cNvSpPr>
          <p:nvPr/>
        </p:nvSpPr>
        <p:spPr bwMode="auto">
          <a:xfrm>
            <a:off x="0" y="276565"/>
            <a:ext cx="489428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eaLnBrk="1" hangingPunct="1"/>
            <a:r>
              <a:rPr lang="en-US" sz="4400" err="1" smtClean="0">
                <a:solidFill>
                  <a:srgbClr val="FFFFFF"/>
                </a:solidFill>
                <a:latin typeface="ITCErasVO Demi" pitchFamily="123" charset="0"/>
              </a:rPr>
              <a:t>Nội</a:t>
            </a:r>
            <a:r>
              <a:rPr lang="en-US" sz="4400" smtClean="0">
                <a:solidFill>
                  <a:srgbClr val="FFFFFF"/>
                </a:solidFill>
                <a:latin typeface="ITCErasVO Demi" pitchFamily="123" charset="0"/>
              </a:rPr>
              <a:t> dung </a:t>
            </a:r>
            <a:r>
              <a:rPr lang="en-US" sz="4400" err="1" smtClean="0">
                <a:solidFill>
                  <a:srgbClr val="FFFFFF"/>
                </a:solidFill>
                <a:latin typeface="ITCErasVO Demi" pitchFamily="123" charset="0"/>
              </a:rPr>
              <a:t>khóa</a:t>
            </a:r>
            <a:r>
              <a:rPr lang="en-US" sz="4400" smtClean="0">
                <a:solidFill>
                  <a:srgbClr val="FFFFFF"/>
                </a:solidFill>
                <a:latin typeface="ITCErasVO Demi" pitchFamily="123" charset="0"/>
              </a:rPr>
              <a:t> </a:t>
            </a:r>
            <a:r>
              <a:rPr lang="en-US" sz="4400" err="1" smtClean="0">
                <a:solidFill>
                  <a:srgbClr val="FFFFFF"/>
                </a:solidFill>
                <a:latin typeface="ITCErasVO Demi" pitchFamily="123" charset="0"/>
              </a:rPr>
              <a:t>học</a:t>
            </a:r>
            <a:endParaRPr lang="en-US" sz="4400">
              <a:solidFill>
                <a:srgbClr val="FFFFFF"/>
              </a:solidFill>
              <a:latin typeface="ITCErasVO Demi" pitchFamily="123" charset="0"/>
            </a:endParaRPr>
          </a:p>
        </p:txBody>
      </p:sp>
      <p:sp>
        <p:nvSpPr>
          <p:cNvPr id="6150" name="TextBox 16"/>
          <p:cNvSpPr txBox="1">
            <a:spLocks noChangeArrowheads="1"/>
          </p:cNvSpPr>
          <p:nvPr/>
        </p:nvSpPr>
        <p:spPr bwMode="auto">
          <a:xfrm>
            <a:off x="164302" y="757422"/>
            <a:ext cx="8570976" cy="5678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r>
              <a:rPr lang="en-US" sz="2200" b="1" smtClean="0">
                <a:solidFill>
                  <a:srgbClr val="002060"/>
                </a:solidFill>
                <a:latin typeface="Cambria" panose="02040503050406030204" pitchFamily="18" charset="0"/>
              </a:rPr>
              <a:t>1.3.2. Tính </a:t>
            </a:r>
            <a:r>
              <a:rPr lang="en-US" sz="2200" b="1">
                <a:solidFill>
                  <a:srgbClr val="002060"/>
                </a:solidFill>
                <a:latin typeface="Cambria" panose="02040503050406030204" pitchFamily="18" charset="0"/>
              </a:rPr>
              <a:t>hiển </a:t>
            </a:r>
            <a:r>
              <a:rPr lang="en-US" sz="2200" b="1" smtClean="0">
                <a:solidFill>
                  <a:srgbClr val="002060"/>
                </a:solidFill>
                <a:latin typeface="Cambria" panose="02040503050406030204" pitchFamily="18" charset="0"/>
              </a:rPr>
              <a:t>thị</a:t>
            </a: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Hiển </a:t>
            </a:r>
            <a:r>
              <a:rPr lang="vi-VN" sz="2200" b="1">
                <a:solidFill>
                  <a:srgbClr val="002060"/>
                </a:solidFill>
                <a:latin typeface="Cambria" panose="02040503050406030204" pitchFamily="18" charset="0"/>
              </a:rPr>
              <a:t>thị toàn </a:t>
            </a:r>
            <a:r>
              <a:rPr lang="vi-VN" sz="2200" b="1" smtClean="0">
                <a:solidFill>
                  <a:srgbClr val="002060"/>
                </a:solidFill>
                <a:latin typeface="Cambria" panose="02040503050406030204" pitchFamily="18" charset="0"/>
              </a:rPr>
              <a:t>trang</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Hiển </a:t>
            </a:r>
            <a:r>
              <a:rPr lang="vi-VN" sz="2200" b="1">
                <a:solidFill>
                  <a:srgbClr val="002060"/>
                </a:solidFill>
                <a:latin typeface="Cambria" panose="02040503050406030204" pitchFamily="18" charset="0"/>
              </a:rPr>
              <a:t>thị văn bản </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Hiện </a:t>
            </a:r>
            <a:r>
              <a:rPr lang="vi-VN" sz="2200" b="1">
                <a:solidFill>
                  <a:srgbClr val="002060"/>
                </a:solidFill>
                <a:latin typeface="Cambria" panose="02040503050406030204" pitchFamily="18" charset="0"/>
              </a:rPr>
              <a:t>con </a:t>
            </a:r>
            <a:r>
              <a:rPr lang="vi-VN" sz="2200" b="1" smtClean="0">
                <a:solidFill>
                  <a:srgbClr val="002060"/>
                </a:solidFill>
                <a:latin typeface="Cambria" panose="02040503050406030204" pitchFamily="18" charset="0"/>
              </a:rPr>
              <a:t>trỏ</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en-US" sz="2200" b="1" smtClean="0">
                <a:solidFill>
                  <a:srgbClr val="002060"/>
                </a:solidFill>
                <a:latin typeface="Cambria" panose="02040503050406030204" pitchFamily="18" charset="0"/>
              </a:rPr>
              <a:t>Điều </a:t>
            </a:r>
            <a:r>
              <a:rPr lang="en-US" sz="2200" b="1">
                <a:solidFill>
                  <a:srgbClr val="002060"/>
                </a:solidFill>
                <a:latin typeface="Cambria" panose="02040503050406030204" pitchFamily="18" charset="0"/>
              </a:rPr>
              <a:t>khiển chuyển </a:t>
            </a:r>
            <a:r>
              <a:rPr lang="en-US" sz="2200" b="1" smtClean="0">
                <a:solidFill>
                  <a:srgbClr val="002060"/>
                </a:solidFill>
                <a:latin typeface="Cambria" panose="02040503050406030204" pitchFamily="18" charset="0"/>
              </a:rPr>
              <a:t>động</a:t>
            </a: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Sử </a:t>
            </a:r>
            <a:r>
              <a:rPr lang="vi-VN" sz="2200" b="1">
                <a:solidFill>
                  <a:srgbClr val="002060"/>
                </a:solidFill>
                <a:latin typeface="Cambria" panose="02040503050406030204" pitchFamily="18" charset="0"/>
              </a:rPr>
              <a:t>dụng các biểu tượng </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en-US" sz="2200" b="1" smtClean="0">
                <a:solidFill>
                  <a:srgbClr val="002060"/>
                </a:solidFill>
                <a:latin typeface="Cambria" panose="02040503050406030204" pitchFamily="18" charset="0"/>
              </a:rPr>
              <a:t>Trả </a:t>
            </a:r>
            <a:r>
              <a:rPr lang="en-US" sz="2200" b="1">
                <a:solidFill>
                  <a:srgbClr val="002060"/>
                </a:solidFill>
                <a:latin typeface="Cambria" panose="02040503050406030204" pitchFamily="18" charset="0"/>
              </a:rPr>
              <a:t>lại kết quả của hành động ngay lập </a:t>
            </a:r>
            <a:r>
              <a:rPr lang="en-US" sz="2200" b="1" smtClean="0">
                <a:solidFill>
                  <a:srgbClr val="002060"/>
                </a:solidFill>
                <a:latin typeface="Cambria" panose="02040503050406030204" pitchFamily="18" charset="0"/>
              </a:rPr>
              <a:t>tức</a:t>
            </a:r>
          </a:p>
          <a:p>
            <a:pPr marL="342900" indent="-342900" algn="just">
              <a:lnSpc>
                <a:spcPct val="150000"/>
              </a:lnSpc>
              <a:buFont typeface="Arial" panose="020B0604020202020204" pitchFamily="34" charset="0"/>
              <a:buChar char="•"/>
            </a:pPr>
            <a:r>
              <a:rPr lang="en-US" sz="2200" b="1">
                <a:solidFill>
                  <a:srgbClr val="002060"/>
                </a:solidFill>
                <a:latin typeface="Cambria" panose="02040503050406030204" pitchFamily="18" charset="0"/>
              </a:rPr>
              <a:t>Đáp lại và hiển thị nhanh </a:t>
            </a:r>
            <a:r>
              <a:rPr lang="en-US" sz="2200" b="1" smtClean="0">
                <a:solidFill>
                  <a:srgbClr val="002060"/>
                </a:solidFill>
                <a:latin typeface="Cambria" panose="02040503050406030204" pitchFamily="18" charset="0"/>
              </a:rPr>
              <a:t>chóng</a:t>
            </a:r>
          </a:p>
          <a:p>
            <a:pPr marL="342900" indent="-342900" algn="just">
              <a:lnSpc>
                <a:spcPct val="150000"/>
              </a:lnSpc>
              <a:buFont typeface="Arial" panose="020B0604020202020204" pitchFamily="34" charset="0"/>
              <a:buChar char="•"/>
            </a:pPr>
            <a:r>
              <a:rPr lang="en-US" sz="2200" b="1" smtClean="0">
                <a:solidFill>
                  <a:srgbClr val="002060"/>
                </a:solidFill>
                <a:latin typeface="Cambria" panose="02040503050406030204" pitchFamily="18" charset="0"/>
              </a:rPr>
              <a:t>Dễ </a:t>
            </a:r>
            <a:r>
              <a:rPr lang="en-US" sz="2200" b="1">
                <a:solidFill>
                  <a:srgbClr val="002060"/>
                </a:solidFill>
                <a:latin typeface="Cambria" panose="02040503050406030204" pitchFamily="18" charset="0"/>
              </a:rPr>
              <a:t>dàng quay lui </a:t>
            </a:r>
          </a:p>
          <a:p>
            <a:pPr marL="342900" indent="-342900" algn="just">
              <a:lnSpc>
                <a:spcPct val="150000"/>
              </a:lnSpc>
              <a:buFontTx/>
              <a:buChar char="-"/>
            </a:pPr>
            <a:endParaRPr lang="vi-VN" sz="2200" b="1">
              <a:solidFill>
                <a:srgbClr val="002060"/>
              </a:solidFill>
              <a:latin typeface="Cambria" panose="02040503050406030204" pitchFamily="18" charset="0"/>
            </a:endParaRPr>
          </a:p>
          <a:p>
            <a:pPr algn="just">
              <a:lnSpc>
                <a:spcPct val="150000"/>
              </a:lnSpc>
            </a:pPr>
            <a:endParaRPr lang="en-US" sz="2200" b="1">
              <a:solidFill>
                <a:srgbClr val="002060"/>
              </a:solidFill>
              <a:latin typeface="Cambria" panose="02040503050406030204" pitchFamily="18" charset="0"/>
            </a:endParaRPr>
          </a:p>
        </p:txBody>
      </p:sp>
      <p:sp>
        <p:nvSpPr>
          <p:cNvPr id="5" name="Rectangle 4"/>
          <p:cNvSpPr/>
          <p:nvPr/>
        </p:nvSpPr>
        <p:spPr>
          <a:xfrm>
            <a:off x="119858" y="67477"/>
            <a:ext cx="8603228" cy="658706"/>
          </a:xfrm>
          <a:prstGeom prst="rect">
            <a:avLst/>
          </a:prstGeom>
          <a:noFill/>
        </p:spPr>
        <p:txBody>
          <a:bodyPr wrap="square" lIns="91440" tIns="45720" rIns="91440" bIns="45720">
            <a:spAutoFit/>
          </a:bodyPr>
          <a:lstStyle/>
          <a:p>
            <a:pPr indent="231775">
              <a:lnSpc>
                <a:spcPct val="150000"/>
              </a:lnSpc>
            </a:pPr>
            <a:r>
              <a:rPr lang="vi-VN" sz="2800" b="1">
                <a:solidFill>
                  <a:srgbClr val="002060"/>
                </a:solidFill>
                <a:latin typeface="Cambria" panose="02040503050406030204" pitchFamily="18" charset="0"/>
              </a:rPr>
              <a:t>1.3	Hoàn cảnh sử dụng Multimedia</a:t>
            </a:r>
          </a:p>
        </p:txBody>
      </p:sp>
      <p:sp>
        <p:nvSpPr>
          <p:cNvPr id="6" name="Line 16"/>
          <p:cNvSpPr>
            <a:spLocks noChangeShapeType="1"/>
          </p:cNvSpPr>
          <p:nvPr/>
        </p:nvSpPr>
        <p:spPr bwMode="auto">
          <a:xfrm>
            <a:off x="105604" y="726183"/>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5301598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204232" y="671691"/>
            <a:ext cx="8570976"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r>
              <a:rPr lang="en-US" sz="2200" b="1" smtClean="0">
                <a:solidFill>
                  <a:srgbClr val="002060"/>
                </a:solidFill>
                <a:latin typeface="Cambria" panose="02040503050406030204" pitchFamily="18" charset="0"/>
              </a:rPr>
              <a:t>1.4.1. Định </a:t>
            </a:r>
            <a:r>
              <a:rPr lang="en-US" sz="2200" b="1">
                <a:solidFill>
                  <a:srgbClr val="002060"/>
                </a:solidFill>
                <a:latin typeface="Cambria" panose="02040503050406030204" pitchFamily="18" charset="0"/>
              </a:rPr>
              <a:t>nghĩa về </a:t>
            </a:r>
            <a:r>
              <a:rPr lang="en-US" sz="2200" b="1" smtClean="0">
                <a:solidFill>
                  <a:srgbClr val="002060"/>
                </a:solidFill>
                <a:latin typeface="Cambria" panose="02040503050406030204" pitchFamily="18" charset="0"/>
              </a:rPr>
              <a:t>chuẩn</a:t>
            </a:r>
          </a:p>
          <a:p>
            <a:pPr algn="just">
              <a:lnSpc>
                <a:spcPct val="150000"/>
              </a:lnSpc>
            </a:pPr>
            <a:r>
              <a:rPr lang="vi-VN" sz="2200" b="1">
                <a:solidFill>
                  <a:srgbClr val="002060"/>
                </a:solidFill>
                <a:latin typeface="Cambria" panose="02040503050406030204" pitchFamily="18" charset="0"/>
              </a:rPr>
              <a:t>"Chuẩn là các </a:t>
            </a:r>
            <a:r>
              <a:rPr lang="vi-VN" sz="2200" b="1">
                <a:solidFill>
                  <a:srgbClr val="C00000"/>
                </a:solidFill>
                <a:latin typeface="Cambria" panose="02040503050406030204" pitchFamily="18" charset="0"/>
              </a:rPr>
              <a:t>thoả thuận </a:t>
            </a:r>
            <a:r>
              <a:rPr lang="vi-VN" sz="2200" b="1">
                <a:solidFill>
                  <a:srgbClr val="002060"/>
                </a:solidFill>
                <a:latin typeface="Cambria" panose="02040503050406030204" pitchFamily="18" charset="0"/>
              </a:rPr>
              <a:t>trên văn bản chứa các đặc tả kĩ thuật hoặc các tiêu chí chính xác khác được </a:t>
            </a:r>
            <a:r>
              <a:rPr lang="vi-VN" sz="2200" b="1">
                <a:solidFill>
                  <a:srgbClr val="C00000"/>
                </a:solidFill>
                <a:latin typeface="Cambria" panose="02040503050406030204" pitchFamily="18" charset="0"/>
              </a:rPr>
              <a:t>sử dụng một cách thống nhất</a:t>
            </a:r>
            <a:r>
              <a:rPr lang="vi-VN" sz="2200" b="1">
                <a:solidFill>
                  <a:srgbClr val="002060"/>
                </a:solidFill>
                <a:latin typeface="Cambria" panose="02040503050406030204" pitchFamily="18" charset="0"/>
              </a:rPr>
              <a:t> như các luật, các chỉ dẫn, hoặc các định nghĩa của các đặc trưng, </a:t>
            </a:r>
            <a:r>
              <a:rPr lang="vi-VN" sz="2200" b="1">
                <a:solidFill>
                  <a:srgbClr val="C00000"/>
                </a:solidFill>
                <a:latin typeface="Cambria" panose="02040503050406030204" pitchFamily="18" charset="0"/>
              </a:rPr>
              <a:t>để đảm bảo </a:t>
            </a:r>
            <a:r>
              <a:rPr lang="vi-VN" sz="2200" b="1">
                <a:solidFill>
                  <a:srgbClr val="002060"/>
                </a:solidFill>
                <a:latin typeface="Cambria" panose="02040503050406030204" pitchFamily="18" charset="0"/>
              </a:rPr>
              <a:t>rằng các vật liệu, sản phẩm, quá trình, và dịch vụ </a:t>
            </a:r>
            <a:r>
              <a:rPr lang="vi-VN" sz="2200" b="1">
                <a:solidFill>
                  <a:srgbClr val="C00000"/>
                </a:solidFill>
                <a:latin typeface="Cambria" panose="02040503050406030204" pitchFamily="18" charset="0"/>
              </a:rPr>
              <a:t>phù hợp với mục đích </a:t>
            </a:r>
            <a:r>
              <a:rPr lang="vi-VN" sz="2200" b="1">
                <a:solidFill>
                  <a:srgbClr val="002060"/>
                </a:solidFill>
                <a:latin typeface="Cambria" panose="02040503050406030204" pitchFamily="18" charset="0"/>
              </a:rPr>
              <a:t>của chúng</a:t>
            </a:r>
            <a:r>
              <a:rPr lang="vi-VN" sz="2200" b="1" smtClean="0">
                <a:solidFill>
                  <a:srgbClr val="002060"/>
                </a:solidFill>
                <a:latin typeface="Cambria" panose="02040503050406030204" pitchFamily="18" charset="0"/>
              </a:rPr>
              <a:t>".</a:t>
            </a:r>
            <a:r>
              <a:rPr lang="en-US" sz="2200" b="1" smtClean="0">
                <a:solidFill>
                  <a:srgbClr val="002060"/>
                </a:solidFill>
                <a:latin typeface="Cambria" panose="02040503050406030204" pitchFamily="18" charset="0"/>
              </a:rPr>
              <a:t> Theo ISO</a:t>
            </a:r>
            <a:r>
              <a:rPr lang="vi-VN" sz="2200" b="1" smtClean="0">
                <a:solidFill>
                  <a:srgbClr val="002060"/>
                </a:solidFill>
                <a:latin typeface="Cambria" panose="02040503050406030204" pitchFamily="18" charset="0"/>
              </a:rPr>
              <a:t> </a:t>
            </a:r>
            <a:endParaRPr lang="en-US" sz="2200" b="1" smtClean="0">
              <a:solidFill>
                <a:srgbClr val="002060"/>
              </a:solidFill>
              <a:latin typeface="Cambria" panose="02040503050406030204" pitchFamily="18" charset="0"/>
            </a:endParaRPr>
          </a:p>
          <a:p>
            <a:pPr algn="just">
              <a:lnSpc>
                <a:spcPct val="150000"/>
              </a:lnSpc>
            </a:pPr>
            <a:r>
              <a:rPr lang="en-US" sz="2200" b="1" smtClean="0">
                <a:solidFill>
                  <a:srgbClr val="002060"/>
                </a:solidFill>
                <a:latin typeface="Cambria" panose="02040503050406030204" pitchFamily="18" charset="0"/>
              </a:rPr>
              <a:t>VD:  </a:t>
            </a:r>
            <a:r>
              <a:rPr lang="vi-VN" sz="2200" b="1" smtClean="0">
                <a:solidFill>
                  <a:srgbClr val="002060"/>
                </a:solidFill>
                <a:latin typeface="Cambria" panose="02040503050406030204" pitchFamily="18" charset="0"/>
              </a:rPr>
              <a:t>Chúng </a:t>
            </a:r>
            <a:r>
              <a:rPr lang="vi-VN" sz="2200" b="1">
                <a:solidFill>
                  <a:srgbClr val="002060"/>
                </a:solidFill>
                <a:latin typeface="Cambria" panose="02040503050406030204" pitchFamily="18" charset="0"/>
              </a:rPr>
              <a:t>ta có thể trao đổi thông tin trên mạng </a:t>
            </a:r>
            <a:r>
              <a:rPr lang="vi-VN" sz="2200" b="1" smtClean="0">
                <a:solidFill>
                  <a:srgbClr val="002060"/>
                </a:solidFill>
                <a:latin typeface="Cambria" panose="02040503050406030204" pitchFamily="18" charset="0"/>
              </a:rPr>
              <a:t>ch</a:t>
            </a:r>
            <a:r>
              <a:rPr lang="en-US" sz="2200" b="1">
                <a:solidFill>
                  <a:srgbClr val="002060"/>
                </a:solidFill>
                <a:latin typeface="Cambria" panose="02040503050406030204" pitchFamily="18" charset="0"/>
              </a:rPr>
              <a:t>í</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là nhờ chuẩn. </a:t>
            </a:r>
            <a:endParaRPr lang="en-US" sz="2200" b="1" smtClean="0">
              <a:solidFill>
                <a:srgbClr val="002060"/>
              </a:solidFill>
              <a:latin typeface="Cambria" panose="02040503050406030204" pitchFamily="18" charset="0"/>
            </a:endParaRPr>
          </a:p>
          <a:p>
            <a:pPr marL="914400" algn="just">
              <a:lnSpc>
                <a:spcPct val="150000"/>
              </a:lnSpc>
              <a:buFont typeface="Wingdings" panose="05000000000000000000" pitchFamily="2" charset="2"/>
              <a:buChar char="v"/>
            </a:pPr>
            <a:r>
              <a:rPr lang="en-US" sz="2200" b="1">
                <a:solidFill>
                  <a:srgbClr val="002060"/>
                </a:solidFill>
                <a:latin typeface="Cambria" panose="02040503050406030204" pitchFamily="18" charset="0"/>
              </a:rPr>
              <a:t>	HTTP (Hypertext Transfer Language)</a:t>
            </a:r>
          </a:p>
          <a:p>
            <a:pPr marL="914400" algn="just">
              <a:lnSpc>
                <a:spcPct val="150000"/>
              </a:lnSpc>
              <a:buFont typeface="Wingdings" panose="05000000000000000000" pitchFamily="2" charset="2"/>
              <a:buChar char="v"/>
            </a:pPr>
            <a:r>
              <a:rPr lang="en-US" sz="2200" b="1">
                <a:solidFill>
                  <a:srgbClr val="002060"/>
                </a:solidFill>
                <a:latin typeface="Cambria" panose="02040503050406030204" pitchFamily="18" charset="0"/>
              </a:rPr>
              <a:t>	HTML (Hypertext Markup Language)</a:t>
            </a:r>
          </a:p>
          <a:p>
            <a:pPr marL="914400" algn="just">
              <a:lnSpc>
                <a:spcPct val="150000"/>
              </a:lnSpc>
              <a:buFont typeface="Wingdings" panose="05000000000000000000" pitchFamily="2" charset="2"/>
              <a:buChar char="v"/>
            </a:pPr>
            <a:r>
              <a:rPr lang="en-US" sz="2200" b="1">
                <a:solidFill>
                  <a:srgbClr val="002060"/>
                </a:solidFill>
                <a:latin typeface="Cambria" panose="02040503050406030204" pitchFamily="18" charset="0"/>
              </a:rPr>
              <a:t>	FTP (File Trans Prototol)</a:t>
            </a:r>
          </a:p>
          <a:p>
            <a:pPr marL="914400" algn="just">
              <a:lnSpc>
                <a:spcPct val="150000"/>
              </a:lnSpc>
              <a:buFont typeface="Wingdings" panose="05000000000000000000" pitchFamily="2" charset="2"/>
              <a:buChar char="v"/>
            </a:pPr>
            <a:r>
              <a:rPr lang="en-US" sz="2200" b="1">
                <a:solidFill>
                  <a:srgbClr val="002060"/>
                </a:solidFill>
                <a:latin typeface="Cambria" panose="02040503050406030204" pitchFamily="18" charset="0"/>
              </a:rPr>
              <a:t>	TCP/IP (Tran Coltrol Protocol</a:t>
            </a:r>
            <a:r>
              <a:rPr lang="en-US" sz="2200" b="1" smtClean="0">
                <a:solidFill>
                  <a:srgbClr val="002060"/>
                </a:solidFill>
                <a:latin typeface="Cambria" panose="02040503050406030204" pitchFamily="18" charset="0"/>
              </a:rPr>
              <a:t>/) …..</a:t>
            </a:r>
            <a:endParaRPr lang="en-US" sz="2200" b="1">
              <a:solidFill>
                <a:srgbClr val="002060"/>
              </a:solidFill>
              <a:latin typeface="Cambria" panose="02040503050406030204" pitchFamily="18" charset="0"/>
            </a:endParaRPr>
          </a:p>
        </p:txBody>
      </p:sp>
      <p:sp>
        <p:nvSpPr>
          <p:cNvPr id="5" name="Rectangle 4"/>
          <p:cNvSpPr/>
          <p:nvPr/>
        </p:nvSpPr>
        <p:spPr>
          <a:xfrm>
            <a:off x="119858" y="67477"/>
            <a:ext cx="8603228" cy="658706"/>
          </a:xfrm>
          <a:prstGeom prst="rect">
            <a:avLst/>
          </a:prstGeom>
          <a:noFill/>
        </p:spPr>
        <p:txBody>
          <a:bodyPr wrap="square" lIns="91440" tIns="45720" rIns="91440" bIns="45720">
            <a:spAutoFit/>
          </a:bodyPr>
          <a:lstStyle/>
          <a:p>
            <a:pPr indent="341313">
              <a:lnSpc>
                <a:spcPct val="150000"/>
              </a:lnSpc>
            </a:pPr>
            <a:r>
              <a:rPr lang="vi-VN" sz="2800" b="1">
                <a:solidFill>
                  <a:srgbClr val="002060"/>
                </a:solidFill>
                <a:latin typeface="Cambria" panose="02040503050406030204" pitchFamily="18" charset="0"/>
              </a:rPr>
              <a:t>1.4. Các chuẩn Multimedia thông dụng</a:t>
            </a:r>
            <a:endParaRPr lang="en-US" sz="2800" b="1">
              <a:solidFill>
                <a:srgbClr val="002060"/>
              </a:solidFill>
              <a:latin typeface="Cambria" panose="02040503050406030204" pitchFamily="18" charset="0"/>
            </a:endParaRPr>
          </a:p>
        </p:txBody>
      </p:sp>
      <p:sp>
        <p:nvSpPr>
          <p:cNvPr id="6" name="Line 16"/>
          <p:cNvSpPr>
            <a:spLocks noChangeShapeType="1"/>
          </p:cNvSpPr>
          <p:nvPr/>
        </p:nvSpPr>
        <p:spPr bwMode="auto">
          <a:xfrm>
            <a:off x="105604" y="726183"/>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485305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204232" y="671691"/>
            <a:ext cx="8570976"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r>
              <a:rPr lang="pt-BR" sz="2200" b="1">
                <a:solidFill>
                  <a:srgbClr val="002060"/>
                </a:solidFill>
                <a:latin typeface="Cambria" panose="02040503050406030204" pitchFamily="18" charset="0"/>
              </a:rPr>
              <a:t>1.4.2.	Vai trò của </a:t>
            </a:r>
            <a:r>
              <a:rPr lang="pt-BR" sz="2200" b="1" smtClean="0">
                <a:solidFill>
                  <a:srgbClr val="002060"/>
                </a:solidFill>
                <a:latin typeface="Cambria" panose="02040503050406030204" pitchFamily="18" charset="0"/>
              </a:rPr>
              <a:t>chuẩn</a:t>
            </a:r>
          </a:p>
          <a:p>
            <a:pPr algn="just">
              <a:lnSpc>
                <a:spcPct val="150000"/>
              </a:lnSpc>
            </a:pPr>
            <a:r>
              <a:rPr lang="vi-VN" sz="2200" b="1">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a:t>
            </a:r>
            <a:r>
              <a:rPr lang="en-US" sz="2200" b="1" smtClean="0">
                <a:solidFill>
                  <a:srgbClr val="002060"/>
                </a:solidFill>
                <a:latin typeface="Cambria" panose="02040503050406030204" pitchFamily="18" charset="0"/>
              </a:rPr>
              <a:t>í</a:t>
            </a:r>
            <a:r>
              <a:rPr lang="vi-VN" sz="2200" b="1" smtClean="0">
                <a:solidFill>
                  <a:srgbClr val="002060"/>
                </a:solidFill>
                <a:latin typeface="Cambria" panose="02040503050406030204" pitchFamily="18" charset="0"/>
              </a:rPr>
              <a:t>nh truy </a:t>
            </a:r>
            <a:r>
              <a:rPr lang="vi-VN" sz="2200" b="1">
                <a:solidFill>
                  <a:srgbClr val="002060"/>
                </a:solidFill>
                <a:latin typeface="Cambria" panose="02040503050406030204" pitchFamily="18" charset="0"/>
              </a:rPr>
              <a:t>cập được (Accessibility</a:t>
            </a:r>
            <a:r>
              <a:rPr lang="vi-VN" sz="2200" b="1" smtClean="0">
                <a:solidFill>
                  <a:srgbClr val="002060"/>
                </a:solidFill>
                <a:latin typeface="Cambria" panose="02040503050406030204" pitchFamily="18" charset="0"/>
              </a:rPr>
              <a:t>) </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en-US"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T</a:t>
            </a:r>
            <a:r>
              <a:rPr lang="en-US" sz="2200" b="1">
                <a:solidFill>
                  <a:srgbClr val="002060"/>
                </a:solidFill>
                <a:latin typeface="Cambria" panose="02040503050406030204" pitchFamily="18" charset="0"/>
              </a:rPr>
              <a:t>í</a:t>
            </a:r>
            <a:r>
              <a:rPr lang="vi-VN" sz="2200" b="1">
                <a:solidFill>
                  <a:srgbClr val="002060"/>
                </a:solidFill>
                <a:latin typeface="Cambria" panose="02040503050406030204" pitchFamily="18" charset="0"/>
              </a:rPr>
              <a:t>nh</a:t>
            </a:r>
            <a:r>
              <a:rPr lang="en-US" sz="2200" b="1" smtClean="0">
                <a:solidFill>
                  <a:srgbClr val="002060"/>
                </a:solidFill>
                <a:latin typeface="Cambria" panose="02040503050406030204" pitchFamily="18" charset="0"/>
              </a:rPr>
              <a:t> </a:t>
            </a:r>
            <a:r>
              <a:rPr lang="en-US" sz="2200" b="1">
                <a:solidFill>
                  <a:srgbClr val="002060"/>
                </a:solidFill>
                <a:latin typeface="Cambria" panose="02040503050406030204" pitchFamily="18" charset="0"/>
              </a:rPr>
              <a:t>khả chuyển (Interoperability</a:t>
            </a:r>
            <a:r>
              <a:rPr lang="en-US" sz="2200" b="1" smtClean="0">
                <a:solidFill>
                  <a:srgbClr val="002060"/>
                </a:solidFill>
                <a:latin typeface="Cambria" panose="02040503050406030204" pitchFamily="18" charset="0"/>
              </a:rPr>
              <a:t>)</a:t>
            </a:r>
          </a:p>
          <a:p>
            <a:pPr algn="just">
              <a:lnSpc>
                <a:spcPct val="150000"/>
              </a:lnSpc>
            </a:pPr>
            <a:r>
              <a:rPr lang="en-US" sz="2200" b="1">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a:t>
            </a:r>
            <a:r>
              <a:rPr lang="en-US" sz="2200" b="1">
                <a:solidFill>
                  <a:srgbClr val="002060"/>
                </a:solidFill>
                <a:latin typeface="Cambria" panose="02040503050406030204" pitchFamily="18" charset="0"/>
              </a:rPr>
              <a:t>í</a:t>
            </a:r>
            <a:r>
              <a:rPr lang="vi-VN" sz="2200" b="1">
                <a:solidFill>
                  <a:srgbClr val="002060"/>
                </a:solidFill>
                <a:latin typeface="Cambria" panose="02040503050406030204" pitchFamily="18" charset="0"/>
              </a:rPr>
              <a:t>nh</a:t>
            </a:r>
            <a:r>
              <a:rPr lang="en-US" sz="2200" b="1" smtClean="0">
                <a:solidFill>
                  <a:srgbClr val="002060"/>
                </a:solidFill>
                <a:latin typeface="Cambria" panose="02040503050406030204" pitchFamily="18" charset="0"/>
              </a:rPr>
              <a:t> </a:t>
            </a:r>
            <a:r>
              <a:rPr lang="en-US" sz="2200" b="1">
                <a:solidFill>
                  <a:srgbClr val="002060"/>
                </a:solidFill>
                <a:latin typeface="Cambria" panose="02040503050406030204" pitchFamily="18" charset="0"/>
              </a:rPr>
              <a:t>thìch ứng (Adaptability</a:t>
            </a:r>
            <a:r>
              <a:rPr lang="en-US" sz="2200" b="1" smtClean="0">
                <a:solidFill>
                  <a:srgbClr val="002060"/>
                </a:solidFill>
                <a:latin typeface="Cambria" panose="02040503050406030204" pitchFamily="18" charset="0"/>
              </a:rPr>
              <a:t>)</a:t>
            </a:r>
          </a:p>
          <a:p>
            <a:pPr algn="just">
              <a:lnSpc>
                <a:spcPct val="150000"/>
              </a:lnSpc>
            </a:pPr>
            <a:r>
              <a:rPr lang="en-US" sz="2200" b="1">
                <a:solidFill>
                  <a:srgbClr val="002060"/>
                </a:solidFill>
                <a:latin typeface="Cambria" panose="02040503050406030204" pitchFamily="18" charset="0"/>
              </a:rPr>
              <a:t>•	Khả năng sử dụng lại (Re-usability</a:t>
            </a:r>
            <a:r>
              <a:rPr lang="en-US" sz="2200" b="1" smtClean="0">
                <a:solidFill>
                  <a:srgbClr val="002060"/>
                </a:solidFill>
                <a:latin typeface="Cambria" panose="02040503050406030204" pitchFamily="18" charset="0"/>
              </a:rPr>
              <a:t>)</a:t>
            </a:r>
          </a:p>
          <a:p>
            <a:pPr algn="just">
              <a:lnSpc>
                <a:spcPct val="150000"/>
              </a:lnSpc>
            </a:pPr>
            <a:r>
              <a:rPr lang="en-US" sz="2200" b="1">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a:t>
            </a:r>
            <a:r>
              <a:rPr lang="en-US" sz="2200" b="1">
                <a:solidFill>
                  <a:srgbClr val="002060"/>
                </a:solidFill>
                <a:latin typeface="Cambria" panose="02040503050406030204" pitchFamily="18" charset="0"/>
              </a:rPr>
              <a:t>í</a:t>
            </a:r>
            <a:r>
              <a:rPr lang="vi-VN" sz="2200" b="1">
                <a:solidFill>
                  <a:srgbClr val="002060"/>
                </a:solidFill>
                <a:latin typeface="Cambria" panose="02040503050406030204" pitchFamily="18" charset="0"/>
              </a:rPr>
              <a:t>nh</a:t>
            </a:r>
            <a:r>
              <a:rPr lang="en-US" sz="2200" b="1" smtClean="0">
                <a:solidFill>
                  <a:srgbClr val="002060"/>
                </a:solidFill>
                <a:latin typeface="Cambria" panose="02040503050406030204" pitchFamily="18" charset="0"/>
              </a:rPr>
              <a:t> </a:t>
            </a:r>
            <a:r>
              <a:rPr lang="en-US" sz="2200" b="1">
                <a:solidFill>
                  <a:srgbClr val="002060"/>
                </a:solidFill>
                <a:latin typeface="Cambria" panose="02040503050406030204" pitchFamily="18" charset="0"/>
              </a:rPr>
              <a:t>bền vững (Durability</a:t>
            </a:r>
            <a:r>
              <a:rPr lang="en-US" sz="2200" b="1" smtClean="0">
                <a:solidFill>
                  <a:srgbClr val="002060"/>
                </a:solidFill>
                <a:latin typeface="Cambria" panose="02040503050406030204" pitchFamily="18" charset="0"/>
              </a:rPr>
              <a:t>)</a:t>
            </a:r>
          </a:p>
          <a:p>
            <a:pPr algn="just">
              <a:lnSpc>
                <a:spcPct val="150000"/>
              </a:lnSpc>
            </a:pPr>
            <a:r>
              <a:rPr lang="it-IT" sz="2200" b="1">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a:t>
            </a:r>
            <a:r>
              <a:rPr lang="en-US" sz="2200" b="1">
                <a:solidFill>
                  <a:srgbClr val="002060"/>
                </a:solidFill>
                <a:latin typeface="Cambria" panose="02040503050406030204" pitchFamily="18" charset="0"/>
              </a:rPr>
              <a:t>í</a:t>
            </a:r>
            <a:r>
              <a:rPr lang="vi-VN" sz="2200" b="1">
                <a:solidFill>
                  <a:srgbClr val="002060"/>
                </a:solidFill>
                <a:latin typeface="Cambria" panose="02040503050406030204" pitchFamily="18" charset="0"/>
              </a:rPr>
              <a:t>nh</a:t>
            </a:r>
            <a:r>
              <a:rPr lang="it-IT" sz="2200" b="1" smtClean="0">
                <a:solidFill>
                  <a:srgbClr val="002060"/>
                </a:solidFill>
                <a:latin typeface="Cambria" panose="02040503050406030204" pitchFamily="18" charset="0"/>
              </a:rPr>
              <a:t> </a:t>
            </a:r>
            <a:r>
              <a:rPr lang="it-IT" sz="2200" b="1">
                <a:solidFill>
                  <a:srgbClr val="002060"/>
                </a:solidFill>
                <a:latin typeface="Cambria" panose="02040503050406030204" pitchFamily="18" charset="0"/>
              </a:rPr>
              <a:t>giảm chi </a:t>
            </a:r>
            <a:r>
              <a:rPr lang="it-IT" sz="2200" b="1" smtClean="0">
                <a:solidFill>
                  <a:srgbClr val="002060"/>
                </a:solidFill>
                <a:latin typeface="Cambria" panose="02040503050406030204" pitchFamily="18" charset="0"/>
              </a:rPr>
              <a:t>phí </a:t>
            </a:r>
            <a:r>
              <a:rPr lang="it-IT" sz="2200" b="1">
                <a:solidFill>
                  <a:srgbClr val="002060"/>
                </a:solidFill>
                <a:latin typeface="Cambria" panose="02040503050406030204" pitchFamily="18" charset="0"/>
              </a:rPr>
              <a:t>(Affordability)</a:t>
            </a:r>
            <a:endParaRPr lang="en-US" sz="2200" b="1">
              <a:solidFill>
                <a:srgbClr val="002060"/>
              </a:solidFill>
              <a:latin typeface="Cambria" panose="02040503050406030204" pitchFamily="18" charset="0"/>
            </a:endParaRPr>
          </a:p>
        </p:txBody>
      </p:sp>
      <p:sp>
        <p:nvSpPr>
          <p:cNvPr id="5" name="Rectangle 4"/>
          <p:cNvSpPr/>
          <p:nvPr/>
        </p:nvSpPr>
        <p:spPr>
          <a:xfrm>
            <a:off x="119858" y="67477"/>
            <a:ext cx="8603228" cy="658706"/>
          </a:xfrm>
          <a:prstGeom prst="rect">
            <a:avLst/>
          </a:prstGeom>
          <a:noFill/>
        </p:spPr>
        <p:txBody>
          <a:bodyPr wrap="square" lIns="91440" tIns="45720" rIns="91440" bIns="45720">
            <a:spAutoFit/>
          </a:bodyPr>
          <a:lstStyle/>
          <a:p>
            <a:pPr indent="341313">
              <a:lnSpc>
                <a:spcPct val="150000"/>
              </a:lnSpc>
            </a:pPr>
            <a:r>
              <a:rPr lang="vi-VN" sz="2800" b="1">
                <a:solidFill>
                  <a:srgbClr val="002060"/>
                </a:solidFill>
                <a:latin typeface="Cambria" panose="02040503050406030204" pitchFamily="18" charset="0"/>
              </a:rPr>
              <a:t>1.4. Các chuẩn Multimedia thông dụng</a:t>
            </a:r>
            <a:endParaRPr lang="en-US" sz="2800" b="1">
              <a:solidFill>
                <a:srgbClr val="002060"/>
              </a:solidFill>
              <a:latin typeface="Cambria" panose="02040503050406030204" pitchFamily="18" charset="0"/>
            </a:endParaRPr>
          </a:p>
        </p:txBody>
      </p:sp>
      <p:sp>
        <p:nvSpPr>
          <p:cNvPr id="6" name="Line 16"/>
          <p:cNvSpPr>
            <a:spLocks noChangeShapeType="1"/>
          </p:cNvSpPr>
          <p:nvPr/>
        </p:nvSpPr>
        <p:spPr bwMode="auto">
          <a:xfrm>
            <a:off x="105604" y="726183"/>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541815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204232" y="671691"/>
            <a:ext cx="8570976" cy="6694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r>
              <a:rPr lang="pt-BR" sz="2200" b="1" smtClean="0">
                <a:solidFill>
                  <a:srgbClr val="002060"/>
                </a:solidFill>
                <a:latin typeface="Cambria" panose="02040503050406030204" pitchFamily="18" charset="0"/>
              </a:rPr>
              <a:t>1.4.3.</a:t>
            </a:r>
            <a:r>
              <a:rPr lang="pt-BR" sz="2200" b="1">
                <a:solidFill>
                  <a:srgbClr val="002060"/>
                </a:solidFill>
                <a:latin typeface="Cambria" panose="02040503050406030204" pitchFamily="18" charset="0"/>
              </a:rPr>
              <a:t>	</a:t>
            </a:r>
            <a:r>
              <a:rPr lang="pt-BR" sz="2200" b="1" smtClean="0">
                <a:solidFill>
                  <a:srgbClr val="002060"/>
                </a:solidFill>
                <a:latin typeface="Cambria" panose="02040503050406030204" pitchFamily="18" charset="0"/>
              </a:rPr>
              <a:t>Một số chuẩn</a:t>
            </a:r>
          </a:p>
          <a:p>
            <a:pPr marL="238125" indent="-238125" algn="just">
              <a:lnSpc>
                <a:spcPct val="150000"/>
              </a:lnSpc>
            </a:pPr>
            <a:r>
              <a:rPr lang="vi-VN" sz="2200" b="1">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Các </a:t>
            </a:r>
            <a:r>
              <a:rPr lang="vi-VN" sz="2200" b="1">
                <a:solidFill>
                  <a:srgbClr val="002060"/>
                </a:solidFill>
                <a:latin typeface="Cambria" panose="02040503050406030204" pitchFamily="18" charset="0"/>
              </a:rPr>
              <a:t>chuẩn viễn </a:t>
            </a:r>
            <a:r>
              <a:rPr lang="vi-VN" sz="2200" b="1" smtClean="0">
                <a:solidFill>
                  <a:srgbClr val="002060"/>
                </a:solidFill>
                <a:latin typeface="Cambria" panose="02040503050406030204" pitchFamily="18" charset="0"/>
              </a:rPr>
              <a:t>thông</a:t>
            </a:r>
            <a:endParaRPr lang="en-US" sz="2200" b="1" smtClean="0">
              <a:solidFill>
                <a:srgbClr val="002060"/>
              </a:solidFill>
              <a:latin typeface="Cambria" panose="02040503050406030204" pitchFamily="18" charset="0"/>
            </a:endParaRPr>
          </a:p>
          <a:p>
            <a:pPr marL="635000" indent="-342900" algn="just">
              <a:lnSpc>
                <a:spcPct val="150000"/>
              </a:lnSpc>
              <a:buFont typeface="Cambria" panose="02040503050406030204" pitchFamily="18" charset="0"/>
              <a:buChar char="-"/>
            </a:pPr>
            <a:r>
              <a:rPr lang="en-US" sz="2200" b="1" smtClean="0">
                <a:solidFill>
                  <a:srgbClr val="002060"/>
                </a:solidFill>
                <a:latin typeface="Cambria" panose="02040503050406030204" pitchFamily="18" charset="0"/>
              </a:rPr>
              <a:t>H.323 </a:t>
            </a:r>
            <a:r>
              <a:rPr lang="en-US" sz="2200" b="1">
                <a:solidFill>
                  <a:srgbClr val="002060"/>
                </a:solidFill>
                <a:latin typeface="Cambria" panose="02040503050406030204" pitchFamily="18" charset="0"/>
              </a:rPr>
              <a:t>dùng cho các hệ thống trao đổi thông tin multimedia dựa trên gói </a:t>
            </a:r>
            <a:r>
              <a:rPr lang="en-US" sz="2200" b="1" smtClean="0">
                <a:solidFill>
                  <a:srgbClr val="002060"/>
                </a:solidFill>
                <a:latin typeface="Cambria" panose="02040503050406030204" pitchFamily="18" charset="0"/>
              </a:rPr>
              <a:t>tin</a:t>
            </a:r>
          </a:p>
          <a:p>
            <a:pPr marL="635000" indent="-342900" algn="just">
              <a:lnSpc>
                <a:spcPct val="150000"/>
              </a:lnSpc>
              <a:buFont typeface="Cambria" panose="02040503050406030204" pitchFamily="18" charset="0"/>
              <a:buChar char="-"/>
            </a:pPr>
            <a:r>
              <a:rPr lang="en-US" sz="2200" b="1" smtClean="0">
                <a:solidFill>
                  <a:srgbClr val="002060"/>
                </a:solidFill>
                <a:latin typeface="Cambria" panose="02040503050406030204" pitchFamily="18" charset="0"/>
              </a:rPr>
              <a:t>T.120 </a:t>
            </a:r>
            <a:r>
              <a:rPr lang="en-US" sz="2200" b="1">
                <a:solidFill>
                  <a:srgbClr val="002060"/>
                </a:solidFill>
                <a:latin typeface="Cambria" panose="02040503050406030204" pitchFamily="18" charset="0"/>
              </a:rPr>
              <a:t>dùng cho các giao thức dữ liệu phục vụ cho hội thảo multimedia.</a:t>
            </a:r>
          </a:p>
          <a:p>
            <a:pPr marL="238125" indent="-238125" algn="just">
              <a:lnSpc>
                <a:spcPct val="150000"/>
              </a:lnSpc>
              <a:buFont typeface="Arial" panose="020B0604020202020204" pitchFamily="34" charset="0"/>
              <a:buChar char="•"/>
            </a:pPr>
            <a:r>
              <a:rPr lang="en-US" sz="2200" b="1">
                <a:solidFill>
                  <a:srgbClr val="002060"/>
                </a:solidFill>
                <a:latin typeface="Cambria" panose="02040503050406030204" pitchFamily="18" charset="0"/>
              </a:rPr>
              <a:t> </a:t>
            </a:r>
            <a:r>
              <a:rPr lang="en-US" sz="2200" b="1" smtClean="0">
                <a:solidFill>
                  <a:srgbClr val="002060"/>
                </a:solidFill>
                <a:latin typeface="Cambria" panose="02040503050406030204" pitchFamily="18" charset="0"/>
              </a:rPr>
              <a:t>Các </a:t>
            </a:r>
            <a:r>
              <a:rPr lang="en-US" sz="2200" b="1">
                <a:solidFill>
                  <a:srgbClr val="002060"/>
                </a:solidFill>
                <a:latin typeface="Cambria" panose="02040503050406030204" pitchFamily="18" charset="0"/>
              </a:rPr>
              <a:t>chuẩn </a:t>
            </a:r>
            <a:r>
              <a:rPr lang="en-US" sz="2200" b="1" smtClean="0">
                <a:solidFill>
                  <a:srgbClr val="002060"/>
                </a:solidFill>
                <a:latin typeface="Cambria" panose="02040503050406030204" pitchFamily="18" charset="0"/>
              </a:rPr>
              <a:t>media</a:t>
            </a:r>
          </a:p>
          <a:p>
            <a:pPr marL="685800" indent="-342900" algn="just">
              <a:lnSpc>
                <a:spcPct val="150000"/>
              </a:lnSpc>
              <a:buFont typeface="Cambria" panose="02040503050406030204" pitchFamily="18" charset="0"/>
              <a:buChar char="-"/>
            </a:pPr>
            <a:r>
              <a:rPr lang="en-US" sz="2200" b="1" smtClean="0">
                <a:solidFill>
                  <a:srgbClr val="002060"/>
                </a:solidFill>
                <a:latin typeface="Cambria" panose="02040503050406030204" pitchFamily="18" charset="0"/>
              </a:rPr>
              <a:t>CSS: kiểm </a:t>
            </a:r>
            <a:r>
              <a:rPr lang="en-US" sz="2200" b="1">
                <a:solidFill>
                  <a:srgbClr val="002060"/>
                </a:solidFill>
                <a:latin typeface="Cambria" panose="02040503050406030204" pitchFamily="18" charset="0"/>
              </a:rPr>
              <a:t>soát giao diện bên ngoài các trang HTML và </a:t>
            </a:r>
            <a:r>
              <a:rPr lang="en-US" sz="2200" b="1" smtClean="0">
                <a:solidFill>
                  <a:srgbClr val="002060"/>
                </a:solidFill>
                <a:latin typeface="Cambria" panose="02040503050406030204" pitchFamily="18" charset="0"/>
              </a:rPr>
              <a:t>XML</a:t>
            </a:r>
          </a:p>
          <a:p>
            <a:pPr marL="685800" indent="-342900" algn="just">
              <a:lnSpc>
                <a:spcPct val="150000"/>
              </a:lnSpc>
              <a:buFont typeface="Cambria" panose="02040503050406030204" pitchFamily="18" charset="0"/>
              <a:buChar char="-"/>
            </a:pPr>
            <a:r>
              <a:rPr lang="en-US" sz="2200" b="1" smtClean="0">
                <a:solidFill>
                  <a:srgbClr val="002060"/>
                </a:solidFill>
                <a:latin typeface="Cambria" panose="02040503050406030204" pitchFamily="18" charset="0"/>
              </a:rPr>
              <a:t>HTML: tạo </a:t>
            </a:r>
            <a:r>
              <a:rPr lang="en-US" sz="2200" b="1">
                <a:solidFill>
                  <a:srgbClr val="002060"/>
                </a:solidFill>
                <a:latin typeface="Cambria" panose="02040503050406030204" pitchFamily="18" charset="0"/>
              </a:rPr>
              <a:t>các trang </a:t>
            </a:r>
            <a:r>
              <a:rPr lang="en-US" sz="2200" b="1" smtClean="0">
                <a:solidFill>
                  <a:srgbClr val="002060"/>
                </a:solidFill>
                <a:latin typeface="Cambria" panose="02040503050406030204" pitchFamily="18" charset="0"/>
              </a:rPr>
              <a:t>Web</a:t>
            </a:r>
          </a:p>
          <a:p>
            <a:pPr marL="685800" indent="-342900" algn="just">
              <a:lnSpc>
                <a:spcPct val="150000"/>
              </a:lnSpc>
              <a:buFont typeface="Cambria" panose="02040503050406030204" pitchFamily="18" charset="0"/>
              <a:buChar char="-"/>
            </a:pPr>
            <a:r>
              <a:rPr lang="en-US" sz="2200" b="1" smtClean="0">
                <a:solidFill>
                  <a:srgbClr val="002060"/>
                </a:solidFill>
                <a:latin typeface="Cambria" panose="02040503050406030204" pitchFamily="18" charset="0"/>
              </a:rPr>
              <a:t>HTTP: gửi </a:t>
            </a:r>
            <a:r>
              <a:rPr lang="en-US" sz="2200" b="1">
                <a:solidFill>
                  <a:srgbClr val="002060"/>
                </a:solidFill>
                <a:latin typeface="Cambria" panose="02040503050406030204" pitchFamily="18" charset="0"/>
              </a:rPr>
              <a:t>dữ liệu giữa server và trính </a:t>
            </a:r>
            <a:r>
              <a:rPr lang="en-US" sz="2200" b="1" smtClean="0">
                <a:solidFill>
                  <a:srgbClr val="002060"/>
                </a:solidFill>
                <a:latin typeface="Cambria" panose="02040503050406030204" pitchFamily="18" charset="0"/>
              </a:rPr>
              <a:t>duyệt</a:t>
            </a:r>
          </a:p>
          <a:p>
            <a:pPr marL="685800" indent="-342900" algn="just">
              <a:lnSpc>
                <a:spcPct val="150000"/>
              </a:lnSpc>
              <a:buFont typeface="Cambria" panose="02040503050406030204" pitchFamily="18" charset="0"/>
              <a:buChar char="-"/>
            </a:pPr>
            <a:r>
              <a:rPr lang="en-US" sz="2200" b="1" smtClean="0">
                <a:solidFill>
                  <a:srgbClr val="002060"/>
                </a:solidFill>
                <a:latin typeface="Cambria" panose="02040503050406030204" pitchFamily="18" charset="0"/>
              </a:rPr>
              <a:t>SMIL: tạo </a:t>
            </a:r>
            <a:r>
              <a:rPr lang="en-US" sz="2200" b="1">
                <a:solidFill>
                  <a:srgbClr val="002060"/>
                </a:solidFill>
                <a:latin typeface="Cambria" panose="02040503050406030204" pitchFamily="18" charset="0"/>
              </a:rPr>
              <a:t>các bài trính bày </a:t>
            </a:r>
            <a:r>
              <a:rPr lang="en-US" sz="2200" b="1" smtClean="0">
                <a:solidFill>
                  <a:srgbClr val="002060"/>
                </a:solidFill>
                <a:latin typeface="Cambria" panose="02040503050406030204" pitchFamily="18" charset="0"/>
              </a:rPr>
              <a:t>multimedia</a:t>
            </a:r>
          </a:p>
          <a:p>
            <a:pPr algn="just">
              <a:lnSpc>
                <a:spcPct val="150000"/>
              </a:lnSpc>
            </a:pPr>
            <a:r>
              <a:rPr lang="en-US" sz="2200" b="1" smtClean="0">
                <a:solidFill>
                  <a:srgbClr val="002060"/>
                </a:solidFill>
                <a:latin typeface="Cambria" panose="02040503050406030204" pitchFamily="18" charset="0"/>
              </a:rPr>
              <a:t>…….</a:t>
            </a:r>
            <a:endParaRPr lang="en-US" sz="2200" b="1">
              <a:solidFill>
                <a:srgbClr val="002060"/>
              </a:solidFill>
              <a:latin typeface="Cambria" panose="02040503050406030204" pitchFamily="18" charset="0"/>
            </a:endParaRPr>
          </a:p>
          <a:p>
            <a:pPr algn="just">
              <a:lnSpc>
                <a:spcPct val="150000"/>
              </a:lnSpc>
            </a:pPr>
            <a:endParaRPr lang="en-US" sz="2200" b="1">
              <a:solidFill>
                <a:srgbClr val="002060"/>
              </a:solidFill>
              <a:latin typeface="Cambria" panose="02040503050406030204" pitchFamily="18" charset="0"/>
            </a:endParaRPr>
          </a:p>
        </p:txBody>
      </p:sp>
      <p:sp>
        <p:nvSpPr>
          <p:cNvPr id="5" name="Rectangle 4"/>
          <p:cNvSpPr/>
          <p:nvPr/>
        </p:nvSpPr>
        <p:spPr>
          <a:xfrm>
            <a:off x="119858" y="67477"/>
            <a:ext cx="8603228" cy="658706"/>
          </a:xfrm>
          <a:prstGeom prst="rect">
            <a:avLst/>
          </a:prstGeom>
          <a:noFill/>
        </p:spPr>
        <p:txBody>
          <a:bodyPr wrap="square" lIns="91440" tIns="45720" rIns="91440" bIns="45720">
            <a:spAutoFit/>
          </a:bodyPr>
          <a:lstStyle/>
          <a:p>
            <a:pPr indent="341313">
              <a:lnSpc>
                <a:spcPct val="150000"/>
              </a:lnSpc>
            </a:pPr>
            <a:r>
              <a:rPr lang="vi-VN" sz="2800" b="1">
                <a:solidFill>
                  <a:srgbClr val="002060"/>
                </a:solidFill>
                <a:latin typeface="Cambria" panose="02040503050406030204" pitchFamily="18" charset="0"/>
              </a:rPr>
              <a:t>1.4. Các chuẩn Multimedia thông dụng</a:t>
            </a:r>
            <a:endParaRPr lang="en-US" sz="2800" b="1">
              <a:solidFill>
                <a:srgbClr val="002060"/>
              </a:solidFill>
              <a:latin typeface="Cambria" panose="02040503050406030204" pitchFamily="18" charset="0"/>
            </a:endParaRPr>
          </a:p>
        </p:txBody>
      </p:sp>
      <p:sp>
        <p:nvSpPr>
          <p:cNvPr id="6" name="Line 16"/>
          <p:cNvSpPr>
            <a:spLocks noChangeShapeType="1"/>
          </p:cNvSpPr>
          <p:nvPr/>
        </p:nvSpPr>
        <p:spPr bwMode="auto">
          <a:xfrm>
            <a:off x="105604" y="726183"/>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4289516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204232" y="671691"/>
            <a:ext cx="8570976"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238125" indent="-238125" algn="just">
              <a:lnSpc>
                <a:spcPct val="150000"/>
              </a:lnSpc>
            </a:pPr>
            <a:r>
              <a:rPr lang="vi-VN" sz="2200" b="1" smtClean="0">
                <a:solidFill>
                  <a:srgbClr val="002060"/>
                </a:solidFill>
                <a:latin typeface="Cambria" panose="02040503050406030204" pitchFamily="18" charset="0"/>
              </a:rPr>
              <a:t>•</a:t>
            </a:r>
            <a:r>
              <a:rPr lang="vi-VN" sz="2200" b="1">
                <a:solidFill>
                  <a:srgbClr val="002060"/>
                </a:solidFill>
                <a:latin typeface="Cambria" panose="02040503050406030204" pitchFamily="18" charset="0"/>
              </a:rPr>
              <a:t>	Một số chuẩn tài liệu tổng </a:t>
            </a:r>
            <a:r>
              <a:rPr lang="vi-VN" sz="2200" b="1" smtClean="0">
                <a:solidFill>
                  <a:srgbClr val="002060"/>
                </a:solidFill>
                <a:latin typeface="Cambria" panose="02040503050406030204" pitchFamily="18" charset="0"/>
              </a:rPr>
              <a:t>hợp</a:t>
            </a:r>
            <a:endParaRPr lang="en-US" sz="2200" b="1" smtClean="0">
              <a:solidFill>
                <a:srgbClr val="002060"/>
              </a:solidFill>
              <a:latin typeface="Cambria" panose="02040503050406030204" pitchFamily="18" charset="0"/>
            </a:endParaRPr>
          </a:p>
          <a:p>
            <a:pPr marL="574675" indent="-342900" algn="just">
              <a:lnSpc>
                <a:spcPct val="150000"/>
              </a:lnSpc>
              <a:buFont typeface="Cambria" panose="02040503050406030204" pitchFamily="18" charset="0"/>
              <a:buChar char="-"/>
            </a:pPr>
            <a:r>
              <a:rPr lang="en-US" sz="2200" b="1" smtClean="0">
                <a:solidFill>
                  <a:srgbClr val="002060"/>
                </a:solidFill>
                <a:latin typeface="Cambria" panose="02040503050406030204" pitchFamily="18" charset="0"/>
              </a:rPr>
              <a:t>SGML: là </a:t>
            </a:r>
            <a:r>
              <a:rPr lang="en-US" sz="2200" b="1">
                <a:solidFill>
                  <a:srgbClr val="002060"/>
                </a:solidFill>
                <a:latin typeface="Cambria" panose="02040503050406030204" pitchFamily="18" charset="0"/>
              </a:rPr>
              <a:t>ngôn ngữ chuẩn quốc tế cho phép mô tả thông tin cấu trúc độc lập với cách thức xứ lý thông tin</a:t>
            </a:r>
          </a:p>
          <a:p>
            <a:pPr marL="574675" indent="-342900" algn="just">
              <a:lnSpc>
                <a:spcPct val="150000"/>
              </a:lnSpc>
              <a:buFont typeface="Cambria" panose="02040503050406030204" pitchFamily="18" charset="0"/>
              <a:buChar char="-"/>
            </a:pPr>
            <a:r>
              <a:rPr lang="en-US" sz="2200" b="1" smtClean="0">
                <a:solidFill>
                  <a:srgbClr val="002060"/>
                </a:solidFill>
                <a:latin typeface="Cambria" panose="02040503050406030204" pitchFamily="18" charset="0"/>
              </a:rPr>
              <a:t> ODA: </a:t>
            </a:r>
            <a:r>
              <a:rPr lang="vi-VN" sz="2200" b="1">
                <a:solidFill>
                  <a:srgbClr val="002060"/>
                </a:solidFill>
                <a:latin typeface="Cambria" panose="02040503050406030204" pitchFamily="18" charset="0"/>
              </a:rPr>
              <a:t>là chuẩn quốc tế để đặc tả các thành phần logic và bố </a:t>
            </a:r>
            <a:r>
              <a:rPr lang="vi-VN" sz="2200" b="1" smtClean="0">
                <a:solidFill>
                  <a:srgbClr val="002060"/>
                </a:solidFill>
                <a:latin typeface="Cambria" panose="02040503050406030204" pitchFamily="18" charset="0"/>
              </a:rPr>
              <a:t>tr</a:t>
            </a:r>
            <a:r>
              <a:rPr lang="en-US" sz="2200" b="1">
                <a:solidFill>
                  <a:srgbClr val="002060"/>
                </a:solidFill>
                <a:latin typeface="Cambria" panose="02040503050406030204" pitchFamily="18" charset="0"/>
              </a:rPr>
              <a:t>í</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(layout) được tổ hợp và tương quan với nhau thế </a:t>
            </a:r>
            <a:r>
              <a:rPr lang="vi-VN" sz="2200" b="1" smtClean="0">
                <a:solidFill>
                  <a:srgbClr val="002060"/>
                </a:solidFill>
                <a:latin typeface="Cambria" panose="02040503050406030204" pitchFamily="18" charset="0"/>
              </a:rPr>
              <a:t>nào</a:t>
            </a:r>
            <a:endParaRPr lang="en-US" sz="2200" b="1" smtClean="0">
              <a:solidFill>
                <a:srgbClr val="002060"/>
              </a:solidFill>
              <a:latin typeface="Cambria" panose="02040503050406030204" pitchFamily="18" charset="0"/>
            </a:endParaRPr>
          </a:p>
          <a:p>
            <a:pPr marL="574675" indent="-342900" algn="just">
              <a:lnSpc>
                <a:spcPct val="150000"/>
              </a:lnSpc>
              <a:buFont typeface="Cambria" panose="02040503050406030204" pitchFamily="18" charset="0"/>
              <a:buChar char="-"/>
            </a:pPr>
            <a:r>
              <a:rPr lang="en-US" sz="2200" b="1">
                <a:solidFill>
                  <a:srgbClr val="002060"/>
                </a:solidFill>
                <a:latin typeface="Cambria" panose="02040503050406030204" pitchFamily="18" charset="0"/>
              </a:rPr>
              <a:t>Acrobat PDF: là một chuẩn để trao đổi tài </a:t>
            </a:r>
            <a:r>
              <a:rPr lang="en-US" sz="2200" b="1" smtClean="0">
                <a:solidFill>
                  <a:srgbClr val="002060"/>
                </a:solidFill>
                <a:latin typeface="Cambria" panose="02040503050406030204" pitchFamily="18" charset="0"/>
              </a:rPr>
              <a:t>liệu</a:t>
            </a:r>
          </a:p>
          <a:p>
            <a:pPr marL="574675" indent="-342900" algn="just">
              <a:lnSpc>
                <a:spcPct val="150000"/>
              </a:lnSpc>
              <a:buFont typeface="Cambria" panose="02040503050406030204" pitchFamily="18" charset="0"/>
              <a:buChar char="-"/>
            </a:pPr>
            <a:r>
              <a:rPr lang="en-US" sz="2200" b="1">
                <a:solidFill>
                  <a:srgbClr val="002060"/>
                </a:solidFill>
                <a:latin typeface="Cambria" panose="02040503050406030204" pitchFamily="18" charset="0"/>
              </a:rPr>
              <a:t>HyTime: là chuẩn của ISO về </a:t>
            </a:r>
            <a:r>
              <a:rPr lang="en-US" sz="2200" b="1" smtClean="0">
                <a:solidFill>
                  <a:srgbClr val="002060"/>
                </a:solidFill>
                <a:latin typeface="Cambria" panose="02040503050406030204" pitchFamily="18" charset="0"/>
              </a:rPr>
              <a:t>trình </a:t>
            </a:r>
            <a:r>
              <a:rPr lang="en-US" sz="2200" b="1">
                <a:solidFill>
                  <a:srgbClr val="002060"/>
                </a:solidFill>
                <a:latin typeface="Cambria" panose="02040503050406030204" pitchFamily="18" charset="0"/>
              </a:rPr>
              <a:t>diễn tài liệu hypermedia bằng </a:t>
            </a:r>
            <a:r>
              <a:rPr lang="en-US" sz="2200" b="1" smtClean="0">
                <a:solidFill>
                  <a:srgbClr val="002060"/>
                </a:solidFill>
                <a:latin typeface="Cambria" panose="02040503050406030204" pitchFamily="18" charset="0"/>
              </a:rPr>
              <a:t>SGML</a:t>
            </a:r>
          </a:p>
          <a:p>
            <a:pPr marL="574675" indent="-342900" algn="just">
              <a:lnSpc>
                <a:spcPct val="150000"/>
              </a:lnSpc>
              <a:buFont typeface="Cambria" panose="02040503050406030204" pitchFamily="18" charset="0"/>
              <a:buChar char="-"/>
            </a:pPr>
            <a:r>
              <a:rPr lang="en-US" sz="2200" b="1" smtClean="0">
                <a:solidFill>
                  <a:srgbClr val="002060"/>
                </a:solidFill>
                <a:latin typeface="Cambria" panose="02040503050406030204" pitchFamily="18" charset="0"/>
              </a:rPr>
              <a:t>MHEG: </a:t>
            </a:r>
            <a:r>
              <a:rPr lang="vi-VN" sz="2200" b="1">
                <a:solidFill>
                  <a:srgbClr val="002060"/>
                </a:solidFill>
                <a:latin typeface="Cambria" panose="02040503050406030204" pitchFamily="18" charset="0"/>
              </a:rPr>
              <a:t>là chuẩn do tổ chức ISO định nghĩa mô hính hướng đối tượng để trao đổi đa phương tiện</a:t>
            </a:r>
            <a:endParaRPr lang="en-US" sz="2200" b="1">
              <a:solidFill>
                <a:srgbClr val="002060"/>
              </a:solidFill>
              <a:latin typeface="Cambria" panose="02040503050406030204" pitchFamily="18" charset="0"/>
            </a:endParaRPr>
          </a:p>
        </p:txBody>
      </p:sp>
      <p:sp>
        <p:nvSpPr>
          <p:cNvPr id="5" name="Rectangle 4"/>
          <p:cNvSpPr/>
          <p:nvPr/>
        </p:nvSpPr>
        <p:spPr>
          <a:xfrm>
            <a:off x="119858" y="67477"/>
            <a:ext cx="8603228" cy="658706"/>
          </a:xfrm>
          <a:prstGeom prst="rect">
            <a:avLst/>
          </a:prstGeom>
          <a:noFill/>
        </p:spPr>
        <p:txBody>
          <a:bodyPr wrap="square" lIns="91440" tIns="45720" rIns="91440" bIns="45720">
            <a:spAutoFit/>
          </a:bodyPr>
          <a:lstStyle/>
          <a:p>
            <a:pPr indent="341313">
              <a:lnSpc>
                <a:spcPct val="150000"/>
              </a:lnSpc>
            </a:pPr>
            <a:r>
              <a:rPr lang="vi-VN" sz="2800" b="1">
                <a:solidFill>
                  <a:srgbClr val="002060"/>
                </a:solidFill>
                <a:latin typeface="Cambria" panose="02040503050406030204" pitchFamily="18" charset="0"/>
              </a:rPr>
              <a:t>1.4. Các chuẩn Multimedia thông dụng</a:t>
            </a:r>
            <a:endParaRPr lang="en-US" sz="2800" b="1">
              <a:solidFill>
                <a:srgbClr val="002060"/>
              </a:solidFill>
              <a:latin typeface="Cambria" panose="02040503050406030204" pitchFamily="18" charset="0"/>
            </a:endParaRPr>
          </a:p>
        </p:txBody>
      </p:sp>
      <p:sp>
        <p:nvSpPr>
          <p:cNvPr id="6" name="Line 16"/>
          <p:cNvSpPr>
            <a:spLocks noChangeShapeType="1"/>
          </p:cNvSpPr>
          <p:nvPr/>
        </p:nvSpPr>
        <p:spPr bwMode="auto">
          <a:xfrm>
            <a:off x="105604" y="726183"/>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0306116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1039732"/>
            <a:ext cx="8570976" cy="6242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238125" indent="-238125" algn="just">
              <a:spcBef>
                <a:spcPts val="500"/>
              </a:spcBef>
              <a:spcAft>
                <a:spcPts val="500"/>
              </a:spcAft>
            </a:pPr>
            <a:r>
              <a:rPr lang="vi-VN" sz="2200" b="1">
                <a:solidFill>
                  <a:srgbClr val="002060"/>
                </a:solidFill>
                <a:latin typeface="Cambria" panose="02040503050406030204" pitchFamily="18" charset="0"/>
              </a:rPr>
              <a:t>1.5.1.	Bản </a:t>
            </a:r>
            <a:r>
              <a:rPr lang="vi-VN" sz="2200" b="1" smtClean="0">
                <a:solidFill>
                  <a:srgbClr val="002060"/>
                </a:solidFill>
                <a:latin typeface="Cambria" panose="02040503050406030204" pitchFamily="18" charset="0"/>
              </a:rPr>
              <a:t>quyền</a:t>
            </a:r>
            <a:endParaRPr lang="en-US" sz="2200" b="1" smtClean="0">
              <a:solidFill>
                <a:srgbClr val="002060"/>
              </a:solidFill>
              <a:latin typeface="Cambria" panose="02040503050406030204" pitchFamily="18" charset="0"/>
            </a:endParaRPr>
          </a:p>
          <a:p>
            <a:pPr marL="342900" indent="-342900" algn="just">
              <a:spcBef>
                <a:spcPts val="500"/>
              </a:spcBef>
              <a:spcAft>
                <a:spcPts val="500"/>
              </a:spcAft>
              <a:buFont typeface="Arial" panose="020B0604020202020204" pitchFamily="34" charset="0"/>
              <a:buChar char="•"/>
            </a:pPr>
            <a:r>
              <a:rPr lang="en-US" sz="2200" b="1">
                <a:solidFill>
                  <a:srgbClr val="002060"/>
                </a:solidFill>
                <a:latin typeface="Cambria" panose="02040503050406030204" pitchFamily="18" charset="0"/>
              </a:rPr>
              <a:t>Kí hiệu bản quyền © là kí hiệu quốc tế dùng để cho biết tính bản quyền của tác </a:t>
            </a:r>
            <a:r>
              <a:rPr lang="en-US" sz="2200" b="1" smtClean="0">
                <a:solidFill>
                  <a:srgbClr val="002060"/>
                </a:solidFill>
                <a:latin typeface="Cambria" panose="02040503050406030204" pitchFamily="18" charset="0"/>
              </a:rPr>
              <a:t>phẩm</a:t>
            </a:r>
          </a:p>
          <a:p>
            <a:pPr marL="342900" indent="-342900" algn="just">
              <a:spcBef>
                <a:spcPts val="500"/>
              </a:spcBef>
              <a:spcAft>
                <a:spcPts val="500"/>
              </a:spcAft>
              <a:buFont typeface="Arial" panose="020B0604020202020204" pitchFamily="34" charset="0"/>
              <a:buChar char="•"/>
            </a:pPr>
            <a:r>
              <a:rPr lang="vi-VN" sz="2200" b="1">
                <a:solidFill>
                  <a:srgbClr val="002060"/>
                </a:solidFill>
                <a:latin typeface="Cambria" panose="02040503050406030204" pitchFamily="18" charset="0"/>
              </a:rPr>
              <a:t>Với mỗi sản phẩm đăng kí bản quyền, người ta biết các thông tin về bản quyền sau </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indent="695325" algn="just">
              <a:spcBef>
                <a:spcPts val="500"/>
              </a:spcBef>
              <a:spcAft>
                <a:spcPts val="500"/>
              </a:spcAft>
            </a:pPr>
            <a:r>
              <a:rPr lang="vi-VN" sz="2200" b="1">
                <a:solidFill>
                  <a:srgbClr val="002060"/>
                </a:solidFill>
                <a:latin typeface="Cambria" panose="02040503050406030204" pitchFamily="18" charset="0"/>
              </a:rPr>
              <a:t>-	Kí hiệu bản </a:t>
            </a:r>
            <a:r>
              <a:rPr lang="vi-VN" sz="2200" b="1" smtClean="0">
                <a:solidFill>
                  <a:srgbClr val="002060"/>
                </a:solidFill>
                <a:latin typeface="Cambria" panose="02040503050406030204" pitchFamily="18" charset="0"/>
              </a:rPr>
              <a:t>quyền</a:t>
            </a:r>
            <a:endParaRPr lang="vi-VN" sz="2200" b="1">
              <a:solidFill>
                <a:srgbClr val="002060"/>
              </a:solidFill>
              <a:latin typeface="Cambria" panose="02040503050406030204" pitchFamily="18" charset="0"/>
            </a:endParaRPr>
          </a:p>
          <a:p>
            <a:pPr indent="695325" algn="just">
              <a:spcBef>
                <a:spcPts val="500"/>
              </a:spcBef>
              <a:spcAft>
                <a:spcPts val="500"/>
              </a:spcAft>
            </a:pPr>
            <a:r>
              <a:rPr lang="vi-VN" sz="2200" b="1">
                <a:solidFill>
                  <a:srgbClr val="002060"/>
                </a:solidFill>
                <a:latin typeface="Cambria" panose="02040503050406030204" pitchFamily="18" charset="0"/>
              </a:rPr>
              <a:t>-	Tên người sở </a:t>
            </a:r>
            <a:r>
              <a:rPr lang="vi-VN" sz="2200" b="1" smtClean="0">
                <a:solidFill>
                  <a:srgbClr val="002060"/>
                </a:solidFill>
                <a:latin typeface="Cambria" panose="02040503050406030204" pitchFamily="18" charset="0"/>
              </a:rPr>
              <a:t>hữu</a:t>
            </a:r>
            <a:endParaRPr lang="vi-VN" sz="2200" b="1">
              <a:solidFill>
                <a:srgbClr val="002060"/>
              </a:solidFill>
              <a:latin typeface="Cambria" panose="02040503050406030204" pitchFamily="18" charset="0"/>
            </a:endParaRPr>
          </a:p>
          <a:p>
            <a:pPr indent="695325" algn="just">
              <a:spcBef>
                <a:spcPts val="500"/>
              </a:spcBef>
              <a:spcAft>
                <a:spcPts val="500"/>
              </a:spcAft>
            </a:pPr>
            <a:r>
              <a:rPr lang="vi-VN" sz="2200" b="1">
                <a:solidFill>
                  <a:srgbClr val="002060"/>
                </a:solidFill>
                <a:latin typeface="Cambria" panose="02040503050406030204" pitchFamily="18" charset="0"/>
              </a:rPr>
              <a:t>-	Năm đưa ra lần </a:t>
            </a:r>
            <a:r>
              <a:rPr lang="vi-VN" sz="2200" b="1" smtClean="0">
                <a:solidFill>
                  <a:srgbClr val="002060"/>
                </a:solidFill>
                <a:latin typeface="Cambria" panose="02040503050406030204" pitchFamily="18" charset="0"/>
              </a:rPr>
              <a:t>đầu</a:t>
            </a:r>
            <a:endParaRPr lang="vi-VN" sz="2200" b="1">
              <a:solidFill>
                <a:srgbClr val="002060"/>
              </a:solidFill>
              <a:latin typeface="Cambria" panose="02040503050406030204" pitchFamily="18" charset="0"/>
            </a:endParaRPr>
          </a:p>
          <a:p>
            <a:pPr indent="695325" algn="just">
              <a:spcBef>
                <a:spcPts val="500"/>
              </a:spcBef>
              <a:spcAft>
                <a:spcPts val="500"/>
              </a:spcAft>
            </a:pPr>
            <a:r>
              <a:rPr lang="vi-VN" sz="2200" b="1">
                <a:solidFill>
                  <a:srgbClr val="002060"/>
                </a:solidFill>
                <a:latin typeface="Cambria" panose="02040503050406030204" pitchFamily="18" charset="0"/>
              </a:rPr>
              <a:t>-	Mục </a:t>
            </a:r>
            <a:r>
              <a:rPr lang="vi-VN" sz="2200" b="1" smtClean="0">
                <a:solidFill>
                  <a:srgbClr val="002060"/>
                </a:solidFill>
                <a:latin typeface="Cambria" panose="02040503050406030204" pitchFamily="18" charset="0"/>
              </a:rPr>
              <a:t>đ</a:t>
            </a:r>
            <a:r>
              <a:rPr lang="en-US" sz="2200" b="1">
                <a:solidFill>
                  <a:srgbClr val="002060"/>
                </a:solidFill>
                <a:latin typeface="Cambria" panose="02040503050406030204" pitchFamily="18" charset="0"/>
              </a:rPr>
              <a:t>í</a:t>
            </a:r>
            <a:r>
              <a:rPr lang="vi-VN" sz="2200" b="1" smtClean="0">
                <a:solidFill>
                  <a:srgbClr val="002060"/>
                </a:solidFill>
                <a:latin typeface="Cambria" panose="02040503050406030204" pitchFamily="18" charset="0"/>
              </a:rPr>
              <a:t>ch </a:t>
            </a:r>
            <a:r>
              <a:rPr lang="vi-VN" sz="2200" b="1">
                <a:solidFill>
                  <a:srgbClr val="002060"/>
                </a:solidFill>
                <a:latin typeface="Cambria" panose="02040503050406030204" pitchFamily="18" charset="0"/>
              </a:rPr>
              <a:t>của bản </a:t>
            </a:r>
            <a:r>
              <a:rPr lang="vi-VN" sz="2200" b="1" smtClean="0">
                <a:solidFill>
                  <a:srgbClr val="002060"/>
                </a:solidFill>
                <a:latin typeface="Cambria" panose="02040503050406030204" pitchFamily="18" charset="0"/>
              </a:rPr>
              <a:t>quyền</a:t>
            </a:r>
            <a:endParaRPr lang="vi-VN" sz="2200" b="1">
              <a:solidFill>
                <a:srgbClr val="002060"/>
              </a:solidFill>
              <a:latin typeface="Cambria" panose="02040503050406030204" pitchFamily="18" charset="0"/>
            </a:endParaRPr>
          </a:p>
          <a:p>
            <a:pPr indent="695325" algn="just">
              <a:spcBef>
                <a:spcPts val="500"/>
              </a:spcBef>
              <a:spcAft>
                <a:spcPts val="500"/>
              </a:spcAft>
            </a:pPr>
            <a:r>
              <a:rPr lang="vi-VN" sz="2200" b="1">
                <a:solidFill>
                  <a:srgbClr val="002060"/>
                </a:solidFill>
                <a:latin typeface="Cambria" panose="02040503050406030204" pitchFamily="18" charset="0"/>
              </a:rPr>
              <a:t>-	Thể hiện được ý tưởng sáng tạo của sản </a:t>
            </a:r>
            <a:r>
              <a:rPr lang="vi-VN" sz="2200" b="1" smtClean="0">
                <a:solidFill>
                  <a:srgbClr val="002060"/>
                </a:solidFill>
                <a:latin typeface="Cambria" panose="02040503050406030204" pitchFamily="18" charset="0"/>
              </a:rPr>
              <a:t>phẩm</a:t>
            </a:r>
            <a:endParaRPr lang="vi-VN" sz="2200" b="1">
              <a:solidFill>
                <a:srgbClr val="002060"/>
              </a:solidFill>
              <a:latin typeface="Cambria" panose="02040503050406030204" pitchFamily="18" charset="0"/>
            </a:endParaRPr>
          </a:p>
          <a:p>
            <a:pPr indent="695325" algn="just">
              <a:spcBef>
                <a:spcPts val="500"/>
              </a:spcBef>
              <a:spcAft>
                <a:spcPts val="500"/>
              </a:spcAft>
            </a:pPr>
            <a:r>
              <a:rPr lang="vi-VN" sz="2200" b="1">
                <a:solidFill>
                  <a:srgbClr val="002060"/>
                </a:solidFill>
                <a:latin typeface="Cambria" panose="02040503050406030204" pitchFamily="18" charset="0"/>
              </a:rPr>
              <a:t>-	Tư tưởng nguyên gốc của sản </a:t>
            </a:r>
            <a:r>
              <a:rPr lang="vi-VN" sz="2200" b="1" smtClean="0">
                <a:solidFill>
                  <a:srgbClr val="002060"/>
                </a:solidFill>
                <a:latin typeface="Cambria" panose="02040503050406030204" pitchFamily="18" charset="0"/>
              </a:rPr>
              <a:t>phẩm</a:t>
            </a:r>
            <a:endParaRPr lang="vi-VN" sz="2200" b="1">
              <a:solidFill>
                <a:srgbClr val="002060"/>
              </a:solidFill>
              <a:latin typeface="Cambria" panose="02040503050406030204" pitchFamily="18" charset="0"/>
            </a:endParaRPr>
          </a:p>
          <a:p>
            <a:pPr indent="695325" algn="just">
              <a:spcBef>
                <a:spcPts val="500"/>
              </a:spcBef>
              <a:spcAft>
                <a:spcPts val="500"/>
              </a:spcAft>
            </a:pPr>
            <a:r>
              <a:rPr lang="vi-VN" sz="2200" b="1">
                <a:solidFill>
                  <a:srgbClr val="002060"/>
                </a:solidFill>
                <a:latin typeface="Cambria" panose="02040503050406030204" pitchFamily="18" charset="0"/>
              </a:rPr>
              <a:t>-	Quyền tác </a:t>
            </a:r>
            <a:r>
              <a:rPr lang="vi-VN" sz="2200" b="1" smtClean="0">
                <a:solidFill>
                  <a:srgbClr val="002060"/>
                </a:solidFill>
                <a:latin typeface="Cambria" panose="02040503050406030204" pitchFamily="18" charset="0"/>
              </a:rPr>
              <a:t>giả</a:t>
            </a:r>
            <a:endParaRPr lang="vi-VN" sz="2200" b="1">
              <a:solidFill>
                <a:srgbClr val="002060"/>
              </a:solidFill>
              <a:latin typeface="Cambria" panose="02040503050406030204" pitchFamily="18" charset="0"/>
            </a:endParaRPr>
          </a:p>
          <a:p>
            <a:pPr indent="695325" algn="just">
              <a:spcBef>
                <a:spcPts val="500"/>
              </a:spcBef>
              <a:spcAft>
                <a:spcPts val="500"/>
              </a:spcAft>
            </a:pPr>
            <a:r>
              <a:rPr lang="vi-VN" sz="2200" b="1">
                <a:solidFill>
                  <a:srgbClr val="002060"/>
                </a:solidFill>
                <a:latin typeface="Cambria" panose="02040503050406030204" pitchFamily="18" charset="0"/>
              </a:rPr>
              <a:t>-	Quyền tác giả, theo luật pháp...</a:t>
            </a:r>
          </a:p>
          <a:p>
            <a:pPr algn="just">
              <a:spcBef>
                <a:spcPts val="500"/>
              </a:spcBef>
              <a:spcAft>
                <a:spcPts val="500"/>
              </a:spcAft>
            </a:pPr>
            <a:endParaRPr lang="en-US" sz="2200" b="1">
              <a:solidFill>
                <a:srgbClr val="002060"/>
              </a:solidFill>
              <a:latin typeface="Cambria" panose="02040503050406030204" pitchFamily="18" charset="0"/>
            </a:endParaRPr>
          </a:p>
        </p:txBody>
      </p:sp>
      <p:sp>
        <p:nvSpPr>
          <p:cNvPr id="5" name="Rectangle 4"/>
          <p:cNvSpPr/>
          <p:nvPr/>
        </p:nvSpPr>
        <p:spPr>
          <a:xfrm>
            <a:off x="119858" y="67477"/>
            <a:ext cx="8603228" cy="954107"/>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1.5. Các vấn đề bản quyền đối với các tác phẩm đa phương tiện</a:t>
            </a:r>
          </a:p>
        </p:txBody>
      </p:sp>
      <p:sp>
        <p:nvSpPr>
          <p:cNvPr id="6" name="Line 16"/>
          <p:cNvSpPr>
            <a:spLocks noChangeShapeType="1"/>
          </p:cNvSpPr>
          <p:nvPr/>
        </p:nvSpPr>
        <p:spPr bwMode="auto">
          <a:xfrm>
            <a:off x="119858" y="102158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1797629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1039732"/>
            <a:ext cx="8570976" cy="6123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spcBef>
                <a:spcPts val="0"/>
              </a:spcBef>
              <a:spcAft>
                <a:spcPts val="0"/>
              </a:spcAft>
              <a:buFont typeface="Arial" panose="020B0604020202020204" pitchFamily="34" charset="0"/>
              <a:buChar char="•"/>
            </a:pPr>
            <a:r>
              <a:rPr lang="vi-VN" sz="2200" b="1">
                <a:solidFill>
                  <a:srgbClr val="002060"/>
                </a:solidFill>
                <a:latin typeface="Cambria" panose="02040503050406030204" pitchFamily="18" charset="0"/>
              </a:rPr>
              <a:t>Các sản phẩm đa phương tiện sau được quốc tế qui định cần bảo vệ bản quyền tác giả :</a:t>
            </a:r>
          </a:p>
          <a:p>
            <a:pPr marL="238125" indent="219075" algn="just">
              <a:lnSpc>
                <a:spcPct val="150000"/>
              </a:lnSpc>
              <a:spcBef>
                <a:spcPts val="0"/>
              </a:spcBef>
              <a:spcAft>
                <a:spcPts val="0"/>
              </a:spcAft>
            </a:pPr>
            <a:r>
              <a:rPr lang="vi-VN" sz="2200" b="1">
                <a:solidFill>
                  <a:srgbClr val="002060"/>
                </a:solidFill>
                <a:latin typeface="Cambria" panose="02040503050406030204" pitchFamily="18" charset="0"/>
              </a:rPr>
              <a:t>-	Tác phẩm âm </a:t>
            </a:r>
            <a:r>
              <a:rPr lang="vi-VN" sz="2200" b="1" smtClean="0">
                <a:solidFill>
                  <a:srgbClr val="002060"/>
                </a:solidFill>
                <a:latin typeface="Cambria" panose="02040503050406030204" pitchFamily="18" charset="0"/>
              </a:rPr>
              <a:t>nhạc</a:t>
            </a:r>
            <a:endParaRPr lang="vi-VN" sz="2200" b="1">
              <a:solidFill>
                <a:srgbClr val="002060"/>
              </a:solidFill>
              <a:latin typeface="Cambria" panose="02040503050406030204" pitchFamily="18" charset="0"/>
            </a:endParaRPr>
          </a:p>
          <a:p>
            <a:pPr marL="238125" indent="219075" algn="just">
              <a:lnSpc>
                <a:spcPct val="150000"/>
              </a:lnSpc>
              <a:spcBef>
                <a:spcPts val="0"/>
              </a:spcBef>
              <a:spcAft>
                <a:spcPts val="0"/>
              </a:spcAft>
            </a:pPr>
            <a:r>
              <a:rPr lang="vi-VN" sz="2200" b="1">
                <a:solidFill>
                  <a:srgbClr val="002060"/>
                </a:solidFill>
                <a:latin typeface="Cambria" panose="02040503050406030204" pitchFamily="18" charset="0"/>
              </a:rPr>
              <a:t>-	Tác phẩm văn </a:t>
            </a:r>
            <a:r>
              <a:rPr lang="vi-VN" sz="2200" b="1" smtClean="0">
                <a:solidFill>
                  <a:srgbClr val="002060"/>
                </a:solidFill>
                <a:latin typeface="Cambria" panose="02040503050406030204" pitchFamily="18" charset="0"/>
              </a:rPr>
              <a:t>học</a:t>
            </a:r>
            <a:endParaRPr lang="vi-VN" sz="2200" b="1">
              <a:solidFill>
                <a:srgbClr val="002060"/>
              </a:solidFill>
              <a:latin typeface="Cambria" panose="02040503050406030204" pitchFamily="18" charset="0"/>
            </a:endParaRPr>
          </a:p>
          <a:p>
            <a:pPr marL="238125" indent="219075" algn="just">
              <a:lnSpc>
                <a:spcPct val="150000"/>
              </a:lnSpc>
              <a:spcBef>
                <a:spcPts val="0"/>
              </a:spcBef>
              <a:spcAft>
                <a:spcPts val="0"/>
              </a:spcAft>
            </a:pPr>
            <a:r>
              <a:rPr lang="vi-VN" sz="2200" b="1">
                <a:solidFill>
                  <a:srgbClr val="002060"/>
                </a:solidFill>
                <a:latin typeface="Cambria" panose="02040503050406030204" pitchFamily="18" charset="0"/>
              </a:rPr>
              <a:t>-	Tác phẩm kịch </a:t>
            </a:r>
            <a:r>
              <a:rPr lang="vi-VN" sz="2200" b="1" smtClean="0">
                <a:solidFill>
                  <a:srgbClr val="002060"/>
                </a:solidFill>
                <a:latin typeface="Cambria" panose="02040503050406030204" pitchFamily="18" charset="0"/>
              </a:rPr>
              <a:t>câm</a:t>
            </a:r>
            <a:endParaRPr lang="vi-VN" sz="2200" b="1">
              <a:solidFill>
                <a:srgbClr val="002060"/>
              </a:solidFill>
              <a:latin typeface="Cambria" panose="02040503050406030204" pitchFamily="18" charset="0"/>
            </a:endParaRPr>
          </a:p>
          <a:p>
            <a:pPr marL="238125" indent="219075" algn="just">
              <a:lnSpc>
                <a:spcPct val="150000"/>
              </a:lnSpc>
              <a:spcBef>
                <a:spcPts val="0"/>
              </a:spcBef>
              <a:spcAft>
                <a:spcPts val="0"/>
              </a:spcAft>
            </a:pPr>
            <a:r>
              <a:rPr lang="vi-VN" sz="2200" b="1">
                <a:solidFill>
                  <a:srgbClr val="002060"/>
                </a:solidFill>
                <a:latin typeface="Cambria" panose="02040503050406030204" pitchFamily="18" charset="0"/>
              </a:rPr>
              <a:t>-	Tác phẩm nghệ </a:t>
            </a:r>
            <a:r>
              <a:rPr lang="vi-VN" sz="2200" b="1" smtClean="0">
                <a:solidFill>
                  <a:srgbClr val="002060"/>
                </a:solidFill>
                <a:latin typeface="Cambria" panose="02040503050406030204" pitchFamily="18" charset="0"/>
              </a:rPr>
              <a:t>thuật</a:t>
            </a:r>
            <a:endParaRPr lang="vi-VN" sz="2200" b="1">
              <a:solidFill>
                <a:srgbClr val="002060"/>
              </a:solidFill>
              <a:latin typeface="Cambria" panose="02040503050406030204" pitchFamily="18" charset="0"/>
            </a:endParaRPr>
          </a:p>
          <a:p>
            <a:pPr marL="238125" indent="219075" algn="just">
              <a:lnSpc>
                <a:spcPct val="150000"/>
              </a:lnSpc>
              <a:spcBef>
                <a:spcPts val="0"/>
              </a:spcBef>
              <a:spcAft>
                <a:spcPts val="0"/>
              </a:spcAft>
            </a:pPr>
            <a:r>
              <a:rPr lang="vi-VN" sz="2200" b="1">
                <a:solidFill>
                  <a:srgbClr val="002060"/>
                </a:solidFill>
                <a:latin typeface="Cambria" panose="02040503050406030204" pitchFamily="18" charset="0"/>
              </a:rPr>
              <a:t>-	Tác phẩm kiến </a:t>
            </a:r>
            <a:r>
              <a:rPr lang="vi-VN" sz="2200" b="1" smtClean="0">
                <a:solidFill>
                  <a:srgbClr val="002060"/>
                </a:solidFill>
                <a:latin typeface="Cambria" panose="02040503050406030204" pitchFamily="18" charset="0"/>
              </a:rPr>
              <a:t>trúc</a:t>
            </a:r>
            <a:endParaRPr lang="vi-VN" sz="2200" b="1">
              <a:solidFill>
                <a:srgbClr val="002060"/>
              </a:solidFill>
              <a:latin typeface="Cambria" panose="02040503050406030204" pitchFamily="18" charset="0"/>
            </a:endParaRPr>
          </a:p>
          <a:p>
            <a:pPr marL="238125" indent="219075" algn="just">
              <a:lnSpc>
                <a:spcPct val="150000"/>
              </a:lnSpc>
              <a:spcBef>
                <a:spcPts val="0"/>
              </a:spcBef>
              <a:spcAft>
                <a:spcPts val="0"/>
              </a:spcAft>
            </a:pPr>
            <a:r>
              <a:rPr lang="vi-VN" sz="2200" b="1">
                <a:solidFill>
                  <a:srgbClr val="002060"/>
                </a:solidFill>
                <a:latin typeface="Cambria" panose="02040503050406030204" pitchFamily="18" charset="0"/>
              </a:rPr>
              <a:t>-	Tạo hình về tự </a:t>
            </a:r>
            <a:r>
              <a:rPr lang="vi-VN" sz="2200" b="1" smtClean="0">
                <a:solidFill>
                  <a:srgbClr val="002060"/>
                </a:solidFill>
                <a:latin typeface="Cambria" panose="02040503050406030204" pitchFamily="18" charset="0"/>
              </a:rPr>
              <a:t>nhiên</a:t>
            </a:r>
            <a:endParaRPr lang="vi-VN" sz="2200" b="1">
              <a:solidFill>
                <a:srgbClr val="002060"/>
              </a:solidFill>
              <a:latin typeface="Cambria" panose="02040503050406030204" pitchFamily="18" charset="0"/>
            </a:endParaRPr>
          </a:p>
          <a:p>
            <a:pPr marL="238125" indent="219075" algn="just">
              <a:lnSpc>
                <a:spcPct val="150000"/>
              </a:lnSpc>
              <a:spcBef>
                <a:spcPts val="0"/>
              </a:spcBef>
              <a:spcAft>
                <a:spcPts val="0"/>
              </a:spcAft>
            </a:pPr>
            <a:r>
              <a:rPr lang="vi-VN" sz="2200" b="1">
                <a:solidFill>
                  <a:srgbClr val="002060"/>
                </a:solidFill>
                <a:latin typeface="Cambria" panose="02040503050406030204" pitchFamily="18" charset="0"/>
              </a:rPr>
              <a:t>-	Tác phẩm điện </a:t>
            </a:r>
            <a:r>
              <a:rPr lang="vi-VN" sz="2200" b="1" smtClean="0">
                <a:solidFill>
                  <a:srgbClr val="002060"/>
                </a:solidFill>
                <a:latin typeface="Cambria" panose="02040503050406030204" pitchFamily="18" charset="0"/>
              </a:rPr>
              <a:t>ảnh</a:t>
            </a:r>
            <a:endParaRPr lang="vi-VN" sz="2200" b="1">
              <a:solidFill>
                <a:srgbClr val="002060"/>
              </a:solidFill>
              <a:latin typeface="Cambria" panose="02040503050406030204" pitchFamily="18" charset="0"/>
            </a:endParaRPr>
          </a:p>
          <a:p>
            <a:pPr marL="238125" indent="219075" algn="just">
              <a:lnSpc>
                <a:spcPct val="150000"/>
              </a:lnSpc>
              <a:spcBef>
                <a:spcPts val="0"/>
              </a:spcBef>
              <a:spcAft>
                <a:spcPts val="0"/>
              </a:spcAft>
            </a:pPr>
            <a:r>
              <a:rPr lang="vi-VN" sz="2200" b="1">
                <a:solidFill>
                  <a:srgbClr val="002060"/>
                </a:solidFill>
                <a:latin typeface="Cambria" panose="02040503050406030204" pitchFamily="18" charset="0"/>
              </a:rPr>
              <a:t>-	Tác phẩm </a:t>
            </a:r>
            <a:r>
              <a:rPr lang="vi-VN" sz="2200" b="1" smtClean="0">
                <a:solidFill>
                  <a:srgbClr val="002060"/>
                </a:solidFill>
                <a:latin typeface="Cambria" panose="02040503050406030204" pitchFamily="18" charset="0"/>
              </a:rPr>
              <a:t>ảnh</a:t>
            </a:r>
            <a:endParaRPr lang="vi-VN" sz="2200" b="1">
              <a:solidFill>
                <a:srgbClr val="002060"/>
              </a:solidFill>
              <a:latin typeface="Cambria" panose="02040503050406030204" pitchFamily="18" charset="0"/>
            </a:endParaRPr>
          </a:p>
          <a:p>
            <a:pPr marL="238125" indent="219075" algn="just">
              <a:lnSpc>
                <a:spcPct val="150000"/>
              </a:lnSpc>
              <a:spcBef>
                <a:spcPts val="0"/>
              </a:spcBef>
              <a:spcAft>
                <a:spcPts val="0"/>
              </a:spcAft>
            </a:pPr>
            <a:r>
              <a:rPr lang="vi-VN" sz="2200" b="1">
                <a:solidFill>
                  <a:srgbClr val="002060"/>
                </a:solidFill>
                <a:latin typeface="Cambria" panose="02040503050406030204" pitchFamily="18" charset="0"/>
              </a:rPr>
              <a:t>-	Chương trình máy </a:t>
            </a:r>
            <a:r>
              <a:rPr lang="vi-VN" sz="2200" b="1" smtClean="0">
                <a:solidFill>
                  <a:srgbClr val="002060"/>
                </a:solidFill>
                <a:latin typeface="Cambria" panose="02040503050406030204" pitchFamily="18" charset="0"/>
              </a:rPr>
              <a:t>tính</a:t>
            </a:r>
            <a:endParaRPr lang="vi-VN" sz="2200" b="1">
              <a:solidFill>
                <a:srgbClr val="002060"/>
              </a:solidFill>
              <a:latin typeface="Cambria" panose="02040503050406030204" pitchFamily="18" charset="0"/>
            </a:endParaRPr>
          </a:p>
          <a:p>
            <a:pPr algn="just">
              <a:lnSpc>
                <a:spcPct val="150000"/>
              </a:lnSpc>
              <a:spcBef>
                <a:spcPts val="0"/>
              </a:spcBef>
              <a:spcAft>
                <a:spcPts val="0"/>
              </a:spcAft>
            </a:pPr>
            <a:endParaRPr lang="en-US" sz="2200" b="1">
              <a:solidFill>
                <a:srgbClr val="002060"/>
              </a:solidFill>
              <a:latin typeface="Cambria" panose="02040503050406030204" pitchFamily="18" charset="0"/>
            </a:endParaRPr>
          </a:p>
        </p:txBody>
      </p:sp>
      <p:sp>
        <p:nvSpPr>
          <p:cNvPr id="5" name="Rectangle 4"/>
          <p:cNvSpPr/>
          <p:nvPr/>
        </p:nvSpPr>
        <p:spPr>
          <a:xfrm>
            <a:off x="119858" y="67477"/>
            <a:ext cx="8603228" cy="954107"/>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1.5. Các vấn đề bản quyền đối với các tác phẩm đa phương tiện</a:t>
            </a:r>
          </a:p>
        </p:txBody>
      </p:sp>
      <p:sp>
        <p:nvSpPr>
          <p:cNvPr id="6" name="Line 16"/>
          <p:cNvSpPr>
            <a:spLocks noChangeShapeType="1"/>
          </p:cNvSpPr>
          <p:nvPr/>
        </p:nvSpPr>
        <p:spPr bwMode="auto">
          <a:xfrm>
            <a:off x="119858" y="102158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6828199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1039732"/>
            <a:ext cx="8570976" cy="5678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spcBef>
                <a:spcPts val="0"/>
              </a:spcBef>
              <a:spcAft>
                <a:spcPts val="0"/>
              </a:spcAft>
            </a:pPr>
            <a:r>
              <a:rPr lang="vi-VN" sz="2200" b="1">
                <a:solidFill>
                  <a:srgbClr val="002060"/>
                </a:solidFill>
                <a:latin typeface="Cambria" panose="02040503050406030204" pitchFamily="18" charset="0"/>
              </a:rPr>
              <a:t>1.5.2.	Vi phạm bản </a:t>
            </a:r>
            <a:r>
              <a:rPr lang="vi-VN" sz="2200" b="1" smtClean="0">
                <a:solidFill>
                  <a:srgbClr val="002060"/>
                </a:solidFill>
                <a:latin typeface="Cambria" panose="02040503050406030204" pitchFamily="18" charset="0"/>
              </a:rPr>
              <a:t>quyền</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vi-VN" sz="2200" b="1">
                <a:solidFill>
                  <a:srgbClr val="002060"/>
                </a:solidFill>
                <a:latin typeface="Cambria" panose="02040503050406030204" pitchFamily="18" charset="0"/>
              </a:rPr>
              <a:t>Vi phạm quyền tác giả sẽ ảnh hưởng đến tác giả về quyền lợi, ý tưởng riêng, trách nhiệm về sản phẩm... </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vi-VN" sz="2200" b="1" smtClean="0">
                <a:solidFill>
                  <a:srgbClr val="002060"/>
                </a:solidFill>
                <a:latin typeface="Cambria" panose="02040503050406030204" pitchFamily="18" charset="0"/>
              </a:rPr>
              <a:t>Các </a:t>
            </a:r>
            <a:r>
              <a:rPr lang="vi-VN" sz="2200" b="1">
                <a:solidFill>
                  <a:srgbClr val="002060"/>
                </a:solidFill>
                <a:latin typeface="Cambria" panose="02040503050406030204" pitchFamily="18" charset="0"/>
              </a:rPr>
              <a:t>dạng vi phạm được thống kê như </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342900" indent="406400" algn="just">
              <a:lnSpc>
                <a:spcPct val="150000"/>
              </a:lnSpc>
              <a:spcBef>
                <a:spcPts val="0"/>
              </a:spcBef>
              <a:spcAft>
                <a:spcPts val="0"/>
              </a:spcAft>
              <a:buFont typeface="Cambria" panose="02040503050406030204" pitchFamily="18" charset="0"/>
              <a:buChar char="-"/>
            </a:pPr>
            <a:r>
              <a:rPr lang="en-US" sz="2200" b="1" smtClean="0">
                <a:solidFill>
                  <a:srgbClr val="002060"/>
                </a:solidFill>
                <a:latin typeface="Cambria" panose="02040503050406030204" pitchFamily="18" charset="0"/>
              </a:rPr>
              <a:t>Sao chép</a:t>
            </a:r>
          </a:p>
          <a:p>
            <a:pPr marL="342900" indent="406400" algn="just">
              <a:lnSpc>
                <a:spcPct val="150000"/>
              </a:lnSpc>
              <a:spcBef>
                <a:spcPts val="0"/>
              </a:spcBef>
              <a:spcAft>
                <a:spcPts val="0"/>
              </a:spcAft>
              <a:buFont typeface="Cambria" panose="02040503050406030204" pitchFamily="18" charset="0"/>
              <a:buChar char="-"/>
            </a:pPr>
            <a:r>
              <a:rPr lang="en-US" sz="2200" b="1">
                <a:solidFill>
                  <a:srgbClr val="002060"/>
                </a:solidFill>
                <a:latin typeface="Cambria" panose="02040503050406030204" pitchFamily="18" charset="0"/>
              </a:rPr>
              <a:t>Thể hiện </a:t>
            </a:r>
            <a:r>
              <a:rPr lang="en-US" sz="2200" b="1" smtClean="0">
                <a:solidFill>
                  <a:srgbClr val="002060"/>
                </a:solidFill>
                <a:latin typeface="Cambria" panose="02040503050406030204" pitchFamily="18" charset="0"/>
              </a:rPr>
              <a:t>lại</a:t>
            </a:r>
          </a:p>
          <a:p>
            <a:pPr marL="342900" indent="406400" algn="just">
              <a:lnSpc>
                <a:spcPct val="150000"/>
              </a:lnSpc>
              <a:spcBef>
                <a:spcPts val="0"/>
              </a:spcBef>
              <a:spcAft>
                <a:spcPts val="0"/>
              </a:spcAft>
              <a:buFont typeface="Cambria" panose="02040503050406030204" pitchFamily="18" charset="0"/>
              <a:buChar char="-"/>
            </a:pPr>
            <a:r>
              <a:rPr lang="en-US" sz="2200" b="1" smtClean="0">
                <a:solidFill>
                  <a:srgbClr val="002060"/>
                </a:solidFill>
                <a:latin typeface="Cambria" panose="02040503050406030204" pitchFamily="18" charset="0"/>
              </a:rPr>
              <a:t>Truyền </a:t>
            </a:r>
            <a:r>
              <a:rPr lang="en-US" sz="2200" b="1">
                <a:solidFill>
                  <a:srgbClr val="002060"/>
                </a:solidFill>
                <a:latin typeface="Cambria" panose="02040503050406030204" pitchFamily="18" charset="0"/>
              </a:rPr>
              <a:t>bá </a:t>
            </a:r>
            <a:endParaRPr lang="en-US" sz="2200" b="1" smtClean="0">
              <a:solidFill>
                <a:srgbClr val="002060"/>
              </a:solidFill>
              <a:latin typeface="Cambria" panose="02040503050406030204" pitchFamily="18" charset="0"/>
            </a:endParaRPr>
          </a:p>
          <a:p>
            <a:pPr marL="342900" indent="406400" algn="just">
              <a:lnSpc>
                <a:spcPct val="150000"/>
              </a:lnSpc>
              <a:spcBef>
                <a:spcPts val="0"/>
              </a:spcBef>
              <a:spcAft>
                <a:spcPts val="0"/>
              </a:spcAft>
              <a:buFont typeface="Cambria" panose="02040503050406030204" pitchFamily="18" charset="0"/>
              <a:buChar char="-"/>
            </a:pPr>
            <a:r>
              <a:rPr lang="en-US" sz="2200" b="1" smtClean="0">
                <a:solidFill>
                  <a:srgbClr val="002060"/>
                </a:solidFill>
                <a:latin typeface="Cambria" panose="02040503050406030204" pitchFamily="18" charset="0"/>
              </a:rPr>
              <a:t>Trích </a:t>
            </a:r>
            <a:r>
              <a:rPr lang="en-US" sz="2200" b="1">
                <a:solidFill>
                  <a:srgbClr val="002060"/>
                </a:solidFill>
                <a:latin typeface="Cambria" panose="02040503050406030204" pitchFamily="18" charset="0"/>
              </a:rPr>
              <a:t>dẫn </a:t>
            </a:r>
            <a:endParaRPr lang="en-US" sz="2200" b="1" smtClean="0">
              <a:solidFill>
                <a:srgbClr val="002060"/>
              </a:solidFill>
              <a:latin typeface="Cambria" panose="02040503050406030204" pitchFamily="18" charset="0"/>
            </a:endParaRPr>
          </a:p>
          <a:p>
            <a:pPr marL="342900" indent="406400" algn="just">
              <a:lnSpc>
                <a:spcPct val="150000"/>
              </a:lnSpc>
              <a:spcBef>
                <a:spcPts val="0"/>
              </a:spcBef>
              <a:spcAft>
                <a:spcPts val="0"/>
              </a:spcAft>
              <a:buFont typeface="Cambria" panose="02040503050406030204" pitchFamily="18" charset="0"/>
              <a:buChar char="-"/>
            </a:pPr>
            <a:r>
              <a:rPr lang="en-US" sz="2200" b="1" smtClean="0">
                <a:solidFill>
                  <a:srgbClr val="002060"/>
                </a:solidFill>
                <a:latin typeface="Cambria" panose="02040503050406030204" pitchFamily="18" charset="0"/>
              </a:rPr>
              <a:t>Triển </a:t>
            </a:r>
            <a:r>
              <a:rPr lang="en-US" sz="2200" b="1">
                <a:solidFill>
                  <a:srgbClr val="002060"/>
                </a:solidFill>
                <a:latin typeface="Cambria" panose="02040503050406030204" pitchFamily="18" charset="0"/>
              </a:rPr>
              <a:t>lãm </a:t>
            </a:r>
            <a:endParaRPr lang="en-US" sz="2200" b="1" smtClean="0">
              <a:solidFill>
                <a:srgbClr val="002060"/>
              </a:solidFill>
              <a:latin typeface="Cambria" panose="02040503050406030204" pitchFamily="18" charset="0"/>
            </a:endParaRPr>
          </a:p>
          <a:p>
            <a:pPr marL="342900" indent="406400" algn="just">
              <a:lnSpc>
                <a:spcPct val="150000"/>
              </a:lnSpc>
              <a:spcBef>
                <a:spcPts val="0"/>
              </a:spcBef>
              <a:spcAft>
                <a:spcPts val="0"/>
              </a:spcAft>
              <a:buFont typeface="Cambria" panose="02040503050406030204" pitchFamily="18" charset="0"/>
              <a:buChar char="-"/>
            </a:pPr>
            <a:r>
              <a:rPr lang="vi-VN" sz="2200" b="1" smtClean="0">
                <a:solidFill>
                  <a:srgbClr val="002060"/>
                </a:solidFill>
                <a:latin typeface="Cambria" panose="02040503050406030204" pitchFamily="18" charset="0"/>
              </a:rPr>
              <a:t>Trình </a:t>
            </a:r>
            <a:r>
              <a:rPr lang="vi-VN" sz="2200" b="1">
                <a:solidFill>
                  <a:srgbClr val="002060"/>
                </a:solidFill>
                <a:latin typeface="Cambria" panose="02040503050406030204" pitchFamily="18" charset="0"/>
              </a:rPr>
              <a:t>bày trước công chúng </a:t>
            </a:r>
            <a:endParaRPr lang="en-US" sz="2200" b="1" smtClean="0">
              <a:solidFill>
                <a:srgbClr val="002060"/>
              </a:solidFill>
              <a:latin typeface="Cambria" panose="02040503050406030204" pitchFamily="18" charset="0"/>
            </a:endParaRPr>
          </a:p>
          <a:p>
            <a:pPr marL="342900" indent="406400" algn="just">
              <a:lnSpc>
                <a:spcPct val="150000"/>
              </a:lnSpc>
              <a:spcBef>
                <a:spcPts val="0"/>
              </a:spcBef>
              <a:spcAft>
                <a:spcPts val="0"/>
              </a:spcAft>
              <a:buFont typeface="Cambria" panose="02040503050406030204" pitchFamily="18" charset="0"/>
              <a:buChar char="-"/>
            </a:pPr>
            <a:r>
              <a:rPr lang="en-US" sz="2200" b="1" smtClean="0">
                <a:solidFill>
                  <a:srgbClr val="002060"/>
                </a:solidFill>
                <a:latin typeface="Cambria" panose="02040503050406030204" pitchFamily="18" charset="0"/>
              </a:rPr>
              <a:t>Suy </a:t>
            </a:r>
            <a:r>
              <a:rPr lang="en-US" sz="2200" b="1">
                <a:solidFill>
                  <a:srgbClr val="002060"/>
                </a:solidFill>
                <a:latin typeface="Cambria" panose="02040503050406030204" pitchFamily="18" charset="0"/>
              </a:rPr>
              <a:t>diễn </a:t>
            </a:r>
          </a:p>
        </p:txBody>
      </p:sp>
      <p:sp>
        <p:nvSpPr>
          <p:cNvPr id="5" name="Rectangle 4"/>
          <p:cNvSpPr/>
          <p:nvPr/>
        </p:nvSpPr>
        <p:spPr>
          <a:xfrm>
            <a:off x="119858" y="67477"/>
            <a:ext cx="8603228" cy="954107"/>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1.5. Các vấn đề bản quyền đối với các tác phẩm đa phương tiện</a:t>
            </a:r>
          </a:p>
        </p:txBody>
      </p:sp>
      <p:sp>
        <p:nvSpPr>
          <p:cNvPr id="6" name="Line 16"/>
          <p:cNvSpPr>
            <a:spLocks noChangeShapeType="1"/>
          </p:cNvSpPr>
          <p:nvPr/>
        </p:nvSpPr>
        <p:spPr bwMode="auto">
          <a:xfrm>
            <a:off x="119858" y="102158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6741703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1039732"/>
            <a:ext cx="8570976" cy="466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spcBef>
                <a:spcPts val="0"/>
              </a:spcBef>
              <a:spcAft>
                <a:spcPts val="0"/>
              </a:spcAft>
            </a:pPr>
            <a:r>
              <a:rPr lang="vi-VN" sz="2200" b="1" smtClean="0">
                <a:solidFill>
                  <a:srgbClr val="002060"/>
                </a:solidFill>
                <a:latin typeface="Cambria" panose="02040503050406030204" pitchFamily="18" charset="0"/>
              </a:rPr>
              <a:t>1.5.3</a:t>
            </a:r>
            <a:r>
              <a:rPr lang="vi-VN" sz="2200" b="1">
                <a:solidFill>
                  <a:srgbClr val="002060"/>
                </a:solidFill>
                <a:latin typeface="Cambria" panose="02040503050406030204" pitchFamily="18" charset="0"/>
              </a:rPr>
              <a:t>.	Kết </a:t>
            </a:r>
            <a:r>
              <a:rPr lang="vi-VN" sz="2200" b="1" smtClean="0">
                <a:solidFill>
                  <a:srgbClr val="002060"/>
                </a:solidFill>
                <a:latin typeface="Cambria" panose="02040503050406030204" pitchFamily="18" charset="0"/>
              </a:rPr>
              <a:t>luận</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vi-VN" sz="2200" b="1">
                <a:solidFill>
                  <a:srgbClr val="002060"/>
                </a:solidFill>
                <a:latin typeface="Cambria" panose="02040503050406030204" pitchFamily="18" charset="0"/>
              </a:rPr>
              <a:t>Bản quyền được tôn trọng thì mới phát triển được các ý tưởng sáng </a:t>
            </a:r>
            <a:r>
              <a:rPr lang="vi-VN" sz="2200" b="1" smtClean="0">
                <a:solidFill>
                  <a:srgbClr val="002060"/>
                </a:solidFill>
                <a:latin typeface="Cambria" panose="02040503050406030204" pitchFamily="18" charset="0"/>
              </a:rPr>
              <a:t>tạo</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en-US" sz="2200" b="1" smtClean="0">
                <a:solidFill>
                  <a:srgbClr val="002060"/>
                </a:solidFill>
                <a:latin typeface="Cambria" panose="02040503050406030204" pitchFamily="18" charset="0"/>
              </a:rPr>
              <a:t>Ngoài phạm </a:t>
            </a:r>
            <a:r>
              <a:rPr lang="en-US" sz="2200" b="1">
                <a:solidFill>
                  <a:srgbClr val="002060"/>
                </a:solidFill>
                <a:latin typeface="Cambria" panose="02040503050406030204" pitchFamily="18" charset="0"/>
              </a:rPr>
              <a:t>trù đạo đức, cần có điều luật giữ quyền tác giả, hạn chế vi phạm sở hữu trí tuệ</a:t>
            </a:r>
            <a:r>
              <a:rPr lang="en-US" sz="2200" b="1" smtClean="0">
                <a:solidFill>
                  <a:srgbClr val="002060"/>
                </a:solidFill>
                <a:latin typeface="Cambria" panose="02040503050406030204" pitchFamily="18" charset="0"/>
              </a:rPr>
              <a:t>.</a:t>
            </a:r>
          </a:p>
          <a:p>
            <a:pPr marL="342900" indent="-342900" algn="just">
              <a:lnSpc>
                <a:spcPct val="150000"/>
              </a:lnSpc>
              <a:spcBef>
                <a:spcPts val="0"/>
              </a:spcBef>
              <a:spcAft>
                <a:spcPts val="0"/>
              </a:spcAft>
              <a:buFont typeface="Arial" panose="020B0604020202020204" pitchFamily="34" charset="0"/>
              <a:buChar char="•"/>
            </a:pPr>
            <a:r>
              <a:rPr lang="vi-VN" sz="2200" b="1">
                <a:solidFill>
                  <a:srgbClr val="002060"/>
                </a:solidFill>
                <a:latin typeface="Cambria" panose="02040503050406030204" pitchFamily="18" charset="0"/>
              </a:rPr>
              <a:t>Hội người tiêu dùng sản phẩm đa phương tiện, hệ thống truyền thông công cộng cũng đóng góp nhiều vào việc giữ bản quyền.</a:t>
            </a:r>
            <a:endParaRPr lang="en-US" sz="2200" b="1" smtClean="0">
              <a:solidFill>
                <a:srgbClr val="002060"/>
              </a:solidFill>
              <a:latin typeface="Cambria" panose="02040503050406030204" pitchFamily="18" charset="0"/>
            </a:endParaRPr>
          </a:p>
          <a:p>
            <a:pPr algn="just">
              <a:lnSpc>
                <a:spcPct val="150000"/>
              </a:lnSpc>
              <a:spcBef>
                <a:spcPts val="0"/>
              </a:spcBef>
              <a:spcAft>
                <a:spcPts val="0"/>
              </a:spcAft>
            </a:pPr>
            <a:r>
              <a:rPr lang="en-US" sz="2200" b="1" smtClean="0">
                <a:solidFill>
                  <a:srgbClr val="002060"/>
                </a:solidFill>
                <a:latin typeface="Cambria" panose="02040503050406030204" pitchFamily="18" charset="0"/>
              </a:rPr>
              <a:t> </a:t>
            </a:r>
            <a:endParaRPr lang="en-US" sz="2200" b="1">
              <a:solidFill>
                <a:srgbClr val="002060"/>
              </a:solidFill>
              <a:latin typeface="Cambria" panose="02040503050406030204" pitchFamily="18" charset="0"/>
            </a:endParaRPr>
          </a:p>
        </p:txBody>
      </p:sp>
      <p:sp>
        <p:nvSpPr>
          <p:cNvPr id="5" name="Rectangle 4"/>
          <p:cNvSpPr/>
          <p:nvPr/>
        </p:nvSpPr>
        <p:spPr>
          <a:xfrm>
            <a:off x="119858" y="67477"/>
            <a:ext cx="8603228" cy="954107"/>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1.5. Các vấn đề bản quyền đối với các tác phẩm đa phương tiện</a:t>
            </a:r>
          </a:p>
        </p:txBody>
      </p:sp>
      <p:sp>
        <p:nvSpPr>
          <p:cNvPr id="6" name="Line 16"/>
          <p:cNvSpPr>
            <a:spLocks noChangeShapeType="1"/>
          </p:cNvSpPr>
          <p:nvPr/>
        </p:nvSpPr>
        <p:spPr bwMode="auto">
          <a:xfrm>
            <a:off x="119858" y="102158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23481039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747264"/>
            <a:ext cx="8570976"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spcBef>
                <a:spcPts val="0"/>
              </a:spcBef>
              <a:spcAft>
                <a:spcPts val="0"/>
              </a:spcAft>
              <a:buFont typeface="Arial" panose="020B0604020202020204" pitchFamily="34" charset="0"/>
              <a:buChar char="•"/>
            </a:pPr>
            <a:r>
              <a:rPr lang="en-US" sz="2200" b="1" smtClean="0">
                <a:solidFill>
                  <a:srgbClr val="002060"/>
                </a:solidFill>
                <a:latin typeface="Cambria" panose="02040503050406030204" pitchFamily="18" charset="0"/>
              </a:rPr>
              <a:t>N</a:t>
            </a:r>
            <a:r>
              <a:rPr lang="vi-VN" sz="2200" b="1" smtClean="0">
                <a:solidFill>
                  <a:srgbClr val="002060"/>
                </a:solidFill>
                <a:latin typeface="Cambria" panose="02040503050406030204" pitchFamily="18" charset="0"/>
              </a:rPr>
              <a:t>ăm </a:t>
            </a:r>
            <a:r>
              <a:rPr lang="vi-VN" sz="2200" b="1">
                <a:solidFill>
                  <a:srgbClr val="002060"/>
                </a:solidFill>
                <a:latin typeface="Cambria" panose="02040503050406030204" pitchFamily="18" charset="0"/>
              </a:rPr>
              <a:t>1965: Trong hội thảo quốc tế về phim xuất hiện thuật ngữ đa phương tiện</a:t>
            </a:r>
          </a:p>
          <a:p>
            <a:pPr marL="342900" indent="-342900" algn="just">
              <a:lnSpc>
                <a:spcPct val="150000"/>
              </a:lnSpc>
              <a:spcBef>
                <a:spcPts val="0"/>
              </a:spcBef>
              <a:spcAft>
                <a:spcPts val="0"/>
              </a:spcAft>
              <a:buFont typeface="Arial" panose="020B0604020202020204" pitchFamily="34" charset="0"/>
              <a:buChar char="•"/>
            </a:pPr>
            <a:r>
              <a:rPr lang="vi-VN" sz="2200" b="1">
                <a:solidFill>
                  <a:srgbClr val="002060"/>
                </a:solidFill>
                <a:latin typeface="Cambria" panose="02040503050406030204" pitchFamily="18" charset="0"/>
              </a:rPr>
              <a:t>-	Năm 1975: Người ta gọi đa phương tiện là </a:t>
            </a:r>
            <a:r>
              <a:rPr lang="vi-VN" sz="2200" b="1" smtClean="0">
                <a:solidFill>
                  <a:srgbClr val="002060"/>
                </a:solidFill>
                <a:latin typeface="Cambria" panose="02040503050406030204" pitchFamily="18" charset="0"/>
              </a:rPr>
              <a:t>trò</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chơi</a:t>
            </a:r>
            <a:r>
              <a:rPr lang="en-US" sz="2200" b="1" smtClean="0">
                <a:solidFill>
                  <a:srgbClr val="002060"/>
                </a:solidFill>
                <a:latin typeface="Cambria" panose="02040503050406030204" pitchFamily="18" charset="0"/>
              </a:rPr>
              <a:t>,</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quảng cáo, video</a:t>
            </a:r>
          </a:p>
          <a:p>
            <a:pPr marL="342900" indent="-342900" algn="just">
              <a:lnSpc>
                <a:spcPct val="150000"/>
              </a:lnSpc>
              <a:spcBef>
                <a:spcPts val="0"/>
              </a:spcBef>
              <a:spcAft>
                <a:spcPts val="0"/>
              </a:spcAft>
              <a:buFont typeface="Arial" panose="020B0604020202020204" pitchFamily="34" charset="0"/>
              <a:buChar char="•"/>
            </a:pPr>
            <a:r>
              <a:rPr lang="vi-VN" sz="2200" b="1" smtClean="0">
                <a:solidFill>
                  <a:srgbClr val="002060"/>
                </a:solidFill>
                <a:latin typeface="Cambria" panose="02040503050406030204" pitchFamily="18" charset="0"/>
              </a:rPr>
              <a:t>Năm </a:t>
            </a:r>
            <a:r>
              <a:rPr lang="vi-VN" sz="2200" b="1">
                <a:solidFill>
                  <a:srgbClr val="002060"/>
                </a:solidFill>
                <a:latin typeface="Cambria" panose="02040503050406030204" pitchFamily="18" charset="0"/>
              </a:rPr>
              <a:t>1985: Đã xuất hiện các ca sỹ nhạc POP dùng giàn nhạc điện tử có hệ  thống tự chỉnh âm thanh ánh sáng... Từ đó người ta thấy rằng đa phương tiện </a:t>
            </a:r>
            <a:r>
              <a:rPr lang="vi-VN" sz="2200" b="1" smtClean="0">
                <a:solidFill>
                  <a:srgbClr val="002060"/>
                </a:solidFill>
                <a:latin typeface="Cambria" panose="02040503050406030204" pitchFamily="18" charset="0"/>
              </a:rPr>
              <a:t>là </a:t>
            </a:r>
            <a:r>
              <a:rPr lang="vi-VN" sz="2200" b="1">
                <a:solidFill>
                  <a:srgbClr val="002060"/>
                </a:solidFill>
                <a:latin typeface="Cambria" panose="02040503050406030204" pitchFamily="18" charset="0"/>
              </a:rPr>
              <a:t>một phần đời sống thường ngày</a:t>
            </a:r>
          </a:p>
          <a:p>
            <a:pPr marL="342900" indent="-342900" algn="just">
              <a:lnSpc>
                <a:spcPct val="150000"/>
              </a:lnSpc>
              <a:spcBef>
                <a:spcPts val="0"/>
              </a:spcBef>
              <a:spcAft>
                <a:spcPts val="0"/>
              </a:spcAft>
              <a:buFont typeface="Arial" panose="020B0604020202020204" pitchFamily="34" charset="0"/>
              <a:buChar char="•"/>
            </a:pPr>
            <a:r>
              <a:rPr lang="vi-VN" sz="2200" b="1" smtClean="0">
                <a:solidFill>
                  <a:srgbClr val="002060"/>
                </a:solidFill>
                <a:latin typeface="Cambria" panose="02040503050406030204" pitchFamily="18" charset="0"/>
              </a:rPr>
              <a:t>Năm </a:t>
            </a:r>
            <a:r>
              <a:rPr lang="vi-VN" sz="2200" b="1">
                <a:solidFill>
                  <a:srgbClr val="002060"/>
                </a:solidFill>
                <a:latin typeface="Cambria" panose="02040503050406030204" pitchFamily="18" charset="0"/>
              </a:rPr>
              <a:t>1995: Con người đã sống trong môi trường có đầy đủ tiện  nghi và sử  dụng nhiều kết quả của đa phương tiện</a:t>
            </a:r>
          </a:p>
          <a:p>
            <a:pPr algn="just">
              <a:lnSpc>
                <a:spcPct val="150000"/>
              </a:lnSpc>
              <a:spcBef>
                <a:spcPts val="0"/>
              </a:spcBef>
              <a:spcAft>
                <a:spcPts val="0"/>
              </a:spcAft>
            </a:pPr>
            <a:r>
              <a:rPr lang="en-US" sz="2200" b="1" smtClean="0">
                <a:solidFill>
                  <a:srgbClr val="002060"/>
                </a:solidFill>
                <a:latin typeface="Cambria" panose="02040503050406030204" pitchFamily="18" charset="0"/>
              </a:rPr>
              <a:t> </a:t>
            </a:r>
            <a:endParaRPr lang="en-US" sz="2200" b="1">
              <a:solidFill>
                <a:srgbClr val="002060"/>
              </a:solidFill>
              <a:latin typeface="Cambria" panose="02040503050406030204" pitchFamily="18" charset="0"/>
            </a:endParaRPr>
          </a:p>
        </p:txBody>
      </p:sp>
      <p:sp>
        <p:nvSpPr>
          <p:cNvPr id="5" name="Rectangle 4"/>
          <p:cNvSpPr/>
          <p:nvPr/>
        </p:nvSpPr>
        <p:spPr>
          <a:xfrm>
            <a:off x="119858" y="122341"/>
            <a:ext cx="8603228" cy="523220"/>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1.6. Tổng quan về quá </a:t>
            </a:r>
            <a:r>
              <a:rPr lang="vi-VN" sz="2800" b="1" smtClean="0">
                <a:solidFill>
                  <a:srgbClr val="002060"/>
                </a:solidFill>
                <a:latin typeface="Cambria" panose="02040503050406030204" pitchFamily="18" charset="0"/>
              </a:rPr>
              <a:t>tr</a:t>
            </a:r>
            <a:r>
              <a:rPr lang="en-US" sz="2800" b="1">
                <a:solidFill>
                  <a:srgbClr val="002060"/>
                </a:solidFill>
                <a:latin typeface="Cambria" panose="02040503050406030204" pitchFamily="18" charset="0"/>
              </a:rPr>
              <a:t>ì</a:t>
            </a:r>
            <a:r>
              <a:rPr lang="vi-VN" sz="2800" b="1" smtClean="0">
                <a:solidFill>
                  <a:srgbClr val="002060"/>
                </a:solidFill>
                <a:latin typeface="Cambria" panose="02040503050406030204" pitchFamily="18" charset="0"/>
              </a:rPr>
              <a:t>nh </a:t>
            </a:r>
            <a:r>
              <a:rPr lang="vi-VN" sz="2800" b="1">
                <a:solidFill>
                  <a:srgbClr val="002060"/>
                </a:solidFill>
                <a:latin typeface="Cambria" panose="02040503050406030204" pitchFamily="18" charset="0"/>
              </a:rPr>
              <a:t>phát triển Multimedia </a:t>
            </a:r>
          </a:p>
        </p:txBody>
      </p:sp>
      <p:sp>
        <p:nvSpPr>
          <p:cNvPr id="6" name="Line 16"/>
          <p:cNvSpPr>
            <a:spLocks noChangeShapeType="1"/>
          </p:cNvSpPr>
          <p:nvPr/>
        </p:nvSpPr>
        <p:spPr bwMode="auto">
          <a:xfrm>
            <a:off x="135984" y="74726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0461348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747264"/>
            <a:ext cx="8570976"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spcBef>
                <a:spcPts val="0"/>
              </a:spcBef>
              <a:spcAft>
                <a:spcPts val="0"/>
              </a:spcAft>
              <a:buFont typeface="Arial" panose="020B0604020202020204" pitchFamily="34" charset="0"/>
              <a:buChar char="•"/>
            </a:pPr>
            <a:r>
              <a:rPr lang="vi-VN" sz="2200" b="1">
                <a:solidFill>
                  <a:srgbClr val="002060"/>
                </a:solidFill>
                <a:latin typeface="Cambria" panose="02040503050406030204" pitchFamily="18" charset="0"/>
              </a:rPr>
              <a:t>Nhìn nhận về tình hình áp dụng công nghệ đa phương </a:t>
            </a:r>
            <a:r>
              <a:rPr lang="vi-VN" sz="2200" b="1" smtClean="0">
                <a:solidFill>
                  <a:srgbClr val="002060"/>
                </a:solidFill>
                <a:latin typeface="Cambria" panose="02040503050406030204" pitchFamily="18" charset="0"/>
              </a:rPr>
              <a:t>tiện:</a:t>
            </a:r>
            <a:endParaRPr lang="vi-VN" sz="2200" b="1">
              <a:solidFill>
                <a:srgbClr val="002060"/>
              </a:solidFill>
              <a:latin typeface="Cambria" panose="02040503050406030204" pitchFamily="18" charset="0"/>
            </a:endParaRPr>
          </a:p>
          <a:p>
            <a:pPr algn="just">
              <a:lnSpc>
                <a:spcPct val="150000"/>
              </a:lnSpc>
              <a:spcBef>
                <a:spcPts val="0"/>
              </a:spcBef>
              <a:spcAft>
                <a:spcPts val="0"/>
              </a:spcAft>
            </a:pPr>
            <a:r>
              <a:rPr lang="vi-VN" sz="2200" b="1">
                <a:solidFill>
                  <a:srgbClr val="002060"/>
                </a:solidFill>
                <a:latin typeface="Cambria" panose="02040503050406030204" pitchFamily="18" charset="0"/>
              </a:rPr>
              <a:t>-	Tại nhiều nước  khối  Asean: có trung tâm đào tạo đa phương tiện, có các công </a:t>
            </a:r>
            <a:r>
              <a:rPr lang="vi-VN" sz="2200" b="1" smtClean="0">
                <a:solidFill>
                  <a:srgbClr val="002060"/>
                </a:solidFill>
                <a:latin typeface="Cambria" panose="02040503050406030204" pitchFamily="18" charset="0"/>
              </a:rPr>
              <a:t>ty </a:t>
            </a:r>
            <a:r>
              <a:rPr lang="vi-VN" sz="2200" b="1">
                <a:solidFill>
                  <a:srgbClr val="002060"/>
                </a:solidFill>
                <a:latin typeface="Cambria" panose="02040503050406030204" pitchFamily="18" charset="0"/>
              </a:rPr>
              <a:t>chuyên về đa phương tiện. Bên cạnh đài phát thanh và truyền hình, đa phương tiện trở thành nhu cầu trong đời sống kinh tế xã hội (đặc biệt trong quảng cáo sản phẩm, nghe nhìn,...)</a:t>
            </a:r>
          </a:p>
          <a:p>
            <a:pPr algn="just">
              <a:lnSpc>
                <a:spcPct val="150000"/>
              </a:lnSpc>
              <a:spcBef>
                <a:spcPts val="0"/>
              </a:spcBef>
              <a:spcAft>
                <a:spcPts val="0"/>
              </a:spcAft>
            </a:pPr>
            <a:r>
              <a:rPr lang="vi-VN" sz="2200" b="1">
                <a:solidFill>
                  <a:srgbClr val="002060"/>
                </a:solidFill>
                <a:latin typeface="Cambria" panose="02040503050406030204" pitchFamily="18" charset="0"/>
              </a:rPr>
              <a:t>-	Tại Việt Nam: nhiều cơ quan, chẳng hạn Tổng cục du lịch đã sản xuất đĩa CD- ROM giới thiệu về du lịch Việt Nam; các công ty liên doanh về quảng cáo văn hoá đã tạo bộ ảnh Việt Nam; hãng phim hoạt hình trung ương làm phim hoạt hình quảng cáo, làm phim cho thiếu nhi...</a:t>
            </a:r>
          </a:p>
          <a:p>
            <a:pPr algn="just">
              <a:lnSpc>
                <a:spcPct val="150000"/>
              </a:lnSpc>
              <a:spcBef>
                <a:spcPts val="0"/>
              </a:spcBef>
              <a:spcAft>
                <a:spcPts val="0"/>
              </a:spcAft>
            </a:pPr>
            <a:r>
              <a:rPr lang="en-US" sz="2200" b="1" smtClean="0">
                <a:solidFill>
                  <a:srgbClr val="002060"/>
                </a:solidFill>
                <a:latin typeface="Cambria" panose="02040503050406030204" pitchFamily="18" charset="0"/>
              </a:rPr>
              <a:t> </a:t>
            </a:r>
            <a:endParaRPr lang="en-US" sz="2200" b="1">
              <a:solidFill>
                <a:srgbClr val="002060"/>
              </a:solidFill>
              <a:latin typeface="Cambria" panose="02040503050406030204" pitchFamily="18" charset="0"/>
            </a:endParaRPr>
          </a:p>
        </p:txBody>
      </p:sp>
      <p:sp>
        <p:nvSpPr>
          <p:cNvPr id="5" name="Rectangle 4"/>
          <p:cNvSpPr/>
          <p:nvPr/>
        </p:nvSpPr>
        <p:spPr>
          <a:xfrm>
            <a:off x="119858" y="122341"/>
            <a:ext cx="8603228" cy="523220"/>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1.6. Tổng quan về quá </a:t>
            </a:r>
            <a:r>
              <a:rPr lang="vi-VN" sz="2800" b="1" smtClean="0">
                <a:solidFill>
                  <a:srgbClr val="002060"/>
                </a:solidFill>
                <a:latin typeface="Cambria" panose="02040503050406030204" pitchFamily="18" charset="0"/>
              </a:rPr>
              <a:t>tr</a:t>
            </a:r>
            <a:r>
              <a:rPr lang="en-US" sz="2800" b="1">
                <a:solidFill>
                  <a:srgbClr val="002060"/>
                </a:solidFill>
                <a:latin typeface="Cambria" panose="02040503050406030204" pitchFamily="18" charset="0"/>
              </a:rPr>
              <a:t>ì</a:t>
            </a:r>
            <a:r>
              <a:rPr lang="vi-VN" sz="2800" b="1" smtClean="0">
                <a:solidFill>
                  <a:srgbClr val="002060"/>
                </a:solidFill>
                <a:latin typeface="Cambria" panose="02040503050406030204" pitchFamily="18" charset="0"/>
              </a:rPr>
              <a:t>nh </a:t>
            </a:r>
            <a:r>
              <a:rPr lang="vi-VN" sz="2800" b="1">
                <a:solidFill>
                  <a:srgbClr val="002060"/>
                </a:solidFill>
                <a:latin typeface="Cambria" panose="02040503050406030204" pitchFamily="18" charset="0"/>
              </a:rPr>
              <a:t>phát triển Multimedia </a:t>
            </a:r>
          </a:p>
        </p:txBody>
      </p:sp>
      <p:sp>
        <p:nvSpPr>
          <p:cNvPr id="6" name="Line 16"/>
          <p:cNvSpPr>
            <a:spLocks noChangeShapeType="1"/>
          </p:cNvSpPr>
          <p:nvPr/>
        </p:nvSpPr>
        <p:spPr bwMode="auto">
          <a:xfrm>
            <a:off x="135984" y="74726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0667806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747264"/>
            <a:ext cx="8570976"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spcBef>
                <a:spcPts val="0"/>
              </a:spcBef>
              <a:spcAft>
                <a:spcPts val="0"/>
              </a:spcAft>
            </a:pPr>
            <a:r>
              <a:rPr lang="en-US" sz="2200" b="1" smtClean="0">
                <a:solidFill>
                  <a:srgbClr val="002060"/>
                </a:solidFill>
                <a:latin typeface="Cambria" panose="02040503050406030204" pitchFamily="18" charset="0"/>
              </a:rPr>
              <a:t>1.7.1. Nguyên tắc</a:t>
            </a:r>
          </a:p>
          <a:p>
            <a:pPr algn="just">
              <a:lnSpc>
                <a:spcPct val="150000"/>
              </a:lnSpc>
              <a:spcBef>
                <a:spcPts val="0"/>
              </a:spcBef>
              <a:spcAft>
                <a:spcPts val="0"/>
              </a:spcAft>
            </a:pPr>
            <a:r>
              <a:rPr lang="en-US" sz="2200" b="1">
                <a:solidFill>
                  <a:srgbClr val="002060"/>
                </a:solidFill>
                <a:latin typeface="Cambria" panose="02040503050406030204" pitchFamily="18" charset="0"/>
              </a:rPr>
              <a:t> Một số nguyên tắc dùng trong thiết kế giao diện điền khuôn dạng </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en-US" sz="2200" b="1" smtClean="0">
                <a:solidFill>
                  <a:srgbClr val="002060"/>
                </a:solidFill>
                <a:latin typeface="Cambria" panose="02040503050406030204" pitchFamily="18" charset="0"/>
              </a:rPr>
              <a:t>Tiêu đề: </a:t>
            </a:r>
            <a:r>
              <a:rPr lang="en-US" sz="2200" b="1">
                <a:solidFill>
                  <a:srgbClr val="002060"/>
                </a:solidFill>
                <a:latin typeface="Cambria" panose="02040503050406030204" pitchFamily="18" charset="0"/>
              </a:rPr>
              <a:t>phải có ý nghĩa, cần gắn liền với chủ </a:t>
            </a:r>
            <a:r>
              <a:rPr lang="en-US" sz="2200" b="1" smtClean="0">
                <a:solidFill>
                  <a:srgbClr val="002060"/>
                </a:solidFill>
                <a:latin typeface="Cambria" panose="02040503050406030204" pitchFamily="18" charset="0"/>
              </a:rPr>
              <a:t>đề</a:t>
            </a:r>
          </a:p>
          <a:p>
            <a:pPr marL="342900" indent="-342900" algn="just">
              <a:lnSpc>
                <a:spcPct val="150000"/>
              </a:lnSpc>
              <a:spcBef>
                <a:spcPts val="0"/>
              </a:spcBef>
              <a:spcAft>
                <a:spcPts val="0"/>
              </a:spcAft>
              <a:buFont typeface="Arial" panose="020B0604020202020204" pitchFamily="34" charset="0"/>
              <a:buChar char="•"/>
            </a:pPr>
            <a:r>
              <a:rPr lang="vi-VN" sz="2200" b="1" smtClean="0">
                <a:solidFill>
                  <a:srgbClr val="002060"/>
                </a:solidFill>
                <a:latin typeface="Cambria" panose="02040503050406030204" pitchFamily="18" charset="0"/>
              </a:rPr>
              <a:t>Chỉ </a:t>
            </a:r>
            <a:r>
              <a:rPr lang="vi-VN" sz="2200" b="1">
                <a:solidFill>
                  <a:srgbClr val="002060"/>
                </a:solidFill>
                <a:latin typeface="Cambria" panose="02040503050406030204" pitchFamily="18" charset="0"/>
              </a:rPr>
              <a:t>dẫn đầy đủ dễ </a:t>
            </a:r>
            <a:r>
              <a:rPr lang="vi-VN" sz="2200" b="1" smtClean="0">
                <a:solidFill>
                  <a:srgbClr val="002060"/>
                </a:solidFill>
                <a:latin typeface="Cambria" panose="02040503050406030204" pitchFamily="18" charset="0"/>
              </a:rPr>
              <a:t>hiểu: </a:t>
            </a:r>
            <a:r>
              <a:rPr lang="vi-VN" sz="2200" b="1">
                <a:solidFill>
                  <a:srgbClr val="002060"/>
                </a:solidFill>
                <a:latin typeface="Cambria" panose="02040503050406030204" pitchFamily="18" charset="0"/>
              </a:rPr>
              <a:t>mô tả các mục công việc của người dùng bằng thuật ngữ quen thuộc, thật ngắn </a:t>
            </a:r>
            <a:r>
              <a:rPr lang="vi-VN" sz="2200" b="1" smtClean="0">
                <a:solidFill>
                  <a:srgbClr val="002060"/>
                </a:solidFill>
                <a:latin typeface="Cambria" panose="02040503050406030204" pitchFamily="18" charset="0"/>
              </a:rPr>
              <a:t>gọn</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vi-VN" sz="2200" b="1">
                <a:solidFill>
                  <a:srgbClr val="002060"/>
                </a:solidFill>
                <a:latin typeface="Cambria" panose="02040503050406030204" pitchFamily="18" charset="0"/>
              </a:rPr>
              <a:t>Phân nhóm và sắp xếp thứ tự các trường theo </a:t>
            </a:r>
            <a:r>
              <a:rPr lang="vi-VN" sz="2200" b="1" smtClean="0">
                <a:solidFill>
                  <a:srgbClr val="002060"/>
                </a:solidFill>
                <a:latin typeface="Cambria" panose="02040503050406030204" pitchFamily="18" charset="0"/>
              </a:rPr>
              <a:t>logic</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en-US" sz="2200" b="1" smtClean="0">
                <a:solidFill>
                  <a:srgbClr val="002060"/>
                </a:solidFill>
                <a:latin typeface="Cambria" panose="02040503050406030204" pitchFamily="18" charset="0"/>
              </a:rPr>
              <a:t>Trình </a:t>
            </a:r>
            <a:r>
              <a:rPr lang="en-US" sz="2200" b="1">
                <a:solidFill>
                  <a:srgbClr val="002060"/>
                </a:solidFill>
                <a:latin typeface="Cambria" panose="02040503050406030204" pitchFamily="18" charset="0"/>
              </a:rPr>
              <a:t>bày khuôn dạng nên bắt </a:t>
            </a:r>
            <a:r>
              <a:rPr lang="en-US" sz="2200" b="1" smtClean="0">
                <a:solidFill>
                  <a:srgbClr val="002060"/>
                </a:solidFill>
                <a:latin typeface="Cambria" panose="02040503050406030204" pitchFamily="18" charset="0"/>
              </a:rPr>
              <a:t>mắt</a:t>
            </a:r>
          </a:p>
          <a:p>
            <a:pPr marL="342900" indent="-342900" algn="just">
              <a:lnSpc>
                <a:spcPct val="150000"/>
              </a:lnSpc>
              <a:spcBef>
                <a:spcPts val="0"/>
              </a:spcBef>
              <a:spcAft>
                <a:spcPts val="0"/>
              </a:spcAft>
              <a:buFont typeface="Arial" panose="020B0604020202020204" pitchFamily="34" charset="0"/>
              <a:buChar char="•"/>
            </a:pPr>
            <a:r>
              <a:rPr lang="en-US" sz="2200" b="1" smtClean="0">
                <a:solidFill>
                  <a:srgbClr val="002060"/>
                </a:solidFill>
                <a:latin typeface="Cambria" panose="02040503050406030204" pitchFamily="18" charset="0"/>
              </a:rPr>
              <a:t>Sử </a:t>
            </a:r>
            <a:r>
              <a:rPr lang="en-US" sz="2200" b="1">
                <a:solidFill>
                  <a:srgbClr val="002060"/>
                </a:solidFill>
                <a:latin typeface="Cambria" panose="02040503050406030204" pitchFamily="18" charset="0"/>
              </a:rPr>
              <a:t>dụng các tiêu đề quen </a:t>
            </a:r>
            <a:r>
              <a:rPr lang="en-US" sz="2200" b="1" smtClean="0">
                <a:solidFill>
                  <a:srgbClr val="002060"/>
                </a:solidFill>
                <a:latin typeface="Cambria" panose="02040503050406030204" pitchFamily="18" charset="0"/>
              </a:rPr>
              <a:t>thuộc</a:t>
            </a:r>
          </a:p>
          <a:p>
            <a:pPr marL="342900" indent="-342900" algn="just">
              <a:lnSpc>
                <a:spcPct val="150000"/>
              </a:lnSpc>
              <a:spcBef>
                <a:spcPts val="0"/>
              </a:spcBef>
              <a:spcAft>
                <a:spcPts val="0"/>
              </a:spcAft>
              <a:buFont typeface="Arial" panose="020B0604020202020204" pitchFamily="34" charset="0"/>
              <a:buChar char="•"/>
            </a:pPr>
            <a:r>
              <a:rPr lang="en-US" sz="2200" b="1" smtClean="0">
                <a:solidFill>
                  <a:srgbClr val="002060"/>
                </a:solidFill>
                <a:latin typeface="Cambria" panose="02040503050406030204" pitchFamily="18" charset="0"/>
              </a:rPr>
              <a:t>Nhất </a:t>
            </a:r>
            <a:r>
              <a:rPr lang="en-US" sz="2200" b="1">
                <a:solidFill>
                  <a:srgbClr val="002060"/>
                </a:solidFill>
                <a:latin typeface="Cambria" panose="02040503050406030204" pitchFamily="18" charset="0"/>
              </a:rPr>
              <a:t>quán về thuật ngữ và các từ viết </a:t>
            </a:r>
            <a:r>
              <a:rPr lang="en-US" sz="2200" b="1" smtClean="0">
                <a:solidFill>
                  <a:srgbClr val="002060"/>
                </a:solidFill>
                <a:latin typeface="Cambria" panose="02040503050406030204" pitchFamily="18" charset="0"/>
              </a:rPr>
              <a:t>tắt</a:t>
            </a:r>
          </a:p>
          <a:p>
            <a:pPr marL="342900" indent="-342900" algn="just">
              <a:lnSpc>
                <a:spcPct val="150000"/>
              </a:lnSpc>
              <a:spcBef>
                <a:spcPts val="0"/>
              </a:spcBef>
              <a:spcAft>
                <a:spcPts val="0"/>
              </a:spcAft>
              <a:buFont typeface="Arial" panose="020B0604020202020204" pitchFamily="34" charset="0"/>
              <a:buChar char="•"/>
            </a:pPr>
            <a:r>
              <a:rPr lang="vi-VN" sz="2200" b="1" smtClean="0">
                <a:solidFill>
                  <a:srgbClr val="002060"/>
                </a:solidFill>
                <a:latin typeface="Cambria" panose="02040503050406030204" pitchFamily="18" charset="0"/>
              </a:rPr>
              <a:t>Dùng </a:t>
            </a:r>
            <a:r>
              <a:rPr lang="vi-VN" sz="2200" b="1">
                <a:solidFill>
                  <a:srgbClr val="002060"/>
                </a:solidFill>
                <a:latin typeface="Cambria" panose="02040503050406030204" pitchFamily="18" charset="0"/>
              </a:rPr>
              <a:t>khoảng trống và đường bao cho các trường nhập dữ liệu</a:t>
            </a:r>
            <a:endParaRPr lang="en-US" sz="2200" b="1">
              <a:solidFill>
                <a:srgbClr val="002060"/>
              </a:solidFill>
              <a:latin typeface="Cambria" panose="02040503050406030204" pitchFamily="18" charset="0"/>
            </a:endParaRPr>
          </a:p>
        </p:txBody>
      </p:sp>
      <p:sp>
        <p:nvSpPr>
          <p:cNvPr id="5" name="Rectangle 4"/>
          <p:cNvSpPr/>
          <p:nvPr/>
        </p:nvSpPr>
        <p:spPr>
          <a:xfrm>
            <a:off x="119858" y="122341"/>
            <a:ext cx="8603228" cy="523220"/>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1.7. Quá trình phát triển một sản phẩm Multimedia </a:t>
            </a:r>
          </a:p>
        </p:txBody>
      </p:sp>
      <p:sp>
        <p:nvSpPr>
          <p:cNvPr id="6" name="Line 16"/>
          <p:cNvSpPr>
            <a:spLocks noChangeShapeType="1"/>
          </p:cNvSpPr>
          <p:nvPr/>
        </p:nvSpPr>
        <p:spPr bwMode="auto">
          <a:xfrm>
            <a:off x="135984" y="74726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1367858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747264"/>
            <a:ext cx="8570976" cy="466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spcBef>
                <a:spcPts val="0"/>
              </a:spcBef>
              <a:spcAft>
                <a:spcPts val="0"/>
              </a:spcAft>
            </a:pPr>
            <a:r>
              <a:rPr lang="en-US" sz="2200" b="1" smtClean="0">
                <a:solidFill>
                  <a:srgbClr val="002060"/>
                </a:solidFill>
                <a:latin typeface="Cambria" panose="02040503050406030204" pitchFamily="18" charset="0"/>
              </a:rPr>
              <a:t>1.7.1. Nguyên tắc</a:t>
            </a:r>
          </a:p>
          <a:p>
            <a:pPr algn="just">
              <a:lnSpc>
                <a:spcPct val="150000"/>
              </a:lnSpc>
              <a:spcBef>
                <a:spcPts val="0"/>
              </a:spcBef>
              <a:spcAft>
                <a:spcPts val="0"/>
              </a:spcAft>
            </a:pPr>
            <a:r>
              <a:rPr lang="en-US" sz="2200" b="1">
                <a:solidFill>
                  <a:srgbClr val="002060"/>
                </a:solidFill>
                <a:latin typeface="Cambria" panose="02040503050406030204" pitchFamily="18" charset="0"/>
              </a:rPr>
              <a:t> Một số nguyên tắc dùng trong thiết kế giao diện điền khuôn dạng </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en-US" sz="2200" b="1" smtClean="0">
                <a:solidFill>
                  <a:srgbClr val="002060"/>
                </a:solidFill>
                <a:latin typeface="Cambria" panose="02040503050406030204" pitchFamily="18" charset="0"/>
              </a:rPr>
              <a:t>Sử </a:t>
            </a:r>
            <a:r>
              <a:rPr lang="en-US" sz="2200" b="1">
                <a:solidFill>
                  <a:srgbClr val="002060"/>
                </a:solidFill>
                <a:latin typeface="Cambria" panose="02040503050406030204" pitchFamily="18" charset="0"/>
              </a:rPr>
              <a:t>dụng con trỏ để thêm thuận </a:t>
            </a:r>
            <a:r>
              <a:rPr lang="en-US" sz="2200" b="1" smtClean="0">
                <a:solidFill>
                  <a:srgbClr val="002060"/>
                </a:solidFill>
                <a:latin typeface="Cambria" panose="02040503050406030204" pitchFamily="18" charset="0"/>
              </a:rPr>
              <a:t>tiện</a:t>
            </a:r>
          </a:p>
          <a:p>
            <a:pPr marL="342900" indent="-342900" algn="just">
              <a:lnSpc>
                <a:spcPct val="150000"/>
              </a:lnSpc>
              <a:spcBef>
                <a:spcPts val="0"/>
              </a:spcBef>
              <a:spcAft>
                <a:spcPts val="0"/>
              </a:spcAft>
              <a:buFont typeface="Arial" panose="020B0604020202020204" pitchFamily="34" charset="0"/>
              <a:buChar char="•"/>
            </a:pPr>
            <a:r>
              <a:rPr lang="vi-VN" sz="2200" b="1" smtClean="0">
                <a:solidFill>
                  <a:srgbClr val="002060"/>
                </a:solidFill>
                <a:latin typeface="Cambria" panose="02040503050406030204" pitchFamily="18" charset="0"/>
              </a:rPr>
              <a:t>Sửa </a:t>
            </a:r>
            <a:r>
              <a:rPr lang="vi-VN" sz="2200" b="1">
                <a:solidFill>
                  <a:srgbClr val="002060"/>
                </a:solidFill>
                <a:latin typeface="Cambria" panose="02040503050406030204" pitchFamily="18" charset="0"/>
              </a:rPr>
              <a:t>lỗi cho các ký tự riêng lẻ và cho toàn bộ </a:t>
            </a:r>
            <a:r>
              <a:rPr lang="vi-VN" sz="2200" b="1" smtClean="0">
                <a:solidFill>
                  <a:srgbClr val="002060"/>
                </a:solidFill>
                <a:latin typeface="Cambria" panose="02040503050406030204" pitchFamily="18" charset="0"/>
              </a:rPr>
              <a:t>trường</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en-US" sz="2200" b="1" smtClean="0">
                <a:solidFill>
                  <a:srgbClr val="002060"/>
                </a:solidFill>
                <a:latin typeface="Cambria" panose="02040503050406030204" pitchFamily="18" charset="0"/>
              </a:rPr>
              <a:t>Chặn lỗi</a:t>
            </a:r>
          </a:p>
          <a:p>
            <a:pPr marL="342900" indent="-342900" algn="just">
              <a:lnSpc>
                <a:spcPct val="150000"/>
              </a:lnSpc>
              <a:spcBef>
                <a:spcPts val="0"/>
              </a:spcBef>
              <a:spcAft>
                <a:spcPts val="0"/>
              </a:spcAft>
              <a:buFont typeface="Arial" panose="020B0604020202020204" pitchFamily="34" charset="0"/>
              <a:buChar char="•"/>
            </a:pPr>
            <a:r>
              <a:rPr lang="en-US" sz="2200" b="1" smtClean="0">
                <a:solidFill>
                  <a:srgbClr val="002060"/>
                </a:solidFill>
                <a:latin typeface="Cambria" panose="02040503050406030204" pitchFamily="18" charset="0"/>
              </a:rPr>
              <a:t>Các </a:t>
            </a:r>
            <a:r>
              <a:rPr lang="en-US" sz="2200" b="1">
                <a:solidFill>
                  <a:srgbClr val="002060"/>
                </a:solidFill>
                <a:latin typeface="Cambria" panose="02040503050406030204" pitchFamily="18" charset="0"/>
              </a:rPr>
              <a:t>thông báo lỗi cho các giá trị không hợp </a:t>
            </a:r>
            <a:r>
              <a:rPr lang="en-US" sz="2200" b="1" smtClean="0">
                <a:solidFill>
                  <a:srgbClr val="002060"/>
                </a:solidFill>
                <a:latin typeface="Cambria" panose="02040503050406030204" pitchFamily="18" charset="0"/>
              </a:rPr>
              <a:t>lệ</a:t>
            </a:r>
          </a:p>
          <a:p>
            <a:pPr marL="342900" indent="-342900" algn="just">
              <a:lnSpc>
                <a:spcPct val="150000"/>
              </a:lnSpc>
              <a:spcBef>
                <a:spcPts val="0"/>
              </a:spcBef>
              <a:spcAft>
                <a:spcPts val="0"/>
              </a:spcAft>
              <a:buFont typeface="Arial" panose="020B0604020202020204" pitchFamily="34" charset="0"/>
              <a:buChar char="•"/>
            </a:pPr>
            <a:r>
              <a:rPr lang="vi-VN" sz="2200" b="1">
                <a:solidFill>
                  <a:srgbClr val="002060"/>
                </a:solidFill>
                <a:latin typeface="Cambria" panose="02040503050406030204" pitchFamily="18" charset="0"/>
              </a:rPr>
              <a:t>Chú thích rõ ràng các trường tuỳ </a:t>
            </a:r>
            <a:r>
              <a:rPr lang="vi-VN" sz="2200" b="1" smtClean="0">
                <a:solidFill>
                  <a:srgbClr val="002060"/>
                </a:solidFill>
                <a:latin typeface="Cambria" panose="02040503050406030204" pitchFamily="18" charset="0"/>
              </a:rPr>
              <a:t>chọn</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vi-VN" sz="2200" b="1" smtClean="0">
                <a:solidFill>
                  <a:srgbClr val="002060"/>
                </a:solidFill>
                <a:latin typeface="Cambria" panose="02040503050406030204" pitchFamily="18" charset="0"/>
              </a:rPr>
              <a:t>Giải </a:t>
            </a:r>
            <a:r>
              <a:rPr lang="vi-VN" sz="2200" b="1">
                <a:solidFill>
                  <a:srgbClr val="002060"/>
                </a:solidFill>
                <a:latin typeface="Cambria" panose="02040503050406030204" pitchFamily="18" charset="0"/>
              </a:rPr>
              <a:t>thích rõ ràng các tên </a:t>
            </a:r>
            <a:r>
              <a:rPr lang="vi-VN" sz="2200" b="1" smtClean="0">
                <a:solidFill>
                  <a:srgbClr val="002060"/>
                </a:solidFill>
                <a:latin typeface="Cambria" panose="02040503050406030204" pitchFamily="18" charset="0"/>
              </a:rPr>
              <a:t>trường</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en-US" sz="2200" b="1" smtClean="0">
                <a:solidFill>
                  <a:srgbClr val="002060"/>
                </a:solidFill>
                <a:latin typeface="Cambria" panose="02040503050406030204" pitchFamily="18" charset="0"/>
              </a:rPr>
              <a:t>Dấu </a:t>
            </a:r>
            <a:r>
              <a:rPr lang="en-US" sz="2200" b="1">
                <a:solidFill>
                  <a:srgbClr val="002060"/>
                </a:solidFill>
                <a:latin typeface="Cambria" panose="02040503050406030204" pitchFamily="18" charset="0"/>
              </a:rPr>
              <a:t>hiệu kết thúc</a:t>
            </a:r>
          </a:p>
        </p:txBody>
      </p:sp>
      <p:sp>
        <p:nvSpPr>
          <p:cNvPr id="5" name="Rectangle 4"/>
          <p:cNvSpPr/>
          <p:nvPr/>
        </p:nvSpPr>
        <p:spPr>
          <a:xfrm>
            <a:off x="119858" y="122341"/>
            <a:ext cx="8603228" cy="523220"/>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1.7. Quá trình phát triển một sản phẩm Multimedia </a:t>
            </a:r>
          </a:p>
        </p:txBody>
      </p:sp>
      <p:sp>
        <p:nvSpPr>
          <p:cNvPr id="6" name="Line 16"/>
          <p:cNvSpPr>
            <a:spLocks noChangeShapeType="1"/>
          </p:cNvSpPr>
          <p:nvPr/>
        </p:nvSpPr>
        <p:spPr bwMode="auto">
          <a:xfrm>
            <a:off x="135984" y="74726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2110688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747264"/>
            <a:ext cx="8570976" cy="6499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spcBef>
                <a:spcPts val="500"/>
              </a:spcBef>
              <a:spcAft>
                <a:spcPts val="500"/>
              </a:spcAft>
            </a:pPr>
            <a:r>
              <a:rPr lang="en-US" sz="2200" b="1" smtClean="0">
                <a:solidFill>
                  <a:srgbClr val="002060"/>
                </a:solidFill>
                <a:latin typeface="Cambria" panose="02040503050406030204" pitchFamily="18" charset="0"/>
              </a:rPr>
              <a:t>Những lỗi hay mắc phải:</a:t>
            </a:r>
          </a:p>
          <a:p>
            <a:pPr algn="just">
              <a:spcBef>
                <a:spcPts val="500"/>
              </a:spcBef>
              <a:spcAft>
                <a:spcPts val="500"/>
              </a:spcAft>
            </a:pPr>
            <a:r>
              <a:rPr lang="vi-VN" sz="2200" b="1">
                <a:solidFill>
                  <a:srgbClr val="002060"/>
                </a:solidFill>
                <a:latin typeface="Cambria" panose="02040503050406030204" pitchFamily="18" charset="0"/>
              </a:rPr>
              <a:t>-	Bỏ sót tiêu </a:t>
            </a:r>
            <a:r>
              <a:rPr lang="vi-VN" sz="2200" b="1" smtClean="0">
                <a:solidFill>
                  <a:srgbClr val="002060"/>
                </a:solidFill>
                <a:latin typeface="Cambria" panose="02040503050406030204" pitchFamily="18" charset="0"/>
              </a:rPr>
              <a:t>đề</a:t>
            </a:r>
            <a:endParaRPr lang="vi-VN" sz="2200" b="1">
              <a:solidFill>
                <a:srgbClr val="002060"/>
              </a:solidFill>
              <a:latin typeface="Cambria" panose="02040503050406030204" pitchFamily="18" charset="0"/>
            </a:endParaRPr>
          </a:p>
          <a:p>
            <a:pPr algn="just">
              <a:spcBef>
                <a:spcPts val="500"/>
              </a:spcBef>
              <a:spcAft>
                <a:spcPts val="500"/>
              </a:spcAft>
            </a:pPr>
            <a:r>
              <a:rPr lang="vi-VN" sz="2200" b="1">
                <a:solidFill>
                  <a:srgbClr val="002060"/>
                </a:solidFill>
                <a:latin typeface="Cambria" panose="02040503050406030204" pitchFamily="18" charset="0"/>
              </a:rPr>
              <a:t>-	Các dấu hiệu kết </a:t>
            </a:r>
            <a:r>
              <a:rPr lang="vi-VN" sz="2200" b="1" smtClean="0">
                <a:solidFill>
                  <a:srgbClr val="002060"/>
                </a:solidFill>
                <a:latin typeface="Cambria" panose="02040503050406030204" pitchFamily="18" charset="0"/>
              </a:rPr>
              <a:t>thúc</a:t>
            </a:r>
            <a:endParaRPr lang="vi-VN" sz="2200" b="1">
              <a:solidFill>
                <a:srgbClr val="002060"/>
              </a:solidFill>
              <a:latin typeface="Cambria" panose="02040503050406030204" pitchFamily="18" charset="0"/>
            </a:endParaRPr>
          </a:p>
          <a:p>
            <a:pPr algn="just">
              <a:spcBef>
                <a:spcPts val="500"/>
              </a:spcBef>
              <a:spcAft>
                <a:spcPts val="500"/>
              </a:spcAft>
            </a:pPr>
            <a:r>
              <a:rPr lang="vi-VN" sz="2200" b="1">
                <a:solidFill>
                  <a:srgbClr val="002060"/>
                </a:solidFill>
                <a:latin typeface="Cambria" panose="02040503050406030204" pitchFamily="18" charset="0"/>
              </a:rPr>
              <a:t>-	Tên file máy tính không cần </a:t>
            </a:r>
            <a:r>
              <a:rPr lang="vi-VN" sz="2200" b="1" smtClean="0">
                <a:solidFill>
                  <a:srgbClr val="002060"/>
                </a:solidFill>
                <a:latin typeface="Cambria" panose="02040503050406030204" pitchFamily="18" charset="0"/>
              </a:rPr>
              <a:t>thiết</a:t>
            </a:r>
            <a:endParaRPr lang="vi-VN" sz="2200" b="1">
              <a:solidFill>
                <a:srgbClr val="002060"/>
              </a:solidFill>
              <a:latin typeface="Cambria" panose="02040503050406030204" pitchFamily="18" charset="0"/>
            </a:endParaRPr>
          </a:p>
          <a:p>
            <a:pPr algn="just">
              <a:spcBef>
                <a:spcPts val="500"/>
              </a:spcBef>
              <a:spcAft>
                <a:spcPts val="500"/>
              </a:spcAft>
            </a:pPr>
            <a:r>
              <a:rPr lang="vi-VN" sz="2200" b="1">
                <a:solidFill>
                  <a:srgbClr val="002060"/>
                </a:solidFill>
                <a:latin typeface="Cambria" panose="02040503050406030204" pitchFamily="18" charset="0"/>
              </a:rPr>
              <a:t>-	Các ký tự </a:t>
            </a:r>
            <a:r>
              <a:rPr lang="vi-VN" sz="2200" b="1" smtClean="0">
                <a:solidFill>
                  <a:srgbClr val="002060"/>
                </a:solidFill>
                <a:latin typeface="Cambria" panose="02040503050406030204" pitchFamily="18" charset="0"/>
              </a:rPr>
              <a:t>lạ</a:t>
            </a:r>
            <a:endParaRPr lang="vi-VN" sz="2200" b="1">
              <a:solidFill>
                <a:srgbClr val="002060"/>
              </a:solidFill>
              <a:latin typeface="Cambria" panose="02040503050406030204" pitchFamily="18" charset="0"/>
            </a:endParaRPr>
          </a:p>
          <a:p>
            <a:pPr algn="just">
              <a:spcBef>
                <a:spcPts val="500"/>
              </a:spcBef>
              <a:spcAft>
                <a:spcPts val="500"/>
              </a:spcAft>
            </a:pPr>
            <a:r>
              <a:rPr lang="vi-VN" sz="2200" b="1">
                <a:solidFill>
                  <a:srgbClr val="002060"/>
                </a:solidFill>
                <a:latin typeface="Cambria" panose="02040503050406030204" pitchFamily="18" charset="0"/>
              </a:rPr>
              <a:t>-	Các chỉ dẫn khó </a:t>
            </a:r>
            <a:r>
              <a:rPr lang="vi-VN" sz="2200" b="1" smtClean="0">
                <a:solidFill>
                  <a:srgbClr val="002060"/>
                </a:solidFill>
                <a:latin typeface="Cambria" panose="02040503050406030204" pitchFamily="18" charset="0"/>
              </a:rPr>
              <a:t>hiểu</a:t>
            </a:r>
            <a:endParaRPr lang="vi-VN" sz="2200" b="1">
              <a:solidFill>
                <a:srgbClr val="002060"/>
              </a:solidFill>
              <a:latin typeface="Cambria" panose="02040503050406030204" pitchFamily="18" charset="0"/>
            </a:endParaRPr>
          </a:p>
          <a:p>
            <a:pPr algn="just">
              <a:spcBef>
                <a:spcPts val="500"/>
              </a:spcBef>
              <a:spcAft>
                <a:spcPts val="500"/>
              </a:spcAft>
            </a:pPr>
            <a:r>
              <a:rPr lang="vi-VN" sz="2200" b="1">
                <a:solidFill>
                  <a:srgbClr val="002060"/>
                </a:solidFill>
                <a:latin typeface="Cambria" panose="02040503050406030204" pitchFamily="18" charset="0"/>
              </a:rPr>
              <a:t>-	Nhóm các trường không trực </a:t>
            </a:r>
            <a:r>
              <a:rPr lang="vi-VN" sz="2200" b="1" smtClean="0">
                <a:solidFill>
                  <a:srgbClr val="002060"/>
                </a:solidFill>
                <a:latin typeface="Cambria" panose="02040503050406030204" pitchFamily="18" charset="0"/>
              </a:rPr>
              <a:t>quan</a:t>
            </a:r>
            <a:endParaRPr lang="vi-VN" sz="2200" b="1">
              <a:solidFill>
                <a:srgbClr val="002060"/>
              </a:solidFill>
              <a:latin typeface="Cambria" panose="02040503050406030204" pitchFamily="18" charset="0"/>
            </a:endParaRPr>
          </a:p>
          <a:p>
            <a:pPr algn="just">
              <a:spcBef>
                <a:spcPts val="500"/>
              </a:spcBef>
              <a:spcAft>
                <a:spcPts val="500"/>
              </a:spcAft>
            </a:pPr>
            <a:r>
              <a:rPr lang="vi-VN" sz="2200" b="1">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a:t>
            </a:r>
            <a:r>
              <a:rPr lang="vi-VN" sz="2200" b="1">
                <a:solidFill>
                  <a:srgbClr val="002060"/>
                </a:solidFill>
                <a:latin typeface="Cambria" panose="02040503050406030204" pitchFamily="18" charset="0"/>
              </a:rPr>
              <a:t>	Các thể hiện lộn </a:t>
            </a:r>
            <a:r>
              <a:rPr lang="vi-VN" sz="2200" b="1" smtClean="0">
                <a:solidFill>
                  <a:srgbClr val="002060"/>
                </a:solidFill>
                <a:latin typeface="Cambria" panose="02040503050406030204" pitchFamily="18" charset="0"/>
              </a:rPr>
              <a:t>xộn</a:t>
            </a:r>
            <a:endParaRPr lang="vi-VN" sz="2200" b="1">
              <a:solidFill>
                <a:srgbClr val="002060"/>
              </a:solidFill>
              <a:latin typeface="Cambria" panose="02040503050406030204" pitchFamily="18" charset="0"/>
            </a:endParaRPr>
          </a:p>
          <a:p>
            <a:pPr algn="just">
              <a:spcBef>
                <a:spcPts val="500"/>
              </a:spcBef>
              <a:spcAft>
                <a:spcPts val="500"/>
              </a:spcAft>
            </a:pPr>
            <a:r>
              <a:rPr lang="vi-VN" sz="2200" b="1">
                <a:solidFill>
                  <a:srgbClr val="002060"/>
                </a:solidFill>
                <a:latin typeface="Cambria" panose="02040503050406030204" pitchFamily="18" charset="0"/>
              </a:rPr>
              <a:t>-	Các tên trường không rõ </a:t>
            </a:r>
            <a:r>
              <a:rPr lang="vi-VN" sz="2200" b="1" smtClean="0">
                <a:solidFill>
                  <a:srgbClr val="002060"/>
                </a:solidFill>
                <a:latin typeface="Cambria" panose="02040503050406030204" pitchFamily="18" charset="0"/>
              </a:rPr>
              <a:t>nghĩa</a:t>
            </a:r>
            <a:endParaRPr lang="vi-VN" sz="2200" b="1">
              <a:solidFill>
                <a:srgbClr val="002060"/>
              </a:solidFill>
              <a:latin typeface="Cambria" panose="02040503050406030204" pitchFamily="18" charset="0"/>
            </a:endParaRPr>
          </a:p>
          <a:p>
            <a:pPr algn="just">
              <a:spcBef>
                <a:spcPts val="500"/>
              </a:spcBef>
              <a:spcAft>
                <a:spcPts val="500"/>
              </a:spcAft>
            </a:pPr>
            <a:r>
              <a:rPr lang="vi-VN" sz="2200" b="1">
                <a:solidFill>
                  <a:srgbClr val="002060"/>
                </a:solidFill>
                <a:latin typeface="Cambria" panose="02040503050406030204" pitchFamily="18" charset="0"/>
              </a:rPr>
              <a:t>-	Mâu thuẫn giữa các chữ viết tắt hay các định dạng </a:t>
            </a:r>
            <a:r>
              <a:rPr lang="vi-VN" sz="2200" b="1" smtClean="0">
                <a:solidFill>
                  <a:srgbClr val="002060"/>
                </a:solidFill>
                <a:latin typeface="Cambria" panose="02040503050406030204" pitchFamily="18" charset="0"/>
              </a:rPr>
              <a:t>trường</a:t>
            </a:r>
            <a:endParaRPr lang="vi-VN" sz="2200" b="1">
              <a:solidFill>
                <a:srgbClr val="002060"/>
              </a:solidFill>
              <a:latin typeface="Cambria" panose="02040503050406030204" pitchFamily="18" charset="0"/>
            </a:endParaRPr>
          </a:p>
          <a:p>
            <a:pPr algn="just">
              <a:spcBef>
                <a:spcPts val="500"/>
              </a:spcBef>
              <a:spcAft>
                <a:spcPts val="500"/>
              </a:spcAft>
            </a:pPr>
            <a:r>
              <a:rPr lang="vi-VN" sz="2200" b="1">
                <a:solidFill>
                  <a:srgbClr val="002060"/>
                </a:solidFill>
                <a:latin typeface="Cambria" panose="02040503050406030204" pitchFamily="18" charset="0"/>
              </a:rPr>
              <a:t>-	Con trỏ hiện thời bất </a:t>
            </a:r>
            <a:r>
              <a:rPr lang="vi-VN" sz="2200" b="1" smtClean="0">
                <a:solidFill>
                  <a:srgbClr val="002060"/>
                </a:solidFill>
                <a:latin typeface="Cambria" panose="02040503050406030204" pitchFamily="18" charset="0"/>
              </a:rPr>
              <a:t>tiện</a:t>
            </a:r>
            <a:endParaRPr lang="vi-VN" sz="2200" b="1">
              <a:solidFill>
                <a:srgbClr val="002060"/>
              </a:solidFill>
              <a:latin typeface="Cambria" panose="02040503050406030204" pitchFamily="18" charset="0"/>
            </a:endParaRPr>
          </a:p>
          <a:p>
            <a:pPr algn="just">
              <a:spcBef>
                <a:spcPts val="500"/>
              </a:spcBef>
              <a:spcAft>
                <a:spcPts val="500"/>
              </a:spcAft>
            </a:pPr>
            <a:r>
              <a:rPr lang="vi-VN" sz="2200" b="1">
                <a:solidFill>
                  <a:srgbClr val="002060"/>
                </a:solidFill>
                <a:latin typeface="Cambria" panose="02040503050406030204" pitchFamily="18" charset="0"/>
              </a:rPr>
              <a:t>-	Các thủ tục sửa lỗi phức </a:t>
            </a:r>
            <a:r>
              <a:rPr lang="vi-VN" sz="2200" b="1" smtClean="0">
                <a:solidFill>
                  <a:srgbClr val="002060"/>
                </a:solidFill>
                <a:latin typeface="Cambria" panose="02040503050406030204" pitchFamily="18" charset="0"/>
              </a:rPr>
              <a:t>tạp</a:t>
            </a:r>
            <a:endParaRPr lang="vi-VN" sz="2200" b="1">
              <a:solidFill>
                <a:srgbClr val="002060"/>
              </a:solidFill>
              <a:latin typeface="Cambria" panose="02040503050406030204" pitchFamily="18" charset="0"/>
            </a:endParaRPr>
          </a:p>
          <a:p>
            <a:pPr algn="just">
              <a:spcBef>
                <a:spcPts val="500"/>
              </a:spcBef>
              <a:spcAft>
                <a:spcPts val="500"/>
              </a:spcAft>
            </a:pPr>
            <a:r>
              <a:rPr lang="vi-VN" sz="2200" b="1">
                <a:solidFill>
                  <a:srgbClr val="002060"/>
                </a:solidFill>
                <a:latin typeface="Cambria" panose="02040503050406030204" pitchFamily="18" charset="0"/>
              </a:rPr>
              <a:t>-	Các thông báo lỗi không thân </a:t>
            </a:r>
            <a:r>
              <a:rPr lang="vi-VN" sz="2200" b="1" smtClean="0">
                <a:solidFill>
                  <a:srgbClr val="002060"/>
                </a:solidFill>
                <a:latin typeface="Cambria" panose="02040503050406030204" pitchFamily="18" charset="0"/>
              </a:rPr>
              <a:t>thiện</a:t>
            </a:r>
            <a:endParaRPr lang="vi-VN" sz="2200" b="1">
              <a:solidFill>
                <a:srgbClr val="002060"/>
              </a:solidFill>
              <a:latin typeface="Cambria" panose="02040503050406030204" pitchFamily="18" charset="0"/>
            </a:endParaRPr>
          </a:p>
          <a:p>
            <a:pPr algn="just">
              <a:spcBef>
                <a:spcPts val="500"/>
              </a:spcBef>
              <a:spcAft>
                <a:spcPts val="500"/>
              </a:spcAft>
            </a:pPr>
            <a:endParaRPr lang="en-US" sz="2200" b="1">
              <a:solidFill>
                <a:srgbClr val="002060"/>
              </a:solidFill>
              <a:latin typeface="Cambria" panose="02040503050406030204" pitchFamily="18" charset="0"/>
            </a:endParaRPr>
          </a:p>
        </p:txBody>
      </p:sp>
      <p:sp>
        <p:nvSpPr>
          <p:cNvPr id="5" name="Rectangle 4"/>
          <p:cNvSpPr/>
          <p:nvPr/>
        </p:nvSpPr>
        <p:spPr>
          <a:xfrm>
            <a:off x="119858" y="122341"/>
            <a:ext cx="8603228" cy="523220"/>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1.7. Quá trình phát triển một sản phẩm Multimedia </a:t>
            </a:r>
          </a:p>
        </p:txBody>
      </p:sp>
      <p:sp>
        <p:nvSpPr>
          <p:cNvPr id="6" name="Line 16"/>
          <p:cNvSpPr>
            <a:spLocks noChangeShapeType="1"/>
          </p:cNvSpPr>
          <p:nvPr/>
        </p:nvSpPr>
        <p:spPr bwMode="auto">
          <a:xfrm>
            <a:off x="135984" y="74726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53243327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747264"/>
            <a:ext cx="8570976"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spcBef>
                <a:spcPts val="0"/>
              </a:spcBef>
              <a:spcAft>
                <a:spcPts val="0"/>
              </a:spcAft>
            </a:pPr>
            <a:r>
              <a:rPr lang="en-US" sz="2200" b="1">
                <a:solidFill>
                  <a:srgbClr val="002060"/>
                </a:solidFill>
                <a:latin typeface="Cambria" panose="02040503050406030204" pitchFamily="18" charset="0"/>
              </a:rPr>
              <a:t>1.7.2. </a:t>
            </a:r>
            <a:r>
              <a:rPr lang="en-US" sz="2200" b="1" smtClean="0">
                <a:solidFill>
                  <a:srgbClr val="002060"/>
                </a:solidFill>
                <a:latin typeface="Cambria" panose="02040503050406030204" pitchFamily="18" charset="0"/>
              </a:rPr>
              <a:t> Danh </a:t>
            </a:r>
            <a:r>
              <a:rPr lang="en-US" sz="2200" b="1">
                <a:solidFill>
                  <a:srgbClr val="002060"/>
                </a:solidFill>
                <a:latin typeface="Cambria" panose="02040503050406030204" pitchFamily="18" charset="0"/>
              </a:rPr>
              <a:t>sách và hộp chọn</a:t>
            </a:r>
          </a:p>
          <a:p>
            <a:pPr marL="342900" indent="-342900" algn="just">
              <a:lnSpc>
                <a:spcPct val="150000"/>
              </a:lnSpc>
              <a:spcBef>
                <a:spcPts val="0"/>
              </a:spcBef>
              <a:spcAft>
                <a:spcPts val="0"/>
              </a:spcAft>
              <a:buFont typeface="Arial" panose="020B0604020202020204" pitchFamily="34" charset="0"/>
              <a:buChar char="•"/>
            </a:pPr>
            <a:r>
              <a:rPr lang="en-US" sz="2200" b="1" smtClean="0">
                <a:solidFill>
                  <a:srgbClr val="002060"/>
                </a:solidFill>
                <a:latin typeface="Cambria" panose="02040503050406030204" pitchFamily="18" charset="0"/>
              </a:rPr>
              <a:t>T</a:t>
            </a:r>
            <a:r>
              <a:rPr lang="vi-VN" sz="2200" b="1" smtClean="0">
                <a:solidFill>
                  <a:srgbClr val="002060"/>
                </a:solidFill>
                <a:latin typeface="Cambria" panose="02040503050406030204" pitchFamily="18" charset="0"/>
              </a:rPr>
              <a:t>rong </a:t>
            </a:r>
            <a:r>
              <a:rPr lang="vi-VN" sz="2200" b="1">
                <a:solidFill>
                  <a:srgbClr val="002060"/>
                </a:solidFill>
                <a:latin typeface="Cambria" panose="02040503050406030204" pitchFamily="18" charset="0"/>
              </a:rPr>
              <a:t>giao diện điền khuôn dạng </a:t>
            </a:r>
            <a:r>
              <a:rPr lang="en-US" sz="2200" b="1" smtClean="0">
                <a:solidFill>
                  <a:srgbClr val="002060"/>
                </a:solidFill>
                <a:latin typeface="Cambria" panose="02040503050406030204" pitchFamily="18" charset="0"/>
              </a:rPr>
              <a:t>có </a:t>
            </a:r>
            <a:r>
              <a:rPr lang="vi-VN" sz="2200" b="1" smtClean="0">
                <a:solidFill>
                  <a:srgbClr val="002060"/>
                </a:solidFill>
                <a:latin typeface="Cambria" panose="02040503050406030204" pitchFamily="18" charset="0"/>
              </a:rPr>
              <a:t>một </a:t>
            </a:r>
            <a:r>
              <a:rPr lang="vi-VN" sz="2200" b="1">
                <a:solidFill>
                  <a:srgbClr val="002060"/>
                </a:solidFill>
                <a:latin typeface="Cambria" panose="02040503050406030204" pitchFamily="18" charset="0"/>
              </a:rPr>
              <a:t>số cách tương tác </a:t>
            </a:r>
            <a:r>
              <a:rPr lang="vi-VN" sz="2200" b="1" smtClean="0">
                <a:solidFill>
                  <a:srgbClr val="002060"/>
                </a:solidFill>
                <a:latin typeface="Cambria" panose="02040503050406030204" pitchFamily="18" charset="0"/>
              </a:rPr>
              <a:t>người</a:t>
            </a:r>
            <a:r>
              <a:rPr lang="en-US" sz="2200" b="1" smtClean="0">
                <a:solidFill>
                  <a:srgbClr val="002060"/>
                </a:solidFill>
                <a:latin typeface="Cambria" panose="02040503050406030204" pitchFamily="18" charset="0"/>
              </a:rPr>
              <a:t> và</a:t>
            </a:r>
            <a:r>
              <a:rPr lang="vi-VN" sz="2200" b="1" smtClean="0">
                <a:solidFill>
                  <a:srgbClr val="002060"/>
                </a:solidFill>
                <a:latin typeface="Cambria" panose="02040503050406030204" pitchFamily="18" charset="0"/>
              </a:rPr>
              <a:t> máy như</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hộp </a:t>
            </a:r>
            <a:r>
              <a:rPr lang="vi-VN" sz="2200" b="1">
                <a:solidFill>
                  <a:srgbClr val="002060"/>
                </a:solidFill>
                <a:latin typeface="Cambria" panose="02040503050406030204" pitchFamily="18" charset="0"/>
              </a:rPr>
              <a:t>chọn, danh sách lựa chọn</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vi-VN" sz="2200" b="1">
                <a:solidFill>
                  <a:srgbClr val="002060"/>
                </a:solidFill>
                <a:latin typeface="Cambria" panose="02040503050406030204" pitchFamily="18" charset="0"/>
              </a:rPr>
              <a:t>Trong môi trường đồ hoạ và trên WWW các nhà thiết kế có thể sử dụng các hộp danh sách dùng thanh </a:t>
            </a:r>
            <a:r>
              <a:rPr lang="vi-VN" sz="2200" b="1" smtClean="0">
                <a:solidFill>
                  <a:srgbClr val="002060"/>
                </a:solidFill>
                <a:latin typeface="Cambria" panose="02040503050406030204" pitchFamily="18" charset="0"/>
              </a:rPr>
              <a:t>cuộn</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vi-VN" sz="2200" b="1">
                <a:solidFill>
                  <a:srgbClr val="002060"/>
                </a:solidFill>
                <a:latin typeface="Cambria" panose="02040503050406030204" pitchFamily="18" charset="0"/>
              </a:rPr>
              <a:t>Sự kết hợp giữa các thực đơn </a:t>
            </a:r>
            <a:r>
              <a:rPr lang="en-US" sz="2200" b="1" smtClean="0">
                <a:solidFill>
                  <a:srgbClr val="002060"/>
                </a:solidFill>
                <a:latin typeface="Cambria" panose="02040503050406030204" pitchFamily="18" charset="0"/>
              </a:rPr>
              <a:t>ẩ</a:t>
            </a:r>
            <a:r>
              <a:rPr lang="vi-VN" sz="2200" b="1" smtClean="0">
                <a:solidFill>
                  <a:srgbClr val="002060"/>
                </a:solidFill>
                <a:latin typeface="Cambria" panose="02040503050406030204" pitchFamily="18" charset="0"/>
              </a:rPr>
              <a:t>n </a:t>
            </a:r>
            <a:r>
              <a:rPr lang="vi-VN" sz="2200" b="1">
                <a:solidFill>
                  <a:srgbClr val="002060"/>
                </a:solidFill>
                <a:latin typeface="Cambria" panose="02040503050406030204" pitchFamily="18" charset="0"/>
              </a:rPr>
              <a:t>hiện, thanh cuộn và điền khuôn dạng có thể hỗ trợ nhanh việc lựa chọn thậm chí cho cả các công việc nhiều bước. </a:t>
            </a:r>
            <a:endParaRPr lang="en-US" sz="2200" b="1">
              <a:solidFill>
                <a:srgbClr val="002060"/>
              </a:solidFill>
              <a:latin typeface="Cambria" panose="02040503050406030204" pitchFamily="18" charset="0"/>
            </a:endParaRPr>
          </a:p>
        </p:txBody>
      </p:sp>
      <p:sp>
        <p:nvSpPr>
          <p:cNvPr id="5" name="Rectangle 4"/>
          <p:cNvSpPr/>
          <p:nvPr/>
        </p:nvSpPr>
        <p:spPr>
          <a:xfrm>
            <a:off x="119858" y="122341"/>
            <a:ext cx="8603228" cy="523220"/>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1.7. Quá trình phát triển một sản phẩm Multimedia </a:t>
            </a:r>
          </a:p>
        </p:txBody>
      </p:sp>
      <p:sp>
        <p:nvSpPr>
          <p:cNvPr id="6" name="Line 16"/>
          <p:cNvSpPr>
            <a:spLocks noChangeShapeType="1"/>
          </p:cNvSpPr>
          <p:nvPr/>
        </p:nvSpPr>
        <p:spPr bwMode="auto">
          <a:xfrm>
            <a:off x="135984" y="74726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890887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747264"/>
            <a:ext cx="8570976"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spcBef>
                <a:spcPts val="0"/>
              </a:spcBef>
              <a:spcAft>
                <a:spcPts val="0"/>
              </a:spcAft>
            </a:pPr>
            <a:r>
              <a:rPr lang="en-US" sz="2200" b="1" smtClean="0">
                <a:solidFill>
                  <a:srgbClr val="002060"/>
                </a:solidFill>
                <a:latin typeface="Cambria" panose="02040503050406030204" pitchFamily="18" charset="0"/>
              </a:rPr>
              <a:t>1.7.3. </a:t>
            </a:r>
            <a:r>
              <a:rPr lang="vi-VN" sz="2200" b="1">
                <a:solidFill>
                  <a:srgbClr val="002060"/>
                </a:solidFill>
                <a:latin typeface="Cambria" panose="02040503050406030204" pitchFamily="18" charset="0"/>
              </a:rPr>
              <a:t>Định dạng dữ liệu cho các trường trong giao diện điền khuôn </a:t>
            </a:r>
            <a:r>
              <a:rPr lang="vi-VN" sz="2200" b="1" smtClean="0">
                <a:solidFill>
                  <a:srgbClr val="002060"/>
                </a:solidFill>
                <a:latin typeface="Cambria" panose="02040503050406030204" pitchFamily="18" charset="0"/>
              </a:rPr>
              <a:t>dạng</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en-US" sz="2200" b="1" smtClean="0">
                <a:solidFill>
                  <a:srgbClr val="002060"/>
                </a:solidFill>
                <a:latin typeface="Cambria" panose="02040503050406030204" pitchFamily="18" charset="0"/>
              </a:rPr>
              <a:t>T</a:t>
            </a:r>
            <a:r>
              <a:rPr lang="vi-VN" sz="2200" b="1" smtClean="0">
                <a:solidFill>
                  <a:srgbClr val="002060"/>
                </a:solidFill>
                <a:latin typeface="Cambria" panose="02040503050406030204" pitchFamily="18" charset="0"/>
              </a:rPr>
              <a:t>rường </a:t>
            </a:r>
            <a:r>
              <a:rPr lang="vi-VN" sz="2200" b="1">
                <a:solidFill>
                  <a:srgbClr val="002060"/>
                </a:solidFill>
                <a:latin typeface="Cambria" panose="02040503050406030204" pitchFamily="18" charset="0"/>
              </a:rPr>
              <a:t>ký </a:t>
            </a:r>
            <a:r>
              <a:rPr lang="vi-VN" sz="2200" b="1" smtClean="0">
                <a:solidFill>
                  <a:srgbClr val="002060"/>
                </a:solidFill>
                <a:latin typeface="Cambria" panose="02040503050406030204" pitchFamily="18" charset="0"/>
              </a:rPr>
              <a:t>tự</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thông </a:t>
            </a:r>
            <a:r>
              <a:rPr lang="vi-VN" sz="2200" b="1">
                <a:solidFill>
                  <a:srgbClr val="002060"/>
                </a:solidFill>
                <a:latin typeface="Cambria" panose="02040503050406030204" pitchFamily="18" charset="0"/>
              </a:rPr>
              <a:t>thường thực hiện việc căn lề trái cả khi nhập vào và hiển thị các ký </a:t>
            </a:r>
            <a:r>
              <a:rPr lang="vi-VN" sz="2200" b="1" smtClean="0">
                <a:solidFill>
                  <a:srgbClr val="002060"/>
                </a:solidFill>
                <a:latin typeface="Cambria" panose="02040503050406030204" pitchFamily="18" charset="0"/>
              </a:rPr>
              <a:t>tự</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en-US" sz="2200" b="1" smtClean="0">
                <a:solidFill>
                  <a:srgbClr val="002060"/>
                </a:solidFill>
                <a:latin typeface="Cambria" panose="02040503050406030204" pitchFamily="18" charset="0"/>
              </a:rPr>
              <a:t>T</a:t>
            </a:r>
            <a:r>
              <a:rPr lang="vi-VN" sz="2200" b="1" smtClean="0">
                <a:solidFill>
                  <a:srgbClr val="002060"/>
                </a:solidFill>
                <a:latin typeface="Cambria" panose="02040503050406030204" pitchFamily="18" charset="0"/>
              </a:rPr>
              <a:t>rường số</a:t>
            </a:r>
            <a:r>
              <a:rPr lang="en-US" sz="2200" b="1" smtClean="0">
                <a:solidFill>
                  <a:srgbClr val="002060"/>
                </a:solidFill>
                <a:latin typeface="Cambria" panose="02040503050406030204" pitchFamily="18" charset="0"/>
              </a:rPr>
              <a:t>:</a:t>
            </a:r>
          </a:p>
          <a:p>
            <a:pPr marL="749300" indent="-236538" algn="just">
              <a:lnSpc>
                <a:spcPct val="150000"/>
              </a:lnSpc>
              <a:spcBef>
                <a:spcPts val="0"/>
              </a:spcBef>
              <a:spcAft>
                <a:spcPts val="0"/>
              </a:spcAft>
              <a:buFont typeface="Cambria" panose="02040503050406030204" pitchFamily="18" charset="0"/>
              <a:buChar char="-"/>
            </a:pPr>
            <a:r>
              <a:rPr lang="en-US" sz="2200" b="1">
                <a:solidFill>
                  <a:srgbClr val="002060"/>
                </a:solidFill>
                <a:latin typeface="Cambria" panose="02040503050406030204" pitchFamily="18" charset="0"/>
              </a:rPr>
              <a:t>N</a:t>
            </a:r>
            <a:r>
              <a:rPr lang="vi-VN" sz="2200" b="1" smtClean="0">
                <a:solidFill>
                  <a:srgbClr val="002060"/>
                </a:solidFill>
                <a:latin typeface="Cambria" panose="02040503050406030204" pitchFamily="18" charset="0"/>
              </a:rPr>
              <a:t>hập </a:t>
            </a:r>
            <a:r>
              <a:rPr lang="vi-VN" sz="2200" b="1">
                <a:solidFill>
                  <a:srgbClr val="002060"/>
                </a:solidFill>
                <a:latin typeface="Cambria" panose="02040503050406030204" pitchFamily="18" charset="0"/>
              </a:rPr>
              <a:t>dữ liệu vào sẽ căn lề trái, khi hiển thị </a:t>
            </a:r>
            <a:r>
              <a:rPr lang="vi-VN" sz="2200" b="1" smtClean="0">
                <a:solidFill>
                  <a:srgbClr val="002060"/>
                </a:solidFill>
                <a:latin typeface="Cambria" panose="02040503050406030204" pitchFamily="18" charset="0"/>
              </a:rPr>
              <a:t>thì</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căn </a:t>
            </a:r>
            <a:r>
              <a:rPr lang="vi-VN" sz="2200" b="1">
                <a:solidFill>
                  <a:srgbClr val="002060"/>
                </a:solidFill>
                <a:latin typeface="Cambria" panose="02040503050406030204" pitchFamily="18" charset="0"/>
              </a:rPr>
              <a:t>lề </a:t>
            </a:r>
            <a:r>
              <a:rPr lang="vi-VN" sz="2200" b="1" smtClean="0">
                <a:solidFill>
                  <a:srgbClr val="002060"/>
                </a:solidFill>
                <a:latin typeface="Cambria" panose="02040503050406030204" pitchFamily="18" charset="0"/>
              </a:rPr>
              <a:t>phải</a:t>
            </a:r>
            <a:endParaRPr lang="en-US" sz="2200" b="1" smtClean="0">
              <a:solidFill>
                <a:srgbClr val="002060"/>
              </a:solidFill>
              <a:latin typeface="Cambria" panose="02040503050406030204" pitchFamily="18" charset="0"/>
            </a:endParaRPr>
          </a:p>
          <a:p>
            <a:pPr marL="749300" indent="-236538" algn="just">
              <a:lnSpc>
                <a:spcPct val="150000"/>
              </a:lnSpc>
              <a:spcBef>
                <a:spcPts val="0"/>
              </a:spcBef>
              <a:spcAft>
                <a:spcPts val="0"/>
              </a:spcAft>
              <a:buFont typeface="Cambria" panose="02040503050406030204" pitchFamily="18" charset="0"/>
              <a:buChar char="-"/>
            </a:pPr>
            <a:r>
              <a:rPr lang="en-US" sz="2200" b="1" smtClean="0">
                <a:solidFill>
                  <a:srgbClr val="002060"/>
                </a:solidFill>
                <a:latin typeface="Cambria" panose="02040503050406030204" pitchFamily="18" charset="0"/>
              </a:rPr>
              <a:t>T</a:t>
            </a:r>
            <a:r>
              <a:rPr lang="vi-VN" sz="2200" b="1" smtClean="0">
                <a:solidFill>
                  <a:srgbClr val="002060"/>
                </a:solidFill>
                <a:latin typeface="Cambria" panose="02040503050406030204" pitchFamily="18" charset="0"/>
              </a:rPr>
              <a:t>rong </a:t>
            </a:r>
            <a:r>
              <a:rPr lang="vi-VN" sz="2200" b="1">
                <a:solidFill>
                  <a:srgbClr val="002060"/>
                </a:solidFill>
                <a:latin typeface="Cambria" panose="02040503050406030204" pitchFamily="18" charset="0"/>
              </a:rPr>
              <a:t>nhiều trường hợp cần tránh nhập và hiển thị các số không bên trái nhất của các trường </a:t>
            </a:r>
            <a:r>
              <a:rPr lang="vi-VN" sz="2200" b="1" smtClean="0">
                <a:solidFill>
                  <a:srgbClr val="002060"/>
                </a:solidFill>
                <a:latin typeface="Cambria" panose="02040503050406030204" pitchFamily="18" charset="0"/>
              </a:rPr>
              <a:t>số</a:t>
            </a:r>
            <a:endParaRPr lang="en-US" sz="2200" b="1" smtClean="0">
              <a:solidFill>
                <a:srgbClr val="002060"/>
              </a:solidFill>
              <a:latin typeface="Cambria" panose="02040503050406030204" pitchFamily="18" charset="0"/>
            </a:endParaRPr>
          </a:p>
          <a:p>
            <a:pPr marL="749300" indent="-236538" algn="just">
              <a:lnSpc>
                <a:spcPct val="150000"/>
              </a:lnSpc>
              <a:spcBef>
                <a:spcPts val="0"/>
              </a:spcBef>
              <a:spcAft>
                <a:spcPts val="0"/>
              </a:spcAft>
              <a:buFont typeface="Cambria" panose="02040503050406030204" pitchFamily="18" charset="0"/>
              <a:buChar char="-"/>
            </a:pPr>
            <a:r>
              <a:rPr lang="en-US" sz="2200" b="1" smtClean="0">
                <a:solidFill>
                  <a:srgbClr val="002060"/>
                </a:solidFill>
                <a:latin typeface="Cambria" panose="02040503050406030204" pitchFamily="18" charset="0"/>
              </a:rPr>
              <a:t>C</a:t>
            </a:r>
            <a:r>
              <a:rPr lang="vi-VN" sz="2200" b="1" smtClean="0">
                <a:solidFill>
                  <a:srgbClr val="002060"/>
                </a:solidFill>
                <a:latin typeface="Cambria" panose="02040503050406030204" pitchFamily="18" charset="0"/>
              </a:rPr>
              <a:t>ác </a:t>
            </a:r>
            <a:r>
              <a:rPr lang="vi-VN" sz="2200" b="1">
                <a:solidFill>
                  <a:srgbClr val="002060"/>
                </a:solidFill>
                <a:latin typeface="Cambria" panose="02040503050406030204" pitchFamily="18" charset="0"/>
              </a:rPr>
              <a:t>trường số với dấu phảy thập phân, cần  căn theo dấu phảy.</a:t>
            </a:r>
            <a:endParaRPr lang="en-US" sz="2200" b="1" smtClean="0">
              <a:solidFill>
                <a:srgbClr val="002060"/>
              </a:solidFill>
              <a:latin typeface="Cambria" panose="02040503050406030204" pitchFamily="18" charset="0"/>
            </a:endParaRPr>
          </a:p>
        </p:txBody>
      </p:sp>
      <p:sp>
        <p:nvSpPr>
          <p:cNvPr id="5" name="Rectangle 4"/>
          <p:cNvSpPr/>
          <p:nvPr/>
        </p:nvSpPr>
        <p:spPr>
          <a:xfrm>
            <a:off x="119858" y="122341"/>
            <a:ext cx="8603228" cy="523220"/>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1.7. Quá trình phát triển một sản phẩm Multimedia </a:t>
            </a:r>
          </a:p>
        </p:txBody>
      </p:sp>
      <p:sp>
        <p:nvSpPr>
          <p:cNvPr id="6" name="Line 16"/>
          <p:cNvSpPr>
            <a:spLocks noChangeShapeType="1"/>
          </p:cNvSpPr>
          <p:nvPr/>
        </p:nvSpPr>
        <p:spPr bwMode="auto">
          <a:xfrm>
            <a:off x="135984" y="74726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13064679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747264"/>
            <a:ext cx="8570976"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spcBef>
                <a:spcPts val="0"/>
              </a:spcBef>
              <a:spcAft>
                <a:spcPts val="0"/>
              </a:spcAft>
            </a:pPr>
            <a:r>
              <a:rPr lang="en-US" sz="2200" b="1" smtClean="0">
                <a:solidFill>
                  <a:srgbClr val="002060"/>
                </a:solidFill>
                <a:latin typeface="Cambria" panose="02040503050406030204" pitchFamily="18" charset="0"/>
              </a:rPr>
              <a:t>Một số lưu ý:</a:t>
            </a:r>
          </a:p>
          <a:p>
            <a:pPr marL="342900" indent="-342900" algn="just">
              <a:lnSpc>
                <a:spcPct val="150000"/>
              </a:lnSpc>
              <a:spcBef>
                <a:spcPts val="0"/>
              </a:spcBef>
              <a:spcAft>
                <a:spcPts val="0"/>
              </a:spcAft>
              <a:buFont typeface="Arial" panose="020B0604020202020204" pitchFamily="34" charset="0"/>
              <a:buChar char="•"/>
            </a:pPr>
            <a:r>
              <a:rPr lang="en-US" sz="2200" b="1">
                <a:solidFill>
                  <a:srgbClr val="002060"/>
                </a:solidFill>
                <a:latin typeface="Cambria" panose="02040503050406030204" pitchFamily="18" charset="0"/>
              </a:rPr>
              <a:t>Các số điện thoại: có thể để sẵn một số khoảng </a:t>
            </a:r>
            <a:r>
              <a:rPr lang="en-US" sz="2200" b="1" smtClean="0">
                <a:solidFill>
                  <a:srgbClr val="002060"/>
                </a:solidFill>
                <a:latin typeface="Cambria" panose="02040503050406030204" pitchFamily="18" charset="0"/>
              </a:rPr>
              <a:t>trống để ghi mã vùng, mã nước</a:t>
            </a:r>
            <a:endParaRPr lang="en-US" sz="2200" b="1">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vi-VN" sz="2200" b="1">
                <a:solidFill>
                  <a:srgbClr val="002060"/>
                </a:solidFill>
                <a:latin typeface="Cambria" panose="02040503050406030204" pitchFamily="18" charset="0"/>
              </a:rPr>
              <a:t>Số chứng minh thư, hoặc số bảo hiểm xã </a:t>
            </a:r>
            <a:r>
              <a:rPr lang="vi-VN" sz="2200" b="1" smtClean="0">
                <a:solidFill>
                  <a:srgbClr val="002060"/>
                </a:solidFill>
                <a:latin typeface="Cambria" panose="02040503050406030204" pitchFamily="18" charset="0"/>
              </a:rPr>
              <a:t>hội</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cần </a:t>
            </a:r>
            <a:r>
              <a:rPr lang="vi-VN" sz="2200" b="1">
                <a:solidFill>
                  <a:srgbClr val="002060"/>
                </a:solidFill>
                <a:latin typeface="Cambria" panose="02040503050406030204" pitchFamily="18" charset="0"/>
              </a:rPr>
              <a:t>được sắp đặt các ô để người dùng  dễ nhập, điền </a:t>
            </a:r>
            <a:r>
              <a:rPr lang="vi-VN" sz="2200" b="1" smtClean="0">
                <a:solidFill>
                  <a:srgbClr val="002060"/>
                </a:solidFill>
                <a:latin typeface="Cambria" panose="02040503050406030204" pitchFamily="18" charset="0"/>
              </a:rPr>
              <a:t>số</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en-US" sz="2200" b="1">
                <a:solidFill>
                  <a:srgbClr val="002060"/>
                </a:solidFill>
                <a:latin typeface="Cambria" panose="02040503050406030204" pitchFamily="18" charset="0"/>
              </a:rPr>
              <a:t>Thời </a:t>
            </a:r>
            <a:r>
              <a:rPr lang="en-US" sz="2200" b="1" smtClean="0">
                <a:solidFill>
                  <a:srgbClr val="002060"/>
                </a:solidFill>
                <a:latin typeface="Cambria" panose="02040503050406030204" pitchFamily="18" charset="0"/>
              </a:rPr>
              <a:t>gian: </a:t>
            </a:r>
            <a:r>
              <a:rPr lang="en-US" sz="2200" b="1">
                <a:solidFill>
                  <a:srgbClr val="002060"/>
                </a:solidFill>
                <a:latin typeface="Cambria" panose="02040503050406030204" pitchFamily="18" charset="0"/>
              </a:rPr>
              <a:t>để sẵn một số khoảng trống để </a:t>
            </a:r>
            <a:r>
              <a:rPr lang="en-US" sz="2200" b="1" smtClean="0">
                <a:solidFill>
                  <a:srgbClr val="002060"/>
                </a:solidFill>
                <a:latin typeface="Cambria" panose="02040503050406030204" pitchFamily="18" charset="0"/>
              </a:rPr>
              <a:t>ghi kí </a:t>
            </a:r>
            <a:r>
              <a:rPr lang="en-US" sz="2200" b="1">
                <a:solidFill>
                  <a:srgbClr val="002060"/>
                </a:solidFill>
                <a:latin typeface="Cambria" panose="02040503050406030204" pitchFamily="18" charset="0"/>
              </a:rPr>
              <a:t>hiệu AM, </a:t>
            </a:r>
            <a:r>
              <a:rPr lang="en-US" sz="2200" b="1" smtClean="0">
                <a:solidFill>
                  <a:srgbClr val="002060"/>
                </a:solidFill>
                <a:latin typeface="Cambria" panose="02040503050406030204" pitchFamily="18" charset="0"/>
              </a:rPr>
              <a:t>PM </a:t>
            </a:r>
          </a:p>
          <a:p>
            <a:pPr marL="342900" indent="-342900" algn="just">
              <a:lnSpc>
                <a:spcPct val="150000"/>
              </a:lnSpc>
              <a:spcBef>
                <a:spcPts val="0"/>
              </a:spcBef>
              <a:spcAft>
                <a:spcPts val="0"/>
              </a:spcAft>
              <a:buFont typeface="Arial" panose="020B0604020202020204" pitchFamily="34" charset="0"/>
              <a:buChar char="•"/>
            </a:pPr>
            <a:r>
              <a:rPr lang="en-US" sz="2200" b="1" smtClean="0">
                <a:solidFill>
                  <a:srgbClr val="002060"/>
                </a:solidFill>
                <a:latin typeface="Cambria" panose="02040503050406030204" pitchFamily="18" charset="0"/>
              </a:rPr>
              <a:t>Ngày tháng: </a:t>
            </a:r>
            <a:r>
              <a:rPr lang="en-US" sz="2200" b="1">
                <a:solidFill>
                  <a:srgbClr val="002060"/>
                </a:solidFill>
                <a:latin typeface="Cambria" panose="02040503050406030204" pitchFamily="18" charset="0"/>
              </a:rPr>
              <a:t>để sẵn một số khoảng trống để </a:t>
            </a:r>
            <a:r>
              <a:rPr lang="en-US" sz="2200" b="1" smtClean="0">
                <a:solidFill>
                  <a:srgbClr val="002060"/>
                </a:solidFill>
                <a:latin typeface="Cambria" panose="02040503050406030204" pitchFamily="18" charset="0"/>
              </a:rPr>
              <a:t>điền ngày, tháng, năm</a:t>
            </a:r>
            <a:endParaRPr lang="en-US" sz="2200" b="1">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en-US" sz="2200" b="1" smtClean="0">
                <a:solidFill>
                  <a:srgbClr val="002060"/>
                </a:solidFill>
                <a:latin typeface="Cambria" panose="02040503050406030204" pitchFamily="18" charset="0"/>
              </a:rPr>
              <a:t>Ký </a:t>
            </a:r>
            <a:r>
              <a:rPr lang="en-US" sz="2200" b="1">
                <a:solidFill>
                  <a:srgbClr val="002060"/>
                </a:solidFill>
                <a:latin typeface="Cambria" panose="02040503050406030204" pitchFamily="18" charset="0"/>
              </a:rPr>
              <a:t>hiệu tiền tệ: Nên hiện ký hiệu đồng Việt nam hay Đôla hiện trên màn </a:t>
            </a:r>
            <a:r>
              <a:rPr lang="en-US" sz="2200" b="1" smtClean="0">
                <a:solidFill>
                  <a:srgbClr val="002060"/>
                </a:solidFill>
                <a:latin typeface="Cambria" panose="02040503050406030204" pitchFamily="18" charset="0"/>
              </a:rPr>
              <a:t>hình, </a:t>
            </a:r>
            <a:r>
              <a:rPr lang="vi-VN" sz="2200" b="1">
                <a:solidFill>
                  <a:srgbClr val="002060"/>
                </a:solidFill>
                <a:latin typeface="Cambria" panose="02040503050406030204" pitchFamily="18" charset="0"/>
              </a:rPr>
              <a:t>cho phép người dùng nhập vào số lượng</a:t>
            </a:r>
            <a:endParaRPr lang="en-US" sz="2200" b="1">
              <a:solidFill>
                <a:srgbClr val="002060"/>
              </a:solidFill>
              <a:latin typeface="Cambria" panose="02040503050406030204" pitchFamily="18" charset="0"/>
            </a:endParaRPr>
          </a:p>
        </p:txBody>
      </p:sp>
      <p:sp>
        <p:nvSpPr>
          <p:cNvPr id="5" name="Rectangle 4"/>
          <p:cNvSpPr/>
          <p:nvPr/>
        </p:nvSpPr>
        <p:spPr>
          <a:xfrm>
            <a:off x="119858" y="122341"/>
            <a:ext cx="8603228" cy="523220"/>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1.7. Quá trình phát triển một sản phẩm Multimedia </a:t>
            </a:r>
          </a:p>
        </p:txBody>
      </p:sp>
      <p:sp>
        <p:nvSpPr>
          <p:cNvPr id="6" name="Line 16"/>
          <p:cNvSpPr>
            <a:spLocks noChangeShapeType="1"/>
          </p:cNvSpPr>
          <p:nvPr/>
        </p:nvSpPr>
        <p:spPr bwMode="auto">
          <a:xfrm>
            <a:off x="135984" y="74726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39267050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747264"/>
            <a:ext cx="8570976"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spcBef>
                <a:spcPts val="0"/>
              </a:spcBef>
              <a:spcAft>
                <a:spcPts val="0"/>
              </a:spcAft>
            </a:pPr>
            <a:r>
              <a:rPr lang="en-US" sz="2200" b="1" smtClean="0">
                <a:solidFill>
                  <a:srgbClr val="002060"/>
                </a:solidFill>
                <a:latin typeface="Cambria" panose="02040503050406030204" pitchFamily="18" charset="0"/>
              </a:rPr>
              <a:t>1.7.4. Các hộp thoại</a:t>
            </a:r>
          </a:p>
          <a:p>
            <a:pPr algn="just">
              <a:lnSpc>
                <a:spcPct val="150000"/>
              </a:lnSpc>
              <a:spcBef>
                <a:spcPts val="0"/>
              </a:spcBef>
              <a:spcAft>
                <a:spcPts val="0"/>
              </a:spcAft>
            </a:pPr>
            <a:r>
              <a:rPr lang="en-US" sz="2200" b="1">
                <a:solidFill>
                  <a:srgbClr val="002060"/>
                </a:solidFill>
                <a:latin typeface="Cambria" panose="02040503050406030204" pitchFamily="18" charset="0"/>
              </a:rPr>
              <a:t> Một số nguyên tắc thiết kế hộp thoại </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vi-VN" sz="2200" b="1" smtClean="0">
                <a:solidFill>
                  <a:srgbClr val="002060"/>
                </a:solidFill>
                <a:latin typeface="Cambria" panose="02040503050406030204" pitchFamily="18" charset="0"/>
              </a:rPr>
              <a:t>Trình </a:t>
            </a:r>
            <a:r>
              <a:rPr lang="vi-VN" sz="2200" b="1">
                <a:solidFill>
                  <a:srgbClr val="002060"/>
                </a:solidFill>
                <a:latin typeface="Cambria" panose="02040503050406030204" pitchFamily="18" charset="0"/>
              </a:rPr>
              <a:t>bày nội dung, dùng cho cả giao diện thực đơn và điền khuôn </a:t>
            </a:r>
            <a:r>
              <a:rPr lang="vi-VN" sz="2200" b="1" smtClean="0">
                <a:solidFill>
                  <a:srgbClr val="002060"/>
                </a:solidFill>
                <a:latin typeface="Cambria" panose="02040503050406030204" pitchFamily="18" charset="0"/>
              </a:rPr>
              <a:t>dạng</a:t>
            </a:r>
            <a:endParaRPr lang="en-US" sz="2200" b="1" smtClean="0">
              <a:solidFill>
                <a:srgbClr val="002060"/>
              </a:solidFill>
              <a:latin typeface="Cambria" panose="02040503050406030204" pitchFamily="18" charset="0"/>
            </a:endParaRPr>
          </a:p>
          <a:p>
            <a:pPr marL="695325" indent="-347663" algn="just">
              <a:lnSpc>
                <a:spcPct val="150000"/>
              </a:lnSpc>
              <a:spcBef>
                <a:spcPts val="0"/>
              </a:spcBef>
              <a:spcAft>
                <a:spcPts val="0"/>
              </a:spcAft>
              <a:buFont typeface="Cambria" panose="02040503050406030204" pitchFamily="18" charset="0"/>
              <a:buChar char="-"/>
            </a:pPr>
            <a:r>
              <a:rPr lang="vi-VN" sz="2200" b="1">
                <a:solidFill>
                  <a:srgbClr val="002060"/>
                </a:solidFill>
                <a:latin typeface="Cambria" panose="02040503050406030204" pitchFamily="18" charset="0"/>
              </a:rPr>
              <a:t>Tiêu đề có ý nghĩa, kiểu thống </a:t>
            </a:r>
            <a:r>
              <a:rPr lang="vi-VN" sz="2200" b="1" smtClean="0">
                <a:solidFill>
                  <a:srgbClr val="002060"/>
                </a:solidFill>
                <a:latin typeface="Cambria" panose="02040503050406030204" pitchFamily="18" charset="0"/>
              </a:rPr>
              <a:t>nhất</a:t>
            </a:r>
            <a:endParaRPr lang="vi-VN" sz="2200" b="1">
              <a:solidFill>
                <a:srgbClr val="002060"/>
              </a:solidFill>
              <a:latin typeface="Cambria" panose="02040503050406030204" pitchFamily="18" charset="0"/>
            </a:endParaRPr>
          </a:p>
          <a:p>
            <a:pPr marL="695325" indent="-347663" algn="just">
              <a:lnSpc>
                <a:spcPct val="150000"/>
              </a:lnSpc>
              <a:spcBef>
                <a:spcPts val="0"/>
              </a:spcBef>
              <a:spcAft>
                <a:spcPts val="0"/>
              </a:spcAft>
              <a:buFont typeface="Cambria" panose="02040503050406030204" pitchFamily="18" charset="0"/>
              <a:buChar char="-"/>
            </a:pPr>
            <a:r>
              <a:rPr lang="vi-VN" sz="2200" b="1">
                <a:solidFill>
                  <a:srgbClr val="002060"/>
                </a:solidFill>
                <a:latin typeface="Cambria" panose="02040503050406030204" pitchFamily="18" charset="0"/>
              </a:rPr>
              <a:t>Sắp xếp từ góc tây bắc xuống góc tây </a:t>
            </a:r>
            <a:r>
              <a:rPr lang="vi-VN" sz="2200" b="1" smtClean="0">
                <a:solidFill>
                  <a:srgbClr val="002060"/>
                </a:solidFill>
                <a:latin typeface="Cambria" panose="02040503050406030204" pitchFamily="18" charset="0"/>
              </a:rPr>
              <a:t>nam</a:t>
            </a:r>
            <a:endParaRPr lang="en-US" sz="2200" b="1" smtClean="0">
              <a:solidFill>
                <a:srgbClr val="002060"/>
              </a:solidFill>
              <a:latin typeface="Cambria" panose="02040503050406030204" pitchFamily="18" charset="0"/>
            </a:endParaRPr>
          </a:p>
          <a:p>
            <a:pPr marL="695325" indent="-347663" algn="just">
              <a:lnSpc>
                <a:spcPct val="150000"/>
              </a:lnSpc>
              <a:spcBef>
                <a:spcPts val="0"/>
              </a:spcBef>
              <a:spcAft>
                <a:spcPts val="0"/>
              </a:spcAft>
              <a:buFont typeface="Cambria" panose="02040503050406030204" pitchFamily="18" charset="0"/>
              <a:buChar char="-"/>
            </a:pPr>
            <a:r>
              <a:rPr lang="vi-VN" sz="2200" b="1" smtClean="0">
                <a:solidFill>
                  <a:srgbClr val="002060"/>
                </a:solidFill>
                <a:latin typeface="Cambria" panose="02040503050406030204" pitchFamily="18" charset="0"/>
              </a:rPr>
              <a:t>Tập </a:t>
            </a:r>
            <a:r>
              <a:rPr lang="vi-VN" sz="2200" b="1">
                <a:solidFill>
                  <a:srgbClr val="002060"/>
                </a:solidFill>
                <a:latin typeface="Cambria" panose="02040503050406030204" pitchFamily="18" charset="0"/>
              </a:rPr>
              <a:t>hợp và nhấn </a:t>
            </a:r>
            <a:r>
              <a:rPr lang="vi-VN" sz="2200" b="1" smtClean="0">
                <a:solidFill>
                  <a:srgbClr val="002060"/>
                </a:solidFill>
                <a:latin typeface="Cambria" panose="02040503050406030204" pitchFamily="18" charset="0"/>
              </a:rPr>
              <a:t>mạnh</a:t>
            </a:r>
            <a:endParaRPr lang="vi-VN" sz="2200" b="1">
              <a:solidFill>
                <a:srgbClr val="002060"/>
              </a:solidFill>
              <a:latin typeface="Cambria" panose="02040503050406030204" pitchFamily="18" charset="0"/>
            </a:endParaRPr>
          </a:p>
          <a:p>
            <a:pPr marL="695325" indent="-347663" algn="just">
              <a:lnSpc>
                <a:spcPct val="150000"/>
              </a:lnSpc>
              <a:spcBef>
                <a:spcPts val="0"/>
              </a:spcBef>
              <a:spcAft>
                <a:spcPts val="0"/>
              </a:spcAft>
              <a:buFont typeface="Cambria" panose="02040503050406030204" pitchFamily="18" charset="0"/>
              <a:buChar char="-"/>
            </a:pPr>
            <a:r>
              <a:rPr lang="vi-VN" sz="2200" b="1">
                <a:solidFill>
                  <a:srgbClr val="002060"/>
                </a:solidFill>
                <a:latin typeface="Cambria" panose="02040503050406030204" pitchFamily="18" charset="0"/>
              </a:rPr>
              <a:t>Nhất quán trình bày, về lề, khung,khoảng trắng, đường kẻ... </a:t>
            </a:r>
            <a:endParaRPr lang="en-US" sz="2200" b="1" smtClean="0">
              <a:solidFill>
                <a:srgbClr val="002060"/>
              </a:solidFill>
              <a:latin typeface="Cambria" panose="02040503050406030204" pitchFamily="18" charset="0"/>
            </a:endParaRPr>
          </a:p>
          <a:p>
            <a:pPr marL="695325" indent="-347663" algn="just">
              <a:lnSpc>
                <a:spcPct val="150000"/>
              </a:lnSpc>
              <a:spcBef>
                <a:spcPts val="0"/>
              </a:spcBef>
              <a:spcAft>
                <a:spcPts val="0"/>
              </a:spcAft>
              <a:buFont typeface="Cambria" panose="02040503050406030204" pitchFamily="18" charset="0"/>
              <a:buChar char="-"/>
            </a:pPr>
            <a:r>
              <a:rPr lang="vi-VN" sz="2200" b="1" smtClean="0">
                <a:solidFill>
                  <a:srgbClr val="002060"/>
                </a:solidFill>
                <a:latin typeface="Cambria" panose="02040503050406030204" pitchFamily="18" charset="0"/>
              </a:rPr>
              <a:t>Nhất </a:t>
            </a:r>
            <a:r>
              <a:rPr lang="vi-VN" sz="2200" b="1">
                <a:solidFill>
                  <a:srgbClr val="002060"/>
                </a:solidFill>
                <a:latin typeface="Cambria" panose="02040503050406030204" pitchFamily="18" charset="0"/>
              </a:rPr>
              <a:t>quán về thuật ngữ, kiểu chữ, chữ </a:t>
            </a:r>
            <a:r>
              <a:rPr lang="vi-VN" sz="2200" b="1" smtClean="0">
                <a:solidFill>
                  <a:srgbClr val="002060"/>
                </a:solidFill>
                <a:latin typeface="Cambria" panose="02040503050406030204" pitchFamily="18" charset="0"/>
              </a:rPr>
              <a:t>hoa</a:t>
            </a:r>
            <a:endParaRPr lang="vi-VN" sz="2200" b="1">
              <a:solidFill>
                <a:srgbClr val="002060"/>
              </a:solidFill>
              <a:latin typeface="Cambria" panose="02040503050406030204" pitchFamily="18" charset="0"/>
            </a:endParaRPr>
          </a:p>
          <a:p>
            <a:pPr marL="695325" indent="-347663" algn="just">
              <a:lnSpc>
                <a:spcPct val="150000"/>
              </a:lnSpc>
              <a:spcBef>
                <a:spcPts val="0"/>
              </a:spcBef>
              <a:spcAft>
                <a:spcPts val="0"/>
              </a:spcAft>
              <a:buFont typeface="Cambria" panose="02040503050406030204" pitchFamily="18" charset="0"/>
              <a:buChar char="-"/>
            </a:pPr>
            <a:r>
              <a:rPr lang="vi-VN" sz="2200" b="1">
                <a:solidFill>
                  <a:srgbClr val="002060"/>
                </a:solidFill>
                <a:latin typeface="Cambria" panose="02040503050406030204" pitchFamily="18" charset="0"/>
              </a:rPr>
              <a:t>Các nút chuẩn, như </a:t>
            </a:r>
            <a:r>
              <a:rPr lang="vi-VN" sz="2200" b="1" smtClean="0">
                <a:solidFill>
                  <a:srgbClr val="002060"/>
                </a:solidFill>
                <a:latin typeface="Cambria" panose="02040503050406030204" pitchFamily="18" charset="0"/>
              </a:rPr>
              <a:t>ph</a:t>
            </a:r>
            <a:r>
              <a:rPr lang="en-US" sz="2200" b="1">
                <a:solidFill>
                  <a:srgbClr val="002060"/>
                </a:solidFill>
                <a:latin typeface="Cambria" panose="02040503050406030204" pitchFamily="18" charset="0"/>
              </a:rPr>
              <a:t>í</a:t>
            </a:r>
            <a:r>
              <a:rPr lang="vi-VN" sz="2200" b="1" smtClean="0">
                <a:solidFill>
                  <a:srgbClr val="002060"/>
                </a:solidFill>
                <a:latin typeface="Cambria" panose="02040503050406030204" pitchFamily="18" charset="0"/>
              </a:rPr>
              <a:t>m </a:t>
            </a:r>
            <a:r>
              <a:rPr lang="vi-VN" sz="2200" b="1">
                <a:solidFill>
                  <a:srgbClr val="002060"/>
                </a:solidFill>
                <a:latin typeface="Cambria" panose="02040503050406030204" pitchFamily="18" charset="0"/>
              </a:rPr>
              <a:t>khẳng định, huỷ bỏ... </a:t>
            </a:r>
            <a:endParaRPr lang="en-US" sz="2200" b="1" smtClean="0">
              <a:solidFill>
                <a:srgbClr val="002060"/>
              </a:solidFill>
              <a:latin typeface="Cambria" panose="02040503050406030204" pitchFamily="18" charset="0"/>
            </a:endParaRPr>
          </a:p>
          <a:p>
            <a:pPr marL="695325" indent="-347663" algn="just">
              <a:lnSpc>
                <a:spcPct val="150000"/>
              </a:lnSpc>
              <a:spcBef>
                <a:spcPts val="0"/>
              </a:spcBef>
              <a:spcAft>
                <a:spcPts val="0"/>
              </a:spcAft>
              <a:buFont typeface="Cambria" panose="02040503050406030204" pitchFamily="18" charset="0"/>
              <a:buChar char="-"/>
            </a:pPr>
            <a:r>
              <a:rPr lang="vi-VN" sz="2200" b="1" smtClean="0">
                <a:solidFill>
                  <a:srgbClr val="002060"/>
                </a:solidFill>
                <a:latin typeface="Cambria" panose="02040503050406030204" pitchFamily="18" charset="0"/>
              </a:rPr>
              <a:t>Chặn </a:t>
            </a:r>
            <a:r>
              <a:rPr lang="vi-VN" sz="2200" b="1">
                <a:solidFill>
                  <a:srgbClr val="002060"/>
                </a:solidFill>
                <a:latin typeface="Cambria" panose="02040503050406030204" pitchFamily="18" charset="0"/>
              </a:rPr>
              <a:t>lỗi, bằng các giao diện như thao tác trực tiếp...</a:t>
            </a:r>
          </a:p>
          <a:p>
            <a:pPr algn="just">
              <a:lnSpc>
                <a:spcPct val="150000"/>
              </a:lnSpc>
              <a:spcBef>
                <a:spcPts val="0"/>
              </a:spcBef>
              <a:spcAft>
                <a:spcPts val="0"/>
              </a:spcAft>
            </a:pPr>
            <a:endParaRPr lang="en-US" sz="2200" b="1" smtClean="0">
              <a:solidFill>
                <a:srgbClr val="002060"/>
              </a:solidFill>
              <a:latin typeface="Cambria" panose="02040503050406030204" pitchFamily="18" charset="0"/>
            </a:endParaRPr>
          </a:p>
        </p:txBody>
      </p:sp>
      <p:sp>
        <p:nvSpPr>
          <p:cNvPr id="5" name="Rectangle 4"/>
          <p:cNvSpPr/>
          <p:nvPr/>
        </p:nvSpPr>
        <p:spPr>
          <a:xfrm>
            <a:off x="119858" y="122341"/>
            <a:ext cx="8603228" cy="523220"/>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1.7. Quá trình phát triển một sản phẩm Multimedia </a:t>
            </a:r>
          </a:p>
        </p:txBody>
      </p:sp>
      <p:sp>
        <p:nvSpPr>
          <p:cNvPr id="6" name="Line 16"/>
          <p:cNvSpPr>
            <a:spLocks noChangeShapeType="1"/>
          </p:cNvSpPr>
          <p:nvPr/>
        </p:nvSpPr>
        <p:spPr bwMode="auto">
          <a:xfrm>
            <a:off x="135984" y="74726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8727819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747264"/>
            <a:ext cx="8570976" cy="466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spcBef>
                <a:spcPts val="0"/>
              </a:spcBef>
              <a:spcAft>
                <a:spcPts val="0"/>
              </a:spcAft>
            </a:pPr>
            <a:r>
              <a:rPr lang="en-US" sz="2200" b="1" smtClean="0">
                <a:solidFill>
                  <a:srgbClr val="002060"/>
                </a:solidFill>
                <a:latin typeface="Cambria" panose="02040503050406030204" pitchFamily="18" charset="0"/>
              </a:rPr>
              <a:t>Một </a:t>
            </a:r>
            <a:r>
              <a:rPr lang="en-US" sz="2200" b="1">
                <a:solidFill>
                  <a:srgbClr val="002060"/>
                </a:solidFill>
                <a:latin typeface="Cambria" panose="02040503050406030204" pitchFamily="18" charset="0"/>
              </a:rPr>
              <a:t>số nguyên tắc thiết kế hộp thoại </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vi-VN" sz="2200" b="1" smtClean="0">
                <a:solidFill>
                  <a:srgbClr val="002060"/>
                </a:solidFill>
                <a:latin typeface="Cambria" panose="02040503050406030204" pitchFamily="18" charset="0"/>
              </a:rPr>
              <a:t>Quan </a:t>
            </a:r>
            <a:r>
              <a:rPr lang="vi-VN" sz="2200" b="1">
                <a:solidFill>
                  <a:srgbClr val="002060"/>
                </a:solidFill>
                <a:latin typeface="Cambria" panose="02040503050406030204" pitchFamily="18" charset="0"/>
              </a:rPr>
              <a:t>hệ với bên ngoài </a:t>
            </a:r>
            <a:endParaRPr lang="en-US" sz="2200" b="1" smtClean="0">
              <a:solidFill>
                <a:srgbClr val="002060"/>
              </a:solidFill>
              <a:latin typeface="Cambria" panose="02040503050406030204" pitchFamily="18" charset="0"/>
            </a:endParaRPr>
          </a:p>
          <a:p>
            <a:pPr marL="695325" indent="-293688" algn="just">
              <a:lnSpc>
                <a:spcPct val="150000"/>
              </a:lnSpc>
              <a:spcBef>
                <a:spcPts val="0"/>
              </a:spcBef>
              <a:spcAft>
                <a:spcPts val="0"/>
              </a:spcAft>
              <a:buFont typeface="Cambria" panose="02040503050406030204" pitchFamily="18" charset="0"/>
              <a:buChar char="-"/>
            </a:pPr>
            <a:r>
              <a:rPr lang="vi-VN" sz="2200" b="1">
                <a:solidFill>
                  <a:srgbClr val="002060"/>
                </a:solidFill>
                <a:latin typeface="Cambria" panose="02040503050406030204" pitchFamily="18" charset="0"/>
              </a:rPr>
              <a:t>Xuất hiện và biến đi một cách nhẹ </a:t>
            </a:r>
            <a:r>
              <a:rPr lang="vi-VN" sz="2200" b="1" smtClean="0">
                <a:solidFill>
                  <a:srgbClr val="002060"/>
                </a:solidFill>
                <a:latin typeface="Cambria" panose="02040503050406030204" pitchFamily="18" charset="0"/>
              </a:rPr>
              <a:t>nhàng</a:t>
            </a:r>
            <a:endParaRPr lang="en-US" sz="2200" b="1" smtClean="0">
              <a:solidFill>
                <a:srgbClr val="002060"/>
              </a:solidFill>
              <a:latin typeface="Cambria" panose="02040503050406030204" pitchFamily="18" charset="0"/>
            </a:endParaRPr>
          </a:p>
          <a:p>
            <a:pPr marL="695325" indent="-293688" algn="just">
              <a:lnSpc>
                <a:spcPct val="150000"/>
              </a:lnSpc>
              <a:spcBef>
                <a:spcPts val="0"/>
              </a:spcBef>
              <a:spcAft>
                <a:spcPts val="0"/>
              </a:spcAft>
              <a:buFont typeface="Cambria" panose="02040503050406030204" pitchFamily="18" charset="0"/>
              <a:buChar char="-"/>
            </a:pPr>
            <a:r>
              <a:rPr lang="vi-VN" sz="2200" b="1" smtClean="0">
                <a:solidFill>
                  <a:srgbClr val="002060"/>
                </a:solidFill>
                <a:latin typeface="Cambria" panose="02040503050406030204" pitchFamily="18" charset="0"/>
              </a:rPr>
              <a:t>Đường </a:t>
            </a:r>
            <a:r>
              <a:rPr lang="vi-VN" sz="2200" b="1">
                <a:solidFill>
                  <a:srgbClr val="002060"/>
                </a:solidFill>
                <a:latin typeface="Cambria" panose="02040503050406030204" pitchFamily="18" charset="0"/>
              </a:rPr>
              <a:t>bao nhỏ nhưng phải dễ phân </a:t>
            </a:r>
            <a:r>
              <a:rPr lang="vi-VN" sz="2200" b="1" smtClean="0">
                <a:solidFill>
                  <a:srgbClr val="002060"/>
                </a:solidFill>
                <a:latin typeface="Cambria" panose="02040503050406030204" pitchFamily="18" charset="0"/>
              </a:rPr>
              <a:t>biệt</a:t>
            </a:r>
            <a:endParaRPr lang="en-US" sz="2200" b="1" smtClean="0">
              <a:solidFill>
                <a:srgbClr val="002060"/>
              </a:solidFill>
              <a:latin typeface="Cambria" panose="02040503050406030204" pitchFamily="18" charset="0"/>
            </a:endParaRPr>
          </a:p>
          <a:p>
            <a:pPr marL="695325" indent="-293688" algn="just">
              <a:lnSpc>
                <a:spcPct val="150000"/>
              </a:lnSpc>
              <a:spcBef>
                <a:spcPts val="0"/>
              </a:spcBef>
              <a:spcAft>
                <a:spcPts val="0"/>
              </a:spcAft>
              <a:buFont typeface="Cambria" panose="02040503050406030204" pitchFamily="18" charset="0"/>
              <a:buChar char="-"/>
            </a:pPr>
            <a:r>
              <a:rPr lang="vi-VN" sz="2200" b="1" smtClean="0">
                <a:solidFill>
                  <a:srgbClr val="002060"/>
                </a:solidFill>
                <a:latin typeface="Cambria" panose="02040503050406030204" pitchFamily="18" charset="0"/>
              </a:rPr>
              <a:t>K</a:t>
            </a:r>
            <a:r>
              <a:rPr lang="en-US" sz="2200" b="1">
                <a:solidFill>
                  <a:srgbClr val="002060"/>
                </a:solidFill>
                <a:latin typeface="Cambria" panose="02040503050406030204" pitchFamily="18" charset="0"/>
              </a:rPr>
              <a:t>í</a:t>
            </a:r>
            <a:r>
              <a:rPr lang="vi-VN" sz="2200" b="1" smtClean="0">
                <a:solidFill>
                  <a:srgbClr val="002060"/>
                </a:solidFill>
                <a:latin typeface="Cambria" panose="02040503050406030204" pitchFamily="18" charset="0"/>
              </a:rPr>
              <a:t>ch </a:t>
            </a:r>
            <a:r>
              <a:rPr lang="vi-VN" sz="2200" b="1">
                <a:solidFill>
                  <a:srgbClr val="002060"/>
                </a:solidFill>
                <a:latin typeface="Cambria" panose="02040503050406030204" pitchFamily="18" charset="0"/>
              </a:rPr>
              <a:t>thước đủ nhỏ để hạn chế việc che </a:t>
            </a:r>
            <a:r>
              <a:rPr lang="vi-VN" sz="2200" b="1" smtClean="0">
                <a:solidFill>
                  <a:srgbClr val="002060"/>
                </a:solidFill>
                <a:latin typeface="Cambria" panose="02040503050406030204" pitchFamily="18" charset="0"/>
              </a:rPr>
              <a:t>khuất</a:t>
            </a:r>
            <a:endParaRPr lang="en-US" sz="2200" b="1">
              <a:solidFill>
                <a:srgbClr val="002060"/>
              </a:solidFill>
              <a:latin typeface="Cambria" panose="02040503050406030204" pitchFamily="18" charset="0"/>
            </a:endParaRPr>
          </a:p>
          <a:p>
            <a:pPr marL="695325" indent="-293688" algn="just">
              <a:lnSpc>
                <a:spcPct val="150000"/>
              </a:lnSpc>
              <a:spcBef>
                <a:spcPts val="0"/>
              </a:spcBef>
              <a:spcAft>
                <a:spcPts val="0"/>
              </a:spcAft>
              <a:buFont typeface="Cambria" panose="02040503050406030204" pitchFamily="18" charset="0"/>
              <a:buChar char="-"/>
            </a:pPr>
            <a:r>
              <a:rPr lang="vi-VN" sz="2200" b="1" smtClean="0">
                <a:solidFill>
                  <a:srgbClr val="002060"/>
                </a:solidFill>
                <a:latin typeface="Cambria" panose="02040503050406030204" pitchFamily="18" charset="0"/>
              </a:rPr>
              <a:t>Hiển </a:t>
            </a:r>
            <a:r>
              <a:rPr lang="vi-VN" sz="2200" b="1">
                <a:solidFill>
                  <a:srgbClr val="002060"/>
                </a:solidFill>
                <a:latin typeface="Cambria" panose="02040503050406030204" pitchFamily="18" charset="0"/>
              </a:rPr>
              <a:t>thị gần các đối tượng tương </a:t>
            </a:r>
            <a:r>
              <a:rPr lang="vi-VN" sz="2200" b="1" smtClean="0">
                <a:solidFill>
                  <a:srgbClr val="002060"/>
                </a:solidFill>
                <a:latin typeface="Cambria" panose="02040503050406030204" pitchFamily="18" charset="0"/>
              </a:rPr>
              <a:t>ứng</a:t>
            </a:r>
            <a:endParaRPr lang="vi-VN" sz="2200" b="1">
              <a:solidFill>
                <a:srgbClr val="002060"/>
              </a:solidFill>
              <a:latin typeface="Cambria" panose="02040503050406030204" pitchFamily="18" charset="0"/>
            </a:endParaRPr>
          </a:p>
          <a:p>
            <a:pPr marL="695325" indent="-293688" algn="just">
              <a:lnSpc>
                <a:spcPct val="150000"/>
              </a:lnSpc>
              <a:spcBef>
                <a:spcPts val="0"/>
              </a:spcBef>
              <a:spcAft>
                <a:spcPts val="0"/>
              </a:spcAft>
              <a:buFont typeface="Cambria" panose="02040503050406030204" pitchFamily="18" charset="0"/>
              <a:buChar char="-"/>
            </a:pPr>
            <a:r>
              <a:rPr lang="vi-VN" sz="2200" b="1">
                <a:solidFill>
                  <a:srgbClr val="002060"/>
                </a:solidFill>
                <a:latin typeface="Cambria" panose="02040503050406030204" pitchFamily="18" charset="0"/>
              </a:rPr>
              <a:t>Không che khuất các khoản mục bắt </a:t>
            </a:r>
            <a:r>
              <a:rPr lang="vi-VN" sz="2200" b="1" smtClean="0">
                <a:solidFill>
                  <a:srgbClr val="002060"/>
                </a:solidFill>
                <a:latin typeface="Cambria" panose="02040503050406030204" pitchFamily="18" charset="0"/>
              </a:rPr>
              <a:t>buộc</a:t>
            </a:r>
            <a:endParaRPr lang="en-US" sz="2200" b="1" smtClean="0">
              <a:solidFill>
                <a:srgbClr val="002060"/>
              </a:solidFill>
              <a:latin typeface="Cambria" panose="02040503050406030204" pitchFamily="18" charset="0"/>
            </a:endParaRPr>
          </a:p>
          <a:p>
            <a:pPr marL="695325" indent="-293688" algn="just">
              <a:lnSpc>
                <a:spcPct val="150000"/>
              </a:lnSpc>
              <a:spcBef>
                <a:spcPts val="0"/>
              </a:spcBef>
              <a:spcAft>
                <a:spcPts val="0"/>
              </a:spcAft>
              <a:buFont typeface="Cambria" panose="02040503050406030204" pitchFamily="18" charset="0"/>
              <a:buChar char="-"/>
            </a:pPr>
            <a:r>
              <a:rPr lang="vi-VN" sz="2200" b="1" smtClean="0">
                <a:solidFill>
                  <a:srgbClr val="002060"/>
                </a:solidFill>
                <a:latin typeface="Cambria" panose="02040503050406030204" pitchFamily="18" charset="0"/>
              </a:rPr>
              <a:t>Rõ </a:t>
            </a:r>
            <a:r>
              <a:rPr lang="vi-VN" sz="2200" b="1">
                <a:solidFill>
                  <a:srgbClr val="002060"/>
                </a:solidFill>
                <a:latin typeface="Cambria" panose="02040503050406030204" pitchFamily="18" charset="0"/>
              </a:rPr>
              <a:t>ràng trong kết thúc, huỷ bỏ.</a:t>
            </a:r>
          </a:p>
          <a:p>
            <a:pPr algn="just">
              <a:lnSpc>
                <a:spcPct val="150000"/>
              </a:lnSpc>
              <a:spcBef>
                <a:spcPts val="0"/>
              </a:spcBef>
              <a:spcAft>
                <a:spcPts val="0"/>
              </a:spcAft>
            </a:pPr>
            <a:endParaRPr lang="en-US" sz="2200" b="1" smtClean="0">
              <a:solidFill>
                <a:srgbClr val="002060"/>
              </a:solidFill>
              <a:latin typeface="Cambria" panose="02040503050406030204" pitchFamily="18" charset="0"/>
            </a:endParaRPr>
          </a:p>
        </p:txBody>
      </p:sp>
      <p:sp>
        <p:nvSpPr>
          <p:cNvPr id="5" name="Rectangle 4"/>
          <p:cNvSpPr/>
          <p:nvPr/>
        </p:nvSpPr>
        <p:spPr>
          <a:xfrm>
            <a:off x="119858" y="122341"/>
            <a:ext cx="8603228" cy="523220"/>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1.7. Quá trình phát triển một sản phẩm Multimedia </a:t>
            </a:r>
          </a:p>
        </p:txBody>
      </p:sp>
      <p:sp>
        <p:nvSpPr>
          <p:cNvPr id="6" name="Line 16"/>
          <p:cNvSpPr>
            <a:spLocks noChangeShapeType="1"/>
          </p:cNvSpPr>
          <p:nvPr/>
        </p:nvSpPr>
        <p:spPr bwMode="auto">
          <a:xfrm>
            <a:off x="135984" y="74726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5179354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747264"/>
            <a:ext cx="8570976" cy="466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spcBef>
                <a:spcPts val="0"/>
              </a:spcBef>
              <a:spcAft>
                <a:spcPts val="0"/>
              </a:spcAft>
            </a:pPr>
            <a:r>
              <a:rPr lang="en-US" sz="2200" b="1">
                <a:solidFill>
                  <a:srgbClr val="002060"/>
                </a:solidFill>
                <a:latin typeface="Cambria" panose="02040503050406030204" pitchFamily="18" charset="0"/>
              </a:rPr>
              <a:t>1.7.5. </a:t>
            </a:r>
            <a:r>
              <a:rPr lang="en-US" sz="2200" b="1" smtClean="0">
                <a:solidFill>
                  <a:srgbClr val="002060"/>
                </a:solidFill>
                <a:latin typeface="Cambria" panose="02040503050406030204" pitchFamily="18" charset="0"/>
              </a:rPr>
              <a:t> Kết </a:t>
            </a:r>
            <a:r>
              <a:rPr lang="en-US" sz="2200" b="1">
                <a:solidFill>
                  <a:srgbClr val="002060"/>
                </a:solidFill>
                <a:latin typeface="Cambria" panose="02040503050406030204" pitchFamily="18" charset="0"/>
              </a:rPr>
              <a:t>luận về điền khuôn </a:t>
            </a:r>
            <a:r>
              <a:rPr lang="en-US" sz="2200" b="1" smtClean="0">
                <a:solidFill>
                  <a:srgbClr val="002060"/>
                </a:solidFill>
                <a:latin typeface="Cambria" panose="02040503050406030204" pitchFamily="18" charset="0"/>
              </a:rPr>
              <a:t>dạng</a:t>
            </a:r>
          </a:p>
          <a:p>
            <a:pPr marL="342900" indent="-342900" algn="just">
              <a:lnSpc>
                <a:spcPct val="150000"/>
              </a:lnSpc>
              <a:spcBef>
                <a:spcPts val="0"/>
              </a:spcBef>
              <a:spcAft>
                <a:spcPts val="0"/>
              </a:spcAft>
              <a:buFont typeface="Arial" panose="020B0604020202020204" pitchFamily="34" charset="0"/>
              <a:buChar char="•"/>
            </a:pPr>
            <a:r>
              <a:rPr lang="vi-VN" sz="2200" b="1">
                <a:solidFill>
                  <a:srgbClr val="002060"/>
                </a:solidFill>
                <a:latin typeface="Cambria" panose="02040503050406030204" pitchFamily="18" charset="0"/>
              </a:rPr>
              <a:t>Điểm tập trung chính trong việc tổ chức và sắp xếp các thực đơn là để đáp ứng   các nhiệm vụ của người </a:t>
            </a:r>
            <a:r>
              <a:rPr lang="vi-VN" sz="2200" b="1" smtClean="0">
                <a:solidFill>
                  <a:srgbClr val="002060"/>
                </a:solidFill>
                <a:latin typeface="Cambria" panose="02040503050406030204" pitchFamily="18" charset="0"/>
              </a:rPr>
              <a:t>dùng</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vi-VN" sz="2200" b="1">
                <a:solidFill>
                  <a:srgbClr val="002060"/>
                </a:solidFill>
                <a:latin typeface="Cambria" panose="02040503050406030204" pitchFamily="18" charset="0"/>
              </a:rPr>
              <a:t>Qua việc sử dụng các giao diện điền khuôn dạng trên thị trường, người ta thấy chúng cho </a:t>
            </a:r>
            <a:r>
              <a:rPr lang="vi-VN" sz="2200" b="1" smtClean="0">
                <a:solidFill>
                  <a:srgbClr val="002060"/>
                </a:solidFill>
                <a:latin typeface="Cambria" panose="02040503050406030204" pitchFamily="18" charset="0"/>
              </a:rPr>
              <a:t>phép</a:t>
            </a:r>
            <a:r>
              <a:rPr lang="en-US" sz="2200" b="1" smtClean="0">
                <a:solidFill>
                  <a:srgbClr val="002060"/>
                </a:solidFill>
                <a:latin typeface="Cambria" panose="02040503050406030204" pitchFamily="18" charset="0"/>
              </a:rPr>
              <a:t>: </a:t>
            </a:r>
          </a:p>
          <a:p>
            <a:pPr marL="695325" indent="-347663" algn="just">
              <a:lnSpc>
                <a:spcPct val="150000"/>
              </a:lnSpc>
              <a:spcBef>
                <a:spcPts val="0"/>
              </a:spcBef>
              <a:spcAft>
                <a:spcPts val="0"/>
              </a:spcAft>
              <a:buFont typeface="Cambria" panose="02040503050406030204" pitchFamily="18" charset="0"/>
              <a:buChar char="-"/>
            </a:pPr>
            <a:r>
              <a:rPr lang="en-US" sz="2200" b="1">
                <a:solidFill>
                  <a:srgbClr val="002060"/>
                </a:solidFill>
                <a:latin typeface="Cambria" panose="02040503050406030204" pitchFamily="18" charset="0"/>
              </a:rPr>
              <a:t>G</a:t>
            </a:r>
            <a:r>
              <a:rPr lang="vi-VN" sz="2200" b="1" smtClean="0">
                <a:solidFill>
                  <a:srgbClr val="002060"/>
                </a:solidFill>
                <a:latin typeface="Cambria" panose="02040503050406030204" pitchFamily="18" charset="0"/>
              </a:rPr>
              <a:t>iảm </a:t>
            </a:r>
            <a:r>
              <a:rPr lang="vi-VN" sz="2200" b="1">
                <a:solidFill>
                  <a:srgbClr val="002060"/>
                </a:solidFill>
                <a:latin typeface="Cambria" panose="02040503050406030204" pitchFamily="18" charset="0"/>
              </a:rPr>
              <a:t>thời gian thi hành công </a:t>
            </a:r>
            <a:r>
              <a:rPr lang="vi-VN" sz="2200" b="1" smtClean="0">
                <a:solidFill>
                  <a:srgbClr val="002060"/>
                </a:solidFill>
                <a:latin typeface="Cambria" panose="02040503050406030204" pitchFamily="18" charset="0"/>
              </a:rPr>
              <a:t>việc</a:t>
            </a:r>
            <a:endParaRPr lang="en-US" sz="2200" b="1" smtClean="0">
              <a:solidFill>
                <a:srgbClr val="002060"/>
              </a:solidFill>
              <a:latin typeface="Cambria" panose="02040503050406030204" pitchFamily="18" charset="0"/>
            </a:endParaRPr>
          </a:p>
          <a:p>
            <a:pPr marL="695325" indent="-347663" algn="just">
              <a:lnSpc>
                <a:spcPct val="150000"/>
              </a:lnSpc>
              <a:spcBef>
                <a:spcPts val="0"/>
              </a:spcBef>
              <a:spcAft>
                <a:spcPts val="0"/>
              </a:spcAft>
              <a:buFont typeface="Cambria" panose="02040503050406030204" pitchFamily="18" charset="0"/>
              <a:buChar char="-"/>
            </a:pPr>
            <a:r>
              <a:rPr lang="en-US" sz="2200" b="1" smtClean="0">
                <a:solidFill>
                  <a:srgbClr val="002060"/>
                </a:solidFill>
                <a:latin typeface="Cambria" panose="02040503050406030204" pitchFamily="18" charset="0"/>
              </a:rPr>
              <a:t>Đ</a:t>
            </a:r>
            <a:r>
              <a:rPr lang="vi-VN" sz="2200" b="1" smtClean="0">
                <a:solidFill>
                  <a:srgbClr val="002060"/>
                </a:solidFill>
                <a:latin typeface="Cambria" panose="02040503050406030204" pitchFamily="18" charset="0"/>
              </a:rPr>
              <a:t>ảm </a:t>
            </a:r>
            <a:r>
              <a:rPr lang="vi-VN" sz="2200" b="1">
                <a:solidFill>
                  <a:srgbClr val="002060"/>
                </a:solidFill>
                <a:latin typeface="Cambria" panose="02040503050406030204" pitchFamily="18" charset="0"/>
              </a:rPr>
              <a:t>bảo sự nhất quán về cách thể </a:t>
            </a:r>
            <a:r>
              <a:rPr lang="vi-VN" sz="2200" b="1" smtClean="0">
                <a:solidFill>
                  <a:srgbClr val="002060"/>
                </a:solidFill>
                <a:latin typeface="Cambria" panose="02040503050406030204" pitchFamily="18" charset="0"/>
              </a:rPr>
              <a:t>hiện</a:t>
            </a:r>
            <a:endParaRPr lang="en-US" sz="2200" b="1" smtClean="0">
              <a:solidFill>
                <a:srgbClr val="002060"/>
              </a:solidFill>
              <a:latin typeface="Cambria" panose="02040503050406030204" pitchFamily="18" charset="0"/>
            </a:endParaRPr>
          </a:p>
          <a:p>
            <a:pPr marL="695325" indent="-347663" algn="just">
              <a:lnSpc>
                <a:spcPct val="150000"/>
              </a:lnSpc>
              <a:spcBef>
                <a:spcPts val="0"/>
              </a:spcBef>
              <a:spcAft>
                <a:spcPts val="0"/>
              </a:spcAft>
              <a:buFont typeface="Cambria" panose="02040503050406030204" pitchFamily="18" charset="0"/>
              <a:buChar char="-"/>
            </a:pPr>
            <a:r>
              <a:rPr lang="en-US" sz="2200" b="1" smtClean="0">
                <a:solidFill>
                  <a:srgbClr val="002060"/>
                </a:solidFill>
                <a:latin typeface="Cambria" panose="02040503050406030204" pitchFamily="18" charset="0"/>
              </a:rPr>
              <a:t>Đ</a:t>
            </a:r>
            <a:r>
              <a:rPr lang="vi-VN" sz="2200" b="1" smtClean="0">
                <a:solidFill>
                  <a:srgbClr val="002060"/>
                </a:solidFill>
                <a:latin typeface="Cambria" panose="02040503050406030204" pitchFamily="18" charset="0"/>
              </a:rPr>
              <a:t>ơn </a:t>
            </a:r>
            <a:r>
              <a:rPr lang="vi-VN" sz="2200" b="1">
                <a:solidFill>
                  <a:srgbClr val="002060"/>
                </a:solidFill>
                <a:latin typeface="Cambria" panose="02040503050406030204" pitchFamily="18" charset="0"/>
              </a:rPr>
              <a:t>giản hoá công việc bảo trì.</a:t>
            </a:r>
            <a:endParaRPr lang="en-US" sz="2200" b="1" smtClean="0">
              <a:solidFill>
                <a:srgbClr val="002060"/>
              </a:solidFill>
              <a:latin typeface="Cambria" panose="02040503050406030204" pitchFamily="18" charset="0"/>
            </a:endParaRPr>
          </a:p>
          <a:p>
            <a:pPr algn="just">
              <a:lnSpc>
                <a:spcPct val="150000"/>
              </a:lnSpc>
              <a:spcBef>
                <a:spcPts val="0"/>
              </a:spcBef>
              <a:spcAft>
                <a:spcPts val="0"/>
              </a:spcAft>
            </a:pPr>
            <a:endParaRPr lang="en-US" sz="2200" b="1" smtClean="0">
              <a:solidFill>
                <a:srgbClr val="002060"/>
              </a:solidFill>
              <a:latin typeface="Cambria" panose="02040503050406030204" pitchFamily="18" charset="0"/>
            </a:endParaRPr>
          </a:p>
        </p:txBody>
      </p:sp>
      <p:sp>
        <p:nvSpPr>
          <p:cNvPr id="5" name="Rectangle 4"/>
          <p:cNvSpPr/>
          <p:nvPr/>
        </p:nvSpPr>
        <p:spPr>
          <a:xfrm>
            <a:off x="119858" y="122341"/>
            <a:ext cx="8603228" cy="523220"/>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1.7. Quá trình phát triển một sản phẩm Multimedia </a:t>
            </a:r>
          </a:p>
        </p:txBody>
      </p:sp>
      <p:sp>
        <p:nvSpPr>
          <p:cNvPr id="6" name="Line 16"/>
          <p:cNvSpPr>
            <a:spLocks noChangeShapeType="1"/>
          </p:cNvSpPr>
          <p:nvPr/>
        </p:nvSpPr>
        <p:spPr bwMode="auto">
          <a:xfrm>
            <a:off x="135984" y="74726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3346301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747264"/>
            <a:ext cx="8570976"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spcBef>
                <a:spcPts val="0"/>
              </a:spcBef>
              <a:spcAft>
                <a:spcPts val="0"/>
              </a:spcAft>
              <a:buFont typeface="Arial" panose="020B0604020202020204" pitchFamily="34" charset="0"/>
              <a:buChar char="•"/>
            </a:pPr>
            <a:r>
              <a:rPr lang="vi-VN" sz="2200" b="1">
                <a:solidFill>
                  <a:srgbClr val="002060"/>
                </a:solidFill>
                <a:latin typeface="Cambria" panose="02040503050406030204" pitchFamily="18" charset="0"/>
              </a:rPr>
              <a:t>Cung cấp cho người học các kiến thức căn bản về các yêu cầu đối với việc </a:t>
            </a:r>
            <a:r>
              <a:rPr lang="vi-VN" sz="2200" b="1" smtClean="0">
                <a:solidFill>
                  <a:srgbClr val="002060"/>
                </a:solidFill>
                <a:latin typeface="Cambria" panose="02040503050406030204" pitchFamily="18" charset="0"/>
              </a:rPr>
              <a:t>tr</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diễn, lưu trữ các đối tượng </a:t>
            </a:r>
            <a:r>
              <a:rPr lang="vi-VN" sz="2200" b="1" smtClean="0">
                <a:solidFill>
                  <a:srgbClr val="002060"/>
                </a:solidFill>
                <a:latin typeface="Cambria" panose="02040503050406030204" pitchFamily="18" charset="0"/>
              </a:rPr>
              <a:t>multimedia</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en-US" sz="2200" b="1">
                <a:solidFill>
                  <a:srgbClr val="002060"/>
                </a:solidFill>
                <a:latin typeface="Cambria" panose="02040503050406030204" pitchFamily="18" charset="0"/>
              </a:rPr>
              <a:t>Đ</a:t>
            </a:r>
            <a:r>
              <a:rPr lang="vi-VN" sz="2200" b="1" smtClean="0">
                <a:solidFill>
                  <a:srgbClr val="002060"/>
                </a:solidFill>
                <a:latin typeface="Cambria" panose="02040503050406030204" pitchFamily="18" charset="0"/>
              </a:rPr>
              <a:t>ề </a:t>
            </a:r>
            <a:r>
              <a:rPr lang="vi-VN" sz="2200" b="1">
                <a:solidFill>
                  <a:srgbClr val="002060"/>
                </a:solidFill>
                <a:latin typeface="Cambria" panose="02040503050406030204" pitchFamily="18" charset="0"/>
              </a:rPr>
              <a:t>cập đến 1 số </a:t>
            </a:r>
            <a:r>
              <a:rPr lang="vi-VN" sz="2200" b="1" smtClean="0">
                <a:solidFill>
                  <a:srgbClr val="002060"/>
                </a:solidFill>
                <a:latin typeface="Cambria" panose="02040503050406030204" pitchFamily="18" charset="0"/>
              </a:rPr>
              <a:t>kh</a:t>
            </a:r>
            <a:r>
              <a:rPr lang="en-US" sz="2200" b="1">
                <a:solidFill>
                  <a:srgbClr val="002060"/>
                </a:solidFill>
                <a:latin typeface="Cambria" panose="02040503050406030204" pitchFamily="18" charset="0"/>
              </a:rPr>
              <a:t>í</a:t>
            </a:r>
            <a:r>
              <a:rPr lang="vi-VN" sz="2200" b="1" smtClean="0">
                <a:solidFill>
                  <a:srgbClr val="002060"/>
                </a:solidFill>
                <a:latin typeface="Cambria" panose="02040503050406030204" pitchFamily="18" charset="0"/>
              </a:rPr>
              <a:t>a </a:t>
            </a:r>
            <a:r>
              <a:rPr lang="vi-VN" sz="2200" b="1">
                <a:solidFill>
                  <a:srgbClr val="002060"/>
                </a:solidFill>
                <a:latin typeface="Cambria" panose="02040503050406030204" pitchFamily="18" charset="0"/>
              </a:rPr>
              <a:t>cạnh và kỹ thuật quan trọng để hỗ trợ truyền tin đa phương </a:t>
            </a:r>
            <a:r>
              <a:rPr lang="vi-VN" sz="2200" b="1" smtClean="0">
                <a:solidFill>
                  <a:srgbClr val="002060"/>
                </a:solidFill>
                <a:latin typeface="Cambria" panose="02040503050406030204" pitchFamily="18" charset="0"/>
              </a:rPr>
              <a:t>tiện</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vi-VN" sz="2200" b="1">
                <a:solidFill>
                  <a:srgbClr val="002060"/>
                </a:solidFill>
                <a:latin typeface="Cambria" panose="02040503050406030204" pitchFamily="18" charset="0"/>
              </a:rPr>
              <a:t>Cần hiểu và nắm vững những các yêu cầu để đạt được mục </a:t>
            </a:r>
            <a:r>
              <a:rPr lang="vi-VN" sz="2200" b="1" smtClean="0">
                <a:solidFill>
                  <a:srgbClr val="002060"/>
                </a:solidFill>
                <a:latin typeface="Cambria" panose="02040503050406030204" pitchFamily="18" charset="0"/>
              </a:rPr>
              <a:t>đ</a:t>
            </a:r>
            <a:r>
              <a:rPr lang="en-US" sz="2200" b="1">
                <a:solidFill>
                  <a:srgbClr val="002060"/>
                </a:solidFill>
                <a:latin typeface="Cambria" panose="02040503050406030204" pitchFamily="18" charset="0"/>
              </a:rPr>
              <a:t>í</a:t>
            </a:r>
            <a:r>
              <a:rPr lang="vi-VN" sz="2200" b="1" smtClean="0">
                <a:solidFill>
                  <a:srgbClr val="002060"/>
                </a:solidFill>
                <a:latin typeface="Cambria" panose="02040503050406030204" pitchFamily="18" charset="0"/>
              </a:rPr>
              <a:t>ch </a:t>
            </a:r>
            <a:r>
              <a:rPr lang="vi-VN" sz="2200" b="1">
                <a:solidFill>
                  <a:srgbClr val="002060"/>
                </a:solidFill>
                <a:latin typeface="Cambria" panose="02040503050406030204" pitchFamily="18" charset="0"/>
              </a:rPr>
              <a:t>về truy </a:t>
            </a:r>
            <a:r>
              <a:rPr lang="vi-VN" sz="2200" b="1" smtClean="0">
                <a:solidFill>
                  <a:srgbClr val="002060"/>
                </a:solidFill>
                <a:latin typeface="Cambria" panose="02040503050406030204" pitchFamily="18" charset="0"/>
              </a:rPr>
              <a:t>t</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m </a:t>
            </a:r>
            <a:r>
              <a:rPr lang="vi-VN" sz="2200" b="1">
                <a:solidFill>
                  <a:srgbClr val="002060"/>
                </a:solidFill>
                <a:latin typeface="Cambria" panose="02040503050406030204" pitchFamily="18" charset="0"/>
              </a:rPr>
              <a:t>và </a:t>
            </a:r>
            <a:r>
              <a:rPr lang="vi-VN" sz="2200" b="1" smtClean="0">
                <a:solidFill>
                  <a:srgbClr val="002060"/>
                </a:solidFill>
                <a:latin typeface="Cambria" panose="02040503050406030204" pitchFamily="18" charset="0"/>
              </a:rPr>
              <a:t>tr</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diễn trơn tru, hiệu </a:t>
            </a:r>
            <a:r>
              <a:rPr lang="vi-VN" sz="2200" b="1" smtClean="0">
                <a:solidFill>
                  <a:srgbClr val="002060"/>
                </a:solidFill>
                <a:latin typeface="Cambria" panose="02040503050406030204" pitchFamily="18" charset="0"/>
              </a:rPr>
              <a:t>quả</a:t>
            </a:r>
            <a:endParaRPr lang="en-US" sz="2200" b="1" smtClean="0">
              <a:solidFill>
                <a:srgbClr val="002060"/>
              </a:solidFill>
              <a:latin typeface="Cambria" panose="02040503050406030204" pitchFamily="18" charset="0"/>
            </a:endParaRPr>
          </a:p>
          <a:p>
            <a:pPr marL="695325" indent="-403225" algn="just">
              <a:lnSpc>
                <a:spcPct val="150000"/>
              </a:lnSpc>
              <a:spcBef>
                <a:spcPts val="0"/>
              </a:spcBef>
              <a:spcAft>
                <a:spcPts val="0"/>
              </a:spcAft>
              <a:buFont typeface="Cambria" panose="02040503050406030204" pitchFamily="18" charset="0"/>
              <a:buChar char="-"/>
            </a:pPr>
            <a:r>
              <a:rPr lang="en-US" sz="2200" b="1" smtClean="0">
                <a:solidFill>
                  <a:srgbClr val="002060"/>
                </a:solidFill>
                <a:latin typeface="Cambria" panose="02040503050406030204" pitchFamily="18" charset="0"/>
              </a:rPr>
              <a:t>T</a:t>
            </a:r>
            <a:r>
              <a:rPr lang="vi-VN" sz="2200" b="1" smtClean="0">
                <a:solidFill>
                  <a:srgbClr val="002060"/>
                </a:solidFill>
                <a:latin typeface="Cambria" panose="02040503050406030204" pitchFamily="18" charset="0"/>
              </a:rPr>
              <a:t>hiết </a:t>
            </a:r>
            <a:r>
              <a:rPr lang="vi-VN" sz="2200" b="1">
                <a:solidFill>
                  <a:srgbClr val="002060"/>
                </a:solidFill>
                <a:latin typeface="Cambria" panose="02040503050406030204" pitchFamily="18" charset="0"/>
              </a:rPr>
              <a:t>bị và bộ quản trị lưu trữ </a:t>
            </a:r>
            <a:r>
              <a:rPr lang="vi-VN" sz="2200" b="1" smtClean="0">
                <a:solidFill>
                  <a:srgbClr val="002060"/>
                </a:solidFill>
                <a:latin typeface="Cambria" panose="02040503050406030204" pitchFamily="18" charset="0"/>
              </a:rPr>
              <a:t>ph</a:t>
            </a:r>
            <a:r>
              <a:rPr lang="en-US" sz="2200" b="1" smtClean="0">
                <a:solidFill>
                  <a:srgbClr val="002060"/>
                </a:solidFill>
                <a:latin typeface="Cambria" panose="02040503050406030204" pitchFamily="18" charset="0"/>
              </a:rPr>
              <a:t>ía</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máy chủ</a:t>
            </a:r>
          </a:p>
          <a:p>
            <a:pPr marL="695325" indent="-403225" algn="just">
              <a:lnSpc>
                <a:spcPct val="150000"/>
              </a:lnSpc>
              <a:spcBef>
                <a:spcPts val="0"/>
              </a:spcBef>
              <a:spcAft>
                <a:spcPts val="0"/>
              </a:spcAft>
              <a:buFont typeface="Cambria" panose="02040503050406030204" pitchFamily="18" charset="0"/>
              <a:buChar char="-"/>
            </a:pPr>
            <a:r>
              <a:rPr lang="vi-VN" sz="2200" b="1" smtClean="0">
                <a:solidFill>
                  <a:srgbClr val="002060"/>
                </a:solidFill>
                <a:latin typeface="Cambria" panose="02040503050406030204" pitchFamily="18" charset="0"/>
              </a:rPr>
              <a:t>Các </a:t>
            </a:r>
            <a:r>
              <a:rPr lang="vi-VN" sz="2200" b="1">
                <a:solidFill>
                  <a:srgbClr val="002060"/>
                </a:solidFill>
                <a:latin typeface="Cambria" panose="02040503050406030204" pitchFamily="18" charset="0"/>
              </a:rPr>
              <a:t>ngăn xếp giao vận máy chủ và máy trạm.</a:t>
            </a:r>
          </a:p>
          <a:p>
            <a:pPr marL="695325" indent="-403225" algn="just">
              <a:lnSpc>
                <a:spcPct val="150000"/>
              </a:lnSpc>
              <a:spcBef>
                <a:spcPts val="0"/>
              </a:spcBef>
              <a:spcAft>
                <a:spcPts val="0"/>
              </a:spcAft>
              <a:buFont typeface="Cambria" panose="02040503050406030204" pitchFamily="18" charset="0"/>
              <a:buChar char="-"/>
            </a:pPr>
            <a:r>
              <a:rPr lang="vi-VN" sz="2200" b="1" smtClean="0">
                <a:solidFill>
                  <a:srgbClr val="002060"/>
                </a:solidFill>
                <a:latin typeface="Cambria" panose="02040503050406030204" pitchFamily="18" charset="0"/>
              </a:rPr>
              <a:t>Xâm </a:t>
            </a:r>
            <a:r>
              <a:rPr lang="vi-VN" sz="2200" b="1">
                <a:solidFill>
                  <a:srgbClr val="002060"/>
                </a:solidFill>
                <a:latin typeface="Cambria" panose="02040503050406030204" pitchFamily="18" charset="0"/>
              </a:rPr>
              <a:t>nhập mạng</a:t>
            </a:r>
          </a:p>
          <a:p>
            <a:pPr marL="695325" indent="-403225" algn="just">
              <a:lnSpc>
                <a:spcPct val="150000"/>
              </a:lnSpc>
              <a:spcBef>
                <a:spcPts val="0"/>
              </a:spcBef>
              <a:spcAft>
                <a:spcPts val="0"/>
              </a:spcAft>
              <a:buFont typeface="Cambria" panose="02040503050406030204" pitchFamily="18" charset="0"/>
              <a:buChar char="-"/>
            </a:pPr>
            <a:r>
              <a:rPr lang="vi-VN" sz="2200" b="1" smtClean="0">
                <a:solidFill>
                  <a:srgbClr val="002060"/>
                </a:solidFill>
                <a:latin typeface="Cambria" panose="02040503050406030204" pitchFamily="18" charset="0"/>
              </a:rPr>
              <a:t>Truyền </a:t>
            </a:r>
            <a:r>
              <a:rPr lang="vi-VN" sz="2200" b="1">
                <a:solidFill>
                  <a:srgbClr val="002060"/>
                </a:solidFill>
                <a:latin typeface="Cambria" panose="02040503050406030204" pitchFamily="18" charset="0"/>
              </a:rPr>
              <a:t>trên mạng</a:t>
            </a:r>
          </a:p>
          <a:p>
            <a:pPr marL="695325" indent="-403225" algn="just">
              <a:lnSpc>
                <a:spcPct val="150000"/>
              </a:lnSpc>
              <a:spcBef>
                <a:spcPts val="0"/>
              </a:spcBef>
              <a:spcAft>
                <a:spcPts val="0"/>
              </a:spcAft>
              <a:buFont typeface="Cambria" panose="02040503050406030204" pitchFamily="18" charset="0"/>
              <a:buChar char="-"/>
            </a:pPr>
            <a:r>
              <a:rPr lang="vi-VN" sz="2200" b="1" smtClean="0">
                <a:solidFill>
                  <a:srgbClr val="002060"/>
                </a:solidFill>
                <a:latin typeface="Cambria" panose="02040503050406030204" pitchFamily="18" charset="0"/>
              </a:rPr>
              <a:t>Giải </a:t>
            </a:r>
            <a:r>
              <a:rPr lang="vi-VN" sz="2200" b="1">
                <a:solidFill>
                  <a:srgbClr val="002060"/>
                </a:solidFill>
                <a:latin typeface="Cambria" panose="02040503050406030204" pitchFamily="18" charset="0"/>
              </a:rPr>
              <a:t>mã</a:t>
            </a:r>
          </a:p>
          <a:p>
            <a:pPr algn="just">
              <a:lnSpc>
                <a:spcPct val="150000"/>
              </a:lnSpc>
              <a:spcBef>
                <a:spcPts val="0"/>
              </a:spcBef>
              <a:spcAft>
                <a:spcPts val="0"/>
              </a:spcAft>
            </a:pPr>
            <a:endParaRPr lang="en-US" sz="2200" b="1" smtClean="0">
              <a:solidFill>
                <a:srgbClr val="002060"/>
              </a:solidFill>
              <a:latin typeface="Cambria" panose="02040503050406030204" pitchFamily="18" charset="0"/>
            </a:endParaRPr>
          </a:p>
        </p:txBody>
      </p:sp>
      <p:sp>
        <p:nvSpPr>
          <p:cNvPr id="5" name="Rectangle 4"/>
          <p:cNvSpPr/>
          <p:nvPr/>
        </p:nvSpPr>
        <p:spPr>
          <a:xfrm>
            <a:off x="119858" y="122341"/>
            <a:ext cx="8603228" cy="523220"/>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1.8. Các yêu cầu của hệ thống đa phương tiện</a:t>
            </a:r>
          </a:p>
        </p:txBody>
      </p:sp>
      <p:sp>
        <p:nvSpPr>
          <p:cNvPr id="6" name="Line 16"/>
          <p:cNvSpPr>
            <a:spLocks noChangeShapeType="1"/>
          </p:cNvSpPr>
          <p:nvPr/>
        </p:nvSpPr>
        <p:spPr bwMode="auto">
          <a:xfrm>
            <a:off x="135984" y="74726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63516871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747264"/>
            <a:ext cx="8570976"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spcBef>
                <a:spcPts val="0"/>
              </a:spcBef>
              <a:spcAft>
                <a:spcPts val="0"/>
              </a:spcAft>
            </a:pPr>
            <a:r>
              <a:rPr lang="vi-VN" sz="2200" b="1" smtClean="0">
                <a:solidFill>
                  <a:srgbClr val="002060"/>
                </a:solidFill>
                <a:latin typeface="Cambria" panose="02040503050406030204" pitchFamily="18" charset="0"/>
              </a:rPr>
              <a:t>1.8.1.</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Các vấn đề về QoS</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vi-VN" sz="2200" b="1" smtClean="0">
                <a:solidFill>
                  <a:srgbClr val="002060"/>
                </a:solidFill>
                <a:latin typeface="Cambria" panose="02040503050406030204" pitchFamily="18" charset="0"/>
              </a:rPr>
              <a:t>QoS </a:t>
            </a:r>
            <a:r>
              <a:rPr lang="vi-VN" sz="2200" b="1">
                <a:solidFill>
                  <a:srgbClr val="002060"/>
                </a:solidFill>
                <a:latin typeface="Cambria" panose="02040503050406030204" pitchFamily="18" charset="0"/>
              </a:rPr>
              <a:t>là đặc tả định tính và định </a:t>
            </a:r>
            <a:r>
              <a:rPr lang="vi-VN" sz="2200" b="1" smtClean="0">
                <a:solidFill>
                  <a:srgbClr val="002060"/>
                </a:solidFill>
                <a:latin typeface="Cambria" panose="02040503050406030204" pitchFamily="18" charset="0"/>
              </a:rPr>
              <a:t>l</a:t>
            </a:r>
            <a:r>
              <a:rPr lang="en-US" sz="2200" b="1" smtClean="0">
                <a:solidFill>
                  <a:srgbClr val="002060"/>
                </a:solidFill>
                <a:latin typeface="Cambria" panose="02040503050406030204" pitchFamily="18" charset="0"/>
              </a:rPr>
              <a:t>ư</a:t>
            </a:r>
            <a:r>
              <a:rPr lang="vi-VN" sz="2200" b="1" smtClean="0">
                <a:solidFill>
                  <a:srgbClr val="002060"/>
                </a:solidFill>
                <a:latin typeface="Cambria" panose="02040503050406030204" pitchFamily="18" charset="0"/>
              </a:rPr>
              <a:t>ợng </a:t>
            </a:r>
            <a:r>
              <a:rPr lang="vi-VN" sz="2200" b="1">
                <a:solidFill>
                  <a:srgbClr val="002060"/>
                </a:solidFill>
                <a:latin typeface="Cambria" panose="02040503050406030204" pitchFamily="18" charset="0"/>
              </a:rPr>
              <a:t>các yêu cầu ứng dụng, chúng </a:t>
            </a:r>
            <a:r>
              <a:rPr lang="vi-VN" sz="2200" b="1" smtClean="0">
                <a:solidFill>
                  <a:srgbClr val="002060"/>
                </a:solidFill>
                <a:latin typeface="Cambria" panose="02040503050406030204" pitchFamily="18" charset="0"/>
              </a:rPr>
              <a:t>đ</a:t>
            </a:r>
            <a:r>
              <a:rPr lang="en-US" sz="2200" b="1" smtClean="0">
                <a:solidFill>
                  <a:srgbClr val="002060"/>
                </a:solidFill>
                <a:latin typeface="Cambria" panose="02040503050406030204" pitchFamily="18" charset="0"/>
              </a:rPr>
              <a:t>ư</a:t>
            </a:r>
            <a:r>
              <a:rPr lang="vi-VN" sz="2200" b="1" smtClean="0">
                <a:solidFill>
                  <a:srgbClr val="002060"/>
                </a:solidFill>
                <a:latin typeface="Cambria" panose="02040503050406030204" pitchFamily="18" charset="0"/>
              </a:rPr>
              <a:t>ợc </a:t>
            </a:r>
            <a:r>
              <a:rPr lang="vi-VN" sz="2200" b="1">
                <a:solidFill>
                  <a:srgbClr val="002060"/>
                </a:solidFill>
                <a:latin typeface="Cambria" panose="02040503050406030204" pitchFamily="18" charset="0"/>
              </a:rPr>
              <a:t>hệ thống đa phương tiện thoả mãn để đạt </a:t>
            </a:r>
            <a:r>
              <a:rPr lang="vi-VN" sz="2200" b="1" smtClean="0">
                <a:solidFill>
                  <a:srgbClr val="002060"/>
                </a:solidFill>
                <a:latin typeface="Cambria" panose="02040503050406030204" pitchFamily="18" charset="0"/>
              </a:rPr>
              <a:t>đ</a:t>
            </a:r>
            <a:r>
              <a:rPr lang="en-US" sz="2200" b="1" smtClean="0">
                <a:solidFill>
                  <a:srgbClr val="002060"/>
                </a:solidFill>
                <a:latin typeface="Cambria" panose="02040503050406030204" pitchFamily="18" charset="0"/>
              </a:rPr>
              <a:t>ư</a:t>
            </a:r>
            <a:r>
              <a:rPr lang="vi-VN" sz="2200" b="1" smtClean="0">
                <a:solidFill>
                  <a:srgbClr val="002060"/>
                </a:solidFill>
                <a:latin typeface="Cambria" panose="02040503050406030204" pitchFamily="18" charset="0"/>
              </a:rPr>
              <a:t>ợc </a:t>
            </a:r>
            <a:r>
              <a:rPr lang="vi-VN" sz="2200" b="1">
                <a:solidFill>
                  <a:srgbClr val="002060"/>
                </a:solidFill>
                <a:latin typeface="Cambria" panose="02040503050406030204" pitchFamily="18" charset="0"/>
              </a:rPr>
              <a:t>chất </a:t>
            </a:r>
            <a:r>
              <a:rPr lang="vi-VN" sz="2200" b="1" smtClean="0">
                <a:solidFill>
                  <a:srgbClr val="002060"/>
                </a:solidFill>
                <a:latin typeface="Cambria" panose="02040503050406030204" pitchFamily="18" charset="0"/>
              </a:rPr>
              <a:t>l</a:t>
            </a:r>
            <a:r>
              <a:rPr lang="en-US" sz="2200" b="1" smtClean="0">
                <a:solidFill>
                  <a:srgbClr val="002060"/>
                </a:solidFill>
                <a:latin typeface="Cambria" panose="02040503050406030204" pitchFamily="18" charset="0"/>
              </a:rPr>
              <a:t>ư</a:t>
            </a:r>
            <a:r>
              <a:rPr lang="vi-VN" sz="2200" b="1" smtClean="0">
                <a:solidFill>
                  <a:srgbClr val="002060"/>
                </a:solidFill>
                <a:latin typeface="Cambria" panose="02040503050406030204" pitchFamily="18" charset="0"/>
              </a:rPr>
              <a:t>ợng </a:t>
            </a:r>
            <a:r>
              <a:rPr lang="vi-VN" sz="2200" b="1">
                <a:solidFill>
                  <a:srgbClr val="002060"/>
                </a:solidFill>
                <a:latin typeface="Cambria" panose="02040503050406030204" pitchFamily="18" charset="0"/>
              </a:rPr>
              <a:t>mong muốn</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342900" indent="-342900" algn="just">
              <a:lnSpc>
                <a:spcPct val="150000"/>
              </a:lnSpc>
              <a:spcBef>
                <a:spcPts val="0"/>
              </a:spcBef>
              <a:spcAft>
                <a:spcPts val="0"/>
              </a:spcAft>
              <a:buFont typeface="Arial" panose="020B0604020202020204" pitchFamily="34" charset="0"/>
              <a:buChar char="•"/>
            </a:pPr>
            <a:r>
              <a:rPr lang="vi-VN" sz="2200" b="1" smtClean="0">
                <a:solidFill>
                  <a:srgbClr val="002060"/>
                </a:solidFill>
                <a:latin typeface="Cambria" panose="02040503050406030204" pitchFamily="18" charset="0"/>
              </a:rPr>
              <a:t>QoS </a:t>
            </a:r>
            <a:r>
              <a:rPr lang="vi-VN" sz="2200" b="1">
                <a:solidFill>
                  <a:srgbClr val="002060"/>
                </a:solidFill>
                <a:latin typeface="Cambria" panose="02040503050406030204" pitchFamily="18" charset="0"/>
              </a:rPr>
              <a:t>thông thường được đặc tả bởi tập các tham số như: tốc độ, tỷ lệ lỗi, giới hạn trễ và giới hạn jitter hay nhiều giá trị kết hợp với mỗi tham số</a:t>
            </a:r>
            <a:endParaRPr lang="en-US" sz="2200" b="1" smtClean="0">
              <a:solidFill>
                <a:srgbClr val="002060"/>
              </a:solidFill>
              <a:latin typeface="Cambria" panose="02040503050406030204" pitchFamily="18" charset="0"/>
            </a:endParaRPr>
          </a:p>
        </p:txBody>
      </p:sp>
      <p:sp>
        <p:nvSpPr>
          <p:cNvPr id="5" name="Rectangle 4"/>
          <p:cNvSpPr/>
          <p:nvPr/>
        </p:nvSpPr>
        <p:spPr>
          <a:xfrm>
            <a:off x="119858" y="122341"/>
            <a:ext cx="8603228" cy="523220"/>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1.8. Các yêu cầu của hệ thống đa phương tiện</a:t>
            </a:r>
          </a:p>
        </p:txBody>
      </p:sp>
      <p:sp>
        <p:nvSpPr>
          <p:cNvPr id="6" name="Line 16"/>
          <p:cNvSpPr>
            <a:spLocks noChangeShapeType="1"/>
          </p:cNvSpPr>
          <p:nvPr/>
        </p:nvSpPr>
        <p:spPr bwMode="auto">
          <a:xfrm>
            <a:off x="135984" y="74726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33800046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747264"/>
            <a:ext cx="8570976"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spcBef>
                <a:spcPts val="0"/>
              </a:spcBef>
              <a:spcAft>
                <a:spcPts val="0"/>
              </a:spcAft>
            </a:pPr>
            <a:r>
              <a:rPr lang="en-US" sz="2200" b="1" smtClean="0">
                <a:solidFill>
                  <a:srgbClr val="002060"/>
                </a:solidFill>
                <a:latin typeface="Cambria" panose="02040503050406030204" pitchFamily="18" charset="0"/>
              </a:rPr>
              <a:t>1.8.2.  Các </a:t>
            </a:r>
            <a:r>
              <a:rPr lang="en-US" sz="2200" b="1">
                <a:solidFill>
                  <a:srgbClr val="002060"/>
                </a:solidFill>
                <a:latin typeface="Cambria" panose="02040503050406030204" pitchFamily="18" charset="0"/>
              </a:rPr>
              <a:t>phần tử quan trọng và nhiệm vụ của quản trị </a:t>
            </a:r>
            <a:r>
              <a:rPr lang="en-US" sz="2200" b="1" smtClean="0">
                <a:solidFill>
                  <a:srgbClr val="002060"/>
                </a:solidFill>
                <a:latin typeface="Cambria" panose="02040503050406030204" pitchFamily="18" charset="0"/>
              </a:rPr>
              <a:t>QoS</a:t>
            </a:r>
          </a:p>
          <a:p>
            <a:pPr algn="just">
              <a:lnSpc>
                <a:spcPct val="150000"/>
              </a:lnSpc>
              <a:spcBef>
                <a:spcPts val="0"/>
              </a:spcBef>
              <a:spcAft>
                <a:spcPts val="0"/>
              </a:spcAft>
            </a:pPr>
            <a:r>
              <a:rPr lang="en-US" sz="2200" b="1" smtClean="0">
                <a:solidFill>
                  <a:srgbClr val="002060"/>
                </a:solidFill>
                <a:latin typeface="Cambria" panose="02040503050406030204" pitchFamily="18" charset="0"/>
              </a:rPr>
              <a:t>•  Trên </a:t>
            </a:r>
            <a:r>
              <a:rPr lang="en-US" sz="2200" b="1">
                <a:solidFill>
                  <a:srgbClr val="002060"/>
                </a:solidFill>
                <a:latin typeface="Cambria" panose="02040503050406030204" pitchFamily="18" charset="0"/>
              </a:rPr>
              <a:t>quan điểm của </a:t>
            </a:r>
            <a:r>
              <a:rPr lang="en-US" sz="2200" b="1" smtClean="0">
                <a:solidFill>
                  <a:srgbClr val="002060"/>
                </a:solidFill>
                <a:latin typeface="Cambria" panose="02040503050406030204" pitchFamily="18" charset="0"/>
              </a:rPr>
              <a:t>người </a:t>
            </a:r>
            <a:r>
              <a:rPr lang="en-US" sz="2200" b="1">
                <a:solidFill>
                  <a:srgbClr val="002060"/>
                </a:solidFill>
                <a:latin typeface="Cambria" panose="02040503050406030204" pitchFamily="18" charset="0"/>
              </a:rPr>
              <a:t>dùng</a:t>
            </a:r>
            <a:r>
              <a:rPr lang="en-US" sz="2200" b="1" smtClean="0">
                <a:solidFill>
                  <a:srgbClr val="002060"/>
                </a:solidFill>
                <a:latin typeface="Cambria" panose="02040503050406030204" pitchFamily="18" charset="0"/>
              </a:rPr>
              <a:t>:</a:t>
            </a:r>
          </a:p>
          <a:p>
            <a:pPr marL="581025" indent="-342900" algn="just">
              <a:lnSpc>
                <a:spcPct val="150000"/>
              </a:lnSpc>
              <a:spcBef>
                <a:spcPts val="0"/>
              </a:spcBef>
              <a:spcAft>
                <a:spcPts val="0"/>
              </a:spcAft>
              <a:buFont typeface="Brush Script Std" panose="03060802040607070404" pitchFamily="66" charset="0"/>
              <a:buChar char="-"/>
            </a:pPr>
            <a:r>
              <a:rPr lang="vi-VN" sz="2200" b="1">
                <a:solidFill>
                  <a:srgbClr val="002060"/>
                </a:solidFill>
                <a:latin typeface="Cambria" panose="02040503050406030204" pitchFamily="18" charset="0"/>
              </a:rPr>
              <a:t>Do phần lớn các trường hợp bộ phận thu nhận đầu cuối thông tin đa phương tiện là người sử dụng, nên kết quả QoS là chất lượng do người sử dụng cảm nhận. Bởi vậy người sử dụng cuối cùng thông thường là người khởi xướng QoS</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581025" indent="-342900" algn="just">
              <a:lnSpc>
                <a:spcPct val="150000"/>
              </a:lnSpc>
              <a:spcBef>
                <a:spcPts val="0"/>
              </a:spcBef>
              <a:spcAft>
                <a:spcPts val="0"/>
              </a:spcAft>
              <a:buFont typeface="Brush Script Std" panose="03060802040607070404" pitchFamily="66" charset="0"/>
              <a:buChar char="-"/>
            </a:pPr>
            <a:r>
              <a:rPr lang="en-US" sz="2200" b="1" smtClean="0">
                <a:solidFill>
                  <a:srgbClr val="002060"/>
                </a:solidFill>
                <a:latin typeface="Cambria" panose="02040503050406030204" pitchFamily="18" charset="0"/>
              </a:rPr>
              <a:t>C</a:t>
            </a:r>
            <a:r>
              <a:rPr lang="vi-VN" sz="2200" b="1" smtClean="0">
                <a:solidFill>
                  <a:srgbClr val="002060"/>
                </a:solidFill>
                <a:latin typeface="Cambria" panose="02040503050406030204" pitchFamily="18" charset="0"/>
              </a:rPr>
              <a:t>hất l</a:t>
            </a:r>
            <a:r>
              <a:rPr lang="en-US" sz="2200" b="1" smtClean="0">
                <a:solidFill>
                  <a:srgbClr val="002060"/>
                </a:solidFill>
                <a:latin typeface="Cambria" panose="02040503050406030204" pitchFamily="18" charset="0"/>
              </a:rPr>
              <a:t>ư</a:t>
            </a:r>
            <a:r>
              <a:rPr lang="vi-VN" sz="2200" b="1" smtClean="0">
                <a:solidFill>
                  <a:srgbClr val="002060"/>
                </a:solidFill>
                <a:latin typeface="Cambria" panose="02040503050406030204" pitchFamily="18" charset="0"/>
              </a:rPr>
              <a:t>ợng đ</a:t>
            </a:r>
            <a:r>
              <a:rPr lang="en-US" sz="2200" b="1" smtClean="0">
                <a:solidFill>
                  <a:srgbClr val="002060"/>
                </a:solidFill>
                <a:latin typeface="Cambria" panose="02040503050406030204" pitchFamily="18" charset="0"/>
              </a:rPr>
              <a:t>ư</a:t>
            </a:r>
            <a:r>
              <a:rPr lang="vi-VN" sz="2200" b="1" smtClean="0">
                <a:solidFill>
                  <a:srgbClr val="002060"/>
                </a:solidFill>
                <a:latin typeface="Cambria" panose="02040503050406030204" pitchFamily="18" charset="0"/>
              </a:rPr>
              <a:t>ợc </a:t>
            </a:r>
            <a:r>
              <a:rPr lang="vi-VN" sz="2200" b="1">
                <a:solidFill>
                  <a:srgbClr val="002060"/>
                </a:solidFill>
                <a:latin typeface="Cambria" panose="02040503050406030204" pitchFamily="18" charset="0"/>
              </a:rPr>
              <a:t>đo định tính, thì dụ như: tốt, chấp nhận được, không chấp nhận được hay rất </a:t>
            </a:r>
            <a:r>
              <a:rPr lang="vi-VN" sz="2200" b="1" smtClean="0">
                <a:solidFill>
                  <a:srgbClr val="002060"/>
                </a:solidFill>
                <a:latin typeface="Cambria" panose="02040503050406030204" pitchFamily="18" charset="0"/>
              </a:rPr>
              <a:t>tồi</a:t>
            </a:r>
            <a:endParaRPr lang="en-US" sz="2200" b="1" smtClean="0">
              <a:solidFill>
                <a:srgbClr val="002060"/>
              </a:solidFill>
              <a:latin typeface="Cambria" panose="02040503050406030204" pitchFamily="18" charset="0"/>
            </a:endParaRPr>
          </a:p>
          <a:p>
            <a:pPr marL="581025" indent="-342900" algn="just">
              <a:lnSpc>
                <a:spcPct val="150000"/>
              </a:lnSpc>
              <a:spcBef>
                <a:spcPts val="0"/>
              </a:spcBef>
              <a:spcAft>
                <a:spcPts val="0"/>
              </a:spcAft>
              <a:buFont typeface="Brush Script Std" panose="03060802040607070404" pitchFamily="66" charset="0"/>
              <a:buChar char="-"/>
            </a:pPr>
            <a:r>
              <a:rPr lang="en-US" sz="2200" b="1">
                <a:solidFill>
                  <a:srgbClr val="002060"/>
                </a:solidFill>
                <a:latin typeface="Cambria" panose="02040503050406030204" pitchFamily="18" charset="0"/>
              </a:rPr>
              <a:t>Cảm nhận chất </a:t>
            </a:r>
            <a:r>
              <a:rPr lang="en-US" sz="2200" b="1" smtClean="0">
                <a:solidFill>
                  <a:srgbClr val="002060"/>
                </a:solidFill>
                <a:latin typeface="Cambria" panose="02040503050406030204" pitchFamily="18" charset="0"/>
              </a:rPr>
              <a:t>lượng </a:t>
            </a:r>
            <a:r>
              <a:rPr lang="en-US" sz="2200" b="1">
                <a:solidFill>
                  <a:srgbClr val="002060"/>
                </a:solidFill>
                <a:latin typeface="Cambria" panose="02040503050406030204" pitchFamily="18" charset="0"/>
              </a:rPr>
              <a:t>này còn phụ thuộc vào việc </a:t>
            </a:r>
            <a:r>
              <a:rPr lang="en-US" sz="2200" b="1" smtClean="0">
                <a:solidFill>
                  <a:srgbClr val="002060"/>
                </a:solidFill>
                <a:latin typeface="Cambria" panose="02040503050406030204" pitchFamily="18" charset="0"/>
              </a:rPr>
              <a:t>người </a:t>
            </a:r>
            <a:r>
              <a:rPr lang="en-US" sz="2200" b="1">
                <a:solidFill>
                  <a:srgbClr val="002060"/>
                </a:solidFill>
                <a:latin typeface="Cambria" panose="02040503050406030204" pitchFamily="18" charset="0"/>
              </a:rPr>
              <a:t>sử dụng phải trả bao nhiêu cho dịch vụ và mong đợi của họ</a:t>
            </a:r>
          </a:p>
        </p:txBody>
      </p:sp>
      <p:sp>
        <p:nvSpPr>
          <p:cNvPr id="5" name="Rectangle 4"/>
          <p:cNvSpPr/>
          <p:nvPr/>
        </p:nvSpPr>
        <p:spPr>
          <a:xfrm>
            <a:off x="119858" y="122341"/>
            <a:ext cx="8603228" cy="523220"/>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1.8. Các yêu cầu của hệ thống đa phương tiện</a:t>
            </a:r>
          </a:p>
        </p:txBody>
      </p:sp>
      <p:sp>
        <p:nvSpPr>
          <p:cNvPr id="6" name="Line 16"/>
          <p:cNvSpPr>
            <a:spLocks noChangeShapeType="1"/>
          </p:cNvSpPr>
          <p:nvPr/>
        </p:nvSpPr>
        <p:spPr bwMode="auto">
          <a:xfrm>
            <a:off x="135984" y="74726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48114550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747264"/>
            <a:ext cx="8570976" cy="5678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spcBef>
                <a:spcPts val="0"/>
              </a:spcBef>
              <a:spcAft>
                <a:spcPts val="0"/>
              </a:spcAft>
            </a:pPr>
            <a:r>
              <a:rPr lang="en-US" sz="2200" b="1" smtClean="0">
                <a:solidFill>
                  <a:srgbClr val="002060"/>
                </a:solidFill>
                <a:latin typeface="Cambria" panose="02040503050406030204" pitchFamily="18" charset="0"/>
              </a:rPr>
              <a:t>•  Trên </a:t>
            </a:r>
            <a:r>
              <a:rPr lang="en-US" sz="2200" b="1">
                <a:solidFill>
                  <a:srgbClr val="002060"/>
                </a:solidFill>
                <a:latin typeface="Cambria" panose="02040503050406030204" pitchFamily="18" charset="0"/>
              </a:rPr>
              <a:t>quan điểm của hệ thống:</a:t>
            </a:r>
          </a:p>
          <a:p>
            <a:pPr marL="581025" indent="-342900" algn="just">
              <a:lnSpc>
                <a:spcPct val="150000"/>
              </a:lnSpc>
              <a:spcBef>
                <a:spcPts val="0"/>
              </a:spcBef>
              <a:spcAft>
                <a:spcPts val="0"/>
              </a:spcAft>
              <a:buFont typeface="Brush Script Std" panose="03060802040607070404" pitchFamily="66" charset="0"/>
              <a:buChar char="-"/>
            </a:pPr>
            <a:r>
              <a:rPr lang="vi-VN" sz="2200" b="1" smtClean="0">
                <a:solidFill>
                  <a:srgbClr val="002060"/>
                </a:solidFill>
                <a:latin typeface="Cambria" panose="02040503050406030204" pitchFamily="18" charset="0"/>
              </a:rPr>
              <a:t>Ở </a:t>
            </a:r>
            <a:r>
              <a:rPr lang="vi-VN" sz="2200" b="1">
                <a:solidFill>
                  <a:srgbClr val="002060"/>
                </a:solidFill>
                <a:latin typeface="Cambria" panose="02040503050406030204" pitchFamily="18" charset="0"/>
              </a:rPr>
              <a:t>mức lý tưởng thí hệ thống cần đảm bảo chất lượng </a:t>
            </a:r>
            <a:r>
              <a:rPr lang="vi-VN" sz="2200" b="1" smtClean="0">
                <a:solidFill>
                  <a:srgbClr val="002060"/>
                </a:solidFill>
                <a:latin typeface="Cambria" panose="02040503050406030204" pitchFamily="18" charset="0"/>
              </a:rPr>
              <a:t>tr</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diễ</a:t>
            </a:r>
            <a:r>
              <a:rPr lang="en-US" sz="2200" b="1" smtClean="0">
                <a:solidFill>
                  <a:srgbClr val="002060"/>
                </a:solidFill>
                <a:latin typeface="Cambria" panose="02040503050406030204" pitchFamily="18" charset="0"/>
              </a:rPr>
              <a:t>n í</a:t>
            </a:r>
            <a:r>
              <a:rPr lang="vi-VN" sz="2200" b="1" smtClean="0">
                <a:solidFill>
                  <a:srgbClr val="002060"/>
                </a:solidFill>
                <a:latin typeface="Cambria" panose="02040503050406030204" pitchFamily="18" charset="0"/>
              </a:rPr>
              <a:t>t </a:t>
            </a:r>
            <a:r>
              <a:rPr lang="vi-VN" sz="2200" b="1">
                <a:solidFill>
                  <a:srgbClr val="002060"/>
                </a:solidFill>
                <a:latin typeface="Cambria" panose="02040503050406030204" pitchFamily="18" charset="0"/>
              </a:rPr>
              <a:t>nhất là ở mức chấp nhận </a:t>
            </a:r>
            <a:r>
              <a:rPr lang="vi-VN" sz="2200" b="1" smtClean="0">
                <a:solidFill>
                  <a:srgbClr val="002060"/>
                </a:solidFill>
                <a:latin typeface="Cambria" panose="02040503050406030204" pitchFamily="18" charset="0"/>
              </a:rPr>
              <a:t>được</a:t>
            </a:r>
            <a:endParaRPr lang="en-US" sz="2200" b="1" smtClean="0">
              <a:solidFill>
                <a:srgbClr val="002060"/>
              </a:solidFill>
              <a:latin typeface="Cambria" panose="02040503050406030204" pitchFamily="18" charset="0"/>
            </a:endParaRPr>
          </a:p>
          <a:p>
            <a:pPr marL="581025" indent="-342900" algn="just">
              <a:lnSpc>
                <a:spcPct val="150000"/>
              </a:lnSpc>
              <a:spcBef>
                <a:spcPts val="0"/>
              </a:spcBef>
              <a:spcAft>
                <a:spcPts val="0"/>
              </a:spcAft>
              <a:buFont typeface="Brush Script Std" panose="03060802040607070404" pitchFamily="66" charset="0"/>
              <a:buChar char="-"/>
            </a:pPr>
            <a:r>
              <a:rPr lang="vi-VN" sz="2200" b="1" smtClean="0">
                <a:solidFill>
                  <a:srgbClr val="002060"/>
                </a:solidFill>
                <a:latin typeface="Cambria" panose="02040503050406030204" pitchFamily="18" charset="0"/>
              </a:rPr>
              <a:t>Các </a:t>
            </a:r>
            <a:r>
              <a:rPr lang="vi-VN" sz="2200" b="1">
                <a:solidFill>
                  <a:srgbClr val="002060"/>
                </a:solidFill>
                <a:latin typeface="Cambria" panose="02040503050406030204" pitchFamily="18" charset="0"/>
              </a:rPr>
              <a:t>lớp (tầng) hệ thống khác nhau quản lý các đối tượng dữ liệu khác </a:t>
            </a:r>
            <a:r>
              <a:rPr lang="vi-VN" sz="2200" b="1" smtClean="0">
                <a:solidFill>
                  <a:srgbClr val="002060"/>
                </a:solidFill>
                <a:latin typeface="Cambria" panose="02040503050406030204" pitchFamily="18" charset="0"/>
              </a:rPr>
              <a:t>nhau</a:t>
            </a:r>
            <a:endParaRPr lang="en-US" sz="2200" b="1" smtClean="0">
              <a:solidFill>
                <a:srgbClr val="002060"/>
              </a:solidFill>
              <a:latin typeface="Cambria" panose="02040503050406030204" pitchFamily="18" charset="0"/>
            </a:endParaRPr>
          </a:p>
          <a:p>
            <a:pPr marL="581025" indent="-342900" algn="just">
              <a:lnSpc>
                <a:spcPct val="150000"/>
              </a:lnSpc>
              <a:spcBef>
                <a:spcPts val="0"/>
              </a:spcBef>
              <a:spcAft>
                <a:spcPts val="0"/>
              </a:spcAft>
              <a:buFont typeface="Brush Script Std" panose="03060802040607070404" pitchFamily="66" charset="0"/>
              <a:buChar char="-"/>
            </a:pPr>
            <a:r>
              <a:rPr lang="en-US" sz="2200" b="1" smtClean="0">
                <a:solidFill>
                  <a:srgbClr val="002060"/>
                </a:solidFill>
                <a:latin typeface="Cambria" panose="02040503050406030204" pitchFamily="18" charset="0"/>
              </a:rPr>
              <a:t>Cảm nhận chất lượng này còn phụ thuộc vào việc người sử dụng phải trả bao nhiêu cho dịch vụ và mong đợi của họ</a:t>
            </a:r>
          </a:p>
          <a:p>
            <a:pPr marL="581025" indent="-342900" algn="just">
              <a:lnSpc>
                <a:spcPct val="150000"/>
              </a:lnSpc>
              <a:spcBef>
                <a:spcPts val="0"/>
              </a:spcBef>
              <a:spcAft>
                <a:spcPts val="0"/>
              </a:spcAft>
              <a:buFont typeface="Brush Script Std" panose="03060802040607070404" pitchFamily="66" charset="0"/>
              <a:buChar char="-"/>
            </a:pPr>
            <a:r>
              <a:rPr lang="en-US" sz="2200" b="1" smtClean="0">
                <a:solidFill>
                  <a:srgbClr val="002060"/>
                </a:solidFill>
                <a:latin typeface="Cambria" panose="02040503050406030204" pitchFamily="18" charset="0"/>
              </a:rPr>
              <a:t>C</a:t>
            </a:r>
            <a:r>
              <a:rPr lang="vi-VN" sz="2200" b="1" smtClean="0">
                <a:solidFill>
                  <a:srgbClr val="002060"/>
                </a:solidFill>
                <a:latin typeface="Cambria" panose="02040503050406030204" pitchFamily="18" charset="0"/>
              </a:rPr>
              <a:t>ác </a:t>
            </a:r>
            <a:r>
              <a:rPr lang="vi-VN" sz="2200" b="1">
                <a:solidFill>
                  <a:srgbClr val="002060"/>
                </a:solidFill>
                <a:latin typeface="Cambria" panose="02040503050406030204" pitchFamily="18" charset="0"/>
              </a:rPr>
              <a:t>tham số QoS khác nhau được sử dụng tại các tầng hệ thống khác nhau. </a:t>
            </a:r>
            <a:endParaRPr lang="en-US" sz="2200" b="1" smtClean="0">
              <a:solidFill>
                <a:srgbClr val="002060"/>
              </a:solidFill>
              <a:latin typeface="Cambria" panose="02040503050406030204" pitchFamily="18" charset="0"/>
            </a:endParaRPr>
          </a:p>
          <a:p>
            <a:pPr marL="581025" indent="-342900" algn="just">
              <a:lnSpc>
                <a:spcPct val="150000"/>
              </a:lnSpc>
              <a:spcBef>
                <a:spcPts val="0"/>
              </a:spcBef>
              <a:spcAft>
                <a:spcPts val="0"/>
              </a:spcAft>
              <a:buFont typeface="Brush Script Std" panose="03060802040607070404" pitchFamily="66" charset="0"/>
              <a:buChar char="-"/>
            </a:pPr>
            <a:r>
              <a:rPr lang="vi-VN" sz="2200" b="1" smtClean="0">
                <a:solidFill>
                  <a:srgbClr val="002060"/>
                </a:solidFill>
                <a:latin typeface="Cambria" panose="02040503050406030204" pitchFamily="18" charset="0"/>
              </a:rPr>
              <a:t>Các </a:t>
            </a:r>
            <a:r>
              <a:rPr lang="vi-VN" sz="2200" b="1">
                <a:solidFill>
                  <a:srgbClr val="002060"/>
                </a:solidFill>
                <a:latin typeface="Cambria" panose="02040503050406030204" pitchFamily="18" charset="0"/>
              </a:rPr>
              <a:t>yêu cầu ở tầng cao hơn được ánh xạ tới các yêu cầu của tầng thấp hơn.</a:t>
            </a:r>
            <a:endParaRPr lang="en-US" sz="2200" b="1">
              <a:solidFill>
                <a:srgbClr val="002060"/>
              </a:solidFill>
              <a:latin typeface="Cambria" panose="02040503050406030204" pitchFamily="18" charset="0"/>
            </a:endParaRPr>
          </a:p>
        </p:txBody>
      </p:sp>
      <p:sp>
        <p:nvSpPr>
          <p:cNvPr id="5" name="Rectangle 4"/>
          <p:cNvSpPr/>
          <p:nvPr/>
        </p:nvSpPr>
        <p:spPr>
          <a:xfrm>
            <a:off x="119858" y="122341"/>
            <a:ext cx="8603228" cy="523220"/>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1.8. Các yêu cầu của hệ thống đa phương tiện</a:t>
            </a:r>
          </a:p>
        </p:txBody>
      </p:sp>
      <p:sp>
        <p:nvSpPr>
          <p:cNvPr id="6" name="Line 16"/>
          <p:cNvSpPr>
            <a:spLocks noChangeShapeType="1"/>
          </p:cNvSpPr>
          <p:nvPr/>
        </p:nvSpPr>
        <p:spPr bwMode="auto">
          <a:xfrm>
            <a:off x="135984" y="74726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82598945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747264"/>
            <a:ext cx="8570976"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spcBef>
                <a:spcPts val="0"/>
              </a:spcBef>
              <a:spcAft>
                <a:spcPts val="0"/>
              </a:spcAft>
            </a:pP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Hệ </a:t>
            </a:r>
            <a:r>
              <a:rPr lang="vi-VN" sz="2200" b="1">
                <a:solidFill>
                  <a:srgbClr val="002060"/>
                </a:solidFill>
                <a:latin typeface="Cambria" panose="02040503050406030204" pitchFamily="18" charset="0"/>
              </a:rPr>
              <a:t>thống phải phiên dịch các yêu cầu của người sử dụng thành các thông số đặc trưng như</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581025" indent="-342900" algn="just">
              <a:lnSpc>
                <a:spcPct val="150000"/>
              </a:lnSpc>
              <a:spcBef>
                <a:spcPts val="0"/>
              </a:spcBef>
              <a:spcAft>
                <a:spcPts val="0"/>
              </a:spcAft>
              <a:buFont typeface="Brush Script Std" panose="03060802040607070404" pitchFamily="66" charset="0"/>
              <a:buChar char="-"/>
            </a:pPr>
            <a:r>
              <a:rPr lang="vi-VN" sz="2200" b="1" smtClean="0">
                <a:solidFill>
                  <a:srgbClr val="002060"/>
                </a:solidFill>
                <a:latin typeface="Cambria" panose="02040503050406030204" pitchFamily="18" charset="0"/>
              </a:rPr>
              <a:t>K</a:t>
            </a:r>
            <a:r>
              <a:rPr lang="en-US" sz="2200" b="1">
                <a:solidFill>
                  <a:srgbClr val="002060"/>
                </a:solidFill>
                <a:latin typeface="Cambria" panose="02040503050406030204" pitchFamily="18" charset="0"/>
              </a:rPr>
              <a:t>í</a:t>
            </a:r>
            <a:r>
              <a:rPr lang="vi-VN" sz="2200" b="1" smtClean="0">
                <a:solidFill>
                  <a:srgbClr val="002060"/>
                </a:solidFill>
                <a:latin typeface="Cambria" panose="02040503050406030204" pitchFamily="18" charset="0"/>
              </a:rPr>
              <a:t>ch </a:t>
            </a:r>
            <a:r>
              <a:rPr lang="vi-VN" sz="2200" b="1">
                <a:solidFill>
                  <a:srgbClr val="002060"/>
                </a:solidFill>
                <a:latin typeface="Cambria" panose="02040503050406030204" pitchFamily="18" charset="0"/>
              </a:rPr>
              <a:t>thước một đơn vị dữ liệu: </a:t>
            </a:r>
            <a:r>
              <a:rPr lang="vi-VN" sz="2200" b="1" smtClean="0">
                <a:solidFill>
                  <a:srgbClr val="002060"/>
                </a:solidFill>
                <a:latin typeface="Cambria" panose="02040503050406030204" pitchFamily="18" charset="0"/>
              </a:rPr>
              <a:t>H</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ảnh</a:t>
            </a:r>
            <a:r>
              <a:rPr lang="vi-VN" sz="2200" b="1">
                <a:solidFill>
                  <a:srgbClr val="002060"/>
                </a:solidFill>
                <a:latin typeface="Cambria" panose="02040503050406030204" pitchFamily="18" charset="0"/>
              </a:rPr>
              <a:t>, mẫu âm thanh, số mẫu</a:t>
            </a:r>
          </a:p>
          <a:p>
            <a:pPr marL="581025" indent="-342900" algn="just">
              <a:lnSpc>
                <a:spcPct val="150000"/>
              </a:lnSpc>
              <a:spcBef>
                <a:spcPts val="0"/>
              </a:spcBef>
              <a:spcAft>
                <a:spcPts val="0"/>
              </a:spcAft>
              <a:buFont typeface="Brush Script Std" panose="03060802040607070404" pitchFamily="66" charset="0"/>
              <a:buChar char="-"/>
            </a:pPr>
            <a:r>
              <a:rPr lang="vi-VN" sz="2200" b="1" smtClean="0">
                <a:solidFill>
                  <a:srgbClr val="002060"/>
                </a:solidFill>
                <a:latin typeface="Cambria" panose="02040503050406030204" pitchFamily="18" charset="0"/>
              </a:rPr>
              <a:t>Tần </a:t>
            </a:r>
            <a:r>
              <a:rPr lang="vi-VN" sz="2200" b="1">
                <a:solidFill>
                  <a:srgbClr val="002060"/>
                </a:solidFill>
                <a:latin typeface="Cambria" panose="02040503050406030204" pitchFamily="18" charset="0"/>
              </a:rPr>
              <a:t>số: </a:t>
            </a:r>
            <a:r>
              <a:rPr lang="vi-VN" sz="2200" b="1" smtClean="0">
                <a:solidFill>
                  <a:srgbClr val="002060"/>
                </a:solidFill>
                <a:latin typeface="Cambria" panose="02040503050406030204" pitchFamily="18" charset="0"/>
              </a:rPr>
              <a:t>Số</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đơn vị/</a:t>
            </a:r>
            <a:r>
              <a:rPr lang="en-US" sz="2200" b="1" smtClean="0">
                <a:solidFill>
                  <a:srgbClr val="002060"/>
                </a:solidFill>
                <a:latin typeface="Cambria" panose="02040503050406030204" pitchFamily="18" charset="0"/>
              </a:rPr>
              <a:t>s</a:t>
            </a:r>
          </a:p>
          <a:p>
            <a:pPr marL="581025" indent="-342900" algn="just">
              <a:lnSpc>
                <a:spcPct val="150000"/>
              </a:lnSpc>
              <a:spcBef>
                <a:spcPts val="0"/>
              </a:spcBef>
              <a:spcAft>
                <a:spcPts val="0"/>
              </a:spcAft>
              <a:buFont typeface="Brush Script Std" panose="03060802040607070404" pitchFamily="66" charset="0"/>
              <a:buChar char="-"/>
            </a:pPr>
            <a:r>
              <a:rPr lang="vi-VN" sz="2200" b="1" smtClean="0">
                <a:solidFill>
                  <a:srgbClr val="002060"/>
                </a:solidFill>
                <a:latin typeface="Cambria" panose="02040503050406030204" pitchFamily="18" charset="0"/>
              </a:rPr>
              <a:t>Delay</a:t>
            </a:r>
            <a:r>
              <a:rPr lang="vi-VN" sz="2200" b="1">
                <a:solidFill>
                  <a:srgbClr val="002060"/>
                </a:solidFill>
                <a:latin typeface="Cambria" panose="02040503050406030204" pitchFamily="18" charset="0"/>
              </a:rPr>
              <a:t>: thời gian truyền trung </a:t>
            </a:r>
            <a:r>
              <a:rPr lang="vi-VN" sz="2200" b="1" smtClean="0">
                <a:solidFill>
                  <a:srgbClr val="002060"/>
                </a:solidFill>
                <a:latin typeface="Cambria" panose="02040503050406030204" pitchFamily="18" charset="0"/>
              </a:rPr>
              <a:t>b</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một gói </a:t>
            </a:r>
            <a:r>
              <a:rPr lang="vi-VN" sz="2200" b="1" smtClean="0">
                <a:solidFill>
                  <a:srgbClr val="002060"/>
                </a:solidFill>
                <a:latin typeface="Cambria" panose="02040503050406030204" pitchFamily="18" charset="0"/>
              </a:rPr>
              <a:t>tin</a:t>
            </a:r>
            <a:endParaRPr lang="en-US" sz="2200" b="1" smtClean="0">
              <a:solidFill>
                <a:srgbClr val="002060"/>
              </a:solidFill>
              <a:latin typeface="Cambria" panose="02040503050406030204" pitchFamily="18" charset="0"/>
            </a:endParaRPr>
          </a:p>
          <a:p>
            <a:pPr marL="581025" indent="-342900" algn="just">
              <a:lnSpc>
                <a:spcPct val="150000"/>
              </a:lnSpc>
              <a:spcBef>
                <a:spcPts val="0"/>
              </a:spcBef>
              <a:spcAft>
                <a:spcPts val="0"/>
              </a:spcAft>
              <a:buFont typeface="Brush Script Std" panose="03060802040607070404" pitchFamily="66" charset="0"/>
              <a:buChar char="-"/>
            </a:pPr>
            <a:r>
              <a:rPr lang="vi-VN" sz="2200" b="1" smtClean="0">
                <a:solidFill>
                  <a:srgbClr val="002060"/>
                </a:solidFill>
                <a:latin typeface="Cambria" panose="02040503050406030204" pitchFamily="18" charset="0"/>
              </a:rPr>
              <a:t>Độ </a:t>
            </a:r>
            <a:r>
              <a:rPr lang="vi-VN" sz="2200" b="1">
                <a:solidFill>
                  <a:srgbClr val="002060"/>
                </a:solidFill>
                <a:latin typeface="Cambria" panose="02040503050406030204" pitchFamily="18" charset="0"/>
              </a:rPr>
              <a:t>nhấp nháp (jitter) Dao động cho phép của Delay</a:t>
            </a:r>
          </a:p>
          <a:p>
            <a:pPr marL="581025" indent="-342900" algn="just">
              <a:lnSpc>
                <a:spcPct val="150000"/>
              </a:lnSpc>
              <a:spcBef>
                <a:spcPts val="0"/>
              </a:spcBef>
              <a:spcAft>
                <a:spcPts val="0"/>
              </a:spcAft>
              <a:buFont typeface="Brush Script Std" panose="03060802040607070404" pitchFamily="66" charset="0"/>
              <a:buChar char="-"/>
            </a:pPr>
            <a:r>
              <a:rPr lang="vi-VN" sz="2200" b="1" smtClean="0">
                <a:solidFill>
                  <a:srgbClr val="002060"/>
                </a:solidFill>
                <a:latin typeface="Cambria" panose="02040503050406030204" pitchFamily="18" charset="0"/>
              </a:rPr>
              <a:t>Mức </a:t>
            </a:r>
            <a:r>
              <a:rPr lang="vi-VN" sz="2200" b="1">
                <a:solidFill>
                  <a:srgbClr val="002060"/>
                </a:solidFill>
                <a:latin typeface="Cambria" panose="02040503050406030204" pitchFamily="18" charset="0"/>
              </a:rPr>
              <a:t>độ đảm bảo: cam kết tôn trọng QoS của hệ thống trong session</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581025" indent="-342900" algn="just">
              <a:lnSpc>
                <a:spcPct val="150000"/>
              </a:lnSpc>
              <a:spcBef>
                <a:spcPts val="0"/>
              </a:spcBef>
              <a:spcAft>
                <a:spcPts val="0"/>
              </a:spcAft>
              <a:buFont typeface="Brush Script Std" panose="03060802040607070404" pitchFamily="66" charset="0"/>
              <a:buChar char="-"/>
            </a:pPr>
            <a:r>
              <a:rPr lang="vi-VN" sz="2200" b="1" smtClean="0">
                <a:solidFill>
                  <a:srgbClr val="002060"/>
                </a:solidFill>
                <a:latin typeface="Cambria" panose="02040503050406030204" pitchFamily="18" charset="0"/>
              </a:rPr>
              <a:t>Đồng </a:t>
            </a:r>
            <a:r>
              <a:rPr lang="vi-VN" sz="2200" b="1">
                <a:solidFill>
                  <a:srgbClr val="002060"/>
                </a:solidFill>
                <a:latin typeface="Cambria" panose="02040503050406030204" pitchFamily="18" charset="0"/>
              </a:rPr>
              <a:t>bộ</a:t>
            </a:r>
            <a:r>
              <a:rPr lang="vi-VN" sz="2200" b="1" smtClean="0">
                <a:solidFill>
                  <a:srgbClr val="002060"/>
                </a:solidFill>
                <a:latin typeface="Cambria" panose="02040503050406030204" pitchFamily="18" charset="0"/>
              </a:rPr>
              <a:t>:</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độ </a:t>
            </a:r>
            <a:r>
              <a:rPr lang="vi-VN" sz="2200" b="1">
                <a:solidFill>
                  <a:srgbClr val="002060"/>
                </a:solidFill>
                <a:latin typeface="Cambria" panose="02040503050406030204" pitchFamily="18" charset="0"/>
              </a:rPr>
              <a:t>chênh lệch thời gian chấp nhận được giữa 2 biến cố cần đồng bộ</a:t>
            </a:r>
          </a:p>
          <a:p>
            <a:pPr marL="581025" indent="-342900" algn="just">
              <a:lnSpc>
                <a:spcPct val="150000"/>
              </a:lnSpc>
              <a:spcBef>
                <a:spcPts val="0"/>
              </a:spcBef>
              <a:spcAft>
                <a:spcPts val="0"/>
              </a:spcAft>
              <a:buFont typeface="Brush Script Std" panose="03060802040607070404" pitchFamily="66" charset="0"/>
              <a:buChar char="-"/>
            </a:pPr>
            <a:endParaRPr lang="vi-VN" sz="2200" b="1">
              <a:solidFill>
                <a:srgbClr val="002060"/>
              </a:solidFill>
              <a:latin typeface="Cambria" panose="02040503050406030204" pitchFamily="18" charset="0"/>
            </a:endParaRPr>
          </a:p>
        </p:txBody>
      </p:sp>
      <p:sp>
        <p:nvSpPr>
          <p:cNvPr id="5" name="Rectangle 4"/>
          <p:cNvSpPr/>
          <p:nvPr/>
        </p:nvSpPr>
        <p:spPr>
          <a:xfrm>
            <a:off x="119858" y="122341"/>
            <a:ext cx="8603228" cy="523220"/>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1.8. Các yêu cầu của hệ thống đa phương tiện</a:t>
            </a:r>
          </a:p>
        </p:txBody>
      </p:sp>
      <p:sp>
        <p:nvSpPr>
          <p:cNvPr id="6" name="Line 16"/>
          <p:cNvSpPr>
            <a:spLocks noChangeShapeType="1"/>
          </p:cNvSpPr>
          <p:nvPr/>
        </p:nvSpPr>
        <p:spPr bwMode="auto">
          <a:xfrm>
            <a:off x="135984" y="74726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51534020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747264"/>
            <a:ext cx="8570976"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spcBef>
                <a:spcPts val="0"/>
              </a:spcBef>
              <a:spcAft>
                <a:spcPts val="0"/>
              </a:spcAft>
            </a:pPr>
            <a:r>
              <a:rPr lang="en-US" sz="2200" b="1" smtClean="0">
                <a:solidFill>
                  <a:srgbClr val="002060"/>
                </a:solidFill>
                <a:latin typeface="Cambria" panose="02040503050406030204" pitchFamily="18" charset="0"/>
              </a:rPr>
              <a:t>1.8.3.  Thiết </a:t>
            </a:r>
            <a:r>
              <a:rPr lang="en-US" sz="2200" b="1">
                <a:solidFill>
                  <a:srgbClr val="002060"/>
                </a:solidFill>
                <a:latin typeface="Cambria" panose="02040503050406030204" pitchFamily="18" charset="0"/>
              </a:rPr>
              <a:t>bị </a:t>
            </a:r>
            <a:r>
              <a:rPr lang="en-US" sz="2200" b="1" smtClean="0">
                <a:solidFill>
                  <a:srgbClr val="002060"/>
                </a:solidFill>
                <a:latin typeface="Cambria" panose="02040503050406030204" pitchFamily="18" charset="0"/>
              </a:rPr>
              <a:t>lưu </a:t>
            </a:r>
            <a:r>
              <a:rPr lang="en-US" sz="2200" b="1">
                <a:solidFill>
                  <a:srgbClr val="002060"/>
                </a:solidFill>
                <a:latin typeface="Cambria" panose="02040503050406030204" pitchFamily="18" charset="0"/>
              </a:rPr>
              <a:t>trữ và quản lý dữ liệu </a:t>
            </a:r>
            <a:r>
              <a:rPr lang="en-US" sz="2200" b="1" smtClean="0">
                <a:solidFill>
                  <a:srgbClr val="002060"/>
                </a:solidFill>
                <a:latin typeface="Cambria" panose="02040503050406030204" pitchFamily="18" charset="0"/>
              </a:rPr>
              <a:t>multimedia</a:t>
            </a:r>
          </a:p>
          <a:p>
            <a:pPr algn="just">
              <a:lnSpc>
                <a:spcPct val="150000"/>
              </a:lnSpc>
              <a:spcBef>
                <a:spcPts val="0"/>
              </a:spcBef>
              <a:spcAft>
                <a:spcPts val="0"/>
              </a:spcAft>
            </a:pP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Các </a:t>
            </a:r>
            <a:r>
              <a:rPr lang="vi-VN" sz="2200" b="1">
                <a:solidFill>
                  <a:srgbClr val="002060"/>
                </a:solidFill>
                <a:latin typeface="Cambria" panose="02040503050406030204" pitchFamily="18" charset="0"/>
              </a:rPr>
              <a:t>yêu cầu máy chủ lưu trữ</a:t>
            </a:r>
            <a:r>
              <a:rPr lang="en-US" sz="2200" b="1" smtClean="0">
                <a:solidFill>
                  <a:srgbClr val="002060"/>
                </a:solidFill>
                <a:latin typeface="Cambria" panose="02040503050406030204" pitchFamily="18" charset="0"/>
              </a:rPr>
              <a:t>:</a:t>
            </a:r>
          </a:p>
          <a:p>
            <a:pPr marL="581025" indent="-342900" algn="just">
              <a:lnSpc>
                <a:spcPct val="150000"/>
              </a:lnSpc>
              <a:spcBef>
                <a:spcPts val="0"/>
              </a:spcBef>
              <a:spcAft>
                <a:spcPts val="0"/>
              </a:spcAft>
              <a:buFont typeface="Brush Script Std" panose="03060802040607070404" pitchFamily="66" charset="0"/>
              <a:buChar char="-"/>
            </a:pPr>
            <a:r>
              <a:rPr lang="en-US" sz="2200" b="1" smtClean="0">
                <a:solidFill>
                  <a:srgbClr val="002060"/>
                </a:solidFill>
                <a:latin typeface="Cambria" panose="02040503050406030204" pitchFamily="18" charset="0"/>
              </a:rPr>
              <a:t>D</a:t>
            </a:r>
            <a:r>
              <a:rPr lang="vi-VN" sz="2200" b="1" smtClean="0">
                <a:solidFill>
                  <a:srgbClr val="002060"/>
                </a:solidFill>
                <a:latin typeface="Cambria" panose="02040503050406030204" pitchFamily="18" charset="0"/>
              </a:rPr>
              <a:t>ung </a:t>
            </a:r>
            <a:r>
              <a:rPr lang="vi-VN" sz="2200" b="1">
                <a:solidFill>
                  <a:srgbClr val="002060"/>
                </a:solidFill>
                <a:latin typeface="Cambria" panose="02040503050406030204" pitchFamily="18" charset="0"/>
              </a:rPr>
              <a:t>lượng lưu trữ và tốc độ truyền phải </a:t>
            </a:r>
            <a:r>
              <a:rPr lang="vi-VN" sz="2200" b="1" smtClean="0">
                <a:solidFill>
                  <a:srgbClr val="002060"/>
                </a:solidFill>
                <a:latin typeface="Cambria" panose="02040503050406030204" pitchFamily="18" charset="0"/>
              </a:rPr>
              <a:t>đủ </a:t>
            </a:r>
            <a:r>
              <a:rPr lang="vi-VN" sz="2200" b="1">
                <a:solidFill>
                  <a:srgbClr val="002060"/>
                </a:solidFill>
                <a:latin typeface="Cambria" panose="02040503050406030204" pitchFamily="18" charset="0"/>
              </a:rPr>
              <a:t>để hỗ trợ nhiều máy đồng thời để tạo nên hệ thống một cách tinh </a:t>
            </a:r>
            <a:r>
              <a:rPr lang="vi-VN" sz="2200" b="1" smtClean="0">
                <a:solidFill>
                  <a:srgbClr val="002060"/>
                </a:solidFill>
                <a:latin typeface="Cambria" panose="02040503050406030204" pitchFamily="18" charset="0"/>
              </a:rPr>
              <a:t>tế</a:t>
            </a:r>
            <a:endParaRPr lang="en-US" sz="2200" b="1" smtClean="0">
              <a:solidFill>
                <a:srgbClr val="002060"/>
              </a:solidFill>
              <a:latin typeface="Cambria" panose="02040503050406030204" pitchFamily="18" charset="0"/>
            </a:endParaRPr>
          </a:p>
          <a:p>
            <a:pPr marL="581025" indent="-342900" algn="just">
              <a:lnSpc>
                <a:spcPct val="150000"/>
              </a:lnSpc>
              <a:spcBef>
                <a:spcPts val="0"/>
              </a:spcBef>
              <a:spcAft>
                <a:spcPts val="0"/>
              </a:spcAft>
              <a:buFont typeface="Brush Script Std" panose="03060802040607070404" pitchFamily="66" charset="0"/>
              <a:buChar char="-"/>
            </a:pPr>
            <a:r>
              <a:rPr lang="en-US" sz="2200" b="1" smtClean="0">
                <a:solidFill>
                  <a:srgbClr val="002060"/>
                </a:solidFill>
                <a:latin typeface="Cambria" panose="02040503050406030204" pitchFamily="18" charset="0"/>
              </a:rPr>
              <a:t>M</a:t>
            </a:r>
            <a:r>
              <a:rPr lang="vi-VN" sz="2200" b="1" smtClean="0">
                <a:solidFill>
                  <a:srgbClr val="002060"/>
                </a:solidFill>
                <a:latin typeface="Cambria" panose="02040503050406030204" pitchFamily="18" charset="0"/>
              </a:rPr>
              <a:t>áy </a:t>
            </a:r>
            <a:r>
              <a:rPr lang="vi-VN" sz="2200" b="1">
                <a:solidFill>
                  <a:srgbClr val="002060"/>
                </a:solidFill>
                <a:latin typeface="Cambria" panose="02040503050406030204" pitchFamily="18" charset="0"/>
              </a:rPr>
              <a:t>chủ đa phương tiện cần phải cung cấp bảo đảm QoS cho dòng dữ liệu mà máy khách đòi </a:t>
            </a:r>
            <a:r>
              <a:rPr lang="vi-VN" sz="2200" b="1" smtClean="0">
                <a:solidFill>
                  <a:srgbClr val="002060"/>
                </a:solidFill>
                <a:latin typeface="Cambria" panose="02040503050406030204" pitchFamily="18" charset="0"/>
              </a:rPr>
              <a:t>hỏi</a:t>
            </a:r>
            <a:endParaRPr lang="en-US" sz="2200" b="1" smtClean="0">
              <a:solidFill>
                <a:srgbClr val="002060"/>
              </a:solidFill>
              <a:latin typeface="Cambria" panose="02040503050406030204" pitchFamily="18" charset="0"/>
            </a:endParaRPr>
          </a:p>
          <a:p>
            <a:pPr marL="581025" indent="-342900" algn="just">
              <a:lnSpc>
                <a:spcPct val="150000"/>
              </a:lnSpc>
              <a:spcBef>
                <a:spcPts val="0"/>
              </a:spcBef>
              <a:spcAft>
                <a:spcPts val="0"/>
              </a:spcAft>
              <a:buFont typeface="Brush Script Std" panose="03060802040607070404" pitchFamily="66" charset="0"/>
              <a:buChar char="-"/>
            </a:pPr>
            <a:r>
              <a:rPr lang="en-US" sz="2200" b="1">
                <a:solidFill>
                  <a:srgbClr val="002060"/>
                </a:solidFill>
                <a:latin typeface="Cambria" panose="02040503050406030204" pitchFamily="18" charset="0"/>
              </a:rPr>
              <a:t>K</a:t>
            </a:r>
            <a:r>
              <a:rPr lang="vi-VN" sz="2200" b="1" smtClean="0">
                <a:solidFill>
                  <a:srgbClr val="002060"/>
                </a:solidFill>
                <a:latin typeface="Cambria" panose="02040503050406030204" pitchFamily="18" charset="0"/>
              </a:rPr>
              <a:t>iến </a:t>
            </a:r>
            <a:r>
              <a:rPr lang="vi-VN" sz="2200" b="1">
                <a:solidFill>
                  <a:srgbClr val="002060"/>
                </a:solidFill>
                <a:latin typeface="Cambria" panose="02040503050406030204" pitchFamily="18" charset="0"/>
              </a:rPr>
              <a:t>trúc và kỹ thuật sử dụng trong máy chủ phải là scalable để có khả năng hỗ trợ số lượng lớn người sử </a:t>
            </a:r>
            <a:r>
              <a:rPr lang="vi-VN" sz="2200" b="1" smtClean="0">
                <a:solidFill>
                  <a:srgbClr val="002060"/>
                </a:solidFill>
                <a:latin typeface="Cambria" panose="02040503050406030204" pitchFamily="18" charset="0"/>
              </a:rPr>
              <a:t>dụng</a:t>
            </a:r>
            <a:endParaRPr lang="en-US" sz="2200" b="1" smtClean="0">
              <a:solidFill>
                <a:srgbClr val="002060"/>
              </a:solidFill>
              <a:latin typeface="Cambria" panose="02040503050406030204" pitchFamily="18" charset="0"/>
            </a:endParaRPr>
          </a:p>
          <a:p>
            <a:pPr marL="581025" indent="-342900" algn="just">
              <a:lnSpc>
                <a:spcPct val="150000"/>
              </a:lnSpc>
              <a:spcBef>
                <a:spcPts val="0"/>
              </a:spcBef>
              <a:spcAft>
                <a:spcPts val="0"/>
              </a:spcAft>
              <a:buFont typeface="Brush Script Std" panose="03060802040607070404" pitchFamily="66" charset="0"/>
              <a:buChar char="-"/>
            </a:pPr>
            <a:r>
              <a:rPr lang="en-US" sz="2200" b="1" smtClean="0">
                <a:solidFill>
                  <a:srgbClr val="002060"/>
                </a:solidFill>
                <a:latin typeface="Cambria" panose="02040503050406030204" pitchFamily="18" charset="0"/>
              </a:rPr>
              <a:t>N</a:t>
            </a:r>
            <a:r>
              <a:rPr lang="vi-VN" sz="2200" b="1" smtClean="0">
                <a:solidFill>
                  <a:srgbClr val="002060"/>
                </a:solidFill>
                <a:latin typeface="Cambria" panose="02040503050406030204" pitchFamily="18" charset="0"/>
              </a:rPr>
              <a:t>hiều </a:t>
            </a:r>
            <a:r>
              <a:rPr lang="vi-VN" sz="2200" b="1">
                <a:solidFill>
                  <a:srgbClr val="002060"/>
                </a:solidFill>
                <a:latin typeface="Cambria" panose="02040503050406030204" pitchFamily="18" charset="0"/>
              </a:rPr>
              <a:t>ứng dụng đa phương tiện yêu cầu tương tác với người sử dụng, do vậy máy chủ phải có khả năng hỗ trợ tương tác khác nhau với người sử dụng như Pause, Fast forward và rewind.</a:t>
            </a:r>
            <a:endParaRPr lang="en-US" sz="2200" b="1">
              <a:solidFill>
                <a:srgbClr val="002060"/>
              </a:solidFill>
              <a:latin typeface="Cambria" panose="02040503050406030204" pitchFamily="18" charset="0"/>
            </a:endParaRPr>
          </a:p>
        </p:txBody>
      </p:sp>
      <p:sp>
        <p:nvSpPr>
          <p:cNvPr id="5" name="Rectangle 4"/>
          <p:cNvSpPr/>
          <p:nvPr/>
        </p:nvSpPr>
        <p:spPr>
          <a:xfrm>
            <a:off x="119858" y="122341"/>
            <a:ext cx="8603228" cy="523220"/>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1.8. Các yêu cầu của hệ thống đa phương tiện</a:t>
            </a:r>
          </a:p>
        </p:txBody>
      </p:sp>
      <p:sp>
        <p:nvSpPr>
          <p:cNvPr id="6" name="Line 16"/>
          <p:cNvSpPr>
            <a:spLocks noChangeShapeType="1"/>
          </p:cNvSpPr>
          <p:nvPr/>
        </p:nvSpPr>
        <p:spPr bwMode="auto">
          <a:xfrm>
            <a:off x="135984" y="74726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62724213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747264"/>
            <a:ext cx="8570976" cy="161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spcBef>
                <a:spcPts val="0"/>
              </a:spcBef>
              <a:spcAft>
                <a:spcPts val="0"/>
              </a:spcAft>
            </a:pPr>
            <a:r>
              <a:rPr lang="en-US" sz="2200" b="1" smtClean="0">
                <a:solidFill>
                  <a:srgbClr val="002060"/>
                </a:solidFill>
                <a:latin typeface="Cambria" panose="02040503050406030204" pitchFamily="18" charset="0"/>
              </a:rPr>
              <a:t>1.8.3.  Thiết </a:t>
            </a:r>
            <a:r>
              <a:rPr lang="en-US" sz="2200" b="1">
                <a:solidFill>
                  <a:srgbClr val="002060"/>
                </a:solidFill>
                <a:latin typeface="Cambria" panose="02040503050406030204" pitchFamily="18" charset="0"/>
              </a:rPr>
              <a:t>bị </a:t>
            </a:r>
            <a:r>
              <a:rPr lang="en-US" sz="2200" b="1" smtClean="0">
                <a:solidFill>
                  <a:srgbClr val="002060"/>
                </a:solidFill>
                <a:latin typeface="Cambria" panose="02040503050406030204" pitchFamily="18" charset="0"/>
              </a:rPr>
              <a:t>lưu </a:t>
            </a:r>
            <a:r>
              <a:rPr lang="en-US" sz="2200" b="1">
                <a:solidFill>
                  <a:srgbClr val="002060"/>
                </a:solidFill>
                <a:latin typeface="Cambria" panose="02040503050406030204" pitchFamily="18" charset="0"/>
              </a:rPr>
              <a:t>trữ và quản lý dữ liệu </a:t>
            </a:r>
            <a:r>
              <a:rPr lang="en-US" sz="2200" b="1" smtClean="0">
                <a:solidFill>
                  <a:srgbClr val="002060"/>
                </a:solidFill>
                <a:latin typeface="Cambria" panose="02040503050406030204" pitchFamily="18" charset="0"/>
              </a:rPr>
              <a:t>multimedia</a:t>
            </a:r>
          </a:p>
          <a:p>
            <a:pPr algn="just">
              <a:lnSpc>
                <a:spcPct val="150000"/>
              </a:lnSpc>
              <a:spcBef>
                <a:spcPts val="0"/>
              </a:spcBef>
              <a:spcAft>
                <a:spcPts val="0"/>
              </a:spcAft>
            </a:pPr>
            <a:r>
              <a:rPr lang="en-US"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Các thiết bị lưu trữ</a:t>
            </a:r>
            <a:r>
              <a:rPr lang="en-US" sz="2200" b="1" smtClean="0">
                <a:solidFill>
                  <a:srgbClr val="002060"/>
                </a:solidFill>
                <a:latin typeface="Cambria" panose="02040503050406030204" pitchFamily="18" charset="0"/>
              </a:rPr>
              <a:t>:</a:t>
            </a:r>
          </a:p>
          <a:p>
            <a:pPr marL="581025" indent="-342900" algn="just">
              <a:lnSpc>
                <a:spcPct val="150000"/>
              </a:lnSpc>
              <a:spcBef>
                <a:spcPts val="0"/>
              </a:spcBef>
              <a:spcAft>
                <a:spcPts val="0"/>
              </a:spcAft>
              <a:buFont typeface="Brush Script Std" panose="03060802040607070404" pitchFamily="66" charset="0"/>
              <a:buChar char="-"/>
            </a:pPr>
            <a:r>
              <a:rPr lang="vi-VN" sz="2200" b="1">
                <a:solidFill>
                  <a:srgbClr val="002060"/>
                </a:solidFill>
                <a:latin typeface="Cambria" panose="02040503050406030204" pitchFamily="18" charset="0"/>
              </a:rPr>
              <a:t>Yêu cầu về dung lượng lưu trữ và băng thông truyền dữ liệu.</a:t>
            </a:r>
            <a:endParaRPr lang="en-US" sz="2200" b="1">
              <a:solidFill>
                <a:srgbClr val="002060"/>
              </a:solidFill>
              <a:latin typeface="Cambria" panose="02040503050406030204" pitchFamily="18" charset="0"/>
            </a:endParaRPr>
          </a:p>
        </p:txBody>
      </p:sp>
      <p:sp>
        <p:nvSpPr>
          <p:cNvPr id="5" name="Rectangle 4"/>
          <p:cNvSpPr/>
          <p:nvPr/>
        </p:nvSpPr>
        <p:spPr>
          <a:xfrm>
            <a:off x="119858" y="122341"/>
            <a:ext cx="8603228" cy="523220"/>
          </a:xfrm>
          <a:prstGeom prst="rect">
            <a:avLst/>
          </a:prstGeom>
          <a:noFill/>
        </p:spPr>
        <p:txBody>
          <a:bodyPr wrap="square" lIns="91440" tIns="45720" rIns="91440" bIns="45720">
            <a:spAutoFit/>
          </a:bodyPr>
          <a:lstStyle/>
          <a:p>
            <a:r>
              <a:rPr lang="vi-VN" sz="2800" b="1">
                <a:solidFill>
                  <a:srgbClr val="002060"/>
                </a:solidFill>
                <a:latin typeface="Cambria" panose="02040503050406030204" pitchFamily="18" charset="0"/>
              </a:rPr>
              <a:t>1.8. Các yêu cầu của hệ thống đa phương tiện</a:t>
            </a:r>
          </a:p>
        </p:txBody>
      </p:sp>
      <p:sp>
        <p:nvSpPr>
          <p:cNvPr id="6" name="Line 16"/>
          <p:cNvSpPr>
            <a:spLocks noChangeShapeType="1"/>
          </p:cNvSpPr>
          <p:nvPr/>
        </p:nvSpPr>
        <p:spPr bwMode="auto">
          <a:xfrm>
            <a:off x="135984" y="747264"/>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65191344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1.0&quot;&gt;&lt;object type=&quot;1&quot; unique_id=&quot;10001&quot;&gt;&lt;object type=&quot;2&quot; unique_id=&quot;10002&quot;&gt;&lt;object type=&quot;3&quot; unique_id=&quot;12340&quot;&gt;&lt;property id=&quot;20148&quot; value=&quot;5&quot;/&gt;&lt;property id=&quot;20300&quot; value=&quot;Slide 1&quot;/&gt;&lt;property id=&quot;20307&quot; value=&quot;257&quot;/&gt;&lt;/object&gt;&lt;object type=&quot;3&quot; unique_id=&quot;12341&quot;&gt;&lt;property id=&quot;20148&quot; value=&quot;5&quot;/&gt;&lt;property id=&quot;20300&quot; value=&quot;Slide 2&quot;/&gt;&lt;property id=&quot;20307&quot; value=&quot;269&quot;/&gt;&lt;/object&gt;&lt;object type=&quot;3&quot; unique_id=&quot;12342&quot;&gt;&lt;property id=&quot;20148&quot; value=&quot;5&quot;/&gt;&lt;property id=&quot;20300&quot; value=&quot;Slide 3&quot;/&gt;&lt;property id=&quot;20307&quot; value=&quot;270&quot;/&gt;&lt;/object&gt;&lt;object type=&quot;3&quot; unique_id=&quot;12343&quot;&gt;&lt;property id=&quot;20148&quot; value=&quot;5&quot;/&gt;&lt;property id=&quot;20300&quot; value=&quot;Slide 4&quot;/&gt;&lt;property id=&quot;20307&quot; value=&quot;271&quot;/&gt;&lt;/object&gt;&lt;object type=&quot;3&quot; unique_id=&quot;12344&quot;&gt;&lt;property id=&quot;20148&quot; value=&quot;5&quot;/&gt;&lt;property id=&quot;20300&quot; value=&quot;Slide 5&quot;/&gt;&lt;property id=&quot;20307&quot; value=&quot;272&quot;/&gt;&lt;/object&gt;&lt;object type=&quot;3&quot; unique_id=&quot;12345&quot;&gt;&lt;property id=&quot;20148&quot; value=&quot;5&quot;/&gt;&lt;property id=&quot;20300&quot; value=&quot;Slide 6&quot;/&gt;&lt;property id=&quot;20307&quot; value=&quot;258&quot;/&gt;&lt;/object&gt;&lt;/object&gt;&lt;object type=&quot;8&quot; unique_id=&quot;10106&quot;&gt;&lt;/object&gt;&lt;/object&gt;&lt;/database&gt;"/>
  <p:tag name="SECTOMILLISECCONVERTED" val="1"/>
</p:tagLst>
</file>

<file path=ppt/theme/theme1.xml><?xml version="1.0" encoding="utf-8"?>
<a:theme xmlns:a="http://schemas.openxmlformats.org/drawingml/2006/main" name="VPBank Slide divid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VP Bank Blank Whi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3696</TotalTime>
  <Words>2586</Words>
  <Application>Microsoft Office PowerPoint</Application>
  <PresentationFormat>On-screen Show (4:3)</PresentationFormat>
  <Paragraphs>281</Paragraphs>
  <Slides>35</Slides>
  <Notes>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35</vt:i4>
      </vt:variant>
    </vt:vector>
  </HeadingPairs>
  <TitlesOfParts>
    <vt:vector size="45" baseType="lpstr">
      <vt:lpstr>MS PGothic</vt:lpstr>
      <vt:lpstr>Arial</vt:lpstr>
      <vt:lpstr>Brush Script Std</vt:lpstr>
      <vt:lpstr>Calibri</vt:lpstr>
      <vt:lpstr>Cambria</vt:lpstr>
      <vt:lpstr>ITCErasVO Demi</vt:lpstr>
      <vt:lpstr>Wingdings</vt:lpstr>
      <vt:lpstr>VPBank Slide divider</vt:lpstr>
      <vt:lpstr>VP Bank Blank White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H2T</dc:creator>
  <cp:lastModifiedBy>capuchino</cp:lastModifiedBy>
  <cp:revision>244</cp:revision>
  <dcterms:created xsi:type="dcterms:W3CDTF">2012-12-19T04:20:44Z</dcterms:created>
  <dcterms:modified xsi:type="dcterms:W3CDTF">2022-03-10T09:33:22Z</dcterms:modified>
</cp:coreProperties>
</file>