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4" r:id="rId2"/>
    <p:sldMasterId id="2147483674" r:id="rId3"/>
  </p:sldMasterIdLst>
  <p:notesMasterIdLst>
    <p:notesMasterId r:id="rId69"/>
  </p:notesMasterIdLst>
  <p:sldIdLst>
    <p:sldId id="259" r:id="rId4"/>
    <p:sldId id="258" r:id="rId5"/>
    <p:sldId id="260" r:id="rId6"/>
    <p:sldId id="261" r:id="rId7"/>
    <p:sldId id="262" r:id="rId8"/>
    <p:sldId id="263" r:id="rId9"/>
    <p:sldId id="264" r:id="rId10"/>
    <p:sldId id="265" r:id="rId11"/>
    <p:sldId id="267" r:id="rId12"/>
    <p:sldId id="266" r:id="rId13"/>
    <p:sldId id="326" r:id="rId14"/>
    <p:sldId id="300" r:id="rId15"/>
    <p:sldId id="270" r:id="rId16"/>
    <p:sldId id="271" r:id="rId17"/>
    <p:sldId id="335" r:id="rId18"/>
    <p:sldId id="334" r:id="rId19"/>
    <p:sldId id="299" r:id="rId20"/>
    <p:sldId id="329" r:id="rId21"/>
    <p:sldId id="333" r:id="rId22"/>
    <p:sldId id="330" r:id="rId23"/>
    <p:sldId id="268" r:id="rId24"/>
    <p:sldId id="307" r:id="rId25"/>
    <p:sldId id="303" r:id="rId26"/>
    <p:sldId id="308" r:id="rId27"/>
    <p:sldId id="309" r:id="rId28"/>
    <p:sldId id="304" r:id="rId29"/>
    <p:sldId id="305" r:id="rId30"/>
    <p:sldId id="288" r:id="rId31"/>
    <p:sldId id="277" r:id="rId32"/>
    <p:sldId id="311" r:id="rId33"/>
    <p:sldId id="336" r:id="rId34"/>
    <p:sldId id="338" r:id="rId35"/>
    <p:sldId id="337" r:id="rId36"/>
    <p:sldId id="312" r:id="rId37"/>
    <p:sldId id="339" r:id="rId38"/>
    <p:sldId id="342" r:id="rId39"/>
    <p:sldId id="346" r:id="rId40"/>
    <p:sldId id="313" r:id="rId41"/>
    <p:sldId id="347" r:id="rId42"/>
    <p:sldId id="348" r:id="rId43"/>
    <p:sldId id="349" r:id="rId44"/>
    <p:sldId id="350" r:id="rId45"/>
    <p:sldId id="343" r:id="rId46"/>
    <p:sldId id="344" r:id="rId47"/>
    <p:sldId id="317" r:id="rId48"/>
    <p:sldId id="318" r:id="rId49"/>
    <p:sldId id="351" r:id="rId50"/>
    <p:sldId id="352" r:id="rId51"/>
    <p:sldId id="319" r:id="rId52"/>
    <p:sldId id="320" r:id="rId53"/>
    <p:sldId id="321" r:id="rId54"/>
    <p:sldId id="322" r:id="rId55"/>
    <p:sldId id="353" r:id="rId56"/>
    <p:sldId id="354" r:id="rId57"/>
    <p:sldId id="355" r:id="rId58"/>
    <p:sldId id="323" r:id="rId59"/>
    <p:sldId id="324" r:id="rId60"/>
    <p:sldId id="293" r:id="rId61"/>
    <p:sldId id="294" r:id="rId62"/>
    <p:sldId id="295" r:id="rId63"/>
    <p:sldId id="296" r:id="rId64"/>
    <p:sldId id="297" r:id="rId65"/>
    <p:sldId id="298" r:id="rId66"/>
    <p:sldId id="331" r:id="rId67"/>
    <p:sldId id="332" r:id="rId68"/>
  </p:sldIdLst>
  <p:sldSz cx="9144000" cy="6858000" type="screen4x3"/>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23" charset="-128"/>
        <a:cs typeface="+mn-cs"/>
      </a:defRPr>
    </a:lvl5pPr>
    <a:lvl6pPr marL="2286000" algn="l" defTabSz="914400" rtl="0" eaLnBrk="1" latinLnBrk="0" hangingPunct="1">
      <a:defRPr kern="1200">
        <a:solidFill>
          <a:schemeClr val="tx1"/>
        </a:solidFill>
        <a:latin typeface="Calibri" pitchFamily="34" charset="0"/>
        <a:ea typeface="ＭＳ Ｐゴシック" pitchFamily="123" charset="-128"/>
        <a:cs typeface="+mn-cs"/>
      </a:defRPr>
    </a:lvl6pPr>
    <a:lvl7pPr marL="2743200" algn="l" defTabSz="914400" rtl="0" eaLnBrk="1" latinLnBrk="0" hangingPunct="1">
      <a:defRPr kern="1200">
        <a:solidFill>
          <a:schemeClr val="tx1"/>
        </a:solidFill>
        <a:latin typeface="Calibri" pitchFamily="34" charset="0"/>
        <a:ea typeface="ＭＳ Ｐゴシック" pitchFamily="123" charset="-128"/>
        <a:cs typeface="+mn-cs"/>
      </a:defRPr>
    </a:lvl7pPr>
    <a:lvl8pPr marL="3200400" algn="l" defTabSz="914400" rtl="0" eaLnBrk="1" latinLnBrk="0" hangingPunct="1">
      <a:defRPr kern="1200">
        <a:solidFill>
          <a:schemeClr val="tx1"/>
        </a:solidFill>
        <a:latin typeface="Calibri" pitchFamily="34" charset="0"/>
        <a:ea typeface="ＭＳ Ｐゴシック" pitchFamily="123" charset="-128"/>
        <a:cs typeface="+mn-cs"/>
      </a:defRPr>
    </a:lvl8pPr>
    <a:lvl9pPr marL="3657600" algn="l" defTabSz="914400" rtl="0" eaLnBrk="1" latinLnBrk="0" hangingPunct="1">
      <a:defRPr kern="1200">
        <a:solidFill>
          <a:schemeClr val="tx1"/>
        </a:solidFill>
        <a:latin typeface="Calibri" pitchFamily="34" charset="0"/>
        <a:ea typeface="ＭＳ Ｐゴシック" pitchFamily="123" charset="-128"/>
        <a:cs typeface="+mn-cs"/>
      </a:defRPr>
    </a:lvl9pPr>
  </p:defaultTextStyle>
  <p:extLst>
    <p:ext uri="{EFAFB233-063F-42B5-8137-9DF3F51BA10A}">
      <p15:sldGuideLst xmlns:p15="http://schemas.microsoft.com/office/powerpoint/2012/main">
        <p15:guide id="1" orient="horz" pos="2154">
          <p15:clr>
            <a:srgbClr val="A4A3A4"/>
          </p15:clr>
        </p15:guide>
        <p15:guide id="2" pos="60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66CC33"/>
    <a:srgbClr val="336633"/>
    <a:srgbClr val="66C067"/>
    <a:srgbClr val="B6DCAE"/>
    <a:srgbClr val="CC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4729" autoAdjust="0"/>
  </p:normalViewPr>
  <p:slideViewPr>
    <p:cSldViewPr snapToGrid="0" snapToObjects="1">
      <p:cViewPr>
        <p:scale>
          <a:sx n="82" d="100"/>
          <a:sy n="82" d="100"/>
        </p:scale>
        <p:origin x="912" y="60"/>
      </p:cViewPr>
      <p:guideLst>
        <p:guide orient="horz" pos="2154"/>
        <p:guide pos="608"/>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02" d="100"/>
          <a:sy n="102" d="100"/>
        </p:scale>
        <p:origin x="-4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 Type="http://schemas.openxmlformats.org/officeDocument/2006/relationships/slide" Target="slides/slide4.xml"/><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smtClean="0"/>
            </a:lvl1pPr>
          </a:lstStyle>
          <a:p>
            <a:pPr>
              <a:defRPr/>
            </a:pPr>
            <a:fld id="{716F2529-7442-4C57-BAFE-E764E2676846}" type="datetimeFigureOut">
              <a:rPr lang="en-US"/>
              <a:pPr>
                <a:defRPr/>
              </a:pPr>
              <a:t>3/25/2022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A9BAC566-14D6-46E5-9550-856BC12D5853}" type="slidenum">
              <a:rPr lang="en-US"/>
              <a:pPr>
                <a:defRPr/>
              </a:pPr>
              <a:t>‹#›</a:t>
            </a:fld>
            <a:endParaRPr lang="en-US"/>
          </a:p>
        </p:txBody>
      </p:sp>
    </p:spTree>
    <p:extLst>
      <p:ext uri="{BB962C8B-B14F-4D97-AF65-F5344CB8AC3E}">
        <p14:creationId xmlns:p14="http://schemas.microsoft.com/office/powerpoint/2010/main" val="154251708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2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9BAC566-14D6-46E5-9550-856BC12D5853}" type="slidenum">
              <a:rPr lang="en-US" smtClean="0"/>
              <a:pPr>
                <a:defRPr/>
              </a:pPr>
              <a:t>63</a:t>
            </a:fld>
            <a:endParaRPr lang="en-US"/>
          </a:p>
        </p:txBody>
      </p:sp>
    </p:spTree>
    <p:extLst>
      <p:ext uri="{BB962C8B-B14F-4D97-AF65-F5344CB8AC3E}">
        <p14:creationId xmlns:p14="http://schemas.microsoft.com/office/powerpoint/2010/main" val="15026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727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P Bank 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557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1953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722688" y="-223838"/>
            <a:ext cx="17291051" cy="786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83"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b="0" i="0" u="none"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6" r:id="rId1"/>
  </p:sldLayoutIdLst>
  <p:timing>
    <p:tnLst>
      <p:par>
        <p:cTn id="1" dur="indefinite" restart="never" nodeType="tmRoot"/>
      </p:par>
    </p:tnLst>
  </p:timing>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3" charset="-128"/>
          <a:cs typeface="+mj-cs"/>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pitchFamily="123"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pitchFamily="123"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pitchFamily="123"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pitchFamily="123"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pitchFamily="123" charset="-128"/>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Box 11"/>
          <p:cNvSpPr txBox="1">
            <a:spLocks noChangeArrowheads="1"/>
          </p:cNvSpPr>
          <p:nvPr/>
        </p:nvSpPr>
        <p:spPr bwMode="auto">
          <a:xfrm>
            <a:off x="0" y="276565"/>
            <a:ext cx="489428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eaLnBrk="1" hangingPunct="1"/>
            <a:r>
              <a:rPr lang="en-US" sz="4400" err="1" smtClean="0">
                <a:solidFill>
                  <a:srgbClr val="FFFFFF"/>
                </a:solidFill>
                <a:latin typeface="ITCErasVO Demi" pitchFamily="123" charset="0"/>
              </a:rPr>
              <a:t>Nội</a:t>
            </a:r>
            <a:r>
              <a:rPr lang="en-US" sz="4400" smtClean="0">
                <a:solidFill>
                  <a:srgbClr val="FFFFFF"/>
                </a:solidFill>
                <a:latin typeface="ITCErasVO Demi" pitchFamily="123" charset="0"/>
              </a:rPr>
              <a:t> dung </a:t>
            </a:r>
            <a:r>
              <a:rPr lang="en-US" sz="4400" err="1" smtClean="0">
                <a:solidFill>
                  <a:srgbClr val="FFFFFF"/>
                </a:solidFill>
                <a:latin typeface="ITCErasVO Demi" pitchFamily="123" charset="0"/>
              </a:rPr>
              <a:t>khóa</a:t>
            </a:r>
            <a:r>
              <a:rPr lang="en-US" sz="4400" smtClean="0">
                <a:solidFill>
                  <a:srgbClr val="FFFFFF"/>
                </a:solidFill>
                <a:latin typeface="ITCErasVO Demi" pitchFamily="123" charset="0"/>
              </a:rPr>
              <a:t> </a:t>
            </a:r>
            <a:r>
              <a:rPr lang="en-US" sz="4400" err="1" smtClean="0">
                <a:solidFill>
                  <a:srgbClr val="FFFFFF"/>
                </a:solidFill>
                <a:latin typeface="ITCErasVO Demi" pitchFamily="123" charset="0"/>
              </a:rPr>
              <a:t>học</a:t>
            </a:r>
            <a:endParaRPr lang="en-US" sz="4400">
              <a:solidFill>
                <a:srgbClr val="FFFFFF"/>
              </a:solidFill>
              <a:latin typeface="ITCErasVO Demi" pitchFamily="123" charset="0"/>
            </a:endParaRPr>
          </a:p>
        </p:txBody>
      </p:sp>
      <p:sp>
        <p:nvSpPr>
          <p:cNvPr id="6150" name="TextBox 16"/>
          <p:cNvSpPr txBox="1">
            <a:spLocks noChangeArrowheads="1"/>
          </p:cNvSpPr>
          <p:nvPr/>
        </p:nvSpPr>
        <p:spPr bwMode="auto">
          <a:xfrm>
            <a:off x="152110" y="1075289"/>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indent="341313">
              <a:lnSpc>
                <a:spcPct val="150000"/>
              </a:lnSpc>
            </a:pPr>
            <a:r>
              <a:rPr lang="vi-VN" sz="2200" b="1">
                <a:solidFill>
                  <a:srgbClr val="002060"/>
                </a:solidFill>
                <a:latin typeface="Cambria" panose="02040503050406030204" pitchFamily="18" charset="0"/>
              </a:rPr>
              <a:t>2.1. Một số khái niệm &amp; định nghĩa.</a:t>
            </a:r>
          </a:p>
          <a:p>
            <a:pPr indent="858838">
              <a:lnSpc>
                <a:spcPct val="150000"/>
              </a:lnSpc>
            </a:pPr>
            <a:r>
              <a:rPr lang="vi-VN" sz="2200" b="1">
                <a:solidFill>
                  <a:srgbClr val="002060"/>
                </a:solidFill>
                <a:latin typeface="Cambria" panose="02040503050406030204" pitchFamily="18" charset="0"/>
              </a:rPr>
              <a:t>2.1.1. Một số định dạng file âm thanh.</a:t>
            </a:r>
          </a:p>
          <a:p>
            <a:pPr indent="858838">
              <a:lnSpc>
                <a:spcPct val="150000"/>
              </a:lnSpc>
            </a:pPr>
            <a:r>
              <a:rPr lang="vi-VN" sz="2200" b="1">
                <a:solidFill>
                  <a:srgbClr val="002060"/>
                </a:solidFill>
                <a:latin typeface="Cambria" panose="02040503050406030204" pitchFamily="18" charset="0"/>
              </a:rPr>
              <a:t>2.1.2. Chuẩn mã hóa audio Mp3</a:t>
            </a:r>
          </a:p>
          <a:p>
            <a:pPr indent="341313">
              <a:lnSpc>
                <a:spcPct val="150000"/>
              </a:lnSpc>
            </a:pPr>
            <a:r>
              <a:rPr lang="vi-VN" sz="2200" b="1">
                <a:solidFill>
                  <a:srgbClr val="002060"/>
                </a:solidFill>
                <a:latin typeface="Cambria" panose="02040503050406030204" pitchFamily="18" charset="0"/>
              </a:rPr>
              <a:t>2.2. Ứng dụng của âm thanh</a:t>
            </a:r>
          </a:p>
          <a:p>
            <a:pPr indent="341313">
              <a:lnSpc>
                <a:spcPct val="150000"/>
              </a:lnSpc>
            </a:pPr>
            <a:r>
              <a:rPr lang="vi-VN" sz="2200" b="1">
                <a:solidFill>
                  <a:srgbClr val="002060"/>
                </a:solidFill>
                <a:latin typeface="Cambria" panose="02040503050406030204" pitchFamily="18" charset="0"/>
              </a:rPr>
              <a:t>2.3. Kỹ thuật biến đổi âm thanh và tiếng nói.</a:t>
            </a:r>
          </a:p>
          <a:p>
            <a:pPr indent="341313">
              <a:lnSpc>
                <a:spcPct val="150000"/>
              </a:lnSpc>
            </a:pPr>
            <a:r>
              <a:rPr lang="vi-VN" sz="2200" b="1">
                <a:solidFill>
                  <a:srgbClr val="002060"/>
                </a:solidFill>
                <a:latin typeface="Cambria" panose="02040503050406030204" pitchFamily="18" charset="0"/>
              </a:rPr>
              <a:t>2.4. Các kỹ thuật trích chọn đặc trưng âm thanh</a:t>
            </a:r>
          </a:p>
          <a:p>
            <a:pPr indent="341313">
              <a:lnSpc>
                <a:spcPct val="150000"/>
              </a:lnSpc>
            </a:pPr>
            <a:r>
              <a:rPr lang="vi-VN" sz="2200" b="1">
                <a:solidFill>
                  <a:srgbClr val="002060"/>
                </a:solidFill>
                <a:latin typeface="Cambria" panose="02040503050406030204" pitchFamily="18" charset="0"/>
              </a:rPr>
              <a:t>2.5. Giới thiệu một số công cụ hỗ trợ xử lý và nhận dạng âm thanh</a:t>
            </a:r>
          </a:p>
          <a:p>
            <a:pPr marL="457200" indent="-457200">
              <a:lnSpc>
                <a:spcPct val="150000"/>
              </a:lnSpc>
              <a:buFont typeface="Wingdings" panose="05000000000000000000" pitchFamily="2" charset="2"/>
              <a:buChar char="v"/>
            </a:pPr>
            <a:endParaRPr lang="vi-VN" sz="2200" b="1" smtClean="0">
              <a:solidFill>
                <a:srgbClr val="C00000"/>
              </a:solidFill>
              <a:latin typeface="Cambria" panose="02040503050406030204" pitchFamily="18" charset="0"/>
            </a:endParaRPr>
          </a:p>
          <a:p>
            <a:pPr marL="457200" indent="-457200">
              <a:lnSpc>
                <a:spcPct val="150000"/>
              </a:lnSpc>
              <a:buFont typeface="Wingdings" panose="05000000000000000000" pitchFamily="2" charset="2"/>
              <a:buChar char="v"/>
            </a:pPr>
            <a:r>
              <a:rPr lang="en-US" sz="2200" b="1" smtClean="0">
                <a:solidFill>
                  <a:schemeClr val="bg1"/>
                </a:solidFill>
                <a:latin typeface="Cambria" panose="02040503050406030204" pitchFamily="18" charset="0"/>
              </a:rPr>
              <a:t>Chương 5:  </a:t>
            </a:r>
            <a:r>
              <a:rPr lang="en-US" altLang="en-US" sz="2200" b="1" err="1" smtClean="0">
                <a:solidFill>
                  <a:schemeClr val="bg1"/>
                </a:solidFill>
                <a:latin typeface="Cambria" panose="02040503050406030204" pitchFamily="18" charset="0"/>
              </a:rPr>
              <a:t>Tập</a:t>
            </a:r>
            <a:r>
              <a:rPr lang="en-US" altLang="en-US" sz="2200" b="1" smtClean="0">
                <a:solidFill>
                  <a:schemeClr val="bg1"/>
                </a:solidFill>
                <a:latin typeface="Cambria" panose="02040503050406030204" pitchFamily="18" charset="0"/>
              </a:rPr>
              <a:t> </a:t>
            </a:r>
            <a:r>
              <a:rPr lang="en-US" altLang="en-US" sz="2200" b="1" err="1" smtClean="0">
                <a:solidFill>
                  <a:schemeClr val="bg1"/>
                </a:solidFill>
                <a:latin typeface="Cambria" panose="02040503050406030204" pitchFamily="18" charset="0"/>
              </a:rPr>
              <a:t>lệnh</a:t>
            </a:r>
            <a:r>
              <a:rPr lang="en-US" altLang="en-US" sz="2200" b="1" smtClean="0">
                <a:solidFill>
                  <a:schemeClr val="bg1"/>
                </a:solidFill>
                <a:latin typeface="Cambria" panose="02040503050406030204" pitchFamily="18" charset="0"/>
              </a:rPr>
              <a:t>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78635"/>
            <a:ext cx="8603228" cy="738664"/>
          </a:xfrm>
          <a:prstGeom prst="rect">
            <a:avLst/>
          </a:prstGeom>
          <a:noFill/>
        </p:spPr>
        <p:txBody>
          <a:bodyPr wrap="square" lIns="91440" tIns="45720" rIns="91440" bIns="45720">
            <a:spAutoFit/>
          </a:bodyPr>
          <a:lstStyle/>
          <a:p>
            <a:pPr>
              <a:lnSpc>
                <a:spcPct val="150000"/>
              </a:lnSpc>
            </a:pPr>
            <a:r>
              <a:rPr lang="en-US" sz="2800" b="1" err="1">
                <a:solidFill>
                  <a:srgbClr val="C00000"/>
                </a:solidFill>
                <a:latin typeface="Cambria" panose="02040503050406030204" pitchFamily="18" charset="0"/>
              </a:rPr>
              <a:t>Chương</a:t>
            </a:r>
            <a:r>
              <a:rPr lang="en-US" sz="2800" b="1">
                <a:solidFill>
                  <a:srgbClr val="C00000"/>
                </a:solidFill>
                <a:latin typeface="Cambria" panose="02040503050406030204" pitchFamily="18" charset="0"/>
              </a:rPr>
              <a:t> </a:t>
            </a:r>
            <a:r>
              <a:rPr lang="en-US" sz="2800" b="1" smtClean="0">
                <a:solidFill>
                  <a:srgbClr val="C00000"/>
                </a:solidFill>
                <a:latin typeface="Cambria" panose="02040503050406030204" pitchFamily="18" charset="0"/>
              </a:rPr>
              <a:t>2:</a:t>
            </a:r>
            <a:r>
              <a:rPr lang="en-US" sz="2800" smtClean="0">
                <a:solidFill>
                  <a:srgbClr val="0070C0"/>
                </a:solidFill>
                <a:latin typeface="Cambria" panose="02040503050406030204" pitchFamily="18" charset="0"/>
              </a:rPr>
              <a:t> </a:t>
            </a:r>
            <a:r>
              <a:rPr lang="vi-VN" sz="2800" b="1" smtClean="0">
                <a:solidFill>
                  <a:srgbClr val="0070C0"/>
                </a:solidFill>
                <a:latin typeface="Cambria" panose="02040503050406030204" pitchFamily="18" charset="0"/>
              </a:rPr>
              <a:t>Âm </a:t>
            </a:r>
            <a:r>
              <a:rPr lang="vi-VN" sz="2800" b="1">
                <a:solidFill>
                  <a:srgbClr val="0070C0"/>
                </a:solidFill>
                <a:latin typeface="Cambria" panose="02040503050406030204" pitchFamily="18" charset="0"/>
              </a:rPr>
              <a:t>thanh và công nghệ xử lý âm thanh</a:t>
            </a:r>
            <a:endParaRPr lang="en-US" sz="2800" b="1">
              <a:solidFill>
                <a:srgbClr val="0070C0"/>
              </a:solidFill>
              <a:latin typeface="Cambria" panose="02040503050406030204" pitchFamily="18" charset="0"/>
            </a:endParaRPr>
          </a:p>
        </p:txBody>
      </p:sp>
      <p:sp>
        <p:nvSpPr>
          <p:cNvPr id="7" name="Line 16"/>
          <p:cNvSpPr>
            <a:spLocks noChangeShapeType="1"/>
          </p:cNvSpPr>
          <p:nvPr/>
        </p:nvSpPr>
        <p:spPr bwMode="auto">
          <a:xfrm>
            <a:off x="250825" y="846582"/>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772442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Âm thanh (audio): là dao động các sóng âm gây ra áp lực làm dịch chuyển các hạt vật chất trong môi trường đàn hồi làm tai người cảm nhận được các dao động này</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Âm </a:t>
            </a:r>
            <a:r>
              <a:rPr lang="en-US" sz="2200" b="1">
                <a:solidFill>
                  <a:srgbClr val="002060"/>
                </a:solidFill>
                <a:latin typeface="Cambria" panose="02040503050406030204" pitchFamily="18" charset="0"/>
              </a:rPr>
              <a:t>thanh tự nhiên: là sự kết hợp giữa các sóng âm mang tần số khác </a:t>
            </a:r>
            <a:r>
              <a:rPr lang="en-US" sz="2200" b="1" smtClean="0">
                <a:solidFill>
                  <a:srgbClr val="002060"/>
                </a:solidFill>
                <a:latin typeface="Cambria" panose="02040503050406030204" pitchFamily="18" charset="0"/>
              </a:rPr>
              <a:t>nhau</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Dải động của tai: giới hạn bởi ngưỡng nghe thấy (0dB) đến ngưỡng đau (120dB) của </a:t>
            </a:r>
            <a:r>
              <a:rPr lang="vi-VN" sz="2200" b="1" smtClean="0">
                <a:solidFill>
                  <a:srgbClr val="002060"/>
                </a:solidFill>
                <a:latin typeface="Cambria" panose="02040503050406030204" pitchFamily="18" charset="0"/>
              </a:rPr>
              <a:t>người</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Ngưỡng </a:t>
            </a:r>
            <a:r>
              <a:rPr lang="vi-VN" sz="2200" b="1">
                <a:solidFill>
                  <a:srgbClr val="002060"/>
                </a:solidFill>
                <a:latin typeface="Cambria" panose="02040503050406030204" pitchFamily="18" charset="0"/>
              </a:rPr>
              <a:t>nghe tối thiểu: mức thấp nhất của biên độ mà tai người có thể cảm nhận được âm thanh tùy thuộc vào từng người, mức áp lực và tần số của âm thanh</a:t>
            </a:r>
            <a:endParaRPr lang="en-US" sz="2200" b="1">
              <a:solidFill>
                <a:srgbClr val="002060"/>
              </a:solidFill>
              <a:latin typeface="Cambria" panose="02040503050406030204" pitchFamily="18" charset="0"/>
            </a:endParaRPr>
          </a:p>
          <a:p>
            <a:pPr algn="just">
              <a:lnSpc>
                <a:spcPct val="150000"/>
              </a:lnSpc>
            </a:pPr>
            <a:r>
              <a:rPr lang="en-US" sz="2200" b="1" smtClean="0">
                <a:solidFill>
                  <a:schemeClr val="bg1"/>
                </a:solidFill>
                <a:latin typeface="Cambria" panose="02040503050406030204" pitchFamily="18" charset="0"/>
              </a:rPr>
              <a:t>Chương 5:  </a:t>
            </a:r>
            <a:r>
              <a:rPr lang="en-US" altLang="en-US" sz="2200" b="1" smtClean="0">
                <a:solidFill>
                  <a:schemeClr val="bg1"/>
                </a:solidFill>
                <a:latin typeface="Cambria" panose="02040503050406030204" pitchFamily="18" charset="0"/>
              </a:rPr>
              <a:t>Tập lệnh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Hiệu </a:t>
            </a:r>
            <a:r>
              <a:rPr lang="vi-VN" sz="2200" b="1">
                <a:solidFill>
                  <a:srgbClr val="002060"/>
                </a:solidFill>
                <a:latin typeface="Cambria" panose="02040503050406030204" pitchFamily="18" charset="0"/>
              </a:rPr>
              <a:t>ứng che khuất âm thanh: hiện tượng âm thanh mà tại đó ngưỡng nghe của một âm tăng lên trong khi có mặt của một âm khác (khó nghe hơn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Hướng </a:t>
            </a:r>
            <a:r>
              <a:rPr lang="vi-VN" sz="2200" b="1">
                <a:solidFill>
                  <a:srgbClr val="002060"/>
                </a:solidFill>
                <a:latin typeface="Cambria" panose="02040503050406030204" pitchFamily="18" charset="0"/>
              </a:rPr>
              <a:t>âm thanh: tai và não có thể giúp ta xác định hướng âm thanh, điều này có thể ứng dụng để tạo các hiệu ứng âm thanh như stereo, </a:t>
            </a:r>
            <a:r>
              <a:rPr lang="vi-VN" sz="2200" b="1" smtClean="0">
                <a:solidFill>
                  <a:srgbClr val="002060"/>
                </a:solidFill>
                <a:latin typeface="Cambria" panose="02040503050406030204" pitchFamily="18" charset="0"/>
              </a:rPr>
              <a:t>surround</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V</a:t>
            </a:r>
            <a:r>
              <a:rPr lang="vi-VN" sz="2200" b="1" smtClean="0">
                <a:solidFill>
                  <a:srgbClr val="002060"/>
                </a:solidFill>
                <a:latin typeface="Cambria" panose="02040503050406030204" pitchFamily="18" charset="0"/>
              </a:rPr>
              <a:t>ang </a:t>
            </a:r>
            <a:r>
              <a:rPr lang="vi-VN" sz="2200" b="1">
                <a:solidFill>
                  <a:srgbClr val="002060"/>
                </a:solidFill>
                <a:latin typeface="Cambria" panose="02040503050406030204" pitchFamily="18" charset="0"/>
              </a:rPr>
              <a:t>là hiện tượng kéo dài âm thanh sau khi nguồn âm đã </a:t>
            </a:r>
            <a:r>
              <a:rPr lang="vi-VN" sz="2200" b="1" smtClean="0">
                <a:solidFill>
                  <a:srgbClr val="002060"/>
                </a:solidFill>
                <a:latin typeface="Cambria" panose="02040503050406030204" pitchFamily="18" charset="0"/>
              </a:rPr>
              <a:t>tắt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Trễ </a:t>
            </a:r>
            <a:r>
              <a:rPr lang="vi-VN" sz="2200" b="1">
                <a:solidFill>
                  <a:srgbClr val="002060"/>
                </a:solidFill>
                <a:latin typeface="Cambria" panose="02040503050406030204" pitchFamily="18" charset="0"/>
              </a:rPr>
              <a:t>là thời gian </a:t>
            </a:r>
            <a:r>
              <a:rPr lang="vi-VN" sz="2200" b="1" smtClean="0">
                <a:solidFill>
                  <a:srgbClr val="002060"/>
                </a:solidFill>
                <a:latin typeface="Cambria" panose="02040503050406030204" pitchFamily="18" charset="0"/>
              </a:rPr>
              <a:t>âm </a:t>
            </a:r>
            <a:r>
              <a:rPr lang="vi-VN" sz="2200" b="1">
                <a:solidFill>
                  <a:srgbClr val="002060"/>
                </a:solidFill>
                <a:latin typeface="Cambria" panose="02040503050406030204" pitchFamily="18" charset="0"/>
              </a:rPr>
              <a:t>thanh phản xạ đến </a:t>
            </a:r>
            <a:r>
              <a:rPr lang="vi-VN" sz="2200" b="1" smtClean="0">
                <a:solidFill>
                  <a:srgbClr val="002060"/>
                </a:solidFill>
                <a:latin typeface="Cambria" panose="02040503050406030204" pitchFamily="18" charset="0"/>
              </a:rPr>
              <a:t>đ</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so với âm thanh trực tiếp.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chemeClr val="bg1"/>
                </a:solidFill>
                <a:latin typeface="Cambria" panose="02040503050406030204" pitchFamily="18" charset="0"/>
              </a:rPr>
              <a:t>Chương 5:  </a:t>
            </a:r>
            <a:r>
              <a:rPr lang="en-US" altLang="en-US" sz="2200" b="1" smtClean="0">
                <a:solidFill>
                  <a:schemeClr val="bg1"/>
                </a:solidFill>
                <a:latin typeface="Cambria" panose="02040503050406030204" pitchFamily="18" charset="0"/>
              </a:rPr>
              <a:t>Tập lệnh (Assembly programming language)</a:t>
            </a:r>
            <a:endParaRPr lang="en-US" sz="2200" b="1">
              <a:solidFill>
                <a:schemeClr val="bg1"/>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845210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smtClean="0">
                <a:solidFill>
                  <a:srgbClr val="002060"/>
                </a:solidFill>
                <a:latin typeface="Cambria" panose="02040503050406030204" pitchFamily="18" charset="0"/>
              </a:rPr>
              <a:t>2.1.1. Một số định dạng file âm 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MP3 </a:t>
            </a:r>
            <a:r>
              <a:rPr lang="vi-VN" sz="2200" b="1">
                <a:solidFill>
                  <a:srgbClr val="002060"/>
                </a:solidFill>
                <a:latin typeface="Cambria" panose="02040503050406030204" pitchFamily="18" charset="0"/>
              </a:rPr>
              <a:t>là một định dạng âm thanh kỹ thuật số được tạo ra bằng cách nén dữ liệu. Trong quá trình nén, các dãy âm thừa, dãy âm quá cao hay quá thấp đều sẽ bị loại </a:t>
            </a:r>
            <a:r>
              <a:rPr lang="vi-VN" sz="2200" b="1" smtClean="0">
                <a:solidFill>
                  <a:srgbClr val="002060"/>
                </a:solidFill>
                <a:latin typeface="Cambria" panose="02040503050406030204" pitchFamily="18" charset="0"/>
              </a:rPr>
              <a:t>bỏ</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WMA là một định dạng âm thanh được tạo ra bằng cách nén và mất đi một phần dữ </a:t>
            </a:r>
            <a:r>
              <a:rPr lang="vi-VN" sz="2200" b="1" smtClean="0">
                <a:solidFill>
                  <a:srgbClr val="002060"/>
                </a:solidFill>
                <a:latin typeface="Cambria" panose="02040503050406030204" pitchFamily="18" charset="0"/>
              </a:rPr>
              <a:t>liệu</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File WMA có dung lượng thậm chí còn nhẹ hơn MP3 (có thể chỉ bằng một nửa) mà chất lượng thì không hề thua </a:t>
            </a:r>
            <a:r>
              <a:rPr lang="vi-VN" sz="2200" b="1" smtClean="0">
                <a:solidFill>
                  <a:srgbClr val="002060"/>
                </a:solidFill>
                <a:latin typeface="Cambria" panose="02040503050406030204" pitchFamily="18" charset="0"/>
              </a:rPr>
              <a:t>kém</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WAV là một dạng file âm thanh gốc, không nén. </a:t>
            </a:r>
            <a:r>
              <a:rPr lang="vi-VN" sz="2200" b="1">
                <a:solidFill>
                  <a:srgbClr val="002060"/>
                </a:solidFill>
                <a:latin typeface="Cambria" panose="02040503050406030204" pitchFamily="18" charset="0"/>
              </a:rPr>
              <a:t>Và do đó, file WAV có chất lượng âm thanh tốt (tương đương nhạc CD) nhưng khá nặng do dung lượng lớn.</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altLang="en-US" sz="2200" b="1" smtClean="0">
                <a:solidFill>
                  <a:schemeClr val="bg1"/>
                </a:solidFill>
                <a:latin typeface="Cambria" panose="02040503050406030204" pitchFamily="18" charset="0"/>
              </a:rPr>
              <a:t>language)</a:t>
            </a:r>
            <a:endParaRPr lang="en-US" sz="2200" b="1">
              <a:solidFill>
                <a:schemeClr val="bg1"/>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smtClean="0">
                <a:solidFill>
                  <a:srgbClr val="002060"/>
                </a:solidFill>
                <a:latin typeface="Cambria" panose="02040503050406030204" pitchFamily="18" charset="0"/>
              </a:rPr>
              <a:t>2.1. Một số khái niệm &amp; định nghĩa</a:t>
            </a:r>
            <a:endParaRPr lang="vi-VN" sz="28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6145004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2.1.1. Một số định dạng file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FLAC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là một định dạng dùng để nén các dữ liệu âm thanh nhưng không làm mất đi tín hiệu nào</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File âm thanh FLAC được giữ lại chất lượng âm tốt, nhưng đã nhẹ đi đáng kể (dung lượng chỉ nhẹ bằng một nửa </a:t>
            </a:r>
            <a:r>
              <a:rPr lang="vi-VN" sz="2200" b="1" smtClean="0">
                <a:solidFill>
                  <a:srgbClr val="002060"/>
                </a:solidFill>
                <a:latin typeface="Cambria" panose="02040503050406030204" pitchFamily="18" charset="0"/>
              </a:rPr>
              <a:t>WAV)</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AAC </a:t>
            </a:r>
            <a:r>
              <a:rPr lang="vi-VN" sz="2200" b="1">
                <a:solidFill>
                  <a:srgbClr val="002060"/>
                </a:solidFill>
                <a:latin typeface="Cambria" panose="02040503050406030204" pitchFamily="18" charset="0"/>
              </a:rPr>
              <a:t>là một định dạng nén âm thanh có làm mất bớt dữ liệu, tương tự </a:t>
            </a:r>
            <a:r>
              <a:rPr lang="vi-VN" sz="2200" b="1" smtClean="0">
                <a:solidFill>
                  <a:srgbClr val="002060"/>
                </a:solidFill>
                <a:latin typeface="Cambria" panose="02040503050406030204" pitchFamily="18" charset="0"/>
              </a:rPr>
              <a:t>MP3</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Tuy vậy, file AAC có chất âm tốt hơn MP3, đặc biệt là có thể tích hợp được nhiều kênh âm thanh ở tần số thấp mà có thể file MP3 bị </a:t>
            </a:r>
            <a:r>
              <a:rPr lang="vi-VN" sz="2200" b="1" smtClean="0">
                <a:solidFill>
                  <a:srgbClr val="002060"/>
                </a:solidFill>
                <a:latin typeface="Cambria" panose="02040503050406030204" pitchFamily="18" charset="0"/>
              </a:rPr>
              <a:t>mất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OGG là một file âm thanh nén sử dụng chuẩn nén Ogg Vorbis miễn phí tương tự chuẩn MP3 nhưng cho chất lượng tốt hơn với kích cỡ file tương </a:t>
            </a:r>
            <a:r>
              <a:rPr lang="vi-VN" sz="2200" b="1" smtClean="0">
                <a:solidFill>
                  <a:srgbClr val="002060"/>
                </a:solidFill>
                <a:latin typeface="Cambria" panose="02040503050406030204" pitchFamily="18" charset="0"/>
              </a:rPr>
              <a:t>đương</a:t>
            </a:r>
            <a:r>
              <a:rPr lang="en-US" sz="2200" b="1" smtClean="0">
                <a:solidFill>
                  <a:srgbClr val="002060"/>
                </a:solidFill>
                <a:latin typeface="Cambria" panose="02040503050406030204" pitchFamily="18" charset="0"/>
              </a:rPr>
              <a:t>. </a:t>
            </a:r>
            <a:endParaRPr lang="en-US"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434035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2.1.1. Một số định dạng file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AIFF là các file âm thanh chất lượng cao dùng để lưu trữ âm thanh CD. Nó có dung lượng tương đương với </a:t>
            </a:r>
            <a:r>
              <a:rPr lang="vi-VN" sz="2200" b="1" smtClean="0">
                <a:solidFill>
                  <a:srgbClr val="002060"/>
                </a:solidFill>
                <a:latin typeface="Cambria" panose="02040503050406030204" pitchFamily="18" charset="0"/>
              </a:rPr>
              <a:t>file</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ALAC </a:t>
            </a:r>
            <a:r>
              <a:rPr lang="vi-VN" sz="2200" b="1" smtClean="0">
                <a:solidFill>
                  <a:srgbClr val="002060"/>
                </a:solidFill>
                <a:latin typeface="Cambria" panose="02040503050406030204" pitchFamily="18" charset="0"/>
              </a:rPr>
              <a:t>là một file nhạc chất lượng cao, được tạo ra bởi phương pháp nén bảo toàn dữ liệu của Apple</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ALAC tương tự như file FLAC nhưng không phổ biến </a:t>
            </a:r>
            <a:r>
              <a:rPr lang="vi-VN" sz="2200" b="1" smtClean="0">
                <a:solidFill>
                  <a:srgbClr val="002060"/>
                </a:solidFill>
                <a:latin typeface="Cambria" panose="02040503050406030204" pitchFamily="18" charset="0"/>
              </a:rPr>
              <a:t>bằng</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AMR </a:t>
            </a:r>
            <a:r>
              <a:rPr lang="vi-VN" sz="2200" b="1">
                <a:solidFill>
                  <a:srgbClr val="002060"/>
                </a:solidFill>
                <a:latin typeface="Cambria" panose="02040503050406030204" pitchFamily="18" charset="0"/>
              </a:rPr>
              <a:t>là định dạng âm thanh được sử dụng phổ biến trong các thiết bị âm thanh như: điện thoại, máy nghe nhạc. Định dạng này tối ưu hóa để giải mã giọng nói, được áp dụng cho việc đàm thoại trên điện </a:t>
            </a:r>
            <a:r>
              <a:rPr lang="vi-VN" sz="2200" b="1" smtClean="0">
                <a:solidFill>
                  <a:srgbClr val="002060"/>
                </a:solidFill>
                <a:latin typeface="Cambria" panose="02040503050406030204" pitchFamily="18" charset="0"/>
              </a:rPr>
              <a:t>thoại</a:t>
            </a:r>
            <a:endParaRPr lang="en-US" sz="2200" b="1" smtClean="0">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506398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2.1.1. Một số định dạng file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Lossless </a:t>
            </a:r>
            <a:r>
              <a:rPr lang="vi-VN" sz="2200" b="1">
                <a:solidFill>
                  <a:srgbClr val="002060"/>
                </a:solidFill>
                <a:latin typeface="Cambria" panose="02040503050406030204" pitchFamily="18" charset="0"/>
              </a:rPr>
              <a:t>là định dạng âm thanh chất lượng cao nhờ sử dụng kỹ thuật nén không mất dữ liệu. Nó sử dụng âm thanh gốc CD sau đó sử dụng các kỹ thuật âm thanh để tạo nén lại với một dung lượng </a:t>
            </a:r>
            <a:r>
              <a:rPr lang="vi-VN" sz="2200" b="1" smtClean="0">
                <a:solidFill>
                  <a:srgbClr val="002060"/>
                </a:solidFill>
                <a:latin typeface="Cambria" panose="02040503050406030204" pitchFamily="18" charset="0"/>
              </a:rPr>
              <a:t>lớn</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en-US" sz="2200" b="1">
                <a:solidFill>
                  <a:srgbClr val="002060"/>
                </a:solidFill>
                <a:latin typeface="Cambria" panose="02040503050406030204" pitchFamily="18" charset="0"/>
              </a:rPr>
              <a:t>MIDI </a:t>
            </a:r>
            <a:r>
              <a:rPr lang="vi-VN" sz="2200" b="1">
                <a:solidFill>
                  <a:srgbClr val="002060"/>
                </a:solidFill>
                <a:latin typeface="Cambria" panose="02040503050406030204" pitchFamily="18" charset="0"/>
              </a:rPr>
              <a:t>bao gồm tiếng đàn, tiếng sáo, tiếng các bộ gõ và cả tiếng hát tồn tại dưới dạng sóng âm thanh hình </a:t>
            </a:r>
            <a:r>
              <a:rPr lang="en-US" sz="2200" b="1">
                <a:solidFill>
                  <a:srgbClr val="002060"/>
                </a:solidFill>
                <a:latin typeface="Cambria" panose="02040503050406030204" pitchFamily="18" charset="0"/>
              </a:rPr>
              <a:t>sin. </a:t>
            </a:r>
            <a:r>
              <a:rPr lang="en-US" sz="2200" b="1" smtClean="0">
                <a:solidFill>
                  <a:srgbClr val="002060"/>
                </a:solidFill>
                <a:latin typeface="Cambria" panose="02040503050406030204" pitchFamily="18" charset="0"/>
              </a:rPr>
              <a:t>MIDI dùng </a:t>
            </a:r>
            <a:r>
              <a:rPr lang="en-US" sz="2200" b="1">
                <a:solidFill>
                  <a:srgbClr val="002060"/>
                </a:solidFill>
                <a:latin typeface="Cambria" panose="02040503050406030204" pitchFamily="18" charset="0"/>
              </a:rPr>
              <a:t>để trao đổi thông tin biểu diễn giữa các nhạc cụ điện tử hoặc giữa các nhạc cụ điện tử với máy </a:t>
            </a:r>
            <a:r>
              <a:rPr lang="en-US" sz="2200" b="1" smtClean="0">
                <a:solidFill>
                  <a:srgbClr val="002060"/>
                </a:solidFill>
                <a:latin typeface="Cambria" panose="02040503050406030204" pitchFamily="18" charset="0"/>
              </a:rPr>
              <a:t>tính</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WMA9</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được Microsoft sáng chế ra để làm đối thủ cạnh tranh với MP3, ACC. Đây là chuẩn nén âm thanh với bit rate thấp hơn một nửa nhưng chất lượng lại tương đương với </a:t>
            </a:r>
            <a:r>
              <a:rPr lang="vi-VN" sz="2200" b="1" smtClean="0">
                <a:solidFill>
                  <a:srgbClr val="002060"/>
                </a:solidFill>
                <a:latin typeface="Cambria" panose="02040503050406030204" pitchFamily="18" charset="0"/>
              </a:rPr>
              <a:t>MP3</a:t>
            </a:r>
            <a:endParaRPr lang="en-US"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0558022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2.1.1. Một số định dạng file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ACC+ là chuẩn âm thanh được nâng cấp từ ACC giúp duy trì chất lượng âm thanh tốt hơn với tốc độ bit nhị phân thấp. ACC+ được tạo nên nhờ sự kết hợp của 2 công nghệ mã hóa là: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AAC</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và </a:t>
            </a:r>
            <a:r>
              <a:rPr lang="vi-VN" sz="2200" b="1" smtClean="0">
                <a:solidFill>
                  <a:srgbClr val="002060"/>
                </a:solidFill>
                <a:latin typeface="Cambria" panose="02040503050406030204" pitchFamily="18" charset="0"/>
              </a:rPr>
              <a:t>(SBR)</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ACC++ là định dạng âm thanh hiệu suất cao được cải tiến từ định dạng AAC+ với việc được bổ sung thêm công nghệ mã hóa Parametric Stereo (PS) giúp mở rộng việc phân phối các tín hiệu âm thanh đa kênh, nhờ thế mà âm thanh codec được tăng hiệu suất một cách đáng kể.</a:t>
            </a:r>
            <a:endParaRPr lang="en-US"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750478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61285"/>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2.1.1. Một số định dạng file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AC3 (Audio Coding 3) được sử dụng hầu hết trên các đĩa DVD giúp mở rộng hệ thống âm thanh vòm. AC3 được tạo ra để tăng độ trung thực so với định dạng trước đó về tiêu chuẩn âm thanh vòm. AC3 cho phép số hóa (coding) âm thanh với tần số thấp hơn (lower sample rate) nhưng vẫn bảo đảm được chất lượng âm thanh</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algn="just">
              <a:lnSpc>
                <a:spcPct val="150000"/>
              </a:lnSpc>
            </a:pPr>
            <a:r>
              <a:rPr lang="vi-VN" sz="2200" b="1">
                <a:solidFill>
                  <a:srgbClr val="002060"/>
                </a:solidFill>
                <a:latin typeface="Cambria" panose="02040503050406030204" pitchFamily="18" charset="0"/>
              </a:rPr>
              <a:t>Hiện nay, AC3 được ứng dụng khá phổ biến trong âm thanh máy tính cũng như trong hầu hết các điện thoại di dộng như nhạc chuông, âm báo cũng được định dạng AC3.</a:t>
            </a:r>
            <a:endParaRPr lang="en-US"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2.1. Một số khái niệm &amp; định nghĩa</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1201893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875597"/>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MP3</a:t>
            </a:r>
            <a:r>
              <a:rPr lang="vi-VN" sz="2200" b="1">
                <a:solidFill>
                  <a:srgbClr val="002060"/>
                </a:solidFill>
                <a:latin typeface="Cambria" panose="02040503050406030204" pitchFamily="18" charset="0"/>
              </a:rPr>
              <a:t>: ra đời năm 1980 từ viện nghiên cứu Fraunhoufer Institute (Đức).</a:t>
            </a:r>
          </a:p>
          <a:p>
            <a:pPr marL="57150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MP3 là nhóm MPEG-1 lớp 3 cung cấp chất lượng audio gần giống</a:t>
            </a:r>
            <a:r>
              <a:rPr lang="en-US" sz="2200" b="1">
                <a:solidFill>
                  <a:srgbClr val="002060"/>
                </a:solidFill>
                <a:latin typeface="Cambria" panose="02040503050406030204" pitchFamily="18" charset="0"/>
              </a:rPr>
              <a:t> </a:t>
            </a:r>
            <a:r>
              <a:rPr lang="vi-VN" sz="2200" b="1">
                <a:solidFill>
                  <a:srgbClr val="002060"/>
                </a:solidFill>
                <a:latin typeface="Cambria" panose="02040503050406030204" pitchFamily="18" charset="0"/>
              </a:rPr>
              <a:t>với chất lượng CD ở tốc độ bit thấp</a:t>
            </a:r>
          </a:p>
          <a:p>
            <a:pPr marL="57150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MP3 hỗ trợ các tần số lấy mẫu khác nhau như: 32kHz; 44,1kHz;</a:t>
            </a:r>
            <a:r>
              <a:rPr lang="en-US" sz="2200" b="1">
                <a:solidFill>
                  <a:srgbClr val="002060"/>
                </a:solidFill>
                <a:latin typeface="Cambria" panose="02040503050406030204" pitchFamily="18" charset="0"/>
              </a:rPr>
              <a:t> </a:t>
            </a:r>
            <a:r>
              <a:rPr lang="vi-VN" sz="2200" b="1">
                <a:solidFill>
                  <a:srgbClr val="002060"/>
                </a:solidFill>
                <a:latin typeface="Cambria" panose="02040503050406030204" pitchFamily="18" charset="0"/>
              </a:rPr>
              <a:t>48kHz; tốc độ bit có thể thay đổi từ 32 đến 448kbps</a:t>
            </a:r>
            <a:endParaRPr lang="en-US" sz="2200" b="1">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ACC: Ra đời năm 1997 từ Fraunhofer Institue (Đức) kết hợp với một số</a:t>
            </a:r>
            <a:r>
              <a:rPr lang="en-US" sz="2200" b="1">
                <a:solidFill>
                  <a:srgbClr val="002060"/>
                </a:solidFill>
                <a:latin typeface="Cambria" panose="02040503050406030204" pitchFamily="18" charset="0"/>
              </a:rPr>
              <a:t> </a:t>
            </a:r>
            <a:r>
              <a:rPr lang="vi-VN" sz="2200" b="1">
                <a:solidFill>
                  <a:srgbClr val="002060"/>
                </a:solidFill>
                <a:latin typeface="Cambria" panose="02040503050406030204" pitchFamily="18" charset="0"/>
              </a:rPr>
              <a:t>công ty như AT&amp;T, Sony, Dolby, là định dạng cải tiến của MP3.</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OGG: Là định dạng nguồn mở được Xiph.org Foundation đề xuất năm</a:t>
            </a:r>
            <a:r>
              <a:rPr lang="en-US" sz="2200" b="1">
                <a:solidFill>
                  <a:srgbClr val="002060"/>
                </a:solidFill>
                <a:latin typeface="Cambria" panose="02040503050406030204" pitchFamily="18" charset="0"/>
              </a:rPr>
              <a:t> </a:t>
            </a:r>
            <a:r>
              <a:rPr lang="vi-VN" sz="2200" b="1">
                <a:solidFill>
                  <a:srgbClr val="002060"/>
                </a:solidFill>
                <a:latin typeface="Cambria" panose="02040503050406030204" pitchFamily="18" charset="0"/>
              </a:rPr>
              <a:t>1993, nén tốt và có chất lượng ở tốc độ bit thấp.</a:t>
            </a:r>
          </a:p>
        </p:txBody>
      </p:sp>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165879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971729"/>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WMA: Định dạng âm thanh của Microsoft, ra mắt năm 1999, trên </a:t>
            </a:r>
            <a:r>
              <a:rPr lang="vi-VN" sz="2200" b="1" smtClean="0">
                <a:solidFill>
                  <a:srgbClr val="002060"/>
                </a:solidFill>
                <a:latin typeface="Cambria" panose="02040503050406030204" pitchFamily="18" charset="0"/>
              </a:rPr>
              <a:t>lý</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thuyết </a:t>
            </a:r>
            <a:r>
              <a:rPr lang="vi-VN" sz="2200" b="1">
                <a:solidFill>
                  <a:srgbClr val="002060"/>
                </a:solidFill>
                <a:latin typeface="Cambria" panose="02040503050406030204" pitchFamily="18" charset="0"/>
              </a:rPr>
              <a:t>có thể nén 96 kbps với chất lượng của MP3 128 kbps. WMA </a:t>
            </a:r>
            <a:r>
              <a:rPr lang="vi-VN" sz="2200" b="1" smtClean="0">
                <a:solidFill>
                  <a:srgbClr val="002060"/>
                </a:solidFill>
                <a:latin typeface="Cambria" panose="02040503050406030204" pitchFamily="18" charset="0"/>
              </a:rPr>
              <a:t>cũng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phổ </a:t>
            </a:r>
            <a:r>
              <a:rPr lang="vi-VN" sz="2200" b="1">
                <a:solidFill>
                  <a:srgbClr val="002060"/>
                </a:solidFill>
                <a:latin typeface="Cambria" panose="02040503050406030204" pitchFamily="18" charset="0"/>
              </a:rPr>
              <a:t>biến trong thế giới âm thanh phát trực tuyến.</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Realaudio: Định dạng của công ty RealNetworks, chủ yếu dùng cho </a:t>
            </a:r>
            <a:r>
              <a:rPr lang="vi-VN" sz="2200" b="1" smtClean="0">
                <a:solidFill>
                  <a:srgbClr val="002060"/>
                </a:solidFill>
                <a:latin typeface="Cambria" panose="02040503050406030204" pitchFamily="18" charset="0"/>
              </a:rPr>
              <a:t>phát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nhạc </a:t>
            </a:r>
            <a:r>
              <a:rPr lang="vi-VN" sz="2200" b="1">
                <a:solidFill>
                  <a:srgbClr val="002060"/>
                </a:solidFill>
                <a:latin typeface="Cambria" panose="02040503050406030204" pitchFamily="18" charset="0"/>
              </a:rPr>
              <a:t>trực tuyến, định dạng đầu tiên ra đời năm 1995, đến nay đã </a:t>
            </a:r>
            <a:r>
              <a:rPr lang="vi-VN" sz="2200" b="1" smtClean="0">
                <a:solidFill>
                  <a:srgbClr val="002060"/>
                </a:solidFill>
                <a:latin typeface="Cambria" panose="02040503050406030204" pitchFamily="18" charset="0"/>
              </a:rPr>
              <a:t>có</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RealAudio </a:t>
            </a:r>
            <a:r>
              <a:rPr lang="vi-VN" sz="2200" b="1">
                <a:solidFill>
                  <a:srgbClr val="002060"/>
                </a:solidFill>
                <a:latin typeface="Cambria" panose="02040503050406030204" pitchFamily="18" charset="0"/>
              </a:rPr>
              <a:t>10</a:t>
            </a:r>
          </a:p>
        </p:txBody>
      </p:sp>
      <p:sp>
        <p:nvSpPr>
          <p:cNvPr id="5" name="Rectangle 4"/>
          <p:cNvSpPr/>
          <p:nvPr/>
        </p:nvSpPr>
        <p:spPr>
          <a:xfrm>
            <a:off x="119858" y="2579"/>
            <a:ext cx="8603228" cy="577787"/>
          </a:xfrm>
          <a:prstGeom prst="rect">
            <a:avLst/>
          </a:prstGeom>
          <a:noFill/>
        </p:spPr>
        <p:txBody>
          <a:bodyPr wrap="square" lIns="91440" tIns="45720" rIns="91440" bIns="45720">
            <a:spAutoFit/>
          </a:bodyPr>
          <a:lstStyle/>
          <a:p>
            <a:pPr marL="346075" indent="-346075" algn="just">
              <a:lnSpc>
                <a:spcPct val="150000"/>
              </a:lnSpc>
            </a:pPr>
            <a:r>
              <a:rPr lang="vi-VN" sz="2400" b="1" smtClean="0">
                <a:solidFill>
                  <a:srgbClr val="002060"/>
                </a:solidFill>
                <a:latin typeface="Cambria" panose="02040503050406030204" pitchFamily="18" charset="0"/>
              </a:rPr>
              <a:t> </a:t>
            </a: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020705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812" y="1143000"/>
            <a:ext cx="7829551" cy="4357688"/>
          </a:xfrm>
          <a:prstGeom prst="rect">
            <a:avLst/>
          </a:prstGeom>
        </p:spPr>
      </p:pic>
    </p:spTree>
    <p:extLst>
      <p:ext uri="{BB962C8B-B14F-4D97-AF65-F5344CB8AC3E}">
        <p14:creationId xmlns:p14="http://schemas.microsoft.com/office/powerpoint/2010/main" val="10059462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95232" y="932748"/>
            <a:ext cx="8570976" cy="409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Giàn </a:t>
            </a:r>
            <a:r>
              <a:rPr lang="vi-VN" sz="2200" b="1">
                <a:solidFill>
                  <a:srgbClr val="002060"/>
                </a:solidFill>
                <a:latin typeface="Cambria" panose="02040503050406030204" pitchFamily="18" charset="0"/>
              </a:rPr>
              <a:t>lọc (Filterbank</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phân tích tín hiệu vào thành 32 băng con, đầu ra của </a:t>
            </a:r>
            <a:r>
              <a:rPr lang="vi-VN" sz="2200" b="1" smtClean="0">
                <a:solidFill>
                  <a:srgbClr val="002060"/>
                </a:solidFill>
                <a:latin typeface="Cambria" panose="02040503050406030204" pitchFamily="18" charset="0"/>
              </a:rPr>
              <a:t>các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bộ </a:t>
            </a:r>
            <a:r>
              <a:rPr lang="vi-VN" sz="2200" b="1">
                <a:solidFill>
                  <a:srgbClr val="002060"/>
                </a:solidFill>
                <a:latin typeface="Cambria" panose="02040503050406030204" pitchFamily="18" charset="0"/>
              </a:rPr>
              <a:t>lọc băng con được nối với bộ biến đổi Cosin rời rạc </a:t>
            </a:r>
            <a:r>
              <a:rPr lang="vi-VN" sz="2200" b="1" smtClean="0">
                <a:solidFill>
                  <a:srgbClr val="002060"/>
                </a:solidFill>
                <a:latin typeface="Cambria" panose="02040503050406030204" pitchFamily="18" charset="0"/>
              </a:rPr>
              <a:t>MDCT</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MDCT chia tiếp các đầu ra của giàn lọc thành </a:t>
            </a:r>
            <a:r>
              <a:rPr lang="vi-VN" sz="2200" b="1" smtClean="0">
                <a:solidFill>
                  <a:srgbClr val="002060"/>
                </a:solidFill>
                <a:latin typeface="Cambria" panose="02040503050406030204" pitchFamily="18" charset="0"/>
              </a:rPr>
              <a:t>576</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băng </a:t>
            </a:r>
            <a:r>
              <a:rPr lang="vi-VN" sz="2200" b="1">
                <a:solidFill>
                  <a:srgbClr val="002060"/>
                </a:solidFill>
                <a:latin typeface="Cambria" panose="02040503050406030204" pitchFamily="18" charset="0"/>
              </a:rPr>
              <a:t>con nhằm đạt độ phân giải tốt hơn trong miền tần số.</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Lập mô hình cảm quan (Psychoacoustic model</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khâu này quyết định </a:t>
            </a:r>
            <a:r>
              <a:rPr lang="vi-VN" sz="2200" b="1" smtClean="0">
                <a:solidFill>
                  <a:srgbClr val="002060"/>
                </a:solidFill>
                <a:latin typeface="Cambria" panose="02040503050406030204" pitchFamily="18" charset="0"/>
              </a:rPr>
              <a:t>chất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lượng </a:t>
            </a:r>
            <a:r>
              <a:rPr lang="vi-VN" sz="2200" b="1">
                <a:solidFill>
                  <a:srgbClr val="002060"/>
                </a:solidFill>
                <a:latin typeface="Cambria" panose="02040503050406030204" pitchFamily="18" charset="0"/>
              </a:rPr>
              <a:t>của tín hiệu </a:t>
            </a:r>
            <a:r>
              <a:rPr lang="vi-VN" sz="2200" b="1" smtClean="0">
                <a:solidFill>
                  <a:srgbClr val="002060"/>
                </a:solidFill>
                <a:latin typeface="Cambria" panose="02040503050406030204" pitchFamily="18" charset="0"/>
              </a:rPr>
              <a:t>MP3</a:t>
            </a:r>
            <a:r>
              <a:rPr lang="en-US" sz="2200" b="1">
                <a:solidFill>
                  <a:srgbClr val="002060"/>
                </a:solidFill>
                <a:latin typeface="Cambria" panose="02040503050406030204" pitchFamily="18" charset="0"/>
              </a:rPr>
              <a:t>. Bộ mã hóa MP3 tiến hành ánh xạ từ miền thời </a:t>
            </a:r>
            <a:r>
              <a:rPr lang="en-US" sz="2200" b="1" smtClean="0">
                <a:solidFill>
                  <a:srgbClr val="002060"/>
                </a:solidFill>
                <a:latin typeface="Cambria" panose="02040503050406030204" pitchFamily="18" charset="0"/>
              </a:rPr>
              <a:t>gian sang </a:t>
            </a:r>
            <a:r>
              <a:rPr lang="en-US" sz="2200" b="1">
                <a:solidFill>
                  <a:srgbClr val="002060"/>
                </a:solidFill>
                <a:latin typeface="Cambria" panose="02040503050406030204" pitchFamily="18" charset="0"/>
              </a:rPr>
              <a:t>miền tần số bằng phép biến đổi Fourier nhanh FFT (Fast </a:t>
            </a:r>
            <a:r>
              <a:rPr lang="en-US" sz="2200" b="1" smtClean="0">
                <a:solidFill>
                  <a:srgbClr val="002060"/>
                </a:solidFill>
                <a:latin typeface="Cambria" panose="02040503050406030204" pitchFamily="18" charset="0"/>
              </a:rPr>
              <a:t>Fourier Trasform</a:t>
            </a:r>
            <a:r>
              <a:rPr lang="en-US" sz="2200" b="1">
                <a:solidFill>
                  <a:srgbClr val="002060"/>
                </a:solidFill>
                <a:latin typeface="Cambria" panose="02040503050406030204" pitchFamily="18" charset="0"/>
              </a:rPr>
              <a:t>) 1024 điểm</a:t>
            </a: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548939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904173"/>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Lượng </a:t>
            </a:r>
            <a:r>
              <a:rPr lang="vi-VN" sz="2200" b="1">
                <a:solidFill>
                  <a:srgbClr val="002060"/>
                </a:solidFill>
                <a:latin typeface="Cambria" panose="02040503050406030204" pitchFamily="18" charset="0"/>
              </a:rPr>
              <a:t>tử hóa và mã hóa (Quantization and Coding): thực hiện lượng tử </a:t>
            </a:r>
            <a:r>
              <a:rPr lang="vi-VN" sz="2200" b="1" smtClean="0">
                <a:solidFill>
                  <a:srgbClr val="002060"/>
                </a:solidFill>
                <a:latin typeface="Cambria" panose="02040503050406030204" pitchFamily="18" charset="0"/>
              </a:rPr>
              <a:t>hóa</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và </a:t>
            </a:r>
            <a:r>
              <a:rPr lang="vi-VN" sz="2200" b="1">
                <a:solidFill>
                  <a:srgbClr val="002060"/>
                </a:solidFill>
                <a:latin typeface="Cambria" panose="02040503050406030204" pitchFamily="18" charset="0"/>
              </a:rPr>
              <a:t>mã hóa các thành phần phổ với yêu cầu nhiễu lượng tử hóa thấp hơn </a:t>
            </a:r>
            <a:r>
              <a:rPr lang="vi-VN" sz="2200" b="1" smtClean="0">
                <a:solidFill>
                  <a:srgbClr val="002060"/>
                </a:solidFill>
                <a:latin typeface="Cambria" panose="02040503050406030204" pitchFamily="18" charset="0"/>
              </a:rPr>
              <a:t>ngưỡng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mặt nạ</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Vòng lặp trong hay vòng lặp điều khiển tốc độ (rate control loop): hiệu </a:t>
            </a:r>
            <a:r>
              <a:rPr lang="vi-VN" sz="2200" b="1" smtClean="0">
                <a:solidFill>
                  <a:srgbClr val="002060"/>
                </a:solidFill>
                <a:latin typeface="Cambria" panose="02040503050406030204" pitchFamily="18" charset="0"/>
              </a:rPr>
              <a:t>chỉnh </a:t>
            </a:r>
            <a:r>
              <a:rPr lang="vi-VN" sz="2200" b="1">
                <a:solidFill>
                  <a:srgbClr val="002060"/>
                </a:solidFill>
                <a:latin typeface="Cambria" panose="02040503050406030204" pitchFamily="18" charset="0"/>
              </a:rPr>
              <a:t>độ lợi để tăng dần kích thước bước lượng tử hóa, giảm dần số mức lượng </a:t>
            </a:r>
            <a:r>
              <a:rPr lang="vi-VN" sz="2200" b="1" smtClean="0">
                <a:solidFill>
                  <a:srgbClr val="002060"/>
                </a:solidFill>
                <a:latin typeface="Cambria" panose="02040503050406030204" pitchFamily="18" charset="0"/>
              </a:rPr>
              <a:t>tử </a:t>
            </a:r>
            <a:r>
              <a:rPr lang="vi-VN" sz="2200" b="1">
                <a:solidFill>
                  <a:srgbClr val="002060"/>
                </a:solidFill>
                <a:latin typeface="Cambria" panose="02040503050406030204" pitchFamily="18" charset="0"/>
              </a:rPr>
              <a:t>hóa cho đến khi số bit yêu cầu cho mã hóa Huffman đủ nhỏ, dẫn đến bit tốc </a:t>
            </a:r>
            <a:r>
              <a:rPr lang="vi-VN" sz="2200" b="1" smtClean="0">
                <a:solidFill>
                  <a:srgbClr val="002060"/>
                </a:solidFill>
                <a:latin typeface="Cambria" panose="02040503050406030204" pitchFamily="18" charset="0"/>
              </a:rPr>
              <a:t>độ </a:t>
            </a:r>
            <a:r>
              <a:rPr lang="vi-VN" sz="2200" b="1">
                <a:solidFill>
                  <a:srgbClr val="002060"/>
                </a:solidFill>
                <a:latin typeface="Cambria" panose="02040503050406030204" pitchFamily="18" charset="0"/>
              </a:rPr>
              <a:t>bit của tín hiệu MP3 đủ nhỏ.</a:t>
            </a:r>
          </a:p>
        </p:txBody>
      </p:sp>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327079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904173"/>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Vòng lặp ngoài hay vòng lặp điều khiển nhiễu (distortion control loop): hiệu </a:t>
            </a:r>
            <a:r>
              <a:rPr lang="vi-VN" sz="2200" b="1" smtClean="0">
                <a:solidFill>
                  <a:srgbClr val="002060"/>
                </a:solidFill>
                <a:latin typeface="Cambria" panose="02040503050406030204" pitchFamily="18" charset="0"/>
              </a:rPr>
              <a:t>chỉnh </a:t>
            </a:r>
            <a:r>
              <a:rPr lang="vi-VN" sz="2200" b="1">
                <a:solidFill>
                  <a:srgbClr val="002060"/>
                </a:solidFill>
                <a:latin typeface="Cambria" panose="02040503050406030204" pitchFamily="18" charset="0"/>
              </a:rPr>
              <a:t>hệ số tỷ lệ để giảm dần nhiễu lượng tử hóa, lúc đó số mức lượng tử hóa </a:t>
            </a:r>
            <a:r>
              <a:rPr lang="vi-VN" sz="2200" b="1" smtClean="0">
                <a:solidFill>
                  <a:srgbClr val="002060"/>
                </a:solidFill>
                <a:latin typeface="Cambria" panose="02040503050406030204" pitchFamily="18" charset="0"/>
              </a:rPr>
              <a:t>tăng </a:t>
            </a:r>
            <a:r>
              <a:rPr lang="vi-VN" sz="2200" b="1">
                <a:solidFill>
                  <a:srgbClr val="002060"/>
                </a:solidFill>
                <a:latin typeface="Cambria" panose="02040503050406030204" pitchFamily="18" charset="0"/>
              </a:rPr>
              <a:t>dần lên, làm tốc độ bit tăng dần lên, dẫn đến vòng lặp trong phải hiệu chỉnh </a:t>
            </a:r>
            <a:r>
              <a:rPr lang="vi-VN" sz="2200" b="1" smtClean="0">
                <a:solidFill>
                  <a:srgbClr val="002060"/>
                </a:solidFill>
                <a:latin typeface="Cambria" panose="02040503050406030204" pitchFamily="18" charset="0"/>
              </a:rPr>
              <a:t>độ </a:t>
            </a:r>
            <a:r>
              <a:rPr lang="vi-VN" sz="2200" b="1">
                <a:solidFill>
                  <a:srgbClr val="002060"/>
                </a:solidFill>
                <a:latin typeface="Cambria" panose="02040503050406030204" pitchFamily="18" charset="0"/>
              </a:rPr>
              <a:t>lợi. </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Định dạng dòng bit (bitstream formatting): dòng bit MP3 được định dạng </a:t>
            </a:r>
            <a:r>
              <a:rPr lang="vi-VN" sz="2200" b="1" smtClean="0">
                <a:solidFill>
                  <a:srgbClr val="002060"/>
                </a:solidFill>
                <a:latin typeface="Cambria" panose="02040503050406030204" pitchFamily="18" charset="0"/>
              </a:rPr>
              <a:t>theo </a:t>
            </a:r>
            <a:r>
              <a:rPr lang="vi-VN" sz="2200" b="1">
                <a:solidFill>
                  <a:srgbClr val="002060"/>
                </a:solidFill>
                <a:latin typeface="Cambria" panose="02040503050406030204" pitchFamily="18" charset="0"/>
              </a:rPr>
              <a:t>từng khung, gồm các hệ số phổ đã được mã hóa, đầu khung là header gồm: </a:t>
            </a:r>
            <a:r>
              <a:rPr lang="vi-VN" sz="2200" b="1" smtClean="0">
                <a:solidFill>
                  <a:srgbClr val="002060"/>
                </a:solidFill>
                <a:latin typeface="Cambria" panose="02040503050406030204" pitchFamily="18" charset="0"/>
              </a:rPr>
              <a:t>từ </a:t>
            </a:r>
            <a:r>
              <a:rPr lang="vi-VN" sz="2200" b="1">
                <a:solidFill>
                  <a:srgbClr val="002060"/>
                </a:solidFill>
                <a:latin typeface="Cambria" panose="02040503050406030204" pitchFamily="18" charset="0"/>
              </a:rPr>
              <a:t>mã đồng bộ, tốc độ bit, tần số lấy mẫu, lớp, mode mã hóa</a:t>
            </a:r>
          </a:p>
        </p:txBody>
      </p:sp>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041117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548" y="1335173"/>
            <a:ext cx="8172538"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350494" y="847136"/>
            <a:ext cx="1320874" cy="430887"/>
          </a:xfrm>
          <a:prstGeom prst="rect">
            <a:avLst/>
          </a:prstGeom>
        </p:spPr>
        <p:txBody>
          <a:bodyPr wrap="none">
            <a:spAutoFit/>
          </a:bodyPr>
          <a:lstStyle/>
          <a:p>
            <a:r>
              <a:rPr lang="en-US" sz="2200" b="1">
                <a:solidFill>
                  <a:srgbClr val="002060"/>
                </a:solidFill>
                <a:latin typeface="Cambria" panose="02040503050406030204" pitchFamily="18" charset="0"/>
                <a:ea typeface="Cambria" panose="02040503050406030204" pitchFamily="18" charset="0"/>
              </a:rPr>
              <a:t>Có 3 lớp:</a:t>
            </a:r>
          </a:p>
        </p:txBody>
      </p:sp>
    </p:spTree>
    <p:extLst>
      <p:ext uri="{BB962C8B-B14F-4D97-AF65-F5344CB8AC3E}">
        <p14:creationId xmlns:p14="http://schemas.microsoft.com/office/powerpoint/2010/main" val="963906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7" name="Picture 2" descr="C:\Users\mai xuan\Desktop\Untitl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38844" y="1117195"/>
            <a:ext cx="8483752" cy="4623609"/>
          </a:xfrm>
          <a:prstGeom prst="rect">
            <a:avLst/>
          </a:prstGeom>
        </p:spPr>
      </p:pic>
    </p:spTree>
    <p:extLst>
      <p:ext uri="{BB962C8B-B14F-4D97-AF65-F5344CB8AC3E}">
        <p14:creationId xmlns:p14="http://schemas.microsoft.com/office/powerpoint/2010/main" val="14669009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5984" y="814566"/>
            <a:ext cx="8570976" cy="669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en-US" sz="2200" b="1" smtClean="0">
                <a:solidFill>
                  <a:srgbClr val="002060"/>
                </a:solidFill>
                <a:latin typeface="Cambria" panose="02040503050406030204" pitchFamily="18" charset="0"/>
              </a:rPr>
              <a:t>Giải thuật</a:t>
            </a:r>
          </a:p>
          <a:p>
            <a:pPr marL="628650" indent="-28575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Dùng </a:t>
            </a:r>
            <a:r>
              <a:rPr lang="vi-VN" sz="2200" b="1">
                <a:solidFill>
                  <a:srgbClr val="002060"/>
                </a:solidFill>
                <a:latin typeface="Cambria" panose="02040503050406030204" pitchFamily="18" charset="0"/>
              </a:rPr>
              <a:t>bộ lọc thông để chia tín hiệu âm thanh  thành các sub-band theo tần số, tương ứng với 32 băng giới hạn </a:t>
            </a:r>
            <a:r>
              <a:rPr lang="en-US" sz="2200" b="1" smtClean="0">
                <a:solidFill>
                  <a:srgbClr val="002060"/>
                </a:solidFill>
                <a:latin typeface="Cambria" panose="02040503050406030204" pitchFamily="18" charset="0"/>
              </a:rPr>
              <a:t>-&gt; </a:t>
            </a:r>
            <a:r>
              <a:rPr lang="vi-VN" sz="2200" b="1" smtClean="0">
                <a:solidFill>
                  <a:srgbClr val="002060"/>
                </a:solidFill>
                <a:latin typeface="Cambria" panose="02040503050406030204" pitchFamily="18" charset="0"/>
              </a:rPr>
              <a:t>lọc </a:t>
            </a:r>
            <a:r>
              <a:rPr lang="vi-VN" sz="2200" b="1">
                <a:solidFill>
                  <a:srgbClr val="002060"/>
                </a:solidFill>
                <a:latin typeface="Cambria" panose="02040503050406030204" pitchFamily="18" charset="0"/>
              </a:rPr>
              <a:t>sub-band.</a:t>
            </a: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Xác định số lượng che của mỗi band gây bởi các band lân cận bằng các kết </a:t>
            </a:r>
            <a:r>
              <a:rPr lang="vi-VN" sz="2200" b="1" smtClean="0">
                <a:solidFill>
                  <a:srgbClr val="002060"/>
                </a:solidFill>
                <a:latin typeface="Cambria" panose="02040503050406030204" pitchFamily="18" charset="0"/>
              </a:rPr>
              <a:t>q</a:t>
            </a:r>
            <a:r>
              <a:rPr lang="en-US" sz="2200" b="1" smtClean="0">
                <a:solidFill>
                  <a:srgbClr val="002060"/>
                </a:solidFill>
                <a:latin typeface="Cambria" panose="02040503050406030204" pitchFamily="18" charset="0"/>
              </a:rPr>
              <a:t>uả </a:t>
            </a:r>
            <a:r>
              <a:rPr lang="vi-VN" sz="2200" b="1" smtClean="0">
                <a:solidFill>
                  <a:srgbClr val="002060"/>
                </a:solidFill>
                <a:latin typeface="Cambria" panose="02040503050406030204" pitchFamily="18" charset="0"/>
              </a:rPr>
              <a:t>bước </a:t>
            </a:r>
            <a:r>
              <a:rPr lang="vi-VN" sz="2200" b="1">
                <a:solidFill>
                  <a:srgbClr val="002060"/>
                </a:solidFill>
                <a:latin typeface="Cambria" panose="02040503050406030204" pitchFamily="18" charset="0"/>
              </a:rPr>
              <a:t>1 </a:t>
            </a:r>
            <a:r>
              <a:rPr lang="en-US" sz="2200" b="1" smtClean="0">
                <a:solidFill>
                  <a:srgbClr val="002060"/>
                </a:solidFill>
                <a:latin typeface="Cambria" panose="02040503050406030204" pitchFamily="18" charset="0"/>
              </a:rPr>
              <a:t>-&gt;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mô hình âm - tâm lý.</a:t>
            </a: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Nếu mức to của một băng mà nhỏ hơn ngưỡng che thì không mã hóa </a:t>
            </a:r>
            <a:r>
              <a:rPr lang="vi-VN" sz="2200" b="1" smtClean="0">
                <a:solidFill>
                  <a:srgbClr val="002060"/>
                </a:solidFill>
                <a:latin typeface="Cambria" panose="02040503050406030204" pitchFamily="18" charset="0"/>
              </a:rPr>
              <a:t>nó</a:t>
            </a:r>
            <a:endParaRPr lang="vi-VN" sz="2200" b="1">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Ngược lại, xác định số bit cần thiết để mã hóa sao cho nhiễu sinh ra bởi việc lượng tử hóa này thấp hơn đường cong che.</a:t>
            </a: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Định dạng dòng dữ liệu bit</a:t>
            </a:r>
          </a:p>
          <a:p>
            <a:pPr marL="342900" indent="-342900" algn="just">
              <a:lnSpc>
                <a:spcPct val="150000"/>
              </a:lnSpc>
              <a:buFont typeface="Arial" panose="020B0604020202020204" pitchFamily="34" charset="0"/>
              <a:buChar char="•"/>
            </a:pP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endParaRPr lang="vi-VN" sz="2200" b="1">
              <a:solidFill>
                <a:srgbClr val="002060"/>
              </a:solidFill>
              <a:latin typeface="Cambria" panose="02040503050406030204" pitchFamily="18" charset="0"/>
            </a:endParaRPr>
          </a:p>
        </p:txBody>
      </p:sp>
    </p:spTree>
    <p:extLst>
      <p:ext uri="{BB962C8B-B14F-4D97-AF65-F5344CB8AC3E}">
        <p14:creationId xmlns:p14="http://schemas.microsoft.com/office/powerpoint/2010/main" val="29502222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
        <p:nvSpPr>
          <p:cNvPr id="7" name="TextBox 16"/>
          <p:cNvSpPr txBox="1">
            <a:spLocks noChangeArrowheads="1"/>
          </p:cNvSpPr>
          <p:nvPr/>
        </p:nvSpPr>
        <p:spPr bwMode="auto">
          <a:xfrm>
            <a:off x="135984" y="814566"/>
            <a:ext cx="8570976" cy="155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VD</a:t>
            </a:r>
          </a:p>
          <a:p>
            <a:pPr marL="342900" indent="-342900" algn="just">
              <a:lnSpc>
                <a:spcPct val="150000"/>
              </a:lnSpc>
              <a:buFont typeface="Arial" panose="020B0604020202020204" pitchFamily="34" charset="0"/>
              <a:buChar char="•"/>
            </a:pP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endParaRPr lang="vi-VN" sz="2200" b="1">
              <a:solidFill>
                <a:srgbClr val="002060"/>
              </a:solidFill>
              <a:latin typeface="Cambria" panose="02040503050406030204" pitchFamily="18" charset="0"/>
            </a:endParaRPr>
          </a:p>
        </p:txBody>
      </p:sp>
      <p:sp>
        <p:nvSpPr>
          <p:cNvPr id="8" name="Rectangle 3"/>
          <p:cNvSpPr txBox="1">
            <a:spLocks noChangeArrowheads="1"/>
          </p:cNvSpPr>
          <p:nvPr/>
        </p:nvSpPr>
        <p:spPr>
          <a:xfrm>
            <a:off x="404019" y="1285874"/>
            <a:ext cx="8437563" cy="5272089"/>
          </a:xfrm>
          <a:prstGeom prst="rect">
            <a:avLst/>
          </a:prstGeom>
        </p:spPr>
        <p:txBody>
          <a:bodyPr/>
          <a:lst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mn-lt"/>
                <a:ea typeface="ＭＳ Ｐゴシック" pitchFamily="123"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pitchFamily="123"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pitchFamily="123"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pitchFamily="1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Sau khi phân tích, 16 band đầu tiên trong số 32 band như sau:</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_________________________________________________________</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Band		1   2    3    4    5   6    7    8    9    10    11  12   13   14  15  16</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Level(dB)0   8   12  10   6   2  10  60  35    20    15   2     3     5    3    1</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_________________________________________________________</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Nếu mức to của âm thứ 8 là 60dB, nó sẽ che band thứ 7 ở mức 12dB và band thứ 9 ở mức 15dB.</a:t>
            </a:r>
          </a:p>
          <a:p>
            <a:pPr algn="just" eaLnBrk="1" hangingPunct="1">
              <a:lnSpc>
                <a:spcPct val="80000"/>
              </a:lnSpc>
            </a:pPr>
            <a:r>
              <a:rPr lang="en-US" sz="2000" smtClean="0">
                <a:solidFill>
                  <a:srgbClr val="002060"/>
                </a:solidFill>
                <a:latin typeface="Times New Roman" panose="02020603050405020304" pitchFamily="18" charset="0"/>
                <a:cs typeface="Times New Roman" panose="02020603050405020304" pitchFamily="18" charset="0"/>
              </a:rPr>
              <a:t>Mức to ở band 7 là 10dB (&lt;12dB) nên bị bỏ qua, không mã hóa.</a:t>
            </a:r>
          </a:p>
          <a:p>
            <a:pPr algn="just" eaLnBrk="1" hangingPunct="1">
              <a:lnSpc>
                <a:spcPct val="80000"/>
              </a:lnSpc>
              <a:buFontTx/>
              <a:buNone/>
            </a:pPr>
            <a:r>
              <a:rPr lang="en-US" sz="2000" smtClean="0">
                <a:solidFill>
                  <a:srgbClr val="002060"/>
                </a:solidFill>
                <a:latin typeface="Times New Roman" panose="02020603050405020304" pitchFamily="18" charset="0"/>
                <a:cs typeface="Times New Roman" panose="02020603050405020304" pitchFamily="18" charset="0"/>
              </a:rPr>
              <a:t>	Mức to band 9 là 35 (&gt; 15dB) nên được tiếp tục xử lý.</a:t>
            </a:r>
          </a:p>
          <a:p>
            <a:pPr algn="just" eaLnBrk="1" hangingPunct="1">
              <a:lnSpc>
                <a:spcPct val="80000"/>
              </a:lnSpc>
            </a:pPr>
            <a:r>
              <a:rPr lang="en-US" sz="2000" b="1" smtClean="0">
                <a:solidFill>
                  <a:srgbClr val="002060"/>
                </a:solidFill>
                <a:latin typeface="Times New Roman" panose="02020603050405020304" pitchFamily="18" charset="0"/>
                <a:cs typeface="Times New Roman" panose="02020603050405020304" pitchFamily="18" charset="0"/>
              </a:rPr>
              <a:t>Layer I</a:t>
            </a:r>
            <a:r>
              <a:rPr lang="en-US" sz="2000" smtClean="0">
                <a:solidFill>
                  <a:srgbClr val="002060"/>
                </a:solidFill>
                <a:latin typeface="Times New Roman" panose="02020603050405020304" pitchFamily="18" charset="0"/>
                <a:cs typeface="Times New Roman" panose="02020603050405020304" pitchFamily="18" charset="0"/>
              </a:rPr>
              <a:t>: bộ lọc loại DCT với 1 frame và độ rộng tần số như nhau trên mỗi sub-band. Mô hình âm-tâm lý chỉ sử dụng hiệu quả che tần số (Frequency masking).</a:t>
            </a:r>
          </a:p>
          <a:p>
            <a:pPr algn="just" eaLnBrk="1" hangingPunct="1">
              <a:lnSpc>
                <a:spcPct val="80000"/>
              </a:lnSpc>
            </a:pPr>
            <a:r>
              <a:rPr lang="en-US" sz="2000" b="1" smtClean="0">
                <a:solidFill>
                  <a:srgbClr val="002060"/>
                </a:solidFill>
                <a:latin typeface="Times New Roman" panose="02020603050405020304" pitchFamily="18" charset="0"/>
                <a:cs typeface="Times New Roman" panose="02020603050405020304" pitchFamily="18" charset="0"/>
              </a:rPr>
              <a:t>Layer II</a:t>
            </a:r>
            <a:r>
              <a:rPr lang="en-US" sz="2000" smtClean="0">
                <a:solidFill>
                  <a:srgbClr val="002060"/>
                </a:solidFill>
                <a:latin typeface="Times New Roman" panose="02020603050405020304" pitchFamily="18" charset="0"/>
                <a:cs typeface="Times New Roman" panose="02020603050405020304" pitchFamily="18" charset="0"/>
              </a:rPr>
              <a:t>: sử dụng 3 frame trong bộ lọc (trước, hiện tại và kế tiếp, tổng cộng 1152 mẫu). Mô hình âm-tâm lý có sử dụng hiệu quả che nhất thời (Temporal masking).</a:t>
            </a:r>
          </a:p>
          <a:p>
            <a:pPr algn="just" eaLnBrk="1" hangingPunct="1">
              <a:lnSpc>
                <a:spcPct val="80000"/>
              </a:lnSpc>
            </a:pPr>
            <a:r>
              <a:rPr lang="en-US" sz="2000" b="1" smtClean="0">
                <a:solidFill>
                  <a:srgbClr val="002060"/>
                </a:solidFill>
                <a:latin typeface="Times New Roman" panose="02020603050405020304" pitchFamily="18" charset="0"/>
                <a:cs typeface="Times New Roman" panose="02020603050405020304" pitchFamily="18" charset="0"/>
              </a:rPr>
              <a:t>Layer III</a:t>
            </a:r>
            <a:r>
              <a:rPr lang="en-US" sz="2000" smtClean="0">
                <a:solidFill>
                  <a:srgbClr val="002060"/>
                </a:solidFill>
                <a:latin typeface="Times New Roman" panose="02020603050405020304" pitchFamily="18" charset="0"/>
                <a:cs typeface="Times New Roman" panose="02020603050405020304" pitchFamily="18" charset="0"/>
              </a:rPr>
              <a:t>: dùng bộ lọc băng giới hạn tốt hơn, mô hình âm-tâm lý có sử dụng hiệu quả che nhất thời, và có dùng bộ mã hoá Huffman.</a:t>
            </a:r>
            <a:endParaRPr lang="vi-VN" sz="200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2126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577787"/>
          </a:xfrm>
          <a:prstGeom prst="rect">
            <a:avLst/>
          </a:prstGeom>
          <a:noFill/>
        </p:spPr>
        <p:txBody>
          <a:bodyPr wrap="square" lIns="91440" tIns="45720" rIns="91440" bIns="45720">
            <a:spAutoFit/>
          </a:bodyPr>
          <a:lstStyle/>
          <a:p>
            <a:pPr algn="just">
              <a:lnSpc>
                <a:spcPct val="150000"/>
              </a:lnSpc>
            </a:pPr>
            <a:r>
              <a:rPr lang="pt-BR" sz="2400" b="1">
                <a:solidFill>
                  <a:srgbClr val="002060"/>
                </a:solidFill>
                <a:latin typeface="Cambria" panose="02040503050406030204" pitchFamily="18" charset="0"/>
              </a:rPr>
              <a:t>2.1.2. Chuẩn mã hóa audio Mp3</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672" y="1504619"/>
            <a:ext cx="8229600" cy="475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306672" y="874846"/>
            <a:ext cx="5737212" cy="461665"/>
          </a:xfrm>
          <a:prstGeom prst="rect">
            <a:avLst/>
          </a:prstGeom>
        </p:spPr>
        <p:txBody>
          <a:bodyPr wrap="none">
            <a:spAutoFit/>
          </a:bodyPr>
          <a:lstStyle/>
          <a:p>
            <a:r>
              <a:rPr lang="vi-VN" sz="2400" b="1">
                <a:solidFill>
                  <a:srgbClr val="002060"/>
                </a:solidFill>
                <a:latin typeface="Cambria" panose="02040503050406030204" pitchFamily="18" charset="0"/>
                <a:ea typeface="Cambria" panose="02040503050406030204" pitchFamily="18" charset="0"/>
              </a:rPr>
              <a:t>Kết quả so sánh chất lượng các file MP3</a:t>
            </a:r>
          </a:p>
        </p:txBody>
      </p:sp>
    </p:spTree>
    <p:extLst>
      <p:ext uri="{BB962C8B-B14F-4D97-AF65-F5344CB8AC3E}">
        <p14:creationId xmlns:p14="http://schemas.microsoft.com/office/powerpoint/2010/main" val="6733449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Âm thanh đóng vai trò quan trọng trong các ứng dụng truyền thông đa phương </a:t>
            </a:r>
            <a:r>
              <a:rPr lang="vi-VN" sz="2200" b="1" smtClean="0">
                <a:solidFill>
                  <a:srgbClr val="002060"/>
                </a:solidFill>
                <a:latin typeface="Cambria" panose="02040503050406030204" pitchFamily="18" charset="0"/>
              </a:rPr>
              <a:t>tiện</a:t>
            </a:r>
            <a:endParaRPr lang="en-US" sz="2200" b="1" smtClean="0">
              <a:solidFill>
                <a:srgbClr val="002060"/>
              </a:solidFill>
              <a:latin typeface="Cambria" panose="02040503050406030204" pitchFamily="18" charset="0"/>
            </a:endParaRPr>
          </a:p>
          <a:p>
            <a:pPr marL="57150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Âm </a:t>
            </a:r>
            <a:r>
              <a:rPr lang="vi-VN" sz="2200" b="1" smtClean="0">
                <a:solidFill>
                  <a:srgbClr val="002060"/>
                </a:solidFill>
                <a:latin typeface="Cambria" panose="02040503050406030204" pitchFamily="18" charset="0"/>
              </a:rPr>
              <a:t>thanh kết </a:t>
            </a:r>
            <a:r>
              <a:rPr lang="vi-VN" sz="2200" b="1">
                <a:solidFill>
                  <a:srgbClr val="002060"/>
                </a:solidFill>
                <a:latin typeface="Cambria" panose="02040503050406030204" pitchFamily="18" charset="0"/>
              </a:rPr>
              <a:t>hợp với </a:t>
            </a:r>
            <a:r>
              <a:rPr lang="vi-VN" sz="2200" b="1" smtClean="0">
                <a:solidFill>
                  <a:srgbClr val="002060"/>
                </a:solidFill>
                <a:latin typeface="Cambria" panose="02040503050406030204" pitchFamily="18" charset="0"/>
              </a:rPr>
              <a:t>h</a:t>
            </a:r>
            <a:r>
              <a:rPr lang="en-US" sz="2200" b="1" smtClean="0">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 </a:t>
            </a:r>
            <a:r>
              <a:rPr lang="vi-VN" sz="2200" b="1">
                <a:solidFill>
                  <a:srgbClr val="002060"/>
                </a:solidFill>
                <a:latin typeface="Cambria" panose="02040503050406030204" pitchFamily="18" charset="0"/>
              </a:rPr>
              <a:t>ảnh </a:t>
            </a:r>
            <a:r>
              <a:rPr lang="vi-VN" sz="2200" b="1" smtClean="0">
                <a:solidFill>
                  <a:srgbClr val="002060"/>
                </a:solidFill>
                <a:latin typeface="Cambria" panose="02040503050406030204" pitchFamily="18" charset="0"/>
              </a:rPr>
              <a:t>để </a:t>
            </a:r>
            <a:r>
              <a:rPr lang="vi-VN" sz="2200" b="1">
                <a:solidFill>
                  <a:srgbClr val="002060"/>
                </a:solidFill>
                <a:latin typeface="Cambria" panose="02040503050406030204" pitchFamily="18" charset="0"/>
              </a:rPr>
              <a:t>giải </a:t>
            </a:r>
            <a:r>
              <a:rPr lang="vi-VN" sz="2200" b="1" smtClean="0">
                <a:solidFill>
                  <a:srgbClr val="002060"/>
                </a:solidFill>
                <a:latin typeface="Cambria" panose="02040503050406030204" pitchFamily="18" charset="0"/>
              </a:rPr>
              <a:t>th</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cho người sử dụng một ý tưởng hay một quy </a:t>
            </a:r>
            <a:r>
              <a:rPr lang="vi-VN" sz="2200" b="1" smtClean="0">
                <a:solidFill>
                  <a:srgbClr val="002060"/>
                </a:solidFill>
                <a:latin typeface="Cambria" panose="02040503050406030204" pitchFamily="18" charset="0"/>
              </a:rPr>
              <a:t>tr</a:t>
            </a:r>
            <a:r>
              <a:rPr lang="en-US" sz="2200" b="1">
                <a:solidFill>
                  <a:srgbClr val="002060"/>
                </a:solidFill>
                <a:latin typeface="Cambria" panose="02040503050406030204" pitchFamily="18" charset="0"/>
              </a:rPr>
              <a:t>ì</a:t>
            </a:r>
            <a:r>
              <a:rPr lang="vi-VN" sz="2200" b="1" smtClean="0">
                <a:solidFill>
                  <a:srgbClr val="002060"/>
                </a:solidFill>
                <a:latin typeface="Cambria" panose="02040503050406030204" pitchFamily="18" charset="0"/>
              </a:rPr>
              <a:t>nh</a:t>
            </a:r>
            <a:endParaRPr lang="en-US" sz="2200" b="1" smtClean="0">
              <a:solidFill>
                <a:srgbClr val="002060"/>
              </a:solidFill>
              <a:latin typeface="Cambria" panose="02040503050406030204" pitchFamily="18" charset="0"/>
            </a:endParaRPr>
          </a:p>
          <a:p>
            <a:pPr marL="571500" indent="-285750" algn="just">
              <a:lnSpc>
                <a:spcPct val="150000"/>
              </a:lnSpc>
              <a:buFont typeface="Cambria" panose="02040503050406030204" pitchFamily="18" charset="0"/>
              <a:buChar char="⁺"/>
            </a:pPr>
            <a:r>
              <a:rPr lang="en-US" sz="2200" b="1">
                <a:solidFill>
                  <a:srgbClr val="002060"/>
                </a:solidFill>
                <a:latin typeface="Cambria" panose="02040503050406030204" pitchFamily="18" charset="0"/>
              </a:rPr>
              <a:t>Â</a:t>
            </a:r>
            <a:r>
              <a:rPr lang="vi-VN" sz="2200" b="1" smtClean="0">
                <a:solidFill>
                  <a:srgbClr val="002060"/>
                </a:solidFill>
                <a:latin typeface="Cambria" panose="02040503050406030204" pitchFamily="18" charset="0"/>
              </a:rPr>
              <a:t>m </a:t>
            </a:r>
            <a:r>
              <a:rPr lang="en-US" sz="2200" b="1" smtClean="0">
                <a:solidFill>
                  <a:srgbClr val="002060"/>
                </a:solidFill>
                <a:latin typeface="Cambria" panose="02040503050406030204" pitchFamily="18" charset="0"/>
              </a:rPr>
              <a:t>thanh </a:t>
            </a:r>
            <a:r>
              <a:rPr lang="vi-VN" sz="2200" b="1" smtClean="0">
                <a:solidFill>
                  <a:srgbClr val="002060"/>
                </a:solidFill>
                <a:latin typeface="Cambria" panose="02040503050406030204" pitchFamily="18" charset="0"/>
              </a:rPr>
              <a:t>được </a:t>
            </a:r>
            <a:r>
              <a:rPr lang="vi-VN" sz="2200" b="1">
                <a:solidFill>
                  <a:srgbClr val="002060"/>
                </a:solidFill>
                <a:latin typeface="Cambria" panose="02040503050406030204" pitchFamily="18" charset="0"/>
              </a:rPr>
              <a:t>đưa vào các ứng </a:t>
            </a:r>
            <a:r>
              <a:rPr lang="vi-VN" sz="2200" b="1" smtClean="0">
                <a:solidFill>
                  <a:srgbClr val="002060"/>
                </a:solidFill>
                <a:latin typeface="Cambria" panose="02040503050406030204" pitchFamily="18" charset="0"/>
              </a:rPr>
              <a:t>dụng</a:t>
            </a:r>
            <a:r>
              <a:rPr lang="en-US" sz="2200" b="1" smtClean="0">
                <a:solidFill>
                  <a:srgbClr val="002060"/>
                </a:solidFill>
                <a:latin typeface="Cambria" panose="02040503050406030204" pitchFamily="18" charset="0"/>
              </a:rPr>
              <a:t>: </a:t>
            </a:r>
            <a:r>
              <a:rPr lang="pt-BR" sz="2200" b="1" smtClean="0">
                <a:solidFill>
                  <a:srgbClr val="002060"/>
                </a:solidFill>
                <a:latin typeface="Cambria" panose="02040503050406030204" pitchFamily="18" charset="0"/>
              </a:rPr>
              <a:t>hệ </a:t>
            </a:r>
            <a:r>
              <a:rPr lang="pt-BR" sz="2200" b="1">
                <a:solidFill>
                  <a:srgbClr val="002060"/>
                </a:solidFill>
                <a:latin typeface="Cambria" panose="02040503050406030204" pitchFamily="18" charset="0"/>
              </a:rPr>
              <a:t>thống đào tạo và bán hàng tự </a:t>
            </a:r>
            <a:r>
              <a:rPr lang="pt-BR" sz="2200" b="1" smtClean="0">
                <a:solidFill>
                  <a:srgbClr val="002060"/>
                </a:solidFill>
                <a:latin typeface="Cambria" panose="02040503050406030204" pitchFamily="18" charset="0"/>
              </a:rPr>
              <a:t>động, hệ </a:t>
            </a:r>
            <a:r>
              <a:rPr lang="pt-BR" sz="2200" b="1">
                <a:solidFill>
                  <a:srgbClr val="002060"/>
                </a:solidFill>
                <a:latin typeface="Cambria" panose="02040503050406030204" pitchFamily="18" charset="0"/>
              </a:rPr>
              <a:t>thống điểm thông </a:t>
            </a:r>
            <a:r>
              <a:rPr lang="pt-BR" sz="2200" b="1" smtClean="0">
                <a:solidFill>
                  <a:srgbClr val="002060"/>
                </a:solidFill>
                <a:latin typeface="Cambria" panose="02040503050406030204" pitchFamily="18" charset="0"/>
              </a:rPr>
              <a:t>tin, </a:t>
            </a:r>
            <a:r>
              <a:rPr lang="vi-VN" sz="2200" b="1" smtClean="0">
                <a:solidFill>
                  <a:srgbClr val="002060"/>
                </a:solidFill>
                <a:latin typeface="Cambria" panose="02040503050406030204" pitchFamily="18" charset="0"/>
              </a:rPr>
              <a:t>hệ </a:t>
            </a:r>
            <a:r>
              <a:rPr lang="vi-VN" sz="2200" b="1">
                <a:solidFill>
                  <a:srgbClr val="002060"/>
                </a:solidFill>
                <a:latin typeface="Cambria" panose="02040503050406030204" pitchFamily="18" charset="0"/>
              </a:rPr>
              <a:t>thống chỉ đường của người khiếm thị, </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7150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Công nghệ xử lý âm thanh ngày càng được cải tiến, mối quan tâm của người dùng đến các hệ thống xử lý và nhận dạng tiếng nói trong các ứng dụng kinh doanh, an ninh, </a:t>
            </a: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2.2. Ứng dụng của âm thanh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408972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57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400" b="1" smtClean="0">
                <a:solidFill>
                  <a:srgbClr val="002060"/>
                </a:solidFill>
                <a:latin typeface="Cambria" panose="02040503050406030204" pitchFamily="18" charset="0"/>
              </a:rPr>
              <a:t>2.3.1. </a:t>
            </a:r>
            <a:r>
              <a:rPr lang="vi-VN" sz="2400" b="1">
                <a:solidFill>
                  <a:srgbClr val="002060"/>
                </a:solidFill>
                <a:latin typeface="Cambria" panose="02040503050406030204" pitchFamily="18" charset="0"/>
              </a:rPr>
              <a:t>Đo lường hiệu năng nén</a:t>
            </a:r>
            <a:endParaRPr lang="pt-BR" sz="2400" b="1">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Hiệu </a:t>
            </a:r>
            <a:r>
              <a:rPr lang="vi-VN" sz="2200" b="1">
                <a:solidFill>
                  <a:srgbClr val="002060"/>
                </a:solidFill>
                <a:latin typeface="Cambria" panose="02040503050406030204" pitchFamily="18" charset="0"/>
              </a:rPr>
              <a:t>năng của một kỹ thuật nén đo bằng một tập các tham số.</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Hệ số </a:t>
            </a:r>
            <a:r>
              <a:rPr lang="vi-VN" sz="2200" b="1" smtClean="0">
                <a:solidFill>
                  <a:srgbClr val="002060"/>
                </a:solidFill>
                <a:latin typeface="Cambria" panose="02040503050406030204" pitchFamily="18" charset="0"/>
              </a:rPr>
              <a:t>nén</a:t>
            </a:r>
            <a:r>
              <a:rPr lang="en-US" sz="2200" b="1" smtClean="0">
                <a:solidFill>
                  <a:srgbClr val="002060"/>
                </a:solidFill>
                <a:latin typeface="Cambria" panose="02040503050406030204" pitchFamily="18" charset="0"/>
              </a:rPr>
              <a:t>: l</a:t>
            </a:r>
            <a:r>
              <a:rPr lang="vi-VN" sz="2200" b="1" smtClean="0">
                <a:solidFill>
                  <a:srgbClr val="002060"/>
                </a:solidFill>
                <a:latin typeface="Cambria" panose="02040503050406030204" pitchFamily="18" charset="0"/>
              </a:rPr>
              <a:t>à </a:t>
            </a:r>
            <a:r>
              <a:rPr lang="vi-VN" sz="2200" b="1">
                <a:solidFill>
                  <a:srgbClr val="002060"/>
                </a:solidFill>
                <a:latin typeface="Cambria" panose="02040503050406030204" pitchFamily="18" charset="0"/>
              </a:rPr>
              <a:t>tỷ số giữa số lượng dữ liệu gốc và </a:t>
            </a:r>
            <a:r>
              <a:rPr lang="vi-VN" sz="2200" b="1" smtClean="0">
                <a:solidFill>
                  <a:srgbClr val="002060"/>
                </a:solidFill>
                <a:latin typeface="Cambria" panose="02040503050406030204" pitchFamily="18" charset="0"/>
              </a:rPr>
              <a:t>số</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lượng </a:t>
            </a:r>
            <a:r>
              <a:rPr lang="vi-VN" sz="2200" b="1">
                <a:solidFill>
                  <a:srgbClr val="002060"/>
                </a:solidFill>
                <a:latin typeface="Cambria" panose="02040503050406030204" pitchFamily="18" charset="0"/>
              </a:rPr>
              <a:t>dữ liệu sau khi nén.</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Chất lượng tái tạo phương </a:t>
            </a:r>
            <a:r>
              <a:rPr lang="vi-VN" sz="2200" b="1" smtClean="0">
                <a:solidFill>
                  <a:srgbClr val="002060"/>
                </a:solidFill>
                <a:latin typeface="Cambria" panose="02040503050406030204" pitchFamily="18" charset="0"/>
              </a:rPr>
              <a:t>tiện: khi </a:t>
            </a:r>
            <a:r>
              <a:rPr lang="vi-VN" sz="2200" b="1">
                <a:solidFill>
                  <a:srgbClr val="002060"/>
                </a:solidFill>
                <a:latin typeface="Cambria" panose="02040503050406030204" pitchFamily="18" charset="0"/>
              </a:rPr>
              <a:t>hệ số nén cao thì chất lượng </a:t>
            </a:r>
            <a:r>
              <a:rPr lang="vi-VN" sz="2200" b="1" smtClean="0">
                <a:solidFill>
                  <a:srgbClr val="002060"/>
                </a:solidFill>
                <a:latin typeface="Cambria" panose="02040503050406030204" pitchFamily="18" charset="0"/>
              </a:rPr>
              <a:t>tái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tạo </a:t>
            </a:r>
            <a:r>
              <a:rPr lang="vi-VN" sz="2200" b="1">
                <a:solidFill>
                  <a:srgbClr val="002060"/>
                </a:solidFill>
                <a:latin typeface="Cambria" panose="02040503050406030204" pitchFamily="18" charset="0"/>
              </a:rPr>
              <a:t>phương tiện thấp.</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Độ phức </a:t>
            </a:r>
            <a:r>
              <a:rPr lang="vi-VN" sz="2200" b="1" smtClean="0">
                <a:solidFill>
                  <a:srgbClr val="002060"/>
                </a:solidFill>
                <a:latin typeface="Cambria" panose="02040503050406030204" pitchFamily="18" charset="0"/>
              </a:rPr>
              <a:t>tạp: </a:t>
            </a:r>
            <a:r>
              <a:rPr lang="vi-VN" sz="2200" b="1">
                <a:solidFill>
                  <a:srgbClr val="002060"/>
                </a:solidFill>
                <a:latin typeface="Cambria" panose="02040503050406030204" pitchFamily="18" charset="0"/>
              </a:rPr>
              <a:t>Càng đơn </a:t>
            </a:r>
            <a:r>
              <a:rPr lang="vi-VN" sz="2200" b="1" smtClean="0">
                <a:solidFill>
                  <a:srgbClr val="002060"/>
                </a:solidFill>
                <a:latin typeface="Cambria" panose="02040503050406030204" pitchFamily="18" charset="0"/>
              </a:rPr>
              <a:t>giản</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trong </a:t>
            </a:r>
            <a:r>
              <a:rPr lang="vi-VN" sz="2200" b="1">
                <a:solidFill>
                  <a:srgbClr val="002060"/>
                </a:solidFill>
                <a:latin typeface="Cambria" panose="02040503050406030204" pitchFamily="18" charset="0"/>
              </a:rPr>
              <a:t>cài đặt càng tốt.</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Tốc độ nén </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Nhanh là tốt.</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Tốc độ giải </a:t>
            </a:r>
            <a:r>
              <a:rPr lang="vi-VN" sz="2200" b="1" smtClean="0">
                <a:solidFill>
                  <a:srgbClr val="002060"/>
                </a:solidFill>
                <a:latin typeface="Cambria" panose="02040503050406030204" pitchFamily="18" charset="0"/>
              </a:rPr>
              <a:t>nén: </a:t>
            </a:r>
            <a:r>
              <a:rPr lang="vi-VN" sz="2200" b="1">
                <a:solidFill>
                  <a:srgbClr val="002060"/>
                </a:solidFill>
                <a:latin typeface="Cambria" panose="02040503050406030204" pitchFamily="18" charset="0"/>
              </a:rPr>
              <a:t>Nhanh là tốt.</a:t>
            </a: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Khi tốc độ nén và giải nén bằng nhau ta có kỹ thuật nén đối </a:t>
            </a:r>
            <a:r>
              <a:rPr lang="vi-VN" sz="2200" b="1" smtClean="0">
                <a:solidFill>
                  <a:srgbClr val="002060"/>
                </a:solidFill>
                <a:latin typeface="Cambria" panose="02040503050406030204" pitchFamily="18" charset="0"/>
              </a:rPr>
              <a:t>xứng, </a:t>
            </a:r>
            <a:r>
              <a:rPr lang="vi-VN" sz="2200" b="1">
                <a:solidFill>
                  <a:srgbClr val="002060"/>
                </a:solidFill>
                <a:latin typeface="Cambria" panose="02040503050406030204" pitchFamily="18" charset="0"/>
              </a:rPr>
              <a:t>ngược lại ta có kỹ thuật nén </a:t>
            </a:r>
            <a:r>
              <a:rPr lang="vi-VN" sz="2200" b="1" smtClean="0">
                <a:solidFill>
                  <a:srgbClr val="002060"/>
                </a:solidFill>
                <a:latin typeface="Cambria" panose="02040503050406030204" pitchFamily="18" charset="0"/>
              </a:rPr>
              <a:t>không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đối xứng</a:t>
            </a:r>
            <a:endParaRPr lang="en-US" sz="2200" b="1" smtClean="0">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2.3. Kỹ thuật biến đổi âm thanh và tiếng </a:t>
            </a:r>
            <a:r>
              <a:rPr lang="vi-VN" sz="2800" b="1" smtClean="0">
                <a:solidFill>
                  <a:srgbClr val="002060"/>
                </a:solidFill>
                <a:latin typeface="Cambria" panose="02040503050406030204" pitchFamily="18" charset="0"/>
              </a:rPr>
              <a:t>nói</a:t>
            </a:r>
            <a:endParaRPr lang="vi-VN" sz="28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299350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Có </a:t>
            </a:r>
            <a:r>
              <a:rPr lang="vi-VN" sz="2200" b="1">
                <a:solidFill>
                  <a:srgbClr val="002060"/>
                </a:solidFill>
                <a:latin typeface="Cambria" panose="02040503050406030204" pitchFamily="18" charset="0"/>
              </a:rPr>
              <a:t>nhiều kỹ thuật dùng để nén thông tin đa phương </a:t>
            </a:r>
            <a:r>
              <a:rPr lang="vi-VN" sz="2200" b="1" smtClean="0">
                <a:solidFill>
                  <a:srgbClr val="002060"/>
                </a:solidFill>
                <a:latin typeface="Cambria" panose="02040503050406030204" pitchFamily="18" charset="0"/>
              </a:rPr>
              <a:t>tiện. Nếu phân loại trên cơ sở kết quả của kỹ thuật nén =&gt; Hai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kiểu phân loại:</a:t>
            </a:r>
          </a:p>
          <a:p>
            <a:pPr marL="514350" indent="-22860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Kỹ </a:t>
            </a:r>
            <a:r>
              <a:rPr lang="vi-VN" sz="2200" b="1">
                <a:solidFill>
                  <a:srgbClr val="002060"/>
                </a:solidFill>
                <a:latin typeface="Cambria" panose="02040503050406030204" pitchFamily="18" charset="0"/>
              </a:rPr>
              <a:t>thuật nén không mất dữ </a:t>
            </a:r>
            <a:r>
              <a:rPr lang="vi-VN" sz="2200" b="1" smtClean="0">
                <a:solidFill>
                  <a:srgbClr val="002060"/>
                </a:solidFill>
                <a:latin typeface="Cambria" panose="02040503050406030204" pitchFamily="18" charset="0"/>
              </a:rPr>
              <a:t>liệu</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được dùng để nén các chương trình </a:t>
            </a:r>
            <a:r>
              <a:rPr lang="vi-VN" sz="2200" b="1" smtClean="0">
                <a:solidFill>
                  <a:srgbClr val="002060"/>
                </a:solidFill>
                <a:latin typeface="Cambria" panose="02040503050406030204" pitchFamily="18" charset="0"/>
              </a:rPr>
              <a:t>máy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tính</a:t>
            </a:r>
            <a:r>
              <a:rPr lang="vi-VN" sz="2200" b="1">
                <a:solidFill>
                  <a:srgbClr val="002060"/>
                </a:solidFill>
                <a:latin typeface="Cambria" panose="02040503050406030204" pitchFamily="18" charset="0"/>
              </a:rPr>
              <a:t>, hồ sơ pháp lý và bệnh án, theo đó không có lỗi/mất dữ liệu sau nén</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Kỹ </a:t>
            </a:r>
            <a:r>
              <a:rPr lang="vi-VN" sz="2200" b="1">
                <a:solidFill>
                  <a:srgbClr val="002060"/>
                </a:solidFill>
                <a:latin typeface="Cambria" panose="02040503050406030204" pitchFamily="18" charset="0"/>
              </a:rPr>
              <a:t>thuật này chỉ sử dụng các thống kê dữ liệu (data redundance).</a:t>
            </a:r>
          </a:p>
          <a:p>
            <a:pPr marL="514350" indent="-2286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Kỹ thuật nén bị mất dữ </a:t>
            </a:r>
            <a:r>
              <a:rPr lang="vi-VN" sz="2200" b="1" smtClean="0">
                <a:solidFill>
                  <a:srgbClr val="002060"/>
                </a:solidFill>
                <a:latin typeface="Cambria" panose="02040503050406030204" pitchFamily="18" charset="0"/>
              </a:rPr>
              <a:t>liệu</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dùng để nén audio, hình ảnh và video, ở </a:t>
            </a:r>
            <a:r>
              <a:rPr lang="vi-VN" sz="2200" b="1" smtClean="0">
                <a:solidFill>
                  <a:srgbClr val="002060"/>
                </a:solidFill>
                <a:latin typeface="Cambria" panose="02040503050406030204" pitchFamily="18" charset="0"/>
              </a:rPr>
              <a:t>đó</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một </a:t>
            </a:r>
            <a:r>
              <a:rPr lang="vi-VN" sz="2200" b="1">
                <a:solidFill>
                  <a:srgbClr val="002060"/>
                </a:solidFill>
                <a:latin typeface="Cambria" panose="02040503050406030204" pitchFamily="18" charset="0"/>
              </a:rPr>
              <a:t>số lỗi/mất dữ liệu có thể chấp nhận được. Kỹ thuật này sử dụng </a:t>
            </a:r>
            <a:r>
              <a:rPr lang="vi-VN" sz="2200" b="1" smtClean="0">
                <a:solidFill>
                  <a:srgbClr val="002060"/>
                </a:solidFill>
                <a:latin typeface="Cambria" panose="02040503050406030204" pitchFamily="18" charset="0"/>
              </a:rPr>
              <a:t>các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thống </a:t>
            </a:r>
            <a:r>
              <a:rPr lang="vi-VN" sz="2200" b="1">
                <a:solidFill>
                  <a:srgbClr val="002060"/>
                </a:solidFill>
                <a:latin typeface="Cambria" panose="02040503050406030204" pitchFamily="18" charset="0"/>
              </a:rPr>
              <a:t>kê dữ liệu và đặc tính nhận thức của con người</a:t>
            </a: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gn="just">
              <a:lnSpc>
                <a:spcPct val="150000"/>
              </a:lnSpc>
            </a:pPr>
            <a:r>
              <a:rPr lang="pt-BR" sz="2800" b="1" smtClean="0">
                <a:solidFill>
                  <a:srgbClr val="002060"/>
                </a:solidFill>
                <a:latin typeface="Cambria" panose="02040503050406030204" pitchFamily="18" charset="0"/>
              </a:rPr>
              <a:t>2.3.2. </a:t>
            </a:r>
            <a:r>
              <a:rPr lang="pt-BR" sz="2800" b="1">
                <a:solidFill>
                  <a:srgbClr val="002060"/>
                </a:solidFill>
                <a:latin typeface="Cambria" panose="02040503050406030204" pitchFamily="18" charset="0"/>
              </a:rPr>
              <a:t>Phân loại các kỹ thuật nén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0783948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Kỹ thuật nén không mất dữ liệu (Lossness)</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Dữ liệu gốc có thể phục hồi lại hoàn toàn</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Tỷ lệ nén thông thường có thể đạt được từ 2:1 đến 50:1</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không mất dữ liệu được sử dụng để nén các chương trình máy tính</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văn bản luật pháp và các bệnh án. Nó cũng được sử dụng kết hợp </a:t>
            </a:r>
            <a:r>
              <a:rPr lang="vi-VN" sz="2200" b="1" smtClean="0">
                <a:solidFill>
                  <a:srgbClr val="002060"/>
                </a:solidFill>
                <a:latin typeface="Cambria" panose="02040503050406030204" pitchFamily="18" charset="0"/>
              </a:rPr>
              <a:t>với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kỹ </a:t>
            </a:r>
            <a:r>
              <a:rPr lang="vi-VN" sz="2200" b="1">
                <a:solidFill>
                  <a:srgbClr val="002060"/>
                </a:solidFill>
                <a:latin typeface="Cambria" panose="02040503050406030204" pitchFamily="18" charset="0"/>
              </a:rPr>
              <a:t>thuật nén mất dữ liệu để đạt các hệ số nén cao trong thông tin </a:t>
            </a:r>
            <a:r>
              <a:rPr lang="vi-VN" sz="2200" b="1" smtClean="0">
                <a:solidFill>
                  <a:srgbClr val="002060"/>
                </a:solidFill>
                <a:latin typeface="Cambria" panose="02040503050406030204" pitchFamily="18" charset="0"/>
              </a:rPr>
              <a:t>đa</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phương tiện</a:t>
            </a:r>
            <a:endParaRPr lang="vi-VN" sz="2200" b="1">
              <a:solidFill>
                <a:srgbClr val="002060"/>
              </a:solidFill>
              <a:latin typeface="Cambria" panose="02040503050406030204" pitchFamily="18" charset="0"/>
            </a:endParaRP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kỹ thuật nén không mất dữ liệu khai thác “tính dư thừa thống kê</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statisticals redundancies) trong dữ liệu được </a:t>
            </a:r>
            <a:r>
              <a:rPr lang="vi-VN" sz="2200" b="1" smtClean="0">
                <a:solidFill>
                  <a:srgbClr val="002060"/>
                </a:solidFill>
                <a:latin typeface="Cambria" panose="02040503050406030204" pitchFamily="18" charset="0"/>
              </a:rPr>
              <a:t>nén</a:t>
            </a:r>
            <a:endParaRPr lang="vi-VN" sz="2200" b="1">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gn="just">
              <a:lnSpc>
                <a:spcPct val="150000"/>
              </a:lnSpc>
            </a:pPr>
            <a:r>
              <a:rPr lang="pt-BR" sz="2800" b="1" smtClean="0">
                <a:solidFill>
                  <a:srgbClr val="002060"/>
                </a:solidFill>
                <a:latin typeface="Cambria" panose="02040503050406030204" pitchFamily="18" charset="0"/>
              </a:rPr>
              <a:t>2.3.2. </a:t>
            </a:r>
            <a:r>
              <a:rPr lang="pt-BR" sz="2800" b="1">
                <a:solidFill>
                  <a:srgbClr val="002060"/>
                </a:solidFill>
                <a:latin typeface="Cambria" panose="02040503050406030204" pitchFamily="18" charset="0"/>
              </a:rPr>
              <a:t>Phân loại các kỹ thuật nén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243862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Kỹ thuật nén mất dữ liệu (Lossy)</a:t>
            </a:r>
          </a:p>
          <a:p>
            <a:pPr marL="51435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Có sự khác biệt giữa dữ liệu gốc và dữ liệu được phục hồi lại sau khi </a:t>
            </a:r>
            <a:r>
              <a:rPr lang="vi-VN" sz="2200" b="1" smtClean="0">
                <a:solidFill>
                  <a:srgbClr val="002060"/>
                </a:solidFill>
                <a:latin typeface="Cambria" panose="02040503050406030204" pitchFamily="18" charset="0"/>
              </a:rPr>
              <a:t>nén</a:t>
            </a:r>
            <a:r>
              <a:rPr lang="en-US" sz="2200" b="1" smtClean="0">
                <a:solidFill>
                  <a:srgbClr val="002060"/>
                </a:solidFill>
                <a:latin typeface="Cambria" panose="02040503050406030204" pitchFamily="18" charset="0"/>
              </a:rPr>
              <a:t> </a:t>
            </a:r>
            <a:endParaRPr lang="vi-VN" sz="2200" b="1">
              <a:solidFill>
                <a:srgbClr val="002060"/>
              </a:solidFill>
              <a:latin typeface="Cambria" panose="02040503050406030204" pitchFamily="18" charset="0"/>
            </a:endParaRPr>
          </a:p>
          <a:p>
            <a:pPr marL="51435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Có sử dụng các đặc điểm tâm sinh lý của thính giác và thị giác của </a:t>
            </a:r>
            <a:r>
              <a:rPr lang="vi-VN" sz="2200" b="1" smtClean="0">
                <a:solidFill>
                  <a:srgbClr val="002060"/>
                </a:solidFill>
                <a:latin typeface="Cambria" panose="02040503050406030204" pitchFamily="18" charset="0"/>
              </a:rPr>
              <a:t>con</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người </a:t>
            </a:r>
            <a:r>
              <a:rPr lang="vi-VN" sz="2200" b="1">
                <a:solidFill>
                  <a:srgbClr val="002060"/>
                </a:solidFill>
                <a:latin typeface="Cambria" panose="02040503050406030204" pitchFamily="18" charset="0"/>
              </a:rPr>
              <a:t>trong việc nghiên cứu cho các giải thuật nén.</a:t>
            </a:r>
          </a:p>
          <a:p>
            <a:pPr marL="51435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Tỷ lệ nén đạt cao hơn so với các giải thuật nén không tổn hao (từ 100:1)</a:t>
            </a:r>
          </a:p>
          <a:p>
            <a:pPr marL="51435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giải thuật nén điển hình: JPEG, MPEG</a:t>
            </a:r>
          </a:p>
          <a:p>
            <a:pPr marL="51435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MP3, Photograph Image, Video</a:t>
            </a: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gn="just">
              <a:lnSpc>
                <a:spcPct val="150000"/>
              </a:lnSpc>
            </a:pPr>
            <a:r>
              <a:rPr lang="pt-BR" sz="2800" b="1" smtClean="0">
                <a:solidFill>
                  <a:srgbClr val="002060"/>
                </a:solidFill>
                <a:latin typeface="Cambria" panose="02040503050406030204" pitchFamily="18" charset="0"/>
              </a:rPr>
              <a:t>2.3.2. </a:t>
            </a:r>
            <a:r>
              <a:rPr lang="pt-BR" sz="2800" b="1">
                <a:solidFill>
                  <a:srgbClr val="002060"/>
                </a:solidFill>
                <a:latin typeface="Cambria" panose="02040503050406030204" pitchFamily="18" charset="0"/>
              </a:rPr>
              <a:t>Phân loại các kỹ thuật nén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673040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Kỹ thuật nén tốc độ bit không đổi và nén tốc độ bit thay </a:t>
            </a:r>
            <a:r>
              <a:rPr lang="vi-VN" sz="2200" b="1" smtClean="0">
                <a:solidFill>
                  <a:srgbClr val="002060"/>
                </a:solidFill>
                <a:latin typeface="Cambria" panose="02040503050406030204" pitchFamily="18" charset="0"/>
              </a:rPr>
              <a:t>đổi</a:t>
            </a:r>
            <a:endParaRPr lang="en-US" sz="2200" b="1" smtClean="0">
              <a:solidFill>
                <a:srgbClr val="002060"/>
              </a:solidFill>
              <a:latin typeface="Cambria" panose="02040503050406030204" pitchFamily="18" charset="0"/>
            </a:endParaRPr>
          </a:p>
          <a:p>
            <a:pPr marL="628650" indent="-34290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Trong </a:t>
            </a:r>
            <a:r>
              <a:rPr lang="vi-VN" sz="2200" b="1">
                <a:solidFill>
                  <a:srgbClr val="002060"/>
                </a:solidFill>
                <a:latin typeface="Cambria" panose="02040503050406030204" pitchFamily="18" charset="0"/>
              </a:rPr>
              <a:t>số hoá audio/video, các mẫu được lấy trong các thời khoảng </a:t>
            </a:r>
            <a:r>
              <a:rPr lang="vi-VN" sz="2200" b="1" smtClean="0">
                <a:solidFill>
                  <a:srgbClr val="002060"/>
                </a:solidFill>
                <a:latin typeface="Cambria" panose="02040503050406030204" pitchFamily="18" charset="0"/>
              </a:rPr>
              <a:t>bằng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nhau </a:t>
            </a:r>
            <a:r>
              <a:rPr lang="vi-VN" sz="2200" b="1">
                <a:solidFill>
                  <a:srgbClr val="002060"/>
                </a:solidFill>
                <a:latin typeface="Cambria" panose="02040503050406030204" pitchFamily="18" charset="0"/>
              </a:rPr>
              <a:t>và biểu diễn với một số bit như nhau</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Khi </a:t>
            </a:r>
            <a:r>
              <a:rPr lang="vi-VN" sz="2200" b="1">
                <a:solidFill>
                  <a:srgbClr val="002060"/>
                </a:solidFill>
                <a:latin typeface="Cambria" panose="02040503050406030204" pitchFamily="18" charset="0"/>
              </a:rPr>
              <a:t>giải nén audio/video thành các dòng bit tốc độ không </a:t>
            </a:r>
            <a:r>
              <a:rPr lang="vi-VN" sz="2200" b="1" smtClean="0">
                <a:solidFill>
                  <a:srgbClr val="002060"/>
                </a:solidFill>
                <a:latin typeface="Cambria" panose="02040503050406030204" pitchFamily="18" charset="0"/>
              </a:rPr>
              <a:t>đổi</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Ta gọi </a:t>
            </a:r>
            <a:r>
              <a:rPr lang="vi-VN" sz="2200" b="1" smtClean="0">
                <a:solidFill>
                  <a:srgbClr val="002060"/>
                </a:solidFill>
                <a:latin typeface="Cambria" panose="02040503050406030204" pitchFamily="18" charset="0"/>
              </a:rPr>
              <a:t>kỹ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thuật </a:t>
            </a:r>
            <a:r>
              <a:rPr lang="vi-VN" sz="2200" b="1">
                <a:solidFill>
                  <a:srgbClr val="002060"/>
                </a:solidFill>
                <a:latin typeface="Cambria" panose="02040503050406030204" pitchFamily="18" charset="0"/>
              </a:rPr>
              <a:t>mã hoá tốc độ bit không đổi (CBR).</a:t>
            </a:r>
          </a:p>
          <a:p>
            <a:pPr marL="628650" indent="-3429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Một số kỹ thuật nén sẽ làm giảm tốc độ bit của các dòng, và ta gọi là </a:t>
            </a:r>
            <a:r>
              <a:rPr lang="vi-VN" sz="2200" b="1" smtClean="0">
                <a:solidFill>
                  <a:srgbClr val="002060"/>
                </a:solidFill>
                <a:latin typeface="Cambria" panose="02040503050406030204" pitchFamily="18" charset="0"/>
              </a:rPr>
              <a:t>kỹ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thuật </a:t>
            </a:r>
            <a:r>
              <a:rPr lang="vi-VN" sz="2200" b="1">
                <a:solidFill>
                  <a:srgbClr val="002060"/>
                </a:solidFill>
                <a:latin typeface="Cambria" panose="02040503050406030204" pitchFamily="18" charset="0"/>
              </a:rPr>
              <a:t>mã hoá tốc độ bit thay đổi (VBR).</a:t>
            </a: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gn="just">
              <a:lnSpc>
                <a:spcPct val="150000"/>
              </a:lnSpc>
            </a:pPr>
            <a:r>
              <a:rPr lang="pt-BR" sz="2800" b="1" smtClean="0">
                <a:solidFill>
                  <a:srgbClr val="002060"/>
                </a:solidFill>
                <a:latin typeface="Cambria" panose="02040503050406030204" pitchFamily="18" charset="0"/>
              </a:rPr>
              <a:t>2.3.2. </a:t>
            </a:r>
            <a:r>
              <a:rPr lang="pt-BR" sz="2800" b="1">
                <a:solidFill>
                  <a:srgbClr val="002060"/>
                </a:solidFill>
                <a:latin typeface="Cambria" panose="02040503050406030204" pitchFamily="18" charset="0"/>
              </a:rPr>
              <a:t>Phân loại các kỹ thuật nén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5374909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Rất quan trọng khi xếp loại một kỹ thuật nén là </a:t>
            </a:r>
            <a:r>
              <a:rPr lang="vi-VN" sz="2200" b="1" smtClean="0">
                <a:solidFill>
                  <a:srgbClr val="002060"/>
                </a:solidFill>
                <a:latin typeface="Cambria" panose="02040503050406030204" pitchFamily="18" charset="0"/>
              </a:rPr>
              <a:t>CBR/VBR</a:t>
            </a:r>
            <a:endParaRPr lang="en-US" sz="2200" b="1" smtClean="0">
              <a:solidFill>
                <a:srgbClr val="002060"/>
              </a:solidFill>
              <a:latin typeface="Cambria" panose="02040503050406030204" pitchFamily="18" charset="0"/>
            </a:endParaRP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Trước tiên, nội dung phương tiện thay đổi theo thời </a:t>
            </a:r>
            <a:r>
              <a:rPr lang="vi-VN" sz="2200" b="1" smtClean="0">
                <a:solidFill>
                  <a:srgbClr val="002060"/>
                </a:solidFill>
                <a:latin typeface="Cambria" panose="02040503050406030204" pitchFamily="18" charset="0"/>
              </a:rPr>
              <a:t>gian</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Nếu </a:t>
            </a:r>
            <a:r>
              <a:rPr lang="vi-VN" sz="2200" b="1" smtClean="0">
                <a:solidFill>
                  <a:srgbClr val="002060"/>
                </a:solidFill>
                <a:latin typeface="Cambria" panose="02040503050406030204" pitchFamily="18" charset="0"/>
              </a:rPr>
              <a:t>phức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tạp</a:t>
            </a:r>
            <a:r>
              <a:rPr lang="vi-VN" sz="2200" b="1">
                <a:solidFill>
                  <a:srgbClr val="002060"/>
                </a:solidFill>
                <a:latin typeface="Cambria" panose="02040503050406030204" pitchFamily="18" charset="0"/>
              </a:rPr>
              <a:t>, nhiều dữ liệu được sử dụng để biểu diễn. Nếu đơn giản, ít </a:t>
            </a:r>
            <a:r>
              <a:rPr lang="vi-VN" sz="2200" b="1" smtClean="0">
                <a:solidFill>
                  <a:srgbClr val="002060"/>
                </a:solidFill>
                <a:latin typeface="Cambria" panose="02040503050406030204" pitchFamily="18" charset="0"/>
              </a:rPr>
              <a:t>dữ</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liệu </a:t>
            </a:r>
            <a:r>
              <a:rPr lang="vi-VN" sz="2200" b="1">
                <a:solidFill>
                  <a:srgbClr val="002060"/>
                </a:solidFill>
                <a:latin typeface="Cambria" panose="02040503050406030204" pitchFamily="18" charset="0"/>
              </a:rPr>
              <a:t>được sử dụng. Kỹ thuật VBR hiệu quả và cho chất lượng cao </a:t>
            </a:r>
            <a:r>
              <a:rPr lang="vi-VN" sz="2200" b="1" smtClean="0">
                <a:solidFill>
                  <a:srgbClr val="002060"/>
                </a:solidFill>
                <a:latin typeface="Cambria" panose="02040503050406030204" pitchFamily="18" charset="0"/>
              </a:rPr>
              <a:t>ở</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cùng </a:t>
            </a:r>
            <a:r>
              <a:rPr lang="vi-VN" sz="2200" b="1">
                <a:solidFill>
                  <a:srgbClr val="002060"/>
                </a:solidFill>
                <a:latin typeface="Cambria" panose="02040503050406030204" pitchFamily="18" charset="0"/>
              </a:rPr>
              <a:t>hệ số nén.</a:t>
            </a:r>
          </a:p>
          <a:p>
            <a:pPr marL="5143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VBR </a:t>
            </a:r>
            <a:r>
              <a:rPr lang="vi-VN" sz="2200" b="1">
                <a:solidFill>
                  <a:srgbClr val="002060"/>
                </a:solidFill>
                <a:latin typeface="Cambria" panose="02040503050406030204" pitchFamily="18" charset="0"/>
              </a:rPr>
              <a:t>khó đặc tả và mô hình hóa, khó hỗ trợ bởi hệ </a:t>
            </a:r>
            <a:r>
              <a:rPr lang="vi-VN" sz="2200" b="1" smtClean="0">
                <a:solidFill>
                  <a:srgbClr val="002060"/>
                </a:solidFill>
                <a:latin typeface="Cambria" panose="02040503050406030204" pitchFamily="18" charset="0"/>
              </a:rPr>
              <a:t>thống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truyền </a:t>
            </a:r>
            <a:r>
              <a:rPr lang="vi-VN" sz="2200" b="1">
                <a:solidFill>
                  <a:srgbClr val="002060"/>
                </a:solidFill>
                <a:latin typeface="Cambria" panose="02040503050406030204" pitchFamily="18" charset="0"/>
              </a:rPr>
              <a:t>thông đa phương tiện.</a:t>
            </a:r>
          </a:p>
          <a:p>
            <a:pPr marL="5143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Hai </a:t>
            </a:r>
            <a:r>
              <a:rPr lang="vi-VN" sz="2200" b="1">
                <a:solidFill>
                  <a:srgbClr val="002060"/>
                </a:solidFill>
                <a:latin typeface="Cambria" panose="02040503050406030204" pitchFamily="18" charset="0"/>
              </a:rPr>
              <a:t>nhân tố này dùng trong mô tả khi thiết kế và phát triển </a:t>
            </a:r>
            <a:r>
              <a:rPr lang="vi-VN" sz="2200" b="1" smtClean="0">
                <a:solidFill>
                  <a:srgbClr val="002060"/>
                </a:solidFill>
                <a:latin typeface="Cambria" panose="02040503050406030204" pitchFamily="18" charset="0"/>
              </a:rPr>
              <a:t>hệ</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thống </a:t>
            </a:r>
            <a:r>
              <a:rPr lang="vi-VN" sz="2200" b="1">
                <a:solidFill>
                  <a:srgbClr val="002060"/>
                </a:solidFill>
                <a:latin typeface="Cambria" panose="02040503050406030204" pitchFamily="18" charset="0"/>
              </a:rPr>
              <a:t>đa phương tiện.</a:t>
            </a: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gn="just">
              <a:lnSpc>
                <a:spcPct val="150000"/>
              </a:lnSpc>
            </a:pPr>
            <a:r>
              <a:rPr lang="pt-BR" sz="2800" b="1" smtClean="0">
                <a:solidFill>
                  <a:srgbClr val="002060"/>
                </a:solidFill>
                <a:latin typeface="Cambria" panose="02040503050406030204" pitchFamily="18" charset="0"/>
              </a:rPr>
              <a:t>2.3.2. </a:t>
            </a:r>
            <a:r>
              <a:rPr lang="pt-BR" sz="2800" b="1">
                <a:solidFill>
                  <a:srgbClr val="002060"/>
                </a:solidFill>
                <a:latin typeface="Cambria" panose="02040503050406030204" pitchFamily="18" charset="0"/>
              </a:rPr>
              <a:t>Phân loại các kỹ thuật nén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478164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00050" indent="-342900" algn="just">
              <a:lnSpc>
                <a:spcPct val="150000"/>
              </a:lnSpc>
              <a:buFont typeface="Wingdings" panose="05000000000000000000" pitchFamily="2" charset="2"/>
              <a:buChar char="v"/>
            </a:pPr>
            <a:r>
              <a:rPr lang="vi-VN" sz="2200" b="1" smtClean="0">
                <a:solidFill>
                  <a:srgbClr val="002060"/>
                </a:solidFill>
                <a:latin typeface="Cambria" panose="02040503050406030204" pitchFamily="18" charset="0"/>
              </a:rPr>
              <a:t>Nén </a:t>
            </a:r>
            <a:r>
              <a:rPr lang="vi-VN" sz="2200" b="1">
                <a:solidFill>
                  <a:srgbClr val="002060"/>
                </a:solidFill>
                <a:latin typeface="Cambria" panose="02040503050406030204" pitchFamily="18" charset="0"/>
              </a:rPr>
              <a:t>không tổn thất</a:t>
            </a:r>
          </a:p>
          <a:p>
            <a:pPr marL="909638"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Mã hóa entropy (entropy coding – Huffman code)</a:t>
            </a:r>
          </a:p>
          <a:p>
            <a:pPr marL="909638"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Mã hóa độ dài run (run-length coding)</a:t>
            </a:r>
          </a:p>
          <a:p>
            <a:pPr marL="909638"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Mã hóa Lempel-Ziv-Welch (LZW coding)</a:t>
            </a:r>
          </a:p>
          <a:p>
            <a:pPr marL="909638"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Mã số học</a:t>
            </a:r>
          </a:p>
          <a:p>
            <a:pPr marL="342900" indent="-342900" algn="just">
              <a:lnSpc>
                <a:spcPct val="150000"/>
              </a:lnSpc>
              <a:buFont typeface="Wingdings" panose="05000000000000000000" pitchFamily="2" charset="2"/>
              <a:buChar char="v"/>
            </a:pP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gn="just">
              <a:lnSpc>
                <a:spcPct val="150000"/>
              </a:lnSpc>
            </a:pPr>
            <a:r>
              <a:rPr lang="vi-VN" sz="2800" b="1" smtClean="0">
                <a:solidFill>
                  <a:srgbClr val="002060"/>
                </a:solidFill>
                <a:latin typeface="Cambria" panose="02040503050406030204" pitchFamily="18" charset="0"/>
              </a:rPr>
              <a:t>2.3</a:t>
            </a:r>
            <a:r>
              <a:rPr lang="en-US" sz="2800" b="1" smtClean="0">
                <a:solidFill>
                  <a:srgbClr val="002060"/>
                </a:solidFill>
                <a:latin typeface="Cambria" panose="02040503050406030204" pitchFamily="18" charset="0"/>
              </a:rPr>
              <a:t>.3</a:t>
            </a:r>
            <a:r>
              <a:rPr lang="vi-VN" sz="2800" b="1" smtClean="0">
                <a:solidFill>
                  <a:srgbClr val="002060"/>
                </a:solidFill>
                <a:latin typeface="Cambria" panose="02040503050406030204" pitchFamily="18" charset="0"/>
              </a:rPr>
              <a:t>.</a:t>
            </a:r>
            <a:r>
              <a:rPr lang="en-US" sz="2800" b="1" smtClean="0">
                <a:solidFill>
                  <a:srgbClr val="002060"/>
                </a:solidFill>
                <a:latin typeface="Cambria" panose="02040503050406030204" pitchFamily="18" charset="0"/>
              </a:rPr>
              <a:t> </a:t>
            </a:r>
            <a:r>
              <a:rPr lang="en-US" sz="2800" b="1">
                <a:solidFill>
                  <a:srgbClr val="002060"/>
                </a:solidFill>
                <a:latin typeface="Cambria" panose="02040503050406030204" pitchFamily="18" charset="0"/>
              </a:rPr>
              <a:t>Các giải thuật </a:t>
            </a:r>
            <a:r>
              <a:rPr lang="en-US" sz="2800" b="1" smtClean="0">
                <a:solidFill>
                  <a:srgbClr val="002060"/>
                </a:solidFill>
                <a:latin typeface="Cambria" panose="02040503050406030204" pitchFamily="18" charset="0"/>
              </a:rPr>
              <a:t>nén</a:t>
            </a:r>
            <a:endParaRPr lang="en-US" sz="2800" b="1">
              <a:solidFill>
                <a:srgbClr val="002060"/>
              </a:solidFill>
              <a:latin typeface="Cambria" panose="02040503050406030204" pitchFamily="18" charset="0"/>
            </a:endParaRP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2234371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457200" indent="-342900" algn="just">
              <a:lnSpc>
                <a:spcPct val="150000"/>
              </a:lnSpc>
              <a:buFont typeface="Wingdings" panose="05000000000000000000" pitchFamily="2" charset="2"/>
              <a:buChar char="v"/>
            </a:pPr>
            <a:r>
              <a:rPr lang="vi-VN" sz="2200" b="1" smtClean="0">
                <a:solidFill>
                  <a:srgbClr val="002060"/>
                </a:solidFill>
                <a:latin typeface="Cambria" panose="02040503050406030204" pitchFamily="18" charset="0"/>
              </a:rPr>
              <a:t>Nén </a:t>
            </a:r>
            <a:r>
              <a:rPr lang="vi-VN" sz="2200" b="1">
                <a:solidFill>
                  <a:srgbClr val="002060"/>
                </a:solidFill>
                <a:latin typeface="Cambria" panose="02040503050406030204" pitchFamily="18" charset="0"/>
              </a:rPr>
              <a:t>có tổn </a:t>
            </a:r>
            <a:r>
              <a:rPr lang="vi-VN" sz="2200" b="1" smtClean="0">
                <a:solidFill>
                  <a:srgbClr val="002060"/>
                </a:solidFill>
                <a:latin typeface="Cambria" panose="02040503050406030204" pitchFamily="18" charset="0"/>
              </a:rPr>
              <a:t>thất</a:t>
            </a:r>
            <a:endParaRPr lang="en-US" sz="2200" b="1" smtClean="0">
              <a:solidFill>
                <a:srgbClr val="002060"/>
              </a:solidFill>
              <a:latin typeface="Cambria" panose="02040503050406030204" pitchFamily="18" charset="0"/>
            </a:endParaRPr>
          </a:p>
          <a:p>
            <a:pPr marL="398462"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Các </a:t>
            </a:r>
            <a:r>
              <a:rPr lang="vi-VN" sz="2200" b="1">
                <a:solidFill>
                  <a:srgbClr val="002060"/>
                </a:solidFill>
                <a:latin typeface="Cambria" panose="02040503050406030204" pitchFamily="18" charset="0"/>
              </a:rPr>
              <a:t>phương pháp nén âm thanh đơn giản:</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LCP(Linear Predictive Coding)</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CELP (Code Excited Linear </a:t>
            </a:r>
            <a:r>
              <a:rPr lang="vi-VN" sz="2200" b="1" smtClean="0">
                <a:solidFill>
                  <a:srgbClr val="002060"/>
                </a:solidFill>
                <a:latin typeface="Cambria" panose="02040503050406030204" pitchFamily="18" charset="0"/>
              </a:rPr>
              <a:t>Predictor)</a:t>
            </a:r>
            <a:endParaRPr lang="en-US" sz="2200" b="1" smtClean="0">
              <a:solidFill>
                <a:srgbClr val="002060"/>
              </a:solidFill>
              <a:latin typeface="Cambria" panose="02040503050406030204" pitchFamily="18" charset="0"/>
            </a:endParaRPr>
          </a:p>
          <a:p>
            <a:pPr marL="400050" indent="-40005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Nén </a:t>
            </a:r>
            <a:r>
              <a:rPr lang="vi-VN" sz="2200" b="1">
                <a:solidFill>
                  <a:srgbClr val="002060"/>
                </a:solidFill>
                <a:latin typeface="Cambria" panose="02040503050406030204" pitchFamily="18" charset="0"/>
              </a:rPr>
              <a:t>âm thanh dùng mô hình âm – tâm lý (Psychoacoustics):</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Hệ thống nghe và phát âm của con người</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Che tần số</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Băng giới hạn</a:t>
            </a:r>
          </a:p>
          <a:p>
            <a:pPr marL="858838" indent="-29210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Che nhất thời</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âm thanh </a:t>
            </a:r>
            <a:r>
              <a:rPr lang="en-US" sz="2200" b="1">
                <a:solidFill>
                  <a:srgbClr val="002060"/>
                </a:solidFill>
                <a:latin typeface="Cambria" panose="02040503050406030204" pitchFamily="18" charset="0"/>
              </a:rPr>
              <a:t>J</a:t>
            </a:r>
            <a:r>
              <a:rPr lang="en-US" sz="2200" b="1" smtClean="0">
                <a:solidFill>
                  <a:srgbClr val="002060"/>
                </a:solidFill>
                <a:latin typeface="Cambria" panose="02040503050406030204" pitchFamily="18" charset="0"/>
              </a:rPr>
              <a:t>PEG, </a:t>
            </a:r>
            <a:r>
              <a:rPr lang="vi-VN" sz="2200" b="1" smtClean="0">
                <a:solidFill>
                  <a:srgbClr val="002060"/>
                </a:solidFill>
                <a:latin typeface="Cambria" panose="02040503050406030204" pitchFamily="18" charset="0"/>
              </a:rPr>
              <a:t>MPEG</a:t>
            </a:r>
            <a:endParaRPr lang="vi-VN" sz="2200" b="1">
              <a:solidFill>
                <a:srgbClr val="002060"/>
              </a:solidFill>
              <a:latin typeface="Cambria" panose="02040503050406030204" pitchFamily="18" charset="0"/>
            </a:endParaRPr>
          </a:p>
          <a:p>
            <a:pPr marL="695325" indent="-347663" algn="just">
              <a:lnSpc>
                <a:spcPct val="150000"/>
              </a:lnSpc>
              <a:buFont typeface="Arial" panose="020B0604020202020204" pitchFamily="34" charset="0"/>
              <a:buChar char="•"/>
            </a:pPr>
            <a:endParaRPr lang="vi-VN" sz="2200" b="1" smtClean="0">
              <a:solidFill>
                <a:srgbClr val="002060"/>
              </a:solidFill>
              <a:latin typeface="Cambria" panose="02040503050406030204" pitchFamily="18" charset="0"/>
            </a:endParaRPr>
          </a:p>
          <a:p>
            <a:pPr marL="342900" indent="-342900" algn="just">
              <a:lnSpc>
                <a:spcPct val="150000"/>
              </a:lnSpc>
              <a:buFont typeface="Wingdings" panose="05000000000000000000" pitchFamily="2" charset="2"/>
              <a:buChar char="v"/>
            </a:pP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vi-VN" sz="2800" b="1">
                <a:solidFill>
                  <a:srgbClr val="002060"/>
                </a:solidFill>
                <a:latin typeface="Cambria" panose="02040503050406030204" pitchFamily="18" charset="0"/>
              </a:rPr>
              <a:t>2.3. Kỹ thuật biến đổi âm thanh và tiếng nói.</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0305416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Entropy là giới hạn dưới cho nén không mất dữ liệu: Khi xác suất </a:t>
            </a:r>
            <a:r>
              <a:rPr lang="vi-VN" sz="2200" b="1" smtClean="0">
                <a:solidFill>
                  <a:srgbClr val="002060"/>
                </a:solidFill>
                <a:latin typeface="Cambria" panose="02040503050406030204" pitchFamily="18" charset="0"/>
              </a:rPr>
              <a:t>xuất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hiện </a:t>
            </a:r>
            <a:r>
              <a:rPr lang="vi-VN" sz="2200" b="1">
                <a:solidFill>
                  <a:srgbClr val="002060"/>
                </a:solidFill>
                <a:latin typeface="Cambria" panose="02040503050406030204" pitchFamily="18" charset="0"/>
              </a:rPr>
              <a:t>của mỗi ký hiệu là cố định, mỗi ký hiệu sẽ được biểu diễn với </a:t>
            </a:r>
            <a:r>
              <a:rPr lang="vi-VN" sz="2200" b="1" smtClean="0">
                <a:solidFill>
                  <a:srgbClr val="002060"/>
                </a:solidFill>
                <a:latin typeface="Cambria" panose="02040503050406030204" pitchFamily="18" charset="0"/>
              </a:rPr>
              <a:t>trung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bình </a:t>
            </a:r>
            <a:r>
              <a:rPr lang="vi-VN" sz="2200" b="1">
                <a:solidFill>
                  <a:srgbClr val="002060"/>
                </a:solidFill>
                <a:latin typeface="Cambria" panose="02040503050406030204" pitchFamily="18" charset="0"/>
              </a:rPr>
              <a:t>tối thiểu là H bit. Các bit được nén gần với entropy H cho hiệu </a:t>
            </a:r>
            <a:r>
              <a:rPr lang="vi-VN" sz="2200" b="1" smtClean="0">
                <a:solidFill>
                  <a:srgbClr val="002060"/>
                </a:solidFill>
                <a:latin typeface="Cambria" panose="02040503050406030204" pitchFamily="18" charset="0"/>
              </a:rPr>
              <a:t>quả</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nén </a:t>
            </a:r>
            <a:r>
              <a:rPr lang="vi-VN" sz="2200" b="1">
                <a:solidFill>
                  <a:srgbClr val="002060"/>
                </a:solidFill>
                <a:latin typeface="Cambria" panose="02040503050406030204" pitchFamily="18" charset="0"/>
              </a:rPr>
              <a:t>tốt hơn (với kỹ thuật nén không mất).</a:t>
            </a:r>
          </a:p>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Kỹ thuật mã hóa dựa trên “độ dài mã hóa của các ký hiệu khác nhau </a:t>
            </a:r>
            <a:r>
              <a:rPr lang="vi-VN" sz="2200" b="1" smtClean="0">
                <a:solidFill>
                  <a:srgbClr val="002060"/>
                </a:solidFill>
                <a:latin typeface="Cambria" panose="02040503050406030204" pitchFamily="18" charset="0"/>
              </a:rPr>
              <a:t>thay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đổi </a:t>
            </a:r>
            <a:r>
              <a:rPr lang="vi-VN" sz="2200" b="1">
                <a:solidFill>
                  <a:srgbClr val="002060"/>
                </a:solidFill>
                <a:latin typeface="Cambria" panose="02040503050406030204" pitchFamily="18" charset="0"/>
              </a:rPr>
              <a:t>theo lượng thông tin mà nó tải” được gọi là mã hóa entropy</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hoá Entropy</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744240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ký hiệu khác nhau chuyển tải một lượng thông tin khác nhau </a:t>
            </a:r>
            <a:r>
              <a:rPr lang="vi-VN" sz="2200" b="1" smtClean="0">
                <a:solidFill>
                  <a:srgbClr val="002060"/>
                </a:solidFill>
                <a:latin typeface="Cambria" panose="02040503050406030204" pitchFamily="18" charset="0"/>
              </a:rPr>
              <a:t>phụ</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thuộc </a:t>
            </a:r>
            <a:r>
              <a:rPr lang="vi-VN" sz="2200" b="1">
                <a:solidFill>
                  <a:srgbClr val="002060"/>
                </a:solidFill>
                <a:latin typeface="Cambria" panose="02040503050406030204" pitchFamily="18" charset="0"/>
              </a:rPr>
              <a:t>vào xác suất xuất hiện của nó.</a:t>
            </a:r>
          </a:p>
          <a:p>
            <a:pPr marL="346075" indent="-346075"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Ký </a:t>
            </a:r>
            <a:r>
              <a:rPr lang="vi-VN" sz="2200" b="1">
                <a:solidFill>
                  <a:srgbClr val="002060"/>
                </a:solidFill>
                <a:latin typeface="Cambria" panose="02040503050406030204" pitchFamily="18" charset="0"/>
              </a:rPr>
              <a:t>hiệu với xác suất xuất hiện cao tải một lượng thông tin nhỏ.</a:t>
            </a:r>
          </a:p>
          <a:p>
            <a:pPr marL="346075" indent="-346075"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Ký </a:t>
            </a:r>
            <a:r>
              <a:rPr lang="vi-VN" sz="2200" b="1">
                <a:solidFill>
                  <a:srgbClr val="002060"/>
                </a:solidFill>
                <a:latin typeface="Cambria" panose="02040503050406030204" pitchFamily="18" charset="0"/>
              </a:rPr>
              <a:t>hiệu với xác suất xuất hiện thấp tải một lượng thông tin lớn.</a:t>
            </a:r>
          </a:p>
          <a:p>
            <a:pPr marL="346075" indent="-346075"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Lượng </a:t>
            </a:r>
            <a:r>
              <a:rPr lang="vi-VN" sz="2200" b="1">
                <a:solidFill>
                  <a:srgbClr val="002060"/>
                </a:solidFill>
                <a:latin typeface="Cambria" panose="02040503050406030204" pitchFamily="18" charset="0"/>
              </a:rPr>
              <a:t>thông tin I được tải trong một ký hiệu với xác suất xuất hiện </a:t>
            </a:r>
            <a:r>
              <a:rPr lang="vi-VN" sz="2200" b="1" smtClean="0">
                <a:solidFill>
                  <a:srgbClr val="002060"/>
                </a:solidFill>
                <a:latin typeface="Cambria" panose="02040503050406030204" pitchFamily="18" charset="0"/>
              </a:rPr>
              <a:t>p</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được </a:t>
            </a:r>
            <a:r>
              <a:rPr lang="vi-VN" sz="2200" b="1">
                <a:solidFill>
                  <a:srgbClr val="002060"/>
                </a:solidFill>
                <a:latin typeface="Cambria" panose="02040503050406030204" pitchFamily="18" charset="0"/>
              </a:rPr>
              <a:t>định nghĩa bởi: </a:t>
            </a:r>
            <a:r>
              <a:rPr lang="vi-VN" sz="2200" b="1">
                <a:solidFill>
                  <a:srgbClr val="C00000"/>
                </a:solidFill>
                <a:latin typeface="Cambria" panose="02040503050406030204" pitchFamily="18" charset="0"/>
              </a:rPr>
              <a:t>I = </a:t>
            </a:r>
            <a:r>
              <a:rPr lang="vi-VN" sz="2200" b="1" smtClean="0">
                <a:solidFill>
                  <a:srgbClr val="C00000"/>
                </a:solidFill>
                <a:latin typeface="Cambria" panose="02040503050406030204" pitchFamily="18" charset="0"/>
              </a:rPr>
              <a:t>log(1/p</a:t>
            </a:r>
            <a:r>
              <a:rPr lang="en-US" sz="2200" b="1" smtClean="0">
                <a:solidFill>
                  <a:srgbClr val="C00000"/>
                </a:solidFill>
                <a:latin typeface="Cambria" panose="02040503050406030204" pitchFamily="18" charset="0"/>
              </a:rPr>
              <a:t>)</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hoá Entropy</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907350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6075" indent="-346075"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Đơn </a:t>
            </a:r>
            <a:r>
              <a:rPr lang="vi-VN" sz="2200" b="1">
                <a:solidFill>
                  <a:srgbClr val="002060"/>
                </a:solidFill>
                <a:latin typeface="Cambria" panose="02040503050406030204" pitchFamily="18" charset="0"/>
              </a:rPr>
              <a:t>vị của thông tin là bit, xác suất là các số thực giữa 0 và 1.</a:t>
            </a:r>
          </a:p>
          <a:p>
            <a:pPr marL="68580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Nếu </a:t>
            </a:r>
            <a:r>
              <a:rPr lang="vi-VN" sz="2200" b="1">
                <a:solidFill>
                  <a:srgbClr val="002060"/>
                </a:solidFill>
                <a:latin typeface="Cambria" panose="02040503050406030204" pitchFamily="18" charset="0"/>
              </a:rPr>
              <a:t>xác suất p=1 thì log2(1/p)=0. Điều đó có nghĩa là ký hiệu có </a:t>
            </a:r>
            <a:r>
              <a:rPr lang="vi-VN" sz="2200" b="1" smtClean="0">
                <a:solidFill>
                  <a:srgbClr val="002060"/>
                </a:solidFill>
                <a:latin typeface="Cambria" panose="02040503050406030204" pitchFamily="18" charset="0"/>
              </a:rPr>
              <a:t>xác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suất </a:t>
            </a:r>
            <a:r>
              <a:rPr lang="vi-VN" sz="2200" b="1">
                <a:solidFill>
                  <a:srgbClr val="002060"/>
                </a:solidFill>
                <a:latin typeface="Cambria" panose="02040503050406030204" pitchFamily="18" charset="0"/>
              </a:rPr>
              <a:t>xuất hiện bằng 1, không mang bất kỳ thông tin mới nào.</a:t>
            </a:r>
          </a:p>
          <a:p>
            <a:pPr marL="68580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Nếu </a:t>
            </a:r>
            <a:r>
              <a:rPr lang="vi-VN" sz="2200" b="1">
                <a:solidFill>
                  <a:srgbClr val="002060"/>
                </a:solidFill>
                <a:latin typeface="Cambria" panose="02040503050406030204" pitchFamily="18" charset="0"/>
              </a:rPr>
              <a:t>xác xuất rất nhỏ thì log2(1/p) trở nên rất lớn. Như vậy, các </a:t>
            </a:r>
            <a:r>
              <a:rPr lang="vi-VN" sz="2200" b="1" smtClean="0">
                <a:solidFill>
                  <a:srgbClr val="002060"/>
                </a:solidFill>
                <a:latin typeface="Cambria" panose="02040503050406030204" pitchFamily="18" charset="0"/>
              </a:rPr>
              <a:t>ký</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hiệu </a:t>
            </a:r>
            <a:r>
              <a:rPr lang="vi-VN" sz="2200" b="1">
                <a:solidFill>
                  <a:srgbClr val="002060"/>
                </a:solidFill>
                <a:latin typeface="Cambria" panose="02040503050406030204" pitchFamily="18" charset="0"/>
              </a:rPr>
              <a:t>ít khi xuất hiện sẽ mang một lượng rất lớn thông tin.</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hoá Entropy</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9778113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Khái niệm này của thông tin hết sức quan trọng trong nén dữ liệu. </a:t>
            </a:r>
            <a:r>
              <a:rPr lang="vi-VN" sz="2200" b="1" smtClean="0">
                <a:solidFill>
                  <a:srgbClr val="002060"/>
                </a:solidFill>
                <a:latin typeface="Cambria" panose="02040503050406030204" pitchFamily="18" charset="0"/>
              </a:rPr>
              <a:t>Chiều</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dài </a:t>
            </a:r>
            <a:r>
              <a:rPr lang="vi-VN" sz="2200" b="1">
                <a:solidFill>
                  <a:srgbClr val="002060"/>
                </a:solidFill>
                <a:latin typeface="Cambria" panose="02040503050406030204" pitchFamily="18" charset="0"/>
              </a:rPr>
              <a:t>mã nén lý tưởng của một ký hiệu trong nén không mất dữ liệu </a:t>
            </a:r>
            <a:r>
              <a:rPr lang="vi-VN" sz="2200" b="1" smtClean="0">
                <a:solidFill>
                  <a:srgbClr val="002060"/>
                </a:solidFill>
                <a:latin typeface="Cambria" panose="02040503050406030204" pitchFamily="18" charset="0"/>
              </a:rPr>
              <a:t>bằng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với </a:t>
            </a:r>
            <a:r>
              <a:rPr lang="vi-VN" sz="2200" b="1">
                <a:solidFill>
                  <a:srgbClr val="002060"/>
                </a:solidFill>
                <a:latin typeface="Cambria" panose="02040503050406030204" pitchFamily="18" charset="0"/>
              </a:rPr>
              <a:t>số bit thông tin của ký hiệu. Các kỹ thuật nén nhắm tới mục tiêu này.</a:t>
            </a:r>
          </a:p>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Thông tin trung bình của mỗi ký hiệu trong một tập tin được gọi </a:t>
            </a:r>
            <a:r>
              <a:rPr lang="vi-VN" sz="2200" b="1" smtClean="0">
                <a:solidFill>
                  <a:srgbClr val="002060"/>
                </a:solidFill>
                <a:latin typeface="Cambria" panose="02040503050406030204" pitchFamily="18" charset="0"/>
              </a:rPr>
              <a:t>là</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entropy </a:t>
            </a:r>
            <a:r>
              <a:rPr lang="vi-VN" sz="2200" b="1">
                <a:solidFill>
                  <a:srgbClr val="002060"/>
                </a:solidFill>
                <a:latin typeface="Cambria" panose="02040503050406030204" pitchFamily="18" charset="0"/>
              </a:rPr>
              <a:t>H và được định nghĩa bởi công thức</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6075" indent="-346075" algn="just">
              <a:lnSpc>
                <a:spcPct val="150000"/>
              </a:lnSpc>
              <a:buFont typeface="Arial" panose="020B0604020202020204" pitchFamily="34" charset="0"/>
              <a:buChar char="•"/>
            </a:pPr>
            <a:endParaRPr lang="vi-VN" sz="2200" b="1">
              <a:solidFill>
                <a:srgbClr val="C0000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hoá Entropy</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68" y="3809873"/>
            <a:ext cx="5927601" cy="2548064"/>
          </a:xfrm>
          <a:prstGeom prst="rect">
            <a:avLst/>
          </a:prstGeom>
        </p:spPr>
      </p:pic>
    </p:spTree>
    <p:extLst>
      <p:ext uri="{BB962C8B-B14F-4D97-AF65-F5344CB8AC3E}">
        <p14:creationId xmlns:p14="http://schemas.microsoft.com/office/powerpoint/2010/main" val="5317960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6075" indent="-346075"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 Mã hóa Huffman (David A. Huffman</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là một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thuật </a:t>
            </a:r>
            <a:r>
              <a:rPr lang="vi-VN" sz="2200" b="1">
                <a:solidFill>
                  <a:srgbClr val="002060"/>
                </a:solidFill>
                <a:latin typeface="Cambria" panose="02040503050406030204" pitchFamily="18" charset="0"/>
              </a:rPr>
              <a:t>toán mã hóa dùng để nén dữ liệu.</a:t>
            </a:r>
          </a:p>
          <a:p>
            <a:pPr marL="346075" indent="-346075"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Dựa </a:t>
            </a:r>
            <a:r>
              <a:rPr lang="vi-VN" sz="2200" b="1">
                <a:solidFill>
                  <a:srgbClr val="002060"/>
                </a:solidFill>
                <a:latin typeface="Cambria" panose="02040503050406030204" pitchFamily="18" charset="0"/>
              </a:rPr>
              <a:t>trên bảng tần suất xuất hiện các kí tự </a:t>
            </a:r>
            <a:r>
              <a:rPr lang="vi-VN" sz="2200" b="1" smtClean="0">
                <a:solidFill>
                  <a:srgbClr val="002060"/>
                </a:solidFill>
                <a:latin typeface="Cambria" panose="02040503050406030204" pitchFamily="18" charset="0"/>
              </a:rPr>
              <a:t>cần </a:t>
            </a:r>
            <a:r>
              <a:rPr lang="vi-VN" sz="2200" b="1">
                <a:solidFill>
                  <a:srgbClr val="002060"/>
                </a:solidFill>
                <a:latin typeface="Cambria" panose="02040503050406030204" pitchFamily="18" charset="0"/>
              </a:rPr>
              <a:t>mã hóa để xây dựng một bộ mã nhị </a:t>
            </a:r>
            <a:r>
              <a:rPr lang="vi-VN" sz="2200" b="1" smtClean="0">
                <a:solidFill>
                  <a:srgbClr val="002060"/>
                </a:solidFill>
                <a:latin typeface="Cambria" panose="02040503050406030204" pitchFamily="18" charset="0"/>
              </a:rPr>
              <a:t>phân </a:t>
            </a:r>
            <a:r>
              <a:rPr lang="vi-VN" sz="2200" b="1">
                <a:solidFill>
                  <a:srgbClr val="002060"/>
                </a:solidFill>
                <a:latin typeface="Cambria" panose="02040503050406030204" pitchFamily="18" charset="0"/>
              </a:rPr>
              <a:t>cho các kí tự đó sao cho dung lượng </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số </a:t>
            </a:r>
            <a:r>
              <a:rPr lang="vi-VN" sz="2200" b="1">
                <a:solidFill>
                  <a:srgbClr val="002060"/>
                </a:solidFill>
                <a:latin typeface="Cambria" panose="02040503050406030204" pitchFamily="18" charset="0"/>
              </a:rPr>
              <a:t>bit) sau khi mã hóa là nhỏ nhất.</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275508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smtClean="0">
                <a:solidFill>
                  <a:srgbClr val="002060"/>
                </a:solidFill>
                <a:latin typeface="Cambria" panose="02040503050406030204" pitchFamily="18" charset="0"/>
              </a:rPr>
              <a:t>Cây Huffman</a:t>
            </a:r>
            <a:endParaRPr lang="en-US" sz="2200" b="1" smtClean="0">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Là cây nhị phân, mỗi nút chứa ký tự và trọng số (tần suất của ký tự đó</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Mỗi ký tự được biểu diễn bằng 1 nút lá (tính tiền tố</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Nút cha có tổng ký tự, tổng trọng số của 2 nút con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nút có trọng số, ký tự tăng dần từ trái sang </a:t>
            </a:r>
            <a:r>
              <a:rPr lang="vi-VN" sz="2200" b="1" smtClean="0">
                <a:solidFill>
                  <a:srgbClr val="002060"/>
                </a:solidFill>
                <a:latin typeface="Cambria" panose="02040503050406030204" pitchFamily="18" charset="0"/>
              </a:rPr>
              <a:t>phải</a:t>
            </a:r>
            <a:endParaRPr lang="en-US" sz="2200" b="1" smtClean="0">
              <a:solidFill>
                <a:srgbClr val="002060"/>
              </a:solidFill>
              <a:latin typeface="Cambria" panose="02040503050406030204" pitchFamily="18" charset="0"/>
            </a:endParaRP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nút có trọng số lớn nằm gần nút gốc.</a:t>
            </a:r>
          </a:p>
          <a:p>
            <a:pPr marL="62865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nút có trọng số nhỏ nằm xa nút gốc hơn</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4210531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984" y="709197"/>
            <a:ext cx="8705599" cy="5963065"/>
          </a:xfrm>
          <a:prstGeom prst="rect">
            <a:avLst/>
          </a:prstGeom>
        </p:spPr>
      </p:pic>
    </p:spTree>
    <p:extLst>
      <p:ext uri="{BB962C8B-B14F-4D97-AF65-F5344CB8AC3E}">
        <p14:creationId xmlns:p14="http://schemas.microsoft.com/office/powerpoint/2010/main" val="6852100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25" y="794970"/>
            <a:ext cx="8746958" cy="5268060"/>
          </a:xfrm>
          <a:prstGeom prst="rect">
            <a:avLst/>
          </a:prstGeom>
        </p:spPr>
      </p:pic>
    </p:spTree>
    <p:extLst>
      <p:ext uri="{BB962C8B-B14F-4D97-AF65-F5344CB8AC3E}">
        <p14:creationId xmlns:p14="http://schemas.microsoft.com/office/powerpoint/2010/main" val="5503664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VD: M</a:t>
            </a:r>
            <a:r>
              <a:rPr lang="vi-VN" sz="2200" b="1" smtClean="0">
                <a:solidFill>
                  <a:srgbClr val="002060"/>
                </a:solidFill>
                <a:latin typeface="Cambria" panose="02040503050406030204" pitchFamily="18" charset="0"/>
              </a:rPr>
              <a:t>ột </a:t>
            </a:r>
            <a:r>
              <a:rPr lang="vi-VN" sz="2200" b="1">
                <a:solidFill>
                  <a:srgbClr val="002060"/>
                </a:solidFill>
                <a:latin typeface="Cambria" panose="02040503050406030204" pitchFamily="18" charset="0"/>
              </a:rPr>
              <a:t>file gồm 1000 ký tự, các ký tự trong file là e, t, x, và </a:t>
            </a:r>
            <a:r>
              <a:rPr lang="vi-VN" sz="2200" b="1" smtClean="0">
                <a:solidFill>
                  <a:srgbClr val="002060"/>
                </a:solidFill>
                <a:latin typeface="Cambria" panose="02040503050406030204" pitchFamily="18" charset="0"/>
              </a:rPr>
              <a:t>z</a:t>
            </a:r>
            <a:r>
              <a:rPr lang="en-US" sz="2200" b="1" smtClean="0">
                <a:solidFill>
                  <a:srgbClr val="002060"/>
                </a:solidFill>
                <a:latin typeface="Cambria" panose="02040503050406030204" pitchFamily="18" charset="0"/>
              </a:rPr>
              <a:t>. X</a:t>
            </a:r>
            <a:r>
              <a:rPr lang="vi-VN" sz="2200" b="1" smtClean="0">
                <a:solidFill>
                  <a:srgbClr val="002060"/>
                </a:solidFill>
                <a:latin typeface="Cambria" panose="02040503050406030204" pitchFamily="18" charset="0"/>
              </a:rPr>
              <a:t>ác suất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xuất </a:t>
            </a:r>
            <a:r>
              <a:rPr lang="vi-VN" sz="2200" b="1">
                <a:solidFill>
                  <a:srgbClr val="002060"/>
                </a:solidFill>
                <a:latin typeface="Cambria" panose="02040503050406030204" pitchFamily="18" charset="0"/>
              </a:rPr>
              <a:t>hiện của chúng trong file lần lượt là 0.8, 0.16, 0.02, và 0.02</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indent="400050" algn="just">
              <a:lnSpc>
                <a:spcPct val="150000"/>
              </a:lnSpc>
            </a:pPr>
            <a:r>
              <a:rPr lang="vi-VN" sz="2200" b="1">
                <a:solidFill>
                  <a:srgbClr val="002060"/>
                </a:solidFill>
                <a:latin typeface="Cambria" panose="02040503050406030204" pitchFamily="18" charset="0"/>
              </a:rPr>
              <a:t>Biểu diễn bình thường (8 bits/ký tự): Như vậy ta cần 8000 bit để </a:t>
            </a:r>
            <a:r>
              <a:rPr lang="vi-VN" sz="2200" b="1" smtClean="0">
                <a:solidFill>
                  <a:srgbClr val="002060"/>
                </a:solidFill>
                <a:latin typeface="Cambria" panose="02040503050406030204" pitchFamily="18" charset="0"/>
              </a:rPr>
              <a:t>biểu</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diễn </a:t>
            </a:r>
            <a:r>
              <a:rPr lang="vi-VN" sz="2200" b="1">
                <a:solidFill>
                  <a:srgbClr val="002060"/>
                </a:solidFill>
                <a:latin typeface="Cambria" panose="02040503050406030204" pitchFamily="18" charset="0"/>
              </a:rPr>
              <a:t>toàn bộ file.</a:t>
            </a:r>
          </a:p>
          <a:p>
            <a:pPr indent="400050" algn="just">
              <a:lnSpc>
                <a:spcPct val="150000"/>
              </a:lnSpc>
            </a:pPr>
            <a:r>
              <a:rPr lang="vi-VN" sz="2200" b="1">
                <a:solidFill>
                  <a:srgbClr val="002060"/>
                </a:solidFill>
                <a:latin typeface="Cambria" panose="02040503050406030204" pitchFamily="18" charset="0"/>
              </a:rPr>
              <a:t>Trong mã hoá Huffman, ta dùng số </a:t>
            </a:r>
            <a:r>
              <a:rPr lang="vi-VN" sz="2200" b="1" smtClean="0">
                <a:solidFill>
                  <a:srgbClr val="002060"/>
                </a:solidFill>
                <a:latin typeface="Cambria" panose="02040503050406030204" pitchFamily="18" charset="0"/>
              </a:rPr>
              <a:t>lượng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bit </a:t>
            </a:r>
            <a:r>
              <a:rPr lang="vi-VN" sz="2200" b="1">
                <a:solidFill>
                  <a:srgbClr val="002060"/>
                </a:solidFill>
                <a:latin typeface="Cambria" panose="02040503050406030204" pitchFamily="18" charset="0"/>
              </a:rPr>
              <a:t>khác nhau để biểu diễn các ký tự.</a:t>
            </a:r>
          </a:p>
          <a:p>
            <a:pPr algn="just">
              <a:lnSpc>
                <a:spcPct val="150000"/>
              </a:lnSpc>
            </a:pPr>
            <a:r>
              <a:rPr lang="vi-VN" sz="2200" b="1">
                <a:solidFill>
                  <a:srgbClr val="002060"/>
                </a:solidFill>
                <a:latin typeface="Cambria" panose="02040503050406030204" pitchFamily="18" charset="0"/>
              </a:rPr>
              <a:t>Tổng số bit yêu cầu là:</a:t>
            </a:r>
          </a:p>
          <a:p>
            <a:pPr algn="just">
              <a:lnSpc>
                <a:spcPct val="150000"/>
              </a:lnSpc>
            </a:pPr>
            <a:r>
              <a:rPr lang="vi-VN" sz="2200" b="1">
                <a:solidFill>
                  <a:srgbClr val="002060"/>
                </a:solidFill>
                <a:latin typeface="Cambria" panose="02040503050406030204" pitchFamily="18" charset="0"/>
              </a:rPr>
              <a:t>1000(1*0.8+2*0.16+3*0.02+3*0.02</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algn="just">
              <a:lnSpc>
                <a:spcPct val="150000"/>
              </a:lnSpc>
            </a:pP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1240 bit</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3166" y="4028938"/>
            <a:ext cx="3683794" cy="2157550"/>
          </a:xfrm>
          <a:prstGeom prst="rect">
            <a:avLst/>
          </a:prstGeom>
        </p:spPr>
      </p:pic>
    </p:spTree>
    <p:extLst>
      <p:ext uri="{BB962C8B-B14F-4D97-AF65-F5344CB8AC3E}">
        <p14:creationId xmlns:p14="http://schemas.microsoft.com/office/powerpoint/2010/main" val="13843252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0" y="946380"/>
            <a:ext cx="8858250" cy="5282970"/>
          </a:xfrm>
          <a:prstGeom prst="rect">
            <a:avLst/>
          </a:prstGeom>
        </p:spPr>
      </p:pic>
    </p:spTree>
    <p:extLst>
      <p:ext uri="{BB962C8B-B14F-4D97-AF65-F5344CB8AC3E}">
        <p14:creationId xmlns:p14="http://schemas.microsoft.com/office/powerpoint/2010/main" val="16338208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336" y="780680"/>
            <a:ext cx="8621328" cy="5448670"/>
          </a:xfrm>
          <a:prstGeom prst="rect">
            <a:avLst/>
          </a:prstGeom>
        </p:spPr>
      </p:pic>
    </p:spTree>
    <p:extLst>
      <p:ext uri="{BB962C8B-B14F-4D97-AF65-F5344CB8AC3E}">
        <p14:creationId xmlns:p14="http://schemas.microsoft.com/office/powerpoint/2010/main" val="14011686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75" y="828675"/>
            <a:ext cx="8444489" cy="5358197"/>
          </a:xfrm>
          <a:prstGeom prst="rect">
            <a:avLst/>
          </a:prstGeom>
        </p:spPr>
      </p:pic>
    </p:spTree>
    <p:extLst>
      <p:ext uri="{BB962C8B-B14F-4D97-AF65-F5344CB8AC3E}">
        <p14:creationId xmlns:p14="http://schemas.microsoft.com/office/powerpoint/2010/main" val="24320885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858" y="940386"/>
            <a:ext cx="8807991" cy="5525271"/>
          </a:xfrm>
          <a:prstGeom prst="rect">
            <a:avLst/>
          </a:prstGeom>
        </p:spPr>
      </p:pic>
    </p:spTree>
    <p:extLst>
      <p:ext uri="{BB962C8B-B14F-4D97-AF65-F5344CB8AC3E}">
        <p14:creationId xmlns:p14="http://schemas.microsoft.com/office/powerpoint/2010/main" val="27721258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1691"/>
            <a:ext cx="9144000" cy="2179600"/>
          </a:xfrm>
          <a:prstGeom prst="rect">
            <a:avLst/>
          </a:prstGeom>
        </p:spPr>
      </p:pic>
    </p:spTree>
    <p:extLst>
      <p:ext uri="{BB962C8B-B14F-4D97-AF65-F5344CB8AC3E}">
        <p14:creationId xmlns:p14="http://schemas.microsoft.com/office/powerpoint/2010/main" val="10427777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37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1691"/>
            <a:ext cx="9144000" cy="217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983" y="2861696"/>
            <a:ext cx="8705600" cy="4043842"/>
          </a:xfrm>
          <a:prstGeom prst="rect">
            <a:avLst/>
          </a:prstGeom>
        </p:spPr>
      </p:pic>
    </p:spTree>
    <p:extLst>
      <p:ext uri="{BB962C8B-B14F-4D97-AF65-F5344CB8AC3E}">
        <p14:creationId xmlns:p14="http://schemas.microsoft.com/office/powerpoint/2010/main" val="31152505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Huffman (Huffman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24" y="799731"/>
            <a:ext cx="8286751" cy="5801095"/>
          </a:xfrm>
          <a:prstGeom prst="rect">
            <a:avLst/>
          </a:prstGeom>
        </p:spPr>
      </p:pic>
    </p:spTree>
    <p:extLst>
      <p:ext uri="{BB962C8B-B14F-4D97-AF65-F5344CB8AC3E}">
        <p14:creationId xmlns:p14="http://schemas.microsoft.com/office/powerpoint/2010/main" val="19077904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669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vi-VN" sz="2200" b="1">
                <a:solidFill>
                  <a:srgbClr val="002060"/>
                </a:solidFill>
                <a:latin typeface="Cambria" panose="02040503050406030204" pitchFamily="18" charset="0"/>
              </a:rPr>
              <a:t>Mã hoá run-length là phương pháp nén dữ liệu dùng để rút gọn một cách </a:t>
            </a:r>
            <a:r>
              <a:rPr lang="vi-VN" sz="2200" b="1" smtClean="0">
                <a:solidFill>
                  <a:srgbClr val="002060"/>
                </a:solidFill>
                <a:latin typeface="Cambria" panose="02040503050406030204" pitchFamily="18" charset="0"/>
              </a:rPr>
              <a:t>tự</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nhiên </a:t>
            </a:r>
            <a:r>
              <a:rPr lang="vi-VN" sz="2200" b="1">
                <a:solidFill>
                  <a:srgbClr val="002060"/>
                </a:solidFill>
                <a:latin typeface="Cambria" panose="02040503050406030204" pitchFamily="18" charset="0"/>
              </a:rPr>
              <a:t>một chuỗi ký tự lập lại bất kỳ</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Dãy xuất hiện lặp lại của một ký tự gọi là một run.</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Số ký tự lặp lại gọi là độ dài run (run-length)</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Một run được mã hóa bởi bộ ba: với</a:t>
            </a:r>
          </a:p>
          <a:p>
            <a:pPr algn="just">
              <a:lnSpc>
                <a:spcPct val="150000"/>
              </a:lnSpc>
            </a:pPr>
            <a:r>
              <a:rPr lang="vi-VN" sz="2200" b="1">
                <a:solidFill>
                  <a:srgbClr val="002060"/>
                </a:solidFill>
                <a:latin typeface="Cambria" panose="02040503050406030204" pitchFamily="18" charset="0"/>
              </a:rPr>
              <a:t>Sc: Ký tự đặc biệt chỉ mã hoá </a:t>
            </a:r>
            <a:r>
              <a:rPr lang="vi-VN" sz="2200" b="1" smtClean="0">
                <a:solidFill>
                  <a:srgbClr val="002060"/>
                </a:solidFill>
                <a:latin typeface="Cambria" panose="02040503050406030204" pitchFamily="18" charset="0"/>
              </a:rPr>
              <a:t>run-le</a:t>
            </a:r>
            <a:r>
              <a:rPr lang="en-US" sz="2200" b="1" smtClean="0">
                <a:solidFill>
                  <a:srgbClr val="002060"/>
                </a:solidFill>
                <a:latin typeface="Cambria" panose="02040503050406030204" pitchFamily="18" charset="0"/>
              </a:rPr>
              <a:t>n</a:t>
            </a:r>
            <a:r>
              <a:rPr lang="vi-VN" sz="2200" b="1" smtClean="0">
                <a:solidFill>
                  <a:srgbClr val="002060"/>
                </a:solidFill>
                <a:latin typeface="Cambria" panose="02040503050406030204" pitchFamily="18" charset="0"/>
              </a:rPr>
              <a:t>gth </a:t>
            </a:r>
            <a:r>
              <a:rPr lang="vi-VN" sz="2200" b="1">
                <a:solidFill>
                  <a:srgbClr val="002060"/>
                </a:solidFill>
                <a:latin typeface="Cambria" panose="02040503050406030204" pitchFamily="18" charset="0"/>
              </a:rPr>
              <a:t>được dùng.</a:t>
            </a:r>
          </a:p>
          <a:p>
            <a:pPr algn="just">
              <a:lnSpc>
                <a:spcPct val="150000"/>
              </a:lnSpc>
            </a:pPr>
            <a:r>
              <a:rPr lang="vi-VN" sz="2200" b="1">
                <a:solidFill>
                  <a:srgbClr val="002060"/>
                </a:solidFill>
                <a:latin typeface="Cambria" panose="02040503050406030204" pitchFamily="18" charset="0"/>
              </a:rPr>
              <a:t>X : Ký tự được lập lại trong run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algn="just">
              <a:lnSpc>
                <a:spcPct val="150000"/>
              </a:lnSpc>
            </a:pPr>
            <a:r>
              <a:rPr lang="vi-VN" sz="2200" b="1" smtClean="0">
                <a:solidFill>
                  <a:srgbClr val="002060"/>
                </a:solidFill>
                <a:latin typeface="Cambria" panose="02040503050406030204" pitchFamily="18" charset="0"/>
              </a:rPr>
              <a:t>C: </a:t>
            </a:r>
            <a:r>
              <a:rPr lang="vi-VN" sz="2200" b="1">
                <a:solidFill>
                  <a:srgbClr val="002060"/>
                </a:solidFill>
                <a:latin typeface="Cambria" panose="02040503050406030204" pitchFamily="18" charset="0"/>
              </a:rPr>
              <a:t>Số ký tự lập lại/chiều dài run (</a:t>
            </a:r>
            <a:r>
              <a:rPr lang="vi-VN" sz="2200" b="1" smtClean="0">
                <a:solidFill>
                  <a:srgbClr val="002060"/>
                </a:solidFill>
                <a:latin typeface="Cambria" panose="02040503050406030204" pitchFamily="18" charset="0"/>
              </a:rPr>
              <a:t>run</a:t>
            </a:r>
            <a:r>
              <a:rPr lang="en-US" sz="2200" b="1" smtClean="0">
                <a:solidFill>
                  <a:srgbClr val="002060"/>
                </a:solidFill>
                <a:latin typeface="Cambria" panose="02040503050406030204" pitchFamily="18" charset="0"/>
              </a:rPr>
              <a:t>-l</a:t>
            </a:r>
            <a:r>
              <a:rPr lang="vi-VN" sz="2200" b="1" smtClean="0">
                <a:solidFill>
                  <a:srgbClr val="002060"/>
                </a:solidFill>
                <a:latin typeface="Cambria" panose="02040503050406030204" pitchFamily="18" charset="0"/>
              </a:rPr>
              <a:t>ength)</a:t>
            </a:r>
            <a:endParaRPr lang="en-US" sz="2200" b="1" smtClean="0">
              <a:solidFill>
                <a:srgbClr val="002060"/>
              </a:solidFill>
              <a:latin typeface="Cambria" panose="02040503050406030204" pitchFamily="18" charset="0"/>
            </a:endParaRPr>
          </a:p>
          <a:p>
            <a:pPr algn="just">
              <a:lnSpc>
                <a:spcPct val="150000"/>
              </a:lnSpc>
            </a:pPr>
            <a:r>
              <a:rPr lang="en-US" sz="2200" b="1" smtClean="0">
                <a:solidFill>
                  <a:srgbClr val="002060"/>
                </a:solidFill>
                <a:latin typeface="Cambria" panose="02040503050406030204" pitchFamily="18" charset="0"/>
              </a:rPr>
              <a:t>VD</a:t>
            </a:r>
            <a:r>
              <a:rPr lang="vi-VN" sz="2200" b="1" smtClean="0">
                <a:solidFill>
                  <a:srgbClr val="002060"/>
                </a:solidFill>
                <a:latin typeface="Cambria" panose="02040503050406030204" pitchFamily="18" charset="0"/>
              </a:rPr>
              <a:t>: </a:t>
            </a:r>
            <a:r>
              <a:rPr lang="vi-VN" sz="2200" b="1">
                <a:solidFill>
                  <a:srgbClr val="C00000"/>
                </a:solidFill>
                <a:latin typeface="Cambria" panose="02040503050406030204" pitchFamily="18" charset="0"/>
              </a:rPr>
              <a:t>eeeeeeetnnnnnnnn</a:t>
            </a:r>
            <a:r>
              <a:rPr lang="vi-VN" sz="2200" b="1">
                <a:solidFill>
                  <a:srgbClr val="002060"/>
                </a:solidFill>
                <a:latin typeface="Cambria" panose="02040503050406030204" pitchFamily="18" charset="0"/>
              </a:rPr>
              <a:t> được mã hóa độ dài run là:</a:t>
            </a:r>
            <a:r>
              <a:rPr lang="vi-VN" sz="2200" b="1">
                <a:solidFill>
                  <a:srgbClr val="C00000"/>
                </a:solidFill>
                <a:latin typeface="Cambria" panose="02040503050406030204" pitchFamily="18" charset="0"/>
              </a:rPr>
              <a:t> @e7t@n8</a:t>
            </a:r>
          </a:p>
          <a:p>
            <a:pPr algn="just">
              <a:lnSpc>
                <a:spcPct val="150000"/>
              </a:lnSpc>
            </a:pPr>
            <a:r>
              <a:rPr lang="vi-VN" sz="2200" b="1">
                <a:solidFill>
                  <a:srgbClr val="002060"/>
                </a:solidFill>
                <a:latin typeface="Cambria" panose="02040503050406030204" pitchFamily="18" charset="0"/>
              </a:rPr>
              <a:t>Số ký tự “file gốc</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16; số ký tự “file nén</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7.</a:t>
            </a:r>
          </a:p>
          <a:p>
            <a:pPr algn="just">
              <a:lnSpc>
                <a:spcPct val="150000"/>
              </a:lnSpc>
            </a:pPr>
            <a:r>
              <a:rPr lang="vi-VN" sz="2200" b="1">
                <a:solidFill>
                  <a:srgbClr val="002060"/>
                </a:solidFill>
                <a:latin typeface="Cambria" panose="02040503050406030204" pitchFamily="18" charset="0"/>
              </a:rPr>
              <a:t>Lưu </a:t>
            </a:r>
            <a:r>
              <a:rPr lang="vi-VN" sz="2200" b="1" smtClean="0">
                <a:solidFill>
                  <a:srgbClr val="002060"/>
                </a:solidFill>
                <a:latin typeface="Cambria" panose="02040503050406030204" pitchFamily="18" charset="0"/>
              </a:rPr>
              <a:t>ý</a:t>
            </a:r>
            <a:r>
              <a:rPr lang="en-US" sz="2200" b="1" smtClean="0">
                <a:solidFill>
                  <a:srgbClr val="002060"/>
                </a:solidFill>
                <a:latin typeface="Cambria" panose="02040503050406030204" pitchFamily="18" charset="0"/>
              </a:rPr>
              <a:t>:</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khi ký tự chỉ xuất hiện 1 lần thì không cần ký tự đặc biệt ‘@’ và </a:t>
            </a:r>
            <a:r>
              <a:rPr lang="vi-VN" sz="2200" b="1" smtClean="0">
                <a:solidFill>
                  <a:srgbClr val="002060"/>
                </a:solidFill>
                <a:latin typeface="Cambria" panose="02040503050406030204" pitchFamily="18" charset="0"/>
              </a:rPr>
              <a:t>độ</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dài </a:t>
            </a:r>
            <a:r>
              <a:rPr lang="vi-VN" sz="2200" b="1">
                <a:solidFill>
                  <a:srgbClr val="002060"/>
                </a:solidFill>
                <a:latin typeface="Cambria" panose="02040503050406030204" pitchFamily="18" charset="0"/>
              </a:rPr>
              <a:t>run-length (chỉ xuất hiện chính ký tự đó).</a:t>
            </a:r>
          </a:p>
          <a:p>
            <a:pPr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en-US" sz="2800" b="1">
                <a:solidFill>
                  <a:srgbClr val="002060"/>
                </a:solidFill>
                <a:latin typeface="Cambria" panose="02040503050406030204" pitchFamily="18" charset="0"/>
              </a:rPr>
              <a:t> Mã hóa độ dài run (Run-Length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graphicFrame>
        <p:nvGraphicFramePr>
          <p:cNvPr id="2" name="Table 1"/>
          <p:cNvGraphicFramePr>
            <a:graphicFrameLocks noGrp="1"/>
          </p:cNvGraphicFramePr>
          <p:nvPr>
            <p:extLst>
              <p:ext uri="{D42A27DB-BD31-4B8C-83A1-F6EECF244321}">
                <p14:modId xmlns:p14="http://schemas.microsoft.com/office/powerpoint/2010/main" val="1332041715"/>
              </p:ext>
            </p:extLst>
          </p:nvPr>
        </p:nvGraphicFramePr>
        <p:xfrm>
          <a:off x="6072187" y="3911599"/>
          <a:ext cx="2769396" cy="646113"/>
        </p:xfrm>
        <a:graphic>
          <a:graphicData uri="http://schemas.openxmlformats.org/drawingml/2006/table">
            <a:tbl>
              <a:tblPr firstRow="1" bandRow="1">
                <a:tableStyleId>{5C22544A-7EE6-4342-B048-85BDC9FD1C3A}</a:tableStyleId>
              </a:tblPr>
              <a:tblGrid>
                <a:gridCol w="923132"/>
                <a:gridCol w="923132"/>
                <a:gridCol w="923132"/>
              </a:tblGrid>
              <a:tr h="646113">
                <a:tc>
                  <a:txBody>
                    <a:bodyPr/>
                    <a:lstStyle/>
                    <a:p>
                      <a:pPr algn="ctr"/>
                      <a:r>
                        <a:rPr lang="en-US" sz="2200" smtClean="0">
                          <a:solidFill>
                            <a:schemeClr val="bg1"/>
                          </a:solidFill>
                          <a:latin typeface="Cambria" panose="02040503050406030204" pitchFamily="18" charset="0"/>
                          <a:ea typeface="Cambria" panose="02040503050406030204" pitchFamily="18" charset="0"/>
                        </a:rPr>
                        <a:t>Sc</a:t>
                      </a:r>
                      <a:endParaRPr lang="en-US" sz="2200">
                        <a:solidFill>
                          <a:schemeClr val="bg1"/>
                        </a:solidFill>
                        <a:latin typeface="Cambria" panose="02040503050406030204" pitchFamily="18" charset="0"/>
                        <a:ea typeface="Cambria" panose="02040503050406030204" pitchFamily="18" charset="0"/>
                      </a:endParaRPr>
                    </a:p>
                  </a:txBody>
                  <a:tcPr anchor="ctr">
                    <a:solidFill>
                      <a:schemeClr val="accent1">
                        <a:lumMod val="60000"/>
                        <a:lumOff val="40000"/>
                      </a:schemeClr>
                    </a:solidFill>
                  </a:tcPr>
                </a:tc>
                <a:tc>
                  <a:txBody>
                    <a:bodyPr/>
                    <a:lstStyle/>
                    <a:p>
                      <a:pPr algn="ctr"/>
                      <a:r>
                        <a:rPr lang="en-US" sz="2200" smtClean="0">
                          <a:solidFill>
                            <a:schemeClr val="bg1"/>
                          </a:solidFill>
                          <a:latin typeface="Cambria" panose="02040503050406030204" pitchFamily="18" charset="0"/>
                          <a:ea typeface="Cambria" panose="02040503050406030204" pitchFamily="18" charset="0"/>
                        </a:rPr>
                        <a:t>X</a:t>
                      </a:r>
                      <a:endParaRPr lang="en-US" sz="2200">
                        <a:solidFill>
                          <a:schemeClr val="bg1"/>
                        </a:solidFill>
                        <a:latin typeface="Cambria" panose="02040503050406030204" pitchFamily="18" charset="0"/>
                        <a:ea typeface="Cambria" panose="02040503050406030204" pitchFamily="18" charset="0"/>
                      </a:endParaRPr>
                    </a:p>
                  </a:txBody>
                  <a:tcPr anchor="ctr">
                    <a:solidFill>
                      <a:schemeClr val="accent1">
                        <a:lumMod val="60000"/>
                        <a:lumOff val="40000"/>
                      </a:schemeClr>
                    </a:solidFill>
                  </a:tcPr>
                </a:tc>
                <a:tc>
                  <a:txBody>
                    <a:bodyPr/>
                    <a:lstStyle/>
                    <a:p>
                      <a:pPr algn="ctr"/>
                      <a:r>
                        <a:rPr lang="en-US" sz="2200" smtClean="0">
                          <a:solidFill>
                            <a:schemeClr val="bg1"/>
                          </a:solidFill>
                          <a:latin typeface="Cambria" panose="02040503050406030204" pitchFamily="18" charset="0"/>
                          <a:ea typeface="Cambria" panose="02040503050406030204" pitchFamily="18" charset="0"/>
                        </a:rPr>
                        <a:t>C</a:t>
                      </a:r>
                      <a:endParaRPr lang="en-US" sz="2200">
                        <a:solidFill>
                          <a:schemeClr val="bg1"/>
                        </a:solidFill>
                        <a:latin typeface="Cambria" panose="02040503050406030204" pitchFamily="18" charset="0"/>
                        <a:ea typeface="Cambria" panose="02040503050406030204" pitchFamily="18" charset="0"/>
                      </a:endParaRPr>
                    </a:p>
                  </a:txBody>
                  <a:tcPr anchor="ctr">
                    <a:solidFill>
                      <a:schemeClr val="accent1">
                        <a:lumMod val="60000"/>
                        <a:lumOff val="40000"/>
                      </a:schemeClr>
                    </a:solidFill>
                  </a:tcPr>
                </a:tc>
              </a:tr>
            </a:tbl>
          </a:graphicData>
        </a:graphic>
      </p:graphicFrame>
    </p:spTree>
    <p:extLst>
      <p:ext uri="{BB962C8B-B14F-4D97-AF65-F5344CB8AC3E}">
        <p14:creationId xmlns:p14="http://schemas.microsoft.com/office/powerpoint/2010/main" val="42523848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ZLC (Zero Length Code</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Nếu trong một thông điệp xuất hiện các chuỗi ký tự 0, có thể thay thế </a:t>
            </a:r>
            <a:r>
              <a:rPr lang="vi-VN" sz="2200" b="1" smtClean="0">
                <a:solidFill>
                  <a:srgbClr val="002060"/>
                </a:solidFill>
                <a:latin typeface="Cambria" panose="02040503050406030204" pitchFamily="18" charset="0"/>
              </a:rPr>
              <a:t>bởi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một </a:t>
            </a:r>
            <a:r>
              <a:rPr lang="vi-VN" sz="2200" b="1">
                <a:solidFill>
                  <a:srgbClr val="002060"/>
                </a:solidFill>
                <a:latin typeface="Cambria" panose="02040503050406030204" pitchFamily="18" charset="0"/>
              </a:rPr>
              <a:t>ký tự và tần suất xuất hiện.</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Cần phải có một mã dành riêng để biểu thị rằng khi nào chuỗi được </a:t>
            </a:r>
            <a:r>
              <a:rPr lang="vi-VN" sz="2200" b="1" smtClean="0">
                <a:solidFill>
                  <a:srgbClr val="002060"/>
                </a:solidFill>
                <a:latin typeface="Cambria" panose="02040503050406030204" pitchFamily="18" charset="0"/>
              </a:rPr>
              <a:t>thay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thế </a:t>
            </a:r>
            <a:r>
              <a:rPr lang="vi-VN" sz="2200" b="1">
                <a:solidFill>
                  <a:srgbClr val="002060"/>
                </a:solidFill>
                <a:latin typeface="Cambria" panose="02040503050406030204" pitchFamily="18" charset="0"/>
              </a:rPr>
              <a:t>xuất hiện</a:t>
            </a:r>
            <a:r>
              <a:rPr lang="vi-VN" sz="2200" b="1" smtClean="0">
                <a:solidFill>
                  <a:srgbClr val="002060"/>
                </a:solidFill>
                <a:latin typeface="Cambria" panose="02040503050406030204" pitchFamily="18" charset="0"/>
              </a:rPr>
              <a:t>.</a:t>
            </a:r>
            <a:endParaRPr lang="en-US" sz="2200" b="1">
              <a:solidFill>
                <a:srgbClr val="002060"/>
              </a:solidFill>
              <a:latin typeface="Cambria" panose="02040503050406030204" pitchFamily="18" charset="0"/>
            </a:endParaRPr>
          </a:p>
          <a:p>
            <a:pPr marL="342900" indent="-342900" algn="just">
              <a:lnSpc>
                <a:spcPct val="150000"/>
              </a:lnSpc>
            </a:pPr>
            <a:r>
              <a:rPr lang="en-US" sz="2200" b="1" smtClean="0">
                <a:solidFill>
                  <a:srgbClr val="002060"/>
                </a:solidFill>
                <a:latin typeface="Cambria" panose="02040503050406030204" pitchFamily="18" charset="0"/>
              </a:rPr>
              <a:t>VD: </a:t>
            </a:r>
            <a:r>
              <a:rPr lang="vi-VN" sz="2200" b="1" smtClean="0">
                <a:solidFill>
                  <a:srgbClr val="002060"/>
                </a:solidFill>
                <a:latin typeface="Cambria" panose="02040503050406030204" pitchFamily="18" charset="0"/>
              </a:rPr>
              <a:t>Cho </a:t>
            </a:r>
            <a:r>
              <a:rPr lang="vi-VN" sz="2200" b="1">
                <a:solidFill>
                  <a:srgbClr val="002060"/>
                </a:solidFill>
                <a:latin typeface="Cambria" panose="02040503050406030204" pitchFamily="18" charset="0"/>
              </a:rPr>
              <a:t>chuỗi ký tự sau</a:t>
            </a:r>
          </a:p>
          <a:p>
            <a:pPr marL="342900" indent="-57150" algn="just">
              <a:lnSpc>
                <a:spcPct val="150000"/>
              </a:lnSpc>
            </a:pPr>
            <a:r>
              <a:rPr lang="vi-VN" sz="2200" b="1" smtClean="0">
                <a:solidFill>
                  <a:srgbClr val="002060"/>
                </a:solidFill>
                <a:latin typeface="Cambria" panose="02040503050406030204" pitchFamily="18" charset="0"/>
              </a:rPr>
              <a:t>894000000000000000000000000000000</a:t>
            </a:r>
            <a:r>
              <a:rPr lang="en-US" sz="2200" b="1" smtClean="0">
                <a:solidFill>
                  <a:srgbClr val="002060"/>
                </a:solidFill>
                <a:latin typeface="Cambria" panose="02040503050406030204" pitchFamily="18" charset="0"/>
              </a:rPr>
              <a:t> </a:t>
            </a:r>
          </a:p>
          <a:p>
            <a:pPr marL="342900" indent="-57150" algn="just">
              <a:lnSpc>
                <a:spcPct val="150000"/>
              </a:lnSpc>
            </a:pPr>
            <a:r>
              <a:rPr lang="vi-VN" sz="2200" b="1" smtClean="0">
                <a:solidFill>
                  <a:srgbClr val="002060"/>
                </a:solidFill>
                <a:latin typeface="Cambria" panose="02040503050406030204" pitchFamily="18" charset="0"/>
              </a:rPr>
              <a:t>Code</a:t>
            </a:r>
            <a:r>
              <a:rPr lang="vi-VN" sz="2200" b="1">
                <a:solidFill>
                  <a:srgbClr val="002060"/>
                </a:solidFill>
                <a:latin typeface="Cambria" panose="02040503050406030204" pitchFamily="18" charset="0"/>
              </a:rPr>
              <a:t>: F – 0</a:t>
            </a:r>
          </a:p>
          <a:p>
            <a:pPr marL="342900" indent="-57150" algn="just">
              <a:lnSpc>
                <a:spcPct val="150000"/>
              </a:lnSpc>
            </a:pPr>
            <a:r>
              <a:rPr lang="vi-VN" sz="2200" b="1">
                <a:solidFill>
                  <a:srgbClr val="002060"/>
                </a:solidFill>
                <a:latin typeface="Cambria" panose="02040503050406030204" pitchFamily="18" charset="0"/>
              </a:rPr>
              <a:t>Kết quả: 894F30</a:t>
            </a:r>
            <a:endParaRPr lang="en-US" sz="2200" b="1" smtClean="0">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en-US" sz="2800" b="1">
                <a:solidFill>
                  <a:srgbClr val="002060"/>
                </a:solidFill>
                <a:latin typeface="Cambria" panose="02040503050406030204" pitchFamily="18" charset="0"/>
              </a:rPr>
              <a:t> Mã hóa độ dài run (Run-Length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789776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076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Đối tượng của ZLC</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Âm câm (Silence), khoảng dừng hội thoại trong trong nén âm thanh</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Bitmaps</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Khoảng trống trong văn bản, chương trình nguồn</a:t>
            </a:r>
          </a:p>
          <a:p>
            <a:pPr marL="571500" indent="-28575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Backgrounds của ảnh (Image)</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en-US" sz="2800" b="1">
                <a:solidFill>
                  <a:srgbClr val="002060"/>
                </a:solidFill>
                <a:latin typeface="Cambria" panose="02040503050406030204" pitchFamily="18" charset="0"/>
              </a:rPr>
              <a:t> Mã hóa độ dài run (Run-Length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687095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Được </a:t>
            </a:r>
            <a:r>
              <a:rPr lang="vi-VN" sz="2200" b="1">
                <a:solidFill>
                  <a:srgbClr val="002060"/>
                </a:solidFill>
                <a:latin typeface="Cambria" panose="02040503050406030204" pitchFamily="18" charset="0"/>
              </a:rPr>
              <a:t>Jacob Braham Ziv đưa ra lần đầu tiên năm 1977, sau đó </a:t>
            </a:r>
            <a:r>
              <a:rPr lang="vi-VN" sz="2200" b="1" smtClean="0">
                <a:solidFill>
                  <a:srgbClr val="002060"/>
                </a:solidFill>
                <a:latin typeface="Cambria" panose="02040503050406030204" pitchFamily="18" charset="0"/>
              </a:rPr>
              <a:t>phát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triển </a:t>
            </a:r>
            <a:r>
              <a:rPr lang="vi-VN" sz="2200" b="1">
                <a:solidFill>
                  <a:srgbClr val="002060"/>
                </a:solidFill>
                <a:latin typeface="Cambria" panose="02040503050406030204" pitchFamily="18" charset="0"/>
              </a:rPr>
              <a:t>thành một họ giải thuật nén từ điển là </a:t>
            </a:r>
            <a:r>
              <a:rPr lang="vi-VN" sz="2200" b="1" smtClean="0">
                <a:solidFill>
                  <a:srgbClr val="002060"/>
                </a:solidFill>
                <a:latin typeface="Cambria" panose="02040503050406030204" pitchFamily="18" charset="0"/>
              </a:rPr>
              <a:t>LZ</a:t>
            </a:r>
            <a:endParaRPr lang="vi-VN" sz="2200" b="1">
              <a:solidFill>
                <a:srgbClr val="002060"/>
              </a:solidFill>
              <a:latin typeface="Cambria" panose="02040503050406030204" pitchFamily="18" charset="0"/>
            </a:endParaRP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Năm </a:t>
            </a:r>
            <a:r>
              <a:rPr lang="vi-VN" sz="2200" b="1">
                <a:solidFill>
                  <a:srgbClr val="002060"/>
                </a:solidFill>
                <a:latin typeface="Cambria" panose="02040503050406030204" pitchFamily="18" charset="0"/>
              </a:rPr>
              <a:t>1984, Terry Welch cải tiến giải thuật LZ thành một giải </a:t>
            </a:r>
            <a:r>
              <a:rPr lang="vi-VN" sz="2200" b="1" smtClean="0">
                <a:solidFill>
                  <a:srgbClr val="002060"/>
                </a:solidFill>
                <a:latin typeface="Cambria" panose="02040503050406030204" pitchFamily="18" charset="0"/>
              </a:rPr>
              <a:t>thuật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tốt </a:t>
            </a:r>
            <a:r>
              <a:rPr lang="vi-VN" sz="2200" b="1">
                <a:solidFill>
                  <a:srgbClr val="002060"/>
                </a:solidFill>
                <a:latin typeface="Cambria" panose="02040503050406030204" pitchFamily="18" charset="0"/>
              </a:rPr>
              <a:t>hơn: LZW</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Dùng </a:t>
            </a:r>
            <a:r>
              <a:rPr lang="vi-VN" sz="2200" b="1">
                <a:solidFill>
                  <a:srgbClr val="002060"/>
                </a:solidFill>
                <a:latin typeface="Cambria" panose="02040503050406030204" pitchFamily="18" charset="0"/>
              </a:rPr>
              <a:t>để giảm dư thừa trong pixel</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Không </a:t>
            </a:r>
            <a:r>
              <a:rPr lang="vi-VN" sz="2200" b="1">
                <a:solidFill>
                  <a:srgbClr val="002060"/>
                </a:solidFill>
                <a:latin typeface="Cambria" panose="02040503050406030204" pitchFamily="18" charset="0"/>
              </a:rPr>
              <a:t>cần biết trước xác suất phân bố của các pixel</a:t>
            </a:r>
          </a:p>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Thường </a:t>
            </a:r>
            <a:r>
              <a:rPr lang="vi-VN" sz="2200" b="1">
                <a:solidFill>
                  <a:srgbClr val="002060"/>
                </a:solidFill>
                <a:latin typeface="Cambria" panose="02040503050406030204" pitchFamily="18" charset="0"/>
              </a:rPr>
              <a:t>được dùng để nén các loại văn bản, ảnh đen trắng, ảnh màu</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ảnh </a:t>
            </a:r>
            <a:r>
              <a:rPr lang="vi-VN" sz="2200" b="1">
                <a:solidFill>
                  <a:srgbClr val="002060"/>
                </a:solidFill>
                <a:latin typeface="Cambria" panose="02040503050406030204" pitchFamily="18" charset="0"/>
              </a:rPr>
              <a:t>đa mức xám... Và là chuẩn nén cho các dạng ảnh GIF và TIFF</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5103458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Mã </a:t>
            </a:r>
            <a:r>
              <a:rPr lang="vi-VN" sz="2200" b="1">
                <a:solidFill>
                  <a:srgbClr val="002060"/>
                </a:solidFill>
                <a:latin typeface="Cambria" panose="02040503050406030204" pitchFamily="18" charset="0"/>
              </a:rPr>
              <a:t>hoá LZW làm việc bằng cách xây dựng tự điển (dictionary) của các </a:t>
            </a:r>
            <a:r>
              <a:rPr lang="vi-VN" sz="2200" b="1" smtClean="0">
                <a:solidFill>
                  <a:srgbClr val="002060"/>
                </a:solidFill>
                <a:latin typeface="Cambria" panose="02040503050406030204" pitchFamily="18" charset="0"/>
              </a:rPr>
              <a:t>câu</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a:t>
            </a:r>
            <a:r>
              <a:rPr lang="vi-VN" sz="2200" b="1">
                <a:solidFill>
                  <a:srgbClr val="002060"/>
                </a:solidFill>
                <a:latin typeface="Cambria" panose="02040503050406030204" pitchFamily="18" charset="0"/>
              </a:rPr>
              <a:t>nhóm của một hoặc nhiều ký tự) từ dòng dữ liệu đầu vào</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514350" indent="-285750" algn="just">
              <a:lnSpc>
                <a:spcPct val="150000"/>
              </a:lnSpc>
              <a:buFont typeface="Cambria" panose="02040503050406030204" pitchFamily="18" charset="0"/>
              <a:buChar char="⁺"/>
            </a:pPr>
            <a:r>
              <a:rPr lang="vi-VN" sz="2200" b="1">
                <a:solidFill>
                  <a:srgbClr val="002060"/>
                </a:solidFill>
                <a:latin typeface="Cambria" panose="02040503050406030204" pitchFamily="18" charset="0"/>
              </a:rPr>
              <a:t>Khi một câu (phrase) xuất hiện, phương tiện nén kiểm tra xem nó đã </a:t>
            </a:r>
            <a:r>
              <a:rPr lang="vi-VN" sz="2200" b="1" smtClean="0">
                <a:solidFill>
                  <a:srgbClr val="002060"/>
                </a:solidFill>
                <a:latin typeface="Cambria" panose="02040503050406030204" pitchFamily="18" charset="0"/>
              </a:rPr>
              <a:t>có</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trong </a:t>
            </a:r>
            <a:r>
              <a:rPr lang="vi-VN" sz="2200" b="1">
                <a:solidFill>
                  <a:srgbClr val="002060"/>
                </a:solidFill>
                <a:latin typeface="Cambria" panose="02040503050406030204" pitchFamily="18" charset="0"/>
              </a:rPr>
              <a:t>tự điển hay chưa ?</a:t>
            </a:r>
          </a:p>
          <a:p>
            <a:pPr marL="5143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Nếu </a:t>
            </a:r>
            <a:r>
              <a:rPr lang="vi-VN" sz="2200" b="1">
                <a:solidFill>
                  <a:srgbClr val="002060"/>
                </a:solidFill>
                <a:latin typeface="Cambria" panose="02040503050406030204" pitchFamily="18" charset="0"/>
              </a:rPr>
              <a:t>một câu đã tồn tại trong tự điển, nó đưa ra thẻ bài (token) </a:t>
            </a:r>
            <a:r>
              <a:rPr lang="vi-VN" sz="2200" b="1" smtClean="0">
                <a:solidFill>
                  <a:srgbClr val="002060"/>
                </a:solidFill>
                <a:latin typeface="Cambria" panose="02040503050406030204" pitchFamily="18" charset="0"/>
              </a:rPr>
              <a:t>chỉ</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thứ </a:t>
            </a:r>
            <a:r>
              <a:rPr lang="vi-VN" sz="2200" b="1">
                <a:solidFill>
                  <a:srgbClr val="002060"/>
                </a:solidFill>
                <a:latin typeface="Cambria" panose="02040503050406030204" pitchFamily="18" charset="0"/>
              </a:rPr>
              <a:t>tự tự điển của câu và thay thế câu bởi token.</a:t>
            </a:r>
          </a:p>
          <a:p>
            <a:pPr marL="514350" indent="-285750" algn="just">
              <a:lnSpc>
                <a:spcPct val="150000"/>
              </a:lnSpc>
              <a:buFont typeface="Cambria" panose="02040503050406030204" pitchFamily="18" charset="0"/>
              <a:buChar char="⁺"/>
            </a:pPr>
            <a:r>
              <a:rPr lang="vi-VN" sz="2200" b="1" smtClean="0">
                <a:solidFill>
                  <a:srgbClr val="002060"/>
                </a:solidFill>
                <a:latin typeface="Cambria" panose="02040503050406030204" pitchFamily="18" charset="0"/>
              </a:rPr>
              <a:t>Nếu </a:t>
            </a:r>
            <a:r>
              <a:rPr lang="vi-VN" sz="2200" b="1">
                <a:solidFill>
                  <a:srgbClr val="002060"/>
                </a:solidFill>
                <a:latin typeface="Cambria" panose="02040503050406030204" pitchFamily="18" charset="0"/>
              </a:rPr>
              <a:t>chưa, câu đó được thêm vào tự điển và một thẻ bài (token) </a:t>
            </a:r>
            <a:r>
              <a:rPr lang="vi-VN" sz="2200" b="1" smtClean="0">
                <a:solidFill>
                  <a:srgbClr val="002060"/>
                </a:solidFill>
                <a:latin typeface="Cambria" panose="02040503050406030204" pitchFamily="18" charset="0"/>
              </a:rPr>
              <a:t>mới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được </a:t>
            </a:r>
            <a:r>
              <a:rPr lang="vi-VN" sz="2200" b="1">
                <a:solidFill>
                  <a:srgbClr val="002060"/>
                </a:solidFill>
                <a:latin typeface="Cambria" panose="02040503050406030204" pitchFamily="18" charset="0"/>
              </a:rPr>
              <a:t>tạo và đưa ra thay thế câu đó bởi thẻ bài.</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690038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LZW làm việc rất tốt trên dữ liệu có sự lập lại của nhóm các ký tự như </a:t>
            </a:r>
            <a:r>
              <a:rPr lang="vi-VN" sz="2200" b="1" smtClean="0">
                <a:solidFill>
                  <a:srgbClr val="002060"/>
                </a:solidFill>
                <a:latin typeface="Cambria" panose="02040503050406030204" pitchFamily="18" charset="0"/>
              </a:rPr>
              <a:t>các</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file </a:t>
            </a:r>
            <a:r>
              <a:rPr lang="vi-VN" sz="2200" b="1">
                <a:solidFill>
                  <a:srgbClr val="002060"/>
                </a:solidFill>
                <a:latin typeface="Cambria" panose="02040503050406030204" pitchFamily="18" charset="0"/>
              </a:rPr>
              <a:t>văn bản. Một trong các nhân tố tác động đến hiệu quả nén LZW </a:t>
            </a:r>
            <a:r>
              <a:rPr lang="vi-VN" sz="2200" b="1" smtClean="0">
                <a:solidFill>
                  <a:srgbClr val="002060"/>
                </a:solidFill>
                <a:latin typeface="Cambria" panose="02040503050406030204" pitchFamily="18" charset="0"/>
              </a:rPr>
              <a:t>là</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chiều </a:t>
            </a:r>
            <a:r>
              <a:rPr lang="vi-VN" sz="2200" b="1">
                <a:solidFill>
                  <a:srgbClr val="002060"/>
                </a:solidFill>
                <a:latin typeface="Cambria" panose="02040503050406030204" pitchFamily="18" charset="0"/>
              </a:rPr>
              <a:t>dài của token. Chiều dài token lớn sẽ áp dụng tốt cho file lớn </a:t>
            </a:r>
            <a:r>
              <a:rPr lang="vi-VN" sz="2200" b="1" smtClean="0">
                <a:solidFill>
                  <a:srgbClr val="002060"/>
                </a:solidFill>
                <a:latin typeface="Cambria" panose="02040503050406030204" pitchFamily="18" charset="0"/>
              </a:rPr>
              <a:t>và</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ngược </a:t>
            </a:r>
            <a:r>
              <a:rPr lang="vi-VN" sz="2200" b="1">
                <a:solidFill>
                  <a:srgbClr val="002060"/>
                </a:solidFill>
                <a:latin typeface="Cambria" panose="02040503050406030204" pitchFamily="18" charset="0"/>
              </a:rPr>
              <a:t>lại.</a:t>
            </a:r>
          </a:p>
          <a:p>
            <a:pPr algn="just">
              <a:lnSpc>
                <a:spcPct val="150000"/>
              </a:lnSpc>
            </a:pPr>
            <a:r>
              <a:rPr lang="en-US" sz="2200" b="1" smtClean="0">
                <a:solidFill>
                  <a:srgbClr val="002060"/>
                </a:solidFill>
                <a:latin typeface="Cambria" panose="02040503050406030204" pitchFamily="18" charset="0"/>
              </a:rPr>
              <a:t>VD</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Một văn bản có 10.000 ký tự (80.000 bit), trong file có 2.000 từ/câu</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trong </a:t>
            </a:r>
            <a:r>
              <a:rPr lang="vi-VN" sz="2200" b="1">
                <a:solidFill>
                  <a:srgbClr val="002060"/>
                </a:solidFill>
                <a:latin typeface="Cambria" panose="02040503050406030204" pitchFamily="18" charset="0"/>
              </a:rPr>
              <a:t>đó 500 từ / câu khác nhau (cần 9 bit cho mỗi token của tự điển)</a:t>
            </a:r>
          </a:p>
          <a:p>
            <a:pPr algn="just">
              <a:lnSpc>
                <a:spcPct val="150000"/>
              </a:lnSpc>
            </a:pP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=&gt; </a:t>
            </a:r>
            <a:r>
              <a:rPr lang="vi-VN" sz="2200" b="1">
                <a:solidFill>
                  <a:srgbClr val="002060"/>
                </a:solidFill>
                <a:latin typeface="Cambria" panose="02040503050406030204" pitchFamily="18" charset="0"/>
              </a:rPr>
              <a:t>File sau nén dùng mã hoá LZW = 18.000 bit.</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73257588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Phương pháp trong nén LZW</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Từ điển được xây dựng song song với quá trình đọc dữ liệu vào.</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Độ dài cho phép của từ mã : 12bits (4096).</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0..255: mã hoá ký tự trong bảng mã ASCII.</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256: mã xoá</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257: mã kết thúc (EOI)</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258..4096: mã cho mẫu </a:t>
            </a:r>
            <a:r>
              <a:rPr lang="vi-VN" sz="2200" b="1" smtClean="0">
                <a:solidFill>
                  <a:srgbClr val="002060"/>
                </a:solidFill>
                <a:latin typeface="Cambria" panose="02040503050406030204" pitchFamily="18" charset="0"/>
              </a:rPr>
              <a:t>lặp.</a:t>
            </a:r>
            <a:endParaRPr lang="en-US" sz="2200" b="1">
              <a:solidFill>
                <a:srgbClr val="002060"/>
              </a:solidFill>
              <a:latin typeface="Cambria" panose="02040503050406030204" pitchFamily="18" charset="0"/>
            </a:endParaRPr>
          </a:p>
          <a:p>
            <a:pPr marL="342900" indent="-342900" algn="just">
              <a:lnSpc>
                <a:spcPct val="150000"/>
              </a:lnSpc>
              <a:buFont typeface="Wingdings" panose="05000000000000000000" pitchFamily="2" charset="2"/>
              <a:buChar char="v"/>
            </a:pPr>
            <a:r>
              <a:rPr lang="vi-VN" sz="2200" b="1" smtClean="0">
                <a:solidFill>
                  <a:srgbClr val="002060"/>
                </a:solidFill>
                <a:latin typeface="Cambria" panose="02040503050406030204" pitchFamily="18" charset="0"/>
              </a:rPr>
              <a:t>Đối </a:t>
            </a:r>
            <a:r>
              <a:rPr lang="vi-VN" sz="2200" b="1">
                <a:solidFill>
                  <a:srgbClr val="002060"/>
                </a:solidFill>
                <a:latin typeface="Cambria" panose="02040503050406030204" pitchFamily="18" charset="0"/>
              </a:rPr>
              <a:t>tượng của LZW</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các loại văn bản</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ảnh đơn mức xám</a:t>
            </a:r>
          </a:p>
          <a:p>
            <a:pPr marL="571500" indent="-2286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Nén ảnh đa mức xám</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0891800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VD: </a:t>
            </a:r>
            <a:r>
              <a:rPr lang="vi-VN" sz="2200" b="1">
                <a:solidFill>
                  <a:srgbClr val="002060"/>
                </a:solidFill>
                <a:latin typeface="Cambria" panose="02040503050406030204" pitchFamily="18" charset="0"/>
              </a:rPr>
              <a:t>Cho chuỗi đầu vào: “</a:t>
            </a:r>
            <a:r>
              <a:rPr lang="vi-VN" sz="2200" b="1">
                <a:solidFill>
                  <a:srgbClr val="C00000"/>
                </a:solidFill>
                <a:latin typeface="Cambria" panose="02040503050406030204" pitchFamily="18" charset="0"/>
              </a:rPr>
              <a:t>HELLOHELLOHELL</a:t>
            </a:r>
            <a:r>
              <a:rPr lang="vi-VN" sz="2200" b="1">
                <a:solidFill>
                  <a:srgbClr val="002060"/>
                </a:solidFill>
                <a:latin typeface="Cambria" panose="02040503050406030204" pitchFamily="18" charset="0"/>
              </a:rPr>
              <a:t>” </a:t>
            </a:r>
            <a:endParaRPr lang="en-US" sz="2200" b="1" smtClean="0">
              <a:solidFill>
                <a:srgbClr val="002060"/>
              </a:solidFill>
              <a:latin typeface="Cambria" panose="02040503050406030204" pitchFamily="18" charset="0"/>
            </a:endParaRPr>
          </a:p>
          <a:p>
            <a:pPr algn="just">
              <a:lnSpc>
                <a:spcPct val="150000"/>
              </a:lnSpc>
            </a:pPr>
            <a:r>
              <a:rPr lang="vi-VN" sz="2200" b="1" smtClean="0">
                <a:solidFill>
                  <a:srgbClr val="002060"/>
                </a:solidFill>
                <a:latin typeface="Cambria" panose="02040503050406030204" pitchFamily="18" charset="0"/>
              </a:rPr>
              <a:t>Từ </a:t>
            </a:r>
            <a:r>
              <a:rPr lang="vi-VN" sz="2200" b="1">
                <a:solidFill>
                  <a:srgbClr val="002060"/>
                </a:solidFill>
                <a:latin typeface="Cambria" panose="02040503050406030204" pitchFamily="18" charset="0"/>
              </a:rPr>
              <a:t>điển ban đầu đã gồm 256 ký tự cơ bản</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algn="just">
              <a:lnSpc>
                <a:spcPct val="150000"/>
              </a:lnSpc>
            </a:pPr>
            <a:r>
              <a:rPr lang="vi-VN" sz="2200" b="1" smtClean="0">
                <a:solidFill>
                  <a:srgbClr val="002060"/>
                </a:solidFill>
                <a:latin typeface="Cambria" panose="02040503050406030204" pitchFamily="18" charset="0"/>
              </a:rPr>
              <a:t>K</a:t>
            </a:r>
            <a:r>
              <a:rPr lang="en-US" sz="2200" b="1">
                <a:solidFill>
                  <a:srgbClr val="002060"/>
                </a:solidFill>
                <a:latin typeface="Cambria" panose="02040503050406030204" pitchFamily="18" charset="0"/>
              </a:rPr>
              <a:t>í</a:t>
            </a:r>
            <a:r>
              <a:rPr lang="vi-VN" sz="2200" b="1" smtClean="0">
                <a:solidFill>
                  <a:srgbClr val="002060"/>
                </a:solidFill>
                <a:latin typeface="Cambria" panose="02040503050406030204" pitchFamily="18" charset="0"/>
              </a:rPr>
              <a:t>ch </a:t>
            </a:r>
            <a:r>
              <a:rPr lang="vi-VN" sz="2200" b="1">
                <a:solidFill>
                  <a:srgbClr val="002060"/>
                </a:solidFill>
                <a:latin typeface="Cambria" panose="02040503050406030204" pitchFamily="18" charset="0"/>
              </a:rPr>
              <a:t>thước đầu vào: 14 x 8 = 112 </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6686540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00632586"/>
              </p:ext>
            </p:extLst>
          </p:nvPr>
        </p:nvGraphicFramePr>
        <p:xfrm>
          <a:off x="442912" y="442911"/>
          <a:ext cx="8276521" cy="5719664"/>
        </p:xfrm>
        <a:graphic>
          <a:graphicData uri="http://schemas.openxmlformats.org/drawingml/2006/table">
            <a:tbl>
              <a:tblPr firstRow="1" firstCol="1" lastRow="1" lastCol="1" bandRow="1" bandCol="1">
                <a:tableStyleId>{5C22544A-7EE6-4342-B048-85BDC9FD1C3A}</a:tableStyleId>
              </a:tblPr>
              <a:tblGrid>
                <a:gridCol w="1454193"/>
                <a:gridCol w="1454193"/>
                <a:gridCol w="5368135"/>
              </a:tblGrid>
              <a:tr h="289543">
                <a:tc gridSpan="3">
                  <a:txBody>
                    <a:bodyPr/>
                    <a:lstStyle/>
                    <a:p>
                      <a:pPr marL="31750" marR="0">
                        <a:lnSpc>
                          <a:spcPts val="1435"/>
                        </a:lnSpc>
                        <a:spcBef>
                          <a:spcPts val="0"/>
                        </a:spcBef>
                        <a:spcAft>
                          <a:spcPts val="0"/>
                        </a:spcAft>
                      </a:pPr>
                      <a:r>
                        <a:rPr lang="en-US" sz="1800" b="1" baseline="0" smtClean="0">
                          <a:solidFill>
                            <a:srgbClr val="002060"/>
                          </a:solidFill>
                          <a:latin typeface="Cambria" panose="02040503050406030204" pitchFamily="18" charset="0"/>
                        </a:rPr>
                        <a:t>         </a:t>
                      </a:r>
                      <a:r>
                        <a:rPr lang="vi-VN" sz="1800" b="1" smtClean="0">
                          <a:solidFill>
                            <a:srgbClr val="C00000"/>
                          </a:solidFill>
                          <a:latin typeface="Cambria" panose="02040503050406030204" pitchFamily="18" charset="0"/>
                        </a:rPr>
                        <a:t>HELLOHELLOHELL</a:t>
                      </a:r>
                      <a:endParaRPr lang="en-US" sz="180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60020" marR="0">
                        <a:lnSpc>
                          <a:spcPts val="1435"/>
                        </a:lnSpc>
                        <a:spcBef>
                          <a:spcPts val="0"/>
                        </a:spcBef>
                        <a:spcAft>
                          <a:spcPts val="0"/>
                        </a:spcAft>
                      </a:pP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05105" marR="0">
                        <a:lnSpc>
                          <a:spcPts val="1435"/>
                        </a:lnSpc>
                        <a:spcBef>
                          <a:spcPts val="0"/>
                        </a:spcBef>
                        <a:spcAft>
                          <a:spcPts val="0"/>
                        </a:spcAft>
                      </a:pP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4778">
                <a:tc>
                  <a:txBody>
                    <a:bodyPr/>
                    <a:lstStyle/>
                    <a:p>
                      <a:pPr marL="31750" marR="0">
                        <a:spcBef>
                          <a:spcPts val="325"/>
                        </a:spcBef>
                        <a:spcAft>
                          <a:spcPts val="0"/>
                        </a:spcAft>
                      </a:pPr>
                      <a:r>
                        <a:rPr lang="vi-VN" sz="1600">
                          <a:solidFill>
                            <a:srgbClr val="002060"/>
                          </a:solidFill>
                          <a:effectLst/>
                        </a:rPr>
                        <a:t>H(72)</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25"/>
                        </a:spcBef>
                        <a:spcAft>
                          <a:spcPts val="0"/>
                        </a:spcAft>
                      </a:pPr>
                      <a:r>
                        <a:rPr lang="vi-VN" sz="1600">
                          <a:solidFill>
                            <a:srgbClr val="002060"/>
                          </a:solidFill>
                          <a:effectLst/>
                        </a:rPr>
                        <a:t>H đã có trong từ điển -&gt; đọc tiếp</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E(69)</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72</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258 đại diện chuỗi HE</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L(76)</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69</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259 đại diện chuỗi EL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76</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260 đại diện chuỗi LL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O(79)</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76</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261 đại diện chuỗi LO</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H</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79</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262 đại diện chuỗi OH</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6105">
                <a:tc>
                  <a:txBody>
                    <a:bodyPr/>
                    <a:lstStyle/>
                    <a:p>
                      <a:pPr marL="31750" marR="0">
                        <a:spcBef>
                          <a:spcPts val="345"/>
                        </a:spcBef>
                        <a:spcAft>
                          <a:spcPts val="0"/>
                        </a:spcAft>
                      </a:pPr>
                      <a:r>
                        <a:rPr lang="vi-VN" sz="1600">
                          <a:solidFill>
                            <a:srgbClr val="002060"/>
                          </a:solidFill>
                          <a:effectLst/>
                        </a:rPr>
                        <a:t>E</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HE đã có trong từ điển -&gt; đọc tiếp</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0"/>
                        </a:spcBef>
                        <a:spcAft>
                          <a:spcPts val="0"/>
                        </a:spcAft>
                      </a:pPr>
                      <a:r>
                        <a:rPr lang="vi-VN" sz="1600">
                          <a:solidFill>
                            <a:srgbClr val="002060"/>
                          </a:solidFill>
                          <a:effectLst/>
                        </a:rPr>
                        <a:t>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0"/>
                        </a:spcBef>
                        <a:spcAft>
                          <a:spcPts val="0"/>
                        </a:spcAft>
                      </a:pPr>
                      <a:r>
                        <a:rPr lang="vi-VN" sz="1600">
                          <a:solidFill>
                            <a:srgbClr val="002060"/>
                          </a:solidFill>
                          <a:effectLst/>
                        </a:rPr>
                        <a:t>258</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0"/>
                        </a:spcBef>
                        <a:spcAft>
                          <a:spcPts val="0"/>
                        </a:spcAft>
                      </a:pPr>
                      <a:r>
                        <a:rPr lang="vi-VN" sz="1600">
                          <a:solidFill>
                            <a:srgbClr val="002060"/>
                          </a:solidFill>
                          <a:effectLst/>
                        </a:rPr>
                        <a:t>Thêm vào từ điển mã 263 đại diện chuỗi HEL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6765">
                <a:tc>
                  <a:txBody>
                    <a:bodyPr/>
                    <a:lstStyle/>
                    <a:p>
                      <a:pPr marL="31750" marR="0">
                        <a:spcBef>
                          <a:spcPts val="345"/>
                        </a:spcBef>
                        <a:spcAft>
                          <a:spcPts val="0"/>
                        </a:spcAft>
                      </a:pPr>
                      <a:r>
                        <a:rPr lang="vi-VN" sz="1600">
                          <a:solidFill>
                            <a:srgbClr val="002060"/>
                          </a:solidFill>
                          <a:effectLst/>
                        </a:rPr>
                        <a:t>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LL đã có trong từ điển -&gt; đọc tiếp</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O</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260</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264 đại diện chuỗi LLO</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7428">
                <a:tc>
                  <a:txBody>
                    <a:bodyPr/>
                    <a:lstStyle/>
                    <a:p>
                      <a:pPr marL="31750" marR="0">
                        <a:spcBef>
                          <a:spcPts val="345"/>
                        </a:spcBef>
                        <a:spcAft>
                          <a:spcPts val="0"/>
                        </a:spcAft>
                      </a:pPr>
                      <a:r>
                        <a:rPr lang="vi-VN" sz="1600">
                          <a:solidFill>
                            <a:srgbClr val="002060"/>
                          </a:solidFill>
                          <a:effectLst/>
                        </a:rPr>
                        <a:t>H</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OH đã có trong từ điển -&gt; đọc tiếp</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E</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262</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265 đại diện chuỗi OHE</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30004">
                <a:tc>
                  <a:txBody>
                    <a:bodyPr/>
                    <a:lstStyle/>
                    <a:p>
                      <a:pPr marL="31750" marR="0">
                        <a:spcBef>
                          <a:spcPts val="345"/>
                        </a:spcBef>
                        <a:spcAft>
                          <a:spcPts val="0"/>
                        </a:spcAft>
                      </a:pPr>
                      <a:r>
                        <a:rPr lang="vi-VN" sz="1600">
                          <a:solidFill>
                            <a:srgbClr val="002060"/>
                          </a:solidFill>
                          <a:effectLst/>
                        </a:rPr>
                        <a:t>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EL đã có trong từ điển -&gt; đọc tiếp</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02104">
                <a:tc>
                  <a:txBody>
                    <a:bodyPr/>
                    <a:lstStyle/>
                    <a:p>
                      <a:pPr marL="31750" marR="0">
                        <a:spcBef>
                          <a:spcPts val="345"/>
                        </a:spcBef>
                        <a:spcAft>
                          <a:spcPts val="0"/>
                        </a:spcAft>
                      </a:pPr>
                      <a:r>
                        <a:rPr lang="vi-VN" sz="1600">
                          <a:solidFill>
                            <a:srgbClr val="002060"/>
                          </a:solidFill>
                          <a:effectLst/>
                        </a:rPr>
                        <a:t>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5"/>
                        </a:spcBef>
                        <a:spcAft>
                          <a:spcPts val="0"/>
                        </a:spcAft>
                      </a:pPr>
                      <a:r>
                        <a:rPr lang="vi-VN" sz="1600">
                          <a:solidFill>
                            <a:srgbClr val="002060"/>
                          </a:solidFill>
                          <a:effectLst/>
                        </a:rPr>
                        <a:t>259</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5"/>
                        </a:spcBef>
                        <a:spcAft>
                          <a:spcPts val="0"/>
                        </a:spcAft>
                      </a:pPr>
                      <a:r>
                        <a:rPr lang="vi-VN" sz="1600">
                          <a:solidFill>
                            <a:srgbClr val="002060"/>
                          </a:solidFill>
                          <a:effectLst/>
                        </a:rPr>
                        <a:t>Thêm vào từ điển mã 266 đại diện chuỗi ELL</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96105">
                <a:tc>
                  <a:txBody>
                    <a:bodyPr/>
                    <a:lstStyle/>
                    <a:p>
                      <a:pPr marL="0" marR="0">
                        <a:spcBef>
                          <a:spcPts val="0"/>
                        </a:spcBef>
                        <a:spcAft>
                          <a:spcPts val="0"/>
                        </a:spcAft>
                      </a:pPr>
                      <a:r>
                        <a:rPr lang="vi-VN" sz="1600">
                          <a:solidFill>
                            <a:srgbClr val="002060"/>
                          </a:solidFill>
                          <a:effectLst/>
                        </a:rPr>
                        <a:t> </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60020" marR="0">
                        <a:spcBef>
                          <a:spcPts val="340"/>
                        </a:spcBef>
                        <a:spcAft>
                          <a:spcPts val="0"/>
                        </a:spcAft>
                      </a:pPr>
                      <a:r>
                        <a:rPr lang="vi-VN" sz="1600">
                          <a:solidFill>
                            <a:srgbClr val="002060"/>
                          </a:solidFill>
                          <a:effectLst/>
                        </a:rPr>
                        <a:t>76</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05105" marR="0">
                        <a:spcBef>
                          <a:spcPts val="340"/>
                        </a:spcBef>
                        <a:spcAft>
                          <a:spcPts val="0"/>
                        </a:spcAft>
                      </a:pPr>
                      <a:r>
                        <a:rPr lang="vi-VN" sz="1600">
                          <a:solidFill>
                            <a:srgbClr val="002060"/>
                          </a:solidFill>
                          <a:effectLst/>
                        </a:rPr>
                        <a:t>Input = FALSE</a:t>
                      </a:r>
                      <a:endParaRPr lang="en-US" sz="16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27860590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52110" y="851440"/>
            <a:ext cx="8570976"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algn="just">
              <a:lnSpc>
                <a:spcPct val="150000"/>
              </a:lnSpc>
            </a:pPr>
            <a:r>
              <a:rPr lang="en-US" sz="2200" b="1" smtClean="0">
                <a:solidFill>
                  <a:srgbClr val="002060"/>
                </a:solidFill>
                <a:latin typeface="Cambria" panose="02040503050406030204" pitchFamily="18" charset="0"/>
              </a:rPr>
              <a:t>VD: </a:t>
            </a:r>
            <a:r>
              <a:rPr lang="vi-VN" sz="2200" b="1">
                <a:solidFill>
                  <a:srgbClr val="002060"/>
                </a:solidFill>
                <a:latin typeface="Cambria" panose="02040503050406030204" pitchFamily="18" charset="0"/>
              </a:rPr>
              <a:t>Cho chuỗi đầu vào: “HELLOHELLOHELL” </a:t>
            </a:r>
            <a:endParaRPr lang="en-US" sz="2200" b="1" smtClean="0">
              <a:solidFill>
                <a:srgbClr val="002060"/>
              </a:solidFill>
              <a:latin typeface="Cambria" panose="02040503050406030204" pitchFamily="18" charset="0"/>
            </a:endParaRPr>
          </a:p>
          <a:p>
            <a:pPr algn="just">
              <a:lnSpc>
                <a:spcPct val="150000"/>
              </a:lnSpc>
            </a:pPr>
            <a:r>
              <a:rPr lang="vi-VN" sz="2200" b="1">
                <a:solidFill>
                  <a:srgbClr val="002060"/>
                </a:solidFill>
                <a:latin typeface="Cambria" panose="02040503050406030204" pitchFamily="18" charset="0"/>
              </a:rPr>
              <a:t>Chuỗi đầu ra là: 72 69 76 76 79 258 260 262 259 76</a:t>
            </a:r>
          </a:p>
          <a:p>
            <a:pPr algn="just">
              <a:lnSpc>
                <a:spcPct val="150000"/>
              </a:lnSpc>
            </a:pPr>
            <a:r>
              <a:rPr lang="en-US" sz="2200" b="1" smtClean="0">
                <a:solidFill>
                  <a:srgbClr val="002060"/>
                </a:solidFill>
                <a:latin typeface="Cambria" panose="02040503050406030204" pitchFamily="18" charset="0"/>
              </a:rPr>
              <a:t>Kích</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thước đầu ra: 6 x 8 + 4 x 9 = 84 bit </a:t>
            </a:r>
            <a:endParaRPr lang="en-US" sz="2200" b="1" smtClean="0">
              <a:solidFill>
                <a:srgbClr val="002060"/>
              </a:solidFill>
              <a:latin typeface="Cambria" panose="02040503050406030204" pitchFamily="18" charset="0"/>
            </a:endParaRPr>
          </a:p>
          <a:p>
            <a:pPr algn="just">
              <a:lnSpc>
                <a:spcPct val="150000"/>
              </a:lnSpc>
            </a:pPr>
            <a:r>
              <a:rPr lang="vi-VN" sz="2200" b="1" smtClean="0">
                <a:solidFill>
                  <a:srgbClr val="002060"/>
                </a:solidFill>
                <a:latin typeface="Cambria" panose="02040503050406030204" pitchFamily="18" charset="0"/>
              </a:rPr>
              <a:t>Tỷ </a:t>
            </a:r>
            <a:r>
              <a:rPr lang="vi-VN" sz="2200" b="1">
                <a:solidFill>
                  <a:srgbClr val="002060"/>
                </a:solidFill>
                <a:latin typeface="Cambria" panose="02040503050406030204" pitchFamily="18" charset="0"/>
              </a:rPr>
              <a:t>số nén = 112/ 84 = 1.3</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Mã hóa Lempel-Ziv-Welch (LZW coding)</a:t>
            </a:r>
          </a:p>
        </p:txBody>
      </p:sp>
      <p:sp>
        <p:nvSpPr>
          <p:cNvPr id="6" name="Line 16"/>
          <p:cNvSpPr>
            <a:spLocks noChangeShapeType="1"/>
          </p:cNvSpPr>
          <p:nvPr/>
        </p:nvSpPr>
        <p:spPr bwMode="auto">
          <a:xfrm>
            <a:off x="119858" y="732901"/>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366715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155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Mô tả chính xác tần suất xuất hiện của ký tự.</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Mô tả thông điệp bởi một dấu chấm động trong [0,1].</a:t>
            </a:r>
          </a:p>
          <a:p>
            <a:pPr marL="3429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Dấu chấm động ngắn nhất được lựa chọn.</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 Mã số học (Arithmatic Code)</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4895525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342900" indent="-342900" algn="just">
              <a:lnSpc>
                <a:spcPct val="150000"/>
              </a:lnSpc>
              <a:buFont typeface="Wingdings" panose="05000000000000000000" pitchFamily="2" charset="2"/>
              <a:buChar char="v"/>
            </a:pPr>
            <a:r>
              <a:rPr lang="vi-VN" sz="2200" b="1">
                <a:solidFill>
                  <a:srgbClr val="002060"/>
                </a:solidFill>
                <a:latin typeface="Cambria" panose="02040503050406030204" pitchFamily="18" charset="0"/>
              </a:rPr>
              <a:t>Giải thuật Mã số học</a:t>
            </a:r>
          </a:p>
          <a:p>
            <a:pPr marL="628650" indent="-342900" algn="just">
              <a:lnSpc>
                <a:spcPct val="150000"/>
              </a:lnSpc>
            </a:pPr>
            <a:r>
              <a:rPr lang="vi-VN" sz="2200" b="1">
                <a:solidFill>
                  <a:srgbClr val="002060"/>
                </a:solidFill>
                <a:latin typeface="Cambria" panose="02040503050406030204" pitchFamily="18" charset="0"/>
              </a:rPr>
              <a:t>1. Bắt đầu với ký tự đầu tiên của dòng dữ liệu vào, với khoảng giá trị </a:t>
            </a:r>
            <a:r>
              <a:rPr lang="vi-VN" sz="2200" b="1" smtClean="0">
                <a:solidFill>
                  <a:srgbClr val="002060"/>
                </a:solidFill>
                <a:latin typeface="Cambria" panose="02040503050406030204" pitchFamily="18" charset="0"/>
              </a:rPr>
              <a:t>hiện</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thời </a:t>
            </a:r>
            <a:r>
              <a:rPr lang="vi-VN" sz="2200" b="1">
                <a:solidFill>
                  <a:srgbClr val="002060"/>
                </a:solidFill>
                <a:latin typeface="Cambria" panose="02040503050406030204" pitchFamily="18" charset="0"/>
              </a:rPr>
              <a:t>của chính ký tự này là [0,1].</a:t>
            </a:r>
          </a:p>
          <a:p>
            <a:pPr marL="628650" indent="-342900" algn="just">
              <a:lnSpc>
                <a:spcPct val="150000"/>
              </a:lnSpc>
            </a:pPr>
            <a:r>
              <a:rPr lang="vi-VN" sz="2200" b="1">
                <a:solidFill>
                  <a:srgbClr val="002060"/>
                </a:solidFill>
                <a:latin typeface="Cambria" panose="02040503050406030204" pitchFamily="18" charset="0"/>
              </a:rPr>
              <a:t>2. Đọc ký tự tiếp theo, chia khoảng giá trị hiện thời theo tần suất xuất </a:t>
            </a:r>
            <a:r>
              <a:rPr lang="vi-VN" sz="2200" b="1" smtClean="0">
                <a:solidFill>
                  <a:srgbClr val="002060"/>
                </a:solidFill>
                <a:latin typeface="Cambria" panose="02040503050406030204" pitchFamily="18" charset="0"/>
              </a:rPr>
              <a:t>hiện</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của </a:t>
            </a:r>
            <a:r>
              <a:rPr lang="vi-VN" sz="2200" b="1">
                <a:solidFill>
                  <a:srgbClr val="002060"/>
                </a:solidFill>
                <a:latin typeface="Cambria" panose="02040503050406030204" pitchFamily="18" charset="0"/>
              </a:rPr>
              <a:t>ký tự này.</a:t>
            </a:r>
          </a:p>
          <a:p>
            <a:pPr marL="628650" indent="-342900" algn="just">
              <a:lnSpc>
                <a:spcPct val="150000"/>
              </a:lnSpc>
            </a:pPr>
            <a:r>
              <a:rPr lang="vi-VN" sz="2200" b="1">
                <a:solidFill>
                  <a:srgbClr val="002060"/>
                </a:solidFill>
                <a:latin typeface="Cambria" panose="02040503050406030204" pitchFamily="18" charset="0"/>
              </a:rPr>
              <a:t>3. Nếu chuỗi dữ liệu kết thúc, chuyển sang bước 4. Ngược lại quay lại bước 2</a:t>
            </a:r>
          </a:p>
          <a:p>
            <a:pPr marL="628650" indent="-342900" algn="just">
              <a:lnSpc>
                <a:spcPct val="150000"/>
              </a:lnSpc>
            </a:pPr>
            <a:r>
              <a:rPr lang="vi-VN" sz="2200" b="1">
                <a:solidFill>
                  <a:srgbClr val="002060"/>
                </a:solidFill>
                <a:latin typeface="Cambria" panose="02040503050406030204" pitchFamily="18" charset="0"/>
              </a:rPr>
              <a:t>4. Tại khoảng giá trị kết thúc, chọn số dấu chấm động nhỏ nhất (cận dưới) </a:t>
            </a:r>
            <a:r>
              <a:rPr lang="vi-VN" sz="2200" b="1" smtClean="0">
                <a:solidFill>
                  <a:srgbClr val="002060"/>
                </a:solidFill>
                <a:latin typeface="Cambria" panose="02040503050406030204" pitchFamily="18" charset="0"/>
              </a:rPr>
              <a:t>là</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giá </a:t>
            </a:r>
            <a:r>
              <a:rPr lang="vi-VN" sz="2200" b="1">
                <a:solidFill>
                  <a:srgbClr val="002060"/>
                </a:solidFill>
                <a:latin typeface="Cambria" panose="02040503050406030204" pitchFamily="18" charset="0"/>
              </a:rPr>
              <a:t>trị mã hoá của chuỗi ký tự</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marL="346075" indent="-346075" algn="just">
              <a:lnSpc>
                <a:spcPct val="150000"/>
              </a:lnSpc>
            </a:pPr>
            <a:r>
              <a:rPr lang="vi-VN" sz="2800" b="1">
                <a:solidFill>
                  <a:srgbClr val="002060"/>
                </a:solidFill>
                <a:latin typeface="Cambria" panose="02040503050406030204" pitchFamily="18" charset="0"/>
              </a:rPr>
              <a:t> Mã số học (Arithmatic Code)</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1653350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5100" algn="just">
              <a:lnSpc>
                <a:spcPct val="150000"/>
              </a:lnSpc>
            </a:pPr>
            <a:r>
              <a:rPr lang="en-US" sz="2200" b="1" smtClean="0">
                <a:solidFill>
                  <a:srgbClr val="002060"/>
                </a:solidFill>
                <a:latin typeface="Cambria" panose="02040503050406030204" pitchFamily="18" charset="0"/>
              </a:rPr>
              <a:t>T</a:t>
            </a:r>
            <a:r>
              <a:rPr lang="vi-VN" sz="2200" b="1" smtClean="0">
                <a:solidFill>
                  <a:srgbClr val="002060"/>
                </a:solidFill>
                <a:latin typeface="Cambria" panose="02040503050406030204" pitchFamily="18" charset="0"/>
              </a:rPr>
              <a:t>rích </a:t>
            </a:r>
            <a:r>
              <a:rPr lang="vi-VN" sz="2200" b="1">
                <a:solidFill>
                  <a:srgbClr val="002060"/>
                </a:solidFill>
                <a:latin typeface="Cambria" panose="02040503050406030204" pitchFamily="18" charset="0"/>
              </a:rPr>
              <a:t>chọn đặc </a:t>
            </a:r>
            <a:r>
              <a:rPr lang="vi-VN" sz="2200" b="1" smtClean="0">
                <a:solidFill>
                  <a:srgbClr val="002060"/>
                </a:solidFill>
                <a:latin typeface="Cambria" panose="02040503050406030204" pitchFamily="18" charset="0"/>
              </a:rPr>
              <a:t>tr</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ng </a:t>
            </a:r>
            <a:r>
              <a:rPr lang="vi-VN" sz="2200" b="1">
                <a:solidFill>
                  <a:srgbClr val="002060"/>
                </a:solidFill>
                <a:latin typeface="Cambria" panose="02040503050406030204" pitchFamily="18" charset="0"/>
              </a:rPr>
              <a:t>đóng vai trò rất quan trọng </a:t>
            </a:r>
            <a:r>
              <a:rPr lang="vi-VN" sz="2200" b="1" smtClean="0">
                <a:solidFill>
                  <a:srgbClr val="002060"/>
                </a:solidFill>
                <a:latin typeface="Cambria" panose="02040503050406030204" pitchFamily="18" charset="0"/>
              </a:rPr>
              <a:t>trong</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vấn </a:t>
            </a:r>
            <a:r>
              <a:rPr lang="vi-VN" sz="2200" b="1">
                <a:solidFill>
                  <a:srgbClr val="002060"/>
                </a:solidFill>
                <a:latin typeface="Cambria" panose="02040503050406030204" pitchFamily="18" charset="0"/>
              </a:rPr>
              <a:t>đề phân lớp âm thanh. Chúng cho thấy đặc </a:t>
            </a:r>
            <a:r>
              <a:rPr lang="vi-VN" sz="2200" b="1" smtClean="0">
                <a:solidFill>
                  <a:srgbClr val="002060"/>
                </a:solidFill>
                <a:latin typeface="Cambria" panose="02040503050406030204" pitchFamily="18" charset="0"/>
              </a:rPr>
              <a:t>tr</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ng </a:t>
            </a:r>
            <a:r>
              <a:rPr lang="vi-VN" sz="2200" b="1">
                <a:solidFill>
                  <a:srgbClr val="002060"/>
                </a:solidFill>
                <a:latin typeface="Cambria" panose="02040503050406030204" pitchFamily="18" charset="0"/>
              </a:rPr>
              <a:t>quan trọng của các </a:t>
            </a:r>
            <a:r>
              <a:rPr lang="vi-VN" sz="2200" b="1" smtClean="0">
                <a:solidFill>
                  <a:srgbClr val="002060"/>
                </a:solidFill>
                <a:latin typeface="Cambria" panose="02040503050406030204" pitchFamily="18" charset="0"/>
              </a:rPr>
              <a:t>loại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tín </a:t>
            </a:r>
            <a:r>
              <a:rPr lang="vi-VN" sz="2200" b="1">
                <a:solidFill>
                  <a:srgbClr val="002060"/>
                </a:solidFill>
                <a:latin typeface="Cambria" panose="02040503050406030204" pitchFamily="18" charset="0"/>
              </a:rPr>
              <a:t>hiệu âm thanh khác </a:t>
            </a:r>
            <a:r>
              <a:rPr lang="vi-VN" sz="2200" b="1" smtClean="0">
                <a:solidFill>
                  <a:srgbClr val="002060"/>
                </a:solidFill>
                <a:latin typeface="Cambria" panose="02040503050406030204" pitchFamily="18" charset="0"/>
              </a:rPr>
              <a:t>nhau</a:t>
            </a:r>
            <a:endParaRPr lang="en-US" sz="2200" b="1" smtClean="0">
              <a:solidFill>
                <a:srgbClr val="002060"/>
              </a:solidFill>
              <a:latin typeface="Cambria" panose="02040503050406030204" pitchFamily="18" charset="0"/>
            </a:endParaRPr>
          </a:p>
          <a:p>
            <a:pPr marL="165100" algn="just">
              <a:lnSpc>
                <a:spcPct val="150000"/>
              </a:lnSpc>
            </a:pPr>
            <a:r>
              <a:rPr lang="vi-VN" sz="2200" b="1">
                <a:solidFill>
                  <a:srgbClr val="002060"/>
                </a:solidFill>
                <a:latin typeface="Cambria" panose="02040503050406030204" pitchFamily="18" charset="0"/>
              </a:rPr>
              <a:t>Đa số các </a:t>
            </a:r>
            <a:r>
              <a:rPr lang="vi-VN" sz="2200" b="1" smtClean="0">
                <a:solidFill>
                  <a:srgbClr val="002060"/>
                </a:solidFill>
                <a:latin typeface="Cambria" panose="02040503050406030204" pitchFamily="18" charset="0"/>
              </a:rPr>
              <a:t>ph</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ơng </a:t>
            </a:r>
            <a:r>
              <a:rPr lang="vi-VN" sz="2200" b="1">
                <a:solidFill>
                  <a:srgbClr val="002060"/>
                </a:solidFill>
                <a:latin typeface="Cambria" panose="02040503050406030204" pitchFamily="18" charset="0"/>
              </a:rPr>
              <a:t>pháp, </a:t>
            </a:r>
            <a:r>
              <a:rPr lang="vi-VN" sz="2200" b="1" smtClean="0">
                <a:solidFill>
                  <a:srgbClr val="002060"/>
                </a:solidFill>
                <a:latin typeface="Cambria" panose="02040503050406030204" pitchFamily="18" charset="0"/>
              </a:rPr>
              <a:t>giải</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thuật </a:t>
            </a:r>
            <a:r>
              <a:rPr lang="vi-VN" sz="2200" b="1">
                <a:solidFill>
                  <a:srgbClr val="002060"/>
                </a:solidFill>
                <a:latin typeface="Cambria" panose="02040503050406030204" pitchFamily="18" charset="0"/>
              </a:rPr>
              <a:t>trích chọn đặc </a:t>
            </a:r>
            <a:r>
              <a:rPr lang="vi-VN" sz="2200" b="1" smtClean="0">
                <a:solidFill>
                  <a:srgbClr val="002060"/>
                </a:solidFill>
                <a:latin typeface="Cambria" panose="02040503050406030204" pitchFamily="18" charset="0"/>
              </a:rPr>
              <a:t>tr</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ng </a:t>
            </a:r>
            <a:r>
              <a:rPr lang="vi-VN" sz="2200" b="1">
                <a:solidFill>
                  <a:srgbClr val="002060"/>
                </a:solidFill>
                <a:latin typeface="Cambria" panose="02040503050406030204" pitchFamily="18" charset="0"/>
              </a:rPr>
              <a:t>âm thanh hiện nay đều xem các đặc </a:t>
            </a:r>
            <a:r>
              <a:rPr lang="vi-VN" sz="2200" b="1" smtClean="0">
                <a:solidFill>
                  <a:srgbClr val="002060"/>
                </a:solidFill>
                <a:latin typeface="Cambria" panose="02040503050406030204" pitchFamily="18" charset="0"/>
              </a:rPr>
              <a:t>tr</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ng </a:t>
            </a:r>
            <a:r>
              <a:rPr lang="vi-VN" sz="2200" b="1">
                <a:solidFill>
                  <a:srgbClr val="002060"/>
                </a:solidFill>
                <a:latin typeface="Cambria" panose="02040503050406030204" pitchFamily="18" charset="0"/>
              </a:rPr>
              <a:t>sau </a:t>
            </a:r>
            <a:r>
              <a:rPr lang="vi-VN" sz="2200" b="1" smtClean="0">
                <a:solidFill>
                  <a:srgbClr val="002060"/>
                </a:solidFill>
                <a:latin typeface="Cambria" panose="02040503050406030204" pitchFamily="18" charset="0"/>
              </a:rPr>
              <a:t>đây</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là </a:t>
            </a:r>
            <a:r>
              <a:rPr lang="vi-VN" sz="2200" b="1">
                <a:solidFill>
                  <a:srgbClr val="002060"/>
                </a:solidFill>
                <a:latin typeface="Cambria" panose="02040503050406030204" pitchFamily="18" charset="0"/>
              </a:rPr>
              <a:t>hiệu quả để phân lớp và phân đoạn âm thanh.</a:t>
            </a: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indent="231775">
              <a:lnSpc>
                <a:spcPct val="150000"/>
              </a:lnSpc>
            </a:pPr>
            <a:r>
              <a:rPr lang="en-US" sz="2800" b="1" smtClean="0">
                <a:solidFill>
                  <a:srgbClr val="002060"/>
                </a:solidFill>
                <a:latin typeface="Cambria" panose="02040503050406030204" pitchFamily="18" charset="0"/>
              </a:rPr>
              <a:t>2.4. </a:t>
            </a:r>
            <a:r>
              <a:rPr lang="vi-VN" sz="2800" b="1" smtClean="0">
                <a:solidFill>
                  <a:srgbClr val="002060"/>
                </a:solidFill>
                <a:latin typeface="Cambria" panose="02040503050406030204" pitchFamily="18" charset="0"/>
              </a:rPr>
              <a:t>Các </a:t>
            </a:r>
            <a:r>
              <a:rPr lang="vi-VN" sz="2800" b="1">
                <a:solidFill>
                  <a:srgbClr val="002060"/>
                </a:solidFill>
                <a:latin typeface="Cambria" panose="02040503050406030204" pitchFamily="18" charset="0"/>
              </a:rPr>
              <a:t>kỹ thuật trích chọn đặc trưng âm thanh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7416242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165100" algn="just">
              <a:lnSpc>
                <a:spcPct val="150000"/>
              </a:lnSpc>
            </a:pPr>
            <a:r>
              <a:rPr lang="vi-VN" sz="2200" b="1">
                <a:solidFill>
                  <a:srgbClr val="002060"/>
                </a:solidFill>
                <a:latin typeface="Cambria" panose="02040503050406030204" pitchFamily="18" charset="0"/>
              </a:rPr>
              <a:t>Biểu diễn trong miền thời gian hay thời gian - biên độ là kỹ thuật </a:t>
            </a:r>
            <a:r>
              <a:rPr lang="vi-VN" sz="2200" b="1" smtClean="0">
                <a:solidFill>
                  <a:srgbClr val="002060"/>
                </a:solidFill>
                <a:latin typeface="Cambria" panose="02040503050406030204" pitchFamily="18" charset="0"/>
              </a:rPr>
              <a:t>trình</a:t>
            </a:r>
            <a:r>
              <a:rPr lang="en-US" sz="2200" b="1" smtClean="0">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diễn </a:t>
            </a:r>
            <a:r>
              <a:rPr lang="vi-VN" sz="2200" b="1">
                <a:solidFill>
                  <a:srgbClr val="002060"/>
                </a:solidFill>
                <a:latin typeface="Cambria" panose="02040503050406030204" pitchFamily="18" charset="0"/>
              </a:rPr>
              <a:t>tín hiệu cơ bản nhất, trong đó tín hiệu </a:t>
            </a:r>
            <a:r>
              <a:rPr lang="vi-VN" sz="2200" b="1" smtClean="0">
                <a:solidFill>
                  <a:srgbClr val="002060"/>
                </a:solidFill>
                <a:latin typeface="Cambria" panose="02040503050406030204" pitchFamily="18" charset="0"/>
              </a:rPr>
              <a:t>đ</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ợc </a:t>
            </a:r>
            <a:r>
              <a:rPr lang="vi-VN" sz="2200" b="1">
                <a:solidFill>
                  <a:srgbClr val="002060"/>
                </a:solidFill>
                <a:latin typeface="Cambria" panose="02040503050406030204" pitchFamily="18" charset="0"/>
              </a:rPr>
              <a:t>biểu diễn </a:t>
            </a:r>
            <a:r>
              <a:rPr lang="vi-VN" sz="2200" b="1" smtClean="0">
                <a:solidFill>
                  <a:srgbClr val="002060"/>
                </a:solidFill>
                <a:latin typeface="Cambria" panose="02040503050406030204" pitchFamily="18" charset="0"/>
              </a:rPr>
              <a:t>nh</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biên độ biến </a:t>
            </a:r>
            <a:r>
              <a:rPr lang="vi-VN" sz="2200" b="1" smtClean="0">
                <a:solidFill>
                  <a:srgbClr val="002060"/>
                </a:solidFill>
                <a:latin typeface="Cambria" panose="02040503050406030204" pitchFamily="18" charset="0"/>
              </a:rPr>
              <a:t>đổi </a:t>
            </a:r>
            <a:r>
              <a:rPr lang="vi-VN" sz="2200" b="1">
                <a:solidFill>
                  <a:srgbClr val="002060"/>
                </a:solidFill>
                <a:latin typeface="Cambria" panose="02040503050406030204" pitchFamily="18" charset="0"/>
              </a:rPr>
              <a:t>theo thời gian</a:t>
            </a:r>
            <a:endParaRPr lang="pt-BR" sz="2200" b="1">
              <a:solidFill>
                <a:srgbClr val="002060"/>
              </a:solidFill>
              <a:latin typeface="Cambria" panose="02040503050406030204" pitchFamily="18" charset="0"/>
            </a:endParaRPr>
          </a:p>
        </p:txBody>
      </p:sp>
      <p:sp>
        <p:nvSpPr>
          <p:cNvPr id="5" name="Rectangle 4"/>
          <p:cNvSpPr/>
          <p:nvPr/>
        </p:nvSpPr>
        <p:spPr>
          <a:xfrm>
            <a:off x="119858" y="2579"/>
            <a:ext cx="8603228" cy="738664"/>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2.4.1. Các </a:t>
            </a:r>
            <a:r>
              <a:rPr lang="en-US" sz="2800" b="1">
                <a:solidFill>
                  <a:srgbClr val="002060"/>
                </a:solidFill>
                <a:latin typeface="Cambria" panose="02040503050406030204" pitchFamily="18" charset="0"/>
              </a:rPr>
              <a:t>đặc </a:t>
            </a:r>
            <a:r>
              <a:rPr lang="en-US" sz="2800" b="1" smtClean="0">
                <a:solidFill>
                  <a:srgbClr val="002060"/>
                </a:solidFill>
                <a:latin typeface="Cambria" panose="02040503050406030204" pitchFamily="18" charset="0"/>
              </a:rPr>
              <a:t>trưng </a:t>
            </a:r>
            <a:r>
              <a:rPr lang="en-US" sz="2800" b="1">
                <a:solidFill>
                  <a:srgbClr val="002060"/>
                </a:solidFill>
                <a:latin typeface="Cambria" panose="02040503050406030204" pitchFamily="18" charset="0"/>
              </a:rPr>
              <a:t>âm thanh trong miền thời gian</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373" y="2287518"/>
            <a:ext cx="6842166" cy="3370332"/>
          </a:xfrm>
          <a:prstGeom prst="rect">
            <a:avLst/>
          </a:prstGeom>
        </p:spPr>
      </p:pic>
    </p:spTree>
    <p:extLst>
      <p:ext uri="{BB962C8B-B14F-4D97-AF65-F5344CB8AC3E}">
        <p14:creationId xmlns:p14="http://schemas.microsoft.com/office/powerpoint/2010/main" val="26798212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80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Phổ </a:t>
            </a:r>
            <a:r>
              <a:rPr lang="vi-VN" sz="2200" b="1">
                <a:solidFill>
                  <a:srgbClr val="002060"/>
                </a:solidFill>
                <a:latin typeface="Cambria" panose="02040503050406030204" pitchFamily="18" charset="0"/>
              </a:rPr>
              <a:t>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 </a:t>
            </a:r>
            <a:r>
              <a:rPr lang="vi-VN" sz="2200" b="1" smtClean="0">
                <a:solidFill>
                  <a:srgbClr val="002060"/>
                </a:solidFill>
                <a:latin typeface="Cambria" panose="02040503050406030204" pitchFamily="18" charset="0"/>
              </a:rPr>
              <a:t>Bandwidth</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 Phân bổ năng </a:t>
            </a:r>
            <a:r>
              <a:rPr lang="vi-VN" sz="2200" b="1" smtClean="0">
                <a:solidFill>
                  <a:srgbClr val="002060"/>
                </a:solidFill>
                <a:latin typeface="Cambria" panose="02040503050406030204" pitchFamily="18" charset="0"/>
              </a:rPr>
              <a:t>l</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ợng</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Điều </a:t>
            </a:r>
            <a:r>
              <a:rPr lang="vi-VN" sz="2200" b="1" smtClean="0">
                <a:solidFill>
                  <a:srgbClr val="002060"/>
                </a:solidFill>
                <a:latin typeface="Cambria" panose="02040503050406030204" pitchFamily="18" charset="0"/>
              </a:rPr>
              <a:t>hòa</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Cao </a:t>
            </a:r>
            <a:r>
              <a:rPr lang="vi-VN" sz="2200" b="1" smtClean="0">
                <a:solidFill>
                  <a:srgbClr val="002060"/>
                </a:solidFill>
                <a:latin typeface="Cambria" panose="02040503050406030204" pitchFamily="18" charset="0"/>
              </a:rPr>
              <a:t>độ</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Ảnh </a:t>
            </a:r>
            <a:r>
              <a:rPr lang="vi-VN" sz="2200" b="1" smtClean="0">
                <a:solidFill>
                  <a:srgbClr val="002060"/>
                </a:solidFill>
                <a:latin typeface="Cambria" panose="02040503050406030204" pitchFamily="18" charset="0"/>
              </a:rPr>
              <a:t>phổ</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Các đặc </a:t>
            </a:r>
            <a:r>
              <a:rPr lang="vi-VN" sz="2200" b="1" smtClean="0">
                <a:solidFill>
                  <a:srgbClr val="002060"/>
                </a:solidFill>
                <a:latin typeface="Cambria" panose="02040503050406030204" pitchFamily="18" charset="0"/>
              </a:rPr>
              <a:t>tr</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ng </a:t>
            </a:r>
            <a:r>
              <a:rPr lang="vi-VN" sz="2200" b="1">
                <a:solidFill>
                  <a:srgbClr val="002060"/>
                </a:solidFill>
                <a:latin typeface="Cambria" panose="02040503050406030204" pitchFamily="18" charset="0"/>
              </a:rPr>
              <a:t>chủ quan</a:t>
            </a:r>
          </a:p>
          <a:p>
            <a:pPr marL="165100" algn="just">
              <a:lnSpc>
                <a:spcPct val="150000"/>
              </a:lnSpc>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2.4.2. </a:t>
            </a:r>
            <a:r>
              <a:rPr lang="vi-VN" sz="2800" b="1">
                <a:solidFill>
                  <a:srgbClr val="002060"/>
                </a:solidFill>
                <a:latin typeface="Cambria" panose="02040503050406030204" pitchFamily="18" charset="0"/>
              </a:rPr>
              <a:t>Các đặc trưng âm thanh trong miền tần số</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4534042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MFCC (Mel Frequency Cepstral Coefficients) là các hệ số biểu diễn </a:t>
            </a:r>
            <a:r>
              <a:rPr lang="vi-VN" sz="2200" b="1" smtClean="0">
                <a:solidFill>
                  <a:srgbClr val="002060"/>
                </a:solidFill>
                <a:latin typeface="Cambria" panose="02040503050406030204" pitchFamily="18" charset="0"/>
              </a:rPr>
              <a:t>phổ </a:t>
            </a:r>
            <a:r>
              <a:rPr lang="vi-VN" sz="2200" b="1">
                <a:solidFill>
                  <a:srgbClr val="002060"/>
                </a:solidFill>
                <a:latin typeface="Cambria" panose="02040503050406030204" pitchFamily="18" charset="0"/>
              </a:rPr>
              <a:t>của phổ </a:t>
            </a:r>
            <a:r>
              <a:rPr lang="vi-VN" sz="2200" b="1" smtClean="0">
                <a:solidFill>
                  <a:srgbClr val="002060"/>
                </a:solidFill>
                <a:latin typeface="Cambria" panose="02040503050406030204" pitchFamily="18" charset="0"/>
              </a:rPr>
              <a:t>của </a:t>
            </a:r>
            <a:r>
              <a:rPr lang="vi-VN" sz="2200" b="1">
                <a:solidFill>
                  <a:srgbClr val="002060"/>
                </a:solidFill>
                <a:latin typeface="Cambria" panose="02040503050406030204" pitchFamily="18" charset="0"/>
              </a:rPr>
              <a:t>đoạn âm thanh</a:t>
            </a:r>
            <a:r>
              <a:rPr lang="vi-VN" sz="2200" b="1" smtClean="0">
                <a:solidFill>
                  <a:srgbClr val="002060"/>
                </a:solidFill>
                <a:latin typeface="Cambria" panose="02040503050406030204" pitchFamily="18" charset="0"/>
              </a:rPr>
              <a:t>.</a:t>
            </a:r>
            <a:endParaRPr lang="en-US" sz="2200" b="1" smtClean="0">
              <a:solidFill>
                <a:srgbClr val="002060"/>
              </a:solidFill>
              <a:latin typeface="Cambria" panose="02040503050406030204" pitchFamily="18" charset="0"/>
            </a:endParaRPr>
          </a:p>
          <a:p>
            <a:pPr marL="400050" indent="-400050" algn="just">
              <a:lnSpc>
                <a:spcPct val="150000"/>
              </a:lnSpc>
              <a:buFont typeface="Wingdings" panose="05000000000000000000" pitchFamily="2" charset="2"/>
              <a:buChar char="v"/>
            </a:pPr>
            <a:r>
              <a:rPr lang="en-US" sz="2200" b="1">
                <a:solidFill>
                  <a:srgbClr val="002060"/>
                </a:solidFill>
                <a:latin typeface="Cambria" panose="02040503050406030204" pitchFamily="18" charset="0"/>
              </a:rPr>
              <a:t>Q</a:t>
            </a:r>
            <a:r>
              <a:rPr lang="en-US" sz="2200" b="1" smtClean="0">
                <a:solidFill>
                  <a:srgbClr val="002060"/>
                </a:solidFill>
                <a:latin typeface="Cambria" panose="02040503050406030204" pitchFamily="18" charset="0"/>
              </a:rPr>
              <a:t>uá </a:t>
            </a:r>
            <a:r>
              <a:rPr lang="en-US" sz="2200" b="1">
                <a:solidFill>
                  <a:srgbClr val="002060"/>
                </a:solidFill>
                <a:latin typeface="Cambria" panose="02040503050406030204" pitchFamily="18" charset="0"/>
              </a:rPr>
              <a:t>trình lọc theo thang Mel Cepstral</a:t>
            </a: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MFCC gồm các </a:t>
            </a:r>
            <a:r>
              <a:rPr lang="vi-VN" sz="2200" b="1" smtClean="0">
                <a:solidFill>
                  <a:srgbClr val="002060"/>
                </a:solidFill>
                <a:latin typeface="Cambria" panose="02040503050406030204" pitchFamily="18" charset="0"/>
              </a:rPr>
              <a:t>b</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ớc </a:t>
            </a:r>
            <a:r>
              <a:rPr lang="vi-VN" sz="2200" b="1">
                <a:solidFill>
                  <a:srgbClr val="002060"/>
                </a:solidFill>
                <a:latin typeface="Cambria" panose="02040503050406030204" pitchFamily="18" charset="0"/>
              </a:rPr>
              <a:t>chính sau:</a:t>
            </a:r>
          </a:p>
          <a:p>
            <a:pPr marL="165100" indent="749300" algn="just">
              <a:lnSpc>
                <a:spcPct val="150000"/>
              </a:lnSpc>
            </a:pPr>
            <a:r>
              <a:rPr lang="en-US" sz="2200" b="1" smtClean="0">
                <a:solidFill>
                  <a:srgbClr val="002060"/>
                </a:solidFill>
                <a:latin typeface="Cambria" panose="02040503050406030204" pitchFamily="18" charset="0"/>
              </a:rPr>
              <a:t>B</a:t>
            </a:r>
            <a:r>
              <a:rPr lang="vi-VN" sz="2200" b="1" smtClean="0">
                <a:solidFill>
                  <a:srgbClr val="002060"/>
                </a:solidFill>
                <a:latin typeface="Cambria" panose="02040503050406030204" pitchFamily="18" charset="0"/>
              </a:rPr>
              <a:t>1</a:t>
            </a:r>
            <a:r>
              <a:rPr lang="vi-VN" sz="2200" b="1">
                <a:solidFill>
                  <a:srgbClr val="002060"/>
                </a:solidFill>
                <a:latin typeface="Cambria" panose="02040503050406030204" pitchFamily="18" charset="0"/>
              </a:rPr>
              <a:t>. Phân khung tín hiệu</a:t>
            </a:r>
          </a:p>
          <a:p>
            <a:pPr marL="165100" indent="749300" algn="just">
              <a:lnSpc>
                <a:spcPct val="150000"/>
              </a:lnSpc>
            </a:pPr>
            <a:r>
              <a:rPr lang="en-US" sz="2200" b="1" smtClean="0">
                <a:solidFill>
                  <a:srgbClr val="002060"/>
                </a:solidFill>
                <a:latin typeface="Cambria" panose="02040503050406030204" pitchFamily="18" charset="0"/>
              </a:rPr>
              <a:t>B</a:t>
            </a:r>
            <a:r>
              <a:rPr lang="vi-VN" sz="2200" b="1" smtClean="0">
                <a:solidFill>
                  <a:srgbClr val="002060"/>
                </a:solidFill>
                <a:latin typeface="Cambria" panose="02040503050406030204" pitchFamily="18" charset="0"/>
              </a:rPr>
              <a:t>2</a:t>
            </a:r>
            <a:r>
              <a:rPr lang="vi-VN" sz="2200" b="1">
                <a:solidFill>
                  <a:srgbClr val="002060"/>
                </a:solidFill>
                <a:latin typeface="Cambria" panose="02040503050406030204" pitchFamily="18" charset="0"/>
              </a:rPr>
              <a:t>. Cửa sổ hóa</a:t>
            </a:r>
          </a:p>
          <a:p>
            <a:pPr marL="165100" indent="749300" algn="just">
              <a:lnSpc>
                <a:spcPct val="150000"/>
              </a:lnSpc>
            </a:pPr>
            <a:r>
              <a:rPr lang="en-US" sz="2200" b="1" smtClean="0">
                <a:solidFill>
                  <a:srgbClr val="002060"/>
                </a:solidFill>
                <a:latin typeface="Cambria" panose="02040503050406030204" pitchFamily="18" charset="0"/>
              </a:rPr>
              <a:t>B</a:t>
            </a:r>
            <a:r>
              <a:rPr lang="vi-VN" sz="2200" b="1" smtClean="0">
                <a:solidFill>
                  <a:srgbClr val="002060"/>
                </a:solidFill>
                <a:latin typeface="Cambria" panose="02040503050406030204" pitchFamily="18" charset="0"/>
              </a:rPr>
              <a:t>3</a:t>
            </a:r>
            <a:r>
              <a:rPr lang="vi-VN" sz="2200" b="1">
                <a:solidFill>
                  <a:srgbClr val="002060"/>
                </a:solidFill>
                <a:latin typeface="Cambria" panose="02040503050406030204" pitchFamily="18" charset="0"/>
              </a:rPr>
              <a:t>. Chuyển đổi sang miền tần số</a:t>
            </a:r>
          </a:p>
          <a:p>
            <a:pPr marL="165100" indent="749300" algn="just">
              <a:lnSpc>
                <a:spcPct val="150000"/>
              </a:lnSpc>
            </a:pPr>
            <a:r>
              <a:rPr lang="en-US" sz="2200" b="1" smtClean="0">
                <a:solidFill>
                  <a:srgbClr val="002060"/>
                </a:solidFill>
                <a:latin typeface="Cambria" panose="02040503050406030204" pitchFamily="18" charset="0"/>
              </a:rPr>
              <a:t>B</a:t>
            </a:r>
            <a:r>
              <a:rPr lang="vi-VN" sz="2200" b="1" smtClean="0">
                <a:solidFill>
                  <a:srgbClr val="002060"/>
                </a:solidFill>
                <a:latin typeface="Cambria" panose="02040503050406030204" pitchFamily="18" charset="0"/>
              </a:rPr>
              <a:t>4</a:t>
            </a:r>
            <a:r>
              <a:rPr lang="vi-VN" sz="2200" b="1">
                <a:solidFill>
                  <a:srgbClr val="002060"/>
                </a:solidFill>
                <a:latin typeface="Cambria" panose="02040503050406030204" pitchFamily="18" charset="0"/>
              </a:rPr>
              <a:t>. Chuyển đổi sang thang Mel</a:t>
            </a:r>
          </a:p>
          <a:p>
            <a:pPr marL="165100" indent="749300" algn="just">
              <a:lnSpc>
                <a:spcPct val="150000"/>
              </a:lnSpc>
            </a:pPr>
            <a:r>
              <a:rPr lang="en-US" sz="2200" b="1" smtClean="0">
                <a:solidFill>
                  <a:srgbClr val="002060"/>
                </a:solidFill>
                <a:latin typeface="Cambria" panose="02040503050406030204" pitchFamily="18" charset="0"/>
              </a:rPr>
              <a:t>B</a:t>
            </a:r>
            <a:r>
              <a:rPr lang="vi-VN" sz="2200" b="1" smtClean="0">
                <a:solidFill>
                  <a:srgbClr val="002060"/>
                </a:solidFill>
                <a:latin typeface="Cambria" panose="02040503050406030204" pitchFamily="18" charset="0"/>
              </a:rPr>
              <a:t>5</a:t>
            </a:r>
            <a:r>
              <a:rPr lang="vi-VN" sz="2200" b="1">
                <a:solidFill>
                  <a:srgbClr val="002060"/>
                </a:solidFill>
                <a:latin typeface="Cambria" panose="02040503050406030204" pitchFamily="18" charset="0"/>
              </a:rPr>
              <a:t>. Thực hiện biến đổi Cosine rời </a:t>
            </a:r>
            <a:r>
              <a:rPr lang="vi-VN" sz="2200" b="1" smtClean="0">
                <a:solidFill>
                  <a:srgbClr val="002060"/>
                </a:solidFill>
                <a:latin typeface="Cambria" panose="02040503050406030204" pitchFamily="18" charset="0"/>
              </a:rPr>
              <a:t>rạc</a:t>
            </a: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2.4.3. </a:t>
            </a:r>
            <a:r>
              <a:rPr lang="vi-VN" sz="2800" b="1">
                <a:solidFill>
                  <a:srgbClr val="002060"/>
                </a:solidFill>
                <a:latin typeface="Cambria" panose="02040503050406030204" pitchFamily="18" charset="0"/>
              </a:rPr>
              <a:t>Đặc </a:t>
            </a:r>
            <a:r>
              <a:rPr lang="vi-VN" sz="2800" b="1" smtClean="0">
                <a:solidFill>
                  <a:srgbClr val="002060"/>
                </a:solidFill>
                <a:latin typeface="Cambria" panose="02040503050406030204" pitchFamily="18" charset="0"/>
              </a:rPr>
              <a:t>tr</a:t>
            </a:r>
            <a:r>
              <a:rPr lang="en-US" sz="2800" b="1" smtClean="0">
                <a:solidFill>
                  <a:srgbClr val="002060"/>
                </a:solidFill>
                <a:latin typeface="Cambria" panose="02040503050406030204" pitchFamily="18" charset="0"/>
              </a:rPr>
              <a:t>ư</a:t>
            </a:r>
            <a:r>
              <a:rPr lang="vi-VN" sz="2800" b="1" smtClean="0">
                <a:solidFill>
                  <a:srgbClr val="002060"/>
                </a:solidFill>
                <a:latin typeface="Cambria" panose="02040503050406030204" pitchFamily="18" charset="0"/>
              </a:rPr>
              <a:t>ng </a:t>
            </a:r>
            <a:r>
              <a:rPr lang="vi-VN" sz="2800" b="1">
                <a:solidFill>
                  <a:srgbClr val="002060"/>
                </a:solidFill>
                <a:latin typeface="Cambria" panose="02040503050406030204" pitchFamily="18" charset="0"/>
              </a:rPr>
              <a:t>âm thanh MFCC</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9165879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567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80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L</a:t>
            </a:r>
            <a:r>
              <a:rPr lang="vi-VN" sz="2200" b="1" smtClean="0">
                <a:solidFill>
                  <a:srgbClr val="002060"/>
                </a:solidFill>
                <a:latin typeface="Cambria" panose="02040503050406030204" pitchFamily="18" charset="0"/>
              </a:rPr>
              <a:t>ấy mẫu</a:t>
            </a:r>
            <a:r>
              <a:rPr lang="en-US" sz="2200" b="1">
                <a:solidFill>
                  <a:srgbClr val="002060"/>
                </a:solidFill>
                <a:latin typeface="Cambria" panose="02040503050406030204" pitchFamily="18" charset="0"/>
              </a:rPr>
              <a:t>: tốc độ lấy mẫu là đủ lớn để mô tả </a:t>
            </a:r>
            <a:r>
              <a:rPr lang="en-US" sz="2200" b="1" smtClean="0">
                <a:solidFill>
                  <a:srgbClr val="002060"/>
                </a:solidFill>
                <a:latin typeface="Cambria" panose="02040503050406030204" pitchFamily="18" charset="0"/>
              </a:rPr>
              <a:t>tín hiệu </a:t>
            </a:r>
            <a:r>
              <a:rPr lang="en-US" sz="2200" b="1">
                <a:solidFill>
                  <a:srgbClr val="002060"/>
                </a:solidFill>
                <a:latin typeface="Cambria" panose="02040503050406030204" pitchFamily="18" charset="0"/>
              </a:rPr>
              <a:t>dạng </a:t>
            </a:r>
            <a:r>
              <a:rPr lang="en-US" sz="2200" b="1" smtClean="0">
                <a:solidFill>
                  <a:srgbClr val="002060"/>
                </a:solidFill>
                <a:latin typeface="Cambria" panose="02040503050406030204" pitchFamily="18" charset="0"/>
              </a:rPr>
              <a:t>sóng </a:t>
            </a:r>
            <a:r>
              <a:rPr lang="en-US" sz="2200" b="1">
                <a:solidFill>
                  <a:srgbClr val="002060"/>
                </a:solidFill>
                <a:latin typeface="Cambria" panose="02040503050406030204" pitchFamily="18" charset="0"/>
              </a:rPr>
              <a:t>(gấp đôi tần số dạng </a:t>
            </a:r>
            <a:r>
              <a:rPr lang="en-US" sz="2200" b="1" smtClean="0">
                <a:solidFill>
                  <a:srgbClr val="002060"/>
                </a:solidFill>
                <a:latin typeface="Cambria" panose="02040503050406030204" pitchFamily="18" charset="0"/>
              </a:rPr>
              <a:t>sóng)</a:t>
            </a:r>
            <a:endParaRPr lang="en-US" sz="2200" b="1">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smtClean="0">
                <a:solidFill>
                  <a:srgbClr val="002060"/>
                </a:solidFill>
                <a:latin typeface="Cambria" panose="02040503050406030204" pitchFamily="18" charset="0"/>
              </a:rPr>
              <a:t>Phân </a:t>
            </a:r>
            <a:r>
              <a:rPr lang="vi-VN" sz="2200" b="1">
                <a:solidFill>
                  <a:srgbClr val="002060"/>
                </a:solidFill>
                <a:latin typeface="Cambria" panose="02040503050406030204" pitchFamily="18" charset="0"/>
              </a:rPr>
              <a:t>khung tín </a:t>
            </a:r>
            <a:r>
              <a:rPr lang="vi-VN" sz="2200" b="1" smtClean="0">
                <a:solidFill>
                  <a:srgbClr val="002060"/>
                </a:solidFill>
                <a:latin typeface="Cambria" panose="02040503050406030204" pitchFamily="18" charset="0"/>
              </a:rPr>
              <a:t>hiệu</a:t>
            </a:r>
            <a:r>
              <a:rPr lang="en-US" sz="2200" b="1">
                <a:solidFill>
                  <a:srgbClr val="002060"/>
                </a:solidFill>
                <a:latin typeface="Cambria" panose="02040503050406030204" pitchFamily="18" charset="0"/>
              </a:rPr>
              <a:t>: chia mẫu tín hiệu thành một số khung chồng </a:t>
            </a:r>
            <a:r>
              <a:rPr lang="en-US" sz="2200" b="1" smtClean="0">
                <a:solidFill>
                  <a:srgbClr val="002060"/>
                </a:solidFill>
                <a:latin typeface="Cambria" panose="02040503050406030204" pitchFamily="18" charset="0"/>
              </a:rPr>
              <a:t>lấp </a:t>
            </a:r>
            <a:r>
              <a:rPr lang="en-US" sz="2200" b="1">
                <a:solidFill>
                  <a:srgbClr val="002060"/>
                </a:solidFill>
                <a:latin typeface="Cambria" panose="02040503050406030204" pitchFamily="18" charset="0"/>
              </a:rPr>
              <a:t>lên nhau hoặc không -&gt; lấy mẫu các đoạn </a:t>
            </a:r>
            <a:r>
              <a:rPr lang="en-US" sz="2200" b="1" smtClean="0">
                <a:solidFill>
                  <a:srgbClr val="002060"/>
                </a:solidFill>
                <a:latin typeface="Cambria" panose="02040503050406030204" pitchFamily="18" charset="0"/>
              </a:rPr>
              <a:t>tính </a:t>
            </a:r>
            <a:r>
              <a:rPr lang="en-US" sz="2200" b="1">
                <a:solidFill>
                  <a:srgbClr val="002060"/>
                </a:solidFill>
                <a:latin typeface="Cambria" panose="02040503050406030204" pitchFamily="18" charset="0"/>
              </a:rPr>
              <a:t>hiệu </a:t>
            </a:r>
            <a:r>
              <a:rPr lang="en-US" sz="2200" b="1" smtClean="0">
                <a:solidFill>
                  <a:srgbClr val="002060"/>
                </a:solidFill>
                <a:latin typeface="Cambria" panose="02040503050406030204" pitchFamily="18" charset="0"/>
              </a:rPr>
              <a:t>nhỏ</a:t>
            </a: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Lấy cửa sổ tín </a:t>
            </a:r>
            <a:r>
              <a:rPr lang="vi-VN" sz="2200" b="1" smtClean="0">
                <a:solidFill>
                  <a:srgbClr val="002060"/>
                </a:solidFill>
                <a:latin typeface="Cambria" panose="02040503050406030204" pitchFamily="18" charset="0"/>
              </a:rPr>
              <a:t>hiệu</a:t>
            </a:r>
            <a:r>
              <a:rPr lang="en-US" sz="2200" b="1">
                <a:solidFill>
                  <a:srgbClr val="002060"/>
                </a:solidFill>
                <a:latin typeface="Cambria" panose="02040503050406030204" pitchFamily="18" charset="0"/>
              </a:rPr>
              <a:t>: giảm sự </a:t>
            </a:r>
            <a:r>
              <a:rPr lang="en-US" sz="2200" b="1" smtClean="0">
                <a:solidFill>
                  <a:srgbClr val="002060"/>
                </a:solidFill>
                <a:latin typeface="Cambria" panose="02040503050406030204" pitchFamily="18" charset="0"/>
              </a:rPr>
              <a:t>gián đoạn </a:t>
            </a:r>
            <a:r>
              <a:rPr lang="en-US" sz="2200" b="1">
                <a:solidFill>
                  <a:srgbClr val="002060"/>
                </a:solidFill>
                <a:latin typeface="Cambria" panose="02040503050406030204" pitchFamily="18" charset="0"/>
              </a:rPr>
              <a:t>của tín hiệu tiếng nói tại đầu và cuối mỗi khung -&gt; giảm bớt sự méo phổ </a:t>
            </a:r>
            <a:endParaRPr lang="en-US" sz="2200" b="1" smtClean="0">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 Biến đổi Fourier rời rạc (DFT) hoặc biến đổi Fourier nhanh (FFT</a:t>
            </a:r>
            <a:r>
              <a:rPr lang="vi-VN" sz="2200" b="1" smtClean="0">
                <a:solidFill>
                  <a:srgbClr val="002060"/>
                </a:solidFill>
                <a:latin typeface="Cambria" panose="02040503050406030204" pitchFamily="18" charset="0"/>
              </a:rPr>
              <a:t>)</a:t>
            </a:r>
            <a:r>
              <a:rPr lang="en-US" sz="2200" b="1" smtClean="0">
                <a:solidFill>
                  <a:srgbClr val="002060"/>
                </a:solidFill>
                <a:latin typeface="Cambria" panose="02040503050406030204" pitchFamily="18" charset="0"/>
              </a:rPr>
              <a:t>: chuyển </a:t>
            </a:r>
            <a:r>
              <a:rPr lang="en-US" sz="2200" b="1">
                <a:solidFill>
                  <a:srgbClr val="002060"/>
                </a:solidFill>
                <a:latin typeface="Cambria" panose="02040503050406030204" pitchFamily="18" charset="0"/>
              </a:rPr>
              <a:t>đổi mỗi khung với N mẫu từ miền thời gian sang miền </a:t>
            </a:r>
            <a:r>
              <a:rPr lang="en-US" sz="2200" b="1" smtClean="0">
                <a:solidFill>
                  <a:srgbClr val="002060"/>
                </a:solidFill>
                <a:latin typeface="Cambria" panose="02040503050406030204" pitchFamily="18" charset="0"/>
              </a:rPr>
              <a:t>tần </a:t>
            </a:r>
            <a:r>
              <a:rPr lang="en-US" sz="2200" b="1">
                <a:solidFill>
                  <a:srgbClr val="002060"/>
                </a:solidFill>
                <a:latin typeface="Cambria" panose="02040503050406030204" pitchFamily="18" charset="0"/>
              </a:rPr>
              <a:t>số</a:t>
            </a:r>
            <a:endParaRPr lang="vi-VN" sz="2200" b="1">
              <a:solidFill>
                <a:srgbClr val="002060"/>
              </a:solidFill>
              <a:latin typeface="Cambria" panose="02040503050406030204" pitchFamily="18" charset="0"/>
            </a:endParaRPr>
          </a:p>
          <a:p>
            <a:pPr marL="508000" indent="-342900" algn="just">
              <a:lnSpc>
                <a:spcPct val="150000"/>
              </a:lnSpc>
              <a:buFont typeface="Arial" panose="020B0604020202020204" pitchFamily="34" charset="0"/>
              <a:buChar char="•"/>
            </a:pPr>
            <a:endParaRPr lang="vi-VN" sz="2200" b="1">
              <a:solidFill>
                <a:srgbClr val="002060"/>
              </a:solidFill>
              <a:latin typeface="Cambria" panose="02040503050406030204" pitchFamily="18" charset="0"/>
            </a:endParaRP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2.4.3. </a:t>
            </a:r>
            <a:r>
              <a:rPr lang="vi-VN" sz="2800" b="1">
                <a:solidFill>
                  <a:srgbClr val="002060"/>
                </a:solidFill>
                <a:latin typeface="Cambria" panose="02040503050406030204" pitchFamily="18" charset="0"/>
              </a:rPr>
              <a:t>Đặc </a:t>
            </a:r>
            <a:r>
              <a:rPr lang="vi-VN" sz="2800" b="1" smtClean="0">
                <a:solidFill>
                  <a:srgbClr val="002060"/>
                </a:solidFill>
                <a:latin typeface="Cambria" panose="02040503050406030204" pitchFamily="18" charset="0"/>
              </a:rPr>
              <a:t>tr</a:t>
            </a:r>
            <a:r>
              <a:rPr lang="en-US" sz="2800" b="1" smtClean="0">
                <a:solidFill>
                  <a:srgbClr val="002060"/>
                </a:solidFill>
                <a:latin typeface="Cambria" panose="02040503050406030204" pitchFamily="18" charset="0"/>
              </a:rPr>
              <a:t>ư</a:t>
            </a:r>
            <a:r>
              <a:rPr lang="vi-VN" sz="2800" b="1" smtClean="0">
                <a:solidFill>
                  <a:srgbClr val="002060"/>
                </a:solidFill>
                <a:latin typeface="Cambria" panose="02040503050406030204" pitchFamily="18" charset="0"/>
              </a:rPr>
              <a:t>ng </a:t>
            </a:r>
            <a:r>
              <a:rPr lang="vi-VN" sz="2800" b="1">
                <a:solidFill>
                  <a:srgbClr val="002060"/>
                </a:solidFill>
                <a:latin typeface="Cambria" panose="02040503050406030204" pitchFamily="18" charset="0"/>
              </a:rPr>
              <a:t>âm thanh MFCC</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576697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508000" indent="-342900" algn="just">
              <a:lnSpc>
                <a:spcPct val="150000"/>
              </a:lnSpc>
              <a:buFont typeface="Arial" panose="020B0604020202020204" pitchFamily="34" charset="0"/>
              <a:buChar char="•"/>
            </a:pPr>
            <a:r>
              <a:rPr lang="en-US" sz="2200" b="1" smtClean="0">
                <a:solidFill>
                  <a:srgbClr val="002060"/>
                </a:solidFill>
                <a:latin typeface="Cambria" panose="02040503050406030204" pitchFamily="18" charset="0"/>
              </a:rPr>
              <a:t>Chuyển </a:t>
            </a:r>
            <a:r>
              <a:rPr lang="en-US" sz="2200" b="1">
                <a:solidFill>
                  <a:srgbClr val="002060"/>
                </a:solidFill>
                <a:latin typeface="Cambria" panose="02040503050406030204" pitchFamily="18" charset="0"/>
              </a:rPr>
              <a:t>đổi sang thang tần số Mel: làm nhẵn phổ và làm nổi lên các </a:t>
            </a:r>
            <a:r>
              <a:rPr lang="en-US" sz="2200" b="1" smtClean="0">
                <a:solidFill>
                  <a:srgbClr val="002060"/>
                </a:solidFill>
                <a:latin typeface="Cambria" panose="02040503050406030204" pitchFamily="18" charset="0"/>
              </a:rPr>
              <a:t>tần </a:t>
            </a:r>
            <a:r>
              <a:rPr lang="en-US" sz="2200" b="1">
                <a:solidFill>
                  <a:srgbClr val="002060"/>
                </a:solidFill>
                <a:latin typeface="Cambria" panose="02040503050406030204" pitchFamily="18" charset="0"/>
              </a:rPr>
              <a:t>số cảm thụ có </a:t>
            </a:r>
            <a:r>
              <a:rPr lang="en-US" sz="2200" b="1" smtClean="0">
                <a:solidFill>
                  <a:srgbClr val="002060"/>
                </a:solidFill>
                <a:latin typeface="Cambria" panose="02040503050406030204" pitchFamily="18" charset="0"/>
              </a:rPr>
              <a:t>nghĩa</a:t>
            </a:r>
          </a:p>
          <a:p>
            <a:pPr marL="508000" indent="-342900" algn="just">
              <a:lnSpc>
                <a:spcPct val="150000"/>
              </a:lnSpc>
              <a:buFont typeface="Arial" panose="020B0604020202020204" pitchFamily="34" charset="0"/>
              <a:buChar char="•"/>
            </a:pPr>
            <a:r>
              <a:rPr lang="vi-VN" sz="2200" b="1">
                <a:solidFill>
                  <a:srgbClr val="002060"/>
                </a:solidFill>
                <a:latin typeface="Cambria" panose="02040503050406030204" pitchFamily="18" charset="0"/>
              </a:rPr>
              <a:t> Biến đổi Cosin rời </a:t>
            </a:r>
            <a:r>
              <a:rPr lang="vi-VN" sz="2200" b="1" smtClean="0">
                <a:solidFill>
                  <a:srgbClr val="002060"/>
                </a:solidFill>
                <a:latin typeface="Cambria" panose="02040503050406030204" pitchFamily="18" charset="0"/>
              </a:rPr>
              <a:t>rạc</a:t>
            </a:r>
            <a:r>
              <a:rPr lang="en-US" sz="2200" b="1" smtClean="0">
                <a:solidFill>
                  <a:srgbClr val="002060"/>
                </a:solidFill>
                <a:latin typeface="Cambria" panose="02040503050406030204" pitchFamily="18" charset="0"/>
              </a:rPr>
              <a:t>: </a:t>
            </a:r>
            <a:r>
              <a:rPr lang="vi-VN" sz="2200" b="1">
                <a:solidFill>
                  <a:srgbClr val="002060"/>
                </a:solidFill>
                <a:latin typeface="Cambria" panose="02040503050406030204" pitchFamily="18" charset="0"/>
              </a:rPr>
              <a:t> làm </a:t>
            </a:r>
            <a:r>
              <a:rPr lang="vi-VN" sz="2200" b="1" smtClean="0">
                <a:solidFill>
                  <a:srgbClr val="002060"/>
                </a:solidFill>
                <a:latin typeface="Cambria" panose="02040503050406030204" pitchFamily="18" charset="0"/>
              </a:rPr>
              <a:t>t</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ơng </a:t>
            </a:r>
            <a:r>
              <a:rPr lang="vi-VN" sz="2200" b="1">
                <a:solidFill>
                  <a:srgbClr val="002060"/>
                </a:solidFill>
                <a:latin typeface="Cambria" panose="02040503050406030204" pitchFamily="18" charset="0"/>
              </a:rPr>
              <a:t>quan </a:t>
            </a:r>
            <a:r>
              <a:rPr lang="vi-VN" sz="2200" b="1" smtClean="0">
                <a:solidFill>
                  <a:srgbClr val="002060"/>
                </a:solidFill>
                <a:latin typeface="Cambria" panose="02040503050406030204" pitchFamily="18" charset="0"/>
              </a:rPr>
              <a:t>c</a:t>
            </a:r>
            <a:r>
              <a:rPr lang="en-US" sz="2200" b="1" smtClean="0">
                <a:solidFill>
                  <a:srgbClr val="002060"/>
                </a:solidFill>
                <a:latin typeface="Cambria" panose="02040503050406030204" pitchFamily="18" charset="0"/>
              </a:rPr>
              <a:t>ư</a:t>
            </a:r>
            <a:r>
              <a:rPr lang="vi-VN" sz="2200" b="1" smtClean="0">
                <a:solidFill>
                  <a:srgbClr val="002060"/>
                </a:solidFill>
                <a:latin typeface="Cambria" panose="02040503050406030204" pitchFamily="18" charset="0"/>
              </a:rPr>
              <a:t>ờng </a:t>
            </a:r>
            <a:r>
              <a:rPr lang="vi-VN" sz="2200" b="1">
                <a:solidFill>
                  <a:srgbClr val="002060"/>
                </a:solidFill>
                <a:latin typeface="Cambria" panose="02040503050406030204" pitchFamily="18" charset="0"/>
              </a:rPr>
              <a:t>độ phổ logarit mel với hệ số tần số mel MFCC</a:t>
            </a:r>
          </a:p>
        </p:txBody>
      </p:sp>
      <p:sp>
        <p:nvSpPr>
          <p:cNvPr id="5" name="Rectangle 4"/>
          <p:cNvSpPr/>
          <p:nvPr/>
        </p:nvSpPr>
        <p:spPr>
          <a:xfrm>
            <a:off x="119858" y="2579"/>
            <a:ext cx="8603228" cy="658706"/>
          </a:xfrm>
          <a:prstGeom prst="rect">
            <a:avLst/>
          </a:prstGeom>
          <a:noFill/>
        </p:spPr>
        <p:txBody>
          <a:bodyPr wrap="square" lIns="91440" tIns="45720" rIns="91440" bIns="45720">
            <a:spAutoFit/>
          </a:bodyPr>
          <a:lstStyle/>
          <a:p>
            <a:pPr>
              <a:lnSpc>
                <a:spcPct val="150000"/>
              </a:lnSpc>
            </a:pPr>
            <a:r>
              <a:rPr lang="en-US" sz="2800" b="1" smtClean="0">
                <a:solidFill>
                  <a:srgbClr val="002060"/>
                </a:solidFill>
                <a:latin typeface="Cambria" panose="02040503050406030204" pitchFamily="18" charset="0"/>
              </a:rPr>
              <a:t>2.4.3. </a:t>
            </a:r>
            <a:r>
              <a:rPr lang="vi-VN" sz="2800" b="1">
                <a:solidFill>
                  <a:srgbClr val="002060"/>
                </a:solidFill>
                <a:latin typeface="Cambria" panose="02040503050406030204" pitchFamily="18" charset="0"/>
              </a:rPr>
              <a:t>Đặc </a:t>
            </a:r>
            <a:r>
              <a:rPr lang="vi-VN" sz="2800" b="1" smtClean="0">
                <a:solidFill>
                  <a:srgbClr val="002060"/>
                </a:solidFill>
                <a:latin typeface="Cambria" panose="02040503050406030204" pitchFamily="18" charset="0"/>
              </a:rPr>
              <a:t>tr</a:t>
            </a:r>
            <a:r>
              <a:rPr lang="en-US" sz="2800" b="1" smtClean="0">
                <a:solidFill>
                  <a:srgbClr val="002060"/>
                </a:solidFill>
                <a:latin typeface="Cambria" panose="02040503050406030204" pitchFamily="18" charset="0"/>
              </a:rPr>
              <a:t>ư</a:t>
            </a:r>
            <a:r>
              <a:rPr lang="vi-VN" sz="2800" b="1" smtClean="0">
                <a:solidFill>
                  <a:srgbClr val="002060"/>
                </a:solidFill>
                <a:latin typeface="Cambria" panose="02040503050406030204" pitchFamily="18" charset="0"/>
              </a:rPr>
              <a:t>ng </a:t>
            </a:r>
            <a:r>
              <a:rPr lang="vi-VN" sz="2800" b="1">
                <a:solidFill>
                  <a:srgbClr val="002060"/>
                </a:solidFill>
                <a:latin typeface="Cambria" panose="02040503050406030204" pitchFamily="18" charset="0"/>
              </a:rPr>
              <a:t>âm thanh MFCC</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68209869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622300" indent="-457200" algn="just">
              <a:lnSpc>
                <a:spcPct val="150000"/>
              </a:lnSpc>
              <a:buFont typeface="+mj-lt"/>
              <a:buAutoNum type="arabicPeriod"/>
            </a:pPr>
            <a:r>
              <a:rPr lang="en-US" sz="2200" b="1">
                <a:solidFill>
                  <a:srgbClr val="002060"/>
                </a:solidFill>
                <a:latin typeface="Cambria" panose="02040503050406030204" pitchFamily="18" charset="0"/>
              </a:rPr>
              <a:t>Audacity: Phần mềm ghi âm, cắt ghép nhạc miễn </a:t>
            </a:r>
            <a:r>
              <a:rPr lang="en-US" sz="2200" b="1" smtClean="0">
                <a:solidFill>
                  <a:srgbClr val="002060"/>
                </a:solidFill>
                <a:latin typeface="Cambria" panose="02040503050406030204" pitchFamily="18" charset="0"/>
              </a:rPr>
              <a:t>phí</a:t>
            </a:r>
          </a:p>
          <a:p>
            <a:pPr marL="622300" indent="-457200" algn="just">
              <a:lnSpc>
                <a:spcPct val="150000"/>
              </a:lnSpc>
              <a:buFont typeface="+mj-lt"/>
              <a:buAutoNum type="arabicPeriod"/>
            </a:pPr>
            <a:r>
              <a:rPr lang="vi-VN" sz="2200" b="1">
                <a:solidFill>
                  <a:srgbClr val="002060"/>
                </a:solidFill>
                <a:latin typeface="Cambria" panose="02040503050406030204" pitchFamily="18" charset="0"/>
              </a:rPr>
              <a:t>Adobe Audition: Phần mềm xử lý, chỉnh sửa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a:pPr>
            <a:r>
              <a:rPr lang="vi-VN" sz="2200" b="1">
                <a:solidFill>
                  <a:srgbClr val="002060"/>
                </a:solidFill>
                <a:latin typeface="Cambria" panose="02040503050406030204" pitchFamily="18" charset="0"/>
              </a:rPr>
              <a:t>FL Studio: Phần mềm chỉnh sửa, thêm hiệu ứng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a:pPr>
            <a:r>
              <a:rPr lang="vi-VN" sz="2200" b="1">
                <a:solidFill>
                  <a:srgbClr val="002060"/>
                </a:solidFill>
                <a:latin typeface="Cambria" panose="02040503050406030204" pitchFamily="18" charset="0"/>
              </a:rPr>
              <a:t>Ocenaudio: Phần mềm chỉnh sửa âm thanh miễn </a:t>
            </a:r>
            <a:r>
              <a:rPr lang="vi-VN" sz="2200" b="1" smtClean="0">
                <a:solidFill>
                  <a:srgbClr val="002060"/>
                </a:solidFill>
                <a:latin typeface="Cambria" panose="02040503050406030204" pitchFamily="18" charset="0"/>
              </a:rPr>
              <a:t>phí</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a:pPr>
            <a:r>
              <a:rPr lang="vi-VN" sz="2200" b="1">
                <a:solidFill>
                  <a:srgbClr val="002060"/>
                </a:solidFill>
                <a:latin typeface="Cambria" panose="02040503050406030204" pitchFamily="18" charset="0"/>
              </a:rPr>
              <a:t>WavePad Sound Editor: Phần mềm biên tập, chỉnh sửa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a:pPr>
            <a:r>
              <a:rPr lang="vi-VN" sz="2200" b="1">
                <a:solidFill>
                  <a:srgbClr val="002060"/>
                </a:solidFill>
                <a:latin typeface="Cambria" panose="02040503050406030204" pitchFamily="18" charset="0"/>
              </a:rPr>
              <a:t>Akram Audio Editor: Phần mềm chỉnh sửa, lọc tạp âm cho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a:pPr>
            <a:r>
              <a:rPr lang="vi-VN" sz="2200" b="1" smtClean="0">
                <a:solidFill>
                  <a:srgbClr val="002060"/>
                </a:solidFill>
                <a:latin typeface="Cambria" panose="02040503050406030204" pitchFamily="18" charset="0"/>
              </a:rPr>
              <a:t>MP3 </a:t>
            </a:r>
            <a:r>
              <a:rPr lang="vi-VN" sz="2200" b="1">
                <a:solidFill>
                  <a:srgbClr val="002060"/>
                </a:solidFill>
                <a:latin typeface="Cambria" panose="02040503050406030204" pitchFamily="18" charset="0"/>
              </a:rPr>
              <a:t>Music Editor</a:t>
            </a:r>
          </a:p>
        </p:txBody>
      </p:sp>
      <p:sp>
        <p:nvSpPr>
          <p:cNvPr id="5" name="Rectangle 4"/>
          <p:cNvSpPr/>
          <p:nvPr/>
        </p:nvSpPr>
        <p:spPr>
          <a:xfrm>
            <a:off x="119858" y="2579"/>
            <a:ext cx="8603228" cy="646331"/>
          </a:xfrm>
          <a:prstGeom prst="rect">
            <a:avLst/>
          </a:prstGeom>
          <a:noFill/>
        </p:spPr>
        <p:txBody>
          <a:bodyPr wrap="square" lIns="91440" tIns="45720" rIns="91440" bIns="45720">
            <a:spAutoFit/>
          </a:bodyPr>
          <a:lstStyle/>
          <a:p>
            <a:pPr>
              <a:lnSpc>
                <a:spcPct val="150000"/>
              </a:lnSpc>
            </a:pPr>
            <a:r>
              <a:rPr lang="en-US" sz="2400" b="1">
                <a:solidFill>
                  <a:srgbClr val="002060"/>
                </a:solidFill>
                <a:latin typeface="Cambria" panose="02040503050406030204" pitchFamily="18" charset="0"/>
              </a:rPr>
              <a:t>2.5. M</a:t>
            </a:r>
            <a:r>
              <a:rPr lang="en-US" sz="2400" b="1" smtClean="0">
                <a:solidFill>
                  <a:srgbClr val="002060"/>
                </a:solidFill>
                <a:latin typeface="Cambria" panose="02040503050406030204" pitchFamily="18" charset="0"/>
              </a:rPr>
              <a:t>ột </a:t>
            </a:r>
            <a:r>
              <a:rPr lang="en-US" sz="2400" b="1">
                <a:solidFill>
                  <a:srgbClr val="002060"/>
                </a:solidFill>
                <a:latin typeface="Cambria" panose="02040503050406030204" pitchFamily="18" charset="0"/>
              </a:rPr>
              <a:t>số công cụ hỗ trợ xử lý và nhận dạng âm thanh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9888883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TextBox 16"/>
          <p:cNvSpPr txBox="1">
            <a:spLocks noChangeArrowheads="1"/>
          </p:cNvSpPr>
          <p:nvPr/>
        </p:nvSpPr>
        <p:spPr bwMode="auto">
          <a:xfrm>
            <a:off x="135984" y="671691"/>
            <a:ext cx="8570976"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ＭＳ Ｐゴシック" pitchFamily="123" charset="-128"/>
              </a:defRPr>
            </a:lvl1pPr>
            <a:lvl2pPr marL="742950" indent="-285750" eaLnBrk="0" hangingPunct="0">
              <a:defRPr>
                <a:solidFill>
                  <a:schemeClr val="tx1"/>
                </a:solidFill>
                <a:latin typeface="Calibri" pitchFamily="34" charset="0"/>
                <a:ea typeface="ＭＳ Ｐゴシック" pitchFamily="123" charset="-128"/>
              </a:defRPr>
            </a:lvl2pPr>
            <a:lvl3pPr marL="1143000" indent="-228600" eaLnBrk="0" hangingPunct="0">
              <a:defRPr>
                <a:solidFill>
                  <a:schemeClr val="tx1"/>
                </a:solidFill>
                <a:latin typeface="Calibri" pitchFamily="34" charset="0"/>
                <a:ea typeface="ＭＳ Ｐゴシック" pitchFamily="123" charset="-128"/>
              </a:defRPr>
            </a:lvl3pPr>
            <a:lvl4pPr marL="1600200" indent="-228600" eaLnBrk="0" hangingPunct="0">
              <a:defRPr>
                <a:solidFill>
                  <a:schemeClr val="tx1"/>
                </a:solidFill>
                <a:latin typeface="Calibri" pitchFamily="34" charset="0"/>
                <a:ea typeface="ＭＳ Ｐゴシック" pitchFamily="123" charset="-128"/>
              </a:defRPr>
            </a:lvl4pPr>
            <a:lvl5pPr marL="2057400" indent="-228600" eaLnBrk="0" hangingPunct="0">
              <a:defRPr>
                <a:solidFill>
                  <a:schemeClr val="tx1"/>
                </a:solidFill>
                <a:latin typeface="Calibri" pitchFamily="34" charset="0"/>
                <a:ea typeface="ＭＳ Ｐゴシック" pitchFamily="123" charset="-128"/>
              </a:defRPr>
            </a:lvl5pPr>
            <a:lvl6pPr marL="25146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6pPr>
            <a:lvl7pPr marL="29718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7pPr>
            <a:lvl8pPr marL="34290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8pPr>
            <a:lvl9pPr marL="3886200" indent="-228600" defTabSz="457200" eaLnBrk="0" fontAlgn="base" hangingPunct="0">
              <a:spcBef>
                <a:spcPct val="0"/>
              </a:spcBef>
              <a:spcAft>
                <a:spcPct val="0"/>
              </a:spcAft>
              <a:defRPr>
                <a:solidFill>
                  <a:schemeClr val="tx1"/>
                </a:solidFill>
                <a:latin typeface="Calibri" pitchFamily="34" charset="0"/>
                <a:ea typeface="ＭＳ Ｐゴシック" pitchFamily="123" charset="-128"/>
              </a:defRPr>
            </a:lvl9pPr>
          </a:lstStyle>
          <a:p>
            <a:pPr marL="622300" indent="-457200" algn="just">
              <a:lnSpc>
                <a:spcPct val="150000"/>
              </a:lnSpc>
              <a:buFont typeface="+mj-lt"/>
              <a:buAutoNum type="arabicPeriod" startAt="8"/>
            </a:pPr>
            <a:r>
              <a:rPr lang="vi-VN" sz="2200" b="1" smtClean="0">
                <a:solidFill>
                  <a:srgbClr val="002060"/>
                </a:solidFill>
                <a:latin typeface="Cambria" panose="02040503050406030204" pitchFamily="18" charset="0"/>
              </a:rPr>
              <a:t>Audio </a:t>
            </a:r>
            <a:r>
              <a:rPr lang="vi-VN" sz="2200" b="1">
                <a:solidFill>
                  <a:srgbClr val="002060"/>
                </a:solidFill>
                <a:latin typeface="Cambria" panose="02040503050406030204" pitchFamily="18" charset="0"/>
              </a:rPr>
              <a:t>Director: Phần mềm chỉnh sửa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startAt="8"/>
            </a:pPr>
            <a:r>
              <a:rPr lang="vi-VN" sz="2200" b="1">
                <a:solidFill>
                  <a:srgbClr val="002060"/>
                </a:solidFill>
                <a:latin typeface="Cambria" panose="02040503050406030204" pitchFamily="18" charset="0"/>
              </a:rPr>
              <a:t>Sound Forge Audio Studio: Phần mềm ghi âm, chỉnh sửa âm </a:t>
            </a:r>
            <a:r>
              <a:rPr lang="vi-VN" sz="2200" b="1" smtClean="0">
                <a:solidFill>
                  <a:srgbClr val="002060"/>
                </a:solidFill>
                <a:latin typeface="Cambria" panose="02040503050406030204" pitchFamily="18" charset="0"/>
              </a:rPr>
              <a:t>thanh</a:t>
            </a:r>
            <a:endParaRPr lang="en-US" sz="2200" b="1" smtClean="0">
              <a:solidFill>
                <a:srgbClr val="002060"/>
              </a:solidFill>
              <a:latin typeface="Cambria" panose="02040503050406030204" pitchFamily="18" charset="0"/>
            </a:endParaRPr>
          </a:p>
          <a:p>
            <a:pPr marL="622300" indent="-457200" algn="just">
              <a:lnSpc>
                <a:spcPct val="150000"/>
              </a:lnSpc>
              <a:buFont typeface="+mj-lt"/>
              <a:buAutoNum type="arabicPeriod" startAt="8"/>
            </a:pPr>
            <a:r>
              <a:rPr lang="vi-VN" sz="2200" b="1">
                <a:solidFill>
                  <a:srgbClr val="002060"/>
                </a:solidFill>
                <a:latin typeface="Cambria" panose="02040503050406030204" pitchFamily="18" charset="0"/>
              </a:rPr>
              <a:t>Audio Editor Pro: Phần mềm chỉnh sửa audio chuyên </a:t>
            </a:r>
            <a:r>
              <a:rPr lang="vi-VN" sz="2200" b="1" smtClean="0">
                <a:solidFill>
                  <a:srgbClr val="002060"/>
                </a:solidFill>
                <a:latin typeface="Cambria" panose="02040503050406030204" pitchFamily="18" charset="0"/>
              </a:rPr>
              <a:t>nghiệp</a:t>
            </a:r>
            <a:endParaRPr lang="en-US" sz="2200" b="1" smtClean="0">
              <a:solidFill>
                <a:srgbClr val="002060"/>
              </a:solidFill>
              <a:latin typeface="Cambria" panose="02040503050406030204" pitchFamily="18" charset="0"/>
            </a:endParaRPr>
          </a:p>
        </p:txBody>
      </p:sp>
      <p:sp>
        <p:nvSpPr>
          <p:cNvPr id="5" name="Rectangle 4"/>
          <p:cNvSpPr/>
          <p:nvPr/>
        </p:nvSpPr>
        <p:spPr>
          <a:xfrm>
            <a:off x="119858" y="2579"/>
            <a:ext cx="8603228" cy="646331"/>
          </a:xfrm>
          <a:prstGeom prst="rect">
            <a:avLst/>
          </a:prstGeom>
          <a:noFill/>
        </p:spPr>
        <p:txBody>
          <a:bodyPr wrap="square" lIns="91440" tIns="45720" rIns="91440" bIns="45720">
            <a:spAutoFit/>
          </a:bodyPr>
          <a:lstStyle/>
          <a:p>
            <a:pPr>
              <a:lnSpc>
                <a:spcPct val="150000"/>
              </a:lnSpc>
            </a:pPr>
            <a:r>
              <a:rPr lang="en-US" sz="2400" b="1">
                <a:solidFill>
                  <a:srgbClr val="002060"/>
                </a:solidFill>
                <a:latin typeface="Cambria" panose="02040503050406030204" pitchFamily="18" charset="0"/>
              </a:rPr>
              <a:t>2.5. M</a:t>
            </a:r>
            <a:r>
              <a:rPr lang="en-US" sz="2400" b="1" smtClean="0">
                <a:solidFill>
                  <a:srgbClr val="002060"/>
                </a:solidFill>
                <a:latin typeface="Cambria" panose="02040503050406030204" pitchFamily="18" charset="0"/>
              </a:rPr>
              <a:t>ột </a:t>
            </a:r>
            <a:r>
              <a:rPr lang="en-US" sz="2400" b="1">
                <a:solidFill>
                  <a:srgbClr val="002060"/>
                </a:solidFill>
                <a:latin typeface="Cambria" panose="02040503050406030204" pitchFamily="18" charset="0"/>
              </a:rPr>
              <a:t>số công cụ hỗ trợ xử lý và nhận dạng âm thanh</a:t>
            </a:r>
          </a:p>
        </p:txBody>
      </p:sp>
      <p:sp>
        <p:nvSpPr>
          <p:cNvPr id="6" name="Line 16"/>
          <p:cNvSpPr>
            <a:spLocks noChangeShapeType="1"/>
          </p:cNvSpPr>
          <p:nvPr/>
        </p:nvSpPr>
        <p:spPr bwMode="auto">
          <a:xfrm>
            <a:off x="119858" y="661285"/>
            <a:ext cx="8721725" cy="0"/>
          </a:xfrm>
          <a:prstGeom prst="line">
            <a:avLst/>
          </a:prstGeom>
          <a:noFill/>
          <a:ln w="12700">
            <a:solidFill>
              <a:srgbClr val="FFFF00"/>
            </a:solidFill>
            <a:round/>
            <a:headEnd/>
            <a:tailEnd/>
          </a:ln>
          <a:effectLst>
            <a:prstShdw prst="shdw17" dist="17961" dir="2700000">
              <a:srgbClr val="999900"/>
            </a:prstShdw>
          </a:effectLst>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2291134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2340&quot;&gt;&lt;property id=&quot;20148&quot; value=&quot;5&quot;/&gt;&lt;property id=&quot;20300&quot; value=&quot;Slide 1&quot;/&gt;&lt;property id=&quot;20307&quot; value=&quot;257&quot;/&gt;&lt;/object&gt;&lt;object type=&quot;3&quot; unique_id=&quot;12341&quot;&gt;&lt;property id=&quot;20148&quot; value=&quot;5&quot;/&gt;&lt;property id=&quot;20300&quot; value=&quot;Slide 2&quot;/&gt;&lt;property id=&quot;20307&quot; value=&quot;269&quot;/&gt;&lt;/object&gt;&lt;object type=&quot;3&quot; unique_id=&quot;12342&quot;&gt;&lt;property id=&quot;20148&quot; value=&quot;5&quot;/&gt;&lt;property id=&quot;20300&quot; value=&quot;Slide 3&quot;/&gt;&lt;property id=&quot;20307&quot; value=&quot;270&quot;/&gt;&lt;/object&gt;&lt;object type=&quot;3&quot; unique_id=&quot;12343&quot;&gt;&lt;property id=&quot;20148&quot; value=&quot;5&quot;/&gt;&lt;property id=&quot;20300&quot; value=&quot;Slide 4&quot;/&gt;&lt;property id=&quot;20307&quot; value=&quot;271&quot;/&gt;&lt;/object&gt;&lt;object type=&quot;3&quot; unique_id=&quot;12344&quot;&gt;&lt;property id=&quot;20148&quot; value=&quot;5&quot;/&gt;&lt;property id=&quot;20300&quot; value=&quot;Slide 5&quot;/&gt;&lt;property id=&quot;20307&quot; value=&quot;272&quot;/&gt;&lt;/object&gt;&lt;object type=&quot;3&quot; unique_id=&quot;12345&quot;&gt;&lt;property id=&quot;20148&quot; value=&quot;5&quot;/&gt;&lt;property id=&quot;20300&quot; value=&quot;Slide 6&quot;/&gt;&lt;property id=&quot;20307&quot; value=&quot;258&quot;/&gt;&lt;/object&gt;&lt;/object&gt;&lt;object type=&quot;8&quot; unique_id=&quot;10106&quot;&gt;&lt;/object&gt;&lt;/object&gt;&lt;/database&gt;"/>
  <p:tag name="SECTOMILLISECCONVERTED" val="1"/>
</p:tagLst>
</file>

<file path=ppt/theme/theme1.xml><?xml version="1.0" encoding="utf-8"?>
<a:theme xmlns:a="http://schemas.openxmlformats.org/drawingml/2006/main" name="VPBank Slid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P Bank Blank Whi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4027</TotalTime>
  <Words>5307</Words>
  <Application>Microsoft Office PowerPoint</Application>
  <PresentationFormat>On-screen Show (4:3)</PresentationFormat>
  <Paragraphs>358</Paragraphs>
  <Slides>65</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65</vt:i4>
      </vt:variant>
    </vt:vector>
  </HeadingPairs>
  <TitlesOfParts>
    <vt:vector size="75" baseType="lpstr">
      <vt:lpstr>ＭＳ Ｐゴシック</vt:lpstr>
      <vt:lpstr>Arial</vt:lpstr>
      <vt:lpstr>Calibri</vt:lpstr>
      <vt:lpstr>Cambria</vt:lpstr>
      <vt:lpstr>ITCErasVO Demi</vt:lpstr>
      <vt:lpstr>Times New Roman</vt:lpstr>
      <vt:lpstr>Wingdings</vt:lpstr>
      <vt:lpstr>VPBank Slide divider</vt:lpstr>
      <vt:lpstr>VP Bank Blank White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H2T</dc:creator>
  <cp:lastModifiedBy>capuchino</cp:lastModifiedBy>
  <cp:revision>335</cp:revision>
  <dcterms:created xsi:type="dcterms:W3CDTF">2012-12-19T04:20:44Z</dcterms:created>
  <dcterms:modified xsi:type="dcterms:W3CDTF">2022-03-25T07:50:46Z</dcterms:modified>
</cp:coreProperties>
</file>