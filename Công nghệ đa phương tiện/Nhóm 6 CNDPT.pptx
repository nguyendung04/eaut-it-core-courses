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50"/>
  </p:handoutMasterIdLst>
  <p:sldIdLst>
    <p:sldId id="256" r:id="rId3"/>
    <p:sldId id="274" r:id="rId4"/>
    <p:sldId id="281" r:id="rId6"/>
    <p:sldId id="277" r:id="rId7"/>
    <p:sldId id="418" r:id="rId8"/>
    <p:sldId id="419" r:id="rId9"/>
    <p:sldId id="332" r:id="rId10"/>
    <p:sldId id="319" r:id="rId11"/>
    <p:sldId id="320" r:id="rId12"/>
    <p:sldId id="321" r:id="rId13"/>
    <p:sldId id="326" r:id="rId14"/>
    <p:sldId id="325" r:id="rId15"/>
    <p:sldId id="327" r:id="rId16"/>
    <p:sldId id="328" r:id="rId17"/>
    <p:sldId id="329" r:id="rId18"/>
    <p:sldId id="322" r:id="rId19"/>
    <p:sldId id="323" r:id="rId20"/>
    <p:sldId id="324" r:id="rId21"/>
    <p:sldId id="407" r:id="rId22"/>
    <p:sldId id="408" r:id="rId23"/>
    <p:sldId id="409" r:id="rId24"/>
    <p:sldId id="410" r:id="rId25"/>
    <p:sldId id="411" r:id="rId26"/>
    <p:sldId id="412" r:id="rId27"/>
    <p:sldId id="413" r:id="rId28"/>
    <p:sldId id="415" r:id="rId29"/>
    <p:sldId id="416" r:id="rId30"/>
    <p:sldId id="417" r:id="rId31"/>
    <p:sldId id="333" r:id="rId32"/>
    <p:sldId id="334" r:id="rId33"/>
    <p:sldId id="331" r:id="rId34"/>
    <p:sldId id="330" r:id="rId35"/>
    <p:sldId id="335" r:id="rId36"/>
    <p:sldId id="336" r:id="rId37"/>
    <p:sldId id="337" r:id="rId38"/>
    <p:sldId id="338" r:id="rId39"/>
    <p:sldId id="285" r:id="rId40"/>
    <p:sldId id="352" r:id="rId41"/>
    <p:sldId id="353" r:id="rId42"/>
    <p:sldId id="354" r:id="rId43"/>
    <p:sldId id="355" r:id="rId44"/>
    <p:sldId id="356" r:id="rId45"/>
    <p:sldId id="357" r:id="rId46"/>
    <p:sldId id="358" r:id="rId47"/>
    <p:sldId id="359" r:id="rId48"/>
    <p:sldId id="310" r:id="rId49"/>
  </p:sldIdLst>
  <p:sldSz cx="18288000" cy="10299700"/>
  <p:notesSz cx="18288000" cy="102997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4" userDrawn="1">
          <p15:clr>
            <a:srgbClr val="A4A3A4"/>
          </p15:clr>
        </p15:guide>
        <p15:guide id="2" pos="2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022B"/>
    <a:srgbClr val="F7F7F7"/>
    <a:srgbClr val="000000"/>
    <a:srgbClr val="2B0225"/>
    <a:srgbClr val="3C3B37"/>
    <a:srgbClr val="FFFFFF"/>
    <a:srgbClr val="F02424"/>
    <a:srgbClr val="F34B4B"/>
    <a:srgbClr val="F13737"/>
    <a:srgbClr val="F062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50" d="100"/>
          <a:sy n="50" d="100"/>
        </p:scale>
        <p:origin x="-294" y="-654"/>
      </p:cViewPr>
      <p:guideLst>
        <p:guide orient="horz" pos="3004"/>
        <p:guide pos="212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2088"/>
          </a:xfrm>
          <a:prstGeom prst="rect">
            <a:avLst/>
          </a:prstGeom>
        </p:spPr>
        <p:txBody>
          <a:bodyPr vert="horz" lIns="91440" tIns="45720" rIns="91440" bIns="45720" rtlCol="0"/>
          <a:lstStyle>
            <a:lvl1pPr algn="l">
              <a:defRPr sz="1520"/>
            </a:lvl1pPr>
          </a:lstStyle>
          <a:p>
            <a:endParaRPr lang="zh-CN" altLang="en-US"/>
          </a:p>
        </p:txBody>
      </p:sp>
      <p:sp>
        <p:nvSpPr>
          <p:cNvPr id="3" name="日期占位符 2"/>
          <p:cNvSpPr>
            <a:spLocks noGrp="1"/>
          </p:cNvSpPr>
          <p:nvPr>
            <p:ph type="dt" sz="quarter" idx="1"/>
          </p:nvPr>
        </p:nvSpPr>
        <p:spPr>
          <a:xfrm>
            <a:off x="27623915" y="0"/>
            <a:ext cx="21132800" cy="582088"/>
          </a:xfrm>
          <a:prstGeom prst="rect">
            <a:avLst/>
          </a:prstGeom>
        </p:spPr>
        <p:txBody>
          <a:bodyPr vert="horz" lIns="91440" tIns="45720" rIns="91440" bIns="45720" rtlCol="0"/>
          <a:lstStyle>
            <a:lvl1pPr algn="r">
              <a:defRPr sz="152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1019381"/>
            <a:ext cx="21132800" cy="582087"/>
          </a:xfrm>
          <a:prstGeom prst="rect">
            <a:avLst/>
          </a:prstGeom>
        </p:spPr>
        <p:txBody>
          <a:bodyPr vert="horz" lIns="91440" tIns="45720" rIns="91440" bIns="45720" rtlCol="0" anchor="b"/>
          <a:lstStyle>
            <a:lvl1pPr algn="l">
              <a:defRPr sz="1520"/>
            </a:lvl1pPr>
          </a:lstStyle>
          <a:p>
            <a:endParaRPr lang="zh-CN" altLang="en-US"/>
          </a:p>
        </p:txBody>
      </p:sp>
      <p:sp>
        <p:nvSpPr>
          <p:cNvPr id="5" name="灯片编号占位符 4"/>
          <p:cNvSpPr>
            <a:spLocks noGrp="1"/>
          </p:cNvSpPr>
          <p:nvPr>
            <p:ph type="sldNum" sz="quarter" idx="3"/>
          </p:nvPr>
        </p:nvSpPr>
        <p:spPr>
          <a:xfrm>
            <a:off x="27623915" y="11019381"/>
            <a:ext cx="21132800" cy="582087"/>
          </a:xfrm>
          <a:prstGeom prst="rect">
            <a:avLst/>
          </a:prstGeom>
        </p:spPr>
        <p:txBody>
          <a:bodyPr vert="horz" lIns="91440" tIns="45720" rIns="91440" bIns="45720" rtlCol="0" anchor="b"/>
          <a:lstStyle>
            <a:lvl1pPr algn="r">
              <a:defRPr sz="152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E47F674B-CDB2-469D-A54B-64604985D37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5715000" y="773113"/>
            <a:ext cx="6858000" cy="38623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828800" y="4892675"/>
            <a:ext cx="14630400" cy="463391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82175"/>
            <a:ext cx="7924800" cy="51593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0358438" y="9782175"/>
            <a:ext cx="7924800" cy="515938"/>
          </a:xfrm>
          <a:prstGeom prst="rect">
            <a:avLst/>
          </a:prstGeom>
        </p:spPr>
        <p:txBody>
          <a:bodyPr vert="horz" lIns="91440" tIns="45720" rIns="91440" bIns="45720" rtlCol="0" anchor="b"/>
          <a:lstStyle>
            <a:lvl1pPr algn="r">
              <a:defRPr sz="1200"/>
            </a:lvl1pPr>
          </a:lstStyle>
          <a:p>
            <a:fld id="{E53C924F-6D45-4846-A7E6-7CEE6B00AED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p>
            <a:pPr marL="12700">
              <a:lnSpc>
                <a:spcPct val="100000"/>
              </a:lnSpc>
            </a:pPr>
            <a:r>
              <a:rPr sz="1200" dirty="0" smtClean="0">
                <a:solidFill>
                  <a:srgbClr val="FFFFFF"/>
                </a:solidFill>
                <a:latin typeface="Calibri" panose="020F0502020204030204"/>
                <a:cs typeface="Calibri" panose="020F0502020204030204"/>
              </a:rPr>
              <a:t>©</a:t>
            </a:r>
            <a:r>
              <a:rPr sz="1200" spc="-5" dirty="0" smtClean="0">
                <a:solidFill>
                  <a:srgbClr val="FFFFFF"/>
                </a:solidFill>
                <a:latin typeface="Calibri" panose="020F0502020204030204"/>
                <a:cs typeface="Calibri" panose="020F0502020204030204"/>
              </a:rPr>
              <a:t> </a:t>
            </a:r>
            <a:r>
              <a:rPr sz="1200" spc="-10" dirty="0" smtClean="0">
                <a:solidFill>
                  <a:srgbClr val="FFFFFF"/>
                </a:solidFill>
                <a:latin typeface="Calibri" panose="020F0502020204030204"/>
                <a:cs typeface="Calibri" panose="020F0502020204030204"/>
              </a:rPr>
              <a:t>2</a:t>
            </a:r>
            <a:r>
              <a:rPr sz="1200" spc="-5" dirty="0" smtClean="0">
                <a:solidFill>
                  <a:srgbClr val="FFFFFF"/>
                </a:solidFill>
                <a:latin typeface="Calibri" panose="020F0502020204030204"/>
                <a:cs typeface="Calibri" panose="020F0502020204030204"/>
              </a:rPr>
              <a:t>0</a:t>
            </a:r>
            <a:r>
              <a:rPr sz="1200" spc="-10" dirty="0" smtClean="0">
                <a:solidFill>
                  <a:srgbClr val="FFFFFF"/>
                </a:solidFill>
                <a:latin typeface="Calibri" panose="020F0502020204030204"/>
                <a:cs typeface="Calibri" panose="020F0502020204030204"/>
              </a:rPr>
              <a:t>15 </a:t>
            </a:r>
            <a:r>
              <a:rPr sz="1200" spc="1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Ci</a:t>
            </a:r>
            <a:r>
              <a:rPr sz="1200" spc="-5" dirty="0" smtClean="0">
                <a:solidFill>
                  <a:srgbClr val="FFFFFF"/>
                </a:solidFill>
                <a:latin typeface="Calibri" panose="020F0502020204030204"/>
                <a:cs typeface="Calibri" panose="020F0502020204030204"/>
              </a:rPr>
              <a:t>s</a:t>
            </a:r>
            <a:r>
              <a:rPr sz="1200" spc="-2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a:t>
            </a:r>
            <a:r>
              <a:rPr sz="1200" spc="5"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d</a:t>
            </a:r>
            <a:r>
              <a:rPr sz="1200" spc="-20" dirty="0" smtClean="0">
                <a:solidFill>
                  <a:srgbClr val="FFFFFF"/>
                </a:solidFill>
                <a:latin typeface="Calibri" panose="020F0502020204030204"/>
                <a:cs typeface="Calibri" panose="020F0502020204030204"/>
              </a:rPr>
              <a:t>/</a:t>
            </a:r>
            <a:r>
              <a:rPr sz="1200" spc="0" dirty="0" smtClean="0">
                <a:solidFill>
                  <a:srgbClr val="FFFFFF"/>
                </a:solidFill>
                <a:latin typeface="Calibri" panose="020F0502020204030204"/>
                <a:cs typeface="Calibri" panose="020F0502020204030204"/>
              </a:rPr>
              <a:t>o</a:t>
            </a:r>
            <a:r>
              <a:rPr sz="1200" spc="-5" dirty="0" smtClean="0">
                <a:solidFill>
                  <a:srgbClr val="FFFFFF"/>
                </a:solidFill>
                <a:latin typeface="Calibri" panose="020F0502020204030204"/>
                <a:cs typeface="Calibri" panose="020F0502020204030204"/>
              </a:rPr>
              <a:t>r</a:t>
            </a:r>
            <a:r>
              <a:rPr sz="1200" spc="-3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i</a:t>
            </a:r>
            <a:r>
              <a:rPr sz="1200" spc="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s </a:t>
            </a:r>
            <a:r>
              <a:rPr sz="1200" spc="-15" dirty="0" smtClean="0">
                <a:solidFill>
                  <a:srgbClr val="FFFFFF"/>
                </a:solidFill>
                <a:latin typeface="Calibri" panose="020F0502020204030204"/>
                <a:cs typeface="Calibri" panose="020F0502020204030204"/>
              </a:rPr>
              <a:t>a</a:t>
            </a:r>
            <a:r>
              <a:rPr sz="1200" spc="-10" dirty="0" smtClean="0">
                <a:solidFill>
                  <a:srgbClr val="FFFFFF"/>
                </a:solidFill>
                <a:latin typeface="Calibri" panose="020F0502020204030204"/>
                <a:cs typeface="Calibri" panose="020F0502020204030204"/>
              </a:rPr>
              <a:t>f</a:t>
            </a:r>
            <a:r>
              <a:rPr sz="1200" spc="0" dirty="0" smtClean="0">
                <a:solidFill>
                  <a:srgbClr val="FFFFFF"/>
                </a:solidFill>
                <a:latin typeface="Calibri" panose="020F0502020204030204"/>
                <a:cs typeface="Calibri" panose="020F0502020204030204"/>
              </a:rPr>
              <a:t>fili</a:t>
            </a:r>
            <a:r>
              <a:rPr sz="1200" spc="-10" dirty="0" smtClean="0">
                <a:solidFill>
                  <a:srgbClr val="FFFFFF"/>
                </a:solidFill>
                <a:latin typeface="Calibri" panose="020F0502020204030204"/>
                <a:cs typeface="Calibri" panose="020F0502020204030204"/>
              </a:rPr>
              <a:t>a</a:t>
            </a:r>
            <a:r>
              <a:rPr sz="1200" spc="-1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es.</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All</a:t>
            </a:r>
            <a:r>
              <a:rPr sz="1200" spc="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rig</a:t>
            </a:r>
            <a:r>
              <a:rPr sz="1200" spc="-5" dirty="0" smtClean="0">
                <a:solidFill>
                  <a:srgbClr val="FFFFFF"/>
                </a:solidFill>
                <a:latin typeface="Calibri" panose="020F0502020204030204"/>
                <a:cs typeface="Calibri" panose="020F0502020204030204"/>
              </a:rPr>
              <a:t>hts</a:t>
            </a:r>
            <a:r>
              <a:rPr sz="1200" spc="-25" dirty="0" smtClean="0">
                <a:solidFill>
                  <a:srgbClr val="FFFFFF"/>
                </a:solidFill>
                <a:latin typeface="Calibri" panose="020F0502020204030204"/>
                <a:cs typeface="Calibri" panose="020F0502020204030204"/>
              </a:rPr>
              <a:t> </a:t>
            </a:r>
            <a:r>
              <a:rPr sz="1200" spc="-20" dirty="0" smtClean="0">
                <a:solidFill>
                  <a:srgbClr val="FFFFFF"/>
                </a:solidFill>
                <a:latin typeface="Calibri" panose="020F0502020204030204"/>
                <a:cs typeface="Calibri" panose="020F0502020204030204"/>
              </a:rPr>
              <a:t>r</a:t>
            </a:r>
            <a:r>
              <a:rPr sz="1200" spc="-10" dirty="0" smtClean="0">
                <a:solidFill>
                  <a:srgbClr val="FFFFFF"/>
                </a:solidFill>
                <a:latin typeface="Calibri" panose="020F0502020204030204"/>
                <a:cs typeface="Calibri" panose="020F0502020204030204"/>
              </a:rPr>
              <a:t>ese</a:t>
            </a:r>
            <a:r>
              <a:rPr sz="1200" spc="5" dirty="0" smtClean="0">
                <a:solidFill>
                  <a:srgbClr val="FFFFFF"/>
                </a:solidFill>
                <a:latin typeface="Calibri" panose="020F0502020204030204"/>
                <a:cs typeface="Calibri" panose="020F0502020204030204"/>
              </a:rPr>
              <a:t>r</a:t>
            </a:r>
            <a:r>
              <a:rPr sz="1200" spc="-25" dirty="0" smtClean="0">
                <a:solidFill>
                  <a:srgbClr val="FFFFFF"/>
                </a:solidFill>
                <a:latin typeface="Calibri" panose="020F0502020204030204"/>
                <a:cs typeface="Calibri" panose="020F0502020204030204"/>
              </a:rPr>
              <a:t>v</a:t>
            </a:r>
            <a:r>
              <a:rPr sz="1200" spc="-10" dirty="0" smtClean="0">
                <a:solidFill>
                  <a:srgbClr val="FFFFFF"/>
                </a:solidFill>
                <a:latin typeface="Calibri" panose="020F0502020204030204"/>
                <a:cs typeface="Calibri" panose="020F0502020204030204"/>
              </a:rPr>
              <a:t>e</a:t>
            </a:r>
            <a:r>
              <a:rPr sz="1200" spc="-5" dirty="0" smtClean="0">
                <a:solidFill>
                  <a:srgbClr val="FFFFFF"/>
                </a:solidFill>
                <a:latin typeface="Calibri" panose="020F0502020204030204"/>
                <a:cs typeface="Calibri" panose="020F0502020204030204"/>
              </a:rPr>
              <a:t>d</a:t>
            </a:r>
            <a:r>
              <a:rPr sz="1200" spc="0" dirty="0" smtClean="0">
                <a:solidFill>
                  <a:srgbClr val="FFFFFF"/>
                </a:solidFill>
                <a:latin typeface="Calibri" panose="020F0502020204030204"/>
                <a:cs typeface="Calibri" panose="020F0502020204030204"/>
              </a:rPr>
              <a:t>.</a:t>
            </a:r>
            <a:endParaRPr sz="1200">
              <a:latin typeface="Calibri" panose="020F0502020204030204"/>
              <a:cs typeface="Calibri" panose="020F0502020204030204"/>
            </a:endParaRPr>
          </a:p>
        </p:txBody>
      </p:sp>
      <p:sp>
        <p:nvSpPr>
          <p:cNvPr id="3" name="Holder 3"/>
          <p:cNvSpPr>
            <a:spLocks noGrp="1"/>
          </p:cNvSpPr>
          <p:nvPr>
            <p:ph type="dt" sz="half" idx="6"/>
          </p:nvPr>
        </p:nvSpPr>
        <p:spPr/>
        <p:txBody>
          <a:bodyPr lIns="0" tIns="0" rIns="0" bIns="0"/>
          <a:lstStyle/>
          <a:p>
            <a:pPr marL="12700">
              <a:lnSpc>
                <a:spcPct val="100000"/>
              </a:lnSpc>
            </a:pP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is</a:t>
            </a:r>
            <a:r>
              <a:rPr sz="1200" spc="-20"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10"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fide</a:t>
            </a:r>
            <a:r>
              <a:rPr sz="1200" spc="-10" dirty="0" smtClean="0">
                <a:solidFill>
                  <a:srgbClr val="FFFFFF"/>
                </a:solidFill>
                <a:latin typeface="Calibri" panose="020F0502020204030204"/>
                <a:cs typeface="Calibri" panose="020F0502020204030204"/>
              </a:rPr>
              <a:t>nt</a:t>
            </a:r>
            <a:r>
              <a:rPr sz="1200" spc="0" dirty="0" smtClean="0">
                <a:solidFill>
                  <a:srgbClr val="FFFFFF"/>
                </a:solidFill>
                <a:latin typeface="Calibri" panose="020F0502020204030204"/>
                <a:cs typeface="Calibri" panose="020F0502020204030204"/>
              </a:rPr>
              <a:t>ial</a:t>
            </a:r>
            <a:endParaRPr sz="1200">
              <a:latin typeface="Calibri" panose="020F0502020204030204"/>
              <a:cs typeface="Calibri" panose="020F0502020204030204"/>
            </a:endParaRPr>
          </a:p>
        </p:txBody>
      </p:sp>
      <p:sp>
        <p:nvSpPr>
          <p:cNvPr id="4" name="Holder 4"/>
          <p:cNvSpPr>
            <a:spLocks noGrp="1"/>
          </p:cNvSpPr>
          <p:nvPr>
            <p:ph type="sldNum" sz="quarter" idx="7"/>
          </p:nvPr>
        </p:nvSpPr>
        <p:spPr/>
        <p:txBody>
          <a:bodyPr lIns="0" tIns="0" rIns="0" bIns="0"/>
          <a:lstStyle/>
          <a:p>
            <a:pPr marL="25400">
              <a:lnSpc>
                <a:spcPct val="100000"/>
              </a:lnSpc>
            </a:pPr>
            <a:fld id="{81D60167-4931-47E6-BA6A-407CBD079E47}" type="slidenum">
              <a:rPr sz="1200" spc="-10" dirty="0" smtClean="0">
                <a:solidFill>
                  <a:srgbClr val="FFFFFF"/>
                </a:solidFill>
                <a:latin typeface="Calibri" panose="020F0502020204030204"/>
                <a:cs typeface="Calibri" panose="020F0502020204030204"/>
              </a:rPr>
            </a:fld>
            <a:endParaRPr sz="1200">
              <a:latin typeface="Calibri" panose="020F0502020204030204"/>
              <a:cs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
        <p:nvSpPr>
          <p:cNvPr id="16" name="bk object 16"/>
          <p:cNvSpPr/>
          <p:nvPr/>
        </p:nvSpPr>
        <p:spPr>
          <a:xfrm>
            <a:off x="0" y="2402585"/>
            <a:ext cx="18288000" cy="7893558"/>
          </a:xfrm>
          <a:custGeom>
            <a:avLst/>
            <a:gdLst/>
            <a:ahLst/>
            <a:cxnLst/>
            <a:rect l="l" t="t" r="r" b="b"/>
            <a:pathLst>
              <a:path w="18288000" h="7893558">
                <a:moveTo>
                  <a:pt x="0" y="7893558"/>
                </a:moveTo>
                <a:lnTo>
                  <a:pt x="18288000" y="7893558"/>
                </a:lnTo>
                <a:lnTo>
                  <a:pt x="18288000" y="0"/>
                </a:lnTo>
                <a:lnTo>
                  <a:pt x="0" y="0"/>
                </a:lnTo>
                <a:lnTo>
                  <a:pt x="0" y="7893558"/>
                </a:lnTo>
                <a:close/>
              </a:path>
            </a:pathLst>
          </a:custGeom>
          <a:solidFill>
            <a:srgbClr val="4FC4D0"/>
          </a:solidFill>
        </p:spPr>
        <p:txBody>
          <a:bodyPr wrap="square" lIns="0" tIns="0" rIns="0" bIns="0" rtlCol="0">
            <a:noAutofit/>
          </a:bodyPr>
          <a:lstStyle/>
          <a:p/>
        </p:txBody>
      </p:sp>
      <p:sp>
        <p:nvSpPr>
          <p:cNvPr id="2" name="Holder 2"/>
          <p:cNvSpPr>
            <a:spLocks noGrp="1"/>
          </p:cNvSpPr>
          <p:nvPr>
            <p:ph type="title"/>
          </p:nvPr>
        </p:nvSpPr>
        <p:spPr>
          <a:xfrm>
            <a:off x="3270137" y="796035"/>
            <a:ext cx="11747724" cy="913061"/>
          </a:xfrm>
          <a:prstGeom prst="rect">
            <a:avLst/>
          </a:prstGeom>
        </p:spPr>
        <p:txBody>
          <a:bodyPr wrap="square" lIns="0" tIns="0" rIns="0" bIns="0">
            <a:noAutofit/>
          </a:bodyPr>
          <a:lstStyle/>
          <a:p>
            <a:r>
              <a:rPr lang="zh-CN" altLang="en-US" smtClean="0">
                <a:sym typeface="+mn-ea"/>
              </a:rPr>
              <a:t>Click here to edit the master title style</a:t>
            </a:r>
            <a:endParaRPr lang="zh-CN" altLang="en-US" smtClean="0">
              <a:sym typeface="+mn-ea"/>
            </a:endParaRPr>
          </a:p>
        </p:txBody>
      </p:sp>
      <p:sp>
        <p:nvSpPr>
          <p:cNvPr id="3" name="Holder 3"/>
          <p:cNvSpPr>
            <a:spLocks noGrp="1"/>
          </p:cNvSpPr>
          <p:nvPr>
            <p:ph type="body" idx="1"/>
          </p:nvPr>
        </p:nvSpPr>
        <p:spPr>
          <a:xfrm>
            <a:off x="914400" y="2368931"/>
            <a:ext cx="16459199" cy="6797802"/>
          </a:xfrm>
          <a:prstGeom prst="rect">
            <a:avLst/>
          </a:prstGeom>
        </p:spPr>
        <p:txBody>
          <a:bodyPr wrap="square" lIns="0" tIns="0" rIns="0" bIns="0">
            <a:noAutofit/>
          </a:bodyPr>
          <a:lstStyle/>
          <a:p>
            <a:pPr algn="ctr"/>
            <a:r>
              <a:rPr lang="en-US" altLang="zh-CN" dirty="0">
                <a:solidFill>
                  <a:srgbClr val="003399"/>
                </a:solidFill>
                <a:latin typeface="Microsoft YaHei" panose="020B0503020204020204" pitchFamily="34" charset="-122"/>
                <a:ea typeface="Microsoft YaHei" panose="020B0503020204020204" pitchFamily="34" charset="-122"/>
                <a:sym typeface="+mn-ea"/>
              </a:rPr>
              <a:t>Add your text</a:t>
            </a:r>
            <a:endParaRPr lang="en-US" altLang="zh-CN" dirty="0">
              <a:solidFill>
                <a:srgbClr val="003399"/>
              </a:solidFill>
              <a:latin typeface="Microsoft YaHei" panose="020B0503020204020204" pitchFamily="34" charset="-122"/>
              <a:ea typeface="Microsoft YaHei" panose="020B0503020204020204" pitchFamily="34" charset="-122"/>
              <a:sym typeface="+mn-ea"/>
            </a:endParaRPr>
          </a:p>
        </p:txBody>
      </p:sp>
      <p:sp>
        <p:nvSpPr>
          <p:cNvPr id="4" name="Holder 4"/>
          <p:cNvSpPr>
            <a:spLocks noGrp="1"/>
          </p:cNvSpPr>
          <p:nvPr>
            <p:ph type="ftr" sz="quarter" idx="5"/>
          </p:nvPr>
        </p:nvSpPr>
        <p:spPr>
          <a:xfrm>
            <a:off x="694740" y="9790480"/>
            <a:ext cx="3313345" cy="203199"/>
          </a:xfrm>
          <a:prstGeom prst="rect">
            <a:avLst/>
          </a:prstGeom>
        </p:spPr>
        <p:txBody>
          <a:bodyPr wrap="square" lIns="0" tIns="0" rIns="0" bIns="0">
            <a:noAutofit/>
          </a:bodyPr>
          <a:lstStyle/>
          <a:p>
            <a:pPr marL="12700">
              <a:lnSpc>
                <a:spcPct val="100000"/>
              </a:lnSpc>
            </a:pPr>
            <a:r>
              <a:rPr sz="1200" dirty="0" smtClean="0">
                <a:solidFill>
                  <a:srgbClr val="FFFFFF"/>
                </a:solidFill>
                <a:latin typeface="Calibri" panose="020F0502020204030204"/>
                <a:cs typeface="Calibri" panose="020F0502020204030204"/>
              </a:rPr>
              <a:t>©</a:t>
            </a:r>
            <a:r>
              <a:rPr sz="1200" spc="-5" dirty="0" smtClean="0">
                <a:solidFill>
                  <a:srgbClr val="FFFFFF"/>
                </a:solidFill>
                <a:latin typeface="Calibri" panose="020F0502020204030204"/>
                <a:cs typeface="Calibri" panose="020F0502020204030204"/>
              </a:rPr>
              <a:t> </a:t>
            </a:r>
            <a:r>
              <a:rPr sz="1200" spc="-10" dirty="0" smtClean="0">
                <a:solidFill>
                  <a:srgbClr val="FFFFFF"/>
                </a:solidFill>
                <a:latin typeface="Calibri" panose="020F0502020204030204"/>
                <a:cs typeface="Calibri" panose="020F0502020204030204"/>
              </a:rPr>
              <a:t>2</a:t>
            </a:r>
            <a:r>
              <a:rPr sz="1200" spc="-5" dirty="0" smtClean="0">
                <a:solidFill>
                  <a:srgbClr val="FFFFFF"/>
                </a:solidFill>
                <a:latin typeface="Calibri" panose="020F0502020204030204"/>
                <a:cs typeface="Calibri" panose="020F0502020204030204"/>
              </a:rPr>
              <a:t>0</a:t>
            </a:r>
            <a:r>
              <a:rPr sz="1200" spc="-10" dirty="0" smtClean="0">
                <a:solidFill>
                  <a:srgbClr val="FFFFFF"/>
                </a:solidFill>
                <a:latin typeface="Calibri" panose="020F0502020204030204"/>
                <a:cs typeface="Calibri" panose="020F0502020204030204"/>
              </a:rPr>
              <a:t>15 </a:t>
            </a:r>
            <a:r>
              <a:rPr sz="1200" spc="1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Ci</a:t>
            </a:r>
            <a:r>
              <a:rPr sz="1200" spc="-5" dirty="0" smtClean="0">
                <a:solidFill>
                  <a:srgbClr val="FFFFFF"/>
                </a:solidFill>
                <a:latin typeface="Calibri" panose="020F0502020204030204"/>
                <a:cs typeface="Calibri" panose="020F0502020204030204"/>
              </a:rPr>
              <a:t>s</a:t>
            </a:r>
            <a:r>
              <a:rPr sz="1200" spc="-2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a:t>
            </a:r>
            <a:r>
              <a:rPr sz="1200" spc="5"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d</a:t>
            </a:r>
            <a:r>
              <a:rPr sz="1200" spc="-20" dirty="0" smtClean="0">
                <a:solidFill>
                  <a:srgbClr val="FFFFFF"/>
                </a:solidFill>
                <a:latin typeface="Calibri" panose="020F0502020204030204"/>
                <a:cs typeface="Calibri" panose="020F0502020204030204"/>
              </a:rPr>
              <a:t>/</a:t>
            </a:r>
            <a:r>
              <a:rPr sz="1200" spc="0" dirty="0" smtClean="0">
                <a:solidFill>
                  <a:srgbClr val="FFFFFF"/>
                </a:solidFill>
                <a:latin typeface="Calibri" panose="020F0502020204030204"/>
                <a:cs typeface="Calibri" panose="020F0502020204030204"/>
              </a:rPr>
              <a:t>o</a:t>
            </a:r>
            <a:r>
              <a:rPr sz="1200" spc="-5" dirty="0" smtClean="0">
                <a:solidFill>
                  <a:srgbClr val="FFFFFF"/>
                </a:solidFill>
                <a:latin typeface="Calibri" panose="020F0502020204030204"/>
                <a:cs typeface="Calibri" panose="020F0502020204030204"/>
              </a:rPr>
              <a:t>r</a:t>
            </a:r>
            <a:r>
              <a:rPr sz="1200" spc="-3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i</a:t>
            </a:r>
            <a:r>
              <a:rPr sz="1200" spc="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s </a:t>
            </a:r>
            <a:r>
              <a:rPr sz="1200" spc="-15" dirty="0" smtClean="0">
                <a:solidFill>
                  <a:srgbClr val="FFFFFF"/>
                </a:solidFill>
                <a:latin typeface="Calibri" panose="020F0502020204030204"/>
                <a:cs typeface="Calibri" panose="020F0502020204030204"/>
              </a:rPr>
              <a:t>a</a:t>
            </a:r>
            <a:r>
              <a:rPr sz="1200" spc="-10" dirty="0" smtClean="0">
                <a:solidFill>
                  <a:srgbClr val="FFFFFF"/>
                </a:solidFill>
                <a:latin typeface="Calibri" panose="020F0502020204030204"/>
                <a:cs typeface="Calibri" panose="020F0502020204030204"/>
              </a:rPr>
              <a:t>f</a:t>
            </a:r>
            <a:r>
              <a:rPr sz="1200" spc="0" dirty="0" smtClean="0">
                <a:solidFill>
                  <a:srgbClr val="FFFFFF"/>
                </a:solidFill>
                <a:latin typeface="Calibri" panose="020F0502020204030204"/>
                <a:cs typeface="Calibri" panose="020F0502020204030204"/>
              </a:rPr>
              <a:t>fili</a:t>
            </a:r>
            <a:r>
              <a:rPr sz="1200" spc="-10" dirty="0" smtClean="0">
                <a:solidFill>
                  <a:srgbClr val="FFFFFF"/>
                </a:solidFill>
                <a:latin typeface="Calibri" panose="020F0502020204030204"/>
                <a:cs typeface="Calibri" panose="020F0502020204030204"/>
              </a:rPr>
              <a:t>a</a:t>
            </a:r>
            <a:r>
              <a:rPr sz="1200" spc="-1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es.</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All</a:t>
            </a:r>
            <a:r>
              <a:rPr sz="1200" spc="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rig</a:t>
            </a:r>
            <a:r>
              <a:rPr sz="1200" spc="-5" dirty="0" smtClean="0">
                <a:solidFill>
                  <a:srgbClr val="FFFFFF"/>
                </a:solidFill>
                <a:latin typeface="Calibri" panose="020F0502020204030204"/>
                <a:cs typeface="Calibri" panose="020F0502020204030204"/>
              </a:rPr>
              <a:t>hts</a:t>
            </a:r>
            <a:r>
              <a:rPr sz="1200" spc="-25" dirty="0" smtClean="0">
                <a:solidFill>
                  <a:srgbClr val="FFFFFF"/>
                </a:solidFill>
                <a:latin typeface="Calibri" panose="020F0502020204030204"/>
                <a:cs typeface="Calibri" panose="020F0502020204030204"/>
              </a:rPr>
              <a:t> </a:t>
            </a:r>
            <a:r>
              <a:rPr sz="1200" spc="-20" dirty="0" smtClean="0">
                <a:solidFill>
                  <a:srgbClr val="FFFFFF"/>
                </a:solidFill>
                <a:latin typeface="Calibri" panose="020F0502020204030204"/>
                <a:cs typeface="Calibri" panose="020F0502020204030204"/>
              </a:rPr>
              <a:t>r</a:t>
            </a:r>
            <a:r>
              <a:rPr sz="1200" spc="-10" dirty="0" smtClean="0">
                <a:solidFill>
                  <a:srgbClr val="FFFFFF"/>
                </a:solidFill>
                <a:latin typeface="Calibri" panose="020F0502020204030204"/>
                <a:cs typeface="Calibri" panose="020F0502020204030204"/>
              </a:rPr>
              <a:t>ese</a:t>
            </a:r>
            <a:r>
              <a:rPr sz="1200" spc="5" dirty="0" smtClean="0">
                <a:solidFill>
                  <a:srgbClr val="FFFFFF"/>
                </a:solidFill>
                <a:latin typeface="Calibri" panose="020F0502020204030204"/>
                <a:cs typeface="Calibri" panose="020F0502020204030204"/>
              </a:rPr>
              <a:t>r</a:t>
            </a:r>
            <a:r>
              <a:rPr sz="1200" spc="-25" dirty="0" smtClean="0">
                <a:solidFill>
                  <a:srgbClr val="FFFFFF"/>
                </a:solidFill>
                <a:latin typeface="Calibri" panose="020F0502020204030204"/>
                <a:cs typeface="Calibri" panose="020F0502020204030204"/>
              </a:rPr>
              <a:t>v</a:t>
            </a:r>
            <a:r>
              <a:rPr sz="1200" spc="-10" dirty="0" smtClean="0">
                <a:solidFill>
                  <a:srgbClr val="FFFFFF"/>
                </a:solidFill>
                <a:latin typeface="Calibri" panose="020F0502020204030204"/>
                <a:cs typeface="Calibri" panose="020F0502020204030204"/>
              </a:rPr>
              <a:t>e</a:t>
            </a:r>
            <a:r>
              <a:rPr sz="1200" spc="-5" dirty="0" smtClean="0">
                <a:solidFill>
                  <a:srgbClr val="FFFFFF"/>
                </a:solidFill>
                <a:latin typeface="Calibri" panose="020F0502020204030204"/>
                <a:cs typeface="Calibri" panose="020F0502020204030204"/>
              </a:rPr>
              <a:t>d</a:t>
            </a:r>
            <a:r>
              <a:rPr sz="1200" spc="0" dirty="0" smtClean="0">
                <a:solidFill>
                  <a:srgbClr val="FFFFFF"/>
                </a:solidFill>
                <a:latin typeface="Calibri" panose="020F0502020204030204"/>
                <a:cs typeface="Calibri" panose="020F0502020204030204"/>
              </a:rPr>
              <a:t>.</a:t>
            </a:r>
            <a:endParaRPr sz="1200">
              <a:latin typeface="Calibri" panose="020F0502020204030204"/>
              <a:cs typeface="Calibri" panose="020F0502020204030204"/>
            </a:endParaRPr>
          </a:p>
        </p:txBody>
      </p:sp>
      <p:sp>
        <p:nvSpPr>
          <p:cNvPr id="5" name="Holder 5"/>
          <p:cNvSpPr>
            <a:spLocks noGrp="1"/>
          </p:cNvSpPr>
          <p:nvPr>
            <p:ph type="dt" sz="half" idx="6"/>
          </p:nvPr>
        </p:nvSpPr>
        <p:spPr>
          <a:xfrm>
            <a:off x="15906750" y="9788042"/>
            <a:ext cx="1134187" cy="203276"/>
          </a:xfrm>
          <a:prstGeom prst="rect">
            <a:avLst/>
          </a:prstGeom>
        </p:spPr>
        <p:txBody>
          <a:bodyPr wrap="square" lIns="0" tIns="0" rIns="0" bIns="0">
            <a:noAutofit/>
          </a:bodyPr>
          <a:lstStyle/>
          <a:p>
            <a:pPr marL="12700">
              <a:lnSpc>
                <a:spcPct val="100000"/>
              </a:lnSpc>
            </a:pP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is</a:t>
            </a:r>
            <a:r>
              <a:rPr sz="1200" spc="-20"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10"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fide</a:t>
            </a:r>
            <a:r>
              <a:rPr sz="1200" spc="-10" dirty="0" smtClean="0">
                <a:solidFill>
                  <a:srgbClr val="FFFFFF"/>
                </a:solidFill>
                <a:latin typeface="Calibri" panose="020F0502020204030204"/>
                <a:cs typeface="Calibri" panose="020F0502020204030204"/>
              </a:rPr>
              <a:t>nt</a:t>
            </a:r>
            <a:r>
              <a:rPr sz="1200" spc="0" dirty="0" smtClean="0">
                <a:solidFill>
                  <a:srgbClr val="FFFFFF"/>
                </a:solidFill>
                <a:latin typeface="Calibri" panose="020F0502020204030204"/>
                <a:cs typeface="Calibri" panose="020F0502020204030204"/>
              </a:rPr>
              <a:t>ial</a:t>
            </a:r>
            <a:endParaRPr sz="1200">
              <a:latin typeface="Calibri" panose="020F0502020204030204"/>
              <a:cs typeface="Calibri" panose="020F0502020204030204"/>
            </a:endParaRPr>
          </a:p>
        </p:txBody>
      </p:sp>
      <p:sp>
        <p:nvSpPr>
          <p:cNvPr id="6" name="Holder 6"/>
          <p:cNvSpPr>
            <a:spLocks noGrp="1"/>
          </p:cNvSpPr>
          <p:nvPr>
            <p:ph type="sldNum" sz="quarter" idx="7"/>
          </p:nvPr>
        </p:nvSpPr>
        <p:spPr>
          <a:xfrm>
            <a:off x="17536540" y="9781640"/>
            <a:ext cx="128066" cy="203199"/>
          </a:xfrm>
          <a:prstGeom prst="rect">
            <a:avLst/>
          </a:prstGeom>
        </p:spPr>
        <p:txBody>
          <a:bodyPr wrap="square" lIns="0" tIns="0" rIns="0" bIns="0">
            <a:noAutofit/>
          </a:bodyPr>
          <a:lstStyle/>
          <a:p>
            <a:pPr marL="25400">
              <a:lnSpc>
                <a:spcPct val="100000"/>
              </a:lnSpc>
            </a:pPr>
            <a:fld id="{81D60167-4931-47E6-BA6A-407CBD079E47}" type="slidenum">
              <a:rPr sz="1200" spc="-10" dirty="0" smtClean="0">
                <a:solidFill>
                  <a:srgbClr val="FFFFFF"/>
                </a:solidFill>
                <a:latin typeface="Calibri" panose="020F0502020204030204"/>
                <a:cs typeface="Calibri" panose="020F0502020204030204"/>
              </a:rPr>
            </a:fld>
            <a:endParaRPr sz="1200">
              <a:latin typeface="Calibri" panose="020F0502020204030204"/>
              <a:cs typeface="Calibri" panose="020F050202020403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35" name="组合 4"/>
          <p:cNvGrpSpPr/>
          <p:nvPr/>
        </p:nvGrpSpPr>
        <p:grpSpPr bwMode="auto">
          <a:xfrm>
            <a:off x="-13335" y="62511"/>
            <a:ext cx="6324600" cy="10315414"/>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grpSp>
      <p:sp>
        <p:nvSpPr>
          <p:cNvPr id="2" name="object 3"/>
          <p:cNvSpPr txBox="1"/>
          <p:nvPr/>
        </p:nvSpPr>
        <p:spPr>
          <a:xfrm>
            <a:off x="304800" y="3357245"/>
            <a:ext cx="5736590" cy="96964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Học phần: Công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Nghệ </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Đa Phương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Tiện</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
        <p:nvSpPr>
          <p:cNvPr id="4" name="object 3"/>
          <p:cNvSpPr txBox="1"/>
          <p:nvPr/>
        </p:nvSpPr>
        <p:spPr>
          <a:xfrm>
            <a:off x="-152400" y="1416050"/>
            <a:ext cx="5955665" cy="1499235"/>
          </a:xfrm>
          <a:prstGeom prst="rect">
            <a:avLst/>
          </a:prstGeom>
        </p:spPr>
        <p:txBody>
          <a:bodyPr vert="horz" wrap="square" lIns="0" tIns="0" rIns="0" bIns="0" rtlCol="0">
            <a:noAutofit/>
          </a:bodyPr>
          <a:p>
            <a:pPr algn="ctr">
              <a:lnSpc>
                <a:spcPct val="110000"/>
              </a:lnSpc>
            </a:pPr>
            <a:r>
              <a:rPr lang="vi-VN" altLang="zh-CN" sz="10000" b="1" dirty="0" smtClean="0">
                <a:solidFill>
                  <a:schemeClr val="bg1"/>
                </a:solidFill>
                <a:latin typeface="Microsoft YaHei" panose="020B0503020204020204" pitchFamily="34" charset="-122"/>
                <a:ea typeface="Microsoft YaHei" panose="020B0503020204020204" pitchFamily="34" charset="-122"/>
                <a:cs typeface="Arial" panose="020B0604020202020204"/>
              </a:rPr>
              <a:t>Nhóm 6</a:t>
            </a:r>
            <a:endParaRPr lang="vi-VN" altLang="zh-CN" sz="10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
        <p:nvSpPr>
          <p:cNvPr id="12" name="object 3"/>
          <p:cNvSpPr txBox="1"/>
          <p:nvPr/>
        </p:nvSpPr>
        <p:spPr>
          <a:xfrm>
            <a:off x="8534400" y="2025650"/>
            <a:ext cx="7707630" cy="1499235"/>
          </a:xfrm>
          <a:prstGeom prst="rect">
            <a:avLst/>
          </a:prstGeom>
        </p:spPr>
        <p:txBody>
          <a:bodyPr vert="horz" wrap="square" lIns="0" tIns="0" rIns="0" bIns="0" rtlCol="0">
            <a:noAutofit/>
          </a:bodyPr>
          <a:p>
            <a:pPr algn="ctr">
              <a:lnSpc>
                <a:spcPct val="110000"/>
              </a:lnSpc>
            </a:pPr>
            <a:r>
              <a:rPr lang="vi-VN" altLang="zh-CN" sz="6600" b="1" dirty="0" smtClean="0">
                <a:solidFill>
                  <a:schemeClr val="bg1"/>
                </a:solidFill>
                <a:latin typeface="Microsoft YaHei" panose="020B0503020204020204" pitchFamily="34" charset="-122"/>
                <a:ea typeface="Microsoft YaHei" panose="020B0503020204020204" pitchFamily="34" charset="-122"/>
                <a:cs typeface="Arial" panose="020B0604020202020204"/>
              </a:rPr>
              <a:t>Các Thành Viên</a:t>
            </a:r>
            <a:endParaRPr lang="vi-VN" altLang="zh-CN" sz="66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graphicFrame>
        <p:nvGraphicFramePr>
          <p:cNvPr id="3" name="Table 2"/>
          <p:cNvGraphicFramePr/>
          <p:nvPr/>
        </p:nvGraphicFramePr>
        <p:xfrm>
          <a:off x="7391400" y="3473450"/>
          <a:ext cx="9747250" cy="2251710"/>
        </p:xfrm>
        <a:graphic>
          <a:graphicData uri="http://schemas.openxmlformats.org/drawingml/2006/table">
            <a:tbl>
              <a:tblPr firstRow="1" bandRow="1">
                <a:tableStyleId>{5C22544A-7EE6-4342-B048-85BDC9FD1C3A}</a:tableStyleId>
              </a:tblPr>
              <a:tblGrid>
                <a:gridCol w="4873625"/>
                <a:gridCol w="4873625"/>
              </a:tblGrid>
              <a:tr h="375285">
                <a:tc>
                  <a:txBody>
                    <a:bodyPr/>
                    <a:p>
                      <a:pPr algn="ctr">
                        <a:lnSpc>
                          <a:spcPct val="200000"/>
                        </a:lnSpc>
                        <a:buNone/>
                      </a:pPr>
                      <a:r>
                        <a:rPr lang="vi-VN" altLang="en-US" sz="3200">
                          <a:latin typeface="Microsoft YaHei" panose="020B0503020204020204" pitchFamily="34" charset="-122"/>
                          <a:ea typeface="Microsoft YaHei" panose="020B0503020204020204" pitchFamily="34" charset="-122"/>
                        </a:rPr>
                        <a:t>Họ và Tên </a:t>
                      </a:r>
                      <a:endParaRPr lang="vi-VN" altLang="en-US" sz="3200">
                        <a:latin typeface="Microsoft YaHei" panose="020B0503020204020204" pitchFamily="34" charset="-122"/>
                        <a:ea typeface="Microsoft YaHei" panose="020B0503020204020204" pitchFamily="34" charset="-122"/>
                      </a:endParaRPr>
                    </a:p>
                  </a:txBody>
                  <a:tcPr anchor="ctr" anchorCtr="0">
                    <a:solidFill>
                      <a:srgbClr val="F13737"/>
                    </a:solidFill>
                  </a:tcPr>
                </a:tc>
                <a:tc>
                  <a:txBody>
                    <a:bodyPr/>
                    <a:p>
                      <a:pPr algn="ctr">
                        <a:lnSpc>
                          <a:spcPct val="200000"/>
                        </a:lnSpc>
                        <a:buNone/>
                      </a:pPr>
                      <a:r>
                        <a:rPr lang="vi-VN" altLang="en-US" sz="3200">
                          <a:latin typeface="Microsoft YaHei" panose="020B0503020204020204" pitchFamily="34" charset="-122"/>
                          <a:ea typeface="Microsoft YaHei" panose="020B0503020204020204" pitchFamily="34" charset="-122"/>
                        </a:rPr>
                        <a:t>Mã Sinh Viên</a:t>
                      </a:r>
                      <a:endParaRPr lang="vi-VN" altLang="en-US" sz="3200">
                        <a:latin typeface="Microsoft YaHei" panose="020B0503020204020204" pitchFamily="34" charset="-122"/>
                        <a:ea typeface="Microsoft YaHei" panose="020B0503020204020204" pitchFamily="34" charset="-122"/>
                      </a:endParaRPr>
                    </a:p>
                  </a:txBody>
                  <a:tcPr anchor="ctr" anchorCtr="0">
                    <a:solidFill>
                      <a:srgbClr val="F13737"/>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Nguyễn Trí Dũng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20223155</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Hoàng Ngọc Thành</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20223011</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Hoàng Văn Nguyên</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20223153</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Trần Thị Hải </a:t>
                      </a:r>
                      <a:r>
                        <a:rPr lang="vi-VN" altLang="en-US" sz="3200">
                          <a:solidFill>
                            <a:schemeClr val="bg1"/>
                          </a:solidFill>
                          <a:latin typeface="Microsoft YaHei" panose="020B0503020204020204" pitchFamily="34" charset="-122"/>
                          <a:ea typeface="Microsoft YaHei" panose="020B0503020204020204" pitchFamily="34" charset="-122"/>
                        </a:rPr>
                        <a:t>Yến</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a:t>
                      </a:r>
                      <a:r>
                        <a:rPr lang="vi-VN" altLang="en-US" sz="3200">
                          <a:solidFill>
                            <a:schemeClr val="bg1"/>
                          </a:solidFill>
                          <a:latin typeface="Microsoft YaHei" panose="020B0503020204020204" pitchFamily="34" charset="-122"/>
                          <a:ea typeface="Microsoft YaHei" panose="020B0503020204020204" pitchFamily="34" charset="-122"/>
                        </a:rPr>
                        <a:t>2897</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Trương Hồng </a:t>
                      </a:r>
                      <a:r>
                        <a:rPr lang="vi-VN" altLang="en-US" sz="3200">
                          <a:solidFill>
                            <a:schemeClr val="bg1"/>
                          </a:solidFill>
                          <a:latin typeface="Microsoft YaHei" panose="020B0503020204020204" pitchFamily="34" charset="-122"/>
                          <a:ea typeface="Microsoft YaHei" panose="020B0503020204020204" pitchFamily="34" charset="-122"/>
                        </a:rPr>
                        <a:t>Nhuần</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a:t>
                      </a:r>
                      <a:r>
                        <a:rPr lang="vi-VN" altLang="en-US" sz="3200">
                          <a:solidFill>
                            <a:schemeClr val="bg1"/>
                          </a:solidFill>
                          <a:latin typeface="Microsoft YaHei" panose="020B0503020204020204" pitchFamily="34" charset="-122"/>
                          <a:ea typeface="Microsoft YaHei" panose="020B0503020204020204" pitchFamily="34" charset="-122"/>
                        </a:rPr>
                        <a:t>2540</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bl>
          </a:graphicData>
        </a:graphic>
      </p:graphicFrame>
      <p:sp>
        <p:nvSpPr>
          <p:cNvPr id="5" name="object 3"/>
          <p:cNvSpPr txBox="1"/>
          <p:nvPr/>
        </p:nvSpPr>
        <p:spPr>
          <a:xfrm>
            <a:off x="304800" y="8426450"/>
            <a:ext cx="5736590" cy="150812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Đại Học Công </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Nghệ Đông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Á</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
        <p:nvSpPr>
          <p:cNvPr id="6" name="object 3"/>
          <p:cNvSpPr txBox="1"/>
          <p:nvPr/>
        </p:nvSpPr>
        <p:spPr>
          <a:xfrm>
            <a:off x="304800" y="4768850"/>
            <a:ext cx="7588250" cy="96964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Lớp: DCCNTT 13.10.</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16</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矩形 49"/>
          <p:cNvSpPr/>
          <p:nvPr/>
        </p:nvSpPr>
        <p:spPr>
          <a:xfrm rot="20302543">
            <a:off x="827426" y="-349975"/>
            <a:ext cx="2203302" cy="11480200"/>
          </a:xfrm>
          <a:custGeom>
            <a:avLst/>
            <a:gdLst>
              <a:gd name="connsiteX0" fmla="*/ 332486 w 734032"/>
              <a:gd name="connsiteY0" fmla="*/ 0 h 6875212"/>
              <a:gd name="connsiteX1" fmla="*/ 734032 w 734032"/>
              <a:gd name="connsiteY1" fmla="*/ 6875212 h 6875212"/>
              <a:gd name="connsiteX2" fmla="*/ 0 w 734032"/>
              <a:gd name="connsiteY2" fmla="*/ 6584228 h 6875212"/>
              <a:gd name="connsiteX3" fmla="*/ 0 w 734032"/>
              <a:gd name="connsiteY3" fmla="*/ 1753991 h 6875212"/>
              <a:gd name="connsiteX4" fmla="*/ 332486 w 734032"/>
              <a:gd name="connsiteY4" fmla="*/ 0 h 6875212"/>
              <a:gd name="connsiteX0-1" fmla="*/ 495735 w 897281"/>
              <a:gd name="connsiteY0-2" fmla="*/ 0 h 6875212"/>
              <a:gd name="connsiteX1-3" fmla="*/ 897281 w 897281"/>
              <a:gd name="connsiteY1-4" fmla="*/ 6875212 h 6875212"/>
              <a:gd name="connsiteX2-5" fmla="*/ 163249 w 897281"/>
              <a:gd name="connsiteY2-6" fmla="*/ 6584228 h 6875212"/>
              <a:gd name="connsiteX3-7" fmla="*/ 0 w 897281"/>
              <a:gd name="connsiteY3-8" fmla="*/ 1766656 h 6875212"/>
              <a:gd name="connsiteX4-9" fmla="*/ 495735 w 897281"/>
              <a:gd name="connsiteY4-10" fmla="*/ 0 h 6875212"/>
              <a:gd name="connsiteX0-11" fmla="*/ 530734 w 932280"/>
              <a:gd name="connsiteY0-12" fmla="*/ 0 h 6875212"/>
              <a:gd name="connsiteX1-13" fmla="*/ 932280 w 932280"/>
              <a:gd name="connsiteY1-14" fmla="*/ 6875212 h 6875212"/>
              <a:gd name="connsiteX2-15" fmla="*/ 198248 w 932280"/>
              <a:gd name="connsiteY2-16" fmla="*/ 6584228 h 6875212"/>
              <a:gd name="connsiteX3-17" fmla="*/ 0 w 932280"/>
              <a:gd name="connsiteY3-18" fmla="*/ 1706770 h 6875212"/>
              <a:gd name="connsiteX4-19" fmla="*/ 530734 w 932280"/>
              <a:gd name="connsiteY4-20" fmla="*/ 0 h 6875212"/>
              <a:gd name="connsiteX0-21" fmla="*/ 530734 w 932280"/>
              <a:gd name="connsiteY0-22" fmla="*/ 0 h 6875212"/>
              <a:gd name="connsiteX1-23" fmla="*/ 932280 w 932280"/>
              <a:gd name="connsiteY1-24" fmla="*/ 6875212 h 6875212"/>
              <a:gd name="connsiteX2-25" fmla="*/ 198248 w 932280"/>
              <a:gd name="connsiteY2-26" fmla="*/ 6584228 h 6875212"/>
              <a:gd name="connsiteX3-27" fmla="*/ 0 w 932280"/>
              <a:gd name="connsiteY3-28" fmla="*/ 1706770 h 6875212"/>
              <a:gd name="connsiteX4-29" fmla="*/ 530734 w 932280"/>
              <a:gd name="connsiteY4-30" fmla="*/ 0 h 6875212"/>
              <a:gd name="connsiteX0-31" fmla="*/ 530734 w 932280"/>
              <a:gd name="connsiteY0-32" fmla="*/ 0 h 6875212"/>
              <a:gd name="connsiteX1-33" fmla="*/ 932280 w 932280"/>
              <a:gd name="connsiteY1-34" fmla="*/ 6875212 h 6875212"/>
              <a:gd name="connsiteX2-35" fmla="*/ 201889 w 932280"/>
              <a:gd name="connsiteY2-36" fmla="*/ 6572208 h 6875212"/>
              <a:gd name="connsiteX3-37" fmla="*/ 0 w 932280"/>
              <a:gd name="connsiteY3-38" fmla="*/ 1706770 h 6875212"/>
              <a:gd name="connsiteX4-39" fmla="*/ 530734 w 932280"/>
              <a:gd name="connsiteY4-40" fmla="*/ 0 h 6875212"/>
              <a:gd name="connsiteX0-41" fmla="*/ 530734 w 932280"/>
              <a:gd name="connsiteY0-42" fmla="*/ 0 h 6875212"/>
              <a:gd name="connsiteX1-43" fmla="*/ 932280 w 932280"/>
              <a:gd name="connsiteY1-44" fmla="*/ 6875212 h 6875212"/>
              <a:gd name="connsiteX2-45" fmla="*/ 207268 w 932280"/>
              <a:gd name="connsiteY2-46" fmla="*/ 6519362 h 6875212"/>
              <a:gd name="connsiteX3-47" fmla="*/ 0 w 932280"/>
              <a:gd name="connsiteY3-48" fmla="*/ 1706770 h 6875212"/>
              <a:gd name="connsiteX4-49" fmla="*/ 530734 w 932280"/>
              <a:gd name="connsiteY4-50" fmla="*/ 0 h 6875212"/>
              <a:gd name="connsiteX0-51" fmla="*/ 730885 w 932280"/>
              <a:gd name="connsiteY0-52" fmla="*/ 0 h 6799186"/>
              <a:gd name="connsiteX1-53" fmla="*/ 932280 w 932280"/>
              <a:gd name="connsiteY1-54" fmla="*/ 6799186 h 6799186"/>
              <a:gd name="connsiteX2-55" fmla="*/ 207268 w 932280"/>
              <a:gd name="connsiteY2-56" fmla="*/ 6443336 h 6799186"/>
              <a:gd name="connsiteX3-57" fmla="*/ 0 w 932280"/>
              <a:gd name="connsiteY3-58" fmla="*/ 1630744 h 6799186"/>
              <a:gd name="connsiteX4-59" fmla="*/ 730885 w 932280"/>
              <a:gd name="connsiteY4-60" fmla="*/ 0 h 6799186"/>
              <a:gd name="connsiteX0-61" fmla="*/ 749183 w 950578"/>
              <a:gd name="connsiteY0-62" fmla="*/ 0 h 6799186"/>
              <a:gd name="connsiteX1-63" fmla="*/ 950578 w 950578"/>
              <a:gd name="connsiteY1-64" fmla="*/ 6799186 h 6799186"/>
              <a:gd name="connsiteX2-65" fmla="*/ 225566 w 950578"/>
              <a:gd name="connsiteY2-66" fmla="*/ 6443336 h 6799186"/>
              <a:gd name="connsiteX3-67" fmla="*/ 0 w 950578"/>
              <a:gd name="connsiteY3-68" fmla="*/ 2427988 h 6799186"/>
              <a:gd name="connsiteX4-69" fmla="*/ 749183 w 950578"/>
              <a:gd name="connsiteY4-70" fmla="*/ 0 h 6799186"/>
              <a:gd name="connsiteX0-71" fmla="*/ 749183 w 950578"/>
              <a:gd name="connsiteY0-72" fmla="*/ 0 h 6799186"/>
              <a:gd name="connsiteX1-73" fmla="*/ 950578 w 950578"/>
              <a:gd name="connsiteY1-74" fmla="*/ 6799186 h 6799186"/>
              <a:gd name="connsiteX2-75" fmla="*/ 225566 w 950578"/>
              <a:gd name="connsiteY2-76" fmla="*/ 6443336 h 6799186"/>
              <a:gd name="connsiteX3-77" fmla="*/ 0 w 950578"/>
              <a:gd name="connsiteY3-78" fmla="*/ 2427988 h 6799186"/>
              <a:gd name="connsiteX4-79" fmla="*/ 749183 w 950578"/>
              <a:gd name="connsiteY4-80" fmla="*/ 0 h 6799186"/>
              <a:gd name="connsiteX0-81" fmla="*/ 822892 w 1024287"/>
              <a:gd name="connsiteY0-82" fmla="*/ 0 h 6799186"/>
              <a:gd name="connsiteX1-83" fmla="*/ 1024287 w 1024287"/>
              <a:gd name="connsiteY1-84" fmla="*/ 6799186 h 6799186"/>
              <a:gd name="connsiteX2-85" fmla="*/ 0 w 1024287"/>
              <a:gd name="connsiteY2-86" fmla="*/ 6343700 h 6799186"/>
              <a:gd name="connsiteX3-87" fmla="*/ 73709 w 1024287"/>
              <a:gd name="connsiteY3-88" fmla="*/ 2427988 h 6799186"/>
              <a:gd name="connsiteX4-89" fmla="*/ 822892 w 1024287"/>
              <a:gd name="connsiteY4-90" fmla="*/ 0 h 6799186"/>
              <a:gd name="connsiteX0-91" fmla="*/ 822892 w 1018908"/>
              <a:gd name="connsiteY0-92" fmla="*/ 0 h 6852033"/>
              <a:gd name="connsiteX1-93" fmla="*/ 1018908 w 1018908"/>
              <a:gd name="connsiteY1-94" fmla="*/ 6852033 h 6852033"/>
              <a:gd name="connsiteX2-95" fmla="*/ 0 w 1018908"/>
              <a:gd name="connsiteY2-96" fmla="*/ 6343700 h 6852033"/>
              <a:gd name="connsiteX3-97" fmla="*/ 73709 w 1018908"/>
              <a:gd name="connsiteY3-98" fmla="*/ 2427988 h 6852033"/>
              <a:gd name="connsiteX4-99" fmla="*/ 822892 w 1018908"/>
              <a:gd name="connsiteY4-100" fmla="*/ 0 h 6852033"/>
              <a:gd name="connsiteX0-101" fmla="*/ 749183 w 945199"/>
              <a:gd name="connsiteY0-102" fmla="*/ 0 h 6852033"/>
              <a:gd name="connsiteX1-103" fmla="*/ 945199 w 945199"/>
              <a:gd name="connsiteY1-104" fmla="*/ 6852033 h 6852033"/>
              <a:gd name="connsiteX2-105" fmla="*/ 89869 w 945199"/>
              <a:gd name="connsiteY2-106" fmla="*/ 6470297 h 6852033"/>
              <a:gd name="connsiteX3-107" fmla="*/ 0 w 945199"/>
              <a:gd name="connsiteY3-108" fmla="*/ 2427988 h 6852033"/>
              <a:gd name="connsiteX4-109" fmla="*/ 749183 w 945199"/>
              <a:gd name="connsiteY4-110" fmla="*/ 0 h 6852033"/>
              <a:gd name="connsiteX0-111" fmla="*/ 749183 w 945199"/>
              <a:gd name="connsiteY0-112" fmla="*/ 0 h 6852033"/>
              <a:gd name="connsiteX1-113" fmla="*/ 945199 w 945199"/>
              <a:gd name="connsiteY1-114" fmla="*/ 6852033 h 6852033"/>
              <a:gd name="connsiteX2-115" fmla="*/ 104432 w 945199"/>
              <a:gd name="connsiteY2-116" fmla="*/ 6422217 h 6852033"/>
              <a:gd name="connsiteX3-117" fmla="*/ 0 w 945199"/>
              <a:gd name="connsiteY3-118" fmla="*/ 2427988 h 6852033"/>
              <a:gd name="connsiteX4-119" fmla="*/ 749183 w 945199"/>
              <a:gd name="connsiteY4-120" fmla="*/ 0 h 6852033"/>
              <a:gd name="connsiteX0-121" fmla="*/ 756958 w 945199"/>
              <a:gd name="connsiteY0-122" fmla="*/ 0 h 6667179"/>
              <a:gd name="connsiteX1-123" fmla="*/ 945199 w 945199"/>
              <a:gd name="connsiteY1-124" fmla="*/ 6667179 h 6667179"/>
              <a:gd name="connsiteX2-125" fmla="*/ 104432 w 945199"/>
              <a:gd name="connsiteY2-126" fmla="*/ 6237363 h 6667179"/>
              <a:gd name="connsiteX3-127" fmla="*/ 0 w 945199"/>
              <a:gd name="connsiteY3-128" fmla="*/ 2243134 h 6667179"/>
              <a:gd name="connsiteX4-129" fmla="*/ 756958 w 945199"/>
              <a:gd name="connsiteY4-130" fmla="*/ 0 h 6667179"/>
              <a:gd name="connsiteX0-131" fmla="*/ 818594 w 1006835"/>
              <a:gd name="connsiteY0-132" fmla="*/ 0 h 6667179"/>
              <a:gd name="connsiteX1-133" fmla="*/ 1006835 w 1006835"/>
              <a:gd name="connsiteY1-134" fmla="*/ 6667179 h 6667179"/>
              <a:gd name="connsiteX2-135" fmla="*/ 166068 w 1006835"/>
              <a:gd name="connsiteY2-136" fmla="*/ 6237363 h 6667179"/>
              <a:gd name="connsiteX3-137" fmla="*/ 0 w 1006835"/>
              <a:gd name="connsiteY3-138" fmla="*/ 1779969 h 6667179"/>
              <a:gd name="connsiteX4-139" fmla="*/ 818594 w 1006835"/>
              <a:gd name="connsiteY4-140" fmla="*/ 0 h 6667179"/>
              <a:gd name="connsiteX0-141" fmla="*/ 818594 w 1019989"/>
              <a:gd name="connsiteY0-142" fmla="*/ 0 h 6799187"/>
              <a:gd name="connsiteX1-143" fmla="*/ 1019989 w 1019989"/>
              <a:gd name="connsiteY1-144" fmla="*/ 6799187 h 6799187"/>
              <a:gd name="connsiteX2-145" fmla="*/ 166068 w 1019989"/>
              <a:gd name="connsiteY2-146" fmla="*/ 6237363 h 6799187"/>
              <a:gd name="connsiteX3-147" fmla="*/ 0 w 1019989"/>
              <a:gd name="connsiteY3-148" fmla="*/ 1779969 h 6799187"/>
              <a:gd name="connsiteX4-149" fmla="*/ 818594 w 1019989"/>
              <a:gd name="connsiteY4-150" fmla="*/ 0 h 6799187"/>
              <a:gd name="connsiteX0-151" fmla="*/ 818594 w 1019989"/>
              <a:gd name="connsiteY0-152" fmla="*/ 0 h 6799187"/>
              <a:gd name="connsiteX1-153" fmla="*/ 1019989 w 1019989"/>
              <a:gd name="connsiteY1-154" fmla="*/ 6799187 h 6799187"/>
              <a:gd name="connsiteX2-155" fmla="*/ 173679 w 1019989"/>
              <a:gd name="connsiteY2-156" fmla="*/ 6352585 h 6799187"/>
              <a:gd name="connsiteX3-157" fmla="*/ 0 w 1019989"/>
              <a:gd name="connsiteY3-158" fmla="*/ 1779969 h 6799187"/>
              <a:gd name="connsiteX4-159" fmla="*/ 818594 w 1019989"/>
              <a:gd name="connsiteY4-160" fmla="*/ 0 h 6799187"/>
              <a:gd name="connsiteX0-161" fmla="*/ 818594 w 1019989"/>
              <a:gd name="connsiteY0-162" fmla="*/ 283392 h 7082579"/>
              <a:gd name="connsiteX1-163" fmla="*/ 1019989 w 1019989"/>
              <a:gd name="connsiteY1-164" fmla="*/ 7082579 h 7082579"/>
              <a:gd name="connsiteX2-165" fmla="*/ 173679 w 1019989"/>
              <a:gd name="connsiteY2-166" fmla="*/ 6635977 h 7082579"/>
              <a:gd name="connsiteX3-167" fmla="*/ 0 w 1019989"/>
              <a:gd name="connsiteY3-168" fmla="*/ 2063361 h 7082579"/>
              <a:gd name="connsiteX4-169" fmla="*/ 442807 w 1019989"/>
              <a:gd name="connsiteY4-170" fmla="*/ 1360784 h 7082579"/>
              <a:gd name="connsiteX5" fmla="*/ 818594 w 1019989"/>
              <a:gd name="connsiteY5" fmla="*/ 283392 h 7082579"/>
              <a:gd name="connsiteX0-171" fmla="*/ 818594 w 1019989"/>
              <a:gd name="connsiteY0-172" fmla="*/ 512235 h 7311422"/>
              <a:gd name="connsiteX1-173" fmla="*/ 1019989 w 1019989"/>
              <a:gd name="connsiteY1-174" fmla="*/ 7311422 h 7311422"/>
              <a:gd name="connsiteX2-175" fmla="*/ 173679 w 1019989"/>
              <a:gd name="connsiteY2-176" fmla="*/ 6864820 h 7311422"/>
              <a:gd name="connsiteX3-177" fmla="*/ 0 w 1019989"/>
              <a:gd name="connsiteY3-178" fmla="*/ 2292204 h 7311422"/>
              <a:gd name="connsiteX4-179" fmla="*/ 590599 w 1019989"/>
              <a:gd name="connsiteY4-180" fmla="*/ 470111 h 7311422"/>
              <a:gd name="connsiteX5-181" fmla="*/ 818594 w 1019989"/>
              <a:gd name="connsiteY5-182" fmla="*/ 512235 h 7311422"/>
              <a:gd name="connsiteX0-183" fmla="*/ 818594 w 1019989"/>
              <a:gd name="connsiteY0-184" fmla="*/ 533276 h 7332463"/>
              <a:gd name="connsiteX1-185" fmla="*/ 1019989 w 1019989"/>
              <a:gd name="connsiteY1-186" fmla="*/ 7332463 h 7332463"/>
              <a:gd name="connsiteX2-187" fmla="*/ 173679 w 1019989"/>
              <a:gd name="connsiteY2-188" fmla="*/ 6885861 h 7332463"/>
              <a:gd name="connsiteX3-189" fmla="*/ 0 w 1019989"/>
              <a:gd name="connsiteY3-190" fmla="*/ 2313245 h 7332463"/>
              <a:gd name="connsiteX4-191" fmla="*/ 586794 w 1019989"/>
              <a:gd name="connsiteY4-192" fmla="*/ 433541 h 7332463"/>
              <a:gd name="connsiteX5-193" fmla="*/ 818594 w 1019989"/>
              <a:gd name="connsiteY5-194" fmla="*/ 533276 h 7332463"/>
              <a:gd name="connsiteX0-195" fmla="*/ 818594 w 1019989"/>
              <a:gd name="connsiteY0-196" fmla="*/ 405725 h 7204912"/>
              <a:gd name="connsiteX1-197" fmla="*/ 1019989 w 1019989"/>
              <a:gd name="connsiteY1-198" fmla="*/ 7204912 h 7204912"/>
              <a:gd name="connsiteX2-199" fmla="*/ 173679 w 1019989"/>
              <a:gd name="connsiteY2-200" fmla="*/ 6758310 h 7204912"/>
              <a:gd name="connsiteX3-201" fmla="*/ 0 w 1019989"/>
              <a:gd name="connsiteY3-202" fmla="*/ 2185694 h 7204912"/>
              <a:gd name="connsiteX4-203" fmla="*/ 586794 w 1019989"/>
              <a:gd name="connsiteY4-204" fmla="*/ 305990 h 7204912"/>
              <a:gd name="connsiteX5-205" fmla="*/ 818594 w 1019989"/>
              <a:gd name="connsiteY5-206" fmla="*/ 405725 h 7204912"/>
              <a:gd name="connsiteX0-207" fmla="*/ 818594 w 1019989"/>
              <a:gd name="connsiteY0-208" fmla="*/ 405725 h 7204912"/>
              <a:gd name="connsiteX1-209" fmla="*/ 1019989 w 1019989"/>
              <a:gd name="connsiteY1-210" fmla="*/ 7204912 h 7204912"/>
              <a:gd name="connsiteX2-211" fmla="*/ 173679 w 1019989"/>
              <a:gd name="connsiteY2-212" fmla="*/ 6758310 h 7204912"/>
              <a:gd name="connsiteX3-213" fmla="*/ 0 w 1019989"/>
              <a:gd name="connsiteY3-214" fmla="*/ 2185694 h 7204912"/>
              <a:gd name="connsiteX4-215" fmla="*/ 586794 w 1019989"/>
              <a:gd name="connsiteY4-216" fmla="*/ 305990 h 7204912"/>
              <a:gd name="connsiteX5-217" fmla="*/ 818594 w 1019989"/>
              <a:gd name="connsiteY5-218" fmla="*/ 405725 h 7204912"/>
              <a:gd name="connsiteX0-219" fmla="*/ 818594 w 1019989"/>
              <a:gd name="connsiteY0-220" fmla="*/ 99735 h 6898922"/>
              <a:gd name="connsiteX1-221" fmla="*/ 1019989 w 1019989"/>
              <a:gd name="connsiteY1-222" fmla="*/ 6898922 h 6898922"/>
              <a:gd name="connsiteX2-223" fmla="*/ 173679 w 1019989"/>
              <a:gd name="connsiteY2-224" fmla="*/ 6452320 h 6898922"/>
              <a:gd name="connsiteX3-225" fmla="*/ 0 w 1019989"/>
              <a:gd name="connsiteY3-226" fmla="*/ 1879704 h 6898922"/>
              <a:gd name="connsiteX4-227" fmla="*/ 586794 w 1019989"/>
              <a:gd name="connsiteY4-228" fmla="*/ 0 h 6898922"/>
              <a:gd name="connsiteX5-229" fmla="*/ 818594 w 1019989"/>
              <a:gd name="connsiteY5-230" fmla="*/ 99735 h 6898922"/>
              <a:gd name="connsiteX0-231" fmla="*/ 818594 w 1019989"/>
              <a:gd name="connsiteY0-232" fmla="*/ 99735 h 6898922"/>
              <a:gd name="connsiteX1-233" fmla="*/ 1019989 w 1019989"/>
              <a:gd name="connsiteY1-234" fmla="*/ 6898922 h 6898922"/>
              <a:gd name="connsiteX2-235" fmla="*/ 173679 w 1019989"/>
              <a:gd name="connsiteY2-236" fmla="*/ 6452320 h 6898922"/>
              <a:gd name="connsiteX3-237" fmla="*/ 0 w 1019989"/>
              <a:gd name="connsiteY3-238" fmla="*/ 1879704 h 6898922"/>
              <a:gd name="connsiteX4-239" fmla="*/ 586794 w 1019989"/>
              <a:gd name="connsiteY4-240" fmla="*/ 0 h 6898922"/>
              <a:gd name="connsiteX5-241" fmla="*/ 818594 w 1019989"/>
              <a:gd name="connsiteY5-242" fmla="*/ 99735 h 6898922"/>
              <a:gd name="connsiteX0-243" fmla="*/ 818594 w 1019989"/>
              <a:gd name="connsiteY0-244" fmla="*/ 99735 h 6898922"/>
              <a:gd name="connsiteX1-245" fmla="*/ 1019989 w 1019989"/>
              <a:gd name="connsiteY1-246" fmla="*/ 6898922 h 6898922"/>
              <a:gd name="connsiteX2-247" fmla="*/ 173679 w 1019989"/>
              <a:gd name="connsiteY2-248" fmla="*/ 6452320 h 6898922"/>
              <a:gd name="connsiteX3-249" fmla="*/ 0 w 1019989"/>
              <a:gd name="connsiteY3-250" fmla="*/ 1879704 h 6898922"/>
              <a:gd name="connsiteX4-251" fmla="*/ 586794 w 1019989"/>
              <a:gd name="connsiteY4-252" fmla="*/ 0 h 6898922"/>
              <a:gd name="connsiteX5-253" fmla="*/ 818594 w 1019989"/>
              <a:gd name="connsiteY5-254" fmla="*/ 99735 h 6898922"/>
              <a:gd name="connsiteX0-255" fmla="*/ 814788 w 1016183"/>
              <a:gd name="connsiteY0-256" fmla="*/ 99735 h 6898922"/>
              <a:gd name="connsiteX1-257" fmla="*/ 1016183 w 1016183"/>
              <a:gd name="connsiteY1-258" fmla="*/ 6898922 h 6898922"/>
              <a:gd name="connsiteX2-259" fmla="*/ 169873 w 1016183"/>
              <a:gd name="connsiteY2-260" fmla="*/ 6452320 h 6898922"/>
              <a:gd name="connsiteX3-261" fmla="*/ 0 w 1016183"/>
              <a:gd name="connsiteY3-262" fmla="*/ 1937315 h 6898922"/>
              <a:gd name="connsiteX4-263" fmla="*/ 582988 w 1016183"/>
              <a:gd name="connsiteY4-264" fmla="*/ 0 h 6898922"/>
              <a:gd name="connsiteX5-265" fmla="*/ 814788 w 1016183"/>
              <a:gd name="connsiteY5-266" fmla="*/ 99735 h 6898922"/>
              <a:gd name="connsiteX0-267" fmla="*/ 814788 w 1016183"/>
              <a:gd name="connsiteY0-268" fmla="*/ 99735 h 6898922"/>
              <a:gd name="connsiteX1-269" fmla="*/ 1016183 w 1016183"/>
              <a:gd name="connsiteY1-270" fmla="*/ 6898922 h 6898922"/>
              <a:gd name="connsiteX2-271" fmla="*/ 169873 w 1016183"/>
              <a:gd name="connsiteY2-272" fmla="*/ 6452320 h 6898922"/>
              <a:gd name="connsiteX3-273" fmla="*/ 0 w 1016183"/>
              <a:gd name="connsiteY3-274" fmla="*/ 1937315 h 6898922"/>
              <a:gd name="connsiteX4-275" fmla="*/ 582988 w 1016183"/>
              <a:gd name="connsiteY4-276" fmla="*/ 0 h 6898922"/>
              <a:gd name="connsiteX5-277" fmla="*/ 814788 w 1016183"/>
              <a:gd name="connsiteY5-278" fmla="*/ 99735 h 6898922"/>
              <a:gd name="connsiteX0-279" fmla="*/ 814788 w 1016183"/>
              <a:gd name="connsiteY0-280" fmla="*/ 114246 h 6913433"/>
              <a:gd name="connsiteX1-281" fmla="*/ 1016183 w 1016183"/>
              <a:gd name="connsiteY1-282" fmla="*/ 6913433 h 6913433"/>
              <a:gd name="connsiteX2-283" fmla="*/ 169873 w 1016183"/>
              <a:gd name="connsiteY2-284" fmla="*/ 6466831 h 6913433"/>
              <a:gd name="connsiteX3-285" fmla="*/ 0 w 1016183"/>
              <a:gd name="connsiteY3-286" fmla="*/ 1951826 h 6913433"/>
              <a:gd name="connsiteX4-287" fmla="*/ 608638 w 1016183"/>
              <a:gd name="connsiteY4-288" fmla="*/ 0 h 6913433"/>
              <a:gd name="connsiteX5-289" fmla="*/ 814788 w 1016183"/>
              <a:gd name="connsiteY5-290" fmla="*/ 114246 h 6913433"/>
              <a:gd name="connsiteX0-291" fmla="*/ 800061 w 1001456"/>
              <a:gd name="connsiteY0-292" fmla="*/ 114246 h 6913433"/>
              <a:gd name="connsiteX1-293" fmla="*/ 1001456 w 1001456"/>
              <a:gd name="connsiteY1-294" fmla="*/ 6913433 h 6913433"/>
              <a:gd name="connsiteX2-295" fmla="*/ 155146 w 1001456"/>
              <a:gd name="connsiteY2-296" fmla="*/ 6466831 h 6913433"/>
              <a:gd name="connsiteX3-297" fmla="*/ 0 w 1001456"/>
              <a:gd name="connsiteY3-298" fmla="*/ 1973376 h 6913433"/>
              <a:gd name="connsiteX4-299" fmla="*/ 593911 w 1001456"/>
              <a:gd name="connsiteY4-300" fmla="*/ 0 h 6913433"/>
              <a:gd name="connsiteX5-301" fmla="*/ 800061 w 1001456"/>
              <a:gd name="connsiteY5-302" fmla="*/ 114246 h 6913433"/>
              <a:gd name="connsiteX0-303" fmla="*/ 800061 w 1001456"/>
              <a:gd name="connsiteY0-304" fmla="*/ 114246 h 6913433"/>
              <a:gd name="connsiteX1-305" fmla="*/ 1001456 w 1001456"/>
              <a:gd name="connsiteY1-306" fmla="*/ 6913433 h 6913433"/>
              <a:gd name="connsiteX2-307" fmla="*/ 155146 w 1001456"/>
              <a:gd name="connsiteY2-308" fmla="*/ 6466831 h 6913433"/>
              <a:gd name="connsiteX3-309" fmla="*/ 0 w 1001456"/>
              <a:gd name="connsiteY3-310" fmla="*/ 1973376 h 6913433"/>
              <a:gd name="connsiteX4-311" fmla="*/ 593911 w 1001456"/>
              <a:gd name="connsiteY4-312" fmla="*/ 0 h 6913433"/>
              <a:gd name="connsiteX5-313" fmla="*/ 800061 w 1001456"/>
              <a:gd name="connsiteY5-314" fmla="*/ 114246 h 6913433"/>
              <a:gd name="connsiteX0-315" fmla="*/ 800061 w 1001456"/>
              <a:gd name="connsiteY0-316" fmla="*/ 114246 h 6913433"/>
              <a:gd name="connsiteX1-317" fmla="*/ 1001456 w 1001456"/>
              <a:gd name="connsiteY1-318" fmla="*/ 6913433 h 6913433"/>
              <a:gd name="connsiteX2-319" fmla="*/ 155146 w 1001456"/>
              <a:gd name="connsiteY2-320" fmla="*/ 6466831 h 6913433"/>
              <a:gd name="connsiteX3-321" fmla="*/ 0 w 1001456"/>
              <a:gd name="connsiteY3-322" fmla="*/ 1973376 h 6913433"/>
              <a:gd name="connsiteX4-323" fmla="*/ 593911 w 1001456"/>
              <a:gd name="connsiteY4-324" fmla="*/ 0 h 6913433"/>
              <a:gd name="connsiteX5-325" fmla="*/ 800061 w 1001456"/>
              <a:gd name="connsiteY5-326" fmla="*/ 114246 h 6913433"/>
              <a:gd name="connsiteX0-327" fmla="*/ 800061 w 1023630"/>
              <a:gd name="connsiteY0-328" fmla="*/ 114246 h 6980574"/>
              <a:gd name="connsiteX1-329" fmla="*/ 1023630 w 1023630"/>
              <a:gd name="connsiteY1-330" fmla="*/ 6980574 h 6980574"/>
              <a:gd name="connsiteX2-331" fmla="*/ 155146 w 1023630"/>
              <a:gd name="connsiteY2-332" fmla="*/ 6466831 h 6980574"/>
              <a:gd name="connsiteX3-333" fmla="*/ 0 w 1023630"/>
              <a:gd name="connsiteY3-334" fmla="*/ 1973376 h 6980574"/>
              <a:gd name="connsiteX4-335" fmla="*/ 593911 w 1023630"/>
              <a:gd name="connsiteY4-336" fmla="*/ 0 h 6980574"/>
              <a:gd name="connsiteX5-337" fmla="*/ 800061 w 1023630"/>
              <a:gd name="connsiteY5-338" fmla="*/ 114246 h 6980574"/>
              <a:gd name="connsiteX0-339" fmla="*/ 800061 w 1023630"/>
              <a:gd name="connsiteY0-340" fmla="*/ 114246 h 6980574"/>
              <a:gd name="connsiteX1-341" fmla="*/ 1023630 w 1023630"/>
              <a:gd name="connsiteY1-342" fmla="*/ 6980574 h 6980574"/>
              <a:gd name="connsiteX2-343" fmla="*/ 157049 w 1023630"/>
              <a:gd name="connsiteY2-344" fmla="*/ 6495636 h 6980574"/>
              <a:gd name="connsiteX3-345" fmla="*/ 0 w 1023630"/>
              <a:gd name="connsiteY3-346" fmla="*/ 1973376 h 6980574"/>
              <a:gd name="connsiteX4-347" fmla="*/ 593911 w 1023630"/>
              <a:gd name="connsiteY4-348" fmla="*/ 0 h 6980574"/>
              <a:gd name="connsiteX5-349" fmla="*/ 800061 w 1023630"/>
              <a:gd name="connsiteY5-350" fmla="*/ 114246 h 6980574"/>
              <a:gd name="connsiteX0-351" fmla="*/ 800061 w 1023630"/>
              <a:gd name="connsiteY0-352" fmla="*/ 114246 h 6980574"/>
              <a:gd name="connsiteX1-353" fmla="*/ 1023630 w 1023630"/>
              <a:gd name="connsiteY1-354" fmla="*/ 6980574 h 6980574"/>
              <a:gd name="connsiteX2-355" fmla="*/ 158952 w 1023630"/>
              <a:gd name="connsiteY2-356" fmla="*/ 6524441 h 6980574"/>
              <a:gd name="connsiteX3-357" fmla="*/ 0 w 1023630"/>
              <a:gd name="connsiteY3-358" fmla="*/ 1973376 h 6980574"/>
              <a:gd name="connsiteX4-359" fmla="*/ 593911 w 1023630"/>
              <a:gd name="connsiteY4-360" fmla="*/ 0 h 6980574"/>
              <a:gd name="connsiteX5-361" fmla="*/ 800061 w 1023630"/>
              <a:gd name="connsiteY5-362" fmla="*/ 114246 h 69805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81" y="connsiteY5-182"/>
              </a:cxn>
            </a:cxnLst>
            <a:rect l="l" t="t" r="r" b="b"/>
            <a:pathLst>
              <a:path w="1023630" h="6980574">
                <a:moveTo>
                  <a:pt x="800061" y="114246"/>
                </a:moveTo>
                <a:lnTo>
                  <a:pt x="1023630" y="6980574"/>
                </a:lnTo>
                <a:lnTo>
                  <a:pt x="158952" y="6524441"/>
                </a:lnTo>
                <a:lnTo>
                  <a:pt x="0" y="1973376"/>
                </a:lnTo>
                <a:cubicBezTo>
                  <a:pt x="618432" y="42570"/>
                  <a:pt x="-17069" y="2109020"/>
                  <a:pt x="593911" y="0"/>
                </a:cubicBezTo>
                <a:cubicBezTo>
                  <a:pt x="909471" y="199645"/>
                  <a:pt x="456125" y="-91638"/>
                  <a:pt x="800061" y="114246"/>
                </a:cubicBezTo>
                <a:close/>
              </a:path>
            </a:pathLst>
          </a:custGeom>
          <a:solidFill>
            <a:schemeClr val="tx1">
              <a:lumMod val="75000"/>
              <a:lumOff val="25000"/>
              <a:alpha val="80000"/>
            </a:scheme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5187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7" name="组合 156"/>
          <p:cNvGrpSpPr/>
          <p:nvPr/>
        </p:nvGrpSpPr>
        <p:grpSpPr>
          <a:xfrm>
            <a:off x="515386" y="-190602"/>
            <a:ext cx="2034484" cy="11268802"/>
            <a:chOff x="4915947" y="1638831"/>
            <a:chExt cx="2034484" cy="11268802"/>
          </a:xfrm>
        </p:grpSpPr>
        <p:sp>
          <p:nvSpPr>
            <p:cNvPr id="139" name="矩形 49"/>
            <p:cNvSpPr/>
            <p:nvPr/>
          </p:nvSpPr>
          <p:spPr>
            <a:xfrm rot="20302543">
              <a:off x="4915947" y="1638831"/>
              <a:ext cx="2034484" cy="11268802"/>
            </a:xfrm>
            <a:custGeom>
              <a:avLst/>
              <a:gdLst>
                <a:gd name="connsiteX0" fmla="*/ 332486 w 734032"/>
                <a:gd name="connsiteY0" fmla="*/ 0 h 6875212"/>
                <a:gd name="connsiteX1" fmla="*/ 734032 w 734032"/>
                <a:gd name="connsiteY1" fmla="*/ 6875212 h 6875212"/>
                <a:gd name="connsiteX2" fmla="*/ 0 w 734032"/>
                <a:gd name="connsiteY2" fmla="*/ 6584228 h 6875212"/>
                <a:gd name="connsiteX3" fmla="*/ 0 w 734032"/>
                <a:gd name="connsiteY3" fmla="*/ 1753991 h 6875212"/>
                <a:gd name="connsiteX4" fmla="*/ 332486 w 734032"/>
                <a:gd name="connsiteY4" fmla="*/ 0 h 6875212"/>
                <a:gd name="connsiteX0-1" fmla="*/ 495735 w 897281"/>
                <a:gd name="connsiteY0-2" fmla="*/ 0 h 6875212"/>
                <a:gd name="connsiteX1-3" fmla="*/ 897281 w 897281"/>
                <a:gd name="connsiteY1-4" fmla="*/ 6875212 h 6875212"/>
                <a:gd name="connsiteX2-5" fmla="*/ 163249 w 897281"/>
                <a:gd name="connsiteY2-6" fmla="*/ 6584228 h 6875212"/>
                <a:gd name="connsiteX3-7" fmla="*/ 0 w 897281"/>
                <a:gd name="connsiteY3-8" fmla="*/ 1766656 h 6875212"/>
                <a:gd name="connsiteX4-9" fmla="*/ 495735 w 897281"/>
                <a:gd name="connsiteY4-10" fmla="*/ 0 h 6875212"/>
                <a:gd name="connsiteX0-11" fmla="*/ 530734 w 932280"/>
                <a:gd name="connsiteY0-12" fmla="*/ 0 h 6875212"/>
                <a:gd name="connsiteX1-13" fmla="*/ 932280 w 932280"/>
                <a:gd name="connsiteY1-14" fmla="*/ 6875212 h 6875212"/>
                <a:gd name="connsiteX2-15" fmla="*/ 198248 w 932280"/>
                <a:gd name="connsiteY2-16" fmla="*/ 6584228 h 6875212"/>
                <a:gd name="connsiteX3-17" fmla="*/ 0 w 932280"/>
                <a:gd name="connsiteY3-18" fmla="*/ 1706770 h 6875212"/>
                <a:gd name="connsiteX4-19" fmla="*/ 530734 w 932280"/>
                <a:gd name="connsiteY4-20" fmla="*/ 0 h 6875212"/>
                <a:gd name="connsiteX0-21" fmla="*/ 530734 w 932280"/>
                <a:gd name="connsiteY0-22" fmla="*/ 0 h 6875212"/>
                <a:gd name="connsiteX1-23" fmla="*/ 932280 w 932280"/>
                <a:gd name="connsiteY1-24" fmla="*/ 6875212 h 6875212"/>
                <a:gd name="connsiteX2-25" fmla="*/ 198248 w 932280"/>
                <a:gd name="connsiteY2-26" fmla="*/ 6584228 h 6875212"/>
                <a:gd name="connsiteX3-27" fmla="*/ 0 w 932280"/>
                <a:gd name="connsiteY3-28" fmla="*/ 1706770 h 6875212"/>
                <a:gd name="connsiteX4-29" fmla="*/ 530734 w 932280"/>
                <a:gd name="connsiteY4-30" fmla="*/ 0 h 6875212"/>
                <a:gd name="connsiteX0-31" fmla="*/ 530734 w 932280"/>
                <a:gd name="connsiteY0-32" fmla="*/ 0 h 6875212"/>
                <a:gd name="connsiteX1-33" fmla="*/ 932280 w 932280"/>
                <a:gd name="connsiteY1-34" fmla="*/ 6875212 h 6875212"/>
                <a:gd name="connsiteX2-35" fmla="*/ 201889 w 932280"/>
                <a:gd name="connsiteY2-36" fmla="*/ 6572208 h 6875212"/>
                <a:gd name="connsiteX3-37" fmla="*/ 0 w 932280"/>
                <a:gd name="connsiteY3-38" fmla="*/ 1706770 h 6875212"/>
                <a:gd name="connsiteX4-39" fmla="*/ 530734 w 932280"/>
                <a:gd name="connsiteY4-40" fmla="*/ 0 h 6875212"/>
                <a:gd name="connsiteX0-41" fmla="*/ 530734 w 932280"/>
                <a:gd name="connsiteY0-42" fmla="*/ 0 h 6875212"/>
                <a:gd name="connsiteX1-43" fmla="*/ 932280 w 932280"/>
                <a:gd name="connsiteY1-44" fmla="*/ 6875212 h 6875212"/>
                <a:gd name="connsiteX2-45" fmla="*/ 207268 w 932280"/>
                <a:gd name="connsiteY2-46" fmla="*/ 6519362 h 6875212"/>
                <a:gd name="connsiteX3-47" fmla="*/ 0 w 932280"/>
                <a:gd name="connsiteY3-48" fmla="*/ 1706770 h 6875212"/>
                <a:gd name="connsiteX4-49" fmla="*/ 530734 w 932280"/>
                <a:gd name="connsiteY4-50" fmla="*/ 0 h 6875212"/>
                <a:gd name="connsiteX0-51" fmla="*/ 730885 w 932280"/>
                <a:gd name="connsiteY0-52" fmla="*/ 0 h 6799186"/>
                <a:gd name="connsiteX1-53" fmla="*/ 932280 w 932280"/>
                <a:gd name="connsiteY1-54" fmla="*/ 6799186 h 6799186"/>
                <a:gd name="connsiteX2-55" fmla="*/ 207268 w 932280"/>
                <a:gd name="connsiteY2-56" fmla="*/ 6443336 h 6799186"/>
                <a:gd name="connsiteX3-57" fmla="*/ 0 w 932280"/>
                <a:gd name="connsiteY3-58" fmla="*/ 1630744 h 6799186"/>
                <a:gd name="connsiteX4-59" fmla="*/ 730885 w 932280"/>
                <a:gd name="connsiteY4-60" fmla="*/ 0 h 6799186"/>
                <a:gd name="connsiteX0-61" fmla="*/ 749183 w 950578"/>
                <a:gd name="connsiteY0-62" fmla="*/ 0 h 6799186"/>
                <a:gd name="connsiteX1-63" fmla="*/ 950578 w 950578"/>
                <a:gd name="connsiteY1-64" fmla="*/ 6799186 h 6799186"/>
                <a:gd name="connsiteX2-65" fmla="*/ 225566 w 950578"/>
                <a:gd name="connsiteY2-66" fmla="*/ 6443336 h 6799186"/>
                <a:gd name="connsiteX3-67" fmla="*/ 0 w 950578"/>
                <a:gd name="connsiteY3-68" fmla="*/ 2427988 h 6799186"/>
                <a:gd name="connsiteX4-69" fmla="*/ 749183 w 950578"/>
                <a:gd name="connsiteY4-70" fmla="*/ 0 h 6799186"/>
                <a:gd name="connsiteX0-71" fmla="*/ 749183 w 950578"/>
                <a:gd name="connsiteY0-72" fmla="*/ 0 h 6799186"/>
                <a:gd name="connsiteX1-73" fmla="*/ 950578 w 950578"/>
                <a:gd name="connsiteY1-74" fmla="*/ 6799186 h 6799186"/>
                <a:gd name="connsiteX2-75" fmla="*/ 225566 w 950578"/>
                <a:gd name="connsiteY2-76" fmla="*/ 6443336 h 6799186"/>
                <a:gd name="connsiteX3-77" fmla="*/ 0 w 950578"/>
                <a:gd name="connsiteY3-78" fmla="*/ 2427988 h 6799186"/>
                <a:gd name="connsiteX4-79" fmla="*/ 749183 w 950578"/>
                <a:gd name="connsiteY4-80" fmla="*/ 0 h 6799186"/>
                <a:gd name="connsiteX0-81" fmla="*/ 822892 w 1024287"/>
                <a:gd name="connsiteY0-82" fmla="*/ 0 h 6799186"/>
                <a:gd name="connsiteX1-83" fmla="*/ 1024287 w 1024287"/>
                <a:gd name="connsiteY1-84" fmla="*/ 6799186 h 6799186"/>
                <a:gd name="connsiteX2-85" fmla="*/ 0 w 1024287"/>
                <a:gd name="connsiteY2-86" fmla="*/ 6343700 h 6799186"/>
                <a:gd name="connsiteX3-87" fmla="*/ 73709 w 1024287"/>
                <a:gd name="connsiteY3-88" fmla="*/ 2427988 h 6799186"/>
                <a:gd name="connsiteX4-89" fmla="*/ 822892 w 1024287"/>
                <a:gd name="connsiteY4-90" fmla="*/ 0 h 6799186"/>
                <a:gd name="connsiteX0-91" fmla="*/ 822892 w 1018908"/>
                <a:gd name="connsiteY0-92" fmla="*/ 0 h 6852033"/>
                <a:gd name="connsiteX1-93" fmla="*/ 1018908 w 1018908"/>
                <a:gd name="connsiteY1-94" fmla="*/ 6852033 h 6852033"/>
                <a:gd name="connsiteX2-95" fmla="*/ 0 w 1018908"/>
                <a:gd name="connsiteY2-96" fmla="*/ 6343700 h 6852033"/>
                <a:gd name="connsiteX3-97" fmla="*/ 73709 w 1018908"/>
                <a:gd name="connsiteY3-98" fmla="*/ 2427988 h 6852033"/>
                <a:gd name="connsiteX4-99" fmla="*/ 822892 w 1018908"/>
                <a:gd name="connsiteY4-100" fmla="*/ 0 h 6852033"/>
                <a:gd name="connsiteX0-101" fmla="*/ 749183 w 945199"/>
                <a:gd name="connsiteY0-102" fmla="*/ 0 h 6852033"/>
                <a:gd name="connsiteX1-103" fmla="*/ 945199 w 945199"/>
                <a:gd name="connsiteY1-104" fmla="*/ 6852033 h 6852033"/>
                <a:gd name="connsiteX2-105" fmla="*/ 89869 w 945199"/>
                <a:gd name="connsiteY2-106" fmla="*/ 6470297 h 6852033"/>
                <a:gd name="connsiteX3-107" fmla="*/ 0 w 945199"/>
                <a:gd name="connsiteY3-108" fmla="*/ 2427988 h 6852033"/>
                <a:gd name="connsiteX4-109" fmla="*/ 749183 w 945199"/>
                <a:gd name="connsiteY4-110" fmla="*/ 0 h 6852033"/>
                <a:gd name="connsiteX0-111" fmla="*/ 749183 w 945199"/>
                <a:gd name="connsiteY0-112" fmla="*/ 0 h 6852033"/>
                <a:gd name="connsiteX1-113" fmla="*/ 945199 w 945199"/>
                <a:gd name="connsiteY1-114" fmla="*/ 6852033 h 6852033"/>
                <a:gd name="connsiteX2-115" fmla="*/ 104432 w 945199"/>
                <a:gd name="connsiteY2-116" fmla="*/ 6422217 h 6852033"/>
                <a:gd name="connsiteX3-117" fmla="*/ 0 w 945199"/>
                <a:gd name="connsiteY3-118" fmla="*/ 2427988 h 6852033"/>
                <a:gd name="connsiteX4-119" fmla="*/ 749183 w 945199"/>
                <a:gd name="connsiteY4-120" fmla="*/ 0 h 685203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45199" h="6852033">
                  <a:moveTo>
                    <a:pt x="749183" y="0"/>
                  </a:moveTo>
                  <a:lnTo>
                    <a:pt x="945199" y="6852033"/>
                  </a:lnTo>
                  <a:lnTo>
                    <a:pt x="104432" y="6422217"/>
                  </a:lnTo>
                  <a:lnTo>
                    <a:pt x="0" y="2427988"/>
                  </a:lnTo>
                  <a:cubicBezTo>
                    <a:pt x="526428" y="705116"/>
                    <a:pt x="-4876" y="2439324"/>
                    <a:pt x="749183" y="0"/>
                  </a:cubicBezTo>
                  <a:close/>
                </a:path>
              </a:pathLst>
            </a:custGeom>
            <a:solidFill>
              <a:srgbClr val="F02424">
                <a:alpha val="80000"/>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140" name="TextBox 76"/>
            <p:cNvSpPr txBox="1"/>
            <p:nvPr/>
          </p:nvSpPr>
          <p:spPr>
            <a:xfrm rot="3922695">
              <a:off x="3133543" y="6980527"/>
              <a:ext cx="5688632" cy="1050925"/>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lvl="0" algn="ctr" fontAlgn="auto">
                <a:lnSpc>
                  <a:spcPct val="130000"/>
                </a:lnSpc>
                <a:spcBef>
                  <a:spcPts val="0"/>
                </a:spcBef>
                <a:spcAft>
                  <a:spcPts val="0"/>
                </a:spcAft>
                <a:defRPr/>
              </a:pPr>
              <a:r>
                <a:rPr kumimoji="0" lang="zh-C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  </a:t>
              </a:r>
              <a:r>
                <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Nội </a:t>
              </a:r>
              <a:r>
                <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Dung</a:t>
              </a:r>
              <a:endPar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endParaRPr>
            </a:p>
          </p:txBody>
        </p:sp>
      </p:grpSp>
      <p:grpSp>
        <p:nvGrpSpPr>
          <p:cNvPr id="3" name="组合 148"/>
          <p:cNvGrpSpPr/>
          <p:nvPr/>
        </p:nvGrpSpPr>
        <p:grpSpPr>
          <a:xfrm>
            <a:off x="2815824" y="1435224"/>
            <a:ext cx="1930979" cy="1682292"/>
            <a:chOff x="5741091" y="1656534"/>
            <a:chExt cx="1930979" cy="1682292"/>
          </a:xfrm>
        </p:grpSpPr>
        <p:grpSp>
          <p:nvGrpSpPr>
            <p:cNvPr id="4" name="组合 110"/>
            <p:cNvGrpSpPr/>
            <p:nvPr/>
          </p:nvGrpSpPr>
          <p:grpSpPr>
            <a:xfrm rot="20248206">
              <a:off x="6143375" y="1925916"/>
              <a:ext cx="961633" cy="1412910"/>
              <a:chOff x="1403648" y="1052736"/>
              <a:chExt cx="1803331" cy="2808312"/>
            </a:xfrm>
          </p:grpSpPr>
          <p:sp>
            <p:nvSpPr>
              <p:cNvPr id="5" name="圆角矩形 146"/>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6" name="圆角矩形 147"/>
              <p:cNvSpPr/>
              <p:nvPr/>
            </p:nvSpPr>
            <p:spPr>
              <a:xfrm>
                <a:off x="1480545" y="1111681"/>
                <a:ext cx="1656184" cy="2691298"/>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7" name="TextBox 42"/>
            <p:cNvSpPr txBox="1"/>
            <p:nvPr/>
          </p:nvSpPr>
          <p:spPr>
            <a:xfrm rot="20248206">
              <a:off x="6054542" y="165653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1</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8" name="圆角矩形 9"/>
            <p:cNvSpPr/>
            <p:nvPr/>
          </p:nvSpPr>
          <p:spPr>
            <a:xfrm rot="20248206">
              <a:off x="6283959" y="263365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5741091" y="2730048"/>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 name="组合 150"/>
          <p:cNvGrpSpPr/>
          <p:nvPr/>
        </p:nvGrpSpPr>
        <p:grpSpPr>
          <a:xfrm>
            <a:off x="3643683" y="3400217"/>
            <a:ext cx="1930979" cy="1661464"/>
            <a:chOff x="6338096" y="3131124"/>
            <a:chExt cx="1930979" cy="1661464"/>
          </a:xfrm>
        </p:grpSpPr>
        <p:grpSp>
          <p:nvGrpSpPr>
            <p:cNvPr id="15" name="组合 149"/>
            <p:cNvGrpSpPr/>
            <p:nvPr/>
          </p:nvGrpSpPr>
          <p:grpSpPr>
            <a:xfrm>
              <a:off x="6651547" y="3131124"/>
              <a:ext cx="1191050" cy="1661464"/>
              <a:chOff x="6651547" y="3131124"/>
              <a:chExt cx="1191050" cy="1661464"/>
            </a:xfrm>
          </p:grpSpPr>
          <p:grpSp>
            <p:nvGrpSpPr>
              <p:cNvPr id="16" name="组合 117"/>
              <p:cNvGrpSpPr/>
              <p:nvPr/>
            </p:nvGrpSpPr>
            <p:grpSpPr>
              <a:xfrm rot="20248206">
                <a:off x="6740380" y="3379678"/>
                <a:ext cx="961633" cy="1412910"/>
                <a:chOff x="1403648" y="1052736"/>
                <a:chExt cx="1803331" cy="2808312"/>
              </a:xfrm>
            </p:grpSpPr>
            <p:sp>
              <p:nvSpPr>
                <p:cNvPr id="17" name="圆角矩形 144"/>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18" name="圆角矩形 145"/>
                <p:cNvSpPr/>
                <p:nvPr/>
              </p:nvSpPr>
              <p:spPr>
                <a:xfrm>
                  <a:off x="1480545" y="1111681"/>
                  <a:ext cx="1656184" cy="2691298"/>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19" name="TextBox 51"/>
              <p:cNvSpPr txBox="1"/>
              <p:nvPr/>
            </p:nvSpPr>
            <p:spPr>
              <a:xfrm rot="20248206">
                <a:off x="6651547" y="313112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2</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20" name="圆角矩形 9"/>
              <p:cNvSpPr/>
              <p:nvPr/>
            </p:nvSpPr>
            <p:spPr>
              <a:xfrm rot="20248206">
                <a:off x="6880964" y="4087418"/>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pic>
          <p:nvPicPr>
            <p:cNvPr id="2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338096" y="4183810"/>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 name="组合 151"/>
          <p:cNvGrpSpPr/>
          <p:nvPr/>
        </p:nvGrpSpPr>
        <p:grpSpPr>
          <a:xfrm>
            <a:off x="4514799" y="5332260"/>
            <a:ext cx="1930979" cy="1682292"/>
            <a:chOff x="6965227" y="4571284"/>
            <a:chExt cx="1930979" cy="1682292"/>
          </a:xfrm>
        </p:grpSpPr>
        <p:grpSp>
          <p:nvGrpSpPr>
            <p:cNvPr id="23" name="组合 124"/>
            <p:cNvGrpSpPr/>
            <p:nvPr/>
          </p:nvGrpSpPr>
          <p:grpSpPr>
            <a:xfrm rot="20248206">
              <a:off x="7367511" y="4840666"/>
              <a:ext cx="961633" cy="1412910"/>
              <a:chOff x="1403648" y="1052736"/>
              <a:chExt cx="1803331" cy="2808312"/>
            </a:xfrm>
          </p:grpSpPr>
          <p:sp>
            <p:nvSpPr>
              <p:cNvPr id="24" name="圆角矩形 142"/>
              <p:cNvSpPr/>
              <p:nvPr/>
            </p:nvSpPr>
            <p:spPr>
              <a:xfrm>
                <a:off x="1403648" y="1052736"/>
                <a:ext cx="1803331" cy="2808312"/>
              </a:xfrm>
              <a:prstGeom prst="roundRect">
                <a:avLst>
                  <a:gd name="adj" fmla="val 12132"/>
                </a:avLst>
              </a:prstGeom>
              <a:solidFill>
                <a:srgbClr val="F02424"/>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25" name="圆角矩形 143"/>
              <p:cNvSpPr/>
              <p:nvPr/>
            </p:nvSpPr>
            <p:spPr>
              <a:xfrm>
                <a:off x="1480545" y="1111681"/>
                <a:ext cx="1656184" cy="2691298"/>
              </a:xfrm>
              <a:prstGeom prst="roundRect">
                <a:avLst>
                  <a:gd name="adj" fmla="val 12132"/>
                </a:avLst>
              </a:prstGeom>
              <a:noFill/>
              <a:ln w="25400" cap="flat" cmpd="sng" algn="ctr">
                <a:solidFill>
                  <a:schemeClr val="bg1"/>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26" name="TextBox 60"/>
            <p:cNvSpPr txBox="1"/>
            <p:nvPr/>
          </p:nvSpPr>
          <p:spPr>
            <a:xfrm rot="20248206">
              <a:off x="7278678" y="457128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3</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27" name="圆角矩形 9"/>
            <p:cNvSpPr/>
            <p:nvPr/>
          </p:nvSpPr>
          <p:spPr>
            <a:xfrm rot="20248206">
              <a:off x="7508095" y="554840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2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965227" y="5644798"/>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9" name="组合 152"/>
          <p:cNvGrpSpPr/>
          <p:nvPr/>
        </p:nvGrpSpPr>
        <p:grpSpPr>
          <a:xfrm>
            <a:off x="5384464" y="7290983"/>
            <a:ext cx="1930979" cy="1682292"/>
            <a:chOff x="7613299" y="6037998"/>
            <a:chExt cx="1930979" cy="1682292"/>
          </a:xfrm>
        </p:grpSpPr>
        <p:grpSp>
          <p:nvGrpSpPr>
            <p:cNvPr id="30" name="组合 131"/>
            <p:cNvGrpSpPr/>
            <p:nvPr/>
          </p:nvGrpSpPr>
          <p:grpSpPr>
            <a:xfrm rot="20248206">
              <a:off x="8015583" y="6307380"/>
              <a:ext cx="961633" cy="1412910"/>
              <a:chOff x="1403648" y="1052736"/>
              <a:chExt cx="1803331" cy="2808312"/>
            </a:xfrm>
          </p:grpSpPr>
          <p:sp>
            <p:nvSpPr>
              <p:cNvPr id="31" name="圆角矩形 140"/>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32" name="圆角矩形 141"/>
              <p:cNvSpPr/>
              <p:nvPr/>
            </p:nvSpPr>
            <p:spPr>
              <a:xfrm>
                <a:off x="1480546" y="1111681"/>
                <a:ext cx="1656183" cy="2691297"/>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33" name="TextBox 69"/>
            <p:cNvSpPr txBox="1"/>
            <p:nvPr/>
          </p:nvSpPr>
          <p:spPr>
            <a:xfrm rot="20248206">
              <a:off x="7926750" y="6037998"/>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4</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34" name="圆角矩形 9"/>
            <p:cNvSpPr/>
            <p:nvPr/>
          </p:nvSpPr>
          <p:spPr>
            <a:xfrm rot="20248206">
              <a:off x="8156167" y="7015120"/>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3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7613299" y="7111512"/>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8" name="object 3"/>
          <p:cNvSpPr txBox="1">
            <a:spLocks noChangeArrowheads="1"/>
          </p:cNvSpPr>
          <p:nvPr/>
        </p:nvSpPr>
        <p:spPr bwMode="auto">
          <a:xfrm>
            <a:off x="4572000" y="200533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l">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Tổng quan về đề </a:t>
            </a:r>
            <a:r>
              <a:rPr lang="vi-VN" altLang="zh-CN" sz="4000" b="1" u="heavy" dirty="0" smtClean="0">
                <a:solidFill>
                  <a:schemeClr val="bg1"/>
                </a:solidFill>
                <a:latin typeface="Microsoft YaHei" panose="020B0503020204020204" pitchFamily="34" charset="-122"/>
                <a:ea typeface="Microsoft YaHei" panose="020B0503020204020204" pitchFamily="34" charset="-122"/>
              </a:rPr>
              <a:t>tài</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49" name="object 3"/>
          <p:cNvSpPr txBox="1">
            <a:spLocks noChangeArrowheads="1"/>
          </p:cNvSpPr>
          <p:nvPr/>
        </p:nvSpPr>
        <p:spPr bwMode="auto">
          <a:xfrm>
            <a:off x="5195570" y="3953510"/>
            <a:ext cx="948436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Lí thuyết tổng quan về nén dữ </a:t>
            </a:r>
            <a:r>
              <a:rPr lang="vi-VN" altLang="zh-CN" sz="4000" b="1" u="sng" dirty="0" smtClean="0">
                <a:solidFill>
                  <a:schemeClr val="bg1"/>
                </a:solidFill>
                <a:latin typeface="Microsoft YaHei" panose="020B0503020204020204" pitchFamily="34" charset="-122"/>
                <a:ea typeface="Microsoft YaHei" panose="020B0503020204020204" pitchFamily="34" charset="-122"/>
              </a:rPr>
              <a:t>liệu</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50" name="object 3"/>
          <p:cNvSpPr txBox="1">
            <a:spLocks noChangeArrowheads="1"/>
          </p:cNvSpPr>
          <p:nvPr/>
        </p:nvSpPr>
        <p:spPr bwMode="auto">
          <a:xfrm>
            <a:off x="6553200" y="5988050"/>
            <a:ext cx="1029716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l">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Cài đặt mã hóa </a:t>
            </a:r>
            <a:r>
              <a:rPr lang="vi-VN" altLang="zh-CN" sz="4000" b="1" u="sng" dirty="0" smtClean="0">
                <a:solidFill>
                  <a:schemeClr val="bg1"/>
                </a:solidFill>
                <a:latin typeface="Microsoft YaHei" panose="020B0503020204020204" pitchFamily="34" charset="-122"/>
                <a:ea typeface="Microsoft YaHei" panose="020B0503020204020204" pitchFamily="34" charset="-122"/>
              </a:rPr>
              <a:t>Huffman</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51" name="object 3"/>
          <p:cNvSpPr txBox="1">
            <a:spLocks noChangeArrowheads="1"/>
          </p:cNvSpPr>
          <p:nvPr/>
        </p:nvSpPr>
        <p:spPr bwMode="auto">
          <a:xfrm>
            <a:off x="6248400" y="7893050"/>
            <a:ext cx="1029716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Hình ảnh minh họa mã hóa</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210806" y="21780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666920" y="1339930"/>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6324558" y="3244624"/>
            <a:ext cx="8599265"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Tổng quan về đề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tài</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30997"/>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01</a:t>
            </a:r>
            <a:endParaRPr lang="zh-HK" altLang="en-US" sz="4800" dirty="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163" name="文本框 162"/>
          <p:cNvSpPr txBox="1"/>
          <p:nvPr/>
        </p:nvSpPr>
        <p:spPr>
          <a:xfrm>
            <a:off x="338455" y="4006850"/>
            <a:ext cx="17517745" cy="2474595"/>
          </a:xfrm>
          <a:prstGeom prst="rect">
            <a:avLst/>
          </a:prstGeom>
          <a:noFill/>
        </p:spPr>
        <p:txBody>
          <a:bodyPr wrap="square" rtlCol="0">
            <a:noAutofit/>
          </a:bodyPr>
          <a:lstStyle/>
          <a:p>
            <a:pPr lvl="0" indent="457200" algn="just">
              <a:lnSpc>
                <a:spcPct val="150000"/>
              </a:lnSpc>
              <a:spcBef>
                <a:spcPts val="600"/>
              </a:spcBef>
            </a:pPr>
            <a:r>
              <a:rPr sz="2400">
                <a:solidFill>
                  <a:schemeClr val="bg1"/>
                </a:solidFill>
                <a:latin typeface="Microsoft YaHei" panose="020B0503020204020204" pitchFamily="34" charset="-122"/>
                <a:ea typeface="Microsoft YaHei" panose="020B0503020204020204" pitchFamily="34" charset="-122"/>
                <a:sym typeface="+mn-ea"/>
              </a:rPr>
              <a:t>Kỹ thuật mã hóa là quá trình chuyển đổi thông tin từ dạng thông thường sang dạng mã hóa, làm cho thông tin trở nên không đọc được nếu không có khóa giải mã. Mã hóa Huffman là một phương pháp mã hóa mà bạn có thể tìm thấy rộng rãi trong việc nén dữ liệu.</a:t>
            </a:r>
            <a:endParaRPr sz="2400">
              <a:solidFill>
                <a:schemeClr val="bg1"/>
              </a:solidFill>
              <a:latin typeface="Microsoft YaHei" panose="020B0503020204020204" pitchFamily="34" charset="-122"/>
              <a:ea typeface="Microsoft YaHei" panose="020B0503020204020204" pitchFamily="34" charset="-122"/>
              <a:sym typeface="+mn-ea"/>
            </a:endParaRPr>
          </a:p>
        </p:txBody>
      </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Giới </a:t>
            </a:r>
            <a:r>
              <a:rPr lang="vi-VN" altLang="zh-CN" sz="4000" dirty="0" smtClean="0">
                <a:solidFill>
                  <a:srgbClr val="FFFFFF"/>
                </a:solidFill>
                <a:latin typeface="Microsoft YaHei" panose="020B0503020204020204" pitchFamily="34" charset="-122"/>
                <a:ea typeface="Microsoft YaHei" panose="020B0503020204020204" pitchFamily="34" charset="-122"/>
              </a:rPr>
              <a:t>thiệu</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7559020" cy="1861185"/>
          </a:xfrm>
          <a:prstGeom prst="rect">
            <a:avLst/>
          </a:prstGeom>
          <a:noFill/>
        </p:spPr>
        <p:txBody>
          <a:bodyPr wrap="square" rtlCol="0">
            <a:noAutofit/>
          </a:bodyPr>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Một trong những khía cạnh quan trọng của công nghệ hiện nay là bảo mật thông tin. Khi mà thông tin truyền tải qua các mạng truyền thông và internet ngày càng tăng, việc bảo vệ dữ liệu trở nên càng quan trọng. Một trong những công nghệ đóng góp vào lĩnh vực này là kỹ thuật mã hóa.</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sp>
        <p:nvSpPr>
          <p:cNvPr id="10" name="文本框 162"/>
          <p:cNvSpPr txBox="1"/>
          <p:nvPr/>
        </p:nvSpPr>
        <p:spPr>
          <a:xfrm>
            <a:off x="297180" y="5988050"/>
            <a:ext cx="17517745" cy="2240915"/>
          </a:xfrm>
          <a:prstGeom prst="rect">
            <a:avLst/>
          </a:prstGeom>
          <a:noFill/>
        </p:spPr>
        <p:txBody>
          <a:bodyPr wrap="square" rtlCol="0">
            <a:noAutofit/>
          </a:bodyPr>
          <a:p>
            <a:pPr lvl="0" indent="457200" algn="just">
              <a:lnSpc>
                <a:spcPct val="150000"/>
              </a:lnSpc>
              <a:spcBef>
                <a:spcPts val="600"/>
              </a:spcBef>
            </a:pPr>
            <a:r>
              <a:rPr sz="2400">
                <a:solidFill>
                  <a:schemeClr val="bg1"/>
                </a:solidFill>
                <a:latin typeface="Microsoft YaHei" panose="020B0503020204020204" pitchFamily="34" charset="-122"/>
                <a:ea typeface="Microsoft YaHei" panose="020B0503020204020204" pitchFamily="34" charset="-122"/>
                <a:sym typeface="+mn-ea"/>
              </a:rPr>
              <a:t>Thuật toán Huffman được phát minh bởi David A. Huffman vào năm 1952 và đã trở thành một trong những phương pháp nén dữ liệu hiệu quả nhất. Ý tưởng chính của nó là sử dụng các mã độ dài khác nhau cho các ký tự khác nhau trong dữ liệu, sao cho các ký tự xuất hiện thường xuyên sẽ có mã ngắn hơn và ngược lại. Điều này giúp giảm dung lượng của dữ liệu mà không làm mất mát thông tin.</a:t>
            </a:r>
            <a:endParaRPr sz="2400">
              <a:solidFill>
                <a:schemeClr val="bg1"/>
              </a:solidFill>
              <a:latin typeface="Microsoft YaHei" panose="020B0503020204020204" pitchFamily="34" charset="-122"/>
              <a:ea typeface="Microsoft YaHei" panose="020B0503020204020204" pitchFamily="34" charset="-122"/>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163" name="文本框 162"/>
          <p:cNvSpPr txBox="1"/>
          <p:nvPr/>
        </p:nvSpPr>
        <p:spPr>
          <a:xfrm>
            <a:off x="338455" y="4006850"/>
            <a:ext cx="17517745" cy="5744845"/>
          </a:xfrm>
          <a:prstGeom prst="rect">
            <a:avLst/>
          </a:prstGeom>
          <a:noFill/>
        </p:spPr>
        <p:txBody>
          <a:bodyPr wrap="square" rtlCol="0">
            <a:noAutofit/>
          </a:bodyPr>
          <a:lstStyle/>
          <a:p>
            <a:pPr lvl="0" indent="457200" algn="just">
              <a:lnSpc>
                <a:spcPct val="150000"/>
              </a:lnSpc>
              <a:spcBef>
                <a:spcPts val="600"/>
              </a:spcBef>
            </a:pPr>
            <a:r>
              <a:rPr sz="2400">
                <a:solidFill>
                  <a:schemeClr val="bg1"/>
                </a:solidFill>
                <a:latin typeface="Microsoft YaHei" panose="020B0503020204020204" pitchFamily="34" charset="-122"/>
                <a:ea typeface="Microsoft YaHei" panose="020B0503020204020204" pitchFamily="34" charset="-122"/>
                <a:sym typeface="+mn-ea"/>
              </a:rPr>
              <a:t>Ngoài ra, việc nghiên cứu và hiểu rõ về kỹ thuật Huffman cũng mang lại cho chúng em kiến thức vững về cấu trúc dữ liệu và thuật toán,nó cũng giúp chúng em hiểu rõ hơn về nguyên lý hoạt động của các thuật toán mã hóa và nâng cao kiến thức về lĩnh vực kỹ thuật máy tính, hai lĩnh vực quan trọng trong ngành công nghiệp công nghệ thông tin. Việc áp dụng được kiến thức này không chỉ giúp chúng em phát triển kỹ năng lập trình mà còn mở ra cơ hội tham gia vào các dự án lớn và thách thức trong lĩnh vực công nghiệp.</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r>
              <a:rPr sz="2400">
                <a:solidFill>
                  <a:schemeClr val="bg1"/>
                </a:solidFill>
                <a:latin typeface="Microsoft YaHei" panose="020B0503020204020204" pitchFamily="34" charset="-122"/>
                <a:ea typeface="Microsoft YaHei" panose="020B0503020204020204" pitchFamily="34" charset="-122"/>
                <a:sym typeface="+mn-ea"/>
              </a:rPr>
              <a:t>Cuối cùng, chúng em tin rằng việc nghiên cứu và triển khai thành công kỹ thuật mã hóa Huffman sẽ giúp chúng em có cái nhìn sâu sắc hơn về cách các hệ thống thông tin hoạt động và làm thế nào chúng có</a:t>
            </a:r>
            <a:r>
              <a:rPr lang="vi-VN" sz="2400">
                <a:solidFill>
                  <a:schemeClr val="bg1"/>
                </a:solidFill>
                <a:latin typeface="Microsoft YaHei" panose="020B0503020204020204" pitchFamily="34" charset="-122"/>
                <a:ea typeface="Microsoft YaHei" panose="020B0503020204020204" pitchFamily="34" charset="-122"/>
                <a:sym typeface="+mn-ea"/>
              </a:rPr>
              <a:t> </a:t>
            </a:r>
            <a:r>
              <a:rPr sz="2400">
                <a:solidFill>
                  <a:schemeClr val="bg1"/>
                </a:solidFill>
                <a:latin typeface="Microsoft YaHei" panose="020B0503020204020204" pitchFamily="34" charset="-122"/>
                <a:ea typeface="Microsoft YaHei" panose="020B0503020204020204" pitchFamily="34" charset="-122"/>
                <a:sym typeface="+mn-ea"/>
              </a:rPr>
              <a:t>thể </a:t>
            </a:r>
            <a:r>
              <a:rPr lang="vi-VN" sz="2400">
                <a:solidFill>
                  <a:schemeClr val="bg1"/>
                </a:solidFill>
                <a:latin typeface="Microsoft YaHei" panose="020B0503020204020204" pitchFamily="34" charset="-122"/>
                <a:ea typeface="Microsoft YaHei" panose="020B0503020204020204" pitchFamily="34" charset="-122"/>
                <a:sym typeface="+mn-ea"/>
              </a:rPr>
              <a:t>                                              </a:t>
            </a:r>
            <a:r>
              <a:rPr sz="2400">
                <a:solidFill>
                  <a:schemeClr val="bg1"/>
                </a:solidFill>
                <a:latin typeface="Microsoft YaHei" panose="020B0503020204020204" pitchFamily="34" charset="-122"/>
                <a:ea typeface="Microsoft YaHei" panose="020B0503020204020204" pitchFamily="34" charset="-122"/>
                <a:sym typeface="+mn-ea"/>
              </a:rPr>
              <a:t>được tối ưu hóa để đáp ứng các yêu cầu ngày càng cao của xã hội hiện đại.</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endParaRPr sz="2400">
              <a:solidFill>
                <a:schemeClr val="bg1"/>
              </a:solidFill>
              <a:latin typeface="Microsoft YaHei" panose="020B0503020204020204" pitchFamily="34" charset="-122"/>
              <a:ea typeface="Microsoft YaHei" panose="020B0503020204020204" pitchFamily="34" charset="-122"/>
              <a:sym typeface="+mn-ea"/>
            </a:endParaRPr>
          </a:p>
        </p:txBody>
      </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Lí do chọn đề </a:t>
            </a:r>
            <a:r>
              <a:rPr lang="vi-VN" altLang="zh-CN" sz="4000" dirty="0" smtClean="0">
                <a:solidFill>
                  <a:srgbClr val="FFFFFF"/>
                </a:solidFill>
                <a:latin typeface="Microsoft YaHei" panose="020B0503020204020204" pitchFamily="34" charset="-122"/>
                <a:ea typeface="Microsoft YaHei" panose="020B0503020204020204" pitchFamily="34" charset="-122"/>
              </a:rPr>
              <a:t>tài</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7559020" cy="1861185"/>
          </a:xfrm>
          <a:prstGeom prst="rect">
            <a:avLst/>
          </a:prstGeom>
          <a:noFill/>
        </p:spPr>
        <p:txBody>
          <a:bodyPr wrap="square" rtlCol="0">
            <a:noAutofit/>
          </a:bodyPr>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Chúng em đã chọn đề tài kỹ thuật mã hóa Huffman vì nó là một lĩnh vực quan trọng và thú vị trong lĩnh vực khoa học máy tính. Kỹ thuật này không chỉ là một phần quan trọng của lĩnh vực mã hóa thông tin mà còn đề cập đến khá nhiều khái niệm toán học và thuật toán, điều mà chúng em rất quan tâm và mong muốn tìm hiểu sâu hơn.</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163" name="文本框 162"/>
          <p:cNvSpPr txBox="1"/>
          <p:nvPr/>
        </p:nvSpPr>
        <p:spPr>
          <a:xfrm>
            <a:off x="338455" y="4006850"/>
            <a:ext cx="17517745" cy="2474595"/>
          </a:xfrm>
          <a:prstGeom prst="rect">
            <a:avLst/>
          </a:prstGeom>
          <a:noFill/>
        </p:spPr>
        <p:txBody>
          <a:bodyPr wrap="square" rtlCol="0">
            <a:noAutofit/>
          </a:bodyPr>
          <a:lstStyle/>
          <a:p>
            <a:pPr lvl="0" indent="457200" algn="just">
              <a:lnSpc>
                <a:spcPct val="150000"/>
              </a:lnSpc>
              <a:spcBef>
                <a:spcPts val="600"/>
              </a:spcBef>
            </a:pPr>
            <a:r>
              <a:rPr sz="2400">
                <a:solidFill>
                  <a:schemeClr val="bg1"/>
                </a:solidFill>
                <a:latin typeface="Microsoft YaHei" panose="020B0503020204020204" pitchFamily="34" charset="-122"/>
                <a:ea typeface="Microsoft YaHei" panose="020B0503020204020204" pitchFamily="34" charset="-122"/>
                <a:sym typeface="+mn-ea"/>
              </a:rPr>
              <a:t>Khi áp dụng mã hóa Huffman, ta thu được dữ liệu đã được nén, giảm kích thước so với dữ liệu gốc. Điều này giúp tiết kiệm không gian lưu trữ và tăng tốc quá trình truyền tải dữ liệu qua mạng. Đồng thời, mã hóa Huffman cũng giúp tối ưu hóa việc lưu trữ dữ liệu trên thiết bị và ổ đĩa, đặc biệt là trong các ứng dụng yêu cầu sự hiệu quả về nguồn lực.</a:t>
            </a:r>
            <a:endParaRPr lang="vi-VN" altLang="zh-HK" sz="2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Khái niệm về mã hóa </a:t>
            </a:r>
            <a:r>
              <a:rPr lang="vi-VN" altLang="zh-CN" sz="4000" dirty="0" smtClean="0">
                <a:solidFill>
                  <a:srgbClr val="FFFFFF"/>
                </a:solidFill>
                <a:latin typeface="Microsoft YaHei" panose="020B0503020204020204" pitchFamily="34" charset="-122"/>
                <a:ea typeface="Microsoft YaHei" panose="020B0503020204020204" pitchFamily="34" charset="-122"/>
              </a:rPr>
              <a:t>Huffman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7559020" cy="1861185"/>
          </a:xfrm>
          <a:prstGeom prst="rect">
            <a:avLst/>
          </a:prstGeom>
          <a:noFill/>
        </p:spPr>
        <p:txBody>
          <a:bodyPr wrap="square" rtlCol="0">
            <a:noAutofit/>
          </a:bodyPr>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Mã hóa Huffman là một phương pháp nén dữ liệu hiệu quả, nơi mỗi ký tự trong chuỗi được biểu diễn bằng một mã nhị phân có độ dài khác nhau. Kết quả của quá trình mã hóa Huffman thường là một bảng mã, trong đó các ký tự thường xuyên xuất hiện được biểu diễn bằng các mã ngắn hơn so với các ký tự ít xuất hiện.</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sp>
        <p:nvSpPr>
          <p:cNvPr id="10" name="文本框 162"/>
          <p:cNvSpPr txBox="1"/>
          <p:nvPr/>
        </p:nvSpPr>
        <p:spPr>
          <a:xfrm>
            <a:off x="297180" y="5988050"/>
            <a:ext cx="17517745" cy="2240915"/>
          </a:xfrm>
          <a:prstGeom prst="rect">
            <a:avLst/>
          </a:prstGeom>
          <a:noFill/>
        </p:spPr>
        <p:txBody>
          <a:bodyPr wrap="square" rtlCol="0">
            <a:noAutofit/>
          </a:bodyPr>
          <a:p>
            <a:pPr lvl="0" indent="457200" algn="just">
              <a:lnSpc>
                <a:spcPct val="150000"/>
              </a:lnSpc>
              <a:spcBef>
                <a:spcPts val="600"/>
              </a:spcBef>
            </a:pPr>
            <a:r>
              <a:rPr sz="2400">
                <a:solidFill>
                  <a:schemeClr val="bg1"/>
                </a:solidFill>
                <a:latin typeface="Microsoft YaHei" panose="020B0503020204020204" pitchFamily="34" charset="-122"/>
                <a:ea typeface="Microsoft YaHei" panose="020B0503020204020204" pitchFamily="34" charset="-122"/>
                <a:sym typeface="+mn-ea"/>
              </a:rPr>
              <a:t>Tóm lại, kết quả của mã hóa Huffman là sự giảm kích thước dữ liệu mà vẫn giữ được thông tin quan trọng, tạo ra một biểu diễn nén hiệu quả và thích hợp cho nhiều ứng dụng lưu trữ và truyền tải dữ liệu.</a:t>
            </a:r>
            <a:endParaRPr sz="2400">
              <a:solidFill>
                <a:schemeClr val="bg1"/>
              </a:solidFill>
              <a:latin typeface="Microsoft YaHei" panose="020B0503020204020204" pitchFamily="34" charset="-122"/>
              <a:ea typeface="Microsoft YaHei" panose="020B0503020204020204" pitchFamily="34"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713140" y="1462338"/>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2</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271260" y="2940050"/>
            <a:ext cx="9155430" cy="452310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Lí thuyết tổng quan về nén dữ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liệu</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Khái niệm về nén dữ liệu</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7559020" cy="3200400"/>
          </a:xfrm>
          <a:prstGeom prst="rect">
            <a:avLst/>
          </a:prstGeom>
          <a:noFill/>
        </p:spPr>
        <p:txBody>
          <a:bodyPr wrap="square" rtlCol="0">
            <a:noAutofit/>
          </a:bodyPr>
          <a:p>
            <a:pPr lvl="0" indent="45720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Nén dữ liệu (tiếng Anh: Data compression) là việc chuyển định dạng thông tin sử dụng ít bit hơn cách thể hiện ở dữ liệu gốc. Tùy theo dữ liệu có bị thay đổi trước và sau khi giải nén không, người ta chia nén thành hai loại: Nguyên vẹn (lossless) và bị mất dữ liệu (lossy). Nén mất dữ liệu giảm số lượng bit bằng cách xác định các thông tin không cần thiết và loại bỏ chúng.</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buFont typeface="Wingdings" panose="05000000000000000000" charset="0"/>
              <a:buNone/>
            </a:pP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Nén dữ liệu là cần thiết vì giảm được nguồn tài nguyên cũng như dung lượng lưu trữ hay băng thông đường truyền. Tuy nhiên, vì dữ liệu nén cần được giải nén nên sẽ đòi hỏi nhiều phần cứng và xử lý.</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140" name="Google Shape;140;p20"/>
          <p:cNvGrpSpPr/>
          <p:nvPr/>
        </p:nvGrpSpPr>
        <p:grpSpPr>
          <a:xfrm>
            <a:off x="990785" y="730279"/>
            <a:ext cx="434725" cy="636997"/>
            <a:chOff x="6718575" y="2318625"/>
            <a:chExt cx="256950" cy="407375"/>
          </a:xfrm>
          <a:solidFill>
            <a:srgbClr val="FFFFFF"/>
          </a:solidFill>
        </p:grpSpPr>
        <p:sp>
          <p:nvSpPr>
            <p:cNvPr id="10" name="Google Shape;141;p20"/>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19" name="Google Shape;142;p20"/>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0" name="Google Shape;143;p20"/>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1" name="Google Shape;144;p20"/>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2" name="Google Shape;145;p20"/>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3" name="Google Shape;146;p20"/>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4" name="Google Shape;147;p20"/>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148" name="Google Shape;148;p20"/>
            <p:cNvSpPr/>
            <p:nvPr/>
          </p:nvSpPr>
          <p:spPr>
            <a:xfrm>
              <a:off x="6795900" y="2628550"/>
              <a:ext cx="102300" cy="25"/>
            </a:xfrm>
            <a:custGeom>
              <a:avLst/>
              <a:gdLst/>
              <a:ahLst/>
              <a:cxnLst/>
              <a:rect l="l" t="t" r="r" b="b"/>
              <a:pathLst>
                <a:path w="4092" h="1" fill="none" extrusionOk="0">
                  <a:moveTo>
                    <a:pt x="0" y="1"/>
                  </a:moveTo>
                  <a:lnTo>
                    <a:pt x="4092" y="1"/>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05</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Tỉ lệ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2" name="文本框 162"/>
              <p:cNvSpPr txBox="1"/>
              <p:nvPr/>
            </p:nvSpPr>
            <p:spPr>
              <a:xfrm>
                <a:off x="311150" y="1720850"/>
                <a:ext cx="17559020" cy="5858510"/>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Tỉ lệ nén là một đo lường cho sự giảm kích thước của một tệp tin hoặc dữ liệu so với kích thước ban đầu. Nó được tính bằng cách so sánh kích thước trước và sau khi áp dụng kỹ thuật nén. 	</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14:m>
                  <m:oMathPara xmlns:m="http://schemas.openxmlformats.org/officeDocument/2006/math">
                    <m:oMathParaPr>
                      <m:jc m:val="centerGroup"/>
                    </m:oMathParaPr>
                    <m:oMath xmlns:m="http://schemas.openxmlformats.org/officeDocument/2006/math">
                      <m:r>
                        <a:rPr lang="vi-VN" altLang="en-US" sz="3200" i="1">
                          <a:solidFill>
                            <a:schemeClr val="bg1"/>
                          </a:solidFill>
                          <a:latin typeface="Cambria Math" panose="02040503050406030204" charset="0"/>
                          <a:ea typeface="MS Mincho" charset="0"/>
                          <a:cs typeface="Cambria Math" panose="02040503050406030204" charset="0"/>
                          <a:sym typeface="+mn-ea"/>
                        </a:rPr>
                        <m:t>𝑇</m:t>
                      </m:r>
                      <m:r>
                        <a:rPr lang="vi-VN" altLang="en-US" sz="3200" i="1">
                          <a:solidFill>
                            <a:schemeClr val="bg1"/>
                          </a:solidFill>
                          <a:latin typeface="Cambria Math" panose="02040503050406030204" charset="0"/>
                          <a:ea typeface="MS Mincho" charset="0"/>
                          <a:cs typeface="Cambria Math" panose="02040503050406030204" charset="0"/>
                          <a:sym typeface="+mn-ea"/>
                        </a:rPr>
                        <m:t>ỉ</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𝑙</m:t>
                      </m:r>
                      <m:r>
                        <a:rPr lang="vi-VN" altLang="en-US" sz="3200" i="1">
                          <a:solidFill>
                            <a:schemeClr val="bg1"/>
                          </a:solidFill>
                          <a:latin typeface="Cambria Math" panose="02040503050406030204" charset="0"/>
                          <a:ea typeface="MS Mincho" charset="0"/>
                          <a:cs typeface="Cambria Math" panose="02040503050406030204" charset="0"/>
                          <a:sym typeface="+mn-ea"/>
                        </a:rPr>
                        <m:t>ệ</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𝑛</m:t>
                      </m:r>
                      <m:r>
                        <a:rPr lang="vi-VN" altLang="en-US" sz="3200" i="1">
                          <a:solidFill>
                            <a:schemeClr val="bg1"/>
                          </a:solidFill>
                          <a:latin typeface="Cambria Math" panose="02040503050406030204" charset="0"/>
                          <a:ea typeface="MS Mincho" charset="0"/>
                          <a:cs typeface="Cambria Math" panose="02040503050406030204" charset="0"/>
                          <a:sym typeface="+mn-ea"/>
                        </a:rPr>
                        <m:t>é</m:t>
                      </m:r>
                      <m:r>
                        <a:rPr lang="vi-VN" altLang="en-US" sz="3200" i="1">
                          <a:solidFill>
                            <a:schemeClr val="bg1"/>
                          </a:solidFill>
                          <a:latin typeface="Cambria Math" panose="02040503050406030204" charset="0"/>
                          <a:ea typeface="MS Mincho" charset="0"/>
                          <a:cs typeface="Cambria Math" panose="02040503050406030204" charset="0"/>
                          <a:sym typeface="+mn-ea"/>
                        </a:rPr>
                        <m:t>𝑛</m:t>
                      </m:r>
                      <m:r>
                        <a:rPr 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 = (</m:t>
                      </m:r>
                      <m:r>
                        <a:rPr lang="vi-VN" altLang="en-US" sz="3200" i="1">
                          <a:solidFill>
                            <a:schemeClr val="bg1"/>
                          </a:solidFill>
                          <a:latin typeface="Cambria Math" panose="02040503050406030204" charset="0"/>
                          <a:ea typeface="MS Mincho" charset="0"/>
                          <a:cs typeface="Cambria Math" panose="02040503050406030204" charset="0"/>
                          <a:sym typeface="+mn-ea"/>
                        </a:rPr>
                        <m:t>1</m:t>
                      </m:r>
                      <m:r>
                        <a:rPr lang="en-US" altLang="vi-VN" sz="3200" i="1">
                          <a:solidFill>
                            <a:schemeClr val="bg1"/>
                          </a:solidFill>
                          <a:latin typeface="Cambria Math" panose="02040503050406030204" charset="0"/>
                          <a:ea typeface="MS Mincho" charset="0"/>
                          <a:cs typeface="Cambria Math" panose="02040503050406030204" charset="0"/>
                          <a:sym typeface="+mn-ea"/>
                        </a:rPr>
                        <m:t>−</m:t>
                      </m:r>
                      <m:f>
                        <m:fPr>
                          <m:ctrlPr>
                            <a:rPr lang="en-US" altLang="vi-VN" sz="3200" i="1">
                              <a:solidFill>
                                <a:schemeClr val="bg1"/>
                              </a:solidFill>
                              <a:latin typeface="Cambria Math" panose="02040503050406030204" charset="0"/>
                              <a:ea typeface="MS Mincho" charset="0"/>
                              <a:cs typeface="Cambria Math" panose="02040503050406030204" charset="0"/>
                              <a:sym typeface="+mn-ea"/>
                            </a:rPr>
                          </m:ctrlPr>
                        </m:fPr>
                        <m:num>
                          <m:r>
                            <a:rPr lang="vi-VN" altLang="en-US" sz="3200" i="1">
                              <a:solidFill>
                                <a:schemeClr val="bg1"/>
                              </a:solidFill>
                              <a:latin typeface="Cambria Math" panose="02040503050406030204" charset="0"/>
                              <a:ea typeface="MS Mincho" charset="0"/>
                              <a:cs typeface="Cambria Math" panose="02040503050406030204" charset="0"/>
                              <a:sym typeface="+mn-ea"/>
                            </a:rPr>
                            <m:t>𝐾</m:t>
                          </m:r>
                          <m:r>
                            <a:rPr lang="vi-VN" altLang="en-US" sz="3200" i="1">
                              <a:solidFill>
                                <a:schemeClr val="bg1"/>
                              </a:solidFill>
                              <a:latin typeface="Cambria Math" panose="02040503050406030204" charset="0"/>
                              <a:ea typeface="MS Mincho" charset="0"/>
                              <a:cs typeface="Cambria Math" panose="02040503050406030204" charset="0"/>
                              <a:sym typeface="+mn-ea"/>
                            </a:rPr>
                            <m:t>í</m:t>
                          </m:r>
                          <m:r>
                            <a:rPr lang="vi-VN" altLang="en-US" sz="3200" i="1">
                              <a:solidFill>
                                <a:schemeClr val="bg1"/>
                              </a:solidFill>
                              <a:latin typeface="Cambria Math" panose="02040503050406030204" charset="0"/>
                              <a:ea typeface="MS Mincho" charset="0"/>
                              <a:cs typeface="Cambria Math" panose="02040503050406030204" charset="0"/>
                              <a:sym typeface="+mn-ea"/>
                            </a:rPr>
                            <m:t>𝑐ℎ</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𝑡ℎ</m:t>
                          </m:r>
                          <m:r>
                            <a:rPr lang="vi-VN" altLang="en-US" sz="3200" i="1">
                              <a:solidFill>
                                <a:schemeClr val="bg1"/>
                              </a:solidFill>
                              <a:latin typeface="Cambria Math" panose="02040503050406030204" charset="0"/>
                              <a:ea typeface="MS Mincho" charset="0"/>
                              <a:cs typeface="Cambria Math" panose="02040503050406030204" charset="0"/>
                              <a:sym typeface="+mn-ea"/>
                            </a:rPr>
                            <m:t>ướ</m:t>
                          </m:r>
                          <m:r>
                            <a:rPr lang="vi-VN" altLang="en-US" sz="3200" i="1">
                              <a:solidFill>
                                <a:schemeClr val="bg1"/>
                              </a:solidFill>
                              <a:latin typeface="Cambria Math" panose="02040503050406030204" charset="0"/>
                              <a:ea typeface="MS Mincho" charset="0"/>
                              <a:cs typeface="Cambria Math" panose="02040503050406030204" charset="0"/>
                              <a:sym typeface="+mn-ea"/>
                            </a:rPr>
                            <m:t>𝑐</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𝑑</m:t>
                          </m:r>
                          <m:r>
                            <a:rPr lang="vi-VN" altLang="en-US" sz="3200" i="1">
                              <a:solidFill>
                                <a:schemeClr val="bg1"/>
                              </a:solidFill>
                              <a:latin typeface="Cambria Math" panose="02040503050406030204" charset="0"/>
                              <a:ea typeface="MS Mincho" charset="0"/>
                              <a:cs typeface="Cambria Math" panose="02040503050406030204" charset="0"/>
                              <a:sym typeface="+mn-ea"/>
                            </a:rPr>
                            <m:t>ữ</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𝑙𝑖</m:t>
                          </m:r>
                          <m:r>
                            <a:rPr lang="vi-VN" altLang="en-US" sz="3200" i="1">
                              <a:solidFill>
                                <a:schemeClr val="bg1"/>
                              </a:solidFill>
                              <a:latin typeface="Cambria Math" panose="02040503050406030204" charset="0"/>
                              <a:ea typeface="MS Mincho" charset="0"/>
                              <a:cs typeface="Cambria Math" panose="02040503050406030204" charset="0"/>
                              <a:sym typeface="+mn-ea"/>
                            </a:rPr>
                            <m:t>ệ</m:t>
                          </m:r>
                          <m:r>
                            <a:rPr lang="vi-VN" altLang="en-US" sz="3200" i="1">
                              <a:solidFill>
                                <a:schemeClr val="bg1"/>
                              </a:solidFill>
                              <a:latin typeface="Cambria Math" panose="02040503050406030204" charset="0"/>
                              <a:ea typeface="MS Mincho" charset="0"/>
                              <a:cs typeface="Cambria Math" panose="02040503050406030204" charset="0"/>
                              <a:sym typeface="+mn-ea"/>
                            </a:rPr>
                            <m:t>𝑢</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𝑠𝑎𝑢</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𝑘ℎ𝑖</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𝑛</m:t>
                          </m:r>
                          <m:r>
                            <a:rPr lang="vi-VN" altLang="en-US" sz="3200" i="1">
                              <a:solidFill>
                                <a:schemeClr val="bg1"/>
                              </a:solidFill>
                              <a:latin typeface="Cambria Math" panose="02040503050406030204" charset="0"/>
                              <a:ea typeface="MS Mincho" charset="0"/>
                              <a:cs typeface="Cambria Math" panose="02040503050406030204" charset="0"/>
                              <a:sym typeface="+mn-ea"/>
                            </a:rPr>
                            <m:t>é</m:t>
                          </m:r>
                          <m:r>
                            <a:rPr lang="vi-VN" altLang="en-US" sz="3200" i="1">
                              <a:solidFill>
                                <a:schemeClr val="bg1"/>
                              </a:solidFill>
                              <a:latin typeface="Cambria Math" panose="02040503050406030204" charset="0"/>
                              <a:ea typeface="MS Mincho" charset="0"/>
                              <a:cs typeface="Cambria Math" panose="02040503050406030204" charset="0"/>
                              <a:sym typeface="+mn-ea"/>
                            </a:rPr>
                            <m:t>𝑛</m:t>
                          </m:r>
                        </m:num>
                        <m:den>
                          <m:r>
                            <a:rPr lang="vi-VN" altLang="en-US" sz="3200" i="1">
                              <a:solidFill>
                                <a:schemeClr val="bg1"/>
                              </a:solidFill>
                              <a:latin typeface="Cambria Math" panose="02040503050406030204" charset="0"/>
                              <a:ea typeface="MS Mincho" charset="0"/>
                              <a:cs typeface="Cambria Math" panose="02040503050406030204" charset="0"/>
                              <a:sym typeface="+mn-ea"/>
                            </a:rPr>
                            <m:t>𝐾</m:t>
                          </m:r>
                          <m:r>
                            <a:rPr lang="vi-VN" altLang="en-US" sz="3200" i="1">
                              <a:solidFill>
                                <a:schemeClr val="bg1"/>
                              </a:solidFill>
                              <a:latin typeface="Cambria Math" panose="02040503050406030204" charset="0"/>
                              <a:ea typeface="MS Mincho" charset="0"/>
                              <a:cs typeface="Cambria Math" panose="02040503050406030204" charset="0"/>
                              <a:sym typeface="+mn-ea"/>
                            </a:rPr>
                            <m:t>í</m:t>
                          </m:r>
                          <m:r>
                            <a:rPr lang="vi-VN" altLang="en-US" sz="3200" i="1">
                              <a:solidFill>
                                <a:schemeClr val="bg1"/>
                              </a:solidFill>
                              <a:latin typeface="Cambria Math" panose="02040503050406030204" charset="0"/>
                              <a:ea typeface="MS Mincho" charset="0"/>
                              <a:cs typeface="Cambria Math" panose="02040503050406030204" charset="0"/>
                              <a:sym typeface="+mn-ea"/>
                            </a:rPr>
                            <m:t>𝑐ℎ</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𝑡ℎ</m:t>
                          </m:r>
                          <m:r>
                            <a:rPr lang="vi-VN" altLang="en-US" sz="3200" i="1">
                              <a:solidFill>
                                <a:schemeClr val="bg1"/>
                              </a:solidFill>
                              <a:latin typeface="Cambria Math" panose="02040503050406030204" charset="0"/>
                              <a:ea typeface="MS Mincho" charset="0"/>
                              <a:cs typeface="Cambria Math" panose="02040503050406030204" charset="0"/>
                              <a:sym typeface="+mn-ea"/>
                            </a:rPr>
                            <m:t>ứ</m:t>
                          </m:r>
                          <m:r>
                            <a:rPr lang="vi-VN" altLang="en-US" sz="3200" i="1">
                              <a:solidFill>
                                <a:schemeClr val="bg1"/>
                              </a:solidFill>
                              <a:latin typeface="Cambria Math" panose="02040503050406030204" charset="0"/>
                              <a:ea typeface="MS Mincho" charset="0"/>
                              <a:cs typeface="Cambria Math" panose="02040503050406030204" charset="0"/>
                              <a:sym typeface="+mn-ea"/>
                            </a:rPr>
                            <m:t>𝑐</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𝑑</m:t>
                          </m:r>
                          <m:r>
                            <a:rPr lang="vi-VN" altLang="en-US" sz="3200" i="1">
                              <a:solidFill>
                                <a:schemeClr val="bg1"/>
                              </a:solidFill>
                              <a:latin typeface="Cambria Math" panose="02040503050406030204" charset="0"/>
                              <a:ea typeface="MS Mincho" charset="0"/>
                              <a:cs typeface="Cambria Math" panose="02040503050406030204" charset="0"/>
                              <a:sym typeface="+mn-ea"/>
                            </a:rPr>
                            <m:t>ữ</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𝑙𝑖</m:t>
                          </m:r>
                          <m:r>
                            <a:rPr lang="vi-VN" altLang="en-US" sz="3200" i="1">
                              <a:solidFill>
                                <a:schemeClr val="bg1"/>
                              </a:solidFill>
                              <a:latin typeface="Cambria Math" panose="02040503050406030204" charset="0"/>
                              <a:ea typeface="MS Mincho" charset="0"/>
                              <a:cs typeface="Cambria Math" panose="02040503050406030204" charset="0"/>
                              <a:sym typeface="+mn-ea"/>
                            </a:rPr>
                            <m:t>ệ</m:t>
                          </m:r>
                          <m:r>
                            <a:rPr lang="vi-VN" altLang="en-US" sz="3200" i="1">
                              <a:solidFill>
                                <a:schemeClr val="bg1"/>
                              </a:solidFill>
                              <a:latin typeface="Cambria Math" panose="02040503050406030204" charset="0"/>
                              <a:ea typeface="MS Mincho" charset="0"/>
                              <a:cs typeface="Cambria Math" panose="02040503050406030204" charset="0"/>
                              <a:sym typeface="+mn-ea"/>
                            </a:rPr>
                            <m:t>𝑢</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𝑏𝑎𝑛</m:t>
                          </m:r>
                          <m:r>
                            <a:rPr lang="en-US" altLang="vi-VN" sz="3200" i="1">
                              <a:solidFill>
                                <a:schemeClr val="bg1"/>
                              </a:solidFill>
                              <a:latin typeface="Cambria Math" panose="02040503050406030204" charset="0"/>
                              <a:ea typeface="MS Mincho" charset="0"/>
                              <a:cs typeface="Cambria Math" panose="02040503050406030204" charset="0"/>
                              <a:sym typeface="+mn-ea"/>
                            </a:rPr>
                            <m:t> </m:t>
                          </m:r>
                          <m:r>
                            <a:rPr lang="vi-VN" altLang="en-US" sz="3200" i="1">
                              <a:solidFill>
                                <a:schemeClr val="bg1"/>
                              </a:solidFill>
                              <a:latin typeface="Cambria Math" panose="02040503050406030204" charset="0"/>
                              <a:ea typeface="MS Mincho" charset="0"/>
                              <a:cs typeface="Cambria Math" panose="02040503050406030204" charset="0"/>
                              <a:sym typeface="+mn-ea"/>
                            </a:rPr>
                            <m:t>đầ</m:t>
                          </m:r>
                          <m:r>
                            <a:rPr lang="vi-VN" altLang="en-US" sz="3200" i="1">
                              <a:solidFill>
                                <a:schemeClr val="bg1"/>
                              </a:solidFill>
                              <a:latin typeface="Cambria Math" panose="02040503050406030204" charset="0"/>
                              <a:ea typeface="MS Mincho" charset="0"/>
                              <a:cs typeface="Cambria Math" panose="02040503050406030204" charset="0"/>
                              <a:sym typeface="+mn-ea"/>
                            </a:rPr>
                            <m:t>𝑢</m:t>
                          </m:r>
                        </m:den>
                      </m:f>
                      <m:r>
                        <a:rPr 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m:t>
                      </m:r>
                      <m:r>
                        <a:rPr 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m:t>
                      </m:r>
                      <m:r>
                        <a:rPr lang="vi-VN" alt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100</m:t>
                      </m:r>
                    </m:oMath>
                  </m:oMathPara>
                </a14:m>
                <a:endParaRPr sz="32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Tỉ lệ nén thường được biểu diễn dưới dạng một phần trăm hoặc một tỷ lệ số, và càng cao thì dữ liệu đã nén càng hiệu quả.</a:t>
                </a:r>
                <a:endParaRPr sz="2400">
                  <a:solidFill>
                    <a:schemeClr val="bg1"/>
                  </a:solidFill>
                  <a:latin typeface="Microsoft YaHei" panose="020B0503020204020204" pitchFamily="34" charset="-122"/>
                  <a:ea typeface="Microsoft YaHei" panose="020B0503020204020204" pitchFamily="34" charset="-122"/>
                  <a:sym typeface="+mn-ea"/>
                </a:endParaRPr>
              </a:p>
            </p:txBody>
          </p:sp>
        </mc:Choice>
        <mc:Fallback>
          <p:sp>
            <p:nvSpPr>
              <p:cNvPr id="2" name="文本框 162"/>
              <p:cNvSpPr txBox="1">
                <a:spLocks noRot="1" noChangeAspect="1" noMove="1" noResize="1" noEditPoints="1" noAdjustHandles="1" noChangeArrowheads="1" noChangeShapeType="1" noTextEdit="1"/>
              </p:cNvSpPr>
              <p:nvPr/>
            </p:nvSpPr>
            <p:spPr>
              <a:xfrm>
                <a:off x="311150" y="1720850"/>
                <a:ext cx="17559020" cy="5858510"/>
              </a:xfrm>
              <a:prstGeom prst="rect">
                <a:avLst/>
              </a:prstGeom>
              <a:blipFill rotWithShape="1">
                <a:blip r:embed="rId1"/>
                <a:stretch>
                  <a:fillRect/>
                </a:stretch>
              </a:blipFill>
            </p:spPr>
            <p:txBody>
              <a:bodyPr/>
              <a:lstStyle/>
              <a:p>
                <a:r>
                  <a:rPr lang="en-US" altLang="en-US">
                    <a:noFill/>
                  </a:rPr>
                  <a:t> </a:t>
                </a:r>
              </a:p>
            </p:txBody>
          </p:sp>
        </mc:Fallback>
      </mc:AlternateContent>
      <p:grpSp>
        <p:nvGrpSpPr>
          <p:cNvPr id="862" name="组合 1638"/>
          <p:cNvGrpSpPr/>
          <p:nvPr/>
        </p:nvGrpSpPr>
        <p:grpSpPr bwMode="auto">
          <a:xfrm>
            <a:off x="23602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06</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Một số khái niệm cơ </a:t>
            </a:r>
            <a:r>
              <a:rPr lang="vi-VN" altLang="zh-CN" sz="4000" dirty="0" smtClean="0">
                <a:solidFill>
                  <a:srgbClr val="FFFFFF"/>
                </a:solidFill>
                <a:latin typeface="Microsoft YaHei" panose="020B0503020204020204" pitchFamily="34" charset="-122"/>
                <a:ea typeface="Microsoft YaHei" panose="020B0503020204020204" pitchFamily="34" charset="-122"/>
              </a:rPr>
              <a:t>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254240"/>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Trong kỹ thuật nén dữ liệu, độ dư thừa (redundancy) là sự lặp lại hoặc dư thừa của thông tin trong dữ liệu. Đối với nén dữ liệu, mục tiêu chính là giảm độ dư thừa để giảm kích thước của dữ liệu mà vẫn giữ được thông tin cần thiết. Có bốn loại độ dư thừa chính trong kỹ thuật nén dữ liệu:</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vi-VN" altLang="en-US" sz="2400">
                <a:solidFill>
                  <a:schemeClr val="bg1"/>
                </a:solidFill>
                <a:latin typeface="Microsoft YaHei" panose="020B0503020204020204" pitchFamily="34" charset="-122"/>
                <a:ea typeface="Microsoft YaHei" panose="020B0503020204020204" pitchFamily="34" charset="-122"/>
                <a:sym typeface="+mn-ea"/>
              </a:rPr>
              <a:t>a, Sự lặp lại của những ký </a:t>
            </a:r>
            <a:r>
              <a:rPr lang="vi-VN" altLang="en-US" sz="2400">
                <a:solidFill>
                  <a:schemeClr val="bg1"/>
                </a:solidFill>
                <a:latin typeface="Microsoft YaHei" panose="020B0503020204020204" pitchFamily="34" charset="-122"/>
                <a:ea typeface="Microsoft YaHei" panose="020B0503020204020204" pitchFamily="34" charset="-122"/>
                <a:sym typeface="+mn-ea"/>
              </a:rPr>
              <a:t>tự</a:t>
            </a:r>
            <a:endParaRPr lang="vi-VN" alt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vi-VN" altLang="en-US" sz="2400">
                <a:solidFill>
                  <a:schemeClr val="bg1"/>
                </a:solidFill>
                <a:latin typeface="Microsoft YaHei" panose="020B0503020204020204" pitchFamily="34" charset="-122"/>
                <a:ea typeface="Microsoft YaHei" panose="020B0503020204020204" pitchFamily="34" charset="-122"/>
                <a:sym typeface="+mn-ea"/>
              </a:rPr>
              <a:t>b, Sự phân bố của những ký </a:t>
            </a:r>
            <a:r>
              <a:rPr lang="vi-VN" altLang="en-US" sz="2400">
                <a:solidFill>
                  <a:schemeClr val="bg1"/>
                </a:solidFill>
                <a:latin typeface="Microsoft YaHei" panose="020B0503020204020204" pitchFamily="34" charset="-122"/>
                <a:ea typeface="Microsoft YaHei" panose="020B0503020204020204" pitchFamily="34" charset="-122"/>
                <a:sym typeface="+mn-ea"/>
              </a:rPr>
              <a:t>tự</a:t>
            </a:r>
            <a:endParaRPr lang="vi-VN" alt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vi-VN" altLang="en-US" sz="2400">
                <a:solidFill>
                  <a:schemeClr val="bg1"/>
                </a:solidFill>
                <a:latin typeface="Microsoft YaHei" panose="020B0503020204020204" pitchFamily="34" charset="-122"/>
                <a:ea typeface="Microsoft YaHei" panose="020B0503020204020204" pitchFamily="34" charset="-122"/>
                <a:sym typeface="+mn-ea"/>
              </a:rPr>
              <a:t>c, Độ dư thừa vị </a:t>
            </a:r>
            <a:r>
              <a:rPr lang="vi-VN" altLang="en-US" sz="2400">
                <a:solidFill>
                  <a:schemeClr val="bg1"/>
                </a:solidFill>
                <a:latin typeface="Microsoft YaHei" panose="020B0503020204020204" pitchFamily="34" charset="-122"/>
                <a:ea typeface="Microsoft YaHei" panose="020B0503020204020204" pitchFamily="34" charset="-122"/>
                <a:sym typeface="+mn-ea"/>
              </a:rPr>
              <a:t>trí </a:t>
            </a:r>
            <a:endParaRPr lang="vi-VN" alt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vi-VN" altLang="en-US" sz="2400">
                <a:solidFill>
                  <a:schemeClr val="bg1"/>
                </a:solidFill>
                <a:latin typeface="Microsoft YaHei" panose="020B0503020204020204" pitchFamily="34" charset="-122"/>
                <a:ea typeface="Microsoft YaHei" panose="020B0503020204020204" pitchFamily="34" charset="-122"/>
                <a:sym typeface="+mn-ea"/>
              </a:rPr>
              <a:t>d, Những mẫu sử dụng mật độ </a:t>
            </a:r>
            <a:r>
              <a:rPr lang="vi-VN" altLang="en-US" sz="2400">
                <a:solidFill>
                  <a:schemeClr val="bg1"/>
                </a:solidFill>
                <a:latin typeface="Microsoft YaHei" panose="020B0503020204020204" pitchFamily="34" charset="-122"/>
                <a:ea typeface="Microsoft YaHei" panose="020B0503020204020204" pitchFamily="34" charset="-122"/>
                <a:sym typeface="+mn-ea"/>
              </a:rPr>
              <a:t>cao</a:t>
            </a:r>
            <a:endParaRPr lang="vi-VN" alt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1127125" y="803275"/>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07</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Một số khái niệm cơ 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a, Sự lặp lại của những kí tự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Trong một nguồn dữ liệu, thường có những kí tự và chuỗi kí tự lặp lại nhiều lần liên tiếp nhau. Khi đó, nguồn dữ liệu có thể được mã háo một cách cô đọng hơn bằng cách thay đổi các kí tự đó bằng mã của chúng và số kí tự lặp lại.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b, Sự phân bố của các kí tự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Xét trong một dãy kí tự, ta thường thấy có một số kí tự xuất hiện với tần suất cao hơn so với các kí tự khác. Như vậy, ta có thể giảm bớt lượng dữ liệu bằng cách mã hóa những kí tự xuất hiện thường xuyên với từ mã ngắn, những kí tự ít xuất hiện hơn sẽ được mã hóa bằng những từ mã dài hơn. Kiểu dư thừa này đặc biệt phù hợp với phương pháp mã hóa Huffman.</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862" name="组合 1638"/>
          <p:cNvGrpSpPr/>
          <p:nvPr/>
        </p:nvGrpSpPr>
        <p:grpSpPr bwMode="auto">
          <a:xfrm>
            <a:off x="105092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Một số khái niệm cơ 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c, Độ dư thừa vị trí </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Có nhiều trường hợp, dữ liệu trong một nguồn dữ liệu có sự phụ thuộc lẫn nhau, do đó nếu biết được kí hiệu xuất hiện tại một vị trí nào đó, ta có thể phỏng đón trước một cách hợp lý sự xuất hiện của các kí hiệu khác ở những vị trí khác nhau.</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Ví dụ, ảnh biểu diễn trong một lưới 2 chiều, một số điểm ở hàng dọc lại xuất hiện trong cùng vị trí đó ở các hàng khác nhau. Như vậy, thay vìu lưu trữ dữ liệu ta chỉ lưu lại vị trí hàng và cột. Phương pháp nén khai thác kiểu dư thừa này gọi là phương pháp mã hóa dự đoán. </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1161415" y="803275"/>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09</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Một số khái niệm cơ 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d, Những mẫu sử dụng mật độ cao</a:t>
                </a: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Thông thường, trong các văn bản dạng text, sự tuần tự của những kí tự bào đó sẽ tái xuất hiện với tần suất tương đối cao. Vì vậy, có thể biểu diễn bằng dãy bit ngắn hơn.</a:t>
                </a: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Để dánh giá một thuật toán nén có hiệu quả hay không, người ta sẽ dựa vào cách mà thuật toán xử lý các kiểu dư thừa như trên. Thực tế cho thấy rằng, hầu hết các ký thuật nén đều không đủ mềm dẻo để xử lý tất cả các kiểu dư thừa. Mỗi chiến lược nén áp dụng thường chỉ cứng nhắc cho từng kiểu số liệu mà thôi.</a:t>
                </a: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Độ dư thừa số liệu có thể định lượng bằng toán học. Với L1, L2 là hai đại lượng số liệu cùng được dùng để biểu diễn một lượng tin cho trước thì độ dư số liệu tương đối RD của tập số liệu thứu nhất so với tập số liệu thứ hai là:</a:t>
                </a: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14:m>
                  <m:oMathPara xmlns:m="http://schemas.openxmlformats.org/officeDocument/2006/math">
                    <m:oMathParaPr>
                      <m:jc m:val="centerGroup"/>
                    </m:oMathParaPr>
                    <m:oMath xmlns:m="http://schemas.openxmlformats.org/officeDocument/2006/math">
                      <m:sSub>
                        <m:sSubPr>
                          <m:ctrlPr>
                            <a:rPr 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ctrlPr>
                        </m:sSubPr>
                        <m:e>
                          <m:r>
                            <a:rPr lang="vi-VN" alt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𝑅</m:t>
                          </m:r>
                        </m:e>
                        <m:sub>
                          <m:r>
                            <a:rPr lang="vi-VN" alt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𝐷</m:t>
                          </m:r>
                        </m:sub>
                      </m:sSub>
                      <m:r>
                        <a:rPr lang="en-US" sz="3200" i="1">
                          <a:solidFill>
                            <a:schemeClr val="bg1"/>
                          </a:solidFill>
                          <a:latin typeface="Cambria Math" panose="02040503050406030204" charset="0"/>
                          <a:ea typeface="Microsoft YaHei" panose="020B0503020204020204" pitchFamily="34" charset="-122"/>
                          <a:cs typeface="Cambria Math" panose="02040503050406030204" charset="0"/>
                          <a:sym typeface="+mn-ea"/>
                        </a:rPr>
                        <m:t> = </m:t>
                      </m:r>
                      <m:r>
                        <a:rPr lang="vi-VN" altLang="en-US" sz="3200" i="1">
                          <a:solidFill>
                            <a:schemeClr val="bg1"/>
                          </a:solidFill>
                          <a:latin typeface="Cambria Math" panose="02040503050406030204" charset="0"/>
                          <a:ea typeface="MS Mincho" charset="0"/>
                          <a:cs typeface="Cambria Math" panose="02040503050406030204" charset="0"/>
                          <a:sym typeface="+mn-ea"/>
                        </a:rPr>
                        <m:t>1</m:t>
                      </m:r>
                      <m:r>
                        <a:rPr lang="en-US" altLang="vi-VN" sz="3200" i="1">
                          <a:solidFill>
                            <a:schemeClr val="bg1"/>
                          </a:solidFill>
                          <a:latin typeface="Cambria Math" panose="02040503050406030204" charset="0"/>
                          <a:ea typeface="MS Mincho" charset="0"/>
                          <a:cs typeface="Cambria Math" panose="02040503050406030204" charset="0"/>
                          <a:sym typeface="+mn-ea"/>
                        </a:rPr>
                        <m:t>−</m:t>
                      </m:r>
                      <m:r>
                        <a:rPr lang="en-US" altLang="vi-VN" sz="3200" i="1">
                          <a:solidFill>
                            <a:schemeClr val="bg1"/>
                          </a:solidFill>
                          <a:latin typeface="Cambria Math" panose="02040503050406030204" charset="0"/>
                          <a:ea typeface="MS Mincho" charset="0"/>
                          <a:cs typeface="Cambria Math" panose="02040503050406030204" charset="0"/>
                          <a:sym typeface="+mn-ea"/>
                        </a:rPr>
                        <m:t> </m:t>
                      </m:r>
                      <m:f>
                        <m:fPr>
                          <m:ctrlPr>
                            <a:rPr lang="en-US" altLang="vi-VN" sz="3200" i="1">
                              <a:solidFill>
                                <a:schemeClr val="bg1"/>
                              </a:solidFill>
                              <a:latin typeface="Cambria Math" panose="02040503050406030204" charset="0"/>
                              <a:ea typeface="MS Mincho" charset="0"/>
                              <a:cs typeface="Cambria Math" panose="02040503050406030204" charset="0"/>
                              <a:sym typeface="+mn-ea"/>
                            </a:rPr>
                          </m:ctrlPr>
                        </m:fPr>
                        <m:num>
                          <m:r>
                            <a:rPr lang="vi-VN" altLang="en-US" sz="3200" i="1">
                              <a:solidFill>
                                <a:schemeClr val="bg1"/>
                              </a:solidFill>
                              <a:latin typeface="Cambria Math" panose="02040503050406030204" charset="0"/>
                              <a:ea typeface="MS Mincho" charset="0"/>
                              <a:cs typeface="Cambria Math" panose="02040503050406030204" charset="0"/>
                              <a:sym typeface="+mn-ea"/>
                            </a:rPr>
                            <m:t>1</m:t>
                          </m:r>
                        </m:num>
                        <m:den>
                          <m:f>
                            <m:fPr>
                              <m:ctrlPr>
                                <a:rPr lang="en-US" altLang="vi-VN" sz="3200" i="1">
                                  <a:solidFill>
                                    <a:schemeClr val="bg1"/>
                                  </a:solidFill>
                                  <a:latin typeface="Cambria Math" panose="02040503050406030204" charset="0"/>
                                  <a:ea typeface="MS Mincho" charset="0"/>
                                  <a:cs typeface="Cambria Math" panose="02040503050406030204" charset="0"/>
                                  <a:sym typeface="+mn-ea"/>
                                </a:rPr>
                              </m:ctrlPr>
                            </m:fPr>
                            <m:num>
                              <m:sSub>
                                <m:sSubPr>
                                  <m:ctrlPr>
                                    <a:rPr lang="en-US" altLang="vi-VN" sz="3200" i="1">
                                      <a:solidFill>
                                        <a:schemeClr val="bg1"/>
                                      </a:solidFill>
                                      <a:latin typeface="Cambria Math" panose="02040503050406030204" charset="0"/>
                                      <a:ea typeface="MS Mincho" charset="0"/>
                                      <a:cs typeface="Cambria Math" panose="02040503050406030204" charset="0"/>
                                      <a:sym typeface="+mn-ea"/>
                                    </a:rPr>
                                  </m:ctrlPr>
                                </m:sSubPr>
                                <m:e>
                                  <m:r>
                                    <a:rPr lang="vi-VN" altLang="en-US" sz="3200" i="1">
                                      <a:solidFill>
                                        <a:schemeClr val="bg1"/>
                                      </a:solidFill>
                                      <a:latin typeface="Cambria Math" panose="02040503050406030204" charset="0"/>
                                      <a:ea typeface="MS Mincho" charset="0"/>
                                      <a:cs typeface="Cambria Math" panose="02040503050406030204" charset="0"/>
                                      <a:sym typeface="+mn-ea"/>
                                    </a:rPr>
                                    <m:t>𝐿</m:t>
                                  </m:r>
                                </m:e>
                                <m:sub>
                                  <m:r>
                                    <a:rPr lang="vi-VN" altLang="en-US" sz="3200" i="1">
                                      <a:solidFill>
                                        <a:schemeClr val="bg1"/>
                                      </a:solidFill>
                                      <a:latin typeface="Cambria Math" panose="02040503050406030204" charset="0"/>
                                      <a:ea typeface="MS Mincho" charset="0"/>
                                      <a:cs typeface="Cambria Math" panose="02040503050406030204" charset="0"/>
                                      <a:sym typeface="+mn-ea"/>
                                    </a:rPr>
                                    <m:t>1</m:t>
                                  </m:r>
                                </m:sub>
                              </m:sSub>
                            </m:num>
                            <m:den>
                              <m:sSub>
                                <m:sSubPr>
                                  <m:ctrlPr>
                                    <a:rPr lang="en-US" altLang="vi-VN" sz="3200" i="1">
                                      <a:solidFill>
                                        <a:schemeClr val="bg1"/>
                                      </a:solidFill>
                                      <a:latin typeface="Cambria Math" panose="02040503050406030204" charset="0"/>
                                      <a:ea typeface="MS Mincho" charset="0"/>
                                      <a:cs typeface="Cambria Math" panose="02040503050406030204" charset="0"/>
                                      <a:sym typeface="+mn-ea"/>
                                    </a:rPr>
                                  </m:ctrlPr>
                                </m:sSubPr>
                                <m:e>
                                  <m:r>
                                    <a:rPr lang="vi-VN" altLang="en-US" sz="3200" i="1">
                                      <a:solidFill>
                                        <a:schemeClr val="bg1"/>
                                      </a:solidFill>
                                      <a:latin typeface="Cambria Math" panose="02040503050406030204" charset="0"/>
                                      <a:ea typeface="MS Mincho" charset="0"/>
                                      <a:cs typeface="Cambria Math" panose="02040503050406030204" charset="0"/>
                                      <a:sym typeface="+mn-ea"/>
                                    </a:rPr>
                                    <m:t>𝐿</m:t>
                                  </m:r>
                                </m:e>
                                <m:sub>
                                  <m:r>
                                    <a:rPr lang="vi-VN" altLang="en-US" sz="3200" i="1">
                                      <a:solidFill>
                                        <a:schemeClr val="bg1"/>
                                      </a:solidFill>
                                      <a:latin typeface="Cambria Math" panose="02040503050406030204" charset="0"/>
                                      <a:ea typeface="MS Mincho" charset="0"/>
                                      <a:cs typeface="Cambria Math" panose="02040503050406030204" charset="0"/>
                                      <a:sym typeface="+mn-ea"/>
                                    </a:rPr>
                                    <m:t>2</m:t>
                                  </m:r>
                                </m:sub>
                              </m:sSub>
                            </m:den>
                          </m:f>
                        </m:den>
                      </m:f>
                    </m:oMath>
                  </m:oMathPara>
                </a14:m>
                <a:endParaRPr sz="32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Trong đó: </a:t>
                </a: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		L1 / L2 được gọi là tỉ lệ nén. </a:t>
                </a:r>
                <a:endParaRPr>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a:solidFill>
                      <a:schemeClr val="bg1"/>
                    </a:solidFill>
                    <a:latin typeface="Microsoft YaHei" panose="020B0503020204020204" pitchFamily="34" charset="-122"/>
                    <a:ea typeface="Microsoft YaHei" panose="020B0503020204020204" pitchFamily="34" charset="-122"/>
                    <a:sym typeface="+mn-ea"/>
                  </a:rPr>
                  <a:t>		RD là độ dư số liệu tương đối.</a:t>
                </a:r>
                <a:endParaRPr>
                  <a:solidFill>
                    <a:schemeClr val="bg1"/>
                  </a:solidFill>
                  <a:latin typeface="Microsoft YaHei" panose="020B0503020204020204" pitchFamily="34" charset="-122"/>
                  <a:ea typeface="Microsoft YaHei" panose="020B0503020204020204" pitchFamily="34" charset="-122"/>
                  <a:sym typeface="+mn-ea"/>
                </a:endParaRPr>
              </a:p>
            </p:txBody>
          </p:sp>
        </mc:Choice>
        <mc:Fallback>
          <p:sp>
            <p:nvSpPr>
              <p:cNvPr id="2" name="文本框 162"/>
              <p:cNvSpPr txBox="1">
                <a:spLocks noRot="1" noChangeAspect="1" noMove="1" noResize="1" noEditPoints="1" noAdjustHandles="1" noChangeArrowheads="1" noChangeShapeType="1" noTextEdit="1"/>
              </p:cNvSpPr>
              <p:nvPr/>
            </p:nvSpPr>
            <p:spPr>
              <a:xfrm>
                <a:off x="311150" y="1720850"/>
                <a:ext cx="17559020" cy="7937500"/>
              </a:xfrm>
              <a:prstGeom prst="rect">
                <a:avLst/>
              </a:prstGeom>
              <a:blipFill rotWithShape="1">
                <a:blip r:embed="rId1"/>
                <a:stretch>
                  <a:fillRect b="-2656"/>
                </a:stretch>
              </a:blipFill>
            </p:spPr>
            <p:txBody>
              <a:bodyPr/>
              <a:lstStyle/>
              <a:p>
                <a:r>
                  <a:rPr lang="en-US" altLang="en-US">
                    <a:noFill/>
                  </a:rPr>
                  <a:t> </a:t>
                </a:r>
              </a:p>
            </p:txBody>
          </p:sp>
        </mc:Fallback>
      </mc:AlternateContent>
      <p:grpSp>
        <p:nvGrpSpPr>
          <p:cNvPr id="862" name="组合 1638"/>
          <p:cNvGrpSpPr/>
          <p:nvPr/>
        </p:nvGrpSpPr>
        <p:grpSpPr bwMode="auto">
          <a:xfrm>
            <a:off x="1279525" y="782955"/>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10</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Hai dạng </a:t>
            </a:r>
            <a:r>
              <a:rPr lang="vi-VN" altLang="zh-CN" sz="4000" dirty="0" smtClean="0">
                <a:solidFill>
                  <a:srgbClr val="FFFFFF"/>
                </a:solidFill>
                <a:latin typeface="Microsoft YaHei" panose="020B0503020204020204" pitchFamily="34" charset="-122"/>
                <a:ea typeface="Microsoft YaHei" panose="020B0503020204020204" pitchFamily="34" charset="-122"/>
              </a:rPr>
              <a:t>nén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45720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a, Nén không tổn hao (Lossless Compression)</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45720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Nén không tổn hao còn gọi là nén chính xác hay nén không mất thông tin. Đây là phương pháp nén mà sau khi giải nén ta thu được một bản sao chính xác của dữ liệu gốc. Phương pháp nén này thường được áp dụng đối với các nguồn số liệu mà nội dung thông tin cần được bảo toàn như các văn bản dạng text, các bảng tính hay là cơ sở dữ liệu…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45720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Dạng nén mà em dùng trong bài này là dạng nén không tổn hao.</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457200" algn="l">
              <a:lnSpc>
                <a:spcPct val="150000"/>
              </a:lnSpc>
              <a:spcBef>
                <a:spcPts val="600"/>
              </a:spcBef>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45720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 Nén tổn hao (Lossy Compression)</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45720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Nén tổn hao còn được gọi là nén có mất mát thông tin. Kỹ thuật nén này chấp nhận mất mát một lượng thông tin nhất định để thu được hiệu suất nén cao hơn, do vậy sau khi giải nén ta không thu được dữ liệu gốc. </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45720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Nén hao tổn thường được áp dụng cho các tập tin hình ảnh hay âm thanh được số hóa. Bởi vì đối với các tập tin thuộc loại này thì việc mất mát một ít thông tin là điều có thể chấp nhận được.</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862" name="组合 1638"/>
          <p:cNvGrpSpPr/>
          <p:nvPr/>
        </p:nvGrpSpPr>
        <p:grpSpPr bwMode="auto">
          <a:xfrm>
            <a:off x="15982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11</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Định nghĩa mã </a:t>
            </a:r>
            <a:r>
              <a:rPr lang="vi-VN" altLang="zh-CN" sz="4000" dirty="0" smtClean="0">
                <a:solidFill>
                  <a:srgbClr val="FFFFFF"/>
                </a:solidFill>
                <a:latin typeface="Microsoft YaHei" panose="020B0503020204020204" pitchFamily="34" charset="-122"/>
                <a:ea typeface="Microsoft YaHei" panose="020B0503020204020204" pitchFamily="34" charset="-122"/>
              </a:rPr>
              <a:t>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Mã hóa là quá trình biến đổi thông tin từ dạng có thể đọc được sang dạng không thể đọc được nếu không có khóa hoặc thuật toán để giải mã. Mục đích của mã hóa là bảo vệ tính bí mật, toàn vẹn và khả dụng của thông tin khi truyền, lưu trữ hoặc xử lý. Mã hóa có thể được thực hiện bằng nhiều cách khác nhau, tùy thuộc vào mức độ an toàn, tốc độ và chi phí mong muốn. Một số loại mã hóa phổ biến hiện nay là:</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Mã hóa cổ điển: là loại mã hóa đơn giản nhất, không cần khóa bảo mật, chỉ cần người gửi và người nhận biết thuật toán mã hóa. Ví dụ: mật mã Caesar, mật mã Vigenère, mật mã Playfair, v.v.</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Mã hóa đối xứng: là loại mã hóa sử dụng cùng một khóa cho cả quá trình mã hóa và giải mã. Khóa này phải được chia sẻ bí mật giữa người gửi và người nhận. Ví dụ: mật mã DES, mật mã AES, mật mã RC4, v.v.</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Mã hóa bất đối xứng: là loại mã hóa sử dụng hai khóa khác nhau cho quá trình mã hóa và giải mã. Một khóa được gọi là khóa công khai, có thể được phổ biến cho mọi người, và một khóa được gọi là khóa bí mật, chỉ được giữ riêng cho chủ sở hữu. Ví dụ: mật mã RSA, mật mã ECC, mật mã ElGamal, v.v.</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862" name="组合 1638"/>
          <p:cNvGrpSpPr/>
          <p:nvPr/>
        </p:nvGrpSpPr>
        <p:grpSpPr bwMode="auto">
          <a:xfrm>
            <a:off x="1694815" y="72644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Một số khái niệm cơ </a:t>
            </a:r>
            <a:r>
              <a:rPr lang="vi-VN" altLang="zh-CN" sz="4000" dirty="0" smtClean="0">
                <a:solidFill>
                  <a:srgbClr val="FFFFFF"/>
                </a:solidFill>
                <a:latin typeface="Microsoft YaHei" panose="020B0503020204020204" pitchFamily="34" charset="-122"/>
                <a:ea typeface="Microsoft YaHei" panose="020B0503020204020204" pitchFamily="34" charset="-122"/>
              </a:rPr>
              <a:t>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a, Chiều dài từ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just">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Chiều dài từ mã hóa (đôi khi được gọi là mã dài) thường được sử dụng trong ngành khoa học máy tính và lĩnh vực mã hóa hóa. Đây là một khái niệm quan trọng trong kích thước xác định của dữ liệu được mã hóa.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just">
              <a:lnSpc>
                <a:spcPct val="150000"/>
              </a:lnSpc>
              <a:spcBef>
                <a:spcPts val="600"/>
              </a:spcBef>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just">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Trong bối cảnh này, chiều dài của mã hóa thường được sử dụng để mô tả số lượng bitcas hoặc ký tự trong một mã hóa chuỗi. Chiều dài từ mã là số kí hiệu của bộ mã dùng để mã hóa cho mã đó.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471" name="组合 1109"/>
          <p:cNvGrpSpPr/>
          <p:nvPr/>
        </p:nvGrpSpPr>
        <p:grpSpPr bwMode="auto">
          <a:xfrm>
            <a:off x="12109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Một số khái niệm cơ 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nSpc>
                <a:spcPct val="150000"/>
              </a:lnSpc>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b, Trọng lượng từ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Trọng lượng từ mã trong mã hóa Huffman là tổng số bit cần thiết để mã hóa một ký tự cụ thể trong một chuỗi. Nó được xác định bằng chiều dài của mã Huffman được gán cho ký tự đó. Trong mã hóa Huffman, mỗi ký tự được gán một mã nhị phân duy nhất.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127000" indent="0">
              <a:lnSpc>
                <a:spcPct val="150000"/>
              </a:lnSpc>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Mã này được xây dựng dựa trên tần suất xuất hiện của các ký tự trong chuỗi. Các ký tự xuất hiện thường xuyên hơn sẽ được gán mã ngắn hơn. Các ký tự xuất hiện ít hơn sẽ được gán mã dài hơn. Trọng lượng từ mã của một ký tự bằng số lượng bit cần thiết để mã hóa ký tự đó.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127000" indent="0">
              <a:lnSpc>
                <a:spcPct val="150000"/>
              </a:lnSpc>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Tổng trọng lượng từ mã của tất cả các ký tự trong chuỗi bằng độ dài trung bình của mã Huffman. Độ dài trung bình của mã Huffman càng nhỏ thì mã hóa càng hiệu quả. Trọng lượng từ mã là tổng số các kí hiệu khác 0 của từ mã đó. </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VD: Từ mã 1011010 có trọng lượng là 4.</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471" name="组合 1109"/>
          <p:cNvGrpSpPr/>
          <p:nvPr/>
        </p:nvGrpSpPr>
        <p:grpSpPr bwMode="auto">
          <a:xfrm>
            <a:off x="1163320" y="774700"/>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Một số khái niệm cơ bản</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c, Khoảng cách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Trong mã hóa Huffman, khoảng cách mã (code distance) là số lượng bit ít nhất giữa hai mã Huffman khác nhau. Khoảng cách mã quan trọng vì nó ảnh hưởng đến hiệu suất chung của mã Huffman.</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Khoảng cách mã lý tưởng của một mã Huffman là 2, vì điều này đảm bảo rằng mỗi ký tự được mã hóa bằng một mã duy nhất và không có hai mã nào chồng lấn lên nhau. Tuy nhiên, trong thực tế, không phải lúc nào cũng có thể đạt được khoảng cách mã là 2. Khi không thể đạt được khoảng cách mã là 2, thì khoảng cách mã càng lớn thì mã Huffman càng hiệu quả hơn.       </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Có hai yếu tố chính ảnh hưởng đến khoảng cách mã của một mã Huffman:</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Tần suất xuất hiện của các ký tự: Các ký tự xuất hiện thường xuyên hơn sẽ có mã ngắn hơn, trong khi các ký tự xuất hiện ít thường xuyên hơn sẽ có mã dài hơn. Điều này dẫn đến sự chồng chéo giữa các mã của các ký tự khác nhau và giảm khoảng cách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Số lượng ký tự: Số lượng ký tự trong một bảng chữ cái cũng ảnh hưởng đến khoảng cách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Với số lượng ký tự càng lớn, thì khoảng cách mã càng khó đạt được.</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11347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15</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Các phương pháp biểu diễn </a:t>
            </a: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a, Phương pháp liệu kê</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Liệt kê trong một bảng những thông tin của nguồn và kèm theo là các từ mã tương ứng. Ưu điểm của phương pháp này là rõ ràng, đơn giản nhưng không phù hợp với những bộ mã lớn.</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VD: Nguồn tin X = {a, b, c, d}. Các lớp tin được mã hóa như sau: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3" name="Table 2"/>
          <p:cNvGraphicFramePr/>
          <p:nvPr/>
        </p:nvGraphicFramePr>
        <p:xfrm>
          <a:off x="2743200" y="4768850"/>
          <a:ext cx="12798425" cy="2574290"/>
        </p:xfrm>
        <a:graphic>
          <a:graphicData uri="http://schemas.openxmlformats.org/drawingml/2006/table">
            <a:tbl>
              <a:tblPr firstRow="1" bandRow="1">
                <a:tableStyleId>{5C22544A-7EE6-4342-B048-85BDC9FD1C3A}</a:tableStyleId>
              </a:tblPr>
              <a:tblGrid>
                <a:gridCol w="2559685"/>
                <a:gridCol w="2559685"/>
                <a:gridCol w="2559685"/>
                <a:gridCol w="2559685"/>
                <a:gridCol w="2559685"/>
              </a:tblGrid>
              <a:tr h="1287145">
                <a:tc>
                  <a:txBody>
                    <a:bodyPr/>
                    <a:p>
                      <a:pPr algn="ctr">
                        <a:buNone/>
                      </a:pPr>
                      <a:r>
                        <a:rPr lang="vi-VN" altLang="en-US" sz="4400"/>
                        <a:t>Tin</a:t>
                      </a:r>
                      <a:endParaRPr lang="vi-VN" altLang="en-US" sz="4400"/>
                    </a:p>
                  </a:txBody>
                  <a:tcPr anchor="ctr" anchorCtr="0"/>
                </a:tc>
                <a:tc>
                  <a:txBody>
                    <a:bodyPr/>
                    <a:p>
                      <a:pPr algn="ctr">
                        <a:buNone/>
                      </a:pPr>
                      <a:r>
                        <a:rPr lang="vi-VN" altLang="en-US" sz="4400"/>
                        <a:t>a</a:t>
                      </a:r>
                      <a:endParaRPr lang="vi-VN" altLang="en-US" sz="4400"/>
                    </a:p>
                  </a:txBody>
                  <a:tcPr anchor="ctr" anchorCtr="0"/>
                </a:tc>
                <a:tc>
                  <a:txBody>
                    <a:bodyPr/>
                    <a:p>
                      <a:pPr algn="ctr">
                        <a:buNone/>
                      </a:pPr>
                      <a:r>
                        <a:rPr lang="vi-VN" altLang="en-US" sz="4400"/>
                        <a:t>b</a:t>
                      </a:r>
                      <a:endParaRPr lang="vi-VN" altLang="en-US" sz="4400"/>
                    </a:p>
                  </a:txBody>
                  <a:tcPr anchor="ctr" anchorCtr="0"/>
                </a:tc>
                <a:tc>
                  <a:txBody>
                    <a:bodyPr/>
                    <a:p>
                      <a:pPr algn="ctr">
                        <a:buNone/>
                      </a:pPr>
                      <a:r>
                        <a:rPr lang="vi-VN" altLang="en-US" sz="4400"/>
                        <a:t>c</a:t>
                      </a:r>
                      <a:endParaRPr lang="vi-VN" altLang="en-US" sz="4400"/>
                    </a:p>
                  </a:txBody>
                  <a:tcPr anchor="ctr" anchorCtr="0"/>
                </a:tc>
                <a:tc>
                  <a:txBody>
                    <a:bodyPr/>
                    <a:p>
                      <a:pPr algn="ctr">
                        <a:buNone/>
                      </a:pPr>
                      <a:r>
                        <a:rPr lang="en-US" sz="4400" u="heavy"/>
                        <a:t>d</a:t>
                      </a:r>
                      <a:endParaRPr lang="en-US" sz="4400" u="heavy"/>
                    </a:p>
                  </a:txBody>
                  <a:tcPr anchor="ctr" anchorCtr="0"/>
                </a:tc>
              </a:tr>
              <a:tr h="1287145">
                <a:tc>
                  <a:txBody>
                    <a:bodyPr/>
                    <a:p>
                      <a:pPr algn="ctr">
                        <a:buNone/>
                      </a:pPr>
                      <a:r>
                        <a:rPr lang="vi-VN" altLang="en-US" sz="4400"/>
                        <a:t>Mã</a:t>
                      </a:r>
                      <a:endParaRPr lang="vi-VN" altLang="en-US" sz="4400"/>
                    </a:p>
                  </a:txBody>
                  <a:tcPr anchor="ctr" anchorCtr="0"/>
                </a:tc>
                <a:tc>
                  <a:txBody>
                    <a:bodyPr/>
                    <a:p>
                      <a:pPr algn="ctr">
                        <a:buNone/>
                      </a:pPr>
                      <a:r>
                        <a:rPr lang="vi-VN" altLang="en-US" sz="4400"/>
                        <a:t>10</a:t>
                      </a:r>
                      <a:endParaRPr lang="vi-VN" altLang="en-US" sz="4400"/>
                    </a:p>
                  </a:txBody>
                  <a:tcPr anchor="ctr" anchorCtr="0"/>
                </a:tc>
                <a:tc>
                  <a:txBody>
                    <a:bodyPr/>
                    <a:p>
                      <a:pPr algn="ctr">
                        <a:buNone/>
                      </a:pPr>
                      <a:r>
                        <a:rPr lang="vi-VN" altLang="en-US" sz="4400"/>
                        <a:t>01</a:t>
                      </a:r>
                      <a:endParaRPr lang="vi-VN" altLang="en-US" sz="4400"/>
                    </a:p>
                  </a:txBody>
                  <a:tcPr anchor="ctr" anchorCtr="0"/>
                </a:tc>
                <a:tc>
                  <a:txBody>
                    <a:bodyPr/>
                    <a:p>
                      <a:pPr algn="ctr">
                        <a:buNone/>
                      </a:pPr>
                      <a:r>
                        <a:rPr lang="vi-VN" altLang="en-US" sz="4400"/>
                        <a:t>110</a:t>
                      </a:r>
                      <a:endParaRPr lang="vi-VN" altLang="en-US" sz="4400"/>
                    </a:p>
                  </a:txBody>
                  <a:tcPr anchor="ctr" anchorCtr="0"/>
                </a:tc>
                <a:tc>
                  <a:txBody>
                    <a:bodyPr/>
                    <a:p>
                      <a:pPr algn="ctr">
                        <a:buNone/>
                      </a:pPr>
                      <a:r>
                        <a:rPr lang="vi-VN" altLang="en-US" sz="4400"/>
                        <a:t>001</a:t>
                      </a:r>
                      <a:endParaRPr lang="vi-VN" altLang="en-US" sz="4400"/>
                    </a:p>
                  </a:txBody>
                  <a:tcPr anchor="ctr" anchorCtr="0"/>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16</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Các phương pháp biểu diễn </a:t>
            </a: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 Phương pháp đồ hình kết cấu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Phương pháp này biểu diễn mà bằng một cây mã rút gọn bao gồm các nút và các nhánh có hướng. Một vòng kín bắt đầu tại nút gốc , đi theo các nhánh theo chiều mũi tên, qua các nút trung gian và kết thúc tại nút gốc sẽ biểu diễn cho 1 từ mã. Thứ tự các nhánh trên dường đi chính là thư tự giá trị các kí hiệu.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17</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Các phương pháp biểu diễn </a:t>
            </a: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c, Phương pháp cây</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Cây mã được biểu diễn bao gồm gốc và các nhánh. Trong cây có chứa các nút. Nút gốc chính là gốc của cây (mức 0). Nút là nằm tận cùng của nhánh. Trừ nút gốc và các nút lá ra, các nút còn lại là các nút nhánh. Từ một nút nhánh có thể phát đi nhiều nhất m nhánh (ứng với cơ số m của mã). Mỗi nhánh biểu diễn cho 1 từ mã. Từ mã đó thứ tự các trị kí hiệu đi từ gốc, qua từ nút nhánh và dừng lại ở nút lá tương ứng của nhánh.</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Dựa vào cây mã, chúng ta có thể nhận biết mã đã cho là mã đều (các nút lá có cùng bậc), hay không đều, mã đầy hay vơi. Mã là đầy khi mọi nút nhánh bậc trước các nút là đều có m nhánh.</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VD: Cho bộ mã 00, 01, 11, 1010, 1011. Cây mã biển diễn của bộ mã này là:</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2"/>
          <p:cNvPicPr>
            <a:picLocks noChangeAspect="1"/>
          </p:cNvPicPr>
          <p:nvPr/>
        </p:nvPicPr>
        <p:blipFill>
          <a:blip r:embed="rId1"/>
          <a:stretch>
            <a:fillRect/>
          </a:stretch>
        </p:blipFill>
        <p:spPr>
          <a:xfrm>
            <a:off x="6629400" y="6344920"/>
            <a:ext cx="5860415" cy="3655060"/>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thống kê tối </a:t>
            </a: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ưu</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Như đã nói, tiêu chuẩn của mã thông kê tối ưu là chiều dài trung bình từ mã tối thiểu. Do xác suất xuất hiện của các từ trong nguồn tin là khác nhau nên việc dùng các từ mã ngắn để mã hóa cho các từ có xác suất xuất hiện cao và ngược lại, dùng các từ mã dài để mã hóa cho các từ có xác suất xuất hiện thấp sẽ làm cho số kí hiệu cần thiết để mã hóa nguồn tin giảm đi. Nguyên tắc cơ bản của mã thông kê tối ưu là dựa trên cơ sở độ dài từ mã n (tỉ lệ nghịch với xác suất xuất hiện p), tức là các tin có xác suất xuất hiện thấp sẽ được biểu diễn bằng các từ mã dài và ngược lại.</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19</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Shannon - Fano </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Phương pháp mã hóa đầu tiên được nhiều người biết đến vào cuối những năm 1940 là phương pháp mã hóa Shannon-Fano. Phương pháp này được hai nhà nghiên cứu Claude Shannon và Robert Fano đưa ra gần như đồng thời. Phương pháp mã hóa này chưa dựa trên tần suất hiện của mỗi ký tự trong nguồn số liệu vậy mà được mô tả chi tiết trong sách của Claude Shannon và Warren Weaver "The Mathematical Theory of Communication". Từ đây một số thuật toán khác đã xuất hiện có tính chất tương tự. Kỹ thuật mã hóa này dựa trên tần suất xuất hiện của mỗi ký tự trong nguồn số liệu cần đựợc mã hóa. Từ bảng chứa các tần suất đó, bảng mã sẽ được xây dựng vào các tính chất quan trọng sau: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Các mã khác nhau có các bit biểu diễn khác nhau.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Kí tự cơ bản xuất hiện càng cao thì mã càng ngắn ( ít bit ) và ngược lại.</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Các mã có dạng dãy bit khác nhau.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20</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Shannon - Fano </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Mã sẽ được xây dựng dựa trên cấu trúc cây nhị phân, dựa vào Thuật toán xây dựng mã Shannon-Fano:</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Vào: Bảng tần số xuất hiện của từng các kí tự có mặt trong nguồn số liệu (Bảng đã được sắp xếp theo thứ tự tăng dần hoặc giảm dần của tần số).</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Ra: Cây nhị phân biển diễn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Bước 1. Tách bảng thành hai bảng con sao cho hiệu giữa tổng các tần số trong mỗi bảng con là nhỏ nhất.</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Bước 2. Bảng con phía trên được gán giá trị nhị phân 0, bảng con phía dưới được gán trị nhị phân 1.</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Bước 3. Tiếp tục thực hiện tuần tự hai bước 1 và 2 cho mỗi bảng con được tách ra cho đến khi các bảng thành phần không thể phân chia được nữa</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Nguyên tắc chính là sử dụng phương pháp đệ qui để xây dựng cây mã.</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21</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số học</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Như đã nói, độ dài từ mã của mã Shannon-Fano phải là một số nguyên các bit. Người ta đã cải tiến nhược điểm này bằng cách đưa ra một loại mã khác, đó là mã số học. Phương pháp mã hóa số học hoàn hảo hơn các phương pháp mã hóa khác ở chỗ nó không tạo ra một từ mã dơn lẻ cho mỗi kí hiệu mà nó chỉ tạo ra một từ mã duy nhất cho toàn bộ nguồn số liệu. Nghĩa là một kí hiệu có thể được mã hóa bằng 3.5 bit.</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Nguyên tắc chính của phương pháp mã hóa này là mã hóa toàn bộ lượng số liệu thành một số. Mỗi kí tự / xâu kí tự của luồng nhập sẽ được biến đổi thành một số thực có giá trị thuộc nửa khoảng [0;1). Việc biến đổi này tuân theo ánh xạ 1-1.</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Đối với phương pháp này, trước hết, chúng ta cần lập bảng thống kê tần số xuất hiện của các kí tự. Sau đó gán cho mỗi kí tự một khoảng biên thiên và gọi là hàng của kí tự đó.</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hóa huffman</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vi-VN" altLang="en-US"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a, </a:t>
            </a: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Mô hình</a:t>
            </a:r>
            <a:r>
              <a:rPr lang="vi-VN" altLang="en-US"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ng</a:t>
            </a: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uồn số liệu</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Như ta đã biết, Entropy của nguồn số liệu phụ thuộc vào xác suất, trong khi đó, xác suất lại phụ thuộc vào mô hình. Do đó, xác suất sẽ thay đổi nếu như chúng ta thay đổi mô hình và Entropy cũng biến đổi theo. Như vậy, có thể thấy rằng hiệu quả nén phụ thuộc rất nhiều vào mô hình.</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Nhìn chung, quá trình nén không thể hoàn hảo được thực hiện dựa vào một trong hai kiểu mô hình khác nhau: mô hình thông kê (Statistical) và mô hình từ điển (Dictionary-based). Nén theo mô hình thông kê sẽ mã hoá mỗi lúc một kí hiệu dựa vào tần suất xuất hiện của nó. Nén theo mô hình từ điển sẽ mã hoá mỗi lúc một chuỗi kí hiệu chỉ bằng một từ mã. Như vậy, vai trò của mô hình là vô cùng quan trọng. Một mó hinh tốt sẽ cho hiệu quả nén cao và ngược lại.</a:t>
            </a: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hóa huffman</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vi-VN"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 </a:t>
            </a:r>
            <a:r>
              <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Mô hình thống kê</a:t>
            </a:r>
            <a:endPar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Dạng đơn giản nhất của mô hình này, đúng như tên gọi của nó, là thống kê các khối số liệu điển hình nào đó để có được một bảng tĩnh liệt kê các giá trị tần suất. Dựa vào bảng này, một cây mã tĩnh được xây dựng sẵn và lưu trữ để có thể sử dụng nhiều lần. Một mô hình như thế được gọi là mô hình thống kê tĩnh (Static statistical model).</a:t>
            </a:r>
            <a:endPar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Mã hóa huffman</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just">
              <a:lnSpc>
                <a:spcPct val="150000"/>
              </a:lnSpc>
              <a:buFont typeface="Wingdings" panose="05000000000000000000" charset="0"/>
              <a:buNone/>
            </a:pPr>
            <a:r>
              <a:rPr lang="vi-VN"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c, </a:t>
            </a:r>
            <a:r>
              <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Mô hình từ điển</a:t>
            </a:r>
            <a:endPar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Đặc điểm chung của các mô hình thông kê là mã hóa (và giải mã) một lúc một kí hiệu. Còn các mô hình từ điển thì tạo mã cho một cụm hoặc loạt kí hiệu. Nguyên tắc của chúng là tạo một ảnh xạ từ một chuỗi kí hiệu thành mã sao cho kích thước của mã nhỏ hơn kích thước của chuỗi kí hiệu đó. Khi mã hóa, dữ liệu được đọc vào và thuật toán tìm xem có nhóm kí hiệu tương tự nào xuất hiện trong từ điển hay không. Nếu có, nó sẽ xuất ra một mã ảnh xạ đến nhóm kí hiệu đó. Dữ liệu vào càng trùng hợp với các nhóm kí hiệu trong từ điển hoặc kich thước nhóm ki hiệu được ảnh xạ càng lớn thì hiểu quả nén càng cao. Ở đây, vai trò của mô hình hóa là cực kỳ quan trọng, công việc mã hoá chỉ đóng vai trò thứ yếu.</a:t>
            </a:r>
            <a:endPar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endPar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127000" indent="0" algn="just">
              <a:lnSpc>
                <a:spcPct val="150000"/>
              </a:lnSpc>
              <a:buFont typeface="Wingdings" panose="05000000000000000000" charset="0"/>
              <a:buNone/>
            </a:pPr>
            <a:r>
              <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Thực tế cho thấy, so với các kỹ thuật nén sử dụng mô hình thống kê, các kỹ thuật nén áp dụng mô hình từ điển cho một hiệu quả cao hơn nhiều, cả về tỉ số nén, tốc độ né và giải nén. Đó là lý do chúng được sử dụng phổ biến hiện nay.</a:t>
            </a:r>
            <a:endParaRPr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471" name="组合 1109"/>
          <p:cNvGrpSpPr/>
          <p:nvPr/>
        </p:nvGrpSpPr>
        <p:grpSpPr bwMode="auto">
          <a:xfrm>
            <a:off x="477520"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713140" y="1427457"/>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3</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705558" y="3168424"/>
            <a:ext cx="8599265"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Cài đặt mã hóa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Huffman</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25</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1</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l">
              <a:lnSpc>
                <a:spcPct val="150000"/>
              </a:lnSpc>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Bước 1. Đọc dữ liệu đầu vào: Sử dụng C++ để đọc dữ liệu từ một tệp tin ngoài. (lấy dữ liệu từ ngoài)</a:t>
            </a:r>
            <a:endParaRPr lang="en-US" sz="2400">
              <a:solidFill>
                <a:schemeClr val="bg1"/>
              </a:solidFill>
              <a:latin typeface="Microsoft YaHei" panose="020B0503020204020204" pitchFamily="34" charset="-122"/>
              <a:ea typeface="Microsoft YaHei" panose="020B0503020204020204" pitchFamily="34" charset="-122"/>
              <a:sym typeface="+mn-ea"/>
            </a:endParaRPr>
          </a:p>
          <a:p>
            <a:pPr marL="127000" indent="0" algn="l">
              <a:lnSpc>
                <a:spcPct val="150000"/>
              </a:lnSpc>
              <a:buFont typeface="Wingdings" panose="05000000000000000000" charset="0"/>
              <a:buNone/>
            </a:pPr>
            <a:endParaRPr lang="en-US" sz="2400">
              <a:solidFill>
                <a:schemeClr val="bg1"/>
              </a:solidFill>
              <a:latin typeface="Microsoft YaHei" panose="020B0503020204020204" pitchFamily="34" charset="-122"/>
              <a:ea typeface="Microsoft YaHei" panose="020B0503020204020204" pitchFamily="34" charset="-122"/>
              <a:sym typeface="+mn-ea"/>
            </a:endParaRPr>
          </a:p>
          <a:p>
            <a:pPr marL="127000" indent="0" algn="l">
              <a:lnSpc>
                <a:spcPct val="150000"/>
              </a:lnSpc>
              <a:buFont typeface="Wingdings" panose="05000000000000000000" charset="0"/>
              <a:buNone/>
            </a:pPr>
            <a:endParaRPr 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505" name="组合 1208"/>
          <p:cNvGrpSpPr/>
          <p:nvPr/>
        </p:nvGrpSpPr>
        <p:grpSpPr bwMode="auto">
          <a:xfrm>
            <a:off x="1540510" y="667385"/>
            <a:ext cx="476885" cy="616585"/>
            <a:chOff x="0" y="0"/>
            <a:chExt cx="471173" cy="640601"/>
          </a:xfrm>
          <a:solidFill>
            <a:schemeClr val="bg1"/>
          </a:solidFill>
        </p:grpSpPr>
        <p:sp>
          <p:nvSpPr>
            <p:cNvPr id="506" name="Freeform 621"/>
            <p:cNvSpPr>
              <a:spLocks noChangeArrowheads="1"/>
            </p:cNvSpPr>
            <p:nvPr/>
          </p:nvSpPr>
          <p:spPr bwMode="auto">
            <a:xfrm>
              <a:off x="0" y="88637"/>
              <a:ext cx="471173" cy="551964"/>
            </a:xfrm>
            <a:custGeom>
              <a:avLst/>
              <a:gdLst>
                <a:gd name="T0" fmla="*/ 2147483647 w 247"/>
                <a:gd name="T1" fmla="*/ 2147483647 h 289"/>
                <a:gd name="T2" fmla="*/ 2147483647 w 247"/>
                <a:gd name="T3" fmla="*/ 2147483647 h 289"/>
                <a:gd name="T4" fmla="*/ 2147483647 w 247"/>
                <a:gd name="T5" fmla="*/ 2147483647 h 289"/>
                <a:gd name="T6" fmla="*/ 0 w 247"/>
                <a:gd name="T7" fmla="*/ 2147483647 h 289"/>
                <a:gd name="T8" fmla="*/ 0 w 247"/>
                <a:gd name="T9" fmla="*/ 2147483647 h 289"/>
                <a:gd name="T10" fmla="*/ 2147483647 w 247"/>
                <a:gd name="T11" fmla="*/ 0 h 289"/>
                <a:gd name="T12" fmla="*/ 2147483647 w 247"/>
                <a:gd name="T13" fmla="*/ 0 h 289"/>
                <a:gd name="T14" fmla="*/ 2147483647 w 247"/>
                <a:gd name="T15" fmla="*/ 2147483647 h 289"/>
                <a:gd name="T16" fmla="*/ 2147483647 w 247"/>
                <a:gd name="T17" fmla="*/ 2147483647 h 2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7"/>
                <a:gd name="T28" fmla="*/ 0 h 289"/>
                <a:gd name="T29" fmla="*/ 247 w 247"/>
                <a:gd name="T30" fmla="*/ 289 h 2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7" h="289">
                  <a:moveTo>
                    <a:pt x="247" y="288"/>
                  </a:moveTo>
                  <a:cubicBezTo>
                    <a:pt x="247" y="289"/>
                    <a:pt x="246" y="289"/>
                    <a:pt x="245" y="289"/>
                  </a:cubicBezTo>
                  <a:cubicBezTo>
                    <a:pt x="2" y="289"/>
                    <a:pt x="2" y="289"/>
                    <a:pt x="2" y="289"/>
                  </a:cubicBezTo>
                  <a:cubicBezTo>
                    <a:pt x="1" y="289"/>
                    <a:pt x="0" y="289"/>
                    <a:pt x="0" y="288"/>
                  </a:cubicBezTo>
                  <a:cubicBezTo>
                    <a:pt x="0" y="1"/>
                    <a:pt x="0" y="1"/>
                    <a:pt x="0" y="1"/>
                  </a:cubicBezTo>
                  <a:cubicBezTo>
                    <a:pt x="0" y="0"/>
                    <a:pt x="1" y="0"/>
                    <a:pt x="2" y="0"/>
                  </a:cubicBezTo>
                  <a:cubicBezTo>
                    <a:pt x="245" y="0"/>
                    <a:pt x="245" y="0"/>
                    <a:pt x="245" y="0"/>
                  </a:cubicBezTo>
                  <a:cubicBezTo>
                    <a:pt x="246" y="0"/>
                    <a:pt x="247" y="0"/>
                    <a:pt x="247" y="1"/>
                  </a:cubicBezTo>
                  <a:lnTo>
                    <a:pt x="247" y="28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07" name="Freeform 622"/>
            <p:cNvSpPr>
              <a:spLocks noChangeArrowheads="1"/>
            </p:cNvSpPr>
            <p:nvPr/>
          </p:nvSpPr>
          <p:spPr bwMode="auto">
            <a:xfrm>
              <a:off x="30203" y="120868"/>
              <a:ext cx="410766" cy="499588"/>
            </a:xfrm>
            <a:custGeom>
              <a:avLst/>
              <a:gdLst>
                <a:gd name="T0" fmla="*/ 2147483647 w 508"/>
                <a:gd name="T1" fmla="*/ 0 h 619"/>
                <a:gd name="T2" fmla="*/ 0 w 508"/>
                <a:gd name="T3" fmla="*/ 0 h 619"/>
                <a:gd name="T4" fmla="*/ 0 w 508"/>
                <a:gd name="T5" fmla="*/ 2147483647 h 619"/>
                <a:gd name="T6" fmla="*/ 2147483647 w 508"/>
                <a:gd name="T7" fmla="*/ 2147483647 h 619"/>
                <a:gd name="T8" fmla="*/ 2147483647 w 508"/>
                <a:gd name="T9" fmla="*/ 2147483647 h 619"/>
                <a:gd name="T10" fmla="*/ 2147483647 w 508"/>
                <a:gd name="T11" fmla="*/ 0 h 619"/>
                <a:gd name="T12" fmla="*/ 0 60000 65536"/>
                <a:gd name="T13" fmla="*/ 0 60000 65536"/>
                <a:gd name="T14" fmla="*/ 0 60000 65536"/>
                <a:gd name="T15" fmla="*/ 0 60000 65536"/>
                <a:gd name="T16" fmla="*/ 0 60000 65536"/>
                <a:gd name="T17" fmla="*/ 0 60000 65536"/>
                <a:gd name="T18" fmla="*/ 0 w 508"/>
                <a:gd name="T19" fmla="*/ 0 h 619"/>
                <a:gd name="T20" fmla="*/ 508 w 508"/>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508" h="619">
                  <a:moveTo>
                    <a:pt x="508" y="0"/>
                  </a:moveTo>
                  <a:lnTo>
                    <a:pt x="0" y="0"/>
                  </a:lnTo>
                  <a:lnTo>
                    <a:pt x="0" y="461"/>
                  </a:lnTo>
                  <a:lnTo>
                    <a:pt x="158" y="619"/>
                  </a:lnTo>
                  <a:lnTo>
                    <a:pt x="508" y="619"/>
                  </a:lnTo>
                  <a:lnTo>
                    <a:pt x="50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08" name="Freeform 623"/>
            <p:cNvSpPr>
              <a:spLocks noChangeArrowheads="1"/>
            </p:cNvSpPr>
            <p:nvPr/>
          </p:nvSpPr>
          <p:spPr bwMode="auto">
            <a:xfrm>
              <a:off x="30203" y="491530"/>
              <a:ext cx="128868" cy="128926"/>
            </a:xfrm>
            <a:custGeom>
              <a:avLst/>
              <a:gdLst>
                <a:gd name="T0" fmla="*/ 2147483647 w 158"/>
                <a:gd name="T1" fmla="*/ 2147483647 h 158"/>
                <a:gd name="T2" fmla="*/ 2147483647 w 158"/>
                <a:gd name="T3" fmla="*/ 0 h 158"/>
                <a:gd name="T4" fmla="*/ 0 w 158"/>
                <a:gd name="T5" fmla="*/ 0 h 158"/>
                <a:gd name="T6" fmla="*/ 2147483647 w 158"/>
                <a:gd name="T7" fmla="*/ 2147483647 h 158"/>
                <a:gd name="T8" fmla="*/ 2147483647 w 158"/>
                <a:gd name="T9" fmla="*/ 2147483647 h 158"/>
                <a:gd name="T10" fmla="*/ 0 60000 65536"/>
                <a:gd name="T11" fmla="*/ 0 60000 65536"/>
                <a:gd name="T12" fmla="*/ 0 60000 65536"/>
                <a:gd name="T13" fmla="*/ 0 60000 65536"/>
                <a:gd name="T14" fmla="*/ 0 60000 65536"/>
                <a:gd name="T15" fmla="*/ 0 w 158"/>
                <a:gd name="T16" fmla="*/ 0 h 158"/>
                <a:gd name="T17" fmla="*/ 158 w 158"/>
                <a:gd name="T18" fmla="*/ 158 h 158"/>
              </a:gdLst>
              <a:ahLst/>
              <a:cxnLst>
                <a:cxn ang="T10">
                  <a:pos x="T0" y="T1"/>
                </a:cxn>
                <a:cxn ang="T11">
                  <a:pos x="T2" y="T3"/>
                </a:cxn>
                <a:cxn ang="T12">
                  <a:pos x="T4" y="T5"/>
                </a:cxn>
                <a:cxn ang="T13">
                  <a:pos x="T6" y="T7"/>
                </a:cxn>
                <a:cxn ang="T14">
                  <a:pos x="T8" y="T9"/>
                </a:cxn>
              </a:cxnLst>
              <a:rect l="T15" t="T16" r="T17" b="T18"/>
              <a:pathLst>
                <a:path w="158" h="158">
                  <a:moveTo>
                    <a:pt x="158" y="158"/>
                  </a:moveTo>
                  <a:lnTo>
                    <a:pt x="158" y="0"/>
                  </a:lnTo>
                  <a:lnTo>
                    <a:pt x="0" y="0"/>
                  </a:lnTo>
                  <a:lnTo>
                    <a:pt x="158" y="15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09" name="Freeform 624"/>
            <p:cNvSpPr>
              <a:spLocks noChangeArrowheads="1"/>
            </p:cNvSpPr>
            <p:nvPr/>
          </p:nvSpPr>
          <p:spPr bwMode="auto">
            <a:xfrm>
              <a:off x="159071" y="491530"/>
              <a:ext cx="126855" cy="128926"/>
            </a:xfrm>
            <a:custGeom>
              <a:avLst/>
              <a:gdLst>
                <a:gd name="T0" fmla="*/ 0 w 158"/>
                <a:gd name="T1" fmla="*/ 0 h 158"/>
                <a:gd name="T2" fmla="*/ 0 w 158"/>
                <a:gd name="T3" fmla="*/ 2147483647 h 158"/>
                <a:gd name="T4" fmla="*/ 2147483647 w 158"/>
                <a:gd name="T5" fmla="*/ 2147483647 h 158"/>
                <a:gd name="T6" fmla="*/ 0 w 158"/>
                <a:gd name="T7" fmla="*/ 0 h 158"/>
                <a:gd name="T8" fmla="*/ 0 60000 65536"/>
                <a:gd name="T9" fmla="*/ 0 60000 65536"/>
                <a:gd name="T10" fmla="*/ 0 60000 65536"/>
                <a:gd name="T11" fmla="*/ 0 60000 65536"/>
                <a:gd name="T12" fmla="*/ 0 w 158"/>
                <a:gd name="T13" fmla="*/ 0 h 158"/>
                <a:gd name="T14" fmla="*/ 158 w 158"/>
                <a:gd name="T15" fmla="*/ 158 h 158"/>
              </a:gdLst>
              <a:ahLst/>
              <a:cxnLst>
                <a:cxn ang="T8">
                  <a:pos x="T0" y="T1"/>
                </a:cxn>
                <a:cxn ang="T9">
                  <a:pos x="T2" y="T3"/>
                </a:cxn>
                <a:cxn ang="T10">
                  <a:pos x="T4" y="T5"/>
                </a:cxn>
                <a:cxn ang="T11">
                  <a:pos x="T6" y="T7"/>
                </a:cxn>
              </a:cxnLst>
              <a:rect l="T12" t="T13" r="T14" b="T15"/>
              <a:pathLst>
                <a:path w="158" h="158">
                  <a:moveTo>
                    <a:pt x="0" y="0"/>
                  </a:moveTo>
                  <a:lnTo>
                    <a:pt x="0" y="158"/>
                  </a:lnTo>
                  <a:lnTo>
                    <a:pt x="158" y="158"/>
                  </a:ln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0" name="Rectangle 625"/>
            <p:cNvSpPr>
              <a:spLocks noChangeArrowheads="1"/>
            </p:cNvSpPr>
            <p:nvPr/>
          </p:nvSpPr>
          <p:spPr bwMode="auto">
            <a:xfrm>
              <a:off x="100678" y="257852"/>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1" name="Rectangle 626"/>
            <p:cNvSpPr>
              <a:spLocks noChangeArrowheads="1"/>
            </p:cNvSpPr>
            <p:nvPr/>
          </p:nvSpPr>
          <p:spPr bwMode="auto">
            <a:xfrm>
              <a:off x="100678" y="322315"/>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2" name="Rectangle 627"/>
            <p:cNvSpPr>
              <a:spLocks noChangeArrowheads="1"/>
            </p:cNvSpPr>
            <p:nvPr/>
          </p:nvSpPr>
          <p:spPr bwMode="auto">
            <a:xfrm>
              <a:off x="100678" y="386778"/>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3" name="Rectangle 628"/>
            <p:cNvSpPr>
              <a:spLocks noChangeArrowheads="1"/>
            </p:cNvSpPr>
            <p:nvPr/>
          </p:nvSpPr>
          <p:spPr bwMode="auto">
            <a:xfrm>
              <a:off x="100678" y="451241"/>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4" name="Freeform 629"/>
            <p:cNvSpPr>
              <a:spLocks noChangeArrowheads="1"/>
            </p:cNvSpPr>
            <p:nvPr/>
          </p:nvSpPr>
          <p:spPr bwMode="auto">
            <a:xfrm>
              <a:off x="72488" y="96694"/>
              <a:ext cx="320155" cy="60434"/>
            </a:xfrm>
            <a:custGeom>
              <a:avLst/>
              <a:gdLst>
                <a:gd name="T0" fmla="*/ 2147483647 w 168"/>
                <a:gd name="T1" fmla="*/ 0 h 32"/>
                <a:gd name="T2" fmla="*/ 2147483647 w 168"/>
                <a:gd name="T3" fmla="*/ 0 h 32"/>
                <a:gd name="T4" fmla="*/ 0 w 168"/>
                <a:gd name="T5" fmla="*/ 2147483647 h 32"/>
                <a:gd name="T6" fmla="*/ 0 w 168"/>
                <a:gd name="T7" fmla="*/ 2147483647 h 32"/>
                <a:gd name="T8" fmla="*/ 2147483647 w 168"/>
                <a:gd name="T9" fmla="*/ 2147483647 h 32"/>
                <a:gd name="T10" fmla="*/ 2147483647 w 168"/>
                <a:gd name="T11" fmla="*/ 2147483647 h 32"/>
                <a:gd name="T12" fmla="*/ 2147483647 w 168"/>
                <a:gd name="T13" fmla="*/ 2147483647 h 32"/>
                <a:gd name="T14" fmla="*/ 2147483647 w 168"/>
                <a:gd name="T15" fmla="*/ 2147483647 h 32"/>
                <a:gd name="T16" fmla="*/ 2147483647 w 168"/>
                <a:gd name="T17" fmla="*/ 2147483647 h 32"/>
                <a:gd name="T18" fmla="*/ 2147483647 w 168"/>
                <a:gd name="T19" fmla="*/ 2147483647 h 32"/>
                <a:gd name="T20" fmla="*/ 2147483647 w 168"/>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8"/>
                <a:gd name="T34" fmla="*/ 0 h 32"/>
                <a:gd name="T35" fmla="*/ 168 w 168"/>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8" h="32">
                  <a:moveTo>
                    <a:pt x="149" y="0"/>
                  </a:moveTo>
                  <a:cubicBezTo>
                    <a:pt x="19" y="0"/>
                    <a:pt x="19" y="0"/>
                    <a:pt x="19" y="0"/>
                  </a:cubicBezTo>
                  <a:cubicBezTo>
                    <a:pt x="9" y="0"/>
                    <a:pt x="0" y="7"/>
                    <a:pt x="0" y="16"/>
                  </a:cubicBezTo>
                  <a:cubicBezTo>
                    <a:pt x="0" y="26"/>
                    <a:pt x="0" y="26"/>
                    <a:pt x="0" y="26"/>
                  </a:cubicBezTo>
                  <a:cubicBezTo>
                    <a:pt x="0" y="29"/>
                    <a:pt x="3" y="32"/>
                    <a:pt x="6" y="32"/>
                  </a:cubicBezTo>
                  <a:cubicBezTo>
                    <a:pt x="19" y="32"/>
                    <a:pt x="19" y="32"/>
                    <a:pt x="19" y="32"/>
                  </a:cubicBezTo>
                  <a:cubicBezTo>
                    <a:pt x="149" y="32"/>
                    <a:pt x="149" y="32"/>
                    <a:pt x="149" y="32"/>
                  </a:cubicBezTo>
                  <a:cubicBezTo>
                    <a:pt x="162" y="32"/>
                    <a:pt x="162" y="32"/>
                    <a:pt x="162" y="32"/>
                  </a:cubicBezTo>
                  <a:cubicBezTo>
                    <a:pt x="166" y="32"/>
                    <a:pt x="168" y="29"/>
                    <a:pt x="168" y="26"/>
                  </a:cubicBezTo>
                  <a:cubicBezTo>
                    <a:pt x="168" y="16"/>
                    <a:pt x="168" y="16"/>
                    <a:pt x="168" y="16"/>
                  </a:cubicBezTo>
                  <a:cubicBezTo>
                    <a:pt x="168" y="7"/>
                    <a:pt x="160" y="0"/>
                    <a:pt x="149"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5" name="Freeform 630"/>
            <p:cNvSpPr>
              <a:spLocks noChangeArrowheads="1"/>
            </p:cNvSpPr>
            <p:nvPr/>
          </p:nvSpPr>
          <p:spPr bwMode="auto">
            <a:xfrm>
              <a:off x="72488" y="124897"/>
              <a:ext cx="320155" cy="32231"/>
            </a:xfrm>
            <a:custGeom>
              <a:avLst/>
              <a:gdLst>
                <a:gd name="T0" fmla="*/ 0 w 168"/>
                <a:gd name="T1" fmla="*/ 2147483647 h 17"/>
                <a:gd name="T2" fmla="*/ 0 w 168"/>
                <a:gd name="T3" fmla="*/ 2147483647 h 17"/>
                <a:gd name="T4" fmla="*/ 2147483647 w 168"/>
                <a:gd name="T5" fmla="*/ 2147483647 h 17"/>
                <a:gd name="T6" fmla="*/ 2147483647 w 168"/>
                <a:gd name="T7" fmla="*/ 2147483647 h 17"/>
                <a:gd name="T8" fmla="*/ 2147483647 w 168"/>
                <a:gd name="T9" fmla="*/ 2147483647 h 17"/>
                <a:gd name="T10" fmla="*/ 2147483647 w 168"/>
                <a:gd name="T11" fmla="*/ 2147483647 h 17"/>
                <a:gd name="T12" fmla="*/ 2147483647 w 168"/>
                <a:gd name="T13" fmla="*/ 0 h 17"/>
                <a:gd name="T14" fmla="*/ 0 w 168"/>
                <a:gd name="T15" fmla="*/ 0 h 17"/>
                <a:gd name="T16" fmla="*/ 0 w 168"/>
                <a:gd name="T17" fmla="*/ 214748364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8"/>
                <a:gd name="T28" fmla="*/ 0 h 17"/>
                <a:gd name="T29" fmla="*/ 168 w 16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8" h="17">
                  <a:moveTo>
                    <a:pt x="0" y="1"/>
                  </a:moveTo>
                  <a:cubicBezTo>
                    <a:pt x="0" y="11"/>
                    <a:pt x="0" y="11"/>
                    <a:pt x="0" y="11"/>
                  </a:cubicBezTo>
                  <a:cubicBezTo>
                    <a:pt x="0" y="14"/>
                    <a:pt x="3" y="17"/>
                    <a:pt x="6" y="17"/>
                  </a:cubicBezTo>
                  <a:cubicBezTo>
                    <a:pt x="162" y="17"/>
                    <a:pt x="162" y="17"/>
                    <a:pt x="162" y="17"/>
                  </a:cubicBezTo>
                  <a:cubicBezTo>
                    <a:pt x="166" y="17"/>
                    <a:pt x="168" y="14"/>
                    <a:pt x="168" y="11"/>
                  </a:cubicBezTo>
                  <a:cubicBezTo>
                    <a:pt x="168" y="1"/>
                    <a:pt x="168" y="1"/>
                    <a:pt x="168" y="1"/>
                  </a:cubicBezTo>
                  <a:cubicBezTo>
                    <a:pt x="168" y="1"/>
                    <a:pt x="168" y="0"/>
                    <a:pt x="168" y="0"/>
                  </a:cubicBezTo>
                  <a:cubicBezTo>
                    <a:pt x="0" y="0"/>
                    <a:pt x="0" y="0"/>
                    <a:pt x="0" y="0"/>
                  </a:cubicBezTo>
                  <a:cubicBezTo>
                    <a:pt x="0" y="0"/>
                    <a:pt x="0" y="1"/>
                    <a:pt x="0" y="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6" name="Freeform 631"/>
            <p:cNvSpPr>
              <a:spLocks noEditPoints="1" noChangeArrowheads="1"/>
            </p:cNvSpPr>
            <p:nvPr/>
          </p:nvSpPr>
          <p:spPr bwMode="auto">
            <a:xfrm>
              <a:off x="181220" y="0"/>
              <a:ext cx="110745" cy="96694"/>
            </a:xfrm>
            <a:custGeom>
              <a:avLst/>
              <a:gdLst>
                <a:gd name="T0" fmla="*/ 2147483647 w 58"/>
                <a:gd name="T1" fmla="*/ 2147483647 h 51"/>
                <a:gd name="T2" fmla="*/ 2147483647 w 58"/>
                <a:gd name="T3" fmla="*/ 2147483647 h 51"/>
                <a:gd name="T4" fmla="*/ 2147483647 w 58"/>
                <a:gd name="T5" fmla="*/ 0 h 51"/>
                <a:gd name="T6" fmla="*/ 0 w 58"/>
                <a:gd name="T7" fmla="*/ 2147483647 h 51"/>
                <a:gd name="T8" fmla="*/ 0 w 58"/>
                <a:gd name="T9" fmla="*/ 2147483647 h 51"/>
                <a:gd name="T10" fmla="*/ 0 w 58"/>
                <a:gd name="T11" fmla="*/ 2147483647 h 51"/>
                <a:gd name="T12" fmla="*/ 2147483647 w 58"/>
                <a:gd name="T13" fmla="*/ 2147483647 h 51"/>
                <a:gd name="T14" fmla="*/ 2147483647 w 58"/>
                <a:gd name="T15" fmla="*/ 2147483647 h 51"/>
                <a:gd name="T16" fmla="*/ 2147483647 w 58"/>
                <a:gd name="T17" fmla="*/ 2147483647 h 51"/>
                <a:gd name="T18" fmla="*/ 2147483647 w 58"/>
                <a:gd name="T19" fmla="*/ 2147483647 h 51"/>
                <a:gd name="T20" fmla="*/ 2147483647 w 58"/>
                <a:gd name="T21" fmla="*/ 2147483647 h 51"/>
                <a:gd name="T22" fmla="*/ 2147483647 w 58"/>
                <a:gd name="T23" fmla="*/ 2147483647 h 51"/>
                <a:gd name="T24" fmla="*/ 2147483647 w 58"/>
                <a:gd name="T25" fmla="*/ 2147483647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51"/>
                <a:gd name="T41" fmla="*/ 58 w 58"/>
                <a:gd name="T42" fmla="*/ 51 h 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51">
                  <a:moveTo>
                    <a:pt x="58" y="29"/>
                  </a:moveTo>
                  <a:cubicBezTo>
                    <a:pt x="58" y="29"/>
                    <a:pt x="58" y="29"/>
                    <a:pt x="58" y="29"/>
                  </a:cubicBezTo>
                  <a:cubicBezTo>
                    <a:pt x="58" y="13"/>
                    <a:pt x="45" y="0"/>
                    <a:pt x="29" y="0"/>
                  </a:cubicBezTo>
                  <a:cubicBezTo>
                    <a:pt x="13" y="0"/>
                    <a:pt x="0" y="13"/>
                    <a:pt x="0" y="29"/>
                  </a:cubicBezTo>
                  <a:cubicBezTo>
                    <a:pt x="0" y="30"/>
                    <a:pt x="0" y="30"/>
                    <a:pt x="0" y="30"/>
                  </a:cubicBezTo>
                  <a:cubicBezTo>
                    <a:pt x="0" y="51"/>
                    <a:pt x="0" y="51"/>
                    <a:pt x="0" y="51"/>
                  </a:cubicBezTo>
                  <a:cubicBezTo>
                    <a:pt x="58" y="51"/>
                    <a:pt x="58" y="51"/>
                    <a:pt x="58" y="51"/>
                  </a:cubicBezTo>
                  <a:lnTo>
                    <a:pt x="58" y="29"/>
                  </a:lnTo>
                  <a:close/>
                  <a:moveTo>
                    <a:pt x="29" y="40"/>
                  </a:moveTo>
                  <a:cubicBezTo>
                    <a:pt x="24" y="40"/>
                    <a:pt x="19" y="35"/>
                    <a:pt x="19" y="29"/>
                  </a:cubicBezTo>
                  <a:cubicBezTo>
                    <a:pt x="19" y="23"/>
                    <a:pt x="24" y="19"/>
                    <a:pt x="29" y="19"/>
                  </a:cubicBezTo>
                  <a:cubicBezTo>
                    <a:pt x="35" y="19"/>
                    <a:pt x="40" y="23"/>
                    <a:pt x="40" y="29"/>
                  </a:cubicBezTo>
                  <a:cubicBezTo>
                    <a:pt x="40" y="35"/>
                    <a:pt x="35" y="40"/>
                    <a:pt x="29" y="4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7" name="Freeform 632"/>
            <p:cNvSpPr>
              <a:spLocks noEditPoints="1" noChangeArrowheads="1"/>
            </p:cNvSpPr>
            <p:nvPr/>
          </p:nvSpPr>
          <p:spPr bwMode="auto">
            <a:xfrm>
              <a:off x="205383" y="24174"/>
              <a:ext cx="62420" cy="64463"/>
            </a:xfrm>
            <a:custGeom>
              <a:avLst/>
              <a:gdLst>
                <a:gd name="T0" fmla="*/ 2147483647 w 33"/>
                <a:gd name="T1" fmla="*/ 0 h 33"/>
                <a:gd name="T2" fmla="*/ 0 w 33"/>
                <a:gd name="T3" fmla="*/ 2147483647 h 33"/>
                <a:gd name="T4" fmla="*/ 2147483647 w 33"/>
                <a:gd name="T5" fmla="*/ 2147483647 h 33"/>
                <a:gd name="T6" fmla="*/ 2147483647 w 33"/>
                <a:gd name="T7" fmla="*/ 2147483647 h 33"/>
                <a:gd name="T8" fmla="*/ 2147483647 w 33"/>
                <a:gd name="T9" fmla="*/ 0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0"/>
                  </a:moveTo>
                  <a:cubicBezTo>
                    <a:pt x="7" y="0"/>
                    <a:pt x="0" y="7"/>
                    <a:pt x="0" y="16"/>
                  </a:cubicBezTo>
                  <a:cubicBezTo>
                    <a:pt x="0" y="25"/>
                    <a:pt x="7" y="33"/>
                    <a:pt x="16" y="33"/>
                  </a:cubicBezTo>
                  <a:cubicBezTo>
                    <a:pt x="25" y="33"/>
                    <a:pt x="33" y="25"/>
                    <a:pt x="33" y="16"/>
                  </a:cubicBezTo>
                  <a:cubicBezTo>
                    <a:pt x="33" y="7"/>
                    <a:pt x="25" y="0"/>
                    <a:pt x="16" y="0"/>
                  </a:cubicBezTo>
                  <a:close/>
                  <a:moveTo>
                    <a:pt x="16" y="27"/>
                  </a:moveTo>
                  <a:cubicBezTo>
                    <a:pt x="11" y="27"/>
                    <a:pt x="6" y="22"/>
                    <a:pt x="6" y="16"/>
                  </a:cubicBezTo>
                  <a:cubicBezTo>
                    <a:pt x="6" y="10"/>
                    <a:pt x="11" y="6"/>
                    <a:pt x="16" y="6"/>
                  </a:cubicBezTo>
                  <a:cubicBezTo>
                    <a:pt x="22" y="6"/>
                    <a:pt x="27" y="10"/>
                    <a:pt x="27" y="16"/>
                  </a:cubicBezTo>
                  <a:cubicBezTo>
                    <a:pt x="27" y="22"/>
                    <a:pt x="22" y="27"/>
                    <a:pt x="16" y="2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8" name="Table 7"/>
          <p:cNvGraphicFramePr/>
          <p:nvPr/>
        </p:nvGraphicFramePr>
        <p:xfrm>
          <a:off x="533400" y="2635250"/>
          <a:ext cx="13348970" cy="7098665"/>
        </p:xfrm>
        <a:graphic>
          <a:graphicData uri="http://schemas.openxmlformats.org/drawingml/2006/table">
            <a:tbl>
              <a:tblPr firstRow="1" bandRow="1">
                <a:tableStyleId>{5C22544A-7EE6-4342-B048-85BDC9FD1C3A}</a:tableStyleId>
              </a:tblPr>
              <a:tblGrid>
                <a:gridCol w="13348970"/>
              </a:tblGrid>
              <a:tr h="7098665">
                <a:tc>
                  <a:txBody>
                    <a:bodyPr/>
                    <a:p>
                      <a:pPr>
                        <a:buNone/>
                      </a:pPr>
                      <a:r>
                        <a:rPr lang="en-US" sz="3200">
                          <a:latin typeface="Consolas" panose="020B0609020204030204" charset="0"/>
                          <a:cs typeface="Consolas" panose="020B0609020204030204" charset="0"/>
                        </a:rPr>
                        <a:t>string inputFile = "CNDPT_Nhom6.txt";</a:t>
                      </a:r>
                      <a:endParaRPr lang="en-US" sz="3200">
                        <a:latin typeface="Consolas" panose="020B0609020204030204" charset="0"/>
                        <a:cs typeface="Consolas" panose="020B0609020204030204" charset="0"/>
                      </a:endParaRPr>
                    </a:p>
                    <a:p>
                      <a:pPr>
                        <a:buNone/>
                      </a:pP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 Bước 1: Đọc dữ liệu từ tệp tin đầu vào</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ifstream inFile(inputFile, ios::binary | ios::ate);</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streampos fileSize = inFile.tellg();</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inFile.seekg(0, ios::beg);</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string data((unsigned int)fileSize, ' ');</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inFile.read(&amp;data[0], fileSize);</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inFile.close();</a:t>
                      </a:r>
                      <a:endParaRPr lang="en-US" sz="3200">
                        <a:latin typeface="Consolas" panose="020B0609020204030204" charset="0"/>
                        <a:cs typeface="Consolas" panose="020B0609020204030204" charset="0"/>
                      </a:endParaRPr>
                    </a:p>
                    <a:p>
                      <a:pPr>
                        <a:buNone/>
                      </a:pPr>
                      <a:endParaRPr lang="en-US" sz="32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26</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2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gn="l">
              <a:lnSpc>
                <a:spcPct val="150000"/>
              </a:lnSpc>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Bước 2. Xây dựng bảng thống kê tần xuất suất hiện của các ký tự: Sử dụng một map để lưu tần suất xuất hiện của từng ký tự trong dữ liệu.</a:t>
            </a:r>
            <a:endParaRPr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524" name="组合 1632"/>
          <p:cNvGrpSpPr/>
          <p:nvPr/>
        </p:nvGrpSpPr>
        <p:grpSpPr bwMode="auto">
          <a:xfrm>
            <a:off x="1983105" y="806450"/>
            <a:ext cx="572135" cy="481965"/>
            <a:chOff x="0" y="0"/>
            <a:chExt cx="619624" cy="539751"/>
          </a:xfrm>
          <a:solidFill>
            <a:schemeClr val="bg1"/>
          </a:solidFill>
        </p:grpSpPr>
        <p:sp>
          <p:nvSpPr>
            <p:cNvPr id="525" name="Freeform 215"/>
            <p:cNvSpPr>
              <a:spLocks noChangeArrowheads="1"/>
            </p:cNvSpPr>
            <p:nvPr/>
          </p:nvSpPr>
          <p:spPr bwMode="auto">
            <a:xfrm>
              <a:off x="32115" y="389298"/>
              <a:ext cx="555395" cy="150453"/>
            </a:xfrm>
            <a:custGeom>
              <a:avLst/>
              <a:gdLst>
                <a:gd name="T0" fmla="*/ 2147483647 w 291"/>
                <a:gd name="T1" fmla="*/ 2147483647 h 79"/>
                <a:gd name="T2" fmla="*/ 2147483647 w 291"/>
                <a:gd name="T3" fmla="*/ 2147483647 h 79"/>
                <a:gd name="T4" fmla="*/ 2147483647 w 291"/>
                <a:gd name="T5" fmla="*/ 2147483647 h 79"/>
                <a:gd name="T6" fmla="*/ 0 w 291"/>
                <a:gd name="T7" fmla="*/ 2147483647 h 79"/>
                <a:gd name="T8" fmla="*/ 0 w 291"/>
                <a:gd name="T9" fmla="*/ 2147483647 h 79"/>
                <a:gd name="T10" fmla="*/ 2147483647 w 291"/>
                <a:gd name="T11" fmla="*/ 0 h 79"/>
                <a:gd name="T12" fmla="*/ 2147483647 w 291"/>
                <a:gd name="T13" fmla="*/ 0 h 79"/>
                <a:gd name="T14" fmla="*/ 2147483647 w 291"/>
                <a:gd name="T15" fmla="*/ 2147483647 h 79"/>
                <a:gd name="T16" fmla="*/ 2147483647 w 291"/>
                <a:gd name="T17" fmla="*/ 2147483647 h 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1"/>
                <a:gd name="T28" fmla="*/ 0 h 79"/>
                <a:gd name="T29" fmla="*/ 291 w 291"/>
                <a:gd name="T30" fmla="*/ 79 h 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1" h="79">
                  <a:moveTo>
                    <a:pt x="291" y="71"/>
                  </a:moveTo>
                  <a:cubicBezTo>
                    <a:pt x="291" y="75"/>
                    <a:pt x="288" y="79"/>
                    <a:pt x="284" y="79"/>
                  </a:cubicBezTo>
                  <a:cubicBezTo>
                    <a:pt x="7" y="79"/>
                    <a:pt x="7" y="79"/>
                    <a:pt x="7" y="79"/>
                  </a:cubicBezTo>
                  <a:cubicBezTo>
                    <a:pt x="3" y="79"/>
                    <a:pt x="0" y="75"/>
                    <a:pt x="0" y="71"/>
                  </a:cubicBezTo>
                  <a:cubicBezTo>
                    <a:pt x="0" y="8"/>
                    <a:pt x="0" y="8"/>
                    <a:pt x="0" y="8"/>
                  </a:cubicBezTo>
                  <a:cubicBezTo>
                    <a:pt x="0" y="4"/>
                    <a:pt x="3" y="0"/>
                    <a:pt x="7" y="0"/>
                  </a:cubicBezTo>
                  <a:cubicBezTo>
                    <a:pt x="284" y="0"/>
                    <a:pt x="284" y="0"/>
                    <a:pt x="284" y="0"/>
                  </a:cubicBezTo>
                  <a:cubicBezTo>
                    <a:pt x="288" y="0"/>
                    <a:pt x="291" y="4"/>
                    <a:pt x="291" y="8"/>
                  </a:cubicBezTo>
                  <a:lnTo>
                    <a:pt x="291" y="7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26" name="Rectangle 216"/>
            <p:cNvSpPr>
              <a:spLocks noChangeArrowheads="1"/>
            </p:cNvSpPr>
            <p:nvPr/>
          </p:nvSpPr>
          <p:spPr bwMode="auto">
            <a:xfrm>
              <a:off x="83120" y="425031"/>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27" name="Rectangle 217"/>
            <p:cNvSpPr>
              <a:spLocks noChangeArrowheads="1"/>
            </p:cNvSpPr>
            <p:nvPr/>
          </p:nvSpPr>
          <p:spPr bwMode="auto">
            <a:xfrm>
              <a:off x="83120" y="47769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28" name="Rectangle 218"/>
            <p:cNvSpPr>
              <a:spLocks noChangeArrowheads="1"/>
            </p:cNvSpPr>
            <p:nvPr/>
          </p:nvSpPr>
          <p:spPr bwMode="auto">
            <a:xfrm>
              <a:off x="105789" y="451360"/>
              <a:ext cx="15113"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29" name="Rectangle 219"/>
            <p:cNvSpPr>
              <a:spLocks noChangeArrowheads="1"/>
            </p:cNvSpPr>
            <p:nvPr/>
          </p:nvSpPr>
          <p:spPr bwMode="auto">
            <a:xfrm>
              <a:off x="126570" y="425031"/>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0" name="Rectangle 220"/>
            <p:cNvSpPr>
              <a:spLocks noChangeArrowheads="1"/>
            </p:cNvSpPr>
            <p:nvPr/>
          </p:nvSpPr>
          <p:spPr bwMode="auto">
            <a:xfrm>
              <a:off x="126570" y="477690"/>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1" name="Rectangle 221"/>
            <p:cNvSpPr>
              <a:spLocks noChangeArrowheads="1"/>
            </p:cNvSpPr>
            <p:nvPr/>
          </p:nvSpPr>
          <p:spPr bwMode="auto">
            <a:xfrm>
              <a:off x="143571" y="451360"/>
              <a:ext cx="2078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2" name="Rectangle 222"/>
            <p:cNvSpPr>
              <a:spLocks noChangeArrowheads="1"/>
            </p:cNvSpPr>
            <p:nvPr/>
          </p:nvSpPr>
          <p:spPr bwMode="auto">
            <a:xfrm>
              <a:off x="166241" y="425031"/>
              <a:ext cx="17002"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3" name="Rectangle 223"/>
            <p:cNvSpPr>
              <a:spLocks noChangeArrowheads="1"/>
            </p:cNvSpPr>
            <p:nvPr/>
          </p:nvSpPr>
          <p:spPr bwMode="auto">
            <a:xfrm>
              <a:off x="166241" y="477690"/>
              <a:ext cx="17002"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4" name="Rectangle 224"/>
            <p:cNvSpPr>
              <a:spLocks noChangeArrowheads="1"/>
            </p:cNvSpPr>
            <p:nvPr/>
          </p:nvSpPr>
          <p:spPr bwMode="auto">
            <a:xfrm>
              <a:off x="187021" y="451360"/>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5" name="Rectangle 225"/>
            <p:cNvSpPr>
              <a:spLocks noChangeArrowheads="1"/>
            </p:cNvSpPr>
            <p:nvPr/>
          </p:nvSpPr>
          <p:spPr bwMode="auto">
            <a:xfrm>
              <a:off x="205912" y="425031"/>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6" name="Rectangle 226"/>
            <p:cNvSpPr>
              <a:spLocks noChangeArrowheads="1"/>
            </p:cNvSpPr>
            <p:nvPr/>
          </p:nvSpPr>
          <p:spPr bwMode="auto">
            <a:xfrm>
              <a:off x="205912" y="47769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7" name="Rectangle 227"/>
            <p:cNvSpPr>
              <a:spLocks noChangeArrowheads="1"/>
            </p:cNvSpPr>
            <p:nvPr/>
          </p:nvSpPr>
          <p:spPr bwMode="auto">
            <a:xfrm>
              <a:off x="226692" y="45136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8" name="Rectangle 228"/>
            <p:cNvSpPr>
              <a:spLocks noChangeArrowheads="1"/>
            </p:cNvSpPr>
            <p:nvPr/>
          </p:nvSpPr>
          <p:spPr bwMode="auto">
            <a:xfrm>
              <a:off x="247472" y="425031"/>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9" name="Rectangle 229"/>
            <p:cNvSpPr>
              <a:spLocks noChangeArrowheads="1"/>
            </p:cNvSpPr>
            <p:nvPr/>
          </p:nvSpPr>
          <p:spPr bwMode="auto">
            <a:xfrm>
              <a:off x="247472" y="477690"/>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0" name="Rectangle 230"/>
            <p:cNvSpPr>
              <a:spLocks noChangeArrowheads="1"/>
            </p:cNvSpPr>
            <p:nvPr/>
          </p:nvSpPr>
          <p:spPr bwMode="auto">
            <a:xfrm>
              <a:off x="266363" y="45136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1" name="Rectangle 231"/>
            <p:cNvSpPr>
              <a:spLocks noChangeArrowheads="1"/>
            </p:cNvSpPr>
            <p:nvPr/>
          </p:nvSpPr>
          <p:spPr bwMode="auto">
            <a:xfrm>
              <a:off x="515724" y="451360"/>
              <a:ext cx="20779"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2" name="Rectangle 232"/>
            <p:cNvSpPr>
              <a:spLocks noChangeArrowheads="1"/>
            </p:cNvSpPr>
            <p:nvPr/>
          </p:nvSpPr>
          <p:spPr bwMode="auto">
            <a:xfrm>
              <a:off x="336259" y="451360"/>
              <a:ext cx="113346"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3" name="Freeform 233"/>
            <p:cNvSpPr>
              <a:spLocks noChangeArrowheads="1"/>
            </p:cNvSpPr>
            <p:nvPr/>
          </p:nvSpPr>
          <p:spPr bwMode="auto">
            <a:xfrm>
              <a:off x="32115" y="0"/>
              <a:ext cx="555395" cy="148572"/>
            </a:xfrm>
            <a:custGeom>
              <a:avLst/>
              <a:gdLst>
                <a:gd name="T0" fmla="*/ 2147483647 w 291"/>
                <a:gd name="T1" fmla="*/ 2147483647 h 78"/>
                <a:gd name="T2" fmla="*/ 2147483647 w 291"/>
                <a:gd name="T3" fmla="*/ 2147483647 h 78"/>
                <a:gd name="T4" fmla="*/ 2147483647 w 291"/>
                <a:gd name="T5" fmla="*/ 2147483647 h 78"/>
                <a:gd name="T6" fmla="*/ 0 w 291"/>
                <a:gd name="T7" fmla="*/ 2147483647 h 78"/>
                <a:gd name="T8" fmla="*/ 0 w 291"/>
                <a:gd name="T9" fmla="*/ 2147483647 h 78"/>
                <a:gd name="T10" fmla="*/ 2147483647 w 291"/>
                <a:gd name="T11" fmla="*/ 0 h 78"/>
                <a:gd name="T12" fmla="*/ 2147483647 w 291"/>
                <a:gd name="T13" fmla="*/ 0 h 78"/>
                <a:gd name="T14" fmla="*/ 2147483647 w 291"/>
                <a:gd name="T15" fmla="*/ 2147483647 h 78"/>
                <a:gd name="T16" fmla="*/ 2147483647 w 291"/>
                <a:gd name="T17" fmla="*/ 2147483647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1"/>
                <a:gd name="T28" fmla="*/ 0 h 78"/>
                <a:gd name="T29" fmla="*/ 291 w 291"/>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1" h="78">
                  <a:moveTo>
                    <a:pt x="291" y="71"/>
                  </a:moveTo>
                  <a:cubicBezTo>
                    <a:pt x="291" y="75"/>
                    <a:pt x="288" y="78"/>
                    <a:pt x="284" y="78"/>
                  </a:cubicBezTo>
                  <a:cubicBezTo>
                    <a:pt x="7" y="78"/>
                    <a:pt x="7" y="78"/>
                    <a:pt x="7" y="78"/>
                  </a:cubicBezTo>
                  <a:cubicBezTo>
                    <a:pt x="3" y="78"/>
                    <a:pt x="0" y="75"/>
                    <a:pt x="0" y="71"/>
                  </a:cubicBezTo>
                  <a:cubicBezTo>
                    <a:pt x="0" y="7"/>
                    <a:pt x="0" y="7"/>
                    <a:pt x="0" y="7"/>
                  </a:cubicBezTo>
                  <a:cubicBezTo>
                    <a:pt x="0" y="4"/>
                    <a:pt x="3" y="0"/>
                    <a:pt x="7" y="0"/>
                  </a:cubicBezTo>
                  <a:cubicBezTo>
                    <a:pt x="284" y="0"/>
                    <a:pt x="284" y="0"/>
                    <a:pt x="284" y="0"/>
                  </a:cubicBezTo>
                  <a:cubicBezTo>
                    <a:pt x="288" y="0"/>
                    <a:pt x="291" y="4"/>
                    <a:pt x="291" y="7"/>
                  </a:cubicBezTo>
                  <a:lnTo>
                    <a:pt x="291" y="7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44" name="Rectangle 234"/>
            <p:cNvSpPr>
              <a:spLocks noChangeArrowheads="1"/>
            </p:cNvSpPr>
            <p:nvPr/>
          </p:nvSpPr>
          <p:spPr bwMode="auto">
            <a:xfrm>
              <a:off x="83120" y="3573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5" name="Rectangle 235"/>
            <p:cNvSpPr>
              <a:spLocks noChangeArrowheads="1"/>
            </p:cNvSpPr>
            <p:nvPr/>
          </p:nvSpPr>
          <p:spPr bwMode="auto">
            <a:xfrm>
              <a:off x="83120" y="90272"/>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6" name="Rectangle 236"/>
            <p:cNvSpPr>
              <a:spLocks noChangeArrowheads="1"/>
            </p:cNvSpPr>
            <p:nvPr/>
          </p:nvSpPr>
          <p:spPr bwMode="auto">
            <a:xfrm>
              <a:off x="105789" y="62061"/>
              <a:ext cx="15113"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7" name="Rectangle 237"/>
            <p:cNvSpPr>
              <a:spLocks noChangeArrowheads="1"/>
            </p:cNvSpPr>
            <p:nvPr/>
          </p:nvSpPr>
          <p:spPr bwMode="auto">
            <a:xfrm>
              <a:off x="126570" y="3573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8" name="Rectangle 238"/>
            <p:cNvSpPr>
              <a:spLocks noChangeArrowheads="1"/>
            </p:cNvSpPr>
            <p:nvPr/>
          </p:nvSpPr>
          <p:spPr bwMode="auto">
            <a:xfrm>
              <a:off x="126570" y="90272"/>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9" name="Rectangle 239"/>
            <p:cNvSpPr>
              <a:spLocks noChangeArrowheads="1"/>
            </p:cNvSpPr>
            <p:nvPr/>
          </p:nvSpPr>
          <p:spPr bwMode="auto">
            <a:xfrm>
              <a:off x="143571" y="62061"/>
              <a:ext cx="2078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0" name="Rectangle 240"/>
            <p:cNvSpPr>
              <a:spLocks noChangeArrowheads="1"/>
            </p:cNvSpPr>
            <p:nvPr/>
          </p:nvSpPr>
          <p:spPr bwMode="auto">
            <a:xfrm>
              <a:off x="166241" y="35732"/>
              <a:ext cx="17002"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1" name="Rectangle 241"/>
            <p:cNvSpPr>
              <a:spLocks noChangeArrowheads="1"/>
            </p:cNvSpPr>
            <p:nvPr/>
          </p:nvSpPr>
          <p:spPr bwMode="auto">
            <a:xfrm>
              <a:off x="166241" y="90272"/>
              <a:ext cx="17002"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2" name="Rectangle 242"/>
            <p:cNvSpPr>
              <a:spLocks noChangeArrowheads="1"/>
            </p:cNvSpPr>
            <p:nvPr/>
          </p:nvSpPr>
          <p:spPr bwMode="auto">
            <a:xfrm>
              <a:off x="187021" y="62061"/>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3" name="Rectangle 243"/>
            <p:cNvSpPr>
              <a:spLocks noChangeArrowheads="1"/>
            </p:cNvSpPr>
            <p:nvPr/>
          </p:nvSpPr>
          <p:spPr bwMode="auto">
            <a:xfrm>
              <a:off x="205912" y="3573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4" name="Rectangle 244"/>
            <p:cNvSpPr>
              <a:spLocks noChangeArrowheads="1"/>
            </p:cNvSpPr>
            <p:nvPr/>
          </p:nvSpPr>
          <p:spPr bwMode="auto">
            <a:xfrm>
              <a:off x="205912" y="90272"/>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5" name="Rectangle 245"/>
            <p:cNvSpPr>
              <a:spLocks noChangeArrowheads="1"/>
            </p:cNvSpPr>
            <p:nvPr/>
          </p:nvSpPr>
          <p:spPr bwMode="auto">
            <a:xfrm>
              <a:off x="226692" y="6206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6" name="Rectangle 246"/>
            <p:cNvSpPr>
              <a:spLocks noChangeArrowheads="1"/>
            </p:cNvSpPr>
            <p:nvPr/>
          </p:nvSpPr>
          <p:spPr bwMode="auto">
            <a:xfrm>
              <a:off x="247472" y="3573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7" name="Rectangle 247"/>
            <p:cNvSpPr>
              <a:spLocks noChangeArrowheads="1"/>
            </p:cNvSpPr>
            <p:nvPr/>
          </p:nvSpPr>
          <p:spPr bwMode="auto">
            <a:xfrm>
              <a:off x="247472" y="90272"/>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8" name="Rectangle 248"/>
            <p:cNvSpPr>
              <a:spLocks noChangeArrowheads="1"/>
            </p:cNvSpPr>
            <p:nvPr/>
          </p:nvSpPr>
          <p:spPr bwMode="auto">
            <a:xfrm>
              <a:off x="266363" y="6206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9" name="Rectangle 249"/>
            <p:cNvSpPr>
              <a:spLocks noChangeArrowheads="1"/>
            </p:cNvSpPr>
            <p:nvPr/>
          </p:nvSpPr>
          <p:spPr bwMode="auto">
            <a:xfrm>
              <a:off x="515724" y="62061"/>
              <a:ext cx="20779"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0" name="Rectangle 250"/>
            <p:cNvSpPr>
              <a:spLocks noChangeArrowheads="1"/>
            </p:cNvSpPr>
            <p:nvPr/>
          </p:nvSpPr>
          <p:spPr bwMode="auto">
            <a:xfrm>
              <a:off x="336259" y="62061"/>
              <a:ext cx="113346"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1" name="Freeform 251"/>
            <p:cNvSpPr>
              <a:spLocks noChangeArrowheads="1"/>
            </p:cNvSpPr>
            <p:nvPr/>
          </p:nvSpPr>
          <p:spPr bwMode="auto">
            <a:xfrm>
              <a:off x="32115" y="193708"/>
              <a:ext cx="555395" cy="148573"/>
            </a:xfrm>
            <a:custGeom>
              <a:avLst/>
              <a:gdLst>
                <a:gd name="T0" fmla="*/ 2147483647 w 291"/>
                <a:gd name="T1" fmla="*/ 2147483647 h 78"/>
                <a:gd name="T2" fmla="*/ 2147483647 w 291"/>
                <a:gd name="T3" fmla="*/ 2147483647 h 78"/>
                <a:gd name="T4" fmla="*/ 2147483647 w 291"/>
                <a:gd name="T5" fmla="*/ 2147483647 h 78"/>
                <a:gd name="T6" fmla="*/ 0 w 291"/>
                <a:gd name="T7" fmla="*/ 2147483647 h 78"/>
                <a:gd name="T8" fmla="*/ 0 w 291"/>
                <a:gd name="T9" fmla="*/ 2147483647 h 78"/>
                <a:gd name="T10" fmla="*/ 2147483647 w 291"/>
                <a:gd name="T11" fmla="*/ 0 h 78"/>
                <a:gd name="T12" fmla="*/ 2147483647 w 291"/>
                <a:gd name="T13" fmla="*/ 0 h 78"/>
                <a:gd name="T14" fmla="*/ 2147483647 w 291"/>
                <a:gd name="T15" fmla="*/ 2147483647 h 78"/>
                <a:gd name="T16" fmla="*/ 2147483647 w 291"/>
                <a:gd name="T17" fmla="*/ 2147483647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1"/>
                <a:gd name="T28" fmla="*/ 0 h 78"/>
                <a:gd name="T29" fmla="*/ 291 w 291"/>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1" h="78">
                  <a:moveTo>
                    <a:pt x="291" y="71"/>
                  </a:moveTo>
                  <a:cubicBezTo>
                    <a:pt x="291" y="75"/>
                    <a:pt x="288" y="78"/>
                    <a:pt x="284" y="78"/>
                  </a:cubicBezTo>
                  <a:cubicBezTo>
                    <a:pt x="7" y="78"/>
                    <a:pt x="7" y="78"/>
                    <a:pt x="7" y="78"/>
                  </a:cubicBezTo>
                  <a:cubicBezTo>
                    <a:pt x="3" y="78"/>
                    <a:pt x="0" y="75"/>
                    <a:pt x="0" y="71"/>
                  </a:cubicBezTo>
                  <a:cubicBezTo>
                    <a:pt x="0" y="8"/>
                    <a:pt x="0" y="8"/>
                    <a:pt x="0" y="8"/>
                  </a:cubicBezTo>
                  <a:cubicBezTo>
                    <a:pt x="0" y="4"/>
                    <a:pt x="3" y="0"/>
                    <a:pt x="7" y="0"/>
                  </a:cubicBezTo>
                  <a:cubicBezTo>
                    <a:pt x="284" y="0"/>
                    <a:pt x="284" y="0"/>
                    <a:pt x="284" y="0"/>
                  </a:cubicBezTo>
                  <a:cubicBezTo>
                    <a:pt x="288" y="0"/>
                    <a:pt x="291" y="4"/>
                    <a:pt x="291" y="8"/>
                  </a:cubicBezTo>
                  <a:lnTo>
                    <a:pt x="291" y="7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62" name="Rectangle 252"/>
            <p:cNvSpPr>
              <a:spLocks noChangeArrowheads="1"/>
            </p:cNvSpPr>
            <p:nvPr/>
          </p:nvSpPr>
          <p:spPr bwMode="auto">
            <a:xfrm>
              <a:off x="83120" y="23132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3" name="Rectangle 253"/>
            <p:cNvSpPr>
              <a:spLocks noChangeArrowheads="1"/>
            </p:cNvSpPr>
            <p:nvPr/>
          </p:nvSpPr>
          <p:spPr bwMode="auto">
            <a:xfrm>
              <a:off x="83120" y="283980"/>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4" name="Rectangle 254"/>
            <p:cNvSpPr>
              <a:spLocks noChangeArrowheads="1"/>
            </p:cNvSpPr>
            <p:nvPr/>
          </p:nvSpPr>
          <p:spPr bwMode="auto">
            <a:xfrm>
              <a:off x="105789" y="257651"/>
              <a:ext cx="15113"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5" name="Rectangle 255"/>
            <p:cNvSpPr>
              <a:spLocks noChangeArrowheads="1"/>
            </p:cNvSpPr>
            <p:nvPr/>
          </p:nvSpPr>
          <p:spPr bwMode="auto">
            <a:xfrm>
              <a:off x="126570" y="23132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6" name="Rectangle 256"/>
            <p:cNvSpPr>
              <a:spLocks noChangeArrowheads="1"/>
            </p:cNvSpPr>
            <p:nvPr/>
          </p:nvSpPr>
          <p:spPr bwMode="auto">
            <a:xfrm>
              <a:off x="126570" y="283980"/>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7" name="Rectangle 257"/>
            <p:cNvSpPr>
              <a:spLocks noChangeArrowheads="1"/>
            </p:cNvSpPr>
            <p:nvPr/>
          </p:nvSpPr>
          <p:spPr bwMode="auto">
            <a:xfrm>
              <a:off x="143571" y="257651"/>
              <a:ext cx="2078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8" name="Rectangle 258"/>
            <p:cNvSpPr>
              <a:spLocks noChangeArrowheads="1"/>
            </p:cNvSpPr>
            <p:nvPr/>
          </p:nvSpPr>
          <p:spPr bwMode="auto">
            <a:xfrm>
              <a:off x="166241" y="231322"/>
              <a:ext cx="17002"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9" name="Rectangle 259"/>
            <p:cNvSpPr>
              <a:spLocks noChangeArrowheads="1"/>
            </p:cNvSpPr>
            <p:nvPr/>
          </p:nvSpPr>
          <p:spPr bwMode="auto">
            <a:xfrm>
              <a:off x="166241" y="283980"/>
              <a:ext cx="17002"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0" name="Rectangle 260"/>
            <p:cNvSpPr>
              <a:spLocks noChangeArrowheads="1"/>
            </p:cNvSpPr>
            <p:nvPr/>
          </p:nvSpPr>
          <p:spPr bwMode="auto">
            <a:xfrm>
              <a:off x="187021" y="257651"/>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1" name="Rectangle 261"/>
            <p:cNvSpPr>
              <a:spLocks noChangeArrowheads="1"/>
            </p:cNvSpPr>
            <p:nvPr/>
          </p:nvSpPr>
          <p:spPr bwMode="auto">
            <a:xfrm>
              <a:off x="205912" y="23132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2" name="Rectangle 262"/>
            <p:cNvSpPr>
              <a:spLocks noChangeArrowheads="1"/>
            </p:cNvSpPr>
            <p:nvPr/>
          </p:nvSpPr>
          <p:spPr bwMode="auto">
            <a:xfrm>
              <a:off x="205912" y="283980"/>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3" name="Rectangle 263"/>
            <p:cNvSpPr>
              <a:spLocks noChangeArrowheads="1"/>
            </p:cNvSpPr>
            <p:nvPr/>
          </p:nvSpPr>
          <p:spPr bwMode="auto">
            <a:xfrm>
              <a:off x="226692" y="25765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4" name="Rectangle 264"/>
            <p:cNvSpPr>
              <a:spLocks noChangeArrowheads="1"/>
            </p:cNvSpPr>
            <p:nvPr/>
          </p:nvSpPr>
          <p:spPr bwMode="auto">
            <a:xfrm>
              <a:off x="247472" y="23132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5" name="Rectangle 265"/>
            <p:cNvSpPr>
              <a:spLocks noChangeArrowheads="1"/>
            </p:cNvSpPr>
            <p:nvPr/>
          </p:nvSpPr>
          <p:spPr bwMode="auto">
            <a:xfrm>
              <a:off x="247472" y="283980"/>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6" name="Rectangle 266"/>
            <p:cNvSpPr>
              <a:spLocks noChangeArrowheads="1"/>
            </p:cNvSpPr>
            <p:nvPr/>
          </p:nvSpPr>
          <p:spPr bwMode="auto">
            <a:xfrm>
              <a:off x="266363" y="25765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7" name="Rectangle 267"/>
            <p:cNvSpPr>
              <a:spLocks noChangeArrowheads="1"/>
            </p:cNvSpPr>
            <p:nvPr/>
          </p:nvSpPr>
          <p:spPr bwMode="auto">
            <a:xfrm>
              <a:off x="515724" y="257651"/>
              <a:ext cx="20779"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8" name="Rectangle 268"/>
            <p:cNvSpPr>
              <a:spLocks noChangeArrowheads="1"/>
            </p:cNvSpPr>
            <p:nvPr/>
          </p:nvSpPr>
          <p:spPr bwMode="auto">
            <a:xfrm>
              <a:off x="336259" y="257651"/>
              <a:ext cx="113346"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9" name="Freeform 269"/>
            <p:cNvSpPr>
              <a:spLocks noChangeArrowheads="1"/>
            </p:cNvSpPr>
            <p:nvPr/>
          </p:nvSpPr>
          <p:spPr bwMode="auto">
            <a:xfrm>
              <a:off x="0" y="216276"/>
              <a:ext cx="32115" cy="105317"/>
            </a:xfrm>
            <a:custGeom>
              <a:avLst/>
              <a:gdLst>
                <a:gd name="T0" fmla="*/ 0 w 17"/>
                <a:gd name="T1" fmla="*/ 2147483647 h 55"/>
                <a:gd name="T2" fmla="*/ 0 w 17"/>
                <a:gd name="T3" fmla="*/ 2147483647 h 55"/>
                <a:gd name="T4" fmla="*/ 2147483647 w 17"/>
                <a:gd name="T5" fmla="*/ 2147483647 h 55"/>
                <a:gd name="T6" fmla="*/ 2147483647 w 17"/>
                <a:gd name="T7" fmla="*/ 2147483647 h 55"/>
                <a:gd name="T8" fmla="*/ 2147483647 w 17"/>
                <a:gd name="T9" fmla="*/ 0 h 55"/>
                <a:gd name="T10" fmla="*/ 2147483647 w 17"/>
                <a:gd name="T11" fmla="*/ 0 h 55"/>
                <a:gd name="T12" fmla="*/ 0 w 17"/>
                <a:gd name="T13" fmla="*/ 2147483647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0" y="7"/>
                  </a:moveTo>
                  <a:cubicBezTo>
                    <a:pt x="0" y="47"/>
                    <a:pt x="0" y="47"/>
                    <a:pt x="0" y="47"/>
                  </a:cubicBezTo>
                  <a:cubicBezTo>
                    <a:pt x="0" y="51"/>
                    <a:pt x="3" y="55"/>
                    <a:pt x="7" y="55"/>
                  </a:cubicBezTo>
                  <a:cubicBezTo>
                    <a:pt x="17" y="55"/>
                    <a:pt x="17" y="55"/>
                    <a:pt x="17" y="55"/>
                  </a:cubicBezTo>
                  <a:cubicBezTo>
                    <a:pt x="17" y="0"/>
                    <a:pt x="17" y="0"/>
                    <a:pt x="17" y="0"/>
                  </a:cubicBezTo>
                  <a:cubicBezTo>
                    <a:pt x="7" y="0"/>
                    <a:pt x="7" y="0"/>
                    <a:pt x="7" y="0"/>
                  </a:cubicBezTo>
                  <a:cubicBezTo>
                    <a:pt x="3" y="0"/>
                    <a:pt x="0" y="3"/>
                    <a:pt x="0" y="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0" name="Freeform 270"/>
            <p:cNvSpPr>
              <a:spLocks noChangeArrowheads="1"/>
            </p:cNvSpPr>
            <p:nvPr/>
          </p:nvSpPr>
          <p:spPr bwMode="auto">
            <a:xfrm>
              <a:off x="0" y="22568"/>
              <a:ext cx="32115" cy="105317"/>
            </a:xfrm>
            <a:custGeom>
              <a:avLst/>
              <a:gdLst>
                <a:gd name="T0" fmla="*/ 0 w 17"/>
                <a:gd name="T1" fmla="*/ 2147483647 h 55"/>
                <a:gd name="T2" fmla="*/ 0 w 17"/>
                <a:gd name="T3" fmla="*/ 2147483647 h 55"/>
                <a:gd name="T4" fmla="*/ 2147483647 w 17"/>
                <a:gd name="T5" fmla="*/ 2147483647 h 55"/>
                <a:gd name="T6" fmla="*/ 2147483647 w 17"/>
                <a:gd name="T7" fmla="*/ 2147483647 h 55"/>
                <a:gd name="T8" fmla="*/ 2147483647 w 17"/>
                <a:gd name="T9" fmla="*/ 0 h 55"/>
                <a:gd name="T10" fmla="*/ 2147483647 w 17"/>
                <a:gd name="T11" fmla="*/ 0 h 55"/>
                <a:gd name="T12" fmla="*/ 0 w 17"/>
                <a:gd name="T13" fmla="*/ 2147483647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0" y="7"/>
                  </a:moveTo>
                  <a:cubicBezTo>
                    <a:pt x="0" y="47"/>
                    <a:pt x="0" y="47"/>
                    <a:pt x="0" y="47"/>
                  </a:cubicBezTo>
                  <a:cubicBezTo>
                    <a:pt x="0" y="51"/>
                    <a:pt x="3" y="55"/>
                    <a:pt x="7" y="55"/>
                  </a:cubicBezTo>
                  <a:cubicBezTo>
                    <a:pt x="17" y="55"/>
                    <a:pt x="17" y="55"/>
                    <a:pt x="17" y="55"/>
                  </a:cubicBezTo>
                  <a:cubicBezTo>
                    <a:pt x="17" y="0"/>
                    <a:pt x="17" y="0"/>
                    <a:pt x="17" y="0"/>
                  </a:cubicBezTo>
                  <a:cubicBezTo>
                    <a:pt x="7" y="0"/>
                    <a:pt x="7" y="0"/>
                    <a:pt x="7" y="0"/>
                  </a:cubicBezTo>
                  <a:cubicBezTo>
                    <a:pt x="3" y="0"/>
                    <a:pt x="0" y="3"/>
                    <a:pt x="0" y="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1" name="Freeform 271"/>
            <p:cNvSpPr>
              <a:spLocks noChangeArrowheads="1"/>
            </p:cNvSpPr>
            <p:nvPr/>
          </p:nvSpPr>
          <p:spPr bwMode="auto">
            <a:xfrm>
              <a:off x="0" y="411866"/>
              <a:ext cx="32115" cy="105317"/>
            </a:xfrm>
            <a:custGeom>
              <a:avLst/>
              <a:gdLst>
                <a:gd name="T0" fmla="*/ 0 w 17"/>
                <a:gd name="T1" fmla="*/ 2147483647 h 55"/>
                <a:gd name="T2" fmla="*/ 0 w 17"/>
                <a:gd name="T3" fmla="*/ 2147483647 h 55"/>
                <a:gd name="T4" fmla="*/ 2147483647 w 17"/>
                <a:gd name="T5" fmla="*/ 2147483647 h 55"/>
                <a:gd name="T6" fmla="*/ 2147483647 w 17"/>
                <a:gd name="T7" fmla="*/ 2147483647 h 55"/>
                <a:gd name="T8" fmla="*/ 2147483647 w 17"/>
                <a:gd name="T9" fmla="*/ 0 h 55"/>
                <a:gd name="T10" fmla="*/ 2147483647 w 17"/>
                <a:gd name="T11" fmla="*/ 0 h 55"/>
                <a:gd name="T12" fmla="*/ 0 w 17"/>
                <a:gd name="T13" fmla="*/ 2147483647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0" y="7"/>
                  </a:moveTo>
                  <a:cubicBezTo>
                    <a:pt x="0" y="48"/>
                    <a:pt x="0" y="48"/>
                    <a:pt x="0" y="48"/>
                  </a:cubicBezTo>
                  <a:cubicBezTo>
                    <a:pt x="0" y="51"/>
                    <a:pt x="3" y="55"/>
                    <a:pt x="7" y="55"/>
                  </a:cubicBezTo>
                  <a:cubicBezTo>
                    <a:pt x="17" y="55"/>
                    <a:pt x="17" y="55"/>
                    <a:pt x="17" y="55"/>
                  </a:cubicBezTo>
                  <a:cubicBezTo>
                    <a:pt x="17" y="0"/>
                    <a:pt x="17" y="0"/>
                    <a:pt x="17" y="0"/>
                  </a:cubicBezTo>
                  <a:cubicBezTo>
                    <a:pt x="7" y="0"/>
                    <a:pt x="7" y="0"/>
                    <a:pt x="7" y="0"/>
                  </a:cubicBezTo>
                  <a:cubicBezTo>
                    <a:pt x="3" y="0"/>
                    <a:pt x="0" y="3"/>
                    <a:pt x="0" y="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2" name="Freeform 272"/>
            <p:cNvSpPr>
              <a:spLocks noChangeArrowheads="1"/>
            </p:cNvSpPr>
            <p:nvPr/>
          </p:nvSpPr>
          <p:spPr bwMode="auto">
            <a:xfrm>
              <a:off x="587510" y="22568"/>
              <a:ext cx="32114" cy="105317"/>
            </a:xfrm>
            <a:custGeom>
              <a:avLst/>
              <a:gdLst>
                <a:gd name="T0" fmla="*/ 2147483647 w 17"/>
                <a:gd name="T1" fmla="*/ 0 h 55"/>
                <a:gd name="T2" fmla="*/ 0 w 17"/>
                <a:gd name="T3" fmla="*/ 0 h 55"/>
                <a:gd name="T4" fmla="*/ 0 w 17"/>
                <a:gd name="T5" fmla="*/ 2147483647 h 55"/>
                <a:gd name="T6" fmla="*/ 2147483647 w 17"/>
                <a:gd name="T7" fmla="*/ 2147483647 h 55"/>
                <a:gd name="T8" fmla="*/ 2147483647 w 17"/>
                <a:gd name="T9" fmla="*/ 2147483647 h 55"/>
                <a:gd name="T10" fmla="*/ 2147483647 w 17"/>
                <a:gd name="T11" fmla="*/ 2147483647 h 55"/>
                <a:gd name="T12" fmla="*/ 2147483647 w 17"/>
                <a:gd name="T13" fmla="*/ 0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10" y="0"/>
                  </a:moveTo>
                  <a:cubicBezTo>
                    <a:pt x="0" y="0"/>
                    <a:pt x="0" y="0"/>
                    <a:pt x="0" y="0"/>
                  </a:cubicBezTo>
                  <a:cubicBezTo>
                    <a:pt x="0" y="55"/>
                    <a:pt x="0" y="55"/>
                    <a:pt x="0" y="55"/>
                  </a:cubicBezTo>
                  <a:cubicBezTo>
                    <a:pt x="10" y="55"/>
                    <a:pt x="10" y="55"/>
                    <a:pt x="10" y="55"/>
                  </a:cubicBezTo>
                  <a:cubicBezTo>
                    <a:pt x="14" y="55"/>
                    <a:pt x="17" y="51"/>
                    <a:pt x="17" y="47"/>
                  </a:cubicBezTo>
                  <a:cubicBezTo>
                    <a:pt x="17" y="7"/>
                    <a:pt x="17" y="7"/>
                    <a:pt x="17" y="7"/>
                  </a:cubicBezTo>
                  <a:cubicBezTo>
                    <a:pt x="17" y="3"/>
                    <a:pt x="14" y="0"/>
                    <a:pt x="1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3" name="Freeform 273"/>
            <p:cNvSpPr>
              <a:spLocks noChangeArrowheads="1"/>
            </p:cNvSpPr>
            <p:nvPr/>
          </p:nvSpPr>
          <p:spPr bwMode="auto">
            <a:xfrm>
              <a:off x="587510" y="216276"/>
              <a:ext cx="32114" cy="105317"/>
            </a:xfrm>
            <a:custGeom>
              <a:avLst/>
              <a:gdLst>
                <a:gd name="T0" fmla="*/ 2147483647 w 17"/>
                <a:gd name="T1" fmla="*/ 0 h 55"/>
                <a:gd name="T2" fmla="*/ 0 w 17"/>
                <a:gd name="T3" fmla="*/ 0 h 55"/>
                <a:gd name="T4" fmla="*/ 0 w 17"/>
                <a:gd name="T5" fmla="*/ 2147483647 h 55"/>
                <a:gd name="T6" fmla="*/ 2147483647 w 17"/>
                <a:gd name="T7" fmla="*/ 2147483647 h 55"/>
                <a:gd name="T8" fmla="*/ 2147483647 w 17"/>
                <a:gd name="T9" fmla="*/ 2147483647 h 55"/>
                <a:gd name="T10" fmla="*/ 2147483647 w 17"/>
                <a:gd name="T11" fmla="*/ 2147483647 h 55"/>
                <a:gd name="T12" fmla="*/ 2147483647 w 17"/>
                <a:gd name="T13" fmla="*/ 0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10" y="0"/>
                  </a:moveTo>
                  <a:cubicBezTo>
                    <a:pt x="0" y="0"/>
                    <a:pt x="0" y="0"/>
                    <a:pt x="0" y="0"/>
                  </a:cubicBezTo>
                  <a:cubicBezTo>
                    <a:pt x="0" y="55"/>
                    <a:pt x="0" y="55"/>
                    <a:pt x="0" y="55"/>
                  </a:cubicBezTo>
                  <a:cubicBezTo>
                    <a:pt x="10" y="55"/>
                    <a:pt x="10" y="55"/>
                    <a:pt x="10" y="55"/>
                  </a:cubicBezTo>
                  <a:cubicBezTo>
                    <a:pt x="14" y="55"/>
                    <a:pt x="17" y="51"/>
                    <a:pt x="17" y="47"/>
                  </a:cubicBezTo>
                  <a:cubicBezTo>
                    <a:pt x="17" y="7"/>
                    <a:pt x="17" y="7"/>
                    <a:pt x="17" y="7"/>
                  </a:cubicBezTo>
                  <a:cubicBezTo>
                    <a:pt x="17" y="3"/>
                    <a:pt x="14" y="0"/>
                    <a:pt x="1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4" name="Freeform 274"/>
            <p:cNvSpPr>
              <a:spLocks noChangeArrowheads="1"/>
            </p:cNvSpPr>
            <p:nvPr/>
          </p:nvSpPr>
          <p:spPr bwMode="auto">
            <a:xfrm>
              <a:off x="587510" y="411866"/>
              <a:ext cx="32114" cy="105317"/>
            </a:xfrm>
            <a:custGeom>
              <a:avLst/>
              <a:gdLst>
                <a:gd name="T0" fmla="*/ 2147483647 w 17"/>
                <a:gd name="T1" fmla="*/ 0 h 55"/>
                <a:gd name="T2" fmla="*/ 0 w 17"/>
                <a:gd name="T3" fmla="*/ 0 h 55"/>
                <a:gd name="T4" fmla="*/ 0 w 17"/>
                <a:gd name="T5" fmla="*/ 2147483647 h 55"/>
                <a:gd name="T6" fmla="*/ 2147483647 w 17"/>
                <a:gd name="T7" fmla="*/ 2147483647 h 55"/>
                <a:gd name="T8" fmla="*/ 2147483647 w 17"/>
                <a:gd name="T9" fmla="*/ 2147483647 h 55"/>
                <a:gd name="T10" fmla="*/ 2147483647 w 17"/>
                <a:gd name="T11" fmla="*/ 2147483647 h 55"/>
                <a:gd name="T12" fmla="*/ 2147483647 w 17"/>
                <a:gd name="T13" fmla="*/ 0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10" y="0"/>
                  </a:moveTo>
                  <a:cubicBezTo>
                    <a:pt x="0" y="0"/>
                    <a:pt x="0" y="0"/>
                    <a:pt x="0" y="0"/>
                  </a:cubicBezTo>
                  <a:cubicBezTo>
                    <a:pt x="0" y="55"/>
                    <a:pt x="0" y="55"/>
                    <a:pt x="0" y="55"/>
                  </a:cubicBezTo>
                  <a:cubicBezTo>
                    <a:pt x="10" y="55"/>
                    <a:pt x="10" y="55"/>
                    <a:pt x="10" y="55"/>
                  </a:cubicBezTo>
                  <a:cubicBezTo>
                    <a:pt x="14" y="55"/>
                    <a:pt x="17" y="51"/>
                    <a:pt x="17" y="48"/>
                  </a:cubicBezTo>
                  <a:cubicBezTo>
                    <a:pt x="17" y="7"/>
                    <a:pt x="17" y="7"/>
                    <a:pt x="17" y="7"/>
                  </a:cubicBezTo>
                  <a:cubicBezTo>
                    <a:pt x="17" y="3"/>
                    <a:pt x="14" y="0"/>
                    <a:pt x="1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5" name="Rectangle 275"/>
            <p:cNvSpPr>
              <a:spLocks noChangeArrowheads="1"/>
            </p:cNvSpPr>
            <p:nvPr/>
          </p:nvSpPr>
          <p:spPr bwMode="auto">
            <a:xfrm>
              <a:off x="54784" y="148572"/>
              <a:ext cx="510056" cy="45136"/>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6" name="Rectangle 276"/>
            <p:cNvSpPr>
              <a:spLocks noChangeArrowheads="1"/>
            </p:cNvSpPr>
            <p:nvPr/>
          </p:nvSpPr>
          <p:spPr bwMode="auto">
            <a:xfrm>
              <a:off x="54784" y="342281"/>
              <a:ext cx="510056" cy="47016"/>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7" name="Rectangle 277"/>
            <p:cNvSpPr>
              <a:spLocks noChangeArrowheads="1"/>
            </p:cNvSpPr>
            <p:nvPr/>
          </p:nvSpPr>
          <p:spPr bwMode="auto">
            <a:xfrm>
              <a:off x="54784" y="184305"/>
              <a:ext cx="510056" cy="9403"/>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8" name="Rectangle 278"/>
            <p:cNvSpPr>
              <a:spLocks noChangeArrowheads="1"/>
            </p:cNvSpPr>
            <p:nvPr/>
          </p:nvSpPr>
          <p:spPr bwMode="auto">
            <a:xfrm>
              <a:off x="22669" y="216276"/>
              <a:ext cx="9446"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9" name="Rectangle 279"/>
            <p:cNvSpPr>
              <a:spLocks noChangeArrowheads="1"/>
            </p:cNvSpPr>
            <p:nvPr/>
          </p:nvSpPr>
          <p:spPr bwMode="auto">
            <a:xfrm>
              <a:off x="587510" y="22568"/>
              <a:ext cx="9445"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0" name="Rectangle 280"/>
            <p:cNvSpPr>
              <a:spLocks noChangeArrowheads="1"/>
            </p:cNvSpPr>
            <p:nvPr/>
          </p:nvSpPr>
          <p:spPr bwMode="auto">
            <a:xfrm>
              <a:off x="22669" y="411866"/>
              <a:ext cx="9446"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1" name="Rectangle 281"/>
            <p:cNvSpPr>
              <a:spLocks noChangeArrowheads="1"/>
            </p:cNvSpPr>
            <p:nvPr/>
          </p:nvSpPr>
          <p:spPr bwMode="auto">
            <a:xfrm>
              <a:off x="54784" y="342281"/>
              <a:ext cx="510056" cy="112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2" name="Rectangle 282"/>
            <p:cNvSpPr>
              <a:spLocks noChangeArrowheads="1"/>
            </p:cNvSpPr>
            <p:nvPr/>
          </p:nvSpPr>
          <p:spPr bwMode="auto">
            <a:xfrm>
              <a:off x="54784" y="379895"/>
              <a:ext cx="510056" cy="9403"/>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3" name="Rectangle 283"/>
            <p:cNvSpPr>
              <a:spLocks noChangeArrowheads="1"/>
            </p:cNvSpPr>
            <p:nvPr/>
          </p:nvSpPr>
          <p:spPr bwMode="auto">
            <a:xfrm>
              <a:off x="22669" y="22568"/>
              <a:ext cx="9446"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4" name="Rectangle 284"/>
            <p:cNvSpPr>
              <a:spLocks noChangeArrowheads="1"/>
            </p:cNvSpPr>
            <p:nvPr/>
          </p:nvSpPr>
          <p:spPr bwMode="auto">
            <a:xfrm>
              <a:off x="587510" y="411866"/>
              <a:ext cx="9445"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5" name="Rectangle 285"/>
            <p:cNvSpPr>
              <a:spLocks noChangeArrowheads="1"/>
            </p:cNvSpPr>
            <p:nvPr/>
          </p:nvSpPr>
          <p:spPr bwMode="auto">
            <a:xfrm>
              <a:off x="587510" y="216276"/>
              <a:ext cx="9445"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6" name="Rectangle 286"/>
            <p:cNvSpPr>
              <a:spLocks noChangeArrowheads="1"/>
            </p:cNvSpPr>
            <p:nvPr/>
          </p:nvSpPr>
          <p:spPr bwMode="auto">
            <a:xfrm>
              <a:off x="54784" y="148572"/>
              <a:ext cx="510056" cy="940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grpSp>
      <p:graphicFrame>
        <p:nvGraphicFramePr>
          <p:cNvPr id="8" name="Table 7"/>
          <p:cNvGraphicFramePr/>
          <p:nvPr/>
        </p:nvGraphicFramePr>
        <p:xfrm>
          <a:off x="533400" y="3168650"/>
          <a:ext cx="12800965" cy="4480560"/>
        </p:xfrm>
        <a:graphic>
          <a:graphicData uri="http://schemas.openxmlformats.org/drawingml/2006/table">
            <a:tbl>
              <a:tblPr firstRow="1" bandRow="1">
                <a:tableStyleId>{5C22544A-7EE6-4342-B048-85BDC9FD1C3A}</a:tableStyleId>
              </a:tblPr>
              <a:tblGrid>
                <a:gridCol w="12800965"/>
              </a:tblGrid>
              <a:tr h="4480560">
                <a:tc>
                  <a:txBody>
                    <a:bodyPr/>
                    <a:p>
                      <a:pPr>
                        <a:buNone/>
                      </a:pPr>
                      <a:endParaRPr lang="en-US" sz="3200">
                        <a:latin typeface="Consolas" panose="020B0609020204030204" charset="0"/>
                        <a:cs typeface="Consolas" panose="020B0609020204030204" charset="0"/>
                      </a:endParaRPr>
                    </a:p>
                    <a:p>
                      <a:pPr>
                        <a:buNone/>
                      </a:pPr>
                      <a:r>
                        <a:rPr lang="en-US" sz="3200">
                          <a:latin typeface="Consolas" panose="020B0609020204030204" charset="0"/>
                          <a:cs typeface="Consolas" panose="020B0609020204030204" charset="0"/>
                        </a:rPr>
                        <a:t>// Bước 2: Lập bảng thống kê</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map&lt;char, int&gt; freqTable;</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for (char c : data) {</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freqTable[c]++;</a:t>
                      </a:r>
                      <a:endParaRPr lang="en-US" sz="3200">
                        <a:latin typeface="Consolas" panose="020B0609020204030204" charset="0"/>
                        <a:cs typeface="Consolas" panose="020B0609020204030204" charset="0"/>
                      </a:endParaRPr>
                    </a:p>
                    <a:p>
                      <a:pPr>
                        <a:buNone/>
                      </a:pPr>
                      <a:r>
                        <a:rPr lang="vi-VN" altLang="en-US" sz="3200">
                          <a:latin typeface="Consolas" panose="020B0609020204030204" charset="0"/>
                          <a:cs typeface="Consolas" panose="020B0609020204030204" charset="0"/>
                        </a:rPr>
                        <a:t> </a:t>
                      </a:r>
                      <a:r>
                        <a:rPr lang="en-US" sz="3200">
                          <a:latin typeface="Consolas" panose="020B0609020204030204" charset="0"/>
                          <a:cs typeface="Consolas" panose="020B0609020204030204" charset="0"/>
                        </a:rPr>
                        <a:t>}</a:t>
                      </a:r>
                      <a:endParaRPr lang="en-US" sz="32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27</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3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342900" lvl="0" indent="-342900">
              <a:lnSpc>
                <a:spcPct val="150000"/>
              </a:lnSpc>
              <a:buFont typeface="Wingdings" panose="05000000000000000000" charset="0"/>
              <a:buChar char="Ø"/>
            </a:pPr>
            <a:r>
              <a:rPr lang="en-US" sz="2400" smtClean="0">
                <a:solidFill>
                  <a:schemeClr val="bg1"/>
                </a:solidFill>
                <a:effectLst/>
                <a:latin typeface="Microsoft YaHei" panose="020B0503020204020204" pitchFamily="34" charset="-122"/>
                <a:ea typeface="Microsoft YaHei" panose="020B0503020204020204" pitchFamily="34" charset="-122"/>
                <a:cs typeface="Arial" panose="020B0604020202020204"/>
                <a:sym typeface="Arial" panose="020B0604020202020204"/>
              </a:rPr>
              <a:t>Bước 3. Xây dựng cây huffman từ bang thống kê: Sử dụng một hàng đợi ưu tiện (priority_queue) để xây dựng cây huffman từ các nút lá có tần suất thấp nhất.</a:t>
            </a:r>
            <a:endParaRPr lang="en-US" sz="2400" smtClean="0">
              <a:solidFill>
                <a:schemeClr val="bg1"/>
              </a:solidFill>
              <a:effectLst/>
              <a:latin typeface="Microsoft YaHei" panose="020B0503020204020204" pitchFamily="34" charset="-122"/>
              <a:ea typeface="Microsoft YaHei" panose="020B0503020204020204" pitchFamily="34" charset="-122"/>
              <a:cs typeface="Arial" panose="020B0604020202020204"/>
              <a:sym typeface="Arial" panose="020B0604020202020204"/>
            </a:endParaRPr>
          </a:p>
        </p:txBody>
      </p:sp>
      <p:grpSp>
        <p:nvGrpSpPr>
          <p:cNvPr id="976" name="组合 1627"/>
          <p:cNvGrpSpPr/>
          <p:nvPr/>
        </p:nvGrpSpPr>
        <p:grpSpPr bwMode="auto">
          <a:xfrm>
            <a:off x="400685" y="810260"/>
            <a:ext cx="578485" cy="414655"/>
            <a:chOff x="0" y="0"/>
            <a:chExt cx="659709" cy="556812"/>
          </a:xfrm>
          <a:solidFill>
            <a:schemeClr val="bg1"/>
          </a:solidFill>
        </p:grpSpPr>
        <p:sp>
          <p:nvSpPr>
            <p:cNvPr id="977" name="Oval 676"/>
            <p:cNvSpPr>
              <a:spLocks noChangeArrowheads="1"/>
            </p:cNvSpPr>
            <p:nvPr/>
          </p:nvSpPr>
          <p:spPr bwMode="auto">
            <a:xfrm>
              <a:off x="152676" y="50962"/>
              <a:ext cx="456142" cy="454888"/>
            </a:xfrm>
            <a:prstGeom prst="ellipse">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978" name="Freeform 677"/>
            <p:cNvSpPr>
              <a:spLocks noEditPoints="1" noChangeArrowheads="1"/>
            </p:cNvSpPr>
            <p:nvPr/>
          </p:nvSpPr>
          <p:spPr bwMode="auto">
            <a:xfrm>
              <a:off x="101784" y="0"/>
              <a:ext cx="557925" cy="556812"/>
            </a:xfrm>
            <a:custGeom>
              <a:avLst/>
              <a:gdLst>
                <a:gd name="T0" fmla="*/ 2147483647 w 284"/>
                <a:gd name="T1" fmla="*/ 2147483647 h 284"/>
                <a:gd name="T2" fmla="*/ 2147483647 w 284"/>
                <a:gd name="T3" fmla="*/ 2147483647 h 284"/>
                <a:gd name="T4" fmla="*/ 2147483647 w 284"/>
                <a:gd name="T5" fmla="*/ 2147483647 h 284"/>
                <a:gd name="T6" fmla="*/ 2147483647 w 284"/>
                <a:gd name="T7" fmla="*/ 2147483647 h 284"/>
                <a:gd name="T8" fmla="*/ 2147483647 w 284"/>
                <a:gd name="T9" fmla="*/ 2147483647 h 284"/>
                <a:gd name="T10" fmla="*/ 2147483647 w 284"/>
                <a:gd name="T11" fmla="*/ 2147483647 h 284"/>
                <a:gd name="T12" fmla="*/ 2147483647 w 284"/>
                <a:gd name="T13" fmla="*/ 2147483647 h 284"/>
                <a:gd name="T14" fmla="*/ 2147483647 w 284"/>
                <a:gd name="T15" fmla="*/ 2147483647 h 284"/>
                <a:gd name="T16" fmla="*/ 2147483647 w 284"/>
                <a:gd name="T17" fmla="*/ 2147483647 h 284"/>
                <a:gd name="T18" fmla="*/ 2147483647 w 284"/>
                <a:gd name="T19" fmla="*/ 2147483647 h 284"/>
                <a:gd name="T20" fmla="*/ 2147483647 w 284"/>
                <a:gd name="T21" fmla="*/ 2147483647 h 284"/>
                <a:gd name="T22" fmla="*/ 2147483647 w 284"/>
                <a:gd name="T23" fmla="*/ 2147483647 h 284"/>
                <a:gd name="T24" fmla="*/ 2147483647 w 284"/>
                <a:gd name="T25" fmla="*/ 2147483647 h 284"/>
                <a:gd name="T26" fmla="*/ 2147483647 w 284"/>
                <a:gd name="T27" fmla="*/ 2147483647 h 284"/>
                <a:gd name="T28" fmla="*/ 2147483647 w 284"/>
                <a:gd name="T29" fmla="*/ 0 h 284"/>
                <a:gd name="T30" fmla="*/ 2147483647 w 284"/>
                <a:gd name="T31" fmla="*/ 0 h 284"/>
                <a:gd name="T32" fmla="*/ 2147483647 w 284"/>
                <a:gd name="T33" fmla="*/ 2147483647 h 284"/>
                <a:gd name="T34" fmla="*/ 2147483647 w 284"/>
                <a:gd name="T35" fmla="*/ 2147483647 h 284"/>
                <a:gd name="T36" fmla="*/ 2147483647 w 284"/>
                <a:gd name="T37" fmla="*/ 2147483647 h 284"/>
                <a:gd name="T38" fmla="*/ 2147483647 w 284"/>
                <a:gd name="T39" fmla="*/ 2147483647 h 284"/>
                <a:gd name="T40" fmla="*/ 2147483647 w 284"/>
                <a:gd name="T41" fmla="*/ 2147483647 h 284"/>
                <a:gd name="T42" fmla="*/ 2147483647 w 284"/>
                <a:gd name="T43" fmla="*/ 0 h 284"/>
                <a:gd name="T44" fmla="*/ 2147483647 w 284"/>
                <a:gd name="T45" fmla="*/ 2147483647 h 284"/>
                <a:gd name="T46" fmla="*/ 0 w 284"/>
                <a:gd name="T47" fmla="*/ 2147483647 h 284"/>
                <a:gd name="T48" fmla="*/ 0 w 284"/>
                <a:gd name="T49" fmla="*/ 2147483647 h 284"/>
                <a:gd name="T50" fmla="*/ 2147483647 w 284"/>
                <a:gd name="T51" fmla="*/ 2147483647 h 284"/>
                <a:gd name="T52" fmla="*/ 2147483647 w 284"/>
                <a:gd name="T53" fmla="*/ 2147483647 h 284"/>
                <a:gd name="T54" fmla="*/ 2147483647 w 284"/>
                <a:gd name="T55" fmla="*/ 2147483647 h 284"/>
                <a:gd name="T56" fmla="*/ 2147483647 w 284"/>
                <a:gd name="T57" fmla="*/ 2147483647 h 284"/>
                <a:gd name="T58" fmla="*/ 2147483647 w 284"/>
                <a:gd name="T59" fmla="*/ 2147483647 h 284"/>
                <a:gd name="T60" fmla="*/ 2147483647 w 284"/>
                <a:gd name="T61" fmla="*/ 2147483647 h 284"/>
                <a:gd name="T62" fmla="*/ 2147483647 w 284"/>
                <a:gd name="T63" fmla="*/ 2147483647 h 284"/>
                <a:gd name="T64" fmla="*/ 2147483647 w 284"/>
                <a:gd name="T65" fmla="*/ 2147483647 h 284"/>
                <a:gd name="T66" fmla="*/ 2147483647 w 284"/>
                <a:gd name="T67" fmla="*/ 2147483647 h 284"/>
                <a:gd name="T68" fmla="*/ 2147483647 w 284"/>
                <a:gd name="T69" fmla="*/ 2147483647 h 284"/>
                <a:gd name="T70" fmla="*/ 2147483647 w 284"/>
                <a:gd name="T71" fmla="*/ 2147483647 h 284"/>
                <a:gd name="T72" fmla="*/ 2147483647 w 284"/>
                <a:gd name="T73" fmla="*/ 2147483647 h 284"/>
                <a:gd name="T74" fmla="*/ 2147483647 w 284"/>
                <a:gd name="T75" fmla="*/ 2147483647 h 284"/>
                <a:gd name="T76" fmla="*/ 2147483647 w 284"/>
                <a:gd name="T77" fmla="*/ 2147483647 h 284"/>
                <a:gd name="T78" fmla="*/ 2147483647 w 284"/>
                <a:gd name="T79" fmla="*/ 2147483647 h 284"/>
                <a:gd name="T80" fmla="*/ 2147483647 w 284"/>
                <a:gd name="T81" fmla="*/ 2147483647 h 284"/>
                <a:gd name="T82" fmla="*/ 2147483647 w 284"/>
                <a:gd name="T83" fmla="*/ 2147483647 h 284"/>
                <a:gd name="T84" fmla="*/ 2147483647 w 284"/>
                <a:gd name="T85" fmla="*/ 2147483647 h 284"/>
                <a:gd name="T86" fmla="*/ 2147483647 w 284"/>
                <a:gd name="T87" fmla="*/ 2147483647 h 284"/>
                <a:gd name="T88" fmla="*/ 2147483647 w 284"/>
                <a:gd name="T89" fmla="*/ 2147483647 h 284"/>
                <a:gd name="T90" fmla="*/ 2147483647 w 284"/>
                <a:gd name="T91" fmla="*/ 2147483647 h 284"/>
                <a:gd name="T92" fmla="*/ 2147483647 w 284"/>
                <a:gd name="T93" fmla="*/ 2147483647 h 284"/>
                <a:gd name="T94" fmla="*/ 2147483647 w 284"/>
                <a:gd name="T95" fmla="*/ 2147483647 h 284"/>
                <a:gd name="T96" fmla="*/ 2147483647 w 284"/>
                <a:gd name="T97" fmla="*/ 2147483647 h 284"/>
                <a:gd name="T98" fmla="*/ 2147483647 w 284"/>
                <a:gd name="T99" fmla="*/ 2147483647 h 284"/>
                <a:gd name="T100" fmla="*/ 2147483647 w 284"/>
                <a:gd name="T101" fmla="*/ 2147483647 h 284"/>
                <a:gd name="T102" fmla="*/ 2147483647 w 284"/>
                <a:gd name="T103" fmla="*/ 2147483647 h 284"/>
                <a:gd name="T104" fmla="*/ 2147483647 w 284"/>
                <a:gd name="T105" fmla="*/ 2147483647 h 284"/>
                <a:gd name="T106" fmla="*/ 2147483647 w 284"/>
                <a:gd name="T107" fmla="*/ 2147483647 h 284"/>
                <a:gd name="T108" fmla="*/ 2147483647 w 284"/>
                <a:gd name="T109" fmla="*/ 2147483647 h 284"/>
                <a:gd name="T110" fmla="*/ 2147483647 w 284"/>
                <a:gd name="T111" fmla="*/ 2147483647 h 284"/>
                <a:gd name="T112" fmla="*/ 2147483647 w 284"/>
                <a:gd name="T113" fmla="*/ 2147483647 h 284"/>
                <a:gd name="T114" fmla="*/ 2147483647 w 284"/>
                <a:gd name="T115" fmla="*/ 2147483647 h 284"/>
                <a:gd name="T116" fmla="*/ 2147483647 w 284"/>
                <a:gd name="T117" fmla="*/ 2147483647 h 284"/>
                <a:gd name="T118" fmla="*/ 2147483647 w 284"/>
                <a:gd name="T119" fmla="*/ 2147483647 h 2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84"/>
                <a:gd name="T181" fmla="*/ 0 h 284"/>
                <a:gd name="T182" fmla="*/ 284 w 284"/>
                <a:gd name="T183" fmla="*/ 284 h 2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84" h="284">
                  <a:moveTo>
                    <a:pt x="47" y="36"/>
                  </a:moveTo>
                  <a:cubicBezTo>
                    <a:pt x="36" y="47"/>
                    <a:pt x="36" y="47"/>
                    <a:pt x="36" y="47"/>
                  </a:cubicBezTo>
                  <a:cubicBezTo>
                    <a:pt x="31" y="52"/>
                    <a:pt x="31" y="61"/>
                    <a:pt x="36" y="66"/>
                  </a:cubicBezTo>
                  <a:cubicBezTo>
                    <a:pt x="47" y="77"/>
                    <a:pt x="47" y="77"/>
                    <a:pt x="47" y="77"/>
                  </a:cubicBezTo>
                  <a:cubicBezTo>
                    <a:pt x="55" y="65"/>
                    <a:pt x="65" y="54"/>
                    <a:pt x="77" y="46"/>
                  </a:cubicBezTo>
                  <a:cubicBezTo>
                    <a:pt x="67" y="36"/>
                    <a:pt x="67" y="36"/>
                    <a:pt x="67" y="36"/>
                  </a:cubicBezTo>
                  <a:cubicBezTo>
                    <a:pt x="61" y="31"/>
                    <a:pt x="52" y="31"/>
                    <a:pt x="47" y="36"/>
                  </a:cubicBezTo>
                  <a:close/>
                  <a:moveTo>
                    <a:pt x="238" y="36"/>
                  </a:moveTo>
                  <a:cubicBezTo>
                    <a:pt x="232" y="31"/>
                    <a:pt x="223" y="31"/>
                    <a:pt x="218" y="36"/>
                  </a:cubicBezTo>
                  <a:cubicBezTo>
                    <a:pt x="207" y="46"/>
                    <a:pt x="207" y="46"/>
                    <a:pt x="207" y="46"/>
                  </a:cubicBezTo>
                  <a:cubicBezTo>
                    <a:pt x="219" y="54"/>
                    <a:pt x="230" y="65"/>
                    <a:pt x="238" y="77"/>
                  </a:cubicBezTo>
                  <a:cubicBezTo>
                    <a:pt x="248" y="66"/>
                    <a:pt x="248" y="66"/>
                    <a:pt x="248" y="66"/>
                  </a:cubicBezTo>
                  <a:cubicBezTo>
                    <a:pt x="254" y="61"/>
                    <a:pt x="254" y="52"/>
                    <a:pt x="248" y="47"/>
                  </a:cubicBezTo>
                  <a:lnTo>
                    <a:pt x="238" y="36"/>
                  </a:lnTo>
                  <a:close/>
                  <a:moveTo>
                    <a:pt x="150" y="0"/>
                  </a:moveTo>
                  <a:cubicBezTo>
                    <a:pt x="135" y="0"/>
                    <a:pt x="135" y="0"/>
                    <a:pt x="135" y="0"/>
                  </a:cubicBezTo>
                  <a:cubicBezTo>
                    <a:pt x="127" y="0"/>
                    <a:pt x="121" y="6"/>
                    <a:pt x="121" y="14"/>
                  </a:cubicBezTo>
                  <a:cubicBezTo>
                    <a:pt x="121" y="28"/>
                    <a:pt x="121" y="28"/>
                    <a:pt x="121" y="28"/>
                  </a:cubicBezTo>
                  <a:cubicBezTo>
                    <a:pt x="128" y="27"/>
                    <a:pt x="135" y="26"/>
                    <a:pt x="142" y="26"/>
                  </a:cubicBezTo>
                  <a:cubicBezTo>
                    <a:pt x="150" y="26"/>
                    <a:pt x="157" y="27"/>
                    <a:pt x="164" y="28"/>
                  </a:cubicBezTo>
                  <a:cubicBezTo>
                    <a:pt x="164" y="14"/>
                    <a:pt x="164" y="14"/>
                    <a:pt x="164" y="14"/>
                  </a:cubicBezTo>
                  <a:cubicBezTo>
                    <a:pt x="164" y="6"/>
                    <a:pt x="157" y="0"/>
                    <a:pt x="150" y="0"/>
                  </a:cubicBezTo>
                  <a:close/>
                  <a:moveTo>
                    <a:pt x="14" y="121"/>
                  </a:moveTo>
                  <a:cubicBezTo>
                    <a:pt x="6" y="121"/>
                    <a:pt x="0" y="127"/>
                    <a:pt x="0" y="135"/>
                  </a:cubicBezTo>
                  <a:cubicBezTo>
                    <a:pt x="0" y="149"/>
                    <a:pt x="0" y="149"/>
                    <a:pt x="0" y="149"/>
                  </a:cubicBezTo>
                  <a:cubicBezTo>
                    <a:pt x="0" y="157"/>
                    <a:pt x="6" y="163"/>
                    <a:pt x="14" y="163"/>
                  </a:cubicBezTo>
                  <a:cubicBezTo>
                    <a:pt x="28" y="163"/>
                    <a:pt x="28" y="163"/>
                    <a:pt x="28" y="163"/>
                  </a:cubicBezTo>
                  <a:cubicBezTo>
                    <a:pt x="27" y="156"/>
                    <a:pt x="26" y="149"/>
                    <a:pt x="26" y="142"/>
                  </a:cubicBezTo>
                  <a:cubicBezTo>
                    <a:pt x="26" y="135"/>
                    <a:pt x="27" y="127"/>
                    <a:pt x="28" y="121"/>
                  </a:cubicBezTo>
                  <a:lnTo>
                    <a:pt x="14" y="121"/>
                  </a:lnTo>
                  <a:close/>
                  <a:moveTo>
                    <a:pt x="238" y="207"/>
                  </a:moveTo>
                  <a:cubicBezTo>
                    <a:pt x="230" y="219"/>
                    <a:pt x="219" y="229"/>
                    <a:pt x="207" y="238"/>
                  </a:cubicBezTo>
                  <a:cubicBezTo>
                    <a:pt x="218" y="248"/>
                    <a:pt x="218" y="248"/>
                    <a:pt x="218" y="248"/>
                  </a:cubicBezTo>
                  <a:cubicBezTo>
                    <a:pt x="223" y="253"/>
                    <a:pt x="232" y="253"/>
                    <a:pt x="238" y="248"/>
                  </a:cubicBezTo>
                  <a:cubicBezTo>
                    <a:pt x="248" y="237"/>
                    <a:pt x="248" y="237"/>
                    <a:pt x="248" y="237"/>
                  </a:cubicBezTo>
                  <a:cubicBezTo>
                    <a:pt x="254" y="232"/>
                    <a:pt x="254" y="223"/>
                    <a:pt x="248" y="218"/>
                  </a:cubicBezTo>
                  <a:lnTo>
                    <a:pt x="238" y="207"/>
                  </a:lnTo>
                  <a:close/>
                  <a:moveTo>
                    <a:pt x="270" y="121"/>
                  </a:moveTo>
                  <a:cubicBezTo>
                    <a:pt x="256" y="121"/>
                    <a:pt x="256" y="121"/>
                    <a:pt x="256" y="121"/>
                  </a:cubicBezTo>
                  <a:cubicBezTo>
                    <a:pt x="257" y="127"/>
                    <a:pt x="258" y="135"/>
                    <a:pt x="258" y="142"/>
                  </a:cubicBezTo>
                  <a:cubicBezTo>
                    <a:pt x="258" y="149"/>
                    <a:pt x="257" y="156"/>
                    <a:pt x="256" y="163"/>
                  </a:cubicBezTo>
                  <a:cubicBezTo>
                    <a:pt x="270" y="163"/>
                    <a:pt x="270" y="163"/>
                    <a:pt x="270" y="163"/>
                  </a:cubicBezTo>
                  <a:cubicBezTo>
                    <a:pt x="278" y="163"/>
                    <a:pt x="284" y="157"/>
                    <a:pt x="284" y="149"/>
                  </a:cubicBezTo>
                  <a:cubicBezTo>
                    <a:pt x="284" y="135"/>
                    <a:pt x="284" y="135"/>
                    <a:pt x="284" y="135"/>
                  </a:cubicBezTo>
                  <a:cubicBezTo>
                    <a:pt x="284" y="127"/>
                    <a:pt x="278" y="121"/>
                    <a:pt x="270" y="121"/>
                  </a:cubicBezTo>
                  <a:close/>
                  <a:moveTo>
                    <a:pt x="47" y="207"/>
                  </a:moveTo>
                  <a:cubicBezTo>
                    <a:pt x="36" y="218"/>
                    <a:pt x="36" y="218"/>
                    <a:pt x="36" y="218"/>
                  </a:cubicBezTo>
                  <a:cubicBezTo>
                    <a:pt x="31" y="223"/>
                    <a:pt x="31" y="232"/>
                    <a:pt x="36" y="237"/>
                  </a:cubicBezTo>
                  <a:cubicBezTo>
                    <a:pt x="47" y="248"/>
                    <a:pt x="47" y="248"/>
                    <a:pt x="47" y="248"/>
                  </a:cubicBezTo>
                  <a:cubicBezTo>
                    <a:pt x="52" y="253"/>
                    <a:pt x="61" y="253"/>
                    <a:pt x="67" y="248"/>
                  </a:cubicBezTo>
                  <a:cubicBezTo>
                    <a:pt x="77" y="238"/>
                    <a:pt x="77" y="238"/>
                    <a:pt x="77" y="238"/>
                  </a:cubicBezTo>
                  <a:cubicBezTo>
                    <a:pt x="65" y="229"/>
                    <a:pt x="55" y="219"/>
                    <a:pt x="47" y="207"/>
                  </a:cubicBezTo>
                  <a:close/>
                  <a:moveTo>
                    <a:pt x="121" y="256"/>
                  </a:moveTo>
                  <a:cubicBezTo>
                    <a:pt x="121" y="270"/>
                    <a:pt x="121" y="270"/>
                    <a:pt x="121" y="270"/>
                  </a:cubicBezTo>
                  <a:cubicBezTo>
                    <a:pt x="121" y="278"/>
                    <a:pt x="127" y="284"/>
                    <a:pt x="135" y="284"/>
                  </a:cubicBezTo>
                  <a:cubicBezTo>
                    <a:pt x="150" y="284"/>
                    <a:pt x="150" y="284"/>
                    <a:pt x="150" y="284"/>
                  </a:cubicBezTo>
                  <a:cubicBezTo>
                    <a:pt x="157" y="284"/>
                    <a:pt x="164" y="278"/>
                    <a:pt x="164" y="270"/>
                  </a:cubicBezTo>
                  <a:cubicBezTo>
                    <a:pt x="164" y="256"/>
                    <a:pt x="164" y="256"/>
                    <a:pt x="164" y="256"/>
                  </a:cubicBezTo>
                  <a:cubicBezTo>
                    <a:pt x="157" y="257"/>
                    <a:pt x="150" y="258"/>
                    <a:pt x="142" y="258"/>
                  </a:cubicBezTo>
                  <a:cubicBezTo>
                    <a:pt x="135" y="258"/>
                    <a:pt x="128" y="257"/>
                    <a:pt x="121" y="25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79" name="Freeform 678"/>
            <p:cNvSpPr>
              <a:spLocks noChangeArrowheads="1"/>
            </p:cNvSpPr>
            <p:nvPr/>
          </p:nvSpPr>
          <p:spPr bwMode="auto">
            <a:xfrm>
              <a:off x="101784" y="0"/>
              <a:ext cx="478760" cy="475650"/>
            </a:xfrm>
            <a:custGeom>
              <a:avLst/>
              <a:gdLst>
                <a:gd name="T0" fmla="*/ 2147483647 w 244"/>
                <a:gd name="T1" fmla="*/ 2147483647 h 243"/>
                <a:gd name="T2" fmla="*/ 2147483647 w 244"/>
                <a:gd name="T3" fmla="*/ 2147483647 h 243"/>
                <a:gd name="T4" fmla="*/ 2147483647 w 244"/>
                <a:gd name="T5" fmla="*/ 2147483647 h 243"/>
                <a:gd name="T6" fmla="*/ 2147483647 w 244"/>
                <a:gd name="T7" fmla="*/ 2147483647 h 243"/>
                <a:gd name="T8" fmla="*/ 2147483647 w 244"/>
                <a:gd name="T9" fmla="*/ 0 h 243"/>
                <a:gd name="T10" fmla="*/ 2147483647 w 244"/>
                <a:gd name="T11" fmla="*/ 0 h 243"/>
                <a:gd name="T12" fmla="*/ 2147483647 w 244"/>
                <a:gd name="T13" fmla="*/ 2147483647 h 243"/>
                <a:gd name="T14" fmla="*/ 2147483647 w 244"/>
                <a:gd name="T15" fmla="*/ 2147483647 h 243"/>
                <a:gd name="T16" fmla="*/ 2147483647 w 244"/>
                <a:gd name="T17" fmla="*/ 2147483647 h 243"/>
                <a:gd name="T18" fmla="*/ 2147483647 w 244"/>
                <a:gd name="T19" fmla="*/ 2147483647 h 243"/>
                <a:gd name="T20" fmla="*/ 2147483647 w 244"/>
                <a:gd name="T21" fmla="*/ 2147483647 h 243"/>
                <a:gd name="T22" fmla="*/ 2147483647 w 244"/>
                <a:gd name="T23" fmla="*/ 2147483647 h 243"/>
                <a:gd name="T24" fmla="*/ 2147483647 w 244"/>
                <a:gd name="T25" fmla="*/ 2147483647 h 243"/>
                <a:gd name="T26" fmla="*/ 2147483647 w 244"/>
                <a:gd name="T27" fmla="*/ 2147483647 h 243"/>
                <a:gd name="T28" fmla="*/ 2147483647 w 244"/>
                <a:gd name="T29" fmla="*/ 2147483647 h 243"/>
                <a:gd name="T30" fmla="*/ 2147483647 w 244"/>
                <a:gd name="T31" fmla="*/ 2147483647 h 243"/>
                <a:gd name="T32" fmla="*/ 0 w 244"/>
                <a:gd name="T33" fmla="*/ 2147483647 h 243"/>
                <a:gd name="T34" fmla="*/ 0 w 244"/>
                <a:gd name="T35" fmla="*/ 2147483647 h 243"/>
                <a:gd name="T36" fmla="*/ 2147483647 w 244"/>
                <a:gd name="T37" fmla="*/ 2147483647 h 243"/>
                <a:gd name="T38" fmla="*/ 2147483647 w 244"/>
                <a:gd name="T39" fmla="*/ 2147483647 h 243"/>
                <a:gd name="T40" fmla="*/ 2147483647 w 244"/>
                <a:gd name="T41" fmla="*/ 2147483647 h 243"/>
                <a:gd name="T42" fmla="*/ 2147483647 w 244"/>
                <a:gd name="T43" fmla="*/ 2147483647 h 243"/>
                <a:gd name="T44" fmla="*/ 2147483647 w 244"/>
                <a:gd name="T45" fmla="*/ 2147483647 h 243"/>
                <a:gd name="T46" fmla="*/ 2147483647 w 244"/>
                <a:gd name="T47" fmla="*/ 2147483647 h 243"/>
                <a:gd name="T48" fmla="*/ 2147483647 w 244"/>
                <a:gd name="T49" fmla="*/ 2147483647 h 243"/>
                <a:gd name="T50" fmla="*/ 2147483647 w 244"/>
                <a:gd name="T51" fmla="*/ 2147483647 h 243"/>
                <a:gd name="T52" fmla="*/ 2147483647 w 244"/>
                <a:gd name="T53" fmla="*/ 2147483647 h 2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44"/>
                <a:gd name="T82" fmla="*/ 0 h 243"/>
                <a:gd name="T83" fmla="*/ 244 w 244"/>
                <a:gd name="T84" fmla="*/ 243 h 2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44" h="243">
                  <a:moveTo>
                    <a:pt x="218" y="36"/>
                  </a:moveTo>
                  <a:cubicBezTo>
                    <a:pt x="207" y="46"/>
                    <a:pt x="207" y="46"/>
                    <a:pt x="207" y="46"/>
                  </a:cubicBezTo>
                  <a:cubicBezTo>
                    <a:pt x="195" y="37"/>
                    <a:pt x="180" y="31"/>
                    <a:pt x="164" y="28"/>
                  </a:cubicBezTo>
                  <a:cubicBezTo>
                    <a:pt x="164" y="14"/>
                    <a:pt x="164" y="14"/>
                    <a:pt x="164" y="14"/>
                  </a:cubicBezTo>
                  <a:cubicBezTo>
                    <a:pt x="164" y="6"/>
                    <a:pt x="157" y="0"/>
                    <a:pt x="150" y="0"/>
                  </a:cubicBezTo>
                  <a:cubicBezTo>
                    <a:pt x="135" y="0"/>
                    <a:pt x="135" y="0"/>
                    <a:pt x="135" y="0"/>
                  </a:cubicBezTo>
                  <a:cubicBezTo>
                    <a:pt x="127" y="0"/>
                    <a:pt x="121" y="6"/>
                    <a:pt x="121" y="14"/>
                  </a:cubicBezTo>
                  <a:cubicBezTo>
                    <a:pt x="121" y="28"/>
                    <a:pt x="121" y="28"/>
                    <a:pt x="121" y="28"/>
                  </a:cubicBezTo>
                  <a:cubicBezTo>
                    <a:pt x="105" y="31"/>
                    <a:pt x="90" y="37"/>
                    <a:pt x="77" y="46"/>
                  </a:cubicBezTo>
                  <a:cubicBezTo>
                    <a:pt x="67" y="36"/>
                    <a:pt x="67" y="36"/>
                    <a:pt x="67" y="36"/>
                  </a:cubicBezTo>
                  <a:cubicBezTo>
                    <a:pt x="61" y="31"/>
                    <a:pt x="52" y="31"/>
                    <a:pt x="47" y="36"/>
                  </a:cubicBezTo>
                  <a:cubicBezTo>
                    <a:pt x="36" y="47"/>
                    <a:pt x="36" y="47"/>
                    <a:pt x="36" y="47"/>
                  </a:cubicBezTo>
                  <a:cubicBezTo>
                    <a:pt x="31" y="52"/>
                    <a:pt x="31" y="61"/>
                    <a:pt x="36" y="66"/>
                  </a:cubicBezTo>
                  <a:cubicBezTo>
                    <a:pt x="47" y="77"/>
                    <a:pt x="47" y="77"/>
                    <a:pt x="47" y="77"/>
                  </a:cubicBezTo>
                  <a:cubicBezTo>
                    <a:pt x="38" y="90"/>
                    <a:pt x="31" y="104"/>
                    <a:pt x="28" y="121"/>
                  </a:cubicBezTo>
                  <a:cubicBezTo>
                    <a:pt x="14" y="121"/>
                    <a:pt x="14" y="121"/>
                    <a:pt x="14" y="121"/>
                  </a:cubicBezTo>
                  <a:cubicBezTo>
                    <a:pt x="6" y="121"/>
                    <a:pt x="0" y="127"/>
                    <a:pt x="0" y="135"/>
                  </a:cubicBezTo>
                  <a:cubicBezTo>
                    <a:pt x="0" y="149"/>
                    <a:pt x="0" y="149"/>
                    <a:pt x="0" y="149"/>
                  </a:cubicBezTo>
                  <a:cubicBezTo>
                    <a:pt x="0" y="157"/>
                    <a:pt x="6" y="163"/>
                    <a:pt x="14" y="163"/>
                  </a:cubicBezTo>
                  <a:cubicBezTo>
                    <a:pt x="28" y="163"/>
                    <a:pt x="28" y="163"/>
                    <a:pt x="28" y="163"/>
                  </a:cubicBezTo>
                  <a:cubicBezTo>
                    <a:pt x="31" y="179"/>
                    <a:pt x="38" y="194"/>
                    <a:pt x="47" y="207"/>
                  </a:cubicBezTo>
                  <a:cubicBezTo>
                    <a:pt x="36" y="218"/>
                    <a:pt x="36" y="218"/>
                    <a:pt x="36" y="218"/>
                  </a:cubicBezTo>
                  <a:cubicBezTo>
                    <a:pt x="31" y="223"/>
                    <a:pt x="31" y="232"/>
                    <a:pt x="36" y="237"/>
                  </a:cubicBezTo>
                  <a:cubicBezTo>
                    <a:pt x="42" y="243"/>
                    <a:pt x="42" y="243"/>
                    <a:pt x="42" y="243"/>
                  </a:cubicBezTo>
                  <a:cubicBezTo>
                    <a:pt x="244" y="42"/>
                    <a:pt x="244" y="42"/>
                    <a:pt x="244" y="42"/>
                  </a:cubicBezTo>
                  <a:cubicBezTo>
                    <a:pt x="238" y="36"/>
                    <a:pt x="238" y="36"/>
                    <a:pt x="238" y="36"/>
                  </a:cubicBezTo>
                  <a:cubicBezTo>
                    <a:pt x="232" y="31"/>
                    <a:pt x="223" y="31"/>
                    <a:pt x="218" y="3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0" name="Freeform 679"/>
            <p:cNvSpPr>
              <a:spLocks noChangeArrowheads="1"/>
            </p:cNvSpPr>
            <p:nvPr/>
          </p:nvSpPr>
          <p:spPr bwMode="auto">
            <a:xfrm>
              <a:off x="339279" y="39637"/>
              <a:ext cx="84820" cy="15100"/>
            </a:xfrm>
            <a:custGeom>
              <a:avLst/>
              <a:gdLst>
                <a:gd name="T0" fmla="*/ 0 w 43"/>
                <a:gd name="T1" fmla="*/ 2147483647 h 8"/>
                <a:gd name="T2" fmla="*/ 0 w 43"/>
                <a:gd name="T3" fmla="*/ 2147483647 h 8"/>
                <a:gd name="T4" fmla="*/ 2147483647 w 43"/>
                <a:gd name="T5" fmla="*/ 2147483647 h 8"/>
                <a:gd name="T6" fmla="*/ 2147483647 w 43"/>
                <a:gd name="T7" fmla="*/ 2147483647 h 8"/>
                <a:gd name="T8" fmla="*/ 2147483647 w 43"/>
                <a:gd name="T9" fmla="*/ 2147483647 h 8"/>
                <a:gd name="T10" fmla="*/ 2147483647 w 43"/>
                <a:gd name="T11" fmla="*/ 0 h 8"/>
                <a:gd name="T12" fmla="*/ 0 w 43"/>
                <a:gd name="T13" fmla="*/ 2147483647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2"/>
                  </a:moveTo>
                  <a:cubicBezTo>
                    <a:pt x="0" y="8"/>
                    <a:pt x="0" y="8"/>
                    <a:pt x="0" y="8"/>
                  </a:cubicBezTo>
                  <a:cubicBezTo>
                    <a:pt x="7" y="7"/>
                    <a:pt x="14" y="6"/>
                    <a:pt x="21" y="6"/>
                  </a:cubicBezTo>
                  <a:cubicBezTo>
                    <a:pt x="29" y="6"/>
                    <a:pt x="36" y="7"/>
                    <a:pt x="43" y="8"/>
                  </a:cubicBezTo>
                  <a:cubicBezTo>
                    <a:pt x="43" y="2"/>
                    <a:pt x="43" y="2"/>
                    <a:pt x="43" y="2"/>
                  </a:cubicBezTo>
                  <a:cubicBezTo>
                    <a:pt x="36" y="1"/>
                    <a:pt x="29" y="0"/>
                    <a:pt x="21" y="0"/>
                  </a:cubicBezTo>
                  <a:cubicBezTo>
                    <a:pt x="14" y="0"/>
                    <a:pt x="7" y="1"/>
                    <a:pt x="0" y="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1" name="Freeform 680"/>
            <p:cNvSpPr>
              <a:spLocks noChangeArrowheads="1"/>
            </p:cNvSpPr>
            <p:nvPr/>
          </p:nvSpPr>
          <p:spPr bwMode="auto">
            <a:xfrm>
              <a:off x="508918" y="83050"/>
              <a:ext cx="67856" cy="67950"/>
            </a:xfrm>
            <a:custGeom>
              <a:avLst/>
              <a:gdLst>
                <a:gd name="T0" fmla="*/ 2147483647 w 35"/>
                <a:gd name="T1" fmla="*/ 2147483647 h 35"/>
                <a:gd name="T2" fmla="*/ 2147483647 w 35"/>
                <a:gd name="T3" fmla="*/ 2147483647 h 35"/>
                <a:gd name="T4" fmla="*/ 2147483647 w 35"/>
                <a:gd name="T5" fmla="*/ 0 h 35"/>
                <a:gd name="T6" fmla="*/ 0 w 35"/>
                <a:gd name="T7" fmla="*/ 2147483647 h 35"/>
                <a:gd name="T8" fmla="*/ 2147483647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31" y="35"/>
                  </a:moveTo>
                  <a:cubicBezTo>
                    <a:pt x="35" y="30"/>
                    <a:pt x="35" y="30"/>
                    <a:pt x="35" y="30"/>
                  </a:cubicBezTo>
                  <a:cubicBezTo>
                    <a:pt x="27" y="19"/>
                    <a:pt x="17" y="8"/>
                    <a:pt x="5" y="0"/>
                  </a:cubicBezTo>
                  <a:cubicBezTo>
                    <a:pt x="0" y="4"/>
                    <a:pt x="0" y="4"/>
                    <a:pt x="0" y="4"/>
                  </a:cubicBezTo>
                  <a:cubicBezTo>
                    <a:pt x="12" y="12"/>
                    <a:pt x="23" y="23"/>
                    <a:pt x="31" y="3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2" name="Freeform 681"/>
            <p:cNvSpPr>
              <a:spLocks noChangeArrowheads="1"/>
            </p:cNvSpPr>
            <p:nvPr/>
          </p:nvSpPr>
          <p:spPr bwMode="auto">
            <a:xfrm>
              <a:off x="141367" y="237825"/>
              <a:ext cx="16963" cy="81162"/>
            </a:xfrm>
            <a:custGeom>
              <a:avLst/>
              <a:gdLst>
                <a:gd name="T0" fmla="*/ 2147483647 w 8"/>
                <a:gd name="T1" fmla="*/ 0 h 42"/>
                <a:gd name="T2" fmla="*/ 0 w 8"/>
                <a:gd name="T3" fmla="*/ 2147483647 h 42"/>
                <a:gd name="T4" fmla="*/ 2147483647 w 8"/>
                <a:gd name="T5" fmla="*/ 2147483647 h 42"/>
                <a:gd name="T6" fmla="*/ 2147483647 w 8"/>
                <a:gd name="T7" fmla="*/ 2147483647 h 42"/>
                <a:gd name="T8" fmla="*/ 2147483647 w 8"/>
                <a:gd name="T9" fmla="*/ 2147483647 h 42"/>
                <a:gd name="T10" fmla="*/ 2147483647 w 8"/>
                <a:gd name="T11" fmla="*/ 0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2" y="0"/>
                  </a:moveTo>
                  <a:cubicBezTo>
                    <a:pt x="1" y="6"/>
                    <a:pt x="0" y="14"/>
                    <a:pt x="0" y="21"/>
                  </a:cubicBezTo>
                  <a:cubicBezTo>
                    <a:pt x="0" y="28"/>
                    <a:pt x="1" y="35"/>
                    <a:pt x="2" y="42"/>
                  </a:cubicBezTo>
                  <a:cubicBezTo>
                    <a:pt x="8" y="42"/>
                    <a:pt x="8" y="42"/>
                    <a:pt x="8" y="42"/>
                  </a:cubicBezTo>
                  <a:cubicBezTo>
                    <a:pt x="7" y="35"/>
                    <a:pt x="6" y="28"/>
                    <a:pt x="6" y="21"/>
                  </a:cubicBezTo>
                  <a:cubicBezTo>
                    <a:pt x="6" y="14"/>
                    <a:pt x="7" y="6"/>
                    <a:pt x="8" y="0"/>
                  </a:cubicBezTo>
                  <a:lnTo>
                    <a:pt x="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3" name="Freeform 682"/>
            <p:cNvSpPr>
              <a:spLocks noChangeArrowheads="1"/>
            </p:cNvSpPr>
            <p:nvPr/>
          </p:nvSpPr>
          <p:spPr bwMode="auto">
            <a:xfrm>
              <a:off x="508918" y="405812"/>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1"/>
                  </a:moveTo>
                  <a:cubicBezTo>
                    <a:pt x="5" y="35"/>
                    <a:pt x="5" y="35"/>
                    <a:pt x="5" y="35"/>
                  </a:cubicBezTo>
                  <a:cubicBezTo>
                    <a:pt x="17" y="27"/>
                    <a:pt x="27" y="16"/>
                    <a:pt x="35" y="5"/>
                  </a:cubicBezTo>
                  <a:cubicBezTo>
                    <a:pt x="31" y="0"/>
                    <a:pt x="31" y="0"/>
                    <a:pt x="31" y="0"/>
                  </a:cubicBezTo>
                  <a:cubicBezTo>
                    <a:pt x="23" y="12"/>
                    <a:pt x="12" y="22"/>
                    <a:pt x="0" y="3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4" name="Freeform 683"/>
            <p:cNvSpPr>
              <a:spLocks noChangeArrowheads="1"/>
            </p:cNvSpPr>
            <p:nvPr/>
          </p:nvSpPr>
          <p:spPr bwMode="auto">
            <a:xfrm>
              <a:off x="605048" y="237825"/>
              <a:ext cx="15079" cy="81162"/>
            </a:xfrm>
            <a:custGeom>
              <a:avLst/>
              <a:gdLst>
                <a:gd name="T0" fmla="*/ 2147483647 w 8"/>
                <a:gd name="T1" fmla="*/ 0 h 42"/>
                <a:gd name="T2" fmla="*/ 0 w 8"/>
                <a:gd name="T3" fmla="*/ 0 h 42"/>
                <a:gd name="T4" fmla="*/ 2147483647 w 8"/>
                <a:gd name="T5" fmla="*/ 2147483647 h 42"/>
                <a:gd name="T6" fmla="*/ 0 w 8"/>
                <a:gd name="T7" fmla="*/ 2147483647 h 42"/>
                <a:gd name="T8" fmla="*/ 2147483647 w 8"/>
                <a:gd name="T9" fmla="*/ 2147483647 h 42"/>
                <a:gd name="T10" fmla="*/ 2147483647 w 8"/>
                <a:gd name="T11" fmla="*/ 2147483647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6" y="0"/>
                  </a:moveTo>
                  <a:cubicBezTo>
                    <a:pt x="0" y="0"/>
                    <a:pt x="0" y="0"/>
                    <a:pt x="0" y="0"/>
                  </a:cubicBezTo>
                  <a:cubicBezTo>
                    <a:pt x="1" y="6"/>
                    <a:pt x="2" y="14"/>
                    <a:pt x="2" y="21"/>
                  </a:cubicBezTo>
                  <a:cubicBezTo>
                    <a:pt x="2" y="28"/>
                    <a:pt x="1" y="35"/>
                    <a:pt x="0" y="42"/>
                  </a:cubicBezTo>
                  <a:cubicBezTo>
                    <a:pt x="6" y="42"/>
                    <a:pt x="6" y="42"/>
                    <a:pt x="6" y="42"/>
                  </a:cubicBezTo>
                  <a:cubicBezTo>
                    <a:pt x="7" y="35"/>
                    <a:pt x="8" y="28"/>
                    <a:pt x="8" y="21"/>
                  </a:cubicBezTo>
                  <a:cubicBezTo>
                    <a:pt x="8" y="14"/>
                    <a:pt x="7" y="6"/>
                    <a:pt x="6"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5" name="Freeform 684"/>
            <p:cNvSpPr>
              <a:spLocks noChangeArrowheads="1"/>
            </p:cNvSpPr>
            <p:nvPr/>
          </p:nvSpPr>
          <p:spPr bwMode="auto">
            <a:xfrm>
              <a:off x="339279" y="502075"/>
              <a:ext cx="84820" cy="15100"/>
            </a:xfrm>
            <a:custGeom>
              <a:avLst/>
              <a:gdLst>
                <a:gd name="T0" fmla="*/ 0 w 43"/>
                <a:gd name="T1" fmla="*/ 0 h 8"/>
                <a:gd name="T2" fmla="*/ 0 w 43"/>
                <a:gd name="T3" fmla="*/ 2147483647 h 8"/>
                <a:gd name="T4" fmla="*/ 2147483647 w 43"/>
                <a:gd name="T5" fmla="*/ 2147483647 h 8"/>
                <a:gd name="T6" fmla="*/ 2147483647 w 43"/>
                <a:gd name="T7" fmla="*/ 2147483647 h 8"/>
                <a:gd name="T8" fmla="*/ 2147483647 w 43"/>
                <a:gd name="T9" fmla="*/ 0 h 8"/>
                <a:gd name="T10" fmla="*/ 2147483647 w 43"/>
                <a:gd name="T11" fmla="*/ 2147483647 h 8"/>
                <a:gd name="T12" fmla="*/ 0 w 43"/>
                <a:gd name="T13" fmla="*/ 0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0"/>
                  </a:moveTo>
                  <a:cubicBezTo>
                    <a:pt x="0" y="6"/>
                    <a:pt x="0" y="6"/>
                    <a:pt x="0" y="6"/>
                  </a:cubicBezTo>
                  <a:cubicBezTo>
                    <a:pt x="7" y="7"/>
                    <a:pt x="14" y="8"/>
                    <a:pt x="21" y="8"/>
                  </a:cubicBezTo>
                  <a:cubicBezTo>
                    <a:pt x="29" y="8"/>
                    <a:pt x="36" y="7"/>
                    <a:pt x="43" y="6"/>
                  </a:cubicBezTo>
                  <a:cubicBezTo>
                    <a:pt x="43" y="0"/>
                    <a:pt x="43" y="0"/>
                    <a:pt x="43" y="0"/>
                  </a:cubicBezTo>
                  <a:cubicBezTo>
                    <a:pt x="36" y="1"/>
                    <a:pt x="29" y="2"/>
                    <a:pt x="21" y="2"/>
                  </a:cubicBezTo>
                  <a:cubicBezTo>
                    <a:pt x="14" y="2"/>
                    <a:pt x="7" y="1"/>
                    <a:pt x="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6" name="Freeform 685"/>
            <p:cNvSpPr>
              <a:spLocks noChangeArrowheads="1"/>
            </p:cNvSpPr>
            <p:nvPr/>
          </p:nvSpPr>
          <p:spPr bwMode="auto">
            <a:xfrm>
              <a:off x="184719" y="405812"/>
              <a:ext cx="67856" cy="67950"/>
            </a:xfrm>
            <a:custGeom>
              <a:avLst/>
              <a:gdLst>
                <a:gd name="T0" fmla="*/ 2147483647 w 35"/>
                <a:gd name="T1" fmla="*/ 0 h 35"/>
                <a:gd name="T2" fmla="*/ 0 w 35"/>
                <a:gd name="T3" fmla="*/ 2147483647 h 35"/>
                <a:gd name="T4" fmla="*/ 2147483647 w 35"/>
                <a:gd name="T5" fmla="*/ 2147483647 h 35"/>
                <a:gd name="T6" fmla="*/ 2147483647 w 35"/>
                <a:gd name="T7" fmla="*/ 2147483647 h 35"/>
                <a:gd name="T8" fmla="*/ 2147483647 w 35"/>
                <a:gd name="T9" fmla="*/ 0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5" y="0"/>
                  </a:moveTo>
                  <a:cubicBezTo>
                    <a:pt x="0" y="5"/>
                    <a:pt x="0" y="5"/>
                    <a:pt x="0" y="5"/>
                  </a:cubicBezTo>
                  <a:cubicBezTo>
                    <a:pt x="9" y="16"/>
                    <a:pt x="19" y="27"/>
                    <a:pt x="31" y="35"/>
                  </a:cubicBezTo>
                  <a:cubicBezTo>
                    <a:pt x="35" y="31"/>
                    <a:pt x="35" y="31"/>
                    <a:pt x="35" y="31"/>
                  </a:cubicBezTo>
                  <a:cubicBezTo>
                    <a:pt x="23" y="22"/>
                    <a:pt x="13" y="12"/>
                    <a:pt x="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7" name="Freeform 686"/>
            <p:cNvSpPr>
              <a:spLocks noChangeArrowheads="1"/>
            </p:cNvSpPr>
            <p:nvPr/>
          </p:nvSpPr>
          <p:spPr bwMode="auto">
            <a:xfrm>
              <a:off x="184719" y="83050"/>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0"/>
                  </a:moveTo>
                  <a:cubicBezTo>
                    <a:pt x="5" y="35"/>
                    <a:pt x="5" y="35"/>
                    <a:pt x="5" y="35"/>
                  </a:cubicBezTo>
                  <a:cubicBezTo>
                    <a:pt x="13" y="23"/>
                    <a:pt x="23" y="12"/>
                    <a:pt x="35" y="4"/>
                  </a:cubicBezTo>
                  <a:cubicBezTo>
                    <a:pt x="31" y="0"/>
                    <a:pt x="31" y="0"/>
                    <a:pt x="31" y="0"/>
                  </a:cubicBezTo>
                  <a:cubicBezTo>
                    <a:pt x="19" y="8"/>
                    <a:pt x="9" y="19"/>
                    <a:pt x="0" y="3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8" name="Freeform 687"/>
            <p:cNvSpPr>
              <a:spLocks noChangeArrowheads="1"/>
            </p:cNvSpPr>
            <p:nvPr/>
          </p:nvSpPr>
          <p:spPr bwMode="auto">
            <a:xfrm>
              <a:off x="184719" y="405812"/>
              <a:ext cx="37698" cy="43413"/>
            </a:xfrm>
            <a:custGeom>
              <a:avLst/>
              <a:gdLst>
                <a:gd name="T0" fmla="*/ 0 w 19"/>
                <a:gd name="T1" fmla="*/ 2147483647 h 22"/>
                <a:gd name="T2" fmla="*/ 2147483647 w 19"/>
                <a:gd name="T3" fmla="*/ 2147483647 h 22"/>
                <a:gd name="T4" fmla="*/ 2147483647 w 19"/>
                <a:gd name="T5" fmla="*/ 2147483647 h 22"/>
                <a:gd name="T6" fmla="*/ 2147483647 w 19"/>
                <a:gd name="T7" fmla="*/ 0 h 22"/>
                <a:gd name="T8" fmla="*/ 0 w 19"/>
                <a:gd name="T9" fmla="*/ 2147483647 h 22"/>
                <a:gd name="T10" fmla="*/ 0 60000 65536"/>
                <a:gd name="T11" fmla="*/ 0 60000 65536"/>
                <a:gd name="T12" fmla="*/ 0 60000 65536"/>
                <a:gd name="T13" fmla="*/ 0 60000 65536"/>
                <a:gd name="T14" fmla="*/ 0 60000 65536"/>
                <a:gd name="T15" fmla="*/ 0 w 19"/>
                <a:gd name="T16" fmla="*/ 0 h 22"/>
                <a:gd name="T17" fmla="*/ 19 w 19"/>
                <a:gd name="T18" fmla="*/ 22 h 22"/>
              </a:gdLst>
              <a:ahLst/>
              <a:cxnLst>
                <a:cxn ang="T10">
                  <a:pos x="T0" y="T1"/>
                </a:cxn>
                <a:cxn ang="T11">
                  <a:pos x="T2" y="T3"/>
                </a:cxn>
                <a:cxn ang="T12">
                  <a:pos x="T4" y="T5"/>
                </a:cxn>
                <a:cxn ang="T13">
                  <a:pos x="T6" y="T7"/>
                </a:cxn>
                <a:cxn ang="T14">
                  <a:pos x="T8" y="T9"/>
                </a:cxn>
              </a:cxnLst>
              <a:rect l="T15" t="T16" r="T17" b="T18"/>
              <a:pathLst>
                <a:path w="19" h="22">
                  <a:moveTo>
                    <a:pt x="0" y="5"/>
                  </a:moveTo>
                  <a:cubicBezTo>
                    <a:pt x="5" y="11"/>
                    <a:pt x="10" y="17"/>
                    <a:pt x="15" y="22"/>
                  </a:cubicBezTo>
                  <a:cubicBezTo>
                    <a:pt x="19" y="18"/>
                    <a:pt x="19" y="18"/>
                    <a:pt x="19" y="18"/>
                  </a:cubicBezTo>
                  <a:cubicBezTo>
                    <a:pt x="14" y="12"/>
                    <a:pt x="9" y="7"/>
                    <a:pt x="5" y="0"/>
                  </a:cubicBezTo>
                  <a:lnTo>
                    <a:pt x="0" y="5"/>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9" name="Freeform 688"/>
            <p:cNvSpPr>
              <a:spLocks noChangeArrowheads="1"/>
            </p:cNvSpPr>
            <p:nvPr/>
          </p:nvSpPr>
          <p:spPr bwMode="auto">
            <a:xfrm>
              <a:off x="508918" y="83050"/>
              <a:ext cx="43353" cy="35862"/>
            </a:xfrm>
            <a:custGeom>
              <a:avLst/>
              <a:gdLst>
                <a:gd name="T0" fmla="*/ 2147483647 w 22"/>
                <a:gd name="T1" fmla="*/ 0 h 19"/>
                <a:gd name="T2" fmla="*/ 0 w 22"/>
                <a:gd name="T3" fmla="*/ 2147483647 h 19"/>
                <a:gd name="T4" fmla="*/ 2147483647 w 22"/>
                <a:gd name="T5" fmla="*/ 2147483647 h 19"/>
                <a:gd name="T6" fmla="*/ 2147483647 w 22"/>
                <a:gd name="T7" fmla="*/ 2147483647 h 19"/>
                <a:gd name="T8" fmla="*/ 2147483647 w 22"/>
                <a:gd name="T9" fmla="*/ 0 h 19"/>
                <a:gd name="T10" fmla="*/ 0 60000 65536"/>
                <a:gd name="T11" fmla="*/ 0 60000 65536"/>
                <a:gd name="T12" fmla="*/ 0 60000 65536"/>
                <a:gd name="T13" fmla="*/ 0 60000 65536"/>
                <a:gd name="T14" fmla="*/ 0 60000 65536"/>
                <a:gd name="T15" fmla="*/ 0 w 22"/>
                <a:gd name="T16" fmla="*/ 0 h 19"/>
                <a:gd name="T17" fmla="*/ 22 w 22"/>
                <a:gd name="T18" fmla="*/ 19 h 19"/>
              </a:gdLst>
              <a:ahLst/>
              <a:cxnLst>
                <a:cxn ang="T10">
                  <a:pos x="T0" y="T1"/>
                </a:cxn>
                <a:cxn ang="T11">
                  <a:pos x="T2" y="T3"/>
                </a:cxn>
                <a:cxn ang="T12">
                  <a:pos x="T4" y="T5"/>
                </a:cxn>
                <a:cxn ang="T13">
                  <a:pos x="T6" y="T7"/>
                </a:cxn>
                <a:cxn ang="T14">
                  <a:pos x="T8" y="T9"/>
                </a:cxn>
              </a:cxnLst>
              <a:rect l="T15" t="T16" r="T17" b="T18"/>
              <a:pathLst>
                <a:path w="22" h="19">
                  <a:moveTo>
                    <a:pt x="5" y="0"/>
                  </a:moveTo>
                  <a:cubicBezTo>
                    <a:pt x="0" y="4"/>
                    <a:pt x="0" y="4"/>
                    <a:pt x="0" y="4"/>
                  </a:cubicBezTo>
                  <a:cubicBezTo>
                    <a:pt x="7" y="9"/>
                    <a:pt x="13" y="14"/>
                    <a:pt x="18" y="19"/>
                  </a:cubicBezTo>
                  <a:cubicBezTo>
                    <a:pt x="22" y="15"/>
                    <a:pt x="22" y="15"/>
                    <a:pt x="22" y="15"/>
                  </a:cubicBezTo>
                  <a:cubicBezTo>
                    <a:pt x="17" y="9"/>
                    <a:pt x="11" y="4"/>
                    <a:pt x="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0" name="Freeform 689"/>
            <p:cNvSpPr>
              <a:spLocks noChangeArrowheads="1"/>
            </p:cNvSpPr>
            <p:nvPr/>
          </p:nvSpPr>
          <p:spPr bwMode="auto">
            <a:xfrm>
              <a:off x="339279" y="39637"/>
              <a:ext cx="84820" cy="15100"/>
            </a:xfrm>
            <a:custGeom>
              <a:avLst/>
              <a:gdLst>
                <a:gd name="T0" fmla="*/ 0 w 43"/>
                <a:gd name="T1" fmla="*/ 2147483647 h 8"/>
                <a:gd name="T2" fmla="*/ 0 w 43"/>
                <a:gd name="T3" fmla="*/ 2147483647 h 8"/>
                <a:gd name="T4" fmla="*/ 2147483647 w 43"/>
                <a:gd name="T5" fmla="*/ 2147483647 h 8"/>
                <a:gd name="T6" fmla="*/ 2147483647 w 43"/>
                <a:gd name="T7" fmla="*/ 2147483647 h 8"/>
                <a:gd name="T8" fmla="*/ 2147483647 w 43"/>
                <a:gd name="T9" fmla="*/ 2147483647 h 8"/>
                <a:gd name="T10" fmla="*/ 2147483647 w 43"/>
                <a:gd name="T11" fmla="*/ 0 h 8"/>
                <a:gd name="T12" fmla="*/ 0 w 43"/>
                <a:gd name="T13" fmla="*/ 2147483647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2"/>
                  </a:moveTo>
                  <a:cubicBezTo>
                    <a:pt x="0" y="8"/>
                    <a:pt x="0" y="8"/>
                    <a:pt x="0" y="8"/>
                  </a:cubicBezTo>
                  <a:cubicBezTo>
                    <a:pt x="7" y="7"/>
                    <a:pt x="14" y="6"/>
                    <a:pt x="21" y="6"/>
                  </a:cubicBezTo>
                  <a:cubicBezTo>
                    <a:pt x="29" y="6"/>
                    <a:pt x="36" y="7"/>
                    <a:pt x="43" y="8"/>
                  </a:cubicBezTo>
                  <a:cubicBezTo>
                    <a:pt x="43" y="2"/>
                    <a:pt x="43" y="2"/>
                    <a:pt x="43" y="2"/>
                  </a:cubicBezTo>
                  <a:cubicBezTo>
                    <a:pt x="36" y="1"/>
                    <a:pt x="29" y="0"/>
                    <a:pt x="21" y="0"/>
                  </a:cubicBezTo>
                  <a:cubicBezTo>
                    <a:pt x="14" y="0"/>
                    <a:pt x="7" y="1"/>
                    <a:pt x="0" y="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1" name="Freeform 690"/>
            <p:cNvSpPr>
              <a:spLocks noChangeArrowheads="1"/>
            </p:cNvSpPr>
            <p:nvPr/>
          </p:nvSpPr>
          <p:spPr bwMode="auto">
            <a:xfrm>
              <a:off x="141367" y="237825"/>
              <a:ext cx="16963" cy="81162"/>
            </a:xfrm>
            <a:custGeom>
              <a:avLst/>
              <a:gdLst>
                <a:gd name="T0" fmla="*/ 2147483647 w 8"/>
                <a:gd name="T1" fmla="*/ 0 h 42"/>
                <a:gd name="T2" fmla="*/ 0 w 8"/>
                <a:gd name="T3" fmla="*/ 2147483647 h 42"/>
                <a:gd name="T4" fmla="*/ 2147483647 w 8"/>
                <a:gd name="T5" fmla="*/ 2147483647 h 42"/>
                <a:gd name="T6" fmla="*/ 2147483647 w 8"/>
                <a:gd name="T7" fmla="*/ 2147483647 h 42"/>
                <a:gd name="T8" fmla="*/ 2147483647 w 8"/>
                <a:gd name="T9" fmla="*/ 2147483647 h 42"/>
                <a:gd name="T10" fmla="*/ 2147483647 w 8"/>
                <a:gd name="T11" fmla="*/ 0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2" y="0"/>
                  </a:moveTo>
                  <a:cubicBezTo>
                    <a:pt x="1" y="6"/>
                    <a:pt x="0" y="14"/>
                    <a:pt x="0" y="21"/>
                  </a:cubicBezTo>
                  <a:cubicBezTo>
                    <a:pt x="0" y="28"/>
                    <a:pt x="1" y="35"/>
                    <a:pt x="2" y="42"/>
                  </a:cubicBezTo>
                  <a:cubicBezTo>
                    <a:pt x="8" y="42"/>
                    <a:pt x="8" y="42"/>
                    <a:pt x="8" y="42"/>
                  </a:cubicBezTo>
                  <a:cubicBezTo>
                    <a:pt x="7" y="35"/>
                    <a:pt x="6" y="28"/>
                    <a:pt x="6" y="21"/>
                  </a:cubicBezTo>
                  <a:cubicBezTo>
                    <a:pt x="6" y="14"/>
                    <a:pt x="7" y="6"/>
                    <a:pt x="8" y="0"/>
                  </a:cubicBezTo>
                  <a:lnTo>
                    <a:pt x="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2" name="Freeform 691"/>
            <p:cNvSpPr>
              <a:spLocks noChangeArrowheads="1"/>
            </p:cNvSpPr>
            <p:nvPr/>
          </p:nvSpPr>
          <p:spPr bwMode="auto">
            <a:xfrm>
              <a:off x="184719" y="83050"/>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0"/>
                  </a:moveTo>
                  <a:cubicBezTo>
                    <a:pt x="5" y="35"/>
                    <a:pt x="5" y="35"/>
                    <a:pt x="5" y="35"/>
                  </a:cubicBezTo>
                  <a:cubicBezTo>
                    <a:pt x="13" y="23"/>
                    <a:pt x="23" y="12"/>
                    <a:pt x="35" y="4"/>
                  </a:cubicBezTo>
                  <a:cubicBezTo>
                    <a:pt x="31" y="0"/>
                    <a:pt x="31" y="0"/>
                    <a:pt x="31" y="0"/>
                  </a:cubicBezTo>
                  <a:cubicBezTo>
                    <a:pt x="19" y="8"/>
                    <a:pt x="9" y="19"/>
                    <a:pt x="0" y="3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3" name="Freeform 692"/>
            <p:cNvSpPr>
              <a:spLocks noChangeArrowheads="1"/>
            </p:cNvSpPr>
            <p:nvPr/>
          </p:nvSpPr>
          <p:spPr bwMode="auto">
            <a:xfrm>
              <a:off x="0" y="152887"/>
              <a:ext cx="354358" cy="403925"/>
            </a:xfrm>
            <a:custGeom>
              <a:avLst/>
              <a:gdLst>
                <a:gd name="T0" fmla="*/ 2147483647 w 181"/>
                <a:gd name="T1" fmla="*/ 0 h 206"/>
                <a:gd name="T2" fmla="*/ 2147483647 w 181"/>
                <a:gd name="T3" fmla="*/ 2147483647 h 206"/>
                <a:gd name="T4" fmla="*/ 2147483647 w 181"/>
                <a:gd name="T5" fmla="*/ 2147483647 h 206"/>
                <a:gd name="T6" fmla="*/ 0 w 181"/>
                <a:gd name="T7" fmla="*/ 2147483647 h 206"/>
                <a:gd name="T8" fmla="*/ 2147483647 w 181"/>
                <a:gd name="T9" fmla="*/ 2147483647 h 206"/>
                <a:gd name="T10" fmla="*/ 2147483647 w 181"/>
                <a:gd name="T11" fmla="*/ 2147483647 h 206"/>
                <a:gd name="T12" fmla="*/ 2147483647 w 181"/>
                <a:gd name="T13" fmla="*/ 2147483647 h 206"/>
                <a:gd name="T14" fmla="*/ 2147483647 w 181"/>
                <a:gd name="T15" fmla="*/ 0 h 206"/>
                <a:gd name="T16" fmla="*/ 2147483647 w 181"/>
                <a:gd name="T17" fmla="*/ 0 h 2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1"/>
                <a:gd name="T28" fmla="*/ 0 h 206"/>
                <a:gd name="T29" fmla="*/ 181 w 181"/>
                <a:gd name="T30" fmla="*/ 206 h 2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1" h="206">
                  <a:moveTo>
                    <a:pt x="180" y="0"/>
                  </a:moveTo>
                  <a:cubicBezTo>
                    <a:pt x="142" y="0"/>
                    <a:pt x="110" y="25"/>
                    <a:pt x="99" y="59"/>
                  </a:cubicBezTo>
                  <a:cubicBezTo>
                    <a:pt x="78" y="64"/>
                    <a:pt x="60" y="79"/>
                    <a:pt x="52" y="99"/>
                  </a:cubicBezTo>
                  <a:cubicBezTo>
                    <a:pt x="24" y="100"/>
                    <a:pt x="0" y="124"/>
                    <a:pt x="0" y="153"/>
                  </a:cubicBezTo>
                  <a:cubicBezTo>
                    <a:pt x="0" y="182"/>
                    <a:pt x="23" y="205"/>
                    <a:pt x="52" y="206"/>
                  </a:cubicBezTo>
                  <a:cubicBezTo>
                    <a:pt x="52" y="206"/>
                    <a:pt x="52" y="206"/>
                    <a:pt x="52" y="206"/>
                  </a:cubicBezTo>
                  <a:cubicBezTo>
                    <a:pt x="181" y="206"/>
                    <a:pt x="181" y="206"/>
                    <a:pt x="181" y="206"/>
                  </a:cubicBezTo>
                  <a:cubicBezTo>
                    <a:pt x="181" y="0"/>
                    <a:pt x="181" y="0"/>
                    <a:pt x="181" y="0"/>
                  </a:cubicBezTo>
                  <a:lnTo>
                    <a:pt x="18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4" name="Freeform 693"/>
            <p:cNvSpPr>
              <a:spLocks noChangeArrowheads="1"/>
            </p:cNvSpPr>
            <p:nvPr/>
          </p:nvSpPr>
          <p:spPr bwMode="auto">
            <a:xfrm>
              <a:off x="354358" y="152887"/>
              <a:ext cx="284618" cy="403925"/>
            </a:xfrm>
            <a:custGeom>
              <a:avLst/>
              <a:gdLst>
                <a:gd name="T0" fmla="*/ 2147483647 w 144"/>
                <a:gd name="T1" fmla="*/ 2147483647 h 206"/>
                <a:gd name="T2" fmla="*/ 0 w 144"/>
                <a:gd name="T3" fmla="*/ 0 h 206"/>
                <a:gd name="T4" fmla="*/ 0 w 144"/>
                <a:gd name="T5" fmla="*/ 2147483647 h 206"/>
                <a:gd name="T6" fmla="*/ 2147483647 w 144"/>
                <a:gd name="T7" fmla="*/ 2147483647 h 206"/>
                <a:gd name="T8" fmla="*/ 2147483647 w 144"/>
                <a:gd name="T9" fmla="*/ 2147483647 h 206"/>
                <a:gd name="T10" fmla="*/ 2147483647 w 144"/>
                <a:gd name="T11" fmla="*/ 2147483647 h 206"/>
                <a:gd name="T12" fmla="*/ 2147483647 w 144"/>
                <a:gd name="T13" fmla="*/ 2147483647 h 206"/>
                <a:gd name="T14" fmla="*/ 0 60000 65536"/>
                <a:gd name="T15" fmla="*/ 0 60000 65536"/>
                <a:gd name="T16" fmla="*/ 0 60000 65536"/>
                <a:gd name="T17" fmla="*/ 0 60000 65536"/>
                <a:gd name="T18" fmla="*/ 0 60000 65536"/>
                <a:gd name="T19" fmla="*/ 0 60000 65536"/>
                <a:gd name="T20" fmla="*/ 0 60000 65536"/>
                <a:gd name="T21" fmla="*/ 0 w 144"/>
                <a:gd name="T22" fmla="*/ 0 h 206"/>
                <a:gd name="T23" fmla="*/ 144 w 144"/>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206">
                  <a:moveTo>
                    <a:pt x="84" y="75"/>
                  </a:moveTo>
                  <a:cubicBezTo>
                    <a:pt x="79" y="33"/>
                    <a:pt x="43" y="1"/>
                    <a:pt x="0" y="0"/>
                  </a:cubicBezTo>
                  <a:cubicBezTo>
                    <a:pt x="0" y="206"/>
                    <a:pt x="0" y="206"/>
                    <a:pt x="0" y="206"/>
                  </a:cubicBezTo>
                  <a:cubicBezTo>
                    <a:pt x="81" y="206"/>
                    <a:pt x="81" y="206"/>
                    <a:pt x="81" y="206"/>
                  </a:cubicBezTo>
                  <a:cubicBezTo>
                    <a:pt x="81" y="206"/>
                    <a:pt x="81" y="206"/>
                    <a:pt x="81" y="206"/>
                  </a:cubicBezTo>
                  <a:cubicBezTo>
                    <a:pt x="116" y="205"/>
                    <a:pt x="144" y="176"/>
                    <a:pt x="144" y="141"/>
                  </a:cubicBezTo>
                  <a:cubicBezTo>
                    <a:pt x="144" y="106"/>
                    <a:pt x="118" y="78"/>
                    <a:pt x="84" y="7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8" name="Table 7"/>
          <p:cNvGraphicFramePr/>
          <p:nvPr/>
        </p:nvGraphicFramePr>
        <p:xfrm>
          <a:off x="533400" y="3168650"/>
          <a:ext cx="12800965" cy="6492240"/>
        </p:xfrm>
        <a:graphic>
          <a:graphicData uri="http://schemas.openxmlformats.org/drawingml/2006/table">
            <a:tbl>
              <a:tblPr firstRow="1" bandRow="1">
                <a:tableStyleId>{5C22544A-7EE6-4342-B048-85BDC9FD1C3A}</a:tableStyleId>
              </a:tblPr>
              <a:tblGrid>
                <a:gridCol w="12800965"/>
              </a:tblGrid>
              <a:tr h="6492240">
                <a:tc>
                  <a:txBody>
                    <a:bodyPr/>
                    <a:p>
                      <a:pPr>
                        <a:buNone/>
                      </a:pPr>
                      <a:r>
                        <a:rPr lang="en-US" sz="2800">
                          <a:latin typeface="Consolas" panose="020B0609020204030204" charset="0"/>
                          <a:cs typeface="Consolas" panose="020B0609020204030204" charset="0"/>
                        </a:rPr>
                        <a:t>// Định nghĩa một nút trong cây Huffman</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struct Node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char data;</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int freq;</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Node* left, *right;</a:t>
                      </a:r>
                      <a:endParaRPr lang="en-US" sz="2800">
                        <a:latin typeface="Consolas" panose="020B0609020204030204" charset="0"/>
                        <a:cs typeface="Consolas" panose="020B0609020204030204" charset="0"/>
                      </a:endParaRPr>
                    </a:p>
                    <a:p>
                      <a:pPr>
                        <a:buNone/>
                      </a:pP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Node(char data, int freq) : data(data), freq(freq),</a:t>
                      </a: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left(nullptr), right(nullptr) {}</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 So sánh để sử dụng trong priority_queue</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struct Compare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bool operator()(Node* left, Node* right)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return left-&gt;freq &gt; right-&gt;freq;</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3</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pSp>
        <p:nvGrpSpPr>
          <p:cNvPr id="976" name="组合 1627"/>
          <p:cNvGrpSpPr/>
          <p:nvPr/>
        </p:nvGrpSpPr>
        <p:grpSpPr bwMode="auto">
          <a:xfrm>
            <a:off x="400685" y="810260"/>
            <a:ext cx="578485" cy="414655"/>
            <a:chOff x="0" y="0"/>
            <a:chExt cx="659709" cy="556812"/>
          </a:xfrm>
          <a:solidFill>
            <a:schemeClr val="bg1"/>
          </a:solidFill>
        </p:grpSpPr>
        <p:sp>
          <p:nvSpPr>
            <p:cNvPr id="977" name="Oval 676"/>
            <p:cNvSpPr>
              <a:spLocks noChangeArrowheads="1"/>
            </p:cNvSpPr>
            <p:nvPr/>
          </p:nvSpPr>
          <p:spPr bwMode="auto">
            <a:xfrm>
              <a:off x="152676" y="50962"/>
              <a:ext cx="456142" cy="454888"/>
            </a:xfrm>
            <a:prstGeom prst="ellipse">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978" name="Freeform 677"/>
            <p:cNvSpPr>
              <a:spLocks noEditPoints="1" noChangeArrowheads="1"/>
            </p:cNvSpPr>
            <p:nvPr/>
          </p:nvSpPr>
          <p:spPr bwMode="auto">
            <a:xfrm>
              <a:off x="101784" y="0"/>
              <a:ext cx="557925" cy="556812"/>
            </a:xfrm>
            <a:custGeom>
              <a:avLst/>
              <a:gdLst>
                <a:gd name="T0" fmla="*/ 2147483647 w 284"/>
                <a:gd name="T1" fmla="*/ 2147483647 h 284"/>
                <a:gd name="T2" fmla="*/ 2147483647 w 284"/>
                <a:gd name="T3" fmla="*/ 2147483647 h 284"/>
                <a:gd name="T4" fmla="*/ 2147483647 w 284"/>
                <a:gd name="T5" fmla="*/ 2147483647 h 284"/>
                <a:gd name="T6" fmla="*/ 2147483647 w 284"/>
                <a:gd name="T7" fmla="*/ 2147483647 h 284"/>
                <a:gd name="T8" fmla="*/ 2147483647 w 284"/>
                <a:gd name="T9" fmla="*/ 2147483647 h 284"/>
                <a:gd name="T10" fmla="*/ 2147483647 w 284"/>
                <a:gd name="T11" fmla="*/ 2147483647 h 284"/>
                <a:gd name="T12" fmla="*/ 2147483647 w 284"/>
                <a:gd name="T13" fmla="*/ 2147483647 h 284"/>
                <a:gd name="T14" fmla="*/ 2147483647 w 284"/>
                <a:gd name="T15" fmla="*/ 2147483647 h 284"/>
                <a:gd name="T16" fmla="*/ 2147483647 w 284"/>
                <a:gd name="T17" fmla="*/ 2147483647 h 284"/>
                <a:gd name="T18" fmla="*/ 2147483647 w 284"/>
                <a:gd name="T19" fmla="*/ 2147483647 h 284"/>
                <a:gd name="T20" fmla="*/ 2147483647 w 284"/>
                <a:gd name="T21" fmla="*/ 2147483647 h 284"/>
                <a:gd name="T22" fmla="*/ 2147483647 w 284"/>
                <a:gd name="T23" fmla="*/ 2147483647 h 284"/>
                <a:gd name="T24" fmla="*/ 2147483647 w 284"/>
                <a:gd name="T25" fmla="*/ 2147483647 h 284"/>
                <a:gd name="T26" fmla="*/ 2147483647 w 284"/>
                <a:gd name="T27" fmla="*/ 2147483647 h 284"/>
                <a:gd name="T28" fmla="*/ 2147483647 w 284"/>
                <a:gd name="T29" fmla="*/ 0 h 284"/>
                <a:gd name="T30" fmla="*/ 2147483647 w 284"/>
                <a:gd name="T31" fmla="*/ 0 h 284"/>
                <a:gd name="T32" fmla="*/ 2147483647 w 284"/>
                <a:gd name="T33" fmla="*/ 2147483647 h 284"/>
                <a:gd name="T34" fmla="*/ 2147483647 w 284"/>
                <a:gd name="T35" fmla="*/ 2147483647 h 284"/>
                <a:gd name="T36" fmla="*/ 2147483647 w 284"/>
                <a:gd name="T37" fmla="*/ 2147483647 h 284"/>
                <a:gd name="T38" fmla="*/ 2147483647 w 284"/>
                <a:gd name="T39" fmla="*/ 2147483647 h 284"/>
                <a:gd name="T40" fmla="*/ 2147483647 w 284"/>
                <a:gd name="T41" fmla="*/ 2147483647 h 284"/>
                <a:gd name="T42" fmla="*/ 2147483647 w 284"/>
                <a:gd name="T43" fmla="*/ 0 h 284"/>
                <a:gd name="T44" fmla="*/ 2147483647 w 284"/>
                <a:gd name="T45" fmla="*/ 2147483647 h 284"/>
                <a:gd name="T46" fmla="*/ 0 w 284"/>
                <a:gd name="T47" fmla="*/ 2147483647 h 284"/>
                <a:gd name="T48" fmla="*/ 0 w 284"/>
                <a:gd name="T49" fmla="*/ 2147483647 h 284"/>
                <a:gd name="T50" fmla="*/ 2147483647 w 284"/>
                <a:gd name="T51" fmla="*/ 2147483647 h 284"/>
                <a:gd name="T52" fmla="*/ 2147483647 w 284"/>
                <a:gd name="T53" fmla="*/ 2147483647 h 284"/>
                <a:gd name="T54" fmla="*/ 2147483647 w 284"/>
                <a:gd name="T55" fmla="*/ 2147483647 h 284"/>
                <a:gd name="T56" fmla="*/ 2147483647 w 284"/>
                <a:gd name="T57" fmla="*/ 2147483647 h 284"/>
                <a:gd name="T58" fmla="*/ 2147483647 w 284"/>
                <a:gd name="T59" fmla="*/ 2147483647 h 284"/>
                <a:gd name="T60" fmla="*/ 2147483647 w 284"/>
                <a:gd name="T61" fmla="*/ 2147483647 h 284"/>
                <a:gd name="T62" fmla="*/ 2147483647 w 284"/>
                <a:gd name="T63" fmla="*/ 2147483647 h 284"/>
                <a:gd name="T64" fmla="*/ 2147483647 w 284"/>
                <a:gd name="T65" fmla="*/ 2147483647 h 284"/>
                <a:gd name="T66" fmla="*/ 2147483647 w 284"/>
                <a:gd name="T67" fmla="*/ 2147483647 h 284"/>
                <a:gd name="T68" fmla="*/ 2147483647 w 284"/>
                <a:gd name="T69" fmla="*/ 2147483647 h 284"/>
                <a:gd name="T70" fmla="*/ 2147483647 w 284"/>
                <a:gd name="T71" fmla="*/ 2147483647 h 284"/>
                <a:gd name="T72" fmla="*/ 2147483647 w 284"/>
                <a:gd name="T73" fmla="*/ 2147483647 h 284"/>
                <a:gd name="T74" fmla="*/ 2147483647 w 284"/>
                <a:gd name="T75" fmla="*/ 2147483647 h 284"/>
                <a:gd name="T76" fmla="*/ 2147483647 w 284"/>
                <a:gd name="T77" fmla="*/ 2147483647 h 284"/>
                <a:gd name="T78" fmla="*/ 2147483647 w 284"/>
                <a:gd name="T79" fmla="*/ 2147483647 h 284"/>
                <a:gd name="T80" fmla="*/ 2147483647 w 284"/>
                <a:gd name="T81" fmla="*/ 2147483647 h 284"/>
                <a:gd name="T82" fmla="*/ 2147483647 w 284"/>
                <a:gd name="T83" fmla="*/ 2147483647 h 284"/>
                <a:gd name="T84" fmla="*/ 2147483647 w 284"/>
                <a:gd name="T85" fmla="*/ 2147483647 h 284"/>
                <a:gd name="T86" fmla="*/ 2147483647 w 284"/>
                <a:gd name="T87" fmla="*/ 2147483647 h 284"/>
                <a:gd name="T88" fmla="*/ 2147483647 w 284"/>
                <a:gd name="T89" fmla="*/ 2147483647 h 284"/>
                <a:gd name="T90" fmla="*/ 2147483647 w 284"/>
                <a:gd name="T91" fmla="*/ 2147483647 h 284"/>
                <a:gd name="T92" fmla="*/ 2147483647 w 284"/>
                <a:gd name="T93" fmla="*/ 2147483647 h 284"/>
                <a:gd name="T94" fmla="*/ 2147483647 w 284"/>
                <a:gd name="T95" fmla="*/ 2147483647 h 284"/>
                <a:gd name="T96" fmla="*/ 2147483647 w 284"/>
                <a:gd name="T97" fmla="*/ 2147483647 h 284"/>
                <a:gd name="T98" fmla="*/ 2147483647 w 284"/>
                <a:gd name="T99" fmla="*/ 2147483647 h 284"/>
                <a:gd name="T100" fmla="*/ 2147483647 w 284"/>
                <a:gd name="T101" fmla="*/ 2147483647 h 284"/>
                <a:gd name="T102" fmla="*/ 2147483647 w 284"/>
                <a:gd name="T103" fmla="*/ 2147483647 h 284"/>
                <a:gd name="T104" fmla="*/ 2147483647 w 284"/>
                <a:gd name="T105" fmla="*/ 2147483647 h 284"/>
                <a:gd name="T106" fmla="*/ 2147483647 w 284"/>
                <a:gd name="T107" fmla="*/ 2147483647 h 284"/>
                <a:gd name="T108" fmla="*/ 2147483647 w 284"/>
                <a:gd name="T109" fmla="*/ 2147483647 h 284"/>
                <a:gd name="T110" fmla="*/ 2147483647 w 284"/>
                <a:gd name="T111" fmla="*/ 2147483647 h 284"/>
                <a:gd name="T112" fmla="*/ 2147483647 w 284"/>
                <a:gd name="T113" fmla="*/ 2147483647 h 284"/>
                <a:gd name="T114" fmla="*/ 2147483647 w 284"/>
                <a:gd name="T115" fmla="*/ 2147483647 h 284"/>
                <a:gd name="T116" fmla="*/ 2147483647 w 284"/>
                <a:gd name="T117" fmla="*/ 2147483647 h 284"/>
                <a:gd name="T118" fmla="*/ 2147483647 w 284"/>
                <a:gd name="T119" fmla="*/ 2147483647 h 2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84"/>
                <a:gd name="T181" fmla="*/ 0 h 284"/>
                <a:gd name="T182" fmla="*/ 284 w 284"/>
                <a:gd name="T183" fmla="*/ 284 h 2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84" h="284">
                  <a:moveTo>
                    <a:pt x="47" y="36"/>
                  </a:moveTo>
                  <a:cubicBezTo>
                    <a:pt x="36" y="47"/>
                    <a:pt x="36" y="47"/>
                    <a:pt x="36" y="47"/>
                  </a:cubicBezTo>
                  <a:cubicBezTo>
                    <a:pt x="31" y="52"/>
                    <a:pt x="31" y="61"/>
                    <a:pt x="36" y="66"/>
                  </a:cubicBezTo>
                  <a:cubicBezTo>
                    <a:pt x="47" y="77"/>
                    <a:pt x="47" y="77"/>
                    <a:pt x="47" y="77"/>
                  </a:cubicBezTo>
                  <a:cubicBezTo>
                    <a:pt x="55" y="65"/>
                    <a:pt x="65" y="54"/>
                    <a:pt x="77" y="46"/>
                  </a:cubicBezTo>
                  <a:cubicBezTo>
                    <a:pt x="67" y="36"/>
                    <a:pt x="67" y="36"/>
                    <a:pt x="67" y="36"/>
                  </a:cubicBezTo>
                  <a:cubicBezTo>
                    <a:pt x="61" y="31"/>
                    <a:pt x="52" y="31"/>
                    <a:pt x="47" y="36"/>
                  </a:cubicBezTo>
                  <a:close/>
                  <a:moveTo>
                    <a:pt x="238" y="36"/>
                  </a:moveTo>
                  <a:cubicBezTo>
                    <a:pt x="232" y="31"/>
                    <a:pt x="223" y="31"/>
                    <a:pt x="218" y="36"/>
                  </a:cubicBezTo>
                  <a:cubicBezTo>
                    <a:pt x="207" y="46"/>
                    <a:pt x="207" y="46"/>
                    <a:pt x="207" y="46"/>
                  </a:cubicBezTo>
                  <a:cubicBezTo>
                    <a:pt x="219" y="54"/>
                    <a:pt x="230" y="65"/>
                    <a:pt x="238" y="77"/>
                  </a:cubicBezTo>
                  <a:cubicBezTo>
                    <a:pt x="248" y="66"/>
                    <a:pt x="248" y="66"/>
                    <a:pt x="248" y="66"/>
                  </a:cubicBezTo>
                  <a:cubicBezTo>
                    <a:pt x="254" y="61"/>
                    <a:pt x="254" y="52"/>
                    <a:pt x="248" y="47"/>
                  </a:cubicBezTo>
                  <a:lnTo>
                    <a:pt x="238" y="36"/>
                  </a:lnTo>
                  <a:close/>
                  <a:moveTo>
                    <a:pt x="150" y="0"/>
                  </a:moveTo>
                  <a:cubicBezTo>
                    <a:pt x="135" y="0"/>
                    <a:pt x="135" y="0"/>
                    <a:pt x="135" y="0"/>
                  </a:cubicBezTo>
                  <a:cubicBezTo>
                    <a:pt x="127" y="0"/>
                    <a:pt x="121" y="6"/>
                    <a:pt x="121" y="14"/>
                  </a:cubicBezTo>
                  <a:cubicBezTo>
                    <a:pt x="121" y="28"/>
                    <a:pt x="121" y="28"/>
                    <a:pt x="121" y="28"/>
                  </a:cubicBezTo>
                  <a:cubicBezTo>
                    <a:pt x="128" y="27"/>
                    <a:pt x="135" y="26"/>
                    <a:pt x="142" y="26"/>
                  </a:cubicBezTo>
                  <a:cubicBezTo>
                    <a:pt x="150" y="26"/>
                    <a:pt x="157" y="27"/>
                    <a:pt x="164" y="28"/>
                  </a:cubicBezTo>
                  <a:cubicBezTo>
                    <a:pt x="164" y="14"/>
                    <a:pt x="164" y="14"/>
                    <a:pt x="164" y="14"/>
                  </a:cubicBezTo>
                  <a:cubicBezTo>
                    <a:pt x="164" y="6"/>
                    <a:pt x="157" y="0"/>
                    <a:pt x="150" y="0"/>
                  </a:cubicBezTo>
                  <a:close/>
                  <a:moveTo>
                    <a:pt x="14" y="121"/>
                  </a:moveTo>
                  <a:cubicBezTo>
                    <a:pt x="6" y="121"/>
                    <a:pt x="0" y="127"/>
                    <a:pt x="0" y="135"/>
                  </a:cubicBezTo>
                  <a:cubicBezTo>
                    <a:pt x="0" y="149"/>
                    <a:pt x="0" y="149"/>
                    <a:pt x="0" y="149"/>
                  </a:cubicBezTo>
                  <a:cubicBezTo>
                    <a:pt x="0" y="157"/>
                    <a:pt x="6" y="163"/>
                    <a:pt x="14" y="163"/>
                  </a:cubicBezTo>
                  <a:cubicBezTo>
                    <a:pt x="28" y="163"/>
                    <a:pt x="28" y="163"/>
                    <a:pt x="28" y="163"/>
                  </a:cubicBezTo>
                  <a:cubicBezTo>
                    <a:pt x="27" y="156"/>
                    <a:pt x="26" y="149"/>
                    <a:pt x="26" y="142"/>
                  </a:cubicBezTo>
                  <a:cubicBezTo>
                    <a:pt x="26" y="135"/>
                    <a:pt x="27" y="127"/>
                    <a:pt x="28" y="121"/>
                  </a:cubicBezTo>
                  <a:lnTo>
                    <a:pt x="14" y="121"/>
                  </a:lnTo>
                  <a:close/>
                  <a:moveTo>
                    <a:pt x="238" y="207"/>
                  </a:moveTo>
                  <a:cubicBezTo>
                    <a:pt x="230" y="219"/>
                    <a:pt x="219" y="229"/>
                    <a:pt x="207" y="238"/>
                  </a:cubicBezTo>
                  <a:cubicBezTo>
                    <a:pt x="218" y="248"/>
                    <a:pt x="218" y="248"/>
                    <a:pt x="218" y="248"/>
                  </a:cubicBezTo>
                  <a:cubicBezTo>
                    <a:pt x="223" y="253"/>
                    <a:pt x="232" y="253"/>
                    <a:pt x="238" y="248"/>
                  </a:cubicBezTo>
                  <a:cubicBezTo>
                    <a:pt x="248" y="237"/>
                    <a:pt x="248" y="237"/>
                    <a:pt x="248" y="237"/>
                  </a:cubicBezTo>
                  <a:cubicBezTo>
                    <a:pt x="254" y="232"/>
                    <a:pt x="254" y="223"/>
                    <a:pt x="248" y="218"/>
                  </a:cubicBezTo>
                  <a:lnTo>
                    <a:pt x="238" y="207"/>
                  </a:lnTo>
                  <a:close/>
                  <a:moveTo>
                    <a:pt x="270" y="121"/>
                  </a:moveTo>
                  <a:cubicBezTo>
                    <a:pt x="256" y="121"/>
                    <a:pt x="256" y="121"/>
                    <a:pt x="256" y="121"/>
                  </a:cubicBezTo>
                  <a:cubicBezTo>
                    <a:pt x="257" y="127"/>
                    <a:pt x="258" y="135"/>
                    <a:pt x="258" y="142"/>
                  </a:cubicBezTo>
                  <a:cubicBezTo>
                    <a:pt x="258" y="149"/>
                    <a:pt x="257" y="156"/>
                    <a:pt x="256" y="163"/>
                  </a:cubicBezTo>
                  <a:cubicBezTo>
                    <a:pt x="270" y="163"/>
                    <a:pt x="270" y="163"/>
                    <a:pt x="270" y="163"/>
                  </a:cubicBezTo>
                  <a:cubicBezTo>
                    <a:pt x="278" y="163"/>
                    <a:pt x="284" y="157"/>
                    <a:pt x="284" y="149"/>
                  </a:cubicBezTo>
                  <a:cubicBezTo>
                    <a:pt x="284" y="135"/>
                    <a:pt x="284" y="135"/>
                    <a:pt x="284" y="135"/>
                  </a:cubicBezTo>
                  <a:cubicBezTo>
                    <a:pt x="284" y="127"/>
                    <a:pt x="278" y="121"/>
                    <a:pt x="270" y="121"/>
                  </a:cubicBezTo>
                  <a:close/>
                  <a:moveTo>
                    <a:pt x="47" y="207"/>
                  </a:moveTo>
                  <a:cubicBezTo>
                    <a:pt x="36" y="218"/>
                    <a:pt x="36" y="218"/>
                    <a:pt x="36" y="218"/>
                  </a:cubicBezTo>
                  <a:cubicBezTo>
                    <a:pt x="31" y="223"/>
                    <a:pt x="31" y="232"/>
                    <a:pt x="36" y="237"/>
                  </a:cubicBezTo>
                  <a:cubicBezTo>
                    <a:pt x="47" y="248"/>
                    <a:pt x="47" y="248"/>
                    <a:pt x="47" y="248"/>
                  </a:cubicBezTo>
                  <a:cubicBezTo>
                    <a:pt x="52" y="253"/>
                    <a:pt x="61" y="253"/>
                    <a:pt x="67" y="248"/>
                  </a:cubicBezTo>
                  <a:cubicBezTo>
                    <a:pt x="77" y="238"/>
                    <a:pt x="77" y="238"/>
                    <a:pt x="77" y="238"/>
                  </a:cubicBezTo>
                  <a:cubicBezTo>
                    <a:pt x="65" y="229"/>
                    <a:pt x="55" y="219"/>
                    <a:pt x="47" y="207"/>
                  </a:cubicBezTo>
                  <a:close/>
                  <a:moveTo>
                    <a:pt x="121" y="256"/>
                  </a:moveTo>
                  <a:cubicBezTo>
                    <a:pt x="121" y="270"/>
                    <a:pt x="121" y="270"/>
                    <a:pt x="121" y="270"/>
                  </a:cubicBezTo>
                  <a:cubicBezTo>
                    <a:pt x="121" y="278"/>
                    <a:pt x="127" y="284"/>
                    <a:pt x="135" y="284"/>
                  </a:cubicBezTo>
                  <a:cubicBezTo>
                    <a:pt x="150" y="284"/>
                    <a:pt x="150" y="284"/>
                    <a:pt x="150" y="284"/>
                  </a:cubicBezTo>
                  <a:cubicBezTo>
                    <a:pt x="157" y="284"/>
                    <a:pt x="164" y="278"/>
                    <a:pt x="164" y="270"/>
                  </a:cubicBezTo>
                  <a:cubicBezTo>
                    <a:pt x="164" y="256"/>
                    <a:pt x="164" y="256"/>
                    <a:pt x="164" y="256"/>
                  </a:cubicBezTo>
                  <a:cubicBezTo>
                    <a:pt x="157" y="257"/>
                    <a:pt x="150" y="258"/>
                    <a:pt x="142" y="258"/>
                  </a:cubicBezTo>
                  <a:cubicBezTo>
                    <a:pt x="135" y="258"/>
                    <a:pt x="128" y="257"/>
                    <a:pt x="121" y="25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79" name="Freeform 678"/>
            <p:cNvSpPr>
              <a:spLocks noChangeArrowheads="1"/>
            </p:cNvSpPr>
            <p:nvPr/>
          </p:nvSpPr>
          <p:spPr bwMode="auto">
            <a:xfrm>
              <a:off x="101784" y="0"/>
              <a:ext cx="478760" cy="475650"/>
            </a:xfrm>
            <a:custGeom>
              <a:avLst/>
              <a:gdLst>
                <a:gd name="T0" fmla="*/ 2147483647 w 244"/>
                <a:gd name="T1" fmla="*/ 2147483647 h 243"/>
                <a:gd name="T2" fmla="*/ 2147483647 w 244"/>
                <a:gd name="T3" fmla="*/ 2147483647 h 243"/>
                <a:gd name="T4" fmla="*/ 2147483647 w 244"/>
                <a:gd name="T5" fmla="*/ 2147483647 h 243"/>
                <a:gd name="T6" fmla="*/ 2147483647 w 244"/>
                <a:gd name="T7" fmla="*/ 2147483647 h 243"/>
                <a:gd name="T8" fmla="*/ 2147483647 w 244"/>
                <a:gd name="T9" fmla="*/ 0 h 243"/>
                <a:gd name="T10" fmla="*/ 2147483647 w 244"/>
                <a:gd name="T11" fmla="*/ 0 h 243"/>
                <a:gd name="T12" fmla="*/ 2147483647 w 244"/>
                <a:gd name="T13" fmla="*/ 2147483647 h 243"/>
                <a:gd name="T14" fmla="*/ 2147483647 w 244"/>
                <a:gd name="T15" fmla="*/ 2147483647 h 243"/>
                <a:gd name="T16" fmla="*/ 2147483647 w 244"/>
                <a:gd name="T17" fmla="*/ 2147483647 h 243"/>
                <a:gd name="T18" fmla="*/ 2147483647 w 244"/>
                <a:gd name="T19" fmla="*/ 2147483647 h 243"/>
                <a:gd name="T20" fmla="*/ 2147483647 w 244"/>
                <a:gd name="T21" fmla="*/ 2147483647 h 243"/>
                <a:gd name="T22" fmla="*/ 2147483647 w 244"/>
                <a:gd name="T23" fmla="*/ 2147483647 h 243"/>
                <a:gd name="T24" fmla="*/ 2147483647 w 244"/>
                <a:gd name="T25" fmla="*/ 2147483647 h 243"/>
                <a:gd name="T26" fmla="*/ 2147483647 w 244"/>
                <a:gd name="T27" fmla="*/ 2147483647 h 243"/>
                <a:gd name="T28" fmla="*/ 2147483647 w 244"/>
                <a:gd name="T29" fmla="*/ 2147483647 h 243"/>
                <a:gd name="T30" fmla="*/ 2147483647 w 244"/>
                <a:gd name="T31" fmla="*/ 2147483647 h 243"/>
                <a:gd name="T32" fmla="*/ 0 w 244"/>
                <a:gd name="T33" fmla="*/ 2147483647 h 243"/>
                <a:gd name="T34" fmla="*/ 0 w 244"/>
                <a:gd name="T35" fmla="*/ 2147483647 h 243"/>
                <a:gd name="T36" fmla="*/ 2147483647 w 244"/>
                <a:gd name="T37" fmla="*/ 2147483647 h 243"/>
                <a:gd name="T38" fmla="*/ 2147483647 w 244"/>
                <a:gd name="T39" fmla="*/ 2147483647 h 243"/>
                <a:gd name="T40" fmla="*/ 2147483647 w 244"/>
                <a:gd name="T41" fmla="*/ 2147483647 h 243"/>
                <a:gd name="T42" fmla="*/ 2147483647 w 244"/>
                <a:gd name="T43" fmla="*/ 2147483647 h 243"/>
                <a:gd name="T44" fmla="*/ 2147483647 w 244"/>
                <a:gd name="T45" fmla="*/ 2147483647 h 243"/>
                <a:gd name="T46" fmla="*/ 2147483647 w 244"/>
                <a:gd name="T47" fmla="*/ 2147483647 h 243"/>
                <a:gd name="T48" fmla="*/ 2147483647 w 244"/>
                <a:gd name="T49" fmla="*/ 2147483647 h 243"/>
                <a:gd name="T50" fmla="*/ 2147483647 w 244"/>
                <a:gd name="T51" fmla="*/ 2147483647 h 243"/>
                <a:gd name="T52" fmla="*/ 2147483647 w 244"/>
                <a:gd name="T53" fmla="*/ 2147483647 h 2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44"/>
                <a:gd name="T82" fmla="*/ 0 h 243"/>
                <a:gd name="T83" fmla="*/ 244 w 244"/>
                <a:gd name="T84" fmla="*/ 243 h 2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44" h="243">
                  <a:moveTo>
                    <a:pt x="218" y="36"/>
                  </a:moveTo>
                  <a:cubicBezTo>
                    <a:pt x="207" y="46"/>
                    <a:pt x="207" y="46"/>
                    <a:pt x="207" y="46"/>
                  </a:cubicBezTo>
                  <a:cubicBezTo>
                    <a:pt x="195" y="37"/>
                    <a:pt x="180" y="31"/>
                    <a:pt x="164" y="28"/>
                  </a:cubicBezTo>
                  <a:cubicBezTo>
                    <a:pt x="164" y="14"/>
                    <a:pt x="164" y="14"/>
                    <a:pt x="164" y="14"/>
                  </a:cubicBezTo>
                  <a:cubicBezTo>
                    <a:pt x="164" y="6"/>
                    <a:pt x="157" y="0"/>
                    <a:pt x="150" y="0"/>
                  </a:cubicBezTo>
                  <a:cubicBezTo>
                    <a:pt x="135" y="0"/>
                    <a:pt x="135" y="0"/>
                    <a:pt x="135" y="0"/>
                  </a:cubicBezTo>
                  <a:cubicBezTo>
                    <a:pt x="127" y="0"/>
                    <a:pt x="121" y="6"/>
                    <a:pt x="121" y="14"/>
                  </a:cubicBezTo>
                  <a:cubicBezTo>
                    <a:pt x="121" y="28"/>
                    <a:pt x="121" y="28"/>
                    <a:pt x="121" y="28"/>
                  </a:cubicBezTo>
                  <a:cubicBezTo>
                    <a:pt x="105" y="31"/>
                    <a:pt x="90" y="37"/>
                    <a:pt x="77" y="46"/>
                  </a:cubicBezTo>
                  <a:cubicBezTo>
                    <a:pt x="67" y="36"/>
                    <a:pt x="67" y="36"/>
                    <a:pt x="67" y="36"/>
                  </a:cubicBezTo>
                  <a:cubicBezTo>
                    <a:pt x="61" y="31"/>
                    <a:pt x="52" y="31"/>
                    <a:pt x="47" y="36"/>
                  </a:cubicBezTo>
                  <a:cubicBezTo>
                    <a:pt x="36" y="47"/>
                    <a:pt x="36" y="47"/>
                    <a:pt x="36" y="47"/>
                  </a:cubicBezTo>
                  <a:cubicBezTo>
                    <a:pt x="31" y="52"/>
                    <a:pt x="31" y="61"/>
                    <a:pt x="36" y="66"/>
                  </a:cubicBezTo>
                  <a:cubicBezTo>
                    <a:pt x="47" y="77"/>
                    <a:pt x="47" y="77"/>
                    <a:pt x="47" y="77"/>
                  </a:cubicBezTo>
                  <a:cubicBezTo>
                    <a:pt x="38" y="90"/>
                    <a:pt x="31" y="104"/>
                    <a:pt x="28" y="121"/>
                  </a:cubicBezTo>
                  <a:cubicBezTo>
                    <a:pt x="14" y="121"/>
                    <a:pt x="14" y="121"/>
                    <a:pt x="14" y="121"/>
                  </a:cubicBezTo>
                  <a:cubicBezTo>
                    <a:pt x="6" y="121"/>
                    <a:pt x="0" y="127"/>
                    <a:pt x="0" y="135"/>
                  </a:cubicBezTo>
                  <a:cubicBezTo>
                    <a:pt x="0" y="149"/>
                    <a:pt x="0" y="149"/>
                    <a:pt x="0" y="149"/>
                  </a:cubicBezTo>
                  <a:cubicBezTo>
                    <a:pt x="0" y="157"/>
                    <a:pt x="6" y="163"/>
                    <a:pt x="14" y="163"/>
                  </a:cubicBezTo>
                  <a:cubicBezTo>
                    <a:pt x="28" y="163"/>
                    <a:pt x="28" y="163"/>
                    <a:pt x="28" y="163"/>
                  </a:cubicBezTo>
                  <a:cubicBezTo>
                    <a:pt x="31" y="179"/>
                    <a:pt x="38" y="194"/>
                    <a:pt x="47" y="207"/>
                  </a:cubicBezTo>
                  <a:cubicBezTo>
                    <a:pt x="36" y="218"/>
                    <a:pt x="36" y="218"/>
                    <a:pt x="36" y="218"/>
                  </a:cubicBezTo>
                  <a:cubicBezTo>
                    <a:pt x="31" y="223"/>
                    <a:pt x="31" y="232"/>
                    <a:pt x="36" y="237"/>
                  </a:cubicBezTo>
                  <a:cubicBezTo>
                    <a:pt x="42" y="243"/>
                    <a:pt x="42" y="243"/>
                    <a:pt x="42" y="243"/>
                  </a:cubicBezTo>
                  <a:cubicBezTo>
                    <a:pt x="244" y="42"/>
                    <a:pt x="244" y="42"/>
                    <a:pt x="244" y="42"/>
                  </a:cubicBezTo>
                  <a:cubicBezTo>
                    <a:pt x="238" y="36"/>
                    <a:pt x="238" y="36"/>
                    <a:pt x="238" y="36"/>
                  </a:cubicBezTo>
                  <a:cubicBezTo>
                    <a:pt x="232" y="31"/>
                    <a:pt x="223" y="31"/>
                    <a:pt x="218" y="3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0" name="Freeform 679"/>
            <p:cNvSpPr>
              <a:spLocks noChangeArrowheads="1"/>
            </p:cNvSpPr>
            <p:nvPr/>
          </p:nvSpPr>
          <p:spPr bwMode="auto">
            <a:xfrm>
              <a:off x="339279" y="39637"/>
              <a:ext cx="84820" cy="15100"/>
            </a:xfrm>
            <a:custGeom>
              <a:avLst/>
              <a:gdLst>
                <a:gd name="T0" fmla="*/ 0 w 43"/>
                <a:gd name="T1" fmla="*/ 2147483647 h 8"/>
                <a:gd name="T2" fmla="*/ 0 w 43"/>
                <a:gd name="T3" fmla="*/ 2147483647 h 8"/>
                <a:gd name="T4" fmla="*/ 2147483647 w 43"/>
                <a:gd name="T5" fmla="*/ 2147483647 h 8"/>
                <a:gd name="T6" fmla="*/ 2147483647 w 43"/>
                <a:gd name="T7" fmla="*/ 2147483647 h 8"/>
                <a:gd name="T8" fmla="*/ 2147483647 w 43"/>
                <a:gd name="T9" fmla="*/ 2147483647 h 8"/>
                <a:gd name="T10" fmla="*/ 2147483647 w 43"/>
                <a:gd name="T11" fmla="*/ 0 h 8"/>
                <a:gd name="T12" fmla="*/ 0 w 43"/>
                <a:gd name="T13" fmla="*/ 2147483647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2"/>
                  </a:moveTo>
                  <a:cubicBezTo>
                    <a:pt x="0" y="8"/>
                    <a:pt x="0" y="8"/>
                    <a:pt x="0" y="8"/>
                  </a:cubicBezTo>
                  <a:cubicBezTo>
                    <a:pt x="7" y="7"/>
                    <a:pt x="14" y="6"/>
                    <a:pt x="21" y="6"/>
                  </a:cubicBezTo>
                  <a:cubicBezTo>
                    <a:pt x="29" y="6"/>
                    <a:pt x="36" y="7"/>
                    <a:pt x="43" y="8"/>
                  </a:cubicBezTo>
                  <a:cubicBezTo>
                    <a:pt x="43" y="2"/>
                    <a:pt x="43" y="2"/>
                    <a:pt x="43" y="2"/>
                  </a:cubicBezTo>
                  <a:cubicBezTo>
                    <a:pt x="36" y="1"/>
                    <a:pt x="29" y="0"/>
                    <a:pt x="21" y="0"/>
                  </a:cubicBezTo>
                  <a:cubicBezTo>
                    <a:pt x="14" y="0"/>
                    <a:pt x="7" y="1"/>
                    <a:pt x="0" y="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1" name="Freeform 680"/>
            <p:cNvSpPr>
              <a:spLocks noChangeArrowheads="1"/>
            </p:cNvSpPr>
            <p:nvPr/>
          </p:nvSpPr>
          <p:spPr bwMode="auto">
            <a:xfrm>
              <a:off x="508918" y="83050"/>
              <a:ext cx="67856" cy="67950"/>
            </a:xfrm>
            <a:custGeom>
              <a:avLst/>
              <a:gdLst>
                <a:gd name="T0" fmla="*/ 2147483647 w 35"/>
                <a:gd name="T1" fmla="*/ 2147483647 h 35"/>
                <a:gd name="T2" fmla="*/ 2147483647 w 35"/>
                <a:gd name="T3" fmla="*/ 2147483647 h 35"/>
                <a:gd name="T4" fmla="*/ 2147483647 w 35"/>
                <a:gd name="T5" fmla="*/ 0 h 35"/>
                <a:gd name="T6" fmla="*/ 0 w 35"/>
                <a:gd name="T7" fmla="*/ 2147483647 h 35"/>
                <a:gd name="T8" fmla="*/ 2147483647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31" y="35"/>
                  </a:moveTo>
                  <a:cubicBezTo>
                    <a:pt x="35" y="30"/>
                    <a:pt x="35" y="30"/>
                    <a:pt x="35" y="30"/>
                  </a:cubicBezTo>
                  <a:cubicBezTo>
                    <a:pt x="27" y="19"/>
                    <a:pt x="17" y="8"/>
                    <a:pt x="5" y="0"/>
                  </a:cubicBezTo>
                  <a:cubicBezTo>
                    <a:pt x="0" y="4"/>
                    <a:pt x="0" y="4"/>
                    <a:pt x="0" y="4"/>
                  </a:cubicBezTo>
                  <a:cubicBezTo>
                    <a:pt x="12" y="12"/>
                    <a:pt x="23" y="23"/>
                    <a:pt x="31" y="3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2" name="Freeform 681"/>
            <p:cNvSpPr>
              <a:spLocks noChangeArrowheads="1"/>
            </p:cNvSpPr>
            <p:nvPr/>
          </p:nvSpPr>
          <p:spPr bwMode="auto">
            <a:xfrm>
              <a:off x="141367" y="237825"/>
              <a:ext cx="16963" cy="81162"/>
            </a:xfrm>
            <a:custGeom>
              <a:avLst/>
              <a:gdLst>
                <a:gd name="T0" fmla="*/ 2147483647 w 8"/>
                <a:gd name="T1" fmla="*/ 0 h 42"/>
                <a:gd name="T2" fmla="*/ 0 w 8"/>
                <a:gd name="T3" fmla="*/ 2147483647 h 42"/>
                <a:gd name="T4" fmla="*/ 2147483647 w 8"/>
                <a:gd name="T5" fmla="*/ 2147483647 h 42"/>
                <a:gd name="T6" fmla="*/ 2147483647 w 8"/>
                <a:gd name="T7" fmla="*/ 2147483647 h 42"/>
                <a:gd name="T8" fmla="*/ 2147483647 w 8"/>
                <a:gd name="T9" fmla="*/ 2147483647 h 42"/>
                <a:gd name="T10" fmla="*/ 2147483647 w 8"/>
                <a:gd name="T11" fmla="*/ 0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2" y="0"/>
                  </a:moveTo>
                  <a:cubicBezTo>
                    <a:pt x="1" y="6"/>
                    <a:pt x="0" y="14"/>
                    <a:pt x="0" y="21"/>
                  </a:cubicBezTo>
                  <a:cubicBezTo>
                    <a:pt x="0" y="28"/>
                    <a:pt x="1" y="35"/>
                    <a:pt x="2" y="42"/>
                  </a:cubicBezTo>
                  <a:cubicBezTo>
                    <a:pt x="8" y="42"/>
                    <a:pt x="8" y="42"/>
                    <a:pt x="8" y="42"/>
                  </a:cubicBezTo>
                  <a:cubicBezTo>
                    <a:pt x="7" y="35"/>
                    <a:pt x="6" y="28"/>
                    <a:pt x="6" y="21"/>
                  </a:cubicBezTo>
                  <a:cubicBezTo>
                    <a:pt x="6" y="14"/>
                    <a:pt x="7" y="6"/>
                    <a:pt x="8" y="0"/>
                  </a:cubicBezTo>
                  <a:lnTo>
                    <a:pt x="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3" name="Freeform 682"/>
            <p:cNvSpPr>
              <a:spLocks noChangeArrowheads="1"/>
            </p:cNvSpPr>
            <p:nvPr/>
          </p:nvSpPr>
          <p:spPr bwMode="auto">
            <a:xfrm>
              <a:off x="508918" y="405812"/>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1"/>
                  </a:moveTo>
                  <a:cubicBezTo>
                    <a:pt x="5" y="35"/>
                    <a:pt x="5" y="35"/>
                    <a:pt x="5" y="35"/>
                  </a:cubicBezTo>
                  <a:cubicBezTo>
                    <a:pt x="17" y="27"/>
                    <a:pt x="27" y="16"/>
                    <a:pt x="35" y="5"/>
                  </a:cubicBezTo>
                  <a:cubicBezTo>
                    <a:pt x="31" y="0"/>
                    <a:pt x="31" y="0"/>
                    <a:pt x="31" y="0"/>
                  </a:cubicBezTo>
                  <a:cubicBezTo>
                    <a:pt x="23" y="12"/>
                    <a:pt x="12" y="22"/>
                    <a:pt x="0" y="3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4" name="Freeform 683"/>
            <p:cNvSpPr>
              <a:spLocks noChangeArrowheads="1"/>
            </p:cNvSpPr>
            <p:nvPr/>
          </p:nvSpPr>
          <p:spPr bwMode="auto">
            <a:xfrm>
              <a:off x="605048" y="237825"/>
              <a:ext cx="15079" cy="81162"/>
            </a:xfrm>
            <a:custGeom>
              <a:avLst/>
              <a:gdLst>
                <a:gd name="T0" fmla="*/ 2147483647 w 8"/>
                <a:gd name="T1" fmla="*/ 0 h 42"/>
                <a:gd name="T2" fmla="*/ 0 w 8"/>
                <a:gd name="T3" fmla="*/ 0 h 42"/>
                <a:gd name="T4" fmla="*/ 2147483647 w 8"/>
                <a:gd name="T5" fmla="*/ 2147483647 h 42"/>
                <a:gd name="T6" fmla="*/ 0 w 8"/>
                <a:gd name="T7" fmla="*/ 2147483647 h 42"/>
                <a:gd name="T8" fmla="*/ 2147483647 w 8"/>
                <a:gd name="T9" fmla="*/ 2147483647 h 42"/>
                <a:gd name="T10" fmla="*/ 2147483647 w 8"/>
                <a:gd name="T11" fmla="*/ 2147483647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6" y="0"/>
                  </a:moveTo>
                  <a:cubicBezTo>
                    <a:pt x="0" y="0"/>
                    <a:pt x="0" y="0"/>
                    <a:pt x="0" y="0"/>
                  </a:cubicBezTo>
                  <a:cubicBezTo>
                    <a:pt x="1" y="6"/>
                    <a:pt x="2" y="14"/>
                    <a:pt x="2" y="21"/>
                  </a:cubicBezTo>
                  <a:cubicBezTo>
                    <a:pt x="2" y="28"/>
                    <a:pt x="1" y="35"/>
                    <a:pt x="0" y="42"/>
                  </a:cubicBezTo>
                  <a:cubicBezTo>
                    <a:pt x="6" y="42"/>
                    <a:pt x="6" y="42"/>
                    <a:pt x="6" y="42"/>
                  </a:cubicBezTo>
                  <a:cubicBezTo>
                    <a:pt x="7" y="35"/>
                    <a:pt x="8" y="28"/>
                    <a:pt x="8" y="21"/>
                  </a:cubicBezTo>
                  <a:cubicBezTo>
                    <a:pt x="8" y="14"/>
                    <a:pt x="7" y="6"/>
                    <a:pt x="6"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5" name="Freeform 684"/>
            <p:cNvSpPr>
              <a:spLocks noChangeArrowheads="1"/>
            </p:cNvSpPr>
            <p:nvPr/>
          </p:nvSpPr>
          <p:spPr bwMode="auto">
            <a:xfrm>
              <a:off x="339279" y="502075"/>
              <a:ext cx="84820" cy="15100"/>
            </a:xfrm>
            <a:custGeom>
              <a:avLst/>
              <a:gdLst>
                <a:gd name="T0" fmla="*/ 0 w 43"/>
                <a:gd name="T1" fmla="*/ 0 h 8"/>
                <a:gd name="T2" fmla="*/ 0 w 43"/>
                <a:gd name="T3" fmla="*/ 2147483647 h 8"/>
                <a:gd name="T4" fmla="*/ 2147483647 w 43"/>
                <a:gd name="T5" fmla="*/ 2147483647 h 8"/>
                <a:gd name="T6" fmla="*/ 2147483647 w 43"/>
                <a:gd name="T7" fmla="*/ 2147483647 h 8"/>
                <a:gd name="T8" fmla="*/ 2147483647 w 43"/>
                <a:gd name="T9" fmla="*/ 0 h 8"/>
                <a:gd name="T10" fmla="*/ 2147483647 w 43"/>
                <a:gd name="T11" fmla="*/ 2147483647 h 8"/>
                <a:gd name="T12" fmla="*/ 0 w 43"/>
                <a:gd name="T13" fmla="*/ 0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0"/>
                  </a:moveTo>
                  <a:cubicBezTo>
                    <a:pt x="0" y="6"/>
                    <a:pt x="0" y="6"/>
                    <a:pt x="0" y="6"/>
                  </a:cubicBezTo>
                  <a:cubicBezTo>
                    <a:pt x="7" y="7"/>
                    <a:pt x="14" y="8"/>
                    <a:pt x="21" y="8"/>
                  </a:cubicBezTo>
                  <a:cubicBezTo>
                    <a:pt x="29" y="8"/>
                    <a:pt x="36" y="7"/>
                    <a:pt x="43" y="6"/>
                  </a:cubicBezTo>
                  <a:cubicBezTo>
                    <a:pt x="43" y="0"/>
                    <a:pt x="43" y="0"/>
                    <a:pt x="43" y="0"/>
                  </a:cubicBezTo>
                  <a:cubicBezTo>
                    <a:pt x="36" y="1"/>
                    <a:pt x="29" y="2"/>
                    <a:pt x="21" y="2"/>
                  </a:cubicBezTo>
                  <a:cubicBezTo>
                    <a:pt x="14" y="2"/>
                    <a:pt x="7" y="1"/>
                    <a:pt x="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6" name="Freeform 685"/>
            <p:cNvSpPr>
              <a:spLocks noChangeArrowheads="1"/>
            </p:cNvSpPr>
            <p:nvPr/>
          </p:nvSpPr>
          <p:spPr bwMode="auto">
            <a:xfrm>
              <a:off x="184719" y="405812"/>
              <a:ext cx="67856" cy="67950"/>
            </a:xfrm>
            <a:custGeom>
              <a:avLst/>
              <a:gdLst>
                <a:gd name="T0" fmla="*/ 2147483647 w 35"/>
                <a:gd name="T1" fmla="*/ 0 h 35"/>
                <a:gd name="T2" fmla="*/ 0 w 35"/>
                <a:gd name="T3" fmla="*/ 2147483647 h 35"/>
                <a:gd name="T4" fmla="*/ 2147483647 w 35"/>
                <a:gd name="T5" fmla="*/ 2147483647 h 35"/>
                <a:gd name="T6" fmla="*/ 2147483647 w 35"/>
                <a:gd name="T7" fmla="*/ 2147483647 h 35"/>
                <a:gd name="T8" fmla="*/ 2147483647 w 35"/>
                <a:gd name="T9" fmla="*/ 0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5" y="0"/>
                  </a:moveTo>
                  <a:cubicBezTo>
                    <a:pt x="0" y="5"/>
                    <a:pt x="0" y="5"/>
                    <a:pt x="0" y="5"/>
                  </a:cubicBezTo>
                  <a:cubicBezTo>
                    <a:pt x="9" y="16"/>
                    <a:pt x="19" y="27"/>
                    <a:pt x="31" y="35"/>
                  </a:cubicBezTo>
                  <a:cubicBezTo>
                    <a:pt x="35" y="31"/>
                    <a:pt x="35" y="31"/>
                    <a:pt x="35" y="31"/>
                  </a:cubicBezTo>
                  <a:cubicBezTo>
                    <a:pt x="23" y="22"/>
                    <a:pt x="13" y="12"/>
                    <a:pt x="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7" name="Freeform 686"/>
            <p:cNvSpPr>
              <a:spLocks noChangeArrowheads="1"/>
            </p:cNvSpPr>
            <p:nvPr/>
          </p:nvSpPr>
          <p:spPr bwMode="auto">
            <a:xfrm>
              <a:off x="184719" y="83050"/>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0"/>
                  </a:moveTo>
                  <a:cubicBezTo>
                    <a:pt x="5" y="35"/>
                    <a:pt x="5" y="35"/>
                    <a:pt x="5" y="35"/>
                  </a:cubicBezTo>
                  <a:cubicBezTo>
                    <a:pt x="13" y="23"/>
                    <a:pt x="23" y="12"/>
                    <a:pt x="35" y="4"/>
                  </a:cubicBezTo>
                  <a:cubicBezTo>
                    <a:pt x="31" y="0"/>
                    <a:pt x="31" y="0"/>
                    <a:pt x="31" y="0"/>
                  </a:cubicBezTo>
                  <a:cubicBezTo>
                    <a:pt x="19" y="8"/>
                    <a:pt x="9" y="19"/>
                    <a:pt x="0" y="3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8" name="Freeform 687"/>
            <p:cNvSpPr>
              <a:spLocks noChangeArrowheads="1"/>
            </p:cNvSpPr>
            <p:nvPr/>
          </p:nvSpPr>
          <p:spPr bwMode="auto">
            <a:xfrm>
              <a:off x="184719" y="405812"/>
              <a:ext cx="37698" cy="43413"/>
            </a:xfrm>
            <a:custGeom>
              <a:avLst/>
              <a:gdLst>
                <a:gd name="T0" fmla="*/ 0 w 19"/>
                <a:gd name="T1" fmla="*/ 2147483647 h 22"/>
                <a:gd name="T2" fmla="*/ 2147483647 w 19"/>
                <a:gd name="T3" fmla="*/ 2147483647 h 22"/>
                <a:gd name="T4" fmla="*/ 2147483647 w 19"/>
                <a:gd name="T5" fmla="*/ 2147483647 h 22"/>
                <a:gd name="T6" fmla="*/ 2147483647 w 19"/>
                <a:gd name="T7" fmla="*/ 0 h 22"/>
                <a:gd name="T8" fmla="*/ 0 w 19"/>
                <a:gd name="T9" fmla="*/ 2147483647 h 22"/>
                <a:gd name="T10" fmla="*/ 0 60000 65536"/>
                <a:gd name="T11" fmla="*/ 0 60000 65536"/>
                <a:gd name="T12" fmla="*/ 0 60000 65536"/>
                <a:gd name="T13" fmla="*/ 0 60000 65536"/>
                <a:gd name="T14" fmla="*/ 0 60000 65536"/>
                <a:gd name="T15" fmla="*/ 0 w 19"/>
                <a:gd name="T16" fmla="*/ 0 h 22"/>
                <a:gd name="T17" fmla="*/ 19 w 19"/>
                <a:gd name="T18" fmla="*/ 22 h 22"/>
              </a:gdLst>
              <a:ahLst/>
              <a:cxnLst>
                <a:cxn ang="T10">
                  <a:pos x="T0" y="T1"/>
                </a:cxn>
                <a:cxn ang="T11">
                  <a:pos x="T2" y="T3"/>
                </a:cxn>
                <a:cxn ang="T12">
                  <a:pos x="T4" y="T5"/>
                </a:cxn>
                <a:cxn ang="T13">
                  <a:pos x="T6" y="T7"/>
                </a:cxn>
                <a:cxn ang="T14">
                  <a:pos x="T8" y="T9"/>
                </a:cxn>
              </a:cxnLst>
              <a:rect l="T15" t="T16" r="T17" b="T18"/>
              <a:pathLst>
                <a:path w="19" h="22">
                  <a:moveTo>
                    <a:pt x="0" y="5"/>
                  </a:moveTo>
                  <a:cubicBezTo>
                    <a:pt x="5" y="11"/>
                    <a:pt x="10" y="17"/>
                    <a:pt x="15" y="22"/>
                  </a:cubicBezTo>
                  <a:cubicBezTo>
                    <a:pt x="19" y="18"/>
                    <a:pt x="19" y="18"/>
                    <a:pt x="19" y="18"/>
                  </a:cubicBezTo>
                  <a:cubicBezTo>
                    <a:pt x="14" y="12"/>
                    <a:pt x="9" y="7"/>
                    <a:pt x="5" y="0"/>
                  </a:cubicBezTo>
                  <a:lnTo>
                    <a:pt x="0" y="5"/>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9" name="Freeform 688"/>
            <p:cNvSpPr>
              <a:spLocks noChangeArrowheads="1"/>
            </p:cNvSpPr>
            <p:nvPr/>
          </p:nvSpPr>
          <p:spPr bwMode="auto">
            <a:xfrm>
              <a:off x="508918" y="83050"/>
              <a:ext cx="43353" cy="35862"/>
            </a:xfrm>
            <a:custGeom>
              <a:avLst/>
              <a:gdLst>
                <a:gd name="T0" fmla="*/ 2147483647 w 22"/>
                <a:gd name="T1" fmla="*/ 0 h 19"/>
                <a:gd name="T2" fmla="*/ 0 w 22"/>
                <a:gd name="T3" fmla="*/ 2147483647 h 19"/>
                <a:gd name="T4" fmla="*/ 2147483647 w 22"/>
                <a:gd name="T5" fmla="*/ 2147483647 h 19"/>
                <a:gd name="T6" fmla="*/ 2147483647 w 22"/>
                <a:gd name="T7" fmla="*/ 2147483647 h 19"/>
                <a:gd name="T8" fmla="*/ 2147483647 w 22"/>
                <a:gd name="T9" fmla="*/ 0 h 19"/>
                <a:gd name="T10" fmla="*/ 0 60000 65536"/>
                <a:gd name="T11" fmla="*/ 0 60000 65536"/>
                <a:gd name="T12" fmla="*/ 0 60000 65536"/>
                <a:gd name="T13" fmla="*/ 0 60000 65536"/>
                <a:gd name="T14" fmla="*/ 0 60000 65536"/>
                <a:gd name="T15" fmla="*/ 0 w 22"/>
                <a:gd name="T16" fmla="*/ 0 h 19"/>
                <a:gd name="T17" fmla="*/ 22 w 22"/>
                <a:gd name="T18" fmla="*/ 19 h 19"/>
              </a:gdLst>
              <a:ahLst/>
              <a:cxnLst>
                <a:cxn ang="T10">
                  <a:pos x="T0" y="T1"/>
                </a:cxn>
                <a:cxn ang="T11">
                  <a:pos x="T2" y="T3"/>
                </a:cxn>
                <a:cxn ang="T12">
                  <a:pos x="T4" y="T5"/>
                </a:cxn>
                <a:cxn ang="T13">
                  <a:pos x="T6" y="T7"/>
                </a:cxn>
                <a:cxn ang="T14">
                  <a:pos x="T8" y="T9"/>
                </a:cxn>
              </a:cxnLst>
              <a:rect l="T15" t="T16" r="T17" b="T18"/>
              <a:pathLst>
                <a:path w="22" h="19">
                  <a:moveTo>
                    <a:pt x="5" y="0"/>
                  </a:moveTo>
                  <a:cubicBezTo>
                    <a:pt x="0" y="4"/>
                    <a:pt x="0" y="4"/>
                    <a:pt x="0" y="4"/>
                  </a:cubicBezTo>
                  <a:cubicBezTo>
                    <a:pt x="7" y="9"/>
                    <a:pt x="13" y="14"/>
                    <a:pt x="18" y="19"/>
                  </a:cubicBezTo>
                  <a:cubicBezTo>
                    <a:pt x="22" y="15"/>
                    <a:pt x="22" y="15"/>
                    <a:pt x="22" y="15"/>
                  </a:cubicBezTo>
                  <a:cubicBezTo>
                    <a:pt x="17" y="9"/>
                    <a:pt x="11" y="4"/>
                    <a:pt x="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0" name="Freeform 689"/>
            <p:cNvSpPr>
              <a:spLocks noChangeArrowheads="1"/>
            </p:cNvSpPr>
            <p:nvPr/>
          </p:nvSpPr>
          <p:spPr bwMode="auto">
            <a:xfrm>
              <a:off x="339279" y="39637"/>
              <a:ext cx="84820" cy="15100"/>
            </a:xfrm>
            <a:custGeom>
              <a:avLst/>
              <a:gdLst>
                <a:gd name="T0" fmla="*/ 0 w 43"/>
                <a:gd name="T1" fmla="*/ 2147483647 h 8"/>
                <a:gd name="T2" fmla="*/ 0 w 43"/>
                <a:gd name="T3" fmla="*/ 2147483647 h 8"/>
                <a:gd name="T4" fmla="*/ 2147483647 w 43"/>
                <a:gd name="T5" fmla="*/ 2147483647 h 8"/>
                <a:gd name="T6" fmla="*/ 2147483647 w 43"/>
                <a:gd name="T7" fmla="*/ 2147483647 h 8"/>
                <a:gd name="T8" fmla="*/ 2147483647 w 43"/>
                <a:gd name="T9" fmla="*/ 2147483647 h 8"/>
                <a:gd name="T10" fmla="*/ 2147483647 w 43"/>
                <a:gd name="T11" fmla="*/ 0 h 8"/>
                <a:gd name="T12" fmla="*/ 0 w 43"/>
                <a:gd name="T13" fmla="*/ 2147483647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2"/>
                  </a:moveTo>
                  <a:cubicBezTo>
                    <a:pt x="0" y="8"/>
                    <a:pt x="0" y="8"/>
                    <a:pt x="0" y="8"/>
                  </a:cubicBezTo>
                  <a:cubicBezTo>
                    <a:pt x="7" y="7"/>
                    <a:pt x="14" y="6"/>
                    <a:pt x="21" y="6"/>
                  </a:cubicBezTo>
                  <a:cubicBezTo>
                    <a:pt x="29" y="6"/>
                    <a:pt x="36" y="7"/>
                    <a:pt x="43" y="8"/>
                  </a:cubicBezTo>
                  <a:cubicBezTo>
                    <a:pt x="43" y="2"/>
                    <a:pt x="43" y="2"/>
                    <a:pt x="43" y="2"/>
                  </a:cubicBezTo>
                  <a:cubicBezTo>
                    <a:pt x="36" y="1"/>
                    <a:pt x="29" y="0"/>
                    <a:pt x="21" y="0"/>
                  </a:cubicBezTo>
                  <a:cubicBezTo>
                    <a:pt x="14" y="0"/>
                    <a:pt x="7" y="1"/>
                    <a:pt x="0" y="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1" name="Freeform 690"/>
            <p:cNvSpPr>
              <a:spLocks noChangeArrowheads="1"/>
            </p:cNvSpPr>
            <p:nvPr/>
          </p:nvSpPr>
          <p:spPr bwMode="auto">
            <a:xfrm>
              <a:off x="141367" y="237825"/>
              <a:ext cx="16963" cy="81162"/>
            </a:xfrm>
            <a:custGeom>
              <a:avLst/>
              <a:gdLst>
                <a:gd name="T0" fmla="*/ 2147483647 w 8"/>
                <a:gd name="T1" fmla="*/ 0 h 42"/>
                <a:gd name="T2" fmla="*/ 0 w 8"/>
                <a:gd name="T3" fmla="*/ 2147483647 h 42"/>
                <a:gd name="T4" fmla="*/ 2147483647 w 8"/>
                <a:gd name="T5" fmla="*/ 2147483647 h 42"/>
                <a:gd name="T6" fmla="*/ 2147483647 w 8"/>
                <a:gd name="T7" fmla="*/ 2147483647 h 42"/>
                <a:gd name="T8" fmla="*/ 2147483647 w 8"/>
                <a:gd name="T9" fmla="*/ 2147483647 h 42"/>
                <a:gd name="T10" fmla="*/ 2147483647 w 8"/>
                <a:gd name="T11" fmla="*/ 0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2" y="0"/>
                  </a:moveTo>
                  <a:cubicBezTo>
                    <a:pt x="1" y="6"/>
                    <a:pt x="0" y="14"/>
                    <a:pt x="0" y="21"/>
                  </a:cubicBezTo>
                  <a:cubicBezTo>
                    <a:pt x="0" y="28"/>
                    <a:pt x="1" y="35"/>
                    <a:pt x="2" y="42"/>
                  </a:cubicBezTo>
                  <a:cubicBezTo>
                    <a:pt x="8" y="42"/>
                    <a:pt x="8" y="42"/>
                    <a:pt x="8" y="42"/>
                  </a:cubicBezTo>
                  <a:cubicBezTo>
                    <a:pt x="7" y="35"/>
                    <a:pt x="6" y="28"/>
                    <a:pt x="6" y="21"/>
                  </a:cubicBezTo>
                  <a:cubicBezTo>
                    <a:pt x="6" y="14"/>
                    <a:pt x="7" y="6"/>
                    <a:pt x="8" y="0"/>
                  </a:cubicBezTo>
                  <a:lnTo>
                    <a:pt x="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2" name="Freeform 691"/>
            <p:cNvSpPr>
              <a:spLocks noChangeArrowheads="1"/>
            </p:cNvSpPr>
            <p:nvPr/>
          </p:nvSpPr>
          <p:spPr bwMode="auto">
            <a:xfrm>
              <a:off x="184719" y="83050"/>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0"/>
                  </a:moveTo>
                  <a:cubicBezTo>
                    <a:pt x="5" y="35"/>
                    <a:pt x="5" y="35"/>
                    <a:pt x="5" y="35"/>
                  </a:cubicBezTo>
                  <a:cubicBezTo>
                    <a:pt x="13" y="23"/>
                    <a:pt x="23" y="12"/>
                    <a:pt x="35" y="4"/>
                  </a:cubicBezTo>
                  <a:cubicBezTo>
                    <a:pt x="31" y="0"/>
                    <a:pt x="31" y="0"/>
                    <a:pt x="31" y="0"/>
                  </a:cubicBezTo>
                  <a:cubicBezTo>
                    <a:pt x="19" y="8"/>
                    <a:pt x="9" y="19"/>
                    <a:pt x="0" y="3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3" name="Freeform 692"/>
            <p:cNvSpPr>
              <a:spLocks noChangeArrowheads="1"/>
            </p:cNvSpPr>
            <p:nvPr/>
          </p:nvSpPr>
          <p:spPr bwMode="auto">
            <a:xfrm>
              <a:off x="0" y="152887"/>
              <a:ext cx="354358" cy="403925"/>
            </a:xfrm>
            <a:custGeom>
              <a:avLst/>
              <a:gdLst>
                <a:gd name="T0" fmla="*/ 2147483647 w 181"/>
                <a:gd name="T1" fmla="*/ 0 h 206"/>
                <a:gd name="T2" fmla="*/ 2147483647 w 181"/>
                <a:gd name="T3" fmla="*/ 2147483647 h 206"/>
                <a:gd name="T4" fmla="*/ 2147483647 w 181"/>
                <a:gd name="T5" fmla="*/ 2147483647 h 206"/>
                <a:gd name="T6" fmla="*/ 0 w 181"/>
                <a:gd name="T7" fmla="*/ 2147483647 h 206"/>
                <a:gd name="T8" fmla="*/ 2147483647 w 181"/>
                <a:gd name="T9" fmla="*/ 2147483647 h 206"/>
                <a:gd name="T10" fmla="*/ 2147483647 w 181"/>
                <a:gd name="T11" fmla="*/ 2147483647 h 206"/>
                <a:gd name="T12" fmla="*/ 2147483647 w 181"/>
                <a:gd name="T13" fmla="*/ 2147483647 h 206"/>
                <a:gd name="T14" fmla="*/ 2147483647 w 181"/>
                <a:gd name="T15" fmla="*/ 0 h 206"/>
                <a:gd name="T16" fmla="*/ 2147483647 w 181"/>
                <a:gd name="T17" fmla="*/ 0 h 2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1"/>
                <a:gd name="T28" fmla="*/ 0 h 206"/>
                <a:gd name="T29" fmla="*/ 181 w 181"/>
                <a:gd name="T30" fmla="*/ 206 h 2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1" h="206">
                  <a:moveTo>
                    <a:pt x="180" y="0"/>
                  </a:moveTo>
                  <a:cubicBezTo>
                    <a:pt x="142" y="0"/>
                    <a:pt x="110" y="25"/>
                    <a:pt x="99" y="59"/>
                  </a:cubicBezTo>
                  <a:cubicBezTo>
                    <a:pt x="78" y="64"/>
                    <a:pt x="60" y="79"/>
                    <a:pt x="52" y="99"/>
                  </a:cubicBezTo>
                  <a:cubicBezTo>
                    <a:pt x="24" y="100"/>
                    <a:pt x="0" y="124"/>
                    <a:pt x="0" y="153"/>
                  </a:cubicBezTo>
                  <a:cubicBezTo>
                    <a:pt x="0" y="182"/>
                    <a:pt x="23" y="205"/>
                    <a:pt x="52" y="206"/>
                  </a:cubicBezTo>
                  <a:cubicBezTo>
                    <a:pt x="52" y="206"/>
                    <a:pt x="52" y="206"/>
                    <a:pt x="52" y="206"/>
                  </a:cubicBezTo>
                  <a:cubicBezTo>
                    <a:pt x="181" y="206"/>
                    <a:pt x="181" y="206"/>
                    <a:pt x="181" y="206"/>
                  </a:cubicBezTo>
                  <a:cubicBezTo>
                    <a:pt x="181" y="0"/>
                    <a:pt x="181" y="0"/>
                    <a:pt x="181" y="0"/>
                  </a:cubicBezTo>
                  <a:lnTo>
                    <a:pt x="18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4" name="Freeform 693"/>
            <p:cNvSpPr>
              <a:spLocks noChangeArrowheads="1"/>
            </p:cNvSpPr>
            <p:nvPr/>
          </p:nvSpPr>
          <p:spPr bwMode="auto">
            <a:xfrm>
              <a:off x="354358" y="152887"/>
              <a:ext cx="284618" cy="403925"/>
            </a:xfrm>
            <a:custGeom>
              <a:avLst/>
              <a:gdLst>
                <a:gd name="T0" fmla="*/ 2147483647 w 144"/>
                <a:gd name="T1" fmla="*/ 2147483647 h 206"/>
                <a:gd name="T2" fmla="*/ 0 w 144"/>
                <a:gd name="T3" fmla="*/ 0 h 206"/>
                <a:gd name="T4" fmla="*/ 0 w 144"/>
                <a:gd name="T5" fmla="*/ 2147483647 h 206"/>
                <a:gd name="T6" fmla="*/ 2147483647 w 144"/>
                <a:gd name="T7" fmla="*/ 2147483647 h 206"/>
                <a:gd name="T8" fmla="*/ 2147483647 w 144"/>
                <a:gd name="T9" fmla="*/ 2147483647 h 206"/>
                <a:gd name="T10" fmla="*/ 2147483647 w 144"/>
                <a:gd name="T11" fmla="*/ 2147483647 h 206"/>
                <a:gd name="T12" fmla="*/ 2147483647 w 144"/>
                <a:gd name="T13" fmla="*/ 2147483647 h 206"/>
                <a:gd name="T14" fmla="*/ 0 60000 65536"/>
                <a:gd name="T15" fmla="*/ 0 60000 65536"/>
                <a:gd name="T16" fmla="*/ 0 60000 65536"/>
                <a:gd name="T17" fmla="*/ 0 60000 65536"/>
                <a:gd name="T18" fmla="*/ 0 60000 65536"/>
                <a:gd name="T19" fmla="*/ 0 60000 65536"/>
                <a:gd name="T20" fmla="*/ 0 60000 65536"/>
                <a:gd name="T21" fmla="*/ 0 w 144"/>
                <a:gd name="T22" fmla="*/ 0 h 206"/>
                <a:gd name="T23" fmla="*/ 144 w 144"/>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206">
                  <a:moveTo>
                    <a:pt x="84" y="75"/>
                  </a:moveTo>
                  <a:cubicBezTo>
                    <a:pt x="79" y="33"/>
                    <a:pt x="43" y="1"/>
                    <a:pt x="0" y="0"/>
                  </a:cubicBezTo>
                  <a:cubicBezTo>
                    <a:pt x="0" y="206"/>
                    <a:pt x="0" y="206"/>
                    <a:pt x="0" y="206"/>
                  </a:cubicBezTo>
                  <a:cubicBezTo>
                    <a:pt x="81" y="206"/>
                    <a:pt x="81" y="206"/>
                    <a:pt x="81" y="206"/>
                  </a:cubicBezTo>
                  <a:cubicBezTo>
                    <a:pt x="81" y="206"/>
                    <a:pt x="81" y="206"/>
                    <a:pt x="81" y="206"/>
                  </a:cubicBezTo>
                  <a:cubicBezTo>
                    <a:pt x="116" y="205"/>
                    <a:pt x="144" y="176"/>
                    <a:pt x="144" y="141"/>
                  </a:cubicBezTo>
                  <a:cubicBezTo>
                    <a:pt x="144" y="106"/>
                    <a:pt x="118" y="78"/>
                    <a:pt x="84" y="7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8" name="Table 7"/>
          <p:cNvGraphicFramePr/>
          <p:nvPr/>
        </p:nvGraphicFramePr>
        <p:xfrm>
          <a:off x="304800" y="1713230"/>
          <a:ext cx="13703300" cy="7943850"/>
        </p:xfrm>
        <a:graphic>
          <a:graphicData uri="http://schemas.openxmlformats.org/drawingml/2006/table">
            <a:tbl>
              <a:tblPr firstRow="1" bandRow="1">
                <a:tableStyleId>{5C22544A-7EE6-4342-B048-85BDC9FD1C3A}</a:tableStyleId>
              </a:tblPr>
              <a:tblGrid>
                <a:gridCol w="13703300"/>
              </a:tblGrid>
              <a:tr h="7943850">
                <a:tc>
                  <a:txBody>
                    <a:bodyPr/>
                    <a:p>
                      <a:pPr>
                        <a:buNone/>
                      </a:pPr>
                      <a:r>
                        <a:rPr lang="en-US" sz="2800">
                          <a:latin typeface="Consolas" panose="020B0609020204030204" charset="0"/>
                          <a:cs typeface="Consolas" panose="020B0609020204030204" charset="0"/>
                        </a:rPr>
                        <a:t>// Tạo cây Huffman từ bảng thống kê</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Node* buildHuffmanTree(map&lt;char, int&gt;&amp; freqTable)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priority_queue&lt;Node*, vector&lt;Node*&gt;, Compare&gt; pq;</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for (auto&amp; pair : freqTable)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pq.push(new Node(pair.first, pair.second));</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while (pq.size() &gt; 1)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Node* left = pq.top(); pq.pop();</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Node* right = pq.top(); pq.pop();</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Node* merged = new Node('$', left-&gt;freq + right-&gt;freq);</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merged-&gt;left = left;</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merged-&gt;right = right;</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pq.push(merged);</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return pq.top();</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29</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4</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0" marR="0" lvl="0" indent="457200" defTabSz="914400" rtl="0" eaLnBrk="0" fontAlgn="base" latinLnBrk="0" hangingPunct="0">
              <a:lnSpc>
                <a:spcPct val="150000"/>
              </a:lnSpc>
              <a:spcBef>
                <a:spcPct val="0"/>
              </a:spcBef>
              <a:spcAft>
                <a:spcPct val="0"/>
              </a:spcAft>
              <a:buClrTx/>
              <a:buSzTx/>
              <a:buFontTx/>
              <a:buNone/>
            </a:pPr>
            <a:r>
              <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Bước 4. Xây dựng bảng mã huffman</a:t>
            </a:r>
            <a:endPar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0" marR="0" lvl="0" indent="457200" defTabSz="914400" rtl="0" eaLnBrk="0" fontAlgn="base" latinLnBrk="0" hangingPunct="0">
              <a:lnSpc>
                <a:spcPct val="150000"/>
              </a:lnSpc>
              <a:spcBef>
                <a:spcPct val="0"/>
              </a:spcBef>
              <a:spcAft>
                <a:spcPct val="0"/>
              </a:spcAft>
              <a:buClrTx/>
              <a:buSzTx/>
              <a:buFontTx/>
              <a:buNone/>
            </a:pPr>
            <a:r>
              <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 Sử dụng đệ quy để duyệt cây huffman và xây dựng bảng mã cho từng ký tự. </a:t>
            </a:r>
            <a:endPar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918" name="组合 1389"/>
          <p:cNvGrpSpPr/>
          <p:nvPr/>
        </p:nvGrpSpPr>
        <p:grpSpPr bwMode="auto">
          <a:xfrm>
            <a:off x="1219200" y="786765"/>
            <a:ext cx="415290" cy="473710"/>
            <a:chOff x="0" y="0"/>
            <a:chExt cx="574443" cy="594613"/>
          </a:xfrm>
          <a:solidFill>
            <a:schemeClr val="bg1"/>
          </a:solidFill>
        </p:grpSpPr>
        <p:sp>
          <p:nvSpPr>
            <p:cNvPr id="919" name="Freeform 579"/>
            <p:cNvSpPr>
              <a:spLocks noChangeArrowheads="1"/>
            </p:cNvSpPr>
            <p:nvPr/>
          </p:nvSpPr>
          <p:spPr bwMode="auto">
            <a:xfrm>
              <a:off x="0" y="203271"/>
              <a:ext cx="574443" cy="246964"/>
            </a:xfrm>
            <a:custGeom>
              <a:avLst/>
              <a:gdLst>
                <a:gd name="T0" fmla="*/ 2147483647 w 301"/>
                <a:gd name="T1" fmla="*/ 2147483647 h 129"/>
                <a:gd name="T2" fmla="*/ 2147483647 w 301"/>
                <a:gd name="T3" fmla="*/ 0 h 129"/>
                <a:gd name="T4" fmla="*/ 2147483647 w 301"/>
                <a:gd name="T5" fmla="*/ 0 h 129"/>
                <a:gd name="T6" fmla="*/ 0 w 301"/>
                <a:gd name="T7" fmla="*/ 2147483647 h 129"/>
                <a:gd name="T8" fmla="*/ 0 w 301"/>
                <a:gd name="T9" fmla="*/ 2147483647 h 129"/>
                <a:gd name="T10" fmla="*/ 2147483647 w 301"/>
                <a:gd name="T11" fmla="*/ 2147483647 h 129"/>
                <a:gd name="T12" fmla="*/ 2147483647 w 301"/>
                <a:gd name="T13" fmla="*/ 2147483647 h 129"/>
                <a:gd name="T14" fmla="*/ 2147483647 w 301"/>
                <a:gd name="T15" fmla="*/ 2147483647 h 129"/>
                <a:gd name="T16" fmla="*/ 2147483647 w 301"/>
                <a:gd name="T17" fmla="*/ 2147483647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129"/>
                <a:gd name="T29" fmla="*/ 301 w 301"/>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129">
                  <a:moveTo>
                    <a:pt x="301" y="8"/>
                  </a:moveTo>
                  <a:cubicBezTo>
                    <a:pt x="301" y="3"/>
                    <a:pt x="297" y="0"/>
                    <a:pt x="293" y="0"/>
                  </a:cubicBezTo>
                  <a:cubicBezTo>
                    <a:pt x="8" y="0"/>
                    <a:pt x="8" y="0"/>
                    <a:pt x="8" y="0"/>
                  </a:cubicBezTo>
                  <a:cubicBezTo>
                    <a:pt x="4" y="0"/>
                    <a:pt x="0" y="3"/>
                    <a:pt x="0" y="8"/>
                  </a:cubicBezTo>
                  <a:cubicBezTo>
                    <a:pt x="0" y="9"/>
                    <a:pt x="0" y="9"/>
                    <a:pt x="0" y="9"/>
                  </a:cubicBezTo>
                  <a:cubicBezTo>
                    <a:pt x="140" y="124"/>
                    <a:pt x="140" y="124"/>
                    <a:pt x="140" y="124"/>
                  </a:cubicBezTo>
                  <a:cubicBezTo>
                    <a:pt x="146" y="129"/>
                    <a:pt x="156" y="129"/>
                    <a:pt x="162" y="124"/>
                  </a:cubicBezTo>
                  <a:cubicBezTo>
                    <a:pt x="301" y="9"/>
                    <a:pt x="301" y="9"/>
                    <a:pt x="301" y="9"/>
                  </a:cubicBezTo>
                  <a:cubicBezTo>
                    <a:pt x="301" y="8"/>
                    <a:pt x="301" y="8"/>
                    <a:pt x="301" y="8"/>
                  </a:cubicBezTo>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0" name="Freeform 580"/>
            <p:cNvSpPr>
              <a:spLocks noChangeArrowheads="1"/>
            </p:cNvSpPr>
            <p:nvPr/>
          </p:nvSpPr>
          <p:spPr bwMode="auto">
            <a:xfrm>
              <a:off x="34238" y="0"/>
              <a:ext cx="505966" cy="539521"/>
            </a:xfrm>
            <a:custGeom>
              <a:avLst/>
              <a:gdLst>
                <a:gd name="T0" fmla="*/ 2147483647 w 626"/>
                <a:gd name="T1" fmla="*/ 2147483647 h 669"/>
                <a:gd name="T2" fmla="*/ 2147483647 w 626"/>
                <a:gd name="T3" fmla="*/ 0 h 669"/>
                <a:gd name="T4" fmla="*/ 0 w 626"/>
                <a:gd name="T5" fmla="*/ 0 h 669"/>
                <a:gd name="T6" fmla="*/ 0 w 626"/>
                <a:gd name="T7" fmla="*/ 2147483647 h 669"/>
                <a:gd name="T8" fmla="*/ 2147483647 w 626"/>
                <a:gd name="T9" fmla="*/ 2147483647 h 669"/>
                <a:gd name="T10" fmla="*/ 2147483647 w 626"/>
                <a:gd name="T11" fmla="*/ 2147483647 h 669"/>
                <a:gd name="T12" fmla="*/ 0 60000 65536"/>
                <a:gd name="T13" fmla="*/ 0 60000 65536"/>
                <a:gd name="T14" fmla="*/ 0 60000 65536"/>
                <a:gd name="T15" fmla="*/ 0 60000 65536"/>
                <a:gd name="T16" fmla="*/ 0 60000 65536"/>
                <a:gd name="T17" fmla="*/ 0 60000 65536"/>
                <a:gd name="T18" fmla="*/ 0 w 626"/>
                <a:gd name="T19" fmla="*/ 0 h 669"/>
                <a:gd name="T20" fmla="*/ 626 w 626"/>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626" h="669">
                  <a:moveTo>
                    <a:pt x="626" y="196"/>
                  </a:moveTo>
                  <a:lnTo>
                    <a:pt x="432" y="0"/>
                  </a:lnTo>
                  <a:lnTo>
                    <a:pt x="0" y="0"/>
                  </a:lnTo>
                  <a:lnTo>
                    <a:pt x="0" y="669"/>
                  </a:lnTo>
                  <a:lnTo>
                    <a:pt x="626" y="669"/>
                  </a:lnTo>
                  <a:lnTo>
                    <a:pt x="626" y="19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1" name="Freeform 581"/>
            <p:cNvSpPr>
              <a:spLocks noChangeArrowheads="1"/>
            </p:cNvSpPr>
            <p:nvPr/>
          </p:nvSpPr>
          <p:spPr bwMode="auto">
            <a:xfrm>
              <a:off x="34238" y="0"/>
              <a:ext cx="505966" cy="539521"/>
            </a:xfrm>
            <a:custGeom>
              <a:avLst/>
              <a:gdLst>
                <a:gd name="T0" fmla="*/ 2147483647 w 626"/>
                <a:gd name="T1" fmla="*/ 2147483647 h 669"/>
                <a:gd name="T2" fmla="*/ 2147483647 w 626"/>
                <a:gd name="T3" fmla="*/ 0 h 669"/>
                <a:gd name="T4" fmla="*/ 0 w 626"/>
                <a:gd name="T5" fmla="*/ 0 h 669"/>
                <a:gd name="T6" fmla="*/ 0 w 626"/>
                <a:gd name="T7" fmla="*/ 2147483647 h 669"/>
                <a:gd name="T8" fmla="*/ 2147483647 w 626"/>
                <a:gd name="T9" fmla="*/ 2147483647 h 669"/>
                <a:gd name="T10" fmla="*/ 2147483647 w 626"/>
                <a:gd name="T11" fmla="*/ 2147483647 h 669"/>
                <a:gd name="T12" fmla="*/ 0 60000 65536"/>
                <a:gd name="T13" fmla="*/ 0 60000 65536"/>
                <a:gd name="T14" fmla="*/ 0 60000 65536"/>
                <a:gd name="T15" fmla="*/ 0 60000 65536"/>
                <a:gd name="T16" fmla="*/ 0 60000 65536"/>
                <a:gd name="T17" fmla="*/ 0 60000 65536"/>
                <a:gd name="T18" fmla="*/ 0 w 626"/>
                <a:gd name="T19" fmla="*/ 0 h 669"/>
                <a:gd name="T20" fmla="*/ 626 w 626"/>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626" h="669">
                  <a:moveTo>
                    <a:pt x="626" y="196"/>
                  </a:moveTo>
                  <a:lnTo>
                    <a:pt x="432" y="0"/>
                  </a:lnTo>
                  <a:lnTo>
                    <a:pt x="0" y="0"/>
                  </a:lnTo>
                  <a:lnTo>
                    <a:pt x="0" y="669"/>
                  </a:lnTo>
                  <a:lnTo>
                    <a:pt x="626" y="669"/>
                  </a:lnTo>
                  <a:lnTo>
                    <a:pt x="626" y="196"/>
                  </a:lnTo>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2" name="Freeform 582"/>
            <p:cNvSpPr>
              <a:spLocks noChangeArrowheads="1"/>
            </p:cNvSpPr>
            <p:nvPr/>
          </p:nvSpPr>
          <p:spPr bwMode="auto">
            <a:xfrm>
              <a:off x="382329" y="157677"/>
              <a:ext cx="157876" cy="157676"/>
            </a:xfrm>
            <a:custGeom>
              <a:avLst/>
              <a:gdLst>
                <a:gd name="T0" fmla="*/ 2147483647 w 196"/>
                <a:gd name="T1" fmla="*/ 0 h 194"/>
                <a:gd name="T2" fmla="*/ 0 w 196"/>
                <a:gd name="T3" fmla="*/ 0 h 194"/>
                <a:gd name="T4" fmla="*/ 2147483647 w 196"/>
                <a:gd name="T5" fmla="*/ 2147483647 h 194"/>
                <a:gd name="T6" fmla="*/ 2147483647 w 196"/>
                <a:gd name="T7" fmla="*/ 2147483647 h 194"/>
                <a:gd name="T8" fmla="*/ 2147483647 w 196"/>
                <a:gd name="T9" fmla="*/ 2147483647 h 194"/>
                <a:gd name="T10" fmla="*/ 2147483647 w 196"/>
                <a:gd name="T11" fmla="*/ 0 h 194"/>
                <a:gd name="T12" fmla="*/ 0 60000 65536"/>
                <a:gd name="T13" fmla="*/ 0 60000 65536"/>
                <a:gd name="T14" fmla="*/ 0 60000 65536"/>
                <a:gd name="T15" fmla="*/ 0 60000 65536"/>
                <a:gd name="T16" fmla="*/ 0 60000 65536"/>
                <a:gd name="T17" fmla="*/ 0 60000 65536"/>
                <a:gd name="T18" fmla="*/ 0 w 196"/>
                <a:gd name="T19" fmla="*/ 0 h 194"/>
                <a:gd name="T20" fmla="*/ 196 w 196"/>
                <a:gd name="T21" fmla="*/ 194 h 194"/>
              </a:gdLst>
              <a:ahLst/>
              <a:cxnLst>
                <a:cxn ang="T12">
                  <a:pos x="T0" y="T1"/>
                </a:cxn>
                <a:cxn ang="T13">
                  <a:pos x="T2" y="T3"/>
                </a:cxn>
                <a:cxn ang="T14">
                  <a:pos x="T4" y="T5"/>
                </a:cxn>
                <a:cxn ang="T15">
                  <a:pos x="T6" y="T7"/>
                </a:cxn>
                <a:cxn ang="T16">
                  <a:pos x="T8" y="T9"/>
                </a:cxn>
                <a:cxn ang="T17">
                  <a:pos x="T10" y="T11"/>
                </a:cxn>
              </a:cxnLst>
              <a:rect l="T18" t="T19" r="T20" b="T21"/>
              <a:pathLst>
                <a:path w="196" h="194">
                  <a:moveTo>
                    <a:pt x="196" y="0"/>
                  </a:moveTo>
                  <a:lnTo>
                    <a:pt x="0" y="0"/>
                  </a:lnTo>
                  <a:lnTo>
                    <a:pt x="196" y="194"/>
                  </a:lnTo>
                  <a:lnTo>
                    <a:pt x="196" y="114"/>
                  </a:lnTo>
                  <a:lnTo>
                    <a:pt x="196" y="57"/>
                  </a:lnTo>
                  <a:lnTo>
                    <a:pt x="196"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3" name="Freeform 583"/>
            <p:cNvSpPr>
              <a:spLocks noChangeArrowheads="1"/>
            </p:cNvSpPr>
            <p:nvPr/>
          </p:nvSpPr>
          <p:spPr bwMode="auto">
            <a:xfrm>
              <a:off x="382329" y="157677"/>
              <a:ext cx="157876" cy="157676"/>
            </a:xfrm>
            <a:custGeom>
              <a:avLst/>
              <a:gdLst>
                <a:gd name="T0" fmla="*/ 2147483647 w 196"/>
                <a:gd name="T1" fmla="*/ 0 h 194"/>
                <a:gd name="T2" fmla="*/ 0 w 196"/>
                <a:gd name="T3" fmla="*/ 0 h 194"/>
                <a:gd name="T4" fmla="*/ 2147483647 w 196"/>
                <a:gd name="T5" fmla="*/ 2147483647 h 194"/>
                <a:gd name="T6" fmla="*/ 2147483647 w 196"/>
                <a:gd name="T7" fmla="*/ 2147483647 h 194"/>
                <a:gd name="T8" fmla="*/ 2147483647 w 196"/>
                <a:gd name="T9" fmla="*/ 2147483647 h 194"/>
                <a:gd name="T10" fmla="*/ 2147483647 w 196"/>
                <a:gd name="T11" fmla="*/ 0 h 194"/>
                <a:gd name="T12" fmla="*/ 0 60000 65536"/>
                <a:gd name="T13" fmla="*/ 0 60000 65536"/>
                <a:gd name="T14" fmla="*/ 0 60000 65536"/>
                <a:gd name="T15" fmla="*/ 0 60000 65536"/>
                <a:gd name="T16" fmla="*/ 0 60000 65536"/>
                <a:gd name="T17" fmla="*/ 0 60000 65536"/>
                <a:gd name="T18" fmla="*/ 0 w 196"/>
                <a:gd name="T19" fmla="*/ 0 h 194"/>
                <a:gd name="T20" fmla="*/ 196 w 196"/>
                <a:gd name="T21" fmla="*/ 194 h 194"/>
              </a:gdLst>
              <a:ahLst/>
              <a:cxnLst>
                <a:cxn ang="T12">
                  <a:pos x="T0" y="T1"/>
                </a:cxn>
                <a:cxn ang="T13">
                  <a:pos x="T2" y="T3"/>
                </a:cxn>
                <a:cxn ang="T14">
                  <a:pos x="T4" y="T5"/>
                </a:cxn>
                <a:cxn ang="T15">
                  <a:pos x="T6" y="T7"/>
                </a:cxn>
                <a:cxn ang="T16">
                  <a:pos x="T8" y="T9"/>
                </a:cxn>
                <a:cxn ang="T17">
                  <a:pos x="T10" y="T11"/>
                </a:cxn>
              </a:cxnLst>
              <a:rect l="T18" t="T19" r="T20" b="T21"/>
              <a:pathLst>
                <a:path w="196" h="194">
                  <a:moveTo>
                    <a:pt x="196" y="0"/>
                  </a:moveTo>
                  <a:lnTo>
                    <a:pt x="0" y="0"/>
                  </a:lnTo>
                  <a:lnTo>
                    <a:pt x="196" y="194"/>
                  </a:lnTo>
                  <a:lnTo>
                    <a:pt x="196" y="114"/>
                  </a:lnTo>
                  <a:lnTo>
                    <a:pt x="196" y="57"/>
                  </a:lnTo>
                  <a:lnTo>
                    <a:pt x="196" y="0"/>
                  </a:lnTo>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4" name="Freeform 584"/>
            <p:cNvSpPr>
              <a:spLocks noChangeArrowheads="1"/>
            </p:cNvSpPr>
            <p:nvPr/>
          </p:nvSpPr>
          <p:spPr bwMode="auto">
            <a:xfrm>
              <a:off x="382329" y="0"/>
              <a:ext cx="157876" cy="157677"/>
            </a:xfrm>
            <a:custGeom>
              <a:avLst/>
              <a:gdLst>
                <a:gd name="T0" fmla="*/ 0 w 196"/>
                <a:gd name="T1" fmla="*/ 0 h 196"/>
                <a:gd name="T2" fmla="*/ 0 w 196"/>
                <a:gd name="T3" fmla="*/ 2147483647 h 196"/>
                <a:gd name="T4" fmla="*/ 2147483647 w 196"/>
                <a:gd name="T5" fmla="*/ 2147483647 h 196"/>
                <a:gd name="T6" fmla="*/ 1050597732 w 196"/>
                <a:gd name="T7" fmla="*/ 0 h 196"/>
                <a:gd name="T8" fmla="*/ 0 w 196"/>
                <a:gd name="T9" fmla="*/ 0 h 196"/>
                <a:gd name="T10" fmla="*/ 0 60000 65536"/>
                <a:gd name="T11" fmla="*/ 0 60000 65536"/>
                <a:gd name="T12" fmla="*/ 0 60000 65536"/>
                <a:gd name="T13" fmla="*/ 0 60000 65536"/>
                <a:gd name="T14" fmla="*/ 0 60000 65536"/>
                <a:gd name="T15" fmla="*/ 0 w 196"/>
                <a:gd name="T16" fmla="*/ 0 h 196"/>
                <a:gd name="T17" fmla="*/ 196 w 196"/>
                <a:gd name="T18" fmla="*/ 196 h 196"/>
              </a:gdLst>
              <a:ahLst/>
              <a:cxnLst>
                <a:cxn ang="T10">
                  <a:pos x="T0" y="T1"/>
                </a:cxn>
                <a:cxn ang="T11">
                  <a:pos x="T2" y="T3"/>
                </a:cxn>
                <a:cxn ang="T12">
                  <a:pos x="T4" y="T5"/>
                </a:cxn>
                <a:cxn ang="T13">
                  <a:pos x="T6" y="T7"/>
                </a:cxn>
                <a:cxn ang="T14">
                  <a:pos x="T8" y="T9"/>
                </a:cxn>
              </a:cxnLst>
              <a:rect l="T15" t="T16" r="T17" b="T18"/>
              <a:pathLst>
                <a:path w="196" h="196">
                  <a:moveTo>
                    <a:pt x="0" y="0"/>
                  </a:moveTo>
                  <a:lnTo>
                    <a:pt x="0" y="196"/>
                  </a:lnTo>
                  <a:lnTo>
                    <a:pt x="196" y="196"/>
                  </a:lnTo>
                  <a:lnTo>
                    <a:pt x="2" y="0"/>
                  </a:ln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5" name="Freeform 585"/>
            <p:cNvSpPr>
              <a:spLocks noChangeArrowheads="1"/>
            </p:cNvSpPr>
            <p:nvPr/>
          </p:nvSpPr>
          <p:spPr bwMode="auto">
            <a:xfrm>
              <a:off x="0" y="220368"/>
              <a:ext cx="574443" cy="374245"/>
            </a:xfrm>
            <a:custGeom>
              <a:avLst/>
              <a:gdLst>
                <a:gd name="T0" fmla="*/ 2147483647 w 301"/>
                <a:gd name="T1" fmla="*/ 2147483647 h 196"/>
                <a:gd name="T2" fmla="*/ 0 w 301"/>
                <a:gd name="T3" fmla="*/ 0 h 196"/>
                <a:gd name="T4" fmla="*/ 0 w 301"/>
                <a:gd name="T5" fmla="*/ 2147483647 h 196"/>
                <a:gd name="T6" fmla="*/ 2147483647 w 301"/>
                <a:gd name="T7" fmla="*/ 2147483647 h 196"/>
                <a:gd name="T8" fmla="*/ 2147483647 w 301"/>
                <a:gd name="T9" fmla="*/ 2147483647 h 196"/>
                <a:gd name="T10" fmla="*/ 2147483647 w 301"/>
                <a:gd name="T11" fmla="*/ 2147483647 h 196"/>
                <a:gd name="T12" fmla="*/ 2147483647 w 301"/>
                <a:gd name="T13" fmla="*/ 0 h 196"/>
                <a:gd name="T14" fmla="*/ 2147483647 w 301"/>
                <a:gd name="T15" fmla="*/ 2147483647 h 196"/>
                <a:gd name="T16" fmla="*/ 2147483647 w 301"/>
                <a:gd name="T17" fmla="*/ 2147483647 h 1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196"/>
                <a:gd name="T29" fmla="*/ 301 w 301"/>
                <a:gd name="T30" fmla="*/ 196 h 1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196">
                  <a:moveTo>
                    <a:pt x="140" y="115"/>
                  </a:moveTo>
                  <a:cubicBezTo>
                    <a:pt x="0" y="0"/>
                    <a:pt x="0" y="0"/>
                    <a:pt x="0" y="0"/>
                  </a:cubicBezTo>
                  <a:cubicBezTo>
                    <a:pt x="0" y="189"/>
                    <a:pt x="0" y="189"/>
                    <a:pt x="0" y="189"/>
                  </a:cubicBezTo>
                  <a:cubicBezTo>
                    <a:pt x="0" y="193"/>
                    <a:pt x="4" y="196"/>
                    <a:pt x="8" y="196"/>
                  </a:cubicBezTo>
                  <a:cubicBezTo>
                    <a:pt x="293" y="196"/>
                    <a:pt x="293" y="196"/>
                    <a:pt x="293" y="196"/>
                  </a:cubicBezTo>
                  <a:cubicBezTo>
                    <a:pt x="297" y="196"/>
                    <a:pt x="301" y="193"/>
                    <a:pt x="301" y="189"/>
                  </a:cubicBezTo>
                  <a:cubicBezTo>
                    <a:pt x="301" y="0"/>
                    <a:pt x="301" y="0"/>
                    <a:pt x="301" y="0"/>
                  </a:cubicBezTo>
                  <a:cubicBezTo>
                    <a:pt x="162" y="115"/>
                    <a:pt x="162" y="115"/>
                    <a:pt x="162" y="115"/>
                  </a:cubicBezTo>
                  <a:cubicBezTo>
                    <a:pt x="156" y="120"/>
                    <a:pt x="146" y="120"/>
                    <a:pt x="140" y="11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6" name="Freeform 586"/>
            <p:cNvSpPr>
              <a:spLocks noChangeArrowheads="1"/>
            </p:cNvSpPr>
            <p:nvPr/>
          </p:nvSpPr>
          <p:spPr bwMode="auto">
            <a:xfrm>
              <a:off x="0" y="341950"/>
              <a:ext cx="574443" cy="252663"/>
            </a:xfrm>
            <a:custGeom>
              <a:avLst/>
              <a:gdLst>
                <a:gd name="T0" fmla="*/ 2147483647 w 301"/>
                <a:gd name="T1" fmla="*/ 0 h 132"/>
                <a:gd name="T2" fmla="*/ 0 w 301"/>
                <a:gd name="T3" fmla="*/ 2147483647 h 132"/>
                <a:gd name="T4" fmla="*/ 0 w 301"/>
                <a:gd name="T5" fmla="*/ 2147483647 h 132"/>
                <a:gd name="T6" fmla="*/ 2147483647 w 301"/>
                <a:gd name="T7" fmla="*/ 2147483647 h 132"/>
                <a:gd name="T8" fmla="*/ 2147483647 w 301"/>
                <a:gd name="T9" fmla="*/ 2147483647 h 132"/>
                <a:gd name="T10" fmla="*/ 2147483647 w 301"/>
                <a:gd name="T11" fmla="*/ 2147483647 h 132"/>
                <a:gd name="T12" fmla="*/ 2147483647 w 301"/>
                <a:gd name="T13" fmla="*/ 2147483647 h 132"/>
                <a:gd name="T14" fmla="*/ 2147483647 w 301"/>
                <a:gd name="T15" fmla="*/ 0 h 132"/>
                <a:gd name="T16" fmla="*/ 0 60000 65536"/>
                <a:gd name="T17" fmla="*/ 0 60000 65536"/>
                <a:gd name="T18" fmla="*/ 0 60000 65536"/>
                <a:gd name="T19" fmla="*/ 0 60000 65536"/>
                <a:gd name="T20" fmla="*/ 0 60000 65536"/>
                <a:gd name="T21" fmla="*/ 0 60000 65536"/>
                <a:gd name="T22" fmla="*/ 0 60000 65536"/>
                <a:gd name="T23" fmla="*/ 0 60000 65536"/>
                <a:gd name="T24" fmla="*/ 0 w 301"/>
                <a:gd name="T25" fmla="*/ 0 h 132"/>
                <a:gd name="T26" fmla="*/ 301 w 301"/>
                <a:gd name="T27" fmla="*/ 132 h 1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 h="132">
                  <a:moveTo>
                    <a:pt x="150" y="0"/>
                  </a:moveTo>
                  <a:cubicBezTo>
                    <a:pt x="0" y="121"/>
                    <a:pt x="0" y="121"/>
                    <a:pt x="0" y="121"/>
                  </a:cubicBezTo>
                  <a:cubicBezTo>
                    <a:pt x="0" y="125"/>
                    <a:pt x="0" y="125"/>
                    <a:pt x="0" y="125"/>
                  </a:cubicBezTo>
                  <a:cubicBezTo>
                    <a:pt x="0" y="129"/>
                    <a:pt x="4" y="132"/>
                    <a:pt x="8" y="132"/>
                  </a:cubicBezTo>
                  <a:cubicBezTo>
                    <a:pt x="293" y="132"/>
                    <a:pt x="293" y="132"/>
                    <a:pt x="293" y="132"/>
                  </a:cubicBezTo>
                  <a:cubicBezTo>
                    <a:pt x="297" y="132"/>
                    <a:pt x="301" y="129"/>
                    <a:pt x="301" y="125"/>
                  </a:cubicBezTo>
                  <a:cubicBezTo>
                    <a:pt x="301" y="121"/>
                    <a:pt x="301" y="121"/>
                    <a:pt x="301" y="121"/>
                  </a:cubicBezTo>
                  <a:lnTo>
                    <a:pt x="15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7" name="Freeform 587"/>
            <p:cNvSpPr>
              <a:spLocks noEditPoints="1" noChangeArrowheads="1"/>
            </p:cNvSpPr>
            <p:nvPr/>
          </p:nvSpPr>
          <p:spPr bwMode="auto">
            <a:xfrm>
              <a:off x="0" y="395142"/>
              <a:ext cx="574443" cy="178574"/>
            </a:xfrm>
            <a:custGeom>
              <a:avLst/>
              <a:gdLst>
                <a:gd name="T0" fmla="*/ 0 w 712"/>
                <a:gd name="T1" fmla="*/ 2147483647 h 222"/>
                <a:gd name="T2" fmla="*/ 0 w 712"/>
                <a:gd name="T3" fmla="*/ 2147483647 h 222"/>
                <a:gd name="T4" fmla="*/ 2147483647 w 712"/>
                <a:gd name="T5" fmla="*/ 2147483647 h 222"/>
                <a:gd name="T6" fmla="*/ 2147483647 w 712"/>
                <a:gd name="T7" fmla="*/ 0 h 222"/>
                <a:gd name="T8" fmla="*/ 0 w 712"/>
                <a:gd name="T9" fmla="*/ 2147483647 h 222"/>
                <a:gd name="T10" fmla="*/ 2147483647 w 712"/>
                <a:gd name="T11" fmla="*/ 1575248246 h 222"/>
                <a:gd name="T12" fmla="*/ 2147483647 w 712"/>
                <a:gd name="T13" fmla="*/ 2147483647 h 222"/>
                <a:gd name="T14" fmla="*/ 2147483647 w 712"/>
                <a:gd name="T15" fmla="*/ 2147483647 h 222"/>
                <a:gd name="T16" fmla="*/ 2147483647 w 712"/>
                <a:gd name="T17" fmla="*/ 2147483647 h 222"/>
                <a:gd name="T18" fmla="*/ 2147483647 w 712"/>
                <a:gd name="T19" fmla="*/ 1575248246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2"/>
                <a:gd name="T31" fmla="*/ 0 h 222"/>
                <a:gd name="T32" fmla="*/ 712 w 712"/>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2" h="222">
                  <a:moveTo>
                    <a:pt x="0" y="213"/>
                  </a:moveTo>
                  <a:lnTo>
                    <a:pt x="0" y="222"/>
                  </a:lnTo>
                  <a:lnTo>
                    <a:pt x="270" y="7"/>
                  </a:lnTo>
                  <a:lnTo>
                    <a:pt x="262" y="0"/>
                  </a:lnTo>
                  <a:lnTo>
                    <a:pt x="0" y="213"/>
                  </a:lnTo>
                  <a:close/>
                  <a:moveTo>
                    <a:pt x="449" y="3"/>
                  </a:moveTo>
                  <a:lnTo>
                    <a:pt x="442" y="7"/>
                  </a:lnTo>
                  <a:lnTo>
                    <a:pt x="712" y="222"/>
                  </a:lnTo>
                  <a:lnTo>
                    <a:pt x="712" y="213"/>
                  </a:lnTo>
                  <a:lnTo>
                    <a:pt x="449" y="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28" name="Freeform 588"/>
            <p:cNvSpPr>
              <a:spLocks noChangeArrowheads="1"/>
            </p:cNvSpPr>
            <p:nvPr/>
          </p:nvSpPr>
          <p:spPr bwMode="auto">
            <a:xfrm>
              <a:off x="211137" y="336251"/>
              <a:ext cx="150268" cy="64590"/>
            </a:xfrm>
            <a:custGeom>
              <a:avLst/>
              <a:gdLst>
                <a:gd name="T0" fmla="*/ 2147483647 w 187"/>
                <a:gd name="T1" fmla="*/ 2147483647 h 80"/>
                <a:gd name="T2" fmla="*/ 2147483647 w 187"/>
                <a:gd name="T3" fmla="*/ 2147483647 h 80"/>
                <a:gd name="T4" fmla="*/ 2147483647 w 187"/>
                <a:gd name="T5" fmla="*/ 2147483647 h 80"/>
                <a:gd name="T6" fmla="*/ 2147483647 w 187"/>
                <a:gd name="T7" fmla="*/ 2147483647 h 80"/>
                <a:gd name="T8" fmla="*/ 2147483647 w 187"/>
                <a:gd name="T9" fmla="*/ 2147483647 h 80"/>
                <a:gd name="T10" fmla="*/ 2147483647 w 187"/>
                <a:gd name="T11" fmla="*/ 0 h 80"/>
                <a:gd name="T12" fmla="*/ 2147483647 w 187"/>
                <a:gd name="T13" fmla="*/ 2147483647 h 80"/>
                <a:gd name="T14" fmla="*/ 0 w 187"/>
                <a:gd name="T15" fmla="*/ 2147483647 h 80"/>
                <a:gd name="T16" fmla="*/ 2147483647 w 187"/>
                <a:gd name="T17" fmla="*/ 2147483647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80"/>
                <a:gd name="T29" fmla="*/ 187 w 187"/>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80">
                  <a:moveTo>
                    <a:pt x="8" y="80"/>
                  </a:moveTo>
                  <a:lnTo>
                    <a:pt x="93" y="9"/>
                  </a:lnTo>
                  <a:lnTo>
                    <a:pt x="180" y="80"/>
                  </a:lnTo>
                  <a:lnTo>
                    <a:pt x="187" y="76"/>
                  </a:lnTo>
                  <a:lnTo>
                    <a:pt x="97" y="5"/>
                  </a:lnTo>
                  <a:lnTo>
                    <a:pt x="93" y="0"/>
                  </a:lnTo>
                  <a:lnTo>
                    <a:pt x="88" y="5"/>
                  </a:lnTo>
                  <a:lnTo>
                    <a:pt x="0" y="73"/>
                  </a:lnTo>
                  <a:lnTo>
                    <a:pt x="8" y="8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8" name="Table 7"/>
          <p:cNvGraphicFramePr/>
          <p:nvPr/>
        </p:nvGraphicFramePr>
        <p:xfrm>
          <a:off x="304800" y="3129915"/>
          <a:ext cx="13703300" cy="6527165"/>
        </p:xfrm>
        <a:graphic>
          <a:graphicData uri="http://schemas.openxmlformats.org/drawingml/2006/table">
            <a:tbl>
              <a:tblPr firstRow="1" bandRow="1">
                <a:tableStyleId>{5C22544A-7EE6-4342-B048-85BDC9FD1C3A}</a:tableStyleId>
              </a:tblPr>
              <a:tblGrid>
                <a:gridCol w="13703300"/>
              </a:tblGrid>
              <a:tr h="6527165">
                <a:tc>
                  <a:txBody>
                    <a:bodyPr/>
                    <a:p>
                      <a:pPr>
                        <a:buNone/>
                      </a:pPr>
                      <a:r>
                        <a:rPr lang="en-US" sz="2800">
                          <a:latin typeface="Consolas" panose="020B0609020204030204" charset="0"/>
                          <a:cs typeface="Consolas" panose="020B0609020204030204" charset="0"/>
                        </a:rPr>
                        <a:t>// Tạo bảng mã Huffman</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void buildHuffmanCodes(Node* root, string code, map&lt;char, string&gt;&amp; huffmanCodes)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if (root == nullptr) return;</a:t>
                      </a:r>
                      <a:endParaRPr lang="en-US" sz="2800">
                        <a:latin typeface="Consolas" panose="020B0609020204030204" charset="0"/>
                        <a:cs typeface="Consolas" panose="020B0609020204030204" charset="0"/>
                      </a:endParaRPr>
                    </a:p>
                    <a:p>
                      <a:pPr>
                        <a:buNone/>
                      </a:pP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if (root-&gt;data != '$')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huffmanCodes[root-&gt;data] = code;</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p>
                      <a:pPr>
                        <a:buNone/>
                      </a:pP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buildHuffmanCodes(root-&gt;left, code + "0", huffmanCodes);</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buildHuffmanCodes(root-&gt;right, code + "1", huffmanCodes);</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30</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5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342900" marR="0" lvl="0" indent="-342900" defTabSz="914400" rtl="0" eaLnBrk="0" fontAlgn="base" latinLnBrk="0" hangingPunct="0">
              <a:lnSpc>
                <a:spcPct val="150000"/>
              </a:lnSpc>
              <a:spcBef>
                <a:spcPct val="0"/>
              </a:spcBef>
              <a:spcAft>
                <a:spcPct val="0"/>
              </a:spcAft>
              <a:buClrTx/>
              <a:buSzTx/>
              <a:buFont typeface="Wingdings" panose="05000000000000000000" charset="0"/>
              <a:buChar char="Ø"/>
            </a:pPr>
            <a:r>
              <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Bước 5. Mã hóa dữ liệu và xuất kết quả:</a:t>
            </a:r>
            <a:endPar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marL="342900" marR="0" lvl="0" indent="-342900" defTabSz="914400" rtl="0" eaLnBrk="0" fontAlgn="base" latinLnBrk="0" hangingPunct="0">
              <a:lnSpc>
                <a:spcPct val="150000"/>
              </a:lnSpc>
              <a:spcBef>
                <a:spcPct val="0"/>
              </a:spcBef>
              <a:spcAft>
                <a:spcPct val="0"/>
              </a:spcAft>
              <a:buClrTx/>
              <a:buSzTx/>
              <a:buFont typeface="Wingdings" panose="05000000000000000000" charset="0"/>
              <a:buChar char="Ø"/>
            </a:pPr>
            <a:r>
              <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 Sử dụng bảng mã huffman để mã hóa dữ liệu và xuất kết quả ra màn hình.</a:t>
            </a:r>
            <a:endPar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597" name="组合 1238"/>
          <p:cNvGrpSpPr/>
          <p:nvPr/>
        </p:nvGrpSpPr>
        <p:grpSpPr bwMode="auto">
          <a:xfrm>
            <a:off x="544830" y="802640"/>
            <a:ext cx="560070" cy="622300"/>
            <a:chOff x="0" y="0"/>
            <a:chExt cx="645860" cy="714588"/>
          </a:xfrm>
          <a:solidFill>
            <a:schemeClr val="bg1"/>
          </a:solidFill>
        </p:grpSpPr>
        <p:sp>
          <p:nvSpPr>
            <p:cNvPr id="598" name="Freeform 192"/>
            <p:cNvSpPr>
              <a:spLocks noChangeArrowheads="1"/>
            </p:cNvSpPr>
            <p:nvPr/>
          </p:nvSpPr>
          <p:spPr bwMode="auto">
            <a:xfrm>
              <a:off x="0" y="0"/>
              <a:ext cx="645860" cy="64596"/>
            </a:xfrm>
            <a:custGeom>
              <a:avLst/>
              <a:gdLst>
                <a:gd name="T0" fmla="*/ 2147483647 w 290"/>
                <a:gd name="T1" fmla="*/ 2147483647 h 29"/>
                <a:gd name="T2" fmla="*/ 2147483647 w 290"/>
                <a:gd name="T3" fmla="*/ 2147483647 h 29"/>
                <a:gd name="T4" fmla="*/ 2147483647 w 290"/>
                <a:gd name="T5" fmla="*/ 2147483647 h 29"/>
                <a:gd name="T6" fmla="*/ 0 w 290"/>
                <a:gd name="T7" fmla="*/ 2147483647 h 29"/>
                <a:gd name="T8" fmla="*/ 0 w 290"/>
                <a:gd name="T9" fmla="*/ 2147483647 h 29"/>
                <a:gd name="T10" fmla="*/ 2147483647 w 290"/>
                <a:gd name="T11" fmla="*/ 0 h 29"/>
                <a:gd name="T12" fmla="*/ 2147483647 w 290"/>
                <a:gd name="T13" fmla="*/ 0 h 29"/>
                <a:gd name="T14" fmla="*/ 2147483647 w 290"/>
                <a:gd name="T15" fmla="*/ 2147483647 h 29"/>
                <a:gd name="T16" fmla="*/ 2147483647 w 290"/>
                <a:gd name="T17" fmla="*/ 2147483647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0"/>
                <a:gd name="T28" fmla="*/ 0 h 29"/>
                <a:gd name="T29" fmla="*/ 290 w 290"/>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0" h="29">
                  <a:moveTo>
                    <a:pt x="290" y="23"/>
                  </a:moveTo>
                  <a:cubicBezTo>
                    <a:pt x="290" y="27"/>
                    <a:pt x="288" y="29"/>
                    <a:pt x="285" y="29"/>
                  </a:cubicBezTo>
                  <a:cubicBezTo>
                    <a:pt x="5" y="29"/>
                    <a:pt x="5" y="29"/>
                    <a:pt x="5" y="29"/>
                  </a:cubicBezTo>
                  <a:cubicBezTo>
                    <a:pt x="2" y="29"/>
                    <a:pt x="0" y="27"/>
                    <a:pt x="0" y="23"/>
                  </a:cubicBezTo>
                  <a:cubicBezTo>
                    <a:pt x="0" y="5"/>
                    <a:pt x="0" y="5"/>
                    <a:pt x="0" y="5"/>
                  </a:cubicBezTo>
                  <a:cubicBezTo>
                    <a:pt x="0" y="2"/>
                    <a:pt x="2" y="0"/>
                    <a:pt x="5" y="0"/>
                  </a:cubicBezTo>
                  <a:cubicBezTo>
                    <a:pt x="285" y="0"/>
                    <a:pt x="285" y="0"/>
                    <a:pt x="285" y="0"/>
                  </a:cubicBezTo>
                  <a:cubicBezTo>
                    <a:pt x="288" y="0"/>
                    <a:pt x="290" y="2"/>
                    <a:pt x="290" y="5"/>
                  </a:cubicBezTo>
                  <a:lnTo>
                    <a:pt x="290" y="2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99" name="Freeform 193"/>
            <p:cNvSpPr>
              <a:spLocks noChangeArrowheads="1"/>
            </p:cNvSpPr>
            <p:nvPr/>
          </p:nvSpPr>
          <p:spPr bwMode="auto">
            <a:xfrm>
              <a:off x="0" y="518783"/>
              <a:ext cx="645860" cy="66613"/>
            </a:xfrm>
            <a:custGeom>
              <a:avLst/>
              <a:gdLst>
                <a:gd name="T0" fmla="*/ 2147483647 w 290"/>
                <a:gd name="T1" fmla="*/ 2147483647 h 30"/>
                <a:gd name="T2" fmla="*/ 2147483647 w 290"/>
                <a:gd name="T3" fmla="*/ 2147483647 h 30"/>
                <a:gd name="T4" fmla="*/ 2147483647 w 290"/>
                <a:gd name="T5" fmla="*/ 2147483647 h 30"/>
                <a:gd name="T6" fmla="*/ 0 w 290"/>
                <a:gd name="T7" fmla="*/ 2147483647 h 30"/>
                <a:gd name="T8" fmla="*/ 0 w 290"/>
                <a:gd name="T9" fmla="*/ 2147483647 h 30"/>
                <a:gd name="T10" fmla="*/ 2147483647 w 290"/>
                <a:gd name="T11" fmla="*/ 0 h 30"/>
                <a:gd name="T12" fmla="*/ 2147483647 w 290"/>
                <a:gd name="T13" fmla="*/ 0 h 30"/>
                <a:gd name="T14" fmla="*/ 2147483647 w 290"/>
                <a:gd name="T15" fmla="*/ 2147483647 h 30"/>
                <a:gd name="T16" fmla="*/ 2147483647 w 290"/>
                <a:gd name="T17" fmla="*/ 214748364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0"/>
                <a:gd name="T28" fmla="*/ 0 h 30"/>
                <a:gd name="T29" fmla="*/ 290 w 29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0" h="30">
                  <a:moveTo>
                    <a:pt x="290" y="24"/>
                  </a:moveTo>
                  <a:cubicBezTo>
                    <a:pt x="290" y="27"/>
                    <a:pt x="288" y="30"/>
                    <a:pt x="285" y="30"/>
                  </a:cubicBezTo>
                  <a:cubicBezTo>
                    <a:pt x="5" y="30"/>
                    <a:pt x="5" y="30"/>
                    <a:pt x="5" y="30"/>
                  </a:cubicBezTo>
                  <a:cubicBezTo>
                    <a:pt x="2" y="30"/>
                    <a:pt x="0" y="27"/>
                    <a:pt x="0" y="24"/>
                  </a:cubicBezTo>
                  <a:cubicBezTo>
                    <a:pt x="0" y="6"/>
                    <a:pt x="0" y="6"/>
                    <a:pt x="0" y="6"/>
                  </a:cubicBezTo>
                  <a:cubicBezTo>
                    <a:pt x="0" y="3"/>
                    <a:pt x="2" y="0"/>
                    <a:pt x="5" y="0"/>
                  </a:cubicBezTo>
                  <a:cubicBezTo>
                    <a:pt x="285" y="0"/>
                    <a:pt x="285" y="0"/>
                    <a:pt x="285" y="0"/>
                  </a:cubicBezTo>
                  <a:cubicBezTo>
                    <a:pt x="288" y="0"/>
                    <a:pt x="290" y="3"/>
                    <a:pt x="290" y="6"/>
                  </a:cubicBezTo>
                  <a:lnTo>
                    <a:pt x="290" y="24"/>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00" name="Rectangle 194"/>
            <p:cNvSpPr>
              <a:spLocks noChangeArrowheads="1"/>
            </p:cNvSpPr>
            <p:nvPr/>
          </p:nvSpPr>
          <p:spPr bwMode="auto">
            <a:xfrm>
              <a:off x="30180" y="64596"/>
              <a:ext cx="585500" cy="454188"/>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01" name="Freeform 195"/>
            <p:cNvSpPr>
              <a:spLocks noChangeArrowheads="1"/>
            </p:cNvSpPr>
            <p:nvPr/>
          </p:nvSpPr>
          <p:spPr bwMode="auto">
            <a:xfrm>
              <a:off x="305828" y="585397"/>
              <a:ext cx="34204" cy="129191"/>
            </a:xfrm>
            <a:custGeom>
              <a:avLst/>
              <a:gdLst>
                <a:gd name="T0" fmla="*/ 0 w 16"/>
                <a:gd name="T1" fmla="*/ 2147483647 h 58"/>
                <a:gd name="T2" fmla="*/ 2147483647 w 16"/>
                <a:gd name="T3" fmla="*/ 2147483647 h 58"/>
                <a:gd name="T4" fmla="*/ 2147483647 w 16"/>
                <a:gd name="T5" fmla="*/ 2147483647 h 58"/>
                <a:gd name="T6" fmla="*/ 2147483647 w 16"/>
                <a:gd name="T7" fmla="*/ 2147483647 h 58"/>
                <a:gd name="T8" fmla="*/ 2147483647 w 16"/>
                <a:gd name="T9" fmla="*/ 0 h 58"/>
                <a:gd name="T10" fmla="*/ 0 w 16"/>
                <a:gd name="T11" fmla="*/ 0 h 58"/>
                <a:gd name="T12" fmla="*/ 0 w 16"/>
                <a:gd name="T13" fmla="*/ 2147483647 h 58"/>
                <a:gd name="T14" fmla="*/ 0 60000 65536"/>
                <a:gd name="T15" fmla="*/ 0 60000 65536"/>
                <a:gd name="T16" fmla="*/ 0 60000 65536"/>
                <a:gd name="T17" fmla="*/ 0 60000 65536"/>
                <a:gd name="T18" fmla="*/ 0 60000 65536"/>
                <a:gd name="T19" fmla="*/ 0 60000 65536"/>
                <a:gd name="T20" fmla="*/ 0 60000 65536"/>
                <a:gd name="T21" fmla="*/ 0 w 16"/>
                <a:gd name="T22" fmla="*/ 0 h 58"/>
                <a:gd name="T23" fmla="*/ 16 w 16"/>
                <a:gd name="T24" fmla="*/ 58 h 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58">
                  <a:moveTo>
                    <a:pt x="0" y="53"/>
                  </a:moveTo>
                  <a:cubicBezTo>
                    <a:pt x="0" y="56"/>
                    <a:pt x="2" y="58"/>
                    <a:pt x="5" y="58"/>
                  </a:cubicBezTo>
                  <a:cubicBezTo>
                    <a:pt x="11" y="58"/>
                    <a:pt x="11" y="58"/>
                    <a:pt x="11" y="58"/>
                  </a:cubicBezTo>
                  <a:cubicBezTo>
                    <a:pt x="14" y="58"/>
                    <a:pt x="16" y="56"/>
                    <a:pt x="16" y="53"/>
                  </a:cubicBezTo>
                  <a:cubicBezTo>
                    <a:pt x="16" y="0"/>
                    <a:pt x="16" y="0"/>
                    <a:pt x="16" y="0"/>
                  </a:cubicBezTo>
                  <a:cubicBezTo>
                    <a:pt x="0" y="0"/>
                    <a:pt x="0" y="0"/>
                    <a:pt x="0" y="0"/>
                  </a:cubicBezTo>
                  <a:lnTo>
                    <a:pt x="0" y="5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02" name="Freeform 196"/>
            <p:cNvSpPr>
              <a:spLocks noChangeArrowheads="1"/>
            </p:cNvSpPr>
            <p:nvPr/>
          </p:nvSpPr>
          <p:spPr bwMode="auto">
            <a:xfrm>
              <a:off x="384297" y="585397"/>
              <a:ext cx="92553" cy="129191"/>
            </a:xfrm>
            <a:custGeom>
              <a:avLst/>
              <a:gdLst>
                <a:gd name="T0" fmla="*/ 2147483647 w 41"/>
                <a:gd name="T1" fmla="*/ 0 h 58"/>
                <a:gd name="T2" fmla="*/ 0 w 41"/>
                <a:gd name="T3" fmla="*/ 0 h 58"/>
                <a:gd name="T4" fmla="*/ 2147483647 w 41"/>
                <a:gd name="T5" fmla="*/ 2147483647 h 58"/>
                <a:gd name="T6" fmla="*/ 2147483647 w 41"/>
                <a:gd name="T7" fmla="*/ 2147483647 h 58"/>
                <a:gd name="T8" fmla="*/ 2147483647 w 41"/>
                <a:gd name="T9" fmla="*/ 2147483647 h 58"/>
                <a:gd name="T10" fmla="*/ 2147483647 w 41"/>
                <a:gd name="T11" fmla="*/ 2147483647 h 58"/>
                <a:gd name="T12" fmla="*/ 2147483647 w 41"/>
                <a:gd name="T13" fmla="*/ 0 h 58"/>
                <a:gd name="T14" fmla="*/ 0 60000 65536"/>
                <a:gd name="T15" fmla="*/ 0 60000 65536"/>
                <a:gd name="T16" fmla="*/ 0 60000 65536"/>
                <a:gd name="T17" fmla="*/ 0 60000 65536"/>
                <a:gd name="T18" fmla="*/ 0 60000 65536"/>
                <a:gd name="T19" fmla="*/ 0 60000 65536"/>
                <a:gd name="T20" fmla="*/ 0 60000 65536"/>
                <a:gd name="T21" fmla="*/ 0 w 41"/>
                <a:gd name="T22" fmla="*/ 0 h 58"/>
                <a:gd name="T23" fmla="*/ 41 w 41"/>
                <a:gd name="T24" fmla="*/ 58 h 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58">
                  <a:moveTo>
                    <a:pt x="18" y="0"/>
                  </a:moveTo>
                  <a:cubicBezTo>
                    <a:pt x="0" y="0"/>
                    <a:pt x="0" y="0"/>
                    <a:pt x="0" y="0"/>
                  </a:cubicBezTo>
                  <a:cubicBezTo>
                    <a:pt x="22" y="53"/>
                    <a:pt x="22" y="53"/>
                    <a:pt x="22" y="53"/>
                  </a:cubicBezTo>
                  <a:cubicBezTo>
                    <a:pt x="23" y="56"/>
                    <a:pt x="27" y="58"/>
                    <a:pt x="30" y="58"/>
                  </a:cubicBezTo>
                  <a:cubicBezTo>
                    <a:pt x="37" y="58"/>
                    <a:pt x="37" y="58"/>
                    <a:pt x="37" y="58"/>
                  </a:cubicBezTo>
                  <a:cubicBezTo>
                    <a:pt x="40" y="58"/>
                    <a:pt x="41" y="56"/>
                    <a:pt x="40" y="53"/>
                  </a:cubicBezTo>
                  <a:lnTo>
                    <a:pt x="1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03" name="Freeform 197"/>
            <p:cNvSpPr>
              <a:spLocks noChangeArrowheads="1"/>
            </p:cNvSpPr>
            <p:nvPr/>
          </p:nvSpPr>
          <p:spPr bwMode="auto">
            <a:xfrm>
              <a:off x="169010" y="585397"/>
              <a:ext cx="92553" cy="129191"/>
            </a:xfrm>
            <a:custGeom>
              <a:avLst/>
              <a:gdLst>
                <a:gd name="T0" fmla="*/ 2147483647 w 41"/>
                <a:gd name="T1" fmla="*/ 0 h 58"/>
                <a:gd name="T2" fmla="*/ 2147483647 w 41"/>
                <a:gd name="T3" fmla="*/ 2147483647 h 58"/>
                <a:gd name="T4" fmla="*/ 2147483647 w 41"/>
                <a:gd name="T5" fmla="*/ 2147483647 h 58"/>
                <a:gd name="T6" fmla="*/ 2147483647 w 41"/>
                <a:gd name="T7" fmla="*/ 2147483647 h 58"/>
                <a:gd name="T8" fmla="*/ 2147483647 w 41"/>
                <a:gd name="T9" fmla="*/ 2147483647 h 58"/>
                <a:gd name="T10" fmla="*/ 2147483647 w 41"/>
                <a:gd name="T11" fmla="*/ 0 h 58"/>
                <a:gd name="T12" fmla="*/ 2147483647 w 41"/>
                <a:gd name="T13" fmla="*/ 0 h 58"/>
                <a:gd name="T14" fmla="*/ 0 60000 65536"/>
                <a:gd name="T15" fmla="*/ 0 60000 65536"/>
                <a:gd name="T16" fmla="*/ 0 60000 65536"/>
                <a:gd name="T17" fmla="*/ 0 60000 65536"/>
                <a:gd name="T18" fmla="*/ 0 60000 65536"/>
                <a:gd name="T19" fmla="*/ 0 60000 65536"/>
                <a:gd name="T20" fmla="*/ 0 60000 65536"/>
                <a:gd name="T21" fmla="*/ 0 w 41"/>
                <a:gd name="T22" fmla="*/ 0 h 58"/>
                <a:gd name="T23" fmla="*/ 41 w 41"/>
                <a:gd name="T24" fmla="*/ 58 h 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58">
                  <a:moveTo>
                    <a:pt x="23" y="0"/>
                  </a:moveTo>
                  <a:cubicBezTo>
                    <a:pt x="1" y="53"/>
                    <a:pt x="1" y="53"/>
                    <a:pt x="1" y="53"/>
                  </a:cubicBezTo>
                  <a:cubicBezTo>
                    <a:pt x="0" y="56"/>
                    <a:pt x="1" y="58"/>
                    <a:pt x="4" y="58"/>
                  </a:cubicBezTo>
                  <a:cubicBezTo>
                    <a:pt x="11" y="58"/>
                    <a:pt x="11" y="58"/>
                    <a:pt x="11" y="58"/>
                  </a:cubicBezTo>
                  <a:cubicBezTo>
                    <a:pt x="14" y="58"/>
                    <a:pt x="18" y="56"/>
                    <a:pt x="19" y="53"/>
                  </a:cubicBezTo>
                  <a:cubicBezTo>
                    <a:pt x="41" y="0"/>
                    <a:pt x="41" y="0"/>
                    <a:pt x="41" y="0"/>
                  </a:cubicBezTo>
                  <a:lnTo>
                    <a:pt x="23"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04" name="Rectangle 198"/>
            <p:cNvSpPr>
              <a:spLocks noChangeArrowheads="1"/>
            </p:cNvSpPr>
            <p:nvPr/>
          </p:nvSpPr>
          <p:spPr bwMode="auto">
            <a:xfrm>
              <a:off x="138829" y="139285"/>
              <a:ext cx="368202" cy="403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05" name="Rectangle 199"/>
            <p:cNvSpPr>
              <a:spLocks noChangeArrowheads="1"/>
            </p:cNvSpPr>
            <p:nvPr/>
          </p:nvSpPr>
          <p:spPr bwMode="auto">
            <a:xfrm>
              <a:off x="138829" y="215992"/>
              <a:ext cx="368202" cy="2018"/>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06" name="Rectangle 200"/>
            <p:cNvSpPr>
              <a:spLocks noChangeArrowheads="1"/>
            </p:cNvSpPr>
            <p:nvPr/>
          </p:nvSpPr>
          <p:spPr bwMode="auto">
            <a:xfrm>
              <a:off x="138829" y="294717"/>
              <a:ext cx="368202" cy="2019"/>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07" name="Rectangle 201"/>
            <p:cNvSpPr>
              <a:spLocks noChangeArrowheads="1"/>
            </p:cNvSpPr>
            <p:nvPr/>
          </p:nvSpPr>
          <p:spPr bwMode="auto">
            <a:xfrm>
              <a:off x="138829" y="369406"/>
              <a:ext cx="368202" cy="2018"/>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08" name="Rectangle 202"/>
            <p:cNvSpPr>
              <a:spLocks noChangeArrowheads="1"/>
            </p:cNvSpPr>
            <p:nvPr/>
          </p:nvSpPr>
          <p:spPr bwMode="auto">
            <a:xfrm>
              <a:off x="138829" y="448131"/>
              <a:ext cx="368202" cy="2019"/>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09" name="Rectangle 203"/>
            <p:cNvSpPr>
              <a:spLocks noChangeArrowheads="1"/>
            </p:cNvSpPr>
            <p:nvPr/>
          </p:nvSpPr>
          <p:spPr bwMode="auto">
            <a:xfrm>
              <a:off x="253515" y="195806"/>
              <a:ext cx="56337" cy="25434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0" name="Rectangle 204"/>
            <p:cNvSpPr>
              <a:spLocks noChangeArrowheads="1"/>
            </p:cNvSpPr>
            <p:nvPr/>
          </p:nvSpPr>
          <p:spPr bwMode="auto">
            <a:xfrm>
              <a:off x="336008" y="248290"/>
              <a:ext cx="56337" cy="201861"/>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1" name="Rectangle 206"/>
            <p:cNvSpPr>
              <a:spLocks noChangeArrowheads="1"/>
            </p:cNvSpPr>
            <p:nvPr/>
          </p:nvSpPr>
          <p:spPr bwMode="auto">
            <a:xfrm>
              <a:off x="416489" y="201861"/>
              <a:ext cx="54325" cy="248290"/>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2" name="Rectangle 207"/>
            <p:cNvSpPr>
              <a:spLocks noChangeArrowheads="1"/>
            </p:cNvSpPr>
            <p:nvPr/>
          </p:nvSpPr>
          <p:spPr bwMode="auto">
            <a:xfrm>
              <a:off x="173034" y="347201"/>
              <a:ext cx="56337" cy="102950"/>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3" name="Rectangle 208"/>
            <p:cNvSpPr>
              <a:spLocks noChangeArrowheads="1"/>
            </p:cNvSpPr>
            <p:nvPr/>
          </p:nvSpPr>
          <p:spPr bwMode="auto">
            <a:xfrm>
              <a:off x="30180" y="510709"/>
              <a:ext cx="585500" cy="807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4" name="Rectangle 209"/>
            <p:cNvSpPr>
              <a:spLocks noChangeArrowheads="1"/>
            </p:cNvSpPr>
            <p:nvPr/>
          </p:nvSpPr>
          <p:spPr bwMode="auto">
            <a:xfrm>
              <a:off x="30180" y="64596"/>
              <a:ext cx="585500" cy="807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5" name="Freeform 210"/>
            <p:cNvSpPr>
              <a:spLocks noChangeArrowheads="1"/>
            </p:cNvSpPr>
            <p:nvPr/>
          </p:nvSpPr>
          <p:spPr bwMode="auto">
            <a:xfrm>
              <a:off x="215286" y="585397"/>
              <a:ext cx="46277" cy="8074"/>
            </a:xfrm>
            <a:custGeom>
              <a:avLst/>
              <a:gdLst>
                <a:gd name="T0" fmla="*/ 0 w 48"/>
                <a:gd name="T1" fmla="*/ 2147483647 h 9"/>
                <a:gd name="T2" fmla="*/ 2147483647 w 48"/>
                <a:gd name="T3" fmla="*/ 2147483647 h 9"/>
                <a:gd name="T4" fmla="*/ 2147483647 w 48"/>
                <a:gd name="T5" fmla="*/ 0 h 9"/>
                <a:gd name="T6" fmla="*/ 2147483647 w 48"/>
                <a:gd name="T7" fmla="*/ 0 h 9"/>
                <a:gd name="T8" fmla="*/ 0 w 48"/>
                <a:gd name="T9" fmla="*/ 2147483647 h 9"/>
                <a:gd name="T10" fmla="*/ 0 60000 65536"/>
                <a:gd name="T11" fmla="*/ 0 60000 65536"/>
                <a:gd name="T12" fmla="*/ 0 60000 65536"/>
                <a:gd name="T13" fmla="*/ 0 60000 65536"/>
                <a:gd name="T14" fmla="*/ 0 60000 65536"/>
                <a:gd name="T15" fmla="*/ 0 w 48"/>
                <a:gd name="T16" fmla="*/ 0 h 9"/>
                <a:gd name="T17" fmla="*/ 48 w 48"/>
                <a:gd name="T18" fmla="*/ 9 h 9"/>
              </a:gdLst>
              <a:ahLst/>
              <a:cxnLst>
                <a:cxn ang="T10">
                  <a:pos x="T0" y="T1"/>
                </a:cxn>
                <a:cxn ang="T11">
                  <a:pos x="T2" y="T3"/>
                </a:cxn>
                <a:cxn ang="T12">
                  <a:pos x="T4" y="T5"/>
                </a:cxn>
                <a:cxn ang="T13">
                  <a:pos x="T6" y="T7"/>
                </a:cxn>
                <a:cxn ang="T14">
                  <a:pos x="T8" y="T9"/>
                </a:cxn>
              </a:cxnLst>
              <a:rect l="T15" t="T16" r="T17" b="T18"/>
              <a:pathLst>
                <a:path w="48" h="9">
                  <a:moveTo>
                    <a:pt x="0" y="9"/>
                  </a:moveTo>
                  <a:lnTo>
                    <a:pt x="43" y="9"/>
                  </a:lnTo>
                  <a:lnTo>
                    <a:pt x="48" y="0"/>
                  </a:lnTo>
                  <a:lnTo>
                    <a:pt x="5" y="0"/>
                  </a:lnTo>
                  <a:lnTo>
                    <a:pt x="0" y="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16" name="Rectangle 211"/>
            <p:cNvSpPr>
              <a:spLocks noChangeArrowheads="1"/>
            </p:cNvSpPr>
            <p:nvPr/>
          </p:nvSpPr>
          <p:spPr bwMode="auto">
            <a:xfrm>
              <a:off x="305828" y="585397"/>
              <a:ext cx="34204" cy="807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617" name="Freeform 212"/>
            <p:cNvSpPr>
              <a:spLocks noChangeArrowheads="1"/>
            </p:cNvSpPr>
            <p:nvPr/>
          </p:nvSpPr>
          <p:spPr bwMode="auto">
            <a:xfrm>
              <a:off x="384297" y="585397"/>
              <a:ext cx="44265" cy="8074"/>
            </a:xfrm>
            <a:custGeom>
              <a:avLst/>
              <a:gdLst>
                <a:gd name="T0" fmla="*/ 2147483647 w 47"/>
                <a:gd name="T1" fmla="*/ 0 h 9"/>
                <a:gd name="T2" fmla="*/ 0 w 47"/>
                <a:gd name="T3" fmla="*/ 0 h 9"/>
                <a:gd name="T4" fmla="*/ 2147483647 w 47"/>
                <a:gd name="T5" fmla="*/ 2147483647 h 9"/>
                <a:gd name="T6" fmla="*/ 2147483647 w 47"/>
                <a:gd name="T7" fmla="*/ 2147483647 h 9"/>
                <a:gd name="T8" fmla="*/ 2147483647 w 47"/>
                <a:gd name="T9" fmla="*/ 0 h 9"/>
                <a:gd name="T10" fmla="*/ 0 60000 65536"/>
                <a:gd name="T11" fmla="*/ 0 60000 65536"/>
                <a:gd name="T12" fmla="*/ 0 60000 65536"/>
                <a:gd name="T13" fmla="*/ 0 60000 65536"/>
                <a:gd name="T14" fmla="*/ 0 60000 65536"/>
                <a:gd name="T15" fmla="*/ 0 w 47"/>
                <a:gd name="T16" fmla="*/ 0 h 9"/>
                <a:gd name="T17" fmla="*/ 47 w 47"/>
                <a:gd name="T18" fmla="*/ 9 h 9"/>
              </a:gdLst>
              <a:ahLst/>
              <a:cxnLst>
                <a:cxn ang="T10">
                  <a:pos x="T0" y="T1"/>
                </a:cxn>
                <a:cxn ang="T11">
                  <a:pos x="T2" y="T3"/>
                </a:cxn>
                <a:cxn ang="T12">
                  <a:pos x="T4" y="T5"/>
                </a:cxn>
                <a:cxn ang="T13">
                  <a:pos x="T6" y="T7"/>
                </a:cxn>
                <a:cxn ang="T14">
                  <a:pos x="T8" y="T9"/>
                </a:cxn>
              </a:cxnLst>
              <a:rect l="T15" t="T16" r="T17" b="T18"/>
              <a:pathLst>
                <a:path w="47" h="9">
                  <a:moveTo>
                    <a:pt x="43" y="0"/>
                  </a:moveTo>
                  <a:lnTo>
                    <a:pt x="0" y="0"/>
                  </a:lnTo>
                  <a:lnTo>
                    <a:pt x="5" y="9"/>
                  </a:lnTo>
                  <a:lnTo>
                    <a:pt x="47" y="9"/>
                  </a:lnTo>
                  <a:lnTo>
                    <a:pt x="43"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18" name="Freeform 213"/>
            <p:cNvSpPr>
              <a:spLocks noChangeArrowheads="1"/>
            </p:cNvSpPr>
            <p:nvPr/>
          </p:nvSpPr>
          <p:spPr bwMode="auto">
            <a:xfrm>
              <a:off x="0" y="518783"/>
              <a:ext cx="645860" cy="34316"/>
            </a:xfrm>
            <a:custGeom>
              <a:avLst/>
              <a:gdLst>
                <a:gd name="T0" fmla="*/ 0 w 290"/>
                <a:gd name="T1" fmla="*/ 2147483647 h 15"/>
                <a:gd name="T2" fmla="*/ 0 w 290"/>
                <a:gd name="T3" fmla="*/ 2147483647 h 15"/>
                <a:gd name="T4" fmla="*/ 2147483647 w 290"/>
                <a:gd name="T5" fmla="*/ 2147483647 h 15"/>
                <a:gd name="T6" fmla="*/ 2147483647 w 290"/>
                <a:gd name="T7" fmla="*/ 2147483647 h 15"/>
                <a:gd name="T8" fmla="*/ 2147483647 w 290"/>
                <a:gd name="T9" fmla="*/ 0 h 15"/>
                <a:gd name="T10" fmla="*/ 2147483647 w 290"/>
                <a:gd name="T11" fmla="*/ 0 h 15"/>
                <a:gd name="T12" fmla="*/ 0 w 290"/>
                <a:gd name="T13" fmla="*/ 2147483647 h 15"/>
                <a:gd name="T14" fmla="*/ 0 60000 65536"/>
                <a:gd name="T15" fmla="*/ 0 60000 65536"/>
                <a:gd name="T16" fmla="*/ 0 60000 65536"/>
                <a:gd name="T17" fmla="*/ 0 60000 65536"/>
                <a:gd name="T18" fmla="*/ 0 60000 65536"/>
                <a:gd name="T19" fmla="*/ 0 60000 65536"/>
                <a:gd name="T20" fmla="*/ 0 60000 65536"/>
                <a:gd name="T21" fmla="*/ 0 w 290"/>
                <a:gd name="T22" fmla="*/ 0 h 15"/>
                <a:gd name="T23" fmla="*/ 290 w 290"/>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0" h="15">
                  <a:moveTo>
                    <a:pt x="0" y="6"/>
                  </a:moveTo>
                  <a:cubicBezTo>
                    <a:pt x="0" y="15"/>
                    <a:pt x="0" y="15"/>
                    <a:pt x="0" y="15"/>
                  </a:cubicBezTo>
                  <a:cubicBezTo>
                    <a:pt x="290" y="15"/>
                    <a:pt x="290" y="15"/>
                    <a:pt x="290" y="15"/>
                  </a:cubicBezTo>
                  <a:cubicBezTo>
                    <a:pt x="290" y="6"/>
                    <a:pt x="290" y="6"/>
                    <a:pt x="290" y="6"/>
                  </a:cubicBezTo>
                  <a:cubicBezTo>
                    <a:pt x="290" y="3"/>
                    <a:pt x="288" y="0"/>
                    <a:pt x="285" y="0"/>
                  </a:cubicBezTo>
                  <a:cubicBezTo>
                    <a:pt x="5" y="0"/>
                    <a:pt x="5" y="0"/>
                    <a:pt x="5" y="0"/>
                  </a:cubicBezTo>
                  <a:cubicBezTo>
                    <a:pt x="2" y="0"/>
                    <a:pt x="0" y="3"/>
                    <a:pt x="0" y="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619" name="Freeform 214"/>
            <p:cNvSpPr>
              <a:spLocks noChangeArrowheads="1"/>
            </p:cNvSpPr>
            <p:nvPr/>
          </p:nvSpPr>
          <p:spPr bwMode="auto">
            <a:xfrm>
              <a:off x="0" y="0"/>
              <a:ext cx="645860" cy="34317"/>
            </a:xfrm>
            <a:custGeom>
              <a:avLst/>
              <a:gdLst>
                <a:gd name="T0" fmla="*/ 0 w 290"/>
                <a:gd name="T1" fmla="*/ 2147483647 h 15"/>
                <a:gd name="T2" fmla="*/ 0 w 290"/>
                <a:gd name="T3" fmla="*/ 2147483647 h 15"/>
                <a:gd name="T4" fmla="*/ 2147483647 w 290"/>
                <a:gd name="T5" fmla="*/ 2147483647 h 15"/>
                <a:gd name="T6" fmla="*/ 2147483647 w 290"/>
                <a:gd name="T7" fmla="*/ 2147483647 h 15"/>
                <a:gd name="T8" fmla="*/ 2147483647 w 290"/>
                <a:gd name="T9" fmla="*/ 0 h 15"/>
                <a:gd name="T10" fmla="*/ 2147483647 w 290"/>
                <a:gd name="T11" fmla="*/ 0 h 15"/>
                <a:gd name="T12" fmla="*/ 0 w 290"/>
                <a:gd name="T13" fmla="*/ 2147483647 h 15"/>
                <a:gd name="T14" fmla="*/ 0 60000 65536"/>
                <a:gd name="T15" fmla="*/ 0 60000 65536"/>
                <a:gd name="T16" fmla="*/ 0 60000 65536"/>
                <a:gd name="T17" fmla="*/ 0 60000 65536"/>
                <a:gd name="T18" fmla="*/ 0 60000 65536"/>
                <a:gd name="T19" fmla="*/ 0 60000 65536"/>
                <a:gd name="T20" fmla="*/ 0 60000 65536"/>
                <a:gd name="T21" fmla="*/ 0 w 290"/>
                <a:gd name="T22" fmla="*/ 0 h 15"/>
                <a:gd name="T23" fmla="*/ 290 w 290"/>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0" h="15">
                  <a:moveTo>
                    <a:pt x="0" y="5"/>
                  </a:moveTo>
                  <a:cubicBezTo>
                    <a:pt x="0" y="15"/>
                    <a:pt x="0" y="15"/>
                    <a:pt x="0" y="15"/>
                  </a:cubicBezTo>
                  <a:cubicBezTo>
                    <a:pt x="290" y="15"/>
                    <a:pt x="290" y="15"/>
                    <a:pt x="290" y="15"/>
                  </a:cubicBezTo>
                  <a:cubicBezTo>
                    <a:pt x="290" y="5"/>
                    <a:pt x="290" y="5"/>
                    <a:pt x="290" y="5"/>
                  </a:cubicBezTo>
                  <a:cubicBezTo>
                    <a:pt x="290" y="2"/>
                    <a:pt x="288" y="0"/>
                    <a:pt x="285" y="0"/>
                  </a:cubicBezTo>
                  <a:cubicBezTo>
                    <a:pt x="5" y="0"/>
                    <a:pt x="5" y="0"/>
                    <a:pt x="5" y="0"/>
                  </a:cubicBezTo>
                  <a:cubicBezTo>
                    <a:pt x="2" y="0"/>
                    <a:pt x="0" y="2"/>
                    <a:pt x="0" y="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8" name="Table 7"/>
          <p:cNvGraphicFramePr/>
          <p:nvPr/>
        </p:nvGraphicFramePr>
        <p:xfrm>
          <a:off x="304800" y="3129915"/>
          <a:ext cx="13703300" cy="6527165"/>
        </p:xfrm>
        <a:graphic>
          <a:graphicData uri="http://schemas.openxmlformats.org/drawingml/2006/table">
            <a:tbl>
              <a:tblPr firstRow="1" bandRow="1">
                <a:tableStyleId>{5C22544A-7EE6-4342-B048-85BDC9FD1C3A}</a:tableStyleId>
              </a:tblPr>
              <a:tblGrid>
                <a:gridCol w="13703300"/>
              </a:tblGrid>
              <a:tr h="6527165">
                <a:tc>
                  <a:txBody>
                    <a:bodyPr/>
                    <a:p>
                      <a:pPr>
                        <a:buNone/>
                      </a:pP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 Mã hóa dữ liệu và trả về kết quả</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string encodeData(string data, map&lt;char, string&gt;&amp; huffmanCodes)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string encodedData =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for (char c : data) {</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encodedData += huffmanCodes[c];</a:t>
                      </a: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p>
                      <a:pPr>
                        <a:buNone/>
                      </a:pPr>
                      <a:endParaRPr lang="en-US" sz="2800">
                        <a:latin typeface="Consolas" panose="020B0609020204030204" charset="0"/>
                        <a:cs typeface="Consolas" panose="020B0609020204030204" charset="0"/>
                      </a:endParaRPr>
                    </a:p>
                    <a:p>
                      <a:pPr>
                        <a:buNone/>
                      </a:pPr>
                      <a:r>
                        <a:rPr lang="vi-VN" altLang="en-US" sz="2800">
                          <a:latin typeface="Consolas" panose="020B0609020204030204" charset="0"/>
                          <a:cs typeface="Consolas" panose="020B0609020204030204" charset="0"/>
                        </a:rPr>
                        <a:t> </a:t>
                      </a:r>
                      <a:r>
                        <a:rPr lang="en-US" sz="2800">
                          <a:latin typeface="Consolas" panose="020B0609020204030204" charset="0"/>
                          <a:cs typeface="Consolas" panose="020B0609020204030204" charset="0"/>
                        </a:rPr>
                        <a:t>return encodedData;</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a:t>
                      </a:r>
                      <a:endParaRPr lang="en-US" sz="28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31</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Bước </a:t>
            </a:r>
            <a:r>
              <a:rPr lang="vi-VN" altLang="zh-CN" sz="4000" dirty="0" smtClean="0">
                <a:solidFill>
                  <a:srgbClr val="FFFFFF"/>
                </a:solidFill>
                <a:latin typeface="Microsoft YaHei" panose="020B0503020204020204" pitchFamily="34" charset="-122"/>
                <a:ea typeface="Microsoft YaHei" panose="020B0503020204020204" pitchFamily="34" charset="-122"/>
              </a:rPr>
              <a:t>6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342900" marR="0" lvl="0" indent="-342900" defTabSz="914400" rtl="0" eaLnBrk="0" fontAlgn="base" latinLnBrk="0" hangingPunct="0">
              <a:lnSpc>
                <a:spcPct val="150000"/>
              </a:lnSpc>
              <a:spcBef>
                <a:spcPct val="0"/>
              </a:spcBef>
              <a:spcAft>
                <a:spcPct val="0"/>
              </a:spcAft>
              <a:buClrTx/>
              <a:buSzTx/>
              <a:buFont typeface="Wingdings" panose="05000000000000000000" charset="0"/>
              <a:buChar char="Ø"/>
            </a:pPr>
            <a:r>
              <a:rPr altLang="zh-CN" sz="240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Bước 6. Tính toán kích thước dữ liệu:</a:t>
            </a:r>
            <a:endParaRPr altLang="zh-CN" sz="240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a:p>
            <a:pPr marL="342900" marR="0" lvl="0" indent="-342900" defTabSz="914400" rtl="0" eaLnBrk="0" fontAlgn="base" latinLnBrk="0" hangingPunct="0">
              <a:lnSpc>
                <a:spcPct val="150000"/>
              </a:lnSpc>
              <a:spcBef>
                <a:spcPct val="0"/>
              </a:spcBef>
              <a:spcAft>
                <a:spcPct val="0"/>
              </a:spcAft>
              <a:buClrTx/>
              <a:buSzTx/>
              <a:buFont typeface="Wingdings" panose="05000000000000000000" charset="0"/>
              <a:buChar char="Ø"/>
            </a:pPr>
            <a:r>
              <a:rPr altLang="zh-CN" sz="240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rPr>
              <a:t> Tính kích thước dữ liệu ban đầu và kích thước dữ liệu đã mã hóa để tính tỉ lệ nén.</a:t>
            </a:r>
            <a:endParaRPr altLang="zh-CN" sz="240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1015" name="组合 1631"/>
          <p:cNvGrpSpPr/>
          <p:nvPr/>
        </p:nvGrpSpPr>
        <p:grpSpPr bwMode="auto">
          <a:xfrm>
            <a:off x="1651635" y="699135"/>
            <a:ext cx="473710" cy="592455"/>
            <a:chOff x="0" y="0"/>
            <a:chExt cx="539385" cy="623197"/>
          </a:xfrm>
          <a:solidFill>
            <a:schemeClr val="bg1"/>
          </a:solidFill>
        </p:grpSpPr>
        <p:sp>
          <p:nvSpPr>
            <p:cNvPr id="1016" name="Freeform 713"/>
            <p:cNvSpPr>
              <a:spLocks noChangeArrowheads="1"/>
            </p:cNvSpPr>
            <p:nvPr/>
          </p:nvSpPr>
          <p:spPr bwMode="auto">
            <a:xfrm>
              <a:off x="437543" y="64014"/>
              <a:ext cx="101842" cy="126145"/>
            </a:xfrm>
            <a:custGeom>
              <a:avLst/>
              <a:gdLst>
                <a:gd name="T0" fmla="*/ 2147483647 w 52"/>
                <a:gd name="T1" fmla="*/ 2147483647 h 64"/>
                <a:gd name="T2" fmla="*/ 2147483647 w 52"/>
                <a:gd name="T3" fmla="*/ 2147483647 h 64"/>
                <a:gd name="T4" fmla="*/ 2147483647 w 52"/>
                <a:gd name="T5" fmla="*/ 2147483647 h 64"/>
                <a:gd name="T6" fmla="*/ 0 w 52"/>
                <a:gd name="T7" fmla="*/ 2147483647 h 64"/>
                <a:gd name="T8" fmla="*/ 0 w 52"/>
                <a:gd name="T9" fmla="*/ 2147483647 h 64"/>
                <a:gd name="T10" fmla="*/ 2147483647 w 52"/>
                <a:gd name="T11" fmla="*/ 0 h 64"/>
                <a:gd name="T12" fmla="*/ 2147483647 w 52"/>
                <a:gd name="T13" fmla="*/ 0 h 64"/>
                <a:gd name="T14" fmla="*/ 2147483647 w 52"/>
                <a:gd name="T15" fmla="*/ 2147483647 h 64"/>
                <a:gd name="T16" fmla="*/ 2147483647 w 52"/>
                <a:gd name="T17" fmla="*/ 2147483647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64"/>
                <a:gd name="T29" fmla="*/ 52 w 52"/>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64">
                  <a:moveTo>
                    <a:pt x="52" y="56"/>
                  </a:moveTo>
                  <a:cubicBezTo>
                    <a:pt x="52" y="61"/>
                    <a:pt x="49" y="64"/>
                    <a:pt x="45" y="64"/>
                  </a:cubicBezTo>
                  <a:cubicBezTo>
                    <a:pt x="7" y="64"/>
                    <a:pt x="7" y="64"/>
                    <a:pt x="7" y="64"/>
                  </a:cubicBezTo>
                  <a:cubicBezTo>
                    <a:pt x="3" y="64"/>
                    <a:pt x="0" y="61"/>
                    <a:pt x="0" y="56"/>
                  </a:cubicBezTo>
                  <a:cubicBezTo>
                    <a:pt x="0" y="7"/>
                    <a:pt x="0" y="7"/>
                    <a:pt x="0" y="7"/>
                  </a:cubicBezTo>
                  <a:cubicBezTo>
                    <a:pt x="0" y="3"/>
                    <a:pt x="3" y="0"/>
                    <a:pt x="7" y="0"/>
                  </a:cubicBezTo>
                  <a:cubicBezTo>
                    <a:pt x="45" y="0"/>
                    <a:pt x="45" y="0"/>
                    <a:pt x="45" y="0"/>
                  </a:cubicBezTo>
                  <a:cubicBezTo>
                    <a:pt x="49" y="0"/>
                    <a:pt x="52" y="3"/>
                    <a:pt x="52" y="7"/>
                  </a:cubicBezTo>
                  <a:lnTo>
                    <a:pt x="52" y="5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017" name="Freeform 714"/>
            <p:cNvSpPr>
              <a:spLocks noChangeArrowheads="1"/>
            </p:cNvSpPr>
            <p:nvPr/>
          </p:nvSpPr>
          <p:spPr bwMode="auto">
            <a:xfrm>
              <a:off x="437543" y="248526"/>
              <a:ext cx="101842" cy="126145"/>
            </a:xfrm>
            <a:custGeom>
              <a:avLst/>
              <a:gdLst>
                <a:gd name="T0" fmla="*/ 2147483647 w 52"/>
                <a:gd name="T1" fmla="*/ 2147483647 h 64"/>
                <a:gd name="T2" fmla="*/ 2147483647 w 52"/>
                <a:gd name="T3" fmla="*/ 2147483647 h 64"/>
                <a:gd name="T4" fmla="*/ 2147483647 w 52"/>
                <a:gd name="T5" fmla="*/ 2147483647 h 64"/>
                <a:gd name="T6" fmla="*/ 0 w 52"/>
                <a:gd name="T7" fmla="*/ 2147483647 h 64"/>
                <a:gd name="T8" fmla="*/ 0 w 52"/>
                <a:gd name="T9" fmla="*/ 2147483647 h 64"/>
                <a:gd name="T10" fmla="*/ 2147483647 w 52"/>
                <a:gd name="T11" fmla="*/ 0 h 64"/>
                <a:gd name="T12" fmla="*/ 2147483647 w 52"/>
                <a:gd name="T13" fmla="*/ 0 h 64"/>
                <a:gd name="T14" fmla="*/ 2147483647 w 52"/>
                <a:gd name="T15" fmla="*/ 2147483647 h 64"/>
                <a:gd name="T16" fmla="*/ 2147483647 w 52"/>
                <a:gd name="T17" fmla="*/ 2147483647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64"/>
                <a:gd name="T29" fmla="*/ 52 w 52"/>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64">
                  <a:moveTo>
                    <a:pt x="52" y="56"/>
                  </a:moveTo>
                  <a:cubicBezTo>
                    <a:pt x="52" y="61"/>
                    <a:pt x="49" y="64"/>
                    <a:pt x="45" y="64"/>
                  </a:cubicBezTo>
                  <a:cubicBezTo>
                    <a:pt x="7" y="64"/>
                    <a:pt x="7" y="64"/>
                    <a:pt x="7" y="64"/>
                  </a:cubicBezTo>
                  <a:cubicBezTo>
                    <a:pt x="3" y="64"/>
                    <a:pt x="0" y="61"/>
                    <a:pt x="0" y="56"/>
                  </a:cubicBezTo>
                  <a:cubicBezTo>
                    <a:pt x="0" y="8"/>
                    <a:pt x="0" y="8"/>
                    <a:pt x="0" y="8"/>
                  </a:cubicBezTo>
                  <a:cubicBezTo>
                    <a:pt x="0" y="3"/>
                    <a:pt x="3" y="0"/>
                    <a:pt x="7" y="0"/>
                  </a:cubicBezTo>
                  <a:cubicBezTo>
                    <a:pt x="45" y="0"/>
                    <a:pt x="45" y="0"/>
                    <a:pt x="45" y="0"/>
                  </a:cubicBezTo>
                  <a:cubicBezTo>
                    <a:pt x="49" y="0"/>
                    <a:pt x="52" y="3"/>
                    <a:pt x="52" y="8"/>
                  </a:cubicBezTo>
                  <a:lnTo>
                    <a:pt x="52" y="5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018" name="Freeform 715"/>
            <p:cNvSpPr>
              <a:spLocks noChangeArrowheads="1"/>
            </p:cNvSpPr>
            <p:nvPr/>
          </p:nvSpPr>
          <p:spPr bwMode="auto">
            <a:xfrm>
              <a:off x="437543" y="433038"/>
              <a:ext cx="101842" cy="126145"/>
            </a:xfrm>
            <a:custGeom>
              <a:avLst/>
              <a:gdLst>
                <a:gd name="T0" fmla="*/ 2147483647 w 52"/>
                <a:gd name="T1" fmla="*/ 2147483647 h 64"/>
                <a:gd name="T2" fmla="*/ 2147483647 w 52"/>
                <a:gd name="T3" fmla="*/ 2147483647 h 64"/>
                <a:gd name="T4" fmla="*/ 2147483647 w 52"/>
                <a:gd name="T5" fmla="*/ 2147483647 h 64"/>
                <a:gd name="T6" fmla="*/ 0 w 52"/>
                <a:gd name="T7" fmla="*/ 2147483647 h 64"/>
                <a:gd name="T8" fmla="*/ 0 w 52"/>
                <a:gd name="T9" fmla="*/ 2147483647 h 64"/>
                <a:gd name="T10" fmla="*/ 2147483647 w 52"/>
                <a:gd name="T11" fmla="*/ 0 h 64"/>
                <a:gd name="T12" fmla="*/ 2147483647 w 52"/>
                <a:gd name="T13" fmla="*/ 0 h 64"/>
                <a:gd name="T14" fmla="*/ 2147483647 w 52"/>
                <a:gd name="T15" fmla="*/ 2147483647 h 64"/>
                <a:gd name="T16" fmla="*/ 2147483647 w 52"/>
                <a:gd name="T17" fmla="*/ 2147483647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64"/>
                <a:gd name="T29" fmla="*/ 52 w 52"/>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64">
                  <a:moveTo>
                    <a:pt x="52" y="57"/>
                  </a:moveTo>
                  <a:cubicBezTo>
                    <a:pt x="52" y="61"/>
                    <a:pt x="49" y="64"/>
                    <a:pt x="45" y="64"/>
                  </a:cubicBezTo>
                  <a:cubicBezTo>
                    <a:pt x="7" y="64"/>
                    <a:pt x="7" y="64"/>
                    <a:pt x="7" y="64"/>
                  </a:cubicBezTo>
                  <a:cubicBezTo>
                    <a:pt x="3" y="64"/>
                    <a:pt x="0" y="61"/>
                    <a:pt x="0" y="57"/>
                  </a:cubicBezTo>
                  <a:cubicBezTo>
                    <a:pt x="0" y="8"/>
                    <a:pt x="0" y="8"/>
                    <a:pt x="0" y="8"/>
                  </a:cubicBezTo>
                  <a:cubicBezTo>
                    <a:pt x="0" y="3"/>
                    <a:pt x="3" y="0"/>
                    <a:pt x="7" y="0"/>
                  </a:cubicBezTo>
                  <a:cubicBezTo>
                    <a:pt x="45" y="0"/>
                    <a:pt x="45" y="0"/>
                    <a:pt x="45" y="0"/>
                  </a:cubicBezTo>
                  <a:cubicBezTo>
                    <a:pt x="49" y="0"/>
                    <a:pt x="52" y="3"/>
                    <a:pt x="52" y="8"/>
                  </a:cubicBezTo>
                  <a:lnTo>
                    <a:pt x="52" y="57"/>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019" name="Rectangle 716"/>
            <p:cNvSpPr>
              <a:spLocks noChangeArrowheads="1"/>
            </p:cNvSpPr>
            <p:nvPr/>
          </p:nvSpPr>
          <p:spPr bwMode="auto">
            <a:xfrm>
              <a:off x="505438" y="433038"/>
              <a:ext cx="7544" cy="12614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1020" name="Rectangle 717"/>
            <p:cNvSpPr>
              <a:spLocks noChangeArrowheads="1"/>
            </p:cNvSpPr>
            <p:nvPr/>
          </p:nvSpPr>
          <p:spPr bwMode="auto">
            <a:xfrm>
              <a:off x="505438" y="248526"/>
              <a:ext cx="7544" cy="12614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1021" name="Rectangle 718"/>
            <p:cNvSpPr>
              <a:spLocks noChangeArrowheads="1"/>
            </p:cNvSpPr>
            <p:nvPr/>
          </p:nvSpPr>
          <p:spPr bwMode="auto">
            <a:xfrm>
              <a:off x="505438" y="64014"/>
              <a:ext cx="7544" cy="12614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1022" name="Freeform 719"/>
            <p:cNvSpPr>
              <a:spLocks noChangeArrowheads="1"/>
            </p:cNvSpPr>
            <p:nvPr/>
          </p:nvSpPr>
          <p:spPr bwMode="auto">
            <a:xfrm>
              <a:off x="120702" y="0"/>
              <a:ext cx="384736" cy="623197"/>
            </a:xfrm>
            <a:custGeom>
              <a:avLst/>
              <a:gdLst>
                <a:gd name="T0" fmla="*/ 2147483647 w 196"/>
                <a:gd name="T1" fmla="*/ 0 h 318"/>
                <a:gd name="T2" fmla="*/ 0 w 196"/>
                <a:gd name="T3" fmla="*/ 0 h 318"/>
                <a:gd name="T4" fmla="*/ 0 w 196"/>
                <a:gd name="T5" fmla="*/ 2147483647 h 318"/>
                <a:gd name="T6" fmla="*/ 2147483647 w 196"/>
                <a:gd name="T7" fmla="*/ 2147483647 h 318"/>
                <a:gd name="T8" fmla="*/ 2147483647 w 196"/>
                <a:gd name="T9" fmla="*/ 2147483647 h 318"/>
                <a:gd name="T10" fmla="*/ 2147483647 w 196"/>
                <a:gd name="T11" fmla="*/ 2147483647 h 318"/>
                <a:gd name="T12" fmla="*/ 2147483647 w 196"/>
                <a:gd name="T13" fmla="*/ 0 h 318"/>
                <a:gd name="T14" fmla="*/ 0 60000 65536"/>
                <a:gd name="T15" fmla="*/ 0 60000 65536"/>
                <a:gd name="T16" fmla="*/ 0 60000 65536"/>
                <a:gd name="T17" fmla="*/ 0 60000 65536"/>
                <a:gd name="T18" fmla="*/ 0 60000 65536"/>
                <a:gd name="T19" fmla="*/ 0 60000 65536"/>
                <a:gd name="T20" fmla="*/ 0 60000 65536"/>
                <a:gd name="T21" fmla="*/ 0 w 196"/>
                <a:gd name="T22" fmla="*/ 0 h 318"/>
                <a:gd name="T23" fmla="*/ 196 w 196"/>
                <a:gd name="T24" fmla="*/ 318 h 3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318">
                  <a:moveTo>
                    <a:pt x="188" y="0"/>
                  </a:moveTo>
                  <a:cubicBezTo>
                    <a:pt x="0" y="0"/>
                    <a:pt x="0" y="0"/>
                    <a:pt x="0" y="0"/>
                  </a:cubicBezTo>
                  <a:cubicBezTo>
                    <a:pt x="0" y="318"/>
                    <a:pt x="0" y="318"/>
                    <a:pt x="0" y="318"/>
                  </a:cubicBezTo>
                  <a:cubicBezTo>
                    <a:pt x="188" y="318"/>
                    <a:pt x="188" y="318"/>
                    <a:pt x="188" y="318"/>
                  </a:cubicBezTo>
                  <a:cubicBezTo>
                    <a:pt x="192" y="318"/>
                    <a:pt x="196" y="314"/>
                    <a:pt x="196" y="310"/>
                  </a:cubicBezTo>
                  <a:cubicBezTo>
                    <a:pt x="196" y="8"/>
                    <a:pt x="196" y="8"/>
                    <a:pt x="196" y="8"/>
                  </a:cubicBezTo>
                  <a:cubicBezTo>
                    <a:pt x="196" y="4"/>
                    <a:pt x="192" y="0"/>
                    <a:pt x="188"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023" name="Freeform 720"/>
            <p:cNvSpPr>
              <a:spLocks noChangeArrowheads="1"/>
            </p:cNvSpPr>
            <p:nvPr/>
          </p:nvSpPr>
          <p:spPr bwMode="auto">
            <a:xfrm>
              <a:off x="0" y="0"/>
              <a:ext cx="120702" cy="623197"/>
            </a:xfrm>
            <a:custGeom>
              <a:avLst/>
              <a:gdLst>
                <a:gd name="T0" fmla="*/ 2147483647 w 62"/>
                <a:gd name="T1" fmla="*/ 0 h 318"/>
                <a:gd name="T2" fmla="*/ 2147483647 w 62"/>
                <a:gd name="T3" fmla="*/ 0 h 318"/>
                <a:gd name="T4" fmla="*/ 0 w 62"/>
                <a:gd name="T5" fmla="*/ 2147483647 h 318"/>
                <a:gd name="T6" fmla="*/ 0 w 62"/>
                <a:gd name="T7" fmla="*/ 2147483647 h 318"/>
                <a:gd name="T8" fmla="*/ 2147483647 w 62"/>
                <a:gd name="T9" fmla="*/ 2147483647 h 318"/>
                <a:gd name="T10" fmla="*/ 2147483647 w 62"/>
                <a:gd name="T11" fmla="*/ 2147483647 h 318"/>
                <a:gd name="T12" fmla="*/ 2147483647 w 62"/>
                <a:gd name="T13" fmla="*/ 0 h 318"/>
                <a:gd name="T14" fmla="*/ 0 60000 65536"/>
                <a:gd name="T15" fmla="*/ 0 60000 65536"/>
                <a:gd name="T16" fmla="*/ 0 60000 65536"/>
                <a:gd name="T17" fmla="*/ 0 60000 65536"/>
                <a:gd name="T18" fmla="*/ 0 60000 65536"/>
                <a:gd name="T19" fmla="*/ 0 60000 65536"/>
                <a:gd name="T20" fmla="*/ 0 60000 65536"/>
                <a:gd name="T21" fmla="*/ 0 w 62"/>
                <a:gd name="T22" fmla="*/ 0 h 318"/>
                <a:gd name="T23" fmla="*/ 62 w 62"/>
                <a:gd name="T24" fmla="*/ 318 h 3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318">
                  <a:moveTo>
                    <a:pt x="62" y="0"/>
                  </a:moveTo>
                  <a:cubicBezTo>
                    <a:pt x="7" y="0"/>
                    <a:pt x="7" y="0"/>
                    <a:pt x="7" y="0"/>
                  </a:cubicBezTo>
                  <a:cubicBezTo>
                    <a:pt x="3" y="0"/>
                    <a:pt x="0" y="4"/>
                    <a:pt x="0" y="8"/>
                  </a:cubicBezTo>
                  <a:cubicBezTo>
                    <a:pt x="0" y="310"/>
                    <a:pt x="0" y="310"/>
                    <a:pt x="0" y="310"/>
                  </a:cubicBezTo>
                  <a:cubicBezTo>
                    <a:pt x="0" y="314"/>
                    <a:pt x="3" y="318"/>
                    <a:pt x="7" y="318"/>
                  </a:cubicBezTo>
                  <a:cubicBezTo>
                    <a:pt x="62" y="318"/>
                    <a:pt x="62" y="318"/>
                    <a:pt x="62" y="318"/>
                  </a:cubicBezTo>
                  <a:lnTo>
                    <a:pt x="6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024" name="Rectangle 721"/>
            <p:cNvSpPr>
              <a:spLocks noChangeArrowheads="1"/>
            </p:cNvSpPr>
            <p:nvPr/>
          </p:nvSpPr>
          <p:spPr bwMode="auto">
            <a:xfrm>
              <a:off x="115044" y="0"/>
              <a:ext cx="5657" cy="62319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1025" name="Freeform 722"/>
            <p:cNvSpPr>
              <a:spLocks noEditPoints="1" noChangeArrowheads="1"/>
            </p:cNvSpPr>
            <p:nvPr/>
          </p:nvSpPr>
          <p:spPr bwMode="auto">
            <a:xfrm>
              <a:off x="213114" y="205222"/>
              <a:ext cx="292323" cy="417975"/>
            </a:xfrm>
            <a:custGeom>
              <a:avLst/>
              <a:gdLst>
                <a:gd name="T0" fmla="*/ 2147483647 w 149"/>
                <a:gd name="T1" fmla="*/ 2147483647 h 213"/>
                <a:gd name="T2" fmla="*/ 2147483647 w 149"/>
                <a:gd name="T3" fmla="*/ 2147483647 h 213"/>
                <a:gd name="T4" fmla="*/ 2147483647 w 149"/>
                <a:gd name="T5" fmla="*/ 2147483647 h 213"/>
                <a:gd name="T6" fmla="*/ 2147483647 w 149"/>
                <a:gd name="T7" fmla="*/ 2147483647 h 213"/>
                <a:gd name="T8" fmla="*/ 2147483647 w 149"/>
                <a:gd name="T9" fmla="*/ 2147483647 h 213"/>
                <a:gd name="T10" fmla="*/ 2147483647 w 149"/>
                <a:gd name="T11" fmla="*/ 2147483647 h 213"/>
                <a:gd name="T12" fmla="*/ 2147483647 w 149"/>
                <a:gd name="T13" fmla="*/ 2147483647 h 213"/>
                <a:gd name="T14" fmla="*/ 2147483647 w 149"/>
                <a:gd name="T15" fmla="*/ 2147483647 h 213"/>
                <a:gd name="T16" fmla="*/ 2147483647 w 149"/>
                <a:gd name="T17" fmla="*/ 2147483647 h 213"/>
                <a:gd name="T18" fmla="*/ 2147483647 w 149"/>
                <a:gd name="T19" fmla="*/ 2147483647 h 213"/>
                <a:gd name="T20" fmla="*/ 2147483647 w 149"/>
                <a:gd name="T21" fmla="*/ 2147483647 h 213"/>
                <a:gd name="T22" fmla="*/ 2147483647 w 149"/>
                <a:gd name="T23" fmla="*/ 2147483647 h 213"/>
                <a:gd name="T24" fmla="*/ 2147483647 w 149"/>
                <a:gd name="T25" fmla="*/ 2147483647 h 213"/>
                <a:gd name="T26" fmla="*/ 2147483647 w 149"/>
                <a:gd name="T27" fmla="*/ 2147483647 h 213"/>
                <a:gd name="T28" fmla="*/ 2147483647 w 149"/>
                <a:gd name="T29" fmla="*/ 2147483647 h 213"/>
                <a:gd name="T30" fmla="*/ 2147483647 w 149"/>
                <a:gd name="T31" fmla="*/ 2147483647 h 213"/>
                <a:gd name="T32" fmla="*/ 2147483647 w 149"/>
                <a:gd name="T33" fmla="*/ 2147483647 h 213"/>
                <a:gd name="T34" fmla="*/ 2147483647 w 149"/>
                <a:gd name="T35" fmla="*/ 2147483647 h 213"/>
                <a:gd name="T36" fmla="*/ 2147483647 w 149"/>
                <a:gd name="T37" fmla="*/ 2147483647 h 213"/>
                <a:gd name="T38" fmla="*/ 2147483647 w 149"/>
                <a:gd name="T39" fmla="*/ 2147483647 h 213"/>
                <a:gd name="T40" fmla="*/ 2147483647 w 149"/>
                <a:gd name="T41" fmla="*/ 2147483647 h 213"/>
                <a:gd name="T42" fmla="*/ 2147483647 w 149"/>
                <a:gd name="T43" fmla="*/ 2147483647 h 213"/>
                <a:gd name="T44" fmla="*/ 2147483647 w 149"/>
                <a:gd name="T45" fmla="*/ 2147483647 h 213"/>
                <a:gd name="T46" fmla="*/ 2147483647 w 149"/>
                <a:gd name="T47" fmla="*/ 2147483647 h 213"/>
                <a:gd name="T48" fmla="*/ 2147483647 w 149"/>
                <a:gd name="T49" fmla="*/ 0 h 213"/>
                <a:gd name="T50" fmla="*/ 2147483647 w 149"/>
                <a:gd name="T51" fmla="*/ 2147483647 h 213"/>
                <a:gd name="T52" fmla="*/ 0 w 149"/>
                <a:gd name="T53" fmla="*/ 2147483647 h 213"/>
                <a:gd name="T54" fmla="*/ 2147483647 w 149"/>
                <a:gd name="T55" fmla="*/ 2147483647 h 213"/>
                <a:gd name="T56" fmla="*/ 2147483647 w 149"/>
                <a:gd name="T57" fmla="*/ 2147483647 h 213"/>
                <a:gd name="T58" fmla="*/ 2147483647 w 149"/>
                <a:gd name="T59" fmla="*/ 2147483647 h 213"/>
                <a:gd name="T60" fmla="*/ 2147483647 w 149"/>
                <a:gd name="T61" fmla="*/ 2147483647 h 213"/>
                <a:gd name="T62" fmla="*/ 2147483647 w 149"/>
                <a:gd name="T63" fmla="*/ 2147483647 h 213"/>
                <a:gd name="T64" fmla="*/ 2147483647 w 149"/>
                <a:gd name="T65" fmla="*/ 2147483647 h 213"/>
                <a:gd name="T66" fmla="*/ 2147483647 w 149"/>
                <a:gd name="T67" fmla="*/ 2147483647 h 213"/>
                <a:gd name="T68" fmla="*/ 2147483647 w 149"/>
                <a:gd name="T69" fmla="*/ 2147483647 h 213"/>
                <a:gd name="T70" fmla="*/ 2147483647 w 149"/>
                <a:gd name="T71" fmla="*/ 2147483647 h 213"/>
                <a:gd name="T72" fmla="*/ 2147483647 w 149"/>
                <a:gd name="T73" fmla="*/ 2147483647 h 213"/>
                <a:gd name="T74" fmla="*/ 2147483647 w 149"/>
                <a:gd name="T75" fmla="*/ 2147483647 h 213"/>
                <a:gd name="T76" fmla="*/ 2147483647 w 149"/>
                <a:gd name="T77" fmla="*/ 2147483647 h 213"/>
                <a:gd name="T78" fmla="*/ 2147483647 w 149"/>
                <a:gd name="T79" fmla="*/ 2147483647 h 213"/>
                <a:gd name="T80" fmla="*/ 2147483647 w 149"/>
                <a:gd name="T81" fmla="*/ 2147483647 h 213"/>
                <a:gd name="T82" fmla="*/ 2147483647 w 149"/>
                <a:gd name="T83" fmla="*/ 2147483647 h 213"/>
                <a:gd name="T84" fmla="*/ 2147483647 w 149"/>
                <a:gd name="T85" fmla="*/ 2147483647 h 213"/>
                <a:gd name="T86" fmla="*/ 2147483647 w 149"/>
                <a:gd name="T87" fmla="*/ 2147483647 h 213"/>
                <a:gd name="T88" fmla="*/ 2147483647 w 149"/>
                <a:gd name="T89" fmla="*/ 2147483647 h 213"/>
                <a:gd name="T90" fmla="*/ 2147483647 w 149"/>
                <a:gd name="T91" fmla="*/ 2147483647 h 213"/>
                <a:gd name="T92" fmla="*/ 2147483647 w 149"/>
                <a:gd name="T93" fmla="*/ 2147483647 h 213"/>
                <a:gd name="T94" fmla="*/ 2147483647 w 149"/>
                <a:gd name="T95" fmla="*/ 2147483647 h 213"/>
                <a:gd name="T96" fmla="*/ 2147483647 w 149"/>
                <a:gd name="T97" fmla="*/ 2147483647 h 213"/>
                <a:gd name="T98" fmla="*/ 2147483647 w 149"/>
                <a:gd name="T99" fmla="*/ 2147483647 h 213"/>
                <a:gd name="T100" fmla="*/ 2147483647 w 149"/>
                <a:gd name="T101" fmla="*/ 2147483647 h 2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9"/>
                <a:gd name="T154" fmla="*/ 0 h 213"/>
                <a:gd name="T155" fmla="*/ 149 w 149"/>
                <a:gd name="T156" fmla="*/ 213 h 2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9" h="213">
                  <a:moveTo>
                    <a:pt x="82" y="9"/>
                  </a:moveTo>
                  <a:cubicBezTo>
                    <a:pt x="88" y="16"/>
                    <a:pt x="92" y="25"/>
                    <a:pt x="92" y="35"/>
                  </a:cubicBezTo>
                  <a:cubicBezTo>
                    <a:pt x="92" y="47"/>
                    <a:pt x="88" y="56"/>
                    <a:pt x="82" y="63"/>
                  </a:cubicBezTo>
                  <a:cubicBezTo>
                    <a:pt x="76" y="69"/>
                    <a:pt x="69" y="73"/>
                    <a:pt x="60" y="73"/>
                  </a:cubicBezTo>
                  <a:cubicBezTo>
                    <a:pt x="57" y="73"/>
                    <a:pt x="55" y="72"/>
                    <a:pt x="53" y="70"/>
                  </a:cubicBezTo>
                  <a:cubicBezTo>
                    <a:pt x="51" y="69"/>
                    <a:pt x="50" y="67"/>
                    <a:pt x="50" y="64"/>
                  </a:cubicBezTo>
                  <a:cubicBezTo>
                    <a:pt x="50" y="62"/>
                    <a:pt x="50" y="62"/>
                    <a:pt x="50" y="62"/>
                  </a:cubicBezTo>
                  <a:cubicBezTo>
                    <a:pt x="49" y="64"/>
                    <a:pt x="49" y="64"/>
                    <a:pt x="49" y="64"/>
                  </a:cubicBezTo>
                  <a:cubicBezTo>
                    <a:pt x="45" y="70"/>
                    <a:pt x="39" y="73"/>
                    <a:pt x="33" y="73"/>
                  </a:cubicBezTo>
                  <a:cubicBezTo>
                    <a:pt x="27" y="73"/>
                    <a:pt x="23" y="71"/>
                    <a:pt x="19" y="67"/>
                  </a:cubicBezTo>
                  <a:cubicBezTo>
                    <a:pt x="16" y="63"/>
                    <a:pt x="14" y="58"/>
                    <a:pt x="14" y="51"/>
                  </a:cubicBezTo>
                  <a:cubicBezTo>
                    <a:pt x="14" y="42"/>
                    <a:pt x="17" y="33"/>
                    <a:pt x="23" y="26"/>
                  </a:cubicBezTo>
                  <a:cubicBezTo>
                    <a:pt x="28" y="19"/>
                    <a:pt x="35" y="16"/>
                    <a:pt x="41" y="16"/>
                  </a:cubicBezTo>
                  <a:cubicBezTo>
                    <a:pt x="49" y="16"/>
                    <a:pt x="54" y="18"/>
                    <a:pt x="58" y="22"/>
                  </a:cubicBezTo>
                  <a:cubicBezTo>
                    <a:pt x="59" y="23"/>
                    <a:pt x="59" y="23"/>
                    <a:pt x="59" y="23"/>
                  </a:cubicBezTo>
                  <a:cubicBezTo>
                    <a:pt x="59" y="22"/>
                    <a:pt x="59" y="22"/>
                    <a:pt x="59" y="22"/>
                  </a:cubicBezTo>
                  <a:cubicBezTo>
                    <a:pt x="60" y="17"/>
                    <a:pt x="60" y="17"/>
                    <a:pt x="60" y="17"/>
                  </a:cubicBezTo>
                  <a:cubicBezTo>
                    <a:pt x="68" y="17"/>
                    <a:pt x="68" y="17"/>
                    <a:pt x="68" y="17"/>
                  </a:cubicBezTo>
                  <a:cubicBezTo>
                    <a:pt x="60" y="52"/>
                    <a:pt x="60" y="52"/>
                    <a:pt x="60" y="52"/>
                  </a:cubicBezTo>
                  <a:cubicBezTo>
                    <a:pt x="59" y="56"/>
                    <a:pt x="59" y="59"/>
                    <a:pt x="59" y="62"/>
                  </a:cubicBezTo>
                  <a:cubicBezTo>
                    <a:pt x="59" y="66"/>
                    <a:pt x="61" y="66"/>
                    <a:pt x="62" y="66"/>
                  </a:cubicBezTo>
                  <a:cubicBezTo>
                    <a:pt x="68" y="66"/>
                    <a:pt x="74" y="63"/>
                    <a:pt x="78" y="58"/>
                  </a:cubicBezTo>
                  <a:cubicBezTo>
                    <a:pt x="83" y="52"/>
                    <a:pt x="85" y="44"/>
                    <a:pt x="85" y="35"/>
                  </a:cubicBezTo>
                  <a:cubicBezTo>
                    <a:pt x="85" y="25"/>
                    <a:pt x="81" y="16"/>
                    <a:pt x="74" y="10"/>
                  </a:cubicBezTo>
                  <a:cubicBezTo>
                    <a:pt x="67" y="3"/>
                    <a:pt x="57" y="0"/>
                    <a:pt x="46" y="0"/>
                  </a:cubicBezTo>
                  <a:cubicBezTo>
                    <a:pt x="33" y="0"/>
                    <a:pt x="22" y="4"/>
                    <a:pt x="13" y="14"/>
                  </a:cubicBezTo>
                  <a:cubicBezTo>
                    <a:pt x="4" y="23"/>
                    <a:pt x="0" y="35"/>
                    <a:pt x="0" y="48"/>
                  </a:cubicBezTo>
                  <a:cubicBezTo>
                    <a:pt x="0" y="61"/>
                    <a:pt x="4" y="71"/>
                    <a:pt x="13" y="79"/>
                  </a:cubicBezTo>
                  <a:cubicBezTo>
                    <a:pt x="21" y="86"/>
                    <a:pt x="32" y="90"/>
                    <a:pt x="47" y="90"/>
                  </a:cubicBezTo>
                  <a:cubicBezTo>
                    <a:pt x="56" y="90"/>
                    <a:pt x="63" y="88"/>
                    <a:pt x="70" y="86"/>
                  </a:cubicBezTo>
                  <a:cubicBezTo>
                    <a:pt x="73" y="91"/>
                    <a:pt x="73" y="91"/>
                    <a:pt x="73" y="91"/>
                  </a:cubicBezTo>
                  <a:cubicBezTo>
                    <a:pt x="65" y="94"/>
                    <a:pt x="57" y="96"/>
                    <a:pt x="47" y="96"/>
                  </a:cubicBezTo>
                  <a:cubicBezTo>
                    <a:pt x="31" y="96"/>
                    <a:pt x="17" y="91"/>
                    <a:pt x="8" y="83"/>
                  </a:cubicBezTo>
                  <a:cubicBezTo>
                    <a:pt x="7" y="82"/>
                    <a:pt x="7" y="82"/>
                    <a:pt x="7" y="82"/>
                  </a:cubicBezTo>
                  <a:cubicBezTo>
                    <a:pt x="137" y="213"/>
                    <a:pt x="137" y="213"/>
                    <a:pt x="137" y="213"/>
                  </a:cubicBezTo>
                  <a:cubicBezTo>
                    <a:pt x="141" y="213"/>
                    <a:pt x="141" y="213"/>
                    <a:pt x="141" y="213"/>
                  </a:cubicBezTo>
                  <a:cubicBezTo>
                    <a:pt x="145" y="213"/>
                    <a:pt x="149" y="209"/>
                    <a:pt x="149" y="205"/>
                  </a:cubicBezTo>
                  <a:cubicBezTo>
                    <a:pt x="149" y="75"/>
                    <a:pt x="149" y="75"/>
                    <a:pt x="149" y="75"/>
                  </a:cubicBezTo>
                  <a:lnTo>
                    <a:pt x="82" y="9"/>
                  </a:lnTo>
                  <a:close/>
                  <a:moveTo>
                    <a:pt x="4" y="79"/>
                  </a:moveTo>
                  <a:cubicBezTo>
                    <a:pt x="4" y="80"/>
                    <a:pt x="4" y="80"/>
                    <a:pt x="4" y="80"/>
                  </a:cubicBezTo>
                  <a:cubicBezTo>
                    <a:pt x="4" y="78"/>
                    <a:pt x="4" y="78"/>
                    <a:pt x="4" y="78"/>
                  </a:cubicBezTo>
                  <a:lnTo>
                    <a:pt x="4" y="79"/>
                  </a:lnTo>
                  <a:close/>
                  <a:moveTo>
                    <a:pt x="28" y="31"/>
                  </a:moveTo>
                  <a:cubicBezTo>
                    <a:pt x="25" y="37"/>
                    <a:pt x="23" y="44"/>
                    <a:pt x="23" y="51"/>
                  </a:cubicBezTo>
                  <a:cubicBezTo>
                    <a:pt x="23" y="61"/>
                    <a:pt x="27" y="66"/>
                    <a:pt x="35" y="66"/>
                  </a:cubicBezTo>
                  <a:cubicBezTo>
                    <a:pt x="39" y="66"/>
                    <a:pt x="43" y="64"/>
                    <a:pt x="46" y="61"/>
                  </a:cubicBezTo>
                  <a:cubicBezTo>
                    <a:pt x="49" y="58"/>
                    <a:pt x="52" y="54"/>
                    <a:pt x="53" y="48"/>
                  </a:cubicBezTo>
                  <a:cubicBezTo>
                    <a:pt x="57" y="30"/>
                    <a:pt x="57" y="30"/>
                    <a:pt x="57" y="30"/>
                  </a:cubicBezTo>
                  <a:cubicBezTo>
                    <a:pt x="54" y="25"/>
                    <a:pt x="49" y="22"/>
                    <a:pt x="42" y="22"/>
                  </a:cubicBezTo>
                  <a:cubicBezTo>
                    <a:pt x="37" y="22"/>
                    <a:pt x="32" y="25"/>
                    <a:pt x="28" y="3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026" name="Freeform 723"/>
            <p:cNvSpPr>
              <a:spLocks noEditPoints="1" noChangeArrowheads="1"/>
            </p:cNvSpPr>
            <p:nvPr/>
          </p:nvSpPr>
          <p:spPr bwMode="auto">
            <a:xfrm>
              <a:off x="201798" y="193925"/>
              <a:ext cx="192368" cy="199574"/>
            </a:xfrm>
            <a:custGeom>
              <a:avLst/>
              <a:gdLst>
                <a:gd name="T0" fmla="*/ 2147483647 w 98"/>
                <a:gd name="T1" fmla="*/ 2147483647 h 102"/>
                <a:gd name="T2" fmla="*/ 2147483647 w 98"/>
                <a:gd name="T3" fmla="*/ 2147483647 h 102"/>
                <a:gd name="T4" fmla="*/ 0 w 98"/>
                <a:gd name="T5" fmla="*/ 2147483647 h 102"/>
                <a:gd name="T6" fmla="*/ 2147483647 w 98"/>
                <a:gd name="T7" fmla="*/ 2147483647 h 102"/>
                <a:gd name="T8" fmla="*/ 2147483647 w 98"/>
                <a:gd name="T9" fmla="*/ 0 h 102"/>
                <a:gd name="T10" fmla="*/ 2147483647 w 98"/>
                <a:gd name="T11" fmla="*/ 2147483647 h 102"/>
                <a:gd name="T12" fmla="*/ 2147483647 w 98"/>
                <a:gd name="T13" fmla="*/ 2147483647 h 102"/>
                <a:gd name="T14" fmla="*/ 2147483647 w 98"/>
                <a:gd name="T15" fmla="*/ 2147483647 h 102"/>
                <a:gd name="T16" fmla="*/ 2147483647 w 98"/>
                <a:gd name="T17" fmla="*/ 2147483647 h 102"/>
                <a:gd name="T18" fmla="*/ 2147483647 w 98"/>
                <a:gd name="T19" fmla="*/ 2147483647 h 102"/>
                <a:gd name="T20" fmla="*/ 2147483647 w 98"/>
                <a:gd name="T21" fmla="*/ 2147483647 h 102"/>
                <a:gd name="T22" fmla="*/ 2147483647 w 98"/>
                <a:gd name="T23" fmla="*/ 2147483647 h 102"/>
                <a:gd name="T24" fmla="*/ 2147483647 w 98"/>
                <a:gd name="T25" fmla="*/ 2147483647 h 102"/>
                <a:gd name="T26" fmla="*/ 2147483647 w 98"/>
                <a:gd name="T27" fmla="*/ 2147483647 h 102"/>
                <a:gd name="T28" fmla="*/ 2147483647 w 98"/>
                <a:gd name="T29" fmla="*/ 2147483647 h 102"/>
                <a:gd name="T30" fmla="*/ 2147483647 w 98"/>
                <a:gd name="T31" fmla="*/ 2147483647 h 102"/>
                <a:gd name="T32" fmla="*/ 2147483647 w 98"/>
                <a:gd name="T33" fmla="*/ 2147483647 h 102"/>
                <a:gd name="T34" fmla="*/ 2147483647 w 98"/>
                <a:gd name="T35" fmla="*/ 2147483647 h 102"/>
                <a:gd name="T36" fmla="*/ 2147483647 w 98"/>
                <a:gd name="T37" fmla="*/ 2147483647 h 102"/>
                <a:gd name="T38" fmla="*/ 2147483647 w 98"/>
                <a:gd name="T39" fmla="*/ 2147483647 h 102"/>
                <a:gd name="T40" fmla="*/ 2147483647 w 98"/>
                <a:gd name="T41" fmla="*/ 2147483647 h 102"/>
                <a:gd name="T42" fmla="*/ 2147483647 w 98"/>
                <a:gd name="T43" fmla="*/ 2147483647 h 102"/>
                <a:gd name="T44" fmla="*/ 2147483647 w 98"/>
                <a:gd name="T45" fmla="*/ 2147483647 h 102"/>
                <a:gd name="T46" fmla="*/ 2147483647 w 98"/>
                <a:gd name="T47" fmla="*/ 2147483647 h 102"/>
                <a:gd name="T48" fmla="*/ 2147483647 w 98"/>
                <a:gd name="T49" fmla="*/ 2147483647 h 102"/>
                <a:gd name="T50" fmla="*/ 2147483647 w 98"/>
                <a:gd name="T51" fmla="*/ 2147483647 h 102"/>
                <a:gd name="T52" fmla="*/ 2147483647 w 98"/>
                <a:gd name="T53" fmla="*/ 2147483647 h 102"/>
                <a:gd name="T54" fmla="*/ 2147483647 w 98"/>
                <a:gd name="T55" fmla="*/ 2147483647 h 102"/>
                <a:gd name="T56" fmla="*/ 2147483647 w 98"/>
                <a:gd name="T57" fmla="*/ 2147483647 h 102"/>
                <a:gd name="T58" fmla="*/ 2147483647 w 98"/>
                <a:gd name="T59" fmla="*/ 2147483647 h 102"/>
                <a:gd name="T60" fmla="*/ 2147483647 w 98"/>
                <a:gd name="T61" fmla="*/ 2147483647 h 102"/>
                <a:gd name="T62" fmla="*/ 2147483647 w 98"/>
                <a:gd name="T63" fmla="*/ 2147483647 h 102"/>
                <a:gd name="T64" fmla="*/ 2147483647 w 98"/>
                <a:gd name="T65" fmla="*/ 2147483647 h 102"/>
                <a:gd name="T66" fmla="*/ 2147483647 w 98"/>
                <a:gd name="T67" fmla="*/ 2147483647 h 102"/>
                <a:gd name="T68" fmla="*/ 2147483647 w 98"/>
                <a:gd name="T69" fmla="*/ 2147483647 h 102"/>
                <a:gd name="T70" fmla="*/ 2147483647 w 98"/>
                <a:gd name="T71" fmla="*/ 2147483647 h 102"/>
                <a:gd name="T72" fmla="*/ 2147483647 w 98"/>
                <a:gd name="T73" fmla="*/ 2147483647 h 102"/>
                <a:gd name="T74" fmla="*/ 2147483647 w 98"/>
                <a:gd name="T75" fmla="*/ 2147483647 h 102"/>
                <a:gd name="T76" fmla="*/ 2147483647 w 98"/>
                <a:gd name="T77" fmla="*/ 2147483647 h 102"/>
                <a:gd name="T78" fmla="*/ 2147483647 w 98"/>
                <a:gd name="T79" fmla="*/ 2147483647 h 102"/>
                <a:gd name="T80" fmla="*/ 2147483647 w 98"/>
                <a:gd name="T81" fmla="*/ 2147483647 h 102"/>
                <a:gd name="T82" fmla="*/ 2147483647 w 98"/>
                <a:gd name="T83" fmla="*/ 2147483647 h 102"/>
                <a:gd name="T84" fmla="*/ 2147483647 w 98"/>
                <a:gd name="T85" fmla="*/ 2147483647 h 102"/>
                <a:gd name="T86" fmla="*/ 2147483647 w 98"/>
                <a:gd name="T87" fmla="*/ 2147483647 h 102"/>
                <a:gd name="T88" fmla="*/ 2147483647 w 98"/>
                <a:gd name="T89" fmla="*/ 2147483647 h 10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8"/>
                <a:gd name="T136" fmla="*/ 0 h 102"/>
                <a:gd name="T137" fmla="*/ 98 w 98"/>
                <a:gd name="T138" fmla="*/ 102 h 10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8" h="102">
                  <a:moveTo>
                    <a:pt x="53" y="102"/>
                  </a:moveTo>
                  <a:cubicBezTo>
                    <a:pt x="37" y="102"/>
                    <a:pt x="23" y="97"/>
                    <a:pt x="14" y="89"/>
                  </a:cubicBezTo>
                  <a:cubicBezTo>
                    <a:pt x="4" y="80"/>
                    <a:pt x="0" y="69"/>
                    <a:pt x="0" y="54"/>
                  </a:cubicBezTo>
                  <a:cubicBezTo>
                    <a:pt x="0" y="38"/>
                    <a:pt x="5" y="25"/>
                    <a:pt x="14" y="15"/>
                  </a:cubicBezTo>
                  <a:cubicBezTo>
                    <a:pt x="24" y="5"/>
                    <a:pt x="37" y="0"/>
                    <a:pt x="52" y="0"/>
                  </a:cubicBezTo>
                  <a:cubicBezTo>
                    <a:pt x="66" y="0"/>
                    <a:pt x="77" y="3"/>
                    <a:pt x="85" y="11"/>
                  </a:cubicBezTo>
                  <a:cubicBezTo>
                    <a:pt x="93" y="19"/>
                    <a:pt x="98" y="29"/>
                    <a:pt x="98" y="41"/>
                  </a:cubicBezTo>
                  <a:cubicBezTo>
                    <a:pt x="98" y="53"/>
                    <a:pt x="94" y="62"/>
                    <a:pt x="88" y="69"/>
                  </a:cubicBezTo>
                  <a:cubicBezTo>
                    <a:pt x="82" y="75"/>
                    <a:pt x="75" y="79"/>
                    <a:pt x="66" y="79"/>
                  </a:cubicBezTo>
                  <a:cubicBezTo>
                    <a:pt x="63" y="79"/>
                    <a:pt x="61" y="78"/>
                    <a:pt x="59" y="76"/>
                  </a:cubicBezTo>
                  <a:cubicBezTo>
                    <a:pt x="57" y="75"/>
                    <a:pt x="56" y="73"/>
                    <a:pt x="56" y="70"/>
                  </a:cubicBezTo>
                  <a:cubicBezTo>
                    <a:pt x="56" y="68"/>
                    <a:pt x="56" y="68"/>
                    <a:pt x="56" y="68"/>
                  </a:cubicBezTo>
                  <a:cubicBezTo>
                    <a:pt x="55" y="70"/>
                    <a:pt x="55" y="70"/>
                    <a:pt x="55" y="70"/>
                  </a:cubicBezTo>
                  <a:cubicBezTo>
                    <a:pt x="51" y="76"/>
                    <a:pt x="45" y="79"/>
                    <a:pt x="39" y="79"/>
                  </a:cubicBezTo>
                  <a:cubicBezTo>
                    <a:pt x="33" y="79"/>
                    <a:pt x="29" y="77"/>
                    <a:pt x="25" y="73"/>
                  </a:cubicBezTo>
                  <a:cubicBezTo>
                    <a:pt x="22" y="69"/>
                    <a:pt x="20" y="64"/>
                    <a:pt x="20" y="57"/>
                  </a:cubicBezTo>
                  <a:cubicBezTo>
                    <a:pt x="20" y="48"/>
                    <a:pt x="23" y="39"/>
                    <a:pt x="29" y="32"/>
                  </a:cubicBezTo>
                  <a:cubicBezTo>
                    <a:pt x="34" y="25"/>
                    <a:pt x="41" y="22"/>
                    <a:pt x="47" y="22"/>
                  </a:cubicBezTo>
                  <a:cubicBezTo>
                    <a:pt x="55" y="22"/>
                    <a:pt x="60" y="24"/>
                    <a:pt x="64" y="28"/>
                  </a:cubicBezTo>
                  <a:cubicBezTo>
                    <a:pt x="65" y="29"/>
                    <a:pt x="65" y="29"/>
                    <a:pt x="65" y="29"/>
                  </a:cubicBezTo>
                  <a:cubicBezTo>
                    <a:pt x="65" y="28"/>
                    <a:pt x="65" y="28"/>
                    <a:pt x="65" y="28"/>
                  </a:cubicBezTo>
                  <a:cubicBezTo>
                    <a:pt x="66" y="23"/>
                    <a:pt x="66" y="23"/>
                    <a:pt x="66" y="23"/>
                  </a:cubicBezTo>
                  <a:cubicBezTo>
                    <a:pt x="74" y="23"/>
                    <a:pt x="74" y="23"/>
                    <a:pt x="74" y="23"/>
                  </a:cubicBezTo>
                  <a:cubicBezTo>
                    <a:pt x="66" y="58"/>
                    <a:pt x="66" y="58"/>
                    <a:pt x="66" y="58"/>
                  </a:cubicBezTo>
                  <a:cubicBezTo>
                    <a:pt x="65" y="62"/>
                    <a:pt x="65" y="65"/>
                    <a:pt x="65" y="68"/>
                  </a:cubicBezTo>
                  <a:cubicBezTo>
                    <a:pt x="65" y="72"/>
                    <a:pt x="67" y="72"/>
                    <a:pt x="68" y="72"/>
                  </a:cubicBezTo>
                  <a:cubicBezTo>
                    <a:pt x="74" y="72"/>
                    <a:pt x="80" y="69"/>
                    <a:pt x="84" y="64"/>
                  </a:cubicBezTo>
                  <a:cubicBezTo>
                    <a:pt x="89" y="58"/>
                    <a:pt x="91" y="50"/>
                    <a:pt x="91" y="41"/>
                  </a:cubicBezTo>
                  <a:cubicBezTo>
                    <a:pt x="91" y="31"/>
                    <a:pt x="87" y="22"/>
                    <a:pt x="80" y="16"/>
                  </a:cubicBezTo>
                  <a:cubicBezTo>
                    <a:pt x="73" y="9"/>
                    <a:pt x="63" y="6"/>
                    <a:pt x="52" y="6"/>
                  </a:cubicBezTo>
                  <a:cubicBezTo>
                    <a:pt x="39" y="6"/>
                    <a:pt x="28" y="10"/>
                    <a:pt x="19" y="20"/>
                  </a:cubicBezTo>
                  <a:cubicBezTo>
                    <a:pt x="10" y="29"/>
                    <a:pt x="6" y="41"/>
                    <a:pt x="6" y="54"/>
                  </a:cubicBezTo>
                  <a:cubicBezTo>
                    <a:pt x="6" y="67"/>
                    <a:pt x="10" y="77"/>
                    <a:pt x="19" y="85"/>
                  </a:cubicBezTo>
                  <a:cubicBezTo>
                    <a:pt x="27" y="92"/>
                    <a:pt x="38" y="96"/>
                    <a:pt x="53" y="96"/>
                  </a:cubicBezTo>
                  <a:cubicBezTo>
                    <a:pt x="62" y="96"/>
                    <a:pt x="69" y="94"/>
                    <a:pt x="76" y="92"/>
                  </a:cubicBezTo>
                  <a:cubicBezTo>
                    <a:pt x="79" y="97"/>
                    <a:pt x="79" y="97"/>
                    <a:pt x="79" y="97"/>
                  </a:cubicBezTo>
                  <a:cubicBezTo>
                    <a:pt x="71" y="100"/>
                    <a:pt x="63" y="102"/>
                    <a:pt x="53" y="102"/>
                  </a:cubicBezTo>
                  <a:close/>
                  <a:moveTo>
                    <a:pt x="48" y="28"/>
                  </a:moveTo>
                  <a:cubicBezTo>
                    <a:pt x="43" y="28"/>
                    <a:pt x="38" y="31"/>
                    <a:pt x="34" y="37"/>
                  </a:cubicBezTo>
                  <a:cubicBezTo>
                    <a:pt x="31" y="43"/>
                    <a:pt x="29" y="50"/>
                    <a:pt x="29" y="57"/>
                  </a:cubicBezTo>
                  <a:cubicBezTo>
                    <a:pt x="29" y="67"/>
                    <a:pt x="33" y="72"/>
                    <a:pt x="41" y="72"/>
                  </a:cubicBezTo>
                  <a:cubicBezTo>
                    <a:pt x="45" y="72"/>
                    <a:pt x="49" y="70"/>
                    <a:pt x="52" y="67"/>
                  </a:cubicBezTo>
                  <a:cubicBezTo>
                    <a:pt x="55" y="64"/>
                    <a:pt x="58" y="60"/>
                    <a:pt x="59" y="54"/>
                  </a:cubicBezTo>
                  <a:cubicBezTo>
                    <a:pt x="63" y="36"/>
                    <a:pt x="63" y="36"/>
                    <a:pt x="63" y="36"/>
                  </a:cubicBezTo>
                  <a:cubicBezTo>
                    <a:pt x="60" y="31"/>
                    <a:pt x="55" y="28"/>
                    <a:pt x="48" y="28"/>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8" name="Table 7"/>
          <p:cNvGraphicFramePr/>
          <p:nvPr/>
        </p:nvGraphicFramePr>
        <p:xfrm>
          <a:off x="304800" y="3129915"/>
          <a:ext cx="13703300" cy="6527165"/>
        </p:xfrm>
        <a:graphic>
          <a:graphicData uri="http://schemas.openxmlformats.org/drawingml/2006/table">
            <a:tbl>
              <a:tblPr firstRow="1" bandRow="1">
                <a:tableStyleId>{5C22544A-7EE6-4342-B048-85BDC9FD1C3A}</a:tableStyleId>
              </a:tblPr>
              <a:tblGrid>
                <a:gridCol w="13703300"/>
              </a:tblGrid>
              <a:tr h="6527165">
                <a:tc>
                  <a:txBody>
                    <a:bodyPr/>
                    <a:p>
                      <a:pPr>
                        <a:buNone/>
                      </a:pP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 Bước 6: Tính toán input bit và output byte</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int inputBits = fileSize * 8;</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int outputBytes = (encodedData.length()); // làm tròn lên khi cần thiết</a:t>
                      </a:r>
                      <a:endParaRPr lang="en-US" sz="2800">
                        <a:latin typeface="Consolas" panose="020B0609020204030204" charset="0"/>
                        <a:cs typeface="Consolas" panose="020B0609020204030204" charset="0"/>
                      </a:endParaRPr>
                    </a:p>
                    <a:p>
                      <a:pPr>
                        <a:buNone/>
                      </a:pP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 Bước 7: Tính tỷ lệ nén</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double compressionRatio = ((double)(inputBits-outputBytes) / inputBits*100;</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 In thông tin</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cout &lt;&lt; "Input byte: " &lt;&lt; inputBits &lt;&lt; " bytes" &lt;&lt; endl;</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cout &lt;&lt; "Ouput byte: " &lt;&lt; outputBytes &lt;&lt; " bytes" &lt;&lt; endl;</a:t>
                      </a:r>
                      <a:endParaRPr lang="en-US" sz="2800">
                        <a:latin typeface="Consolas" panose="020B0609020204030204" charset="0"/>
                        <a:cs typeface="Consolas" panose="020B0609020204030204" charset="0"/>
                      </a:endParaRPr>
                    </a:p>
                    <a:p>
                      <a:pPr>
                        <a:buNone/>
                      </a:pPr>
                      <a:r>
                        <a:rPr lang="en-US" sz="2800">
                          <a:latin typeface="Consolas" panose="020B0609020204030204" charset="0"/>
                          <a:cs typeface="Consolas" panose="020B0609020204030204" charset="0"/>
                        </a:rPr>
                        <a:t>cout &lt;&lt; "Ti le nen: " &lt;&lt; compressionRatio &lt;&lt; endl;</a:t>
                      </a:r>
                      <a:endParaRPr lang="en-US" sz="2800">
                        <a:latin typeface="Consolas" panose="020B0609020204030204" charset="0"/>
                        <a:cs typeface="Consolas" panose="020B0609020204030204" charset="0"/>
                      </a:endParaRPr>
                    </a:p>
                  </a:txBody>
                  <a:tcPr>
                    <a:no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1" name="组合 190"/>
          <p:cNvGrpSpPr/>
          <p:nvPr/>
        </p:nvGrpSpPr>
        <p:grpSpPr>
          <a:xfrm>
            <a:off x="15243467" y="8993183"/>
            <a:ext cx="2863664" cy="986211"/>
            <a:chOff x="579608" y="160665"/>
            <a:chExt cx="2863664" cy="986211"/>
          </a:xfrm>
        </p:grpSpPr>
        <p:sp>
          <p:nvSpPr>
            <p:cNvPr id="192" name="object 4"/>
            <p:cNvSpPr txBox="1">
              <a:spLocks noChangeArrowheads="1"/>
            </p:cNvSpPr>
            <p:nvPr/>
          </p:nvSpPr>
          <p:spPr bwMode="auto">
            <a:xfrm>
              <a:off x="1666917" y="408212"/>
              <a:ext cx="177635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nSpc>
                  <a:spcPct val="100000"/>
                </a:lnSpc>
                <a:spcBef>
                  <a:spcPct val="0"/>
                </a:spcBef>
                <a:buFont typeface="Arial" panose="020B0604020202020204" pitchFamily="34" charset="0"/>
                <a:buNone/>
              </a:pPr>
              <a:r>
                <a:rPr lang="en-US" altLang="zh-CN" sz="4800" dirty="0">
                  <a:solidFill>
                    <a:srgbClr val="FFFFFF"/>
                  </a:solidFill>
                  <a:latin typeface="Trebuchet MS" panose="020B0603020202020204" pitchFamily="34" charset="0"/>
                </a:rPr>
                <a:t>Logo</a:t>
              </a:r>
              <a:endParaRPr lang="zh-CN" altLang="zh-CN" sz="4800" dirty="0">
                <a:latin typeface="Trebuchet MS" panose="020B0603020202020204" pitchFamily="34" charset="0"/>
              </a:endParaRPr>
            </a:p>
          </p:txBody>
        </p:sp>
        <p:grpSp>
          <p:nvGrpSpPr>
            <p:cNvPr id="193" name="组合 192"/>
            <p:cNvGrpSpPr/>
            <p:nvPr/>
          </p:nvGrpSpPr>
          <p:grpSpPr>
            <a:xfrm>
              <a:off x="579608" y="160665"/>
              <a:ext cx="974384" cy="986211"/>
              <a:chOff x="397216" y="59618"/>
              <a:chExt cx="608013" cy="619125"/>
            </a:xfrm>
          </p:grpSpPr>
          <p:sp>
            <p:nvSpPr>
              <p:cNvPr id="194" name="object 5"/>
              <p:cNvSpPr/>
              <p:nvPr/>
            </p:nvSpPr>
            <p:spPr bwMode="auto">
              <a:xfrm>
                <a:off x="511692" y="59618"/>
                <a:ext cx="137616" cy="277508"/>
              </a:xfrm>
              <a:custGeom>
                <a:avLst/>
                <a:gdLst>
                  <a:gd name="T0" fmla="*/ 17947 w 226695"/>
                  <a:gd name="T1" fmla="*/ 0 h 262254"/>
                  <a:gd name="T2" fmla="*/ 0 w 226695"/>
                  <a:gd name="T3" fmla="*/ 199216 h 262254"/>
                  <a:gd name="T4" fmla="*/ 30713 w 226695"/>
                  <a:gd name="T5" fmla="*/ 328526 h 262254"/>
                  <a:gd name="T6" fmla="*/ 17947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5" name="object 6"/>
              <p:cNvSpPr/>
              <p:nvPr/>
            </p:nvSpPr>
            <p:spPr bwMode="auto">
              <a:xfrm>
                <a:off x="549671" y="401235"/>
                <a:ext cx="364277" cy="277508"/>
              </a:xfrm>
              <a:custGeom>
                <a:avLst/>
                <a:gdLst>
                  <a:gd name="T0" fmla="*/ 50777 w 600075"/>
                  <a:gd name="T1" fmla="*/ 0 h 479425"/>
                  <a:gd name="T2" fmla="*/ 0 w 600075"/>
                  <a:gd name="T3" fmla="*/ 50470 h 479425"/>
                  <a:gd name="T4" fmla="*/ 60574 w 600075"/>
                  <a:gd name="T5" fmla="*/ 53792 h 479425"/>
                  <a:gd name="T6" fmla="*/ 81490 w 600075"/>
                  <a:gd name="T7" fmla="*/ 11578 h 479425"/>
                  <a:gd name="T8" fmla="*/ 50777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E2463E"/>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6" name="object 7"/>
              <p:cNvSpPr/>
              <p:nvPr/>
            </p:nvSpPr>
            <p:spPr bwMode="auto">
              <a:xfrm>
                <a:off x="620136" y="156455"/>
                <a:ext cx="385093" cy="277508"/>
              </a:xfrm>
              <a:custGeom>
                <a:avLst/>
                <a:gdLst>
                  <a:gd name="T0" fmla="*/ 0 w 634365"/>
                  <a:gd name="T1" fmla="*/ 0 h 229235"/>
                  <a:gd name="T2" fmla="*/ 68160 w 634365"/>
                  <a:gd name="T3" fmla="*/ 491621 h 229235"/>
                  <a:gd name="T4" fmla="*/ 86107 w 634365"/>
                  <a:gd name="T5" fmla="*/ 1503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7" name="object 8"/>
              <p:cNvSpPr/>
              <p:nvPr/>
            </p:nvSpPr>
            <p:spPr bwMode="auto">
              <a:xfrm>
                <a:off x="404346" y="198371"/>
                <a:ext cx="145325" cy="193672"/>
              </a:xfrm>
              <a:custGeom>
                <a:avLst/>
                <a:gdLst>
                  <a:gd name="T0" fmla="*/ 20063 w 200025"/>
                  <a:gd name="T1" fmla="*/ 0 h 678814"/>
                  <a:gd name="T2" fmla="*/ 0 w 200025"/>
                  <a:gd name="T3" fmla="*/ 2200 h 678814"/>
                  <a:gd name="T4" fmla="*/ 55732 w 200025"/>
                  <a:gd name="T5" fmla="*/ 4496 h 678814"/>
                  <a:gd name="T6" fmla="*/ 2006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8" name="object 9"/>
              <p:cNvSpPr/>
              <p:nvPr/>
            </p:nvSpPr>
            <p:spPr bwMode="auto">
              <a:xfrm>
                <a:off x="397216" y="361773"/>
                <a:ext cx="304912" cy="277508"/>
              </a:xfrm>
              <a:custGeom>
                <a:avLst/>
                <a:gdLst>
                  <a:gd name="T0" fmla="*/ 0 w 502284"/>
                  <a:gd name="T1" fmla="*/ 0 h 678814"/>
                  <a:gd name="T2" fmla="*/ 17385 w 502284"/>
                  <a:gd name="T3" fmla="*/ 18951 h 678814"/>
                  <a:gd name="T4" fmla="*/ 68162 w 502284"/>
                  <a:gd name="T5" fmla="*/ 6394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gr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179035" y="1453983"/>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4</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544310" y="3168650"/>
            <a:ext cx="9786620"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Hình ảnh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minh </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họa mã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hóa</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609600" y="730250"/>
            <a:ext cx="112642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Hình ảnh minh họa mã </a:t>
            </a:r>
            <a:r>
              <a:rPr lang="vi-VN" altLang="zh-CN" sz="4000" dirty="0" smtClean="0">
                <a:solidFill>
                  <a:srgbClr val="FFFFFF"/>
                </a:solidFill>
                <a:latin typeface="Microsoft YaHei" panose="020B0503020204020204" pitchFamily="34" charset="-122"/>
                <a:ea typeface="Microsoft YaHei" panose="020B0503020204020204" pitchFamily="34" charset="-122"/>
              </a:rPr>
              <a:t>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13" name="Picture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04800" y="1720850"/>
            <a:ext cx="21475700" cy="11599545"/>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4" name="Picture 2"/>
          <p:cNvPicPr>
            <a:picLocks noChangeAspect="1"/>
          </p:cNvPicPr>
          <p:nvPr/>
        </p:nvPicPr>
        <p:blipFill>
          <a:blip r:embed="rId1"/>
          <a:stretch>
            <a:fillRect/>
          </a:stretch>
        </p:blipFill>
        <p:spPr>
          <a:xfrm>
            <a:off x="1447800" y="1644650"/>
            <a:ext cx="15243810" cy="8161020"/>
          </a:xfrm>
          <a:prstGeom prst="rect">
            <a:avLst/>
          </a:prstGeom>
          <a:noFill/>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18" name="Picture 4"/>
          <p:cNvPicPr>
            <a:picLocks noChangeAspect="1"/>
          </p:cNvPicPr>
          <p:nvPr/>
        </p:nvPicPr>
        <p:blipFill>
          <a:blip r:embed="rId1"/>
          <a:stretch>
            <a:fillRect/>
          </a:stretch>
        </p:blipFill>
        <p:spPr>
          <a:xfrm>
            <a:off x="1676400" y="1644650"/>
            <a:ext cx="14935200" cy="7995920"/>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35</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7" name="Picture 3"/>
          <p:cNvPicPr>
            <a:picLocks noChangeAspect="1"/>
          </p:cNvPicPr>
          <p:nvPr/>
        </p:nvPicPr>
        <p:blipFill>
          <a:blip r:embed="rId1"/>
          <a:stretch>
            <a:fillRect/>
          </a:stretch>
        </p:blipFill>
        <p:spPr>
          <a:xfrm>
            <a:off x="1832610" y="1797050"/>
            <a:ext cx="14623415" cy="7828280"/>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36</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24" name="Picture 6"/>
          <p:cNvPicPr>
            <a:picLocks noChangeAspect="1"/>
          </p:cNvPicPr>
          <p:nvPr/>
        </p:nvPicPr>
        <p:blipFill>
          <a:blip r:embed="rId1"/>
          <a:stretch>
            <a:fillRect/>
          </a:stretch>
        </p:blipFill>
        <p:spPr>
          <a:xfrm>
            <a:off x="1873885" y="1644650"/>
            <a:ext cx="14540865" cy="7785100"/>
          </a:xfrm>
          <a:prstGeom prst="rect">
            <a:avLst/>
          </a:prstGeom>
          <a:noFill/>
          <a:ln>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37</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25" name="Picture 7"/>
          <p:cNvPicPr>
            <a:picLocks noChangeAspect="1"/>
          </p:cNvPicPr>
          <p:nvPr/>
        </p:nvPicPr>
        <p:blipFill>
          <a:blip r:embed="rId1"/>
          <a:stretch>
            <a:fillRect/>
          </a:stretch>
        </p:blipFill>
        <p:spPr>
          <a:xfrm>
            <a:off x="1600200" y="1644650"/>
            <a:ext cx="14871065" cy="7961630"/>
          </a:xfrm>
          <a:prstGeom prst="rect">
            <a:avLst/>
          </a:prstGeom>
          <a:noFill/>
          <a:ln>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26" name="Picture 8"/>
          <p:cNvPicPr>
            <a:picLocks noChangeAspect="1"/>
          </p:cNvPicPr>
          <p:nvPr/>
        </p:nvPicPr>
        <p:blipFill>
          <a:blip r:embed="rId1"/>
          <a:stretch>
            <a:fillRect/>
          </a:stretch>
        </p:blipFill>
        <p:spPr>
          <a:xfrm>
            <a:off x="1371600" y="1569085"/>
            <a:ext cx="15718155" cy="8415020"/>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39</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sp>
        <p:nvSpPr>
          <p:cNvPr id="5" name="Rounded Rectangle 4"/>
          <p:cNvSpPr/>
          <p:nvPr/>
        </p:nvSpPr>
        <p:spPr>
          <a:xfrm>
            <a:off x="304800" y="638810"/>
            <a:ext cx="11527155"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838200" y="730250"/>
            <a:ext cx="135947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Hình ảnh minh họa mã hóa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pic>
        <p:nvPicPr>
          <p:cNvPr id="28" name="Picture 9"/>
          <p:cNvPicPr>
            <a:picLocks noChangeAspect="1"/>
          </p:cNvPicPr>
          <p:nvPr/>
        </p:nvPicPr>
        <p:blipFill>
          <a:blip r:embed="rId1"/>
          <a:stretch>
            <a:fillRect/>
          </a:stretch>
        </p:blipFill>
        <p:spPr>
          <a:xfrm>
            <a:off x="1371600" y="1568450"/>
            <a:ext cx="15540355" cy="8319770"/>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4"/>
          <p:cNvGrpSpPr/>
          <p:nvPr/>
        </p:nvGrpSpPr>
        <p:grpSpPr bwMode="auto">
          <a:xfrm>
            <a:off x="0" y="-1624"/>
            <a:ext cx="6324600" cy="10315414"/>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grpSp>
      <p:sp>
        <p:nvSpPr>
          <p:cNvPr id="51" name="object 3"/>
          <p:cNvSpPr>
            <a:spLocks noChangeArrowheads="1"/>
          </p:cNvSpPr>
          <p:nvPr/>
        </p:nvSpPr>
        <p:spPr bwMode="auto">
          <a:xfrm>
            <a:off x="6934360" y="4161105"/>
            <a:ext cx="9658350" cy="13849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9525" algn="ctr">
              <a:defRPr/>
            </a:pPr>
            <a:r>
              <a:rPr lang="en-US" altLang="zh-CN" sz="9000" b="1" dirty="0">
                <a:solidFill>
                  <a:srgbClr val="FFFFFF"/>
                </a:solidFill>
                <a:latin typeface="Trebuchet MS" panose="020B0603020202020204" pitchFamily="34" charset="0"/>
                <a:ea typeface="SimSun" panose="02010600030101010101" pitchFamily="2" charset="-122"/>
                <a:sym typeface="Trebuchet MS" panose="020B0603020202020204" pitchFamily="34" charset="0"/>
              </a:rPr>
              <a:t>THANKS</a:t>
            </a:r>
            <a:r>
              <a:rPr lang="zh-CN" altLang="en-US" sz="9000" b="1" dirty="0">
                <a:solidFill>
                  <a:schemeClr val="bg1"/>
                </a:solidFill>
                <a:latin typeface="Microsoft YaHei" panose="020B0503020204020204" pitchFamily="34" charset="-122"/>
                <a:ea typeface="Microsoft YaHei" panose="020B0503020204020204" pitchFamily="34" charset="-122"/>
                <a:sym typeface="Trebuchet MS" panose="020B0603020202020204" pitchFamily="34" charset="0"/>
              </a:rPr>
              <a:t>！</a:t>
            </a:r>
            <a:endParaRPr lang="en-US" altLang="zh-CN" sz="9000" b="1" dirty="0">
              <a:solidFill>
                <a:schemeClr val="bg1"/>
              </a:solidFill>
              <a:latin typeface="Microsoft YaHei" panose="020B0503020204020204" pitchFamily="34" charset="-122"/>
              <a:ea typeface="Microsoft YaHei" panose="020B0503020204020204" pitchFamily="34" charset="-122"/>
              <a:sym typeface="Trebuchet MS" panose="020B0603020202020204" pitchFamily="34" charset="0"/>
            </a:endParaRPr>
          </a:p>
        </p:txBody>
      </p:sp>
      <p:sp>
        <p:nvSpPr>
          <p:cNvPr id="2" name="object 3"/>
          <p:cNvSpPr txBox="1"/>
          <p:nvPr/>
        </p:nvSpPr>
        <p:spPr>
          <a:xfrm>
            <a:off x="381000" y="3321050"/>
            <a:ext cx="5736590" cy="96964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Học phần: Công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nghệ </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đa phương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tiện</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
        <p:nvSpPr>
          <p:cNvPr id="4" name="object 3"/>
          <p:cNvSpPr txBox="1"/>
          <p:nvPr/>
        </p:nvSpPr>
        <p:spPr>
          <a:xfrm>
            <a:off x="-152400" y="1416050"/>
            <a:ext cx="5955665" cy="1499235"/>
          </a:xfrm>
          <a:prstGeom prst="rect">
            <a:avLst/>
          </a:prstGeom>
        </p:spPr>
        <p:txBody>
          <a:bodyPr vert="horz" wrap="square" lIns="0" tIns="0" rIns="0" bIns="0" rtlCol="0">
            <a:noAutofit/>
          </a:bodyPr>
          <a:p>
            <a:pPr algn="ctr">
              <a:lnSpc>
                <a:spcPct val="110000"/>
              </a:lnSpc>
            </a:pPr>
            <a:r>
              <a:rPr lang="vi-VN" altLang="zh-CN" sz="10000" b="1" dirty="0" smtClean="0">
                <a:solidFill>
                  <a:schemeClr val="bg1"/>
                </a:solidFill>
                <a:latin typeface="Microsoft YaHei" panose="020B0503020204020204" pitchFamily="34" charset="-122"/>
                <a:ea typeface="Microsoft YaHei" panose="020B0503020204020204" pitchFamily="34" charset="-122"/>
                <a:cs typeface="Arial" panose="020B0604020202020204"/>
              </a:rPr>
              <a:t>Nhóm 6</a:t>
            </a:r>
            <a:endParaRPr lang="vi-VN" altLang="zh-CN" sz="10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21056</Words>
  <Application>WPS Presentation</Application>
  <PresentationFormat>自定义</PresentationFormat>
  <Paragraphs>559</Paragraphs>
  <Slides>46</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46</vt:i4>
      </vt:variant>
    </vt:vector>
  </HeadingPairs>
  <TitlesOfParts>
    <vt:vector size="66" baseType="lpstr">
      <vt:lpstr>Arial</vt:lpstr>
      <vt:lpstr>SimSun</vt:lpstr>
      <vt:lpstr>Wingdings</vt:lpstr>
      <vt:lpstr>Microsoft YaHei</vt:lpstr>
      <vt:lpstr>Calibri</vt:lpstr>
      <vt:lpstr>Arial</vt:lpstr>
      <vt:lpstr>Calibri</vt:lpstr>
      <vt:lpstr>Gungsuh</vt:lpstr>
      <vt:lpstr>Malgun Gothic</vt:lpstr>
      <vt:lpstr>Impact</vt:lpstr>
      <vt:lpstr>Times New Roman</vt:lpstr>
      <vt:lpstr>Wingdings</vt:lpstr>
      <vt:lpstr>Cambria Math</vt:lpstr>
      <vt:lpstr>MS Mincho</vt:lpstr>
      <vt:lpstr>Arial Unicode MS</vt:lpstr>
      <vt:lpstr>Consolas</vt:lpstr>
      <vt:lpstr>Trebuchet MS</vt:lpstr>
      <vt:lpstr>PMingLiU</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Jonathan Marginson</dc:creator>
  <cp:lastModifiedBy>trí dũng</cp:lastModifiedBy>
  <cp:revision>99</cp:revision>
  <dcterms:created xsi:type="dcterms:W3CDTF">2015-06-16T20:27:00Z</dcterms:created>
  <dcterms:modified xsi:type="dcterms:W3CDTF">2024-01-13T08:51:28Z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2015-05-10T08:00:00Z</vt:filetime>
  </property>
  <property fmtid="{D5CDD505-2E9C-101B-9397-08002B2CF9AE}" pid="3" name="LastSaved">
    <vt:filetime>2015-06-18T08:00:00Z</vt:filetime>
  </property>
  <property fmtid="{D5CDD505-2E9C-101B-9397-08002B2CF9AE}" pid="4" name="KSOProductBuildVer">
    <vt:lpwstr>1033-12.2.0.13412</vt:lpwstr>
  </property>
  <property fmtid="{D5CDD505-2E9C-101B-9397-08002B2CF9AE}" pid="5" name="ICV">
    <vt:lpwstr>72BB5B3651AD429EAF2C782B072D497B_13</vt:lpwstr>
  </property>
</Properties>
</file>