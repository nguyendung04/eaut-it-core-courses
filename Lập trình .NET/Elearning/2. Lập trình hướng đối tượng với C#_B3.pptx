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1" r:id="rId2"/>
    <p:sldMasterId id="2147483698" r:id="rId3"/>
  </p:sldMasterIdLst>
  <p:notesMasterIdLst>
    <p:notesMasterId r:id="rId49"/>
  </p:notesMasterIdLst>
  <p:handoutMasterIdLst>
    <p:handoutMasterId r:id="rId50"/>
  </p:handoutMasterIdLst>
  <p:sldIdLst>
    <p:sldId id="256" r:id="rId4"/>
    <p:sldId id="644" r:id="rId5"/>
    <p:sldId id="704" r:id="rId6"/>
    <p:sldId id="705" r:id="rId7"/>
    <p:sldId id="344" r:id="rId8"/>
    <p:sldId id="362" r:id="rId9"/>
    <p:sldId id="364" r:id="rId10"/>
    <p:sldId id="345" r:id="rId11"/>
    <p:sldId id="365" r:id="rId12"/>
    <p:sldId id="348" r:id="rId13"/>
    <p:sldId id="346" r:id="rId14"/>
    <p:sldId id="706" r:id="rId15"/>
    <p:sldId id="363" r:id="rId16"/>
    <p:sldId id="347" r:id="rId17"/>
    <p:sldId id="349" r:id="rId18"/>
    <p:sldId id="350" r:id="rId19"/>
    <p:sldId id="351" r:id="rId20"/>
    <p:sldId id="372" r:id="rId21"/>
    <p:sldId id="371" r:id="rId22"/>
    <p:sldId id="373" r:id="rId23"/>
    <p:sldId id="374" r:id="rId24"/>
    <p:sldId id="375" r:id="rId25"/>
    <p:sldId id="376" r:id="rId26"/>
    <p:sldId id="377" r:id="rId27"/>
    <p:sldId id="707" r:id="rId28"/>
    <p:sldId id="352" r:id="rId29"/>
    <p:sldId id="353" r:id="rId30"/>
    <p:sldId id="354" r:id="rId31"/>
    <p:sldId id="367" r:id="rId32"/>
    <p:sldId id="368" r:id="rId33"/>
    <p:sldId id="355" r:id="rId34"/>
    <p:sldId id="356" r:id="rId35"/>
    <p:sldId id="357" r:id="rId36"/>
    <p:sldId id="358" r:id="rId37"/>
    <p:sldId id="359" r:id="rId38"/>
    <p:sldId id="360" r:id="rId39"/>
    <p:sldId id="366" r:id="rId40"/>
    <p:sldId id="369" r:id="rId41"/>
    <p:sldId id="383" r:id="rId42"/>
    <p:sldId id="384" r:id="rId43"/>
    <p:sldId id="370" r:id="rId44"/>
    <p:sldId id="361" r:id="rId45"/>
    <p:sldId id="708" r:id="rId46"/>
    <p:sldId id="709" r:id="rId47"/>
    <p:sldId id="710" r:id="rId48"/>
  </p:sldIdLst>
  <p:sldSz cx="9144000" cy="6858000" type="screen4x3"/>
  <p:notesSz cx="6858000" cy="9144000"/>
  <p:custDataLst>
    <p:tags r:id="rId51"/>
  </p:custDataLst>
  <p:defaultTextStyle>
    <a:defPPr>
      <a:defRPr lang="en-US"/>
    </a:defPPr>
    <a:lvl1pPr algn="ctr" rtl="0" eaLnBrk="0" fontAlgn="base" hangingPunct="0">
      <a:spcBef>
        <a:spcPct val="0"/>
      </a:spcBef>
      <a:spcAft>
        <a:spcPct val="0"/>
      </a:spcAft>
      <a:defRPr sz="2000" b="1" kern="1200">
        <a:solidFill>
          <a:schemeClr val="bg1"/>
        </a:solidFill>
        <a:latin typeface="Arial" charset="0"/>
        <a:ea typeface="+mn-ea"/>
        <a:cs typeface="+mn-cs"/>
      </a:defRPr>
    </a:lvl1pPr>
    <a:lvl2pPr marL="457200" algn="ctr" rtl="0" eaLnBrk="0" fontAlgn="base" hangingPunct="0">
      <a:spcBef>
        <a:spcPct val="0"/>
      </a:spcBef>
      <a:spcAft>
        <a:spcPct val="0"/>
      </a:spcAft>
      <a:defRPr sz="2000" b="1" kern="1200">
        <a:solidFill>
          <a:schemeClr val="bg1"/>
        </a:solidFill>
        <a:latin typeface="Arial" charset="0"/>
        <a:ea typeface="+mn-ea"/>
        <a:cs typeface="+mn-cs"/>
      </a:defRPr>
    </a:lvl2pPr>
    <a:lvl3pPr marL="914400" algn="ctr" rtl="0" eaLnBrk="0" fontAlgn="base" hangingPunct="0">
      <a:spcBef>
        <a:spcPct val="0"/>
      </a:spcBef>
      <a:spcAft>
        <a:spcPct val="0"/>
      </a:spcAft>
      <a:defRPr sz="2000" b="1" kern="1200">
        <a:solidFill>
          <a:schemeClr val="bg1"/>
        </a:solidFill>
        <a:latin typeface="Arial" charset="0"/>
        <a:ea typeface="+mn-ea"/>
        <a:cs typeface="+mn-cs"/>
      </a:defRPr>
    </a:lvl3pPr>
    <a:lvl4pPr marL="1371600" algn="ctr" rtl="0" eaLnBrk="0" fontAlgn="base" hangingPunct="0">
      <a:spcBef>
        <a:spcPct val="0"/>
      </a:spcBef>
      <a:spcAft>
        <a:spcPct val="0"/>
      </a:spcAft>
      <a:defRPr sz="2000" b="1" kern="1200">
        <a:solidFill>
          <a:schemeClr val="bg1"/>
        </a:solidFill>
        <a:latin typeface="Arial" charset="0"/>
        <a:ea typeface="+mn-ea"/>
        <a:cs typeface="+mn-cs"/>
      </a:defRPr>
    </a:lvl4pPr>
    <a:lvl5pPr marL="1828800" algn="ctr" rtl="0" eaLnBrk="0" fontAlgn="base" hangingPunct="0">
      <a:spcBef>
        <a:spcPct val="0"/>
      </a:spcBef>
      <a:spcAft>
        <a:spcPct val="0"/>
      </a:spcAft>
      <a:defRPr sz="2000" b="1" kern="1200">
        <a:solidFill>
          <a:schemeClr val="bg1"/>
        </a:solidFill>
        <a:latin typeface="Arial" charset="0"/>
        <a:ea typeface="+mn-ea"/>
        <a:cs typeface="+mn-cs"/>
      </a:defRPr>
    </a:lvl5pPr>
    <a:lvl6pPr marL="2286000" algn="l" defTabSz="914400" rtl="0" eaLnBrk="1" latinLnBrk="0" hangingPunct="1">
      <a:defRPr sz="2000" b="1" kern="1200">
        <a:solidFill>
          <a:schemeClr val="bg1"/>
        </a:solidFill>
        <a:latin typeface="Arial" charset="0"/>
        <a:ea typeface="+mn-ea"/>
        <a:cs typeface="+mn-cs"/>
      </a:defRPr>
    </a:lvl6pPr>
    <a:lvl7pPr marL="2743200" algn="l" defTabSz="914400" rtl="0" eaLnBrk="1" latinLnBrk="0" hangingPunct="1">
      <a:defRPr sz="2000" b="1" kern="1200">
        <a:solidFill>
          <a:schemeClr val="bg1"/>
        </a:solidFill>
        <a:latin typeface="Arial" charset="0"/>
        <a:ea typeface="+mn-ea"/>
        <a:cs typeface="+mn-cs"/>
      </a:defRPr>
    </a:lvl7pPr>
    <a:lvl8pPr marL="3200400" algn="l" defTabSz="914400" rtl="0" eaLnBrk="1" latinLnBrk="0" hangingPunct="1">
      <a:defRPr sz="2000" b="1" kern="1200">
        <a:solidFill>
          <a:schemeClr val="bg1"/>
        </a:solidFill>
        <a:latin typeface="Arial" charset="0"/>
        <a:ea typeface="+mn-ea"/>
        <a:cs typeface="+mn-cs"/>
      </a:defRPr>
    </a:lvl8pPr>
    <a:lvl9pPr marL="3657600" algn="l" defTabSz="914400" rtl="0" eaLnBrk="1" latinLnBrk="0" hangingPunct="1">
      <a:defRPr sz="2000" b="1"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00"/>
    <a:srgbClr val="000000"/>
    <a:srgbClr val="99CCFF"/>
    <a:srgbClr val="000066"/>
    <a:srgbClr val="0066FF"/>
    <a:srgbClr val="66FFCC"/>
    <a:srgbClr val="FFFF00"/>
    <a:srgbClr val="003366"/>
    <a:srgbClr val="6D77BF"/>
    <a:srgbClr val="FFFF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32" autoAdjust="0"/>
    <p:restoredTop sz="87059" autoAdjust="0"/>
  </p:normalViewPr>
  <p:slideViewPr>
    <p:cSldViewPr>
      <p:cViewPr>
        <p:scale>
          <a:sx n="66" d="100"/>
          <a:sy n="66" d="100"/>
        </p:scale>
        <p:origin x="1710"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tags" Target="tags/tag1.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r>
              <a:rPr lang="en-US"/>
              <a:t>2/25/2015</a:t>
            </a: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3386F88-3FE7-405B-BE94-6829C42340B9}" type="slidenum">
              <a:rPr lang="en-US" smtClean="0"/>
              <a:pPr/>
              <a:t>‹#›</a:t>
            </a:fld>
            <a:endParaRPr lang="en-US"/>
          </a:p>
        </p:txBody>
      </p:sp>
    </p:spTree>
    <p:extLst>
      <p:ext uri="{BB962C8B-B14F-4D97-AF65-F5344CB8AC3E}">
        <p14:creationId xmlns:p14="http://schemas.microsoft.com/office/powerpoint/2010/main" val="25360194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r>
              <a:rPr lang="en-US"/>
              <a:t>2/25/2015</a:t>
            </a: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13CA4F-A9C9-4EFC-90C3-4AFCE306301D}" type="slidenum">
              <a:rPr lang="en-US" smtClean="0"/>
              <a:pPr/>
              <a:t>‹#›</a:t>
            </a:fld>
            <a:endParaRPr lang="en-US"/>
          </a:p>
        </p:txBody>
      </p:sp>
    </p:spTree>
    <p:extLst>
      <p:ext uri="{BB962C8B-B14F-4D97-AF65-F5344CB8AC3E}">
        <p14:creationId xmlns:p14="http://schemas.microsoft.com/office/powerpoint/2010/main" val="33457427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13CA4F-A9C9-4EFC-90C3-4AFCE306301D}" type="slidenum">
              <a:rPr lang="en-US" smtClean="0"/>
              <a:pPr/>
              <a:t>1</a:t>
            </a:fld>
            <a:endParaRPr lang="en-US"/>
          </a:p>
        </p:txBody>
      </p:sp>
    </p:spTree>
    <p:extLst>
      <p:ext uri="{BB962C8B-B14F-4D97-AF65-F5344CB8AC3E}">
        <p14:creationId xmlns:p14="http://schemas.microsoft.com/office/powerpoint/2010/main" val="2937520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13CA4F-A9C9-4EFC-90C3-4AFCE306301D}" type="slidenum">
              <a:rPr lang="en-US" smtClean="0"/>
              <a:pPr/>
              <a:t>2</a:t>
            </a:fld>
            <a:endParaRPr lang="en-US"/>
          </a:p>
        </p:txBody>
      </p:sp>
    </p:spTree>
    <p:extLst>
      <p:ext uri="{BB962C8B-B14F-4D97-AF65-F5344CB8AC3E}">
        <p14:creationId xmlns:p14="http://schemas.microsoft.com/office/powerpoint/2010/main" val="970614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BC6B6864-FF9E-9A92-064A-B14EA877CF8B}"/>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D68EF9CC-9B8B-B989-C7DD-DF85C8630007}"/>
              </a:ext>
            </a:extLst>
          </p:cNvPr>
          <p:cNvSpPr>
            <a:spLocks noGrp="1"/>
          </p:cNvSpPr>
          <p:nvPr>
            <p:ph type="body" idx="1"/>
          </p:nvPr>
        </p:nvSpPr>
        <p:spPr>
          <a:noFill/>
        </p:spPr>
        <p:txBody>
          <a:bodyPr/>
          <a:lstStyle/>
          <a:p>
            <a:r>
              <a:rPr lang="en-US" altLang="en-US"/>
              <a:t>CLR common language runtime</a:t>
            </a:r>
          </a:p>
        </p:txBody>
      </p:sp>
      <p:sp>
        <p:nvSpPr>
          <p:cNvPr id="31748" name="Slide Number Placeholder 3">
            <a:extLst>
              <a:ext uri="{FF2B5EF4-FFF2-40B4-BE49-F238E27FC236}">
                <a16:creationId xmlns:a16="http://schemas.microsoft.com/office/drawing/2014/main" id="{C97D937B-EF77-361C-1383-B476C7E9C98D}"/>
              </a:ext>
            </a:extLst>
          </p:cNvPr>
          <p:cNvSpPr>
            <a:spLocks noGrp="1"/>
          </p:cNvSpPr>
          <p:nvPr>
            <p:ph type="sldNum" sz="quarter" idx="5"/>
          </p:nvPr>
        </p:nvSpPr>
        <p:spPr>
          <a:noFill/>
        </p:spPr>
        <p:txBody>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228B559-2DCE-4D4B-B363-102D6519F6EC}"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2.bin"/><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3089" name="Object 17"/>
          <p:cNvGraphicFramePr>
            <a:graphicFrameLocks noChangeAspect="1"/>
          </p:cNvGraphicFramePr>
          <p:nvPr>
            <p:extLst>
              <p:ext uri="{D42A27DB-BD31-4B8C-83A1-F6EECF244321}">
                <p14:modId xmlns:p14="http://schemas.microsoft.com/office/powerpoint/2010/main" val="3270734897"/>
              </p:ext>
            </p:extLst>
          </p:nvPr>
        </p:nvGraphicFramePr>
        <p:xfrm>
          <a:off x="76202" y="76201"/>
          <a:ext cx="9015410" cy="3124199"/>
        </p:xfrm>
        <a:graphic>
          <a:graphicData uri="http://schemas.openxmlformats.org/presentationml/2006/ole">
            <mc:AlternateContent xmlns:mc="http://schemas.openxmlformats.org/markup-compatibility/2006">
              <mc:Choice xmlns:v="urn:schemas-microsoft-com:vml" Requires="v">
                <p:oleObj name="Image" r:id="rId2" imgW="8673016" imgH="4647619" progId="">
                  <p:embed/>
                </p:oleObj>
              </mc:Choice>
              <mc:Fallback>
                <p:oleObj name="Image" r:id="rId2" imgW="8673016" imgH="4647619" progId="">
                  <p:embed/>
                  <p:pic>
                    <p:nvPicPr>
                      <p:cNvPr id="0" name="Picture 7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2" y="76201"/>
                        <a:ext cx="9015410" cy="3124199"/>
                      </a:xfrm>
                      <a:prstGeom prst="rect">
                        <a:avLst/>
                      </a:prstGeom>
                      <a:noFill/>
                    </p:spPr>
                  </p:pic>
                </p:oleObj>
              </mc:Fallback>
            </mc:AlternateContent>
          </a:graphicData>
        </a:graphic>
      </p:graphicFrame>
      <p:sp>
        <p:nvSpPr>
          <p:cNvPr id="3090" name="Rectangle 18"/>
          <p:cNvSpPr>
            <a:spLocks noChangeArrowheads="1"/>
          </p:cNvSpPr>
          <p:nvPr userDrawn="1"/>
        </p:nvSpPr>
        <p:spPr bwMode="gray">
          <a:xfrm>
            <a:off x="0" y="3276600"/>
            <a:ext cx="9091612" cy="35401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091" name="Group 19"/>
          <p:cNvGrpSpPr>
            <a:grpSpLocks/>
          </p:cNvGrpSpPr>
          <p:nvPr/>
        </p:nvGrpSpPr>
        <p:grpSpPr bwMode="auto">
          <a:xfrm>
            <a:off x="-6350" y="0"/>
            <a:ext cx="9155113" cy="6859588"/>
            <a:chOff x="0" y="0"/>
            <a:chExt cx="5764" cy="4321"/>
          </a:xfrm>
        </p:grpSpPr>
        <p:sp>
          <p:nvSpPr>
            <p:cNvPr id="3092" name="AutoShape 20"/>
            <p:cNvSpPr>
              <a:spLocks noChangeArrowheads="1"/>
            </p:cNvSpPr>
            <p:nvPr/>
          </p:nvSpPr>
          <p:spPr bwMode="gray">
            <a:xfrm>
              <a:off x="27" y="24"/>
              <a:ext cx="5712" cy="4274"/>
            </a:xfrm>
            <a:prstGeom prst="roundRect">
              <a:avLst>
                <a:gd name="adj" fmla="val 6227"/>
              </a:avLst>
            </a:prstGeom>
            <a:noFill/>
            <a:ln w="76200">
              <a:solidFill>
                <a:schemeClr val="bg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93" name="Freeform 21"/>
            <p:cNvSpPr>
              <a:spLocks/>
            </p:cNvSpPr>
            <p:nvPr/>
          </p:nvSpPr>
          <p:spPr bwMode="gray">
            <a:xfrm>
              <a:off x="0" y="0"/>
              <a:ext cx="288" cy="282"/>
            </a:xfrm>
            <a:custGeom>
              <a:avLst/>
              <a:gdLst>
                <a:gd name="T0" fmla="*/ 2 w 288"/>
                <a:gd name="T1" fmla="*/ 282 h 282"/>
                <a:gd name="T2" fmla="*/ 82 w 288"/>
                <a:gd name="T3" fmla="*/ 144 h 282"/>
                <a:gd name="T4" fmla="*/ 165 w 288"/>
                <a:gd name="T5" fmla="*/ 36 h 282"/>
                <a:gd name="T6" fmla="*/ 288 w 288"/>
                <a:gd name="T7" fmla="*/ 0 h 282"/>
                <a:gd name="T8" fmla="*/ 0 w 288"/>
                <a:gd name="T9" fmla="*/ 0 h 282"/>
              </a:gdLst>
              <a:ahLst/>
              <a:cxnLst>
                <a:cxn ang="0">
                  <a:pos x="T0" y="T1"/>
                </a:cxn>
                <a:cxn ang="0">
                  <a:pos x="T2" y="T3"/>
                </a:cxn>
                <a:cxn ang="0">
                  <a:pos x="T4" y="T5"/>
                </a:cxn>
                <a:cxn ang="0">
                  <a:pos x="T6" y="T7"/>
                </a:cxn>
                <a:cxn ang="0">
                  <a:pos x="T8" y="T9"/>
                </a:cxn>
              </a:cxnLst>
              <a:rect l="0" t="0" r="r" b="b"/>
              <a:pathLst>
                <a:path w="288" h="282">
                  <a:moveTo>
                    <a:pt x="2" y="282"/>
                  </a:moveTo>
                  <a:lnTo>
                    <a:pt x="82" y="144"/>
                  </a:lnTo>
                  <a:lnTo>
                    <a:pt x="165" y="36"/>
                  </a:lnTo>
                  <a:lnTo>
                    <a:pt x="288" y="0"/>
                  </a:lnTo>
                  <a:lnTo>
                    <a:pt x="0"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94" name="Freeform 22"/>
            <p:cNvSpPr>
              <a:spLocks/>
            </p:cNvSpPr>
            <p:nvPr/>
          </p:nvSpPr>
          <p:spPr bwMode="gray">
            <a:xfrm>
              <a:off x="5" y="3985"/>
              <a:ext cx="244" cy="336"/>
            </a:xfrm>
            <a:custGeom>
              <a:avLst/>
              <a:gdLst>
                <a:gd name="T0" fmla="*/ 243 w 243"/>
                <a:gd name="T1" fmla="*/ 335 h 336"/>
                <a:gd name="T2" fmla="*/ 122 w 243"/>
                <a:gd name="T3" fmla="*/ 239 h 336"/>
                <a:gd name="T4" fmla="*/ 30 w 243"/>
                <a:gd name="T5" fmla="*/ 144 h 336"/>
                <a:gd name="T6" fmla="*/ 0 w 243"/>
                <a:gd name="T7" fmla="*/ 0 h 336"/>
                <a:gd name="T8" fmla="*/ 1 w 243"/>
                <a:gd name="T9" fmla="*/ 336 h 336"/>
              </a:gdLst>
              <a:ahLst/>
              <a:cxnLst>
                <a:cxn ang="0">
                  <a:pos x="T0" y="T1"/>
                </a:cxn>
                <a:cxn ang="0">
                  <a:pos x="T2" y="T3"/>
                </a:cxn>
                <a:cxn ang="0">
                  <a:pos x="T4" y="T5"/>
                </a:cxn>
                <a:cxn ang="0">
                  <a:pos x="T6" y="T7"/>
                </a:cxn>
                <a:cxn ang="0">
                  <a:pos x="T8" y="T9"/>
                </a:cxn>
              </a:cxnLst>
              <a:rect l="0" t="0" r="r" b="b"/>
              <a:pathLst>
                <a:path w="243" h="336">
                  <a:moveTo>
                    <a:pt x="243" y="335"/>
                  </a:moveTo>
                  <a:lnTo>
                    <a:pt x="122" y="239"/>
                  </a:lnTo>
                  <a:lnTo>
                    <a:pt x="30" y="144"/>
                  </a:lnTo>
                  <a:lnTo>
                    <a:pt x="0" y="0"/>
                  </a:lnTo>
                  <a:lnTo>
                    <a:pt x="1" y="336"/>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95" name="Freeform 23"/>
            <p:cNvSpPr>
              <a:spLocks/>
            </p:cNvSpPr>
            <p:nvPr/>
          </p:nvSpPr>
          <p:spPr bwMode="gray">
            <a:xfrm>
              <a:off x="5511" y="4029"/>
              <a:ext cx="253" cy="290"/>
            </a:xfrm>
            <a:custGeom>
              <a:avLst/>
              <a:gdLst>
                <a:gd name="T0" fmla="*/ 229 w 232"/>
                <a:gd name="T1" fmla="*/ 0 h 290"/>
                <a:gd name="T2" fmla="*/ 164 w 232"/>
                <a:gd name="T3" fmla="*/ 144 h 290"/>
                <a:gd name="T4" fmla="*/ 98 w 232"/>
                <a:gd name="T5" fmla="*/ 253 h 290"/>
                <a:gd name="T6" fmla="*/ 0 w 232"/>
                <a:gd name="T7" fmla="*/ 290 h 290"/>
                <a:gd name="T8" fmla="*/ 232 w 232"/>
                <a:gd name="T9" fmla="*/ 287 h 290"/>
              </a:gdLst>
              <a:ahLst/>
              <a:cxnLst>
                <a:cxn ang="0">
                  <a:pos x="T0" y="T1"/>
                </a:cxn>
                <a:cxn ang="0">
                  <a:pos x="T2" y="T3"/>
                </a:cxn>
                <a:cxn ang="0">
                  <a:pos x="T4" y="T5"/>
                </a:cxn>
                <a:cxn ang="0">
                  <a:pos x="T6" y="T7"/>
                </a:cxn>
                <a:cxn ang="0">
                  <a:pos x="T8" y="T9"/>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96" name="Freeform 24"/>
            <p:cNvSpPr>
              <a:spLocks/>
            </p:cNvSpPr>
            <p:nvPr/>
          </p:nvSpPr>
          <p:spPr bwMode="gray">
            <a:xfrm>
              <a:off x="5472" y="0"/>
              <a:ext cx="288" cy="288"/>
            </a:xfrm>
            <a:custGeom>
              <a:avLst/>
              <a:gdLst>
                <a:gd name="T0" fmla="*/ 0 w 288"/>
                <a:gd name="T1" fmla="*/ 0 h 288"/>
                <a:gd name="T2" fmla="*/ 144 w 288"/>
                <a:gd name="T3" fmla="*/ 82 h 288"/>
                <a:gd name="T4" fmla="*/ 252 w 288"/>
                <a:gd name="T5" fmla="*/ 165 h 288"/>
                <a:gd name="T6" fmla="*/ 288 w 288"/>
                <a:gd name="T7" fmla="*/ 288 h 288"/>
                <a:gd name="T8" fmla="*/ 288 w 288"/>
                <a:gd name="T9" fmla="*/ 0 h 288"/>
              </a:gdLst>
              <a:ahLst/>
              <a:cxnLst>
                <a:cxn ang="0">
                  <a:pos x="T0" y="T1"/>
                </a:cxn>
                <a:cxn ang="0">
                  <a:pos x="T2" y="T3"/>
                </a:cxn>
                <a:cxn ang="0">
                  <a:pos x="T4" y="T5"/>
                </a:cxn>
                <a:cxn ang="0">
                  <a:pos x="T6" y="T7"/>
                </a:cxn>
                <a:cxn ang="0">
                  <a:pos x="T8" y="T9"/>
                </a:cxn>
              </a:cxnLst>
              <a:rect l="0" t="0" r="r" b="b"/>
              <a:pathLst>
                <a:path w="288" h="288">
                  <a:moveTo>
                    <a:pt x="0" y="0"/>
                  </a:moveTo>
                  <a:lnTo>
                    <a:pt x="144" y="82"/>
                  </a:lnTo>
                  <a:lnTo>
                    <a:pt x="252" y="165"/>
                  </a:lnTo>
                  <a:lnTo>
                    <a:pt x="288" y="288"/>
                  </a:lnTo>
                  <a:lnTo>
                    <a:pt x="288"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pic>
        <p:nvPicPr>
          <p:cNvPr id="2" name="Picture 1">
            <a:extLst>
              <a:ext uri="{FF2B5EF4-FFF2-40B4-BE49-F238E27FC236}">
                <a16:creationId xmlns:a16="http://schemas.microsoft.com/office/drawing/2014/main" id="{5B33E56B-8669-4C3A-9A9C-4BB13B6B7300}"/>
              </a:ext>
            </a:extLst>
          </p:cNvPr>
          <p:cNvPicPr>
            <a:picLocks noChangeAspect="1"/>
          </p:cNvPicPr>
          <p:nvPr userDrawn="1"/>
        </p:nvPicPr>
        <p:blipFill>
          <a:blip r:embed="rId4"/>
          <a:stretch>
            <a:fillRect/>
          </a:stretch>
        </p:blipFill>
        <p:spPr>
          <a:xfrm>
            <a:off x="8285704" y="49563"/>
            <a:ext cx="798535" cy="7985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219201"/>
            <a:ext cx="8839200"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1250" name="Picture 2" descr="Tập tin:Logo Trường Đại học Công nghệ Đông Á 2015.png ...">
            <a:extLst>
              <a:ext uri="{FF2B5EF4-FFF2-40B4-BE49-F238E27FC236}">
                <a16:creationId xmlns:a16="http://schemas.microsoft.com/office/drawing/2014/main" id="{F341813C-6D75-4E90-A7D9-20918999E19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579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7" name="Picture 2" descr="Tập tin:Logo Trường Đại học Công nghệ Đông Á 2015.png ...">
            <a:extLst>
              <a:ext uri="{FF2B5EF4-FFF2-40B4-BE49-F238E27FC236}">
                <a16:creationId xmlns:a16="http://schemas.microsoft.com/office/drawing/2014/main" id="{2B27FBDA-6202-490F-968F-B93519B619A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6229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304925"/>
            <a:ext cx="4038600" cy="4943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04925"/>
            <a:ext cx="4038600" cy="4943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8" name="Picture 2" descr="Tập tin:Logo Trường Đại học Công nghệ Đông Á 2015.png ...">
            <a:extLst>
              <a:ext uri="{FF2B5EF4-FFF2-40B4-BE49-F238E27FC236}">
                <a16:creationId xmlns:a16="http://schemas.microsoft.com/office/drawing/2014/main" id="{A6323714-53B1-4E3C-AE6A-D6CD44E89E1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0973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8" name="Footer Placeholder 7"/>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9" name="Slide Number Placeholder 8"/>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spTree>
    <p:extLst>
      <p:ext uri="{BB962C8B-B14F-4D97-AF65-F5344CB8AC3E}">
        <p14:creationId xmlns:p14="http://schemas.microsoft.com/office/powerpoint/2010/main" val="4178997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4" name="Footer Placeholder 3"/>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5" name="Slide Number Placeholder 4"/>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spTree>
    <p:extLst>
      <p:ext uri="{BB962C8B-B14F-4D97-AF65-F5344CB8AC3E}">
        <p14:creationId xmlns:p14="http://schemas.microsoft.com/office/powerpoint/2010/main" val="446744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3" name="Footer Placeholder 2"/>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4" name="Slide Number Placeholder 3"/>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5" name="Picture 2" descr="Tập tin:Logo Trường Đại học Công nghệ Đông Á 2015.png ...">
            <a:extLst>
              <a:ext uri="{FF2B5EF4-FFF2-40B4-BE49-F238E27FC236}">
                <a16:creationId xmlns:a16="http://schemas.microsoft.com/office/drawing/2014/main" id="{6220FFEB-5E85-42C8-A2B3-C69966356E2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74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8" name="Picture 2" descr="Tập tin:Logo Trường Đại học Công nghệ Đông Á 2015.png ...">
            <a:extLst>
              <a:ext uri="{FF2B5EF4-FFF2-40B4-BE49-F238E27FC236}">
                <a16:creationId xmlns:a16="http://schemas.microsoft.com/office/drawing/2014/main" id="{823C35CF-E72F-4FF7-AD23-959E3EA1C28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4360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8" name="Picture 2" descr="Tập tin:Logo Trường Đại học Công nghệ Đông Á 2015.png ...">
            <a:extLst>
              <a:ext uri="{FF2B5EF4-FFF2-40B4-BE49-F238E27FC236}">
                <a16:creationId xmlns:a16="http://schemas.microsoft.com/office/drawing/2014/main" id="{5DA0C1CF-53D9-4FD9-80C1-0EC692594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121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7" name="Picture 2" descr="Tập tin:Logo Trường Đại học Công nghệ Đông Á 2015.png ...">
            <a:extLst>
              <a:ext uri="{FF2B5EF4-FFF2-40B4-BE49-F238E27FC236}">
                <a16:creationId xmlns:a16="http://schemas.microsoft.com/office/drawing/2014/main" id="{E3663C6A-DC21-4A41-9D5F-C81B457CC2B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462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19088"/>
            <a:ext cx="2057400" cy="592931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19088"/>
            <a:ext cx="6019800" cy="59293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pic>
        <p:nvPicPr>
          <p:cNvPr id="7" name="Picture 2" descr="Tập tin:Logo Trường Đại học Công nghệ Đông Á 2015.png ...">
            <a:extLst>
              <a:ext uri="{FF2B5EF4-FFF2-40B4-BE49-F238E27FC236}">
                <a16:creationId xmlns:a16="http://schemas.microsoft.com/office/drawing/2014/main" id="{BECAAA1B-7335-48E1-BCF6-C6F9F0B33CC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77200" y="13855"/>
            <a:ext cx="1066800" cy="106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930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319088"/>
            <a:ext cx="8153400" cy="563562"/>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457200" y="1304925"/>
            <a:ext cx="8229600" cy="4943475"/>
          </a:xfrm>
        </p:spPr>
        <p:txBody>
          <a:bodyPr/>
          <a:lstStyle/>
          <a:p>
            <a:r>
              <a:rPr lang="en-US"/>
              <a:t>Click icon to add table</a:t>
            </a:r>
          </a:p>
        </p:txBody>
      </p:sp>
      <p:sp>
        <p:nvSpPr>
          <p:cNvPr id="4" name="Date Placeholder 3"/>
          <p:cNvSpPr>
            <a:spLocks noGrp="1"/>
          </p:cNvSpPr>
          <p:nvPr>
            <p:ph type="dt" sz="half" idx="10"/>
          </p:nvPr>
        </p:nvSpPr>
        <p:spPr>
          <a:xfrm>
            <a:off x="457200" y="6400800"/>
            <a:ext cx="2133600" cy="320675"/>
          </a:xfrm>
          <a:prstGeom prst="rect">
            <a:avLst/>
          </a:prstGeom>
        </p:spPr>
        <p:txBody>
          <a:bodyPr/>
          <a:lstStyle>
            <a:lvl1pPr>
              <a:defRPr/>
            </a:lvl1pPr>
          </a:lstStyle>
          <a:p>
            <a:endParaRPr lang="en-US"/>
          </a:p>
        </p:txBody>
      </p:sp>
      <p:sp>
        <p:nvSpPr>
          <p:cNvPr id="5" name="Footer Placeholder 4"/>
          <p:cNvSpPr>
            <a:spLocks noGrp="1"/>
          </p:cNvSpPr>
          <p:nvPr>
            <p:ph type="ftr" sz="quarter" idx="11"/>
          </p:nvPr>
        </p:nvSpPr>
        <p:spPr>
          <a:xfrm>
            <a:off x="3124200" y="6400800"/>
            <a:ext cx="2895600" cy="320675"/>
          </a:xfrm>
          <a:prstGeom prst="rect">
            <a:avLst/>
          </a:prstGeom>
        </p:spPr>
        <p:txBody>
          <a:bodyPr/>
          <a:lstStyle>
            <a:lvl1pPr>
              <a:defRPr/>
            </a:lvl1pPr>
          </a:lstStyle>
          <a:p>
            <a:endParaRPr lang="en-US"/>
          </a:p>
        </p:txBody>
      </p:sp>
      <p:sp>
        <p:nvSpPr>
          <p:cNvPr id="6" name="Slide Number Placeholder 5"/>
          <p:cNvSpPr>
            <a:spLocks noGrp="1"/>
          </p:cNvSpPr>
          <p:nvPr>
            <p:ph type="sldNum" sz="quarter" idx="12"/>
          </p:nvPr>
        </p:nvSpPr>
        <p:spPr>
          <a:xfrm>
            <a:off x="6553200" y="6524625"/>
            <a:ext cx="2133600" cy="152400"/>
          </a:xfrm>
          <a:prstGeom prst="rect">
            <a:avLst/>
          </a:prstGeom>
        </p:spPr>
        <p:txBody>
          <a:bodyPr/>
          <a:lstStyle>
            <a:lvl1pPr>
              <a:defRPr/>
            </a:lvl1pPr>
          </a:lstStyle>
          <a:p>
            <a:r>
              <a:rPr lang="en-US"/>
              <a:t>www.themegallery.com</a:t>
            </a:r>
          </a:p>
        </p:txBody>
      </p:sp>
    </p:spTree>
    <p:extLst>
      <p:ext uri="{BB962C8B-B14F-4D97-AF65-F5344CB8AC3E}">
        <p14:creationId xmlns:p14="http://schemas.microsoft.com/office/powerpoint/2010/main" val="1200099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1B21400-C337-4FAC-8F14-98A3D453E30D}"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6901885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B21400-C337-4FAC-8F14-98A3D453E30D}"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970202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B21400-C337-4FAC-8F14-98A3D453E30D}"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38904582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1B21400-C337-4FAC-8F14-98A3D453E30D}"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11377374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1B21400-C337-4FAC-8F14-98A3D453E30D}" type="datetimeFigureOut">
              <a:rPr lang="en-US" smtClean="0"/>
              <a:pPr/>
              <a:t>5/17/2024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42796518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1B21400-C337-4FAC-8F14-98A3D453E30D}" type="datetimeFigureOut">
              <a:rPr lang="en-US" smtClean="0"/>
              <a:pPr/>
              <a:t>5/17/2024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5388470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B21400-C337-4FAC-8F14-98A3D453E30D}" type="datetimeFigureOut">
              <a:rPr lang="en-US" smtClean="0"/>
              <a:pPr/>
              <a:t>5/17/2024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13069509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B21400-C337-4FAC-8F14-98A3D453E30D}"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33099124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B21400-C337-4FAC-8F14-98A3D453E30D}"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24569662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B21400-C337-4FAC-8F14-98A3D453E30D}"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1065414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B21400-C337-4FAC-8F14-98A3D453E30D}"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D3876C-4542-4C64-B641-17DD424954FD}" type="slidenum">
              <a:rPr lang="en-US" smtClean="0"/>
              <a:pPr/>
              <a:t>‹#›</a:t>
            </a:fld>
            <a:endParaRPr lang="en-US"/>
          </a:p>
        </p:txBody>
      </p:sp>
    </p:spTree>
    <p:extLst>
      <p:ext uri="{BB962C8B-B14F-4D97-AF65-F5344CB8AC3E}">
        <p14:creationId xmlns:p14="http://schemas.microsoft.com/office/powerpoint/2010/main" val="5952639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F9A51BC6-792D-C5F0-39A2-2A9E2840735E}"/>
              </a:ext>
            </a:extLst>
          </p:cNvPr>
          <p:cNvSpPr>
            <a:spLocks noChangeArrowheads="1"/>
          </p:cNvSpPr>
          <p:nvPr/>
        </p:nvSpPr>
        <p:spPr bwMode="auto">
          <a:xfrm>
            <a:off x="685800" y="2393950"/>
            <a:ext cx="7772400" cy="109538"/>
          </a:xfrm>
          <a:custGeom>
            <a:avLst/>
            <a:gdLst>
              <a:gd name="T0" fmla="*/ 0 w 1000"/>
              <a:gd name="T1" fmla="*/ 0 h 1000"/>
              <a:gd name="T2" fmla="*/ 2147483646 w 1000"/>
              <a:gd name="T3" fmla="*/ 0 h 1000"/>
              <a:gd name="T4" fmla="*/ 2147483646 w 1000"/>
              <a:gd name="T5" fmla="*/ 1314299689 h 1000"/>
              <a:gd name="T6" fmla="*/ 0 w 1000"/>
              <a:gd name="T7" fmla="*/ 1314299689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a:p>
        </p:txBody>
      </p:sp>
      <p:sp>
        <p:nvSpPr>
          <p:cNvPr id="5122" name="Rectangle 2"/>
          <p:cNvSpPr>
            <a:spLocks noGrp="1" noChangeArrowheads="1"/>
          </p:cNvSpPr>
          <p:nvPr>
            <p:ph type="ctrTitle"/>
          </p:nvPr>
        </p:nvSpPr>
        <p:spPr>
          <a:xfrm>
            <a:off x="685800" y="990600"/>
            <a:ext cx="7772400" cy="1371600"/>
          </a:xfrm>
          <a:noFill/>
          <a:extLst>
            <a:ext uri="{909E8E84-426E-40DD-AFC4-6F175D3DCCD1}">
              <a14:hiddenFill xmlns:a14="http://schemas.microsoft.com/office/drawing/2010/main">
                <a:solidFill>
                  <a:schemeClr val="accent1"/>
                </a:solidFill>
              </a14:hiddenFill>
            </a:ext>
          </a:extLst>
        </p:spPr>
        <p:txBody>
          <a:bodyPr/>
          <a:lstStyle>
            <a:lvl1pPr>
              <a:defRPr sz="3800"/>
            </a:lvl1pPr>
          </a:lstStyle>
          <a:p>
            <a:pPr lvl="0"/>
            <a:r>
              <a:rPr lang="en-US" altLang="en-US" noProof="0"/>
              <a:t>Click to edit Master title style</a:t>
            </a:r>
          </a:p>
        </p:txBody>
      </p:sp>
      <p:sp>
        <p:nvSpPr>
          <p:cNvPr id="5123" name="Rectangle 3"/>
          <p:cNvSpPr>
            <a:spLocks noGrp="1" noChangeArrowheads="1"/>
          </p:cNvSpPr>
          <p:nvPr>
            <p:ph type="subTitle" idx="1"/>
          </p:nvPr>
        </p:nvSpPr>
        <p:spPr bwMode="auto">
          <a:xfrm>
            <a:off x="1447800" y="3429000"/>
            <a:ext cx="7010400" cy="1600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buFont typeface="Wingdings" panose="05000000000000000000" pitchFamily="2" charset="2"/>
              <a:buNone/>
              <a:defRPr sz="2800"/>
            </a:lvl1pPr>
          </a:lstStyle>
          <a:p>
            <a:pPr lvl="0"/>
            <a:r>
              <a:rPr lang="en-US" altLang="en-US" noProof="0"/>
              <a:t>Click to edit Master subtitle style</a:t>
            </a:r>
          </a:p>
        </p:txBody>
      </p:sp>
      <p:sp>
        <p:nvSpPr>
          <p:cNvPr id="3" name="Date Placeholder 4">
            <a:extLst>
              <a:ext uri="{FF2B5EF4-FFF2-40B4-BE49-F238E27FC236}">
                <a16:creationId xmlns:a16="http://schemas.microsoft.com/office/drawing/2014/main" id="{6EA3C8A5-7434-1AE4-41B4-F3DBFED2A7E5}"/>
              </a:ext>
            </a:extLst>
          </p:cNvPr>
          <p:cNvSpPr>
            <a:spLocks noGrp="1" noChangeArrowheads="1"/>
          </p:cNvSpPr>
          <p:nvPr>
            <p:ph type="dt" sz="half" idx="10"/>
          </p:nvPr>
        </p:nvSpPr>
        <p:spPr bwMode="auto">
          <a:xfrm>
            <a:off x="6858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4" name="Footer Placeholder 5">
            <a:extLst>
              <a:ext uri="{FF2B5EF4-FFF2-40B4-BE49-F238E27FC236}">
                <a16:creationId xmlns:a16="http://schemas.microsoft.com/office/drawing/2014/main" id="{656C7ADB-8539-8CD6-5A31-83CA3E13941F}"/>
              </a:ext>
            </a:extLst>
          </p:cNvPr>
          <p:cNvSpPr>
            <a:spLocks noGrp="1" noChangeArrowheads="1"/>
          </p:cNvSpPr>
          <p:nvPr>
            <p:ph type="ftr" sz="quarter" idx="11"/>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200"/>
            </a:lvl1pPr>
          </a:lstStyle>
          <a:p>
            <a:pPr>
              <a:defRPr/>
            </a:pPr>
            <a:r>
              <a:rPr lang="en-US" altLang="en-US"/>
              <a:t>Sử dụng PowerPoint trong dạy học</a:t>
            </a:r>
          </a:p>
        </p:txBody>
      </p:sp>
      <p:sp>
        <p:nvSpPr>
          <p:cNvPr id="5" name="Slide Number Placeholder 6">
            <a:extLst>
              <a:ext uri="{FF2B5EF4-FFF2-40B4-BE49-F238E27FC236}">
                <a16:creationId xmlns:a16="http://schemas.microsoft.com/office/drawing/2014/main" id="{B8C2CDC5-FC88-0459-EDD4-9B5793CD9E78}"/>
              </a:ext>
            </a:extLst>
          </p:cNvPr>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fld id="{4D39DB28-8B43-433F-B2CC-AD51918E76B6}" type="slidenum">
              <a:rPr lang="en-US" altLang="en-US"/>
              <a:pPr/>
              <a:t>‹#›</a:t>
            </a:fld>
            <a:endParaRPr lang="en-US" altLang="en-US"/>
          </a:p>
        </p:txBody>
      </p:sp>
    </p:spTree>
    <p:extLst>
      <p:ext uri="{BB962C8B-B14F-4D97-AF65-F5344CB8AC3E}">
        <p14:creationId xmlns:p14="http://schemas.microsoft.com/office/powerpoint/2010/main" val="436412572"/>
      </p:ext>
    </p:extLst>
  </p:cSld>
  <p:clrMapOvr>
    <a:masterClrMapping/>
  </p:clrMapOvr>
  <p:transition advTm="600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4784034"/>
      </p:ext>
    </p:extLst>
  </p:cSld>
  <p:clrMapOvr>
    <a:masterClrMapping/>
  </p:clrMapOvr>
  <p:transition advTm="600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3455340774"/>
      </p:ext>
    </p:extLst>
  </p:cSld>
  <p:clrMapOvr>
    <a:masterClrMapping/>
  </p:clrMapOvr>
  <p:transition advTm="600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6843395"/>
      </p:ext>
    </p:extLst>
  </p:cSld>
  <p:clrMapOvr>
    <a:masterClrMapping/>
  </p:clrMapOvr>
  <p:transition advTm="600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7990972"/>
      </p:ext>
    </p:extLst>
  </p:cSld>
  <p:clrMapOvr>
    <a:masterClrMapping/>
  </p:clrMapOvr>
  <p:transition advTm="600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6795482"/>
      </p:ext>
    </p:extLst>
  </p:cSld>
  <p:clrMapOvr>
    <a:masterClrMapping/>
  </p:clrMapOvr>
  <p:transition advTm="600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83968"/>
      </p:ext>
    </p:extLst>
  </p:cSld>
  <p:clrMapOvr>
    <a:masterClrMapping/>
  </p:clrMapOvr>
  <p:transition advTm="600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46692555"/>
      </p:ext>
    </p:extLst>
  </p:cSld>
  <p:clrMapOvr>
    <a:masterClrMapping/>
  </p:clrMapOvr>
  <p:transition advTm="600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342687182"/>
      </p:ext>
    </p:extLst>
  </p:cSld>
  <p:clrMapOvr>
    <a:masterClrMapping/>
  </p:clrMapOvr>
  <p:transition advTm="6000"/>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3240173"/>
      </p:ext>
    </p:extLst>
  </p:cSld>
  <p:clrMapOvr>
    <a:masterClrMapping/>
  </p:clrMapOvr>
  <p:transition advTm="6000"/>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0"/>
            <a:ext cx="2286000" cy="6176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0" y="0"/>
            <a:ext cx="6705600" cy="6176963"/>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7934410"/>
      </p:ext>
    </p:extLst>
  </p:cSld>
  <p:clrMapOvr>
    <a:masterClrMapping/>
  </p:clrMapOvr>
  <p:transition advTm="600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39" name="Object 15"/>
          <p:cNvGraphicFramePr>
            <a:graphicFrameLocks noChangeAspect="1"/>
          </p:cNvGraphicFramePr>
          <p:nvPr/>
        </p:nvGraphicFramePr>
        <p:xfrm>
          <a:off x="73025" y="61913"/>
          <a:ext cx="9017000" cy="1031875"/>
        </p:xfrm>
        <a:graphic>
          <a:graphicData uri="http://schemas.openxmlformats.org/presentationml/2006/ole">
            <mc:AlternateContent xmlns:mc="http://schemas.openxmlformats.org/markup-compatibility/2006">
              <mc:Choice xmlns:v="urn:schemas-microsoft-com:vml" Requires="v">
                <p:oleObj name="Image" r:id="rId14" imgW="8609524" imgH="1307937" progId="">
                  <p:embed/>
                </p:oleObj>
              </mc:Choice>
              <mc:Fallback>
                <p:oleObj name="Image" r:id="rId14" imgW="8609524" imgH="1307937" progId="">
                  <p:embed/>
                  <p:pic>
                    <p:nvPicPr>
                      <p:cNvPr id="0" name="Picture 69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3025" y="61913"/>
                        <a:ext cx="9017000" cy="1031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0" name="Rectangle 16"/>
          <p:cNvSpPr>
            <a:spLocks noChangeArrowheads="1"/>
          </p:cNvSpPr>
          <p:nvPr/>
        </p:nvSpPr>
        <p:spPr bwMode="invGray">
          <a:xfrm>
            <a:off x="63501" y="6453188"/>
            <a:ext cx="9045554" cy="37306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1" name="Rectangle 17"/>
          <p:cNvSpPr>
            <a:spLocks noChangeArrowheads="1"/>
          </p:cNvSpPr>
          <p:nvPr/>
        </p:nvSpPr>
        <p:spPr bwMode="ltGray">
          <a:xfrm>
            <a:off x="88900" y="1135063"/>
            <a:ext cx="8955088" cy="5265737"/>
          </a:xfrm>
          <a:prstGeom prst="rect">
            <a:avLst/>
          </a:prstGeom>
          <a:noFill/>
          <a:ln w="2857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7" name="Rectangle 3"/>
          <p:cNvSpPr>
            <a:spLocks noGrp="1" noChangeArrowheads="1"/>
          </p:cNvSpPr>
          <p:nvPr>
            <p:ph type="body" idx="1"/>
          </p:nvPr>
        </p:nvSpPr>
        <p:spPr bwMode="auto">
          <a:xfrm>
            <a:off x="146168" y="1217612"/>
            <a:ext cx="8897819" cy="5183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042" name="Group 18"/>
          <p:cNvGrpSpPr>
            <a:grpSpLocks/>
          </p:cNvGrpSpPr>
          <p:nvPr/>
        </p:nvGrpSpPr>
        <p:grpSpPr bwMode="auto">
          <a:xfrm>
            <a:off x="-6350" y="0"/>
            <a:ext cx="9155113" cy="6859588"/>
            <a:chOff x="0" y="0"/>
            <a:chExt cx="5764" cy="4321"/>
          </a:xfrm>
        </p:grpSpPr>
        <p:sp>
          <p:nvSpPr>
            <p:cNvPr id="1043" name="AutoShape 19"/>
            <p:cNvSpPr>
              <a:spLocks noChangeArrowheads="1"/>
            </p:cNvSpPr>
            <p:nvPr/>
          </p:nvSpPr>
          <p:spPr bwMode="white">
            <a:xfrm>
              <a:off x="27" y="24"/>
              <a:ext cx="5712" cy="4274"/>
            </a:xfrm>
            <a:prstGeom prst="roundRect">
              <a:avLst>
                <a:gd name="adj" fmla="val 6227"/>
              </a:avLst>
            </a:prstGeom>
            <a:noFill/>
            <a:ln w="76200">
              <a:solidFill>
                <a:schemeClr val="bg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4" name="Freeform 20"/>
            <p:cNvSpPr>
              <a:spLocks/>
            </p:cNvSpPr>
            <p:nvPr/>
          </p:nvSpPr>
          <p:spPr bwMode="white">
            <a:xfrm>
              <a:off x="0" y="0"/>
              <a:ext cx="288" cy="282"/>
            </a:xfrm>
            <a:custGeom>
              <a:avLst/>
              <a:gdLst>
                <a:gd name="T0" fmla="*/ 2 w 288"/>
                <a:gd name="T1" fmla="*/ 282 h 282"/>
                <a:gd name="T2" fmla="*/ 82 w 288"/>
                <a:gd name="T3" fmla="*/ 144 h 282"/>
                <a:gd name="T4" fmla="*/ 165 w 288"/>
                <a:gd name="T5" fmla="*/ 36 h 282"/>
                <a:gd name="T6" fmla="*/ 288 w 288"/>
                <a:gd name="T7" fmla="*/ 0 h 282"/>
                <a:gd name="T8" fmla="*/ 0 w 288"/>
                <a:gd name="T9" fmla="*/ 0 h 282"/>
              </a:gdLst>
              <a:ahLst/>
              <a:cxnLst>
                <a:cxn ang="0">
                  <a:pos x="T0" y="T1"/>
                </a:cxn>
                <a:cxn ang="0">
                  <a:pos x="T2" y="T3"/>
                </a:cxn>
                <a:cxn ang="0">
                  <a:pos x="T4" y="T5"/>
                </a:cxn>
                <a:cxn ang="0">
                  <a:pos x="T6" y="T7"/>
                </a:cxn>
                <a:cxn ang="0">
                  <a:pos x="T8" y="T9"/>
                </a:cxn>
              </a:cxnLst>
              <a:rect l="0" t="0" r="r" b="b"/>
              <a:pathLst>
                <a:path w="288" h="282">
                  <a:moveTo>
                    <a:pt x="2" y="282"/>
                  </a:moveTo>
                  <a:lnTo>
                    <a:pt x="82" y="144"/>
                  </a:lnTo>
                  <a:lnTo>
                    <a:pt x="165" y="36"/>
                  </a:lnTo>
                  <a:lnTo>
                    <a:pt x="288" y="0"/>
                  </a:lnTo>
                  <a:lnTo>
                    <a:pt x="0"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21"/>
            <p:cNvSpPr>
              <a:spLocks/>
            </p:cNvSpPr>
            <p:nvPr/>
          </p:nvSpPr>
          <p:spPr bwMode="white">
            <a:xfrm>
              <a:off x="5" y="3985"/>
              <a:ext cx="244" cy="336"/>
            </a:xfrm>
            <a:custGeom>
              <a:avLst/>
              <a:gdLst>
                <a:gd name="T0" fmla="*/ 243 w 243"/>
                <a:gd name="T1" fmla="*/ 335 h 336"/>
                <a:gd name="T2" fmla="*/ 122 w 243"/>
                <a:gd name="T3" fmla="*/ 239 h 336"/>
                <a:gd name="T4" fmla="*/ 30 w 243"/>
                <a:gd name="T5" fmla="*/ 144 h 336"/>
                <a:gd name="T6" fmla="*/ 0 w 243"/>
                <a:gd name="T7" fmla="*/ 0 h 336"/>
                <a:gd name="T8" fmla="*/ 1 w 243"/>
                <a:gd name="T9" fmla="*/ 336 h 336"/>
              </a:gdLst>
              <a:ahLst/>
              <a:cxnLst>
                <a:cxn ang="0">
                  <a:pos x="T0" y="T1"/>
                </a:cxn>
                <a:cxn ang="0">
                  <a:pos x="T2" y="T3"/>
                </a:cxn>
                <a:cxn ang="0">
                  <a:pos x="T4" y="T5"/>
                </a:cxn>
                <a:cxn ang="0">
                  <a:pos x="T6" y="T7"/>
                </a:cxn>
                <a:cxn ang="0">
                  <a:pos x="T8" y="T9"/>
                </a:cxn>
              </a:cxnLst>
              <a:rect l="0" t="0" r="r" b="b"/>
              <a:pathLst>
                <a:path w="243" h="336">
                  <a:moveTo>
                    <a:pt x="243" y="335"/>
                  </a:moveTo>
                  <a:lnTo>
                    <a:pt x="122" y="239"/>
                  </a:lnTo>
                  <a:lnTo>
                    <a:pt x="30" y="144"/>
                  </a:lnTo>
                  <a:lnTo>
                    <a:pt x="0" y="0"/>
                  </a:lnTo>
                  <a:lnTo>
                    <a:pt x="1" y="336"/>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22"/>
            <p:cNvSpPr>
              <a:spLocks/>
            </p:cNvSpPr>
            <p:nvPr/>
          </p:nvSpPr>
          <p:spPr bwMode="white">
            <a:xfrm>
              <a:off x="5511" y="4029"/>
              <a:ext cx="253" cy="290"/>
            </a:xfrm>
            <a:custGeom>
              <a:avLst/>
              <a:gdLst>
                <a:gd name="T0" fmla="*/ 229 w 232"/>
                <a:gd name="T1" fmla="*/ 0 h 290"/>
                <a:gd name="T2" fmla="*/ 164 w 232"/>
                <a:gd name="T3" fmla="*/ 144 h 290"/>
                <a:gd name="T4" fmla="*/ 98 w 232"/>
                <a:gd name="T5" fmla="*/ 253 h 290"/>
                <a:gd name="T6" fmla="*/ 0 w 232"/>
                <a:gd name="T7" fmla="*/ 290 h 290"/>
                <a:gd name="T8" fmla="*/ 232 w 232"/>
                <a:gd name="T9" fmla="*/ 287 h 290"/>
              </a:gdLst>
              <a:ahLst/>
              <a:cxnLst>
                <a:cxn ang="0">
                  <a:pos x="T0" y="T1"/>
                </a:cxn>
                <a:cxn ang="0">
                  <a:pos x="T2" y="T3"/>
                </a:cxn>
                <a:cxn ang="0">
                  <a:pos x="T4" y="T5"/>
                </a:cxn>
                <a:cxn ang="0">
                  <a:pos x="T6" y="T7"/>
                </a:cxn>
                <a:cxn ang="0">
                  <a:pos x="T8" y="T9"/>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23"/>
            <p:cNvSpPr>
              <a:spLocks/>
            </p:cNvSpPr>
            <p:nvPr/>
          </p:nvSpPr>
          <p:spPr bwMode="white">
            <a:xfrm>
              <a:off x="5472" y="0"/>
              <a:ext cx="288" cy="288"/>
            </a:xfrm>
            <a:custGeom>
              <a:avLst/>
              <a:gdLst>
                <a:gd name="T0" fmla="*/ 0 w 288"/>
                <a:gd name="T1" fmla="*/ 0 h 288"/>
                <a:gd name="T2" fmla="*/ 144 w 288"/>
                <a:gd name="T3" fmla="*/ 82 h 288"/>
                <a:gd name="T4" fmla="*/ 252 w 288"/>
                <a:gd name="T5" fmla="*/ 165 h 288"/>
                <a:gd name="T6" fmla="*/ 288 w 288"/>
                <a:gd name="T7" fmla="*/ 288 h 288"/>
                <a:gd name="T8" fmla="*/ 288 w 288"/>
                <a:gd name="T9" fmla="*/ 0 h 288"/>
              </a:gdLst>
              <a:ahLst/>
              <a:cxnLst>
                <a:cxn ang="0">
                  <a:pos x="T0" y="T1"/>
                </a:cxn>
                <a:cxn ang="0">
                  <a:pos x="T2" y="T3"/>
                </a:cxn>
                <a:cxn ang="0">
                  <a:pos x="T4" y="T5"/>
                </a:cxn>
                <a:cxn ang="0">
                  <a:pos x="T6" y="T7"/>
                </a:cxn>
                <a:cxn ang="0">
                  <a:pos x="T8" y="T9"/>
                </a:cxn>
              </a:cxnLst>
              <a:rect l="0" t="0" r="r" b="b"/>
              <a:pathLst>
                <a:path w="288" h="288">
                  <a:moveTo>
                    <a:pt x="0" y="0"/>
                  </a:moveTo>
                  <a:lnTo>
                    <a:pt x="144" y="82"/>
                  </a:lnTo>
                  <a:lnTo>
                    <a:pt x="252" y="165"/>
                  </a:lnTo>
                  <a:lnTo>
                    <a:pt x="288" y="288"/>
                  </a:lnTo>
                  <a:lnTo>
                    <a:pt x="288" y="0"/>
                  </a:lnTo>
                </a:path>
              </a:pathLst>
            </a:cu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20" name="Slide Number Placeholder 3"/>
          <p:cNvSpPr txBox="1">
            <a:spLocks/>
          </p:cNvSpPr>
          <p:nvPr userDrawn="1"/>
        </p:nvSpPr>
        <p:spPr>
          <a:xfrm>
            <a:off x="8092442" y="6462713"/>
            <a:ext cx="812588" cy="319087"/>
          </a:xfrm>
          <a:prstGeom prst="rect">
            <a:avLst/>
          </a:prstGeom>
        </p:spPr>
        <p:txBody>
          <a:bodyPr/>
          <a:lstStyle>
            <a:defPPr>
              <a:defRPr lang="en-US"/>
            </a:defPPr>
            <a:lvl1pPr algn="ctr" rtl="0" eaLnBrk="0" fontAlgn="base" hangingPunct="0">
              <a:spcBef>
                <a:spcPct val="0"/>
              </a:spcBef>
              <a:spcAft>
                <a:spcPct val="0"/>
              </a:spcAft>
              <a:defRPr sz="2000" b="1" kern="1200">
                <a:solidFill>
                  <a:schemeClr val="bg1"/>
                </a:solidFill>
                <a:latin typeface="Arial" charset="0"/>
                <a:ea typeface="+mn-ea"/>
                <a:cs typeface="+mn-cs"/>
              </a:defRPr>
            </a:lvl1pPr>
            <a:lvl2pPr marL="457200" algn="ctr" rtl="0" eaLnBrk="0" fontAlgn="base" hangingPunct="0">
              <a:spcBef>
                <a:spcPct val="0"/>
              </a:spcBef>
              <a:spcAft>
                <a:spcPct val="0"/>
              </a:spcAft>
              <a:defRPr sz="2000" b="1" kern="1200">
                <a:solidFill>
                  <a:schemeClr val="bg1"/>
                </a:solidFill>
                <a:latin typeface="Arial" charset="0"/>
                <a:ea typeface="+mn-ea"/>
                <a:cs typeface="+mn-cs"/>
              </a:defRPr>
            </a:lvl2pPr>
            <a:lvl3pPr marL="914400" algn="ctr" rtl="0" eaLnBrk="0" fontAlgn="base" hangingPunct="0">
              <a:spcBef>
                <a:spcPct val="0"/>
              </a:spcBef>
              <a:spcAft>
                <a:spcPct val="0"/>
              </a:spcAft>
              <a:defRPr sz="2000" b="1" kern="1200">
                <a:solidFill>
                  <a:schemeClr val="bg1"/>
                </a:solidFill>
                <a:latin typeface="Arial" charset="0"/>
                <a:ea typeface="+mn-ea"/>
                <a:cs typeface="+mn-cs"/>
              </a:defRPr>
            </a:lvl3pPr>
            <a:lvl4pPr marL="1371600" algn="ctr" rtl="0" eaLnBrk="0" fontAlgn="base" hangingPunct="0">
              <a:spcBef>
                <a:spcPct val="0"/>
              </a:spcBef>
              <a:spcAft>
                <a:spcPct val="0"/>
              </a:spcAft>
              <a:defRPr sz="2000" b="1" kern="1200">
                <a:solidFill>
                  <a:schemeClr val="bg1"/>
                </a:solidFill>
                <a:latin typeface="Arial" charset="0"/>
                <a:ea typeface="+mn-ea"/>
                <a:cs typeface="+mn-cs"/>
              </a:defRPr>
            </a:lvl4pPr>
            <a:lvl5pPr marL="1828800" algn="ctr" rtl="0" eaLnBrk="0" fontAlgn="base" hangingPunct="0">
              <a:spcBef>
                <a:spcPct val="0"/>
              </a:spcBef>
              <a:spcAft>
                <a:spcPct val="0"/>
              </a:spcAft>
              <a:defRPr sz="2000" b="1" kern="1200">
                <a:solidFill>
                  <a:schemeClr val="bg1"/>
                </a:solidFill>
                <a:latin typeface="Arial" charset="0"/>
                <a:ea typeface="+mn-ea"/>
                <a:cs typeface="+mn-cs"/>
              </a:defRPr>
            </a:lvl5pPr>
            <a:lvl6pPr marL="2286000" algn="l" defTabSz="914400" rtl="0" eaLnBrk="1" latinLnBrk="0" hangingPunct="1">
              <a:defRPr sz="2000" b="1" kern="1200">
                <a:solidFill>
                  <a:schemeClr val="bg1"/>
                </a:solidFill>
                <a:latin typeface="Arial" charset="0"/>
                <a:ea typeface="+mn-ea"/>
                <a:cs typeface="+mn-cs"/>
              </a:defRPr>
            </a:lvl6pPr>
            <a:lvl7pPr marL="2743200" algn="l" defTabSz="914400" rtl="0" eaLnBrk="1" latinLnBrk="0" hangingPunct="1">
              <a:defRPr sz="2000" b="1" kern="1200">
                <a:solidFill>
                  <a:schemeClr val="bg1"/>
                </a:solidFill>
                <a:latin typeface="Arial" charset="0"/>
                <a:ea typeface="+mn-ea"/>
                <a:cs typeface="+mn-cs"/>
              </a:defRPr>
            </a:lvl7pPr>
            <a:lvl8pPr marL="3200400" algn="l" defTabSz="914400" rtl="0" eaLnBrk="1" latinLnBrk="0" hangingPunct="1">
              <a:defRPr sz="2000" b="1" kern="1200">
                <a:solidFill>
                  <a:schemeClr val="bg1"/>
                </a:solidFill>
                <a:latin typeface="Arial" charset="0"/>
                <a:ea typeface="+mn-ea"/>
                <a:cs typeface="+mn-cs"/>
              </a:defRPr>
            </a:lvl8pPr>
            <a:lvl9pPr marL="3657600" algn="l" defTabSz="914400" rtl="0" eaLnBrk="1" latinLnBrk="0" hangingPunct="1">
              <a:defRPr sz="2000" b="1" kern="1200">
                <a:solidFill>
                  <a:schemeClr val="bg1"/>
                </a:solidFill>
                <a:latin typeface="Arial" charset="0"/>
                <a:ea typeface="+mn-ea"/>
                <a:cs typeface="+mn-cs"/>
              </a:defRPr>
            </a:lvl9pPr>
          </a:lstStyle>
          <a:p>
            <a:fld id="{34C99D79-8A4B-4031-B1E0-AF26F8EDF2B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1" fontAlgn="base" hangingPunct="1">
        <a:spcBef>
          <a:spcPct val="0"/>
        </a:spcBef>
        <a:spcAft>
          <a:spcPct val="0"/>
        </a:spcAft>
        <a:defRPr sz="3600" b="1">
          <a:solidFill>
            <a:schemeClr val="bg1"/>
          </a:solidFill>
          <a:latin typeface="+mj-lt"/>
          <a:ea typeface="+mj-ea"/>
          <a:cs typeface="+mj-cs"/>
        </a:defRPr>
      </a:lvl1pPr>
      <a:lvl2pPr algn="l" rtl="0" eaLnBrk="1" fontAlgn="base" hangingPunct="1">
        <a:spcBef>
          <a:spcPct val="0"/>
        </a:spcBef>
        <a:spcAft>
          <a:spcPct val="0"/>
        </a:spcAft>
        <a:defRPr sz="3600" b="1">
          <a:solidFill>
            <a:schemeClr val="bg1"/>
          </a:solidFill>
          <a:latin typeface="Arial" charset="0"/>
        </a:defRPr>
      </a:lvl2pPr>
      <a:lvl3pPr algn="l" rtl="0" eaLnBrk="1" fontAlgn="base" hangingPunct="1">
        <a:spcBef>
          <a:spcPct val="0"/>
        </a:spcBef>
        <a:spcAft>
          <a:spcPct val="0"/>
        </a:spcAft>
        <a:defRPr sz="3600" b="1">
          <a:solidFill>
            <a:schemeClr val="bg1"/>
          </a:solidFill>
          <a:latin typeface="Arial" charset="0"/>
        </a:defRPr>
      </a:lvl3pPr>
      <a:lvl4pPr algn="l" rtl="0" eaLnBrk="1" fontAlgn="base" hangingPunct="1">
        <a:spcBef>
          <a:spcPct val="0"/>
        </a:spcBef>
        <a:spcAft>
          <a:spcPct val="0"/>
        </a:spcAft>
        <a:defRPr sz="3600" b="1">
          <a:solidFill>
            <a:schemeClr val="bg1"/>
          </a:solidFill>
          <a:latin typeface="Arial" charset="0"/>
        </a:defRPr>
      </a:lvl4pPr>
      <a:lvl5pPr algn="l" rtl="0" eaLnBrk="1" fontAlgn="base" hangingPunct="1">
        <a:spcBef>
          <a:spcPct val="0"/>
        </a:spcBef>
        <a:spcAft>
          <a:spcPct val="0"/>
        </a:spcAft>
        <a:defRPr sz="3600" b="1">
          <a:solidFill>
            <a:schemeClr val="bg1"/>
          </a:solidFill>
          <a:latin typeface="Arial" charset="0"/>
        </a:defRPr>
      </a:lvl5pPr>
      <a:lvl6pPr marL="457200" algn="l" rtl="0" eaLnBrk="1" fontAlgn="base" hangingPunct="1">
        <a:spcBef>
          <a:spcPct val="0"/>
        </a:spcBef>
        <a:spcAft>
          <a:spcPct val="0"/>
        </a:spcAft>
        <a:defRPr sz="3600" b="1">
          <a:solidFill>
            <a:schemeClr val="bg1"/>
          </a:solidFill>
          <a:latin typeface="Arial" charset="0"/>
        </a:defRPr>
      </a:lvl6pPr>
      <a:lvl7pPr marL="914400" algn="l" rtl="0" eaLnBrk="1" fontAlgn="base" hangingPunct="1">
        <a:spcBef>
          <a:spcPct val="0"/>
        </a:spcBef>
        <a:spcAft>
          <a:spcPct val="0"/>
        </a:spcAft>
        <a:defRPr sz="3600" b="1">
          <a:solidFill>
            <a:schemeClr val="bg1"/>
          </a:solidFill>
          <a:latin typeface="Arial" charset="0"/>
        </a:defRPr>
      </a:lvl7pPr>
      <a:lvl8pPr marL="1371600" algn="l" rtl="0" eaLnBrk="1" fontAlgn="base" hangingPunct="1">
        <a:spcBef>
          <a:spcPct val="0"/>
        </a:spcBef>
        <a:spcAft>
          <a:spcPct val="0"/>
        </a:spcAft>
        <a:defRPr sz="3600" b="1">
          <a:solidFill>
            <a:schemeClr val="bg1"/>
          </a:solidFill>
          <a:latin typeface="Arial" charset="0"/>
        </a:defRPr>
      </a:lvl8pPr>
      <a:lvl9pPr marL="1828800" algn="l" rtl="0" eaLnBrk="1" fontAlgn="base" hangingPunct="1">
        <a:spcBef>
          <a:spcPct val="0"/>
        </a:spcBef>
        <a:spcAft>
          <a:spcPct val="0"/>
        </a:spcAft>
        <a:defRPr sz="3600" b="1">
          <a:solidFill>
            <a:schemeClr val="bg1"/>
          </a:solidFill>
          <a:latin typeface="Arial" charset="0"/>
        </a:defRPr>
      </a:lvl9pPr>
    </p:titleStyle>
    <p:bodyStyle>
      <a:lvl1pPr marL="342900" indent="-342900" algn="l" rtl="0" eaLnBrk="1" fontAlgn="base" hangingPunct="1">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j-lt"/>
        </a:defRPr>
      </a:lvl2pPr>
      <a:lvl3pPr marL="1143000" indent="-228600" algn="l" rtl="0" eaLnBrk="1" fontAlgn="base" hangingPunct="1">
        <a:spcBef>
          <a:spcPct val="20000"/>
        </a:spcBef>
        <a:spcAft>
          <a:spcPct val="0"/>
        </a:spcAft>
        <a:buClr>
          <a:schemeClr val="tx1"/>
        </a:buClr>
        <a:buChar char="•"/>
        <a:defRPr sz="2400">
          <a:solidFill>
            <a:schemeClr val="tx1"/>
          </a:solidFill>
          <a:latin typeface="+mj-lt"/>
        </a:defRPr>
      </a:lvl3pPr>
      <a:lvl4pPr marL="1600200" indent="-228600" algn="l" rtl="0" eaLnBrk="1" fontAlgn="base" hangingPunct="1">
        <a:spcBef>
          <a:spcPct val="20000"/>
        </a:spcBef>
        <a:spcAft>
          <a:spcPct val="0"/>
        </a:spcAft>
        <a:buChar char="–"/>
        <a:defRPr sz="2000">
          <a:solidFill>
            <a:schemeClr val="tx1"/>
          </a:solidFill>
          <a:latin typeface="+mj-lt"/>
        </a:defRPr>
      </a:lvl4pPr>
      <a:lvl5pPr marL="2057400" indent="-228600" algn="l" rtl="0" eaLnBrk="1" fontAlgn="base" hangingPunct="1">
        <a:spcBef>
          <a:spcPct val="20000"/>
        </a:spcBef>
        <a:spcAft>
          <a:spcPct val="0"/>
        </a:spcAft>
        <a:buChar char="»"/>
        <a:defRPr sz="2000">
          <a:solidFill>
            <a:schemeClr val="tx1"/>
          </a:solidFill>
          <a:latin typeface="+mj-lt"/>
        </a:defRPr>
      </a:lvl5pPr>
      <a:lvl6pPr marL="2514600" indent="-228600" algn="l" rtl="0" eaLnBrk="1" fontAlgn="base" hangingPunct="1">
        <a:spcBef>
          <a:spcPct val="20000"/>
        </a:spcBef>
        <a:spcAft>
          <a:spcPct val="0"/>
        </a:spcAft>
        <a:buChar char="»"/>
        <a:defRPr sz="2000">
          <a:solidFill>
            <a:schemeClr val="tx1"/>
          </a:solidFill>
          <a:latin typeface="+mj-lt"/>
        </a:defRPr>
      </a:lvl6pPr>
      <a:lvl7pPr marL="2971800" indent="-228600" algn="l" rtl="0" eaLnBrk="1" fontAlgn="base" hangingPunct="1">
        <a:spcBef>
          <a:spcPct val="20000"/>
        </a:spcBef>
        <a:spcAft>
          <a:spcPct val="0"/>
        </a:spcAft>
        <a:buChar char="»"/>
        <a:defRPr sz="2000">
          <a:solidFill>
            <a:schemeClr val="tx1"/>
          </a:solidFill>
          <a:latin typeface="+mj-lt"/>
        </a:defRPr>
      </a:lvl7pPr>
      <a:lvl8pPr marL="3429000" indent="-228600" algn="l" rtl="0" eaLnBrk="1" fontAlgn="base" hangingPunct="1">
        <a:spcBef>
          <a:spcPct val="20000"/>
        </a:spcBef>
        <a:spcAft>
          <a:spcPct val="0"/>
        </a:spcAft>
        <a:buChar char="»"/>
        <a:defRPr sz="2000">
          <a:solidFill>
            <a:schemeClr val="tx1"/>
          </a:solidFill>
          <a:latin typeface="+mj-lt"/>
        </a:defRPr>
      </a:lvl8pPr>
      <a:lvl9pPr marL="3886200" indent="-228600" algn="l" rtl="0" eaLnBrk="1" fontAlgn="base" hangingPunct="1">
        <a:spcBef>
          <a:spcPct val="20000"/>
        </a:spcBef>
        <a:spcAft>
          <a:spcPct val="0"/>
        </a:spcAft>
        <a:buChar char="»"/>
        <a:defRPr sz="2000">
          <a:solidFill>
            <a:schemeClr val="tx1"/>
          </a:solidFill>
          <a:latin typeface="+mj-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B21400-C337-4FAC-8F14-98A3D453E30D}" type="datetimeFigureOut">
              <a:rPr lang="en-US" smtClean="0"/>
              <a:pPr/>
              <a:t>5/17/2024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D3876C-4542-4C64-B641-17DD424954FD}" type="slidenum">
              <a:rPr lang="en-US" smtClean="0"/>
              <a:pPr/>
              <a:t>‹#›</a:t>
            </a:fld>
            <a:endParaRPr lang="en-US"/>
          </a:p>
        </p:txBody>
      </p:sp>
    </p:spTree>
    <p:extLst>
      <p:ext uri="{BB962C8B-B14F-4D97-AF65-F5344CB8AC3E}">
        <p14:creationId xmlns:p14="http://schemas.microsoft.com/office/powerpoint/2010/main" val="99485104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C52B8CC-C588-5863-643F-A3D38556A7A7}"/>
              </a:ext>
            </a:extLst>
          </p:cNvPr>
          <p:cNvSpPr>
            <a:spLocks noGrp="1" noChangeArrowheads="1"/>
          </p:cNvSpPr>
          <p:nvPr>
            <p:ph type="title"/>
          </p:nvPr>
        </p:nvSpPr>
        <p:spPr bwMode="auto">
          <a:xfrm>
            <a:off x="0" y="0"/>
            <a:ext cx="9144000" cy="6858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PowerPoint 2003</a:t>
            </a:r>
          </a:p>
        </p:txBody>
      </p:sp>
      <p:sp>
        <p:nvSpPr>
          <p:cNvPr id="1027" name="Text Box 9">
            <a:extLst>
              <a:ext uri="{FF2B5EF4-FFF2-40B4-BE49-F238E27FC236}">
                <a16:creationId xmlns:a16="http://schemas.microsoft.com/office/drawing/2014/main" id="{B102EECC-0FEA-ECA9-2F98-163D4B02827D}"/>
              </a:ext>
            </a:extLst>
          </p:cNvPr>
          <p:cNvSpPr txBox="1">
            <a:spLocks noChangeArrowheads="1"/>
          </p:cNvSpPr>
          <p:nvPr/>
        </p:nvSpPr>
        <p:spPr bwMode="auto">
          <a:xfrm>
            <a:off x="0" y="6557963"/>
            <a:ext cx="9144000" cy="584775"/>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r>
              <a:rPr lang="en-US" altLang="en-US" sz="1400" i="1">
                <a:solidFill>
                  <a:schemeClr val="bg1"/>
                </a:solidFill>
              </a:rPr>
              <a:t>Đại học Hòa Bình</a:t>
            </a:r>
            <a:r>
              <a:rPr lang="en-US" altLang="en-US" sz="1800" i="1">
                <a:solidFill>
                  <a:schemeClr val="bg1"/>
                </a:solidFill>
              </a:rPr>
              <a:t>							            </a:t>
            </a:r>
            <a:fld id="{C7648797-6CF1-45E0-BBCB-54B34E8FEF96}" type="slidenum">
              <a:rPr lang="en-US" altLang="en-US" sz="1400" i="1" smtClean="0">
                <a:solidFill>
                  <a:schemeClr val="bg1"/>
                </a:solidFill>
              </a:rPr>
              <a:pPr>
                <a:spcBef>
                  <a:spcPct val="50000"/>
                </a:spcBef>
              </a:pPr>
              <a:t>‹#›</a:t>
            </a:fld>
            <a:r>
              <a:rPr lang="en-US" altLang="en-US" sz="1400" i="1">
                <a:solidFill>
                  <a:schemeClr val="bg1"/>
                </a:solidFill>
              </a:rPr>
              <a:t>/50</a:t>
            </a:r>
          </a:p>
        </p:txBody>
      </p:sp>
    </p:spTree>
    <p:extLst>
      <p:ext uri="{BB962C8B-B14F-4D97-AF65-F5344CB8AC3E}">
        <p14:creationId xmlns:p14="http://schemas.microsoft.com/office/powerpoint/2010/main" val="2654768222"/>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ransition advTm="6000"/>
  <p:txStyles>
    <p:titleStyle>
      <a:lvl1pPr algn="ctr" rtl="0" eaLnBrk="0" fontAlgn="base" hangingPunct="0">
        <a:spcBef>
          <a:spcPct val="0"/>
        </a:spcBef>
        <a:spcAft>
          <a:spcPct val="0"/>
        </a:spcAft>
        <a:defRPr sz="3600" kern="1200">
          <a:solidFill>
            <a:schemeClr val="bg1"/>
          </a:solidFill>
          <a:latin typeface="+mj-lt"/>
          <a:ea typeface="+mj-ea"/>
          <a:cs typeface="+mj-cs"/>
        </a:defRPr>
      </a:lvl1pPr>
      <a:lvl2pPr algn="ctr" rtl="0" eaLnBrk="0" fontAlgn="base" hangingPunct="0">
        <a:spcBef>
          <a:spcPct val="0"/>
        </a:spcBef>
        <a:spcAft>
          <a:spcPct val="0"/>
        </a:spcAft>
        <a:defRPr sz="3600">
          <a:solidFill>
            <a:schemeClr val="bg1"/>
          </a:solidFill>
          <a:latin typeface="Verdana" panose="020B0604030504040204" pitchFamily="34" charset="0"/>
        </a:defRPr>
      </a:lvl2pPr>
      <a:lvl3pPr algn="ctr" rtl="0" eaLnBrk="0" fontAlgn="base" hangingPunct="0">
        <a:spcBef>
          <a:spcPct val="0"/>
        </a:spcBef>
        <a:spcAft>
          <a:spcPct val="0"/>
        </a:spcAft>
        <a:defRPr sz="3600">
          <a:solidFill>
            <a:schemeClr val="bg1"/>
          </a:solidFill>
          <a:latin typeface="Verdana" panose="020B0604030504040204" pitchFamily="34" charset="0"/>
        </a:defRPr>
      </a:lvl3pPr>
      <a:lvl4pPr algn="ctr" rtl="0" eaLnBrk="0" fontAlgn="base" hangingPunct="0">
        <a:spcBef>
          <a:spcPct val="0"/>
        </a:spcBef>
        <a:spcAft>
          <a:spcPct val="0"/>
        </a:spcAft>
        <a:defRPr sz="3600">
          <a:solidFill>
            <a:schemeClr val="bg1"/>
          </a:solidFill>
          <a:latin typeface="Verdana" panose="020B0604030504040204" pitchFamily="34" charset="0"/>
        </a:defRPr>
      </a:lvl4pPr>
      <a:lvl5pPr algn="ctr" rtl="0" eaLnBrk="0" fontAlgn="base" hangingPunct="0">
        <a:spcBef>
          <a:spcPct val="0"/>
        </a:spcBef>
        <a:spcAft>
          <a:spcPct val="0"/>
        </a:spcAft>
        <a:defRPr sz="3600">
          <a:solidFill>
            <a:schemeClr val="bg1"/>
          </a:solidFill>
          <a:latin typeface="Verdana" panose="020B0604030504040204" pitchFamily="34" charset="0"/>
        </a:defRPr>
      </a:lvl5pPr>
      <a:lvl6pPr marL="457200" algn="ctr" rtl="0" fontAlgn="base">
        <a:spcBef>
          <a:spcPct val="0"/>
        </a:spcBef>
        <a:spcAft>
          <a:spcPct val="0"/>
        </a:spcAft>
        <a:defRPr sz="3600">
          <a:solidFill>
            <a:schemeClr val="bg1"/>
          </a:solidFill>
          <a:latin typeface="Verdana" panose="020B0604030504040204" pitchFamily="34" charset="0"/>
        </a:defRPr>
      </a:lvl6pPr>
      <a:lvl7pPr marL="914400" algn="ctr" rtl="0" fontAlgn="base">
        <a:spcBef>
          <a:spcPct val="0"/>
        </a:spcBef>
        <a:spcAft>
          <a:spcPct val="0"/>
        </a:spcAft>
        <a:defRPr sz="3600">
          <a:solidFill>
            <a:schemeClr val="bg1"/>
          </a:solidFill>
          <a:latin typeface="Verdana" panose="020B0604030504040204" pitchFamily="34" charset="0"/>
        </a:defRPr>
      </a:lvl7pPr>
      <a:lvl8pPr marL="1371600" algn="ctr" rtl="0" fontAlgn="base">
        <a:spcBef>
          <a:spcPct val="0"/>
        </a:spcBef>
        <a:spcAft>
          <a:spcPct val="0"/>
        </a:spcAft>
        <a:defRPr sz="3600">
          <a:solidFill>
            <a:schemeClr val="bg1"/>
          </a:solidFill>
          <a:latin typeface="Verdana" panose="020B0604030504040204" pitchFamily="34" charset="0"/>
        </a:defRPr>
      </a:lvl8pPr>
      <a:lvl9pPr marL="1828800" algn="ctr" rtl="0" fontAlgn="base">
        <a:spcBef>
          <a:spcPct val="0"/>
        </a:spcBef>
        <a:spcAft>
          <a:spcPct val="0"/>
        </a:spcAft>
        <a:defRPr sz="3600">
          <a:solidFill>
            <a:schemeClr val="bg1"/>
          </a:solidFill>
          <a:latin typeface="Verdana" panose="020B0604030504040204"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kern="12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kern="1200">
          <a:solidFill>
            <a:schemeClr val="tx1"/>
          </a:solidFill>
          <a:latin typeface="+mn-lt"/>
          <a:ea typeface="+mn-ea"/>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kern="1200">
          <a:solidFill>
            <a:schemeClr val="tx1"/>
          </a:solidFill>
          <a:latin typeface="+mn-lt"/>
          <a:ea typeface="+mn-ea"/>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kern="1200">
          <a:solidFill>
            <a:schemeClr val="tx1"/>
          </a:solidFill>
          <a:latin typeface="+mn-lt"/>
          <a:ea typeface="+mn-ea"/>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5.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5.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5.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5.xml"/><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5.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6.png"/><Relationship Id="rId1" Type="http://schemas.openxmlformats.org/officeDocument/2006/relationships/slideLayout" Target="../slideLayouts/slideLayout25.xml"/><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idx="4294967295"/>
          </p:nvPr>
        </p:nvSpPr>
        <p:spPr>
          <a:xfrm>
            <a:off x="152400" y="3505200"/>
            <a:ext cx="8991600" cy="838200"/>
          </a:xfrm>
          <a:prstGeom prst="rect">
            <a:avLst/>
          </a:prstGeom>
        </p:spPr>
        <p:txBody>
          <a:bodyPr/>
          <a:lstStyle/>
          <a:p>
            <a:pPr algn="ctr">
              <a:lnSpc>
                <a:spcPct val="120000"/>
              </a:lnSpc>
            </a:pPr>
            <a:r>
              <a:rPr lang="en-US" sz="6000">
                <a:solidFill>
                  <a:srgbClr val="FFFF00"/>
                </a:solidFill>
                <a:latin typeface="Tahoma" pitchFamily="34" charset="0"/>
                <a:cs typeface="Tahoma" pitchFamily="34" charset="0"/>
              </a:rPr>
              <a:t>LẬP TRÌNH. NET</a:t>
            </a:r>
          </a:p>
        </p:txBody>
      </p:sp>
      <p:sp>
        <p:nvSpPr>
          <p:cNvPr id="6" name="Rectangle 3"/>
          <p:cNvSpPr txBox="1">
            <a:spLocks noChangeArrowheads="1"/>
          </p:cNvSpPr>
          <p:nvPr/>
        </p:nvSpPr>
        <p:spPr>
          <a:xfrm>
            <a:off x="1676400" y="4800600"/>
            <a:ext cx="7086600" cy="1600200"/>
          </a:xfrm>
          <a:prstGeom prst="rect">
            <a:avLst/>
          </a:prstGeom>
        </p:spPr>
        <p:txBody>
          <a:bodyPr/>
          <a:lstStyle>
            <a:lvl1pPr marL="342900" indent="-342900" algn="l" rtl="0" eaLnBrk="1" fontAlgn="base" hangingPunct="1">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itchFamily="2" charset="2"/>
              <a:buChar char="§"/>
              <a:defRPr sz="2800">
                <a:solidFill>
                  <a:schemeClr val="tx1"/>
                </a:solidFill>
                <a:latin typeface="+mj-lt"/>
              </a:defRPr>
            </a:lvl2pPr>
            <a:lvl3pPr marL="1143000" indent="-228600" algn="l" rtl="0" eaLnBrk="1" fontAlgn="base" hangingPunct="1">
              <a:spcBef>
                <a:spcPct val="20000"/>
              </a:spcBef>
              <a:spcAft>
                <a:spcPct val="0"/>
              </a:spcAft>
              <a:buClr>
                <a:schemeClr val="tx1"/>
              </a:buClr>
              <a:buChar char="•"/>
              <a:defRPr sz="2400">
                <a:solidFill>
                  <a:schemeClr val="tx1"/>
                </a:solidFill>
                <a:latin typeface="+mj-lt"/>
              </a:defRPr>
            </a:lvl3pPr>
            <a:lvl4pPr marL="1600200" indent="-228600" algn="l" rtl="0" eaLnBrk="1" fontAlgn="base" hangingPunct="1">
              <a:spcBef>
                <a:spcPct val="20000"/>
              </a:spcBef>
              <a:spcAft>
                <a:spcPct val="0"/>
              </a:spcAft>
              <a:buChar char="–"/>
              <a:defRPr sz="2000">
                <a:solidFill>
                  <a:schemeClr val="tx1"/>
                </a:solidFill>
                <a:latin typeface="+mj-lt"/>
              </a:defRPr>
            </a:lvl4pPr>
            <a:lvl5pPr marL="2057400" indent="-228600" algn="l" rtl="0" eaLnBrk="1" fontAlgn="base" hangingPunct="1">
              <a:spcBef>
                <a:spcPct val="20000"/>
              </a:spcBef>
              <a:spcAft>
                <a:spcPct val="0"/>
              </a:spcAft>
              <a:buChar char="»"/>
              <a:defRPr sz="2000">
                <a:solidFill>
                  <a:schemeClr val="tx1"/>
                </a:solidFill>
                <a:latin typeface="+mj-lt"/>
              </a:defRPr>
            </a:lvl5pPr>
            <a:lvl6pPr marL="2514600" indent="-228600" algn="l" rtl="0" eaLnBrk="1" fontAlgn="base" hangingPunct="1">
              <a:spcBef>
                <a:spcPct val="20000"/>
              </a:spcBef>
              <a:spcAft>
                <a:spcPct val="0"/>
              </a:spcAft>
              <a:buChar char="»"/>
              <a:defRPr sz="2000">
                <a:solidFill>
                  <a:schemeClr val="tx1"/>
                </a:solidFill>
                <a:latin typeface="+mj-lt"/>
              </a:defRPr>
            </a:lvl6pPr>
            <a:lvl7pPr marL="2971800" indent="-228600" algn="l" rtl="0" eaLnBrk="1" fontAlgn="base" hangingPunct="1">
              <a:spcBef>
                <a:spcPct val="20000"/>
              </a:spcBef>
              <a:spcAft>
                <a:spcPct val="0"/>
              </a:spcAft>
              <a:buChar char="»"/>
              <a:defRPr sz="2000">
                <a:solidFill>
                  <a:schemeClr val="tx1"/>
                </a:solidFill>
                <a:latin typeface="+mj-lt"/>
              </a:defRPr>
            </a:lvl7pPr>
            <a:lvl8pPr marL="3429000" indent="-228600" algn="l" rtl="0" eaLnBrk="1" fontAlgn="base" hangingPunct="1">
              <a:spcBef>
                <a:spcPct val="20000"/>
              </a:spcBef>
              <a:spcAft>
                <a:spcPct val="0"/>
              </a:spcAft>
              <a:buChar char="»"/>
              <a:defRPr sz="2000">
                <a:solidFill>
                  <a:schemeClr val="tx1"/>
                </a:solidFill>
                <a:latin typeface="+mj-lt"/>
              </a:defRPr>
            </a:lvl8pPr>
            <a:lvl9pPr marL="3886200" indent="-228600" algn="l" rtl="0" eaLnBrk="1" fontAlgn="base" hangingPunct="1">
              <a:spcBef>
                <a:spcPct val="20000"/>
              </a:spcBef>
              <a:spcAft>
                <a:spcPct val="0"/>
              </a:spcAft>
              <a:buChar char="»"/>
              <a:defRPr sz="2000">
                <a:solidFill>
                  <a:schemeClr val="tx1"/>
                </a:solidFill>
                <a:latin typeface="+mj-lt"/>
              </a:defRPr>
            </a:lvl9pPr>
          </a:lstStyle>
          <a:p>
            <a:pPr marL="0" indent="0">
              <a:lnSpc>
                <a:spcPct val="110000"/>
              </a:lnSpc>
              <a:buNone/>
            </a:pPr>
            <a:r>
              <a:rPr lang="en-US" sz="2100">
                <a:solidFill>
                  <a:schemeClr val="bg1"/>
                </a:solidFill>
                <a:latin typeface="Arial" pitchFamily="34" charset="0"/>
                <a:cs typeface="Arial" pitchFamily="34" charset="0"/>
              </a:rPr>
              <a:t>Giảng viên: Th.s Nguyễn Thu Hằng</a:t>
            </a:r>
          </a:p>
          <a:p>
            <a:pPr marL="0" indent="0">
              <a:lnSpc>
                <a:spcPct val="110000"/>
              </a:lnSpc>
              <a:buNone/>
            </a:pPr>
            <a:r>
              <a:rPr lang="en-US" sz="2100">
                <a:solidFill>
                  <a:schemeClr val="bg1"/>
                </a:solidFill>
                <a:latin typeface="Arial" pitchFamily="34" charset="0"/>
                <a:cs typeface="Arial" pitchFamily="34" charset="0"/>
              </a:rPr>
              <a:t>Email: hangnt1@eaut.edu.vn</a:t>
            </a:r>
          </a:p>
          <a:p>
            <a:pPr marL="0" indent="0">
              <a:lnSpc>
                <a:spcPct val="110000"/>
              </a:lnSpc>
              <a:buNone/>
            </a:pPr>
            <a:r>
              <a:rPr lang="en-US" sz="2100">
                <a:solidFill>
                  <a:schemeClr val="bg1"/>
                </a:solidFill>
                <a:latin typeface="Arial" pitchFamily="34" charset="0"/>
                <a:cs typeface="Arial" pitchFamily="34" charset="0"/>
              </a:rPr>
              <a:t>Bộ môn Công nghệ phần mềm</a:t>
            </a:r>
          </a:p>
          <a:p>
            <a:pPr marL="0" indent="0">
              <a:lnSpc>
                <a:spcPct val="110000"/>
              </a:lnSpc>
              <a:buNone/>
            </a:pPr>
            <a:r>
              <a:rPr lang="en-US" sz="2100">
                <a:solidFill>
                  <a:schemeClr val="bg1"/>
                </a:solidFill>
                <a:latin typeface="Arial" pitchFamily="34" charset="0"/>
                <a:cs typeface="Arial" pitchFamily="34" charset="0"/>
              </a:rPr>
              <a:t>Khoa Công nghệ thông tin – ĐH Công nghệ Đông Á</a:t>
            </a: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idx="4294967295"/>
          </p:nvPr>
        </p:nvSpPr>
        <p:spPr>
          <a:xfrm>
            <a:off x="157843" y="3407228"/>
            <a:ext cx="8991600" cy="1698171"/>
          </a:xfrm>
          <a:prstGeom prst="rect">
            <a:avLst/>
          </a:prstGeom>
        </p:spPr>
        <p:txBody>
          <a:bodyPr/>
          <a:lstStyle/>
          <a:p>
            <a:pPr algn="ctr">
              <a:lnSpc>
                <a:spcPct val="120000"/>
              </a:lnSpc>
            </a:pPr>
            <a:r>
              <a:rPr lang="vi-VN" sz="4000">
                <a:solidFill>
                  <a:srgbClr val="FFFF00"/>
                </a:solidFill>
                <a:latin typeface="Tahoma" pitchFamily="34" charset="0"/>
                <a:cs typeface="Tahoma" pitchFamily="34" charset="0"/>
              </a:rPr>
              <a:t>Chương 2. Lập trình hướng đối tượng với C#</a:t>
            </a:r>
          </a:p>
        </p:txBody>
      </p:sp>
    </p:spTree>
    <p:extLst>
      <p:ext uri="{BB962C8B-B14F-4D97-AF65-F5344CB8AC3E}">
        <p14:creationId xmlns:p14="http://schemas.microsoft.com/office/powerpoint/2010/main" val="2026482899"/>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E6CBF2A-B595-348F-1635-0EE3ECC2B725}"/>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57380" name="Rectangle 4">
            <a:extLst>
              <a:ext uri="{FF2B5EF4-FFF2-40B4-BE49-F238E27FC236}">
                <a16:creationId xmlns:a16="http://schemas.microsoft.com/office/drawing/2014/main" id="{E670C167-68CE-A8BF-E20F-D12ACF59A9D1}"/>
              </a:ext>
            </a:extLst>
          </p:cNvPr>
          <p:cNvSpPr>
            <a:spLocks noChangeArrowheads="1"/>
          </p:cNvSpPr>
          <p:nvPr/>
        </p:nvSpPr>
        <p:spPr bwMode="auto">
          <a:xfrm>
            <a:off x="381000" y="1066800"/>
            <a:ext cx="8534400" cy="5189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15000"/>
              </a:lnSpc>
              <a:spcBef>
                <a:spcPct val="0"/>
              </a:spcBef>
              <a:spcAft>
                <a:spcPct val="0"/>
              </a:spcAft>
              <a:buClrTx/>
              <a:buSzTx/>
              <a:buFontTx/>
              <a:buNone/>
              <a:tabLst/>
              <a:defRPr/>
            </a:pPr>
            <a:r>
              <a:rPr kumimoji="0" lang="en-US" altLang="en-US" sz="2400" i="0" u="none" strike="noStrike" kern="1200" cap="none" spc="0" normalizeH="0" baseline="0" noProof="0">
                <a:ln>
                  <a:noFill/>
                </a:ln>
                <a:solidFill>
                  <a:srgbClr val="990000"/>
                </a:solidFill>
                <a:effectLst/>
                <a:uLnTx/>
                <a:uFillTx/>
                <a:latin typeface="Verdana" panose="020B0604030504040204" pitchFamily="34" charset="0"/>
                <a:ea typeface="+mn-ea"/>
                <a:cs typeface="+mn-cs"/>
              </a:rPr>
              <a:t>Khái niệm</a:t>
            </a:r>
            <a:r>
              <a:rPr lang="en-US" altLang="en-US">
                <a:solidFill>
                  <a:srgbClr val="990000"/>
                </a:solidFill>
              </a:rPr>
              <a:t>:</a:t>
            </a:r>
            <a:r>
              <a:rPr kumimoji="0" lang="en-US" altLang="en-US" sz="2400" i="0" u="none" strike="noStrike" kern="1200" cap="none" spc="0" normalizeH="0" baseline="0" noProof="0">
                <a:ln>
                  <a:noFill/>
                </a:ln>
                <a:solidFill>
                  <a:srgbClr val="990000"/>
                </a:solidFill>
                <a:effectLst/>
                <a:uLnTx/>
                <a:uFillTx/>
                <a:latin typeface="Verdana" panose="020B0604030504040204" pitchFamily="34" charset="0"/>
                <a:ea typeface="+mn-ea"/>
                <a:cs typeface="+mn-cs"/>
              </a:rPr>
              <a:t> </a:t>
            </a: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Lập trình hướng đối tượng (OOP – Object Oriented Programming):</a:t>
            </a:r>
          </a:p>
          <a:p>
            <a:pPr marL="342900" marR="0" lvl="0" indent="-342900" algn="l" defTabSz="914400" rtl="0" eaLnBrk="0" fontAlgn="base" latinLnBrk="0" hangingPunct="0">
              <a:lnSpc>
                <a:spcPct val="115000"/>
              </a:lnSpc>
              <a:spcBef>
                <a:spcPct val="0"/>
              </a:spcBef>
              <a:spcAft>
                <a:spcPct val="0"/>
              </a:spcAft>
              <a:buClrTx/>
              <a:buSzTx/>
              <a:buFontTx/>
              <a:buChar char="-"/>
              <a:tabLst/>
              <a:defRPr/>
            </a:pPr>
            <a:r>
              <a:rPr kumimoji="0" lang="en-US" altLang="en-US" sz="2400" b="0" i="0" u="none" strike="noStrike" kern="1200" cap="none" spc="0" normalizeH="0" baseline="0" noProof="0">
                <a:ln>
                  <a:noFill/>
                </a:ln>
                <a:solidFill>
                  <a:srgbClr val="000000">
                    <a:lumMod val="95000"/>
                    <a:lumOff val="5000"/>
                  </a:srgbClr>
                </a:solidFill>
                <a:effectLst/>
                <a:uLnTx/>
                <a:uFillTx/>
                <a:latin typeface="Verdana" panose="020B0604030504040204" pitchFamily="34" charset="0"/>
                <a:ea typeface="+mn-ea"/>
                <a:cs typeface="+mn-cs"/>
              </a:rPr>
              <a:t>Là một kỹ thuật lập trình được hỗ trợ bởi hầu hết các ngôn ngữ lập trình như: Java, PHP, .net, …</a:t>
            </a:r>
          </a:p>
          <a:p>
            <a:pPr marL="342900" marR="0" lvl="0" indent="-342900" algn="l" defTabSz="914400" rtl="0" eaLnBrk="0" fontAlgn="base" latinLnBrk="0" hangingPunct="0">
              <a:lnSpc>
                <a:spcPct val="115000"/>
              </a:lnSpc>
              <a:spcBef>
                <a:spcPct val="0"/>
              </a:spcBef>
              <a:spcAft>
                <a:spcPct val="0"/>
              </a:spcAft>
              <a:buClrTx/>
              <a:buSzTx/>
              <a:buFontTx/>
              <a:buChar char="-"/>
              <a:tabLst/>
              <a:defRPr/>
            </a:pPr>
            <a:r>
              <a:rPr kumimoji="0" lang="en-US" altLang="en-US" sz="2400" b="0" i="0" u="none" strike="noStrike" kern="1200" cap="none" spc="0" normalizeH="0" baseline="0" noProof="0">
                <a:ln>
                  <a:noFill/>
                </a:ln>
                <a:solidFill>
                  <a:srgbClr val="000000">
                    <a:lumMod val="95000"/>
                    <a:lumOff val="5000"/>
                  </a:srgbClr>
                </a:solidFill>
                <a:effectLst/>
                <a:uLnTx/>
                <a:uFillTx/>
                <a:latin typeface="Verdana" panose="020B0604030504040204" pitchFamily="34" charset="0"/>
                <a:ea typeface="+mn-ea"/>
                <a:cs typeface="+mn-cs"/>
              </a:rPr>
              <a:t>Lập trình OOP cho phép lập trình viên tạo ra các đối tượng trừu tượng từ các sự vật, sự việc trong thực tế.</a:t>
            </a:r>
          </a:p>
          <a:p>
            <a:pPr marL="342900" marR="0" lvl="0" indent="-342900" algn="l" defTabSz="914400" rtl="0" eaLnBrk="0" fontAlgn="base" latinLnBrk="0" hangingPunct="0">
              <a:lnSpc>
                <a:spcPct val="115000"/>
              </a:lnSpc>
              <a:spcBef>
                <a:spcPct val="0"/>
              </a:spcBef>
              <a:spcAft>
                <a:spcPct val="0"/>
              </a:spcAft>
              <a:buClrTx/>
              <a:buSzTx/>
              <a:buFontTx/>
              <a:buChar char="-"/>
              <a:tabLst/>
              <a:defRPr/>
            </a:pPr>
            <a:r>
              <a:rPr kumimoji="0" lang="en-US" altLang="en-US" sz="2400" b="0" i="0" u="none" strike="noStrike" kern="1200" cap="none" spc="0" normalizeH="0" baseline="0" noProof="0">
                <a:ln>
                  <a:noFill/>
                </a:ln>
                <a:solidFill>
                  <a:srgbClr val="000000">
                    <a:lumMod val="95000"/>
                    <a:lumOff val="5000"/>
                  </a:srgbClr>
                </a:solidFill>
                <a:effectLst/>
                <a:uLnTx/>
                <a:uFillTx/>
                <a:latin typeface="Verdana" panose="020B0604030504040204" pitchFamily="34" charset="0"/>
                <a:ea typeface="+mn-ea"/>
                <a:cs typeface="+mn-cs"/>
              </a:rPr>
              <a:t>Một đối tượng bao gồm 2 thông tin: </a:t>
            </a:r>
          </a:p>
          <a:p>
            <a:pPr marL="1085850" marR="0" lvl="1" indent="-342900" algn="l" defTabSz="914400" rtl="0" eaLnBrk="0" fontAlgn="base" latinLnBrk="0" hangingPunct="0">
              <a:lnSpc>
                <a:spcPct val="115000"/>
              </a:lnSpc>
              <a:spcBef>
                <a:spcPct val="0"/>
              </a:spcBef>
              <a:spcAft>
                <a:spcPct val="0"/>
              </a:spcAft>
              <a:buClrTx/>
              <a:buSzTx/>
              <a:buFont typeface="Wingdings" panose="05000000000000000000" pitchFamily="2" charset="2"/>
              <a:buChar char="§"/>
              <a:tabLst/>
              <a:defRPr/>
            </a:pPr>
            <a:r>
              <a:rPr kumimoji="0" lang="en-US" altLang="en-US" sz="2400" b="0" i="0" u="none" strike="noStrike" kern="1200" cap="none" spc="0" normalizeH="0" baseline="0" noProof="0">
                <a:ln>
                  <a:noFill/>
                </a:ln>
                <a:solidFill>
                  <a:srgbClr val="000000">
                    <a:lumMod val="95000"/>
                    <a:lumOff val="5000"/>
                  </a:srgbClr>
                </a:solidFill>
                <a:effectLst/>
                <a:uLnTx/>
                <a:uFillTx/>
                <a:latin typeface="Verdana" panose="020B0604030504040204" pitchFamily="34" charset="0"/>
                <a:ea typeface="+mn-ea"/>
                <a:cs typeface="+mn-cs"/>
              </a:rPr>
              <a:t>Thuộc tính: đặc điểm của đối tượng</a:t>
            </a:r>
          </a:p>
          <a:p>
            <a:pPr marL="1085850" marR="0" lvl="1" indent="-342900" algn="l" defTabSz="914400" rtl="0" eaLnBrk="0" fontAlgn="base" latinLnBrk="0" hangingPunct="0">
              <a:lnSpc>
                <a:spcPct val="115000"/>
              </a:lnSpc>
              <a:spcBef>
                <a:spcPct val="0"/>
              </a:spcBef>
              <a:spcAft>
                <a:spcPct val="0"/>
              </a:spcAft>
              <a:buClrTx/>
              <a:buSzTx/>
              <a:buFont typeface="Wingdings" panose="05000000000000000000" pitchFamily="2" charset="2"/>
              <a:buChar char="§"/>
              <a:tabLst/>
              <a:defRPr/>
            </a:pPr>
            <a:r>
              <a:rPr kumimoji="0" lang="en-US" altLang="en-US" sz="2400" b="0" i="0" u="none" strike="noStrike" kern="1200" cap="none" spc="0" normalizeH="0" baseline="0" noProof="0">
                <a:ln>
                  <a:noFill/>
                </a:ln>
                <a:solidFill>
                  <a:srgbClr val="000000">
                    <a:lumMod val="95000"/>
                    <a:lumOff val="5000"/>
                  </a:srgbClr>
                </a:solidFill>
                <a:effectLst/>
                <a:uLnTx/>
                <a:uFillTx/>
                <a:latin typeface="Verdana" panose="020B0604030504040204" pitchFamily="34" charset="0"/>
                <a:ea typeface="+mn-ea"/>
                <a:cs typeface="+mn-cs"/>
              </a:rPr>
              <a:t>Phương thức: những hành động, thao tác mà đối tượng có thể thực hiện</a:t>
            </a:r>
          </a:p>
          <a:p>
            <a:pPr marL="0" marR="0" lvl="0" indent="0" algn="l" defTabSz="914400" rtl="0" eaLnBrk="0" fontAlgn="base" latinLnBrk="0" hangingPunct="0">
              <a:lnSpc>
                <a:spcPct val="115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endParaRP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7380">
                                            <p:txEl>
                                              <p:pRg st="0" end="0"/>
                                            </p:txEl>
                                          </p:spTgt>
                                        </p:tgtEl>
                                        <p:attrNameLst>
                                          <p:attrName>style.visibility</p:attrName>
                                        </p:attrNameLst>
                                      </p:cBhvr>
                                      <p:to>
                                        <p:strVal val="visible"/>
                                      </p:to>
                                    </p:set>
                                    <p:animEffect transition="in" filter="box(in)">
                                      <p:cBhvr>
                                        <p:cTn id="7" dur="1000"/>
                                        <p:tgtEl>
                                          <p:spTgt spid="35738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7380">
                                            <p:txEl>
                                              <p:pRg st="1" end="1"/>
                                            </p:txEl>
                                          </p:spTgt>
                                        </p:tgtEl>
                                        <p:attrNameLst>
                                          <p:attrName>style.visibility</p:attrName>
                                        </p:attrNameLst>
                                      </p:cBhvr>
                                      <p:to>
                                        <p:strVal val="visible"/>
                                      </p:to>
                                    </p:set>
                                    <p:animEffect transition="in" filter="box(in)">
                                      <p:cBhvr>
                                        <p:cTn id="12" dur="1000"/>
                                        <p:tgtEl>
                                          <p:spTgt spid="35738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7380">
                                            <p:txEl>
                                              <p:pRg st="2" end="2"/>
                                            </p:txEl>
                                          </p:spTgt>
                                        </p:tgtEl>
                                        <p:attrNameLst>
                                          <p:attrName>style.visibility</p:attrName>
                                        </p:attrNameLst>
                                      </p:cBhvr>
                                      <p:to>
                                        <p:strVal val="visible"/>
                                      </p:to>
                                    </p:set>
                                    <p:animEffect transition="in" filter="box(in)">
                                      <p:cBhvr>
                                        <p:cTn id="17" dur="1000"/>
                                        <p:tgtEl>
                                          <p:spTgt spid="35738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57380">
                                            <p:txEl>
                                              <p:pRg st="3" end="3"/>
                                            </p:txEl>
                                          </p:spTgt>
                                        </p:tgtEl>
                                        <p:attrNameLst>
                                          <p:attrName>style.visibility</p:attrName>
                                        </p:attrNameLst>
                                      </p:cBhvr>
                                      <p:to>
                                        <p:strVal val="visible"/>
                                      </p:to>
                                    </p:set>
                                    <p:animEffect transition="in" filter="box(in)">
                                      <p:cBhvr>
                                        <p:cTn id="22" dur="1000"/>
                                        <p:tgtEl>
                                          <p:spTgt spid="35738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57380">
                                            <p:txEl>
                                              <p:pRg st="4" end="4"/>
                                            </p:txEl>
                                          </p:spTgt>
                                        </p:tgtEl>
                                        <p:attrNameLst>
                                          <p:attrName>style.visibility</p:attrName>
                                        </p:attrNameLst>
                                      </p:cBhvr>
                                      <p:to>
                                        <p:strVal val="visible"/>
                                      </p:to>
                                    </p:set>
                                    <p:animEffect transition="in" filter="box(in)">
                                      <p:cBhvr>
                                        <p:cTn id="27" dur="1000"/>
                                        <p:tgtEl>
                                          <p:spTgt spid="357380">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57380">
                                            <p:txEl>
                                              <p:pRg st="5" end="5"/>
                                            </p:txEl>
                                          </p:spTgt>
                                        </p:tgtEl>
                                        <p:attrNameLst>
                                          <p:attrName>style.visibility</p:attrName>
                                        </p:attrNameLst>
                                      </p:cBhvr>
                                      <p:to>
                                        <p:strVal val="visible"/>
                                      </p:to>
                                    </p:set>
                                    <p:animEffect transition="in" filter="box(in)">
                                      <p:cBhvr>
                                        <p:cTn id="32" dur="1000"/>
                                        <p:tgtEl>
                                          <p:spTgt spid="35738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E9480E72-D9A7-D79A-5079-469DA6C3836F}"/>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57380" name="Rectangle 4">
            <a:extLst>
              <a:ext uri="{FF2B5EF4-FFF2-40B4-BE49-F238E27FC236}">
                <a16:creationId xmlns:a16="http://schemas.microsoft.com/office/drawing/2014/main" id="{D982FAC8-DEFA-0A59-1D27-73A3E84B13B6}"/>
              </a:ext>
            </a:extLst>
          </p:cNvPr>
          <p:cNvSpPr>
            <a:spLocks noChangeArrowheads="1"/>
          </p:cNvSpPr>
          <p:nvPr/>
        </p:nvSpPr>
        <p:spPr bwMode="auto">
          <a:xfrm>
            <a:off x="381000" y="1066800"/>
            <a:ext cx="8534400" cy="391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15000"/>
              </a:lnSpc>
              <a:spcBef>
                <a:spcPct val="0"/>
              </a:spcBef>
              <a:spcAft>
                <a:spcPct val="0"/>
              </a:spcAft>
              <a:buClrTx/>
              <a:buSzTx/>
              <a:buFontTx/>
              <a:buNone/>
              <a:tabLst/>
              <a:defRPr/>
            </a:pPr>
            <a:r>
              <a:rPr kumimoji="0" lang="en-US" altLang="en-US" sz="2400" i="0" u="none" strike="noStrike" kern="1200" cap="none" spc="0" normalizeH="0" baseline="0" noProof="0">
                <a:ln>
                  <a:noFill/>
                </a:ln>
                <a:solidFill>
                  <a:srgbClr val="990000"/>
                </a:solidFill>
                <a:effectLst/>
                <a:uLnTx/>
                <a:uFillTx/>
                <a:latin typeface="Verdana" panose="020B0604030504040204" pitchFamily="34" charset="0"/>
                <a:ea typeface="+mn-ea"/>
                <a:cs typeface="+mn-cs"/>
              </a:rPr>
              <a:t>Đặc điểm của lập trình hướng đối tượng </a:t>
            </a:r>
          </a:p>
          <a:p>
            <a:pPr marL="0" marR="0" lvl="0" indent="0" algn="l" defTabSz="914400" rtl="0" eaLnBrk="0" fontAlgn="base" latinLnBrk="0" hangingPunct="0">
              <a:lnSpc>
                <a:spcPct val="115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endParaRPr>
          </a:p>
          <a:p>
            <a:pPr marL="342900" marR="0" lvl="0" indent="-342900" algn="l" defTabSz="914400" rtl="0" eaLnBrk="0" fontAlgn="base" latinLnBrk="0" hangingPunct="0">
              <a:lnSpc>
                <a:spcPct val="115000"/>
              </a:lnSpc>
              <a:spcBef>
                <a:spcPct val="0"/>
              </a:spcBef>
              <a:spcAft>
                <a:spcPct val="0"/>
              </a:spcAft>
              <a:buClrTx/>
              <a:buSzTx/>
              <a:buFontTx/>
              <a:buChar char="-"/>
              <a:tabLst/>
              <a:defRPr/>
            </a:pPr>
            <a:r>
              <a:rPr kumimoji="0" lang="en-US" altLang="en-US" sz="2400" b="0" i="0" u="none" strike="noStrike" kern="1200" cap="none" spc="0" normalizeH="0" baseline="0" noProof="0">
                <a:ln>
                  <a:noFill/>
                </a:ln>
                <a:solidFill>
                  <a:srgbClr val="000000">
                    <a:lumMod val="95000"/>
                    <a:lumOff val="5000"/>
                  </a:srgbClr>
                </a:solidFill>
                <a:effectLst/>
                <a:uLnTx/>
                <a:uFillTx/>
                <a:latin typeface="Verdana" panose="020B0604030504040204" pitchFamily="34" charset="0"/>
                <a:ea typeface="+mn-ea"/>
                <a:cs typeface="+mn-cs"/>
              </a:rPr>
              <a:t>Tính đa hình: một tác vụ được thực hiện theo nhiều cách khác nhau</a:t>
            </a:r>
          </a:p>
          <a:p>
            <a:pPr marL="342900" marR="0" lvl="0" indent="-342900" algn="just" defTabSz="914400" rtl="0" eaLnBrk="0" fontAlgn="base" latinLnBrk="0" hangingPunct="0">
              <a:lnSpc>
                <a:spcPct val="115000"/>
              </a:lnSpc>
              <a:spcBef>
                <a:spcPct val="0"/>
              </a:spcBef>
              <a:spcAft>
                <a:spcPct val="0"/>
              </a:spcAft>
              <a:buClrTx/>
              <a:buSzTx/>
              <a:buFontTx/>
              <a:buChar char="-"/>
              <a:tabLst/>
              <a:defRPr/>
            </a:pPr>
            <a:r>
              <a:rPr kumimoji="0" lang="en-US" altLang="en-US" sz="2400" b="0" i="0" u="none" strike="noStrike" kern="1200" cap="none" spc="0" normalizeH="0" baseline="0" noProof="0">
                <a:ln>
                  <a:noFill/>
                </a:ln>
                <a:solidFill>
                  <a:srgbClr val="000000">
                    <a:lumMod val="95000"/>
                    <a:lumOff val="5000"/>
                  </a:srgbClr>
                </a:solidFill>
                <a:effectLst/>
                <a:uLnTx/>
                <a:uFillTx/>
                <a:latin typeface="Verdana" panose="020B0604030504040204" pitchFamily="34" charset="0"/>
                <a:ea typeface="+mn-ea"/>
                <a:cs typeface="+mn-cs"/>
              </a:rPr>
              <a:t>Tính kế thừa: là khi một đối tượng đạt được các thuộc tính và phương thức của đối tượng cha</a:t>
            </a:r>
          </a:p>
          <a:p>
            <a:pPr marL="342900" marR="0" lvl="0" indent="-342900" algn="just" defTabSz="914400" rtl="0" eaLnBrk="0" fontAlgn="base" latinLnBrk="0" hangingPunct="0">
              <a:lnSpc>
                <a:spcPct val="115000"/>
              </a:lnSpc>
              <a:spcBef>
                <a:spcPct val="0"/>
              </a:spcBef>
              <a:spcAft>
                <a:spcPct val="0"/>
              </a:spcAft>
              <a:buClrTx/>
              <a:buSzTx/>
              <a:buFontTx/>
              <a:buChar char="-"/>
              <a:tabLst/>
              <a:defRPr/>
            </a:pPr>
            <a:r>
              <a:rPr kumimoji="0" lang="en-US" altLang="en-US" sz="2400" b="0" i="0" u="none" strike="noStrike" kern="1200" cap="none" spc="0" normalizeH="0" baseline="0" noProof="0">
                <a:ln>
                  <a:noFill/>
                </a:ln>
                <a:solidFill>
                  <a:srgbClr val="000000">
                    <a:lumMod val="95000"/>
                    <a:lumOff val="5000"/>
                  </a:srgbClr>
                </a:solidFill>
                <a:effectLst/>
                <a:uLnTx/>
                <a:uFillTx/>
                <a:latin typeface="Verdana" panose="020B0604030504040204" pitchFamily="34" charset="0"/>
                <a:ea typeface="+mn-ea"/>
                <a:cs typeface="+mn-cs"/>
              </a:rPr>
              <a:t>Tính đóng gói: gắn kết code và dữ liệu cùng với nhau trong một đơn vị.</a:t>
            </a:r>
          </a:p>
          <a:p>
            <a:pPr marL="0" marR="0" lvl="0" indent="0" algn="l" defTabSz="914400" rtl="0" eaLnBrk="0" fontAlgn="base" latinLnBrk="0" hangingPunct="0">
              <a:lnSpc>
                <a:spcPct val="115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endParaRP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7380">
                                            <p:txEl>
                                              <p:pRg st="0" end="0"/>
                                            </p:txEl>
                                          </p:spTgt>
                                        </p:tgtEl>
                                        <p:attrNameLst>
                                          <p:attrName>style.visibility</p:attrName>
                                        </p:attrNameLst>
                                      </p:cBhvr>
                                      <p:to>
                                        <p:strVal val="visible"/>
                                      </p:to>
                                    </p:set>
                                    <p:animEffect transition="in" filter="box(in)">
                                      <p:cBhvr>
                                        <p:cTn id="7" dur="1000"/>
                                        <p:tgtEl>
                                          <p:spTgt spid="35738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7380">
                                            <p:txEl>
                                              <p:pRg st="2" end="2"/>
                                            </p:txEl>
                                          </p:spTgt>
                                        </p:tgtEl>
                                        <p:attrNameLst>
                                          <p:attrName>style.visibility</p:attrName>
                                        </p:attrNameLst>
                                      </p:cBhvr>
                                      <p:to>
                                        <p:strVal val="visible"/>
                                      </p:to>
                                    </p:set>
                                    <p:animEffect transition="in" filter="box(in)">
                                      <p:cBhvr>
                                        <p:cTn id="12" dur="1000"/>
                                        <p:tgtEl>
                                          <p:spTgt spid="35738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7380">
                                            <p:txEl>
                                              <p:pRg st="3" end="3"/>
                                            </p:txEl>
                                          </p:spTgt>
                                        </p:tgtEl>
                                        <p:attrNameLst>
                                          <p:attrName>style.visibility</p:attrName>
                                        </p:attrNameLst>
                                      </p:cBhvr>
                                      <p:to>
                                        <p:strVal val="visible"/>
                                      </p:to>
                                    </p:set>
                                    <p:animEffect transition="in" filter="box(in)">
                                      <p:cBhvr>
                                        <p:cTn id="17" dur="1000"/>
                                        <p:tgtEl>
                                          <p:spTgt spid="357380">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57380">
                                            <p:txEl>
                                              <p:pRg st="4" end="4"/>
                                            </p:txEl>
                                          </p:spTgt>
                                        </p:tgtEl>
                                        <p:attrNameLst>
                                          <p:attrName>style.visibility</p:attrName>
                                        </p:attrNameLst>
                                      </p:cBhvr>
                                      <p:to>
                                        <p:strVal val="visible"/>
                                      </p:to>
                                    </p:set>
                                    <p:animEffect transition="in" filter="box(in)">
                                      <p:cBhvr>
                                        <p:cTn id="22" dur="1000"/>
                                        <p:tgtEl>
                                          <p:spTgt spid="35738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06CCA9D-0D1C-26C5-5925-5D6A5ABABFA6}"/>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57380" name="Rectangle 4">
            <a:extLst>
              <a:ext uri="{FF2B5EF4-FFF2-40B4-BE49-F238E27FC236}">
                <a16:creationId xmlns:a16="http://schemas.microsoft.com/office/drawing/2014/main" id="{46179FFC-CB4C-67EB-C28E-D4EF2487851C}"/>
              </a:ext>
            </a:extLst>
          </p:cNvPr>
          <p:cNvSpPr>
            <a:spLocks noChangeArrowheads="1"/>
          </p:cNvSpPr>
          <p:nvPr/>
        </p:nvSpPr>
        <p:spPr bwMode="auto">
          <a:xfrm>
            <a:off x="381000" y="1066800"/>
            <a:ext cx="8534400" cy="221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15000"/>
              </a:lnSpc>
              <a:spcBef>
                <a:spcPct val="0"/>
              </a:spcBef>
              <a:spcAft>
                <a:spcPct val="0"/>
              </a:spcAft>
              <a:buClrTx/>
              <a:buSzTx/>
              <a:buFontTx/>
              <a:buNone/>
              <a:tabLst/>
              <a:defRPr/>
            </a:pPr>
            <a:r>
              <a:rPr kumimoji="0" lang="en-US" altLang="en-US" sz="2400" i="0" u="none" strike="noStrike" kern="1200" cap="none" spc="0" normalizeH="0" baseline="0" noProof="0">
                <a:ln>
                  <a:noFill/>
                </a:ln>
                <a:solidFill>
                  <a:srgbClr val="990000"/>
                </a:solidFill>
                <a:effectLst/>
                <a:uLnTx/>
                <a:uFillTx/>
                <a:latin typeface="Verdana" panose="020B0604030504040204" pitchFamily="34" charset="0"/>
                <a:ea typeface="+mn-ea"/>
                <a:cs typeface="+mn-cs"/>
              </a:rPr>
              <a:t>Lớp:</a:t>
            </a:r>
          </a:p>
          <a:p>
            <a:pPr marL="342900" marR="0" lvl="0" indent="-342900" algn="l" defTabSz="914400" rtl="0" eaLnBrk="0" fontAlgn="base" latinLnBrk="0" hangingPunct="0">
              <a:lnSpc>
                <a:spcPct val="115000"/>
              </a:lnSpc>
              <a:spcBef>
                <a:spcPct val="0"/>
              </a:spcBef>
              <a:spcAft>
                <a:spcPct val="0"/>
              </a:spcAft>
              <a:buClrTx/>
              <a:buSzTx/>
              <a:buFontTx/>
              <a:buChar char="-"/>
              <a:tabLst/>
              <a:defRPr/>
            </a:pPr>
            <a:r>
              <a:rPr kumimoji="0" lang="en-US" altLang="en-US" sz="2400" b="0" i="0" u="none" strike="noStrike" kern="1200" cap="none" spc="0" normalizeH="0" baseline="0" noProof="0">
                <a:ln>
                  <a:noFill/>
                </a:ln>
                <a:solidFill>
                  <a:srgbClr val="000000">
                    <a:lumMod val="95000"/>
                    <a:lumOff val="5000"/>
                  </a:srgbClr>
                </a:solidFill>
                <a:effectLst/>
                <a:uLnTx/>
                <a:uFillTx/>
                <a:latin typeface="Verdana" panose="020B0604030504040204" pitchFamily="34" charset="0"/>
                <a:ea typeface="+mn-ea"/>
                <a:cs typeface="+mn-cs"/>
              </a:rPr>
              <a:t>Các đối tượng có đặc tính tương tự nhau được gom lại thành một lớp đối tượng (Class).</a:t>
            </a:r>
          </a:p>
          <a:p>
            <a:pPr marL="342900" marR="0" lvl="0" indent="-342900" algn="l" defTabSz="914400" rtl="0" eaLnBrk="0" fontAlgn="base" latinLnBrk="0" hangingPunct="0">
              <a:lnSpc>
                <a:spcPct val="115000"/>
              </a:lnSpc>
              <a:spcBef>
                <a:spcPct val="0"/>
              </a:spcBef>
              <a:spcAft>
                <a:spcPct val="0"/>
              </a:spcAft>
              <a:buClrTx/>
              <a:buSzTx/>
              <a:buFontTx/>
              <a:buChar char="-"/>
              <a:tabLst/>
              <a:defRPr/>
            </a:pPr>
            <a:r>
              <a:rPr kumimoji="0" lang="en-US" altLang="en-US" sz="2400" b="0" i="0" u="none" strike="noStrike" kern="1200" cap="none" spc="0" normalizeH="0" baseline="0" noProof="0">
                <a:ln>
                  <a:noFill/>
                </a:ln>
                <a:solidFill>
                  <a:srgbClr val="000000">
                    <a:lumMod val="95000"/>
                    <a:lumOff val="5000"/>
                  </a:srgbClr>
                </a:solidFill>
                <a:effectLst/>
                <a:uLnTx/>
                <a:uFillTx/>
                <a:latin typeface="Verdana" panose="020B0604030504040204" pitchFamily="34" charset="0"/>
                <a:ea typeface="+mn-ea"/>
                <a:cs typeface="+mn-cs"/>
              </a:rPr>
              <a:t>Có thể hiểu lớp là một khuôn mẫu và đối tượng là một thể hiện dựa trên khuôn mẫu đó.</a:t>
            </a:r>
          </a:p>
        </p:txBody>
      </p:sp>
      <p:sp>
        <p:nvSpPr>
          <p:cNvPr id="357381" name="Rectangle 5">
            <a:extLst>
              <a:ext uri="{FF2B5EF4-FFF2-40B4-BE49-F238E27FC236}">
                <a16:creationId xmlns:a16="http://schemas.microsoft.com/office/drawing/2014/main" id="{DA8FA322-7DC6-4EDA-61E4-535AAC1996E9}"/>
              </a:ext>
            </a:extLst>
          </p:cNvPr>
          <p:cNvSpPr>
            <a:spLocks noChangeArrowheads="1"/>
          </p:cNvSpPr>
          <p:nvPr/>
        </p:nvSpPr>
        <p:spPr bwMode="auto">
          <a:xfrm>
            <a:off x="266700" y="3429000"/>
            <a:ext cx="8763000" cy="135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15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Một lớp có thể chứa sự kết nối của các dữ liệu (fields), các hoạt động được thực hiện trên dữ liệu (method) và sự truy nhập tới dữ liệu (properties)</a:t>
            </a:r>
          </a:p>
        </p:txBody>
      </p:sp>
      <p:sp>
        <p:nvSpPr>
          <p:cNvPr id="357383" name="Rectangle 7">
            <a:extLst>
              <a:ext uri="{FF2B5EF4-FFF2-40B4-BE49-F238E27FC236}">
                <a16:creationId xmlns:a16="http://schemas.microsoft.com/office/drawing/2014/main" id="{59D02F1C-8AE8-3658-AE8D-EDE7E5DBEBF0}"/>
              </a:ext>
            </a:extLst>
          </p:cNvPr>
          <p:cNvSpPr>
            <a:spLocks noChangeArrowheads="1"/>
          </p:cNvSpPr>
          <p:nvPr/>
        </p:nvSpPr>
        <p:spPr bwMode="auto">
          <a:xfrm>
            <a:off x="266700" y="4929188"/>
            <a:ext cx="875823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Lợi ích to lớn của những lớp trong ngôn ngữ lập trình là khả năng đóng gói các thuộc tính và tính chất của một thực thể trong một khối đơn, tự có nghĩa, tự khả năng duy trì</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7380">
                                            <p:txEl>
                                              <p:pRg st="1" end="1"/>
                                            </p:txEl>
                                          </p:spTgt>
                                        </p:tgtEl>
                                        <p:attrNameLst>
                                          <p:attrName>style.visibility</p:attrName>
                                        </p:attrNameLst>
                                      </p:cBhvr>
                                      <p:to>
                                        <p:strVal val="visible"/>
                                      </p:to>
                                    </p:set>
                                    <p:animEffect transition="in" filter="box(in)">
                                      <p:cBhvr>
                                        <p:cTn id="7" dur="1000"/>
                                        <p:tgtEl>
                                          <p:spTgt spid="35738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7380">
                                            <p:txEl>
                                              <p:pRg st="0" end="0"/>
                                            </p:txEl>
                                          </p:spTgt>
                                        </p:tgtEl>
                                        <p:attrNameLst>
                                          <p:attrName>style.visibility</p:attrName>
                                        </p:attrNameLst>
                                      </p:cBhvr>
                                      <p:to>
                                        <p:strVal val="visible"/>
                                      </p:to>
                                    </p:set>
                                    <p:animEffect transition="in" filter="box(in)">
                                      <p:cBhvr>
                                        <p:cTn id="12" dur="1000"/>
                                        <p:tgtEl>
                                          <p:spTgt spid="35738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7380">
                                            <p:txEl>
                                              <p:pRg st="2" end="2"/>
                                            </p:txEl>
                                          </p:spTgt>
                                        </p:tgtEl>
                                        <p:attrNameLst>
                                          <p:attrName>style.visibility</p:attrName>
                                        </p:attrNameLst>
                                      </p:cBhvr>
                                      <p:to>
                                        <p:strVal val="visible"/>
                                      </p:to>
                                    </p:set>
                                    <p:animEffect transition="in" filter="box(in)">
                                      <p:cBhvr>
                                        <p:cTn id="17" dur="1000"/>
                                        <p:tgtEl>
                                          <p:spTgt spid="35738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57381">
                                            <p:txEl>
                                              <p:pRg st="0" end="0"/>
                                            </p:txEl>
                                          </p:spTgt>
                                        </p:tgtEl>
                                        <p:attrNameLst>
                                          <p:attrName>style.visibility</p:attrName>
                                        </p:attrNameLst>
                                      </p:cBhvr>
                                      <p:to>
                                        <p:strVal val="visible"/>
                                      </p:to>
                                    </p:set>
                                    <p:animEffect transition="in" filter="box(in)">
                                      <p:cBhvr>
                                        <p:cTn id="22" dur="1000"/>
                                        <p:tgtEl>
                                          <p:spTgt spid="35738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57383"/>
                                        </p:tgtEl>
                                        <p:attrNameLst>
                                          <p:attrName>style.visibility</p:attrName>
                                        </p:attrNameLst>
                                      </p:cBhvr>
                                      <p:to>
                                        <p:strVal val="visible"/>
                                      </p:to>
                                    </p:set>
                                    <p:animEffect transition="in" filter="box(in)">
                                      <p:cBhvr>
                                        <p:cTn id="27" dur="1000"/>
                                        <p:tgtEl>
                                          <p:spTgt spid="357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7383"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7024CCD-4799-ED88-8359-89DE917B4873}"/>
              </a:ext>
            </a:extLst>
          </p:cNvPr>
          <p:cNvSpPr>
            <a:spLocks noGrp="1" noChangeArrowheads="1"/>
          </p:cNvSpPr>
          <p:nvPr>
            <p:ph type="title"/>
          </p:nvPr>
        </p:nvSpPr>
        <p:spPr/>
        <p:txBody>
          <a:bodyPr/>
          <a:lstStyle/>
          <a:p>
            <a:pPr eaLnBrk="1" hangingPunct="1"/>
            <a:r>
              <a:rPr lang="en-US" altLang="en-US" sz="2800" b="1"/>
              <a:t>5. Lớp và đối tượng trong C#</a:t>
            </a:r>
          </a:p>
        </p:txBody>
      </p:sp>
      <p:sp>
        <p:nvSpPr>
          <p:cNvPr id="375812" name="Text Box 4">
            <a:extLst>
              <a:ext uri="{FF2B5EF4-FFF2-40B4-BE49-F238E27FC236}">
                <a16:creationId xmlns:a16="http://schemas.microsoft.com/office/drawing/2014/main" id="{553EA95E-AE66-63D6-2EAB-3592F4D3170C}"/>
              </a:ext>
            </a:extLst>
          </p:cNvPr>
          <p:cNvSpPr txBox="1">
            <a:spLocks noChangeArrowheads="1"/>
          </p:cNvSpPr>
          <p:nvPr/>
        </p:nvSpPr>
        <p:spPr bwMode="auto">
          <a:xfrm>
            <a:off x="304800" y="781050"/>
            <a:ext cx="579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1" i="0" u="none" strike="noStrike" kern="1200" cap="none" spc="0" normalizeH="0" baseline="0" noProof="0">
                <a:ln>
                  <a:noFill/>
                </a:ln>
                <a:solidFill>
                  <a:srgbClr val="003300"/>
                </a:solidFill>
                <a:effectLst/>
                <a:uLnTx/>
                <a:uFillTx/>
                <a:latin typeface="Verdana" panose="020B0604030504040204" pitchFamily="34" charset="0"/>
                <a:ea typeface="+mn-ea"/>
                <a:cs typeface="+mn-cs"/>
              </a:rPr>
              <a:t>Cú pháp để định nghĩa một class</a:t>
            </a:r>
          </a:p>
        </p:txBody>
      </p:sp>
      <p:sp>
        <p:nvSpPr>
          <p:cNvPr id="375813" name="Rectangle 5">
            <a:extLst>
              <a:ext uri="{FF2B5EF4-FFF2-40B4-BE49-F238E27FC236}">
                <a16:creationId xmlns:a16="http://schemas.microsoft.com/office/drawing/2014/main" id="{AC435B64-4046-E519-BD9A-8065FCF36D9C}"/>
              </a:ext>
            </a:extLst>
          </p:cNvPr>
          <p:cNvSpPr>
            <a:spLocks noChangeArrowheads="1"/>
          </p:cNvSpPr>
          <p:nvPr/>
        </p:nvSpPr>
        <p:spPr bwMode="auto">
          <a:xfrm>
            <a:off x="280988" y="1285875"/>
            <a:ext cx="8305800"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a:t>
            </a: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Phạm vi truy cập</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a:t>
            </a:r>
            <a:r>
              <a:rPr kumimoji="0" lang="en-US" altLang="en-US" sz="2400" b="1" i="0" u="none" strike="noStrike" kern="1200" cap="none" spc="0" normalizeH="0" baseline="0" noProof="0">
                <a:ln>
                  <a:noFill/>
                </a:ln>
                <a:solidFill>
                  <a:srgbClr val="000000"/>
                </a:solidFill>
                <a:effectLst/>
                <a:uLnTx/>
                <a:uFillTx/>
                <a:latin typeface="Verdana" panose="020B0604030504040204" pitchFamily="34" charset="0"/>
                <a:ea typeface="+mn-ea"/>
                <a:cs typeface="+mn-cs"/>
              </a:rPr>
              <a:t>class </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&lt;</a:t>
            </a: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Định danh lớp</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&gt;</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&lt;</a:t>
            </a:r>
            <a:r>
              <a:rPr kumimoji="0" lang="en-US" altLang="en-US" sz="2400" b="0" i="0" u="none" strike="noStrike" kern="1200" cap="none" spc="0" normalizeH="0" baseline="0" noProof="0">
                <a:ln>
                  <a:noFill/>
                </a:ln>
                <a:solidFill>
                  <a:srgbClr val="663300"/>
                </a:solidFill>
                <a:effectLst/>
                <a:uLnTx/>
                <a:uFillTx/>
                <a:latin typeface="Verdana" panose="020B0604030504040204" pitchFamily="34" charset="0"/>
                <a:ea typeface="+mn-ea"/>
                <a:cs typeface="+mn-cs"/>
              </a:rPr>
              <a:t>Phần thân của lớp: bao gồm định nghĩa các 		thuộc tính và phương thức hành động</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&gt;</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a:t>
            </a:r>
          </a:p>
        </p:txBody>
      </p:sp>
      <p:sp>
        <p:nvSpPr>
          <p:cNvPr id="375815" name="Rectangle 7">
            <a:extLst>
              <a:ext uri="{FF2B5EF4-FFF2-40B4-BE49-F238E27FC236}">
                <a16:creationId xmlns:a16="http://schemas.microsoft.com/office/drawing/2014/main" id="{42AEA0C1-DF61-ED43-33E6-0CB343BF906D}"/>
              </a:ext>
            </a:extLst>
          </p:cNvPr>
          <p:cNvSpPr>
            <a:spLocks noChangeArrowheads="1"/>
          </p:cNvSpPr>
          <p:nvPr/>
        </p:nvSpPr>
        <p:spPr bwMode="auto">
          <a:xfrm>
            <a:off x="271463" y="3886200"/>
            <a:ext cx="8534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Định danh lớp chính là tên của lớp do người xây dựng chương trình tạo ra.</a:t>
            </a:r>
          </a:p>
        </p:txBody>
      </p:sp>
      <p:sp>
        <p:nvSpPr>
          <p:cNvPr id="375817" name="Rectangle 9">
            <a:extLst>
              <a:ext uri="{FF2B5EF4-FFF2-40B4-BE49-F238E27FC236}">
                <a16:creationId xmlns:a16="http://schemas.microsoft.com/office/drawing/2014/main" id="{29E79AEC-F2FB-EF43-77FC-F47441F36A63}"/>
              </a:ext>
            </a:extLst>
          </p:cNvPr>
          <p:cNvSpPr>
            <a:spLocks noChangeArrowheads="1"/>
          </p:cNvSpPr>
          <p:nvPr/>
        </p:nvSpPr>
        <p:spPr bwMode="auto">
          <a:xfrm>
            <a:off x="254000" y="4876800"/>
            <a:ext cx="869156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3300"/>
                </a:solidFill>
                <a:effectLst/>
                <a:uLnTx/>
                <a:uFillTx/>
                <a:latin typeface="Verdana" panose="020B0604030504040204" pitchFamily="34" charset="0"/>
                <a:ea typeface="+mn-ea"/>
                <a:cs typeface="+mn-cs"/>
              </a:rPr>
              <a:t>Tất cả các thành viên của lớp được định nghĩa bên trong thân của lớp, phần thân này sẽ được </a:t>
            </a:r>
            <a:r>
              <a:rPr lang="en-US" altLang="en-US" b="0">
                <a:solidFill>
                  <a:srgbClr val="663300"/>
                </a:solidFill>
              </a:rPr>
              <a:t>đặt trong cặp ngoặc </a:t>
            </a:r>
            <a:r>
              <a:rPr kumimoji="0" lang="en-US" altLang="en-US" sz="2400" b="0" i="0" u="none" strike="noStrike" kern="1200" cap="none" spc="0" normalizeH="0" baseline="0" noProof="0">
                <a:ln>
                  <a:noFill/>
                </a:ln>
                <a:solidFill>
                  <a:srgbClr val="663300"/>
                </a:solidFill>
                <a:effectLst/>
                <a:uLnTx/>
                <a:uFillTx/>
                <a:latin typeface="Verdana" panose="020B0604030504040204" pitchFamily="34" charset="0"/>
                <a:ea typeface="+mn-ea"/>
                <a:cs typeface="+mn-cs"/>
              </a:rPr>
              <a:t>{}.</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5812"/>
                                        </p:tgtEl>
                                        <p:attrNameLst>
                                          <p:attrName>style.visibility</p:attrName>
                                        </p:attrNameLst>
                                      </p:cBhvr>
                                      <p:to>
                                        <p:strVal val="visible"/>
                                      </p:to>
                                    </p:set>
                                    <p:animEffect transition="in" filter="box(in)">
                                      <p:cBhvr>
                                        <p:cTn id="7" dur="1000"/>
                                        <p:tgtEl>
                                          <p:spTgt spid="3758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5813"/>
                                        </p:tgtEl>
                                        <p:attrNameLst>
                                          <p:attrName>style.visibility</p:attrName>
                                        </p:attrNameLst>
                                      </p:cBhvr>
                                      <p:to>
                                        <p:strVal val="visible"/>
                                      </p:to>
                                    </p:set>
                                    <p:animEffect transition="in" filter="box(in)">
                                      <p:cBhvr>
                                        <p:cTn id="12" dur="1000"/>
                                        <p:tgtEl>
                                          <p:spTgt spid="3758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5815"/>
                                        </p:tgtEl>
                                        <p:attrNameLst>
                                          <p:attrName>style.visibility</p:attrName>
                                        </p:attrNameLst>
                                      </p:cBhvr>
                                      <p:to>
                                        <p:strVal val="visible"/>
                                      </p:to>
                                    </p:set>
                                    <p:animEffect transition="in" filter="box(in)">
                                      <p:cBhvr>
                                        <p:cTn id="17" dur="1000"/>
                                        <p:tgtEl>
                                          <p:spTgt spid="3758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5817"/>
                                        </p:tgtEl>
                                        <p:attrNameLst>
                                          <p:attrName>style.visibility</p:attrName>
                                        </p:attrNameLst>
                                      </p:cBhvr>
                                      <p:to>
                                        <p:strVal val="visible"/>
                                      </p:to>
                                    </p:set>
                                    <p:animEffect transition="in" filter="box(in)">
                                      <p:cBhvr>
                                        <p:cTn id="22" dur="1000"/>
                                        <p:tgtEl>
                                          <p:spTgt spid="375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12" grpId="0"/>
      <p:bldP spid="375813" grpId="0"/>
      <p:bldP spid="375815" grpId="0"/>
      <p:bldP spid="375817"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C0AE8F91-1E38-102B-C0FD-E28B07C9EDB5}"/>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77860" name="Rectangle 4">
            <a:extLst>
              <a:ext uri="{FF2B5EF4-FFF2-40B4-BE49-F238E27FC236}">
                <a16:creationId xmlns:a16="http://schemas.microsoft.com/office/drawing/2014/main" id="{7A5F0450-A809-0588-2AEC-88C0215162EA}"/>
              </a:ext>
            </a:extLst>
          </p:cNvPr>
          <p:cNvSpPr>
            <a:spLocks noChangeArrowheads="1"/>
          </p:cNvSpPr>
          <p:nvPr/>
        </p:nvSpPr>
        <p:spPr bwMode="auto">
          <a:xfrm>
            <a:off x="381000" y="1371600"/>
            <a:ext cx="8077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Ngôn ngữ lập trình hướng đối tượng cho phép chúng ta tạo kiểu dữ liệu mới là lớp.</a:t>
            </a:r>
          </a:p>
        </p:txBody>
      </p:sp>
      <p:sp>
        <p:nvSpPr>
          <p:cNvPr id="377861" name="Rectangle 5">
            <a:extLst>
              <a:ext uri="{FF2B5EF4-FFF2-40B4-BE49-F238E27FC236}">
                <a16:creationId xmlns:a16="http://schemas.microsoft.com/office/drawing/2014/main" id="{245FE38D-43B5-1E00-7525-DA7F558C3A58}"/>
              </a:ext>
            </a:extLst>
          </p:cNvPr>
          <p:cNvSpPr>
            <a:spLocks noChangeArrowheads="1"/>
          </p:cNvSpPr>
          <p:nvPr/>
        </p:nvSpPr>
        <p:spPr bwMode="auto">
          <a:xfrm>
            <a:off x="390525" y="3660041"/>
            <a:ext cx="80962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Lớp được tạo ra bao gồm các thuộc tính cũng như các phương thức</a:t>
            </a:r>
          </a:p>
        </p:txBody>
      </p:sp>
      <p:sp>
        <p:nvSpPr>
          <p:cNvPr id="377862" name="Rectangle 6">
            <a:extLst>
              <a:ext uri="{FF2B5EF4-FFF2-40B4-BE49-F238E27FC236}">
                <a16:creationId xmlns:a16="http://schemas.microsoft.com/office/drawing/2014/main" id="{282B94D4-01CF-3EAD-6BE5-397BDFADE631}"/>
              </a:ext>
            </a:extLst>
          </p:cNvPr>
          <p:cNvSpPr>
            <a:spLocks noChangeArrowheads="1"/>
          </p:cNvSpPr>
          <p:nvPr/>
        </p:nvSpPr>
        <p:spPr bwMode="auto">
          <a:xfrm>
            <a:off x="390525" y="4579203"/>
            <a:ext cx="80962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rgbClr val="CC0000"/>
                </a:solidFill>
                <a:effectLst/>
                <a:uLnTx/>
                <a:uFillTx/>
                <a:latin typeface="Verdana" panose="020B0604030504040204" pitchFamily="34" charset="0"/>
                <a:ea typeface="+mn-ea"/>
                <a:cs typeface="+mn-cs"/>
              </a:rPr>
              <a:t>Muốn sử dụng lớp vừa tạo ra – phải tạo ra một đối tượng cho lớp đó.</a:t>
            </a:r>
          </a:p>
        </p:txBody>
      </p:sp>
      <p:sp>
        <p:nvSpPr>
          <p:cNvPr id="377863" name="Rectangle 7">
            <a:extLst>
              <a:ext uri="{FF2B5EF4-FFF2-40B4-BE49-F238E27FC236}">
                <a16:creationId xmlns:a16="http://schemas.microsoft.com/office/drawing/2014/main" id="{199C12FF-275A-0CC4-A0C5-EF3C34AF6295}"/>
              </a:ext>
            </a:extLst>
          </p:cNvPr>
          <p:cNvSpPr>
            <a:spLocks noChangeArrowheads="1"/>
          </p:cNvSpPr>
          <p:nvPr/>
        </p:nvSpPr>
        <p:spPr bwMode="auto">
          <a:xfrm>
            <a:off x="361950" y="2200275"/>
            <a:ext cx="8096250" cy="1374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342900" marR="0" lvl="0" indent="-342900" algn="just" defTabSz="914400" rtl="0" eaLnBrk="0" fontAlgn="base" latinLnBrk="0" hangingPunct="0">
              <a:lnSpc>
                <a:spcPct val="120000"/>
              </a:lnSpc>
              <a:spcBef>
                <a:spcPct val="0"/>
              </a:spcBef>
              <a:spcAft>
                <a:spcPct val="0"/>
              </a:spcAft>
              <a:buClrTx/>
              <a:buSzTx/>
              <a:buFont typeface="Arial" panose="020B0604020202020204" pitchFamily="34" charset="0"/>
              <a:buChar char="•"/>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Tạo một lớp mới, đó chính là việc định nghĩa các thuộc tính và hành vi của tất cả các đối tượng của lớp</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7860">
                                            <p:txEl>
                                              <p:pRg st="0" end="0"/>
                                            </p:txEl>
                                          </p:spTgt>
                                        </p:tgtEl>
                                        <p:attrNameLst>
                                          <p:attrName>style.visibility</p:attrName>
                                        </p:attrNameLst>
                                      </p:cBhvr>
                                      <p:to>
                                        <p:strVal val="visible"/>
                                      </p:to>
                                    </p:set>
                                    <p:animEffect transition="in" filter="box(in)">
                                      <p:cBhvr>
                                        <p:cTn id="7" dur="1000"/>
                                        <p:tgtEl>
                                          <p:spTgt spid="37786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7863">
                                            <p:txEl>
                                              <p:pRg st="0" end="0"/>
                                            </p:txEl>
                                          </p:spTgt>
                                        </p:tgtEl>
                                        <p:attrNameLst>
                                          <p:attrName>style.visibility</p:attrName>
                                        </p:attrNameLst>
                                      </p:cBhvr>
                                      <p:to>
                                        <p:strVal val="visible"/>
                                      </p:to>
                                    </p:set>
                                    <p:animEffect transition="in" filter="box(in)">
                                      <p:cBhvr>
                                        <p:cTn id="12" dur="1000"/>
                                        <p:tgtEl>
                                          <p:spTgt spid="37786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7861">
                                            <p:txEl>
                                              <p:pRg st="0" end="0"/>
                                            </p:txEl>
                                          </p:spTgt>
                                        </p:tgtEl>
                                        <p:attrNameLst>
                                          <p:attrName>style.visibility</p:attrName>
                                        </p:attrNameLst>
                                      </p:cBhvr>
                                      <p:to>
                                        <p:strVal val="visible"/>
                                      </p:to>
                                    </p:set>
                                    <p:animEffect transition="in" filter="box(in)">
                                      <p:cBhvr>
                                        <p:cTn id="17" dur="1000"/>
                                        <p:tgtEl>
                                          <p:spTgt spid="377861">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7862"/>
                                        </p:tgtEl>
                                        <p:attrNameLst>
                                          <p:attrName>style.visibility</p:attrName>
                                        </p:attrNameLst>
                                      </p:cBhvr>
                                      <p:to>
                                        <p:strVal val="visible"/>
                                      </p:to>
                                    </p:set>
                                    <p:animEffect transition="in" filter="box(in)">
                                      <p:cBhvr>
                                        <p:cTn id="22" dur="1000"/>
                                        <p:tgtEl>
                                          <p:spTgt spid="377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62"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B6BEADE-8BEC-F85C-4677-902EE776E188}"/>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22531" name="Rectangle 6">
            <a:extLst>
              <a:ext uri="{FF2B5EF4-FFF2-40B4-BE49-F238E27FC236}">
                <a16:creationId xmlns:a16="http://schemas.microsoft.com/office/drawing/2014/main" id="{B73F519C-EBAE-98F5-ECF7-C114DA8FFD2C}"/>
              </a:ext>
            </a:extLst>
          </p:cNvPr>
          <p:cNvSpPr>
            <a:spLocks noChangeArrowheads="1"/>
          </p:cNvSpPr>
          <p:nvPr/>
        </p:nvSpPr>
        <p:spPr bwMode="auto">
          <a:xfrm>
            <a:off x="128588" y="876300"/>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Khởi tạo một đối tượng</a:t>
            </a:r>
            <a:r>
              <a:rPr kumimoji="0" lang="en-US" altLang="en-US" sz="2400" b="0" i="0" u="none" strike="noStrike" kern="1200" cap="none" spc="0" normalizeH="0" baseline="0" noProof="0">
                <a:ln>
                  <a:noFill/>
                </a:ln>
                <a:solidFill>
                  <a:srgbClr val="CC0000"/>
                </a:solidFill>
                <a:effectLst/>
                <a:uLnTx/>
                <a:uFillTx/>
                <a:latin typeface="Verdana" panose="020B0604030504040204" pitchFamily="34" charset="0"/>
                <a:ea typeface="+mn-ea"/>
                <a:cs typeface="+mn-cs"/>
              </a:rPr>
              <a:t> (</a:t>
            </a: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sử dụng từ khóa new</a:t>
            </a:r>
            <a:r>
              <a:rPr kumimoji="0" lang="en-US" altLang="en-US" sz="2400" b="0" i="0" u="none" strike="noStrike" kern="1200" cap="none" spc="0" normalizeH="0" baseline="0" noProof="0">
                <a:ln>
                  <a:noFill/>
                </a:ln>
                <a:solidFill>
                  <a:srgbClr val="CC0000"/>
                </a:solidFill>
                <a:effectLst/>
                <a:uLnTx/>
                <a:uFillTx/>
                <a:latin typeface="Verdana" panose="020B0604030504040204" pitchFamily="34" charset="0"/>
                <a:ea typeface="+mn-ea"/>
                <a:cs typeface="+mn-cs"/>
              </a:rPr>
              <a:t>)</a:t>
            </a:r>
          </a:p>
        </p:txBody>
      </p:sp>
      <p:sp>
        <p:nvSpPr>
          <p:cNvPr id="358407" name="Text Box 7">
            <a:extLst>
              <a:ext uri="{FF2B5EF4-FFF2-40B4-BE49-F238E27FC236}">
                <a16:creationId xmlns:a16="http://schemas.microsoft.com/office/drawing/2014/main" id="{628B29E5-9D07-193B-B5E8-5C1B1EC34A1E}"/>
              </a:ext>
            </a:extLst>
          </p:cNvPr>
          <p:cNvSpPr txBox="1">
            <a:spLocks noChangeArrowheads="1"/>
          </p:cNvSpPr>
          <p:nvPr/>
        </p:nvSpPr>
        <p:spPr bwMode="auto">
          <a:xfrm>
            <a:off x="228600" y="1557338"/>
            <a:ext cx="8686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&lt;</a:t>
            </a: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Tên class</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&gt; &lt;</a:t>
            </a: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Tên đối tượng</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&gt; = new &lt;</a:t>
            </a: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Tên class</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&gt;();</a:t>
            </a:r>
          </a:p>
        </p:txBody>
      </p:sp>
      <p:sp>
        <p:nvSpPr>
          <p:cNvPr id="358408" name="Rectangle 8">
            <a:extLst>
              <a:ext uri="{FF2B5EF4-FFF2-40B4-BE49-F238E27FC236}">
                <a16:creationId xmlns:a16="http://schemas.microsoft.com/office/drawing/2014/main" id="{375C65E0-4B06-8381-9C1A-67DBF291377E}"/>
              </a:ext>
            </a:extLst>
          </p:cNvPr>
          <p:cNvSpPr>
            <a:spLocks noChangeArrowheads="1"/>
          </p:cNvSpPr>
          <p:nvPr/>
        </p:nvSpPr>
        <p:spPr bwMode="auto">
          <a:xfrm>
            <a:off x="71438" y="2333625"/>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Truy cập các thành viên của một lớp</a:t>
            </a:r>
            <a:endParaRPr kumimoji="0" lang="en-US" altLang="en-US" sz="2400" b="0" i="0" u="none" strike="noStrike" kern="1200" cap="none" spc="0" normalizeH="0" baseline="0" noProof="0">
              <a:ln>
                <a:noFill/>
              </a:ln>
              <a:solidFill>
                <a:srgbClr val="CC0000"/>
              </a:solidFill>
              <a:effectLst/>
              <a:uLnTx/>
              <a:uFillTx/>
              <a:latin typeface="Verdana" panose="020B0604030504040204" pitchFamily="34" charset="0"/>
              <a:ea typeface="+mn-ea"/>
              <a:cs typeface="+mn-cs"/>
            </a:endParaRPr>
          </a:p>
        </p:txBody>
      </p:sp>
      <p:sp>
        <p:nvSpPr>
          <p:cNvPr id="358409" name="Text Box 9">
            <a:extLst>
              <a:ext uri="{FF2B5EF4-FFF2-40B4-BE49-F238E27FC236}">
                <a16:creationId xmlns:a16="http://schemas.microsoft.com/office/drawing/2014/main" id="{8BE5F4AE-CB26-5871-A144-0F99B51F5798}"/>
              </a:ext>
            </a:extLst>
          </p:cNvPr>
          <p:cNvSpPr txBox="1">
            <a:spLocks noChangeArrowheads="1"/>
          </p:cNvSpPr>
          <p:nvPr/>
        </p:nvSpPr>
        <p:spPr bwMode="auto">
          <a:xfrm>
            <a:off x="704850" y="2981325"/>
            <a:ext cx="76771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sử dụng dấu</a:t>
            </a:r>
            <a:r>
              <a:rPr kumimoji="0" lang="en-US" altLang="en-US" sz="2400" b="1" i="0" u="none" strike="noStrike" kern="1200" cap="none" spc="0" normalizeH="0" baseline="0" noProof="0">
                <a:ln>
                  <a:noFill/>
                </a:ln>
                <a:solidFill>
                  <a:srgbClr val="000066"/>
                </a:solidFill>
                <a:effectLst/>
                <a:uLnTx/>
                <a:uFillTx/>
                <a:latin typeface="Verdana" panose="020B0604030504040204" pitchFamily="34" charset="0"/>
                <a:ea typeface="+mn-ea"/>
                <a:cs typeface="+mn-cs"/>
              </a:rPr>
              <a:t>.</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để truy cập tới các thành viên  trong một class (</a:t>
            </a: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trường dữ liệu, phương thức và các thuộc tính</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8407"/>
                                        </p:tgtEl>
                                        <p:attrNameLst>
                                          <p:attrName>style.visibility</p:attrName>
                                        </p:attrNameLst>
                                      </p:cBhvr>
                                      <p:to>
                                        <p:strVal val="visible"/>
                                      </p:to>
                                    </p:set>
                                    <p:animEffect transition="in" filter="box(in)">
                                      <p:cBhvr>
                                        <p:cTn id="7" dur="1000"/>
                                        <p:tgtEl>
                                          <p:spTgt spid="3584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8408"/>
                                        </p:tgtEl>
                                        <p:attrNameLst>
                                          <p:attrName>style.visibility</p:attrName>
                                        </p:attrNameLst>
                                      </p:cBhvr>
                                      <p:to>
                                        <p:strVal val="visible"/>
                                      </p:to>
                                    </p:set>
                                    <p:animEffect transition="in" filter="box(in)">
                                      <p:cBhvr>
                                        <p:cTn id="12" dur="1000"/>
                                        <p:tgtEl>
                                          <p:spTgt spid="3584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8409"/>
                                        </p:tgtEl>
                                        <p:attrNameLst>
                                          <p:attrName>style.visibility</p:attrName>
                                        </p:attrNameLst>
                                      </p:cBhvr>
                                      <p:to>
                                        <p:strVal val="visible"/>
                                      </p:to>
                                    </p:set>
                                    <p:animEffect transition="in" filter="box(in)">
                                      <p:cBhvr>
                                        <p:cTn id="17" dur="1000"/>
                                        <p:tgtEl>
                                          <p:spTgt spid="358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7" grpId="0"/>
      <p:bldP spid="358408" grpId="0"/>
      <p:bldP spid="358409"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461D0BC3-1E87-7D3F-342C-10A69B1F3D67}"/>
              </a:ext>
            </a:extLst>
          </p:cNvPr>
          <p:cNvSpPr>
            <a:spLocks noGrp="1" noChangeArrowheads="1"/>
          </p:cNvSpPr>
          <p:nvPr>
            <p:ph type="title"/>
          </p:nvPr>
        </p:nvSpPr>
        <p:spPr/>
        <p:txBody>
          <a:bodyPr/>
          <a:lstStyle/>
          <a:p>
            <a:pPr eaLnBrk="1" hangingPunct="1"/>
            <a:r>
              <a:rPr lang="en-US" altLang="en-US" sz="3400" b="1"/>
              <a:t>5. Lớp và đối tượng trong C#</a:t>
            </a:r>
          </a:p>
        </p:txBody>
      </p:sp>
      <p:pic>
        <p:nvPicPr>
          <p:cNvPr id="23555" name="Picture 1">
            <a:extLst>
              <a:ext uri="{FF2B5EF4-FFF2-40B4-BE49-F238E27FC236}">
                <a16:creationId xmlns:a16="http://schemas.microsoft.com/office/drawing/2014/main" id="{6ECD94AD-FE24-1678-E1C1-BE2D9B32C75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8" y="685800"/>
            <a:ext cx="7161212" cy="621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95388DB1-0016-A7AD-FC57-F1DA33689440}"/>
              </a:ext>
            </a:extLst>
          </p:cNvPr>
          <p:cNvPicPr>
            <a:picLocks noChangeAspect="1"/>
          </p:cNvPicPr>
          <p:nvPr/>
        </p:nvPicPr>
        <p:blipFill>
          <a:blip r:embed="rId3">
            <a:extLst>
              <a:ext uri="{28A0092B-C50C-407E-A947-70E740481C1C}">
                <a14:useLocalDpi xmlns:a14="http://schemas.microsoft.com/office/drawing/2010/main" val="0"/>
              </a:ext>
            </a:extLst>
          </a:blip>
          <a:srcRect l="2477"/>
          <a:stretch>
            <a:fillRect/>
          </a:stretch>
        </p:blipFill>
        <p:spPr bwMode="auto">
          <a:xfrm>
            <a:off x="5867400" y="990600"/>
            <a:ext cx="30003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DB48D5A-B12C-2DA6-2165-8C758845EFB2}"/>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361477" name="Picture 5">
            <a:extLst>
              <a:ext uri="{FF2B5EF4-FFF2-40B4-BE49-F238E27FC236}">
                <a16:creationId xmlns:a16="http://schemas.microsoft.com/office/drawing/2014/main" id="{A7446F98-7808-B264-2548-BB081B7E3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712" y="1295400"/>
            <a:ext cx="8334375" cy="54102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61478" name="Text Box 6">
            <a:extLst>
              <a:ext uri="{FF2B5EF4-FFF2-40B4-BE49-F238E27FC236}">
                <a16:creationId xmlns:a16="http://schemas.microsoft.com/office/drawing/2014/main" id="{3459A212-489E-A791-9D2D-ACBDB085DC04}"/>
              </a:ext>
            </a:extLst>
          </p:cNvPr>
          <p:cNvSpPr txBox="1">
            <a:spLocks noChangeArrowheads="1"/>
          </p:cNvSpPr>
          <p:nvPr/>
        </p:nvSpPr>
        <p:spPr bwMode="auto">
          <a:xfrm>
            <a:off x="-76200" y="685800"/>
            <a:ext cx="9220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vd: Định nghĩa lớp gồm một số thuộc tính và phương	thức.</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1478"/>
                                        </p:tgtEl>
                                        <p:attrNameLst>
                                          <p:attrName>style.visibility</p:attrName>
                                        </p:attrNameLst>
                                      </p:cBhvr>
                                      <p:to>
                                        <p:strVal val="visible"/>
                                      </p:to>
                                    </p:set>
                                    <p:animEffect transition="in" filter="box(in)">
                                      <p:cBhvr>
                                        <p:cTn id="7" dur="1000"/>
                                        <p:tgtEl>
                                          <p:spTgt spid="3614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1477"/>
                                        </p:tgtEl>
                                        <p:attrNameLst>
                                          <p:attrName>style.visibility</p:attrName>
                                        </p:attrNameLst>
                                      </p:cBhvr>
                                      <p:to>
                                        <p:strVal val="visible"/>
                                      </p:to>
                                    </p:set>
                                    <p:animEffect transition="in" filter="box(in)">
                                      <p:cBhvr>
                                        <p:cTn id="12" dur="1000"/>
                                        <p:tgtEl>
                                          <p:spTgt spid="361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8"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14005C5-C7E6-D343-263C-52CF49B0CC5F}"/>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25603" name="Rectangle 5">
            <a:extLst>
              <a:ext uri="{FF2B5EF4-FFF2-40B4-BE49-F238E27FC236}">
                <a16:creationId xmlns:a16="http://schemas.microsoft.com/office/drawing/2014/main" id="{50A63300-732C-3F67-59F1-580D345C0FB5}"/>
              </a:ext>
            </a:extLst>
          </p:cNvPr>
          <p:cNvSpPr>
            <a:spLocks noChangeArrowheads="1"/>
          </p:cNvSpPr>
          <p:nvPr/>
        </p:nvSpPr>
        <p:spPr bwMode="auto">
          <a:xfrm>
            <a:off x="85725" y="809625"/>
            <a:ext cx="35861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Phạm vi truy cập</a:t>
            </a:r>
          </a:p>
        </p:txBody>
      </p:sp>
      <p:sp>
        <p:nvSpPr>
          <p:cNvPr id="359430" name="Rectangle 6">
            <a:extLst>
              <a:ext uri="{FF2B5EF4-FFF2-40B4-BE49-F238E27FC236}">
                <a16:creationId xmlns:a16="http://schemas.microsoft.com/office/drawing/2014/main" id="{22F075E5-F686-FBDF-7AF7-5EE56500C838}"/>
              </a:ext>
            </a:extLst>
          </p:cNvPr>
          <p:cNvSpPr>
            <a:spLocks noChangeArrowheads="1"/>
          </p:cNvSpPr>
          <p:nvPr/>
        </p:nvSpPr>
        <p:spPr bwMode="auto">
          <a:xfrm>
            <a:off x="376238" y="1352550"/>
            <a:ext cx="86106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Phạm vi truy cập quyết định khả năng các phương thức của lớp khác có thể nhìn thấy và sử dụng các biến thành viên hay những phương thức bên trong lớp</a:t>
            </a:r>
          </a:p>
        </p:txBody>
      </p:sp>
      <p:pic>
        <p:nvPicPr>
          <p:cNvPr id="359431" name="Picture 7">
            <a:extLst>
              <a:ext uri="{FF2B5EF4-FFF2-40B4-BE49-F238E27FC236}">
                <a16:creationId xmlns:a16="http://schemas.microsoft.com/office/drawing/2014/main" id="{2DCE3A51-74B6-0A95-CC9C-55CF24B667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73338"/>
            <a:ext cx="7696200" cy="4132262"/>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9430">
                                            <p:txEl>
                                              <p:pRg st="0" end="0"/>
                                            </p:txEl>
                                          </p:spTgt>
                                        </p:tgtEl>
                                        <p:attrNameLst>
                                          <p:attrName>style.visibility</p:attrName>
                                        </p:attrNameLst>
                                      </p:cBhvr>
                                      <p:to>
                                        <p:strVal val="visible"/>
                                      </p:to>
                                    </p:set>
                                    <p:animEffect transition="in" filter="box(in)">
                                      <p:cBhvr>
                                        <p:cTn id="7" dur="1000"/>
                                        <p:tgtEl>
                                          <p:spTgt spid="3594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9431"/>
                                        </p:tgtEl>
                                        <p:attrNameLst>
                                          <p:attrName>style.visibility</p:attrName>
                                        </p:attrNameLst>
                                      </p:cBhvr>
                                      <p:to>
                                        <p:strVal val="visible"/>
                                      </p:to>
                                    </p:set>
                                    <p:animEffect transition="in" filter="box(in)">
                                      <p:cBhvr>
                                        <p:cTn id="12" dur="1000"/>
                                        <p:tgtEl>
                                          <p:spTgt spid="359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6C1A72BF-0ED6-65A9-1DB5-85C4B1F515FA}"/>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26627" name="Rectangle 5">
            <a:extLst>
              <a:ext uri="{FF2B5EF4-FFF2-40B4-BE49-F238E27FC236}">
                <a16:creationId xmlns:a16="http://schemas.microsoft.com/office/drawing/2014/main" id="{91193167-47C8-A28E-6ABF-35B69EC1C829}"/>
              </a:ext>
            </a:extLst>
          </p:cNvPr>
          <p:cNvSpPr>
            <a:spLocks noChangeArrowheads="1"/>
          </p:cNvSpPr>
          <p:nvPr/>
        </p:nvSpPr>
        <p:spPr bwMode="auto">
          <a:xfrm>
            <a:off x="85725" y="809625"/>
            <a:ext cx="3586163"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Phạm vi truy cập</a:t>
            </a:r>
          </a:p>
        </p:txBody>
      </p:sp>
      <p:sp>
        <p:nvSpPr>
          <p:cNvPr id="359430" name="Rectangle 6">
            <a:extLst>
              <a:ext uri="{FF2B5EF4-FFF2-40B4-BE49-F238E27FC236}">
                <a16:creationId xmlns:a16="http://schemas.microsoft.com/office/drawing/2014/main" id="{54787C29-7D1C-3A70-FF89-5053DC880C2F}"/>
              </a:ext>
            </a:extLst>
          </p:cNvPr>
          <p:cNvSpPr>
            <a:spLocks noChangeArrowheads="1"/>
          </p:cNvSpPr>
          <p:nvPr/>
        </p:nvSpPr>
        <p:spPr bwMode="auto">
          <a:xfrm>
            <a:off x="504825" y="1752600"/>
            <a:ext cx="8610600" cy="2787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400" b="1" i="0" u="none" strike="noStrike" kern="1200" cap="none" spc="0" normalizeH="0" baseline="0" noProof="0">
                <a:ln>
                  <a:noFill/>
                </a:ln>
                <a:solidFill>
                  <a:srgbClr val="003300"/>
                </a:solidFill>
                <a:effectLst/>
                <a:uLnTx/>
                <a:uFillTx/>
                <a:latin typeface="Verdana" panose="020B0604030504040204" pitchFamily="34" charset="0"/>
                <a:ea typeface="+mn-ea"/>
                <a:cs typeface="+mn-cs"/>
              </a:rPr>
              <a:t>Lưu ý:</a:t>
            </a:r>
          </a:p>
          <a:p>
            <a:pPr marL="342900" marR="0" lvl="0" indent="-342900" algn="l" defTabSz="914400" rtl="0" eaLnBrk="0" fontAlgn="base" latinLnBrk="0" hangingPunct="0">
              <a:lnSpc>
                <a:spcPct val="150000"/>
              </a:lnSpc>
              <a:spcBef>
                <a:spcPct val="0"/>
              </a:spcBef>
              <a:spcAft>
                <a:spcPct val="0"/>
              </a:spcAft>
              <a:buClrTx/>
              <a:buSzTx/>
              <a:buFontTx/>
              <a:buChar char="-"/>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Lớp không khai báo thuộc tính phạm vi truy cập thì mặc định là </a:t>
            </a:r>
            <a:r>
              <a:rPr kumimoji="0" lang="en-US" altLang="en-US" sz="2400" b="0" i="1" u="none" strike="noStrike" kern="1200" cap="none" spc="0" normalizeH="0" baseline="0" noProof="0">
                <a:ln>
                  <a:noFill/>
                </a:ln>
                <a:solidFill>
                  <a:srgbClr val="0070C0"/>
                </a:solidFill>
                <a:effectLst/>
                <a:uLnTx/>
                <a:uFillTx/>
                <a:latin typeface="Verdana" panose="020B0604030504040204" pitchFamily="34" charset="0"/>
                <a:ea typeface="+mn-ea"/>
                <a:cs typeface="+mn-cs"/>
              </a:rPr>
              <a:t>internal</a:t>
            </a:r>
          </a:p>
          <a:p>
            <a:pPr marL="342900" marR="0" lvl="0" indent="-342900" algn="l" defTabSz="914400" rtl="0" eaLnBrk="0" fontAlgn="base" latinLnBrk="0" hangingPunct="0">
              <a:lnSpc>
                <a:spcPct val="150000"/>
              </a:lnSpc>
              <a:spcBef>
                <a:spcPct val="0"/>
              </a:spcBef>
              <a:spcAft>
                <a:spcPct val="0"/>
              </a:spcAft>
              <a:buClrTx/>
              <a:buSzTx/>
              <a:buFontTx/>
              <a:buChar char="-"/>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Các thành phần bên trong lớp không khai báo thuộc tính phạm vi thì mặc định là </a:t>
            </a:r>
            <a:r>
              <a:rPr kumimoji="0" lang="en-US" altLang="en-US" sz="2400" b="0" i="1" u="none" strike="noStrike" kern="1200" cap="none" spc="0" normalizeH="0" baseline="0" noProof="0">
                <a:ln>
                  <a:noFill/>
                </a:ln>
                <a:solidFill>
                  <a:srgbClr val="0070C0"/>
                </a:solidFill>
                <a:effectLst/>
                <a:uLnTx/>
                <a:uFillTx/>
                <a:latin typeface="Verdana" panose="020B0604030504040204" pitchFamily="34" charset="0"/>
                <a:ea typeface="+mn-ea"/>
                <a:cs typeface="+mn-cs"/>
              </a:rPr>
              <a:t>private</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9430">
                                            <p:txEl>
                                              <p:pRg st="0" end="0"/>
                                            </p:txEl>
                                          </p:spTgt>
                                        </p:tgtEl>
                                        <p:attrNameLst>
                                          <p:attrName>style.visibility</p:attrName>
                                        </p:attrNameLst>
                                      </p:cBhvr>
                                      <p:to>
                                        <p:strVal val="visible"/>
                                      </p:to>
                                    </p:set>
                                    <p:animEffect transition="in" filter="box(in)">
                                      <p:cBhvr>
                                        <p:cTn id="7" dur="1000"/>
                                        <p:tgtEl>
                                          <p:spTgt spid="35943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59430">
                                            <p:txEl>
                                              <p:pRg st="1" end="1"/>
                                            </p:txEl>
                                          </p:spTgt>
                                        </p:tgtEl>
                                        <p:attrNameLst>
                                          <p:attrName>style.visibility</p:attrName>
                                        </p:attrNameLst>
                                      </p:cBhvr>
                                      <p:to>
                                        <p:strVal val="visible"/>
                                      </p:to>
                                    </p:set>
                                    <p:animEffect transition="in" filter="box(in)">
                                      <p:cBhvr>
                                        <p:cTn id="12" dur="1000"/>
                                        <p:tgtEl>
                                          <p:spTgt spid="35943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59430">
                                            <p:txEl>
                                              <p:pRg st="2" end="2"/>
                                            </p:txEl>
                                          </p:spTgt>
                                        </p:tgtEl>
                                        <p:attrNameLst>
                                          <p:attrName>style.visibility</p:attrName>
                                        </p:attrNameLst>
                                      </p:cBhvr>
                                      <p:to>
                                        <p:strVal val="visible"/>
                                      </p:to>
                                    </p:set>
                                    <p:animEffect transition="in" filter="box(in)">
                                      <p:cBhvr>
                                        <p:cTn id="17" dur="1000"/>
                                        <p:tgtEl>
                                          <p:spTgt spid="35943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D9B369F-03EF-5722-1976-A7FC80ED1D81}"/>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27651" name="Rectangle 4">
            <a:extLst>
              <a:ext uri="{FF2B5EF4-FFF2-40B4-BE49-F238E27FC236}">
                <a16:creationId xmlns:a16="http://schemas.microsoft.com/office/drawing/2014/main" id="{84E56030-119F-F011-CC1D-0ED57483706D}"/>
              </a:ext>
            </a:extLst>
          </p:cNvPr>
          <p:cNvSpPr>
            <a:spLocks noChangeArrowheads="1"/>
          </p:cNvSpPr>
          <p:nvPr/>
        </p:nvSpPr>
        <p:spPr bwMode="auto">
          <a:xfrm>
            <a:off x="57150" y="749300"/>
            <a:ext cx="53451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Tham số của phương thức</a:t>
            </a:r>
          </a:p>
        </p:txBody>
      </p:sp>
      <p:sp>
        <p:nvSpPr>
          <p:cNvPr id="376837" name="Rectangle 5">
            <a:extLst>
              <a:ext uri="{FF2B5EF4-FFF2-40B4-BE49-F238E27FC236}">
                <a16:creationId xmlns:a16="http://schemas.microsoft.com/office/drawing/2014/main" id="{5BD14345-1ACC-C521-DA54-E649D4904FEE}"/>
              </a:ext>
            </a:extLst>
          </p:cNvPr>
          <p:cNvSpPr>
            <a:spLocks noChangeArrowheads="1"/>
          </p:cNvSpPr>
          <p:nvPr/>
        </p:nvSpPr>
        <p:spPr bwMode="auto">
          <a:xfrm>
            <a:off x="452438" y="1295400"/>
            <a:ext cx="8234362" cy="1374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Một phương thức có thể lấy bất kỳ số lượng tham số nào. Các tham số này theo sau bởi tên của phương thức và được </a:t>
            </a:r>
            <a:r>
              <a:rPr lang="en-US" altLang="en-US" b="0">
                <a:solidFill>
                  <a:srgbClr val="000066"/>
                </a:solidFill>
              </a:rPr>
              <a:t>đặt </a:t>
            </a: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trong dấu ngoặc tròn ().</a:t>
            </a:r>
          </a:p>
        </p:txBody>
      </p:sp>
      <p:sp>
        <p:nvSpPr>
          <p:cNvPr id="376838" name="Rectangle 6">
            <a:extLst>
              <a:ext uri="{FF2B5EF4-FFF2-40B4-BE49-F238E27FC236}">
                <a16:creationId xmlns:a16="http://schemas.microsoft.com/office/drawing/2014/main" id="{4BAB546B-A61C-8A27-A4BA-33ACD1980320}"/>
              </a:ext>
            </a:extLst>
          </p:cNvPr>
          <p:cNvSpPr>
            <a:spLocks noChangeArrowheads="1"/>
          </p:cNvSpPr>
          <p:nvPr/>
        </p:nvSpPr>
        <p:spPr bwMode="auto">
          <a:xfrm>
            <a:off x="430667" y="2827491"/>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Mỗi tham số phải khai báo kèm với kiểu dữ liệu.</a:t>
            </a:r>
          </a:p>
        </p:txBody>
      </p:sp>
      <p:pic>
        <p:nvPicPr>
          <p:cNvPr id="376839" name="Picture 7">
            <a:extLst>
              <a:ext uri="{FF2B5EF4-FFF2-40B4-BE49-F238E27FC236}">
                <a16:creationId xmlns:a16="http://schemas.microsoft.com/office/drawing/2014/main" id="{1F8BD202-4611-342D-F9AE-0B203E081E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581400"/>
            <a:ext cx="4648200" cy="16002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76840" name="Rectangle 8">
            <a:extLst>
              <a:ext uri="{FF2B5EF4-FFF2-40B4-BE49-F238E27FC236}">
                <a16:creationId xmlns:a16="http://schemas.microsoft.com/office/drawing/2014/main" id="{EE92578E-66F6-58F0-EFCD-3977B67552F4}"/>
              </a:ext>
            </a:extLst>
          </p:cNvPr>
          <p:cNvSpPr>
            <a:spLocks noChangeArrowheads="1"/>
          </p:cNvSpPr>
          <p:nvPr/>
        </p:nvSpPr>
        <p:spPr bwMode="auto">
          <a:xfrm>
            <a:off x="552450" y="5338763"/>
            <a:ext cx="85344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Bên trong thân của phương thức, các tham số này được xem như những biến cục bộ</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6837"/>
                                        </p:tgtEl>
                                        <p:attrNameLst>
                                          <p:attrName>style.visibility</p:attrName>
                                        </p:attrNameLst>
                                      </p:cBhvr>
                                      <p:to>
                                        <p:strVal val="visible"/>
                                      </p:to>
                                    </p:set>
                                    <p:animEffect transition="in" filter="box(in)">
                                      <p:cBhvr>
                                        <p:cTn id="7" dur="1000"/>
                                        <p:tgtEl>
                                          <p:spTgt spid="3768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6838"/>
                                        </p:tgtEl>
                                        <p:attrNameLst>
                                          <p:attrName>style.visibility</p:attrName>
                                        </p:attrNameLst>
                                      </p:cBhvr>
                                      <p:to>
                                        <p:strVal val="visible"/>
                                      </p:to>
                                    </p:set>
                                    <p:animEffect transition="in" filter="box(in)">
                                      <p:cBhvr>
                                        <p:cTn id="12" dur="1000"/>
                                        <p:tgtEl>
                                          <p:spTgt spid="37683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6839"/>
                                        </p:tgtEl>
                                        <p:attrNameLst>
                                          <p:attrName>style.visibility</p:attrName>
                                        </p:attrNameLst>
                                      </p:cBhvr>
                                      <p:to>
                                        <p:strVal val="visible"/>
                                      </p:to>
                                    </p:set>
                                    <p:animEffect transition="in" filter="box(in)">
                                      <p:cBhvr>
                                        <p:cTn id="17" dur="1000"/>
                                        <p:tgtEl>
                                          <p:spTgt spid="3768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6840"/>
                                        </p:tgtEl>
                                        <p:attrNameLst>
                                          <p:attrName>style.visibility</p:attrName>
                                        </p:attrNameLst>
                                      </p:cBhvr>
                                      <p:to>
                                        <p:strVal val="visible"/>
                                      </p:to>
                                    </p:set>
                                    <p:animEffect transition="in" filter="box(in)">
                                      <p:cBhvr>
                                        <p:cTn id="22" dur="1000"/>
                                        <p:tgtEl>
                                          <p:spTgt spid="376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7" grpId="0"/>
      <p:bldP spid="376838" grpId="0"/>
      <p:bldP spid="376840"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EEDC703-C66C-4FAA-77F8-64FDF8DB1A65}"/>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28675" name="Rectangle 4">
            <a:extLst>
              <a:ext uri="{FF2B5EF4-FFF2-40B4-BE49-F238E27FC236}">
                <a16:creationId xmlns:a16="http://schemas.microsoft.com/office/drawing/2014/main" id="{05C59969-BDE6-A2A6-01E9-5E94473B186E}"/>
              </a:ext>
            </a:extLst>
          </p:cNvPr>
          <p:cNvSpPr>
            <a:spLocks noChangeArrowheads="1"/>
          </p:cNvSpPr>
          <p:nvPr/>
        </p:nvSpPr>
        <p:spPr bwMode="auto">
          <a:xfrm>
            <a:off x="57150" y="749300"/>
            <a:ext cx="53451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Tham số của phương thức</a:t>
            </a:r>
          </a:p>
        </p:txBody>
      </p:sp>
      <p:pic>
        <p:nvPicPr>
          <p:cNvPr id="360453" name="Picture 5">
            <a:extLst>
              <a:ext uri="{FF2B5EF4-FFF2-40B4-BE49-F238E27FC236}">
                <a16:creationId xmlns:a16="http://schemas.microsoft.com/office/drawing/2014/main" id="{17EDC93A-A999-1B0B-D686-B76C3006CC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825" y="1371600"/>
            <a:ext cx="8382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0453"/>
                                        </p:tgtEl>
                                        <p:attrNameLst>
                                          <p:attrName>style.visibility</p:attrName>
                                        </p:attrNameLst>
                                      </p:cBhvr>
                                      <p:to>
                                        <p:strVal val="visible"/>
                                      </p:to>
                                    </p:set>
                                    <p:animEffect transition="in" filter="box(in)">
                                      <p:cBhvr>
                                        <p:cTn id="7" dur="1000"/>
                                        <p:tgtEl>
                                          <p:spTgt spid="360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5489D01-854F-BD7B-8C86-5E26B4C1036F}"/>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29699" name="Rectangle 4">
            <a:extLst>
              <a:ext uri="{FF2B5EF4-FFF2-40B4-BE49-F238E27FC236}">
                <a16:creationId xmlns:a16="http://schemas.microsoft.com/office/drawing/2014/main" id="{1B395E36-FE45-4927-153E-910750EC0821}"/>
              </a:ext>
            </a:extLst>
          </p:cNvPr>
          <p:cNvSpPr>
            <a:spLocks noChangeArrowheads="1"/>
          </p:cNvSpPr>
          <p:nvPr/>
        </p:nvSpPr>
        <p:spPr bwMode="auto">
          <a:xfrm>
            <a:off x="128588" y="792163"/>
            <a:ext cx="29432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Tạo đối tượng</a:t>
            </a:r>
          </a:p>
        </p:txBody>
      </p:sp>
      <p:sp>
        <p:nvSpPr>
          <p:cNvPr id="362501" name="Rectangle 5">
            <a:extLst>
              <a:ext uri="{FF2B5EF4-FFF2-40B4-BE49-F238E27FC236}">
                <a16:creationId xmlns:a16="http://schemas.microsoft.com/office/drawing/2014/main" id="{5E1330B6-083C-06CE-C86A-E53D4BC9B1B8}"/>
              </a:ext>
            </a:extLst>
          </p:cNvPr>
          <p:cNvSpPr>
            <a:spLocks noChangeArrowheads="1"/>
          </p:cNvSpPr>
          <p:nvPr/>
        </p:nvSpPr>
        <p:spPr bwMode="auto">
          <a:xfrm>
            <a:off x="704850" y="1390650"/>
            <a:ext cx="8077200"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Kiểu dữ liệu chuẩn của C# như int, char, float,… là những kiểu dữ liệu giá trị, và các biến được tạo ra từ các kiểu dữ liệu này được lưu trên stack. Tuy nhiên, với các đối tượng kiểu dữ liệu tham chiếu thì được tạo ra trên heap, sử dụng từ khóa </a:t>
            </a:r>
            <a:r>
              <a:rPr kumimoji="0" lang="en-US" altLang="en-US" sz="2400" b="1" i="0" u="none" strike="noStrike" kern="1200" cap="none" spc="0" normalizeH="0" baseline="0" noProof="0">
                <a:ln>
                  <a:noFill/>
                </a:ln>
                <a:solidFill>
                  <a:srgbClr val="000000"/>
                </a:solidFill>
                <a:effectLst/>
                <a:uLnTx/>
                <a:uFillTx/>
                <a:latin typeface="Verdana" panose="020B0604030504040204" pitchFamily="34" charset="0"/>
                <a:ea typeface="+mn-ea"/>
                <a:cs typeface="+mn-cs"/>
              </a:rPr>
              <a:t>new </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để tạo một đối tượng:</a:t>
            </a:r>
          </a:p>
        </p:txBody>
      </p:sp>
      <p:sp>
        <p:nvSpPr>
          <p:cNvPr id="362502" name="Text Box 6">
            <a:extLst>
              <a:ext uri="{FF2B5EF4-FFF2-40B4-BE49-F238E27FC236}">
                <a16:creationId xmlns:a16="http://schemas.microsoft.com/office/drawing/2014/main" id="{A89A01E2-69CE-DFC1-15BE-90D58043C9CC}"/>
              </a:ext>
            </a:extLst>
          </p:cNvPr>
          <p:cNvSpPr txBox="1">
            <a:spLocks noChangeArrowheads="1"/>
          </p:cNvSpPr>
          <p:nvPr/>
        </p:nvSpPr>
        <p:spPr bwMode="auto">
          <a:xfrm>
            <a:off x="2286000" y="4119902"/>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1" i="0" u="none" strike="noStrike" kern="1200" cap="none" spc="0" normalizeH="0" baseline="0" noProof="0">
                <a:ln>
                  <a:noFill/>
                </a:ln>
                <a:solidFill>
                  <a:srgbClr val="660033"/>
                </a:solidFill>
                <a:effectLst/>
                <a:uLnTx/>
                <a:uFillTx/>
                <a:latin typeface="Verdana" panose="020B0604030504040204" pitchFamily="34" charset="0"/>
                <a:ea typeface="+mn-ea"/>
                <a:cs typeface="+mn-cs"/>
              </a:rPr>
              <a:t>thoi_gian t = new thoi_gian();</a:t>
            </a:r>
          </a:p>
        </p:txBody>
      </p:sp>
      <p:sp>
        <p:nvSpPr>
          <p:cNvPr id="362503" name="Rectangle 7">
            <a:extLst>
              <a:ext uri="{FF2B5EF4-FFF2-40B4-BE49-F238E27FC236}">
                <a16:creationId xmlns:a16="http://schemas.microsoft.com/office/drawing/2014/main" id="{2F84044F-655A-12A5-2538-76C68FF2DA42}"/>
              </a:ext>
            </a:extLst>
          </p:cNvPr>
          <p:cNvSpPr>
            <a:spLocks noChangeArrowheads="1"/>
          </p:cNvSpPr>
          <p:nvPr/>
        </p:nvSpPr>
        <p:spPr bwMode="auto">
          <a:xfrm>
            <a:off x="723900" y="4624388"/>
            <a:ext cx="84201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t thật sự không chứa giá trị của đối tượng ThoiGian, nó chỉ chứa địa chỉ của đối tượng được tạo ra trên heap, do vậy t chỉ chứa tham chiếu đến một đối tượng.</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62501"/>
                                        </p:tgtEl>
                                        <p:attrNameLst>
                                          <p:attrName>style.visibility</p:attrName>
                                        </p:attrNameLst>
                                      </p:cBhvr>
                                      <p:to>
                                        <p:strVal val="visible"/>
                                      </p:to>
                                    </p:set>
                                    <p:animEffect transition="in" filter="checkerboard(across)">
                                      <p:cBhvr>
                                        <p:cTn id="7" dur="1000"/>
                                        <p:tgtEl>
                                          <p:spTgt spid="3625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2502"/>
                                        </p:tgtEl>
                                        <p:attrNameLst>
                                          <p:attrName>style.visibility</p:attrName>
                                        </p:attrNameLst>
                                      </p:cBhvr>
                                      <p:to>
                                        <p:strVal val="visible"/>
                                      </p:to>
                                    </p:set>
                                    <p:animEffect transition="in" filter="box(in)">
                                      <p:cBhvr>
                                        <p:cTn id="12" dur="1000"/>
                                        <p:tgtEl>
                                          <p:spTgt spid="3625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2503">
                                            <p:txEl>
                                              <p:pRg st="0" end="0"/>
                                            </p:txEl>
                                          </p:spTgt>
                                        </p:tgtEl>
                                        <p:attrNameLst>
                                          <p:attrName>style.visibility</p:attrName>
                                        </p:attrNameLst>
                                      </p:cBhvr>
                                      <p:to>
                                        <p:strVal val="visible"/>
                                      </p:to>
                                    </p:set>
                                    <p:animEffect transition="in" filter="box(in)">
                                      <p:cBhvr>
                                        <p:cTn id="17" dur="1000"/>
                                        <p:tgtEl>
                                          <p:spTgt spid="3625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01" grpId="0"/>
      <p:bldP spid="362502"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759AA12-676C-E6BD-7629-8DF2207DE4E9}"/>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0723" name="Rectangle 4">
            <a:extLst>
              <a:ext uri="{FF2B5EF4-FFF2-40B4-BE49-F238E27FC236}">
                <a16:creationId xmlns:a16="http://schemas.microsoft.com/office/drawing/2014/main" id="{D2764544-3DA0-C9DA-4A10-7580A5D7D2C7}"/>
              </a:ext>
            </a:extLst>
          </p:cNvPr>
          <p:cNvSpPr>
            <a:spLocks noChangeArrowheads="1"/>
          </p:cNvSpPr>
          <p:nvPr/>
        </p:nvSpPr>
        <p:spPr bwMode="auto">
          <a:xfrm>
            <a:off x="57150" y="787400"/>
            <a:ext cx="2819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Bộ khởi dựng</a:t>
            </a:r>
          </a:p>
        </p:txBody>
      </p:sp>
      <p:sp>
        <p:nvSpPr>
          <p:cNvPr id="363525" name="Rectangle 5">
            <a:extLst>
              <a:ext uri="{FF2B5EF4-FFF2-40B4-BE49-F238E27FC236}">
                <a16:creationId xmlns:a16="http://schemas.microsoft.com/office/drawing/2014/main" id="{02C82DAE-AD5E-935F-CFB0-851F31D2FA90}"/>
              </a:ext>
            </a:extLst>
          </p:cNvPr>
          <p:cNvSpPr>
            <a:spLocks noChangeArrowheads="1"/>
          </p:cNvSpPr>
          <p:nvPr/>
        </p:nvSpPr>
        <p:spPr bwMode="auto">
          <a:xfrm>
            <a:off x="304800" y="1495425"/>
            <a:ext cx="8534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Một phương thức sẽ được gọi thực hiện khi tạo một đối tượng</a:t>
            </a:r>
          </a:p>
        </p:txBody>
      </p:sp>
      <p:sp>
        <p:nvSpPr>
          <p:cNvPr id="363526" name="Text Box 6">
            <a:extLst>
              <a:ext uri="{FF2B5EF4-FFF2-40B4-BE49-F238E27FC236}">
                <a16:creationId xmlns:a16="http://schemas.microsoft.com/office/drawing/2014/main" id="{7AAC9C7D-1BC9-6138-FC40-099DF7BC8DCE}"/>
              </a:ext>
            </a:extLst>
          </p:cNvPr>
          <p:cNvSpPr txBox="1">
            <a:spLocks noChangeArrowheads="1"/>
          </p:cNvSpPr>
          <p:nvPr/>
        </p:nvSpPr>
        <p:spPr bwMode="auto">
          <a:xfrm>
            <a:off x="3352800" y="83820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1" i="0" u="none" strike="noStrike" kern="1200" cap="none" spc="0" normalizeH="0" baseline="0" noProof="0">
                <a:ln>
                  <a:noFill/>
                </a:ln>
                <a:solidFill>
                  <a:srgbClr val="660033"/>
                </a:solidFill>
                <a:effectLst/>
                <a:uLnTx/>
                <a:uFillTx/>
                <a:latin typeface="Verdana" panose="020B0604030504040204" pitchFamily="34" charset="0"/>
                <a:ea typeface="+mn-ea"/>
                <a:cs typeface="+mn-cs"/>
              </a:rPr>
              <a:t>thoi_gian t = new thoi_gian();</a:t>
            </a:r>
          </a:p>
        </p:txBody>
      </p:sp>
      <p:sp>
        <p:nvSpPr>
          <p:cNvPr id="363527" name="Rectangle 7">
            <a:extLst>
              <a:ext uri="{FF2B5EF4-FFF2-40B4-BE49-F238E27FC236}">
                <a16:creationId xmlns:a16="http://schemas.microsoft.com/office/drawing/2014/main" id="{97439DE0-A11C-494D-74E9-EC2F37AD76EE}"/>
              </a:ext>
            </a:extLst>
          </p:cNvPr>
          <p:cNvSpPr>
            <a:spLocks noChangeArrowheads="1"/>
          </p:cNvSpPr>
          <p:nvPr/>
        </p:nvSpPr>
        <p:spPr bwMode="auto">
          <a:xfrm>
            <a:off x="290513" y="2328863"/>
            <a:ext cx="839628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Phương thức này được gọi là bộ khởi dựng (constructor). Các phương thức này được định nghĩa khi xây dựng lớp, nếu không </a:t>
            </a:r>
            <a:r>
              <a:rPr lang="en-US" altLang="en-US" b="0">
                <a:solidFill>
                  <a:srgbClr val="660033"/>
                </a:solidFill>
              </a:rPr>
              <a:t>được </a:t>
            </a: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tạo ra thì CLR sẽ tạo phương thức khởi dựng một cách mặc định.</a:t>
            </a:r>
          </a:p>
        </p:txBody>
      </p:sp>
      <p:sp>
        <p:nvSpPr>
          <p:cNvPr id="363529" name="Rectangle 9">
            <a:extLst>
              <a:ext uri="{FF2B5EF4-FFF2-40B4-BE49-F238E27FC236}">
                <a16:creationId xmlns:a16="http://schemas.microsoft.com/office/drawing/2014/main" id="{C8319042-9A9A-86FF-F7BF-7CB3937219C7}"/>
              </a:ext>
            </a:extLst>
          </p:cNvPr>
          <p:cNvSpPr>
            <a:spLocks noChangeArrowheads="1"/>
          </p:cNvSpPr>
          <p:nvPr/>
        </p:nvSpPr>
        <p:spPr bwMode="auto">
          <a:xfrm>
            <a:off x="314779" y="3931180"/>
            <a:ext cx="8610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Chức năng của bộ khởi dựng là tạo ra đối tượng được xác định bởi một lớp và đặt trạng thái này hợp lệ.</a:t>
            </a:r>
          </a:p>
        </p:txBody>
      </p:sp>
      <p:pic>
        <p:nvPicPr>
          <p:cNvPr id="363530" name="Picture 10">
            <a:extLst>
              <a:ext uri="{FF2B5EF4-FFF2-40B4-BE49-F238E27FC236}">
                <a16:creationId xmlns:a16="http://schemas.microsoft.com/office/drawing/2014/main" id="{857BFBE4-73A5-DA58-D9F8-F8ABAADEFB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4908725"/>
            <a:ext cx="4495800" cy="1533525"/>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3526"/>
                                        </p:tgtEl>
                                        <p:attrNameLst>
                                          <p:attrName>style.visibility</p:attrName>
                                        </p:attrNameLst>
                                      </p:cBhvr>
                                      <p:to>
                                        <p:strVal val="visible"/>
                                      </p:to>
                                    </p:set>
                                    <p:animEffect transition="in" filter="box(in)">
                                      <p:cBhvr>
                                        <p:cTn id="7" dur="1000"/>
                                        <p:tgtEl>
                                          <p:spTgt spid="3635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3525"/>
                                        </p:tgtEl>
                                        <p:attrNameLst>
                                          <p:attrName>style.visibility</p:attrName>
                                        </p:attrNameLst>
                                      </p:cBhvr>
                                      <p:to>
                                        <p:strVal val="visible"/>
                                      </p:to>
                                    </p:set>
                                    <p:animEffect transition="in" filter="box(in)">
                                      <p:cBhvr>
                                        <p:cTn id="12" dur="1000"/>
                                        <p:tgtEl>
                                          <p:spTgt spid="3635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3527"/>
                                        </p:tgtEl>
                                        <p:attrNameLst>
                                          <p:attrName>style.visibility</p:attrName>
                                        </p:attrNameLst>
                                      </p:cBhvr>
                                      <p:to>
                                        <p:strVal val="visible"/>
                                      </p:to>
                                    </p:set>
                                    <p:animEffect transition="in" filter="box(in)">
                                      <p:cBhvr>
                                        <p:cTn id="17" dur="1000"/>
                                        <p:tgtEl>
                                          <p:spTgt spid="3635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3529"/>
                                        </p:tgtEl>
                                        <p:attrNameLst>
                                          <p:attrName>style.visibility</p:attrName>
                                        </p:attrNameLst>
                                      </p:cBhvr>
                                      <p:to>
                                        <p:strVal val="visible"/>
                                      </p:to>
                                    </p:set>
                                    <p:animEffect transition="in" filter="box(in)">
                                      <p:cBhvr>
                                        <p:cTn id="22" dur="1000"/>
                                        <p:tgtEl>
                                          <p:spTgt spid="36352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63530"/>
                                        </p:tgtEl>
                                        <p:attrNameLst>
                                          <p:attrName>style.visibility</p:attrName>
                                        </p:attrNameLst>
                                      </p:cBhvr>
                                      <p:to>
                                        <p:strVal val="visible"/>
                                      </p:to>
                                    </p:set>
                                    <p:animEffect transition="in" filter="box(in)">
                                      <p:cBhvr>
                                        <p:cTn id="27" dur="1000"/>
                                        <p:tgtEl>
                                          <p:spTgt spid="363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5" grpId="0"/>
      <p:bldP spid="363526" grpId="0"/>
      <p:bldP spid="363527" grpId="0"/>
      <p:bldP spid="363529" grpId="0"/>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BB9B0D0-59E9-D3A3-0E80-794A39C83080}"/>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64548" name="Rectangle 4">
            <a:extLst>
              <a:ext uri="{FF2B5EF4-FFF2-40B4-BE49-F238E27FC236}">
                <a16:creationId xmlns:a16="http://schemas.microsoft.com/office/drawing/2014/main" id="{30102678-0859-ADA3-D290-6F418C912644}"/>
              </a:ext>
            </a:extLst>
          </p:cNvPr>
          <p:cNvSpPr>
            <a:spLocks noChangeArrowheads="1"/>
          </p:cNvSpPr>
          <p:nvPr/>
        </p:nvSpPr>
        <p:spPr bwMode="auto">
          <a:xfrm>
            <a:off x="414338" y="785813"/>
            <a:ext cx="845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Để định nghĩa một bộ khởi dựng riêng ta phải khai báo một phương thức có tên giống như tên lớp đã khai báo.</a:t>
            </a:r>
          </a:p>
        </p:txBody>
      </p:sp>
      <p:sp>
        <p:nvSpPr>
          <p:cNvPr id="364549" name="Rectangle 5">
            <a:extLst>
              <a:ext uri="{FF2B5EF4-FFF2-40B4-BE49-F238E27FC236}">
                <a16:creationId xmlns:a16="http://schemas.microsoft.com/office/drawing/2014/main" id="{87ADE4BE-35A6-F400-5653-EE3A5E3E8FC0}"/>
              </a:ext>
            </a:extLst>
          </p:cNvPr>
          <p:cNvSpPr>
            <a:spLocks noChangeArrowheads="1"/>
          </p:cNvSpPr>
          <p:nvPr/>
        </p:nvSpPr>
        <p:spPr bwMode="auto">
          <a:xfrm>
            <a:off x="400050" y="1547813"/>
            <a:ext cx="8458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Phương thức khởi dựng không có giá trị trả về và được khai báo là public.</a:t>
            </a:r>
          </a:p>
        </p:txBody>
      </p:sp>
      <p:pic>
        <p:nvPicPr>
          <p:cNvPr id="364551" name="Picture 7">
            <a:extLst>
              <a:ext uri="{FF2B5EF4-FFF2-40B4-BE49-F238E27FC236}">
                <a16:creationId xmlns:a16="http://schemas.microsoft.com/office/drawing/2014/main" id="{2AD724A9-9CCA-48ED-5795-C148F0BDA6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819151"/>
            <a:ext cx="8991600" cy="603885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4548"/>
                                        </p:tgtEl>
                                        <p:attrNameLst>
                                          <p:attrName>style.visibility</p:attrName>
                                        </p:attrNameLst>
                                      </p:cBhvr>
                                      <p:to>
                                        <p:strVal val="visible"/>
                                      </p:to>
                                    </p:set>
                                    <p:animEffect transition="in" filter="box(in)">
                                      <p:cBhvr>
                                        <p:cTn id="7" dur="1000"/>
                                        <p:tgtEl>
                                          <p:spTgt spid="3645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4549"/>
                                        </p:tgtEl>
                                        <p:attrNameLst>
                                          <p:attrName>style.visibility</p:attrName>
                                        </p:attrNameLst>
                                      </p:cBhvr>
                                      <p:to>
                                        <p:strVal val="visible"/>
                                      </p:to>
                                    </p:set>
                                    <p:animEffect transition="in" filter="box(in)">
                                      <p:cBhvr>
                                        <p:cTn id="12" dur="1000"/>
                                        <p:tgtEl>
                                          <p:spTgt spid="36454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4551"/>
                                        </p:tgtEl>
                                        <p:attrNameLst>
                                          <p:attrName>style.visibility</p:attrName>
                                        </p:attrNameLst>
                                      </p:cBhvr>
                                      <p:to>
                                        <p:strVal val="visible"/>
                                      </p:to>
                                    </p:set>
                                    <p:animEffect transition="in" filter="box(in)">
                                      <p:cBhvr>
                                        <p:cTn id="17" dur="1000"/>
                                        <p:tgtEl>
                                          <p:spTgt spid="364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48" grpId="0"/>
      <p:bldP spid="364549"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0F22474-1498-8136-8A9A-B4822F13A8D9}"/>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3795" name="Rectangle 4">
            <a:extLst>
              <a:ext uri="{FF2B5EF4-FFF2-40B4-BE49-F238E27FC236}">
                <a16:creationId xmlns:a16="http://schemas.microsoft.com/office/drawing/2014/main" id="{48A7E3A0-88B0-FEC9-46F7-DC634315FB3A}"/>
              </a:ext>
            </a:extLst>
          </p:cNvPr>
          <p:cNvSpPr>
            <a:spLocks noChangeArrowheads="1"/>
          </p:cNvSpPr>
          <p:nvPr/>
        </p:nvSpPr>
        <p:spPr bwMode="auto">
          <a:xfrm>
            <a:off x="57150" y="830263"/>
            <a:ext cx="26590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Từ khóa this</a:t>
            </a:r>
          </a:p>
        </p:txBody>
      </p:sp>
      <p:sp>
        <p:nvSpPr>
          <p:cNvPr id="386053" name="Rectangle 5">
            <a:extLst>
              <a:ext uri="{FF2B5EF4-FFF2-40B4-BE49-F238E27FC236}">
                <a16:creationId xmlns:a16="http://schemas.microsoft.com/office/drawing/2014/main" id="{C9BF0C0D-85D6-FAD6-17E4-156017552E74}"/>
              </a:ext>
            </a:extLst>
          </p:cNvPr>
          <p:cNvSpPr>
            <a:spLocks noChangeArrowheads="1"/>
          </p:cNvSpPr>
          <p:nvPr/>
        </p:nvSpPr>
        <p:spPr bwMode="auto">
          <a:xfrm>
            <a:off x="538163" y="1514475"/>
            <a:ext cx="83058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Từ khóa </a:t>
            </a:r>
            <a:r>
              <a:rPr kumimoji="0" lang="en-US" altLang="en-US" sz="2400" b="1" i="0" u="none" strike="noStrike" kern="1200" cap="none" spc="0" normalizeH="0" baseline="0" noProof="0">
                <a:ln>
                  <a:noFill/>
                </a:ln>
                <a:solidFill>
                  <a:srgbClr val="000066"/>
                </a:solidFill>
                <a:effectLst/>
                <a:uLnTx/>
                <a:uFillTx/>
                <a:latin typeface="Verdana" panose="020B0604030504040204" pitchFamily="34" charset="0"/>
                <a:ea typeface="+mn-ea"/>
                <a:cs typeface="+mn-cs"/>
              </a:rPr>
              <a:t>this</a:t>
            </a: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 được dùng để tham chiếu đến thể hiện hiện hành của một đối tượng.</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a:t>
            </a:r>
          </a:p>
        </p:txBody>
      </p:sp>
      <p:sp>
        <p:nvSpPr>
          <p:cNvPr id="386054" name="Rectangle 6">
            <a:extLst>
              <a:ext uri="{FF2B5EF4-FFF2-40B4-BE49-F238E27FC236}">
                <a16:creationId xmlns:a16="http://schemas.microsoft.com/office/drawing/2014/main" id="{35AECCCE-222E-7EF4-ABA2-C3BD9480083C}"/>
              </a:ext>
            </a:extLst>
          </p:cNvPr>
          <p:cNvSpPr>
            <a:spLocks noChangeArrowheads="1"/>
          </p:cNvSpPr>
          <p:nvPr/>
        </p:nvSpPr>
        <p:spPr bwMode="auto">
          <a:xfrm>
            <a:off x="561975" y="2557463"/>
            <a:ext cx="8458200" cy="142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Tham chiếu </a:t>
            </a:r>
            <a:r>
              <a:rPr kumimoji="0" lang="en-US" altLang="en-US" sz="2400" b="1" i="0" u="none" strike="noStrike" kern="1200" cap="none" spc="0" normalizeH="0" baseline="0" noProof="0">
                <a:ln>
                  <a:noFill/>
                </a:ln>
                <a:solidFill>
                  <a:srgbClr val="990000"/>
                </a:solidFill>
                <a:effectLst/>
                <a:uLnTx/>
                <a:uFillTx/>
                <a:latin typeface="Verdana" panose="020B0604030504040204" pitchFamily="34" charset="0"/>
                <a:ea typeface="+mn-ea"/>
                <a:cs typeface="+mn-cs"/>
              </a:rPr>
              <a:t>this </a:t>
            </a: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này được xem là con trỏ ẩn đến tất cả các phương thức không có thuộc tính tĩnh trong</a:t>
            </a:r>
          </a:p>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một lớp.</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a:t>
            </a:r>
          </a:p>
        </p:txBody>
      </p:sp>
      <p:sp>
        <p:nvSpPr>
          <p:cNvPr id="386055" name="Rectangle 7">
            <a:extLst>
              <a:ext uri="{FF2B5EF4-FFF2-40B4-BE49-F238E27FC236}">
                <a16:creationId xmlns:a16="http://schemas.microsoft.com/office/drawing/2014/main" id="{EA8920CD-C6F2-9020-DE38-5A5088B0ADF3}"/>
              </a:ext>
            </a:extLst>
          </p:cNvPr>
          <p:cNvSpPr>
            <a:spLocks noChangeArrowheads="1"/>
          </p:cNvSpPr>
          <p:nvPr/>
        </p:nvSpPr>
        <p:spPr bwMode="auto">
          <a:xfrm>
            <a:off x="547688" y="4005263"/>
            <a:ext cx="8696325"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6600"/>
                </a:solidFill>
                <a:effectLst/>
                <a:uLnTx/>
                <a:uFillTx/>
                <a:latin typeface="Verdana" panose="020B0604030504040204" pitchFamily="34" charset="0"/>
                <a:ea typeface="+mn-ea"/>
                <a:cs typeface="+mn-cs"/>
              </a:rPr>
              <a:t>Mỗi phương thức có thể tham chiếu đến những phương thức khác và các biến thành viên thông qua tham chiếu </a:t>
            </a:r>
            <a:r>
              <a:rPr kumimoji="0" lang="en-US" altLang="en-US" sz="2400" b="1" i="0" u="none" strike="noStrike" kern="1200" cap="none" spc="0" normalizeH="0" baseline="0" noProof="0">
                <a:ln>
                  <a:noFill/>
                </a:ln>
                <a:solidFill>
                  <a:srgbClr val="006600"/>
                </a:solidFill>
                <a:effectLst/>
                <a:uLnTx/>
                <a:uFillTx/>
                <a:latin typeface="Verdana" panose="020B0604030504040204" pitchFamily="34" charset="0"/>
                <a:ea typeface="+mn-ea"/>
                <a:cs typeface="+mn-cs"/>
              </a:rPr>
              <a:t>this </a:t>
            </a:r>
            <a:r>
              <a:rPr kumimoji="0" lang="en-US" altLang="en-US" sz="2400" b="0" i="0" u="none" strike="noStrike" kern="1200" cap="none" spc="0" normalizeH="0" baseline="0" noProof="0">
                <a:ln>
                  <a:noFill/>
                </a:ln>
                <a:solidFill>
                  <a:srgbClr val="006600"/>
                </a:solidFill>
                <a:effectLst/>
                <a:uLnTx/>
                <a:uFillTx/>
                <a:latin typeface="Verdana" panose="020B0604030504040204" pitchFamily="34" charset="0"/>
                <a:ea typeface="+mn-ea"/>
                <a:cs typeface="+mn-cs"/>
              </a:rPr>
              <a:t>này.</a:t>
            </a:r>
          </a:p>
        </p:txBody>
      </p:sp>
      <p:sp>
        <p:nvSpPr>
          <p:cNvPr id="386058" name="Rectangle 10">
            <a:extLst>
              <a:ext uri="{FF2B5EF4-FFF2-40B4-BE49-F238E27FC236}">
                <a16:creationId xmlns:a16="http://schemas.microsoft.com/office/drawing/2014/main" id="{2DD6FBCC-3273-E264-3DEA-A1EF43C6189A}"/>
              </a:ext>
            </a:extLst>
          </p:cNvPr>
          <p:cNvSpPr>
            <a:spLocks noChangeArrowheads="1"/>
          </p:cNvSpPr>
          <p:nvPr/>
        </p:nvSpPr>
        <p:spPr bwMode="auto">
          <a:xfrm>
            <a:off x="523875" y="5538788"/>
            <a:ext cx="86201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CC0099"/>
                </a:solidFill>
                <a:effectLst/>
                <a:uLnTx/>
                <a:uFillTx/>
                <a:latin typeface="Verdana" panose="020B0604030504040204" pitchFamily="34" charset="0"/>
                <a:ea typeface="+mn-ea"/>
                <a:cs typeface="+mn-cs"/>
              </a:rPr>
              <a:t>Tham chiếu </a:t>
            </a:r>
            <a:r>
              <a:rPr kumimoji="0" lang="en-US" altLang="en-US" sz="2400" b="1" i="0" u="none" strike="noStrike" kern="1200" cap="none" spc="0" normalizeH="0" baseline="0" noProof="0">
                <a:ln>
                  <a:noFill/>
                </a:ln>
                <a:solidFill>
                  <a:srgbClr val="CC0099"/>
                </a:solidFill>
                <a:effectLst/>
                <a:uLnTx/>
                <a:uFillTx/>
                <a:latin typeface="Verdana" panose="020B0604030504040204" pitchFamily="34" charset="0"/>
                <a:ea typeface="+mn-ea"/>
                <a:cs typeface="+mn-cs"/>
              </a:rPr>
              <a:t>this </a:t>
            </a:r>
            <a:r>
              <a:rPr kumimoji="0" lang="en-US" altLang="en-US" sz="2400" b="0" i="0" u="none" strike="noStrike" kern="1200" cap="none" spc="0" normalizeH="0" baseline="0" noProof="0">
                <a:ln>
                  <a:noFill/>
                </a:ln>
                <a:solidFill>
                  <a:srgbClr val="CC0099"/>
                </a:solidFill>
                <a:effectLst/>
                <a:uLnTx/>
                <a:uFillTx/>
                <a:latin typeface="Verdana" panose="020B0604030504040204" pitchFamily="34" charset="0"/>
                <a:ea typeface="+mn-ea"/>
                <a:cs typeface="+mn-cs"/>
              </a:rPr>
              <a:t>này được sử dụng thường xuyên theo ba cách</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6053"/>
                                        </p:tgtEl>
                                        <p:attrNameLst>
                                          <p:attrName>style.visibility</p:attrName>
                                        </p:attrNameLst>
                                      </p:cBhvr>
                                      <p:to>
                                        <p:strVal val="visible"/>
                                      </p:to>
                                    </p:set>
                                    <p:animEffect transition="in" filter="box(in)">
                                      <p:cBhvr>
                                        <p:cTn id="7" dur="1000"/>
                                        <p:tgtEl>
                                          <p:spTgt spid="3860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6054"/>
                                        </p:tgtEl>
                                        <p:attrNameLst>
                                          <p:attrName>style.visibility</p:attrName>
                                        </p:attrNameLst>
                                      </p:cBhvr>
                                      <p:to>
                                        <p:strVal val="visible"/>
                                      </p:to>
                                    </p:set>
                                    <p:animEffect transition="in" filter="box(in)">
                                      <p:cBhvr>
                                        <p:cTn id="12" dur="1000"/>
                                        <p:tgtEl>
                                          <p:spTgt spid="3860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6055"/>
                                        </p:tgtEl>
                                        <p:attrNameLst>
                                          <p:attrName>style.visibility</p:attrName>
                                        </p:attrNameLst>
                                      </p:cBhvr>
                                      <p:to>
                                        <p:strVal val="visible"/>
                                      </p:to>
                                    </p:set>
                                    <p:animEffect transition="in" filter="box(in)">
                                      <p:cBhvr>
                                        <p:cTn id="17" dur="1000"/>
                                        <p:tgtEl>
                                          <p:spTgt spid="3860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86058">
                                            <p:txEl>
                                              <p:pRg st="0" end="0"/>
                                            </p:txEl>
                                          </p:spTgt>
                                        </p:tgtEl>
                                        <p:attrNameLst>
                                          <p:attrName>style.visibility</p:attrName>
                                        </p:attrNameLst>
                                      </p:cBhvr>
                                      <p:to>
                                        <p:strVal val="visible"/>
                                      </p:to>
                                    </p:set>
                                    <p:animEffect transition="in" filter="box(in)">
                                      <p:cBhvr>
                                        <p:cTn id="22" dur="1000"/>
                                        <p:tgtEl>
                                          <p:spTgt spid="3860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3" grpId="0"/>
      <p:bldP spid="386054" grpId="0"/>
      <p:bldP spid="386055"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916C9D6-4BEE-B6A7-FFC1-D15C59119DB7}"/>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85028" name="Rectangle 4">
            <a:extLst>
              <a:ext uri="{FF2B5EF4-FFF2-40B4-BE49-F238E27FC236}">
                <a16:creationId xmlns:a16="http://schemas.microsoft.com/office/drawing/2014/main" id="{9B624DA6-7F21-58E9-BFF2-8A490DDA88C6}"/>
              </a:ext>
            </a:extLst>
          </p:cNvPr>
          <p:cNvSpPr>
            <a:spLocks noChangeArrowheads="1"/>
          </p:cNvSpPr>
          <p:nvPr/>
        </p:nvSpPr>
        <p:spPr bwMode="auto">
          <a:xfrm>
            <a:off x="3919538" y="1709738"/>
            <a:ext cx="4910137"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public void SetYear(int Nam)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	this.Nam = Nam;</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a:t>
            </a:r>
          </a:p>
        </p:txBody>
      </p:sp>
      <p:sp>
        <p:nvSpPr>
          <p:cNvPr id="385029" name="Rectangle 5">
            <a:extLst>
              <a:ext uri="{FF2B5EF4-FFF2-40B4-BE49-F238E27FC236}">
                <a16:creationId xmlns:a16="http://schemas.microsoft.com/office/drawing/2014/main" id="{19EF3157-37FE-455C-0F00-0730BFCAE663}"/>
              </a:ext>
            </a:extLst>
          </p:cNvPr>
          <p:cNvSpPr>
            <a:spLocks noChangeArrowheads="1"/>
          </p:cNvSpPr>
          <p:nvPr/>
        </p:nvSpPr>
        <p:spPr bwMode="auto">
          <a:xfrm>
            <a:off x="438150" y="914400"/>
            <a:ext cx="87058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CC0099"/>
                </a:solidFill>
                <a:effectLst/>
                <a:uLnTx/>
                <a:uFillTx/>
                <a:latin typeface="Verdana" panose="020B0604030504040204" pitchFamily="34" charset="0"/>
                <a:ea typeface="+mn-ea"/>
                <a:cs typeface="+mn-cs"/>
              </a:rPr>
              <a:t>C1: Sử dụng khi các biến thành viên bị che lấp bởi 	tham số đưa vào</a:t>
            </a:r>
          </a:p>
        </p:txBody>
      </p:sp>
      <p:sp>
        <p:nvSpPr>
          <p:cNvPr id="385030" name="Rectangle 6">
            <a:extLst>
              <a:ext uri="{FF2B5EF4-FFF2-40B4-BE49-F238E27FC236}">
                <a16:creationId xmlns:a16="http://schemas.microsoft.com/office/drawing/2014/main" id="{A2FE95FF-BC99-26A8-D792-772A222F4FDB}"/>
              </a:ext>
            </a:extLst>
          </p:cNvPr>
          <p:cNvSpPr>
            <a:spLocks noChangeArrowheads="1"/>
          </p:cNvSpPr>
          <p:nvPr/>
        </p:nvSpPr>
        <p:spPr bwMode="auto">
          <a:xfrm>
            <a:off x="533400" y="3395663"/>
            <a:ext cx="8610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C2: Sử dụng tham chiếu </a:t>
            </a:r>
            <a:r>
              <a:rPr kumimoji="0" lang="en-US" altLang="en-US" sz="2400" b="1" i="0" u="none" strike="noStrike" kern="1200" cap="none" spc="0" normalizeH="0" baseline="0" noProof="0">
                <a:ln>
                  <a:noFill/>
                </a:ln>
                <a:solidFill>
                  <a:srgbClr val="003300"/>
                </a:solidFill>
                <a:effectLst/>
                <a:uLnTx/>
                <a:uFillTx/>
                <a:latin typeface="Verdana" panose="020B0604030504040204" pitchFamily="34" charset="0"/>
                <a:ea typeface="+mn-ea"/>
                <a:cs typeface="+mn-cs"/>
              </a:rPr>
              <a:t>this </a:t>
            </a: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để truyền đối tượng hiện 	hành vào một tham số của một phương thức 	của đối tượng khác</a:t>
            </a:r>
          </a:p>
        </p:txBody>
      </p:sp>
      <p:pic>
        <p:nvPicPr>
          <p:cNvPr id="385031" name="Picture 7">
            <a:extLst>
              <a:ext uri="{FF2B5EF4-FFF2-40B4-BE49-F238E27FC236}">
                <a16:creationId xmlns:a16="http://schemas.microsoft.com/office/drawing/2014/main" id="{11CF2A56-1211-A712-7343-1F27CCC593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4738688"/>
            <a:ext cx="4171950" cy="1600200"/>
          </a:xfrm>
          <a:prstGeom prst="rect">
            <a:avLst/>
          </a:prstGeom>
          <a:noFill/>
          <a:ln w="38100">
            <a:solidFill>
              <a:srgbClr val="0033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5029"/>
                                        </p:tgtEl>
                                        <p:attrNameLst>
                                          <p:attrName>style.visibility</p:attrName>
                                        </p:attrNameLst>
                                      </p:cBhvr>
                                      <p:to>
                                        <p:strVal val="visible"/>
                                      </p:to>
                                    </p:set>
                                    <p:animEffect transition="in" filter="box(in)">
                                      <p:cBhvr>
                                        <p:cTn id="7" dur="1000"/>
                                        <p:tgtEl>
                                          <p:spTgt spid="3850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5028"/>
                                        </p:tgtEl>
                                        <p:attrNameLst>
                                          <p:attrName>style.visibility</p:attrName>
                                        </p:attrNameLst>
                                      </p:cBhvr>
                                      <p:to>
                                        <p:strVal val="visible"/>
                                      </p:to>
                                    </p:set>
                                    <p:animEffect transition="in" filter="box(in)">
                                      <p:cBhvr>
                                        <p:cTn id="12" dur="1000"/>
                                        <p:tgtEl>
                                          <p:spTgt spid="3850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5030"/>
                                        </p:tgtEl>
                                        <p:attrNameLst>
                                          <p:attrName>style.visibility</p:attrName>
                                        </p:attrNameLst>
                                      </p:cBhvr>
                                      <p:to>
                                        <p:strVal val="visible"/>
                                      </p:to>
                                    </p:set>
                                    <p:animEffect transition="in" filter="box(in)">
                                      <p:cBhvr>
                                        <p:cTn id="17" dur="1000"/>
                                        <p:tgtEl>
                                          <p:spTgt spid="3850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85031"/>
                                        </p:tgtEl>
                                        <p:attrNameLst>
                                          <p:attrName>style.visibility</p:attrName>
                                        </p:attrNameLst>
                                      </p:cBhvr>
                                      <p:to>
                                        <p:strVal val="visible"/>
                                      </p:to>
                                    </p:set>
                                    <p:animEffect transition="in" filter="box(in)">
                                      <p:cBhvr>
                                        <p:cTn id="22" dur="1000"/>
                                        <p:tgtEl>
                                          <p:spTgt spid="385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8" grpId="0"/>
      <p:bldP spid="385029" grpId="0"/>
      <p:bldP spid="385030"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FAA11E2B-8FA3-AE99-A656-C68F629BE266}"/>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96292" name="Rectangle 4">
            <a:extLst>
              <a:ext uri="{FF2B5EF4-FFF2-40B4-BE49-F238E27FC236}">
                <a16:creationId xmlns:a16="http://schemas.microsoft.com/office/drawing/2014/main" id="{5A1C66EF-434D-1BAB-5735-981D11ADE1CD}"/>
              </a:ext>
            </a:extLst>
          </p:cNvPr>
          <p:cNvSpPr>
            <a:spLocks noChangeArrowheads="1"/>
          </p:cNvSpPr>
          <p:nvPr/>
        </p:nvSpPr>
        <p:spPr bwMode="auto">
          <a:xfrm>
            <a:off x="304800" y="842963"/>
            <a:ext cx="8501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C3: sử dụng tham chiếu </a:t>
            </a:r>
            <a:r>
              <a:rPr kumimoji="0" lang="en-US" altLang="en-US" sz="2400" b="1" i="0" u="none" strike="noStrike" kern="1200" cap="none" spc="0" normalizeH="0" baseline="0" noProof="0">
                <a:ln>
                  <a:noFill/>
                </a:ln>
                <a:solidFill>
                  <a:srgbClr val="990000"/>
                </a:solidFill>
                <a:effectLst/>
                <a:uLnTx/>
                <a:uFillTx/>
                <a:latin typeface="Verdana" panose="020B0604030504040204" pitchFamily="34" charset="0"/>
                <a:ea typeface="+mn-ea"/>
                <a:cs typeface="+mn-cs"/>
              </a:rPr>
              <a:t>this </a:t>
            </a: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là </a:t>
            </a:r>
            <a:r>
              <a:rPr kumimoji="0" lang="en-US" altLang="en-US" sz="2400" b="0" i="1" u="none" strike="noStrike" kern="1200" cap="none" spc="0" normalizeH="0" baseline="0" noProof="0">
                <a:ln>
                  <a:noFill/>
                </a:ln>
                <a:solidFill>
                  <a:srgbClr val="990000"/>
                </a:solidFill>
                <a:effectLst/>
                <a:uLnTx/>
                <a:uFillTx/>
                <a:latin typeface="Verdana" panose="020B0604030504040204" pitchFamily="34" charset="0"/>
                <a:ea typeface="+mn-ea"/>
                <a:cs typeface="+mn-cs"/>
              </a:rPr>
              <a:t>mảng chỉ mục </a:t>
            </a: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(index)</a:t>
            </a:r>
          </a:p>
        </p:txBody>
      </p:sp>
      <p:pic>
        <p:nvPicPr>
          <p:cNvPr id="396293" name="Picture 5">
            <a:extLst>
              <a:ext uri="{FF2B5EF4-FFF2-40B4-BE49-F238E27FC236}">
                <a16:creationId xmlns:a16="http://schemas.microsoft.com/office/drawing/2014/main" id="{28070301-66BD-AE3A-1C11-BCAE316A24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447800"/>
            <a:ext cx="4833938" cy="4948238"/>
          </a:xfrm>
          <a:prstGeom prst="rect">
            <a:avLst/>
          </a:prstGeom>
          <a:noFill/>
          <a:ln w="38100">
            <a:solidFill>
              <a:srgbClr val="99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6292">
                                            <p:txEl>
                                              <p:pRg st="0" end="0"/>
                                            </p:txEl>
                                          </p:spTgt>
                                        </p:tgtEl>
                                        <p:attrNameLst>
                                          <p:attrName>style.visibility</p:attrName>
                                        </p:attrNameLst>
                                      </p:cBhvr>
                                      <p:to>
                                        <p:strVal val="visible"/>
                                      </p:to>
                                    </p:set>
                                    <p:animEffect transition="in" filter="box(in)">
                                      <p:cBhvr>
                                        <p:cTn id="7" dur="1000"/>
                                        <p:tgtEl>
                                          <p:spTgt spid="39629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6293"/>
                                        </p:tgtEl>
                                        <p:attrNameLst>
                                          <p:attrName>style.visibility</p:attrName>
                                        </p:attrNameLst>
                                      </p:cBhvr>
                                      <p:to>
                                        <p:strVal val="visible"/>
                                      </p:to>
                                    </p:set>
                                    <p:animEffect transition="in" filter="box(in)">
                                      <p:cBhvr>
                                        <p:cTn id="12" dur="1000"/>
                                        <p:tgtEl>
                                          <p:spTgt spid="396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825BA6A3-0DA7-8A53-9294-404ADE7F2DA2}"/>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6867" name="Rectangle 4">
            <a:extLst>
              <a:ext uri="{FF2B5EF4-FFF2-40B4-BE49-F238E27FC236}">
                <a16:creationId xmlns:a16="http://schemas.microsoft.com/office/drawing/2014/main" id="{A0B5DD1A-833C-F0E5-48F0-8311363696A4}"/>
              </a:ext>
            </a:extLst>
          </p:cNvPr>
          <p:cNvSpPr>
            <a:spLocks noChangeArrowheads="1"/>
          </p:cNvSpPr>
          <p:nvPr/>
        </p:nvSpPr>
        <p:spPr bwMode="auto">
          <a:xfrm>
            <a:off x="0" y="777875"/>
            <a:ext cx="84947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6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Sử dụng các thành viên tĩnh (static member)</a:t>
            </a:r>
          </a:p>
        </p:txBody>
      </p:sp>
      <p:sp>
        <p:nvSpPr>
          <p:cNvPr id="397317" name="Rectangle 5">
            <a:extLst>
              <a:ext uri="{FF2B5EF4-FFF2-40B4-BE49-F238E27FC236}">
                <a16:creationId xmlns:a16="http://schemas.microsoft.com/office/drawing/2014/main" id="{BCFABE59-E1C6-67EE-7E8B-1069CEDD3BE3}"/>
              </a:ext>
            </a:extLst>
          </p:cNvPr>
          <p:cNvSpPr>
            <a:spLocks noChangeArrowheads="1"/>
          </p:cNvSpPr>
          <p:nvPr/>
        </p:nvSpPr>
        <p:spPr bwMode="auto">
          <a:xfrm>
            <a:off x="504825" y="1319213"/>
            <a:ext cx="861060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Những thuộc tính và phương thức trong một lớp có thể là những thành viên thể hiện (instance members) hay những thành viên tĩnh (static members).</a:t>
            </a:r>
          </a:p>
        </p:txBody>
      </p:sp>
      <p:sp>
        <p:nvSpPr>
          <p:cNvPr id="397318" name="Rectangle 6">
            <a:extLst>
              <a:ext uri="{FF2B5EF4-FFF2-40B4-BE49-F238E27FC236}">
                <a16:creationId xmlns:a16="http://schemas.microsoft.com/office/drawing/2014/main" id="{F5B98D99-4B24-C71D-2441-8B898DDE7142}"/>
              </a:ext>
            </a:extLst>
          </p:cNvPr>
          <p:cNvSpPr>
            <a:spLocks noChangeArrowheads="1"/>
          </p:cNvSpPr>
          <p:nvPr/>
        </p:nvSpPr>
        <p:spPr bwMode="auto">
          <a:xfrm>
            <a:off x="523875" y="2852738"/>
            <a:ext cx="82296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Những thành viên thể hiện hay thành viên của đối tượng liên quan đến thể hiện của một kiểu dữ liệu.</a:t>
            </a:r>
          </a:p>
        </p:txBody>
      </p:sp>
      <p:sp>
        <p:nvSpPr>
          <p:cNvPr id="397319" name="Rectangle 7">
            <a:extLst>
              <a:ext uri="{FF2B5EF4-FFF2-40B4-BE49-F238E27FC236}">
                <a16:creationId xmlns:a16="http://schemas.microsoft.com/office/drawing/2014/main" id="{8DE218AA-FA32-C9B4-406D-C9AF93B731B2}"/>
              </a:ext>
            </a:extLst>
          </p:cNvPr>
          <p:cNvSpPr>
            <a:spLocks noChangeArrowheads="1"/>
          </p:cNvSpPr>
          <p:nvPr/>
        </p:nvSpPr>
        <p:spPr bwMode="auto">
          <a:xfrm>
            <a:off x="538163" y="3967163"/>
            <a:ext cx="853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Thành viên tĩnh được xem như một phần của lớp.</a:t>
            </a:r>
          </a:p>
        </p:txBody>
      </p:sp>
      <p:sp>
        <p:nvSpPr>
          <p:cNvPr id="397320" name="Rectangle 8">
            <a:extLst>
              <a:ext uri="{FF2B5EF4-FFF2-40B4-BE49-F238E27FC236}">
                <a16:creationId xmlns:a16="http://schemas.microsoft.com/office/drawing/2014/main" id="{3DD88BD1-CA01-27F1-ED28-BF11F4397F78}"/>
              </a:ext>
            </a:extLst>
          </p:cNvPr>
          <p:cNvSpPr>
            <a:spLocks noChangeArrowheads="1"/>
          </p:cNvSpPr>
          <p:nvPr/>
        </p:nvSpPr>
        <p:spPr bwMode="auto">
          <a:xfrm>
            <a:off x="571500" y="4605338"/>
            <a:ext cx="81534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CC0099"/>
                </a:solidFill>
                <a:effectLst/>
                <a:uLnTx/>
                <a:uFillTx/>
                <a:latin typeface="Verdana" panose="020B0604030504040204" pitchFamily="34" charset="0"/>
                <a:ea typeface="+mn-ea"/>
                <a:cs typeface="+mn-cs"/>
              </a:rPr>
              <a:t>Truy cập đến thành viên tĩnh của một lớp thông qua tên lớp đã được khai báo</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7317"/>
                                        </p:tgtEl>
                                        <p:attrNameLst>
                                          <p:attrName>style.visibility</p:attrName>
                                        </p:attrNameLst>
                                      </p:cBhvr>
                                      <p:to>
                                        <p:strVal val="visible"/>
                                      </p:to>
                                    </p:set>
                                    <p:animEffect transition="in" filter="checkerboard(across)">
                                      <p:cBhvr>
                                        <p:cTn id="7" dur="1000"/>
                                        <p:tgtEl>
                                          <p:spTgt spid="3973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7318"/>
                                        </p:tgtEl>
                                        <p:attrNameLst>
                                          <p:attrName>style.visibility</p:attrName>
                                        </p:attrNameLst>
                                      </p:cBhvr>
                                      <p:to>
                                        <p:strVal val="visible"/>
                                      </p:to>
                                    </p:set>
                                    <p:animEffect transition="in" filter="box(in)">
                                      <p:cBhvr>
                                        <p:cTn id="12" dur="1000"/>
                                        <p:tgtEl>
                                          <p:spTgt spid="3973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7319"/>
                                        </p:tgtEl>
                                        <p:attrNameLst>
                                          <p:attrName>style.visibility</p:attrName>
                                        </p:attrNameLst>
                                      </p:cBhvr>
                                      <p:to>
                                        <p:strVal val="visible"/>
                                      </p:to>
                                    </p:set>
                                    <p:animEffect transition="in" filter="box(in)">
                                      <p:cBhvr>
                                        <p:cTn id="17" dur="1000"/>
                                        <p:tgtEl>
                                          <p:spTgt spid="3973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97320"/>
                                        </p:tgtEl>
                                        <p:attrNameLst>
                                          <p:attrName>style.visibility</p:attrName>
                                        </p:attrNameLst>
                                      </p:cBhvr>
                                      <p:to>
                                        <p:strVal val="visible"/>
                                      </p:to>
                                    </p:set>
                                    <p:animEffect transition="in" filter="box(in)">
                                      <p:cBhvr>
                                        <p:cTn id="22" dur="1000"/>
                                        <p:tgtEl>
                                          <p:spTgt spid="397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17" grpId="0"/>
      <p:bldP spid="397318" grpId="0"/>
      <p:bldP spid="397319" grpId="0"/>
      <p:bldP spid="397320" grpId="0"/>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FB0682A-A87D-D445-4C5F-F472C008B14A}"/>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7891" name="Rectangle 4">
            <a:extLst>
              <a:ext uri="{FF2B5EF4-FFF2-40B4-BE49-F238E27FC236}">
                <a16:creationId xmlns:a16="http://schemas.microsoft.com/office/drawing/2014/main" id="{B7611D0F-2754-FB71-4E26-801E00CB8C66}"/>
              </a:ext>
            </a:extLst>
          </p:cNvPr>
          <p:cNvSpPr>
            <a:spLocks noChangeArrowheads="1"/>
          </p:cNvSpPr>
          <p:nvPr/>
        </p:nvSpPr>
        <p:spPr bwMode="auto">
          <a:xfrm>
            <a:off x="90488" y="792163"/>
            <a:ext cx="52895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Gọi một phương thức</a:t>
            </a:r>
            <a:r>
              <a:rPr kumimoji="0" lang="en-US" altLang="en-US" sz="24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 </a:t>
            </a: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tĩnh</a:t>
            </a:r>
          </a:p>
        </p:txBody>
      </p:sp>
      <p:sp>
        <p:nvSpPr>
          <p:cNvPr id="398341" name="Rectangle 5">
            <a:extLst>
              <a:ext uri="{FF2B5EF4-FFF2-40B4-BE49-F238E27FC236}">
                <a16:creationId xmlns:a16="http://schemas.microsoft.com/office/drawing/2014/main" id="{4AA5277F-5C42-AB09-0B34-145BE501B9EC}"/>
              </a:ext>
            </a:extLst>
          </p:cNvPr>
          <p:cNvSpPr>
            <a:spLocks noChangeArrowheads="1"/>
          </p:cNvSpPr>
          <p:nvPr/>
        </p:nvSpPr>
        <p:spPr bwMode="auto">
          <a:xfrm>
            <a:off x="623888" y="1319213"/>
            <a:ext cx="83058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Phương thức tĩnh không thể truy cập trực tiếp đến các thành viên không có tính chất tĩnh (nonstatic).</a:t>
            </a:r>
          </a:p>
        </p:txBody>
      </p:sp>
      <p:pic>
        <p:nvPicPr>
          <p:cNvPr id="398342" name="Picture 6">
            <a:extLst>
              <a:ext uri="{FF2B5EF4-FFF2-40B4-BE49-F238E27FC236}">
                <a16:creationId xmlns:a16="http://schemas.microsoft.com/office/drawing/2014/main" id="{4AE43A15-8158-4BC5-1F26-EAF5DB9E36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438400"/>
            <a:ext cx="6553200" cy="3952875"/>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grpSp>
        <p:nvGrpSpPr>
          <p:cNvPr id="398345" name="Group 9">
            <a:extLst>
              <a:ext uri="{FF2B5EF4-FFF2-40B4-BE49-F238E27FC236}">
                <a16:creationId xmlns:a16="http://schemas.microsoft.com/office/drawing/2014/main" id="{E36B636C-3CC5-7343-3D9D-9490E22E55D5}"/>
              </a:ext>
            </a:extLst>
          </p:cNvPr>
          <p:cNvGrpSpPr>
            <a:grpSpLocks/>
          </p:cNvGrpSpPr>
          <p:nvPr/>
        </p:nvGrpSpPr>
        <p:grpSpPr bwMode="auto">
          <a:xfrm>
            <a:off x="4648200" y="5334000"/>
            <a:ext cx="3810000" cy="581025"/>
            <a:chOff x="2928" y="3360"/>
            <a:chExt cx="2400" cy="366"/>
          </a:xfrm>
        </p:grpSpPr>
        <p:sp>
          <p:nvSpPr>
            <p:cNvPr id="37895" name="Line 7">
              <a:extLst>
                <a:ext uri="{FF2B5EF4-FFF2-40B4-BE49-F238E27FC236}">
                  <a16:creationId xmlns:a16="http://schemas.microsoft.com/office/drawing/2014/main" id="{91B253A7-8502-41B4-ED14-959A056C86BF}"/>
                </a:ext>
              </a:extLst>
            </p:cNvPr>
            <p:cNvSpPr>
              <a:spLocks noChangeShapeType="1"/>
            </p:cNvSpPr>
            <p:nvPr/>
          </p:nvSpPr>
          <p:spPr bwMode="auto">
            <a:xfrm>
              <a:off x="2928" y="3504"/>
              <a:ext cx="432" cy="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sp>
          <p:nvSpPr>
            <p:cNvPr id="37896" name="Text Box 8">
              <a:extLst>
                <a:ext uri="{FF2B5EF4-FFF2-40B4-BE49-F238E27FC236}">
                  <a16:creationId xmlns:a16="http://schemas.microsoft.com/office/drawing/2014/main" id="{6BB3845C-6165-5E25-0B54-4C6B3B1B96F5}"/>
                </a:ext>
              </a:extLst>
            </p:cNvPr>
            <p:cNvSpPr txBox="1">
              <a:spLocks noChangeArrowheads="1"/>
            </p:cNvSpPr>
            <p:nvPr/>
          </p:nvSpPr>
          <p:spPr bwMode="auto">
            <a:xfrm>
              <a:off x="3408" y="3360"/>
              <a:ext cx="1920"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16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khởi tạo lớp để truy cập phương thức nonstatic</a:t>
              </a:r>
            </a:p>
          </p:txBody>
        </p:sp>
      </p:gr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8341"/>
                                        </p:tgtEl>
                                        <p:attrNameLst>
                                          <p:attrName>style.visibility</p:attrName>
                                        </p:attrNameLst>
                                      </p:cBhvr>
                                      <p:to>
                                        <p:strVal val="visible"/>
                                      </p:to>
                                    </p:set>
                                    <p:animEffect transition="in" filter="box(in)">
                                      <p:cBhvr>
                                        <p:cTn id="7" dur="1000"/>
                                        <p:tgtEl>
                                          <p:spTgt spid="3983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98342"/>
                                        </p:tgtEl>
                                        <p:attrNameLst>
                                          <p:attrName>style.visibility</p:attrName>
                                        </p:attrNameLst>
                                      </p:cBhvr>
                                      <p:to>
                                        <p:strVal val="visible"/>
                                      </p:to>
                                    </p:set>
                                    <p:animEffect transition="in" filter="box(in)">
                                      <p:cBhvr>
                                        <p:cTn id="12" dur="1000"/>
                                        <p:tgtEl>
                                          <p:spTgt spid="3983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98345"/>
                                        </p:tgtEl>
                                        <p:attrNameLst>
                                          <p:attrName>style.visibility</p:attrName>
                                        </p:attrNameLst>
                                      </p:cBhvr>
                                      <p:to>
                                        <p:strVal val="visible"/>
                                      </p:to>
                                    </p:set>
                                    <p:animEffect transition="in" filter="box(in)">
                                      <p:cBhvr>
                                        <p:cTn id="17" dur="1000"/>
                                        <p:tgtEl>
                                          <p:spTgt spid="398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1"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86512F3-FB01-02D8-8DDD-083D129E5DE6}"/>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399364" name="Picture 4">
            <a:extLst>
              <a:ext uri="{FF2B5EF4-FFF2-40B4-BE49-F238E27FC236}">
                <a16:creationId xmlns:a16="http://schemas.microsoft.com/office/drawing/2014/main" id="{220A9073-C86C-DE91-846C-E51433499D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 y="852488"/>
            <a:ext cx="8686800" cy="5562600"/>
          </a:xfrm>
          <a:prstGeom prst="rect">
            <a:avLst/>
          </a:prstGeom>
          <a:noFill/>
          <a:ln w="38100">
            <a:solidFill>
              <a:srgbClr val="99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99364"/>
                                        </p:tgtEl>
                                        <p:attrNameLst>
                                          <p:attrName>style.visibility</p:attrName>
                                        </p:attrNameLst>
                                      </p:cBhvr>
                                      <p:to>
                                        <p:strVal val="visible"/>
                                      </p:to>
                                    </p:set>
                                    <p:animEffect transition="in" filter="box(in)">
                                      <p:cBhvr>
                                        <p:cTn id="7" dur="1000"/>
                                        <p:tgtEl>
                                          <p:spTgt spid="399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734FB561-FADF-D283-933D-8495CCFF32CE}"/>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400388" name="Picture 4">
            <a:extLst>
              <a:ext uri="{FF2B5EF4-FFF2-40B4-BE49-F238E27FC236}">
                <a16:creationId xmlns:a16="http://schemas.microsoft.com/office/drawing/2014/main" id="{F9964749-62AE-0530-DB41-2E218471D8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838200"/>
            <a:ext cx="4724400" cy="5562600"/>
          </a:xfrm>
          <a:prstGeom prst="rect">
            <a:avLst/>
          </a:prstGeom>
          <a:noFill/>
          <a:ln w="38100">
            <a:solidFill>
              <a:srgbClr val="990000"/>
            </a:solidFill>
            <a:miter lim="800000"/>
            <a:headEnd/>
            <a:tailEnd/>
          </a:ln>
          <a:extLst>
            <a:ext uri="{909E8E84-426E-40DD-AFC4-6F175D3DCCD1}">
              <a14:hiddenFill xmlns:a14="http://schemas.microsoft.com/office/drawing/2010/main">
                <a:solidFill>
                  <a:srgbClr val="FFFFFF"/>
                </a:solidFill>
              </a14:hiddenFill>
            </a:ext>
          </a:extLst>
        </p:spPr>
      </p:pic>
      <p:pic>
        <p:nvPicPr>
          <p:cNvPr id="400389" name="Picture 5">
            <a:extLst>
              <a:ext uri="{FF2B5EF4-FFF2-40B4-BE49-F238E27FC236}">
                <a16:creationId xmlns:a16="http://schemas.microsoft.com/office/drawing/2014/main" id="{24F60761-2BF2-2F74-008E-B8422C6180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838200"/>
            <a:ext cx="3810000" cy="1800225"/>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400390" name="Picture 6">
            <a:extLst>
              <a:ext uri="{FF2B5EF4-FFF2-40B4-BE49-F238E27FC236}">
                <a16:creationId xmlns:a16="http://schemas.microsoft.com/office/drawing/2014/main" id="{244129E8-D48A-34C6-FB52-A2D33EC08F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7375" y="2928938"/>
            <a:ext cx="2971800" cy="3276600"/>
          </a:xfrm>
          <a:prstGeom prst="rect">
            <a:avLst/>
          </a:prstGeom>
          <a:noFill/>
          <a:ln w="38100">
            <a:solidFill>
              <a:srgbClr val="CC0099"/>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0388"/>
                                        </p:tgtEl>
                                        <p:attrNameLst>
                                          <p:attrName>style.visibility</p:attrName>
                                        </p:attrNameLst>
                                      </p:cBhvr>
                                      <p:to>
                                        <p:strVal val="visible"/>
                                      </p:to>
                                    </p:set>
                                    <p:animEffect transition="in" filter="box(in)">
                                      <p:cBhvr>
                                        <p:cTn id="7" dur="1000"/>
                                        <p:tgtEl>
                                          <p:spTgt spid="4003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0389"/>
                                        </p:tgtEl>
                                        <p:attrNameLst>
                                          <p:attrName>style.visibility</p:attrName>
                                        </p:attrNameLst>
                                      </p:cBhvr>
                                      <p:to>
                                        <p:strVal val="visible"/>
                                      </p:to>
                                    </p:set>
                                    <p:animEffect transition="in" filter="box(in)">
                                      <p:cBhvr>
                                        <p:cTn id="12" dur="1000"/>
                                        <p:tgtEl>
                                          <p:spTgt spid="4003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0390"/>
                                        </p:tgtEl>
                                        <p:attrNameLst>
                                          <p:attrName>style.visibility</p:attrName>
                                        </p:attrNameLst>
                                      </p:cBhvr>
                                      <p:to>
                                        <p:strVal val="visible"/>
                                      </p:to>
                                    </p:set>
                                    <p:animEffect transition="in" filter="box(in)">
                                      <p:cBhvr>
                                        <p:cTn id="17" dur="1000"/>
                                        <p:tgtEl>
                                          <p:spTgt spid="400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025E9CF5-4B3C-CBEB-9CE4-7D39C7F163F5}"/>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40963" name="Rectangle 3">
            <a:extLst>
              <a:ext uri="{FF2B5EF4-FFF2-40B4-BE49-F238E27FC236}">
                <a16:creationId xmlns:a16="http://schemas.microsoft.com/office/drawing/2014/main" id="{91081276-E067-E326-56A0-73FE6A6EF0DE}"/>
              </a:ext>
            </a:extLst>
          </p:cNvPr>
          <p:cNvSpPr>
            <a:spLocks noGrp="1" noChangeArrowheads="1"/>
          </p:cNvSpPr>
          <p:nvPr>
            <p:ph type="body" idx="1"/>
          </p:nvPr>
        </p:nvSpPr>
        <p:spPr bwMode="auto">
          <a:xfrm>
            <a:off x="457200" y="1600200"/>
            <a:ext cx="8229600" cy="4525963"/>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endParaRPr lang="en-US" altLang="en-US"/>
          </a:p>
        </p:txBody>
      </p:sp>
    </p:spTree>
  </p:cSld>
  <p:clrMapOvr>
    <a:masterClrMapping/>
  </p:clrMapOvr>
  <p:transition advTm="6000"/>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5C79973-8731-1F1A-9980-88D3789263F4}"/>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41987" name="Rectangle 4">
            <a:extLst>
              <a:ext uri="{FF2B5EF4-FFF2-40B4-BE49-F238E27FC236}">
                <a16:creationId xmlns:a16="http://schemas.microsoft.com/office/drawing/2014/main" id="{5AD28889-1285-BC9F-0596-FD9D7D6591D6}"/>
              </a:ext>
            </a:extLst>
          </p:cNvPr>
          <p:cNvSpPr>
            <a:spLocks noChangeArrowheads="1"/>
          </p:cNvSpPr>
          <p:nvPr/>
        </p:nvSpPr>
        <p:spPr bwMode="auto">
          <a:xfrm>
            <a:off x="100013" y="787400"/>
            <a:ext cx="30019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Hủy đối tượng</a:t>
            </a:r>
          </a:p>
        </p:txBody>
      </p:sp>
      <p:sp>
        <p:nvSpPr>
          <p:cNvPr id="365573" name="Rectangle 5">
            <a:extLst>
              <a:ext uri="{FF2B5EF4-FFF2-40B4-BE49-F238E27FC236}">
                <a16:creationId xmlns:a16="http://schemas.microsoft.com/office/drawing/2014/main" id="{22968120-287E-1023-5EB5-A7568A245882}"/>
              </a:ext>
            </a:extLst>
          </p:cNvPr>
          <p:cNvSpPr>
            <a:spLocks noChangeArrowheads="1"/>
          </p:cNvSpPr>
          <p:nvPr/>
        </p:nvSpPr>
        <p:spPr bwMode="auto">
          <a:xfrm>
            <a:off x="533400" y="1352550"/>
            <a:ext cx="83820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Ngôn ngữ C# cung cấp cơ chế thu dọn</a:t>
            </a:r>
            <a:r>
              <a:rPr kumimoji="0" lang="en-US" altLang="en-US" sz="2400" b="0" i="1" u="none" strike="noStrike" kern="1200" cap="none" spc="0" normalizeH="0" baseline="0" noProof="0">
                <a:ln>
                  <a:noFill/>
                </a:ln>
                <a:solidFill>
                  <a:srgbClr val="000066"/>
                </a:solidFill>
                <a:effectLst/>
                <a:uLnTx/>
                <a:uFillTx/>
                <a:latin typeface="Verdana" panose="020B0604030504040204" pitchFamily="34" charset="0"/>
                <a:ea typeface="+mn-ea"/>
                <a:cs typeface="+mn-cs"/>
              </a:rPr>
              <a:t> </a:t>
            </a: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(garbage collection) và do vậy không cần phải khai báo tường minh các phương thức hủy. Tuy nhiên, khi làm việc với các đoạn mã không được quản lý thì cần phải khai báo tường minh các phương thức hủy để giải phóng các tài nguyên.</a:t>
            </a:r>
          </a:p>
        </p:txBody>
      </p:sp>
      <p:sp>
        <p:nvSpPr>
          <p:cNvPr id="365574" name="Rectangle 6">
            <a:extLst>
              <a:ext uri="{FF2B5EF4-FFF2-40B4-BE49-F238E27FC236}">
                <a16:creationId xmlns:a16="http://schemas.microsoft.com/office/drawing/2014/main" id="{9856B5A5-3E9E-6739-719E-CCC76344E052}"/>
              </a:ext>
            </a:extLst>
          </p:cNvPr>
          <p:cNvSpPr>
            <a:spLocks noChangeArrowheads="1"/>
          </p:cNvSpPr>
          <p:nvPr/>
        </p:nvSpPr>
        <p:spPr bwMode="auto">
          <a:xfrm>
            <a:off x="523875" y="3709988"/>
            <a:ext cx="83058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C# cung cấp ngầm định một phương thức để thực hiện điều khiển công việc này, phương thức đó là Finalize() hay còn gọi là bộ kết thúc.</a:t>
            </a:r>
          </a:p>
        </p:txBody>
      </p:sp>
      <p:sp>
        <p:nvSpPr>
          <p:cNvPr id="365575" name="Rectangle 7">
            <a:extLst>
              <a:ext uri="{FF2B5EF4-FFF2-40B4-BE49-F238E27FC236}">
                <a16:creationId xmlns:a16="http://schemas.microsoft.com/office/drawing/2014/main" id="{CF752A0E-27CE-A077-A1D7-45CA5A4E7447}"/>
              </a:ext>
            </a:extLst>
          </p:cNvPr>
          <p:cNvSpPr>
            <a:spLocks noChangeArrowheads="1"/>
          </p:cNvSpPr>
          <p:nvPr/>
        </p:nvSpPr>
        <p:spPr bwMode="auto">
          <a:xfrm>
            <a:off x="523875" y="5091113"/>
            <a:ext cx="8534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Phương thức kết thúc chỉ giải phóng các tài nguyên mà đối tượng nắm giữ, và không tham chiếu đến các đối tượng khác.</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5573"/>
                                        </p:tgtEl>
                                        <p:attrNameLst>
                                          <p:attrName>style.visibility</p:attrName>
                                        </p:attrNameLst>
                                      </p:cBhvr>
                                      <p:to>
                                        <p:strVal val="visible"/>
                                      </p:to>
                                    </p:set>
                                    <p:animEffect transition="in" filter="box(in)">
                                      <p:cBhvr>
                                        <p:cTn id="7" dur="1000"/>
                                        <p:tgtEl>
                                          <p:spTgt spid="3655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5574"/>
                                        </p:tgtEl>
                                        <p:attrNameLst>
                                          <p:attrName>style.visibility</p:attrName>
                                        </p:attrNameLst>
                                      </p:cBhvr>
                                      <p:to>
                                        <p:strVal val="visible"/>
                                      </p:to>
                                    </p:set>
                                    <p:animEffect transition="in" filter="box(in)">
                                      <p:cBhvr>
                                        <p:cTn id="12" dur="1000"/>
                                        <p:tgtEl>
                                          <p:spTgt spid="36557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5575"/>
                                        </p:tgtEl>
                                        <p:attrNameLst>
                                          <p:attrName>style.visibility</p:attrName>
                                        </p:attrNameLst>
                                      </p:cBhvr>
                                      <p:to>
                                        <p:strVal val="visible"/>
                                      </p:to>
                                    </p:set>
                                    <p:animEffect transition="in" filter="box(in)">
                                      <p:cBhvr>
                                        <p:cTn id="17" dur="1000"/>
                                        <p:tgtEl>
                                          <p:spTgt spid="3655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573" grpId="0"/>
      <p:bldP spid="365574" grpId="0"/>
      <p:bldP spid="365575"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1C2D6AC9-1E53-D00B-CBB0-6EFF8E3E43D1}"/>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366596" name="Picture 4">
            <a:extLst>
              <a:ext uri="{FF2B5EF4-FFF2-40B4-BE49-F238E27FC236}">
                <a16:creationId xmlns:a16="http://schemas.microsoft.com/office/drawing/2014/main" id="{A2763156-7448-5636-ED90-F00D118FB5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14400"/>
            <a:ext cx="8229600" cy="31242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366597" name="Rectangle 5">
            <a:extLst>
              <a:ext uri="{FF2B5EF4-FFF2-40B4-BE49-F238E27FC236}">
                <a16:creationId xmlns:a16="http://schemas.microsoft.com/office/drawing/2014/main" id="{2808804A-B775-2707-3272-ED6DC78A54A4}"/>
              </a:ext>
            </a:extLst>
          </p:cNvPr>
          <p:cNvSpPr>
            <a:spLocks noChangeArrowheads="1"/>
          </p:cNvSpPr>
          <p:nvPr/>
        </p:nvSpPr>
        <p:spPr bwMode="auto">
          <a:xfrm>
            <a:off x="295275" y="4214813"/>
            <a:ext cx="3805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Phương thức Dispose</a:t>
            </a:r>
          </a:p>
        </p:txBody>
      </p:sp>
      <p:sp>
        <p:nvSpPr>
          <p:cNvPr id="366598" name="Rectangle 6">
            <a:extLst>
              <a:ext uri="{FF2B5EF4-FFF2-40B4-BE49-F238E27FC236}">
                <a16:creationId xmlns:a16="http://schemas.microsoft.com/office/drawing/2014/main" id="{AB251F61-9AB4-9B6D-406C-556DDBE8FC99}"/>
              </a:ext>
            </a:extLst>
          </p:cNvPr>
          <p:cNvSpPr>
            <a:spLocks noChangeArrowheads="1"/>
          </p:cNvSpPr>
          <p:nvPr/>
        </p:nvSpPr>
        <p:spPr bwMode="auto">
          <a:xfrm>
            <a:off x="490538" y="4791075"/>
            <a:ext cx="8458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Ý nghĩa của phương thức Dispose là cho phép chương trình thực hiện các công việc dọn dẹp hay giải phóng tài nguyên mong muốn mà không phải chờ cho đến khi phương thức Finalize() được gọi.</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6596"/>
                                        </p:tgtEl>
                                        <p:attrNameLst>
                                          <p:attrName>style.visibility</p:attrName>
                                        </p:attrNameLst>
                                      </p:cBhvr>
                                      <p:to>
                                        <p:strVal val="visible"/>
                                      </p:to>
                                    </p:set>
                                    <p:animEffect transition="in" filter="box(in)">
                                      <p:cBhvr>
                                        <p:cTn id="7" dur="1000"/>
                                        <p:tgtEl>
                                          <p:spTgt spid="3665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6597"/>
                                        </p:tgtEl>
                                        <p:attrNameLst>
                                          <p:attrName>style.visibility</p:attrName>
                                        </p:attrNameLst>
                                      </p:cBhvr>
                                      <p:to>
                                        <p:strVal val="visible"/>
                                      </p:to>
                                    </p:set>
                                    <p:animEffect transition="in" filter="box(in)">
                                      <p:cBhvr>
                                        <p:cTn id="12" dur="1000"/>
                                        <p:tgtEl>
                                          <p:spTgt spid="36659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6598"/>
                                        </p:tgtEl>
                                        <p:attrNameLst>
                                          <p:attrName>style.visibility</p:attrName>
                                        </p:attrNameLst>
                                      </p:cBhvr>
                                      <p:to>
                                        <p:strVal val="visible"/>
                                      </p:to>
                                    </p:set>
                                    <p:animEffect transition="in" filter="box(in)">
                                      <p:cBhvr>
                                        <p:cTn id="17" dur="1000"/>
                                        <p:tgtEl>
                                          <p:spTgt spid="366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7" grpId="0"/>
      <p:bldP spid="366598"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C0C25EA-F70C-1B06-EB4F-2863484885F4}"/>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67620" name="Rectangle 4">
            <a:extLst>
              <a:ext uri="{FF2B5EF4-FFF2-40B4-BE49-F238E27FC236}">
                <a16:creationId xmlns:a16="http://schemas.microsoft.com/office/drawing/2014/main" id="{0B666ADA-7171-91AE-5566-5F1CE9865A67}"/>
              </a:ext>
            </a:extLst>
          </p:cNvPr>
          <p:cNvSpPr>
            <a:spLocks noChangeArrowheads="1"/>
          </p:cNvSpPr>
          <p:nvPr/>
        </p:nvSpPr>
        <p:spPr bwMode="auto">
          <a:xfrm>
            <a:off x="257175" y="828675"/>
            <a:ext cx="8458200" cy="109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2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Khi chúng ta cung cấp một phương thức Dispose thì phải ngưng bộ thu dọn gọi phương thức Finalize() trong đối tượng của chúng ta.</a:t>
            </a:r>
          </a:p>
        </p:txBody>
      </p:sp>
      <p:sp>
        <p:nvSpPr>
          <p:cNvPr id="367621" name="Rectangle 5">
            <a:extLst>
              <a:ext uri="{FF2B5EF4-FFF2-40B4-BE49-F238E27FC236}">
                <a16:creationId xmlns:a16="http://schemas.microsoft.com/office/drawing/2014/main" id="{19595935-4396-2CB8-746F-DE468E360FEE}"/>
              </a:ext>
            </a:extLst>
          </p:cNvPr>
          <p:cNvSpPr>
            <a:spLocks noChangeArrowheads="1"/>
          </p:cNvSpPr>
          <p:nvPr/>
        </p:nvSpPr>
        <p:spPr bwMode="auto">
          <a:xfrm>
            <a:off x="257175" y="1971675"/>
            <a:ext cx="8677275" cy="109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2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Để ngưng bộ thu dọn, chúng ta gọi một phương thức tĩnh của lớp GC (garbage collector) là GC.SuppressFinalize() và truyền tham số là tham chiếu </a:t>
            </a:r>
            <a:r>
              <a:rPr kumimoji="0" lang="en-US" altLang="en-US" sz="2200" b="1" i="0" u="none" strike="noStrike" kern="1200" cap="none" spc="0" normalizeH="0" baseline="0" noProof="0">
                <a:ln>
                  <a:noFill/>
                </a:ln>
                <a:solidFill>
                  <a:srgbClr val="660033"/>
                </a:solidFill>
                <a:effectLst/>
                <a:uLnTx/>
                <a:uFillTx/>
                <a:latin typeface="Verdana" panose="020B0604030504040204" pitchFamily="34" charset="0"/>
                <a:ea typeface="+mn-ea"/>
                <a:cs typeface="+mn-cs"/>
              </a:rPr>
              <a:t>this </a:t>
            </a:r>
            <a:r>
              <a:rPr kumimoji="0" lang="en-US" altLang="en-US" sz="22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của đối tượng.</a:t>
            </a:r>
          </a:p>
        </p:txBody>
      </p:sp>
      <p:pic>
        <p:nvPicPr>
          <p:cNvPr id="367622" name="Picture 6">
            <a:extLst>
              <a:ext uri="{FF2B5EF4-FFF2-40B4-BE49-F238E27FC236}">
                <a16:creationId xmlns:a16="http://schemas.microsoft.com/office/drawing/2014/main" id="{E15DB766-3395-831C-29D4-4B6BD37969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381375"/>
            <a:ext cx="5334000" cy="30480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7620"/>
                                        </p:tgtEl>
                                        <p:attrNameLst>
                                          <p:attrName>style.visibility</p:attrName>
                                        </p:attrNameLst>
                                      </p:cBhvr>
                                      <p:to>
                                        <p:strVal val="visible"/>
                                      </p:to>
                                    </p:set>
                                    <p:animEffect transition="in" filter="box(in)">
                                      <p:cBhvr>
                                        <p:cTn id="7" dur="1000"/>
                                        <p:tgtEl>
                                          <p:spTgt spid="3676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7621"/>
                                        </p:tgtEl>
                                        <p:attrNameLst>
                                          <p:attrName>style.visibility</p:attrName>
                                        </p:attrNameLst>
                                      </p:cBhvr>
                                      <p:to>
                                        <p:strVal val="visible"/>
                                      </p:to>
                                    </p:set>
                                    <p:animEffect transition="in" filter="box(in)">
                                      <p:cBhvr>
                                        <p:cTn id="12" dur="1000"/>
                                        <p:tgtEl>
                                          <p:spTgt spid="3676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7622"/>
                                        </p:tgtEl>
                                        <p:attrNameLst>
                                          <p:attrName>style.visibility</p:attrName>
                                        </p:attrNameLst>
                                      </p:cBhvr>
                                      <p:to>
                                        <p:strVal val="visible"/>
                                      </p:to>
                                    </p:set>
                                    <p:animEffect transition="in" filter="box(in)">
                                      <p:cBhvr>
                                        <p:cTn id="17" dur="1000"/>
                                        <p:tgtEl>
                                          <p:spTgt spid="367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0" grpId="0"/>
      <p:bldP spid="367621" grpId="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EFD9CCE-9CDD-374C-B7D2-C515699C39DE}"/>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45059" name="Rectangle 4">
            <a:extLst>
              <a:ext uri="{FF2B5EF4-FFF2-40B4-BE49-F238E27FC236}">
                <a16:creationId xmlns:a16="http://schemas.microsoft.com/office/drawing/2014/main" id="{1D24F84E-EDF1-BC80-D1F8-8523441FFF34}"/>
              </a:ext>
            </a:extLst>
          </p:cNvPr>
          <p:cNvSpPr>
            <a:spLocks noChangeArrowheads="1"/>
          </p:cNvSpPr>
          <p:nvPr/>
        </p:nvSpPr>
        <p:spPr bwMode="auto">
          <a:xfrm>
            <a:off x="14288" y="773113"/>
            <a:ext cx="33099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Truyền tham số</a:t>
            </a:r>
          </a:p>
        </p:txBody>
      </p:sp>
      <p:sp>
        <p:nvSpPr>
          <p:cNvPr id="380933" name="Rectangle 5">
            <a:extLst>
              <a:ext uri="{FF2B5EF4-FFF2-40B4-BE49-F238E27FC236}">
                <a16:creationId xmlns:a16="http://schemas.microsoft.com/office/drawing/2014/main" id="{ACD1BFFE-5104-04B3-515B-929DECAC52B6}"/>
              </a:ext>
            </a:extLst>
          </p:cNvPr>
          <p:cNvSpPr>
            <a:spLocks noChangeArrowheads="1"/>
          </p:cNvSpPr>
          <p:nvPr/>
        </p:nvSpPr>
        <p:spPr bwMode="auto">
          <a:xfrm>
            <a:off x="704850" y="1376363"/>
            <a:ext cx="8153400"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Tham số có kiểu dữ liệu là giá trị thì sẽ được truyền</a:t>
            </a:r>
          </a:p>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giá trị vào cho phương thức </a:t>
            </a: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sym typeface="Symbol" panose="05050102010706020507" pitchFamily="18" charset="2"/>
              </a:rPr>
              <a:t></a:t>
            </a: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sym typeface="Symbol" panose="05050102010706020507" pitchFamily="18" charset="2"/>
              </a:rPr>
              <a:t> </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có một bản sao chép đối tượng đó được tạo ra bên trong phương thức </a:t>
            </a: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sym typeface="Symbol" panose="05050102010706020507" pitchFamily="18" charset="2"/>
              </a:rPr>
              <a:t> </a:t>
            </a: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sym typeface="Symbol" panose="05050102010706020507" pitchFamily="18" charset="2"/>
              </a:rPr>
              <a:t>phương thức được thực hiện xong thì đối tượng sao chép này sẽ được hủy</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sym typeface="Symbol" panose="05050102010706020507" pitchFamily="18" charset="2"/>
              </a:rPr>
              <a:t>.</a:t>
            </a:r>
          </a:p>
        </p:txBody>
      </p:sp>
      <p:sp>
        <p:nvSpPr>
          <p:cNvPr id="380934" name="Rectangle 6">
            <a:extLst>
              <a:ext uri="{FF2B5EF4-FFF2-40B4-BE49-F238E27FC236}">
                <a16:creationId xmlns:a16="http://schemas.microsoft.com/office/drawing/2014/main" id="{8B33B140-CC05-A37B-5400-649C58370212}"/>
              </a:ext>
            </a:extLst>
          </p:cNvPr>
          <p:cNvSpPr>
            <a:spLocks noChangeArrowheads="1"/>
          </p:cNvSpPr>
          <p:nvPr/>
        </p:nvSpPr>
        <p:spPr bwMode="auto">
          <a:xfrm>
            <a:off x="695325" y="3762375"/>
            <a:ext cx="8405813"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C# cung cấp khả năng cho phép ta truyền các đối tượng có kiểu giá trị dưới hình thức là tham chiếu</a:t>
            </a: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 </a:t>
            </a: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sym typeface="Symbol" panose="05050102010706020507" pitchFamily="18" charset="2"/>
              </a:rPr>
              <a:t> </a:t>
            </a: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sym typeface="Symbol" panose="05050102010706020507" pitchFamily="18" charset="2"/>
              </a:rPr>
              <a:t>C# đưa ra một bổ sung tham số là </a:t>
            </a:r>
            <a:r>
              <a:rPr kumimoji="0" lang="en-US" altLang="en-US" sz="2400" b="1" i="0" u="none" strike="noStrike" kern="1200" cap="none" spc="0" normalizeH="0" baseline="0" noProof="0">
                <a:ln>
                  <a:noFill/>
                </a:ln>
                <a:solidFill>
                  <a:srgbClr val="003300"/>
                </a:solidFill>
                <a:effectLst/>
                <a:uLnTx/>
                <a:uFillTx/>
                <a:latin typeface="Verdana" panose="020B0604030504040204" pitchFamily="34" charset="0"/>
                <a:ea typeface="+mn-ea"/>
                <a:cs typeface="+mn-cs"/>
                <a:sym typeface="Symbol" panose="05050102010706020507" pitchFamily="18" charset="2"/>
              </a:rPr>
              <a:t>ref </a:t>
            </a: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sym typeface="Symbol" panose="05050102010706020507" pitchFamily="18" charset="2"/>
              </a:rPr>
              <a:t>cho phép truyền các đối tượng giá trị vào trong phương thức theo kiểu tham chiếu.</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0933"/>
                                        </p:tgtEl>
                                        <p:attrNameLst>
                                          <p:attrName>style.visibility</p:attrName>
                                        </p:attrNameLst>
                                      </p:cBhvr>
                                      <p:to>
                                        <p:strVal val="visible"/>
                                      </p:to>
                                    </p:set>
                                    <p:animEffect transition="in" filter="box(in)">
                                      <p:cBhvr>
                                        <p:cTn id="7" dur="1000"/>
                                        <p:tgtEl>
                                          <p:spTgt spid="3809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0934">
                                            <p:txEl>
                                              <p:pRg st="0" end="0"/>
                                            </p:txEl>
                                          </p:spTgt>
                                        </p:tgtEl>
                                        <p:attrNameLst>
                                          <p:attrName>style.visibility</p:attrName>
                                        </p:attrNameLst>
                                      </p:cBhvr>
                                      <p:to>
                                        <p:strVal val="visible"/>
                                      </p:to>
                                    </p:set>
                                    <p:animEffect transition="in" filter="box(in)">
                                      <p:cBhvr>
                                        <p:cTn id="12" dur="1000"/>
                                        <p:tgtEl>
                                          <p:spTgt spid="3809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33"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CA1E0C7-C913-3F4F-FFF0-4F486A26C784}"/>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381956" name="Picture 4">
            <a:extLst>
              <a:ext uri="{FF2B5EF4-FFF2-40B4-BE49-F238E27FC236}">
                <a16:creationId xmlns:a16="http://schemas.microsoft.com/office/drawing/2014/main" id="{EEB80414-01A8-1F22-6ECB-598A15A659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038" y="985838"/>
            <a:ext cx="7924800" cy="52578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1956"/>
                                        </p:tgtEl>
                                        <p:attrNameLst>
                                          <p:attrName>style.visibility</p:attrName>
                                        </p:attrNameLst>
                                      </p:cBhvr>
                                      <p:to>
                                        <p:strVal val="visible"/>
                                      </p:to>
                                    </p:set>
                                    <p:animEffect transition="in" filter="box(in)">
                                      <p:cBhvr>
                                        <p:cTn id="7" dur="1000"/>
                                        <p:tgtEl>
                                          <p:spTgt spid="381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D906E0B-A868-B90D-67DB-1354179EC1AE}"/>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47107" name="Rectangle 4">
            <a:extLst>
              <a:ext uri="{FF2B5EF4-FFF2-40B4-BE49-F238E27FC236}">
                <a16:creationId xmlns:a16="http://schemas.microsoft.com/office/drawing/2014/main" id="{2DF8E820-3ACD-5622-A100-DD68E757C6E0}"/>
              </a:ext>
            </a:extLst>
          </p:cNvPr>
          <p:cNvSpPr>
            <a:spLocks noChangeArrowheads="1"/>
          </p:cNvSpPr>
          <p:nvPr/>
        </p:nvSpPr>
        <p:spPr bwMode="auto">
          <a:xfrm>
            <a:off x="71438" y="735013"/>
            <a:ext cx="49545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Nạp chồng phương thức</a:t>
            </a:r>
          </a:p>
        </p:txBody>
      </p:sp>
      <p:sp>
        <p:nvSpPr>
          <p:cNvPr id="368645" name="Rectangle 5">
            <a:extLst>
              <a:ext uri="{FF2B5EF4-FFF2-40B4-BE49-F238E27FC236}">
                <a16:creationId xmlns:a16="http://schemas.microsoft.com/office/drawing/2014/main" id="{25444E99-F87A-65FA-B7A3-1F89FCAE8040}"/>
              </a:ext>
            </a:extLst>
          </p:cNvPr>
          <p:cNvSpPr>
            <a:spLocks noChangeArrowheads="1"/>
          </p:cNvSpPr>
          <p:nvPr/>
        </p:nvSpPr>
        <p:spPr bwMode="auto">
          <a:xfrm>
            <a:off x="990600" y="1343025"/>
            <a:ext cx="7924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xây dựng nhiều các phương thức cùng tên nhưng nhận các tham số khác nhau.</a:t>
            </a:r>
          </a:p>
        </p:txBody>
      </p:sp>
      <p:sp>
        <p:nvSpPr>
          <p:cNvPr id="368646" name="Rectangle 6">
            <a:extLst>
              <a:ext uri="{FF2B5EF4-FFF2-40B4-BE49-F238E27FC236}">
                <a16:creationId xmlns:a16="http://schemas.microsoft.com/office/drawing/2014/main" id="{CE16C8CF-8E36-4C91-34EF-BA171F6A8238}"/>
              </a:ext>
            </a:extLst>
          </p:cNvPr>
          <p:cNvSpPr>
            <a:spLocks noChangeArrowheads="1"/>
          </p:cNvSpPr>
          <p:nvPr/>
        </p:nvSpPr>
        <p:spPr bwMode="auto">
          <a:xfrm>
            <a:off x="457200" y="2286000"/>
            <a:ext cx="8458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Một ký hiệu (signature) của một phương thức được định nghĩa như tên của phương thức cùng với danh sách tham số của phương thức.</a:t>
            </a:r>
          </a:p>
        </p:txBody>
      </p:sp>
      <p:sp>
        <p:nvSpPr>
          <p:cNvPr id="368647" name="Rectangle 7">
            <a:extLst>
              <a:ext uri="{FF2B5EF4-FFF2-40B4-BE49-F238E27FC236}">
                <a16:creationId xmlns:a16="http://schemas.microsoft.com/office/drawing/2014/main" id="{27C0D961-AF41-20C7-E97F-8E7684B6BAF9}"/>
              </a:ext>
            </a:extLst>
          </p:cNvPr>
          <p:cNvSpPr>
            <a:spLocks noChangeArrowheads="1"/>
          </p:cNvSpPr>
          <p:nvPr/>
        </p:nvSpPr>
        <p:spPr bwMode="auto">
          <a:xfrm>
            <a:off x="447675" y="3524250"/>
            <a:ext cx="86677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Hai phương thức khác nhau khi ký hiệu của chúng là khác nhau tức là tên phương thức khác nhau hoặc danh sách tham số khác nhau.</a:t>
            </a:r>
          </a:p>
        </p:txBody>
      </p:sp>
      <p:pic>
        <p:nvPicPr>
          <p:cNvPr id="368648" name="Picture 8">
            <a:extLst>
              <a:ext uri="{FF2B5EF4-FFF2-40B4-BE49-F238E27FC236}">
                <a16:creationId xmlns:a16="http://schemas.microsoft.com/office/drawing/2014/main" id="{0EEBAA6D-99F3-4250-243C-7ABDAB7147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4800600"/>
            <a:ext cx="3733800" cy="16002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8645">
                                            <p:txEl>
                                              <p:pRg st="0" end="0"/>
                                            </p:txEl>
                                          </p:spTgt>
                                        </p:tgtEl>
                                        <p:attrNameLst>
                                          <p:attrName>style.visibility</p:attrName>
                                        </p:attrNameLst>
                                      </p:cBhvr>
                                      <p:to>
                                        <p:strVal val="visible"/>
                                      </p:to>
                                    </p:set>
                                    <p:animEffect transition="in" filter="box(in)">
                                      <p:cBhvr>
                                        <p:cTn id="7" dur="1000"/>
                                        <p:tgtEl>
                                          <p:spTgt spid="36864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8646">
                                            <p:txEl>
                                              <p:pRg st="0" end="0"/>
                                            </p:txEl>
                                          </p:spTgt>
                                        </p:tgtEl>
                                        <p:attrNameLst>
                                          <p:attrName>style.visibility</p:attrName>
                                        </p:attrNameLst>
                                      </p:cBhvr>
                                      <p:to>
                                        <p:strVal val="visible"/>
                                      </p:to>
                                    </p:set>
                                    <p:animEffect transition="in" filter="box(in)">
                                      <p:cBhvr>
                                        <p:cTn id="12" dur="1000"/>
                                        <p:tgtEl>
                                          <p:spTgt spid="36864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8647">
                                            <p:txEl>
                                              <p:pRg st="0" end="0"/>
                                            </p:txEl>
                                          </p:spTgt>
                                        </p:tgtEl>
                                        <p:attrNameLst>
                                          <p:attrName>style.visibility</p:attrName>
                                        </p:attrNameLst>
                                      </p:cBhvr>
                                      <p:to>
                                        <p:strVal val="visible"/>
                                      </p:to>
                                    </p:set>
                                    <p:animEffect transition="in" filter="box(in)">
                                      <p:cBhvr>
                                        <p:cTn id="17" dur="1000"/>
                                        <p:tgtEl>
                                          <p:spTgt spid="368647">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68648"/>
                                        </p:tgtEl>
                                        <p:attrNameLst>
                                          <p:attrName>style.visibility</p:attrName>
                                        </p:attrNameLst>
                                      </p:cBhvr>
                                      <p:to>
                                        <p:strVal val="visible"/>
                                      </p:to>
                                    </p:set>
                                    <p:animEffect transition="in" filter="box(in)">
                                      <p:cBhvr>
                                        <p:cTn id="22" dur="1000"/>
                                        <p:tgtEl>
                                          <p:spTgt spid="368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7FE2205-0079-9016-F5EE-B2C31E35C5DF}"/>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369668" name="Picture 4">
            <a:extLst>
              <a:ext uri="{FF2B5EF4-FFF2-40B4-BE49-F238E27FC236}">
                <a16:creationId xmlns:a16="http://schemas.microsoft.com/office/drawing/2014/main" id="{1678BBFB-2A95-AEA8-DB13-6D4041C2C1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838200"/>
            <a:ext cx="4876800"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669" name="Picture 5">
            <a:extLst>
              <a:ext uri="{FF2B5EF4-FFF2-40B4-BE49-F238E27FC236}">
                <a16:creationId xmlns:a16="http://schemas.microsoft.com/office/drawing/2014/main" id="{DEB01F54-D51D-0FEA-B4F7-0101036E48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838200"/>
            <a:ext cx="396240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9670" name="Picture 6">
            <a:extLst>
              <a:ext uri="{FF2B5EF4-FFF2-40B4-BE49-F238E27FC236}">
                <a16:creationId xmlns:a16="http://schemas.microsoft.com/office/drawing/2014/main" id="{E8BBD489-0CEC-87E5-394A-0DC1ADC7CD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4495800"/>
            <a:ext cx="35052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9668"/>
                                        </p:tgtEl>
                                        <p:attrNameLst>
                                          <p:attrName>style.visibility</p:attrName>
                                        </p:attrNameLst>
                                      </p:cBhvr>
                                      <p:to>
                                        <p:strVal val="visible"/>
                                      </p:to>
                                    </p:set>
                                    <p:animEffect transition="in" filter="box(in)">
                                      <p:cBhvr>
                                        <p:cTn id="7" dur="1000"/>
                                        <p:tgtEl>
                                          <p:spTgt spid="3696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69669"/>
                                        </p:tgtEl>
                                        <p:attrNameLst>
                                          <p:attrName>style.visibility</p:attrName>
                                        </p:attrNameLst>
                                      </p:cBhvr>
                                      <p:to>
                                        <p:strVal val="visible"/>
                                      </p:to>
                                    </p:set>
                                    <p:animEffect transition="in" filter="box(in)">
                                      <p:cBhvr>
                                        <p:cTn id="12" dur="1000"/>
                                        <p:tgtEl>
                                          <p:spTgt spid="3696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69670"/>
                                        </p:tgtEl>
                                        <p:attrNameLst>
                                          <p:attrName>style.visibility</p:attrName>
                                        </p:attrNameLst>
                                      </p:cBhvr>
                                      <p:to>
                                        <p:strVal val="visible"/>
                                      </p:to>
                                    </p:set>
                                    <p:animEffect transition="in" filter="box(in)">
                                      <p:cBhvr>
                                        <p:cTn id="17" dur="1000"/>
                                        <p:tgtEl>
                                          <p:spTgt spid="369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25999596-A0FF-BA1C-6174-0C2429A66830}"/>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370692" name="Picture 4">
            <a:extLst>
              <a:ext uri="{FF2B5EF4-FFF2-40B4-BE49-F238E27FC236}">
                <a16:creationId xmlns:a16="http://schemas.microsoft.com/office/drawing/2014/main" id="{E6762CB6-BBA1-A3C9-0025-4065E1A840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838200"/>
            <a:ext cx="7239000" cy="56388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0692"/>
                                        </p:tgtEl>
                                        <p:attrNameLst>
                                          <p:attrName>style.visibility</p:attrName>
                                        </p:attrNameLst>
                                      </p:cBhvr>
                                      <p:to>
                                        <p:strVal val="visible"/>
                                      </p:to>
                                    </p:set>
                                    <p:animEffect transition="in" filter="box(in)">
                                      <p:cBhvr>
                                        <p:cTn id="7" dur="1000"/>
                                        <p:tgtEl>
                                          <p:spTgt spid="370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49F91BD-A513-7ED2-4EC6-59B73DEAB872}"/>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50179" name="Rectangle 4">
            <a:extLst>
              <a:ext uri="{FF2B5EF4-FFF2-40B4-BE49-F238E27FC236}">
                <a16:creationId xmlns:a16="http://schemas.microsoft.com/office/drawing/2014/main" id="{BBFFBCD9-D95B-5292-0BE8-1AC938FCD699}"/>
              </a:ext>
            </a:extLst>
          </p:cNvPr>
          <p:cNvSpPr>
            <a:spLocks noChangeArrowheads="1"/>
          </p:cNvSpPr>
          <p:nvPr/>
        </p:nvSpPr>
        <p:spPr bwMode="auto">
          <a:xfrm>
            <a:off x="42863" y="787400"/>
            <a:ext cx="8739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800" b="1" i="1" u="none" strike="noStrike" kern="1200" cap="none" spc="0" normalizeH="0" baseline="0" noProof="0">
                <a:ln>
                  <a:noFill/>
                </a:ln>
                <a:solidFill>
                  <a:srgbClr val="CC0000"/>
                </a:solidFill>
                <a:effectLst/>
                <a:uLnTx/>
                <a:uFillTx/>
                <a:latin typeface="Verdana" panose="020B0604030504040204" pitchFamily="34" charset="0"/>
                <a:ea typeface="+mn-ea"/>
                <a:cs typeface="+mn-cs"/>
              </a:rPr>
              <a:t>Đóng gói dữ liệu với thành phần thuộc tính</a:t>
            </a:r>
          </a:p>
        </p:txBody>
      </p:sp>
      <p:sp>
        <p:nvSpPr>
          <p:cNvPr id="371717" name="Rectangle 5">
            <a:extLst>
              <a:ext uri="{FF2B5EF4-FFF2-40B4-BE49-F238E27FC236}">
                <a16:creationId xmlns:a16="http://schemas.microsoft.com/office/drawing/2014/main" id="{085A3B8D-A9AB-86E2-E74D-F50BD24EAACA}"/>
              </a:ext>
            </a:extLst>
          </p:cNvPr>
          <p:cNvSpPr>
            <a:spLocks noChangeArrowheads="1"/>
          </p:cNvSpPr>
          <p:nvPr/>
        </p:nvSpPr>
        <p:spPr bwMode="auto">
          <a:xfrm>
            <a:off x="595313" y="1376363"/>
            <a:ext cx="8382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Thuộc tính là khái niệm cho phép truy cập trạng thái của lớp thay vì thông qua truy cập trực tiếp các biến thành viên, nó sẽ đựơc thay thế bằng việc thực thi truy cập thông qua phương thức của lớp.</a:t>
            </a:r>
          </a:p>
        </p:txBody>
      </p:sp>
      <p:sp>
        <p:nvSpPr>
          <p:cNvPr id="371718" name="Rectangle 6">
            <a:extLst>
              <a:ext uri="{FF2B5EF4-FFF2-40B4-BE49-F238E27FC236}">
                <a16:creationId xmlns:a16="http://schemas.microsoft.com/office/drawing/2014/main" id="{DE5088A1-D84F-8E46-896E-F7E4EAEC8C44}"/>
              </a:ext>
            </a:extLst>
          </p:cNvPr>
          <p:cNvSpPr>
            <a:spLocks noChangeArrowheads="1"/>
          </p:cNvSpPr>
          <p:nvPr/>
        </p:nvSpPr>
        <p:spPr bwMode="auto">
          <a:xfrm>
            <a:off x="604838" y="2976563"/>
            <a:ext cx="8382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Thuộc tính là một đặc tính mới được giới thiệu trong ngôn ngữ C#.</a:t>
            </a:r>
          </a:p>
        </p:txBody>
      </p:sp>
      <p:sp>
        <p:nvSpPr>
          <p:cNvPr id="371719" name="Rectangle 7">
            <a:extLst>
              <a:ext uri="{FF2B5EF4-FFF2-40B4-BE49-F238E27FC236}">
                <a16:creationId xmlns:a16="http://schemas.microsoft.com/office/drawing/2014/main" id="{5937C777-2E72-7D99-68E6-545EE7780641}"/>
              </a:ext>
            </a:extLst>
          </p:cNvPr>
          <p:cNvSpPr>
            <a:spLocks noChangeArrowheads="1"/>
          </p:cNvSpPr>
          <p:nvPr/>
        </p:nvSpPr>
        <p:spPr bwMode="auto">
          <a:xfrm>
            <a:off x="614363" y="3905250"/>
            <a:ext cx="8229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Đặc tính này cung cấp khả năng bảo vệ các trường dữ liệu bên trong một lớp bằng việc đọc và viết chúng thông qua thuộc tính.</a:t>
            </a:r>
          </a:p>
        </p:txBody>
      </p:sp>
      <p:sp>
        <p:nvSpPr>
          <p:cNvPr id="371720" name="Rectangle 8">
            <a:extLst>
              <a:ext uri="{FF2B5EF4-FFF2-40B4-BE49-F238E27FC236}">
                <a16:creationId xmlns:a16="http://schemas.microsoft.com/office/drawing/2014/main" id="{C8F7B157-F294-3813-97BB-B7524A8648F3}"/>
              </a:ext>
            </a:extLst>
          </p:cNvPr>
          <p:cNvSpPr>
            <a:spLocks noChangeArrowheads="1"/>
          </p:cNvSpPr>
          <p:nvPr/>
        </p:nvSpPr>
        <p:spPr bwMode="auto">
          <a:xfrm>
            <a:off x="633413" y="5172075"/>
            <a:ext cx="82200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Với thuộc tính để tạo các phương thức lấy dữ liệu (getter method) và phương thức thiết lập dữ liệu (setter method).</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1717"/>
                                        </p:tgtEl>
                                        <p:attrNameLst>
                                          <p:attrName>style.visibility</p:attrName>
                                        </p:attrNameLst>
                                      </p:cBhvr>
                                      <p:to>
                                        <p:strVal val="visible"/>
                                      </p:to>
                                    </p:set>
                                    <p:animEffect transition="in" filter="box(in)">
                                      <p:cBhvr>
                                        <p:cTn id="7" dur="1000"/>
                                        <p:tgtEl>
                                          <p:spTgt spid="3717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1718"/>
                                        </p:tgtEl>
                                        <p:attrNameLst>
                                          <p:attrName>style.visibility</p:attrName>
                                        </p:attrNameLst>
                                      </p:cBhvr>
                                      <p:to>
                                        <p:strVal val="visible"/>
                                      </p:to>
                                    </p:set>
                                    <p:animEffect transition="in" filter="box(in)">
                                      <p:cBhvr>
                                        <p:cTn id="12" dur="1000"/>
                                        <p:tgtEl>
                                          <p:spTgt spid="3717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1719"/>
                                        </p:tgtEl>
                                        <p:attrNameLst>
                                          <p:attrName>style.visibility</p:attrName>
                                        </p:attrNameLst>
                                      </p:cBhvr>
                                      <p:to>
                                        <p:strVal val="visible"/>
                                      </p:to>
                                    </p:set>
                                    <p:animEffect transition="in" filter="box(in)">
                                      <p:cBhvr>
                                        <p:cTn id="17" dur="1000"/>
                                        <p:tgtEl>
                                          <p:spTgt spid="3717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1720"/>
                                        </p:tgtEl>
                                        <p:attrNameLst>
                                          <p:attrName>style.visibility</p:attrName>
                                        </p:attrNameLst>
                                      </p:cBhvr>
                                      <p:to>
                                        <p:strVal val="visible"/>
                                      </p:to>
                                    </p:set>
                                    <p:animEffect transition="in" filter="box(in)">
                                      <p:cBhvr>
                                        <p:cTn id="22" dur="1000"/>
                                        <p:tgtEl>
                                          <p:spTgt spid="371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7" grpId="0"/>
      <p:bldP spid="371718" grpId="0"/>
      <p:bldP spid="371719" grpId="0"/>
      <p:bldP spid="371720" grpId="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F670398A-9C50-A079-869A-EC7AC1672BBF}"/>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72740" name="Rectangle 4">
            <a:extLst>
              <a:ext uri="{FF2B5EF4-FFF2-40B4-BE49-F238E27FC236}">
                <a16:creationId xmlns:a16="http://schemas.microsoft.com/office/drawing/2014/main" id="{751B0271-295E-5D64-C5C0-2BCB73EAD287}"/>
              </a:ext>
            </a:extLst>
          </p:cNvPr>
          <p:cNvSpPr>
            <a:spLocks noChangeArrowheads="1"/>
          </p:cNvSpPr>
          <p:nvPr/>
        </p:nvSpPr>
        <p:spPr bwMode="auto">
          <a:xfrm>
            <a:off x="381000" y="838200"/>
            <a:ext cx="85344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Để khai báo thuộc tính, đầu tiên là khai báo tên thuộc tính để truy cập, tiếp theo là phần thân định nghĩa thuộc tính nằm trong cập dấu ({}). Bên trong thân của thuộc tính là khai báo hai bộ truy cập lấy và thiết lập dữ liệu:</a:t>
            </a:r>
          </a:p>
        </p:txBody>
      </p:sp>
      <p:pic>
        <p:nvPicPr>
          <p:cNvPr id="372741" name="Picture 5">
            <a:extLst>
              <a:ext uri="{FF2B5EF4-FFF2-40B4-BE49-F238E27FC236}">
                <a16:creationId xmlns:a16="http://schemas.microsoft.com/office/drawing/2014/main" id="{942EB781-86A5-BCA4-500A-D093EEC172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2971800"/>
            <a:ext cx="3886200" cy="32766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51205" name="Text Box 6">
            <a:extLst>
              <a:ext uri="{FF2B5EF4-FFF2-40B4-BE49-F238E27FC236}">
                <a16:creationId xmlns:a16="http://schemas.microsoft.com/office/drawing/2014/main" id="{220DD4BD-82B7-3AC4-D3AD-E881C513D2A4}"/>
              </a:ext>
            </a:extLst>
          </p:cNvPr>
          <p:cNvSpPr txBox="1">
            <a:spLocks noChangeArrowheads="1"/>
          </p:cNvSpPr>
          <p:nvPr/>
        </p:nvSpPr>
        <p:spPr bwMode="auto">
          <a:xfrm>
            <a:off x="304800" y="3124200"/>
            <a:ext cx="464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endParaRPr>
          </a:p>
        </p:txBody>
      </p:sp>
      <p:pic>
        <p:nvPicPr>
          <p:cNvPr id="372744" name="Picture 8">
            <a:extLst>
              <a:ext uri="{FF2B5EF4-FFF2-40B4-BE49-F238E27FC236}">
                <a16:creationId xmlns:a16="http://schemas.microsoft.com/office/drawing/2014/main" id="{96623E49-CAEE-23CA-FD44-73AD92DA8B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971800"/>
            <a:ext cx="4105275" cy="32766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2740"/>
                                        </p:tgtEl>
                                        <p:attrNameLst>
                                          <p:attrName>style.visibility</p:attrName>
                                        </p:attrNameLst>
                                      </p:cBhvr>
                                      <p:to>
                                        <p:strVal val="visible"/>
                                      </p:to>
                                    </p:set>
                                    <p:animEffect transition="in" filter="box(in)">
                                      <p:cBhvr>
                                        <p:cTn id="7" dur="1000"/>
                                        <p:tgtEl>
                                          <p:spTgt spid="3727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2744"/>
                                        </p:tgtEl>
                                        <p:attrNameLst>
                                          <p:attrName>style.visibility</p:attrName>
                                        </p:attrNameLst>
                                      </p:cBhvr>
                                      <p:to>
                                        <p:strVal val="visible"/>
                                      </p:to>
                                    </p:set>
                                    <p:animEffect transition="in" filter="box(in)">
                                      <p:cBhvr>
                                        <p:cTn id="12" dur="1000"/>
                                        <p:tgtEl>
                                          <p:spTgt spid="3727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2741"/>
                                        </p:tgtEl>
                                        <p:attrNameLst>
                                          <p:attrName>style.visibility</p:attrName>
                                        </p:attrNameLst>
                                      </p:cBhvr>
                                      <p:to>
                                        <p:strVal val="visible"/>
                                      </p:to>
                                    </p:set>
                                    <p:animEffect transition="in" filter="box(in)">
                                      <p:cBhvr>
                                        <p:cTn id="17" dur="1000"/>
                                        <p:tgtEl>
                                          <p:spTgt spid="372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40"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A3C84838-3B17-D259-BA4E-E8473C256178}"/>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73765" name="Text Box 5">
            <a:extLst>
              <a:ext uri="{FF2B5EF4-FFF2-40B4-BE49-F238E27FC236}">
                <a16:creationId xmlns:a16="http://schemas.microsoft.com/office/drawing/2014/main" id="{9FCCFBB5-3E81-763D-A85B-203A3DD56425}"/>
              </a:ext>
            </a:extLst>
          </p:cNvPr>
          <p:cNvSpPr txBox="1">
            <a:spLocks noChangeArrowheads="1"/>
          </p:cNvSpPr>
          <p:nvPr/>
        </p:nvSpPr>
        <p:spPr bwMode="auto">
          <a:xfrm>
            <a:off x="447675" y="914400"/>
            <a:ext cx="8458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Thuộc tính không có danh sách các đối số (set, get, 	value là từ khóa)</a:t>
            </a:r>
          </a:p>
        </p:txBody>
      </p:sp>
      <p:sp>
        <p:nvSpPr>
          <p:cNvPr id="373766" name="Text Box 6">
            <a:extLst>
              <a:ext uri="{FF2B5EF4-FFF2-40B4-BE49-F238E27FC236}">
                <a16:creationId xmlns:a16="http://schemas.microsoft.com/office/drawing/2014/main" id="{3AB2B802-C8CB-77B5-5F10-4A5F15E705DC}"/>
              </a:ext>
            </a:extLst>
          </p:cNvPr>
          <p:cNvSpPr txBox="1">
            <a:spLocks noChangeArrowheads="1"/>
          </p:cNvSpPr>
          <p:nvPr/>
        </p:nvSpPr>
        <p:spPr bwMode="auto">
          <a:xfrm>
            <a:off x="457200" y="1905000"/>
            <a:ext cx="845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Kiểu dữ liệu của </a:t>
            </a:r>
            <a:r>
              <a:rPr kumimoji="0" lang="en-US" altLang="en-US" sz="2400" b="0" i="0" u="none" strike="noStrike" kern="1200" cap="none" spc="0" normalizeH="0" baseline="0" noProof="0">
                <a:ln>
                  <a:noFill/>
                </a:ln>
                <a:solidFill>
                  <a:srgbClr val="CC0000"/>
                </a:solidFill>
                <a:effectLst/>
                <a:uLnTx/>
                <a:uFillTx/>
                <a:latin typeface="Verdana" panose="020B0604030504040204" pitchFamily="34" charset="0"/>
                <a:ea typeface="+mn-ea"/>
                <a:cs typeface="+mn-cs"/>
              </a:rPr>
              <a:t>value</a:t>
            </a: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 trùng với kiểu của thuộc tính</a:t>
            </a:r>
          </a:p>
        </p:txBody>
      </p:sp>
      <p:sp>
        <p:nvSpPr>
          <p:cNvPr id="373767" name="Text Box 7">
            <a:extLst>
              <a:ext uri="{FF2B5EF4-FFF2-40B4-BE49-F238E27FC236}">
                <a16:creationId xmlns:a16="http://schemas.microsoft.com/office/drawing/2014/main" id="{0543B9D5-AB32-E20C-77F3-6C0A1621DF44}"/>
              </a:ext>
            </a:extLst>
          </p:cNvPr>
          <p:cNvSpPr txBox="1">
            <a:spLocks noChangeArrowheads="1"/>
          </p:cNvSpPr>
          <p:nvPr/>
        </p:nvSpPr>
        <p:spPr bwMode="auto">
          <a:xfrm>
            <a:off x="457200" y="2590800"/>
            <a:ext cx="8458200"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50000"/>
              </a:spcBef>
              <a:spcAft>
                <a:spcPct val="0"/>
              </a:spcAft>
              <a:buClrTx/>
              <a:buSzTx/>
              <a:buFontTx/>
              <a:buNone/>
              <a:tabLst/>
              <a:defRPr/>
            </a:pPr>
            <a:r>
              <a:rPr kumimoji="0" lang="en-US" altLang="en-US" sz="2400" b="1" i="0" u="none" strike="noStrike" kern="1200" cap="none" spc="0" normalizeH="0" baseline="0" noProof="0">
                <a:ln>
                  <a:noFill/>
                </a:ln>
                <a:solidFill>
                  <a:srgbClr val="003300"/>
                </a:solidFill>
                <a:effectLst/>
                <a:uLnTx/>
                <a:uFillTx/>
                <a:latin typeface="Verdana" panose="020B0604030504040204" pitchFamily="34" charset="0"/>
                <a:ea typeface="+mn-ea"/>
                <a:cs typeface="+mn-cs"/>
              </a:rPr>
              <a:t>Truy cập lấy dữ liệu (get)</a:t>
            </a: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 dùng để trả về một đối tượng có kiểu dữ liệu của thuộc tính.</a:t>
            </a:r>
          </a:p>
        </p:txBody>
      </p:sp>
      <p:sp>
        <p:nvSpPr>
          <p:cNvPr id="373769" name="Text Box 9">
            <a:extLst>
              <a:ext uri="{FF2B5EF4-FFF2-40B4-BE49-F238E27FC236}">
                <a16:creationId xmlns:a16="http://schemas.microsoft.com/office/drawing/2014/main" id="{284B2C5C-B501-35C9-3EB0-52143AB98628}"/>
              </a:ext>
            </a:extLst>
          </p:cNvPr>
          <p:cNvSpPr txBox="1">
            <a:spLocks noChangeArrowheads="1"/>
          </p:cNvSpPr>
          <p:nvPr/>
        </p:nvSpPr>
        <p:spPr bwMode="auto">
          <a:xfrm>
            <a:off x="457200" y="4267200"/>
            <a:ext cx="8458200"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20000"/>
              </a:lnSpc>
              <a:spcBef>
                <a:spcPct val="50000"/>
              </a:spcBef>
              <a:spcAft>
                <a:spcPct val="0"/>
              </a:spcAft>
              <a:buClrTx/>
              <a:buSzTx/>
              <a:buFontTx/>
              <a:buNone/>
              <a:tabLst/>
              <a:defRPr/>
            </a:pPr>
            <a:r>
              <a:rPr kumimoji="0" lang="en-US" altLang="en-US" sz="2400" b="1" i="0" u="none" strike="noStrike" kern="1200" cap="none" spc="0" normalizeH="0" baseline="0" noProof="0">
                <a:ln>
                  <a:noFill/>
                </a:ln>
                <a:solidFill>
                  <a:srgbClr val="990000"/>
                </a:solidFill>
                <a:effectLst/>
                <a:uLnTx/>
                <a:uFillTx/>
                <a:latin typeface="Verdana" panose="020B0604030504040204" pitchFamily="34" charset="0"/>
                <a:ea typeface="+mn-ea"/>
                <a:cs typeface="+mn-cs"/>
              </a:rPr>
              <a:t>Bộ truy cập thiết lập dữ liệu</a:t>
            </a: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(set): thiết lập một giá trị mới cho thuộc tính – sử dụng từ khóa value để đại diện cho tham số đươc truyền vào và được lưu trữ bởi thuộc tính.</a:t>
            </a:r>
          </a:p>
        </p:txBody>
      </p:sp>
      <p:sp>
        <p:nvSpPr>
          <p:cNvPr id="373771" name="Text Box 11">
            <a:extLst>
              <a:ext uri="{FF2B5EF4-FFF2-40B4-BE49-F238E27FC236}">
                <a16:creationId xmlns:a16="http://schemas.microsoft.com/office/drawing/2014/main" id="{05CF70EE-02A7-092A-C9E7-5DED75E970C6}"/>
              </a:ext>
            </a:extLst>
          </p:cNvPr>
          <p:cNvSpPr txBox="1">
            <a:spLocks noChangeArrowheads="1"/>
          </p:cNvSpPr>
          <p:nvPr/>
        </p:nvSpPr>
        <p:spPr bwMode="auto">
          <a:xfrm>
            <a:off x="2152650" y="3652838"/>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get {return name};</a:t>
            </a:r>
          </a:p>
        </p:txBody>
      </p:sp>
      <p:sp>
        <p:nvSpPr>
          <p:cNvPr id="373772" name="Text Box 12">
            <a:extLst>
              <a:ext uri="{FF2B5EF4-FFF2-40B4-BE49-F238E27FC236}">
                <a16:creationId xmlns:a16="http://schemas.microsoft.com/office/drawing/2014/main" id="{689E1271-5BEE-DBB8-FAF8-E7FACB47A0C7}"/>
              </a:ext>
            </a:extLst>
          </p:cNvPr>
          <p:cNvSpPr txBox="1">
            <a:spLocks noChangeArrowheads="1"/>
          </p:cNvSpPr>
          <p:nvPr/>
        </p:nvSpPr>
        <p:spPr bwMode="auto">
          <a:xfrm>
            <a:off x="3657600" y="5791200"/>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set {name = value};</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3765"/>
                                        </p:tgtEl>
                                        <p:attrNameLst>
                                          <p:attrName>style.visibility</p:attrName>
                                        </p:attrNameLst>
                                      </p:cBhvr>
                                      <p:to>
                                        <p:strVal val="visible"/>
                                      </p:to>
                                    </p:set>
                                    <p:animEffect transition="in" filter="box(in)">
                                      <p:cBhvr>
                                        <p:cTn id="7" dur="1000"/>
                                        <p:tgtEl>
                                          <p:spTgt spid="3737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3766"/>
                                        </p:tgtEl>
                                        <p:attrNameLst>
                                          <p:attrName>style.visibility</p:attrName>
                                        </p:attrNameLst>
                                      </p:cBhvr>
                                      <p:to>
                                        <p:strVal val="visible"/>
                                      </p:to>
                                    </p:set>
                                    <p:animEffect transition="in" filter="box(in)">
                                      <p:cBhvr>
                                        <p:cTn id="12" dur="1000"/>
                                        <p:tgtEl>
                                          <p:spTgt spid="3737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3767"/>
                                        </p:tgtEl>
                                        <p:attrNameLst>
                                          <p:attrName>style.visibility</p:attrName>
                                        </p:attrNameLst>
                                      </p:cBhvr>
                                      <p:to>
                                        <p:strVal val="visible"/>
                                      </p:to>
                                    </p:set>
                                    <p:animEffect transition="in" filter="box(in)">
                                      <p:cBhvr>
                                        <p:cTn id="17" dur="1000"/>
                                        <p:tgtEl>
                                          <p:spTgt spid="3737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3771"/>
                                        </p:tgtEl>
                                        <p:attrNameLst>
                                          <p:attrName>style.visibility</p:attrName>
                                        </p:attrNameLst>
                                      </p:cBhvr>
                                      <p:to>
                                        <p:strVal val="visible"/>
                                      </p:to>
                                    </p:set>
                                    <p:animEffect transition="in" filter="box(in)">
                                      <p:cBhvr>
                                        <p:cTn id="22" dur="1000"/>
                                        <p:tgtEl>
                                          <p:spTgt spid="37377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73769"/>
                                        </p:tgtEl>
                                        <p:attrNameLst>
                                          <p:attrName>style.visibility</p:attrName>
                                        </p:attrNameLst>
                                      </p:cBhvr>
                                      <p:to>
                                        <p:strVal val="visible"/>
                                      </p:to>
                                    </p:set>
                                    <p:animEffect transition="in" filter="box(in)">
                                      <p:cBhvr>
                                        <p:cTn id="27" dur="1000"/>
                                        <p:tgtEl>
                                          <p:spTgt spid="37376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73772"/>
                                        </p:tgtEl>
                                        <p:attrNameLst>
                                          <p:attrName>style.visibility</p:attrName>
                                        </p:attrNameLst>
                                      </p:cBhvr>
                                      <p:to>
                                        <p:strVal val="visible"/>
                                      </p:to>
                                    </p:set>
                                    <p:animEffect transition="in" filter="box(in)">
                                      <p:cBhvr>
                                        <p:cTn id="32" dur="1000"/>
                                        <p:tgtEl>
                                          <p:spTgt spid="373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5" grpId="0"/>
      <p:bldP spid="373766" grpId="0"/>
      <p:bldP spid="373767" grpId="0"/>
      <p:bldP spid="373769" grpId="0"/>
      <p:bldP spid="373771" grpId="0"/>
      <p:bldP spid="373772" grpId="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F2E88759-1851-8B9C-E6F3-0425A6927F6E}"/>
              </a:ext>
            </a:extLst>
          </p:cNvPr>
          <p:cNvSpPr>
            <a:spLocks noGrp="1" noChangeArrowheads="1"/>
          </p:cNvSpPr>
          <p:nvPr>
            <p:ph type="title"/>
          </p:nvPr>
        </p:nvSpPr>
        <p:spPr/>
        <p:txBody>
          <a:bodyPr/>
          <a:lstStyle/>
          <a:p>
            <a:pPr eaLnBrk="1" hangingPunct="1"/>
            <a:r>
              <a:rPr lang="en-US" altLang="en-US" sz="3200" b="1"/>
              <a:t>5. Lớp và đối tượng trong C#</a:t>
            </a:r>
          </a:p>
        </p:txBody>
      </p:sp>
      <p:pic>
        <p:nvPicPr>
          <p:cNvPr id="379909" name="Picture 5">
            <a:extLst>
              <a:ext uri="{FF2B5EF4-FFF2-40B4-BE49-F238E27FC236}">
                <a16:creationId xmlns:a16="http://schemas.microsoft.com/office/drawing/2014/main" id="{58170D08-7BD4-9F06-3CA4-29F56D5F1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809625"/>
            <a:ext cx="4500563" cy="5153025"/>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79910" name="Picture 6">
            <a:extLst>
              <a:ext uri="{FF2B5EF4-FFF2-40B4-BE49-F238E27FC236}">
                <a16:creationId xmlns:a16="http://schemas.microsoft.com/office/drawing/2014/main" id="{EBAB0110-594C-8506-90EA-F65CB9C94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819150"/>
            <a:ext cx="4267200" cy="398145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79911" name="Picture 7">
            <a:extLst>
              <a:ext uri="{FF2B5EF4-FFF2-40B4-BE49-F238E27FC236}">
                <a16:creationId xmlns:a16="http://schemas.microsoft.com/office/drawing/2014/main" id="{9D1F3B97-9788-C854-6E29-CB36FCD761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4953000"/>
            <a:ext cx="4114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9909"/>
                                        </p:tgtEl>
                                        <p:attrNameLst>
                                          <p:attrName>style.visibility</p:attrName>
                                        </p:attrNameLst>
                                      </p:cBhvr>
                                      <p:to>
                                        <p:strVal val="visible"/>
                                      </p:to>
                                    </p:set>
                                    <p:animEffect transition="in" filter="box(in)">
                                      <p:cBhvr>
                                        <p:cTn id="7" dur="1000"/>
                                        <p:tgtEl>
                                          <p:spTgt spid="3799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9910"/>
                                        </p:tgtEl>
                                        <p:attrNameLst>
                                          <p:attrName>style.visibility</p:attrName>
                                        </p:attrNameLst>
                                      </p:cBhvr>
                                      <p:to>
                                        <p:strVal val="visible"/>
                                      </p:to>
                                    </p:set>
                                    <p:animEffect transition="in" filter="box(in)">
                                      <p:cBhvr>
                                        <p:cTn id="12" dur="1000"/>
                                        <p:tgtEl>
                                          <p:spTgt spid="37991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9911"/>
                                        </p:tgtEl>
                                        <p:attrNameLst>
                                          <p:attrName>style.visibility</p:attrName>
                                        </p:attrNameLst>
                                      </p:cBhvr>
                                      <p:to>
                                        <p:strVal val="visible"/>
                                      </p:to>
                                    </p:set>
                                    <p:animEffect transition="in" filter="box(in)">
                                      <p:cBhvr>
                                        <p:cTn id="17" dur="1000"/>
                                        <p:tgtEl>
                                          <p:spTgt spid="379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08093652-645F-566F-765F-3CDB6F8E7BA1}"/>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382980" name="Picture 4">
            <a:extLst>
              <a:ext uri="{FF2B5EF4-FFF2-40B4-BE49-F238E27FC236}">
                <a16:creationId xmlns:a16="http://schemas.microsoft.com/office/drawing/2014/main" id="{23A55CC6-EB10-9534-0987-067CC51C85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1500" y="1371600"/>
            <a:ext cx="6096000" cy="50292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54276" name="Text Box 7">
            <a:extLst>
              <a:ext uri="{FF2B5EF4-FFF2-40B4-BE49-F238E27FC236}">
                <a16:creationId xmlns:a16="http://schemas.microsoft.com/office/drawing/2014/main" id="{97841588-B30F-1AE7-C37E-F67697323378}"/>
              </a:ext>
            </a:extLst>
          </p:cNvPr>
          <p:cNvSpPr txBox="1">
            <a:spLocks noChangeArrowheads="1"/>
          </p:cNvSpPr>
          <p:nvPr/>
        </p:nvSpPr>
        <p:spPr bwMode="auto">
          <a:xfrm>
            <a:off x="100013" y="795338"/>
            <a:ext cx="815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Thiết lập các thuộc tính trong class để lấy giá trị</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2980"/>
                                        </p:tgtEl>
                                        <p:attrNameLst>
                                          <p:attrName>style.visibility</p:attrName>
                                        </p:attrNameLst>
                                      </p:cBhvr>
                                      <p:to>
                                        <p:strVal val="visible"/>
                                      </p:to>
                                    </p:set>
                                    <p:animEffect transition="in" filter="box(in)">
                                      <p:cBhvr>
                                        <p:cTn id="7" dur="1000"/>
                                        <p:tgtEl>
                                          <p:spTgt spid="382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C48560D0-E2D7-70A3-CB10-36C402E81881}"/>
              </a:ext>
            </a:extLst>
          </p:cNvPr>
          <p:cNvSpPr>
            <a:spLocks noGrp="1" noChangeArrowheads="1"/>
          </p:cNvSpPr>
          <p:nvPr>
            <p:ph type="title"/>
          </p:nvPr>
        </p:nvSpPr>
        <p:spPr/>
        <p:txBody>
          <a:bodyPr/>
          <a:lstStyle/>
          <a:p>
            <a:pPr eaLnBrk="1" hangingPunct="1"/>
            <a:r>
              <a:rPr lang="en-US" altLang="en-US" sz="3200" b="1"/>
              <a:t>5. Lớp và đối tượng trong C#</a:t>
            </a:r>
          </a:p>
        </p:txBody>
      </p:sp>
      <p:pic>
        <p:nvPicPr>
          <p:cNvPr id="413700" name="Picture 4">
            <a:extLst>
              <a:ext uri="{FF2B5EF4-FFF2-40B4-BE49-F238E27FC236}">
                <a16:creationId xmlns:a16="http://schemas.microsoft.com/office/drawing/2014/main" id="{FFA40F5C-F497-A1B0-DF07-4CD47B461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990600"/>
            <a:ext cx="7467600" cy="53340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13700"/>
                                        </p:tgtEl>
                                        <p:attrNameLst>
                                          <p:attrName>style.visibility</p:attrName>
                                        </p:attrNameLst>
                                      </p:cBhvr>
                                      <p:to>
                                        <p:strVal val="visible"/>
                                      </p:to>
                                    </p:set>
                                    <p:animEffect transition="in" filter="box(in)">
                                      <p:cBhvr>
                                        <p:cTn id="7" dur="1000"/>
                                        <p:tgtEl>
                                          <p:spTgt spid="413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D8205FBE-9180-CB39-F81E-A4BA573537AE}"/>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414724" name="Picture 4">
            <a:extLst>
              <a:ext uri="{FF2B5EF4-FFF2-40B4-BE49-F238E27FC236}">
                <a16:creationId xmlns:a16="http://schemas.microsoft.com/office/drawing/2014/main" id="{5101E883-0D9C-D747-7B21-4A4405FF64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066800"/>
            <a:ext cx="7924800" cy="51816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14724"/>
                                        </p:tgtEl>
                                        <p:attrNameLst>
                                          <p:attrName>style.visibility</p:attrName>
                                        </p:attrNameLst>
                                      </p:cBhvr>
                                      <p:to>
                                        <p:strVal val="visible"/>
                                      </p:to>
                                    </p:set>
                                    <p:animEffect transition="in" filter="box(in)">
                                      <p:cBhvr>
                                        <p:cTn id="7" dur="1000"/>
                                        <p:tgtEl>
                                          <p:spTgt spid="414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FF841400-B43F-0B2F-7D6D-51E951386DB2}"/>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384005" name="Picture 5">
            <a:extLst>
              <a:ext uri="{FF2B5EF4-FFF2-40B4-BE49-F238E27FC236}">
                <a16:creationId xmlns:a16="http://schemas.microsoft.com/office/drawing/2014/main" id="{BDA3F418-332C-2B1C-A580-35267C1E39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447800"/>
            <a:ext cx="3933825" cy="33528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pic>
        <p:nvPicPr>
          <p:cNvPr id="384006" name="Picture 6">
            <a:extLst>
              <a:ext uri="{FF2B5EF4-FFF2-40B4-BE49-F238E27FC236}">
                <a16:creationId xmlns:a16="http://schemas.microsoft.com/office/drawing/2014/main" id="{9CE57D58-693A-2A11-D107-A4181477C2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447800"/>
            <a:ext cx="4191000" cy="4953000"/>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
        <p:nvSpPr>
          <p:cNvPr id="57349" name="Text Box 7">
            <a:extLst>
              <a:ext uri="{FF2B5EF4-FFF2-40B4-BE49-F238E27FC236}">
                <a16:creationId xmlns:a16="http://schemas.microsoft.com/office/drawing/2014/main" id="{D0A5FD3E-590C-5EA0-DA35-A5C006B8D937}"/>
              </a:ext>
            </a:extLst>
          </p:cNvPr>
          <p:cNvSpPr txBox="1">
            <a:spLocks noChangeArrowheads="1"/>
          </p:cNvSpPr>
          <p:nvPr/>
        </p:nvSpPr>
        <p:spPr bwMode="auto">
          <a:xfrm>
            <a:off x="100013" y="795338"/>
            <a:ext cx="815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Thiết lập các thuộc tính trong class để lấy giá trị</a:t>
            </a:r>
          </a:p>
        </p:txBody>
      </p:sp>
      <p:pic>
        <p:nvPicPr>
          <p:cNvPr id="384008" name="Picture 8">
            <a:extLst>
              <a:ext uri="{FF2B5EF4-FFF2-40B4-BE49-F238E27FC236}">
                <a16:creationId xmlns:a16="http://schemas.microsoft.com/office/drawing/2014/main" id="{5CC725BB-7E7E-799A-EB4E-AB9890F665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4995863"/>
            <a:ext cx="3200400" cy="1400175"/>
          </a:xfrm>
          <a:prstGeom prst="rect">
            <a:avLst/>
          </a:prstGeom>
          <a:noFill/>
          <a:ln w="38100">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84006"/>
                                        </p:tgtEl>
                                        <p:attrNameLst>
                                          <p:attrName>style.visibility</p:attrName>
                                        </p:attrNameLst>
                                      </p:cBhvr>
                                      <p:to>
                                        <p:strVal val="visible"/>
                                      </p:to>
                                    </p:set>
                                    <p:animEffect transition="in" filter="box(in)">
                                      <p:cBhvr>
                                        <p:cTn id="7" dur="1000"/>
                                        <p:tgtEl>
                                          <p:spTgt spid="3840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84005"/>
                                        </p:tgtEl>
                                        <p:attrNameLst>
                                          <p:attrName>style.visibility</p:attrName>
                                        </p:attrNameLst>
                                      </p:cBhvr>
                                      <p:to>
                                        <p:strVal val="visible"/>
                                      </p:to>
                                    </p:set>
                                    <p:animEffect transition="in" filter="box(in)">
                                      <p:cBhvr>
                                        <p:cTn id="12" dur="1000"/>
                                        <p:tgtEl>
                                          <p:spTgt spid="3840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84008"/>
                                        </p:tgtEl>
                                        <p:attrNameLst>
                                          <p:attrName>style.visibility</p:attrName>
                                        </p:attrNameLst>
                                      </p:cBhvr>
                                      <p:to>
                                        <p:strVal val="visible"/>
                                      </p:to>
                                    </p:set>
                                    <p:animEffect transition="in" filter="box(in)">
                                      <p:cBhvr>
                                        <p:cTn id="17" dur="1000"/>
                                        <p:tgtEl>
                                          <p:spTgt spid="384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F129724-E62F-E38E-7D36-FA54EF9E6485}"/>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374788" name="Rectangle 4">
            <a:extLst>
              <a:ext uri="{FF2B5EF4-FFF2-40B4-BE49-F238E27FC236}">
                <a16:creationId xmlns:a16="http://schemas.microsoft.com/office/drawing/2014/main" id="{2C92D8CF-51F9-33C8-4E7F-4F29389797ED}"/>
              </a:ext>
            </a:extLst>
          </p:cNvPr>
          <p:cNvSpPr>
            <a:spLocks noChangeArrowheads="1"/>
          </p:cNvSpPr>
          <p:nvPr/>
        </p:nvSpPr>
        <p:spPr bwMode="auto">
          <a:xfrm>
            <a:off x="228600" y="2638425"/>
            <a:ext cx="8915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2. Từ khoá nào được sử dụng trong việc thực thi thuộc 	tính của lớp?</a:t>
            </a:r>
          </a:p>
        </p:txBody>
      </p:sp>
      <p:sp>
        <p:nvSpPr>
          <p:cNvPr id="374789" name="Rectangle 5">
            <a:extLst>
              <a:ext uri="{FF2B5EF4-FFF2-40B4-BE49-F238E27FC236}">
                <a16:creationId xmlns:a16="http://schemas.microsoft.com/office/drawing/2014/main" id="{EFCE03D7-E24F-FE0A-4661-E21552F50894}"/>
              </a:ext>
            </a:extLst>
          </p:cNvPr>
          <p:cNvSpPr>
            <a:spLocks noChangeArrowheads="1"/>
          </p:cNvSpPr>
          <p:nvPr/>
        </p:nvSpPr>
        <p:spPr bwMode="auto">
          <a:xfrm>
            <a:off x="290513" y="1428750"/>
            <a:ext cx="8839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00"/>
                </a:solidFill>
                <a:effectLst/>
                <a:uLnTx/>
                <a:uFillTx/>
                <a:latin typeface="Verdana" panose="020B0604030504040204" pitchFamily="34" charset="0"/>
                <a:ea typeface="+mn-ea"/>
                <a:cs typeface="+mn-cs"/>
              </a:rPr>
              <a:t>1. Sự khác nhau giữa thành viên được khai báo là 	public và các thành viên không được khai báo là 	public?</a:t>
            </a:r>
          </a:p>
        </p:txBody>
      </p:sp>
      <p:sp>
        <p:nvSpPr>
          <p:cNvPr id="374790" name="Rectangle 6">
            <a:extLst>
              <a:ext uri="{FF2B5EF4-FFF2-40B4-BE49-F238E27FC236}">
                <a16:creationId xmlns:a16="http://schemas.microsoft.com/office/drawing/2014/main" id="{91A0E3BA-E627-D1D9-3F30-88B5BD1D6F13}"/>
              </a:ext>
            </a:extLst>
          </p:cNvPr>
          <p:cNvSpPr>
            <a:spLocks noChangeArrowheads="1"/>
          </p:cNvSpPr>
          <p:nvPr/>
        </p:nvSpPr>
        <p:spPr bwMode="auto">
          <a:xfrm>
            <a:off x="228600" y="3505200"/>
            <a:ext cx="8915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3. Sự khác nhau giữa truyền biến tham chiếu và truyền 	biến tham trị vào một phương thức?</a:t>
            </a:r>
          </a:p>
        </p:txBody>
      </p:sp>
      <p:sp>
        <p:nvSpPr>
          <p:cNvPr id="58374" name="Text Box 8">
            <a:extLst>
              <a:ext uri="{FF2B5EF4-FFF2-40B4-BE49-F238E27FC236}">
                <a16:creationId xmlns:a16="http://schemas.microsoft.com/office/drawing/2014/main" id="{6BDE3CD0-44D1-3758-89F4-FE1B0AF5B6C2}"/>
              </a:ext>
            </a:extLst>
          </p:cNvPr>
          <p:cNvSpPr txBox="1">
            <a:spLocks noChangeArrowheads="1"/>
          </p:cNvSpPr>
          <p:nvPr/>
        </p:nvSpPr>
        <p:spPr bwMode="auto">
          <a:xfrm>
            <a:off x="3505200" y="842963"/>
            <a:ext cx="1752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8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Câu hỏi</a:t>
            </a:r>
          </a:p>
        </p:txBody>
      </p:sp>
      <p:sp>
        <p:nvSpPr>
          <p:cNvPr id="374793" name="Rectangle 9">
            <a:extLst>
              <a:ext uri="{FF2B5EF4-FFF2-40B4-BE49-F238E27FC236}">
                <a16:creationId xmlns:a16="http://schemas.microsoft.com/office/drawing/2014/main" id="{D71649CE-51A2-1A6A-B3EA-FAC44FE19609}"/>
              </a:ext>
            </a:extLst>
          </p:cNvPr>
          <p:cNvSpPr>
            <a:spLocks noChangeArrowheads="1"/>
          </p:cNvSpPr>
          <p:nvPr/>
        </p:nvSpPr>
        <p:spPr bwMode="auto">
          <a:xfrm>
            <a:off x="228600" y="4343400"/>
            <a:ext cx="8534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00"/>
                </a:solidFill>
                <a:effectLst/>
                <a:uLnTx/>
                <a:uFillTx/>
                <a:latin typeface="Verdana" panose="020B0604030504040204" pitchFamily="34" charset="0"/>
                <a:ea typeface="+mn-ea"/>
                <a:cs typeface="+mn-cs"/>
              </a:rPr>
              <a:t>5. Phương thức tĩnh có thể truy cập được thành viên 	nào và không truy cập được thành viên nào 	trong một lớp?</a:t>
            </a:r>
          </a:p>
        </p:txBody>
      </p:sp>
      <p:sp>
        <p:nvSpPr>
          <p:cNvPr id="374794" name="Rectangle 10">
            <a:extLst>
              <a:ext uri="{FF2B5EF4-FFF2-40B4-BE49-F238E27FC236}">
                <a16:creationId xmlns:a16="http://schemas.microsoft.com/office/drawing/2014/main" id="{591D9AFF-6F66-0B79-3ECE-F12E802FD23F}"/>
              </a:ext>
            </a:extLst>
          </p:cNvPr>
          <p:cNvSpPr>
            <a:spLocks noChangeArrowheads="1"/>
          </p:cNvSpPr>
          <p:nvPr/>
        </p:nvSpPr>
        <p:spPr bwMode="auto">
          <a:xfrm>
            <a:off x="252413" y="5562600"/>
            <a:ext cx="8763000" cy="89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CC0099"/>
                </a:solidFill>
                <a:effectLst/>
                <a:uLnTx/>
                <a:uFillTx/>
                <a:latin typeface="Verdana" panose="020B0604030504040204" pitchFamily="34" charset="0"/>
                <a:ea typeface="+mn-ea"/>
                <a:cs typeface="+mn-cs"/>
              </a:rPr>
              <a:t>5. Thành viên nào trong một lớp có thể được truy cập 	mà không phải tạo thể hiện của lớp?</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74789"/>
                                        </p:tgtEl>
                                        <p:attrNameLst>
                                          <p:attrName>style.visibility</p:attrName>
                                        </p:attrNameLst>
                                      </p:cBhvr>
                                      <p:to>
                                        <p:strVal val="visible"/>
                                      </p:to>
                                    </p:set>
                                    <p:animEffect transition="in" filter="box(in)">
                                      <p:cBhvr>
                                        <p:cTn id="7" dur="1000"/>
                                        <p:tgtEl>
                                          <p:spTgt spid="3747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74788"/>
                                        </p:tgtEl>
                                        <p:attrNameLst>
                                          <p:attrName>style.visibility</p:attrName>
                                        </p:attrNameLst>
                                      </p:cBhvr>
                                      <p:to>
                                        <p:strVal val="visible"/>
                                      </p:to>
                                    </p:set>
                                    <p:animEffect transition="in" filter="box(in)">
                                      <p:cBhvr>
                                        <p:cTn id="12" dur="1000"/>
                                        <p:tgtEl>
                                          <p:spTgt spid="3747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374790"/>
                                        </p:tgtEl>
                                        <p:attrNameLst>
                                          <p:attrName>style.visibility</p:attrName>
                                        </p:attrNameLst>
                                      </p:cBhvr>
                                      <p:to>
                                        <p:strVal val="visible"/>
                                      </p:to>
                                    </p:set>
                                    <p:animEffect transition="in" filter="box(in)">
                                      <p:cBhvr>
                                        <p:cTn id="17" dur="1000"/>
                                        <p:tgtEl>
                                          <p:spTgt spid="3747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374793"/>
                                        </p:tgtEl>
                                        <p:attrNameLst>
                                          <p:attrName>style.visibility</p:attrName>
                                        </p:attrNameLst>
                                      </p:cBhvr>
                                      <p:to>
                                        <p:strVal val="visible"/>
                                      </p:to>
                                    </p:set>
                                    <p:animEffect transition="in" filter="box(in)">
                                      <p:cBhvr>
                                        <p:cTn id="22" dur="1000"/>
                                        <p:tgtEl>
                                          <p:spTgt spid="3747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74794"/>
                                        </p:tgtEl>
                                        <p:attrNameLst>
                                          <p:attrName>style.visibility</p:attrName>
                                        </p:attrNameLst>
                                      </p:cBhvr>
                                      <p:to>
                                        <p:strVal val="visible"/>
                                      </p:to>
                                    </p:set>
                                    <p:animEffect transition="in" filter="box(in)">
                                      <p:cBhvr>
                                        <p:cTn id="27" dur="1000"/>
                                        <p:tgtEl>
                                          <p:spTgt spid="374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788" grpId="0"/>
      <p:bldP spid="374789" grpId="0"/>
      <p:bldP spid="374790" grpId="0"/>
      <p:bldP spid="374793" grpId="0"/>
      <p:bldP spid="374794"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2423EA85-819B-D5CA-D81B-2A2D9C4DDCD7}"/>
              </a:ext>
            </a:extLst>
          </p:cNvPr>
          <p:cNvSpPr>
            <a:spLocks noGrp="1" noChangeArrowheads="1"/>
          </p:cNvSpPr>
          <p:nvPr>
            <p:ph type="title"/>
          </p:nvPr>
        </p:nvSpPr>
        <p:spPr/>
        <p:txBody>
          <a:bodyPr/>
          <a:lstStyle/>
          <a:p>
            <a:pPr eaLnBrk="1" hangingPunct="1"/>
            <a:r>
              <a:rPr lang="en-US" altLang="en-US" sz="3000" b="1"/>
              <a:t>5. Lớp và đối tượng trong C#</a:t>
            </a:r>
          </a:p>
        </p:txBody>
      </p:sp>
      <p:sp>
        <p:nvSpPr>
          <p:cNvPr id="402437" name="Rectangle 5">
            <a:extLst>
              <a:ext uri="{FF2B5EF4-FFF2-40B4-BE49-F238E27FC236}">
                <a16:creationId xmlns:a16="http://schemas.microsoft.com/office/drawing/2014/main" id="{E5B2F77D-4D9B-714B-E66D-3500821475DD}"/>
              </a:ext>
            </a:extLst>
          </p:cNvPr>
          <p:cNvSpPr>
            <a:spLocks noChangeArrowheads="1"/>
          </p:cNvSpPr>
          <p:nvPr/>
        </p:nvSpPr>
        <p:spPr bwMode="auto">
          <a:xfrm>
            <a:off x="385763" y="1981200"/>
            <a:ext cx="8915400"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7. Tạo một class “</a:t>
            </a: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nhân viên</a:t>
            </a:r>
            <a:r>
              <a:rPr kumimoji="0" lang="en-US" altLang="en-US" sz="2400" b="0" i="0" u="none" strike="noStrike" kern="1200" cap="none" spc="0" normalizeH="0" baseline="0" noProof="0">
                <a:ln>
                  <a:noFill/>
                </a:ln>
                <a:solidFill>
                  <a:srgbClr val="660033"/>
                </a:solidFill>
                <a:effectLst/>
                <a:uLnTx/>
                <a:uFillTx/>
                <a:latin typeface="Verdana" panose="020B0604030504040204" pitchFamily="34" charset="0"/>
                <a:ea typeface="+mn-ea"/>
                <a:cs typeface="+mn-cs"/>
              </a:rPr>
              <a:t>” trong console application 	</a:t>
            </a:r>
            <a:r>
              <a:rPr kumimoji="0" lang="en-US" altLang="en-US" sz="2400" b="0" i="0" u="none" strike="noStrike" kern="1200" cap="none" spc="0" normalizeH="0" baseline="0" noProof="0">
                <a:ln>
                  <a:noFill/>
                </a:ln>
                <a:solidFill>
                  <a:srgbClr val="006600"/>
                </a:solidFill>
                <a:effectLst/>
                <a:uLnTx/>
                <a:uFillTx/>
                <a:latin typeface="Verdana" panose="020B0604030504040204" pitchFamily="34" charset="0"/>
                <a:ea typeface="+mn-ea"/>
                <a:cs typeface="+mn-cs"/>
              </a:rPr>
              <a:t>- thiết lập các thuộc tính sau: tên, tuổi, địa chỉ, 		lương cơ bản, hệ số, phụ cấp.</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6600"/>
                </a:solidFill>
                <a:effectLst/>
                <a:uLnTx/>
                <a:uFillTx/>
                <a:latin typeface="Verdana" panose="020B0604030504040204" pitchFamily="34" charset="0"/>
                <a:ea typeface="+mn-ea"/>
                <a:cs typeface="+mn-cs"/>
              </a:rPr>
              <a:t>	- thiết lập phương thức tính lương: </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6600"/>
                </a:solidFill>
                <a:effectLst/>
                <a:uLnTx/>
                <a:uFillTx/>
                <a:latin typeface="Verdana" panose="020B0604030504040204" pitchFamily="34" charset="0"/>
                <a:ea typeface="+mn-ea"/>
                <a:cs typeface="+mn-cs"/>
              </a:rPr>
              <a:t>		lương cơ bản x hệ số + phụ cấp</a:t>
            </a:r>
          </a:p>
        </p:txBody>
      </p:sp>
      <p:sp>
        <p:nvSpPr>
          <p:cNvPr id="59396" name="Text Box 6">
            <a:extLst>
              <a:ext uri="{FF2B5EF4-FFF2-40B4-BE49-F238E27FC236}">
                <a16:creationId xmlns:a16="http://schemas.microsoft.com/office/drawing/2014/main" id="{E04F27A4-A657-574E-FCE3-BB2E67DFCC05}"/>
              </a:ext>
            </a:extLst>
          </p:cNvPr>
          <p:cNvSpPr txBox="1">
            <a:spLocks noChangeArrowheads="1"/>
          </p:cNvSpPr>
          <p:nvPr/>
        </p:nvSpPr>
        <p:spPr bwMode="auto">
          <a:xfrm>
            <a:off x="3505200" y="842963"/>
            <a:ext cx="1752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50000"/>
              </a:spcBef>
              <a:spcAft>
                <a:spcPct val="0"/>
              </a:spcAft>
              <a:buClrTx/>
              <a:buSzTx/>
              <a:buFontTx/>
              <a:buNone/>
              <a:tabLst/>
              <a:defRPr/>
            </a:pPr>
            <a:r>
              <a:rPr kumimoji="0" lang="en-US" altLang="en-US" sz="2800" b="1" i="0" u="none" strike="noStrike" kern="1200" cap="none" spc="0" normalizeH="0" baseline="0" noProof="0">
                <a:ln>
                  <a:noFill/>
                </a:ln>
                <a:solidFill>
                  <a:srgbClr val="CC0000"/>
                </a:solidFill>
                <a:effectLst/>
                <a:uLnTx/>
                <a:uFillTx/>
                <a:latin typeface="Verdana" panose="020B0604030504040204" pitchFamily="34" charset="0"/>
                <a:ea typeface="+mn-ea"/>
                <a:cs typeface="+mn-cs"/>
              </a:rPr>
              <a:t>Câu hỏi</a:t>
            </a:r>
          </a:p>
        </p:txBody>
      </p:sp>
      <p:sp>
        <p:nvSpPr>
          <p:cNvPr id="402440" name="Rectangle 8">
            <a:extLst>
              <a:ext uri="{FF2B5EF4-FFF2-40B4-BE49-F238E27FC236}">
                <a16:creationId xmlns:a16="http://schemas.microsoft.com/office/drawing/2014/main" id="{EAA15D18-D128-3929-362C-AD6E0AC3E18E}"/>
              </a:ext>
            </a:extLst>
          </p:cNvPr>
          <p:cNvSpPr>
            <a:spLocks noChangeArrowheads="1"/>
          </p:cNvSpPr>
          <p:nvPr/>
        </p:nvSpPr>
        <p:spPr bwMode="auto">
          <a:xfrm>
            <a:off x="381000" y="1447800"/>
            <a:ext cx="876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990000"/>
                </a:solidFill>
                <a:effectLst/>
                <a:uLnTx/>
                <a:uFillTx/>
                <a:latin typeface="Verdana" panose="020B0604030504040204" pitchFamily="34" charset="0"/>
                <a:ea typeface="+mn-ea"/>
                <a:cs typeface="+mn-cs"/>
              </a:rPr>
              <a:t>6. Từ khóa this được dùng làm gì trong một lớp?</a:t>
            </a:r>
          </a:p>
        </p:txBody>
      </p:sp>
      <p:sp>
        <p:nvSpPr>
          <p:cNvPr id="402441" name="Rectangle 9">
            <a:extLst>
              <a:ext uri="{FF2B5EF4-FFF2-40B4-BE49-F238E27FC236}">
                <a16:creationId xmlns:a16="http://schemas.microsoft.com/office/drawing/2014/main" id="{E197FE24-F601-FB6B-04B7-13FCE8B0CFFD}"/>
              </a:ext>
            </a:extLst>
          </p:cNvPr>
          <p:cNvSpPr>
            <a:spLocks noChangeArrowheads="1"/>
          </p:cNvSpPr>
          <p:nvPr/>
        </p:nvSpPr>
        <p:spPr bwMode="auto">
          <a:xfrm>
            <a:off x="395288" y="4143375"/>
            <a:ext cx="84582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3366"/>
                </a:solidFill>
                <a:effectLst/>
                <a:uLnTx/>
                <a:uFillTx/>
                <a:latin typeface="Verdana" panose="020B0604030504040204" pitchFamily="34" charset="0"/>
                <a:ea typeface="+mn-ea"/>
                <a:cs typeface="+mn-cs"/>
              </a:rPr>
              <a:t>8. Viết lớp giải phương trình bậc hai. Lớp này có các 	thuộc tính a, b, c và nghiệm x1, x2. Xây dựng 	lớp trên theo hướng đối tượng. Lớp cho phép 	bên ngoài xem được các nghiệm của phương 	trình và thiết lập các giá trị a, b, c.</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2440"/>
                                        </p:tgtEl>
                                        <p:attrNameLst>
                                          <p:attrName>style.visibility</p:attrName>
                                        </p:attrNameLst>
                                      </p:cBhvr>
                                      <p:to>
                                        <p:strVal val="visible"/>
                                      </p:to>
                                    </p:set>
                                    <p:animEffect transition="in" filter="box(in)">
                                      <p:cBhvr>
                                        <p:cTn id="7" dur="1000"/>
                                        <p:tgtEl>
                                          <p:spTgt spid="4024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2437"/>
                                        </p:tgtEl>
                                        <p:attrNameLst>
                                          <p:attrName>style.visibility</p:attrName>
                                        </p:attrNameLst>
                                      </p:cBhvr>
                                      <p:to>
                                        <p:strVal val="visible"/>
                                      </p:to>
                                    </p:set>
                                    <p:animEffect transition="in" filter="box(in)">
                                      <p:cBhvr>
                                        <p:cTn id="12" dur="1000"/>
                                        <p:tgtEl>
                                          <p:spTgt spid="4024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02441"/>
                                        </p:tgtEl>
                                        <p:attrNameLst>
                                          <p:attrName>style.visibility</p:attrName>
                                        </p:attrNameLst>
                                      </p:cBhvr>
                                      <p:to>
                                        <p:strVal val="visible"/>
                                      </p:to>
                                    </p:set>
                                    <p:animEffect transition="in" filter="box(in)">
                                      <p:cBhvr>
                                        <p:cTn id="17" dur="1000"/>
                                        <p:tgtEl>
                                          <p:spTgt spid="402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7" grpId="0"/>
      <p:bldP spid="402440" grpId="0"/>
      <p:bldP spid="402441"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2EDBEF13-9A76-515B-FB64-ED177DB6DBAA}"/>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403460" name="Picture 4">
            <a:extLst>
              <a:ext uri="{FF2B5EF4-FFF2-40B4-BE49-F238E27FC236}">
                <a16:creationId xmlns:a16="http://schemas.microsoft.com/office/drawing/2014/main" id="{BF99AA68-D458-5C22-4B0E-390B1FDD3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286000"/>
            <a:ext cx="5715000" cy="4114800"/>
          </a:xfrm>
          <a:prstGeom prst="rect">
            <a:avLst/>
          </a:prstGeom>
          <a:noFill/>
          <a:ln w="38100">
            <a:solidFill>
              <a:srgbClr val="CC0099"/>
            </a:solidFill>
            <a:miter lim="800000"/>
            <a:headEnd/>
            <a:tailEnd/>
          </a:ln>
          <a:extLst>
            <a:ext uri="{909E8E84-426E-40DD-AFC4-6F175D3DCCD1}">
              <a14:hiddenFill xmlns:a14="http://schemas.microsoft.com/office/drawing/2010/main">
                <a:solidFill>
                  <a:srgbClr val="FFFFFF"/>
                </a:solidFill>
              </a14:hiddenFill>
            </a:ext>
          </a:extLst>
        </p:spPr>
      </p:pic>
      <p:sp>
        <p:nvSpPr>
          <p:cNvPr id="403461" name="Rectangle 5">
            <a:extLst>
              <a:ext uri="{FF2B5EF4-FFF2-40B4-BE49-F238E27FC236}">
                <a16:creationId xmlns:a16="http://schemas.microsoft.com/office/drawing/2014/main" id="{82096535-15BF-F52C-F7EA-32B06E21E047}"/>
              </a:ext>
            </a:extLst>
          </p:cNvPr>
          <p:cNvSpPr>
            <a:spLocks noChangeArrowheads="1"/>
          </p:cNvSpPr>
          <p:nvPr/>
        </p:nvSpPr>
        <p:spPr bwMode="auto">
          <a:xfrm>
            <a:off x="304800" y="914400"/>
            <a:ext cx="84582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9. Chương trình sau có lỗi. Hãy sửa lỗi của chương 	trình và biên dịch chương trình. Dòng lệnh nào 	gây ra lỗi?</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3461"/>
                                        </p:tgtEl>
                                        <p:attrNameLst>
                                          <p:attrName>style.visibility</p:attrName>
                                        </p:attrNameLst>
                                      </p:cBhvr>
                                      <p:to>
                                        <p:strVal val="visible"/>
                                      </p:to>
                                    </p:set>
                                    <p:animEffect transition="in" filter="box(in)">
                                      <p:cBhvr>
                                        <p:cTn id="7" dur="1000"/>
                                        <p:tgtEl>
                                          <p:spTgt spid="4034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3460"/>
                                        </p:tgtEl>
                                        <p:attrNameLst>
                                          <p:attrName>style.visibility</p:attrName>
                                        </p:attrNameLst>
                                      </p:cBhvr>
                                      <p:to>
                                        <p:strVal val="visible"/>
                                      </p:to>
                                    </p:set>
                                    <p:animEffect transition="in" filter="box(in)">
                                      <p:cBhvr>
                                        <p:cTn id="12" dur="1000"/>
                                        <p:tgtEl>
                                          <p:spTgt spid="403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61"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CE160951-E177-83AA-DBDC-8010EDE73ED4}"/>
              </a:ext>
            </a:extLst>
          </p:cNvPr>
          <p:cNvSpPr>
            <a:spLocks noGrp="1" noChangeArrowheads="1"/>
          </p:cNvSpPr>
          <p:nvPr>
            <p:ph type="title"/>
          </p:nvPr>
        </p:nvSpPr>
        <p:spPr/>
        <p:txBody>
          <a:bodyPr/>
          <a:lstStyle/>
          <a:p>
            <a:pPr eaLnBrk="1" hangingPunct="1"/>
            <a:r>
              <a:rPr lang="en-US" altLang="en-US" sz="3000" b="1"/>
              <a:t>5. Lớp và đối tượng trong C#</a:t>
            </a:r>
          </a:p>
        </p:txBody>
      </p:sp>
      <p:pic>
        <p:nvPicPr>
          <p:cNvPr id="404484" name="Picture 4">
            <a:extLst>
              <a:ext uri="{FF2B5EF4-FFF2-40B4-BE49-F238E27FC236}">
                <a16:creationId xmlns:a16="http://schemas.microsoft.com/office/drawing/2014/main" id="{679CD41D-B8A6-B869-5CB8-E7C0D331D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2286000"/>
            <a:ext cx="4543425" cy="4038600"/>
          </a:xfrm>
          <a:prstGeom prst="rect">
            <a:avLst/>
          </a:prstGeom>
          <a:noFill/>
          <a:ln w="38100">
            <a:solidFill>
              <a:srgbClr val="CC0099"/>
            </a:solidFill>
            <a:miter lim="800000"/>
            <a:headEnd/>
            <a:tailEnd/>
          </a:ln>
          <a:extLst>
            <a:ext uri="{909E8E84-426E-40DD-AFC4-6F175D3DCCD1}">
              <a14:hiddenFill xmlns:a14="http://schemas.microsoft.com/office/drawing/2010/main">
                <a:solidFill>
                  <a:srgbClr val="FFFFFF"/>
                </a:solidFill>
              </a14:hiddenFill>
            </a:ext>
          </a:extLst>
        </p:spPr>
      </p:pic>
      <p:sp>
        <p:nvSpPr>
          <p:cNvPr id="404485" name="Rectangle 5">
            <a:extLst>
              <a:ext uri="{FF2B5EF4-FFF2-40B4-BE49-F238E27FC236}">
                <a16:creationId xmlns:a16="http://schemas.microsoft.com/office/drawing/2014/main" id="{82E7F060-68E7-B017-9BF3-86B176FFA9F5}"/>
              </a:ext>
            </a:extLst>
          </p:cNvPr>
          <p:cNvSpPr>
            <a:spLocks noChangeArrowheads="1"/>
          </p:cNvSpPr>
          <p:nvPr/>
        </p:nvSpPr>
        <p:spPr bwMode="auto">
          <a:xfrm>
            <a:off x="228600" y="914400"/>
            <a:ext cx="89154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srgbClr val="000066"/>
                </a:solidFill>
                <a:effectLst/>
                <a:uLnTx/>
                <a:uFillTx/>
                <a:latin typeface="Verdana" panose="020B0604030504040204" pitchFamily="34" charset="0"/>
                <a:ea typeface="+mn-ea"/>
                <a:cs typeface="+mn-cs"/>
              </a:rPr>
              <a:t>10. Chương trình sau có lỗi. Hãy sửa lỗi của chương 	trình và biên dịch chương trình. Dòng lệnh nào 	gây ra lỗi?</a:t>
            </a:r>
          </a:p>
        </p:txBody>
      </p:sp>
    </p:spTree>
  </p:cSld>
  <p:clrMapOvr>
    <a:masterClrMapping/>
  </p:clrMapOvr>
  <p:transition advTm="6000"/>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04485"/>
                                        </p:tgtEl>
                                        <p:attrNameLst>
                                          <p:attrName>style.visibility</p:attrName>
                                        </p:attrNameLst>
                                      </p:cBhvr>
                                      <p:to>
                                        <p:strVal val="visible"/>
                                      </p:to>
                                    </p:set>
                                    <p:animEffect transition="in" filter="box(in)">
                                      <p:cBhvr>
                                        <p:cTn id="7" dur="1000"/>
                                        <p:tgtEl>
                                          <p:spTgt spid="4044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04484"/>
                                        </p:tgtEl>
                                        <p:attrNameLst>
                                          <p:attrName>style.visibility</p:attrName>
                                        </p:attrNameLst>
                                      </p:cBhvr>
                                      <p:to>
                                        <p:strVal val="visible"/>
                                      </p:to>
                                    </p:set>
                                    <p:animEffect transition="in" filter="box(in)">
                                      <p:cBhvr>
                                        <p:cTn id="12" dur="1000"/>
                                        <p:tgtEl>
                                          <p:spTgt spid="404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5" grpId="0"/>
    </p:bldLst>
  </p:timing>
</p:sld>
</file>

<file path=ppt/tags/tag1.xml><?xml version="1.0" encoding="utf-8"?>
<p:tagLst xmlns:a="http://schemas.openxmlformats.org/drawingml/2006/main" xmlns:r="http://schemas.openxmlformats.org/officeDocument/2006/relationships" xmlns:p="http://schemas.openxmlformats.org/presentationml/2006/main">
  <p:tag name="INKNOELEADERBOARD" val="-828670764"/>
</p:tagLst>
</file>

<file path=ppt/theme/theme1.xml><?xml version="1.0" encoding="utf-8"?>
<a:theme xmlns:a="http://schemas.openxmlformats.org/drawingml/2006/main" name="cdb2004112l">
  <a:themeElements>
    <a:clrScheme name="sample 3">
      <a:dk1>
        <a:srgbClr val="002A00"/>
      </a:dk1>
      <a:lt1>
        <a:srgbClr val="FFFFFF"/>
      </a:lt1>
      <a:dk2>
        <a:srgbClr val="FFFFE7"/>
      </a:dk2>
      <a:lt2>
        <a:srgbClr val="B2B2B2"/>
      </a:lt2>
      <a:accent1>
        <a:srgbClr val="6D77BF"/>
      </a:accent1>
      <a:accent2>
        <a:srgbClr val="669900"/>
      </a:accent2>
      <a:accent3>
        <a:srgbClr val="FFFFFF"/>
      </a:accent3>
      <a:accent4>
        <a:srgbClr val="002200"/>
      </a:accent4>
      <a:accent5>
        <a:srgbClr val="BABDDC"/>
      </a:accent5>
      <a:accent6>
        <a:srgbClr val="5C8A00"/>
      </a:accent6>
      <a:hlink>
        <a:srgbClr val="A76E23"/>
      </a:hlink>
      <a:folHlink>
        <a:srgbClr val="145232"/>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spAutoFit/>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smtClean="0">
            <a:ln>
              <a:noFill/>
            </a:ln>
            <a:solidFill>
              <a:schemeClr val="bg1"/>
            </a:solidFill>
            <a:effectLst/>
            <a:latin typeface="Arial" charset="0"/>
          </a:defRPr>
        </a:defPPr>
      </a:lstStyle>
    </a:lnDef>
  </a:objectDefaults>
  <a:extraClrSchemeLst>
    <a:extraClrScheme>
      <a:clrScheme name="sample 1">
        <a:dk1>
          <a:srgbClr val="000066"/>
        </a:dk1>
        <a:lt1>
          <a:srgbClr val="FFFFFF"/>
        </a:lt1>
        <a:dk2>
          <a:srgbClr val="E1E1E7"/>
        </a:dk2>
        <a:lt2>
          <a:srgbClr val="B2B2B2"/>
        </a:lt2>
        <a:accent1>
          <a:srgbClr val="009999"/>
        </a:accent1>
        <a:accent2>
          <a:srgbClr val="FF9933"/>
        </a:accent2>
        <a:accent3>
          <a:srgbClr val="FFFFFF"/>
        </a:accent3>
        <a:accent4>
          <a:srgbClr val="000056"/>
        </a:accent4>
        <a:accent5>
          <a:srgbClr val="AACACA"/>
        </a:accent5>
        <a:accent6>
          <a:srgbClr val="E78A2D"/>
        </a:accent6>
        <a:hlink>
          <a:srgbClr val="6A9EB0"/>
        </a:hlink>
        <a:folHlink>
          <a:srgbClr val="336699"/>
        </a:folHlink>
      </a:clrScheme>
      <a:clrMap bg1="lt1" tx1="dk1" bg2="lt2" tx2="dk2" accent1="accent1" accent2="accent2" accent3="accent3" accent4="accent4" accent5="accent5" accent6="accent6" hlink="hlink" folHlink="folHlink"/>
    </a:extraClrScheme>
    <a:extraClrScheme>
      <a:clrScheme name="sample 2">
        <a:dk1>
          <a:srgbClr val="000000"/>
        </a:dk1>
        <a:lt1>
          <a:srgbClr val="FFFFFF"/>
        </a:lt1>
        <a:dk2>
          <a:srgbClr val="FFFFFF"/>
        </a:dk2>
        <a:lt2>
          <a:srgbClr val="B2B2B2"/>
        </a:lt2>
        <a:accent1>
          <a:srgbClr val="C0D070"/>
        </a:accent1>
        <a:accent2>
          <a:srgbClr val="0099CC"/>
        </a:accent2>
        <a:accent3>
          <a:srgbClr val="FFFFFF"/>
        </a:accent3>
        <a:accent4>
          <a:srgbClr val="000000"/>
        </a:accent4>
        <a:accent5>
          <a:srgbClr val="DCE4BB"/>
        </a:accent5>
        <a:accent6>
          <a:srgbClr val="008AB9"/>
        </a:accent6>
        <a:hlink>
          <a:srgbClr val="CA9938"/>
        </a:hlink>
        <a:folHlink>
          <a:srgbClr val="683241"/>
        </a:folHlink>
      </a:clrScheme>
      <a:clrMap bg1="lt1" tx1="dk1" bg2="lt2" tx2="dk2" accent1="accent1" accent2="accent2" accent3="accent3" accent4="accent4" accent5="accent5" accent6="accent6" hlink="hlink" folHlink="folHlink"/>
    </a:extraClrScheme>
    <a:extraClrScheme>
      <a:clrScheme name="sample 3">
        <a:dk1>
          <a:srgbClr val="002A00"/>
        </a:dk1>
        <a:lt1>
          <a:srgbClr val="FFFFFF"/>
        </a:lt1>
        <a:dk2>
          <a:srgbClr val="FFFFE7"/>
        </a:dk2>
        <a:lt2>
          <a:srgbClr val="B2B2B2"/>
        </a:lt2>
        <a:accent1>
          <a:srgbClr val="6D77BF"/>
        </a:accent1>
        <a:accent2>
          <a:srgbClr val="669900"/>
        </a:accent2>
        <a:accent3>
          <a:srgbClr val="FFFFFF"/>
        </a:accent3>
        <a:accent4>
          <a:srgbClr val="002200"/>
        </a:accent4>
        <a:accent5>
          <a:srgbClr val="BABDDC"/>
        </a:accent5>
        <a:accent6>
          <a:srgbClr val="5C8A00"/>
        </a:accent6>
        <a:hlink>
          <a:srgbClr val="A76E23"/>
        </a:hlink>
        <a:folHlink>
          <a:srgbClr val="14523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cdb2004112l</Template>
  <TotalTime>12293</TotalTime>
  <Words>2680</Words>
  <Application>Microsoft Office PowerPoint</Application>
  <PresentationFormat>On-screen Show (4:3)</PresentationFormat>
  <Paragraphs>172</Paragraphs>
  <Slides>45</Slides>
  <Notes>3</Notes>
  <HiddenSlides>0</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45</vt:i4>
      </vt:variant>
    </vt:vector>
  </HeadingPairs>
  <TitlesOfParts>
    <vt:vector size="54" baseType="lpstr">
      <vt:lpstr>Arial</vt:lpstr>
      <vt:lpstr>Calibri</vt:lpstr>
      <vt:lpstr>Tahoma</vt:lpstr>
      <vt:lpstr>Verdana</vt:lpstr>
      <vt:lpstr>Wingdings</vt:lpstr>
      <vt:lpstr>cdb2004112l</vt:lpstr>
      <vt:lpstr>Custom Design</vt:lpstr>
      <vt:lpstr>Profile</vt:lpstr>
      <vt:lpstr>Image</vt:lpstr>
      <vt:lpstr>LẬP TRÌNH. NET</vt:lpstr>
      <vt:lpstr>Chương 2. Lập trình hướng đối tượng với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lpstr>5. Lớp và đối tượng trong 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HIỂU BÀI TOÁN PHÂN LOẠI VĂN BẢN TIẾNG VIỆT TRONG KHAI PHÁ DỮ LIỆU VĂN BẢN</dc:title>
  <dc:creator>Trung Dung</dc:creator>
  <cp:lastModifiedBy>Nguyễn Thu Hằng</cp:lastModifiedBy>
  <cp:revision>833</cp:revision>
  <dcterms:created xsi:type="dcterms:W3CDTF">2014-02-26T07:45:26Z</dcterms:created>
  <dcterms:modified xsi:type="dcterms:W3CDTF">2024-05-17T06:25:36Z</dcterms:modified>
</cp:coreProperties>
</file>