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 id="2147483686" r:id="rId3"/>
  </p:sldMasterIdLst>
  <p:notesMasterIdLst>
    <p:notesMasterId r:id="rId52"/>
  </p:notesMasterIdLst>
  <p:handoutMasterIdLst>
    <p:handoutMasterId r:id="rId53"/>
  </p:handoutMasterIdLst>
  <p:sldIdLst>
    <p:sldId id="256" r:id="rId4"/>
    <p:sldId id="644" r:id="rId5"/>
    <p:sldId id="667" r:id="rId6"/>
    <p:sldId id="668" r:id="rId7"/>
    <p:sldId id="669" r:id="rId8"/>
    <p:sldId id="670" r:id="rId9"/>
    <p:sldId id="671" r:id="rId10"/>
    <p:sldId id="672" r:id="rId11"/>
    <p:sldId id="673" r:id="rId12"/>
    <p:sldId id="674" r:id="rId13"/>
    <p:sldId id="675" r:id="rId14"/>
    <p:sldId id="676" r:id="rId15"/>
    <p:sldId id="677" r:id="rId16"/>
    <p:sldId id="678" r:id="rId17"/>
    <p:sldId id="679" r:id="rId18"/>
    <p:sldId id="680" r:id="rId19"/>
    <p:sldId id="704" r:id="rId20"/>
    <p:sldId id="681" r:id="rId21"/>
    <p:sldId id="682" r:id="rId22"/>
    <p:sldId id="683" r:id="rId23"/>
    <p:sldId id="684" r:id="rId24"/>
    <p:sldId id="685" r:id="rId25"/>
    <p:sldId id="686" r:id="rId26"/>
    <p:sldId id="687" r:id="rId27"/>
    <p:sldId id="688" r:id="rId28"/>
    <p:sldId id="689" r:id="rId29"/>
    <p:sldId id="690" r:id="rId30"/>
    <p:sldId id="691" r:id="rId31"/>
    <p:sldId id="692" r:id="rId32"/>
    <p:sldId id="693" r:id="rId33"/>
    <p:sldId id="694" r:id="rId34"/>
    <p:sldId id="695" r:id="rId35"/>
    <p:sldId id="696" r:id="rId36"/>
    <p:sldId id="697" r:id="rId37"/>
    <p:sldId id="698" r:id="rId38"/>
    <p:sldId id="699" r:id="rId39"/>
    <p:sldId id="700" r:id="rId40"/>
    <p:sldId id="378" r:id="rId41"/>
    <p:sldId id="379" r:id="rId42"/>
    <p:sldId id="380" r:id="rId43"/>
    <p:sldId id="381" r:id="rId44"/>
    <p:sldId id="701" r:id="rId45"/>
    <p:sldId id="702" r:id="rId46"/>
    <p:sldId id="703" r:id="rId47"/>
    <p:sldId id="385" r:id="rId48"/>
    <p:sldId id="386" r:id="rId49"/>
    <p:sldId id="387" r:id="rId50"/>
    <p:sldId id="388" r:id="rId51"/>
  </p:sldIdLst>
  <p:sldSz cx="9144000" cy="6858000" type="screen4x3"/>
  <p:notesSz cx="6858000" cy="9144000"/>
  <p:custDataLst>
    <p:tags r:id="rId54"/>
  </p:custDataLst>
  <p:defaultTextStyle>
    <a:defPPr>
      <a:defRPr lang="en-US"/>
    </a:defPPr>
    <a:lvl1pPr algn="ctr" rtl="0" eaLnBrk="0" fontAlgn="base" hangingPunct="0">
      <a:spcBef>
        <a:spcPct val="0"/>
      </a:spcBef>
      <a:spcAft>
        <a:spcPct val="0"/>
      </a:spcAft>
      <a:defRPr sz="2000" b="1" kern="1200">
        <a:solidFill>
          <a:schemeClr val="bg1"/>
        </a:solidFill>
        <a:latin typeface="Arial" charset="0"/>
        <a:ea typeface="+mn-ea"/>
        <a:cs typeface="+mn-cs"/>
      </a:defRPr>
    </a:lvl1pPr>
    <a:lvl2pPr marL="457200" algn="ctr" rtl="0" eaLnBrk="0" fontAlgn="base" hangingPunct="0">
      <a:spcBef>
        <a:spcPct val="0"/>
      </a:spcBef>
      <a:spcAft>
        <a:spcPct val="0"/>
      </a:spcAft>
      <a:defRPr sz="2000" b="1" kern="1200">
        <a:solidFill>
          <a:schemeClr val="bg1"/>
        </a:solidFill>
        <a:latin typeface="Arial" charset="0"/>
        <a:ea typeface="+mn-ea"/>
        <a:cs typeface="+mn-cs"/>
      </a:defRPr>
    </a:lvl2pPr>
    <a:lvl3pPr marL="914400" algn="ctr" rtl="0" eaLnBrk="0" fontAlgn="base" hangingPunct="0">
      <a:spcBef>
        <a:spcPct val="0"/>
      </a:spcBef>
      <a:spcAft>
        <a:spcPct val="0"/>
      </a:spcAft>
      <a:defRPr sz="2000" b="1" kern="1200">
        <a:solidFill>
          <a:schemeClr val="bg1"/>
        </a:solidFill>
        <a:latin typeface="Arial" charset="0"/>
        <a:ea typeface="+mn-ea"/>
        <a:cs typeface="+mn-cs"/>
      </a:defRPr>
    </a:lvl3pPr>
    <a:lvl4pPr marL="1371600" algn="ctr" rtl="0" eaLnBrk="0" fontAlgn="base" hangingPunct="0">
      <a:spcBef>
        <a:spcPct val="0"/>
      </a:spcBef>
      <a:spcAft>
        <a:spcPct val="0"/>
      </a:spcAft>
      <a:defRPr sz="2000" b="1" kern="1200">
        <a:solidFill>
          <a:schemeClr val="bg1"/>
        </a:solidFill>
        <a:latin typeface="Arial" charset="0"/>
        <a:ea typeface="+mn-ea"/>
        <a:cs typeface="+mn-cs"/>
      </a:defRPr>
    </a:lvl4pPr>
    <a:lvl5pPr marL="1828800" algn="ctr" rtl="0" eaLnBrk="0" fontAlgn="base" hangingPunct="0">
      <a:spcBef>
        <a:spcPct val="0"/>
      </a:spcBef>
      <a:spcAft>
        <a:spcPct val="0"/>
      </a:spcAft>
      <a:defRPr sz="2000" b="1" kern="1200">
        <a:solidFill>
          <a:schemeClr val="bg1"/>
        </a:solidFill>
        <a:latin typeface="Arial" charset="0"/>
        <a:ea typeface="+mn-ea"/>
        <a:cs typeface="+mn-cs"/>
      </a:defRPr>
    </a:lvl5pPr>
    <a:lvl6pPr marL="2286000" algn="l" defTabSz="914400" rtl="0" eaLnBrk="1" latinLnBrk="0" hangingPunct="1">
      <a:defRPr sz="2000" b="1" kern="1200">
        <a:solidFill>
          <a:schemeClr val="bg1"/>
        </a:solidFill>
        <a:latin typeface="Arial" charset="0"/>
        <a:ea typeface="+mn-ea"/>
        <a:cs typeface="+mn-cs"/>
      </a:defRPr>
    </a:lvl6pPr>
    <a:lvl7pPr marL="2743200" algn="l" defTabSz="914400" rtl="0" eaLnBrk="1" latinLnBrk="0" hangingPunct="1">
      <a:defRPr sz="2000" b="1" kern="1200">
        <a:solidFill>
          <a:schemeClr val="bg1"/>
        </a:solidFill>
        <a:latin typeface="Arial" charset="0"/>
        <a:ea typeface="+mn-ea"/>
        <a:cs typeface="+mn-cs"/>
      </a:defRPr>
    </a:lvl7pPr>
    <a:lvl8pPr marL="3200400" algn="l" defTabSz="914400" rtl="0" eaLnBrk="1" latinLnBrk="0" hangingPunct="1">
      <a:defRPr sz="2000" b="1" kern="1200">
        <a:solidFill>
          <a:schemeClr val="bg1"/>
        </a:solidFill>
        <a:latin typeface="Arial" charset="0"/>
        <a:ea typeface="+mn-ea"/>
        <a:cs typeface="+mn-cs"/>
      </a:defRPr>
    </a:lvl8pPr>
    <a:lvl9pPr marL="3657600" algn="l" defTabSz="914400" rtl="0" eaLnBrk="1" latinLnBrk="0" hangingPunct="1">
      <a:defRPr sz="2000" b="1"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000000"/>
    <a:srgbClr val="99CCFF"/>
    <a:srgbClr val="000066"/>
    <a:srgbClr val="0066FF"/>
    <a:srgbClr val="66FFCC"/>
    <a:srgbClr val="FFFF00"/>
    <a:srgbClr val="003366"/>
    <a:srgbClr val="6D77BF"/>
    <a:srgbClr val="FFFF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32" autoAdjust="0"/>
    <p:restoredTop sz="87059" autoAdjust="0"/>
  </p:normalViewPr>
  <p:slideViewPr>
    <p:cSldViewPr>
      <p:cViewPr varScale="1">
        <p:scale>
          <a:sx n="59" d="100"/>
          <a:sy n="59" d="100"/>
        </p:scale>
        <p:origin x="192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US"/>
              <a:t>2/24/2014</a:t>
            </a: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3386F88-3FE7-405B-BE94-6829C42340B9}" type="slidenum">
              <a:rPr lang="en-US" smtClean="0"/>
              <a:pPr/>
              <a:t>‹#›</a:t>
            </a:fld>
            <a:endParaRPr lang="en-US"/>
          </a:p>
        </p:txBody>
      </p:sp>
    </p:spTree>
    <p:extLst>
      <p:ext uri="{BB962C8B-B14F-4D97-AF65-F5344CB8AC3E}">
        <p14:creationId xmlns:p14="http://schemas.microsoft.com/office/powerpoint/2010/main" val="25360194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r>
              <a:rPr lang="en-US"/>
              <a:t>2/24/2014</a:t>
            </a: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13CA4F-A9C9-4EFC-90C3-4AFCE306301D}" type="slidenum">
              <a:rPr lang="en-US" smtClean="0"/>
              <a:pPr/>
              <a:t>‹#›</a:t>
            </a:fld>
            <a:endParaRPr lang="en-US"/>
          </a:p>
        </p:txBody>
      </p:sp>
    </p:spTree>
    <p:extLst>
      <p:ext uri="{BB962C8B-B14F-4D97-AF65-F5344CB8AC3E}">
        <p14:creationId xmlns:p14="http://schemas.microsoft.com/office/powerpoint/2010/main" val="3345742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13CA4F-A9C9-4EFC-90C3-4AFCE306301D}" type="slidenum">
              <a:rPr lang="en-US" smtClean="0"/>
              <a:pPr/>
              <a:t>1</a:t>
            </a:fld>
            <a:endParaRPr lang="en-US"/>
          </a:p>
        </p:txBody>
      </p:sp>
    </p:spTree>
    <p:extLst>
      <p:ext uri="{BB962C8B-B14F-4D97-AF65-F5344CB8AC3E}">
        <p14:creationId xmlns:p14="http://schemas.microsoft.com/office/powerpoint/2010/main" val="2937520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13CA4F-A9C9-4EFC-90C3-4AFCE306301D}" type="slidenum">
              <a:rPr lang="en-US" smtClean="0"/>
              <a:pPr/>
              <a:t>2</a:t>
            </a:fld>
            <a:endParaRPr lang="en-US"/>
          </a:p>
        </p:txBody>
      </p:sp>
    </p:spTree>
    <p:extLst>
      <p:ext uri="{BB962C8B-B14F-4D97-AF65-F5344CB8AC3E}">
        <p14:creationId xmlns:p14="http://schemas.microsoft.com/office/powerpoint/2010/main" val="970614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E04AD7AB-C9DA-251C-5DE9-D533BC52BD56}"/>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30A0C0F0-C6D5-6067-94E7-2AEE793541AA}"/>
              </a:ext>
            </a:extLst>
          </p:cNvPr>
          <p:cNvSpPr>
            <a:spLocks noGrp="1"/>
          </p:cNvSpPr>
          <p:nvPr>
            <p:ph type="body" idx="1"/>
          </p:nvPr>
        </p:nvSpPr>
        <p:spPr>
          <a:noFill/>
        </p:spPr>
        <p:txBody>
          <a:bodyPr/>
          <a:lstStyle/>
          <a:p>
            <a:pPr eaLnBrk="1" hangingPunct="1"/>
            <a:endParaRPr lang="en-US" altLang="en-US">
              <a:latin typeface="Arial" panose="020B0604020202020204" pitchFamily="34" charset="0"/>
            </a:endParaRPr>
          </a:p>
        </p:txBody>
      </p:sp>
      <p:sp>
        <p:nvSpPr>
          <p:cNvPr id="18436" name="Slide Number Placeholder 3">
            <a:extLst>
              <a:ext uri="{FF2B5EF4-FFF2-40B4-BE49-F238E27FC236}">
                <a16:creationId xmlns:a16="http://schemas.microsoft.com/office/drawing/2014/main" id="{72D6AEB5-6FC6-8CB2-3503-C729C9FEE040}"/>
              </a:ext>
            </a:extLst>
          </p:cNvPr>
          <p:cNvSpPr>
            <a:spLocks noGrp="1"/>
          </p:cNvSpPr>
          <p:nvPr>
            <p:ph type="sldNum" sz="quarter" idx="5"/>
          </p:nvPr>
        </p:nvSpPr>
        <p:spPr>
          <a:noFill/>
        </p:spPr>
        <p:txBody>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3D737F9-5AE6-488D-A45B-7864ADA6E8BD}"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3089" name="Object 17"/>
          <p:cNvGraphicFramePr>
            <a:graphicFrameLocks noChangeAspect="1"/>
          </p:cNvGraphicFramePr>
          <p:nvPr>
            <p:extLst>
              <p:ext uri="{D42A27DB-BD31-4B8C-83A1-F6EECF244321}">
                <p14:modId xmlns:p14="http://schemas.microsoft.com/office/powerpoint/2010/main" val="3270734897"/>
              </p:ext>
            </p:extLst>
          </p:nvPr>
        </p:nvGraphicFramePr>
        <p:xfrm>
          <a:off x="76202" y="76201"/>
          <a:ext cx="9015410" cy="3124199"/>
        </p:xfrm>
        <a:graphic>
          <a:graphicData uri="http://schemas.openxmlformats.org/presentationml/2006/ole">
            <mc:AlternateContent xmlns:mc="http://schemas.openxmlformats.org/markup-compatibility/2006">
              <mc:Choice xmlns:v="urn:schemas-microsoft-com:vml" Requires="v">
                <p:oleObj name="Image" r:id="rId2" imgW="8673016" imgH="4647619" progId="">
                  <p:embed/>
                </p:oleObj>
              </mc:Choice>
              <mc:Fallback>
                <p:oleObj name="Image" r:id="rId2" imgW="8673016" imgH="4647619" progId="">
                  <p:embed/>
                  <p:pic>
                    <p:nvPicPr>
                      <p:cNvPr id="0" name="Picture 7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 y="76201"/>
                        <a:ext cx="9015410" cy="3124199"/>
                      </a:xfrm>
                      <a:prstGeom prst="rect">
                        <a:avLst/>
                      </a:prstGeom>
                      <a:noFill/>
                    </p:spPr>
                  </p:pic>
                </p:oleObj>
              </mc:Fallback>
            </mc:AlternateContent>
          </a:graphicData>
        </a:graphic>
      </p:graphicFrame>
      <p:sp>
        <p:nvSpPr>
          <p:cNvPr id="3090" name="Rectangle 18"/>
          <p:cNvSpPr>
            <a:spLocks noChangeArrowheads="1"/>
          </p:cNvSpPr>
          <p:nvPr userDrawn="1"/>
        </p:nvSpPr>
        <p:spPr bwMode="gray">
          <a:xfrm>
            <a:off x="0" y="3276600"/>
            <a:ext cx="9091612" cy="35401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091" name="Group 19"/>
          <p:cNvGrpSpPr>
            <a:grpSpLocks/>
          </p:cNvGrpSpPr>
          <p:nvPr/>
        </p:nvGrpSpPr>
        <p:grpSpPr bwMode="auto">
          <a:xfrm>
            <a:off x="-6350" y="0"/>
            <a:ext cx="9155113" cy="6859588"/>
            <a:chOff x="0" y="0"/>
            <a:chExt cx="5764" cy="4321"/>
          </a:xfrm>
        </p:grpSpPr>
        <p:sp>
          <p:nvSpPr>
            <p:cNvPr id="3092" name="AutoShape 20"/>
            <p:cNvSpPr>
              <a:spLocks noChangeArrowheads="1"/>
            </p:cNvSpPr>
            <p:nvPr/>
          </p:nvSpPr>
          <p:spPr bwMode="gray">
            <a:xfrm>
              <a:off x="27" y="24"/>
              <a:ext cx="5712" cy="4274"/>
            </a:xfrm>
            <a:prstGeom prst="roundRect">
              <a:avLst>
                <a:gd name="adj" fmla="val 6227"/>
              </a:avLst>
            </a:prstGeom>
            <a:noFill/>
            <a:ln w="76200">
              <a:solidFill>
                <a:schemeClr val="bg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93" name="Freeform 21"/>
            <p:cNvSpPr>
              <a:spLocks/>
            </p:cNvSpPr>
            <p:nvPr/>
          </p:nvSpPr>
          <p:spPr bwMode="gray">
            <a:xfrm>
              <a:off x="0" y="0"/>
              <a:ext cx="288" cy="282"/>
            </a:xfrm>
            <a:custGeom>
              <a:avLst/>
              <a:gdLst>
                <a:gd name="T0" fmla="*/ 2 w 288"/>
                <a:gd name="T1" fmla="*/ 282 h 282"/>
                <a:gd name="T2" fmla="*/ 82 w 288"/>
                <a:gd name="T3" fmla="*/ 144 h 282"/>
                <a:gd name="T4" fmla="*/ 165 w 288"/>
                <a:gd name="T5" fmla="*/ 36 h 282"/>
                <a:gd name="T6" fmla="*/ 288 w 288"/>
                <a:gd name="T7" fmla="*/ 0 h 282"/>
                <a:gd name="T8" fmla="*/ 0 w 288"/>
                <a:gd name="T9" fmla="*/ 0 h 282"/>
              </a:gdLst>
              <a:ahLst/>
              <a:cxnLst>
                <a:cxn ang="0">
                  <a:pos x="T0" y="T1"/>
                </a:cxn>
                <a:cxn ang="0">
                  <a:pos x="T2" y="T3"/>
                </a:cxn>
                <a:cxn ang="0">
                  <a:pos x="T4" y="T5"/>
                </a:cxn>
                <a:cxn ang="0">
                  <a:pos x="T6" y="T7"/>
                </a:cxn>
                <a:cxn ang="0">
                  <a:pos x="T8" y="T9"/>
                </a:cxn>
              </a:cxnLst>
              <a:rect l="0" t="0" r="r" b="b"/>
              <a:pathLst>
                <a:path w="288" h="282">
                  <a:moveTo>
                    <a:pt x="2" y="282"/>
                  </a:moveTo>
                  <a:lnTo>
                    <a:pt x="82" y="144"/>
                  </a:lnTo>
                  <a:lnTo>
                    <a:pt x="165" y="36"/>
                  </a:lnTo>
                  <a:lnTo>
                    <a:pt x="288" y="0"/>
                  </a:lnTo>
                  <a:lnTo>
                    <a:pt x="0"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4" name="Freeform 22"/>
            <p:cNvSpPr>
              <a:spLocks/>
            </p:cNvSpPr>
            <p:nvPr/>
          </p:nvSpPr>
          <p:spPr bwMode="gray">
            <a:xfrm>
              <a:off x="5" y="3985"/>
              <a:ext cx="244" cy="336"/>
            </a:xfrm>
            <a:custGeom>
              <a:avLst/>
              <a:gdLst>
                <a:gd name="T0" fmla="*/ 243 w 243"/>
                <a:gd name="T1" fmla="*/ 335 h 336"/>
                <a:gd name="T2" fmla="*/ 122 w 243"/>
                <a:gd name="T3" fmla="*/ 239 h 336"/>
                <a:gd name="T4" fmla="*/ 30 w 243"/>
                <a:gd name="T5" fmla="*/ 144 h 336"/>
                <a:gd name="T6" fmla="*/ 0 w 243"/>
                <a:gd name="T7" fmla="*/ 0 h 336"/>
                <a:gd name="T8" fmla="*/ 1 w 243"/>
                <a:gd name="T9" fmla="*/ 336 h 336"/>
              </a:gdLst>
              <a:ahLst/>
              <a:cxnLst>
                <a:cxn ang="0">
                  <a:pos x="T0" y="T1"/>
                </a:cxn>
                <a:cxn ang="0">
                  <a:pos x="T2" y="T3"/>
                </a:cxn>
                <a:cxn ang="0">
                  <a:pos x="T4" y="T5"/>
                </a:cxn>
                <a:cxn ang="0">
                  <a:pos x="T6" y="T7"/>
                </a:cxn>
                <a:cxn ang="0">
                  <a:pos x="T8" y="T9"/>
                </a:cxn>
              </a:cxnLst>
              <a:rect l="0" t="0" r="r" b="b"/>
              <a:pathLst>
                <a:path w="243" h="336">
                  <a:moveTo>
                    <a:pt x="243" y="335"/>
                  </a:moveTo>
                  <a:lnTo>
                    <a:pt x="122" y="239"/>
                  </a:lnTo>
                  <a:lnTo>
                    <a:pt x="30" y="144"/>
                  </a:lnTo>
                  <a:lnTo>
                    <a:pt x="0" y="0"/>
                  </a:lnTo>
                  <a:lnTo>
                    <a:pt x="1" y="336"/>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5" name="Freeform 23"/>
            <p:cNvSpPr>
              <a:spLocks/>
            </p:cNvSpPr>
            <p:nvPr/>
          </p:nvSpPr>
          <p:spPr bwMode="gray">
            <a:xfrm>
              <a:off x="5511" y="4029"/>
              <a:ext cx="253" cy="290"/>
            </a:xfrm>
            <a:custGeom>
              <a:avLst/>
              <a:gdLst>
                <a:gd name="T0" fmla="*/ 229 w 232"/>
                <a:gd name="T1" fmla="*/ 0 h 290"/>
                <a:gd name="T2" fmla="*/ 164 w 232"/>
                <a:gd name="T3" fmla="*/ 144 h 290"/>
                <a:gd name="T4" fmla="*/ 98 w 232"/>
                <a:gd name="T5" fmla="*/ 253 h 290"/>
                <a:gd name="T6" fmla="*/ 0 w 232"/>
                <a:gd name="T7" fmla="*/ 290 h 290"/>
                <a:gd name="T8" fmla="*/ 232 w 232"/>
                <a:gd name="T9" fmla="*/ 287 h 290"/>
              </a:gdLst>
              <a:ahLst/>
              <a:cxnLst>
                <a:cxn ang="0">
                  <a:pos x="T0" y="T1"/>
                </a:cxn>
                <a:cxn ang="0">
                  <a:pos x="T2" y="T3"/>
                </a:cxn>
                <a:cxn ang="0">
                  <a:pos x="T4" y="T5"/>
                </a:cxn>
                <a:cxn ang="0">
                  <a:pos x="T6" y="T7"/>
                </a:cxn>
                <a:cxn ang="0">
                  <a:pos x="T8" y="T9"/>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6" name="Freeform 24"/>
            <p:cNvSpPr>
              <a:spLocks/>
            </p:cNvSpPr>
            <p:nvPr/>
          </p:nvSpPr>
          <p:spPr bwMode="gray">
            <a:xfrm>
              <a:off x="5472" y="0"/>
              <a:ext cx="288" cy="288"/>
            </a:xfrm>
            <a:custGeom>
              <a:avLst/>
              <a:gdLst>
                <a:gd name="T0" fmla="*/ 0 w 288"/>
                <a:gd name="T1" fmla="*/ 0 h 288"/>
                <a:gd name="T2" fmla="*/ 144 w 288"/>
                <a:gd name="T3" fmla="*/ 82 h 288"/>
                <a:gd name="T4" fmla="*/ 252 w 288"/>
                <a:gd name="T5" fmla="*/ 165 h 288"/>
                <a:gd name="T6" fmla="*/ 288 w 288"/>
                <a:gd name="T7" fmla="*/ 288 h 288"/>
                <a:gd name="T8" fmla="*/ 288 w 288"/>
                <a:gd name="T9" fmla="*/ 0 h 288"/>
              </a:gdLst>
              <a:ahLst/>
              <a:cxnLst>
                <a:cxn ang="0">
                  <a:pos x="T0" y="T1"/>
                </a:cxn>
                <a:cxn ang="0">
                  <a:pos x="T2" y="T3"/>
                </a:cxn>
                <a:cxn ang="0">
                  <a:pos x="T4" y="T5"/>
                </a:cxn>
                <a:cxn ang="0">
                  <a:pos x="T6" y="T7"/>
                </a:cxn>
                <a:cxn ang="0">
                  <a:pos x="T8" y="T9"/>
                </a:cxn>
              </a:cxnLst>
              <a:rect l="0" t="0" r="r" b="b"/>
              <a:pathLst>
                <a:path w="288" h="288">
                  <a:moveTo>
                    <a:pt x="0" y="0"/>
                  </a:moveTo>
                  <a:lnTo>
                    <a:pt x="144" y="82"/>
                  </a:lnTo>
                  <a:lnTo>
                    <a:pt x="252" y="165"/>
                  </a:lnTo>
                  <a:lnTo>
                    <a:pt x="288" y="288"/>
                  </a:lnTo>
                  <a:lnTo>
                    <a:pt x="288"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2" name="Picture 1">
            <a:extLst>
              <a:ext uri="{FF2B5EF4-FFF2-40B4-BE49-F238E27FC236}">
                <a16:creationId xmlns:a16="http://schemas.microsoft.com/office/drawing/2014/main" id="{5B33E56B-8669-4C3A-9A9C-4BB13B6B7300}"/>
              </a:ext>
            </a:extLst>
          </p:cNvPr>
          <p:cNvPicPr>
            <a:picLocks noChangeAspect="1"/>
          </p:cNvPicPr>
          <p:nvPr userDrawn="1"/>
        </p:nvPicPr>
        <p:blipFill>
          <a:blip r:embed="rId4"/>
          <a:stretch>
            <a:fillRect/>
          </a:stretch>
        </p:blipFill>
        <p:spPr>
          <a:xfrm>
            <a:off x="8285704" y="49563"/>
            <a:ext cx="798535" cy="7985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1"/>
            <a:ext cx="8839200"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1250" name="Picture 2" descr="Tập tin:Logo Trường Đại học Công nghệ Đông Á 2015.png ...">
            <a:extLst>
              <a:ext uri="{FF2B5EF4-FFF2-40B4-BE49-F238E27FC236}">
                <a16:creationId xmlns:a16="http://schemas.microsoft.com/office/drawing/2014/main" id="{F341813C-6D75-4E90-A7D9-20918999E19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579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2B27FBDA-6202-490F-968F-B93519B619A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6229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304925"/>
            <a:ext cx="4038600" cy="4943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04925"/>
            <a:ext cx="4038600" cy="4943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A6323714-53B1-4E3C-AE6A-D6CD44E89E1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973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8" name="Footer Placeholder 7"/>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9" name="Slide Number Placeholder 8"/>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4178997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4" name="Footer Placeholder 3"/>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446744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3" name="Footer Placeholder 2"/>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4" name="Slide Number Placeholder 3"/>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5" name="Picture 2" descr="Tập tin:Logo Trường Đại học Công nghệ Đông Á 2015.png ...">
            <a:extLst>
              <a:ext uri="{FF2B5EF4-FFF2-40B4-BE49-F238E27FC236}">
                <a16:creationId xmlns:a16="http://schemas.microsoft.com/office/drawing/2014/main" id="{6220FFEB-5E85-42C8-A2B3-C69966356E2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74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823C35CF-E72F-4FF7-AD23-959E3EA1C2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360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5DA0C1CF-53D9-4FD9-80C1-0EC692594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121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E3663C6A-DC21-4A41-9D5F-C81B457CC2B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462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19088"/>
            <a:ext cx="2057400" cy="592931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59293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BECAAA1B-7335-48E1-BCF6-C6F9F0B33CC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930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457200" y="1304925"/>
            <a:ext cx="8229600" cy="4943475"/>
          </a:xfrm>
        </p:spPr>
        <p:txBody>
          <a:bodyPr/>
          <a:lstStyle/>
          <a:p>
            <a:r>
              <a:rPr lang="en-US"/>
              <a:t>Click icon to add table</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1200099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1B21400-C337-4FAC-8F14-98A3D453E30D}"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690188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970202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B21400-C337-4FAC-8F14-98A3D453E30D}"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3890458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B21400-C337-4FAC-8F14-98A3D453E30D}" type="datetimeFigureOut">
              <a:rPr lang="en-US" smtClean="0"/>
              <a:pPr/>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1377374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1B21400-C337-4FAC-8F14-98A3D453E30D}" type="datetimeFigureOut">
              <a:rPr lang="en-US" smtClean="0"/>
              <a:pPr/>
              <a:t>5/15/2024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4279651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1B21400-C337-4FAC-8F14-98A3D453E30D}" type="datetimeFigureOut">
              <a:rPr lang="en-US" smtClean="0"/>
              <a:pPr/>
              <a:t>5/15/2024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538847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B21400-C337-4FAC-8F14-98A3D453E30D}" type="datetimeFigureOut">
              <a:rPr lang="en-US" smtClean="0"/>
              <a:pPr/>
              <a:t>5/15/2024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306950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B21400-C337-4FAC-8F14-98A3D453E30D}" type="datetimeFigureOut">
              <a:rPr lang="en-US" smtClean="0"/>
              <a:pPr/>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33099124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B21400-C337-4FAC-8F14-98A3D453E30D}" type="datetimeFigureOut">
              <a:rPr lang="en-US" smtClean="0"/>
              <a:pPr/>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4569662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06541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5952639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1B061CB7-8A8D-01FB-5DFB-81FC3E751E5B}"/>
              </a:ext>
            </a:extLst>
          </p:cNvPr>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5122" name="Rectangle 2"/>
          <p:cNvSpPr>
            <a:spLocks noGrp="1" noChangeArrowheads="1"/>
          </p:cNvSpPr>
          <p:nvPr>
            <p:ph type="ctrTitle"/>
          </p:nvPr>
        </p:nvSpPr>
        <p:spPr>
          <a:xfrm>
            <a:off x="685800" y="990600"/>
            <a:ext cx="7772400" cy="1371600"/>
          </a:xfrm>
          <a:noFill/>
          <a:extLst>
            <a:ext uri="{909E8E84-426E-40DD-AFC4-6F175D3DCCD1}">
              <a14:hiddenFill xmlns:a14="http://schemas.microsoft.com/office/drawing/2010/main">
                <a:solidFill>
                  <a:schemeClr val="accent1"/>
                </a:solidFill>
              </a14:hiddenFill>
            </a:ext>
          </a:extLst>
        </p:spPr>
        <p:txBody>
          <a:bodyPr/>
          <a:lstStyle>
            <a:lvl1pPr>
              <a:defRPr sz="3800"/>
            </a:lvl1pPr>
          </a:lstStyle>
          <a:p>
            <a:pPr lvl="0"/>
            <a:r>
              <a:rPr lang="en-US" noProof="0"/>
              <a:t>Click to edit Master title style</a:t>
            </a:r>
          </a:p>
        </p:txBody>
      </p:sp>
      <p:sp>
        <p:nvSpPr>
          <p:cNvPr id="5123" name="Rectangle 3"/>
          <p:cNvSpPr>
            <a:spLocks noGrp="1" noChangeArrowheads="1"/>
          </p:cNvSpPr>
          <p:nvPr>
            <p:ph type="subTitle" idx="1"/>
          </p:nvPr>
        </p:nvSpPr>
        <p:spPr bwMode="auto">
          <a:xfrm>
            <a:off x="1447800" y="3429000"/>
            <a:ext cx="7010400" cy="1600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buFont typeface="Wingdings" pitchFamily="2" charset="2"/>
              <a:buNone/>
              <a:defRPr sz="2800"/>
            </a:lvl1pPr>
          </a:lstStyle>
          <a:p>
            <a:pPr lvl="0"/>
            <a:r>
              <a:rPr lang="en-US" noProof="0"/>
              <a:t>Click to edit Master subtitle style</a:t>
            </a:r>
          </a:p>
        </p:txBody>
      </p:sp>
      <p:sp>
        <p:nvSpPr>
          <p:cNvPr id="3" name="Date Placeholder 4">
            <a:extLst>
              <a:ext uri="{FF2B5EF4-FFF2-40B4-BE49-F238E27FC236}">
                <a16:creationId xmlns:a16="http://schemas.microsoft.com/office/drawing/2014/main" id="{464DC700-C3DD-99FD-8141-24415B7FBE54}"/>
              </a:ext>
            </a:extLst>
          </p:cNvPr>
          <p:cNvSpPr>
            <a:spLocks noGrp="1" noChangeArrowheads="1"/>
          </p:cNvSpPr>
          <p:nvPr>
            <p:ph type="dt" sz="half" idx="10"/>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4" name="Footer Placeholder 5">
            <a:extLst>
              <a:ext uri="{FF2B5EF4-FFF2-40B4-BE49-F238E27FC236}">
                <a16:creationId xmlns:a16="http://schemas.microsoft.com/office/drawing/2014/main" id="{BE996BC9-16E4-7FEF-F63B-1E4C03AA5E48}"/>
              </a:ext>
            </a:extLst>
          </p:cNvPr>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200"/>
            </a:lvl1pPr>
          </a:lstStyle>
          <a:p>
            <a:pPr>
              <a:defRPr/>
            </a:pPr>
            <a:r>
              <a:rPr lang="en-US"/>
              <a:t>Sử dụng PowerPoint trong dạy học</a:t>
            </a:r>
          </a:p>
        </p:txBody>
      </p:sp>
      <p:sp>
        <p:nvSpPr>
          <p:cNvPr id="5" name="Slide Number Placeholder 6">
            <a:extLst>
              <a:ext uri="{FF2B5EF4-FFF2-40B4-BE49-F238E27FC236}">
                <a16:creationId xmlns:a16="http://schemas.microsoft.com/office/drawing/2014/main" id="{259ACCAF-3BD0-4482-81EB-EA32694DF14E}"/>
              </a:ext>
            </a:extLst>
          </p:cNvPr>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fld id="{11EA0255-6923-490A-B843-E8D66672F821}" type="slidenum">
              <a:rPr lang="en-US" altLang="en-US"/>
              <a:pPr/>
              <a:t>‹#›</a:t>
            </a:fld>
            <a:endParaRPr lang="en-US" altLang="en-US"/>
          </a:p>
        </p:txBody>
      </p:sp>
    </p:spTree>
    <p:extLst>
      <p:ext uri="{BB962C8B-B14F-4D97-AF65-F5344CB8AC3E}">
        <p14:creationId xmlns:p14="http://schemas.microsoft.com/office/powerpoint/2010/main" val="3138527338"/>
      </p:ext>
    </p:extLst>
  </p:cSld>
  <p:clrMapOvr>
    <a:masterClrMapping/>
  </p:clrMapOvr>
  <p:transition advTm="600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5007945"/>
      </p:ext>
    </p:extLst>
  </p:cSld>
  <p:clrMapOvr>
    <a:masterClrMapping/>
  </p:clrMapOvr>
  <p:transition advTm="600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67993972"/>
      </p:ext>
    </p:extLst>
  </p:cSld>
  <p:clrMapOvr>
    <a:masterClrMapping/>
  </p:clrMapOvr>
  <p:transition advTm="600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8761195"/>
      </p:ext>
    </p:extLst>
  </p:cSld>
  <p:clrMapOvr>
    <a:masterClrMapping/>
  </p:clrMapOvr>
  <p:transition advTm="600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0715040"/>
      </p:ext>
    </p:extLst>
  </p:cSld>
  <p:clrMapOvr>
    <a:masterClrMapping/>
  </p:clrMapOvr>
  <p:transition advTm="600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9249029"/>
      </p:ext>
    </p:extLst>
  </p:cSld>
  <p:clrMapOvr>
    <a:masterClrMapping/>
  </p:clrMapOvr>
  <p:transition advTm="600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7182679"/>
      </p:ext>
    </p:extLst>
  </p:cSld>
  <p:clrMapOvr>
    <a:masterClrMapping/>
  </p:clrMapOvr>
  <p:transition advTm="600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78142208"/>
      </p:ext>
    </p:extLst>
  </p:cSld>
  <p:clrMapOvr>
    <a:masterClrMapping/>
  </p:clrMapOvr>
  <p:transition advTm="600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62885918"/>
      </p:ext>
    </p:extLst>
  </p:cSld>
  <p:clrMapOvr>
    <a:masterClrMapping/>
  </p:clrMapOvr>
  <p:transition advTm="600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5691836"/>
      </p:ext>
    </p:extLst>
  </p:cSld>
  <p:clrMapOvr>
    <a:masterClrMapping/>
  </p:clrMapOvr>
  <p:transition advTm="600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126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1261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8178640"/>
      </p:ext>
    </p:extLst>
  </p:cSld>
  <p:clrMapOvr>
    <a:masterClrMapping/>
  </p:clrMapOvr>
  <p:transition advTm="6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39" name="Object 15"/>
          <p:cNvGraphicFramePr>
            <a:graphicFrameLocks noChangeAspect="1"/>
          </p:cNvGraphicFramePr>
          <p:nvPr/>
        </p:nvGraphicFramePr>
        <p:xfrm>
          <a:off x="73025" y="61913"/>
          <a:ext cx="9017000" cy="1031875"/>
        </p:xfrm>
        <a:graphic>
          <a:graphicData uri="http://schemas.openxmlformats.org/presentationml/2006/ole">
            <mc:AlternateContent xmlns:mc="http://schemas.openxmlformats.org/markup-compatibility/2006">
              <mc:Choice xmlns:v="urn:schemas-microsoft-com:vml" Requires="v">
                <p:oleObj name="Image" r:id="rId14" imgW="8609524" imgH="1307937" progId="">
                  <p:embed/>
                </p:oleObj>
              </mc:Choice>
              <mc:Fallback>
                <p:oleObj name="Image" r:id="rId14" imgW="8609524" imgH="1307937" progId="">
                  <p:embed/>
                  <p:pic>
                    <p:nvPicPr>
                      <p:cNvPr id="0" name="Picture 69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025" y="61913"/>
                        <a:ext cx="9017000" cy="103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0" name="Rectangle 16"/>
          <p:cNvSpPr>
            <a:spLocks noChangeArrowheads="1"/>
          </p:cNvSpPr>
          <p:nvPr/>
        </p:nvSpPr>
        <p:spPr bwMode="invGray">
          <a:xfrm>
            <a:off x="63501" y="6453188"/>
            <a:ext cx="9045554" cy="3730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 name="Rectangle 17"/>
          <p:cNvSpPr>
            <a:spLocks noChangeArrowheads="1"/>
          </p:cNvSpPr>
          <p:nvPr/>
        </p:nvSpPr>
        <p:spPr bwMode="ltGray">
          <a:xfrm>
            <a:off x="88900" y="1135063"/>
            <a:ext cx="8955088" cy="5265737"/>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7" name="Rectangle 3"/>
          <p:cNvSpPr>
            <a:spLocks noGrp="1" noChangeArrowheads="1"/>
          </p:cNvSpPr>
          <p:nvPr>
            <p:ph type="body" idx="1"/>
          </p:nvPr>
        </p:nvSpPr>
        <p:spPr bwMode="auto">
          <a:xfrm>
            <a:off x="146168" y="1217612"/>
            <a:ext cx="8897819" cy="518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042" name="Group 18"/>
          <p:cNvGrpSpPr>
            <a:grpSpLocks/>
          </p:cNvGrpSpPr>
          <p:nvPr/>
        </p:nvGrpSpPr>
        <p:grpSpPr bwMode="auto">
          <a:xfrm>
            <a:off x="-6350" y="0"/>
            <a:ext cx="9155113" cy="6859588"/>
            <a:chOff x="0" y="0"/>
            <a:chExt cx="5764" cy="4321"/>
          </a:xfrm>
        </p:grpSpPr>
        <p:sp>
          <p:nvSpPr>
            <p:cNvPr id="1043" name="AutoShape 19"/>
            <p:cNvSpPr>
              <a:spLocks noChangeArrowheads="1"/>
            </p:cNvSpPr>
            <p:nvPr/>
          </p:nvSpPr>
          <p:spPr bwMode="white">
            <a:xfrm>
              <a:off x="27" y="24"/>
              <a:ext cx="5712" cy="4274"/>
            </a:xfrm>
            <a:prstGeom prst="roundRect">
              <a:avLst>
                <a:gd name="adj" fmla="val 6227"/>
              </a:avLst>
            </a:prstGeom>
            <a:noFill/>
            <a:ln w="76200">
              <a:solidFill>
                <a:schemeClr val="bg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 name="Freeform 20"/>
            <p:cNvSpPr>
              <a:spLocks/>
            </p:cNvSpPr>
            <p:nvPr/>
          </p:nvSpPr>
          <p:spPr bwMode="white">
            <a:xfrm>
              <a:off x="0" y="0"/>
              <a:ext cx="288" cy="282"/>
            </a:xfrm>
            <a:custGeom>
              <a:avLst/>
              <a:gdLst>
                <a:gd name="T0" fmla="*/ 2 w 288"/>
                <a:gd name="T1" fmla="*/ 282 h 282"/>
                <a:gd name="T2" fmla="*/ 82 w 288"/>
                <a:gd name="T3" fmla="*/ 144 h 282"/>
                <a:gd name="T4" fmla="*/ 165 w 288"/>
                <a:gd name="T5" fmla="*/ 36 h 282"/>
                <a:gd name="T6" fmla="*/ 288 w 288"/>
                <a:gd name="T7" fmla="*/ 0 h 282"/>
                <a:gd name="T8" fmla="*/ 0 w 288"/>
                <a:gd name="T9" fmla="*/ 0 h 282"/>
              </a:gdLst>
              <a:ahLst/>
              <a:cxnLst>
                <a:cxn ang="0">
                  <a:pos x="T0" y="T1"/>
                </a:cxn>
                <a:cxn ang="0">
                  <a:pos x="T2" y="T3"/>
                </a:cxn>
                <a:cxn ang="0">
                  <a:pos x="T4" y="T5"/>
                </a:cxn>
                <a:cxn ang="0">
                  <a:pos x="T6" y="T7"/>
                </a:cxn>
                <a:cxn ang="0">
                  <a:pos x="T8" y="T9"/>
                </a:cxn>
              </a:cxnLst>
              <a:rect l="0" t="0" r="r" b="b"/>
              <a:pathLst>
                <a:path w="288" h="282">
                  <a:moveTo>
                    <a:pt x="2" y="282"/>
                  </a:moveTo>
                  <a:lnTo>
                    <a:pt x="82" y="144"/>
                  </a:lnTo>
                  <a:lnTo>
                    <a:pt x="165" y="36"/>
                  </a:lnTo>
                  <a:lnTo>
                    <a:pt x="288" y="0"/>
                  </a:lnTo>
                  <a:lnTo>
                    <a:pt x="0"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21"/>
            <p:cNvSpPr>
              <a:spLocks/>
            </p:cNvSpPr>
            <p:nvPr/>
          </p:nvSpPr>
          <p:spPr bwMode="white">
            <a:xfrm>
              <a:off x="5" y="3985"/>
              <a:ext cx="244" cy="336"/>
            </a:xfrm>
            <a:custGeom>
              <a:avLst/>
              <a:gdLst>
                <a:gd name="T0" fmla="*/ 243 w 243"/>
                <a:gd name="T1" fmla="*/ 335 h 336"/>
                <a:gd name="T2" fmla="*/ 122 w 243"/>
                <a:gd name="T3" fmla="*/ 239 h 336"/>
                <a:gd name="T4" fmla="*/ 30 w 243"/>
                <a:gd name="T5" fmla="*/ 144 h 336"/>
                <a:gd name="T6" fmla="*/ 0 w 243"/>
                <a:gd name="T7" fmla="*/ 0 h 336"/>
                <a:gd name="T8" fmla="*/ 1 w 243"/>
                <a:gd name="T9" fmla="*/ 336 h 336"/>
              </a:gdLst>
              <a:ahLst/>
              <a:cxnLst>
                <a:cxn ang="0">
                  <a:pos x="T0" y="T1"/>
                </a:cxn>
                <a:cxn ang="0">
                  <a:pos x="T2" y="T3"/>
                </a:cxn>
                <a:cxn ang="0">
                  <a:pos x="T4" y="T5"/>
                </a:cxn>
                <a:cxn ang="0">
                  <a:pos x="T6" y="T7"/>
                </a:cxn>
                <a:cxn ang="0">
                  <a:pos x="T8" y="T9"/>
                </a:cxn>
              </a:cxnLst>
              <a:rect l="0" t="0" r="r" b="b"/>
              <a:pathLst>
                <a:path w="243" h="336">
                  <a:moveTo>
                    <a:pt x="243" y="335"/>
                  </a:moveTo>
                  <a:lnTo>
                    <a:pt x="122" y="239"/>
                  </a:lnTo>
                  <a:lnTo>
                    <a:pt x="30" y="144"/>
                  </a:lnTo>
                  <a:lnTo>
                    <a:pt x="0" y="0"/>
                  </a:lnTo>
                  <a:lnTo>
                    <a:pt x="1" y="336"/>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22"/>
            <p:cNvSpPr>
              <a:spLocks/>
            </p:cNvSpPr>
            <p:nvPr/>
          </p:nvSpPr>
          <p:spPr bwMode="white">
            <a:xfrm>
              <a:off x="5511" y="4029"/>
              <a:ext cx="253" cy="290"/>
            </a:xfrm>
            <a:custGeom>
              <a:avLst/>
              <a:gdLst>
                <a:gd name="T0" fmla="*/ 229 w 232"/>
                <a:gd name="T1" fmla="*/ 0 h 290"/>
                <a:gd name="T2" fmla="*/ 164 w 232"/>
                <a:gd name="T3" fmla="*/ 144 h 290"/>
                <a:gd name="T4" fmla="*/ 98 w 232"/>
                <a:gd name="T5" fmla="*/ 253 h 290"/>
                <a:gd name="T6" fmla="*/ 0 w 232"/>
                <a:gd name="T7" fmla="*/ 290 h 290"/>
                <a:gd name="T8" fmla="*/ 232 w 232"/>
                <a:gd name="T9" fmla="*/ 287 h 290"/>
              </a:gdLst>
              <a:ahLst/>
              <a:cxnLst>
                <a:cxn ang="0">
                  <a:pos x="T0" y="T1"/>
                </a:cxn>
                <a:cxn ang="0">
                  <a:pos x="T2" y="T3"/>
                </a:cxn>
                <a:cxn ang="0">
                  <a:pos x="T4" y="T5"/>
                </a:cxn>
                <a:cxn ang="0">
                  <a:pos x="T6" y="T7"/>
                </a:cxn>
                <a:cxn ang="0">
                  <a:pos x="T8" y="T9"/>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23"/>
            <p:cNvSpPr>
              <a:spLocks/>
            </p:cNvSpPr>
            <p:nvPr/>
          </p:nvSpPr>
          <p:spPr bwMode="white">
            <a:xfrm>
              <a:off x="5472" y="0"/>
              <a:ext cx="288" cy="288"/>
            </a:xfrm>
            <a:custGeom>
              <a:avLst/>
              <a:gdLst>
                <a:gd name="T0" fmla="*/ 0 w 288"/>
                <a:gd name="T1" fmla="*/ 0 h 288"/>
                <a:gd name="T2" fmla="*/ 144 w 288"/>
                <a:gd name="T3" fmla="*/ 82 h 288"/>
                <a:gd name="T4" fmla="*/ 252 w 288"/>
                <a:gd name="T5" fmla="*/ 165 h 288"/>
                <a:gd name="T6" fmla="*/ 288 w 288"/>
                <a:gd name="T7" fmla="*/ 288 h 288"/>
                <a:gd name="T8" fmla="*/ 288 w 288"/>
                <a:gd name="T9" fmla="*/ 0 h 288"/>
              </a:gdLst>
              <a:ahLst/>
              <a:cxnLst>
                <a:cxn ang="0">
                  <a:pos x="T0" y="T1"/>
                </a:cxn>
                <a:cxn ang="0">
                  <a:pos x="T2" y="T3"/>
                </a:cxn>
                <a:cxn ang="0">
                  <a:pos x="T4" y="T5"/>
                </a:cxn>
                <a:cxn ang="0">
                  <a:pos x="T6" y="T7"/>
                </a:cxn>
                <a:cxn ang="0">
                  <a:pos x="T8" y="T9"/>
                </a:cxn>
              </a:cxnLst>
              <a:rect l="0" t="0" r="r" b="b"/>
              <a:pathLst>
                <a:path w="288" h="288">
                  <a:moveTo>
                    <a:pt x="0" y="0"/>
                  </a:moveTo>
                  <a:lnTo>
                    <a:pt x="144" y="82"/>
                  </a:lnTo>
                  <a:lnTo>
                    <a:pt x="252" y="165"/>
                  </a:lnTo>
                  <a:lnTo>
                    <a:pt x="288" y="288"/>
                  </a:lnTo>
                  <a:lnTo>
                    <a:pt x="288"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0" name="Slide Number Placeholder 3"/>
          <p:cNvSpPr txBox="1">
            <a:spLocks/>
          </p:cNvSpPr>
          <p:nvPr userDrawn="1"/>
        </p:nvSpPr>
        <p:spPr>
          <a:xfrm>
            <a:off x="8092442" y="6462713"/>
            <a:ext cx="812588" cy="319087"/>
          </a:xfrm>
          <a:prstGeom prst="rect">
            <a:avLst/>
          </a:prstGeom>
        </p:spPr>
        <p:txBody>
          <a:bodyPr/>
          <a:lstStyle>
            <a:defPPr>
              <a:defRPr lang="en-US"/>
            </a:defPPr>
            <a:lvl1pPr algn="ctr" rtl="0" eaLnBrk="0" fontAlgn="base" hangingPunct="0">
              <a:spcBef>
                <a:spcPct val="0"/>
              </a:spcBef>
              <a:spcAft>
                <a:spcPct val="0"/>
              </a:spcAft>
              <a:defRPr sz="2000" b="1" kern="1200">
                <a:solidFill>
                  <a:schemeClr val="bg1"/>
                </a:solidFill>
                <a:latin typeface="Arial" charset="0"/>
                <a:ea typeface="+mn-ea"/>
                <a:cs typeface="+mn-cs"/>
              </a:defRPr>
            </a:lvl1pPr>
            <a:lvl2pPr marL="457200" algn="ctr" rtl="0" eaLnBrk="0" fontAlgn="base" hangingPunct="0">
              <a:spcBef>
                <a:spcPct val="0"/>
              </a:spcBef>
              <a:spcAft>
                <a:spcPct val="0"/>
              </a:spcAft>
              <a:defRPr sz="2000" b="1" kern="1200">
                <a:solidFill>
                  <a:schemeClr val="bg1"/>
                </a:solidFill>
                <a:latin typeface="Arial" charset="0"/>
                <a:ea typeface="+mn-ea"/>
                <a:cs typeface="+mn-cs"/>
              </a:defRPr>
            </a:lvl2pPr>
            <a:lvl3pPr marL="914400" algn="ctr" rtl="0" eaLnBrk="0" fontAlgn="base" hangingPunct="0">
              <a:spcBef>
                <a:spcPct val="0"/>
              </a:spcBef>
              <a:spcAft>
                <a:spcPct val="0"/>
              </a:spcAft>
              <a:defRPr sz="2000" b="1" kern="1200">
                <a:solidFill>
                  <a:schemeClr val="bg1"/>
                </a:solidFill>
                <a:latin typeface="Arial" charset="0"/>
                <a:ea typeface="+mn-ea"/>
                <a:cs typeface="+mn-cs"/>
              </a:defRPr>
            </a:lvl3pPr>
            <a:lvl4pPr marL="1371600" algn="ctr" rtl="0" eaLnBrk="0" fontAlgn="base" hangingPunct="0">
              <a:spcBef>
                <a:spcPct val="0"/>
              </a:spcBef>
              <a:spcAft>
                <a:spcPct val="0"/>
              </a:spcAft>
              <a:defRPr sz="2000" b="1" kern="1200">
                <a:solidFill>
                  <a:schemeClr val="bg1"/>
                </a:solidFill>
                <a:latin typeface="Arial" charset="0"/>
                <a:ea typeface="+mn-ea"/>
                <a:cs typeface="+mn-cs"/>
              </a:defRPr>
            </a:lvl4pPr>
            <a:lvl5pPr marL="1828800" algn="ctr" rtl="0" eaLnBrk="0" fontAlgn="base" hangingPunct="0">
              <a:spcBef>
                <a:spcPct val="0"/>
              </a:spcBef>
              <a:spcAft>
                <a:spcPct val="0"/>
              </a:spcAft>
              <a:defRPr sz="2000" b="1" kern="1200">
                <a:solidFill>
                  <a:schemeClr val="bg1"/>
                </a:solidFill>
                <a:latin typeface="Arial" charset="0"/>
                <a:ea typeface="+mn-ea"/>
                <a:cs typeface="+mn-cs"/>
              </a:defRPr>
            </a:lvl5pPr>
            <a:lvl6pPr marL="2286000" algn="l" defTabSz="914400" rtl="0" eaLnBrk="1" latinLnBrk="0" hangingPunct="1">
              <a:defRPr sz="2000" b="1" kern="1200">
                <a:solidFill>
                  <a:schemeClr val="bg1"/>
                </a:solidFill>
                <a:latin typeface="Arial" charset="0"/>
                <a:ea typeface="+mn-ea"/>
                <a:cs typeface="+mn-cs"/>
              </a:defRPr>
            </a:lvl6pPr>
            <a:lvl7pPr marL="2743200" algn="l" defTabSz="914400" rtl="0" eaLnBrk="1" latinLnBrk="0" hangingPunct="1">
              <a:defRPr sz="2000" b="1" kern="1200">
                <a:solidFill>
                  <a:schemeClr val="bg1"/>
                </a:solidFill>
                <a:latin typeface="Arial" charset="0"/>
                <a:ea typeface="+mn-ea"/>
                <a:cs typeface="+mn-cs"/>
              </a:defRPr>
            </a:lvl7pPr>
            <a:lvl8pPr marL="3200400" algn="l" defTabSz="914400" rtl="0" eaLnBrk="1" latinLnBrk="0" hangingPunct="1">
              <a:defRPr sz="2000" b="1" kern="1200">
                <a:solidFill>
                  <a:schemeClr val="bg1"/>
                </a:solidFill>
                <a:latin typeface="Arial" charset="0"/>
                <a:ea typeface="+mn-ea"/>
                <a:cs typeface="+mn-cs"/>
              </a:defRPr>
            </a:lvl8pPr>
            <a:lvl9pPr marL="3657600" algn="l" defTabSz="914400" rtl="0" eaLnBrk="1" latinLnBrk="0" hangingPunct="1">
              <a:defRPr sz="2000" b="1" kern="1200">
                <a:solidFill>
                  <a:schemeClr val="bg1"/>
                </a:solidFill>
                <a:latin typeface="Arial" charset="0"/>
                <a:ea typeface="+mn-ea"/>
                <a:cs typeface="+mn-cs"/>
              </a:defRPr>
            </a:lvl9pPr>
          </a:lstStyle>
          <a:p>
            <a:fld id="{34C99D79-8A4B-4031-B1E0-AF26F8EDF2B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1" fontAlgn="base" hangingPunct="1">
        <a:spcBef>
          <a:spcPct val="0"/>
        </a:spcBef>
        <a:spcAft>
          <a:spcPct val="0"/>
        </a:spcAft>
        <a:defRPr sz="3600" b="1">
          <a:solidFill>
            <a:schemeClr val="bg1"/>
          </a:solidFill>
          <a:latin typeface="+mj-lt"/>
          <a:ea typeface="+mj-ea"/>
          <a:cs typeface="+mj-cs"/>
        </a:defRPr>
      </a:lvl1pPr>
      <a:lvl2pPr algn="l" rtl="0" eaLnBrk="1" fontAlgn="base" hangingPunct="1">
        <a:spcBef>
          <a:spcPct val="0"/>
        </a:spcBef>
        <a:spcAft>
          <a:spcPct val="0"/>
        </a:spcAft>
        <a:defRPr sz="3600" b="1">
          <a:solidFill>
            <a:schemeClr val="bg1"/>
          </a:solidFill>
          <a:latin typeface="Arial" charset="0"/>
        </a:defRPr>
      </a:lvl2pPr>
      <a:lvl3pPr algn="l" rtl="0" eaLnBrk="1" fontAlgn="base" hangingPunct="1">
        <a:spcBef>
          <a:spcPct val="0"/>
        </a:spcBef>
        <a:spcAft>
          <a:spcPct val="0"/>
        </a:spcAft>
        <a:defRPr sz="3600" b="1">
          <a:solidFill>
            <a:schemeClr val="bg1"/>
          </a:solidFill>
          <a:latin typeface="Arial" charset="0"/>
        </a:defRPr>
      </a:lvl3pPr>
      <a:lvl4pPr algn="l" rtl="0" eaLnBrk="1" fontAlgn="base" hangingPunct="1">
        <a:spcBef>
          <a:spcPct val="0"/>
        </a:spcBef>
        <a:spcAft>
          <a:spcPct val="0"/>
        </a:spcAft>
        <a:defRPr sz="3600" b="1">
          <a:solidFill>
            <a:schemeClr val="bg1"/>
          </a:solidFill>
          <a:latin typeface="Arial" charset="0"/>
        </a:defRPr>
      </a:lvl4pPr>
      <a:lvl5pPr algn="l" rtl="0" eaLnBrk="1" fontAlgn="base" hangingPunct="1">
        <a:spcBef>
          <a:spcPct val="0"/>
        </a:spcBef>
        <a:spcAft>
          <a:spcPct val="0"/>
        </a:spcAft>
        <a:defRPr sz="3600" b="1">
          <a:solidFill>
            <a:schemeClr val="bg1"/>
          </a:solidFill>
          <a:latin typeface="Arial" charset="0"/>
        </a:defRPr>
      </a:lvl5pPr>
      <a:lvl6pPr marL="457200" algn="l" rtl="0" eaLnBrk="1" fontAlgn="base" hangingPunct="1">
        <a:spcBef>
          <a:spcPct val="0"/>
        </a:spcBef>
        <a:spcAft>
          <a:spcPct val="0"/>
        </a:spcAft>
        <a:defRPr sz="3600" b="1">
          <a:solidFill>
            <a:schemeClr val="bg1"/>
          </a:solidFill>
          <a:latin typeface="Arial" charset="0"/>
        </a:defRPr>
      </a:lvl6pPr>
      <a:lvl7pPr marL="914400" algn="l" rtl="0" eaLnBrk="1" fontAlgn="base" hangingPunct="1">
        <a:spcBef>
          <a:spcPct val="0"/>
        </a:spcBef>
        <a:spcAft>
          <a:spcPct val="0"/>
        </a:spcAft>
        <a:defRPr sz="3600" b="1">
          <a:solidFill>
            <a:schemeClr val="bg1"/>
          </a:solidFill>
          <a:latin typeface="Arial" charset="0"/>
        </a:defRPr>
      </a:lvl7pPr>
      <a:lvl8pPr marL="1371600" algn="l" rtl="0" eaLnBrk="1" fontAlgn="base" hangingPunct="1">
        <a:spcBef>
          <a:spcPct val="0"/>
        </a:spcBef>
        <a:spcAft>
          <a:spcPct val="0"/>
        </a:spcAft>
        <a:defRPr sz="3600" b="1">
          <a:solidFill>
            <a:schemeClr val="bg1"/>
          </a:solidFill>
          <a:latin typeface="Arial" charset="0"/>
        </a:defRPr>
      </a:lvl8pPr>
      <a:lvl9pPr marL="1828800" algn="l" rtl="0" eaLnBrk="1" fontAlgn="base" hangingPunct="1">
        <a:spcBef>
          <a:spcPct val="0"/>
        </a:spcBef>
        <a:spcAft>
          <a:spcPct val="0"/>
        </a:spcAft>
        <a:defRPr sz="3600" b="1">
          <a:solidFill>
            <a:schemeClr val="bg1"/>
          </a:solidFill>
          <a:latin typeface="Arial" charset="0"/>
        </a:defRPr>
      </a:lvl9pPr>
    </p:titleStyle>
    <p:body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j-lt"/>
        </a:defRPr>
      </a:lvl2pPr>
      <a:lvl3pPr marL="1143000" indent="-228600" algn="l" rtl="0" eaLnBrk="1" fontAlgn="base" hangingPunct="1">
        <a:spcBef>
          <a:spcPct val="20000"/>
        </a:spcBef>
        <a:spcAft>
          <a:spcPct val="0"/>
        </a:spcAft>
        <a:buClr>
          <a:schemeClr val="tx1"/>
        </a:buClr>
        <a:buChar char="•"/>
        <a:defRPr sz="2400">
          <a:solidFill>
            <a:schemeClr val="tx1"/>
          </a:solidFill>
          <a:latin typeface="+mj-lt"/>
        </a:defRPr>
      </a:lvl3pPr>
      <a:lvl4pPr marL="1600200" indent="-228600" algn="l" rtl="0" eaLnBrk="1" fontAlgn="base" hangingPunct="1">
        <a:spcBef>
          <a:spcPct val="20000"/>
        </a:spcBef>
        <a:spcAft>
          <a:spcPct val="0"/>
        </a:spcAft>
        <a:buChar char="–"/>
        <a:defRPr sz="2000">
          <a:solidFill>
            <a:schemeClr val="tx1"/>
          </a:solidFill>
          <a:latin typeface="+mj-lt"/>
        </a:defRPr>
      </a:lvl4pPr>
      <a:lvl5pPr marL="2057400" indent="-228600" algn="l" rtl="0" eaLnBrk="1" fontAlgn="base" hangingPunct="1">
        <a:spcBef>
          <a:spcPct val="20000"/>
        </a:spcBef>
        <a:spcAft>
          <a:spcPct val="0"/>
        </a:spcAft>
        <a:buChar char="»"/>
        <a:defRPr sz="2000">
          <a:solidFill>
            <a:schemeClr val="tx1"/>
          </a:solidFill>
          <a:latin typeface="+mj-lt"/>
        </a:defRPr>
      </a:lvl5pPr>
      <a:lvl6pPr marL="2514600" indent="-228600" algn="l" rtl="0" eaLnBrk="1" fontAlgn="base" hangingPunct="1">
        <a:spcBef>
          <a:spcPct val="20000"/>
        </a:spcBef>
        <a:spcAft>
          <a:spcPct val="0"/>
        </a:spcAft>
        <a:buChar char="»"/>
        <a:defRPr sz="2000">
          <a:solidFill>
            <a:schemeClr val="tx1"/>
          </a:solidFill>
          <a:latin typeface="+mj-lt"/>
        </a:defRPr>
      </a:lvl6pPr>
      <a:lvl7pPr marL="2971800" indent="-228600" algn="l" rtl="0" eaLnBrk="1" fontAlgn="base" hangingPunct="1">
        <a:spcBef>
          <a:spcPct val="20000"/>
        </a:spcBef>
        <a:spcAft>
          <a:spcPct val="0"/>
        </a:spcAft>
        <a:buChar char="»"/>
        <a:defRPr sz="2000">
          <a:solidFill>
            <a:schemeClr val="tx1"/>
          </a:solidFill>
          <a:latin typeface="+mj-lt"/>
        </a:defRPr>
      </a:lvl7pPr>
      <a:lvl8pPr marL="3429000" indent="-228600" algn="l" rtl="0" eaLnBrk="1" fontAlgn="base" hangingPunct="1">
        <a:spcBef>
          <a:spcPct val="20000"/>
        </a:spcBef>
        <a:spcAft>
          <a:spcPct val="0"/>
        </a:spcAft>
        <a:buChar char="»"/>
        <a:defRPr sz="2000">
          <a:solidFill>
            <a:schemeClr val="tx1"/>
          </a:solidFill>
          <a:latin typeface="+mj-lt"/>
        </a:defRPr>
      </a:lvl8pPr>
      <a:lvl9pPr marL="3886200" indent="-228600" algn="l" rtl="0" eaLnBrk="1" fontAlgn="base" hangingPunct="1">
        <a:spcBef>
          <a:spcPct val="20000"/>
        </a:spcBef>
        <a:spcAft>
          <a:spcPct val="0"/>
        </a:spcAft>
        <a:buChar char="»"/>
        <a:defRPr sz="2000">
          <a:solidFill>
            <a:schemeClr val="tx1"/>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B21400-C337-4FAC-8F14-98A3D453E30D}" type="datetimeFigureOut">
              <a:rPr lang="en-US" smtClean="0"/>
              <a:pPr/>
              <a:t>5/15/2024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3876C-4542-4C64-B641-17DD424954FD}" type="slidenum">
              <a:rPr lang="en-US" smtClean="0"/>
              <a:pPr/>
              <a:t>‹#›</a:t>
            </a:fld>
            <a:endParaRPr lang="en-US"/>
          </a:p>
        </p:txBody>
      </p:sp>
    </p:spTree>
    <p:extLst>
      <p:ext uri="{BB962C8B-B14F-4D97-AF65-F5344CB8AC3E}">
        <p14:creationId xmlns:p14="http://schemas.microsoft.com/office/powerpoint/2010/main" val="99485104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6E458B9-DD80-9904-8172-12FF7E9CA428}"/>
              </a:ext>
            </a:extLst>
          </p:cNvPr>
          <p:cNvSpPr>
            <a:spLocks noGrp="1" noChangeArrowheads="1"/>
          </p:cNvSpPr>
          <p:nvPr>
            <p:ph type="title"/>
          </p:nvPr>
        </p:nvSpPr>
        <p:spPr bwMode="auto">
          <a:xfrm>
            <a:off x="0" y="0"/>
            <a:ext cx="9144000" cy="6858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PowerPoint 2003</a:t>
            </a:r>
          </a:p>
        </p:txBody>
      </p:sp>
      <p:sp>
        <p:nvSpPr>
          <p:cNvPr id="1027" name="Text Box 9">
            <a:extLst>
              <a:ext uri="{FF2B5EF4-FFF2-40B4-BE49-F238E27FC236}">
                <a16:creationId xmlns:a16="http://schemas.microsoft.com/office/drawing/2014/main" id="{87F9C72A-E784-D83A-5A99-863A977800F3}"/>
              </a:ext>
            </a:extLst>
          </p:cNvPr>
          <p:cNvSpPr txBox="1">
            <a:spLocks noChangeArrowheads="1"/>
          </p:cNvSpPr>
          <p:nvPr/>
        </p:nvSpPr>
        <p:spPr bwMode="auto">
          <a:xfrm>
            <a:off x="0" y="6557963"/>
            <a:ext cx="9144000" cy="366712"/>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sz="1400" i="1">
                <a:solidFill>
                  <a:schemeClr val="bg1"/>
                </a:solidFill>
              </a:rPr>
              <a:t>Đại học Hòa Bình</a:t>
            </a:r>
            <a:r>
              <a:rPr lang="en-US" altLang="en-US" sz="1800" i="1">
                <a:solidFill>
                  <a:schemeClr val="bg1"/>
                </a:solidFill>
              </a:rPr>
              <a:t>							            </a:t>
            </a:r>
            <a:fld id="{214E813A-6E1D-48F8-A141-3ADAD9C59CEB}" type="slidenum">
              <a:rPr lang="en-US" altLang="en-US" sz="1400" i="1">
                <a:solidFill>
                  <a:schemeClr val="bg1"/>
                </a:solidFill>
              </a:rPr>
              <a:pPr>
                <a:spcBef>
                  <a:spcPct val="50000"/>
                </a:spcBef>
              </a:pPr>
              <a:t>‹#›</a:t>
            </a:fld>
            <a:r>
              <a:rPr lang="en-US" altLang="en-US" sz="1400" i="1">
                <a:solidFill>
                  <a:schemeClr val="bg1"/>
                </a:solidFill>
              </a:rPr>
              <a:t>/46</a:t>
            </a:r>
          </a:p>
        </p:txBody>
      </p:sp>
    </p:spTree>
    <p:extLst>
      <p:ext uri="{BB962C8B-B14F-4D97-AF65-F5344CB8AC3E}">
        <p14:creationId xmlns:p14="http://schemas.microsoft.com/office/powerpoint/2010/main" val="286572691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advTm="600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Verdana" pitchFamily="34" charset="0"/>
        </a:defRPr>
      </a:lvl2pPr>
      <a:lvl3pPr algn="ctr" rtl="0" eaLnBrk="0" fontAlgn="base" hangingPunct="0">
        <a:spcBef>
          <a:spcPct val="0"/>
        </a:spcBef>
        <a:spcAft>
          <a:spcPct val="0"/>
        </a:spcAft>
        <a:defRPr sz="3600">
          <a:solidFill>
            <a:schemeClr val="bg1"/>
          </a:solidFill>
          <a:latin typeface="Verdana" pitchFamily="34" charset="0"/>
        </a:defRPr>
      </a:lvl3pPr>
      <a:lvl4pPr algn="ctr" rtl="0" eaLnBrk="0" fontAlgn="base" hangingPunct="0">
        <a:spcBef>
          <a:spcPct val="0"/>
        </a:spcBef>
        <a:spcAft>
          <a:spcPct val="0"/>
        </a:spcAft>
        <a:defRPr sz="3600">
          <a:solidFill>
            <a:schemeClr val="bg1"/>
          </a:solidFill>
          <a:latin typeface="Verdana" pitchFamily="34" charset="0"/>
        </a:defRPr>
      </a:lvl4pPr>
      <a:lvl5pPr algn="ctr" rtl="0" eaLnBrk="0" fontAlgn="base" hangingPunct="0">
        <a:spcBef>
          <a:spcPct val="0"/>
        </a:spcBef>
        <a:spcAft>
          <a:spcPct val="0"/>
        </a:spcAft>
        <a:defRPr sz="3600">
          <a:solidFill>
            <a:schemeClr val="bg1"/>
          </a:solidFill>
          <a:latin typeface="Verdana" pitchFamily="34" charset="0"/>
        </a:defRPr>
      </a:lvl5pPr>
      <a:lvl6pPr marL="457200" algn="ctr" rtl="0" fontAlgn="base">
        <a:spcBef>
          <a:spcPct val="0"/>
        </a:spcBef>
        <a:spcAft>
          <a:spcPct val="0"/>
        </a:spcAft>
        <a:defRPr sz="3600">
          <a:solidFill>
            <a:schemeClr val="bg1"/>
          </a:solidFill>
          <a:latin typeface="Verdana" pitchFamily="34" charset="0"/>
        </a:defRPr>
      </a:lvl6pPr>
      <a:lvl7pPr marL="914400" algn="ctr" rtl="0" fontAlgn="base">
        <a:spcBef>
          <a:spcPct val="0"/>
        </a:spcBef>
        <a:spcAft>
          <a:spcPct val="0"/>
        </a:spcAft>
        <a:defRPr sz="3600">
          <a:solidFill>
            <a:schemeClr val="bg1"/>
          </a:solidFill>
          <a:latin typeface="Verdana" pitchFamily="34" charset="0"/>
        </a:defRPr>
      </a:lvl7pPr>
      <a:lvl8pPr marL="1371600" algn="ctr" rtl="0" fontAlgn="base">
        <a:spcBef>
          <a:spcPct val="0"/>
        </a:spcBef>
        <a:spcAft>
          <a:spcPct val="0"/>
        </a:spcAft>
        <a:defRPr sz="3600">
          <a:solidFill>
            <a:schemeClr val="bg1"/>
          </a:solidFill>
          <a:latin typeface="Verdana" pitchFamily="34" charset="0"/>
        </a:defRPr>
      </a:lvl8pPr>
      <a:lvl9pPr marL="1828800" algn="ctr" rtl="0" fontAlgn="base">
        <a:spcBef>
          <a:spcPct val="0"/>
        </a:spcBef>
        <a:spcAft>
          <a:spcPct val="0"/>
        </a:spcAft>
        <a:defRPr sz="3600">
          <a:solidFill>
            <a:schemeClr val="bg1"/>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5.xml"/><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152400" y="3505200"/>
            <a:ext cx="8991600" cy="838200"/>
          </a:xfrm>
          <a:prstGeom prst="rect">
            <a:avLst/>
          </a:prstGeom>
        </p:spPr>
        <p:txBody>
          <a:bodyPr/>
          <a:lstStyle/>
          <a:p>
            <a:pPr algn="ctr">
              <a:lnSpc>
                <a:spcPct val="120000"/>
              </a:lnSpc>
            </a:pPr>
            <a:r>
              <a:rPr lang="en-US" sz="6000">
                <a:solidFill>
                  <a:srgbClr val="FFFF00"/>
                </a:solidFill>
                <a:latin typeface="Tahoma" pitchFamily="34" charset="0"/>
                <a:cs typeface="Tahoma" pitchFamily="34" charset="0"/>
              </a:rPr>
              <a:t>LẬP TRÌNH. NET</a:t>
            </a:r>
          </a:p>
        </p:txBody>
      </p:sp>
      <p:sp>
        <p:nvSpPr>
          <p:cNvPr id="6" name="Rectangle 3"/>
          <p:cNvSpPr txBox="1">
            <a:spLocks noChangeArrowheads="1"/>
          </p:cNvSpPr>
          <p:nvPr/>
        </p:nvSpPr>
        <p:spPr>
          <a:xfrm>
            <a:off x="1676400" y="4800600"/>
            <a:ext cx="7086600" cy="1600200"/>
          </a:xfrm>
          <a:prstGeom prst="rect">
            <a:avLst/>
          </a:prstGeom>
        </p:spPr>
        <p:txBody>
          <a:bodyPr/>
          <a:lst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j-lt"/>
              </a:defRPr>
            </a:lvl2pPr>
            <a:lvl3pPr marL="1143000" indent="-228600" algn="l" rtl="0" eaLnBrk="1" fontAlgn="base" hangingPunct="1">
              <a:spcBef>
                <a:spcPct val="20000"/>
              </a:spcBef>
              <a:spcAft>
                <a:spcPct val="0"/>
              </a:spcAft>
              <a:buClr>
                <a:schemeClr val="tx1"/>
              </a:buClr>
              <a:buChar char="•"/>
              <a:defRPr sz="2400">
                <a:solidFill>
                  <a:schemeClr val="tx1"/>
                </a:solidFill>
                <a:latin typeface="+mj-lt"/>
              </a:defRPr>
            </a:lvl3pPr>
            <a:lvl4pPr marL="1600200" indent="-228600" algn="l" rtl="0" eaLnBrk="1" fontAlgn="base" hangingPunct="1">
              <a:spcBef>
                <a:spcPct val="20000"/>
              </a:spcBef>
              <a:spcAft>
                <a:spcPct val="0"/>
              </a:spcAft>
              <a:buChar char="–"/>
              <a:defRPr sz="2000">
                <a:solidFill>
                  <a:schemeClr val="tx1"/>
                </a:solidFill>
                <a:latin typeface="+mj-lt"/>
              </a:defRPr>
            </a:lvl4pPr>
            <a:lvl5pPr marL="2057400" indent="-228600" algn="l" rtl="0" eaLnBrk="1" fontAlgn="base" hangingPunct="1">
              <a:spcBef>
                <a:spcPct val="20000"/>
              </a:spcBef>
              <a:spcAft>
                <a:spcPct val="0"/>
              </a:spcAft>
              <a:buChar char="»"/>
              <a:defRPr sz="2000">
                <a:solidFill>
                  <a:schemeClr val="tx1"/>
                </a:solidFill>
                <a:latin typeface="+mj-lt"/>
              </a:defRPr>
            </a:lvl5pPr>
            <a:lvl6pPr marL="2514600" indent="-228600" algn="l" rtl="0" eaLnBrk="1" fontAlgn="base" hangingPunct="1">
              <a:spcBef>
                <a:spcPct val="20000"/>
              </a:spcBef>
              <a:spcAft>
                <a:spcPct val="0"/>
              </a:spcAft>
              <a:buChar char="»"/>
              <a:defRPr sz="2000">
                <a:solidFill>
                  <a:schemeClr val="tx1"/>
                </a:solidFill>
                <a:latin typeface="+mj-lt"/>
              </a:defRPr>
            </a:lvl6pPr>
            <a:lvl7pPr marL="2971800" indent="-228600" algn="l" rtl="0" eaLnBrk="1" fontAlgn="base" hangingPunct="1">
              <a:spcBef>
                <a:spcPct val="20000"/>
              </a:spcBef>
              <a:spcAft>
                <a:spcPct val="0"/>
              </a:spcAft>
              <a:buChar char="»"/>
              <a:defRPr sz="2000">
                <a:solidFill>
                  <a:schemeClr val="tx1"/>
                </a:solidFill>
                <a:latin typeface="+mj-lt"/>
              </a:defRPr>
            </a:lvl7pPr>
            <a:lvl8pPr marL="3429000" indent="-228600" algn="l" rtl="0" eaLnBrk="1" fontAlgn="base" hangingPunct="1">
              <a:spcBef>
                <a:spcPct val="20000"/>
              </a:spcBef>
              <a:spcAft>
                <a:spcPct val="0"/>
              </a:spcAft>
              <a:buChar char="»"/>
              <a:defRPr sz="2000">
                <a:solidFill>
                  <a:schemeClr val="tx1"/>
                </a:solidFill>
                <a:latin typeface="+mj-lt"/>
              </a:defRPr>
            </a:lvl8pPr>
            <a:lvl9pPr marL="3886200" indent="-228600" algn="l" rtl="0" eaLnBrk="1" fontAlgn="base" hangingPunct="1">
              <a:spcBef>
                <a:spcPct val="20000"/>
              </a:spcBef>
              <a:spcAft>
                <a:spcPct val="0"/>
              </a:spcAft>
              <a:buChar char="»"/>
              <a:defRPr sz="2000">
                <a:solidFill>
                  <a:schemeClr val="tx1"/>
                </a:solidFill>
                <a:latin typeface="+mj-lt"/>
              </a:defRPr>
            </a:lvl9pPr>
          </a:lstStyle>
          <a:p>
            <a:pPr marL="0" indent="0">
              <a:lnSpc>
                <a:spcPct val="110000"/>
              </a:lnSpc>
              <a:buNone/>
            </a:pPr>
            <a:r>
              <a:rPr lang="en-US" sz="2100">
                <a:solidFill>
                  <a:schemeClr val="bg1"/>
                </a:solidFill>
                <a:latin typeface="Arial" pitchFamily="34" charset="0"/>
                <a:cs typeface="Arial" pitchFamily="34" charset="0"/>
              </a:rPr>
              <a:t>Giảng viên: Th.s Nguyễn Thu Hằng</a:t>
            </a:r>
          </a:p>
          <a:p>
            <a:pPr marL="0" indent="0">
              <a:lnSpc>
                <a:spcPct val="110000"/>
              </a:lnSpc>
              <a:buNone/>
            </a:pPr>
            <a:r>
              <a:rPr lang="en-US" sz="2100">
                <a:solidFill>
                  <a:schemeClr val="bg1"/>
                </a:solidFill>
                <a:latin typeface="Arial" pitchFamily="34" charset="0"/>
                <a:cs typeface="Arial" pitchFamily="34" charset="0"/>
              </a:rPr>
              <a:t>Email: hangnt1@eaut.edu.vn</a:t>
            </a:r>
          </a:p>
          <a:p>
            <a:pPr marL="0" indent="0">
              <a:lnSpc>
                <a:spcPct val="110000"/>
              </a:lnSpc>
              <a:buNone/>
            </a:pPr>
            <a:r>
              <a:rPr lang="en-US" sz="2100">
                <a:solidFill>
                  <a:schemeClr val="bg1"/>
                </a:solidFill>
                <a:latin typeface="Arial" pitchFamily="34" charset="0"/>
                <a:cs typeface="Arial" pitchFamily="34" charset="0"/>
              </a:rPr>
              <a:t>Bộ môn Công nghệ phần mềm</a:t>
            </a:r>
          </a:p>
          <a:p>
            <a:pPr marL="0" indent="0">
              <a:lnSpc>
                <a:spcPct val="110000"/>
              </a:lnSpc>
              <a:buNone/>
            </a:pPr>
            <a:r>
              <a:rPr lang="en-US" sz="2100">
                <a:solidFill>
                  <a:schemeClr val="bg1"/>
                </a:solidFill>
                <a:latin typeface="Arial" pitchFamily="34" charset="0"/>
                <a:cs typeface="Arial" pitchFamily="34" charset="0"/>
              </a:rPr>
              <a:t>Khoa Công nghệ thông tin – ĐH Công nghệ Đông Á</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157843" y="3407228"/>
            <a:ext cx="8991600" cy="1698171"/>
          </a:xfrm>
          <a:prstGeom prst="rect">
            <a:avLst/>
          </a:prstGeom>
        </p:spPr>
        <p:txBody>
          <a:bodyPr/>
          <a:lstStyle/>
          <a:p>
            <a:pPr algn="ctr">
              <a:lnSpc>
                <a:spcPct val="120000"/>
              </a:lnSpc>
            </a:pPr>
            <a:r>
              <a:rPr lang="vi-VN" sz="4000">
                <a:solidFill>
                  <a:srgbClr val="FFFF00"/>
                </a:solidFill>
                <a:latin typeface="Tahoma" pitchFamily="34" charset="0"/>
                <a:cs typeface="Tahoma" pitchFamily="34" charset="0"/>
              </a:rPr>
              <a:t>Chương 2. Lập trình hướng đối tượng với C#</a:t>
            </a:r>
          </a:p>
        </p:txBody>
      </p:sp>
    </p:spTree>
    <p:extLst>
      <p:ext uri="{BB962C8B-B14F-4D97-AF65-F5344CB8AC3E}">
        <p14:creationId xmlns:p14="http://schemas.microsoft.com/office/powerpoint/2010/main" val="2026482899"/>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0F09BD2-3F21-11C9-459B-BEB62DD2195B}"/>
              </a:ext>
            </a:extLst>
          </p:cNvPr>
          <p:cNvSpPr>
            <a:spLocks noGrp="1" noChangeArrowheads="1"/>
          </p:cNvSpPr>
          <p:nvPr>
            <p:ph type="title"/>
          </p:nvPr>
        </p:nvSpPr>
        <p:spPr/>
        <p:txBody>
          <a:bodyPr/>
          <a:lstStyle/>
          <a:p>
            <a:pPr eaLnBrk="1" hangingPunct="1"/>
            <a:r>
              <a:rPr lang="en-US" altLang="en-US" sz="3000" b="1"/>
              <a:t>4. Mảng trong C#</a:t>
            </a:r>
          </a:p>
        </p:txBody>
      </p:sp>
      <p:sp>
        <p:nvSpPr>
          <p:cNvPr id="17411" name="Rectangle 3">
            <a:extLst>
              <a:ext uri="{FF2B5EF4-FFF2-40B4-BE49-F238E27FC236}">
                <a16:creationId xmlns:a16="http://schemas.microsoft.com/office/drawing/2014/main" id="{AE086B01-F79C-842B-EB4F-120840249142}"/>
              </a:ext>
            </a:extLst>
          </p:cNvPr>
          <p:cNvSpPr>
            <a:spLocks noChangeArrowheads="1"/>
          </p:cNvSpPr>
          <p:nvPr/>
        </p:nvSpPr>
        <p:spPr bwMode="auto">
          <a:xfrm>
            <a:off x="171450" y="782638"/>
            <a:ext cx="12620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Mảng</a:t>
            </a:r>
          </a:p>
        </p:txBody>
      </p:sp>
      <p:sp>
        <p:nvSpPr>
          <p:cNvPr id="357380" name="Rectangle 4">
            <a:extLst>
              <a:ext uri="{FF2B5EF4-FFF2-40B4-BE49-F238E27FC236}">
                <a16:creationId xmlns:a16="http://schemas.microsoft.com/office/drawing/2014/main" id="{3297AC43-DC74-353B-FEB6-4A26AD1F53D7}"/>
              </a:ext>
            </a:extLst>
          </p:cNvPr>
          <p:cNvSpPr>
            <a:spLocks noChangeArrowheads="1"/>
          </p:cNvSpPr>
          <p:nvPr/>
        </p:nvSpPr>
        <p:spPr bwMode="auto">
          <a:xfrm>
            <a:off x="1524000" y="819150"/>
            <a:ext cx="7391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là một tập hợp hữu hạn các phần tử có cùng kiểu dữ liệu .</a:t>
            </a:r>
          </a:p>
        </p:txBody>
      </p:sp>
      <p:sp>
        <p:nvSpPr>
          <p:cNvPr id="357381" name="Rectangle 5">
            <a:extLst>
              <a:ext uri="{FF2B5EF4-FFF2-40B4-BE49-F238E27FC236}">
                <a16:creationId xmlns:a16="http://schemas.microsoft.com/office/drawing/2014/main" id="{14739C12-FFAA-A6F1-9677-5AA5EC2794D8}"/>
              </a:ext>
            </a:extLst>
          </p:cNvPr>
          <p:cNvSpPr>
            <a:spLocks noChangeArrowheads="1"/>
          </p:cNvSpPr>
          <p:nvPr/>
        </p:nvSpPr>
        <p:spPr bwMode="auto">
          <a:xfrm>
            <a:off x="228600" y="1709738"/>
            <a:ext cx="2735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1" u="none" strike="noStrike" kern="1200" cap="none" spc="0" normalizeH="0" baseline="0" noProof="0">
                <a:ln>
                  <a:noFill/>
                </a:ln>
                <a:solidFill>
                  <a:srgbClr val="000066"/>
                </a:solidFill>
                <a:effectLst/>
                <a:uLnTx/>
                <a:uFillTx/>
                <a:latin typeface="Verdana" panose="020B0604030504040204" pitchFamily="34" charset="0"/>
                <a:ea typeface="+mn-ea"/>
                <a:cs typeface="+mn-cs"/>
              </a:rPr>
              <a:t>Khai báo mảng</a:t>
            </a:r>
          </a:p>
        </p:txBody>
      </p:sp>
      <p:sp>
        <p:nvSpPr>
          <p:cNvPr id="357382" name="Rectangle 6">
            <a:extLst>
              <a:ext uri="{FF2B5EF4-FFF2-40B4-BE49-F238E27FC236}">
                <a16:creationId xmlns:a16="http://schemas.microsoft.com/office/drawing/2014/main" id="{19184826-6AE9-A3D6-913C-A3A4476AA81A}"/>
              </a:ext>
            </a:extLst>
          </p:cNvPr>
          <p:cNvSpPr>
            <a:spLocks noChangeArrowheads="1"/>
          </p:cNvSpPr>
          <p:nvPr/>
        </p:nvSpPr>
        <p:spPr bwMode="auto">
          <a:xfrm>
            <a:off x="3124200" y="1704975"/>
            <a:ext cx="50085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&lt;</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kiểu dữ liệu</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&gt;[] &lt;</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tên mảng</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&gt;;</a:t>
            </a:r>
          </a:p>
        </p:txBody>
      </p:sp>
      <p:sp>
        <p:nvSpPr>
          <p:cNvPr id="357383" name="Text Box 7">
            <a:extLst>
              <a:ext uri="{FF2B5EF4-FFF2-40B4-BE49-F238E27FC236}">
                <a16:creationId xmlns:a16="http://schemas.microsoft.com/office/drawing/2014/main" id="{19E4678E-F75C-C9FC-31FE-5340266A19E2}"/>
              </a:ext>
            </a:extLst>
          </p:cNvPr>
          <p:cNvSpPr txBox="1">
            <a:spLocks noChangeArrowheads="1"/>
          </p:cNvSpPr>
          <p:nvPr/>
        </p:nvSpPr>
        <p:spPr bwMode="auto">
          <a:xfrm>
            <a:off x="3962400" y="2243138"/>
            <a:ext cx="2743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99"/>
                </a:solidFill>
                <a:effectLst/>
                <a:uLnTx/>
                <a:uFillTx/>
                <a:latin typeface="Verdana" panose="020B0604030504040204" pitchFamily="34" charset="0"/>
                <a:ea typeface="+mn-ea"/>
                <a:cs typeface="+mn-cs"/>
              </a:rPr>
              <a:t>int[] so;</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99"/>
                </a:solidFill>
                <a:effectLst/>
                <a:uLnTx/>
                <a:uFillTx/>
                <a:latin typeface="Verdana" panose="020B0604030504040204" pitchFamily="34" charset="0"/>
                <a:ea typeface="+mn-ea"/>
                <a:cs typeface="+mn-cs"/>
              </a:rPr>
              <a:t>float[] diem;</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99"/>
                </a:solidFill>
                <a:effectLst/>
                <a:uLnTx/>
                <a:uFillTx/>
                <a:latin typeface="Verdana" panose="020B0604030504040204" pitchFamily="34" charset="0"/>
                <a:ea typeface="+mn-ea"/>
                <a:cs typeface="+mn-cs"/>
              </a:rPr>
              <a:t>string[] tenlop;</a:t>
            </a:r>
          </a:p>
        </p:txBody>
      </p:sp>
      <p:sp>
        <p:nvSpPr>
          <p:cNvPr id="357384" name="Rectangle 8">
            <a:extLst>
              <a:ext uri="{FF2B5EF4-FFF2-40B4-BE49-F238E27FC236}">
                <a16:creationId xmlns:a16="http://schemas.microsoft.com/office/drawing/2014/main" id="{BC4F3644-9B01-317C-BC0F-446B17566B36}"/>
              </a:ext>
            </a:extLst>
          </p:cNvPr>
          <p:cNvSpPr>
            <a:spLocks noChangeArrowheads="1"/>
          </p:cNvSpPr>
          <p:nvPr/>
        </p:nvSpPr>
        <p:spPr bwMode="auto">
          <a:xfrm>
            <a:off x="249238" y="3876675"/>
            <a:ext cx="8837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D60093"/>
                </a:solidFill>
                <a:effectLst/>
                <a:uLnTx/>
                <a:uFillTx/>
                <a:latin typeface="Verdana" panose="020B0604030504040204" pitchFamily="34" charset="0"/>
                <a:ea typeface="+mn-ea"/>
                <a:cs typeface="+mn-cs"/>
              </a:rPr>
              <a:t>Tạo thể hiện của mảng bằng cách sử dụng từ khóa </a:t>
            </a:r>
            <a:r>
              <a:rPr kumimoji="0" lang="en-US" altLang="en-US" sz="2400" b="1" i="0" u="none" strike="noStrike" kern="1200" cap="none" spc="0" normalizeH="0" baseline="0" noProof="0">
                <a:ln>
                  <a:noFill/>
                </a:ln>
                <a:solidFill>
                  <a:srgbClr val="D60093"/>
                </a:solidFill>
                <a:effectLst/>
                <a:uLnTx/>
                <a:uFillTx/>
                <a:latin typeface="Verdana" panose="020B0604030504040204" pitchFamily="34" charset="0"/>
                <a:ea typeface="+mn-ea"/>
                <a:cs typeface="+mn-cs"/>
              </a:rPr>
              <a:t>new</a:t>
            </a:r>
          </a:p>
        </p:txBody>
      </p:sp>
      <p:sp>
        <p:nvSpPr>
          <p:cNvPr id="357385" name="Text Box 9">
            <a:extLst>
              <a:ext uri="{FF2B5EF4-FFF2-40B4-BE49-F238E27FC236}">
                <a16:creationId xmlns:a16="http://schemas.microsoft.com/office/drawing/2014/main" id="{40E8370B-2287-9C36-C3CE-1CA4E1A79A99}"/>
              </a:ext>
            </a:extLst>
          </p:cNvPr>
          <p:cNvSpPr txBox="1">
            <a:spLocks noChangeArrowheads="1"/>
          </p:cNvSpPr>
          <p:nvPr/>
        </p:nvSpPr>
        <p:spPr bwMode="auto">
          <a:xfrm>
            <a:off x="2209800" y="5381625"/>
            <a:ext cx="55626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int[] so = new int[10];</a:t>
            </a:r>
          </a:p>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float[] diem = new float[3];</a:t>
            </a:r>
          </a:p>
        </p:txBody>
      </p:sp>
      <p:pic>
        <p:nvPicPr>
          <p:cNvPr id="357388" name="Picture 12">
            <a:extLst>
              <a:ext uri="{FF2B5EF4-FFF2-40B4-BE49-F238E27FC236}">
                <a16:creationId xmlns:a16="http://schemas.microsoft.com/office/drawing/2014/main" id="{235CCB97-74C5-FAAC-CE2A-46764C4C7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495800"/>
            <a:ext cx="8153400" cy="6858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7380"/>
                                        </p:tgtEl>
                                        <p:attrNameLst>
                                          <p:attrName>style.visibility</p:attrName>
                                        </p:attrNameLst>
                                      </p:cBhvr>
                                      <p:to>
                                        <p:strVal val="visible"/>
                                      </p:to>
                                    </p:set>
                                    <p:animEffect transition="in" filter="box(in)">
                                      <p:cBhvr>
                                        <p:cTn id="7" dur="1000"/>
                                        <p:tgtEl>
                                          <p:spTgt spid="3573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7381"/>
                                        </p:tgtEl>
                                        <p:attrNameLst>
                                          <p:attrName>style.visibility</p:attrName>
                                        </p:attrNameLst>
                                      </p:cBhvr>
                                      <p:to>
                                        <p:strVal val="visible"/>
                                      </p:to>
                                    </p:set>
                                    <p:animEffect transition="in" filter="box(in)">
                                      <p:cBhvr>
                                        <p:cTn id="12" dur="1000"/>
                                        <p:tgtEl>
                                          <p:spTgt spid="3573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7382"/>
                                        </p:tgtEl>
                                        <p:attrNameLst>
                                          <p:attrName>style.visibility</p:attrName>
                                        </p:attrNameLst>
                                      </p:cBhvr>
                                      <p:to>
                                        <p:strVal val="visible"/>
                                      </p:to>
                                    </p:set>
                                    <p:animEffect transition="in" filter="box(in)">
                                      <p:cBhvr>
                                        <p:cTn id="17" dur="1000"/>
                                        <p:tgtEl>
                                          <p:spTgt spid="3573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7383"/>
                                        </p:tgtEl>
                                        <p:attrNameLst>
                                          <p:attrName>style.visibility</p:attrName>
                                        </p:attrNameLst>
                                      </p:cBhvr>
                                      <p:to>
                                        <p:strVal val="visible"/>
                                      </p:to>
                                    </p:set>
                                    <p:animEffect transition="in" filter="box(in)">
                                      <p:cBhvr>
                                        <p:cTn id="22" dur="1000"/>
                                        <p:tgtEl>
                                          <p:spTgt spid="3573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57384"/>
                                        </p:tgtEl>
                                        <p:attrNameLst>
                                          <p:attrName>style.visibility</p:attrName>
                                        </p:attrNameLst>
                                      </p:cBhvr>
                                      <p:to>
                                        <p:strVal val="visible"/>
                                      </p:to>
                                    </p:set>
                                    <p:animEffect transition="in" filter="box(in)">
                                      <p:cBhvr>
                                        <p:cTn id="27" dur="1000"/>
                                        <p:tgtEl>
                                          <p:spTgt spid="3573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57388"/>
                                        </p:tgtEl>
                                        <p:attrNameLst>
                                          <p:attrName>style.visibility</p:attrName>
                                        </p:attrNameLst>
                                      </p:cBhvr>
                                      <p:to>
                                        <p:strVal val="visible"/>
                                      </p:to>
                                    </p:set>
                                    <p:animEffect transition="in" filter="box(in)">
                                      <p:cBhvr>
                                        <p:cTn id="32" dur="1000"/>
                                        <p:tgtEl>
                                          <p:spTgt spid="35738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57385"/>
                                        </p:tgtEl>
                                        <p:attrNameLst>
                                          <p:attrName>style.visibility</p:attrName>
                                        </p:attrNameLst>
                                      </p:cBhvr>
                                      <p:to>
                                        <p:strVal val="visible"/>
                                      </p:to>
                                    </p:set>
                                    <p:animEffect transition="in" filter="box(in)">
                                      <p:cBhvr>
                                        <p:cTn id="37" dur="1000"/>
                                        <p:tgtEl>
                                          <p:spTgt spid="357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0" grpId="0"/>
      <p:bldP spid="357381" grpId="0"/>
      <p:bldP spid="357382" grpId="0"/>
      <p:bldP spid="357383" grpId="0"/>
      <p:bldP spid="357384" grpId="0"/>
      <p:bldP spid="357385"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1AB0688-BCFA-D19F-4862-AA91CA4459C2}"/>
              </a:ext>
            </a:extLst>
          </p:cNvPr>
          <p:cNvSpPr>
            <a:spLocks noGrp="1" noChangeArrowheads="1"/>
          </p:cNvSpPr>
          <p:nvPr>
            <p:ph type="title"/>
          </p:nvPr>
        </p:nvSpPr>
        <p:spPr/>
        <p:txBody>
          <a:bodyPr/>
          <a:lstStyle/>
          <a:p>
            <a:pPr eaLnBrk="1" hangingPunct="1"/>
            <a:r>
              <a:rPr lang="en-US" altLang="en-US" sz="3000" b="1"/>
              <a:t>4. Mảng trong C#</a:t>
            </a:r>
          </a:p>
        </p:txBody>
      </p:sp>
      <p:sp>
        <p:nvSpPr>
          <p:cNvPr id="19459" name="Rectangle 3">
            <a:extLst>
              <a:ext uri="{FF2B5EF4-FFF2-40B4-BE49-F238E27FC236}">
                <a16:creationId xmlns:a16="http://schemas.microsoft.com/office/drawing/2014/main" id="{A1F8F364-A797-DD16-24E0-99F8DA31FC9F}"/>
              </a:ext>
            </a:extLst>
          </p:cNvPr>
          <p:cNvSpPr>
            <a:spLocks noChangeArrowheads="1"/>
          </p:cNvSpPr>
          <p:nvPr/>
        </p:nvSpPr>
        <p:spPr bwMode="auto">
          <a:xfrm>
            <a:off x="176213" y="857250"/>
            <a:ext cx="2905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1" u="none" strike="noStrike" kern="1200" cap="none" spc="0" normalizeH="0" baseline="0" noProof="0">
                <a:ln>
                  <a:noFill/>
                </a:ln>
                <a:solidFill>
                  <a:srgbClr val="000066"/>
                </a:solidFill>
                <a:effectLst/>
                <a:uLnTx/>
                <a:uFillTx/>
                <a:latin typeface="Verdana" panose="020B0604030504040204" pitchFamily="34" charset="0"/>
                <a:ea typeface="+mn-ea"/>
                <a:cs typeface="+mn-cs"/>
              </a:rPr>
              <a:t>Giá trị mặc định</a:t>
            </a:r>
          </a:p>
        </p:txBody>
      </p:sp>
      <p:sp>
        <p:nvSpPr>
          <p:cNvPr id="358404" name="Rectangle 4">
            <a:extLst>
              <a:ext uri="{FF2B5EF4-FFF2-40B4-BE49-F238E27FC236}">
                <a16:creationId xmlns:a16="http://schemas.microsoft.com/office/drawing/2014/main" id="{D2927476-0DD7-FB66-AFBD-20079F598C98}"/>
              </a:ext>
            </a:extLst>
          </p:cNvPr>
          <p:cNvSpPr>
            <a:spLocks noChangeArrowheads="1"/>
          </p:cNvSpPr>
          <p:nvPr/>
        </p:nvSpPr>
        <p:spPr bwMode="auto">
          <a:xfrm>
            <a:off x="3276600" y="838200"/>
            <a:ext cx="5867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D60093"/>
                </a:solidFill>
                <a:effectLst/>
                <a:uLnTx/>
                <a:uFillTx/>
                <a:latin typeface="Verdana" panose="020B0604030504040204" pitchFamily="34" charset="0"/>
                <a:ea typeface="+mn-ea"/>
                <a:cs typeface="+mn-cs"/>
              </a:rPr>
              <a:t>tạo một mảng có kiểu dữ liệu giá trị, mỗi thành phần sẽ chứa giá trị mặc định của kiểu dữ liệu</a:t>
            </a:r>
          </a:p>
        </p:txBody>
      </p:sp>
      <p:sp>
        <p:nvSpPr>
          <p:cNvPr id="358405" name="Rectangle 5">
            <a:extLst>
              <a:ext uri="{FF2B5EF4-FFF2-40B4-BE49-F238E27FC236}">
                <a16:creationId xmlns:a16="http://schemas.microsoft.com/office/drawing/2014/main" id="{410390C1-D72D-F572-CB21-15B247E12310}"/>
              </a:ext>
            </a:extLst>
          </p:cNvPr>
          <p:cNvSpPr>
            <a:spLocks noChangeArrowheads="1"/>
          </p:cNvSpPr>
          <p:nvPr/>
        </p:nvSpPr>
        <p:spPr bwMode="auto">
          <a:xfrm>
            <a:off x="228600" y="2152650"/>
            <a:ext cx="3514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99"/>
                </a:solidFill>
                <a:effectLst/>
                <a:uLnTx/>
                <a:uFillTx/>
                <a:latin typeface="Verdana" panose="020B0604030504040204" pitchFamily="34" charset="0"/>
                <a:ea typeface="+mn-ea"/>
                <a:cs typeface="+mn-cs"/>
              </a:rPr>
              <a:t>int[] so = new int[5];</a:t>
            </a:r>
          </a:p>
        </p:txBody>
      </p:sp>
      <p:sp>
        <p:nvSpPr>
          <p:cNvPr id="358406" name="Rectangle 6">
            <a:extLst>
              <a:ext uri="{FF2B5EF4-FFF2-40B4-BE49-F238E27FC236}">
                <a16:creationId xmlns:a16="http://schemas.microsoft.com/office/drawing/2014/main" id="{CC14F52A-1D56-596B-06C1-DF85D96E45D8}"/>
              </a:ext>
            </a:extLst>
          </p:cNvPr>
          <p:cNvSpPr>
            <a:spLocks noChangeArrowheads="1"/>
          </p:cNvSpPr>
          <p:nvPr/>
        </p:nvSpPr>
        <p:spPr bwMode="auto">
          <a:xfrm>
            <a:off x="3781425" y="2138363"/>
            <a:ext cx="5181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tạo ra một mảng năm số nguyên, và mỗi thành phần được thiết lập giá trị mặc định là 0</a:t>
            </a:r>
          </a:p>
        </p:txBody>
      </p:sp>
      <p:pic>
        <p:nvPicPr>
          <p:cNvPr id="358407" name="Picture 7">
            <a:extLst>
              <a:ext uri="{FF2B5EF4-FFF2-40B4-BE49-F238E27FC236}">
                <a16:creationId xmlns:a16="http://schemas.microsoft.com/office/drawing/2014/main" id="{75C3A6F5-6482-E6E2-6AD9-2FEFE1080F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3651250"/>
            <a:ext cx="7321550" cy="305435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04">
                                            <p:txEl>
                                              <p:pRg st="0" end="0"/>
                                            </p:txEl>
                                          </p:spTgt>
                                        </p:tgtEl>
                                        <p:attrNameLst>
                                          <p:attrName>style.visibility</p:attrName>
                                        </p:attrNameLst>
                                      </p:cBhvr>
                                      <p:to>
                                        <p:strVal val="visible"/>
                                      </p:to>
                                    </p:set>
                                    <p:animEffect transition="in" filter="box(in)">
                                      <p:cBhvr>
                                        <p:cTn id="7" dur="1000"/>
                                        <p:tgtEl>
                                          <p:spTgt spid="3584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8405"/>
                                        </p:tgtEl>
                                        <p:attrNameLst>
                                          <p:attrName>style.visibility</p:attrName>
                                        </p:attrNameLst>
                                      </p:cBhvr>
                                      <p:to>
                                        <p:strVal val="visible"/>
                                      </p:to>
                                    </p:set>
                                    <p:animEffect transition="in" filter="box(in)">
                                      <p:cBhvr>
                                        <p:cTn id="12" dur="1000"/>
                                        <p:tgtEl>
                                          <p:spTgt spid="3584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8406"/>
                                        </p:tgtEl>
                                        <p:attrNameLst>
                                          <p:attrName>style.visibility</p:attrName>
                                        </p:attrNameLst>
                                      </p:cBhvr>
                                      <p:to>
                                        <p:strVal val="visible"/>
                                      </p:to>
                                    </p:set>
                                    <p:animEffect transition="in" filter="box(in)">
                                      <p:cBhvr>
                                        <p:cTn id="17" dur="1000"/>
                                        <p:tgtEl>
                                          <p:spTgt spid="3584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8407"/>
                                        </p:tgtEl>
                                        <p:attrNameLst>
                                          <p:attrName>style.visibility</p:attrName>
                                        </p:attrNameLst>
                                      </p:cBhvr>
                                      <p:to>
                                        <p:strVal val="visible"/>
                                      </p:to>
                                    </p:set>
                                    <p:animEffect transition="in" filter="box(in)">
                                      <p:cBhvr>
                                        <p:cTn id="22" dur="1000"/>
                                        <p:tgtEl>
                                          <p:spTgt spid="358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5" grpId="0"/>
      <p:bldP spid="358406"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BD197E2-CB8E-1143-02CF-118E1900C4C8}"/>
              </a:ext>
            </a:extLst>
          </p:cNvPr>
          <p:cNvSpPr>
            <a:spLocks noGrp="1" noChangeArrowheads="1"/>
          </p:cNvSpPr>
          <p:nvPr>
            <p:ph type="title"/>
          </p:nvPr>
        </p:nvSpPr>
        <p:spPr/>
        <p:txBody>
          <a:bodyPr/>
          <a:lstStyle/>
          <a:p>
            <a:pPr eaLnBrk="1" hangingPunct="1"/>
            <a:r>
              <a:rPr lang="en-US" altLang="en-US" sz="3000" b="1"/>
              <a:t>4. Mảng trong C#</a:t>
            </a:r>
          </a:p>
        </p:txBody>
      </p:sp>
      <p:sp>
        <p:nvSpPr>
          <p:cNvPr id="20483" name="Rectangle 3">
            <a:extLst>
              <a:ext uri="{FF2B5EF4-FFF2-40B4-BE49-F238E27FC236}">
                <a16:creationId xmlns:a16="http://schemas.microsoft.com/office/drawing/2014/main" id="{6766A897-55CA-19AC-5013-171CD168C977}"/>
              </a:ext>
            </a:extLst>
          </p:cNvPr>
          <p:cNvSpPr>
            <a:spLocks noChangeArrowheads="1"/>
          </p:cNvSpPr>
          <p:nvPr/>
        </p:nvSpPr>
        <p:spPr bwMode="auto">
          <a:xfrm>
            <a:off x="123825" y="796925"/>
            <a:ext cx="6311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Khởi tạo thành phần của mảng</a:t>
            </a:r>
          </a:p>
        </p:txBody>
      </p:sp>
      <p:sp>
        <p:nvSpPr>
          <p:cNvPr id="359429" name="Rectangle 5">
            <a:extLst>
              <a:ext uri="{FF2B5EF4-FFF2-40B4-BE49-F238E27FC236}">
                <a16:creationId xmlns:a16="http://schemas.microsoft.com/office/drawing/2014/main" id="{23E04312-572D-91DD-7FB6-1BB97678BC90}"/>
              </a:ext>
            </a:extLst>
          </p:cNvPr>
          <p:cNvSpPr>
            <a:spLocks noChangeArrowheads="1"/>
          </p:cNvSpPr>
          <p:nvPr/>
        </p:nvSpPr>
        <p:spPr bwMode="auto">
          <a:xfrm>
            <a:off x="240506" y="1316038"/>
            <a:ext cx="86629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Cú</a:t>
            </a:r>
            <a:r>
              <a:rPr kumimoji="0" lang="en-US" altLang="en-US" sz="2400" b="0" i="0" u="none" strike="noStrike" kern="1200" cap="none" spc="0" normalizeH="0" noProof="0">
                <a:ln>
                  <a:noFill/>
                </a:ln>
                <a:solidFill>
                  <a:srgbClr val="000000"/>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pháp</a:t>
            </a:r>
            <a:r>
              <a:rPr lang="en-US" altLang="en-US" b="0" noProof="0">
                <a:solidFill>
                  <a:srgbClr val="000000"/>
                </a:solidFill>
              </a:rPr>
              <a:t>:</a:t>
            </a:r>
            <a:endPar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pic>
        <p:nvPicPr>
          <p:cNvPr id="359430" name="Picture 6">
            <a:extLst>
              <a:ext uri="{FF2B5EF4-FFF2-40B4-BE49-F238E27FC236}">
                <a16:creationId xmlns:a16="http://schemas.microsoft.com/office/drawing/2014/main" id="{2906BBD6-23AC-603E-0107-BE8FF90F77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836886"/>
            <a:ext cx="4800600" cy="9906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59432" name="Picture 8">
            <a:extLst>
              <a:ext uri="{FF2B5EF4-FFF2-40B4-BE49-F238E27FC236}">
                <a16:creationId xmlns:a16="http://schemas.microsoft.com/office/drawing/2014/main" id="{D133A459-CF11-01F1-A7BC-AAB96B68C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300" y="3363686"/>
            <a:ext cx="5314950" cy="16002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59433" name="Picture 9">
            <a:extLst>
              <a:ext uri="{FF2B5EF4-FFF2-40B4-BE49-F238E27FC236}">
                <a16:creationId xmlns:a16="http://schemas.microsoft.com/office/drawing/2014/main" id="{A98AF7CE-D9FE-A43C-22F3-F111CA0E33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0282" y="4030515"/>
            <a:ext cx="2209800" cy="16002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9429"/>
                                        </p:tgtEl>
                                        <p:attrNameLst>
                                          <p:attrName>style.visibility</p:attrName>
                                        </p:attrNameLst>
                                      </p:cBhvr>
                                      <p:to>
                                        <p:strVal val="visible"/>
                                      </p:to>
                                    </p:set>
                                    <p:animEffect transition="in" filter="box(in)">
                                      <p:cBhvr>
                                        <p:cTn id="7" dur="1000"/>
                                        <p:tgtEl>
                                          <p:spTgt spid="3594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9430"/>
                                        </p:tgtEl>
                                        <p:attrNameLst>
                                          <p:attrName>style.visibility</p:attrName>
                                        </p:attrNameLst>
                                      </p:cBhvr>
                                      <p:to>
                                        <p:strVal val="visible"/>
                                      </p:to>
                                    </p:set>
                                    <p:animEffect transition="in" filter="box(in)">
                                      <p:cBhvr>
                                        <p:cTn id="12" dur="1000"/>
                                        <p:tgtEl>
                                          <p:spTgt spid="3594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9432"/>
                                        </p:tgtEl>
                                        <p:attrNameLst>
                                          <p:attrName>style.visibility</p:attrName>
                                        </p:attrNameLst>
                                      </p:cBhvr>
                                      <p:to>
                                        <p:strVal val="visible"/>
                                      </p:to>
                                    </p:set>
                                    <p:animEffect transition="in" filter="box(in)">
                                      <p:cBhvr>
                                        <p:cTn id="17" dur="1000"/>
                                        <p:tgtEl>
                                          <p:spTgt spid="3594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9433"/>
                                        </p:tgtEl>
                                        <p:attrNameLst>
                                          <p:attrName>style.visibility</p:attrName>
                                        </p:attrNameLst>
                                      </p:cBhvr>
                                      <p:to>
                                        <p:strVal val="visible"/>
                                      </p:to>
                                    </p:set>
                                    <p:animEffect transition="in" filter="box(in)">
                                      <p:cBhvr>
                                        <p:cTn id="22" dur="1000"/>
                                        <p:tgtEl>
                                          <p:spTgt spid="359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9"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ADD6E42-CA54-64E3-864D-02B22FB738E3}"/>
              </a:ext>
            </a:extLst>
          </p:cNvPr>
          <p:cNvSpPr>
            <a:spLocks noGrp="1" noChangeArrowheads="1"/>
          </p:cNvSpPr>
          <p:nvPr>
            <p:ph type="title"/>
          </p:nvPr>
        </p:nvSpPr>
        <p:spPr/>
        <p:txBody>
          <a:bodyPr/>
          <a:lstStyle/>
          <a:p>
            <a:pPr eaLnBrk="1" hangingPunct="1"/>
            <a:r>
              <a:rPr lang="en-US" altLang="en-US" sz="3000" b="1"/>
              <a:t>4. Mảng trong C#</a:t>
            </a:r>
          </a:p>
        </p:txBody>
      </p:sp>
      <p:sp>
        <p:nvSpPr>
          <p:cNvPr id="21507" name="Rectangle 4">
            <a:extLst>
              <a:ext uri="{FF2B5EF4-FFF2-40B4-BE49-F238E27FC236}">
                <a16:creationId xmlns:a16="http://schemas.microsoft.com/office/drawing/2014/main" id="{87E94F92-DD9B-1FC0-CC57-D65DA2BBB3EE}"/>
              </a:ext>
            </a:extLst>
          </p:cNvPr>
          <p:cNvSpPr>
            <a:spLocks noChangeArrowheads="1"/>
          </p:cNvSpPr>
          <p:nvPr/>
        </p:nvSpPr>
        <p:spPr bwMode="auto">
          <a:xfrm>
            <a:off x="128588" y="812800"/>
            <a:ext cx="69897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6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Truy cập các thành phần trong mảng</a:t>
            </a:r>
          </a:p>
        </p:txBody>
      </p:sp>
      <p:sp>
        <p:nvSpPr>
          <p:cNvPr id="361477" name="Rectangle 5">
            <a:extLst>
              <a:ext uri="{FF2B5EF4-FFF2-40B4-BE49-F238E27FC236}">
                <a16:creationId xmlns:a16="http://schemas.microsoft.com/office/drawing/2014/main" id="{064FA7CF-B7C8-B573-105F-6D2AE8A64525}"/>
              </a:ext>
            </a:extLst>
          </p:cNvPr>
          <p:cNvSpPr>
            <a:spLocks noChangeArrowheads="1"/>
          </p:cNvSpPr>
          <p:nvPr/>
        </p:nvSpPr>
        <p:spPr bwMode="auto">
          <a:xfrm>
            <a:off x="738188" y="1376363"/>
            <a:ext cx="8305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Để truy cập vào thành phần trong mảng ta có thể sử dụng toán tử chỉ mục ([]).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Chỉ mục của thành phần đầu tiên trong mảng luôn luôn là 0</a:t>
            </a:r>
          </a:p>
        </p:txBody>
      </p:sp>
      <p:pic>
        <p:nvPicPr>
          <p:cNvPr id="361478" name="Picture 6">
            <a:extLst>
              <a:ext uri="{FF2B5EF4-FFF2-40B4-BE49-F238E27FC236}">
                <a16:creationId xmlns:a16="http://schemas.microsoft.com/office/drawing/2014/main" id="{BAB14E4B-992B-D9DD-D2E9-7F46561045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124200"/>
            <a:ext cx="7924800" cy="22860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1477"/>
                                        </p:tgtEl>
                                        <p:attrNameLst>
                                          <p:attrName>style.visibility</p:attrName>
                                        </p:attrNameLst>
                                      </p:cBhvr>
                                      <p:to>
                                        <p:strVal val="visible"/>
                                      </p:to>
                                    </p:set>
                                    <p:animEffect transition="in" filter="box(in)">
                                      <p:cBhvr>
                                        <p:cTn id="7" dur="1000"/>
                                        <p:tgtEl>
                                          <p:spTgt spid="3614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1478"/>
                                        </p:tgtEl>
                                        <p:attrNameLst>
                                          <p:attrName>style.visibility</p:attrName>
                                        </p:attrNameLst>
                                      </p:cBhvr>
                                      <p:to>
                                        <p:strVal val="visible"/>
                                      </p:to>
                                    </p:set>
                                    <p:animEffect transition="in" filter="box(in)">
                                      <p:cBhvr>
                                        <p:cTn id="12" dur="1000"/>
                                        <p:tgtEl>
                                          <p:spTgt spid="361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7"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7D6E572-2F95-6BC5-7B48-2FAC8062A2E7}"/>
              </a:ext>
            </a:extLst>
          </p:cNvPr>
          <p:cNvSpPr>
            <a:spLocks noGrp="1" noChangeArrowheads="1"/>
          </p:cNvSpPr>
          <p:nvPr>
            <p:ph type="title"/>
          </p:nvPr>
        </p:nvSpPr>
        <p:spPr/>
        <p:txBody>
          <a:bodyPr/>
          <a:lstStyle/>
          <a:p>
            <a:pPr eaLnBrk="1" hangingPunct="1"/>
            <a:r>
              <a:rPr lang="en-US" altLang="en-US" sz="3000" b="1"/>
              <a:t>4. Mảng trong C#</a:t>
            </a:r>
          </a:p>
        </p:txBody>
      </p:sp>
      <p:pic>
        <p:nvPicPr>
          <p:cNvPr id="360452" name="Picture 4">
            <a:extLst>
              <a:ext uri="{FF2B5EF4-FFF2-40B4-BE49-F238E27FC236}">
                <a16:creationId xmlns:a16="http://schemas.microsoft.com/office/drawing/2014/main" id="{791F4C53-7D3F-3242-F384-AA23348347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2119313"/>
            <a:ext cx="2505075" cy="27432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60453" name="Picture 5">
            <a:extLst>
              <a:ext uri="{FF2B5EF4-FFF2-40B4-BE49-F238E27FC236}">
                <a16:creationId xmlns:a16="http://schemas.microsoft.com/office/drawing/2014/main" id="{A682DAAD-3ED3-BF3E-7A3F-BC0516CA15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338" y="2133600"/>
            <a:ext cx="5715000" cy="42672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60454" name="Text Box 6">
            <a:extLst>
              <a:ext uri="{FF2B5EF4-FFF2-40B4-BE49-F238E27FC236}">
                <a16:creationId xmlns:a16="http://schemas.microsoft.com/office/drawing/2014/main" id="{0202FFAA-1408-8F14-8197-7C9EE8C3C616}"/>
              </a:ext>
            </a:extLst>
          </p:cNvPr>
          <p:cNvSpPr txBox="1">
            <a:spLocks noChangeArrowheads="1"/>
          </p:cNvSpPr>
          <p:nvPr/>
        </p:nvSpPr>
        <p:spPr bwMode="auto">
          <a:xfrm>
            <a:off x="290513" y="823913"/>
            <a:ext cx="8610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Ví dụ: Khai báo một mảng số nguyên gồm 5 phần tử, nhập giá trị của các phần tử từ bàn phím và hiện kết quả lên màn hình</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0454"/>
                                        </p:tgtEl>
                                        <p:attrNameLst>
                                          <p:attrName>style.visibility</p:attrName>
                                        </p:attrNameLst>
                                      </p:cBhvr>
                                      <p:to>
                                        <p:strVal val="visible"/>
                                      </p:to>
                                    </p:set>
                                    <p:animEffect transition="in" filter="box(in)">
                                      <p:cBhvr>
                                        <p:cTn id="7" dur="1000"/>
                                        <p:tgtEl>
                                          <p:spTgt spid="3604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0453"/>
                                        </p:tgtEl>
                                        <p:attrNameLst>
                                          <p:attrName>style.visibility</p:attrName>
                                        </p:attrNameLst>
                                      </p:cBhvr>
                                      <p:to>
                                        <p:strVal val="visible"/>
                                      </p:to>
                                    </p:set>
                                    <p:animEffect transition="in" filter="box(in)">
                                      <p:cBhvr>
                                        <p:cTn id="12" dur="1000"/>
                                        <p:tgtEl>
                                          <p:spTgt spid="3604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0452"/>
                                        </p:tgtEl>
                                        <p:attrNameLst>
                                          <p:attrName>style.visibility</p:attrName>
                                        </p:attrNameLst>
                                      </p:cBhvr>
                                      <p:to>
                                        <p:strVal val="visible"/>
                                      </p:to>
                                    </p:set>
                                    <p:animEffect transition="in" filter="box(in)">
                                      <p:cBhvr>
                                        <p:cTn id="17" dur="1000"/>
                                        <p:tgtEl>
                                          <p:spTgt spid="360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4"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AC8A5EE-AB8C-BD28-E65B-AA636B2055A4}"/>
              </a:ext>
            </a:extLst>
          </p:cNvPr>
          <p:cNvSpPr>
            <a:spLocks noGrp="1" noChangeArrowheads="1"/>
          </p:cNvSpPr>
          <p:nvPr>
            <p:ph type="title"/>
          </p:nvPr>
        </p:nvSpPr>
        <p:spPr/>
        <p:txBody>
          <a:bodyPr/>
          <a:lstStyle/>
          <a:p>
            <a:pPr eaLnBrk="1" hangingPunct="1"/>
            <a:r>
              <a:rPr lang="en-US" altLang="en-US" sz="3000" b="1"/>
              <a:t>4. Mảng trong C#</a:t>
            </a:r>
          </a:p>
        </p:txBody>
      </p:sp>
      <p:pic>
        <p:nvPicPr>
          <p:cNvPr id="363524" name="Picture 4">
            <a:extLst>
              <a:ext uri="{FF2B5EF4-FFF2-40B4-BE49-F238E27FC236}">
                <a16:creationId xmlns:a16="http://schemas.microsoft.com/office/drawing/2014/main" id="{11C86FA7-25D0-A626-0F04-83602DE326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05000"/>
            <a:ext cx="8229600" cy="4343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63525" name="Text Box 5">
            <a:extLst>
              <a:ext uri="{FF2B5EF4-FFF2-40B4-BE49-F238E27FC236}">
                <a16:creationId xmlns:a16="http://schemas.microsoft.com/office/drawing/2014/main" id="{EE6BC3A7-64AC-C240-9199-81292AAB6125}"/>
              </a:ext>
            </a:extLst>
          </p:cNvPr>
          <p:cNvSpPr txBox="1">
            <a:spLocks noChangeArrowheads="1"/>
          </p:cNvSpPr>
          <p:nvPr/>
        </p:nvSpPr>
        <p:spPr bwMode="auto">
          <a:xfrm>
            <a:off x="304800" y="838200"/>
            <a:ext cx="8610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l" defTabSz="914400" rtl="0" eaLnBrk="0" fontAlgn="base" latinLnBrk="0" hangingPunct="0">
              <a:lnSpc>
                <a:spcPct val="100000"/>
              </a:lnSpc>
              <a:spcBef>
                <a:spcPct val="50000"/>
              </a:spcBef>
              <a:spcAft>
                <a:spcPct val="0"/>
              </a:spcAft>
              <a:buClrTx/>
              <a:buSzTx/>
              <a:buFont typeface="Wingdings" panose="05000000000000000000" pitchFamily="2" charset="2"/>
              <a:buChar char="ü"/>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thuộc tính Length để lấy tổng số phần tử của mảng</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3525"/>
                                        </p:tgtEl>
                                        <p:attrNameLst>
                                          <p:attrName>style.visibility</p:attrName>
                                        </p:attrNameLst>
                                      </p:cBhvr>
                                      <p:to>
                                        <p:strVal val="visible"/>
                                      </p:to>
                                    </p:set>
                                    <p:animEffect transition="in" filter="box(in)">
                                      <p:cBhvr>
                                        <p:cTn id="7" dur="1000"/>
                                        <p:tgtEl>
                                          <p:spTgt spid="3635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3524"/>
                                        </p:tgtEl>
                                        <p:attrNameLst>
                                          <p:attrName>style.visibility</p:attrName>
                                        </p:attrNameLst>
                                      </p:cBhvr>
                                      <p:to>
                                        <p:strVal val="visible"/>
                                      </p:to>
                                    </p:set>
                                    <p:animEffect transition="in" filter="box(in)">
                                      <p:cBhvr>
                                        <p:cTn id="12" dur="1000"/>
                                        <p:tgtEl>
                                          <p:spTgt spid="363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5"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EF421F5-426E-2351-1498-AE903AD2174B}"/>
              </a:ext>
            </a:extLst>
          </p:cNvPr>
          <p:cNvSpPr>
            <a:spLocks noGrp="1" noChangeArrowheads="1"/>
          </p:cNvSpPr>
          <p:nvPr>
            <p:ph type="title"/>
          </p:nvPr>
        </p:nvSpPr>
        <p:spPr/>
        <p:txBody>
          <a:bodyPr/>
          <a:lstStyle/>
          <a:p>
            <a:pPr eaLnBrk="1" hangingPunct="1"/>
            <a:r>
              <a:rPr lang="en-US" altLang="en-US" sz="3000" b="1"/>
              <a:t>4. Mảng trong C#</a:t>
            </a:r>
          </a:p>
        </p:txBody>
      </p:sp>
      <p:pic>
        <p:nvPicPr>
          <p:cNvPr id="385028" name="Picture 4">
            <a:extLst>
              <a:ext uri="{FF2B5EF4-FFF2-40B4-BE49-F238E27FC236}">
                <a16:creationId xmlns:a16="http://schemas.microsoft.com/office/drawing/2014/main" id="{28B7CD4F-3B45-96FC-1C7B-80F8192AB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752600"/>
            <a:ext cx="8077200" cy="4681538"/>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85029" name="Text Box 5">
            <a:extLst>
              <a:ext uri="{FF2B5EF4-FFF2-40B4-BE49-F238E27FC236}">
                <a16:creationId xmlns:a16="http://schemas.microsoft.com/office/drawing/2014/main" id="{32D322BA-69F7-6BFF-312A-69952E62E8D5}"/>
              </a:ext>
            </a:extLst>
          </p:cNvPr>
          <p:cNvSpPr txBox="1">
            <a:spLocks noChangeArrowheads="1"/>
          </p:cNvSpPr>
          <p:nvPr/>
        </p:nvSpPr>
        <p:spPr bwMode="auto">
          <a:xfrm>
            <a:off x="304800" y="762000"/>
            <a:ext cx="8610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thuật toán sắp xếp để sắp xếp các phần tử của mảng theo chiều tăng dần</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5029"/>
                                        </p:tgtEl>
                                        <p:attrNameLst>
                                          <p:attrName>style.visibility</p:attrName>
                                        </p:attrNameLst>
                                      </p:cBhvr>
                                      <p:to>
                                        <p:strVal val="visible"/>
                                      </p:to>
                                    </p:set>
                                    <p:animEffect transition="in" filter="box(in)">
                                      <p:cBhvr>
                                        <p:cTn id="7" dur="1000"/>
                                        <p:tgtEl>
                                          <p:spTgt spid="3850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5028"/>
                                        </p:tgtEl>
                                        <p:attrNameLst>
                                          <p:attrName>style.visibility</p:attrName>
                                        </p:attrNameLst>
                                      </p:cBhvr>
                                      <p:to>
                                        <p:strVal val="visible"/>
                                      </p:to>
                                    </p:set>
                                    <p:animEffect transition="in" filter="box(in)">
                                      <p:cBhvr>
                                        <p:cTn id="12" dur="1000"/>
                                        <p:tgtEl>
                                          <p:spTgt spid="385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9"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29DA1B8-E6C4-2DEF-D025-0B8D848312F9}"/>
              </a:ext>
            </a:extLst>
          </p:cNvPr>
          <p:cNvSpPr>
            <a:spLocks noGrp="1" noChangeArrowheads="1"/>
          </p:cNvSpPr>
          <p:nvPr>
            <p:ph type="title"/>
          </p:nvPr>
        </p:nvSpPr>
        <p:spPr/>
        <p:txBody>
          <a:bodyPr/>
          <a:lstStyle/>
          <a:p>
            <a:pPr eaLnBrk="1" hangingPunct="1"/>
            <a:r>
              <a:rPr lang="en-US" altLang="en-US" sz="3000" b="1"/>
              <a:t>4. Mảng trong C#</a:t>
            </a:r>
          </a:p>
        </p:txBody>
      </p:sp>
      <p:sp>
        <p:nvSpPr>
          <p:cNvPr id="364548" name="Text Box 4">
            <a:extLst>
              <a:ext uri="{FF2B5EF4-FFF2-40B4-BE49-F238E27FC236}">
                <a16:creationId xmlns:a16="http://schemas.microsoft.com/office/drawing/2014/main" id="{F673C59B-0AA7-B52C-8B2B-ACFA0DB4B7C2}"/>
              </a:ext>
            </a:extLst>
          </p:cNvPr>
          <p:cNvSpPr txBox="1">
            <a:spLocks noChangeArrowheads="1"/>
          </p:cNvSpPr>
          <p:nvPr/>
        </p:nvSpPr>
        <p:spPr bwMode="auto">
          <a:xfrm>
            <a:off x="304800" y="838200"/>
            <a:ext cx="8610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phương thức sort của mảng để sắp xếp các phần tử của mảng</a:t>
            </a:r>
          </a:p>
        </p:txBody>
      </p:sp>
      <p:pic>
        <p:nvPicPr>
          <p:cNvPr id="364549" name="Picture 5">
            <a:extLst>
              <a:ext uri="{FF2B5EF4-FFF2-40B4-BE49-F238E27FC236}">
                <a16:creationId xmlns:a16="http://schemas.microsoft.com/office/drawing/2014/main" id="{6ADB454A-E17A-6FD7-7DF4-02977832BB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828800"/>
            <a:ext cx="8153400" cy="4495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4548"/>
                                        </p:tgtEl>
                                        <p:attrNameLst>
                                          <p:attrName>style.visibility</p:attrName>
                                        </p:attrNameLst>
                                      </p:cBhvr>
                                      <p:to>
                                        <p:strVal val="visible"/>
                                      </p:to>
                                    </p:set>
                                    <p:animEffect transition="in" filter="box(in)">
                                      <p:cBhvr>
                                        <p:cTn id="7" dur="1000"/>
                                        <p:tgtEl>
                                          <p:spTgt spid="3645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4549"/>
                                        </p:tgtEl>
                                        <p:attrNameLst>
                                          <p:attrName>style.visibility</p:attrName>
                                        </p:attrNameLst>
                                      </p:cBhvr>
                                      <p:to>
                                        <p:strVal val="visible"/>
                                      </p:to>
                                    </p:set>
                                    <p:animEffect transition="in" filter="box(in)">
                                      <p:cBhvr>
                                        <p:cTn id="12" dur="1000"/>
                                        <p:tgtEl>
                                          <p:spTgt spid="364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B2B007E-6F7C-77BE-623B-8F099787BB01}"/>
              </a:ext>
            </a:extLst>
          </p:cNvPr>
          <p:cNvSpPr>
            <a:spLocks noGrp="1" noChangeArrowheads="1"/>
          </p:cNvSpPr>
          <p:nvPr>
            <p:ph type="title"/>
          </p:nvPr>
        </p:nvSpPr>
        <p:spPr/>
        <p:txBody>
          <a:bodyPr/>
          <a:lstStyle/>
          <a:p>
            <a:pPr eaLnBrk="1" hangingPunct="1"/>
            <a:r>
              <a:rPr lang="en-US" altLang="en-US" sz="3000" b="1"/>
              <a:t>4. Mảng trong C#</a:t>
            </a:r>
          </a:p>
        </p:txBody>
      </p:sp>
      <p:pic>
        <p:nvPicPr>
          <p:cNvPr id="386052" name="Picture 4">
            <a:extLst>
              <a:ext uri="{FF2B5EF4-FFF2-40B4-BE49-F238E27FC236}">
                <a16:creationId xmlns:a16="http://schemas.microsoft.com/office/drawing/2014/main" id="{E011F8BB-37C7-A44C-AFFE-518DD7FDF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05000"/>
            <a:ext cx="7924800" cy="4419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86053" name="Text Box 5">
            <a:extLst>
              <a:ext uri="{FF2B5EF4-FFF2-40B4-BE49-F238E27FC236}">
                <a16:creationId xmlns:a16="http://schemas.microsoft.com/office/drawing/2014/main" id="{7723BDAD-209E-6580-8AC7-9A31BDFE0CE3}"/>
              </a:ext>
            </a:extLst>
          </p:cNvPr>
          <p:cNvSpPr txBox="1">
            <a:spLocks noChangeArrowheads="1"/>
          </p:cNvSpPr>
          <p:nvPr/>
        </p:nvSpPr>
        <p:spPr bwMode="auto">
          <a:xfrm>
            <a:off x="304800" y="838200"/>
            <a:ext cx="8610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Từng bước sắp xếp các phần tử của mảng theo chiều tăng dần</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6053"/>
                                        </p:tgtEl>
                                        <p:attrNameLst>
                                          <p:attrName>style.visibility</p:attrName>
                                        </p:attrNameLst>
                                      </p:cBhvr>
                                      <p:to>
                                        <p:strVal val="visible"/>
                                      </p:to>
                                    </p:set>
                                    <p:animEffect transition="in" filter="box(in)">
                                      <p:cBhvr>
                                        <p:cTn id="7" dur="1000"/>
                                        <p:tgtEl>
                                          <p:spTgt spid="3860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6052"/>
                                        </p:tgtEl>
                                        <p:attrNameLst>
                                          <p:attrName>style.visibility</p:attrName>
                                        </p:attrNameLst>
                                      </p:cBhvr>
                                      <p:to>
                                        <p:strVal val="visible"/>
                                      </p:to>
                                    </p:set>
                                    <p:animEffect transition="in" filter="box(in)">
                                      <p:cBhvr>
                                        <p:cTn id="12" dur="1000"/>
                                        <p:tgtEl>
                                          <p:spTgt spid="386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C01C871-8496-62CE-74D1-4281B80CD504}"/>
              </a:ext>
            </a:extLst>
          </p:cNvPr>
          <p:cNvSpPr>
            <a:spLocks noGrp="1" noChangeArrowheads="1"/>
          </p:cNvSpPr>
          <p:nvPr>
            <p:ph type="title"/>
          </p:nvPr>
        </p:nvSpPr>
        <p:spPr/>
        <p:txBody>
          <a:bodyPr/>
          <a:lstStyle/>
          <a:p>
            <a:pPr eaLnBrk="1" hangingPunct="1"/>
            <a:r>
              <a:rPr lang="en-US" altLang="en-US" sz="3000" b="1"/>
              <a:t>4. Mảng trong C#</a:t>
            </a:r>
          </a:p>
        </p:txBody>
      </p:sp>
      <p:sp>
        <p:nvSpPr>
          <p:cNvPr id="368644" name="Rectangle 4">
            <a:extLst>
              <a:ext uri="{FF2B5EF4-FFF2-40B4-BE49-F238E27FC236}">
                <a16:creationId xmlns:a16="http://schemas.microsoft.com/office/drawing/2014/main" id="{4A71E5F9-FCFA-8E82-FCDD-16A9700B3F0E}"/>
              </a:ext>
            </a:extLst>
          </p:cNvPr>
          <p:cNvSpPr>
            <a:spLocks noChangeArrowheads="1"/>
          </p:cNvSpPr>
          <p:nvPr/>
        </p:nvSpPr>
        <p:spPr bwMode="auto">
          <a:xfrm>
            <a:off x="400050" y="1676400"/>
            <a:ext cx="89154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2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Một số các thuộc tính và phương thức của lớp System.Array</a:t>
            </a:r>
          </a:p>
        </p:txBody>
      </p:sp>
      <p:sp>
        <p:nvSpPr>
          <p:cNvPr id="368646" name="Rectangle 6">
            <a:extLst>
              <a:ext uri="{FF2B5EF4-FFF2-40B4-BE49-F238E27FC236}">
                <a16:creationId xmlns:a16="http://schemas.microsoft.com/office/drawing/2014/main" id="{29875DFA-C36E-E726-CBB5-77EA48A2136B}"/>
              </a:ext>
            </a:extLst>
          </p:cNvPr>
          <p:cNvSpPr>
            <a:spLocks noChangeArrowheads="1"/>
          </p:cNvSpPr>
          <p:nvPr/>
        </p:nvSpPr>
        <p:spPr bwMode="auto">
          <a:xfrm>
            <a:off x="381000" y="838200"/>
            <a:ext cx="8534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2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Ngôn ngữ C# cung cấp cú pháp chuẩn cho việc khai báo những đối tượng Array </a:t>
            </a:r>
            <a:r>
              <a:rPr kumimoji="0" lang="en-US" altLang="en-US" sz="2200" b="0" i="0" u="none" strike="noStrike" kern="1200" cap="none" spc="0" normalizeH="0" baseline="0" noProof="0">
                <a:ln>
                  <a:noFill/>
                </a:ln>
                <a:solidFill>
                  <a:srgbClr val="000000"/>
                </a:solidFill>
                <a:effectLst/>
                <a:uLnTx/>
                <a:uFillTx/>
                <a:latin typeface="Verdana" panose="020B0604030504040204" pitchFamily="34" charset="0"/>
                <a:ea typeface="+mn-ea"/>
                <a:cs typeface="+mn-cs"/>
                <a:sym typeface="Symbol" panose="05050102010706020507" pitchFamily="18" charset="2"/>
              </a:rPr>
              <a:t></a:t>
            </a:r>
            <a:r>
              <a:rPr kumimoji="0" lang="en-US" altLang="en-US" sz="22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đối tượng của kiểu System.Array</a:t>
            </a:r>
          </a:p>
        </p:txBody>
      </p:sp>
      <p:pic>
        <p:nvPicPr>
          <p:cNvPr id="368647" name="Picture 7">
            <a:extLst>
              <a:ext uri="{FF2B5EF4-FFF2-40B4-BE49-F238E27FC236}">
                <a16:creationId xmlns:a16="http://schemas.microsoft.com/office/drawing/2014/main" id="{2693D5E9-4628-24D5-C118-CCCB4A0A98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286000"/>
            <a:ext cx="6781800" cy="4114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8646"/>
                                        </p:tgtEl>
                                        <p:attrNameLst>
                                          <p:attrName>style.visibility</p:attrName>
                                        </p:attrNameLst>
                                      </p:cBhvr>
                                      <p:to>
                                        <p:strVal val="visible"/>
                                      </p:to>
                                    </p:set>
                                    <p:animEffect transition="in" filter="box(in)">
                                      <p:cBhvr>
                                        <p:cTn id="7" dur="1000"/>
                                        <p:tgtEl>
                                          <p:spTgt spid="3686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8644"/>
                                        </p:tgtEl>
                                        <p:attrNameLst>
                                          <p:attrName>style.visibility</p:attrName>
                                        </p:attrNameLst>
                                      </p:cBhvr>
                                      <p:to>
                                        <p:strVal val="visible"/>
                                      </p:to>
                                    </p:set>
                                    <p:animEffect transition="in" filter="box(in)">
                                      <p:cBhvr>
                                        <p:cTn id="12" dur="1000"/>
                                        <p:tgtEl>
                                          <p:spTgt spid="3686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8647"/>
                                        </p:tgtEl>
                                        <p:attrNameLst>
                                          <p:attrName>style.visibility</p:attrName>
                                        </p:attrNameLst>
                                      </p:cBhvr>
                                      <p:to>
                                        <p:strVal val="visible"/>
                                      </p:to>
                                    </p:set>
                                    <p:animEffect transition="in" filter="box(in)">
                                      <p:cBhvr>
                                        <p:cTn id="17" dur="1000"/>
                                        <p:tgtEl>
                                          <p:spTgt spid="368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4" grpId="0"/>
      <p:bldP spid="368646"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5F0BCDD-59C5-6352-FF25-6639F5BFA4B7}"/>
              </a:ext>
            </a:extLst>
          </p:cNvPr>
          <p:cNvSpPr>
            <a:spLocks noGrp="1" noChangeArrowheads="1"/>
          </p:cNvSpPr>
          <p:nvPr>
            <p:ph type="title"/>
          </p:nvPr>
        </p:nvSpPr>
        <p:spPr/>
        <p:txBody>
          <a:bodyPr/>
          <a:lstStyle/>
          <a:p>
            <a:pPr eaLnBrk="1" hangingPunct="1"/>
            <a:r>
              <a:rPr lang="en-US" altLang="en-US" sz="3000" b="1"/>
              <a:t>4. Mảng trong C#</a:t>
            </a:r>
          </a:p>
        </p:txBody>
      </p:sp>
      <p:pic>
        <p:nvPicPr>
          <p:cNvPr id="369669" name="Picture 5">
            <a:extLst>
              <a:ext uri="{FF2B5EF4-FFF2-40B4-BE49-F238E27FC236}">
                <a16:creationId xmlns:a16="http://schemas.microsoft.com/office/drawing/2014/main" id="{B42C0F67-5DED-9ECF-5051-986F3CE4E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14400"/>
            <a:ext cx="7467600" cy="5486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9669"/>
                                        </p:tgtEl>
                                        <p:attrNameLst>
                                          <p:attrName>style.visibility</p:attrName>
                                        </p:attrNameLst>
                                      </p:cBhvr>
                                      <p:to>
                                        <p:strVal val="visible"/>
                                      </p:to>
                                    </p:set>
                                    <p:animEffect transition="in" filter="box(in)">
                                      <p:cBhvr>
                                        <p:cTn id="7" dur="1000"/>
                                        <p:tgtEl>
                                          <p:spTgt spid="369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69DD238-6B89-7C53-ADCB-EBD371AC7D46}"/>
              </a:ext>
            </a:extLst>
          </p:cNvPr>
          <p:cNvSpPr>
            <a:spLocks noGrp="1" noChangeArrowheads="1"/>
          </p:cNvSpPr>
          <p:nvPr>
            <p:ph type="title"/>
          </p:nvPr>
        </p:nvSpPr>
        <p:spPr/>
        <p:txBody>
          <a:bodyPr/>
          <a:lstStyle/>
          <a:p>
            <a:pPr eaLnBrk="1" hangingPunct="1"/>
            <a:r>
              <a:rPr lang="en-US" altLang="en-US" sz="3000" b="1"/>
              <a:t>4. Mảng trong C#</a:t>
            </a:r>
          </a:p>
        </p:txBody>
      </p:sp>
      <p:pic>
        <p:nvPicPr>
          <p:cNvPr id="375812" name="Picture 4">
            <a:extLst>
              <a:ext uri="{FF2B5EF4-FFF2-40B4-BE49-F238E27FC236}">
                <a16:creationId xmlns:a16="http://schemas.microsoft.com/office/drawing/2014/main" id="{BC5F23D5-248F-356A-59B7-EBDC18123C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828800"/>
            <a:ext cx="8382000" cy="45720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75813" name="Text Box 5">
            <a:extLst>
              <a:ext uri="{FF2B5EF4-FFF2-40B4-BE49-F238E27FC236}">
                <a16:creationId xmlns:a16="http://schemas.microsoft.com/office/drawing/2014/main" id="{54E7C413-BE51-90C3-F56A-8A3B4A9ED50C}"/>
              </a:ext>
            </a:extLst>
          </p:cNvPr>
          <p:cNvSpPr txBox="1">
            <a:spLocks noChangeArrowheads="1"/>
          </p:cNvSpPr>
          <p:nvPr/>
        </p:nvSpPr>
        <p:spPr bwMode="auto">
          <a:xfrm>
            <a:off x="381000" y="857250"/>
            <a:ext cx="8534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phương thức Array.Reverse() để đảo ngược mảng đã được sắp xếp</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5813"/>
                                        </p:tgtEl>
                                        <p:attrNameLst>
                                          <p:attrName>style.visibility</p:attrName>
                                        </p:attrNameLst>
                                      </p:cBhvr>
                                      <p:to>
                                        <p:strVal val="visible"/>
                                      </p:to>
                                    </p:set>
                                    <p:animEffect transition="in" filter="box(in)">
                                      <p:cBhvr>
                                        <p:cTn id="7" dur="1000"/>
                                        <p:tgtEl>
                                          <p:spTgt spid="3758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5812"/>
                                        </p:tgtEl>
                                        <p:attrNameLst>
                                          <p:attrName>style.visibility</p:attrName>
                                        </p:attrNameLst>
                                      </p:cBhvr>
                                      <p:to>
                                        <p:strVal val="visible"/>
                                      </p:to>
                                    </p:set>
                                    <p:animEffect transition="in" filter="box(in)">
                                      <p:cBhvr>
                                        <p:cTn id="12" dur="1000"/>
                                        <p:tgtEl>
                                          <p:spTgt spid="375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617A8B9-3BCC-0859-B083-8209D7A63B43}"/>
              </a:ext>
            </a:extLst>
          </p:cNvPr>
          <p:cNvSpPr>
            <a:spLocks noGrp="1" noChangeArrowheads="1"/>
          </p:cNvSpPr>
          <p:nvPr>
            <p:ph type="title"/>
          </p:nvPr>
        </p:nvSpPr>
        <p:spPr/>
        <p:txBody>
          <a:bodyPr/>
          <a:lstStyle/>
          <a:p>
            <a:pPr eaLnBrk="1" hangingPunct="1"/>
            <a:r>
              <a:rPr lang="en-US" altLang="en-US" sz="3000" b="1"/>
              <a:t>4. Mảng trong C#</a:t>
            </a:r>
          </a:p>
        </p:txBody>
      </p:sp>
      <p:sp>
        <p:nvSpPr>
          <p:cNvPr id="380933" name="Rectangle 5">
            <a:extLst>
              <a:ext uri="{FF2B5EF4-FFF2-40B4-BE49-F238E27FC236}">
                <a16:creationId xmlns:a16="http://schemas.microsoft.com/office/drawing/2014/main" id="{C62CA5B1-5B84-2D04-DC48-3CAB7E018639}"/>
              </a:ext>
            </a:extLst>
          </p:cNvPr>
          <p:cNvSpPr>
            <a:spLocks noChangeArrowheads="1"/>
          </p:cNvSpPr>
          <p:nvPr/>
        </p:nvSpPr>
        <p:spPr bwMode="auto">
          <a:xfrm>
            <a:off x="533400" y="838200"/>
            <a:ext cx="8610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Tìm 1 giá trị trong mảng </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sym typeface="Symbol" panose="05050102010706020507" pitchFamily="18" charset="2"/>
              </a:rPr>
              <a:t> trả về vị trí của phần tử nếu tìm thấy (trả về -1 nếu không tìm thấy)</a:t>
            </a:r>
          </a:p>
        </p:txBody>
      </p:sp>
      <p:pic>
        <p:nvPicPr>
          <p:cNvPr id="380934" name="Picture 6">
            <a:extLst>
              <a:ext uri="{FF2B5EF4-FFF2-40B4-BE49-F238E27FC236}">
                <a16:creationId xmlns:a16="http://schemas.microsoft.com/office/drawing/2014/main" id="{4B2EB9AA-719D-AEB0-97F0-8941EA1AD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828800"/>
            <a:ext cx="5486400" cy="533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80935" name="Picture 7">
            <a:extLst>
              <a:ext uri="{FF2B5EF4-FFF2-40B4-BE49-F238E27FC236}">
                <a16:creationId xmlns:a16="http://schemas.microsoft.com/office/drawing/2014/main" id="{855DCBCF-BE5F-685D-0D57-FAA83CA460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19375"/>
            <a:ext cx="8229600" cy="38100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0933"/>
                                        </p:tgtEl>
                                        <p:attrNameLst>
                                          <p:attrName>style.visibility</p:attrName>
                                        </p:attrNameLst>
                                      </p:cBhvr>
                                      <p:to>
                                        <p:strVal val="visible"/>
                                      </p:to>
                                    </p:set>
                                    <p:animEffect transition="in" filter="box(in)">
                                      <p:cBhvr>
                                        <p:cTn id="7" dur="1000"/>
                                        <p:tgtEl>
                                          <p:spTgt spid="3809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0934"/>
                                        </p:tgtEl>
                                        <p:attrNameLst>
                                          <p:attrName>style.visibility</p:attrName>
                                        </p:attrNameLst>
                                      </p:cBhvr>
                                      <p:to>
                                        <p:strVal val="visible"/>
                                      </p:to>
                                    </p:set>
                                    <p:animEffect transition="in" filter="box(in)">
                                      <p:cBhvr>
                                        <p:cTn id="12" dur="1000"/>
                                        <p:tgtEl>
                                          <p:spTgt spid="3809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0935"/>
                                        </p:tgtEl>
                                        <p:attrNameLst>
                                          <p:attrName>style.visibility</p:attrName>
                                        </p:attrNameLst>
                                      </p:cBhvr>
                                      <p:to>
                                        <p:strVal val="visible"/>
                                      </p:to>
                                    </p:set>
                                    <p:animEffect transition="in" filter="box(in)">
                                      <p:cBhvr>
                                        <p:cTn id="17" dur="1000"/>
                                        <p:tgtEl>
                                          <p:spTgt spid="380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3"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7EBCBBE-6BDF-EECC-23F7-20AFDF43FBC1}"/>
              </a:ext>
            </a:extLst>
          </p:cNvPr>
          <p:cNvSpPr>
            <a:spLocks noGrp="1" noChangeArrowheads="1"/>
          </p:cNvSpPr>
          <p:nvPr>
            <p:ph type="title"/>
          </p:nvPr>
        </p:nvSpPr>
        <p:spPr/>
        <p:txBody>
          <a:bodyPr/>
          <a:lstStyle/>
          <a:p>
            <a:pPr eaLnBrk="1" hangingPunct="1"/>
            <a:r>
              <a:rPr lang="en-US" altLang="en-US" sz="3000" b="1"/>
              <a:t>4. Mảng trong C#</a:t>
            </a:r>
          </a:p>
        </p:txBody>
      </p:sp>
      <p:sp>
        <p:nvSpPr>
          <p:cNvPr id="31747" name="Rectangle 4">
            <a:extLst>
              <a:ext uri="{FF2B5EF4-FFF2-40B4-BE49-F238E27FC236}">
                <a16:creationId xmlns:a16="http://schemas.microsoft.com/office/drawing/2014/main" id="{1F9D5DAB-DB4E-F441-1954-85957F7155A7}"/>
              </a:ext>
            </a:extLst>
          </p:cNvPr>
          <p:cNvSpPr>
            <a:spLocks noChangeArrowheads="1"/>
          </p:cNvSpPr>
          <p:nvPr/>
        </p:nvSpPr>
        <p:spPr bwMode="auto">
          <a:xfrm>
            <a:off x="209550" y="777875"/>
            <a:ext cx="6892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Thêm một phần tử vào cuối mảng</a:t>
            </a:r>
          </a:p>
        </p:txBody>
      </p:sp>
      <p:sp>
        <p:nvSpPr>
          <p:cNvPr id="381957" name="Rectangle 5">
            <a:extLst>
              <a:ext uri="{FF2B5EF4-FFF2-40B4-BE49-F238E27FC236}">
                <a16:creationId xmlns:a16="http://schemas.microsoft.com/office/drawing/2014/main" id="{BBBF933F-B5D1-DC8D-2C0F-F571E5BD61C4}"/>
              </a:ext>
            </a:extLst>
          </p:cNvPr>
          <p:cNvSpPr>
            <a:spLocks noChangeArrowheads="1"/>
          </p:cNvSpPr>
          <p:nvPr/>
        </p:nvSpPr>
        <p:spPr bwMode="auto">
          <a:xfrm>
            <a:off x="276225" y="1319213"/>
            <a:ext cx="8839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phương thức Resize của lớp Array để tăng thêm kích thước của mảng và gán giá trị cho phần tử cần thêm vào</a:t>
            </a:r>
          </a:p>
        </p:txBody>
      </p:sp>
      <p:pic>
        <p:nvPicPr>
          <p:cNvPr id="381959" name="Picture 7">
            <a:extLst>
              <a:ext uri="{FF2B5EF4-FFF2-40B4-BE49-F238E27FC236}">
                <a16:creationId xmlns:a16="http://schemas.microsoft.com/office/drawing/2014/main" id="{6129D52C-8E33-05FD-91F0-A3BA3DEC8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209800"/>
            <a:ext cx="6248400" cy="533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81960" name="Picture 8">
            <a:extLst>
              <a:ext uri="{FF2B5EF4-FFF2-40B4-BE49-F238E27FC236}">
                <a16:creationId xmlns:a16="http://schemas.microsoft.com/office/drawing/2014/main" id="{43811138-0647-8907-9206-13C84C5DB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971800"/>
            <a:ext cx="8077200" cy="3419475"/>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1957"/>
                                        </p:tgtEl>
                                        <p:attrNameLst>
                                          <p:attrName>style.visibility</p:attrName>
                                        </p:attrNameLst>
                                      </p:cBhvr>
                                      <p:to>
                                        <p:strVal val="visible"/>
                                      </p:to>
                                    </p:set>
                                    <p:animEffect transition="in" filter="box(in)">
                                      <p:cBhvr>
                                        <p:cTn id="7" dur="1000"/>
                                        <p:tgtEl>
                                          <p:spTgt spid="3819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1959"/>
                                        </p:tgtEl>
                                        <p:attrNameLst>
                                          <p:attrName>style.visibility</p:attrName>
                                        </p:attrNameLst>
                                      </p:cBhvr>
                                      <p:to>
                                        <p:strVal val="visible"/>
                                      </p:to>
                                    </p:set>
                                    <p:animEffect transition="in" filter="box(in)">
                                      <p:cBhvr>
                                        <p:cTn id="12" dur="1000"/>
                                        <p:tgtEl>
                                          <p:spTgt spid="3819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1960"/>
                                        </p:tgtEl>
                                        <p:attrNameLst>
                                          <p:attrName>style.visibility</p:attrName>
                                        </p:attrNameLst>
                                      </p:cBhvr>
                                      <p:to>
                                        <p:strVal val="visible"/>
                                      </p:to>
                                    </p:set>
                                    <p:animEffect transition="in" filter="box(in)">
                                      <p:cBhvr>
                                        <p:cTn id="17" dur="1000"/>
                                        <p:tgtEl>
                                          <p:spTgt spid="381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7EBCBBE-6BDF-EECC-23F7-20AFDF43FBC1}"/>
              </a:ext>
            </a:extLst>
          </p:cNvPr>
          <p:cNvSpPr>
            <a:spLocks noGrp="1" noChangeArrowheads="1"/>
          </p:cNvSpPr>
          <p:nvPr>
            <p:ph type="title"/>
          </p:nvPr>
        </p:nvSpPr>
        <p:spPr/>
        <p:txBody>
          <a:bodyPr/>
          <a:lstStyle/>
          <a:p>
            <a:pPr eaLnBrk="1" hangingPunct="1"/>
            <a:r>
              <a:rPr lang="en-US" altLang="en-US" sz="3000" b="1"/>
              <a:t>4. Mảng trong C#</a:t>
            </a:r>
          </a:p>
        </p:txBody>
      </p:sp>
      <p:sp>
        <p:nvSpPr>
          <p:cNvPr id="31747" name="Rectangle 4">
            <a:extLst>
              <a:ext uri="{FF2B5EF4-FFF2-40B4-BE49-F238E27FC236}">
                <a16:creationId xmlns:a16="http://schemas.microsoft.com/office/drawing/2014/main" id="{1F9D5DAB-DB4E-F441-1954-85957F7155A7}"/>
              </a:ext>
            </a:extLst>
          </p:cNvPr>
          <p:cNvSpPr>
            <a:spLocks noChangeArrowheads="1"/>
          </p:cNvSpPr>
          <p:nvPr/>
        </p:nvSpPr>
        <p:spPr bwMode="auto">
          <a:xfrm>
            <a:off x="209550" y="777875"/>
            <a:ext cx="68929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Thêm một phần tử vào cuối mảng</a:t>
            </a:r>
          </a:p>
        </p:txBody>
      </p:sp>
      <p:sp>
        <p:nvSpPr>
          <p:cNvPr id="381957" name="Rectangle 5">
            <a:extLst>
              <a:ext uri="{FF2B5EF4-FFF2-40B4-BE49-F238E27FC236}">
                <a16:creationId xmlns:a16="http://schemas.microsoft.com/office/drawing/2014/main" id="{BBBF933F-B5D1-DC8D-2C0F-F571E5BD61C4}"/>
              </a:ext>
            </a:extLst>
          </p:cNvPr>
          <p:cNvSpPr>
            <a:spLocks noChangeArrowheads="1"/>
          </p:cNvSpPr>
          <p:nvPr/>
        </p:nvSpPr>
        <p:spPr bwMode="auto">
          <a:xfrm>
            <a:off x="276225" y="1319213"/>
            <a:ext cx="8839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phương thức Resize của lớp Array để tăng thêm kích thước của mảng và gán giá trị cho phần tử cần thêm vào</a:t>
            </a:r>
          </a:p>
        </p:txBody>
      </p:sp>
      <p:pic>
        <p:nvPicPr>
          <p:cNvPr id="381959" name="Picture 7">
            <a:extLst>
              <a:ext uri="{FF2B5EF4-FFF2-40B4-BE49-F238E27FC236}">
                <a16:creationId xmlns:a16="http://schemas.microsoft.com/office/drawing/2014/main" id="{6129D52C-8E33-05FD-91F0-A3BA3DEC8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209800"/>
            <a:ext cx="6248400" cy="533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81960" name="Picture 8">
            <a:extLst>
              <a:ext uri="{FF2B5EF4-FFF2-40B4-BE49-F238E27FC236}">
                <a16:creationId xmlns:a16="http://schemas.microsoft.com/office/drawing/2014/main" id="{43811138-0647-8907-9206-13C84C5DB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971800"/>
            <a:ext cx="8077200" cy="3419475"/>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5877232"/>
      </p:ext>
    </p:extLst>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1957"/>
                                        </p:tgtEl>
                                        <p:attrNameLst>
                                          <p:attrName>style.visibility</p:attrName>
                                        </p:attrNameLst>
                                      </p:cBhvr>
                                      <p:to>
                                        <p:strVal val="visible"/>
                                      </p:to>
                                    </p:set>
                                    <p:animEffect transition="in" filter="box(in)">
                                      <p:cBhvr>
                                        <p:cTn id="7" dur="1000"/>
                                        <p:tgtEl>
                                          <p:spTgt spid="3819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1959"/>
                                        </p:tgtEl>
                                        <p:attrNameLst>
                                          <p:attrName>style.visibility</p:attrName>
                                        </p:attrNameLst>
                                      </p:cBhvr>
                                      <p:to>
                                        <p:strVal val="visible"/>
                                      </p:to>
                                    </p:set>
                                    <p:animEffect transition="in" filter="box(in)">
                                      <p:cBhvr>
                                        <p:cTn id="12" dur="1000"/>
                                        <p:tgtEl>
                                          <p:spTgt spid="3819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1960"/>
                                        </p:tgtEl>
                                        <p:attrNameLst>
                                          <p:attrName>style.visibility</p:attrName>
                                        </p:attrNameLst>
                                      </p:cBhvr>
                                      <p:to>
                                        <p:strVal val="visible"/>
                                      </p:to>
                                    </p:set>
                                    <p:animEffect transition="in" filter="box(in)">
                                      <p:cBhvr>
                                        <p:cTn id="17" dur="1000"/>
                                        <p:tgtEl>
                                          <p:spTgt spid="381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7"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1D2361A-6ACF-BB2A-30D1-19C42CB3E6DA}"/>
              </a:ext>
            </a:extLst>
          </p:cNvPr>
          <p:cNvSpPr>
            <a:spLocks noGrp="1" noChangeArrowheads="1"/>
          </p:cNvSpPr>
          <p:nvPr>
            <p:ph type="title"/>
          </p:nvPr>
        </p:nvSpPr>
        <p:spPr/>
        <p:txBody>
          <a:bodyPr/>
          <a:lstStyle/>
          <a:p>
            <a:pPr eaLnBrk="1" hangingPunct="1"/>
            <a:r>
              <a:rPr lang="en-US" altLang="en-US" sz="3000" b="1"/>
              <a:t>4. Mảng trong C#</a:t>
            </a:r>
          </a:p>
        </p:txBody>
      </p:sp>
      <p:sp>
        <p:nvSpPr>
          <p:cNvPr id="32771" name="Rectangle 4">
            <a:extLst>
              <a:ext uri="{FF2B5EF4-FFF2-40B4-BE49-F238E27FC236}">
                <a16:creationId xmlns:a16="http://schemas.microsoft.com/office/drawing/2014/main" id="{63CA5D70-0366-F9FF-6011-EA4B5C7DE893}"/>
              </a:ext>
            </a:extLst>
          </p:cNvPr>
          <p:cNvSpPr>
            <a:spLocks noChangeArrowheads="1"/>
          </p:cNvSpPr>
          <p:nvPr/>
        </p:nvSpPr>
        <p:spPr bwMode="auto">
          <a:xfrm>
            <a:off x="95250" y="803275"/>
            <a:ext cx="887888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6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Thêm một phần tử vào vị trí bất kỳ trong mảng</a:t>
            </a:r>
          </a:p>
        </p:txBody>
      </p:sp>
      <p:sp>
        <p:nvSpPr>
          <p:cNvPr id="382981" name="Rectangle 5">
            <a:extLst>
              <a:ext uri="{FF2B5EF4-FFF2-40B4-BE49-F238E27FC236}">
                <a16:creationId xmlns:a16="http://schemas.microsoft.com/office/drawing/2014/main" id="{E3C37FA9-C0CB-6564-80E0-17649D176E7F}"/>
              </a:ext>
            </a:extLst>
          </p:cNvPr>
          <p:cNvSpPr>
            <a:spLocks noChangeArrowheads="1"/>
          </p:cNvSpPr>
          <p:nvPr/>
        </p:nvSpPr>
        <p:spPr bwMode="auto">
          <a:xfrm>
            <a:off x="381000" y="1447800"/>
            <a:ext cx="7210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B1. Xác định vị trí k cần chèn thêm 1 phần tử</a:t>
            </a:r>
          </a:p>
        </p:txBody>
      </p:sp>
      <p:sp>
        <p:nvSpPr>
          <p:cNvPr id="382982" name="Rectangle 6">
            <a:extLst>
              <a:ext uri="{FF2B5EF4-FFF2-40B4-BE49-F238E27FC236}">
                <a16:creationId xmlns:a16="http://schemas.microsoft.com/office/drawing/2014/main" id="{D2222879-4A8D-0BC8-0EA0-80D5D61FBCCA}"/>
              </a:ext>
            </a:extLst>
          </p:cNvPr>
          <p:cNvSpPr>
            <a:spLocks noChangeArrowheads="1"/>
          </p:cNvSpPr>
          <p:nvPr/>
        </p:nvSpPr>
        <p:spPr bwMode="auto">
          <a:xfrm>
            <a:off x="385763" y="2133600"/>
            <a:ext cx="8634412"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D60093"/>
                </a:solidFill>
                <a:effectLst/>
                <a:uLnTx/>
                <a:uFillTx/>
                <a:latin typeface="Verdana" panose="020B0604030504040204" pitchFamily="34" charset="0"/>
                <a:ea typeface="+mn-ea"/>
                <a:cs typeface="+mn-cs"/>
              </a:rPr>
              <a:t>B2. Sử dụng phương thức Resize của lớp Array để tăng thêm kích thước của mảng một phần tử</a:t>
            </a:r>
          </a:p>
        </p:txBody>
      </p:sp>
      <p:sp>
        <p:nvSpPr>
          <p:cNvPr id="382983" name="Rectangle 7">
            <a:extLst>
              <a:ext uri="{FF2B5EF4-FFF2-40B4-BE49-F238E27FC236}">
                <a16:creationId xmlns:a16="http://schemas.microsoft.com/office/drawing/2014/main" id="{591C7BE9-326F-195C-D78C-6EA6419B6392}"/>
              </a:ext>
            </a:extLst>
          </p:cNvPr>
          <p:cNvSpPr>
            <a:spLocks noChangeArrowheads="1"/>
          </p:cNvSpPr>
          <p:nvPr/>
        </p:nvSpPr>
        <p:spPr bwMode="auto">
          <a:xfrm>
            <a:off x="381000" y="3200400"/>
            <a:ext cx="8763000" cy="931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B3. Dịch chuyển giá trị của phần tử tại vị trí có chỉ số k đến phần tử kế cuối có chỉ số n-1 sang phải 1 	phần tử</a:t>
            </a:r>
          </a:p>
        </p:txBody>
      </p:sp>
      <p:sp>
        <p:nvSpPr>
          <p:cNvPr id="382984" name="Rectangle 8">
            <a:extLst>
              <a:ext uri="{FF2B5EF4-FFF2-40B4-BE49-F238E27FC236}">
                <a16:creationId xmlns:a16="http://schemas.microsoft.com/office/drawing/2014/main" id="{C4E40140-D738-C83E-B4ED-DFAEDEE91101}"/>
              </a:ext>
            </a:extLst>
          </p:cNvPr>
          <p:cNvSpPr>
            <a:spLocks noChangeArrowheads="1"/>
          </p:cNvSpPr>
          <p:nvPr/>
        </p:nvSpPr>
        <p:spPr bwMode="auto">
          <a:xfrm>
            <a:off x="381000" y="4321175"/>
            <a:ext cx="6286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B4.Gán giá trị cho phần tử ở vị trí thứ k</a:t>
            </a:r>
          </a:p>
        </p:txBody>
      </p:sp>
      <p:sp>
        <p:nvSpPr>
          <p:cNvPr id="382985" name="Text Box 9">
            <a:extLst>
              <a:ext uri="{FF2B5EF4-FFF2-40B4-BE49-F238E27FC236}">
                <a16:creationId xmlns:a16="http://schemas.microsoft.com/office/drawing/2014/main" id="{AA2097CC-0B25-18D7-0A1A-61A66FF1F862}"/>
              </a:ext>
            </a:extLst>
          </p:cNvPr>
          <p:cNvSpPr txBox="1">
            <a:spLocks noChangeArrowheads="1"/>
          </p:cNvSpPr>
          <p:nvPr/>
        </p:nvSpPr>
        <p:spPr bwMode="auto">
          <a:xfrm>
            <a:off x="2362200" y="519893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Verdana" panose="020B0604030504040204" pitchFamily="34" charset="0"/>
                <a:ea typeface="+mn-ea"/>
                <a:cs typeface="+mn-cs"/>
              </a:rPr>
              <a:t>vd minh họa như sau: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2981"/>
                                        </p:tgtEl>
                                        <p:attrNameLst>
                                          <p:attrName>style.visibility</p:attrName>
                                        </p:attrNameLst>
                                      </p:cBhvr>
                                      <p:to>
                                        <p:strVal val="visible"/>
                                      </p:to>
                                    </p:set>
                                    <p:animEffect transition="in" filter="box(in)">
                                      <p:cBhvr>
                                        <p:cTn id="7" dur="1000"/>
                                        <p:tgtEl>
                                          <p:spTgt spid="3829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2982"/>
                                        </p:tgtEl>
                                        <p:attrNameLst>
                                          <p:attrName>style.visibility</p:attrName>
                                        </p:attrNameLst>
                                      </p:cBhvr>
                                      <p:to>
                                        <p:strVal val="visible"/>
                                      </p:to>
                                    </p:set>
                                    <p:animEffect transition="in" filter="box(in)">
                                      <p:cBhvr>
                                        <p:cTn id="12" dur="1000"/>
                                        <p:tgtEl>
                                          <p:spTgt spid="3829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2983"/>
                                        </p:tgtEl>
                                        <p:attrNameLst>
                                          <p:attrName>style.visibility</p:attrName>
                                        </p:attrNameLst>
                                      </p:cBhvr>
                                      <p:to>
                                        <p:strVal val="visible"/>
                                      </p:to>
                                    </p:set>
                                    <p:animEffect transition="in" filter="box(in)">
                                      <p:cBhvr>
                                        <p:cTn id="17" dur="1000"/>
                                        <p:tgtEl>
                                          <p:spTgt spid="38298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82984"/>
                                        </p:tgtEl>
                                        <p:attrNameLst>
                                          <p:attrName>style.visibility</p:attrName>
                                        </p:attrNameLst>
                                      </p:cBhvr>
                                      <p:to>
                                        <p:strVal val="visible"/>
                                      </p:to>
                                    </p:set>
                                    <p:animEffect transition="in" filter="box(in)">
                                      <p:cBhvr>
                                        <p:cTn id="22" dur="1000"/>
                                        <p:tgtEl>
                                          <p:spTgt spid="3829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82985">
                                            <p:txEl>
                                              <p:pRg st="0" end="0"/>
                                            </p:txEl>
                                          </p:spTgt>
                                        </p:tgtEl>
                                        <p:attrNameLst>
                                          <p:attrName>style.visibility</p:attrName>
                                        </p:attrNameLst>
                                      </p:cBhvr>
                                      <p:to>
                                        <p:strVal val="visible"/>
                                      </p:to>
                                    </p:set>
                                    <p:animEffect transition="in" filter="box(in)">
                                      <p:cBhvr>
                                        <p:cTn id="27" dur="1000"/>
                                        <p:tgtEl>
                                          <p:spTgt spid="38298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1" grpId="0"/>
      <p:bldP spid="382982" grpId="0"/>
      <p:bldP spid="382983" grpId="0"/>
      <p:bldP spid="382984"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BF11809-E04A-3127-E642-989A4A4757F2}"/>
              </a:ext>
            </a:extLst>
          </p:cNvPr>
          <p:cNvSpPr>
            <a:spLocks noGrp="1" noChangeArrowheads="1"/>
          </p:cNvSpPr>
          <p:nvPr>
            <p:ph type="title"/>
          </p:nvPr>
        </p:nvSpPr>
        <p:spPr/>
        <p:txBody>
          <a:bodyPr/>
          <a:lstStyle/>
          <a:p>
            <a:pPr eaLnBrk="1" hangingPunct="1"/>
            <a:r>
              <a:rPr lang="en-US" altLang="en-US" sz="3000" b="1"/>
              <a:t>4. Mảng trong C#</a:t>
            </a:r>
          </a:p>
        </p:txBody>
      </p:sp>
      <p:pic>
        <p:nvPicPr>
          <p:cNvPr id="384004" name="Picture 4">
            <a:extLst>
              <a:ext uri="{FF2B5EF4-FFF2-40B4-BE49-F238E27FC236}">
                <a16:creationId xmlns:a16="http://schemas.microsoft.com/office/drawing/2014/main" id="{AD70236A-BA02-1412-00B6-F5134D850D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990600"/>
            <a:ext cx="8153400" cy="53340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4004"/>
                                        </p:tgtEl>
                                        <p:attrNameLst>
                                          <p:attrName>style.visibility</p:attrName>
                                        </p:attrNameLst>
                                      </p:cBhvr>
                                      <p:to>
                                        <p:strVal val="visible"/>
                                      </p:to>
                                    </p:set>
                                    <p:animEffect transition="in" filter="box(in)">
                                      <p:cBhvr>
                                        <p:cTn id="7" dur="1000"/>
                                        <p:tgtEl>
                                          <p:spTgt spid="384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2EA483D-425A-C5C7-8648-808EC47B5B3C}"/>
              </a:ext>
            </a:extLst>
          </p:cNvPr>
          <p:cNvSpPr>
            <a:spLocks noGrp="1" noChangeArrowheads="1"/>
          </p:cNvSpPr>
          <p:nvPr>
            <p:ph type="title"/>
          </p:nvPr>
        </p:nvSpPr>
        <p:spPr/>
        <p:txBody>
          <a:bodyPr/>
          <a:lstStyle/>
          <a:p>
            <a:pPr eaLnBrk="1" hangingPunct="1"/>
            <a:r>
              <a:rPr lang="en-US" altLang="en-US" sz="3000" b="1"/>
              <a:t>4. Mảng trong C#</a:t>
            </a:r>
          </a:p>
        </p:txBody>
      </p:sp>
      <p:sp>
        <p:nvSpPr>
          <p:cNvPr id="34819" name="Rectangle 4">
            <a:extLst>
              <a:ext uri="{FF2B5EF4-FFF2-40B4-BE49-F238E27FC236}">
                <a16:creationId xmlns:a16="http://schemas.microsoft.com/office/drawing/2014/main" id="{181A1D9E-0FA1-A8AA-FC82-DF0054B71C3B}"/>
              </a:ext>
            </a:extLst>
          </p:cNvPr>
          <p:cNvSpPr>
            <a:spLocks noChangeArrowheads="1"/>
          </p:cNvSpPr>
          <p:nvPr/>
        </p:nvSpPr>
        <p:spPr bwMode="auto">
          <a:xfrm>
            <a:off x="166688" y="806450"/>
            <a:ext cx="60674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Xóa một phần tử ở cuối mảng</a:t>
            </a:r>
          </a:p>
        </p:txBody>
      </p:sp>
      <p:sp>
        <p:nvSpPr>
          <p:cNvPr id="387077" name="Rectangle 5">
            <a:extLst>
              <a:ext uri="{FF2B5EF4-FFF2-40B4-BE49-F238E27FC236}">
                <a16:creationId xmlns:a16="http://schemas.microsoft.com/office/drawing/2014/main" id="{080A0D3F-F0D8-1D59-3E23-9906F9F521E5}"/>
              </a:ext>
            </a:extLst>
          </p:cNvPr>
          <p:cNvSpPr>
            <a:spLocks noChangeArrowheads="1"/>
          </p:cNvSpPr>
          <p:nvPr/>
        </p:nvSpPr>
        <p:spPr bwMode="auto">
          <a:xfrm>
            <a:off x="161925" y="1376363"/>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phương thức Resize của lớp Array để giảm kích thước của mảng</a:t>
            </a:r>
          </a:p>
        </p:txBody>
      </p:sp>
      <p:pic>
        <p:nvPicPr>
          <p:cNvPr id="387078" name="Picture 6">
            <a:extLst>
              <a:ext uri="{FF2B5EF4-FFF2-40B4-BE49-F238E27FC236}">
                <a16:creationId xmlns:a16="http://schemas.microsoft.com/office/drawing/2014/main" id="{C7CE9789-0A63-539C-7AA6-8F7759C595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981200"/>
            <a:ext cx="5715000" cy="685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87079" name="Picture 7">
            <a:extLst>
              <a:ext uri="{FF2B5EF4-FFF2-40B4-BE49-F238E27FC236}">
                <a16:creationId xmlns:a16="http://schemas.microsoft.com/office/drawing/2014/main" id="{A37200A8-D150-85F6-F3DE-DAF18585D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971800"/>
            <a:ext cx="8153400" cy="3476625"/>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7077"/>
                                        </p:tgtEl>
                                        <p:attrNameLst>
                                          <p:attrName>style.visibility</p:attrName>
                                        </p:attrNameLst>
                                      </p:cBhvr>
                                      <p:to>
                                        <p:strVal val="visible"/>
                                      </p:to>
                                    </p:set>
                                    <p:animEffect transition="in" filter="box(in)">
                                      <p:cBhvr>
                                        <p:cTn id="7" dur="1000"/>
                                        <p:tgtEl>
                                          <p:spTgt spid="3870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7078"/>
                                        </p:tgtEl>
                                        <p:attrNameLst>
                                          <p:attrName>style.visibility</p:attrName>
                                        </p:attrNameLst>
                                      </p:cBhvr>
                                      <p:to>
                                        <p:strVal val="visible"/>
                                      </p:to>
                                    </p:set>
                                    <p:animEffect transition="in" filter="box(in)">
                                      <p:cBhvr>
                                        <p:cTn id="12" dur="1000"/>
                                        <p:tgtEl>
                                          <p:spTgt spid="3870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7079"/>
                                        </p:tgtEl>
                                        <p:attrNameLst>
                                          <p:attrName>style.visibility</p:attrName>
                                        </p:attrNameLst>
                                      </p:cBhvr>
                                      <p:to>
                                        <p:strVal val="visible"/>
                                      </p:to>
                                    </p:set>
                                    <p:animEffect transition="in" filter="box(in)">
                                      <p:cBhvr>
                                        <p:cTn id="17" dur="1000"/>
                                        <p:tgtEl>
                                          <p:spTgt spid="387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26AD6D7-FBC3-563F-8833-96EFDE861536}"/>
              </a:ext>
            </a:extLst>
          </p:cNvPr>
          <p:cNvSpPr>
            <a:spLocks noGrp="1" noChangeArrowheads="1"/>
          </p:cNvSpPr>
          <p:nvPr>
            <p:ph type="title"/>
          </p:nvPr>
        </p:nvSpPr>
        <p:spPr/>
        <p:txBody>
          <a:bodyPr/>
          <a:lstStyle/>
          <a:p>
            <a:pPr eaLnBrk="1" hangingPunct="1"/>
            <a:r>
              <a:rPr lang="en-US" altLang="en-US" sz="3000" b="1"/>
              <a:t>4. Mảng trong C#</a:t>
            </a:r>
          </a:p>
        </p:txBody>
      </p:sp>
      <p:sp>
        <p:nvSpPr>
          <p:cNvPr id="35843" name="Rectangle 4">
            <a:extLst>
              <a:ext uri="{FF2B5EF4-FFF2-40B4-BE49-F238E27FC236}">
                <a16:creationId xmlns:a16="http://schemas.microsoft.com/office/drawing/2014/main" id="{D2237B5F-C197-3C28-B772-DA50765F27F0}"/>
              </a:ext>
            </a:extLst>
          </p:cNvPr>
          <p:cNvSpPr>
            <a:spLocks noChangeArrowheads="1"/>
          </p:cNvSpPr>
          <p:nvPr/>
        </p:nvSpPr>
        <p:spPr bwMode="auto">
          <a:xfrm>
            <a:off x="166688" y="806450"/>
            <a:ext cx="8745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Xóa một phần tử ở vị trí bất kỳ trong mảng</a:t>
            </a:r>
          </a:p>
        </p:txBody>
      </p:sp>
      <p:pic>
        <p:nvPicPr>
          <p:cNvPr id="388101" name="Picture 5">
            <a:extLst>
              <a:ext uri="{FF2B5EF4-FFF2-40B4-BE49-F238E27FC236}">
                <a16:creationId xmlns:a16="http://schemas.microsoft.com/office/drawing/2014/main" id="{63B21398-5611-63C7-8571-DC032F46D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24000"/>
            <a:ext cx="8305800" cy="46482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8101"/>
                                        </p:tgtEl>
                                        <p:attrNameLst>
                                          <p:attrName>style.visibility</p:attrName>
                                        </p:attrNameLst>
                                      </p:cBhvr>
                                      <p:to>
                                        <p:strVal val="visible"/>
                                      </p:to>
                                    </p:set>
                                    <p:animEffect transition="in" filter="box(in)">
                                      <p:cBhvr>
                                        <p:cTn id="7" dur="1000"/>
                                        <p:tgtEl>
                                          <p:spTgt spid="388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8441689-ED2A-E04E-3009-B86F247608B9}"/>
              </a:ext>
            </a:extLst>
          </p:cNvPr>
          <p:cNvSpPr>
            <a:spLocks noGrp="1" noChangeArrowheads="1"/>
          </p:cNvSpPr>
          <p:nvPr>
            <p:ph type="title"/>
          </p:nvPr>
        </p:nvSpPr>
        <p:spPr/>
        <p:txBody>
          <a:bodyPr/>
          <a:lstStyle/>
          <a:p>
            <a:pPr eaLnBrk="1" hangingPunct="1"/>
            <a:r>
              <a:rPr lang="en-US" altLang="en-US" sz="3000" b="1"/>
              <a:t>4. Mảng trong C#</a:t>
            </a:r>
          </a:p>
        </p:txBody>
      </p:sp>
      <p:pic>
        <p:nvPicPr>
          <p:cNvPr id="389124" name="Picture 4">
            <a:extLst>
              <a:ext uri="{FF2B5EF4-FFF2-40B4-BE49-F238E27FC236}">
                <a16:creationId xmlns:a16="http://schemas.microsoft.com/office/drawing/2014/main" id="{0297EABD-7C70-412B-4CE0-2C9E22DEA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85838"/>
            <a:ext cx="7848600" cy="53340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9124"/>
                                        </p:tgtEl>
                                        <p:attrNameLst>
                                          <p:attrName>style.visibility</p:attrName>
                                        </p:attrNameLst>
                                      </p:cBhvr>
                                      <p:to>
                                        <p:strVal val="visible"/>
                                      </p:to>
                                    </p:set>
                                    <p:animEffect transition="in" filter="box(in)">
                                      <p:cBhvr>
                                        <p:cTn id="7" dur="1000"/>
                                        <p:tgtEl>
                                          <p:spTgt spid="389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5CDDF42-5A03-FF40-2A78-B9088A8780D6}"/>
              </a:ext>
            </a:extLst>
          </p:cNvPr>
          <p:cNvSpPr>
            <a:spLocks noGrp="1" noChangeArrowheads="1"/>
          </p:cNvSpPr>
          <p:nvPr>
            <p:ph type="title"/>
          </p:nvPr>
        </p:nvSpPr>
        <p:spPr/>
        <p:txBody>
          <a:bodyPr/>
          <a:lstStyle/>
          <a:p>
            <a:pPr eaLnBrk="1" hangingPunct="1"/>
            <a:r>
              <a:rPr lang="en-US" altLang="en-US" sz="3000" b="1"/>
              <a:t>4. Mảng trong C#</a:t>
            </a:r>
          </a:p>
        </p:txBody>
      </p:sp>
      <p:sp>
        <p:nvSpPr>
          <p:cNvPr id="37891" name="Rectangle 4">
            <a:extLst>
              <a:ext uri="{FF2B5EF4-FFF2-40B4-BE49-F238E27FC236}">
                <a16:creationId xmlns:a16="http://schemas.microsoft.com/office/drawing/2014/main" id="{DB2BF791-C2E9-F550-71C5-0FDB01C9659C}"/>
              </a:ext>
            </a:extLst>
          </p:cNvPr>
          <p:cNvSpPr>
            <a:spLocks noChangeArrowheads="1"/>
          </p:cNvSpPr>
          <p:nvPr/>
        </p:nvSpPr>
        <p:spPr bwMode="auto">
          <a:xfrm>
            <a:off x="104775" y="787400"/>
            <a:ext cx="30702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Mảng đa chiều</a:t>
            </a:r>
          </a:p>
        </p:txBody>
      </p:sp>
      <p:sp>
        <p:nvSpPr>
          <p:cNvPr id="365573" name="Rectangle 5">
            <a:extLst>
              <a:ext uri="{FF2B5EF4-FFF2-40B4-BE49-F238E27FC236}">
                <a16:creationId xmlns:a16="http://schemas.microsoft.com/office/drawing/2014/main" id="{BBB57ECF-F791-497B-8C75-8A146EBE826E}"/>
              </a:ext>
            </a:extLst>
          </p:cNvPr>
          <p:cNvSpPr>
            <a:spLocks noChangeArrowheads="1"/>
          </p:cNvSpPr>
          <p:nvPr/>
        </p:nvSpPr>
        <p:spPr bwMode="auto">
          <a:xfrm>
            <a:off x="685800" y="1252538"/>
            <a:ext cx="845820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Mảng hai chiều được tổ chức thành các dòng và cột, trong đó các dòng là được tính theo hàng ngang của mảng, và các cột được tính theo hàng dọc của mảng.</a:t>
            </a:r>
          </a:p>
        </p:txBody>
      </p:sp>
      <p:sp>
        <p:nvSpPr>
          <p:cNvPr id="365577" name="Rectangle 9">
            <a:extLst>
              <a:ext uri="{FF2B5EF4-FFF2-40B4-BE49-F238E27FC236}">
                <a16:creationId xmlns:a16="http://schemas.microsoft.com/office/drawing/2014/main" id="{8B8D4243-0DDC-658B-03EC-28A2035E28FF}"/>
              </a:ext>
            </a:extLst>
          </p:cNvPr>
          <p:cNvSpPr>
            <a:spLocks noChangeArrowheads="1"/>
          </p:cNvSpPr>
          <p:nvPr/>
        </p:nvSpPr>
        <p:spPr bwMode="auto">
          <a:xfrm>
            <a:off x="2362200" y="2700338"/>
            <a:ext cx="5051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1">
                <a:ln>
                  <a:noFill/>
                </a:ln>
                <a:solidFill>
                  <a:srgbClr val="D60093"/>
                </a:solidFill>
                <a:effectLst/>
                <a:uLnTx/>
                <a:uFillTx/>
                <a:latin typeface="Verdana" panose="020B0604030504040204" pitchFamily="34" charset="0"/>
                <a:ea typeface="+mn-ea"/>
                <a:cs typeface="+mn-cs"/>
              </a:rPr>
              <a:t>int[,] A = new int[100,100];</a:t>
            </a:r>
            <a:endParaRPr kumimoji="0" lang="en-US" altLang="en-US" sz="2400" b="1" i="0" u="none" strike="noStrike" kern="1200" cap="none" spc="0" normalizeH="0" baseline="0" noProof="0">
              <a:ln>
                <a:noFill/>
              </a:ln>
              <a:solidFill>
                <a:srgbClr val="D60093"/>
              </a:solidFill>
              <a:effectLst/>
              <a:uLnTx/>
              <a:uFillTx/>
              <a:latin typeface="Verdana" panose="020B0604030504040204" pitchFamily="34" charset="0"/>
              <a:ea typeface="+mn-ea"/>
              <a:cs typeface="+mn-cs"/>
            </a:endParaRPr>
          </a:p>
        </p:txBody>
      </p:sp>
      <p:sp>
        <p:nvSpPr>
          <p:cNvPr id="365579" name="Rectangle 11">
            <a:extLst>
              <a:ext uri="{FF2B5EF4-FFF2-40B4-BE49-F238E27FC236}">
                <a16:creationId xmlns:a16="http://schemas.microsoft.com/office/drawing/2014/main" id="{22873B17-84EC-5E2F-3357-A89E6F38384B}"/>
              </a:ext>
            </a:extLst>
          </p:cNvPr>
          <p:cNvSpPr>
            <a:spLocks noChangeArrowheads="1"/>
          </p:cNvSpPr>
          <p:nvPr/>
        </p:nvSpPr>
        <p:spPr bwMode="auto">
          <a:xfrm>
            <a:off x="228600" y="3276600"/>
            <a:ext cx="8177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Ngôn ngữ C# hỗ trợ hai kiểu mảng đa chiều là:</a:t>
            </a:r>
          </a:p>
        </p:txBody>
      </p:sp>
      <p:sp>
        <p:nvSpPr>
          <p:cNvPr id="365580" name="Rectangle 12">
            <a:extLst>
              <a:ext uri="{FF2B5EF4-FFF2-40B4-BE49-F238E27FC236}">
                <a16:creationId xmlns:a16="http://schemas.microsoft.com/office/drawing/2014/main" id="{85F3872F-A377-3B0C-399E-986B85292B09}"/>
              </a:ext>
            </a:extLst>
          </p:cNvPr>
          <p:cNvSpPr>
            <a:spLocks noChangeArrowheads="1"/>
          </p:cNvSpPr>
          <p:nvPr/>
        </p:nvSpPr>
        <p:spPr bwMode="auto">
          <a:xfrm>
            <a:off x="633413" y="3824288"/>
            <a:ext cx="8382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Mảng đa chiều cùng kích thước: trong mảng này mỗi dòng trong mảng có cùng kích thước với nhau. Mảng này có thể là hai hay nhiều hơn hai chiều.</a:t>
            </a:r>
          </a:p>
        </p:txBody>
      </p:sp>
      <p:sp>
        <p:nvSpPr>
          <p:cNvPr id="365581" name="Rectangle 13">
            <a:extLst>
              <a:ext uri="{FF2B5EF4-FFF2-40B4-BE49-F238E27FC236}">
                <a16:creationId xmlns:a16="http://schemas.microsoft.com/office/drawing/2014/main" id="{C0FABC97-749F-F7A6-FF9A-21C01DF09139}"/>
              </a:ext>
            </a:extLst>
          </p:cNvPr>
          <p:cNvSpPr>
            <a:spLocks noChangeArrowheads="1"/>
          </p:cNvSpPr>
          <p:nvPr/>
        </p:nvSpPr>
        <p:spPr bwMode="auto">
          <a:xfrm>
            <a:off x="633413" y="5105400"/>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Mảng đa chiều không cùng kích thước: trong mảng này các dòng có thể không cùng kích thước với nhau.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5573"/>
                                        </p:tgtEl>
                                        <p:attrNameLst>
                                          <p:attrName>style.visibility</p:attrName>
                                        </p:attrNameLst>
                                      </p:cBhvr>
                                      <p:to>
                                        <p:strVal val="visible"/>
                                      </p:to>
                                    </p:set>
                                    <p:animEffect transition="in" filter="box(in)">
                                      <p:cBhvr>
                                        <p:cTn id="7" dur="1000"/>
                                        <p:tgtEl>
                                          <p:spTgt spid="3655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5577"/>
                                        </p:tgtEl>
                                        <p:attrNameLst>
                                          <p:attrName>style.visibility</p:attrName>
                                        </p:attrNameLst>
                                      </p:cBhvr>
                                      <p:to>
                                        <p:strVal val="visible"/>
                                      </p:to>
                                    </p:set>
                                    <p:animEffect transition="in" filter="box(in)">
                                      <p:cBhvr>
                                        <p:cTn id="12" dur="1000"/>
                                        <p:tgtEl>
                                          <p:spTgt spid="3655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5579"/>
                                        </p:tgtEl>
                                        <p:attrNameLst>
                                          <p:attrName>style.visibility</p:attrName>
                                        </p:attrNameLst>
                                      </p:cBhvr>
                                      <p:to>
                                        <p:strVal val="visible"/>
                                      </p:to>
                                    </p:set>
                                    <p:animEffect transition="in" filter="box(in)">
                                      <p:cBhvr>
                                        <p:cTn id="17" dur="1000"/>
                                        <p:tgtEl>
                                          <p:spTgt spid="3655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5580">
                                            <p:txEl>
                                              <p:pRg st="0" end="0"/>
                                            </p:txEl>
                                          </p:spTgt>
                                        </p:tgtEl>
                                        <p:attrNameLst>
                                          <p:attrName>style.visibility</p:attrName>
                                        </p:attrNameLst>
                                      </p:cBhvr>
                                      <p:to>
                                        <p:strVal val="visible"/>
                                      </p:to>
                                    </p:set>
                                    <p:animEffect transition="in" filter="box(in)">
                                      <p:cBhvr>
                                        <p:cTn id="22" dur="1000"/>
                                        <p:tgtEl>
                                          <p:spTgt spid="365580">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65581"/>
                                        </p:tgtEl>
                                        <p:attrNameLst>
                                          <p:attrName>style.visibility</p:attrName>
                                        </p:attrNameLst>
                                      </p:cBhvr>
                                      <p:to>
                                        <p:strVal val="visible"/>
                                      </p:to>
                                    </p:set>
                                    <p:animEffect transition="in" filter="box(in)">
                                      <p:cBhvr>
                                        <p:cTn id="27" dur="1000"/>
                                        <p:tgtEl>
                                          <p:spTgt spid="365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3" grpId="0"/>
      <p:bldP spid="365577" grpId="0"/>
      <p:bldP spid="365579" grpId="0"/>
      <p:bldP spid="365581"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15B5E00-6F14-409E-7D2A-D0FCBCCE0423}"/>
              </a:ext>
            </a:extLst>
          </p:cNvPr>
          <p:cNvSpPr>
            <a:spLocks noGrp="1" noChangeArrowheads="1"/>
          </p:cNvSpPr>
          <p:nvPr>
            <p:ph type="title"/>
          </p:nvPr>
        </p:nvSpPr>
        <p:spPr/>
        <p:txBody>
          <a:bodyPr/>
          <a:lstStyle/>
          <a:p>
            <a:pPr eaLnBrk="1" hangingPunct="1"/>
            <a:r>
              <a:rPr lang="en-US" altLang="en-US" sz="3000" b="1"/>
              <a:t>4. Mảng trong C#</a:t>
            </a:r>
          </a:p>
        </p:txBody>
      </p:sp>
      <p:sp>
        <p:nvSpPr>
          <p:cNvPr id="379908" name="Text Box 4">
            <a:extLst>
              <a:ext uri="{FF2B5EF4-FFF2-40B4-BE49-F238E27FC236}">
                <a16:creationId xmlns:a16="http://schemas.microsoft.com/office/drawing/2014/main" id="{8DA97DE7-F8A5-E52D-8535-18F36F19E41E}"/>
              </a:ext>
            </a:extLst>
          </p:cNvPr>
          <p:cNvSpPr txBox="1">
            <a:spLocks noChangeArrowheads="1"/>
          </p:cNvSpPr>
          <p:nvPr/>
        </p:nvSpPr>
        <p:spPr bwMode="auto">
          <a:xfrm>
            <a:off x="633413" y="2147888"/>
            <a:ext cx="8510587"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Vd: Viết chương trình – nhập giá trị cho 2 ma trận từ bàn phím – tính tổng 2 ma trận, tính tổng từng hàng, tính tổng từng cột , tìm giá trị lớn nhất và nhỏ nhất cho từng hàng, từng cột– hiện kết quả lên màn hình</a:t>
            </a:r>
          </a:p>
        </p:txBody>
      </p:sp>
      <p:sp>
        <p:nvSpPr>
          <p:cNvPr id="38916" name="Rectangle 5">
            <a:extLst>
              <a:ext uri="{FF2B5EF4-FFF2-40B4-BE49-F238E27FC236}">
                <a16:creationId xmlns:a16="http://schemas.microsoft.com/office/drawing/2014/main" id="{702AC8C3-C67A-404D-3212-B571DA8E5EBF}"/>
              </a:ext>
            </a:extLst>
          </p:cNvPr>
          <p:cNvSpPr>
            <a:spLocks noChangeArrowheads="1"/>
          </p:cNvSpPr>
          <p:nvPr/>
        </p:nvSpPr>
        <p:spPr bwMode="auto">
          <a:xfrm>
            <a:off x="42863" y="792163"/>
            <a:ext cx="63611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Mảng đa chiều cùng kích thước</a:t>
            </a:r>
          </a:p>
        </p:txBody>
      </p:sp>
      <p:sp>
        <p:nvSpPr>
          <p:cNvPr id="379910" name="Rectangle 6">
            <a:extLst>
              <a:ext uri="{FF2B5EF4-FFF2-40B4-BE49-F238E27FC236}">
                <a16:creationId xmlns:a16="http://schemas.microsoft.com/office/drawing/2014/main" id="{758B7DAE-6356-D29C-0DA9-C7B5201F447F}"/>
              </a:ext>
            </a:extLst>
          </p:cNvPr>
          <p:cNvSpPr>
            <a:spLocks noChangeArrowheads="1"/>
          </p:cNvSpPr>
          <p:nvPr/>
        </p:nvSpPr>
        <p:spPr bwMode="auto">
          <a:xfrm>
            <a:off x="614363" y="1319213"/>
            <a:ext cx="837723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D60093"/>
                </a:solidFill>
                <a:effectLst/>
                <a:uLnTx/>
                <a:uFillTx/>
                <a:latin typeface="Verdana" panose="020B0604030504040204" pitchFamily="34" charset="0"/>
                <a:ea typeface="+mn-ea"/>
                <a:cs typeface="+mn-cs"/>
              </a:rPr>
              <a:t>Mảng đa chiều cùng kích thước còn gọi là mảng hình chữ nhật (rectanguler array).</a:t>
            </a:r>
          </a:p>
        </p:txBody>
      </p:sp>
      <p:pic>
        <p:nvPicPr>
          <p:cNvPr id="379912" name="Picture 8">
            <a:extLst>
              <a:ext uri="{FF2B5EF4-FFF2-40B4-BE49-F238E27FC236}">
                <a16:creationId xmlns:a16="http://schemas.microsoft.com/office/drawing/2014/main" id="{C4187963-9531-FB7D-7B31-22E14F6041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810000"/>
            <a:ext cx="4114800" cy="268605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79913" name="Picture 9">
            <a:extLst>
              <a:ext uri="{FF2B5EF4-FFF2-40B4-BE49-F238E27FC236}">
                <a16:creationId xmlns:a16="http://schemas.microsoft.com/office/drawing/2014/main" id="{3EF197E6-F353-A71D-A2A2-05D9CC2623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810000"/>
            <a:ext cx="4191000" cy="26670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9910"/>
                                        </p:tgtEl>
                                        <p:attrNameLst>
                                          <p:attrName>style.visibility</p:attrName>
                                        </p:attrNameLst>
                                      </p:cBhvr>
                                      <p:to>
                                        <p:strVal val="visible"/>
                                      </p:to>
                                    </p:set>
                                    <p:animEffect transition="in" filter="box(in)">
                                      <p:cBhvr>
                                        <p:cTn id="7" dur="1000"/>
                                        <p:tgtEl>
                                          <p:spTgt spid="3799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9908"/>
                                        </p:tgtEl>
                                        <p:attrNameLst>
                                          <p:attrName>style.visibility</p:attrName>
                                        </p:attrNameLst>
                                      </p:cBhvr>
                                      <p:to>
                                        <p:strVal val="visible"/>
                                      </p:to>
                                    </p:set>
                                    <p:animEffect transition="in" filter="box(in)">
                                      <p:cBhvr>
                                        <p:cTn id="12" dur="1000"/>
                                        <p:tgtEl>
                                          <p:spTgt spid="3799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9912"/>
                                        </p:tgtEl>
                                        <p:attrNameLst>
                                          <p:attrName>style.visibility</p:attrName>
                                        </p:attrNameLst>
                                      </p:cBhvr>
                                      <p:to>
                                        <p:strVal val="visible"/>
                                      </p:to>
                                    </p:set>
                                    <p:animEffect transition="in" filter="box(in)">
                                      <p:cBhvr>
                                        <p:cTn id="17" dur="1000"/>
                                        <p:tgtEl>
                                          <p:spTgt spid="3799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9913"/>
                                        </p:tgtEl>
                                        <p:attrNameLst>
                                          <p:attrName>style.visibility</p:attrName>
                                        </p:attrNameLst>
                                      </p:cBhvr>
                                      <p:to>
                                        <p:strVal val="visible"/>
                                      </p:to>
                                    </p:set>
                                    <p:animEffect transition="in" filter="box(in)">
                                      <p:cBhvr>
                                        <p:cTn id="22" dur="1000"/>
                                        <p:tgtEl>
                                          <p:spTgt spid="379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8" grpId="0"/>
      <p:bldP spid="379910"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826D657-799E-0710-5D12-D199725A390D}"/>
              </a:ext>
            </a:extLst>
          </p:cNvPr>
          <p:cNvSpPr>
            <a:spLocks noGrp="1" noChangeArrowheads="1"/>
          </p:cNvSpPr>
          <p:nvPr>
            <p:ph type="title"/>
          </p:nvPr>
        </p:nvSpPr>
        <p:spPr/>
        <p:txBody>
          <a:bodyPr/>
          <a:lstStyle/>
          <a:p>
            <a:pPr eaLnBrk="1" hangingPunct="1"/>
            <a:r>
              <a:rPr lang="en-US" altLang="en-US" sz="3000" b="1"/>
              <a:t>4. Mảng trong C#</a:t>
            </a:r>
          </a:p>
        </p:txBody>
      </p:sp>
      <p:pic>
        <p:nvPicPr>
          <p:cNvPr id="366597" name="Picture 5">
            <a:extLst>
              <a:ext uri="{FF2B5EF4-FFF2-40B4-BE49-F238E27FC236}">
                <a16:creationId xmlns:a16="http://schemas.microsoft.com/office/drawing/2014/main" id="{3947E02A-E885-FBCD-9449-336615C2A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14400"/>
            <a:ext cx="4191000" cy="5514975"/>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66598" name="Picture 6">
            <a:extLst>
              <a:ext uri="{FF2B5EF4-FFF2-40B4-BE49-F238E27FC236}">
                <a16:creationId xmlns:a16="http://schemas.microsoft.com/office/drawing/2014/main" id="{74FB3DA9-3B95-FFC6-2681-C0E3927D25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914400"/>
            <a:ext cx="4324350" cy="5562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6597"/>
                                        </p:tgtEl>
                                        <p:attrNameLst>
                                          <p:attrName>style.visibility</p:attrName>
                                        </p:attrNameLst>
                                      </p:cBhvr>
                                      <p:to>
                                        <p:strVal val="visible"/>
                                      </p:to>
                                    </p:set>
                                    <p:animEffect transition="in" filter="box(in)">
                                      <p:cBhvr>
                                        <p:cTn id="7" dur="1000"/>
                                        <p:tgtEl>
                                          <p:spTgt spid="3665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6598"/>
                                        </p:tgtEl>
                                        <p:attrNameLst>
                                          <p:attrName>style.visibility</p:attrName>
                                        </p:attrNameLst>
                                      </p:cBhvr>
                                      <p:to>
                                        <p:strVal val="visible"/>
                                      </p:to>
                                    </p:set>
                                    <p:animEffect transition="in" filter="box(in)">
                                      <p:cBhvr>
                                        <p:cTn id="12" dur="1000"/>
                                        <p:tgtEl>
                                          <p:spTgt spid="366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4A5A9C6-2F90-4BD6-3FAC-8721DA0CD867}"/>
              </a:ext>
            </a:extLst>
          </p:cNvPr>
          <p:cNvSpPr>
            <a:spLocks noGrp="1" noChangeArrowheads="1"/>
          </p:cNvSpPr>
          <p:nvPr>
            <p:ph type="title"/>
          </p:nvPr>
        </p:nvSpPr>
        <p:spPr/>
        <p:txBody>
          <a:bodyPr/>
          <a:lstStyle/>
          <a:p>
            <a:pPr eaLnBrk="1" hangingPunct="1"/>
            <a:r>
              <a:rPr lang="en-US" altLang="en-US" sz="3000" b="1"/>
              <a:t>4. Mảng trong C#</a:t>
            </a:r>
          </a:p>
        </p:txBody>
      </p:sp>
      <p:pic>
        <p:nvPicPr>
          <p:cNvPr id="376837" name="Picture 5">
            <a:extLst>
              <a:ext uri="{FF2B5EF4-FFF2-40B4-BE49-F238E27FC236}">
                <a16:creationId xmlns:a16="http://schemas.microsoft.com/office/drawing/2014/main" id="{E9DE2272-304A-1EEF-363A-8F23176802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838200"/>
            <a:ext cx="4191000" cy="5562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76838" name="Picture 6">
            <a:extLst>
              <a:ext uri="{FF2B5EF4-FFF2-40B4-BE49-F238E27FC236}">
                <a16:creationId xmlns:a16="http://schemas.microsoft.com/office/drawing/2014/main" id="{7AD0DA09-37CB-3AED-85B5-7CB4FCA750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838200"/>
            <a:ext cx="4191000" cy="5562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6837"/>
                                        </p:tgtEl>
                                        <p:attrNameLst>
                                          <p:attrName>style.visibility</p:attrName>
                                        </p:attrNameLst>
                                      </p:cBhvr>
                                      <p:to>
                                        <p:strVal val="visible"/>
                                      </p:to>
                                    </p:set>
                                    <p:animEffect transition="in" filter="box(in)">
                                      <p:cBhvr>
                                        <p:cTn id="7" dur="1000"/>
                                        <p:tgtEl>
                                          <p:spTgt spid="3768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6838"/>
                                        </p:tgtEl>
                                        <p:attrNameLst>
                                          <p:attrName>style.visibility</p:attrName>
                                        </p:attrNameLst>
                                      </p:cBhvr>
                                      <p:to>
                                        <p:strVal val="visible"/>
                                      </p:to>
                                    </p:set>
                                    <p:animEffect transition="in" filter="box(in)">
                                      <p:cBhvr>
                                        <p:cTn id="12" dur="1000"/>
                                        <p:tgtEl>
                                          <p:spTgt spid="376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65B4E38-680A-AB3B-D514-2C53C922CDF9}"/>
              </a:ext>
            </a:extLst>
          </p:cNvPr>
          <p:cNvSpPr>
            <a:spLocks noGrp="1" noChangeArrowheads="1"/>
          </p:cNvSpPr>
          <p:nvPr>
            <p:ph type="title"/>
          </p:nvPr>
        </p:nvSpPr>
        <p:spPr/>
        <p:txBody>
          <a:bodyPr/>
          <a:lstStyle/>
          <a:p>
            <a:pPr eaLnBrk="1" hangingPunct="1"/>
            <a:r>
              <a:rPr lang="en-US" altLang="en-US" sz="3000" b="1"/>
              <a:t>4. Mảng trong C#</a:t>
            </a:r>
          </a:p>
        </p:txBody>
      </p:sp>
      <p:sp>
        <p:nvSpPr>
          <p:cNvPr id="377863" name="Text Box 7">
            <a:extLst>
              <a:ext uri="{FF2B5EF4-FFF2-40B4-BE49-F238E27FC236}">
                <a16:creationId xmlns:a16="http://schemas.microsoft.com/office/drawing/2014/main" id="{5707EFFB-0D74-22F9-AF36-8A329B30D699}"/>
              </a:ext>
            </a:extLst>
          </p:cNvPr>
          <p:cNvSpPr txBox="1">
            <a:spLocks noChangeArrowheads="1"/>
          </p:cNvSpPr>
          <p:nvPr/>
        </p:nvSpPr>
        <p:spPr bwMode="auto">
          <a:xfrm>
            <a:off x="176213" y="838200"/>
            <a:ext cx="8610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từ khóa </a:t>
            </a:r>
            <a:r>
              <a:rPr kumimoji="0" lang="en-US" altLang="en-US" sz="2400" b="1" i="0" u="none" strike="noStrike" kern="1200" cap="none" spc="0" normalizeH="0" baseline="0" noProof="0">
                <a:ln>
                  <a:noFill/>
                </a:ln>
                <a:solidFill>
                  <a:srgbClr val="000000"/>
                </a:solidFill>
                <a:effectLst/>
                <a:uLnTx/>
                <a:uFillTx/>
                <a:latin typeface="Verdana" panose="020B0604030504040204" pitchFamily="34" charset="0"/>
                <a:ea typeface="+mn-ea"/>
                <a:cs typeface="+mn-cs"/>
              </a:rPr>
              <a:t>new</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để khởi tạo tổng số phần tử của hàng và cột trong mảng</a:t>
            </a:r>
          </a:p>
        </p:txBody>
      </p:sp>
      <p:pic>
        <p:nvPicPr>
          <p:cNvPr id="377864" name="Picture 8">
            <a:extLst>
              <a:ext uri="{FF2B5EF4-FFF2-40B4-BE49-F238E27FC236}">
                <a16:creationId xmlns:a16="http://schemas.microsoft.com/office/drawing/2014/main" id="{80916E54-704B-8C8F-89F3-151827232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52600"/>
            <a:ext cx="8229600" cy="46482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7863"/>
                                        </p:tgtEl>
                                        <p:attrNameLst>
                                          <p:attrName>style.visibility</p:attrName>
                                        </p:attrNameLst>
                                      </p:cBhvr>
                                      <p:to>
                                        <p:strVal val="visible"/>
                                      </p:to>
                                    </p:set>
                                    <p:animEffect transition="in" filter="box(in)">
                                      <p:cBhvr>
                                        <p:cTn id="7" dur="1000"/>
                                        <p:tgtEl>
                                          <p:spTgt spid="3778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7864"/>
                                        </p:tgtEl>
                                        <p:attrNameLst>
                                          <p:attrName>style.visibility</p:attrName>
                                        </p:attrNameLst>
                                      </p:cBhvr>
                                      <p:to>
                                        <p:strVal val="visible"/>
                                      </p:to>
                                    </p:set>
                                    <p:animEffect transition="in" filter="box(in)">
                                      <p:cBhvr>
                                        <p:cTn id="12" dur="1000"/>
                                        <p:tgtEl>
                                          <p:spTgt spid="377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3"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66A5CA6-3B56-A0A9-A3D2-5F849EEF272A}"/>
              </a:ext>
            </a:extLst>
          </p:cNvPr>
          <p:cNvSpPr>
            <a:spLocks noGrp="1" noChangeArrowheads="1"/>
          </p:cNvSpPr>
          <p:nvPr>
            <p:ph type="title"/>
          </p:nvPr>
        </p:nvSpPr>
        <p:spPr/>
        <p:txBody>
          <a:bodyPr/>
          <a:lstStyle/>
          <a:p>
            <a:pPr eaLnBrk="1" hangingPunct="1"/>
            <a:r>
              <a:rPr lang="en-US" altLang="en-US" sz="3000" b="1"/>
              <a:t>4. Mảng trong C#</a:t>
            </a:r>
          </a:p>
        </p:txBody>
      </p:sp>
      <p:pic>
        <p:nvPicPr>
          <p:cNvPr id="378885" name="Picture 5">
            <a:extLst>
              <a:ext uri="{FF2B5EF4-FFF2-40B4-BE49-F238E27FC236}">
                <a16:creationId xmlns:a16="http://schemas.microsoft.com/office/drawing/2014/main" id="{4479FFBE-4111-F535-20A8-34566B77E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24000"/>
            <a:ext cx="8256588" cy="4876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78886" name="Text Box 6">
            <a:extLst>
              <a:ext uri="{FF2B5EF4-FFF2-40B4-BE49-F238E27FC236}">
                <a16:creationId xmlns:a16="http://schemas.microsoft.com/office/drawing/2014/main" id="{B5AB6DE3-F5E6-1834-5249-F0D39F25A46F}"/>
              </a:ext>
            </a:extLst>
          </p:cNvPr>
          <p:cNvSpPr txBox="1">
            <a:spLocks noChangeArrowheads="1"/>
          </p:cNvSpPr>
          <p:nvPr/>
        </p:nvSpPr>
        <p:spPr bwMode="auto">
          <a:xfrm>
            <a:off x="466725" y="814388"/>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Khởi tạo giá trị cho các thành phần của mảng 2 chiều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8886"/>
                                        </p:tgtEl>
                                        <p:attrNameLst>
                                          <p:attrName>style.visibility</p:attrName>
                                        </p:attrNameLst>
                                      </p:cBhvr>
                                      <p:to>
                                        <p:strVal val="visible"/>
                                      </p:to>
                                    </p:set>
                                    <p:animEffect transition="in" filter="box(in)">
                                      <p:cBhvr>
                                        <p:cTn id="7" dur="1000"/>
                                        <p:tgtEl>
                                          <p:spTgt spid="3788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8885"/>
                                        </p:tgtEl>
                                        <p:attrNameLst>
                                          <p:attrName>style.visibility</p:attrName>
                                        </p:attrNameLst>
                                      </p:cBhvr>
                                      <p:to>
                                        <p:strVal val="visible"/>
                                      </p:to>
                                    </p:set>
                                    <p:animEffect transition="in" filter="box(in)">
                                      <p:cBhvr>
                                        <p:cTn id="12" dur="1000"/>
                                        <p:tgtEl>
                                          <p:spTgt spid="378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6"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1513E3C-909D-D80F-5DE1-65F78FBCBEA1}"/>
              </a:ext>
            </a:extLst>
          </p:cNvPr>
          <p:cNvSpPr>
            <a:spLocks noGrp="1" noChangeArrowheads="1"/>
          </p:cNvSpPr>
          <p:nvPr>
            <p:ph type="title"/>
          </p:nvPr>
        </p:nvSpPr>
        <p:spPr/>
        <p:txBody>
          <a:bodyPr/>
          <a:lstStyle/>
          <a:p>
            <a:pPr eaLnBrk="1" hangingPunct="1"/>
            <a:r>
              <a:rPr lang="en-US" altLang="en-US" sz="3000" b="1"/>
              <a:t>4. Mảng trong C#</a:t>
            </a:r>
          </a:p>
        </p:txBody>
      </p:sp>
      <p:sp>
        <p:nvSpPr>
          <p:cNvPr id="44035" name="Rectangle 9">
            <a:extLst>
              <a:ext uri="{FF2B5EF4-FFF2-40B4-BE49-F238E27FC236}">
                <a16:creationId xmlns:a16="http://schemas.microsoft.com/office/drawing/2014/main" id="{7139FC99-B4A2-9B24-FF50-F6D73BD09996}"/>
              </a:ext>
            </a:extLst>
          </p:cNvPr>
          <p:cNvSpPr>
            <a:spLocks noChangeArrowheads="1"/>
          </p:cNvSpPr>
          <p:nvPr/>
        </p:nvSpPr>
        <p:spPr bwMode="auto">
          <a:xfrm>
            <a:off x="76200" y="730250"/>
            <a:ext cx="81105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Mảng đa chiều có kích thước khác nhau</a:t>
            </a:r>
          </a:p>
        </p:txBody>
      </p:sp>
      <p:sp>
        <p:nvSpPr>
          <p:cNvPr id="367626" name="Rectangle 10">
            <a:extLst>
              <a:ext uri="{FF2B5EF4-FFF2-40B4-BE49-F238E27FC236}">
                <a16:creationId xmlns:a16="http://schemas.microsoft.com/office/drawing/2014/main" id="{89FB738D-48BF-2F9A-1953-93E2A9E3C523}"/>
              </a:ext>
            </a:extLst>
          </p:cNvPr>
          <p:cNvSpPr>
            <a:spLocks noChangeArrowheads="1"/>
          </p:cNvSpPr>
          <p:nvPr/>
        </p:nvSpPr>
        <p:spPr bwMode="auto">
          <a:xfrm>
            <a:off x="519113" y="1295400"/>
            <a:ext cx="7815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Kích thước của các chiều có thể không bằng nhau</a:t>
            </a:r>
          </a:p>
        </p:txBody>
      </p:sp>
      <p:sp>
        <p:nvSpPr>
          <p:cNvPr id="367627" name="Rectangle 11">
            <a:extLst>
              <a:ext uri="{FF2B5EF4-FFF2-40B4-BE49-F238E27FC236}">
                <a16:creationId xmlns:a16="http://schemas.microsoft.com/office/drawing/2014/main" id="{DD80D5A5-62BD-A9AE-C082-4B45A66E26DC}"/>
              </a:ext>
            </a:extLst>
          </p:cNvPr>
          <p:cNvSpPr>
            <a:spLocks noChangeArrowheads="1"/>
          </p:cNvSpPr>
          <p:nvPr/>
        </p:nvSpPr>
        <p:spPr bwMode="auto">
          <a:xfrm>
            <a:off x="523875" y="1785938"/>
            <a:ext cx="8620125"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D60093"/>
                </a:solidFill>
                <a:effectLst/>
                <a:uLnTx/>
                <a:uFillTx/>
                <a:latin typeface="Verdana" panose="020B0604030504040204" pitchFamily="34" charset="0"/>
                <a:ea typeface="+mn-ea"/>
                <a:cs typeface="+mn-cs"/>
              </a:rPr>
              <a:t>Khi tạo một mảng đa chiều kích thước khác nhau thì khai báo số dòng trong mảng trước. Sau đó mỗi dòng sẽ giữ một mảng có kích thước bất kỳ. Những mảng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D60093"/>
                </a:solidFill>
                <a:effectLst/>
                <a:uLnTx/>
                <a:uFillTx/>
                <a:latin typeface="Verdana" panose="020B0604030504040204" pitchFamily="34" charset="0"/>
                <a:ea typeface="+mn-ea"/>
                <a:cs typeface="+mn-cs"/>
              </a:rPr>
              <a:t>này được khai báo riêng. Sau đó khởi tạo giá trị các thành phần trong từng mảng.</a:t>
            </a:r>
          </a:p>
        </p:txBody>
      </p:sp>
      <p:sp>
        <p:nvSpPr>
          <p:cNvPr id="367628" name="Rectangle 12">
            <a:extLst>
              <a:ext uri="{FF2B5EF4-FFF2-40B4-BE49-F238E27FC236}">
                <a16:creationId xmlns:a16="http://schemas.microsoft.com/office/drawing/2014/main" id="{C8B49232-89BD-1099-3FEA-CDD1F7BF4E11}"/>
              </a:ext>
            </a:extLst>
          </p:cNvPr>
          <p:cNvSpPr>
            <a:spLocks noChangeArrowheads="1"/>
          </p:cNvSpPr>
          <p:nvPr/>
        </p:nvSpPr>
        <p:spPr bwMode="auto">
          <a:xfrm>
            <a:off x="504825" y="3848100"/>
            <a:ext cx="8101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Trong mảng này, mỗi chiều là một mảng một chiều</a:t>
            </a:r>
          </a:p>
        </p:txBody>
      </p:sp>
      <p:pic>
        <p:nvPicPr>
          <p:cNvPr id="367629" name="Picture 13">
            <a:extLst>
              <a:ext uri="{FF2B5EF4-FFF2-40B4-BE49-F238E27FC236}">
                <a16:creationId xmlns:a16="http://schemas.microsoft.com/office/drawing/2014/main" id="{684D2DB5-C7BC-FFB6-BDE4-6C95BC92D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4495800"/>
            <a:ext cx="3429000" cy="7620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67630" name="Picture 14">
            <a:extLst>
              <a:ext uri="{FF2B5EF4-FFF2-40B4-BE49-F238E27FC236}">
                <a16:creationId xmlns:a16="http://schemas.microsoft.com/office/drawing/2014/main" id="{FD31F8E8-12E4-1806-A837-DAFD445D13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5486400"/>
            <a:ext cx="3429000" cy="685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7626"/>
                                        </p:tgtEl>
                                        <p:attrNameLst>
                                          <p:attrName>style.visibility</p:attrName>
                                        </p:attrNameLst>
                                      </p:cBhvr>
                                      <p:to>
                                        <p:strVal val="visible"/>
                                      </p:to>
                                    </p:set>
                                    <p:animEffect transition="in" filter="box(in)">
                                      <p:cBhvr>
                                        <p:cTn id="7" dur="1000"/>
                                        <p:tgtEl>
                                          <p:spTgt spid="3676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7627"/>
                                        </p:tgtEl>
                                        <p:attrNameLst>
                                          <p:attrName>style.visibility</p:attrName>
                                        </p:attrNameLst>
                                      </p:cBhvr>
                                      <p:to>
                                        <p:strVal val="visible"/>
                                      </p:to>
                                    </p:set>
                                    <p:animEffect transition="in" filter="box(in)">
                                      <p:cBhvr>
                                        <p:cTn id="12" dur="1000"/>
                                        <p:tgtEl>
                                          <p:spTgt spid="3676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7628">
                                            <p:txEl>
                                              <p:pRg st="0" end="0"/>
                                            </p:txEl>
                                          </p:spTgt>
                                        </p:tgtEl>
                                        <p:attrNameLst>
                                          <p:attrName>style.visibility</p:attrName>
                                        </p:attrNameLst>
                                      </p:cBhvr>
                                      <p:to>
                                        <p:strVal val="visible"/>
                                      </p:to>
                                    </p:set>
                                    <p:animEffect transition="in" filter="box(in)">
                                      <p:cBhvr>
                                        <p:cTn id="17" dur="1000"/>
                                        <p:tgtEl>
                                          <p:spTgt spid="36762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7629"/>
                                        </p:tgtEl>
                                        <p:attrNameLst>
                                          <p:attrName>style.visibility</p:attrName>
                                        </p:attrNameLst>
                                      </p:cBhvr>
                                      <p:to>
                                        <p:strVal val="visible"/>
                                      </p:to>
                                    </p:set>
                                    <p:animEffect transition="in" filter="box(in)">
                                      <p:cBhvr>
                                        <p:cTn id="22" dur="1000"/>
                                        <p:tgtEl>
                                          <p:spTgt spid="3676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67630"/>
                                        </p:tgtEl>
                                        <p:attrNameLst>
                                          <p:attrName>style.visibility</p:attrName>
                                        </p:attrNameLst>
                                      </p:cBhvr>
                                      <p:to>
                                        <p:strVal val="visible"/>
                                      </p:to>
                                    </p:set>
                                    <p:animEffect transition="in" filter="box(in)">
                                      <p:cBhvr>
                                        <p:cTn id="27" dur="1000"/>
                                        <p:tgtEl>
                                          <p:spTgt spid="367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6" grpId="0"/>
      <p:bldP spid="367627"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4328CFD-3A4D-630C-E8CE-9915A5F66CDB}"/>
              </a:ext>
            </a:extLst>
          </p:cNvPr>
          <p:cNvSpPr>
            <a:spLocks noGrp="1" noChangeArrowheads="1"/>
          </p:cNvSpPr>
          <p:nvPr>
            <p:ph type="title"/>
          </p:nvPr>
        </p:nvSpPr>
        <p:spPr/>
        <p:txBody>
          <a:bodyPr/>
          <a:lstStyle/>
          <a:p>
            <a:pPr eaLnBrk="1" hangingPunct="1"/>
            <a:r>
              <a:rPr lang="en-US" altLang="en-US" sz="3000" b="1"/>
              <a:t>4. Mảng trong C#</a:t>
            </a:r>
          </a:p>
        </p:txBody>
      </p:sp>
      <p:pic>
        <p:nvPicPr>
          <p:cNvPr id="362503" name="Picture 7">
            <a:extLst>
              <a:ext uri="{FF2B5EF4-FFF2-40B4-BE49-F238E27FC236}">
                <a16:creationId xmlns:a16="http://schemas.microsoft.com/office/drawing/2014/main" id="{4528EA35-1F24-C2DE-C1C8-8B35802FE4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14400"/>
            <a:ext cx="4343400" cy="5562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62504" name="Picture 8">
            <a:extLst>
              <a:ext uri="{FF2B5EF4-FFF2-40B4-BE49-F238E27FC236}">
                <a16:creationId xmlns:a16="http://schemas.microsoft.com/office/drawing/2014/main" id="{C425F5FE-256A-1264-E0AB-9473D8AFC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914400"/>
            <a:ext cx="3962400" cy="2895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62505" name="Picture 9">
            <a:extLst>
              <a:ext uri="{FF2B5EF4-FFF2-40B4-BE49-F238E27FC236}">
                <a16:creationId xmlns:a16="http://schemas.microsoft.com/office/drawing/2014/main" id="{76F1C0F2-E329-F04A-88C8-B1DDBA0DCF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3962400"/>
            <a:ext cx="2438400" cy="2438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2503"/>
                                        </p:tgtEl>
                                        <p:attrNameLst>
                                          <p:attrName>style.visibility</p:attrName>
                                        </p:attrNameLst>
                                      </p:cBhvr>
                                      <p:to>
                                        <p:strVal val="visible"/>
                                      </p:to>
                                    </p:set>
                                    <p:animEffect transition="in" filter="box(in)">
                                      <p:cBhvr>
                                        <p:cTn id="7" dur="1000"/>
                                        <p:tgtEl>
                                          <p:spTgt spid="3625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2504"/>
                                        </p:tgtEl>
                                        <p:attrNameLst>
                                          <p:attrName>style.visibility</p:attrName>
                                        </p:attrNameLst>
                                      </p:cBhvr>
                                      <p:to>
                                        <p:strVal val="visible"/>
                                      </p:to>
                                    </p:set>
                                    <p:animEffect transition="in" filter="box(in)">
                                      <p:cBhvr>
                                        <p:cTn id="12" dur="1000"/>
                                        <p:tgtEl>
                                          <p:spTgt spid="3625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2505"/>
                                        </p:tgtEl>
                                        <p:attrNameLst>
                                          <p:attrName>style.visibility</p:attrName>
                                        </p:attrNameLst>
                                      </p:cBhvr>
                                      <p:to>
                                        <p:strVal val="visible"/>
                                      </p:to>
                                    </p:set>
                                    <p:animEffect transition="in" filter="box(in)">
                                      <p:cBhvr>
                                        <p:cTn id="17" dur="1000"/>
                                        <p:tgtEl>
                                          <p:spTgt spid="362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DF602C2-7F6A-6D9D-6A7F-08080FF576F1}"/>
              </a:ext>
            </a:extLst>
          </p:cNvPr>
          <p:cNvSpPr>
            <a:spLocks noGrp="1" noChangeArrowheads="1"/>
          </p:cNvSpPr>
          <p:nvPr>
            <p:ph type="title"/>
          </p:nvPr>
        </p:nvSpPr>
        <p:spPr/>
        <p:txBody>
          <a:bodyPr/>
          <a:lstStyle/>
          <a:p>
            <a:pPr eaLnBrk="1" hangingPunct="1"/>
            <a:r>
              <a:rPr lang="en-US" altLang="en-US" sz="3000" b="1"/>
              <a:t>4. Mảng trong C#</a:t>
            </a:r>
          </a:p>
        </p:txBody>
      </p:sp>
      <p:sp>
        <p:nvSpPr>
          <p:cNvPr id="46083" name="Rectangle 4">
            <a:extLst>
              <a:ext uri="{FF2B5EF4-FFF2-40B4-BE49-F238E27FC236}">
                <a16:creationId xmlns:a16="http://schemas.microsoft.com/office/drawing/2014/main" id="{E69CD6CF-AA3A-DEEE-DC99-AC32CD59BAA9}"/>
              </a:ext>
            </a:extLst>
          </p:cNvPr>
          <p:cNvSpPr>
            <a:spLocks noChangeArrowheads="1"/>
          </p:cNvSpPr>
          <p:nvPr/>
        </p:nvSpPr>
        <p:spPr bwMode="auto">
          <a:xfrm>
            <a:off x="71438" y="787400"/>
            <a:ext cx="35004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Danh sách mảng</a:t>
            </a:r>
          </a:p>
        </p:txBody>
      </p:sp>
      <p:sp>
        <p:nvSpPr>
          <p:cNvPr id="370693" name="Rectangle 5">
            <a:extLst>
              <a:ext uri="{FF2B5EF4-FFF2-40B4-BE49-F238E27FC236}">
                <a16:creationId xmlns:a16="http://schemas.microsoft.com/office/drawing/2014/main" id="{DD3DE5A4-050C-77B0-C7DE-57451B1C3F49}"/>
              </a:ext>
            </a:extLst>
          </p:cNvPr>
          <p:cNvSpPr>
            <a:spLocks noChangeArrowheads="1"/>
          </p:cNvSpPr>
          <p:nvPr/>
        </p:nvSpPr>
        <p:spPr bwMode="auto">
          <a:xfrm>
            <a:off x="657225" y="1304925"/>
            <a:ext cx="84582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66"/>
                </a:solidFill>
                <a:effectLst/>
                <a:uLnTx/>
                <a:uFillTx/>
                <a:latin typeface="Verdana" panose="020B0604030504040204" pitchFamily="34" charset="0"/>
                <a:ea typeface="+mn-ea"/>
                <a:cs typeface="+mn-cs"/>
              </a:rPr>
              <a:t>Lớp ArrayList là một kiểu dữ liệu mảng mà kích thước của nó được gia tăng một cách động theo yêu cầu.</a:t>
            </a:r>
          </a:p>
        </p:txBody>
      </p:sp>
      <p:sp>
        <p:nvSpPr>
          <p:cNvPr id="370694" name="Rectangle 6">
            <a:extLst>
              <a:ext uri="{FF2B5EF4-FFF2-40B4-BE49-F238E27FC236}">
                <a16:creationId xmlns:a16="http://schemas.microsoft.com/office/drawing/2014/main" id="{E66E6C9D-7790-8913-A1A4-9954BAE8BB8E}"/>
              </a:ext>
            </a:extLst>
          </p:cNvPr>
          <p:cNvSpPr>
            <a:spLocks noChangeArrowheads="1"/>
          </p:cNvSpPr>
          <p:nvPr/>
        </p:nvSpPr>
        <p:spPr bwMode="auto">
          <a:xfrm>
            <a:off x="661988" y="2338388"/>
            <a:ext cx="8224837"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ArrayList cung cấp một số phương thức và những thuộc tính cho các thao tác liên quan đến mảng.</a:t>
            </a:r>
          </a:p>
        </p:txBody>
      </p:sp>
      <p:pic>
        <p:nvPicPr>
          <p:cNvPr id="370695" name="Picture 7">
            <a:extLst>
              <a:ext uri="{FF2B5EF4-FFF2-40B4-BE49-F238E27FC236}">
                <a16:creationId xmlns:a16="http://schemas.microsoft.com/office/drawing/2014/main" id="{68E99E21-203C-CCBA-F495-E3B182ACCB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505200"/>
            <a:ext cx="8077200" cy="2819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0693"/>
                                        </p:tgtEl>
                                        <p:attrNameLst>
                                          <p:attrName>style.visibility</p:attrName>
                                        </p:attrNameLst>
                                      </p:cBhvr>
                                      <p:to>
                                        <p:strVal val="visible"/>
                                      </p:to>
                                    </p:set>
                                    <p:animEffect transition="in" filter="box(in)">
                                      <p:cBhvr>
                                        <p:cTn id="7" dur="1000"/>
                                        <p:tgtEl>
                                          <p:spTgt spid="3706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0694"/>
                                        </p:tgtEl>
                                        <p:attrNameLst>
                                          <p:attrName>style.visibility</p:attrName>
                                        </p:attrNameLst>
                                      </p:cBhvr>
                                      <p:to>
                                        <p:strVal val="visible"/>
                                      </p:to>
                                    </p:set>
                                    <p:animEffect transition="in" filter="box(in)">
                                      <p:cBhvr>
                                        <p:cTn id="12" dur="1000"/>
                                        <p:tgtEl>
                                          <p:spTgt spid="3706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0695"/>
                                        </p:tgtEl>
                                        <p:attrNameLst>
                                          <p:attrName>style.visibility</p:attrName>
                                        </p:attrNameLst>
                                      </p:cBhvr>
                                      <p:to>
                                        <p:strVal val="visible"/>
                                      </p:to>
                                    </p:set>
                                    <p:animEffect transition="in" filter="box(in)">
                                      <p:cBhvr>
                                        <p:cTn id="17" dur="1000"/>
                                        <p:tgtEl>
                                          <p:spTgt spid="370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3" grpId="0"/>
      <p:bldP spid="370694"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A41BE38-F58C-CDB1-7AE9-2A235D5EB7BA}"/>
              </a:ext>
            </a:extLst>
          </p:cNvPr>
          <p:cNvSpPr>
            <a:spLocks noGrp="1" noChangeArrowheads="1"/>
          </p:cNvSpPr>
          <p:nvPr>
            <p:ph type="title"/>
          </p:nvPr>
        </p:nvSpPr>
        <p:spPr/>
        <p:txBody>
          <a:bodyPr/>
          <a:lstStyle/>
          <a:p>
            <a:pPr eaLnBrk="1" hangingPunct="1"/>
            <a:r>
              <a:rPr lang="en-US" altLang="en-US" sz="3000" b="1"/>
              <a:t>4. Mảng trong C#</a:t>
            </a:r>
          </a:p>
        </p:txBody>
      </p:sp>
      <p:pic>
        <p:nvPicPr>
          <p:cNvPr id="371716" name="Picture 4">
            <a:extLst>
              <a:ext uri="{FF2B5EF4-FFF2-40B4-BE49-F238E27FC236}">
                <a16:creationId xmlns:a16="http://schemas.microsoft.com/office/drawing/2014/main" id="{1A323839-3B82-C330-01FC-3A8215F257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14400"/>
            <a:ext cx="7620000" cy="5486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1716"/>
                                        </p:tgtEl>
                                        <p:attrNameLst>
                                          <p:attrName>style.visibility</p:attrName>
                                        </p:attrNameLst>
                                      </p:cBhvr>
                                      <p:to>
                                        <p:strVal val="visible"/>
                                      </p:to>
                                    </p:set>
                                    <p:animEffect transition="in" filter="box(in)">
                                      <p:cBhvr>
                                        <p:cTn id="7" dur="1000"/>
                                        <p:tgtEl>
                                          <p:spTgt spid="371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809BA43-13E5-8AE7-FC36-5D4C87242431}"/>
              </a:ext>
            </a:extLst>
          </p:cNvPr>
          <p:cNvSpPr>
            <a:spLocks noGrp="1" noChangeArrowheads="1"/>
          </p:cNvSpPr>
          <p:nvPr>
            <p:ph type="title"/>
          </p:nvPr>
        </p:nvSpPr>
        <p:spPr/>
        <p:txBody>
          <a:bodyPr/>
          <a:lstStyle/>
          <a:p>
            <a:pPr eaLnBrk="1" hangingPunct="1"/>
            <a:r>
              <a:rPr lang="en-US" altLang="en-US" sz="3000" b="1"/>
              <a:t>4. Mảng trong C#</a:t>
            </a:r>
          </a:p>
        </p:txBody>
      </p:sp>
      <p:pic>
        <p:nvPicPr>
          <p:cNvPr id="48131" name="Picture 4">
            <a:extLst>
              <a:ext uri="{FF2B5EF4-FFF2-40B4-BE49-F238E27FC236}">
                <a16:creationId xmlns:a16="http://schemas.microsoft.com/office/drawing/2014/main" id="{62160BF4-FA40-64CD-B8B9-C3190A0ECB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14400"/>
            <a:ext cx="7162800" cy="5486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1E39D71-0117-EEC4-B11D-6171A02D21C2}"/>
              </a:ext>
            </a:extLst>
          </p:cNvPr>
          <p:cNvSpPr>
            <a:spLocks noGrp="1" noChangeArrowheads="1"/>
          </p:cNvSpPr>
          <p:nvPr>
            <p:ph type="title"/>
          </p:nvPr>
        </p:nvSpPr>
        <p:spPr/>
        <p:txBody>
          <a:bodyPr/>
          <a:lstStyle/>
          <a:p>
            <a:pPr eaLnBrk="1" hangingPunct="1"/>
            <a:r>
              <a:rPr lang="en-US" altLang="en-US" sz="3000" b="1"/>
              <a:t>4. Mảng trong C#</a:t>
            </a:r>
          </a:p>
        </p:txBody>
      </p:sp>
      <p:pic>
        <p:nvPicPr>
          <p:cNvPr id="373764" name="Picture 4">
            <a:extLst>
              <a:ext uri="{FF2B5EF4-FFF2-40B4-BE49-F238E27FC236}">
                <a16:creationId xmlns:a16="http://schemas.microsoft.com/office/drawing/2014/main" id="{B43E6539-A2C7-4A73-4186-FC605D1779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90600"/>
            <a:ext cx="7010400" cy="54102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3764"/>
                                        </p:tgtEl>
                                        <p:attrNameLst>
                                          <p:attrName>style.visibility</p:attrName>
                                        </p:attrNameLst>
                                      </p:cBhvr>
                                      <p:to>
                                        <p:strVal val="visible"/>
                                      </p:to>
                                    </p:set>
                                    <p:animEffect transition="in" filter="box(in)">
                                      <p:cBhvr>
                                        <p:cTn id="7" dur="1000"/>
                                        <p:tgtEl>
                                          <p:spTgt spid="373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EAF6598-1A78-5D3E-55EA-5CB5B415B22F}"/>
              </a:ext>
            </a:extLst>
          </p:cNvPr>
          <p:cNvSpPr>
            <a:spLocks noGrp="1" noChangeArrowheads="1"/>
          </p:cNvSpPr>
          <p:nvPr>
            <p:ph type="title"/>
          </p:nvPr>
        </p:nvSpPr>
        <p:spPr/>
        <p:txBody>
          <a:bodyPr/>
          <a:lstStyle/>
          <a:p>
            <a:pPr eaLnBrk="1" hangingPunct="1"/>
            <a:r>
              <a:rPr lang="en-US" altLang="en-US" sz="3000" b="1"/>
              <a:t>4. Mảng trong C#</a:t>
            </a:r>
          </a:p>
        </p:txBody>
      </p:sp>
      <p:pic>
        <p:nvPicPr>
          <p:cNvPr id="374788" name="Picture 4">
            <a:extLst>
              <a:ext uri="{FF2B5EF4-FFF2-40B4-BE49-F238E27FC236}">
                <a16:creationId xmlns:a16="http://schemas.microsoft.com/office/drawing/2014/main" id="{C60D674B-14F4-FDB1-EFFE-9DCB1DDF9F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05000"/>
            <a:ext cx="7620000" cy="4419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74789" name="Text Box 5">
            <a:extLst>
              <a:ext uri="{FF2B5EF4-FFF2-40B4-BE49-F238E27FC236}">
                <a16:creationId xmlns:a16="http://schemas.microsoft.com/office/drawing/2014/main" id="{C3C3A10F-EEC6-6CDF-5224-470FF7ABE965}"/>
              </a:ext>
            </a:extLst>
          </p:cNvPr>
          <p:cNvSpPr txBox="1">
            <a:spLocks noChangeArrowheads="1"/>
          </p:cNvSpPr>
          <p:nvPr/>
        </p:nvSpPr>
        <p:spPr bwMode="auto">
          <a:xfrm>
            <a:off x="533400" y="838200"/>
            <a:ext cx="838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đối tượng Arraylist để tạo ra một danh sách mảng các phần tử</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4789"/>
                                        </p:tgtEl>
                                        <p:attrNameLst>
                                          <p:attrName>style.visibility</p:attrName>
                                        </p:attrNameLst>
                                      </p:cBhvr>
                                      <p:to>
                                        <p:strVal val="visible"/>
                                      </p:to>
                                    </p:set>
                                    <p:animEffect transition="in" filter="box(in)">
                                      <p:cBhvr>
                                        <p:cTn id="7" dur="1000"/>
                                        <p:tgtEl>
                                          <p:spTgt spid="3747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4788"/>
                                        </p:tgtEl>
                                        <p:attrNameLst>
                                          <p:attrName>style.visibility</p:attrName>
                                        </p:attrNameLst>
                                      </p:cBhvr>
                                      <p:to>
                                        <p:strVal val="visible"/>
                                      </p:to>
                                    </p:set>
                                    <p:animEffect transition="in" filter="box(in)">
                                      <p:cBhvr>
                                        <p:cTn id="12" dur="1000"/>
                                        <p:tgtEl>
                                          <p:spTgt spid="374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9"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919D3EB9-BC17-9F74-FB3A-79F00B9084CD}"/>
              </a:ext>
            </a:extLst>
          </p:cNvPr>
          <p:cNvSpPr>
            <a:spLocks noGrp="1" noChangeArrowheads="1"/>
          </p:cNvSpPr>
          <p:nvPr>
            <p:ph type="title"/>
          </p:nvPr>
        </p:nvSpPr>
        <p:spPr/>
        <p:txBody>
          <a:bodyPr/>
          <a:lstStyle/>
          <a:p>
            <a:pPr eaLnBrk="1" hangingPunct="1"/>
            <a:r>
              <a:rPr lang="en-US" altLang="en-US" sz="3000" b="1"/>
              <a:t>4. Mảng trong C#</a:t>
            </a:r>
          </a:p>
        </p:txBody>
      </p:sp>
      <p:sp>
        <p:nvSpPr>
          <p:cNvPr id="51203" name="Text Box 4">
            <a:extLst>
              <a:ext uri="{FF2B5EF4-FFF2-40B4-BE49-F238E27FC236}">
                <a16:creationId xmlns:a16="http://schemas.microsoft.com/office/drawing/2014/main" id="{8A6024DD-D58D-72C3-F925-C0E4A75CB1EB}"/>
              </a:ext>
            </a:extLst>
          </p:cNvPr>
          <p:cNvSpPr txBox="1">
            <a:spLocks noChangeArrowheads="1"/>
          </p:cNvSpPr>
          <p:nvPr/>
        </p:nvSpPr>
        <p:spPr bwMode="auto">
          <a:xfrm>
            <a:off x="219075" y="838200"/>
            <a:ext cx="129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Stack</a:t>
            </a:r>
          </a:p>
        </p:txBody>
      </p:sp>
      <p:pic>
        <p:nvPicPr>
          <p:cNvPr id="390149" name="Picture 5">
            <a:extLst>
              <a:ext uri="{FF2B5EF4-FFF2-40B4-BE49-F238E27FC236}">
                <a16:creationId xmlns:a16="http://schemas.microsoft.com/office/drawing/2014/main" id="{2B426F1C-C76A-9BE3-B091-F46D4AE060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125" y="1524000"/>
            <a:ext cx="8040688" cy="4833938"/>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0149"/>
                                        </p:tgtEl>
                                        <p:attrNameLst>
                                          <p:attrName>style.visibility</p:attrName>
                                        </p:attrNameLst>
                                      </p:cBhvr>
                                      <p:to>
                                        <p:strVal val="visible"/>
                                      </p:to>
                                    </p:set>
                                    <p:animEffect transition="in" filter="box(in)">
                                      <p:cBhvr>
                                        <p:cTn id="7" dur="1000"/>
                                        <p:tgtEl>
                                          <p:spTgt spid="390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14196EE-216C-2C5F-5896-B54127109D9A}"/>
              </a:ext>
            </a:extLst>
          </p:cNvPr>
          <p:cNvSpPr>
            <a:spLocks noGrp="1" noChangeArrowheads="1"/>
          </p:cNvSpPr>
          <p:nvPr>
            <p:ph type="title"/>
          </p:nvPr>
        </p:nvSpPr>
        <p:spPr/>
        <p:txBody>
          <a:bodyPr/>
          <a:lstStyle/>
          <a:p>
            <a:pPr eaLnBrk="1" hangingPunct="1"/>
            <a:r>
              <a:rPr lang="en-US" altLang="en-US" sz="3000" b="1"/>
              <a:t>4. Mảng trong C#</a:t>
            </a:r>
          </a:p>
        </p:txBody>
      </p:sp>
      <p:sp>
        <p:nvSpPr>
          <p:cNvPr id="52227" name="Text Box 4">
            <a:extLst>
              <a:ext uri="{FF2B5EF4-FFF2-40B4-BE49-F238E27FC236}">
                <a16:creationId xmlns:a16="http://schemas.microsoft.com/office/drawing/2014/main" id="{29F5DBAD-F59E-951D-F944-C93B122F9024}"/>
              </a:ext>
            </a:extLst>
          </p:cNvPr>
          <p:cNvSpPr txBox="1">
            <a:spLocks noChangeArrowheads="1"/>
          </p:cNvSpPr>
          <p:nvPr/>
        </p:nvSpPr>
        <p:spPr bwMode="auto">
          <a:xfrm>
            <a:off x="219075" y="838200"/>
            <a:ext cx="1609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Queue</a:t>
            </a:r>
          </a:p>
        </p:txBody>
      </p:sp>
      <p:pic>
        <p:nvPicPr>
          <p:cNvPr id="391173" name="Picture 5">
            <a:extLst>
              <a:ext uri="{FF2B5EF4-FFF2-40B4-BE49-F238E27FC236}">
                <a16:creationId xmlns:a16="http://schemas.microsoft.com/office/drawing/2014/main" id="{C6950E99-67D4-52E1-9A60-8DFCE63911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524000"/>
            <a:ext cx="7772400" cy="4876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1173"/>
                                        </p:tgtEl>
                                        <p:attrNameLst>
                                          <p:attrName>style.visibility</p:attrName>
                                        </p:attrNameLst>
                                      </p:cBhvr>
                                      <p:to>
                                        <p:strVal val="visible"/>
                                      </p:to>
                                    </p:set>
                                    <p:animEffect transition="in" filter="box(in)">
                                      <p:cBhvr>
                                        <p:cTn id="7" dur="1000"/>
                                        <p:tgtEl>
                                          <p:spTgt spid="391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E58BA45-2081-36E7-C389-9FCDEAF1DD01}"/>
              </a:ext>
            </a:extLst>
          </p:cNvPr>
          <p:cNvSpPr>
            <a:spLocks noGrp="1" noChangeArrowheads="1"/>
          </p:cNvSpPr>
          <p:nvPr>
            <p:ph type="title"/>
          </p:nvPr>
        </p:nvSpPr>
        <p:spPr/>
        <p:txBody>
          <a:bodyPr/>
          <a:lstStyle/>
          <a:p>
            <a:pPr eaLnBrk="1" hangingPunct="1"/>
            <a:r>
              <a:rPr lang="en-US" altLang="en-US" sz="3000" b="1"/>
              <a:t>4. Mảng trong C#</a:t>
            </a:r>
          </a:p>
        </p:txBody>
      </p:sp>
      <p:sp>
        <p:nvSpPr>
          <p:cNvPr id="53251" name="Rectangle 4">
            <a:extLst>
              <a:ext uri="{FF2B5EF4-FFF2-40B4-BE49-F238E27FC236}">
                <a16:creationId xmlns:a16="http://schemas.microsoft.com/office/drawing/2014/main" id="{9A12E700-4CB1-20EE-507D-E98B6B86462C}"/>
              </a:ext>
            </a:extLst>
          </p:cNvPr>
          <p:cNvSpPr>
            <a:spLocks noChangeArrowheads="1"/>
          </p:cNvSpPr>
          <p:nvPr/>
        </p:nvSpPr>
        <p:spPr bwMode="auto">
          <a:xfrm>
            <a:off x="180975" y="815975"/>
            <a:ext cx="2603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Kiểu từ điển</a:t>
            </a:r>
          </a:p>
        </p:txBody>
      </p:sp>
      <p:sp>
        <p:nvSpPr>
          <p:cNvPr id="392197" name="Rectangle 5">
            <a:extLst>
              <a:ext uri="{FF2B5EF4-FFF2-40B4-BE49-F238E27FC236}">
                <a16:creationId xmlns:a16="http://schemas.microsoft.com/office/drawing/2014/main" id="{05DE6086-07B1-C9CE-6DD2-7AB3086A52E5}"/>
              </a:ext>
            </a:extLst>
          </p:cNvPr>
          <p:cNvSpPr>
            <a:spLocks noChangeArrowheads="1"/>
          </p:cNvSpPr>
          <p:nvPr/>
        </p:nvSpPr>
        <p:spPr bwMode="auto">
          <a:xfrm>
            <a:off x="609600" y="1295400"/>
            <a:ext cx="83058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Từ điển là kiểu tập hợp trong đó có hai thành phần chính liên hệ với nhau là khóa và giá trị.</a:t>
            </a:r>
          </a:p>
        </p:txBody>
      </p:sp>
      <p:sp>
        <p:nvSpPr>
          <p:cNvPr id="392198" name="Rectangle 6">
            <a:extLst>
              <a:ext uri="{FF2B5EF4-FFF2-40B4-BE49-F238E27FC236}">
                <a16:creationId xmlns:a16="http://schemas.microsoft.com/office/drawing/2014/main" id="{0FF05C5B-AB79-C436-9D03-2956EA582095}"/>
              </a:ext>
            </a:extLst>
          </p:cNvPr>
          <p:cNvSpPr>
            <a:spLocks noChangeArrowheads="1"/>
          </p:cNvSpPr>
          <p:nvPr/>
        </p:nvSpPr>
        <p:spPr bwMode="auto">
          <a:xfrm>
            <a:off x="638175" y="2314575"/>
            <a:ext cx="8620125"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Thuộc tính quan trọng của một từ điển tốt là dễ thêm giá trị mới vào, và nhanh chóng truy cập đến giá trị. Một vài từ điển thì nhanh hơn về thời gian thêm một giá trị mới vào, một số khác thì tối ưu cho việc truy cập.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Một trong minh họa cho kiểu từ điển là kiểu dữ liệu hashtable hay còn gọi là bảng băm.</a:t>
            </a:r>
          </a:p>
        </p:txBody>
      </p:sp>
      <p:sp>
        <p:nvSpPr>
          <p:cNvPr id="392199" name="Rectangle 7">
            <a:extLst>
              <a:ext uri="{FF2B5EF4-FFF2-40B4-BE49-F238E27FC236}">
                <a16:creationId xmlns:a16="http://schemas.microsoft.com/office/drawing/2014/main" id="{EF3F0FEE-2229-D515-CAC6-DABB3C70FD7C}"/>
              </a:ext>
            </a:extLst>
          </p:cNvPr>
          <p:cNvSpPr>
            <a:spLocks noChangeArrowheads="1"/>
          </p:cNvSpPr>
          <p:nvPr/>
        </p:nvSpPr>
        <p:spPr bwMode="auto">
          <a:xfrm>
            <a:off x="633413" y="5019675"/>
            <a:ext cx="8510587"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Hashtable là một kiểu từ điển được tối ưu cho việc truy cập được nhanh. Một số các phương thức chính và các thuộc tính của kiểu dữ liệu Hashtable</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2197">
                                            <p:txEl>
                                              <p:pRg st="0" end="0"/>
                                            </p:txEl>
                                          </p:spTgt>
                                        </p:tgtEl>
                                        <p:attrNameLst>
                                          <p:attrName>style.visibility</p:attrName>
                                        </p:attrNameLst>
                                      </p:cBhvr>
                                      <p:to>
                                        <p:strVal val="visible"/>
                                      </p:to>
                                    </p:set>
                                    <p:animEffect transition="in" filter="box(in)">
                                      <p:cBhvr>
                                        <p:cTn id="7" dur="1000"/>
                                        <p:tgtEl>
                                          <p:spTgt spid="39219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2198"/>
                                        </p:tgtEl>
                                        <p:attrNameLst>
                                          <p:attrName>style.visibility</p:attrName>
                                        </p:attrNameLst>
                                      </p:cBhvr>
                                      <p:to>
                                        <p:strVal val="visible"/>
                                      </p:to>
                                    </p:set>
                                    <p:animEffect transition="in" filter="box(in)">
                                      <p:cBhvr>
                                        <p:cTn id="12" dur="1000"/>
                                        <p:tgtEl>
                                          <p:spTgt spid="3921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2199">
                                            <p:txEl>
                                              <p:pRg st="0" end="0"/>
                                            </p:txEl>
                                          </p:spTgt>
                                        </p:tgtEl>
                                        <p:attrNameLst>
                                          <p:attrName>style.visibility</p:attrName>
                                        </p:attrNameLst>
                                      </p:cBhvr>
                                      <p:to>
                                        <p:strVal val="visible"/>
                                      </p:to>
                                    </p:set>
                                    <p:animEffect transition="in" filter="box(in)">
                                      <p:cBhvr>
                                        <p:cTn id="17" dur="1000"/>
                                        <p:tgtEl>
                                          <p:spTgt spid="3921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8"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76EA3560-D86E-16C9-C084-4483CDD66300}"/>
              </a:ext>
            </a:extLst>
          </p:cNvPr>
          <p:cNvSpPr>
            <a:spLocks noGrp="1" noChangeArrowheads="1"/>
          </p:cNvSpPr>
          <p:nvPr>
            <p:ph type="title"/>
          </p:nvPr>
        </p:nvSpPr>
        <p:spPr/>
        <p:txBody>
          <a:bodyPr/>
          <a:lstStyle/>
          <a:p>
            <a:pPr eaLnBrk="1" hangingPunct="1"/>
            <a:r>
              <a:rPr lang="en-US" altLang="en-US" sz="3000" b="1"/>
              <a:t>4. Mảng trong C#</a:t>
            </a:r>
          </a:p>
        </p:txBody>
      </p:sp>
      <p:pic>
        <p:nvPicPr>
          <p:cNvPr id="393223" name="Picture 7">
            <a:extLst>
              <a:ext uri="{FF2B5EF4-FFF2-40B4-BE49-F238E27FC236}">
                <a16:creationId xmlns:a16="http://schemas.microsoft.com/office/drawing/2014/main" id="{6F37A882-2972-04D5-C20C-608CD63F9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8" y="838200"/>
            <a:ext cx="8348662" cy="5638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3223"/>
                                        </p:tgtEl>
                                        <p:attrNameLst>
                                          <p:attrName>style.visibility</p:attrName>
                                        </p:attrNameLst>
                                      </p:cBhvr>
                                      <p:to>
                                        <p:strVal val="visible"/>
                                      </p:to>
                                    </p:set>
                                    <p:animEffect transition="in" filter="box(in)">
                                      <p:cBhvr>
                                        <p:cTn id="7" dur="1000"/>
                                        <p:tgtEl>
                                          <p:spTgt spid="393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791AFD4B-8995-7BA2-60DF-A6CFB77BE6F9}"/>
              </a:ext>
            </a:extLst>
          </p:cNvPr>
          <p:cNvSpPr>
            <a:spLocks noGrp="1" noChangeArrowheads="1"/>
          </p:cNvSpPr>
          <p:nvPr>
            <p:ph type="title"/>
          </p:nvPr>
        </p:nvSpPr>
        <p:spPr/>
        <p:txBody>
          <a:bodyPr/>
          <a:lstStyle/>
          <a:p>
            <a:pPr eaLnBrk="1" hangingPunct="1"/>
            <a:r>
              <a:rPr lang="en-US" altLang="en-US" sz="3000" b="1"/>
              <a:t>4. Mảng trong C#</a:t>
            </a:r>
          </a:p>
        </p:txBody>
      </p:sp>
      <p:sp>
        <p:nvSpPr>
          <p:cNvPr id="394244" name="Rectangle 4">
            <a:extLst>
              <a:ext uri="{FF2B5EF4-FFF2-40B4-BE49-F238E27FC236}">
                <a16:creationId xmlns:a16="http://schemas.microsoft.com/office/drawing/2014/main" id="{BE427334-0240-7D9E-9FFE-731C0943C4FE}"/>
              </a:ext>
            </a:extLst>
          </p:cNvPr>
          <p:cNvSpPr>
            <a:spLocks noChangeArrowheads="1"/>
          </p:cNvSpPr>
          <p:nvPr/>
        </p:nvSpPr>
        <p:spPr bwMode="auto">
          <a:xfrm>
            <a:off x="304800" y="914400"/>
            <a:ext cx="86868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Trong một Hashtable, mỗi giá trị được lưu trữ trong một vùng. Mỗi vùng được đánh số tương tự như là từng offset trong mảng. Do khóa có thể không phải là số nguyên, nên phải chuyển các khóa thành các khóa số để ánh xạ đến vùng giá trị được đánh số.</a:t>
            </a:r>
          </a:p>
        </p:txBody>
      </p:sp>
      <p:sp>
        <p:nvSpPr>
          <p:cNvPr id="394245" name="Rectangle 5">
            <a:extLst>
              <a:ext uri="{FF2B5EF4-FFF2-40B4-BE49-F238E27FC236}">
                <a16:creationId xmlns:a16="http://schemas.microsoft.com/office/drawing/2014/main" id="{A131E961-69D5-E018-EE07-E7DF31A1ACC4}"/>
              </a:ext>
            </a:extLst>
          </p:cNvPr>
          <p:cNvSpPr>
            <a:spLocks noChangeArrowheads="1"/>
          </p:cNvSpPr>
          <p:nvPr/>
        </p:nvSpPr>
        <p:spPr bwMode="auto">
          <a:xfrm>
            <a:off x="323850" y="3224213"/>
            <a:ext cx="87630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Mỗi khóa phải cung cấp phương thức GetHashCode() để nhận giá trị mã hóa thành số của nó</a:t>
            </a:r>
          </a:p>
        </p:txBody>
      </p:sp>
      <p:sp>
        <p:nvSpPr>
          <p:cNvPr id="394246" name="Rectangle 6">
            <a:extLst>
              <a:ext uri="{FF2B5EF4-FFF2-40B4-BE49-F238E27FC236}">
                <a16:creationId xmlns:a16="http://schemas.microsoft.com/office/drawing/2014/main" id="{92613912-9D88-F1FF-C232-80AB482522AD}"/>
              </a:ext>
            </a:extLst>
          </p:cNvPr>
          <p:cNvSpPr>
            <a:spLocks noChangeArrowheads="1"/>
          </p:cNvSpPr>
          <p:nvPr/>
        </p:nvSpPr>
        <p:spPr bwMode="auto">
          <a:xfrm>
            <a:off x="352425" y="4281488"/>
            <a:ext cx="87630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D60093"/>
                </a:solidFill>
                <a:effectLst/>
                <a:uLnTx/>
                <a:uFillTx/>
                <a:latin typeface="Verdana" panose="020B0604030504040204" pitchFamily="34" charset="0"/>
                <a:ea typeface="+mn-ea"/>
                <a:cs typeface="+mn-cs"/>
              </a:rPr>
              <a:t>Thêm giá trị vào Hashtable thì Hashtable sẽ gọi phương thức GetHashCode() cho mỗi giá trị mà chúng ta cung cấp. Phương thức này trả về một số nguyên, xác định vùng mà giá trị được lưu trữ trong hashtable</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4244"/>
                                        </p:tgtEl>
                                        <p:attrNameLst>
                                          <p:attrName>style.visibility</p:attrName>
                                        </p:attrNameLst>
                                      </p:cBhvr>
                                      <p:to>
                                        <p:strVal val="visible"/>
                                      </p:to>
                                    </p:set>
                                    <p:animEffect transition="in" filter="box(in)">
                                      <p:cBhvr>
                                        <p:cTn id="7" dur="1000"/>
                                        <p:tgtEl>
                                          <p:spTgt spid="3942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4245"/>
                                        </p:tgtEl>
                                        <p:attrNameLst>
                                          <p:attrName>style.visibility</p:attrName>
                                        </p:attrNameLst>
                                      </p:cBhvr>
                                      <p:to>
                                        <p:strVal val="visible"/>
                                      </p:to>
                                    </p:set>
                                    <p:animEffect transition="in" filter="box(in)">
                                      <p:cBhvr>
                                        <p:cTn id="12" dur="1000"/>
                                        <p:tgtEl>
                                          <p:spTgt spid="3942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4246"/>
                                        </p:tgtEl>
                                        <p:attrNameLst>
                                          <p:attrName>style.visibility</p:attrName>
                                        </p:attrNameLst>
                                      </p:cBhvr>
                                      <p:to>
                                        <p:strVal val="visible"/>
                                      </p:to>
                                    </p:set>
                                    <p:animEffect transition="in" filter="box(in)">
                                      <p:cBhvr>
                                        <p:cTn id="17" dur="1000"/>
                                        <p:tgtEl>
                                          <p:spTgt spid="394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4" grpId="0"/>
      <p:bldP spid="394245" grpId="0"/>
      <p:bldP spid="394246"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E2ACC90C-9CCE-AABD-64B6-99CE76D6C9E4}"/>
              </a:ext>
            </a:extLst>
          </p:cNvPr>
          <p:cNvSpPr>
            <a:spLocks noGrp="1" noChangeArrowheads="1"/>
          </p:cNvSpPr>
          <p:nvPr>
            <p:ph type="title"/>
          </p:nvPr>
        </p:nvSpPr>
        <p:spPr/>
        <p:txBody>
          <a:bodyPr/>
          <a:lstStyle/>
          <a:p>
            <a:pPr eaLnBrk="1" hangingPunct="1"/>
            <a:r>
              <a:rPr lang="en-US" altLang="en-US" sz="3000" b="1"/>
              <a:t>4. Mảng trong C#</a:t>
            </a:r>
          </a:p>
        </p:txBody>
      </p:sp>
      <p:sp>
        <p:nvSpPr>
          <p:cNvPr id="56323" name="Rectangle 4">
            <a:extLst>
              <a:ext uri="{FF2B5EF4-FFF2-40B4-BE49-F238E27FC236}">
                <a16:creationId xmlns:a16="http://schemas.microsoft.com/office/drawing/2014/main" id="{B65A6CD9-4FC8-1C37-A0A6-65F10D8E314B}"/>
              </a:ext>
            </a:extLst>
          </p:cNvPr>
          <p:cNvSpPr>
            <a:spLocks noChangeArrowheads="1"/>
          </p:cNvSpPr>
          <p:nvPr/>
        </p:nvSpPr>
        <p:spPr bwMode="auto">
          <a:xfrm>
            <a:off x="128588" y="787400"/>
            <a:ext cx="44338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Giao diện IDictionary</a:t>
            </a:r>
          </a:p>
        </p:txBody>
      </p:sp>
      <p:sp>
        <p:nvSpPr>
          <p:cNvPr id="395269" name="Rectangle 5">
            <a:extLst>
              <a:ext uri="{FF2B5EF4-FFF2-40B4-BE49-F238E27FC236}">
                <a16:creationId xmlns:a16="http://schemas.microsoft.com/office/drawing/2014/main" id="{5A2F7A24-1296-3B87-914A-F49E178E40D8}"/>
              </a:ext>
            </a:extLst>
          </p:cNvPr>
          <p:cNvSpPr>
            <a:spLocks noChangeArrowheads="1"/>
          </p:cNvSpPr>
          <p:nvPr/>
        </p:nvSpPr>
        <p:spPr bwMode="auto">
          <a:xfrm>
            <a:off x="452438" y="1381125"/>
            <a:ext cx="8920162"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Hashtable là một từ điển vì nó thực thi giao diện IDictionary. IDictionary cung cấp một thuộc tính public là Item. Thuộc tính Item truy cập một giá trị thông qua một khóa xác định.</a:t>
            </a:r>
          </a:p>
        </p:txBody>
      </p:sp>
      <p:sp>
        <p:nvSpPr>
          <p:cNvPr id="395270" name="Rectangle 6">
            <a:extLst>
              <a:ext uri="{FF2B5EF4-FFF2-40B4-BE49-F238E27FC236}">
                <a16:creationId xmlns:a16="http://schemas.microsoft.com/office/drawing/2014/main" id="{1AC99A3F-C8D1-7DFE-FD9E-E3F53149E9F9}"/>
              </a:ext>
            </a:extLst>
          </p:cNvPr>
          <p:cNvSpPr>
            <a:spLocks noChangeArrowheads="1"/>
          </p:cNvSpPr>
          <p:nvPr/>
        </p:nvSpPr>
        <p:spPr bwMode="auto">
          <a:xfrm>
            <a:off x="461963" y="2981325"/>
            <a:ext cx="6238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Thuộc tính Item được khai báo như sau</a:t>
            </a:r>
          </a:p>
        </p:txBody>
      </p:sp>
      <p:pic>
        <p:nvPicPr>
          <p:cNvPr id="395271" name="Picture 7">
            <a:extLst>
              <a:ext uri="{FF2B5EF4-FFF2-40B4-BE49-F238E27FC236}">
                <a16:creationId xmlns:a16="http://schemas.microsoft.com/office/drawing/2014/main" id="{E60E99D1-3E56-00A7-67E2-2411361E90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3486150"/>
            <a:ext cx="3505200" cy="12954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395272" name="Rectangle 8">
            <a:extLst>
              <a:ext uri="{FF2B5EF4-FFF2-40B4-BE49-F238E27FC236}">
                <a16:creationId xmlns:a16="http://schemas.microsoft.com/office/drawing/2014/main" id="{C219428F-393A-2593-DC1F-42708C8C7D8E}"/>
              </a:ext>
            </a:extLst>
          </p:cNvPr>
          <p:cNvSpPr>
            <a:spLocks noChangeArrowheads="1"/>
          </p:cNvSpPr>
          <p:nvPr/>
        </p:nvSpPr>
        <p:spPr bwMode="auto">
          <a:xfrm>
            <a:off x="538163" y="4895850"/>
            <a:ext cx="85344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Thuộc tính Item được thực thi trong ngôn ngữ C# với toán tử chỉ mục ([]). Do vậy chúng ta có thể truy cập những item trong bất cứ đối tượng từ điển bằng cú pháp giống như truy cập mảng.</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5269"/>
                                        </p:tgtEl>
                                        <p:attrNameLst>
                                          <p:attrName>style.visibility</p:attrName>
                                        </p:attrNameLst>
                                      </p:cBhvr>
                                      <p:to>
                                        <p:strVal val="visible"/>
                                      </p:to>
                                    </p:set>
                                    <p:animEffect transition="in" filter="box(in)">
                                      <p:cBhvr>
                                        <p:cTn id="7" dur="1000"/>
                                        <p:tgtEl>
                                          <p:spTgt spid="3952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5270"/>
                                        </p:tgtEl>
                                        <p:attrNameLst>
                                          <p:attrName>style.visibility</p:attrName>
                                        </p:attrNameLst>
                                      </p:cBhvr>
                                      <p:to>
                                        <p:strVal val="visible"/>
                                      </p:to>
                                    </p:set>
                                    <p:animEffect transition="in" filter="box(in)">
                                      <p:cBhvr>
                                        <p:cTn id="12" dur="1000"/>
                                        <p:tgtEl>
                                          <p:spTgt spid="3952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5271"/>
                                        </p:tgtEl>
                                        <p:attrNameLst>
                                          <p:attrName>style.visibility</p:attrName>
                                        </p:attrNameLst>
                                      </p:cBhvr>
                                      <p:to>
                                        <p:strVal val="visible"/>
                                      </p:to>
                                    </p:set>
                                    <p:animEffect transition="in" filter="box(in)">
                                      <p:cBhvr>
                                        <p:cTn id="17" dur="1000"/>
                                        <p:tgtEl>
                                          <p:spTgt spid="3952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95272">
                                            <p:txEl>
                                              <p:pRg st="0" end="0"/>
                                            </p:txEl>
                                          </p:spTgt>
                                        </p:tgtEl>
                                        <p:attrNameLst>
                                          <p:attrName>style.visibility</p:attrName>
                                        </p:attrNameLst>
                                      </p:cBhvr>
                                      <p:to>
                                        <p:strVal val="visible"/>
                                      </p:to>
                                    </p:set>
                                    <p:animEffect transition="in" filter="box(in)">
                                      <p:cBhvr>
                                        <p:cTn id="22" dur="1000"/>
                                        <p:tgtEl>
                                          <p:spTgt spid="3952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9" grpId="0"/>
      <p:bldP spid="395270"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F2C274B-24CF-00EE-A8AA-697CAC867E16}"/>
              </a:ext>
            </a:extLst>
          </p:cNvPr>
          <p:cNvSpPr>
            <a:spLocks noGrp="1" noChangeArrowheads="1"/>
          </p:cNvSpPr>
          <p:nvPr>
            <p:ph type="title"/>
          </p:nvPr>
        </p:nvSpPr>
        <p:spPr/>
        <p:txBody>
          <a:bodyPr/>
          <a:lstStyle/>
          <a:p>
            <a:pPr eaLnBrk="1" hangingPunct="1"/>
            <a:r>
              <a:rPr lang="en-US" altLang="en-US" sz="3000" b="1"/>
              <a:t>4. Mảng trong C#</a:t>
            </a:r>
          </a:p>
        </p:txBody>
      </p:sp>
      <p:sp>
        <p:nvSpPr>
          <p:cNvPr id="396292" name="Rectangle 4">
            <a:extLst>
              <a:ext uri="{FF2B5EF4-FFF2-40B4-BE49-F238E27FC236}">
                <a16:creationId xmlns:a16="http://schemas.microsoft.com/office/drawing/2014/main" id="{542815E7-E5D9-BE6E-ED06-543B52BC306C}"/>
              </a:ext>
            </a:extLst>
          </p:cNvPr>
          <p:cNvSpPr>
            <a:spLocks noChangeArrowheads="1"/>
          </p:cNvSpPr>
          <p:nvPr/>
        </p:nvSpPr>
        <p:spPr bwMode="auto">
          <a:xfrm>
            <a:off x="381000" y="914400"/>
            <a:ext cx="8458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vd: Thêm một item vào trong bảng Hashtable và sau đó truy cập lại chúng thông qua thuộc tính Item.</a:t>
            </a:r>
          </a:p>
        </p:txBody>
      </p:sp>
      <p:pic>
        <p:nvPicPr>
          <p:cNvPr id="396294" name="Picture 6">
            <a:extLst>
              <a:ext uri="{FF2B5EF4-FFF2-40B4-BE49-F238E27FC236}">
                <a16:creationId xmlns:a16="http://schemas.microsoft.com/office/drawing/2014/main" id="{987BB25A-A89E-01C4-871A-8D93C93DF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981200"/>
            <a:ext cx="7848600" cy="4419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6292"/>
                                        </p:tgtEl>
                                        <p:attrNameLst>
                                          <p:attrName>style.visibility</p:attrName>
                                        </p:attrNameLst>
                                      </p:cBhvr>
                                      <p:to>
                                        <p:strVal val="visible"/>
                                      </p:to>
                                    </p:set>
                                    <p:animEffect transition="in" filter="box(in)">
                                      <p:cBhvr>
                                        <p:cTn id="7" dur="1000"/>
                                        <p:tgtEl>
                                          <p:spTgt spid="3962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6294"/>
                                        </p:tgtEl>
                                        <p:attrNameLst>
                                          <p:attrName>style.visibility</p:attrName>
                                        </p:attrNameLst>
                                      </p:cBhvr>
                                      <p:to>
                                        <p:strVal val="visible"/>
                                      </p:to>
                                    </p:set>
                                    <p:animEffect transition="in" filter="box(in)">
                                      <p:cBhvr>
                                        <p:cTn id="12" dur="1000"/>
                                        <p:tgtEl>
                                          <p:spTgt spid="396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2"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6CB9C89-195D-8C51-56F3-DF6D2CE2D620}"/>
              </a:ext>
            </a:extLst>
          </p:cNvPr>
          <p:cNvSpPr>
            <a:spLocks noGrp="1" noChangeArrowheads="1"/>
          </p:cNvSpPr>
          <p:nvPr>
            <p:ph type="title"/>
          </p:nvPr>
        </p:nvSpPr>
        <p:spPr/>
        <p:txBody>
          <a:bodyPr/>
          <a:lstStyle/>
          <a:p>
            <a:pPr eaLnBrk="1" hangingPunct="1"/>
            <a:r>
              <a:rPr lang="en-US" altLang="en-US" sz="3000" b="1"/>
              <a:t>4. Mảng trong C#</a:t>
            </a:r>
          </a:p>
        </p:txBody>
      </p:sp>
      <p:sp>
        <p:nvSpPr>
          <p:cNvPr id="58371" name="Rectangle 4">
            <a:extLst>
              <a:ext uri="{FF2B5EF4-FFF2-40B4-BE49-F238E27FC236}">
                <a16:creationId xmlns:a16="http://schemas.microsoft.com/office/drawing/2014/main" id="{A2205D65-0363-513A-E1FB-A9899EC9FE66}"/>
              </a:ext>
            </a:extLst>
          </p:cNvPr>
          <p:cNvSpPr>
            <a:spLocks noChangeArrowheads="1"/>
          </p:cNvSpPr>
          <p:nvPr/>
        </p:nvSpPr>
        <p:spPr bwMode="auto">
          <a:xfrm>
            <a:off x="61913" y="787400"/>
            <a:ext cx="46878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Tập khóa và tập giá trị</a:t>
            </a:r>
          </a:p>
        </p:txBody>
      </p:sp>
      <p:sp>
        <p:nvSpPr>
          <p:cNvPr id="397317" name="Rectangle 5">
            <a:extLst>
              <a:ext uri="{FF2B5EF4-FFF2-40B4-BE49-F238E27FC236}">
                <a16:creationId xmlns:a16="http://schemas.microsoft.com/office/drawing/2014/main" id="{CF12F870-0687-008B-892D-0CD1FBEA5EEE}"/>
              </a:ext>
            </a:extLst>
          </p:cNvPr>
          <p:cNvSpPr>
            <a:spLocks noChangeArrowheads="1"/>
          </p:cNvSpPr>
          <p:nvPr/>
        </p:nvSpPr>
        <p:spPr bwMode="auto">
          <a:xfrm>
            <a:off x="371475" y="1333500"/>
            <a:ext cx="890111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Hai thuộc tính là thuộc tính Keys, và thuộc tính Values. Trong đó Keys truy cập đối tượng ICollection với tất cả những khóa trong Hashtable, và Values truy cập đối tượng ICollection với tất cả giá trị.</a:t>
            </a:r>
          </a:p>
        </p:txBody>
      </p:sp>
      <p:pic>
        <p:nvPicPr>
          <p:cNvPr id="397319" name="Picture 7">
            <a:extLst>
              <a:ext uri="{FF2B5EF4-FFF2-40B4-BE49-F238E27FC236}">
                <a16:creationId xmlns:a16="http://schemas.microsoft.com/office/drawing/2014/main" id="{6C50BD6C-825B-0EB1-270F-4E7BFF2008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048000"/>
            <a:ext cx="4267200" cy="3352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397320" name="Picture 8">
            <a:extLst>
              <a:ext uri="{FF2B5EF4-FFF2-40B4-BE49-F238E27FC236}">
                <a16:creationId xmlns:a16="http://schemas.microsoft.com/office/drawing/2014/main" id="{E85E9031-E3CE-D68A-4889-FE1822741B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9663" y="3048000"/>
            <a:ext cx="4038600" cy="3352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7317"/>
                                        </p:tgtEl>
                                        <p:attrNameLst>
                                          <p:attrName>style.visibility</p:attrName>
                                        </p:attrNameLst>
                                      </p:cBhvr>
                                      <p:to>
                                        <p:strVal val="visible"/>
                                      </p:to>
                                    </p:set>
                                    <p:animEffect transition="in" filter="box(in)">
                                      <p:cBhvr>
                                        <p:cTn id="7" dur="1000"/>
                                        <p:tgtEl>
                                          <p:spTgt spid="3973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7319"/>
                                        </p:tgtEl>
                                        <p:attrNameLst>
                                          <p:attrName>style.visibility</p:attrName>
                                        </p:attrNameLst>
                                      </p:cBhvr>
                                      <p:to>
                                        <p:strVal val="visible"/>
                                      </p:to>
                                    </p:set>
                                    <p:animEffect transition="in" filter="box(in)">
                                      <p:cBhvr>
                                        <p:cTn id="12" dur="1000"/>
                                        <p:tgtEl>
                                          <p:spTgt spid="3973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7320"/>
                                        </p:tgtEl>
                                        <p:attrNameLst>
                                          <p:attrName>style.visibility</p:attrName>
                                        </p:attrNameLst>
                                      </p:cBhvr>
                                      <p:to>
                                        <p:strVal val="visible"/>
                                      </p:to>
                                    </p:set>
                                    <p:animEffect transition="in" filter="box(in)">
                                      <p:cBhvr>
                                        <p:cTn id="17" dur="1000"/>
                                        <p:tgtEl>
                                          <p:spTgt spid="397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7"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3CEF60D-BF3E-0986-7E98-1A8D3C96C2E1}"/>
              </a:ext>
            </a:extLst>
          </p:cNvPr>
          <p:cNvSpPr>
            <a:spLocks noGrp="1" noChangeArrowheads="1"/>
          </p:cNvSpPr>
          <p:nvPr>
            <p:ph type="title"/>
          </p:nvPr>
        </p:nvSpPr>
        <p:spPr/>
        <p:txBody>
          <a:bodyPr/>
          <a:lstStyle/>
          <a:p>
            <a:pPr eaLnBrk="1" hangingPunct="1"/>
            <a:r>
              <a:rPr lang="en-US" altLang="en-US" sz="3000" b="1"/>
              <a:t>4. Mảng trong C#</a:t>
            </a:r>
          </a:p>
        </p:txBody>
      </p:sp>
      <p:sp>
        <p:nvSpPr>
          <p:cNvPr id="59395" name="Text Box 4">
            <a:extLst>
              <a:ext uri="{FF2B5EF4-FFF2-40B4-BE49-F238E27FC236}">
                <a16:creationId xmlns:a16="http://schemas.microsoft.com/office/drawing/2014/main" id="{C4AFA10F-3880-8E92-C207-FA5C5EC16F94}"/>
              </a:ext>
            </a:extLst>
          </p:cNvPr>
          <p:cNvSpPr txBox="1">
            <a:spLocks noChangeArrowheads="1"/>
          </p:cNvSpPr>
          <p:nvPr/>
        </p:nvSpPr>
        <p:spPr bwMode="auto">
          <a:xfrm>
            <a:off x="304800" y="738188"/>
            <a:ext cx="868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phương thức Remove và thuộc tính Count của Hashtable</a:t>
            </a:r>
          </a:p>
        </p:txBody>
      </p:sp>
      <p:pic>
        <p:nvPicPr>
          <p:cNvPr id="59396" name="Picture 5">
            <a:extLst>
              <a:ext uri="{FF2B5EF4-FFF2-40B4-BE49-F238E27FC236}">
                <a16:creationId xmlns:a16="http://schemas.microsoft.com/office/drawing/2014/main" id="{307D907B-2CA9-8EE7-7F7F-6555484367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600200"/>
            <a:ext cx="5943600" cy="4800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118A43A7-BBEF-8376-B7F8-29374EAFCC69}"/>
              </a:ext>
            </a:extLst>
          </p:cNvPr>
          <p:cNvSpPr>
            <a:spLocks noGrp="1" noChangeArrowheads="1"/>
          </p:cNvSpPr>
          <p:nvPr>
            <p:ph type="title"/>
          </p:nvPr>
        </p:nvSpPr>
        <p:spPr/>
        <p:txBody>
          <a:bodyPr/>
          <a:lstStyle/>
          <a:p>
            <a:pPr eaLnBrk="1" hangingPunct="1"/>
            <a:r>
              <a:rPr lang="en-US" altLang="en-US" sz="3000" b="1"/>
              <a:t>4. Mảng trong C#</a:t>
            </a:r>
          </a:p>
        </p:txBody>
      </p:sp>
      <p:pic>
        <p:nvPicPr>
          <p:cNvPr id="60419" name="Picture 4">
            <a:extLst>
              <a:ext uri="{FF2B5EF4-FFF2-40B4-BE49-F238E27FC236}">
                <a16:creationId xmlns:a16="http://schemas.microsoft.com/office/drawing/2014/main" id="{3969E74E-D283-B2EA-BB2F-EA1B7930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38" y="1047750"/>
            <a:ext cx="8153400" cy="5181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FC1081F9-4150-DA48-DFB4-D570E417EBC2}"/>
              </a:ext>
            </a:extLst>
          </p:cNvPr>
          <p:cNvSpPr>
            <a:spLocks noGrp="1" noChangeArrowheads="1"/>
          </p:cNvSpPr>
          <p:nvPr>
            <p:ph type="title"/>
          </p:nvPr>
        </p:nvSpPr>
        <p:spPr/>
        <p:txBody>
          <a:bodyPr/>
          <a:lstStyle/>
          <a:p>
            <a:pPr eaLnBrk="1" hangingPunct="1"/>
            <a:r>
              <a:rPr lang="en-US" altLang="en-US" sz="3000" b="1"/>
              <a:t>4. Mảng trong C#</a:t>
            </a:r>
          </a:p>
        </p:txBody>
      </p:sp>
      <p:sp>
        <p:nvSpPr>
          <p:cNvPr id="61443" name="Text Box 4">
            <a:extLst>
              <a:ext uri="{FF2B5EF4-FFF2-40B4-BE49-F238E27FC236}">
                <a16:creationId xmlns:a16="http://schemas.microsoft.com/office/drawing/2014/main" id="{E6935E06-1544-C0E0-73B6-C45D449297F8}"/>
              </a:ext>
            </a:extLst>
          </p:cNvPr>
          <p:cNvSpPr txBox="1">
            <a:spLocks noChangeArrowheads="1"/>
          </p:cNvSpPr>
          <p:nvPr/>
        </p:nvSpPr>
        <p:spPr bwMode="auto">
          <a:xfrm>
            <a:off x="3429000" y="804863"/>
            <a:ext cx="1828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Câu hỏi</a:t>
            </a:r>
          </a:p>
        </p:txBody>
      </p:sp>
      <p:sp>
        <p:nvSpPr>
          <p:cNvPr id="400390" name="Text Box 6">
            <a:extLst>
              <a:ext uri="{FF2B5EF4-FFF2-40B4-BE49-F238E27FC236}">
                <a16:creationId xmlns:a16="http://schemas.microsoft.com/office/drawing/2014/main" id="{4EAC4473-8367-1D3E-224D-A69BDDFAD8D4}"/>
              </a:ext>
            </a:extLst>
          </p:cNvPr>
          <p:cNvSpPr txBox="1">
            <a:spLocks noChangeArrowheads="1"/>
          </p:cNvSpPr>
          <p:nvPr/>
        </p:nvSpPr>
        <p:spPr bwMode="auto">
          <a:xfrm>
            <a:off x="376238" y="1352550"/>
            <a:ext cx="808196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1. Viết một chương trình tạo ra một mảng một chiều nguyên chứa giá trị của các phần tử được nhập vào từ bàn phím. Sắp xếp các thành phần của 	mảng theo thứ tự tăng dần và hiện kết quả. Làm tương tự với trường hợp sắp xếp mảng theo thứ tự giảm dần.</a:t>
            </a:r>
          </a:p>
        </p:txBody>
      </p:sp>
      <p:sp>
        <p:nvSpPr>
          <p:cNvPr id="400392" name="Text Box 8">
            <a:extLst>
              <a:ext uri="{FF2B5EF4-FFF2-40B4-BE49-F238E27FC236}">
                <a16:creationId xmlns:a16="http://schemas.microsoft.com/office/drawing/2014/main" id="{3AA904E7-658F-0F75-E287-FD4A23F4D409}"/>
              </a:ext>
            </a:extLst>
          </p:cNvPr>
          <p:cNvSpPr txBox="1">
            <a:spLocks noChangeArrowheads="1"/>
          </p:cNvSpPr>
          <p:nvPr/>
        </p:nvSpPr>
        <p:spPr bwMode="auto">
          <a:xfrm>
            <a:off x="381000" y="3810000"/>
            <a:ext cx="838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D60093"/>
                </a:solidFill>
                <a:effectLst/>
                <a:uLnTx/>
                <a:uFillTx/>
                <a:latin typeface="Verdana" panose="020B0604030504040204" pitchFamily="34" charset="0"/>
                <a:ea typeface="+mn-ea"/>
                <a:cs typeface="+mn-cs"/>
              </a:rPr>
              <a:t>2. Viết một chương trình tìm số lớn nhất và nhỏ nhất trong mảng 2 chiều có kích thước cố định. Các thành phần trong mảng được nhập vào từ bàn phím.</a:t>
            </a:r>
          </a:p>
        </p:txBody>
      </p:sp>
      <p:sp>
        <p:nvSpPr>
          <p:cNvPr id="400393" name="Text Box 9">
            <a:extLst>
              <a:ext uri="{FF2B5EF4-FFF2-40B4-BE49-F238E27FC236}">
                <a16:creationId xmlns:a16="http://schemas.microsoft.com/office/drawing/2014/main" id="{56F1450F-B3EC-7274-38CB-5DDB4B0DF7A1}"/>
              </a:ext>
            </a:extLst>
          </p:cNvPr>
          <p:cNvSpPr txBox="1">
            <a:spLocks noChangeArrowheads="1"/>
          </p:cNvSpPr>
          <p:nvPr/>
        </p:nvSpPr>
        <p:spPr bwMode="auto">
          <a:xfrm>
            <a:off x="419100" y="5230812"/>
            <a:ext cx="87249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3. Viết chương trình sử dụng ArrayList để tạo một</a:t>
            </a:r>
            <a:r>
              <a:rPr kumimoji="0" lang="en-US" altLang="en-US" sz="2400" b="0" i="0" u="none" strike="noStrike" kern="1200" cap="none" spc="0" normalizeH="0" noProof="0">
                <a:ln>
                  <a:noFill/>
                </a:ln>
                <a:solidFill>
                  <a:srgbClr val="003300"/>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mảng. Sử dụng thuộc tính Count và Capacity</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0390">
                                            <p:txEl>
                                              <p:pRg st="0" end="0"/>
                                            </p:txEl>
                                          </p:spTgt>
                                        </p:tgtEl>
                                        <p:attrNameLst>
                                          <p:attrName>style.visibility</p:attrName>
                                        </p:attrNameLst>
                                      </p:cBhvr>
                                      <p:to>
                                        <p:strVal val="visible"/>
                                      </p:to>
                                    </p:set>
                                    <p:animEffect transition="in" filter="box(in)">
                                      <p:cBhvr>
                                        <p:cTn id="7" dur="1000"/>
                                        <p:tgtEl>
                                          <p:spTgt spid="4003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0392">
                                            <p:txEl>
                                              <p:pRg st="0" end="0"/>
                                            </p:txEl>
                                          </p:spTgt>
                                        </p:tgtEl>
                                        <p:attrNameLst>
                                          <p:attrName>style.visibility</p:attrName>
                                        </p:attrNameLst>
                                      </p:cBhvr>
                                      <p:to>
                                        <p:strVal val="visible"/>
                                      </p:to>
                                    </p:set>
                                    <p:animEffect transition="in" filter="box(in)">
                                      <p:cBhvr>
                                        <p:cTn id="12" dur="1000"/>
                                        <p:tgtEl>
                                          <p:spTgt spid="40039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0393">
                                            <p:txEl>
                                              <p:pRg st="0" end="0"/>
                                            </p:txEl>
                                          </p:spTgt>
                                        </p:tgtEl>
                                        <p:attrNameLst>
                                          <p:attrName>style.visibility</p:attrName>
                                        </p:attrNameLst>
                                      </p:cBhvr>
                                      <p:to>
                                        <p:strVal val="visible"/>
                                      </p:to>
                                    </p:set>
                                    <p:animEffect transition="in" filter="box(in)">
                                      <p:cBhvr>
                                        <p:cTn id="17" dur="1000"/>
                                        <p:tgtEl>
                                          <p:spTgt spid="4003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6E3F2F62-BE86-B8AA-BB52-C2E21843DF91}"/>
              </a:ext>
            </a:extLst>
          </p:cNvPr>
          <p:cNvSpPr>
            <a:spLocks noGrp="1" noChangeArrowheads="1"/>
          </p:cNvSpPr>
          <p:nvPr>
            <p:ph type="title"/>
          </p:nvPr>
        </p:nvSpPr>
        <p:spPr/>
        <p:txBody>
          <a:bodyPr/>
          <a:lstStyle/>
          <a:p>
            <a:pPr eaLnBrk="1" hangingPunct="1"/>
            <a:r>
              <a:rPr lang="en-US" altLang="en-US" sz="3000" b="1"/>
              <a:t>4. Mảng trong C#</a:t>
            </a:r>
          </a:p>
        </p:txBody>
      </p:sp>
      <p:sp>
        <p:nvSpPr>
          <p:cNvPr id="401413" name="Text Box 5">
            <a:extLst>
              <a:ext uri="{FF2B5EF4-FFF2-40B4-BE49-F238E27FC236}">
                <a16:creationId xmlns:a16="http://schemas.microsoft.com/office/drawing/2014/main" id="{2840AA76-38DE-0A09-B5BE-C3A24877B398}"/>
              </a:ext>
            </a:extLst>
          </p:cNvPr>
          <p:cNvSpPr txBox="1">
            <a:spLocks noChangeArrowheads="1"/>
          </p:cNvSpPr>
          <p:nvPr/>
        </p:nvSpPr>
        <p:spPr bwMode="auto">
          <a:xfrm>
            <a:off x="533400" y="838200"/>
            <a:ext cx="7772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4. Viết chương trình cho phép người dùng nhập vào một ma trận n x m, sau đó tìm kiếm một giá trị bất kỳ và hiện kết quả là thứ tự của giá trị cần</a:t>
            </a:r>
            <a:r>
              <a:rPr kumimoji="0" lang="en-US" altLang="en-US" sz="2400" b="0" i="0" u="none" strike="noStrike" kern="1200" cap="none" spc="0" normalizeH="0" noProof="0">
                <a:ln>
                  <a:noFill/>
                </a:ln>
                <a:solidFill>
                  <a:srgbClr val="990000"/>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tìm trong ma trận.</a:t>
            </a:r>
          </a:p>
        </p:txBody>
      </p:sp>
      <p:sp>
        <p:nvSpPr>
          <p:cNvPr id="401418" name="Text Box 10">
            <a:extLst>
              <a:ext uri="{FF2B5EF4-FFF2-40B4-BE49-F238E27FC236}">
                <a16:creationId xmlns:a16="http://schemas.microsoft.com/office/drawing/2014/main" id="{761FD30F-A0F7-4721-BEF3-88166068B39D}"/>
              </a:ext>
            </a:extLst>
          </p:cNvPr>
          <p:cNvSpPr txBox="1">
            <a:spLocks noChangeArrowheads="1"/>
          </p:cNvSpPr>
          <p:nvPr/>
        </p:nvSpPr>
        <p:spPr bwMode="auto">
          <a:xfrm>
            <a:off x="533400" y="2590800"/>
            <a:ext cx="7772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5. Viết chương trình tạo ra đối tượng Queue tên là myQueue. Khởi tạo myQueue với 5 giá trị ngẫu nhiên. Hãy thực hiện các bước sau:</a:t>
            </a:r>
          </a:p>
        </p:txBody>
      </p:sp>
      <p:pic>
        <p:nvPicPr>
          <p:cNvPr id="62469" name="Picture 12">
            <a:extLst>
              <a:ext uri="{FF2B5EF4-FFF2-40B4-BE49-F238E27FC236}">
                <a16:creationId xmlns:a16="http://schemas.microsoft.com/office/drawing/2014/main" id="{AA80761B-2DCF-FE8D-1363-7E3AFB08A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962400"/>
            <a:ext cx="4114800" cy="23622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1413">
                                            <p:txEl>
                                              <p:pRg st="0" end="0"/>
                                            </p:txEl>
                                          </p:spTgt>
                                        </p:tgtEl>
                                        <p:attrNameLst>
                                          <p:attrName>style.visibility</p:attrName>
                                        </p:attrNameLst>
                                      </p:cBhvr>
                                      <p:to>
                                        <p:strVal val="visible"/>
                                      </p:to>
                                    </p:set>
                                    <p:animEffect transition="in" filter="box(in)">
                                      <p:cBhvr>
                                        <p:cTn id="7" dur="1000"/>
                                        <p:tgtEl>
                                          <p:spTgt spid="4014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1418"/>
                                        </p:tgtEl>
                                        <p:attrNameLst>
                                          <p:attrName>style.visibility</p:attrName>
                                        </p:attrNameLst>
                                      </p:cBhvr>
                                      <p:to>
                                        <p:strVal val="visible"/>
                                      </p:to>
                                    </p:set>
                                    <p:animEffect transition="in" filter="box(in)">
                                      <p:cBhvr>
                                        <p:cTn id="12" dur="1000"/>
                                        <p:tgtEl>
                                          <p:spTgt spid="401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8" grpId="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3A802DA-8EF3-C8D9-538B-ECA78196FEB3}"/>
              </a:ext>
            </a:extLst>
          </p:cNvPr>
          <p:cNvSpPr>
            <a:spLocks noGrp="1" noChangeArrowheads="1"/>
          </p:cNvSpPr>
          <p:nvPr>
            <p:ph type="title"/>
          </p:nvPr>
        </p:nvSpPr>
        <p:spPr/>
        <p:txBody>
          <a:bodyPr/>
          <a:lstStyle/>
          <a:p>
            <a:pPr eaLnBrk="1" hangingPunct="1"/>
            <a:r>
              <a:rPr lang="en-US" altLang="en-US" sz="3000" b="1"/>
              <a:t>4. Mảng trong C#</a:t>
            </a:r>
          </a:p>
        </p:txBody>
      </p:sp>
      <p:pic>
        <p:nvPicPr>
          <p:cNvPr id="402436" name="Picture 4">
            <a:extLst>
              <a:ext uri="{FF2B5EF4-FFF2-40B4-BE49-F238E27FC236}">
                <a16:creationId xmlns:a16="http://schemas.microsoft.com/office/drawing/2014/main" id="{A1F619D0-EDCF-77C1-CE1D-811CD2595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438400"/>
            <a:ext cx="3133725" cy="1438275"/>
          </a:xfrm>
          <a:prstGeom prst="rect">
            <a:avLst/>
          </a:prstGeom>
          <a:noFill/>
          <a:ln w="38100">
            <a:solidFill>
              <a:srgbClr val="990000"/>
            </a:solidFill>
            <a:miter lim="800000"/>
            <a:headEnd/>
            <a:tailEnd/>
          </a:ln>
          <a:extLst>
            <a:ext uri="{909E8E84-426E-40DD-AFC4-6F175D3DCCD1}">
              <a14:hiddenFill xmlns:a14="http://schemas.microsoft.com/office/drawing/2010/main">
                <a:solidFill>
                  <a:srgbClr val="FFFFFF"/>
                </a:solidFill>
              </a14:hiddenFill>
            </a:ext>
          </a:extLst>
        </p:spPr>
      </p:pic>
      <p:sp>
        <p:nvSpPr>
          <p:cNvPr id="402437" name="Text Box 5">
            <a:extLst>
              <a:ext uri="{FF2B5EF4-FFF2-40B4-BE49-F238E27FC236}">
                <a16:creationId xmlns:a16="http://schemas.microsoft.com/office/drawing/2014/main" id="{00358A8A-C2A2-56BA-D3D1-1E3F1E0B0E5D}"/>
              </a:ext>
            </a:extLst>
          </p:cNvPr>
          <p:cNvSpPr txBox="1">
            <a:spLocks noChangeArrowheads="1"/>
          </p:cNvSpPr>
          <p:nvPr/>
        </p:nvSpPr>
        <p:spPr bwMode="auto">
          <a:xfrm>
            <a:off x="523875" y="852488"/>
            <a:ext cx="846772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6. Viết chương trình tạo ra đối tượng Stack tên là myStack. Khởi tạo myStack với 5 giá trị ngẫu 	nhiên. Hãy thực hiện các bước sau:</a:t>
            </a:r>
          </a:p>
        </p:txBody>
      </p:sp>
      <p:sp>
        <p:nvSpPr>
          <p:cNvPr id="402439" name="Text Box 7">
            <a:extLst>
              <a:ext uri="{FF2B5EF4-FFF2-40B4-BE49-F238E27FC236}">
                <a16:creationId xmlns:a16="http://schemas.microsoft.com/office/drawing/2014/main" id="{9446B77C-6481-F055-D9E1-8387A47A2867}"/>
              </a:ext>
            </a:extLst>
          </p:cNvPr>
          <p:cNvSpPr txBox="1">
            <a:spLocks noChangeArrowheads="1"/>
          </p:cNvSpPr>
          <p:nvPr/>
        </p:nvSpPr>
        <p:spPr bwMode="auto">
          <a:xfrm>
            <a:off x="533400" y="4191000"/>
            <a:ext cx="8382000" cy="1374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4. Viết chương sử dụng kiểu dữ liệu từ điển để quản lý thông tin của một lớp học. Trong đó khóa là 	chuỗi mã số sinh viên, giá trị là chuỗi tên của 	học viên. </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2437"/>
                                        </p:tgtEl>
                                        <p:attrNameLst>
                                          <p:attrName>style.visibility</p:attrName>
                                        </p:attrNameLst>
                                      </p:cBhvr>
                                      <p:to>
                                        <p:strVal val="visible"/>
                                      </p:to>
                                    </p:set>
                                    <p:animEffect transition="in" filter="box(in)">
                                      <p:cBhvr>
                                        <p:cTn id="7" dur="1000"/>
                                        <p:tgtEl>
                                          <p:spTgt spid="4024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2436"/>
                                        </p:tgtEl>
                                        <p:attrNameLst>
                                          <p:attrName>style.visibility</p:attrName>
                                        </p:attrNameLst>
                                      </p:cBhvr>
                                      <p:to>
                                        <p:strVal val="visible"/>
                                      </p:to>
                                    </p:set>
                                    <p:animEffect transition="in" filter="box(in)">
                                      <p:cBhvr>
                                        <p:cTn id="12" dur="1000"/>
                                        <p:tgtEl>
                                          <p:spTgt spid="4024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2439"/>
                                        </p:tgtEl>
                                        <p:attrNameLst>
                                          <p:attrName>style.visibility</p:attrName>
                                        </p:attrNameLst>
                                      </p:cBhvr>
                                      <p:to>
                                        <p:strVal val="visible"/>
                                      </p:to>
                                    </p:set>
                                    <p:animEffect transition="in" filter="box(in)">
                                      <p:cBhvr>
                                        <p:cTn id="17" dur="1000"/>
                                        <p:tgtEl>
                                          <p:spTgt spid="402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7" grpId="0"/>
      <p:bldP spid="402439" grpId="0"/>
    </p:bldLst>
  </p:timing>
</p:sld>
</file>

<file path=ppt/tags/tag1.xml><?xml version="1.0" encoding="utf-8"?>
<p:tagLst xmlns:a="http://schemas.openxmlformats.org/drawingml/2006/main" xmlns:r="http://schemas.openxmlformats.org/officeDocument/2006/relationships" xmlns:p="http://schemas.openxmlformats.org/presentationml/2006/main">
  <p:tag name="INKNOELEADERBOARD" val="-828670764"/>
</p:tagLst>
</file>

<file path=ppt/theme/theme1.xml><?xml version="1.0" encoding="utf-8"?>
<a:theme xmlns:a="http://schemas.openxmlformats.org/drawingml/2006/main" name="cdb2004112l">
  <a:themeElements>
    <a:clrScheme name="sample 3">
      <a:dk1>
        <a:srgbClr val="002A00"/>
      </a:dk1>
      <a:lt1>
        <a:srgbClr val="FFFFFF"/>
      </a:lt1>
      <a:dk2>
        <a:srgbClr val="FFFFE7"/>
      </a:dk2>
      <a:lt2>
        <a:srgbClr val="B2B2B2"/>
      </a:lt2>
      <a:accent1>
        <a:srgbClr val="6D77BF"/>
      </a:accent1>
      <a:accent2>
        <a:srgbClr val="669900"/>
      </a:accent2>
      <a:accent3>
        <a:srgbClr val="FFFFFF"/>
      </a:accent3>
      <a:accent4>
        <a:srgbClr val="002200"/>
      </a:accent4>
      <a:accent5>
        <a:srgbClr val="BABDDC"/>
      </a:accent5>
      <a:accent6>
        <a:srgbClr val="5C8A00"/>
      </a:accent6>
      <a:hlink>
        <a:srgbClr val="A76E23"/>
      </a:hlink>
      <a:folHlink>
        <a:srgbClr val="145232"/>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Arial" charset="0"/>
          </a:defRPr>
        </a:defPPr>
      </a:lstStyle>
    </a:lnDef>
  </a:objectDefaults>
  <a:extraClrSchemeLst>
    <a:extraClrScheme>
      <a:clrScheme name="sample 1">
        <a:dk1>
          <a:srgbClr val="000066"/>
        </a:dk1>
        <a:lt1>
          <a:srgbClr val="FFFFFF"/>
        </a:lt1>
        <a:dk2>
          <a:srgbClr val="E1E1E7"/>
        </a:dk2>
        <a:lt2>
          <a:srgbClr val="B2B2B2"/>
        </a:lt2>
        <a:accent1>
          <a:srgbClr val="009999"/>
        </a:accent1>
        <a:accent2>
          <a:srgbClr val="FF9933"/>
        </a:accent2>
        <a:accent3>
          <a:srgbClr val="FFFFFF"/>
        </a:accent3>
        <a:accent4>
          <a:srgbClr val="000056"/>
        </a:accent4>
        <a:accent5>
          <a:srgbClr val="AACACA"/>
        </a:accent5>
        <a:accent6>
          <a:srgbClr val="E78A2D"/>
        </a:accent6>
        <a:hlink>
          <a:srgbClr val="6A9EB0"/>
        </a:hlink>
        <a:folHlink>
          <a:srgbClr val="336699"/>
        </a:folHlink>
      </a:clrScheme>
      <a:clrMap bg1="lt1" tx1="dk1" bg2="lt2" tx2="dk2" accent1="accent1" accent2="accent2" accent3="accent3" accent4="accent4" accent5="accent5" accent6="accent6" hlink="hlink" folHlink="folHlink"/>
    </a:extraClrScheme>
    <a:extraClrScheme>
      <a:clrScheme name="sample 2">
        <a:dk1>
          <a:srgbClr val="000000"/>
        </a:dk1>
        <a:lt1>
          <a:srgbClr val="FFFFFF"/>
        </a:lt1>
        <a:dk2>
          <a:srgbClr val="FFFFFF"/>
        </a:dk2>
        <a:lt2>
          <a:srgbClr val="B2B2B2"/>
        </a:lt2>
        <a:accent1>
          <a:srgbClr val="C0D070"/>
        </a:accent1>
        <a:accent2>
          <a:srgbClr val="0099CC"/>
        </a:accent2>
        <a:accent3>
          <a:srgbClr val="FFFFFF"/>
        </a:accent3>
        <a:accent4>
          <a:srgbClr val="000000"/>
        </a:accent4>
        <a:accent5>
          <a:srgbClr val="DCE4BB"/>
        </a:accent5>
        <a:accent6>
          <a:srgbClr val="008AB9"/>
        </a:accent6>
        <a:hlink>
          <a:srgbClr val="CA9938"/>
        </a:hlink>
        <a:folHlink>
          <a:srgbClr val="683241"/>
        </a:folHlink>
      </a:clrScheme>
      <a:clrMap bg1="lt1" tx1="dk1" bg2="lt2" tx2="dk2" accent1="accent1" accent2="accent2" accent3="accent3" accent4="accent4" accent5="accent5" accent6="accent6" hlink="hlink" folHlink="folHlink"/>
    </a:extraClrScheme>
    <a:extraClrScheme>
      <a:clrScheme name="sample 3">
        <a:dk1>
          <a:srgbClr val="002A00"/>
        </a:dk1>
        <a:lt1>
          <a:srgbClr val="FFFFFF"/>
        </a:lt1>
        <a:dk2>
          <a:srgbClr val="FFFFE7"/>
        </a:dk2>
        <a:lt2>
          <a:srgbClr val="B2B2B2"/>
        </a:lt2>
        <a:accent1>
          <a:srgbClr val="6D77BF"/>
        </a:accent1>
        <a:accent2>
          <a:srgbClr val="669900"/>
        </a:accent2>
        <a:accent3>
          <a:srgbClr val="FFFFFF"/>
        </a:accent3>
        <a:accent4>
          <a:srgbClr val="002200"/>
        </a:accent4>
        <a:accent5>
          <a:srgbClr val="BABDDC"/>
        </a:accent5>
        <a:accent6>
          <a:srgbClr val="5C8A00"/>
        </a:accent6>
        <a:hlink>
          <a:srgbClr val="A76E23"/>
        </a:hlink>
        <a:folHlink>
          <a:srgbClr val="14523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cdb2004112l</Template>
  <TotalTime>12010</TotalTime>
  <Words>1922</Words>
  <Application>Microsoft Office PowerPoint</Application>
  <PresentationFormat>On-screen Show (4:3)</PresentationFormat>
  <Paragraphs>141</Paragraphs>
  <Slides>48</Slides>
  <Notes>3</Notes>
  <HiddenSlides>1</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48</vt:i4>
      </vt:variant>
    </vt:vector>
  </HeadingPairs>
  <TitlesOfParts>
    <vt:vector size="57" baseType="lpstr">
      <vt:lpstr>Arial</vt:lpstr>
      <vt:lpstr>Calibri</vt:lpstr>
      <vt:lpstr>Tahoma</vt:lpstr>
      <vt:lpstr>Verdana</vt:lpstr>
      <vt:lpstr>Wingdings</vt:lpstr>
      <vt:lpstr>cdb2004112l</vt:lpstr>
      <vt:lpstr>Custom Design</vt:lpstr>
      <vt:lpstr>1_Profile</vt:lpstr>
      <vt:lpstr>Image</vt:lpstr>
      <vt:lpstr>LẬP TRÌNH. NET</vt:lpstr>
      <vt:lpstr>Chương 2. Lập trình hướng đối tượng với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lpstr>4. Mảng trong 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BÀI TOÁN PHÂN LOẠI VĂN BẢN TIẾNG VIỆT TRONG KHAI PHÁ DỮ LIỆU VĂN BẢN</dc:title>
  <dc:creator>Trung Dung</dc:creator>
  <cp:lastModifiedBy>Nguyễn Thu Hằng</cp:lastModifiedBy>
  <cp:revision>832</cp:revision>
  <dcterms:created xsi:type="dcterms:W3CDTF">2014-02-26T07:45:26Z</dcterms:created>
  <dcterms:modified xsi:type="dcterms:W3CDTF">2024-05-15T04:50:22Z</dcterms:modified>
</cp:coreProperties>
</file>