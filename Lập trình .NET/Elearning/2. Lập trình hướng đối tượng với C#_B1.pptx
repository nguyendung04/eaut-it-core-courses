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 id="2147483673" r:id="rId3"/>
  </p:sldMasterIdLst>
  <p:notesMasterIdLst>
    <p:notesMasterId r:id="rId65"/>
  </p:notesMasterIdLst>
  <p:handoutMasterIdLst>
    <p:handoutMasterId r:id="rId66"/>
  </p:handoutMasterIdLst>
  <p:sldIdLst>
    <p:sldId id="256" r:id="rId4"/>
    <p:sldId id="644" r:id="rId5"/>
    <p:sldId id="358" r:id="rId6"/>
    <p:sldId id="375" r:id="rId7"/>
    <p:sldId id="376" r:id="rId8"/>
    <p:sldId id="377" r:id="rId9"/>
    <p:sldId id="360" r:id="rId10"/>
    <p:sldId id="382" r:id="rId11"/>
    <p:sldId id="383" r:id="rId12"/>
    <p:sldId id="384" r:id="rId13"/>
    <p:sldId id="645" r:id="rId14"/>
    <p:sldId id="646" r:id="rId15"/>
    <p:sldId id="344" r:id="rId16"/>
    <p:sldId id="346" r:id="rId17"/>
    <p:sldId id="345" r:id="rId18"/>
    <p:sldId id="348" r:id="rId19"/>
    <p:sldId id="350" r:id="rId20"/>
    <p:sldId id="351" r:id="rId21"/>
    <p:sldId id="373" r:id="rId22"/>
    <p:sldId id="647" r:id="rId23"/>
    <p:sldId id="374" r:id="rId24"/>
    <p:sldId id="648" r:id="rId25"/>
    <p:sldId id="347" r:id="rId26"/>
    <p:sldId id="352" r:id="rId27"/>
    <p:sldId id="353" r:id="rId28"/>
    <p:sldId id="355" r:id="rId29"/>
    <p:sldId id="356" r:id="rId30"/>
    <p:sldId id="357" r:id="rId31"/>
    <p:sldId id="649" r:id="rId32"/>
    <p:sldId id="359" r:id="rId33"/>
    <p:sldId id="650" r:id="rId34"/>
    <p:sldId id="370" r:id="rId35"/>
    <p:sldId id="363" r:id="rId36"/>
    <p:sldId id="651" r:id="rId37"/>
    <p:sldId id="371" r:id="rId38"/>
    <p:sldId id="364" r:id="rId39"/>
    <p:sldId id="365" r:id="rId40"/>
    <p:sldId id="372" r:id="rId41"/>
    <p:sldId id="367" r:id="rId42"/>
    <p:sldId id="366" r:id="rId43"/>
    <p:sldId id="369" r:id="rId44"/>
    <p:sldId id="368" r:id="rId45"/>
    <p:sldId id="652" r:id="rId46"/>
    <p:sldId id="653" r:id="rId47"/>
    <p:sldId id="654" r:id="rId48"/>
    <p:sldId id="655" r:id="rId49"/>
    <p:sldId id="656" r:id="rId50"/>
    <p:sldId id="349" r:id="rId51"/>
    <p:sldId id="657" r:id="rId52"/>
    <p:sldId id="658" r:id="rId53"/>
    <p:sldId id="659" r:id="rId54"/>
    <p:sldId id="660" r:id="rId55"/>
    <p:sldId id="354" r:id="rId56"/>
    <p:sldId id="661" r:id="rId57"/>
    <p:sldId id="662" r:id="rId58"/>
    <p:sldId id="663" r:id="rId59"/>
    <p:sldId id="664" r:id="rId60"/>
    <p:sldId id="665" r:id="rId61"/>
    <p:sldId id="666" r:id="rId62"/>
    <p:sldId id="361" r:id="rId63"/>
    <p:sldId id="362" r:id="rId64"/>
  </p:sldIdLst>
  <p:sldSz cx="9144000" cy="6858000" type="screen4x3"/>
  <p:notesSz cx="6858000" cy="9144000"/>
  <p:custDataLst>
    <p:tags r:id="rId67"/>
  </p:custDataLst>
  <p:defaultTextStyle>
    <a:defPPr>
      <a:defRPr lang="en-US"/>
    </a:defPPr>
    <a:lvl1pPr algn="ctr" rtl="0" eaLnBrk="0" fontAlgn="base" hangingPunct="0">
      <a:spcBef>
        <a:spcPct val="0"/>
      </a:spcBef>
      <a:spcAft>
        <a:spcPct val="0"/>
      </a:spcAft>
      <a:defRPr sz="2000" b="1" kern="1200">
        <a:solidFill>
          <a:schemeClr val="bg1"/>
        </a:solidFill>
        <a:latin typeface="Arial" charset="0"/>
        <a:ea typeface="+mn-ea"/>
        <a:cs typeface="+mn-cs"/>
      </a:defRPr>
    </a:lvl1pPr>
    <a:lvl2pPr marL="457200" algn="ctr" rtl="0" eaLnBrk="0" fontAlgn="base" hangingPunct="0">
      <a:spcBef>
        <a:spcPct val="0"/>
      </a:spcBef>
      <a:spcAft>
        <a:spcPct val="0"/>
      </a:spcAft>
      <a:defRPr sz="2000" b="1" kern="1200">
        <a:solidFill>
          <a:schemeClr val="bg1"/>
        </a:solidFill>
        <a:latin typeface="Arial" charset="0"/>
        <a:ea typeface="+mn-ea"/>
        <a:cs typeface="+mn-cs"/>
      </a:defRPr>
    </a:lvl2pPr>
    <a:lvl3pPr marL="914400" algn="ctr" rtl="0" eaLnBrk="0" fontAlgn="base" hangingPunct="0">
      <a:spcBef>
        <a:spcPct val="0"/>
      </a:spcBef>
      <a:spcAft>
        <a:spcPct val="0"/>
      </a:spcAft>
      <a:defRPr sz="2000" b="1" kern="1200">
        <a:solidFill>
          <a:schemeClr val="bg1"/>
        </a:solidFill>
        <a:latin typeface="Arial" charset="0"/>
        <a:ea typeface="+mn-ea"/>
        <a:cs typeface="+mn-cs"/>
      </a:defRPr>
    </a:lvl3pPr>
    <a:lvl4pPr marL="1371600" algn="ctr" rtl="0" eaLnBrk="0" fontAlgn="base" hangingPunct="0">
      <a:spcBef>
        <a:spcPct val="0"/>
      </a:spcBef>
      <a:spcAft>
        <a:spcPct val="0"/>
      </a:spcAft>
      <a:defRPr sz="2000" b="1" kern="1200">
        <a:solidFill>
          <a:schemeClr val="bg1"/>
        </a:solidFill>
        <a:latin typeface="Arial" charset="0"/>
        <a:ea typeface="+mn-ea"/>
        <a:cs typeface="+mn-cs"/>
      </a:defRPr>
    </a:lvl4pPr>
    <a:lvl5pPr marL="1828800" algn="ctr" rtl="0" eaLnBrk="0" fontAlgn="base" hangingPunct="0">
      <a:spcBef>
        <a:spcPct val="0"/>
      </a:spcBef>
      <a:spcAft>
        <a:spcPct val="0"/>
      </a:spcAft>
      <a:defRPr sz="2000" b="1" kern="1200">
        <a:solidFill>
          <a:schemeClr val="bg1"/>
        </a:solidFill>
        <a:latin typeface="Arial" charset="0"/>
        <a:ea typeface="+mn-ea"/>
        <a:cs typeface="+mn-cs"/>
      </a:defRPr>
    </a:lvl5pPr>
    <a:lvl6pPr marL="2286000" algn="l" defTabSz="914400" rtl="0" eaLnBrk="1" latinLnBrk="0" hangingPunct="1">
      <a:defRPr sz="2000" b="1" kern="1200">
        <a:solidFill>
          <a:schemeClr val="bg1"/>
        </a:solidFill>
        <a:latin typeface="Arial" charset="0"/>
        <a:ea typeface="+mn-ea"/>
        <a:cs typeface="+mn-cs"/>
      </a:defRPr>
    </a:lvl6pPr>
    <a:lvl7pPr marL="2743200" algn="l" defTabSz="914400" rtl="0" eaLnBrk="1" latinLnBrk="0" hangingPunct="1">
      <a:defRPr sz="2000" b="1" kern="1200">
        <a:solidFill>
          <a:schemeClr val="bg1"/>
        </a:solidFill>
        <a:latin typeface="Arial" charset="0"/>
        <a:ea typeface="+mn-ea"/>
        <a:cs typeface="+mn-cs"/>
      </a:defRPr>
    </a:lvl7pPr>
    <a:lvl8pPr marL="3200400" algn="l" defTabSz="914400" rtl="0" eaLnBrk="1" latinLnBrk="0" hangingPunct="1">
      <a:defRPr sz="2000" b="1" kern="1200">
        <a:solidFill>
          <a:schemeClr val="bg1"/>
        </a:solidFill>
        <a:latin typeface="Arial" charset="0"/>
        <a:ea typeface="+mn-ea"/>
        <a:cs typeface="+mn-cs"/>
      </a:defRPr>
    </a:lvl8pPr>
    <a:lvl9pPr marL="3657600" algn="l" defTabSz="914400" rtl="0" eaLnBrk="1" latinLnBrk="0" hangingPunct="1">
      <a:defRPr sz="2000" b="1"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000000"/>
    <a:srgbClr val="99CCFF"/>
    <a:srgbClr val="000066"/>
    <a:srgbClr val="0066FF"/>
    <a:srgbClr val="66FFCC"/>
    <a:srgbClr val="FFFF00"/>
    <a:srgbClr val="003366"/>
    <a:srgbClr val="6D77BF"/>
    <a:srgbClr val="FFFF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32" autoAdjust="0"/>
    <p:restoredTop sz="87059" autoAdjust="0"/>
  </p:normalViewPr>
  <p:slideViewPr>
    <p:cSldViewPr>
      <p:cViewPr varScale="1">
        <p:scale>
          <a:sx n="59" d="100"/>
          <a:sy n="59" d="100"/>
        </p:scale>
        <p:origin x="192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ags" Target="tags/tag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US"/>
              <a:t>2/27/2014</a:t>
            </a: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3386F88-3FE7-405B-BE94-6829C42340B9}" type="slidenum">
              <a:rPr lang="en-US" smtClean="0"/>
              <a:pPr/>
              <a:t>‹#›</a:t>
            </a:fld>
            <a:endParaRPr lang="en-US"/>
          </a:p>
        </p:txBody>
      </p:sp>
    </p:spTree>
    <p:extLst>
      <p:ext uri="{BB962C8B-B14F-4D97-AF65-F5344CB8AC3E}">
        <p14:creationId xmlns:p14="http://schemas.microsoft.com/office/powerpoint/2010/main" val="25360194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r>
              <a:rPr lang="en-US"/>
              <a:t>2/27/2014</a:t>
            </a: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13CA4F-A9C9-4EFC-90C3-4AFCE306301D}" type="slidenum">
              <a:rPr lang="en-US" smtClean="0"/>
              <a:pPr/>
              <a:t>‹#›</a:t>
            </a:fld>
            <a:endParaRPr lang="en-US"/>
          </a:p>
        </p:txBody>
      </p:sp>
    </p:spTree>
    <p:extLst>
      <p:ext uri="{BB962C8B-B14F-4D97-AF65-F5344CB8AC3E}">
        <p14:creationId xmlns:p14="http://schemas.microsoft.com/office/powerpoint/2010/main" val="3345742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13CA4F-A9C9-4EFC-90C3-4AFCE306301D}" type="slidenum">
              <a:rPr lang="en-US" smtClean="0"/>
              <a:pPr/>
              <a:t>1</a:t>
            </a:fld>
            <a:endParaRPr lang="en-US"/>
          </a:p>
        </p:txBody>
      </p:sp>
    </p:spTree>
    <p:extLst>
      <p:ext uri="{BB962C8B-B14F-4D97-AF65-F5344CB8AC3E}">
        <p14:creationId xmlns:p14="http://schemas.microsoft.com/office/powerpoint/2010/main" val="2937520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13CA4F-A9C9-4EFC-90C3-4AFCE306301D}" type="slidenum">
              <a:rPr lang="en-US" smtClean="0"/>
              <a:pPr/>
              <a:t>2</a:t>
            </a:fld>
            <a:endParaRPr lang="en-US"/>
          </a:p>
        </p:txBody>
      </p:sp>
    </p:spTree>
    <p:extLst>
      <p:ext uri="{BB962C8B-B14F-4D97-AF65-F5344CB8AC3E}">
        <p14:creationId xmlns:p14="http://schemas.microsoft.com/office/powerpoint/2010/main" val="9706148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3089" name="Object 17"/>
          <p:cNvGraphicFramePr>
            <a:graphicFrameLocks noChangeAspect="1"/>
          </p:cNvGraphicFramePr>
          <p:nvPr>
            <p:extLst>
              <p:ext uri="{D42A27DB-BD31-4B8C-83A1-F6EECF244321}">
                <p14:modId xmlns:p14="http://schemas.microsoft.com/office/powerpoint/2010/main" val="3270734897"/>
              </p:ext>
            </p:extLst>
          </p:nvPr>
        </p:nvGraphicFramePr>
        <p:xfrm>
          <a:off x="76202" y="76201"/>
          <a:ext cx="9015410" cy="3124199"/>
        </p:xfrm>
        <a:graphic>
          <a:graphicData uri="http://schemas.openxmlformats.org/presentationml/2006/ole">
            <mc:AlternateContent xmlns:mc="http://schemas.openxmlformats.org/markup-compatibility/2006">
              <mc:Choice xmlns:v="urn:schemas-microsoft-com:vml" Requires="v">
                <p:oleObj name="Image" r:id="rId2" imgW="8673016" imgH="4647619" progId="">
                  <p:embed/>
                </p:oleObj>
              </mc:Choice>
              <mc:Fallback>
                <p:oleObj name="Image" r:id="rId2" imgW="8673016" imgH="4647619" progId="">
                  <p:embed/>
                  <p:pic>
                    <p:nvPicPr>
                      <p:cNvPr id="0" name="Picture 7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 y="76201"/>
                        <a:ext cx="9015410" cy="3124199"/>
                      </a:xfrm>
                      <a:prstGeom prst="rect">
                        <a:avLst/>
                      </a:prstGeom>
                      <a:noFill/>
                    </p:spPr>
                  </p:pic>
                </p:oleObj>
              </mc:Fallback>
            </mc:AlternateContent>
          </a:graphicData>
        </a:graphic>
      </p:graphicFrame>
      <p:sp>
        <p:nvSpPr>
          <p:cNvPr id="3090" name="Rectangle 18"/>
          <p:cNvSpPr>
            <a:spLocks noChangeArrowheads="1"/>
          </p:cNvSpPr>
          <p:nvPr userDrawn="1"/>
        </p:nvSpPr>
        <p:spPr bwMode="gray">
          <a:xfrm>
            <a:off x="0" y="3276600"/>
            <a:ext cx="9091612" cy="35401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091" name="Group 19"/>
          <p:cNvGrpSpPr>
            <a:grpSpLocks/>
          </p:cNvGrpSpPr>
          <p:nvPr/>
        </p:nvGrpSpPr>
        <p:grpSpPr bwMode="auto">
          <a:xfrm>
            <a:off x="-6350" y="0"/>
            <a:ext cx="9155113" cy="6859588"/>
            <a:chOff x="0" y="0"/>
            <a:chExt cx="5764" cy="4321"/>
          </a:xfrm>
        </p:grpSpPr>
        <p:sp>
          <p:nvSpPr>
            <p:cNvPr id="3092" name="AutoShape 20"/>
            <p:cNvSpPr>
              <a:spLocks noChangeArrowheads="1"/>
            </p:cNvSpPr>
            <p:nvPr/>
          </p:nvSpPr>
          <p:spPr bwMode="gray">
            <a:xfrm>
              <a:off x="27" y="24"/>
              <a:ext cx="5712" cy="4274"/>
            </a:xfrm>
            <a:prstGeom prst="roundRect">
              <a:avLst>
                <a:gd name="adj" fmla="val 6227"/>
              </a:avLst>
            </a:prstGeom>
            <a:noFill/>
            <a:ln w="76200">
              <a:solidFill>
                <a:schemeClr val="bg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93" name="Freeform 21"/>
            <p:cNvSpPr>
              <a:spLocks/>
            </p:cNvSpPr>
            <p:nvPr/>
          </p:nvSpPr>
          <p:spPr bwMode="gray">
            <a:xfrm>
              <a:off x="0" y="0"/>
              <a:ext cx="288" cy="282"/>
            </a:xfrm>
            <a:custGeom>
              <a:avLst/>
              <a:gdLst>
                <a:gd name="T0" fmla="*/ 2 w 288"/>
                <a:gd name="T1" fmla="*/ 282 h 282"/>
                <a:gd name="T2" fmla="*/ 82 w 288"/>
                <a:gd name="T3" fmla="*/ 144 h 282"/>
                <a:gd name="T4" fmla="*/ 165 w 288"/>
                <a:gd name="T5" fmla="*/ 36 h 282"/>
                <a:gd name="T6" fmla="*/ 288 w 288"/>
                <a:gd name="T7" fmla="*/ 0 h 282"/>
                <a:gd name="T8" fmla="*/ 0 w 288"/>
                <a:gd name="T9" fmla="*/ 0 h 282"/>
              </a:gdLst>
              <a:ahLst/>
              <a:cxnLst>
                <a:cxn ang="0">
                  <a:pos x="T0" y="T1"/>
                </a:cxn>
                <a:cxn ang="0">
                  <a:pos x="T2" y="T3"/>
                </a:cxn>
                <a:cxn ang="0">
                  <a:pos x="T4" y="T5"/>
                </a:cxn>
                <a:cxn ang="0">
                  <a:pos x="T6" y="T7"/>
                </a:cxn>
                <a:cxn ang="0">
                  <a:pos x="T8" y="T9"/>
                </a:cxn>
              </a:cxnLst>
              <a:rect l="0" t="0" r="r" b="b"/>
              <a:pathLst>
                <a:path w="288" h="282">
                  <a:moveTo>
                    <a:pt x="2" y="282"/>
                  </a:moveTo>
                  <a:lnTo>
                    <a:pt x="82" y="144"/>
                  </a:lnTo>
                  <a:lnTo>
                    <a:pt x="165" y="36"/>
                  </a:lnTo>
                  <a:lnTo>
                    <a:pt x="288" y="0"/>
                  </a:lnTo>
                  <a:lnTo>
                    <a:pt x="0"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4" name="Freeform 22"/>
            <p:cNvSpPr>
              <a:spLocks/>
            </p:cNvSpPr>
            <p:nvPr/>
          </p:nvSpPr>
          <p:spPr bwMode="gray">
            <a:xfrm>
              <a:off x="5" y="3985"/>
              <a:ext cx="244" cy="336"/>
            </a:xfrm>
            <a:custGeom>
              <a:avLst/>
              <a:gdLst>
                <a:gd name="T0" fmla="*/ 243 w 243"/>
                <a:gd name="T1" fmla="*/ 335 h 336"/>
                <a:gd name="T2" fmla="*/ 122 w 243"/>
                <a:gd name="T3" fmla="*/ 239 h 336"/>
                <a:gd name="T4" fmla="*/ 30 w 243"/>
                <a:gd name="T5" fmla="*/ 144 h 336"/>
                <a:gd name="T6" fmla="*/ 0 w 243"/>
                <a:gd name="T7" fmla="*/ 0 h 336"/>
                <a:gd name="T8" fmla="*/ 1 w 243"/>
                <a:gd name="T9" fmla="*/ 336 h 336"/>
              </a:gdLst>
              <a:ahLst/>
              <a:cxnLst>
                <a:cxn ang="0">
                  <a:pos x="T0" y="T1"/>
                </a:cxn>
                <a:cxn ang="0">
                  <a:pos x="T2" y="T3"/>
                </a:cxn>
                <a:cxn ang="0">
                  <a:pos x="T4" y="T5"/>
                </a:cxn>
                <a:cxn ang="0">
                  <a:pos x="T6" y="T7"/>
                </a:cxn>
                <a:cxn ang="0">
                  <a:pos x="T8" y="T9"/>
                </a:cxn>
              </a:cxnLst>
              <a:rect l="0" t="0" r="r" b="b"/>
              <a:pathLst>
                <a:path w="243" h="336">
                  <a:moveTo>
                    <a:pt x="243" y="335"/>
                  </a:moveTo>
                  <a:lnTo>
                    <a:pt x="122" y="239"/>
                  </a:lnTo>
                  <a:lnTo>
                    <a:pt x="30" y="144"/>
                  </a:lnTo>
                  <a:lnTo>
                    <a:pt x="0" y="0"/>
                  </a:lnTo>
                  <a:lnTo>
                    <a:pt x="1" y="336"/>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5" name="Freeform 23"/>
            <p:cNvSpPr>
              <a:spLocks/>
            </p:cNvSpPr>
            <p:nvPr/>
          </p:nvSpPr>
          <p:spPr bwMode="gray">
            <a:xfrm>
              <a:off x="5511" y="4029"/>
              <a:ext cx="253" cy="290"/>
            </a:xfrm>
            <a:custGeom>
              <a:avLst/>
              <a:gdLst>
                <a:gd name="T0" fmla="*/ 229 w 232"/>
                <a:gd name="T1" fmla="*/ 0 h 290"/>
                <a:gd name="T2" fmla="*/ 164 w 232"/>
                <a:gd name="T3" fmla="*/ 144 h 290"/>
                <a:gd name="T4" fmla="*/ 98 w 232"/>
                <a:gd name="T5" fmla="*/ 253 h 290"/>
                <a:gd name="T6" fmla="*/ 0 w 232"/>
                <a:gd name="T7" fmla="*/ 290 h 290"/>
                <a:gd name="T8" fmla="*/ 232 w 232"/>
                <a:gd name="T9" fmla="*/ 287 h 290"/>
              </a:gdLst>
              <a:ahLst/>
              <a:cxnLst>
                <a:cxn ang="0">
                  <a:pos x="T0" y="T1"/>
                </a:cxn>
                <a:cxn ang="0">
                  <a:pos x="T2" y="T3"/>
                </a:cxn>
                <a:cxn ang="0">
                  <a:pos x="T4" y="T5"/>
                </a:cxn>
                <a:cxn ang="0">
                  <a:pos x="T6" y="T7"/>
                </a:cxn>
                <a:cxn ang="0">
                  <a:pos x="T8" y="T9"/>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6" name="Freeform 24"/>
            <p:cNvSpPr>
              <a:spLocks/>
            </p:cNvSpPr>
            <p:nvPr/>
          </p:nvSpPr>
          <p:spPr bwMode="gray">
            <a:xfrm>
              <a:off x="5472" y="0"/>
              <a:ext cx="288" cy="288"/>
            </a:xfrm>
            <a:custGeom>
              <a:avLst/>
              <a:gdLst>
                <a:gd name="T0" fmla="*/ 0 w 288"/>
                <a:gd name="T1" fmla="*/ 0 h 288"/>
                <a:gd name="T2" fmla="*/ 144 w 288"/>
                <a:gd name="T3" fmla="*/ 82 h 288"/>
                <a:gd name="T4" fmla="*/ 252 w 288"/>
                <a:gd name="T5" fmla="*/ 165 h 288"/>
                <a:gd name="T6" fmla="*/ 288 w 288"/>
                <a:gd name="T7" fmla="*/ 288 h 288"/>
                <a:gd name="T8" fmla="*/ 288 w 288"/>
                <a:gd name="T9" fmla="*/ 0 h 288"/>
              </a:gdLst>
              <a:ahLst/>
              <a:cxnLst>
                <a:cxn ang="0">
                  <a:pos x="T0" y="T1"/>
                </a:cxn>
                <a:cxn ang="0">
                  <a:pos x="T2" y="T3"/>
                </a:cxn>
                <a:cxn ang="0">
                  <a:pos x="T4" y="T5"/>
                </a:cxn>
                <a:cxn ang="0">
                  <a:pos x="T6" y="T7"/>
                </a:cxn>
                <a:cxn ang="0">
                  <a:pos x="T8" y="T9"/>
                </a:cxn>
              </a:cxnLst>
              <a:rect l="0" t="0" r="r" b="b"/>
              <a:pathLst>
                <a:path w="288" h="288">
                  <a:moveTo>
                    <a:pt x="0" y="0"/>
                  </a:moveTo>
                  <a:lnTo>
                    <a:pt x="144" y="82"/>
                  </a:lnTo>
                  <a:lnTo>
                    <a:pt x="252" y="165"/>
                  </a:lnTo>
                  <a:lnTo>
                    <a:pt x="288" y="288"/>
                  </a:lnTo>
                  <a:lnTo>
                    <a:pt x="288"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2" name="Picture 1">
            <a:extLst>
              <a:ext uri="{FF2B5EF4-FFF2-40B4-BE49-F238E27FC236}">
                <a16:creationId xmlns:a16="http://schemas.microsoft.com/office/drawing/2014/main" id="{5B33E56B-8669-4C3A-9A9C-4BB13B6B7300}"/>
              </a:ext>
            </a:extLst>
          </p:cNvPr>
          <p:cNvPicPr>
            <a:picLocks noChangeAspect="1"/>
          </p:cNvPicPr>
          <p:nvPr userDrawn="1"/>
        </p:nvPicPr>
        <p:blipFill>
          <a:blip r:embed="rId4"/>
          <a:stretch>
            <a:fillRect/>
          </a:stretch>
        </p:blipFill>
        <p:spPr>
          <a:xfrm>
            <a:off x="8285704" y="49563"/>
            <a:ext cx="798535" cy="7985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1"/>
            <a:ext cx="8839200"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1250" name="Picture 2" descr="Tập tin:Logo Trường Đại học Công nghệ Đông Á 2015.png ...">
            <a:extLst>
              <a:ext uri="{FF2B5EF4-FFF2-40B4-BE49-F238E27FC236}">
                <a16:creationId xmlns:a16="http://schemas.microsoft.com/office/drawing/2014/main" id="{F341813C-6D75-4E90-A7D9-20918999E19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579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2B27FBDA-6202-490F-968F-B93519B619A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6229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304925"/>
            <a:ext cx="4038600" cy="4943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04925"/>
            <a:ext cx="4038600" cy="4943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A6323714-53B1-4E3C-AE6A-D6CD44E89E1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973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8" name="Footer Placeholder 7"/>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9" name="Slide Number Placeholder 8"/>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4178997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4" name="Footer Placeholder 3"/>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446744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3" name="Footer Placeholder 2"/>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4" name="Slide Number Placeholder 3"/>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5" name="Picture 2" descr="Tập tin:Logo Trường Đại học Công nghệ Đông Á 2015.png ...">
            <a:extLst>
              <a:ext uri="{FF2B5EF4-FFF2-40B4-BE49-F238E27FC236}">
                <a16:creationId xmlns:a16="http://schemas.microsoft.com/office/drawing/2014/main" id="{6220FFEB-5E85-42C8-A2B3-C69966356E2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74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823C35CF-E72F-4FF7-AD23-959E3EA1C2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360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5DA0C1CF-53D9-4FD9-80C1-0EC692594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121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E3663C6A-DC21-4A41-9D5F-C81B457CC2B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462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19088"/>
            <a:ext cx="2057400" cy="592931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59293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BECAAA1B-7335-48E1-BCF6-C6F9F0B33CC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930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457200" y="1304925"/>
            <a:ext cx="8229600" cy="4943475"/>
          </a:xfrm>
        </p:spPr>
        <p:txBody>
          <a:bodyPr/>
          <a:lstStyle/>
          <a:p>
            <a:r>
              <a:rPr lang="en-US"/>
              <a:t>Click icon to add table</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1200099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1B21400-C337-4FAC-8F14-98A3D453E30D}" type="datetimeFigureOut">
              <a:rPr lang="en-US" smtClean="0"/>
              <a:pPr/>
              <a:t>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690188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970202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B21400-C337-4FAC-8F14-98A3D453E30D}" type="datetimeFigureOut">
              <a:rPr lang="en-US" smtClean="0"/>
              <a:pPr/>
              <a:t>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3890458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B21400-C337-4FAC-8F14-98A3D453E30D}" type="datetimeFigureOut">
              <a:rPr lang="en-US" smtClean="0"/>
              <a:pPr/>
              <a:t>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1377374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1B21400-C337-4FAC-8F14-98A3D453E30D}" type="datetimeFigureOut">
              <a:rPr lang="en-US" smtClean="0"/>
              <a:pPr/>
              <a:t>5/9/2024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4279651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1B21400-C337-4FAC-8F14-98A3D453E30D}" type="datetimeFigureOut">
              <a:rPr lang="en-US" smtClean="0"/>
              <a:pPr/>
              <a:t>5/9/2024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538847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B21400-C337-4FAC-8F14-98A3D453E30D}" type="datetimeFigureOut">
              <a:rPr lang="en-US" smtClean="0"/>
              <a:pPr/>
              <a:t>5/9/2024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306950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B21400-C337-4FAC-8F14-98A3D453E30D}" type="datetimeFigureOut">
              <a:rPr lang="en-US" smtClean="0"/>
              <a:pPr/>
              <a:t>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33099124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B21400-C337-4FAC-8F14-98A3D453E30D}" type="datetimeFigureOut">
              <a:rPr lang="en-US" smtClean="0"/>
              <a:pPr/>
              <a:t>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4569662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06541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5952639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F2A5DC74-09C5-4682-6040-F6B6CCBE6E07}"/>
              </a:ext>
            </a:extLst>
          </p:cNvPr>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5122" name="Rectangle 2"/>
          <p:cNvSpPr>
            <a:spLocks noGrp="1" noChangeArrowheads="1"/>
          </p:cNvSpPr>
          <p:nvPr>
            <p:ph type="ctrTitle"/>
          </p:nvPr>
        </p:nvSpPr>
        <p:spPr>
          <a:xfrm>
            <a:off x="685800" y="990600"/>
            <a:ext cx="7772400" cy="1371600"/>
          </a:xfrm>
          <a:noFill/>
          <a:extLst>
            <a:ext uri="{909E8E84-426E-40DD-AFC4-6F175D3DCCD1}">
              <a14:hiddenFill xmlns:a14="http://schemas.microsoft.com/office/drawing/2010/main">
                <a:solidFill>
                  <a:schemeClr val="accent1"/>
                </a:solidFill>
              </a14:hiddenFill>
            </a:ext>
          </a:extLst>
        </p:spPr>
        <p:txBody>
          <a:bodyPr/>
          <a:lstStyle>
            <a:lvl1pPr>
              <a:defRPr sz="3800"/>
            </a:lvl1pPr>
          </a:lstStyle>
          <a:p>
            <a:pPr lvl="0"/>
            <a:r>
              <a:rPr lang="en-US" noProof="0"/>
              <a:t>Click to edit Master title style</a:t>
            </a:r>
          </a:p>
        </p:txBody>
      </p:sp>
      <p:sp>
        <p:nvSpPr>
          <p:cNvPr id="5123" name="Rectangle 3"/>
          <p:cNvSpPr>
            <a:spLocks noGrp="1" noChangeArrowheads="1"/>
          </p:cNvSpPr>
          <p:nvPr>
            <p:ph type="subTitle" idx="1"/>
          </p:nvPr>
        </p:nvSpPr>
        <p:spPr bwMode="auto">
          <a:xfrm>
            <a:off x="1447800" y="3429000"/>
            <a:ext cx="7010400" cy="1600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buFont typeface="Wingdings" pitchFamily="2" charset="2"/>
              <a:buNone/>
              <a:defRPr sz="2800"/>
            </a:lvl1pPr>
          </a:lstStyle>
          <a:p>
            <a:pPr lvl="0"/>
            <a:r>
              <a:rPr lang="en-US" noProof="0"/>
              <a:t>Click to edit Master subtitle style</a:t>
            </a:r>
          </a:p>
        </p:txBody>
      </p:sp>
      <p:sp>
        <p:nvSpPr>
          <p:cNvPr id="3" name="Date Placeholder 4">
            <a:extLst>
              <a:ext uri="{FF2B5EF4-FFF2-40B4-BE49-F238E27FC236}">
                <a16:creationId xmlns:a16="http://schemas.microsoft.com/office/drawing/2014/main" id="{E5DD8174-3D10-CF4F-BF4C-17F4479B2678}"/>
              </a:ext>
            </a:extLst>
          </p:cNvPr>
          <p:cNvSpPr>
            <a:spLocks noGrp="1" noChangeArrowheads="1"/>
          </p:cNvSpPr>
          <p:nvPr>
            <p:ph type="dt" sz="half" idx="10"/>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4" name="Footer Placeholder 5">
            <a:extLst>
              <a:ext uri="{FF2B5EF4-FFF2-40B4-BE49-F238E27FC236}">
                <a16:creationId xmlns:a16="http://schemas.microsoft.com/office/drawing/2014/main" id="{15A7524A-93DE-4621-5B09-C494A25A6995}"/>
              </a:ext>
            </a:extLst>
          </p:cNvPr>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200"/>
            </a:lvl1pPr>
          </a:lstStyle>
          <a:p>
            <a:pPr>
              <a:defRPr/>
            </a:pPr>
            <a:r>
              <a:rPr lang="en-US"/>
              <a:t>Sử dụng PowerPoint trong dạy học</a:t>
            </a:r>
          </a:p>
        </p:txBody>
      </p:sp>
      <p:sp>
        <p:nvSpPr>
          <p:cNvPr id="5" name="Slide Number Placeholder 6">
            <a:extLst>
              <a:ext uri="{FF2B5EF4-FFF2-40B4-BE49-F238E27FC236}">
                <a16:creationId xmlns:a16="http://schemas.microsoft.com/office/drawing/2014/main" id="{F0BA05C8-021C-BE1F-E56E-C99DA9E7BE7C}"/>
              </a:ext>
            </a:extLst>
          </p:cNvPr>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fld id="{FCD4073E-2D45-4384-BD19-8886B895F0CA}" type="slidenum">
              <a:rPr lang="en-US" altLang="en-US"/>
              <a:pPr/>
              <a:t>‹#›</a:t>
            </a:fld>
            <a:endParaRPr lang="en-US" altLang="en-US"/>
          </a:p>
        </p:txBody>
      </p:sp>
    </p:spTree>
    <p:extLst>
      <p:ext uri="{BB962C8B-B14F-4D97-AF65-F5344CB8AC3E}">
        <p14:creationId xmlns:p14="http://schemas.microsoft.com/office/powerpoint/2010/main" val="3808940214"/>
      </p:ext>
    </p:extLst>
  </p:cSld>
  <p:clrMapOvr>
    <a:masterClrMapping/>
  </p:clrMapOvr>
  <p:transition advTm="600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hlink">
                  <a:tint val="66000"/>
                  <a:satMod val="160000"/>
                </a:schemeClr>
              </a:gs>
              <a:gs pos="50000">
                <a:schemeClr val="hlink">
                  <a:tint val="44500"/>
                  <a:satMod val="160000"/>
                </a:schemeClr>
              </a:gs>
              <a:gs pos="100000">
                <a:schemeClr val="hlink">
                  <a:tint val="23500"/>
                  <a:satMod val="160000"/>
                </a:schemeClr>
              </a:gs>
            </a:gsLst>
            <a:lin ang="5400000" scaled="1"/>
            <a:tileRect/>
          </a:gradFill>
        </p:spPr>
        <p:txBody>
          <a:bodyPr/>
          <a:lstStyle>
            <a:lvl1pPr>
              <a:defRPr>
                <a:solidFill>
                  <a:srgbClr val="006600"/>
                </a:solidFill>
              </a:defRPr>
            </a:lvl1p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8238949"/>
      </p:ext>
    </p:extLst>
  </p:cSld>
  <p:clrMapOvr>
    <a:masterClrMapping/>
  </p:clrMapOvr>
  <p:transition advTm="600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91492232"/>
      </p:ext>
    </p:extLst>
  </p:cSld>
  <p:clrMapOvr>
    <a:masterClrMapping/>
  </p:clrMapOvr>
  <p:transition advTm="600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2058104"/>
      </p:ext>
    </p:extLst>
  </p:cSld>
  <p:clrMapOvr>
    <a:masterClrMapping/>
  </p:clrMapOvr>
  <p:transition advTm="600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2088076"/>
      </p:ext>
    </p:extLst>
  </p:cSld>
  <p:clrMapOvr>
    <a:masterClrMapping/>
  </p:clrMapOvr>
  <p:transition advTm="600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08542663"/>
      </p:ext>
    </p:extLst>
  </p:cSld>
  <p:clrMapOvr>
    <a:masterClrMapping/>
  </p:clrMapOvr>
  <p:transition advTm="600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338170"/>
      </p:ext>
    </p:extLst>
  </p:cSld>
  <p:clrMapOvr>
    <a:masterClrMapping/>
  </p:clrMapOvr>
  <p:transition advTm="600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64215644"/>
      </p:ext>
    </p:extLst>
  </p:cSld>
  <p:clrMapOvr>
    <a:masterClrMapping/>
  </p:clrMapOvr>
  <p:transition advTm="600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8814794"/>
      </p:ext>
    </p:extLst>
  </p:cSld>
  <p:clrMapOvr>
    <a:masterClrMapping/>
  </p:clrMapOvr>
  <p:transition advTm="600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95534"/>
      </p:ext>
    </p:extLst>
  </p:cSld>
  <p:clrMapOvr>
    <a:masterClrMapping/>
  </p:clrMapOvr>
  <p:transition advTm="600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126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1261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9662596"/>
      </p:ext>
    </p:extLst>
  </p:cSld>
  <p:clrMapOvr>
    <a:masterClrMapping/>
  </p:clrMapOvr>
  <p:transition advTm="600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a:prstGeom prst="rect">
            <a:avLst/>
          </a:prstGeom>
        </p:spPr>
        <p:txBody>
          <a:bodyPr/>
          <a:lstStyle/>
          <a:p>
            <a:pPr lvl="0"/>
            <a:endParaRPr lang="en-US" noProof="0"/>
          </a:p>
        </p:txBody>
      </p:sp>
    </p:spTree>
    <p:extLst>
      <p:ext uri="{BB962C8B-B14F-4D97-AF65-F5344CB8AC3E}">
        <p14:creationId xmlns:p14="http://schemas.microsoft.com/office/powerpoint/2010/main" val="2529831775"/>
      </p:ext>
    </p:extLst>
  </p:cSld>
  <p:clrMapOvr>
    <a:masterClrMapping/>
  </p:clrMapOvr>
  <p:transition advTm="6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39" name="Object 15"/>
          <p:cNvGraphicFramePr>
            <a:graphicFrameLocks noChangeAspect="1"/>
          </p:cNvGraphicFramePr>
          <p:nvPr/>
        </p:nvGraphicFramePr>
        <p:xfrm>
          <a:off x="73025" y="61913"/>
          <a:ext cx="9017000" cy="1031875"/>
        </p:xfrm>
        <a:graphic>
          <a:graphicData uri="http://schemas.openxmlformats.org/presentationml/2006/ole">
            <mc:AlternateContent xmlns:mc="http://schemas.openxmlformats.org/markup-compatibility/2006">
              <mc:Choice xmlns:v="urn:schemas-microsoft-com:vml" Requires="v">
                <p:oleObj name="Image" r:id="rId14" imgW="8609524" imgH="1307937" progId="">
                  <p:embed/>
                </p:oleObj>
              </mc:Choice>
              <mc:Fallback>
                <p:oleObj name="Image" r:id="rId14" imgW="8609524" imgH="1307937" progId="">
                  <p:embed/>
                  <p:pic>
                    <p:nvPicPr>
                      <p:cNvPr id="0" name="Picture 69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025" y="61913"/>
                        <a:ext cx="9017000" cy="103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0" name="Rectangle 16"/>
          <p:cNvSpPr>
            <a:spLocks noChangeArrowheads="1"/>
          </p:cNvSpPr>
          <p:nvPr/>
        </p:nvSpPr>
        <p:spPr bwMode="invGray">
          <a:xfrm>
            <a:off x="63501" y="6453188"/>
            <a:ext cx="9045554" cy="3730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 name="Rectangle 17"/>
          <p:cNvSpPr>
            <a:spLocks noChangeArrowheads="1"/>
          </p:cNvSpPr>
          <p:nvPr/>
        </p:nvSpPr>
        <p:spPr bwMode="ltGray">
          <a:xfrm>
            <a:off x="88900" y="1135063"/>
            <a:ext cx="8955088" cy="5265737"/>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7" name="Rectangle 3"/>
          <p:cNvSpPr>
            <a:spLocks noGrp="1" noChangeArrowheads="1"/>
          </p:cNvSpPr>
          <p:nvPr>
            <p:ph type="body" idx="1"/>
          </p:nvPr>
        </p:nvSpPr>
        <p:spPr bwMode="auto">
          <a:xfrm>
            <a:off x="146168" y="1217612"/>
            <a:ext cx="8897819" cy="518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042" name="Group 18"/>
          <p:cNvGrpSpPr>
            <a:grpSpLocks/>
          </p:cNvGrpSpPr>
          <p:nvPr/>
        </p:nvGrpSpPr>
        <p:grpSpPr bwMode="auto">
          <a:xfrm>
            <a:off x="-6350" y="0"/>
            <a:ext cx="9155113" cy="6859588"/>
            <a:chOff x="0" y="0"/>
            <a:chExt cx="5764" cy="4321"/>
          </a:xfrm>
        </p:grpSpPr>
        <p:sp>
          <p:nvSpPr>
            <p:cNvPr id="1043" name="AutoShape 19"/>
            <p:cNvSpPr>
              <a:spLocks noChangeArrowheads="1"/>
            </p:cNvSpPr>
            <p:nvPr/>
          </p:nvSpPr>
          <p:spPr bwMode="white">
            <a:xfrm>
              <a:off x="27" y="24"/>
              <a:ext cx="5712" cy="4274"/>
            </a:xfrm>
            <a:prstGeom prst="roundRect">
              <a:avLst>
                <a:gd name="adj" fmla="val 6227"/>
              </a:avLst>
            </a:prstGeom>
            <a:noFill/>
            <a:ln w="76200">
              <a:solidFill>
                <a:schemeClr val="bg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 name="Freeform 20"/>
            <p:cNvSpPr>
              <a:spLocks/>
            </p:cNvSpPr>
            <p:nvPr/>
          </p:nvSpPr>
          <p:spPr bwMode="white">
            <a:xfrm>
              <a:off x="0" y="0"/>
              <a:ext cx="288" cy="282"/>
            </a:xfrm>
            <a:custGeom>
              <a:avLst/>
              <a:gdLst>
                <a:gd name="T0" fmla="*/ 2 w 288"/>
                <a:gd name="T1" fmla="*/ 282 h 282"/>
                <a:gd name="T2" fmla="*/ 82 w 288"/>
                <a:gd name="T3" fmla="*/ 144 h 282"/>
                <a:gd name="T4" fmla="*/ 165 w 288"/>
                <a:gd name="T5" fmla="*/ 36 h 282"/>
                <a:gd name="T6" fmla="*/ 288 w 288"/>
                <a:gd name="T7" fmla="*/ 0 h 282"/>
                <a:gd name="T8" fmla="*/ 0 w 288"/>
                <a:gd name="T9" fmla="*/ 0 h 282"/>
              </a:gdLst>
              <a:ahLst/>
              <a:cxnLst>
                <a:cxn ang="0">
                  <a:pos x="T0" y="T1"/>
                </a:cxn>
                <a:cxn ang="0">
                  <a:pos x="T2" y="T3"/>
                </a:cxn>
                <a:cxn ang="0">
                  <a:pos x="T4" y="T5"/>
                </a:cxn>
                <a:cxn ang="0">
                  <a:pos x="T6" y="T7"/>
                </a:cxn>
                <a:cxn ang="0">
                  <a:pos x="T8" y="T9"/>
                </a:cxn>
              </a:cxnLst>
              <a:rect l="0" t="0" r="r" b="b"/>
              <a:pathLst>
                <a:path w="288" h="282">
                  <a:moveTo>
                    <a:pt x="2" y="282"/>
                  </a:moveTo>
                  <a:lnTo>
                    <a:pt x="82" y="144"/>
                  </a:lnTo>
                  <a:lnTo>
                    <a:pt x="165" y="36"/>
                  </a:lnTo>
                  <a:lnTo>
                    <a:pt x="288" y="0"/>
                  </a:lnTo>
                  <a:lnTo>
                    <a:pt x="0"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21"/>
            <p:cNvSpPr>
              <a:spLocks/>
            </p:cNvSpPr>
            <p:nvPr/>
          </p:nvSpPr>
          <p:spPr bwMode="white">
            <a:xfrm>
              <a:off x="5" y="3985"/>
              <a:ext cx="244" cy="336"/>
            </a:xfrm>
            <a:custGeom>
              <a:avLst/>
              <a:gdLst>
                <a:gd name="T0" fmla="*/ 243 w 243"/>
                <a:gd name="T1" fmla="*/ 335 h 336"/>
                <a:gd name="T2" fmla="*/ 122 w 243"/>
                <a:gd name="T3" fmla="*/ 239 h 336"/>
                <a:gd name="T4" fmla="*/ 30 w 243"/>
                <a:gd name="T5" fmla="*/ 144 h 336"/>
                <a:gd name="T6" fmla="*/ 0 w 243"/>
                <a:gd name="T7" fmla="*/ 0 h 336"/>
                <a:gd name="T8" fmla="*/ 1 w 243"/>
                <a:gd name="T9" fmla="*/ 336 h 336"/>
              </a:gdLst>
              <a:ahLst/>
              <a:cxnLst>
                <a:cxn ang="0">
                  <a:pos x="T0" y="T1"/>
                </a:cxn>
                <a:cxn ang="0">
                  <a:pos x="T2" y="T3"/>
                </a:cxn>
                <a:cxn ang="0">
                  <a:pos x="T4" y="T5"/>
                </a:cxn>
                <a:cxn ang="0">
                  <a:pos x="T6" y="T7"/>
                </a:cxn>
                <a:cxn ang="0">
                  <a:pos x="T8" y="T9"/>
                </a:cxn>
              </a:cxnLst>
              <a:rect l="0" t="0" r="r" b="b"/>
              <a:pathLst>
                <a:path w="243" h="336">
                  <a:moveTo>
                    <a:pt x="243" y="335"/>
                  </a:moveTo>
                  <a:lnTo>
                    <a:pt x="122" y="239"/>
                  </a:lnTo>
                  <a:lnTo>
                    <a:pt x="30" y="144"/>
                  </a:lnTo>
                  <a:lnTo>
                    <a:pt x="0" y="0"/>
                  </a:lnTo>
                  <a:lnTo>
                    <a:pt x="1" y="336"/>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22"/>
            <p:cNvSpPr>
              <a:spLocks/>
            </p:cNvSpPr>
            <p:nvPr/>
          </p:nvSpPr>
          <p:spPr bwMode="white">
            <a:xfrm>
              <a:off x="5511" y="4029"/>
              <a:ext cx="253" cy="290"/>
            </a:xfrm>
            <a:custGeom>
              <a:avLst/>
              <a:gdLst>
                <a:gd name="T0" fmla="*/ 229 w 232"/>
                <a:gd name="T1" fmla="*/ 0 h 290"/>
                <a:gd name="T2" fmla="*/ 164 w 232"/>
                <a:gd name="T3" fmla="*/ 144 h 290"/>
                <a:gd name="T4" fmla="*/ 98 w 232"/>
                <a:gd name="T5" fmla="*/ 253 h 290"/>
                <a:gd name="T6" fmla="*/ 0 w 232"/>
                <a:gd name="T7" fmla="*/ 290 h 290"/>
                <a:gd name="T8" fmla="*/ 232 w 232"/>
                <a:gd name="T9" fmla="*/ 287 h 290"/>
              </a:gdLst>
              <a:ahLst/>
              <a:cxnLst>
                <a:cxn ang="0">
                  <a:pos x="T0" y="T1"/>
                </a:cxn>
                <a:cxn ang="0">
                  <a:pos x="T2" y="T3"/>
                </a:cxn>
                <a:cxn ang="0">
                  <a:pos x="T4" y="T5"/>
                </a:cxn>
                <a:cxn ang="0">
                  <a:pos x="T6" y="T7"/>
                </a:cxn>
                <a:cxn ang="0">
                  <a:pos x="T8" y="T9"/>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23"/>
            <p:cNvSpPr>
              <a:spLocks/>
            </p:cNvSpPr>
            <p:nvPr/>
          </p:nvSpPr>
          <p:spPr bwMode="white">
            <a:xfrm>
              <a:off x="5472" y="0"/>
              <a:ext cx="288" cy="288"/>
            </a:xfrm>
            <a:custGeom>
              <a:avLst/>
              <a:gdLst>
                <a:gd name="T0" fmla="*/ 0 w 288"/>
                <a:gd name="T1" fmla="*/ 0 h 288"/>
                <a:gd name="T2" fmla="*/ 144 w 288"/>
                <a:gd name="T3" fmla="*/ 82 h 288"/>
                <a:gd name="T4" fmla="*/ 252 w 288"/>
                <a:gd name="T5" fmla="*/ 165 h 288"/>
                <a:gd name="T6" fmla="*/ 288 w 288"/>
                <a:gd name="T7" fmla="*/ 288 h 288"/>
                <a:gd name="T8" fmla="*/ 288 w 288"/>
                <a:gd name="T9" fmla="*/ 0 h 288"/>
              </a:gdLst>
              <a:ahLst/>
              <a:cxnLst>
                <a:cxn ang="0">
                  <a:pos x="T0" y="T1"/>
                </a:cxn>
                <a:cxn ang="0">
                  <a:pos x="T2" y="T3"/>
                </a:cxn>
                <a:cxn ang="0">
                  <a:pos x="T4" y="T5"/>
                </a:cxn>
                <a:cxn ang="0">
                  <a:pos x="T6" y="T7"/>
                </a:cxn>
                <a:cxn ang="0">
                  <a:pos x="T8" y="T9"/>
                </a:cxn>
              </a:cxnLst>
              <a:rect l="0" t="0" r="r" b="b"/>
              <a:pathLst>
                <a:path w="288" h="288">
                  <a:moveTo>
                    <a:pt x="0" y="0"/>
                  </a:moveTo>
                  <a:lnTo>
                    <a:pt x="144" y="82"/>
                  </a:lnTo>
                  <a:lnTo>
                    <a:pt x="252" y="165"/>
                  </a:lnTo>
                  <a:lnTo>
                    <a:pt x="288" y="288"/>
                  </a:lnTo>
                  <a:lnTo>
                    <a:pt x="288"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0" name="Slide Number Placeholder 3"/>
          <p:cNvSpPr txBox="1">
            <a:spLocks/>
          </p:cNvSpPr>
          <p:nvPr userDrawn="1"/>
        </p:nvSpPr>
        <p:spPr>
          <a:xfrm>
            <a:off x="8092442" y="6462713"/>
            <a:ext cx="812588" cy="319087"/>
          </a:xfrm>
          <a:prstGeom prst="rect">
            <a:avLst/>
          </a:prstGeom>
        </p:spPr>
        <p:txBody>
          <a:bodyPr/>
          <a:lstStyle>
            <a:defPPr>
              <a:defRPr lang="en-US"/>
            </a:defPPr>
            <a:lvl1pPr algn="ctr" rtl="0" eaLnBrk="0" fontAlgn="base" hangingPunct="0">
              <a:spcBef>
                <a:spcPct val="0"/>
              </a:spcBef>
              <a:spcAft>
                <a:spcPct val="0"/>
              </a:spcAft>
              <a:defRPr sz="2000" b="1" kern="1200">
                <a:solidFill>
                  <a:schemeClr val="bg1"/>
                </a:solidFill>
                <a:latin typeface="Arial" charset="0"/>
                <a:ea typeface="+mn-ea"/>
                <a:cs typeface="+mn-cs"/>
              </a:defRPr>
            </a:lvl1pPr>
            <a:lvl2pPr marL="457200" algn="ctr" rtl="0" eaLnBrk="0" fontAlgn="base" hangingPunct="0">
              <a:spcBef>
                <a:spcPct val="0"/>
              </a:spcBef>
              <a:spcAft>
                <a:spcPct val="0"/>
              </a:spcAft>
              <a:defRPr sz="2000" b="1" kern="1200">
                <a:solidFill>
                  <a:schemeClr val="bg1"/>
                </a:solidFill>
                <a:latin typeface="Arial" charset="0"/>
                <a:ea typeface="+mn-ea"/>
                <a:cs typeface="+mn-cs"/>
              </a:defRPr>
            </a:lvl2pPr>
            <a:lvl3pPr marL="914400" algn="ctr" rtl="0" eaLnBrk="0" fontAlgn="base" hangingPunct="0">
              <a:spcBef>
                <a:spcPct val="0"/>
              </a:spcBef>
              <a:spcAft>
                <a:spcPct val="0"/>
              </a:spcAft>
              <a:defRPr sz="2000" b="1" kern="1200">
                <a:solidFill>
                  <a:schemeClr val="bg1"/>
                </a:solidFill>
                <a:latin typeface="Arial" charset="0"/>
                <a:ea typeface="+mn-ea"/>
                <a:cs typeface="+mn-cs"/>
              </a:defRPr>
            </a:lvl3pPr>
            <a:lvl4pPr marL="1371600" algn="ctr" rtl="0" eaLnBrk="0" fontAlgn="base" hangingPunct="0">
              <a:spcBef>
                <a:spcPct val="0"/>
              </a:spcBef>
              <a:spcAft>
                <a:spcPct val="0"/>
              </a:spcAft>
              <a:defRPr sz="2000" b="1" kern="1200">
                <a:solidFill>
                  <a:schemeClr val="bg1"/>
                </a:solidFill>
                <a:latin typeface="Arial" charset="0"/>
                <a:ea typeface="+mn-ea"/>
                <a:cs typeface="+mn-cs"/>
              </a:defRPr>
            </a:lvl4pPr>
            <a:lvl5pPr marL="1828800" algn="ctr" rtl="0" eaLnBrk="0" fontAlgn="base" hangingPunct="0">
              <a:spcBef>
                <a:spcPct val="0"/>
              </a:spcBef>
              <a:spcAft>
                <a:spcPct val="0"/>
              </a:spcAft>
              <a:defRPr sz="2000" b="1" kern="1200">
                <a:solidFill>
                  <a:schemeClr val="bg1"/>
                </a:solidFill>
                <a:latin typeface="Arial" charset="0"/>
                <a:ea typeface="+mn-ea"/>
                <a:cs typeface="+mn-cs"/>
              </a:defRPr>
            </a:lvl5pPr>
            <a:lvl6pPr marL="2286000" algn="l" defTabSz="914400" rtl="0" eaLnBrk="1" latinLnBrk="0" hangingPunct="1">
              <a:defRPr sz="2000" b="1" kern="1200">
                <a:solidFill>
                  <a:schemeClr val="bg1"/>
                </a:solidFill>
                <a:latin typeface="Arial" charset="0"/>
                <a:ea typeface="+mn-ea"/>
                <a:cs typeface="+mn-cs"/>
              </a:defRPr>
            </a:lvl6pPr>
            <a:lvl7pPr marL="2743200" algn="l" defTabSz="914400" rtl="0" eaLnBrk="1" latinLnBrk="0" hangingPunct="1">
              <a:defRPr sz="2000" b="1" kern="1200">
                <a:solidFill>
                  <a:schemeClr val="bg1"/>
                </a:solidFill>
                <a:latin typeface="Arial" charset="0"/>
                <a:ea typeface="+mn-ea"/>
                <a:cs typeface="+mn-cs"/>
              </a:defRPr>
            </a:lvl7pPr>
            <a:lvl8pPr marL="3200400" algn="l" defTabSz="914400" rtl="0" eaLnBrk="1" latinLnBrk="0" hangingPunct="1">
              <a:defRPr sz="2000" b="1" kern="1200">
                <a:solidFill>
                  <a:schemeClr val="bg1"/>
                </a:solidFill>
                <a:latin typeface="Arial" charset="0"/>
                <a:ea typeface="+mn-ea"/>
                <a:cs typeface="+mn-cs"/>
              </a:defRPr>
            </a:lvl8pPr>
            <a:lvl9pPr marL="3657600" algn="l" defTabSz="914400" rtl="0" eaLnBrk="1" latinLnBrk="0" hangingPunct="1">
              <a:defRPr sz="2000" b="1" kern="1200">
                <a:solidFill>
                  <a:schemeClr val="bg1"/>
                </a:solidFill>
                <a:latin typeface="Arial" charset="0"/>
                <a:ea typeface="+mn-ea"/>
                <a:cs typeface="+mn-cs"/>
              </a:defRPr>
            </a:lvl9pPr>
          </a:lstStyle>
          <a:p>
            <a:fld id="{34C99D79-8A4B-4031-B1E0-AF26F8EDF2B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1" fontAlgn="base" hangingPunct="1">
        <a:spcBef>
          <a:spcPct val="0"/>
        </a:spcBef>
        <a:spcAft>
          <a:spcPct val="0"/>
        </a:spcAft>
        <a:defRPr sz="3600" b="1">
          <a:solidFill>
            <a:schemeClr val="bg1"/>
          </a:solidFill>
          <a:latin typeface="+mj-lt"/>
          <a:ea typeface="+mj-ea"/>
          <a:cs typeface="+mj-cs"/>
        </a:defRPr>
      </a:lvl1pPr>
      <a:lvl2pPr algn="l" rtl="0" eaLnBrk="1" fontAlgn="base" hangingPunct="1">
        <a:spcBef>
          <a:spcPct val="0"/>
        </a:spcBef>
        <a:spcAft>
          <a:spcPct val="0"/>
        </a:spcAft>
        <a:defRPr sz="3600" b="1">
          <a:solidFill>
            <a:schemeClr val="bg1"/>
          </a:solidFill>
          <a:latin typeface="Arial" charset="0"/>
        </a:defRPr>
      </a:lvl2pPr>
      <a:lvl3pPr algn="l" rtl="0" eaLnBrk="1" fontAlgn="base" hangingPunct="1">
        <a:spcBef>
          <a:spcPct val="0"/>
        </a:spcBef>
        <a:spcAft>
          <a:spcPct val="0"/>
        </a:spcAft>
        <a:defRPr sz="3600" b="1">
          <a:solidFill>
            <a:schemeClr val="bg1"/>
          </a:solidFill>
          <a:latin typeface="Arial" charset="0"/>
        </a:defRPr>
      </a:lvl3pPr>
      <a:lvl4pPr algn="l" rtl="0" eaLnBrk="1" fontAlgn="base" hangingPunct="1">
        <a:spcBef>
          <a:spcPct val="0"/>
        </a:spcBef>
        <a:spcAft>
          <a:spcPct val="0"/>
        </a:spcAft>
        <a:defRPr sz="3600" b="1">
          <a:solidFill>
            <a:schemeClr val="bg1"/>
          </a:solidFill>
          <a:latin typeface="Arial" charset="0"/>
        </a:defRPr>
      </a:lvl4pPr>
      <a:lvl5pPr algn="l" rtl="0" eaLnBrk="1" fontAlgn="base" hangingPunct="1">
        <a:spcBef>
          <a:spcPct val="0"/>
        </a:spcBef>
        <a:spcAft>
          <a:spcPct val="0"/>
        </a:spcAft>
        <a:defRPr sz="3600" b="1">
          <a:solidFill>
            <a:schemeClr val="bg1"/>
          </a:solidFill>
          <a:latin typeface="Arial" charset="0"/>
        </a:defRPr>
      </a:lvl5pPr>
      <a:lvl6pPr marL="457200" algn="l" rtl="0" eaLnBrk="1" fontAlgn="base" hangingPunct="1">
        <a:spcBef>
          <a:spcPct val="0"/>
        </a:spcBef>
        <a:spcAft>
          <a:spcPct val="0"/>
        </a:spcAft>
        <a:defRPr sz="3600" b="1">
          <a:solidFill>
            <a:schemeClr val="bg1"/>
          </a:solidFill>
          <a:latin typeface="Arial" charset="0"/>
        </a:defRPr>
      </a:lvl6pPr>
      <a:lvl7pPr marL="914400" algn="l" rtl="0" eaLnBrk="1" fontAlgn="base" hangingPunct="1">
        <a:spcBef>
          <a:spcPct val="0"/>
        </a:spcBef>
        <a:spcAft>
          <a:spcPct val="0"/>
        </a:spcAft>
        <a:defRPr sz="3600" b="1">
          <a:solidFill>
            <a:schemeClr val="bg1"/>
          </a:solidFill>
          <a:latin typeface="Arial" charset="0"/>
        </a:defRPr>
      </a:lvl7pPr>
      <a:lvl8pPr marL="1371600" algn="l" rtl="0" eaLnBrk="1" fontAlgn="base" hangingPunct="1">
        <a:spcBef>
          <a:spcPct val="0"/>
        </a:spcBef>
        <a:spcAft>
          <a:spcPct val="0"/>
        </a:spcAft>
        <a:defRPr sz="3600" b="1">
          <a:solidFill>
            <a:schemeClr val="bg1"/>
          </a:solidFill>
          <a:latin typeface="Arial" charset="0"/>
        </a:defRPr>
      </a:lvl8pPr>
      <a:lvl9pPr marL="1828800" algn="l" rtl="0" eaLnBrk="1" fontAlgn="base" hangingPunct="1">
        <a:spcBef>
          <a:spcPct val="0"/>
        </a:spcBef>
        <a:spcAft>
          <a:spcPct val="0"/>
        </a:spcAft>
        <a:defRPr sz="3600" b="1">
          <a:solidFill>
            <a:schemeClr val="bg1"/>
          </a:solidFill>
          <a:latin typeface="Arial" charset="0"/>
        </a:defRPr>
      </a:lvl9pPr>
    </p:titleStyle>
    <p:body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j-lt"/>
        </a:defRPr>
      </a:lvl2pPr>
      <a:lvl3pPr marL="1143000" indent="-228600" algn="l" rtl="0" eaLnBrk="1" fontAlgn="base" hangingPunct="1">
        <a:spcBef>
          <a:spcPct val="20000"/>
        </a:spcBef>
        <a:spcAft>
          <a:spcPct val="0"/>
        </a:spcAft>
        <a:buClr>
          <a:schemeClr val="tx1"/>
        </a:buClr>
        <a:buChar char="•"/>
        <a:defRPr sz="2400">
          <a:solidFill>
            <a:schemeClr val="tx1"/>
          </a:solidFill>
          <a:latin typeface="+mj-lt"/>
        </a:defRPr>
      </a:lvl3pPr>
      <a:lvl4pPr marL="1600200" indent="-228600" algn="l" rtl="0" eaLnBrk="1" fontAlgn="base" hangingPunct="1">
        <a:spcBef>
          <a:spcPct val="20000"/>
        </a:spcBef>
        <a:spcAft>
          <a:spcPct val="0"/>
        </a:spcAft>
        <a:buChar char="–"/>
        <a:defRPr sz="2000">
          <a:solidFill>
            <a:schemeClr val="tx1"/>
          </a:solidFill>
          <a:latin typeface="+mj-lt"/>
        </a:defRPr>
      </a:lvl4pPr>
      <a:lvl5pPr marL="2057400" indent="-228600" algn="l" rtl="0" eaLnBrk="1" fontAlgn="base" hangingPunct="1">
        <a:spcBef>
          <a:spcPct val="20000"/>
        </a:spcBef>
        <a:spcAft>
          <a:spcPct val="0"/>
        </a:spcAft>
        <a:buChar char="»"/>
        <a:defRPr sz="2000">
          <a:solidFill>
            <a:schemeClr val="tx1"/>
          </a:solidFill>
          <a:latin typeface="+mj-lt"/>
        </a:defRPr>
      </a:lvl5pPr>
      <a:lvl6pPr marL="2514600" indent="-228600" algn="l" rtl="0" eaLnBrk="1" fontAlgn="base" hangingPunct="1">
        <a:spcBef>
          <a:spcPct val="20000"/>
        </a:spcBef>
        <a:spcAft>
          <a:spcPct val="0"/>
        </a:spcAft>
        <a:buChar char="»"/>
        <a:defRPr sz="2000">
          <a:solidFill>
            <a:schemeClr val="tx1"/>
          </a:solidFill>
          <a:latin typeface="+mj-lt"/>
        </a:defRPr>
      </a:lvl6pPr>
      <a:lvl7pPr marL="2971800" indent="-228600" algn="l" rtl="0" eaLnBrk="1" fontAlgn="base" hangingPunct="1">
        <a:spcBef>
          <a:spcPct val="20000"/>
        </a:spcBef>
        <a:spcAft>
          <a:spcPct val="0"/>
        </a:spcAft>
        <a:buChar char="»"/>
        <a:defRPr sz="2000">
          <a:solidFill>
            <a:schemeClr val="tx1"/>
          </a:solidFill>
          <a:latin typeface="+mj-lt"/>
        </a:defRPr>
      </a:lvl7pPr>
      <a:lvl8pPr marL="3429000" indent="-228600" algn="l" rtl="0" eaLnBrk="1" fontAlgn="base" hangingPunct="1">
        <a:spcBef>
          <a:spcPct val="20000"/>
        </a:spcBef>
        <a:spcAft>
          <a:spcPct val="0"/>
        </a:spcAft>
        <a:buChar char="»"/>
        <a:defRPr sz="2000">
          <a:solidFill>
            <a:schemeClr val="tx1"/>
          </a:solidFill>
          <a:latin typeface="+mj-lt"/>
        </a:defRPr>
      </a:lvl8pPr>
      <a:lvl9pPr marL="3886200" indent="-228600" algn="l" rtl="0" eaLnBrk="1" fontAlgn="base" hangingPunct="1">
        <a:spcBef>
          <a:spcPct val="20000"/>
        </a:spcBef>
        <a:spcAft>
          <a:spcPct val="0"/>
        </a:spcAft>
        <a:buChar char="»"/>
        <a:defRPr sz="2000">
          <a:solidFill>
            <a:schemeClr val="tx1"/>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B21400-C337-4FAC-8F14-98A3D453E30D}" type="datetimeFigureOut">
              <a:rPr lang="en-US" smtClean="0"/>
              <a:pPr/>
              <a:t>5/9/2024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3876C-4542-4C64-B641-17DD424954FD}" type="slidenum">
              <a:rPr lang="en-US" smtClean="0"/>
              <a:pPr/>
              <a:t>‹#›</a:t>
            </a:fld>
            <a:endParaRPr lang="en-US"/>
          </a:p>
        </p:txBody>
      </p:sp>
    </p:spTree>
    <p:extLst>
      <p:ext uri="{BB962C8B-B14F-4D97-AF65-F5344CB8AC3E}">
        <p14:creationId xmlns:p14="http://schemas.microsoft.com/office/powerpoint/2010/main" val="99485104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A7DFF08-AE10-49EB-EEFB-AB610441D581}"/>
              </a:ext>
            </a:extLst>
          </p:cNvPr>
          <p:cNvSpPr>
            <a:spLocks noGrp="1" noChangeArrowheads="1"/>
          </p:cNvSpPr>
          <p:nvPr>
            <p:ph type="title"/>
          </p:nvPr>
        </p:nvSpPr>
        <p:spPr bwMode="auto">
          <a:xfrm>
            <a:off x="0" y="0"/>
            <a:ext cx="9144000" cy="6858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PowerPoint 2003</a:t>
            </a:r>
          </a:p>
        </p:txBody>
      </p:sp>
      <p:sp>
        <p:nvSpPr>
          <p:cNvPr id="1027" name="Text Box 9">
            <a:extLst>
              <a:ext uri="{FF2B5EF4-FFF2-40B4-BE49-F238E27FC236}">
                <a16:creationId xmlns:a16="http://schemas.microsoft.com/office/drawing/2014/main" id="{E4E90F93-0BC5-0FD3-2DCB-4544BD372801}"/>
              </a:ext>
            </a:extLst>
          </p:cNvPr>
          <p:cNvSpPr txBox="1">
            <a:spLocks noChangeArrowheads="1"/>
          </p:cNvSpPr>
          <p:nvPr/>
        </p:nvSpPr>
        <p:spPr bwMode="auto">
          <a:xfrm>
            <a:off x="0" y="6557963"/>
            <a:ext cx="9144000" cy="36671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sz="1400" i="1">
                <a:solidFill>
                  <a:schemeClr val="bg1"/>
                </a:solidFill>
              </a:rPr>
              <a:t>Đại học Hòa Bình</a:t>
            </a:r>
            <a:r>
              <a:rPr lang="en-US" altLang="en-US" sz="1800" i="1">
                <a:solidFill>
                  <a:schemeClr val="bg1"/>
                </a:solidFill>
              </a:rPr>
              <a:t>							            </a:t>
            </a:r>
            <a:fld id="{7CF44527-3ADD-4E7A-8769-0FD03A899917}" type="slidenum">
              <a:rPr lang="en-US" altLang="en-US" sz="1400" i="1">
                <a:solidFill>
                  <a:schemeClr val="bg1"/>
                </a:solidFill>
              </a:rPr>
              <a:pPr>
                <a:spcBef>
                  <a:spcPct val="50000"/>
                </a:spcBef>
              </a:pPr>
              <a:t>‹#›</a:t>
            </a:fld>
            <a:r>
              <a:rPr lang="en-US" altLang="en-US" sz="1400" i="1">
                <a:solidFill>
                  <a:schemeClr val="bg1"/>
                </a:solidFill>
              </a:rPr>
              <a:t>/33</a:t>
            </a:r>
          </a:p>
        </p:txBody>
      </p:sp>
    </p:spTree>
    <p:extLst>
      <p:ext uri="{BB962C8B-B14F-4D97-AF65-F5344CB8AC3E}">
        <p14:creationId xmlns:p14="http://schemas.microsoft.com/office/powerpoint/2010/main" val="369994257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advTm="600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Verdana" pitchFamily="34" charset="0"/>
        </a:defRPr>
      </a:lvl2pPr>
      <a:lvl3pPr algn="ctr" rtl="0" eaLnBrk="0" fontAlgn="base" hangingPunct="0">
        <a:spcBef>
          <a:spcPct val="0"/>
        </a:spcBef>
        <a:spcAft>
          <a:spcPct val="0"/>
        </a:spcAft>
        <a:defRPr sz="3600">
          <a:solidFill>
            <a:schemeClr val="bg1"/>
          </a:solidFill>
          <a:latin typeface="Verdana" pitchFamily="34" charset="0"/>
        </a:defRPr>
      </a:lvl3pPr>
      <a:lvl4pPr algn="ctr" rtl="0" eaLnBrk="0" fontAlgn="base" hangingPunct="0">
        <a:spcBef>
          <a:spcPct val="0"/>
        </a:spcBef>
        <a:spcAft>
          <a:spcPct val="0"/>
        </a:spcAft>
        <a:defRPr sz="3600">
          <a:solidFill>
            <a:schemeClr val="bg1"/>
          </a:solidFill>
          <a:latin typeface="Verdana" pitchFamily="34" charset="0"/>
        </a:defRPr>
      </a:lvl4pPr>
      <a:lvl5pPr algn="ctr" rtl="0" eaLnBrk="0" fontAlgn="base" hangingPunct="0">
        <a:spcBef>
          <a:spcPct val="0"/>
        </a:spcBef>
        <a:spcAft>
          <a:spcPct val="0"/>
        </a:spcAft>
        <a:defRPr sz="3600">
          <a:solidFill>
            <a:schemeClr val="bg1"/>
          </a:solidFill>
          <a:latin typeface="Verdana" pitchFamily="34" charset="0"/>
        </a:defRPr>
      </a:lvl5pPr>
      <a:lvl6pPr marL="457200" algn="ctr" rtl="0" fontAlgn="base">
        <a:spcBef>
          <a:spcPct val="0"/>
        </a:spcBef>
        <a:spcAft>
          <a:spcPct val="0"/>
        </a:spcAft>
        <a:defRPr sz="3600">
          <a:solidFill>
            <a:schemeClr val="bg1"/>
          </a:solidFill>
          <a:latin typeface="Verdana" pitchFamily="34" charset="0"/>
        </a:defRPr>
      </a:lvl6pPr>
      <a:lvl7pPr marL="914400" algn="ctr" rtl="0" fontAlgn="base">
        <a:spcBef>
          <a:spcPct val="0"/>
        </a:spcBef>
        <a:spcAft>
          <a:spcPct val="0"/>
        </a:spcAft>
        <a:defRPr sz="3600">
          <a:solidFill>
            <a:schemeClr val="bg1"/>
          </a:solidFill>
          <a:latin typeface="Verdana" pitchFamily="34" charset="0"/>
        </a:defRPr>
      </a:lvl7pPr>
      <a:lvl8pPr marL="1371600" algn="ctr" rtl="0" fontAlgn="base">
        <a:spcBef>
          <a:spcPct val="0"/>
        </a:spcBef>
        <a:spcAft>
          <a:spcPct val="0"/>
        </a:spcAft>
        <a:defRPr sz="3600">
          <a:solidFill>
            <a:schemeClr val="bg1"/>
          </a:solidFill>
          <a:latin typeface="Verdana" pitchFamily="34" charset="0"/>
        </a:defRPr>
      </a:lvl8pPr>
      <a:lvl9pPr marL="1828800" algn="ctr" rtl="0" fontAlgn="base">
        <a:spcBef>
          <a:spcPct val="0"/>
        </a:spcBef>
        <a:spcAft>
          <a:spcPct val="0"/>
        </a:spcAft>
        <a:defRPr sz="3600">
          <a:solidFill>
            <a:schemeClr val="bg1"/>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5.xml"/><Relationship Id="rId5" Type="http://schemas.openxmlformats.org/officeDocument/2006/relationships/image" Target="../media/image35.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5.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5.xm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5.xml"/><Relationship Id="rId4" Type="http://schemas.openxmlformats.org/officeDocument/2006/relationships/image" Target="../media/image56.png"/></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152400" y="3505200"/>
            <a:ext cx="8991600" cy="838200"/>
          </a:xfrm>
          <a:prstGeom prst="rect">
            <a:avLst/>
          </a:prstGeom>
        </p:spPr>
        <p:txBody>
          <a:bodyPr/>
          <a:lstStyle/>
          <a:p>
            <a:pPr algn="ctr">
              <a:lnSpc>
                <a:spcPct val="120000"/>
              </a:lnSpc>
            </a:pPr>
            <a:r>
              <a:rPr lang="en-US" sz="6000">
                <a:solidFill>
                  <a:srgbClr val="FFFF00"/>
                </a:solidFill>
                <a:latin typeface="Tahoma" pitchFamily="34" charset="0"/>
                <a:cs typeface="Tahoma" pitchFamily="34" charset="0"/>
              </a:rPr>
              <a:t>LẬP TRÌNH. NET</a:t>
            </a:r>
          </a:p>
        </p:txBody>
      </p:sp>
      <p:sp>
        <p:nvSpPr>
          <p:cNvPr id="6" name="Rectangle 3"/>
          <p:cNvSpPr txBox="1">
            <a:spLocks noChangeArrowheads="1"/>
          </p:cNvSpPr>
          <p:nvPr/>
        </p:nvSpPr>
        <p:spPr>
          <a:xfrm>
            <a:off x="1676400" y="4800600"/>
            <a:ext cx="7086600" cy="1600200"/>
          </a:xfrm>
          <a:prstGeom prst="rect">
            <a:avLst/>
          </a:prstGeom>
        </p:spPr>
        <p:txBody>
          <a:bodyPr/>
          <a:lst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j-lt"/>
              </a:defRPr>
            </a:lvl2pPr>
            <a:lvl3pPr marL="1143000" indent="-228600" algn="l" rtl="0" eaLnBrk="1" fontAlgn="base" hangingPunct="1">
              <a:spcBef>
                <a:spcPct val="20000"/>
              </a:spcBef>
              <a:spcAft>
                <a:spcPct val="0"/>
              </a:spcAft>
              <a:buClr>
                <a:schemeClr val="tx1"/>
              </a:buClr>
              <a:buChar char="•"/>
              <a:defRPr sz="2400">
                <a:solidFill>
                  <a:schemeClr val="tx1"/>
                </a:solidFill>
                <a:latin typeface="+mj-lt"/>
              </a:defRPr>
            </a:lvl3pPr>
            <a:lvl4pPr marL="1600200" indent="-228600" algn="l" rtl="0" eaLnBrk="1" fontAlgn="base" hangingPunct="1">
              <a:spcBef>
                <a:spcPct val="20000"/>
              </a:spcBef>
              <a:spcAft>
                <a:spcPct val="0"/>
              </a:spcAft>
              <a:buChar char="–"/>
              <a:defRPr sz="2000">
                <a:solidFill>
                  <a:schemeClr val="tx1"/>
                </a:solidFill>
                <a:latin typeface="+mj-lt"/>
              </a:defRPr>
            </a:lvl4pPr>
            <a:lvl5pPr marL="2057400" indent="-228600" algn="l" rtl="0" eaLnBrk="1" fontAlgn="base" hangingPunct="1">
              <a:spcBef>
                <a:spcPct val="20000"/>
              </a:spcBef>
              <a:spcAft>
                <a:spcPct val="0"/>
              </a:spcAft>
              <a:buChar char="»"/>
              <a:defRPr sz="2000">
                <a:solidFill>
                  <a:schemeClr val="tx1"/>
                </a:solidFill>
                <a:latin typeface="+mj-lt"/>
              </a:defRPr>
            </a:lvl5pPr>
            <a:lvl6pPr marL="2514600" indent="-228600" algn="l" rtl="0" eaLnBrk="1" fontAlgn="base" hangingPunct="1">
              <a:spcBef>
                <a:spcPct val="20000"/>
              </a:spcBef>
              <a:spcAft>
                <a:spcPct val="0"/>
              </a:spcAft>
              <a:buChar char="»"/>
              <a:defRPr sz="2000">
                <a:solidFill>
                  <a:schemeClr val="tx1"/>
                </a:solidFill>
                <a:latin typeface="+mj-lt"/>
              </a:defRPr>
            </a:lvl6pPr>
            <a:lvl7pPr marL="2971800" indent="-228600" algn="l" rtl="0" eaLnBrk="1" fontAlgn="base" hangingPunct="1">
              <a:spcBef>
                <a:spcPct val="20000"/>
              </a:spcBef>
              <a:spcAft>
                <a:spcPct val="0"/>
              </a:spcAft>
              <a:buChar char="»"/>
              <a:defRPr sz="2000">
                <a:solidFill>
                  <a:schemeClr val="tx1"/>
                </a:solidFill>
                <a:latin typeface="+mj-lt"/>
              </a:defRPr>
            </a:lvl7pPr>
            <a:lvl8pPr marL="3429000" indent="-228600" algn="l" rtl="0" eaLnBrk="1" fontAlgn="base" hangingPunct="1">
              <a:spcBef>
                <a:spcPct val="20000"/>
              </a:spcBef>
              <a:spcAft>
                <a:spcPct val="0"/>
              </a:spcAft>
              <a:buChar char="»"/>
              <a:defRPr sz="2000">
                <a:solidFill>
                  <a:schemeClr val="tx1"/>
                </a:solidFill>
                <a:latin typeface="+mj-lt"/>
              </a:defRPr>
            </a:lvl8pPr>
            <a:lvl9pPr marL="3886200" indent="-228600" algn="l" rtl="0" eaLnBrk="1" fontAlgn="base" hangingPunct="1">
              <a:spcBef>
                <a:spcPct val="20000"/>
              </a:spcBef>
              <a:spcAft>
                <a:spcPct val="0"/>
              </a:spcAft>
              <a:buChar char="»"/>
              <a:defRPr sz="2000">
                <a:solidFill>
                  <a:schemeClr val="tx1"/>
                </a:solidFill>
                <a:latin typeface="+mj-lt"/>
              </a:defRPr>
            </a:lvl9pPr>
          </a:lstStyle>
          <a:p>
            <a:pPr marL="0" indent="0">
              <a:lnSpc>
                <a:spcPct val="110000"/>
              </a:lnSpc>
              <a:buNone/>
            </a:pPr>
            <a:r>
              <a:rPr lang="en-US" sz="2100">
                <a:solidFill>
                  <a:schemeClr val="bg1"/>
                </a:solidFill>
                <a:latin typeface="Arial" pitchFamily="34" charset="0"/>
                <a:cs typeface="Arial" pitchFamily="34" charset="0"/>
              </a:rPr>
              <a:t>Giảng viên: Th.s Nguyễn Thu Hằng</a:t>
            </a:r>
          </a:p>
          <a:p>
            <a:pPr marL="0" indent="0">
              <a:lnSpc>
                <a:spcPct val="110000"/>
              </a:lnSpc>
              <a:buNone/>
            </a:pPr>
            <a:r>
              <a:rPr lang="en-US" sz="2100">
                <a:solidFill>
                  <a:schemeClr val="bg1"/>
                </a:solidFill>
                <a:latin typeface="Arial" pitchFamily="34" charset="0"/>
                <a:cs typeface="Arial" pitchFamily="34" charset="0"/>
              </a:rPr>
              <a:t>Email: hangnt1@eaut.edu.vn</a:t>
            </a:r>
          </a:p>
          <a:p>
            <a:pPr marL="0" indent="0">
              <a:lnSpc>
                <a:spcPct val="110000"/>
              </a:lnSpc>
              <a:buNone/>
            </a:pPr>
            <a:r>
              <a:rPr lang="en-US" sz="2100">
                <a:solidFill>
                  <a:schemeClr val="bg1"/>
                </a:solidFill>
                <a:latin typeface="Arial" pitchFamily="34" charset="0"/>
                <a:cs typeface="Arial" pitchFamily="34" charset="0"/>
              </a:rPr>
              <a:t>Bộ môn Công nghệ phần mềm</a:t>
            </a:r>
          </a:p>
          <a:p>
            <a:pPr marL="0" indent="0">
              <a:lnSpc>
                <a:spcPct val="110000"/>
              </a:lnSpc>
              <a:buNone/>
            </a:pPr>
            <a:r>
              <a:rPr lang="en-US" sz="2100">
                <a:solidFill>
                  <a:schemeClr val="bg1"/>
                </a:solidFill>
                <a:latin typeface="Arial" pitchFamily="34" charset="0"/>
                <a:cs typeface="Arial" pitchFamily="34" charset="0"/>
              </a:rPr>
              <a:t>Khoa Công nghệ thông tin – ĐH Công nghệ Đông Á</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157843" y="3407228"/>
            <a:ext cx="8991600" cy="1698171"/>
          </a:xfrm>
          <a:prstGeom prst="rect">
            <a:avLst/>
          </a:prstGeom>
        </p:spPr>
        <p:txBody>
          <a:bodyPr/>
          <a:lstStyle/>
          <a:p>
            <a:pPr algn="ctr">
              <a:lnSpc>
                <a:spcPct val="120000"/>
              </a:lnSpc>
            </a:pPr>
            <a:r>
              <a:rPr lang="vi-VN" sz="4000">
                <a:solidFill>
                  <a:srgbClr val="FFFF00"/>
                </a:solidFill>
                <a:latin typeface="Tahoma" pitchFamily="34" charset="0"/>
                <a:cs typeface="Tahoma" pitchFamily="34" charset="0"/>
              </a:rPr>
              <a:t>Chương 2. Lập trình hướng đối tượng với C#</a:t>
            </a:r>
          </a:p>
        </p:txBody>
      </p:sp>
    </p:spTree>
    <p:extLst>
      <p:ext uri="{BB962C8B-B14F-4D97-AF65-F5344CB8AC3E}">
        <p14:creationId xmlns:p14="http://schemas.microsoft.com/office/powerpoint/2010/main" val="2026482899"/>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A07EB89-8A23-85A4-794E-F986A9C4A5F9}"/>
              </a:ext>
            </a:extLst>
          </p:cNvPr>
          <p:cNvSpPr>
            <a:spLocks noGrp="1" noChangeArrowheads="1"/>
          </p:cNvSpPr>
          <p:nvPr>
            <p:ph type="title"/>
          </p:nvPr>
        </p:nvSpPr>
        <p:spPr/>
        <p:txBody>
          <a:bodyPr/>
          <a:lstStyle/>
          <a:p>
            <a:pPr eaLnBrk="1" hangingPunct="1">
              <a:defRPr/>
            </a:pPr>
            <a:r>
              <a:rPr lang="en-US" altLang="en-US" sz="2800" b="1"/>
              <a:t>1. Giới thiệu về ngôn ngữ lập trình C#</a:t>
            </a:r>
          </a:p>
        </p:txBody>
      </p:sp>
      <p:sp>
        <p:nvSpPr>
          <p:cNvPr id="17411" name="Rectangle 4">
            <a:extLst>
              <a:ext uri="{FF2B5EF4-FFF2-40B4-BE49-F238E27FC236}">
                <a16:creationId xmlns:a16="http://schemas.microsoft.com/office/drawing/2014/main" id="{0152276C-999D-7E63-3AC2-6B127833FA36}"/>
              </a:ext>
            </a:extLst>
          </p:cNvPr>
          <p:cNvSpPr>
            <a:spLocks noChangeArrowheads="1"/>
          </p:cNvSpPr>
          <p:nvPr/>
        </p:nvSpPr>
        <p:spPr bwMode="auto">
          <a:xfrm>
            <a:off x="138113" y="836613"/>
            <a:ext cx="7521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Giới thiệu ngôn ngữ lập trình C#.net</a:t>
            </a:r>
            <a:r>
              <a:rPr kumimoji="0" lang="en-US" altLang="en-US" sz="24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 </a:t>
            </a:r>
          </a:p>
        </p:txBody>
      </p:sp>
      <p:sp>
        <p:nvSpPr>
          <p:cNvPr id="371717" name="Rectangle 5">
            <a:extLst>
              <a:ext uri="{FF2B5EF4-FFF2-40B4-BE49-F238E27FC236}">
                <a16:creationId xmlns:a16="http://schemas.microsoft.com/office/drawing/2014/main" id="{A3068ED4-EA6A-9863-14AD-9901E650598B}"/>
              </a:ext>
            </a:extLst>
          </p:cNvPr>
          <p:cNvSpPr>
            <a:spLocks noChangeArrowheads="1"/>
          </p:cNvSpPr>
          <p:nvPr/>
        </p:nvSpPr>
        <p:spPr bwMode="auto">
          <a:xfrm>
            <a:off x="528638" y="1414463"/>
            <a:ext cx="845820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1" fontAlgn="base" latinLnBrk="0" hangingPunct="1">
              <a:lnSpc>
                <a:spcPct val="120000"/>
              </a:lnSpc>
              <a:spcBef>
                <a:spcPct val="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C# được xây dựng và kiến trúc bởi Anders Hejlsberg, người đã viết nên trình biên dịch Pascal và có nhiều đóng góp cho Delphi cũng như Java </a:t>
            </a:r>
          </a:p>
        </p:txBody>
      </p:sp>
      <p:sp>
        <p:nvSpPr>
          <p:cNvPr id="371718" name="Rectangle 6">
            <a:extLst>
              <a:ext uri="{FF2B5EF4-FFF2-40B4-BE49-F238E27FC236}">
                <a16:creationId xmlns:a16="http://schemas.microsoft.com/office/drawing/2014/main" id="{62433923-B46A-DB7E-635E-8B041BAD2A3C}"/>
              </a:ext>
            </a:extLst>
          </p:cNvPr>
          <p:cNvSpPr>
            <a:spLocks noChangeArrowheads="1"/>
          </p:cNvSpPr>
          <p:nvPr/>
        </p:nvSpPr>
        <p:spPr bwMode="auto">
          <a:xfrm>
            <a:off x="533400" y="2955925"/>
            <a:ext cx="84201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1" fontAlgn="base" latinLnBrk="0" hangingPunct="1">
              <a:lnSpc>
                <a:spcPct val="120000"/>
              </a:lnSpc>
              <a:spcBef>
                <a:spcPct val="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C# là một trong rất nhiều ngôn ngữ lập trình được hỗ trợ bởi .NET Framework </a:t>
            </a:r>
          </a:p>
        </p:txBody>
      </p:sp>
      <p:sp>
        <p:nvSpPr>
          <p:cNvPr id="371720" name="Rectangle 8">
            <a:extLst>
              <a:ext uri="{FF2B5EF4-FFF2-40B4-BE49-F238E27FC236}">
                <a16:creationId xmlns:a16="http://schemas.microsoft.com/office/drawing/2014/main" id="{8567E1A8-C093-9EB7-4429-0475C44DA521}"/>
              </a:ext>
            </a:extLst>
          </p:cNvPr>
          <p:cNvSpPr>
            <a:spLocks noChangeArrowheads="1"/>
          </p:cNvSpPr>
          <p:nvPr/>
        </p:nvSpPr>
        <p:spPr bwMode="auto">
          <a:xfrm>
            <a:off x="566738" y="4087813"/>
            <a:ext cx="83058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1" fontAlgn="base" latinLnBrk="0" hangingPunct="1">
              <a:lnSpc>
                <a:spcPct val="120000"/>
              </a:lnSpc>
              <a:spcBef>
                <a:spcPct val="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C# do Microsoft đề ra là ngôn ngữ hướng đối tượng rất thuần nhất và trong sáng, nó hiện thực hầu hết các tính chất tốt của mô hình hướng đối tượng giống như Java. </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1717"/>
                                        </p:tgtEl>
                                        <p:attrNameLst>
                                          <p:attrName>style.visibility</p:attrName>
                                        </p:attrNameLst>
                                      </p:cBhvr>
                                      <p:to>
                                        <p:strVal val="visible"/>
                                      </p:to>
                                    </p:set>
                                    <p:animEffect transition="in" filter="box(in)">
                                      <p:cBhvr>
                                        <p:cTn id="7" dur="1000"/>
                                        <p:tgtEl>
                                          <p:spTgt spid="3717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1718"/>
                                        </p:tgtEl>
                                        <p:attrNameLst>
                                          <p:attrName>style.visibility</p:attrName>
                                        </p:attrNameLst>
                                      </p:cBhvr>
                                      <p:to>
                                        <p:strVal val="visible"/>
                                      </p:to>
                                    </p:set>
                                    <p:animEffect transition="in" filter="box(in)">
                                      <p:cBhvr>
                                        <p:cTn id="12" dur="1000"/>
                                        <p:tgtEl>
                                          <p:spTgt spid="3717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1720"/>
                                        </p:tgtEl>
                                        <p:attrNameLst>
                                          <p:attrName>style.visibility</p:attrName>
                                        </p:attrNameLst>
                                      </p:cBhvr>
                                      <p:to>
                                        <p:strVal val="visible"/>
                                      </p:to>
                                    </p:set>
                                    <p:animEffect transition="in" filter="box(in)">
                                      <p:cBhvr>
                                        <p:cTn id="17" dur="1000"/>
                                        <p:tgtEl>
                                          <p:spTgt spid="371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p:bldP spid="371718" grpId="0"/>
      <p:bldP spid="371720"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10961C5-4CE0-5AC0-082C-31DE795B5DEA}"/>
              </a:ext>
            </a:extLst>
          </p:cNvPr>
          <p:cNvSpPr>
            <a:spLocks noGrp="1" noChangeArrowheads="1"/>
          </p:cNvSpPr>
          <p:nvPr>
            <p:ph type="title"/>
          </p:nvPr>
        </p:nvSpPr>
        <p:spPr/>
        <p:txBody>
          <a:bodyPr/>
          <a:lstStyle/>
          <a:p>
            <a:pPr eaLnBrk="1" hangingPunct="1">
              <a:defRPr/>
            </a:pPr>
            <a:r>
              <a:rPr lang="en-US" altLang="en-US" sz="2800" b="1"/>
              <a:t>1. Giới thiệu về ngôn ngữ lập trình C#</a:t>
            </a:r>
          </a:p>
        </p:txBody>
      </p:sp>
      <p:sp>
        <p:nvSpPr>
          <p:cNvPr id="389124" name="Rectangle 4">
            <a:extLst>
              <a:ext uri="{FF2B5EF4-FFF2-40B4-BE49-F238E27FC236}">
                <a16:creationId xmlns:a16="http://schemas.microsoft.com/office/drawing/2014/main" id="{44A14892-6CB2-5801-1F55-EF3931D48710}"/>
              </a:ext>
            </a:extLst>
          </p:cNvPr>
          <p:cNvSpPr>
            <a:spLocks noChangeArrowheads="1"/>
          </p:cNvSpPr>
          <p:nvPr/>
        </p:nvSpPr>
        <p:spPr bwMode="auto">
          <a:xfrm>
            <a:off x="533400" y="2400300"/>
            <a:ext cx="86106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Ngôn ngữ C# chứa các từ khóa cho việc khai báo những kiểu lớp đối tượng mới và những phương thức hay thuộc tính của lớp và cho việc thực thi đóng gói, kế thừa, và đa hình </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sym typeface="Symbol" panose="05050102010706020507" pitchFamily="18" charset="2"/>
              </a:rPr>
              <a:t></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 ba thuộc tính cơ bản của bất cứ ngôn ngữ lập trình hướng đối tượng.</a:t>
            </a:r>
          </a:p>
        </p:txBody>
      </p:sp>
      <p:sp>
        <p:nvSpPr>
          <p:cNvPr id="389125" name="Rectangle 5">
            <a:extLst>
              <a:ext uri="{FF2B5EF4-FFF2-40B4-BE49-F238E27FC236}">
                <a16:creationId xmlns:a16="http://schemas.microsoft.com/office/drawing/2014/main" id="{35F53609-FD9A-D8D1-3936-7A9E1B69026E}"/>
              </a:ext>
            </a:extLst>
          </p:cNvPr>
          <p:cNvSpPr>
            <a:spLocks noChangeArrowheads="1"/>
          </p:cNvSpPr>
          <p:nvPr/>
        </p:nvSpPr>
        <p:spPr bwMode="auto">
          <a:xfrm>
            <a:off x="552450" y="4348163"/>
            <a:ext cx="85344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C# hỗ trợ giao diện interface, nó được xem như một cam kết với một lớp cho những dịch vụ mà giao diện quy định. Trong ngôn ngữ C#, một lớp chỉ có thể kế thừa từ duy nhất một lớp cha, tức là không cho đa kế thừa như trong ngôn ngữ C++, tuy nhiên một lớp có thể thực thi nhiều giao diện.</a:t>
            </a:r>
          </a:p>
        </p:txBody>
      </p:sp>
      <p:sp>
        <p:nvSpPr>
          <p:cNvPr id="389128" name="Rectangle 8">
            <a:extLst>
              <a:ext uri="{FF2B5EF4-FFF2-40B4-BE49-F238E27FC236}">
                <a16:creationId xmlns:a16="http://schemas.microsoft.com/office/drawing/2014/main" id="{87D42C2D-F6DF-7692-83EB-A5764DE0C045}"/>
              </a:ext>
            </a:extLst>
          </p:cNvPr>
          <p:cNvSpPr>
            <a:spLocks noChangeArrowheads="1"/>
          </p:cNvSpPr>
          <p:nvPr/>
        </p:nvSpPr>
        <p:spPr bwMode="auto">
          <a:xfrm>
            <a:off x="523875" y="809625"/>
            <a:ext cx="8305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C# sẽ được dịch ra mã máy để chạy trên nền .Net, nền này cung cấp rất nhiều đối tượng mạnh, phong phú và đa dạng để giải quyết nhiều vấn đề phổ biến trong lập trình </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9128"/>
                                        </p:tgtEl>
                                        <p:attrNameLst>
                                          <p:attrName>style.visibility</p:attrName>
                                        </p:attrNameLst>
                                      </p:cBhvr>
                                      <p:to>
                                        <p:strVal val="visible"/>
                                      </p:to>
                                    </p:set>
                                    <p:animEffect transition="in" filter="box(in)">
                                      <p:cBhvr>
                                        <p:cTn id="7" dur="1000"/>
                                        <p:tgtEl>
                                          <p:spTgt spid="3891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9124"/>
                                        </p:tgtEl>
                                        <p:attrNameLst>
                                          <p:attrName>style.visibility</p:attrName>
                                        </p:attrNameLst>
                                      </p:cBhvr>
                                      <p:to>
                                        <p:strVal val="visible"/>
                                      </p:to>
                                    </p:set>
                                    <p:animEffect transition="in" filter="box(in)">
                                      <p:cBhvr>
                                        <p:cTn id="12" dur="1000"/>
                                        <p:tgtEl>
                                          <p:spTgt spid="3891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9125"/>
                                        </p:tgtEl>
                                        <p:attrNameLst>
                                          <p:attrName>style.visibility</p:attrName>
                                        </p:attrNameLst>
                                      </p:cBhvr>
                                      <p:to>
                                        <p:strVal val="visible"/>
                                      </p:to>
                                    </p:set>
                                    <p:animEffect transition="in" filter="box(in)">
                                      <p:cBhvr>
                                        <p:cTn id="17" dur="1000"/>
                                        <p:tgtEl>
                                          <p:spTgt spid="389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4" grpId="0"/>
      <p:bldP spid="389125" grpId="0"/>
      <p:bldP spid="38912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91F7ED0-0003-C2EC-901A-F7A427635FCE}"/>
              </a:ext>
            </a:extLst>
          </p:cNvPr>
          <p:cNvSpPr>
            <a:spLocks noGrp="1" noChangeArrowheads="1"/>
          </p:cNvSpPr>
          <p:nvPr>
            <p:ph type="title"/>
          </p:nvPr>
        </p:nvSpPr>
        <p:spPr/>
        <p:txBody>
          <a:bodyPr/>
          <a:lstStyle/>
          <a:p>
            <a:pPr eaLnBrk="1" hangingPunct="1">
              <a:defRPr/>
            </a:pPr>
            <a:r>
              <a:rPr lang="en-US" altLang="en-US" sz="2800" b="1"/>
              <a:t>1. Giới thiệu về ngôn ngữ lập trình C#</a:t>
            </a:r>
          </a:p>
        </p:txBody>
      </p:sp>
      <p:sp>
        <p:nvSpPr>
          <p:cNvPr id="19459" name="Rectangle 4">
            <a:extLst>
              <a:ext uri="{FF2B5EF4-FFF2-40B4-BE49-F238E27FC236}">
                <a16:creationId xmlns:a16="http://schemas.microsoft.com/office/drawing/2014/main" id="{B4BB65B3-6C97-1B7C-064B-79749B54618E}"/>
              </a:ext>
            </a:extLst>
          </p:cNvPr>
          <p:cNvSpPr>
            <a:spLocks noChangeArrowheads="1"/>
          </p:cNvSpPr>
          <p:nvPr/>
        </p:nvSpPr>
        <p:spPr bwMode="auto">
          <a:xfrm>
            <a:off x="381000" y="909638"/>
            <a:ext cx="8572500" cy="403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Ngôn ngữ C# cung cấp những đặc tính hướng thành phần (component-oriented), như là những thuộc tính, những sự kiện. Lập trình hướng thành phần được hỗ trợ bởi CLR cho phép lưu trữ metadata với mã nguồn cho một lớp. Metadata mô tả cho một lớp, bao gồm những phương thức và những thuộc tính của nó, cũng như những sự bảo mật cần thiết và những thuộc tính khác. Mã nguồn chứa đựng những logic cần thiết để thực hiện những chức năng của nó.</a:t>
            </a:r>
          </a:p>
        </p:txBody>
      </p:sp>
      <p:sp>
        <p:nvSpPr>
          <p:cNvPr id="19460" name="Rectangle 5">
            <a:extLst>
              <a:ext uri="{FF2B5EF4-FFF2-40B4-BE49-F238E27FC236}">
                <a16:creationId xmlns:a16="http://schemas.microsoft.com/office/drawing/2014/main" id="{8F088C72-C8AC-8EB2-194C-4FDC41FADDE8}"/>
              </a:ext>
            </a:extLst>
          </p:cNvPr>
          <p:cNvSpPr>
            <a:spLocks noChangeArrowheads="1"/>
          </p:cNvSpPr>
          <p:nvPr/>
        </p:nvSpPr>
        <p:spPr bwMode="auto">
          <a:xfrm>
            <a:off x="381000" y="4967288"/>
            <a:ext cx="876300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Ngôn ngữ C# là ngôn ngữ hỗ trợ việc truy cập bộ nhớ trực tiếp sử dụng kiểu con trỏ của C++ và từ khóa cho dấu ngoặc [] trong toán tử.</a:t>
            </a:r>
          </a:p>
        </p:txBody>
      </p:sp>
    </p:spTree>
  </p:cSld>
  <p:clrMapOvr>
    <a:masterClrMapping/>
  </p:clrMapOvr>
  <p:transition advTm="6000"/>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5920153B-D6B2-6C41-FCF0-D198FC07DDDC}"/>
              </a:ext>
            </a:extLst>
          </p:cNvPr>
          <p:cNvSpPr>
            <a:spLocks noGrp="1" noChangeArrowheads="1"/>
          </p:cNvSpPr>
          <p:nvPr>
            <p:ph type="title"/>
          </p:nvPr>
        </p:nvSpPr>
        <p:spPr/>
        <p:txBody>
          <a:bodyPr/>
          <a:lstStyle/>
          <a:p>
            <a:pPr eaLnBrk="1" hangingPunct="1">
              <a:defRPr/>
            </a:pPr>
            <a:r>
              <a:rPr lang="en-US" altLang="en-US" sz="2800" b="1"/>
              <a:t>1. Giới thiệu về ngôn ngữ lập trình C#</a:t>
            </a:r>
          </a:p>
        </p:txBody>
      </p:sp>
      <p:sp>
        <p:nvSpPr>
          <p:cNvPr id="391173" name="Rectangle 5">
            <a:extLst>
              <a:ext uri="{FF2B5EF4-FFF2-40B4-BE49-F238E27FC236}">
                <a16:creationId xmlns:a16="http://schemas.microsoft.com/office/drawing/2014/main" id="{4BFD620A-5A4A-965F-2759-2F72502F038C}"/>
              </a:ext>
            </a:extLst>
          </p:cNvPr>
          <p:cNvSpPr>
            <a:spLocks noChangeArrowheads="1"/>
          </p:cNvSpPr>
          <p:nvPr/>
        </p:nvSpPr>
        <p:spPr bwMode="auto">
          <a:xfrm>
            <a:off x="1219200" y="1295400"/>
            <a:ext cx="4022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C# là ngôn ngữ đơn giản</a:t>
            </a:r>
          </a:p>
        </p:txBody>
      </p:sp>
      <p:sp>
        <p:nvSpPr>
          <p:cNvPr id="391174" name="Rectangle 6">
            <a:extLst>
              <a:ext uri="{FF2B5EF4-FFF2-40B4-BE49-F238E27FC236}">
                <a16:creationId xmlns:a16="http://schemas.microsoft.com/office/drawing/2014/main" id="{C6987F70-0AB3-EA1C-EA98-F1E40CADED4F}"/>
              </a:ext>
            </a:extLst>
          </p:cNvPr>
          <p:cNvSpPr>
            <a:spLocks noChangeArrowheads="1"/>
          </p:cNvSpPr>
          <p:nvPr/>
        </p:nvSpPr>
        <p:spPr bwMode="auto">
          <a:xfrm>
            <a:off x="1223963" y="1905000"/>
            <a:ext cx="391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C# là ngôn ngữ hiện đại</a:t>
            </a:r>
          </a:p>
        </p:txBody>
      </p:sp>
      <p:sp>
        <p:nvSpPr>
          <p:cNvPr id="391175" name="Rectangle 7">
            <a:extLst>
              <a:ext uri="{FF2B5EF4-FFF2-40B4-BE49-F238E27FC236}">
                <a16:creationId xmlns:a16="http://schemas.microsoft.com/office/drawing/2014/main" id="{513381AE-2DA6-CB23-EC3E-F1E1431A988D}"/>
              </a:ext>
            </a:extLst>
          </p:cNvPr>
          <p:cNvSpPr>
            <a:spLocks noChangeArrowheads="1"/>
          </p:cNvSpPr>
          <p:nvPr/>
        </p:nvSpPr>
        <p:spPr bwMode="auto">
          <a:xfrm>
            <a:off x="1238250" y="2514600"/>
            <a:ext cx="5227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C# là ngôn ngữ hướng đối tượng</a:t>
            </a:r>
          </a:p>
        </p:txBody>
      </p:sp>
      <p:sp>
        <p:nvSpPr>
          <p:cNvPr id="391176" name="Rectangle 8">
            <a:extLst>
              <a:ext uri="{FF2B5EF4-FFF2-40B4-BE49-F238E27FC236}">
                <a16:creationId xmlns:a16="http://schemas.microsoft.com/office/drawing/2014/main" id="{24CAAC2C-F3CD-5DF3-C71A-FEB9A326FEE0}"/>
              </a:ext>
            </a:extLst>
          </p:cNvPr>
          <p:cNvSpPr>
            <a:spLocks noChangeArrowheads="1"/>
          </p:cNvSpPr>
          <p:nvPr/>
        </p:nvSpPr>
        <p:spPr bwMode="auto">
          <a:xfrm>
            <a:off x="1247775" y="3171825"/>
            <a:ext cx="6165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C# là ngôn ngữ mạnh mẽ và mềm dẻo</a:t>
            </a:r>
          </a:p>
        </p:txBody>
      </p:sp>
      <p:sp>
        <p:nvSpPr>
          <p:cNvPr id="391178" name="Rectangle 10">
            <a:extLst>
              <a:ext uri="{FF2B5EF4-FFF2-40B4-BE49-F238E27FC236}">
                <a16:creationId xmlns:a16="http://schemas.microsoft.com/office/drawing/2014/main" id="{D571D34E-A914-7E3A-9B8D-7821E1ACC6A0}"/>
              </a:ext>
            </a:extLst>
          </p:cNvPr>
          <p:cNvSpPr>
            <a:spLocks noChangeArrowheads="1"/>
          </p:cNvSpPr>
          <p:nvPr/>
        </p:nvSpPr>
        <p:spPr bwMode="auto">
          <a:xfrm>
            <a:off x="1238250" y="3838575"/>
            <a:ext cx="4632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FF0000"/>
                </a:solidFill>
                <a:effectLst/>
                <a:uLnTx/>
                <a:uFillTx/>
                <a:latin typeface="Verdana" panose="020B0604030504040204" pitchFamily="34" charset="0"/>
                <a:ea typeface="+mn-ea"/>
                <a:cs typeface="+mn-cs"/>
              </a:rPr>
              <a:t>C# là ngôn ngữ có ít từ khóa</a:t>
            </a:r>
          </a:p>
        </p:txBody>
      </p:sp>
      <p:sp>
        <p:nvSpPr>
          <p:cNvPr id="391179" name="Rectangle 11">
            <a:extLst>
              <a:ext uri="{FF2B5EF4-FFF2-40B4-BE49-F238E27FC236}">
                <a16:creationId xmlns:a16="http://schemas.microsoft.com/office/drawing/2014/main" id="{FB23FF39-2742-26F9-84F0-6AC4A1848DD3}"/>
              </a:ext>
            </a:extLst>
          </p:cNvPr>
          <p:cNvSpPr>
            <a:spLocks noChangeArrowheads="1"/>
          </p:cNvSpPr>
          <p:nvPr/>
        </p:nvSpPr>
        <p:spPr bwMode="auto">
          <a:xfrm>
            <a:off x="1252538" y="4557713"/>
            <a:ext cx="4899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FF00"/>
                </a:solidFill>
                <a:effectLst/>
                <a:uLnTx/>
                <a:uFillTx/>
                <a:latin typeface="Verdana" panose="020B0604030504040204" pitchFamily="34" charset="0"/>
                <a:ea typeface="+mn-ea"/>
                <a:cs typeface="+mn-cs"/>
              </a:rPr>
              <a:t>C# là ngôn ngữ hướng module</a:t>
            </a:r>
          </a:p>
        </p:txBody>
      </p:sp>
      <p:sp>
        <p:nvSpPr>
          <p:cNvPr id="391180" name="Rectangle 12">
            <a:extLst>
              <a:ext uri="{FF2B5EF4-FFF2-40B4-BE49-F238E27FC236}">
                <a16:creationId xmlns:a16="http://schemas.microsoft.com/office/drawing/2014/main" id="{272EC0C2-2121-04D4-7DF5-757EFD6B0C27}"/>
              </a:ext>
            </a:extLst>
          </p:cNvPr>
          <p:cNvSpPr>
            <a:spLocks noChangeArrowheads="1"/>
          </p:cNvSpPr>
          <p:nvPr/>
        </p:nvSpPr>
        <p:spPr bwMode="auto">
          <a:xfrm>
            <a:off x="1271588" y="5224463"/>
            <a:ext cx="3749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CC0066"/>
                </a:solidFill>
                <a:effectLst/>
                <a:uLnTx/>
                <a:uFillTx/>
                <a:latin typeface="Verdana" panose="020B0604030504040204" pitchFamily="34" charset="0"/>
                <a:ea typeface="+mn-ea"/>
                <a:cs typeface="+mn-cs"/>
              </a:rPr>
              <a:t>C# sẽ trở nên phổ biến</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1173"/>
                                        </p:tgtEl>
                                        <p:attrNameLst>
                                          <p:attrName>style.visibility</p:attrName>
                                        </p:attrNameLst>
                                      </p:cBhvr>
                                      <p:to>
                                        <p:strVal val="visible"/>
                                      </p:to>
                                    </p:set>
                                    <p:animEffect transition="in" filter="box(in)">
                                      <p:cBhvr>
                                        <p:cTn id="7" dur="1000"/>
                                        <p:tgtEl>
                                          <p:spTgt spid="391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1174"/>
                                        </p:tgtEl>
                                        <p:attrNameLst>
                                          <p:attrName>style.visibility</p:attrName>
                                        </p:attrNameLst>
                                      </p:cBhvr>
                                      <p:to>
                                        <p:strVal val="visible"/>
                                      </p:to>
                                    </p:set>
                                    <p:animEffect transition="in" filter="box(in)">
                                      <p:cBhvr>
                                        <p:cTn id="12" dur="1000"/>
                                        <p:tgtEl>
                                          <p:spTgt spid="3911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1175"/>
                                        </p:tgtEl>
                                        <p:attrNameLst>
                                          <p:attrName>style.visibility</p:attrName>
                                        </p:attrNameLst>
                                      </p:cBhvr>
                                      <p:to>
                                        <p:strVal val="visible"/>
                                      </p:to>
                                    </p:set>
                                    <p:animEffect transition="in" filter="box(in)">
                                      <p:cBhvr>
                                        <p:cTn id="17" dur="1000"/>
                                        <p:tgtEl>
                                          <p:spTgt spid="3911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91176"/>
                                        </p:tgtEl>
                                        <p:attrNameLst>
                                          <p:attrName>style.visibility</p:attrName>
                                        </p:attrNameLst>
                                      </p:cBhvr>
                                      <p:to>
                                        <p:strVal val="visible"/>
                                      </p:to>
                                    </p:set>
                                    <p:animEffect transition="in" filter="box(in)">
                                      <p:cBhvr>
                                        <p:cTn id="22" dur="1000"/>
                                        <p:tgtEl>
                                          <p:spTgt spid="3911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91178"/>
                                        </p:tgtEl>
                                        <p:attrNameLst>
                                          <p:attrName>style.visibility</p:attrName>
                                        </p:attrNameLst>
                                      </p:cBhvr>
                                      <p:to>
                                        <p:strVal val="visible"/>
                                      </p:to>
                                    </p:set>
                                    <p:animEffect transition="in" filter="box(in)">
                                      <p:cBhvr>
                                        <p:cTn id="27" dur="1000"/>
                                        <p:tgtEl>
                                          <p:spTgt spid="3911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91179"/>
                                        </p:tgtEl>
                                        <p:attrNameLst>
                                          <p:attrName>style.visibility</p:attrName>
                                        </p:attrNameLst>
                                      </p:cBhvr>
                                      <p:to>
                                        <p:strVal val="visible"/>
                                      </p:to>
                                    </p:set>
                                    <p:animEffect transition="in" filter="box(in)">
                                      <p:cBhvr>
                                        <p:cTn id="32" dur="1000"/>
                                        <p:tgtEl>
                                          <p:spTgt spid="3911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91180"/>
                                        </p:tgtEl>
                                        <p:attrNameLst>
                                          <p:attrName>style.visibility</p:attrName>
                                        </p:attrNameLst>
                                      </p:cBhvr>
                                      <p:to>
                                        <p:strVal val="visible"/>
                                      </p:to>
                                    </p:set>
                                    <p:animEffect transition="in" filter="box(in)">
                                      <p:cBhvr>
                                        <p:cTn id="37" dur="1000"/>
                                        <p:tgtEl>
                                          <p:spTgt spid="391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3" grpId="0"/>
      <p:bldP spid="391174" grpId="0"/>
      <p:bldP spid="391175" grpId="0"/>
      <p:bldP spid="391176" grpId="0"/>
      <p:bldP spid="391178" grpId="0"/>
      <p:bldP spid="391179" grpId="0"/>
      <p:bldP spid="391180"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4E58B0C-31C8-FE2C-0127-9364F01BD6FA}"/>
              </a:ext>
            </a:extLst>
          </p:cNvPr>
          <p:cNvSpPr>
            <a:spLocks noGrp="1" noChangeArrowheads="1"/>
          </p:cNvSpPr>
          <p:nvPr>
            <p:ph type="title"/>
          </p:nvPr>
        </p:nvSpPr>
        <p:spPr/>
        <p:txBody>
          <a:bodyPr/>
          <a:lstStyle/>
          <a:p>
            <a:pPr eaLnBrk="1" hangingPunct="1">
              <a:defRPr/>
            </a:pPr>
            <a:r>
              <a:rPr lang="en-US" altLang="en-US" sz="2800" b="1"/>
              <a:t>1. Giới thiệu về ngôn ngữ lập trình C#</a:t>
            </a:r>
          </a:p>
        </p:txBody>
      </p:sp>
      <p:sp>
        <p:nvSpPr>
          <p:cNvPr id="21507" name="Rectangle 4">
            <a:extLst>
              <a:ext uri="{FF2B5EF4-FFF2-40B4-BE49-F238E27FC236}">
                <a16:creationId xmlns:a16="http://schemas.microsoft.com/office/drawing/2014/main" id="{5C17BBEE-004C-4734-CECC-5B4FCBE14676}"/>
              </a:ext>
            </a:extLst>
          </p:cNvPr>
          <p:cNvSpPr>
            <a:spLocks noChangeArrowheads="1"/>
          </p:cNvSpPr>
          <p:nvPr/>
        </p:nvSpPr>
        <p:spPr bwMode="auto">
          <a:xfrm>
            <a:off x="195263" y="836613"/>
            <a:ext cx="6965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Chọn kiểu ứng dụng trong C#.net</a:t>
            </a:r>
            <a:r>
              <a:rPr kumimoji="0" lang="en-US" altLang="en-US" sz="24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 </a:t>
            </a:r>
          </a:p>
        </p:txBody>
      </p:sp>
      <p:sp>
        <p:nvSpPr>
          <p:cNvPr id="373765" name="Text Box 5">
            <a:extLst>
              <a:ext uri="{FF2B5EF4-FFF2-40B4-BE49-F238E27FC236}">
                <a16:creationId xmlns:a16="http://schemas.microsoft.com/office/drawing/2014/main" id="{8C5A9655-CB62-43FC-9AD9-8CD7CD1DCC5B}"/>
              </a:ext>
            </a:extLst>
          </p:cNvPr>
          <p:cNvSpPr txBox="1">
            <a:spLocks noChangeArrowheads="1"/>
          </p:cNvSpPr>
          <p:nvPr/>
        </p:nvSpPr>
        <p:spPr bwMode="auto">
          <a:xfrm>
            <a:off x="990600" y="1600200"/>
            <a:ext cx="525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1" i="0" u="none" strike="noStrike" kern="1200" cap="none" spc="0" normalizeH="0" baseline="0" noProof="0">
                <a:ln>
                  <a:noFill/>
                </a:ln>
                <a:solidFill>
                  <a:srgbClr val="003300"/>
                </a:solidFill>
                <a:effectLst/>
                <a:uLnTx/>
                <a:uFillTx/>
                <a:latin typeface="Verdana" panose="020B0604030504040204" pitchFamily="34" charset="0"/>
                <a:ea typeface="+mn-ea"/>
                <a:cs typeface="+mn-cs"/>
              </a:rPr>
              <a:t>2 kiểu ứng dụng chính</a:t>
            </a:r>
          </a:p>
        </p:txBody>
      </p:sp>
      <p:sp>
        <p:nvSpPr>
          <p:cNvPr id="373766" name="Text Box 6">
            <a:extLst>
              <a:ext uri="{FF2B5EF4-FFF2-40B4-BE49-F238E27FC236}">
                <a16:creationId xmlns:a16="http://schemas.microsoft.com/office/drawing/2014/main" id="{D69C800C-4DD2-A1D0-0BDA-36AF7C29610C}"/>
              </a:ext>
            </a:extLst>
          </p:cNvPr>
          <p:cNvSpPr txBox="1">
            <a:spLocks noChangeArrowheads="1"/>
          </p:cNvSpPr>
          <p:nvPr/>
        </p:nvSpPr>
        <p:spPr bwMode="auto">
          <a:xfrm>
            <a:off x="609600" y="3505200"/>
            <a:ext cx="7620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00000"/>
              </a:lnSpc>
              <a:spcBef>
                <a:spcPct val="5000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Console application</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được thiết kế để chạy các dòng lệnh không hỗ trợ giao diện cho</a:t>
            </a:r>
            <a:r>
              <a:rPr kumimoji="0" lang="en-US" altLang="en-US" sz="2400" b="0" i="0" u="none" strike="noStrike" kern="1200" cap="none" spc="0" normalizeH="0" noProof="0">
                <a:ln>
                  <a:noFill/>
                </a:ln>
                <a:solidFill>
                  <a:srgbClr val="000000"/>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người sử dụng</a:t>
            </a:r>
          </a:p>
        </p:txBody>
      </p:sp>
      <p:sp>
        <p:nvSpPr>
          <p:cNvPr id="373767" name="Text Box 7">
            <a:extLst>
              <a:ext uri="{FF2B5EF4-FFF2-40B4-BE49-F238E27FC236}">
                <a16:creationId xmlns:a16="http://schemas.microsoft.com/office/drawing/2014/main" id="{D71EDD85-037A-6832-55BA-15BF726B85C7}"/>
              </a:ext>
            </a:extLst>
          </p:cNvPr>
          <p:cNvSpPr txBox="1">
            <a:spLocks noChangeArrowheads="1"/>
          </p:cNvSpPr>
          <p:nvPr/>
        </p:nvSpPr>
        <p:spPr bwMode="auto">
          <a:xfrm>
            <a:off x="609600" y="4928686"/>
            <a:ext cx="7620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00000"/>
              </a:lnSpc>
              <a:spcBef>
                <a:spcPct val="5000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Window application</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được thiết kế để chạy trên màn hình nền có hỗ trợ giao diện cho người sử dụng </a:t>
            </a:r>
          </a:p>
        </p:txBody>
      </p:sp>
      <p:sp>
        <p:nvSpPr>
          <p:cNvPr id="373768" name="Rectangle 8">
            <a:extLst>
              <a:ext uri="{FF2B5EF4-FFF2-40B4-BE49-F238E27FC236}">
                <a16:creationId xmlns:a16="http://schemas.microsoft.com/office/drawing/2014/main" id="{235953A2-3446-51C0-AB9D-5C9957610B22}"/>
              </a:ext>
            </a:extLst>
          </p:cNvPr>
          <p:cNvSpPr>
            <a:spLocks noChangeArrowheads="1"/>
          </p:cNvSpPr>
          <p:nvPr/>
        </p:nvSpPr>
        <p:spPr bwMode="auto">
          <a:xfrm>
            <a:off x="1981200" y="2286000"/>
            <a:ext cx="315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Console application</a:t>
            </a:r>
          </a:p>
        </p:txBody>
      </p:sp>
      <p:sp>
        <p:nvSpPr>
          <p:cNvPr id="373769" name="Rectangle 9">
            <a:extLst>
              <a:ext uri="{FF2B5EF4-FFF2-40B4-BE49-F238E27FC236}">
                <a16:creationId xmlns:a16="http://schemas.microsoft.com/office/drawing/2014/main" id="{603D60A4-0B85-52BC-7DA4-FDE7907981A3}"/>
              </a:ext>
            </a:extLst>
          </p:cNvPr>
          <p:cNvSpPr>
            <a:spLocks noChangeArrowheads="1"/>
          </p:cNvSpPr>
          <p:nvPr/>
        </p:nvSpPr>
        <p:spPr bwMode="auto">
          <a:xfrm>
            <a:off x="1961696" y="2835275"/>
            <a:ext cx="3154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Window application</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3765"/>
                                        </p:tgtEl>
                                        <p:attrNameLst>
                                          <p:attrName>style.visibility</p:attrName>
                                        </p:attrNameLst>
                                      </p:cBhvr>
                                      <p:to>
                                        <p:strVal val="visible"/>
                                      </p:to>
                                    </p:set>
                                    <p:animEffect transition="in" filter="box(in)">
                                      <p:cBhvr>
                                        <p:cTn id="7" dur="1000"/>
                                        <p:tgtEl>
                                          <p:spTgt spid="3737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3768"/>
                                        </p:tgtEl>
                                        <p:attrNameLst>
                                          <p:attrName>style.visibility</p:attrName>
                                        </p:attrNameLst>
                                      </p:cBhvr>
                                      <p:to>
                                        <p:strVal val="visible"/>
                                      </p:to>
                                    </p:set>
                                    <p:animEffect transition="in" filter="box(in)">
                                      <p:cBhvr>
                                        <p:cTn id="12" dur="1000"/>
                                        <p:tgtEl>
                                          <p:spTgt spid="3737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3769"/>
                                        </p:tgtEl>
                                        <p:attrNameLst>
                                          <p:attrName>style.visibility</p:attrName>
                                        </p:attrNameLst>
                                      </p:cBhvr>
                                      <p:to>
                                        <p:strVal val="visible"/>
                                      </p:to>
                                    </p:set>
                                    <p:animEffect transition="in" filter="box(in)">
                                      <p:cBhvr>
                                        <p:cTn id="17" dur="1000"/>
                                        <p:tgtEl>
                                          <p:spTgt spid="3737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3766"/>
                                        </p:tgtEl>
                                        <p:attrNameLst>
                                          <p:attrName>style.visibility</p:attrName>
                                        </p:attrNameLst>
                                      </p:cBhvr>
                                      <p:to>
                                        <p:strVal val="visible"/>
                                      </p:to>
                                    </p:set>
                                    <p:animEffect transition="in" filter="box(in)">
                                      <p:cBhvr>
                                        <p:cTn id="22" dur="1000"/>
                                        <p:tgtEl>
                                          <p:spTgt spid="3737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73767"/>
                                        </p:tgtEl>
                                        <p:attrNameLst>
                                          <p:attrName>style.visibility</p:attrName>
                                        </p:attrNameLst>
                                      </p:cBhvr>
                                      <p:to>
                                        <p:strVal val="visible"/>
                                      </p:to>
                                    </p:set>
                                    <p:animEffect transition="in" filter="checkerboard(across)">
                                      <p:cBhvr>
                                        <p:cTn id="27" dur="500"/>
                                        <p:tgtEl>
                                          <p:spTgt spid="373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p:bldP spid="373766" grpId="0"/>
      <p:bldP spid="373767" grpId="0"/>
      <p:bldP spid="373768" grpId="0"/>
      <p:bldP spid="373769"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6D1AC6C-7B1E-4228-0AB9-F1F5A7626C98}"/>
              </a:ext>
            </a:extLst>
          </p:cNvPr>
          <p:cNvSpPr>
            <a:spLocks noGrp="1" noChangeArrowheads="1"/>
          </p:cNvSpPr>
          <p:nvPr>
            <p:ph type="title"/>
          </p:nvPr>
        </p:nvSpPr>
        <p:spPr/>
        <p:txBody>
          <a:bodyPr/>
          <a:lstStyle/>
          <a:p>
            <a:pPr eaLnBrk="1" hangingPunct="1">
              <a:defRPr/>
            </a:pPr>
            <a:r>
              <a:rPr lang="en-US" altLang="en-US" sz="2800" b="1"/>
              <a:t>1. Giới thiệu về ngôn ngữ lập trình C#</a:t>
            </a:r>
          </a:p>
        </p:txBody>
      </p:sp>
      <p:sp>
        <p:nvSpPr>
          <p:cNvPr id="27651" name="Text Box 3">
            <a:extLst>
              <a:ext uri="{FF2B5EF4-FFF2-40B4-BE49-F238E27FC236}">
                <a16:creationId xmlns:a16="http://schemas.microsoft.com/office/drawing/2014/main" id="{1C52D20E-0A9E-DD30-8DAD-B3C9C6560D93}"/>
              </a:ext>
            </a:extLst>
          </p:cNvPr>
          <p:cNvSpPr txBox="1">
            <a:spLocks noChangeArrowheads="1"/>
          </p:cNvSpPr>
          <p:nvPr/>
        </p:nvSpPr>
        <p:spPr bwMode="auto">
          <a:xfrm>
            <a:off x="114300" y="766763"/>
            <a:ext cx="8610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Cấu trúc của một chương trình trong C#</a:t>
            </a:r>
          </a:p>
        </p:txBody>
      </p:sp>
      <p:sp>
        <p:nvSpPr>
          <p:cNvPr id="399364" name="Rectangle 4">
            <a:extLst>
              <a:ext uri="{FF2B5EF4-FFF2-40B4-BE49-F238E27FC236}">
                <a16:creationId xmlns:a16="http://schemas.microsoft.com/office/drawing/2014/main" id="{25EA5273-7D57-8B0E-FF91-D4DF955954C6}"/>
              </a:ext>
            </a:extLst>
          </p:cNvPr>
          <p:cNvSpPr>
            <a:spLocks noChangeArrowheads="1"/>
          </p:cNvSpPr>
          <p:nvPr/>
        </p:nvSpPr>
        <p:spPr bwMode="auto">
          <a:xfrm>
            <a:off x="228600" y="1371600"/>
            <a:ext cx="872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C# là một ngôn ngữ phân biệt chữ hoa và chữ</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thường</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
            </a:r>
          </a:p>
        </p:txBody>
      </p:sp>
      <p:sp>
        <p:nvSpPr>
          <p:cNvPr id="399365" name="Rectangle 5">
            <a:extLst>
              <a:ext uri="{FF2B5EF4-FFF2-40B4-BE49-F238E27FC236}">
                <a16:creationId xmlns:a16="http://schemas.microsoft.com/office/drawing/2014/main" id="{D7B0ED01-FCE4-A464-8BD1-8E1FB2A3AFB9}"/>
              </a:ext>
            </a:extLst>
          </p:cNvPr>
          <p:cNvSpPr>
            <a:spLocks noChangeArrowheads="1"/>
          </p:cNvSpPr>
          <p:nvPr/>
        </p:nvSpPr>
        <p:spPr bwMode="auto">
          <a:xfrm>
            <a:off x="228600" y="2498725"/>
            <a:ext cx="88392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6600"/>
                </a:solidFill>
                <a:effectLst/>
                <a:uLnTx/>
                <a:uFillTx/>
                <a:latin typeface="Verdana" panose="020B0604030504040204" pitchFamily="34" charset="0"/>
                <a:ea typeface="+mn-ea"/>
                <a:cs typeface="+mn-cs"/>
              </a:rPr>
              <a:t>Phần mở rộng của tệp là .</a:t>
            </a:r>
            <a:r>
              <a:rPr kumimoji="0" lang="en-US" altLang="en-US" sz="2400" b="0" i="1" u="none" strike="noStrike" kern="1200" cap="none" spc="0" normalizeH="0" baseline="0" noProof="0">
                <a:ln>
                  <a:noFill/>
                </a:ln>
                <a:solidFill>
                  <a:srgbClr val="006600"/>
                </a:solidFill>
                <a:effectLst/>
                <a:uLnTx/>
                <a:uFillTx/>
                <a:latin typeface="Verdana" panose="020B0604030504040204" pitchFamily="34" charset="0"/>
                <a:ea typeface="+mn-ea"/>
                <a:cs typeface="+mn-cs"/>
              </a:rPr>
              <a:t>cs</a:t>
            </a:r>
            <a:endParaRPr kumimoji="0" lang="en-US" altLang="en-US" sz="2400" b="0" i="0" u="none" strike="noStrike" kern="1200" cap="none" spc="0" normalizeH="0" baseline="0" noProof="0">
              <a:ln>
                <a:noFill/>
              </a:ln>
              <a:solidFill>
                <a:srgbClr val="006600"/>
              </a:solidFill>
              <a:effectLst/>
              <a:uLnTx/>
              <a:uFillTx/>
              <a:latin typeface="Verdana" panose="020B0604030504040204" pitchFamily="34" charset="0"/>
              <a:ea typeface="+mn-ea"/>
              <a:cs typeface="+mn-cs"/>
            </a:endParaRPr>
          </a:p>
        </p:txBody>
      </p:sp>
      <p:sp>
        <p:nvSpPr>
          <p:cNvPr id="399366" name="Rectangle 6">
            <a:extLst>
              <a:ext uri="{FF2B5EF4-FFF2-40B4-BE49-F238E27FC236}">
                <a16:creationId xmlns:a16="http://schemas.microsoft.com/office/drawing/2014/main" id="{6C5C3919-55DB-6435-EF98-D13FF83B411E}"/>
              </a:ext>
            </a:extLst>
          </p:cNvPr>
          <p:cNvSpPr>
            <a:spLocks noChangeArrowheads="1"/>
          </p:cNvSpPr>
          <p:nvPr/>
        </p:nvSpPr>
        <p:spPr bwMode="auto">
          <a:xfrm>
            <a:off x="228600" y="19050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Dấu ; được dùng để kết thúc câu lệnh</a:t>
            </a:r>
          </a:p>
        </p:txBody>
      </p:sp>
      <p:pic>
        <p:nvPicPr>
          <p:cNvPr id="399367" name="Picture 7">
            <a:extLst>
              <a:ext uri="{FF2B5EF4-FFF2-40B4-BE49-F238E27FC236}">
                <a16:creationId xmlns:a16="http://schemas.microsoft.com/office/drawing/2014/main" id="{5C0A9D6E-B1AB-6F2C-0F12-9D97EF5589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352800"/>
            <a:ext cx="5791200" cy="30480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4CC5345F-B52D-D370-2F41-E04F03841ADB}"/>
              </a:ext>
            </a:extLst>
          </p:cNvPr>
          <p:cNvPicPr>
            <a:picLocks noChangeAspect="1"/>
          </p:cNvPicPr>
          <p:nvPr/>
        </p:nvPicPr>
        <p:blipFill rotWithShape="1">
          <a:blip r:embed="rId3"/>
          <a:srcRect l="74012" t="11459" b="54166"/>
          <a:stretch/>
        </p:blipFill>
        <p:spPr>
          <a:xfrm>
            <a:off x="4770438" y="2514600"/>
            <a:ext cx="3990975" cy="2968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364"/>
                                        </p:tgtEl>
                                        <p:attrNameLst>
                                          <p:attrName>style.visibility</p:attrName>
                                        </p:attrNameLst>
                                      </p:cBhvr>
                                      <p:to>
                                        <p:strVal val="visible"/>
                                      </p:to>
                                    </p:set>
                                    <p:animEffect transition="in" filter="box(in)">
                                      <p:cBhvr>
                                        <p:cTn id="7" dur="1000"/>
                                        <p:tgtEl>
                                          <p:spTgt spid="399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9366"/>
                                        </p:tgtEl>
                                        <p:attrNameLst>
                                          <p:attrName>style.visibility</p:attrName>
                                        </p:attrNameLst>
                                      </p:cBhvr>
                                      <p:to>
                                        <p:strVal val="visible"/>
                                      </p:to>
                                    </p:set>
                                    <p:animEffect transition="in" filter="box(in)">
                                      <p:cBhvr>
                                        <p:cTn id="12" dur="1000"/>
                                        <p:tgtEl>
                                          <p:spTgt spid="3993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9365"/>
                                        </p:tgtEl>
                                        <p:attrNameLst>
                                          <p:attrName>style.visibility</p:attrName>
                                        </p:attrNameLst>
                                      </p:cBhvr>
                                      <p:to>
                                        <p:strVal val="visible"/>
                                      </p:to>
                                    </p:set>
                                    <p:animEffect transition="in" filter="box(in)">
                                      <p:cBhvr>
                                        <p:cTn id="17" dur="1000"/>
                                        <p:tgtEl>
                                          <p:spTgt spid="3993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99367"/>
                                        </p:tgtEl>
                                        <p:attrNameLst>
                                          <p:attrName>style.visibility</p:attrName>
                                        </p:attrNameLst>
                                      </p:cBhvr>
                                      <p:to>
                                        <p:strVal val="visible"/>
                                      </p:to>
                                    </p:set>
                                    <p:animEffect transition="in" filter="box(in)">
                                      <p:cBhvr>
                                        <p:cTn id="22" dur="1000"/>
                                        <p:tgtEl>
                                          <p:spTgt spid="3993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anim calcmode="lin" valueType="num">
                                      <p:cBhvr>
                                        <p:cTn id="28" dur="500" fill="hold"/>
                                        <p:tgtEl>
                                          <p:spTgt spid="2"/>
                                        </p:tgtEl>
                                        <p:attrNameLst>
                                          <p:attrName>ppt_x</p:attrName>
                                        </p:attrNameLst>
                                      </p:cBhvr>
                                      <p:tavLst>
                                        <p:tav tm="0">
                                          <p:val>
                                            <p:strVal val="#ppt_x"/>
                                          </p:val>
                                        </p:tav>
                                        <p:tav tm="100000">
                                          <p:val>
                                            <p:strVal val="#ppt_x"/>
                                          </p:val>
                                        </p:tav>
                                      </p:tavLst>
                                    </p:anim>
                                    <p:anim calcmode="lin" valueType="num">
                                      <p:cBhvr>
                                        <p:cTn id="2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p:bldP spid="399365" grpId="0"/>
      <p:bldP spid="399366"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5B3A7CA2-060C-9D74-B70C-615C413A3154}"/>
              </a:ext>
            </a:extLst>
          </p:cNvPr>
          <p:cNvSpPr>
            <a:spLocks noGrp="1" noChangeArrowheads="1"/>
          </p:cNvSpPr>
          <p:nvPr>
            <p:ph type="title"/>
          </p:nvPr>
        </p:nvSpPr>
        <p:spPr/>
        <p:txBody>
          <a:bodyPr/>
          <a:lstStyle/>
          <a:p>
            <a:pPr eaLnBrk="1" hangingPunct="1">
              <a:defRPr/>
            </a:pPr>
            <a:r>
              <a:rPr lang="en-US" altLang="en-US" sz="2800" b="1"/>
              <a:t>1. Giới thiệu về ngôn ngữ lập trình C#</a:t>
            </a:r>
          </a:p>
        </p:txBody>
      </p:sp>
      <p:sp>
        <p:nvSpPr>
          <p:cNvPr id="28675" name="Rectangle 3">
            <a:extLst>
              <a:ext uri="{FF2B5EF4-FFF2-40B4-BE49-F238E27FC236}">
                <a16:creationId xmlns:a16="http://schemas.microsoft.com/office/drawing/2014/main" id="{2BBA06C0-E03E-8A58-95EF-5F0A7FAC1DA9}"/>
              </a:ext>
            </a:extLst>
          </p:cNvPr>
          <p:cNvSpPr>
            <a:spLocks noChangeArrowheads="1"/>
          </p:cNvSpPr>
          <p:nvPr/>
        </p:nvSpPr>
        <p:spPr bwMode="auto">
          <a:xfrm>
            <a:off x="228600" y="889000"/>
            <a:ext cx="23114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6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Namespace</a:t>
            </a:r>
          </a:p>
        </p:txBody>
      </p:sp>
      <p:sp>
        <p:nvSpPr>
          <p:cNvPr id="400388" name="Rectangle 4">
            <a:extLst>
              <a:ext uri="{FF2B5EF4-FFF2-40B4-BE49-F238E27FC236}">
                <a16:creationId xmlns:a16="http://schemas.microsoft.com/office/drawing/2014/main" id="{6A2FC2C1-9C90-3B17-9DC0-E0E2065466F0}"/>
              </a:ext>
            </a:extLst>
          </p:cNvPr>
          <p:cNvSpPr>
            <a:spLocks noChangeArrowheads="1"/>
          </p:cNvSpPr>
          <p:nvPr/>
        </p:nvSpPr>
        <p:spPr bwMode="auto">
          <a:xfrm>
            <a:off x="2667000" y="838200"/>
            <a:ext cx="6172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tránh sự xung đột giữa việc sử dụng các thư viện khác nhau từ các nhà cung cấp</a:t>
            </a:r>
          </a:p>
        </p:txBody>
      </p:sp>
      <p:sp>
        <p:nvSpPr>
          <p:cNvPr id="400389" name="Rectangle 5">
            <a:extLst>
              <a:ext uri="{FF2B5EF4-FFF2-40B4-BE49-F238E27FC236}">
                <a16:creationId xmlns:a16="http://schemas.microsoft.com/office/drawing/2014/main" id="{DA593440-3694-C713-0041-529617C609C6}"/>
              </a:ext>
            </a:extLst>
          </p:cNvPr>
          <p:cNvSpPr>
            <a:spLocks noChangeArrowheads="1"/>
          </p:cNvSpPr>
          <p:nvPr/>
        </p:nvSpPr>
        <p:spPr bwMode="auto">
          <a:xfrm>
            <a:off x="338138" y="2038350"/>
            <a:ext cx="8763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6600"/>
                </a:solidFill>
                <a:effectLst/>
                <a:uLnTx/>
                <a:uFillTx/>
                <a:latin typeface="Verdana" panose="020B0604030504040204" pitchFamily="34" charset="0"/>
                <a:ea typeface="+mn-ea"/>
                <a:cs typeface="+mn-cs"/>
              </a:rPr>
              <a:t>namespace là tập hợp các lớp đối tượng</a:t>
            </a:r>
          </a:p>
        </p:txBody>
      </p:sp>
      <p:sp>
        <p:nvSpPr>
          <p:cNvPr id="400390" name="Rectangle 6">
            <a:extLst>
              <a:ext uri="{FF2B5EF4-FFF2-40B4-BE49-F238E27FC236}">
                <a16:creationId xmlns:a16="http://schemas.microsoft.com/office/drawing/2014/main" id="{AF8047AB-0C36-2B36-8DB5-31BB310003C2}"/>
              </a:ext>
            </a:extLst>
          </p:cNvPr>
          <p:cNvSpPr>
            <a:spLocks noChangeArrowheads="1"/>
          </p:cNvSpPr>
          <p:nvPr/>
        </p:nvSpPr>
        <p:spPr bwMode="auto">
          <a:xfrm>
            <a:off x="358775" y="2624138"/>
            <a:ext cx="881538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C# sử dụng </a:t>
            </a:r>
            <a:r>
              <a:rPr kumimoji="0" lang="en-US" altLang="en-US" sz="2400" b="1" i="0" u="none" strike="noStrike" kern="1200" cap="none" spc="0" normalizeH="0" baseline="0" noProof="0">
                <a:ln>
                  <a:noFill/>
                </a:ln>
                <a:solidFill>
                  <a:srgbClr val="660033"/>
                </a:solidFill>
                <a:effectLst/>
                <a:uLnTx/>
                <a:uFillTx/>
                <a:latin typeface="Verdana" panose="020B0604030504040204" pitchFamily="34" charset="0"/>
                <a:ea typeface="+mn-ea"/>
                <a:cs typeface="+mn-cs"/>
              </a:rPr>
              <a:t>using </a:t>
            </a: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để khai báo sử dụng namespace</a:t>
            </a:r>
          </a:p>
        </p:txBody>
      </p:sp>
      <p:sp>
        <p:nvSpPr>
          <p:cNvPr id="400391" name="Text Box 7">
            <a:extLst>
              <a:ext uri="{FF2B5EF4-FFF2-40B4-BE49-F238E27FC236}">
                <a16:creationId xmlns:a16="http://schemas.microsoft.com/office/drawing/2014/main" id="{F19E60B1-240C-E9B4-FF39-821168AD7A75}"/>
              </a:ext>
            </a:extLst>
          </p:cNvPr>
          <p:cNvSpPr txBox="1">
            <a:spLocks noChangeArrowheads="1"/>
          </p:cNvSpPr>
          <p:nvPr/>
        </p:nvSpPr>
        <p:spPr bwMode="auto">
          <a:xfrm>
            <a:off x="2362200" y="3276600"/>
            <a:ext cx="4191000" cy="485775"/>
          </a:xfrm>
          <a:prstGeom prst="rect">
            <a:avLst/>
          </a:prstGeom>
          <a:noFill/>
          <a:ln w="28575">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using</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&lt;Tên namespace&gt;</a:t>
            </a:r>
          </a:p>
        </p:txBody>
      </p:sp>
      <p:sp>
        <p:nvSpPr>
          <p:cNvPr id="400392" name="Rectangle 8">
            <a:extLst>
              <a:ext uri="{FF2B5EF4-FFF2-40B4-BE49-F238E27FC236}">
                <a16:creationId xmlns:a16="http://schemas.microsoft.com/office/drawing/2014/main" id="{7550F304-B214-AB3D-8372-6BDBF93D51D4}"/>
              </a:ext>
            </a:extLst>
          </p:cNvPr>
          <p:cNvSpPr>
            <a:spLocks noChangeArrowheads="1"/>
          </p:cNvSpPr>
          <p:nvPr/>
        </p:nvSpPr>
        <p:spPr bwMode="auto">
          <a:xfrm>
            <a:off x="404813" y="4127500"/>
            <a:ext cx="46005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CC0066"/>
                </a:solidFill>
                <a:effectLst/>
                <a:uLnTx/>
                <a:uFillTx/>
                <a:latin typeface="Verdana" panose="020B0604030504040204" pitchFamily="34" charset="0"/>
                <a:ea typeface="+mn-ea"/>
                <a:cs typeface="+mn-cs"/>
              </a:rPr>
              <a:t>Để tạo một namespace dùng cú pháp sau:</a:t>
            </a:r>
          </a:p>
        </p:txBody>
      </p:sp>
      <p:pic>
        <p:nvPicPr>
          <p:cNvPr id="400393" name="Picture 9">
            <a:extLst>
              <a:ext uri="{FF2B5EF4-FFF2-40B4-BE49-F238E27FC236}">
                <a16:creationId xmlns:a16="http://schemas.microsoft.com/office/drawing/2014/main" id="{9B2020B1-72C3-AF82-4147-E32C6AC9D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3575" y="3962400"/>
            <a:ext cx="4365625" cy="25146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0388"/>
                                        </p:tgtEl>
                                        <p:attrNameLst>
                                          <p:attrName>style.visibility</p:attrName>
                                        </p:attrNameLst>
                                      </p:cBhvr>
                                      <p:to>
                                        <p:strVal val="visible"/>
                                      </p:to>
                                    </p:set>
                                    <p:animEffect transition="in" filter="box(in)">
                                      <p:cBhvr>
                                        <p:cTn id="7" dur="1000"/>
                                        <p:tgtEl>
                                          <p:spTgt spid="400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0389"/>
                                        </p:tgtEl>
                                        <p:attrNameLst>
                                          <p:attrName>style.visibility</p:attrName>
                                        </p:attrNameLst>
                                      </p:cBhvr>
                                      <p:to>
                                        <p:strVal val="visible"/>
                                      </p:to>
                                    </p:set>
                                    <p:animEffect transition="in" filter="box(in)">
                                      <p:cBhvr>
                                        <p:cTn id="12" dur="1000"/>
                                        <p:tgtEl>
                                          <p:spTgt spid="4003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0390"/>
                                        </p:tgtEl>
                                        <p:attrNameLst>
                                          <p:attrName>style.visibility</p:attrName>
                                        </p:attrNameLst>
                                      </p:cBhvr>
                                      <p:to>
                                        <p:strVal val="visible"/>
                                      </p:to>
                                    </p:set>
                                    <p:animEffect transition="in" filter="box(in)">
                                      <p:cBhvr>
                                        <p:cTn id="17" dur="1000"/>
                                        <p:tgtEl>
                                          <p:spTgt spid="4003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00391"/>
                                        </p:tgtEl>
                                        <p:attrNameLst>
                                          <p:attrName>style.visibility</p:attrName>
                                        </p:attrNameLst>
                                      </p:cBhvr>
                                      <p:to>
                                        <p:strVal val="visible"/>
                                      </p:to>
                                    </p:set>
                                    <p:animEffect transition="in" filter="box(in)">
                                      <p:cBhvr>
                                        <p:cTn id="22" dur="1000"/>
                                        <p:tgtEl>
                                          <p:spTgt spid="4003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00392"/>
                                        </p:tgtEl>
                                        <p:attrNameLst>
                                          <p:attrName>style.visibility</p:attrName>
                                        </p:attrNameLst>
                                      </p:cBhvr>
                                      <p:to>
                                        <p:strVal val="visible"/>
                                      </p:to>
                                    </p:set>
                                    <p:animEffect transition="in" filter="box(in)">
                                      <p:cBhvr>
                                        <p:cTn id="27" dur="1000"/>
                                        <p:tgtEl>
                                          <p:spTgt spid="4003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00393"/>
                                        </p:tgtEl>
                                        <p:attrNameLst>
                                          <p:attrName>style.visibility</p:attrName>
                                        </p:attrNameLst>
                                      </p:cBhvr>
                                      <p:to>
                                        <p:strVal val="visible"/>
                                      </p:to>
                                    </p:set>
                                    <p:animEffect transition="in" filter="box(in)">
                                      <p:cBhvr>
                                        <p:cTn id="32" dur="1000"/>
                                        <p:tgtEl>
                                          <p:spTgt spid="400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8" grpId="0"/>
      <p:bldP spid="400389" grpId="0"/>
      <p:bldP spid="400390" grpId="0"/>
      <p:bldP spid="400391" grpId="0" animBg="1"/>
      <p:bldP spid="40039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A9DB34B-55BA-69E2-EC8A-EE56B1D381E0}"/>
              </a:ext>
            </a:extLst>
          </p:cNvPr>
          <p:cNvSpPr>
            <a:spLocks noGrp="1" noChangeArrowheads="1"/>
          </p:cNvSpPr>
          <p:nvPr>
            <p:ph type="title"/>
          </p:nvPr>
        </p:nvSpPr>
        <p:spPr/>
        <p:txBody>
          <a:bodyPr/>
          <a:lstStyle/>
          <a:p>
            <a:pPr eaLnBrk="1" hangingPunct="1">
              <a:defRPr/>
            </a:pPr>
            <a:r>
              <a:rPr lang="en-US" altLang="en-US" sz="2800" b="1"/>
              <a:t>1. Giới thiệu về ngôn ngữ lập trình C#</a:t>
            </a:r>
          </a:p>
        </p:txBody>
      </p:sp>
      <p:pic>
        <p:nvPicPr>
          <p:cNvPr id="401413" name="Picture 5">
            <a:extLst>
              <a:ext uri="{FF2B5EF4-FFF2-40B4-BE49-F238E27FC236}">
                <a16:creationId xmlns:a16="http://schemas.microsoft.com/office/drawing/2014/main" id="{EE4576DA-726A-3332-AB3A-6C8719496F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0600"/>
            <a:ext cx="8305800" cy="31242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401414" name="Rectangle 6">
            <a:extLst>
              <a:ext uri="{FF2B5EF4-FFF2-40B4-BE49-F238E27FC236}">
                <a16:creationId xmlns:a16="http://schemas.microsoft.com/office/drawing/2014/main" id="{BE628F74-EC9F-60BF-530D-EB04F28955DB}"/>
              </a:ext>
            </a:extLst>
          </p:cNvPr>
          <p:cNvSpPr>
            <a:spLocks noChangeArrowheads="1"/>
          </p:cNvSpPr>
          <p:nvPr/>
        </p:nvSpPr>
        <p:spPr bwMode="auto">
          <a:xfrm>
            <a:off x="495300" y="4343400"/>
            <a:ext cx="8534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Namsespace sẽ hạn chế phạm vi của một tên, làm cho tên này chỉ có ý nghĩa trong vùng đã định nghĩa.</a:t>
            </a:r>
          </a:p>
        </p:txBody>
      </p:sp>
      <p:sp>
        <p:nvSpPr>
          <p:cNvPr id="401415" name="Rectangle 7">
            <a:extLst>
              <a:ext uri="{FF2B5EF4-FFF2-40B4-BE49-F238E27FC236}">
                <a16:creationId xmlns:a16="http://schemas.microsoft.com/office/drawing/2014/main" id="{E950E606-BE35-4B2E-CBFF-3D2A9D361CD4}"/>
              </a:ext>
            </a:extLst>
          </p:cNvPr>
          <p:cNvSpPr>
            <a:spLocks noChangeArrowheads="1"/>
          </p:cNvSpPr>
          <p:nvPr/>
        </p:nvSpPr>
        <p:spPr bwMode="auto">
          <a:xfrm>
            <a:off x="571500" y="5543729"/>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Người sử dụng tạo các namespace để phân thành các vùng cho các lớp trùng tên không bị tranh chấp với nhau.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1413"/>
                                        </p:tgtEl>
                                        <p:attrNameLst>
                                          <p:attrName>style.visibility</p:attrName>
                                        </p:attrNameLst>
                                      </p:cBhvr>
                                      <p:to>
                                        <p:strVal val="visible"/>
                                      </p:to>
                                    </p:set>
                                    <p:animEffect transition="in" filter="box(in)">
                                      <p:cBhvr>
                                        <p:cTn id="7" dur="1000"/>
                                        <p:tgtEl>
                                          <p:spTgt spid="4014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1414"/>
                                        </p:tgtEl>
                                        <p:attrNameLst>
                                          <p:attrName>style.visibility</p:attrName>
                                        </p:attrNameLst>
                                      </p:cBhvr>
                                      <p:to>
                                        <p:strVal val="visible"/>
                                      </p:to>
                                    </p:set>
                                    <p:animEffect transition="in" filter="box(in)">
                                      <p:cBhvr>
                                        <p:cTn id="12" dur="1000"/>
                                        <p:tgtEl>
                                          <p:spTgt spid="4014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1415"/>
                                        </p:tgtEl>
                                        <p:attrNameLst>
                                          <p:attrName>style.visibility</p:attrName>
                                        </p:attrNameLst>
                                      </p:cBhvr>
                                      <p:to>
                                        <p:strVal val="visible"/>
                                      </p:to>
                                    </p:set>
                                    <p:animEffect transition="in" filter="box(in)">
                                      <p:cBhvr>
                                        <p:cTn id="17" dur="1000"/>
                                        <p:tgtEl>
                                          <p:spTgt spid="401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4" grpId="0"/>
      <p:bldP spid="401415"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C2EFB5C-6578-D805-2526-21A27E7E9FDF}"/>
              </a:ext>
            </a:extLst>
          </p:cNvPr>
          <p:cNvSpPr>
            <a:spLocks noGrp="1" noChangeArrowheads="1"/>
          </p:cNvSpPr>
          <p:nvPr>
            <p:ph type="title"/>
          </p:nvPr>
        </p:nvSpPr>
        <p:spPr/>
        <p:txBody>
          <a:bodyPr/>
          <a:lstStyle/>
          <a:p>
            <a:pPr eaLnBrk="1" hangingPunct="1">
              <a:defRPr/>
            </a:pPr>
            <a:r>
              <a:rPr lang="en-US" altLang="en-US" sz="3000" b="1"/>
              <a:t>2. Kiểu</a:t>
            </a:r>
            <a:r>
              <a:rPr lang="en-US" altLang="en-US" sz="3000"/>
              <a:t> </a:t>
            </a:r>
            <a:r>
              <a:rPr lang="en-US" altLang="en-US" sz="3000" b="1"/>
              <a:t>dữ liệu – biến và toán tử trong C#</a:t>
            </a:r>
          </a:p>
        </p:txBody>
      </p:sp>
      <p:sp>
        <p:nvSpPr>
          <p:cNvPr id="30723" name="Rectangle 3">
            <a:extLst>
              <a:ext uri="{FF2B5EF4-FFF2-40B4-BE49-F238E27FC236}">
                <a16:creationId xmlns:a16="http://schemas.microsoft.com/office/drawing/2014/main" id="{4546D96D-F41F-F909-9219-1545FBF67C38}"/>
              </a:ext>
            </a:extLst>
          </p:cNvPr>
          <p:cNvSpPr>
            <a:spLocks noChangeArrowheads="1"/>
          </p:cNvSpPr>
          <p:nvPr/>
        </p:nvSpPr>
        <p:spPr bwMode="auto">
          <a:xfrm>
            <a:off x="266700" y="896938"/>
            <a:ext cx="2227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Định danh</a:t>
            </a:r>
          </a:p>
        </p:txBody>
      </p:sp>
      <p:sp>
        <p:nvSpPr>
          <p:cNvPr id="403460" name="Rectangle 4">
            <a:extLst>
              <a:ext uri="{FF2B5EF4-FFF2-40B4-BE49-F238E27FC236}">
                <a16:creationId xmlns:a16="http://schemas.microsoft.com/office/drawing/2014/main" id="{5A909C74-03AF-8286-4BF5-D1E32EF0E4ED}"/>
              </a:ext>
            </a:extLst>
          </p:cNvPr>
          <p:cNvSpPr>
            <a:spLocks noChangeArrowheads="1"/>
          </p:cNvSpPr>
          <p:nvPr/>
        </p:nvSpPr>
        <p:spPr bwMode="auto">
          <a:xfrm>
            <a:off x="838200" y="1500188"/>
            <a:ext cx="8153400" cy="1679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Định danh là tên mà người lập trình chỉ định cho các kiểu dữ liệu, các phương thức, biến, hằng, hay đối tượng....</a:t>
            </a:r>
          </a:p>
        </p:txBody>
      </p:sp>
      <p:sp>
        <p:nvSpPr>
          <p:cNvPr id="403461" name="Rectangle 5">
            <a:extLst>
              <a:ext uri="{FF2B5EF4-FFF2-40B4-BE49-F238E27FC236}">
                <a16:creationId xmlns:a16="http://schemas.microsoft.com/office/drawing/2014/main" id="{771DF963-B5C1-176E-6921-C28EC1F98484}"/>
              </a:ext>
            </a:extLst>
          </p:cNvPr>
          <p:cNvSpPr>
            <a:spLocks noChangeArrowheads="1"/>
          </p:cNvSpPr>
          <p:nvPr/>
        </p:nvSpPr>
        <p:spPr bwMode="auto">
          <a:xfrm>
            <a:off x="838200" y="3124187"/>
            <a:ext cx="8081962" cy="22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Một định danh phải bắt đầu với một ký tự chữ cái hay dấu gạch dưới, các ký tự còn lại phải là ký tự chữ cái, chữ số, dấu gạch dưới.</a:t>
            </a:r>
          </a:p>
          <a:p>
            <a:pPr marL="342900" marR="0" lvl="0" indent="-34290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Tên không được đặt trùng với các từ khóa</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3460"/>
                                        </p:tgtEl>
                                        <p:attrNameLst>
                                          <p:attrName>style.visibility</p:attrName>
                                        </p:attrNameLst>
                                      </p:cBhvr>
                                      <p:to>
                                        <p:strVal val="visible"/>
                                      </p:to>
                                    </p:set>
                                    <p:animEffect transition="in" filter="box(in)">
                                      <p:cBhvr>
                                        <p:cTn id="7" dur="1000"/>
                                        <p:tgtEl>
                                          <p:spTgt spid="403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3461"/>
                                        </p:tgtEl>
                                        <p:attrNameLst>
                                          <p:attrName>style.visibility</p:attrName>
                                        </p:attrNameLst>
                                      </p:cBhvr>
                                      <p:to>
                                        <p:strVal val="visible"/>
                                      </p:to>
                                    </p:set>
                                    <p:animEffect transition="in" filter="box(in)">
                                      <p:cBhvr>
                                        <p:cTn id="12" dur="1000"/>
                                        <p:tgtEl>
                                          <p:spTgt spid="403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0" grpId="0"/>
      <p:bldP spid="403461"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F95ECDE-F2CC-DA7F-5E58-D87D2C3C1FA4}"/>
              </a:ext>
            </a:extLst>
          </p:cNvPr>
          <p:cNvSpPr>
            <a:spLocks noGrp="1" noChangeArrowheads="1"/>
          </p:cNvSpPr>
          <p:nvPr>
            <p:ph type="title"/>
          </p:nvPr>
        </p:nvSpPr>
        <p:spPr/>
        <p:txBody>
          <a:bodyPr/>
          <a:lstStyle/>
          <a:p>
            <a:pPr eaLnBrk="1" hangingPunct="1">
              <a:defRPr/>
            </a:pPr>
            <a:r>
              <a:rPr lang="en-US" altLang="en-US" sz="3000" b="1"/>
              <a:t>2. Kiểu</a:t>
            </a:r>
            <a:r>
              <a:rPr lang="en-US" altLang="en-US" sz="3000"/>
              <a:t> </a:t>
            </a:r>
            <a:r>
              <a:rPr lang="en-US" altLang="en-US" sz="3000" b="1"/>
              <a:t>dữ liệu – biến và toán tử trong C#</a:t>
            </a:r>
          </a:p>
        </p:txBody>
      </p:sp>
      <p:sp>
        <p:nvSpPr>
          <p:cNvPr id="404483" name="Rectangle 3">
            <a:extLst>
              <a:ext uri="{FF2B5EF4-FFF2-40B4-BE49-F238E27FC236}">
                <a16:creationId xmlns:a16="http://schemas.microsoft.com/office/drawing/2014/main" id="{19563DD0-0865-C53D-1D42-EBE1083E1A68}"/>
              </a:ext>
            </a:extLst>
          </p:cNvPr>
          <p:cNvSpPr>
            <a:spLocks noChangeArrowheads="1"/>
          </p:cNvSpPr>
          <p:nvPr/>
        </p:nvSpPr>
        <p:spPr bwMode="auto">
          <a:xfrm>
            <a:off x="276225" y="919163"/>
            <a:ext cx="86391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Các định danh không được trùng với các từ khoá trong C#</a:t>
            </a:r>
          </a:p>
        </p:txBody>
      </p:sp>
      <p:pic>
        <p:nvPicPr>
          <p:cNvPr id="404484" name="Picture 4">
            <a:extLst>
              <a:ext uri="{FF2B5EF4-FFF2-40B4-BE49-F238E27FC236}">
                <a16:creationId xmlns:a16="http://schemas.microsoft.com/office/drawing/2014/main" id="{CF35230B-1C55-1E4C-CA7F-D5F03D379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05000"/>
            <a:ext cx="8001000" cy="44958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4483"/>
                                        </p:tgtEl>
                                        <p:attrNameLst>
                                          <p:attrName>style.visibility</p:attrName>
                                        </p:attrNameLst>
                                      </p:cBhvr>
                                      <p:to>
                                        <p:strVal val="visible"/>
                                      </p:to>
                                    </p:set>
                                    <p:animEffect transition="in" filter="box(in)">
                                      <p:cBhvr>
                                        <p:cTn id="7" dur="1000"/>
                                        <p:tgtEl>
                                          <p:spTgt spid="4044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4484"/>
                                        </p:tgtEl>
                                        <p:attrNameLst>
                                          <p:attrName>style.visibility</p:attrName>
                                        </p:attrNameLst>
                                      </p:cBhvr>
                                      <p:to>
                                        <p:strVal val="visible"/>
                                      </p:to>
                                    </p:set>
                                    <p:animEffect transition="in" filter="box(in)">
                                      <p:cBhvr>
                                        <p:cTn id="12" dur="1000"/>
                                        <p:tgtEl>
                                          <p:spTgt spid="404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55FE393-5C6D-3FDE-B440-E31386C4920D}"/>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19459" name="Rectangle 4">
            <a:extLst>
              <a:ext uri="{FF2B5EF4-FFF2-40B4-BE49-F238E27FC236}">
                <a16:creationId xmlns:a16="http://schemas.microsoft.com/office/drawing/2014/main" id="{50BE23E8-796F-670A-94F9-D23253EB517B}"/>
              </a:ext>
            </a:extLst>
          </p:cNvPr>
          <p:cNvSpPr>
            <a:spLocks noChangeArrowheads="1"/>
          </p:cNvSpPr>
          <p:nvPr/>
        </p:nvSpPr>
        <p:spPr bwMode="auto">
          <a:xfrm>
            <a:off x="152400" y="811213"/>
            <a:ext cx="2563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Kiểu dữ liệu</a:t>
            </a:r>
          </a:p>
        </p:txBody>
      </p:sp>
      <p:sp>
        <p:nvSpPr>
          <p:cNvPr id="357381" name="Text Box 5">
            <a:extLst>
              <a:ext uri="{FF2B5EF4-FFF2-40B4-BE49-F238E27FC236}">
                <a16:creationId xmlns:a16="http://schemas.microsoft.com/office/drawing/2014/main" id="{4B6D7FAD-C9F0-7B9F-BA92-341EDDE9F215}"/>
              </a:ext>
            </a:extLst>
          </p:cNvPr>
          <p:cNvSpPr txBox="1">
            <a:spLocks noChangeArrowheads="1"/>
          </p:cNvSpPr>
          <p:nvPr/>
        </p:nvSpPr>
        <p:spPr bwMode="auto">
          <a:xfrm>
            <a:off x="609600" y="1423988"/>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a:solidFill>
                  <a:srgbClr val="000066"/>
                </a:solidFill>
              </a:rPr>
              <a:t>Có 2 loại kiểu dữ liệu:</a:t>
            </a:r>
          </a:p>
        </p:txBody>
      </p:sp>
      <p:sp>
        <p:nvSpPr>
          <p:cNvPr id="357382" name="Text Box 6">
            <a:extLst>
              <a:ext uri="{FF2B5EF4-FFF2-40B4-BE49-F238E27FC236}">
                <a16:creationId xmlns:a16="http://schemas.microsoft.com/office/drawing/2014/main" id="{9153F22A-486A-1B00-E1F8-4DBF196C1571}"/>
              </a:ext>
            </a:extLst>
          </p:cNvPr>
          <p:cNvSpPr txBox="1">
            <a:spLocks noChangeArrowheads="1"/>
          </p:cNvSpPr>
          <p:nvPr/>
        </p:nvSpPr>
        <p:spPr bwMode="auto">
          <a:xfrm>
            <a:off x="4686300" y="1014413"/>
            <a:ext cx="1676400" cy="46672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a:solidFill>
                  <a:srgbClr val="660033"/>
                </a:solidFill>
              </a:rPr>
              <a:t>giá trị</a:t>
            </a:r>
          </a:p>
        </p:txBody>
      </p:sp>
      <p:sp>
        <p:nvSpPr>
          <p:cNvPr id="357383" name="Text Box 7">
            <a:extLst>
              <a:ext uri="{FF2B5EF4-FFF2-40B4-BE49-F238E27FC236}">
                <a16:creationId xmlns:a16="http://schemas.microsoft.com/office/drawing/2014/main" id="{E5E3EEB4-5CC5-5619-AD42-F8C45B1B3004}"/>
              </a:ext>
            </a:extLst>
          </p:cNvPr>
          <p:cNvSpPr txBox="1">
            <a:spLocks noChangeArrowheads="1"/>
          </p:cNvSpPr>
          <p:nvPr/>
        </p:nvSpPr>
        <p:spPr bwMode="auto">
          <a:xfrm>
            <a:off x="4705350" y="1752600"/>
            <a:ext cx="2286000" cy="46672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a:solidFill>
                  <a:srgbClr val="660033"/>
                </a:solidFill>
              </a:rPr>
              <a:t>Tham chiếu</a:t>
            </a:r>
          </a:p>
        </p:txBody>
      </p:sp>
      <p:sp>
        <p:nvSpPr>
          <p:cNvPr id="357384" name="AutoShape 8">
            <a:extLst>
              <a:ext uri="{FF2B5EF4-FFF2-40B4-BE49-F238E27FC236}">
                <a16:creationId xmlns:a16="http://schemas.microsoft.com/office/drawing/2014/main" id="{D31E63AE-E760-94D6-01DB-69BD974DF76B}"/>
              </a:ext>
            </a:extLst>
          </p:cNvPr>
          <p:cNvSpPr>
            <a:spLocks/>
          </p:cNvSpPr>
          <p:nvPr/>
        </p:nvSpPr>
        <p:spPr bwMode="auto">
          <a:xfrm>
            <a:off x="4281488" y="1166813"/>
            <a:ext cx="304800" cy="914400"/>
          </a:xfrm>
          <a:prstGeom prst="leftBrace">
            <a:avLst>
              <a:gd name="adj1" fmla="val 25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en-US" altLang="en-US"/>
          </a:p>
        </p:txBody>
      </p:sp>
      <p:sp>
        <p:nvSpPr>
          <p:cNvPr id="357387" name="Text Box 11">
            <a:extLst>
              <a:ext uri="{FF2B5EF4-FFF2-40B4-BE49-F238E27FC236}">
                <a16:creationId xmlns:a16="http://schemas.microsoft.com/office/drawing/2014/main" id="{AC513897-477A-719D-E1AF-2880CAE925FE}"/>
              </a:ext>
            </a:extLst>
          </p:cNvPr>
          <p:cNvSpPr txBox="1">
            <a:spLocks noChangeArrowheads="1"/>
          </p:cNvSpPr>
          <p:nvPr/>
        </p:nvSpPr>
        <p:spPr bwMode="auto">
          <a:xfrm>
            <a:off x="395288" y="4648200"/>
            <a:ext cx="8748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Kiểu tham chiếu</a:t>
            </a:r>
            <a:r>
              <a:rPr lang="en-US" altLang="en-US">
                <a:solidFill>
                  <a:srgbClr val="660033"/>
                </a:solidFill>
              </a:rPr>
              <a:t>: được cấp phát trên Heap (FIFO)</a:t>
            </a:r>
          </a:p>
        </p:txBody>
      </p:sp>
      <p:sp>
        <p:nvSpPr>
          <p:cNvPr id="357388" name="Rectangle 12">
            <a:extLst>
              <a:ext uri="{FF2B5EF4-FFF2-40B4-BE49-F238E27FC236}">
                <a16:creationId xmlns:a16="http://schemas.microsoft.com/office/drawing/2014/main" id="{DBC5D10B-DF41-F378-C66B-DA121A38BACC}"/>
              </a:ext>
            </a:extLst>
          </p:cNvPr>
          <p:cNvSpPr>
            <a:spLocks noChangeArrowheads="1"/>
          </p:cNvSpPr>
          <p:nvPr/>
        </p:nvSpPr>
        <p:spPr bwMode="auto">
          <a:xfrm>
            <a:off x="385763" y="2514600"/>
            <a:ext cx="838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Kiểu giá trị</a:t>
            </a:r>
            <a:r>
              <a:rPr lang="en-US" altLang="en-US"/>
              <a:t> </a:t>
            </a:r>
            <a:r>
              <a:rPr lang="en-US" altLang="en-US">
                <a:solidFill>
                  <a:srgbClr val="660033"/>
                </a:solidFill>
              </a:rPr>
              <a:t>thì được lưu trữ trên Stack (LIFO)	</a:t>
            </a:r>
          </a:p>
        </p:txBody>
      </p:sp>
      <p:sp>
        <p:nvSpPr>
          <p:cNvPr id="357389" name="Rectangle 13">
            <a:extLst>
              <a:ext uri="{FF2B5EF4-FFF2-40B4-BE49-F238E27FC236}">
                <a16:creationId xmlns:a16="http://schemas.microsoft.com/office/drawing/2014/main" id="{075E5B5C-FD04-91C0-065B-4EBE5E9E4318}"/>
              </a:ext>
            </a:extLst>
          </p:cNvPr>
          <p:cNvSpPr>
            <a:spLocks noChangeArrowheads="1"/>
          </p:cNvSpPr>
          <p:nvPr/>
        </p:nvSpPr>
        <p:spPr bwMode="auto">
          <a:xfrm>
            <a:off x="304800" y="3109823"/>
            <a:ext cx="8534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solidFill>
                  <a:srgbClr val="003300"/>
                </a:solidFill>
              </a:rPr>
              <a:t>Trong C# các kiểu dữ liệu như int được lưu trữ trên Stack đây là vùng nhớ để lưu giá trị và vùng nhớ này được tham chiếu bởi tên của biến.</a:t>
            </a:r>
          </a:p>
        </p:txBody>
      </p:sp>
      <p:sp>
        <p:nvSpPr>
          <p:cNvPr id="357390" name="Rectangle 14">
            <a:extLst>
              <a:ext uri="{FF2B5EF4-FFF2-40B4-BE49-F238E27FC236}">
                <a16:creationId xmlns:a16="http://schemas.microsoft.com/office/drawing/2014/main" id="{4A9A7D0B-02AE-B203-5AFB-E896D5FE6A05}"/>
              </a:ext>
            </a:extLst>
          </p:cNvPr>
          <p:cNvSpPr>
            <a:spLocks noChangeArrowheads="1"/>
          </p:cNvSpPr>
          <p:nvPr/>
        </p:nvSpPr>
        <p:spPr bwMode="auto">
          <a:xfrm>
            <a:off x="363992" y="5292725"/>
            <a:ext cx="847520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solidFill>
                  <a:srgbClr val="003300"/>
                </a:solidFill>
              </a:rPr>
              <a:t>Khi một đối tượng được cấp phát trên Heap thì địa chỉ của nó được trả về và địa chỉ này được gán đến một tham chiếu.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7381"/>
                                        </p:tgtEl>
                                        <p:attrNameLst>
                                          <p:attrName>style.visibility</p:attrName>
                                        </p:attrNameLst>
                                      </p:cBhvr>
                                      <p:to>
                                        <p:strVal val="visible"/>
                                      </p:to>
                                    </p:set>
                                    <p:animEffect transition="in" filter="box(in)">
                                      <p:cBhvr>
                                        <p:cTn id="7" dur="1000"/>
                                        <p:tgtEl>
                                          <p:spTgt spid="3573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7384"/>
                                        </p:tgtEl>
                                        <p:attrNameLst>
                                          <p:attrName>style.visibility</p:attrName>
                                        </p:attrNameLst>
                                      </p:cBhvr>
                                      <p:to>
                                        <p:strVal val="visible"/>
                                      </p:to>
                                    </p:set>
                                    <p:animEffect transition="in" filter="box(in)">
                                      <p:cBhvr>
                                        <p:cTn id="12" dur="1000"/>
                                        <p:tgtEl>
                                          <p:spTgt spid="3573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7382"/>
                                        </p:tgtEl>
                                        <p:attrNameLst>
                                          <p:attrName>style.visibility</p:attrName>
                                        </p:attrNameLst>
                                      </p:cBhvr>
                                      <p:to>
                                        <p:strVal val="visible"/>
                                      </p:to>
                                    </p:set>
                                    <p:animEffect transition="in" filter="box(in)">
                                      <p:cBhvr>
                                        <p:cTn id="17" dur="1000"/>
                                        <p:tgtEl>
                                          <p:spTgt spid="3573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7383"/>
                                        </p:tgtEl>
                                        <p:attrNameLst>
                                          <p:attrName>style.visibility</p:attrName>
                                        </p:attrNameLst>
                                      </p:cBhvr>
                                      <p:to>
                                        <p:strVal val="visible"/>
                                      </p:to>
                                    </p:set>
                                    <p:animEffect transition="in" filter="box(in)">
                                      <p:cBhvr>
                                        <p:cTn id="22" dur="1000"/>
                                        <p:tgtEl>
                                          <p:spTgt spid="3573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57388"/>
                                        </p:tgtEl>
                                        <p:attrNameLst>
                                          <p:attrName>style.visibility</p:attrName>
                                        </p:attrNameLst>
                                      </p:cBhvr>
                                      <p:to>
                                        <p:strVal val="visible"/>
                                      </p:to>
                                    </p:set>
                                    <p:animEffect transition="in" filter="box(in)">
                                      <p:cBhvr>
                                        <p:cTn id="27" dur="1000"/>
                                        <p:tgtEl>
                                          <p:spTgt spid="3573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57389"/>
                                        </p:tgtEl>
                                        <p:attrNameLst>
                                          <p:attrName>style.visibility</p:attrName>
                                        </p:attrNameLst>
                                      </p:cBhvr>
                                      <p:to>
                                        <p:strVal val="visible"/>
                                      </p:to>
                                    </p:set>
                                    <p:animEffect transition="in" filter="box(in)">
                                      <p:cBhvr>
                                        <p:cTn id="32" dur="1000"/>
                                        <p:tgtEl>
                                          <p:spTgt spid="3573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57387"/>
                                        </p:tgtEl>
                                        <p:attrNameLst>
                                          <p:attrName>style.visibility</p:attrName>
                                        </p:attrNameLst>
                                      </p:cBhvr>
                                      <p:to>
                                        <p:strVal val="visible"/>
                                      </p:to>
                                    </p:set>
                                    <p:animEffect transition="in" filter="box(in)">
                                      <p:cBhvr>
                                        <p:cTn id="37" dur="1000"/>
                                        <p:tgtEl>
                                          <p:spTgt spid="35738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357390"/>
                                        </p:tgtEl>
                                        <p:attrNameLst>
                                          <p:attrName>style.visibility</p:attrName>
                                        </p:attrNameLst>
                                      </p:cBhvr>
                                      <p:to>
                                        <p:strVal val="visible"/>
                                      </p:to>
                                    </p:set>
                                    <p:animEffect transition="in" filter="box(in)">
                                      <p:cBhvr>
                                        <p:cTn id="42" dur="1000"/>
                                        <p:tgtEl>
                                          <p:spTgt spid="357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1" grpId="0"/>
      <p:bldP spid="357382" grpId="0" animBg="1"/>
      <p:bldP spid="357383" grpId="0" animBg="1"/>
      <p:bldP spid="357384" grpId="0" animBg="1"/>
      <p:bldP spid="357387" grpId="0"/>
      <p:bldP spid="357388" grpId="0"/>
      <p:bldP spid="357389" grpId="0"/>
      <p:bldP spid="35739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1628EA5-EAC5-E4C7-1500-ED16E5206404}"/>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359433" name="Picture 9">
            <a:extLst>
              <a:ext uri="{FF2B5EF4-FFF2-40B4-BE49-F238E27FC236}">
                <a16:creationId xmlns:a16="http://schemas.microsoft.com/office/drawing/2014/main" id="{AE3B0013-C446-2B3B-D710-DB2451BEC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4582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9433"/>
                                        </p:tgtEl>
                                        <p:attrNameLst>
                                          <p:attrName>style.visibility</p:attrName>
                                        </p:attrNameLst>
                                      </p:cBhvr>
                                      <p:to>
                                        <p:strVal val="visible"/>
                                      </p:to>
                                    </p:set>
                                    <p:animEffect transition="in" filter="box(in)">
                                      <p:cBhvr>
                                        <p:cTn id="7" dur="1000"/>
                                        <p:tgtEl>
                                          <p:spTgt spid="359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11D1A36-2E7A-A9F9-9018-20F1296537F8}"/>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358404" name="Picture 4">
            <a:extLst>
              <a:ext uri="{FF2B5EF4-FFF2-40B4-BE49-F238E27FC236}">
                <a16:creationId xmlns:a16="http://schemas.microsoft.com/office/drawing/2014/main" id="{551F2949-4261-C960-0948-3BB7BC8ED8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066800"/>
            <a:ext cx="8153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04"/>
                                        </p:tgtEl>
                                        <p:attrNameLst>
                                          <p:attrName>style.visibility</p:attrName>
                                        </p:attrNameLst>
                                      </p:cBhvr>
                                      <p:to>
                                        <p:strVal val="visible"/>
                                      </p:to>
                                    </p:set>
                                    <p:animEffect transition="in" filter="box(in)">
                                      <p:cBhvr>
                                        <p:cTn id="7" dur="1000"/>
                                        <p:tgtEl>
                                          <p:spTgt spid="358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551EEB0-7C34-658A-61FB-E91597CAC383}"/>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61476" name="Rectangle 4">
            <a:extLst>
              <a:ext uri="{FF2B5EF4-FFF2-40B4-BE49-F238E27FC236}">
                <a16:creationId xmlns:a16="http://schemas.microsoft.com/office/drawing/2014/main" id="{CE7D9374-F8BA-F1E6-03BC-342517555F55}"/>
              </a:ext>
            </a:extLst>
          </p:cNvPr>
          <p:cNvSpPr>
            <a:spLocks noChangeArrowheads="1"/>
          </p:cNvSpPr>
          <p:nvPr/>
        </p:nvSpPr>
        <p:spPr bwMode="auto">
          <a:xfrm>
            <a:off x="180975" y="2289174"/>
            <a:ext cx="832485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lnSpc>
                <a:spcPct val="120000"/>
              </a:lnSpc>
              <a:buFont typeface="Wingdings" panose="05000000000000000000" pitchFamily="2" charset="2"/>
              <a:buChar char="ü"/>
            </a:pPr>
            <a:r>
              <a:rPr lang="en-US" altLang="en-US">
                <a:solidFill>
                  <a:srgbClr val="000066"/>
                </a:solidFill>
              </a:rPr>
              <a:t>Trình biên dịch luôn luôn hiểu bất cứ một số thực nào cũng là một số kiểu double.</a:t>
            </a:r>
          </a:p>
          <a:p>
            <a:pPr algn="just">
              <a:lnSpc>
                <a:spcPct val="120000"/>
              </a:lnSpc>
              <a:buFont typeface="Wingdings" panose="05000000000000000000" pitchFamily="2" charset="2"/>
              <a:buChar char="ü"/>
            </a:pPr>
            <a:r>
              <a:rPr lang="en-US" altLang="en-US">
                <a:solidFill>
                  <a:srgbClr val="000066"/>
                </a:solidFill>
              </a:rPr>
              <a:t> Để gán một số kiểu float thì số phải có ký tự f theo sau.</a:t>
            </a:r>
          </a:p>
        </p:txBody>
      </p:sp>
      <p:sp>
        <p:nvSpPr>
          <p:cNvPr id="22532" name="Rectangle 5">
            <a:extLst>
              <a:ext uri="{FF2B5EF4-FFF2-40B4-BE49-F238E27FC236}">
                <a16:creationId xmlns:a16="http://schemas.microsoft.com/office/drawing/2014/main" id="{CBA8789A-53D4-4173-099F-A5D2D10D7A68}"/>
              </a:ext>
            </a:extLst>
          </p:cNvPr>
          <p:cNvSpPr>
            <a:spLocks noChangeArrowheads="1"/>
          </p:cNvSpPr>
          <p:nvPr/>
        </p:nvSpPr>
        <p:spPr bwMode="auto">
          <a:xfrm>
            <a:off x="123825" y="868363"/>
            <a:ext cx="3659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Chọn kiểu dữ liệu</a:t>
            </a:r>
          </a:p>
        </p:txBody>
      </p:sp>
      <p:sp>
        <p:nvSpPr>
          <p:cNvPr id="361478" name="Rectangle 6">
            <a:extLst>
              <a:ext uri="{FF2B5EF4-FFF2-40B4-BE49-F238E27FC236}">
                <a16:creationId xmlns:a16="http://schemas.microsoft.com/office/drawing/2014/main" id="{1EEAC606-AD28-DED8-66D1-78D2A885A6CB}"/>
              </a:ext>
            </a:extLst>
          </p:cNvPr>
          <p:cNvSpPr>
            <a:spLocks noChangeArrowheads="1"/>
          </p:cNvSpPr>
          <p:nvPr/>
        </p:nvSpPr>
        <p:spPr bwMode="auto">
          <a:xfrm>
            <a:off x="609600" y="1652588"/>
            <a:ext cx="6948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buFont typeface="Wingdings" panose="05000000000000000000" pitchFamily="2" charset="2"/>
              <a:buChar char="ü"/>
            </a:pPr>
            <a:r>
              <a:rPr lang="en-US" altLang="en-US">
                <a:solidFill>
                  <a:srgbClr val="000066"/>
                </a:solidFill>
              </a:rPr>
              <a:t> Dựa vào độ lớn của giá trị muốn sử dụng.</a:t>
            </a:r>
          </a:p>
        </p:txBody>
      </p:sp>
      <p:sp>
        <p:nvSpPr>
          <p:cNvPr id="361479" name="Text Box 7">
            <a:extLst>
              <a:ext uri="{FF2B5EF4-FFF2-40B4-BE49-F238E27FC236}">
                <a16:creationId xmlns:a16="http://schemas.microsoft.com/office/drawing/2014/main" id="{9C4727EA-63E4-A090-C007-3D8636B41C7A}"/>
              </a:ext>
            </a:extLst>
          </p:cNvPr>
          <p:cNvSpPr txBox="1">
            <a:spLocks noChangeArrowheads="1"/>
          </p:cNvSpPr>
          <p:nvPr/>
        </p:nvSpPr>
        <p:spPr bwMode="auto">
          <a:xfrm>
            <a:off x="2590800" y="426720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b="1">
                <a:solidFill>
                  <a:srgbClr val="660033"/>
                </a:solidFill>
              </a:rPr>
              <a:t>float sothuc = 32f;</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1478"/>
                                        </p:tgtEl>
                                        <p:attrNameLst>
                                          <p:attrName>style.visibility</p:attrName>
                                        </p:attrNameLst>
                                      </p:cBhvr>
                                      <p:to>
                                        <p:strVal val="visible"/>
                                      </p:to>
                                    </p:set>
                                    <p:animEffect transition="in" filter="box(in)">
                                      <p:cBhvr>
                                        <p:cTn id="7" dur="1000"/>
                                        <p:tgtEl>
                                          <p:spTgt spid="3614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1476"/>
                                        </p:tgtEl>
                                        <p:attrNameLst>
                                          <p:attrName>style.visibility</p:attrName>
                                        </p:attrNameLst>
                                      </p:cBhvr>
                                      <p:to>
                                        <p:strVal val="visible"/>
                                      </p:to>
                                    </p:set>
                                    <p:animEffect transition="in" filter="box(in)">
                                      <p:cBhvr>
                                        <p:cTn id="12" dur="1000"/>
                                        <p:tgtEl>
                                          <p:spTgt spid="3614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1479"/>
                                        </p:tgtEl>
                                        <p:attrNameLst>
                                          <p:attrName>style.visibility</p:attrName>
                                        </p:attrNameLst>
                                      </p:cBhvr>
                                      <p:to>
                                        <p:strVal val="visible"/>
                                      </p:to>
                                    </p:set>
                                    <p:animEffect transition="in" filter="box(in)">
                                      <p:cBhvr>
                                        <p:cTn id="17" dur="1000"/>
                                        <p:tgtEl>
                                          <p:spTgt spid="3614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6" grpId="0"/>
      <p:bldP spid="361478" grpId="0"/>
      <p:bldP spid="36147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2B8FF15-EABD-0D7F-AD57-03C84F5A2DF2}"/>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23555" name="Rectangle 4">
            <a:extLst>
              <a:ext uri="{FF2B5EF4-FFF2-40B4-BE49-F238E27FC236}">
                <a16:creationId xmlns:a16="http://schemas.microsoft.com/office/drawing/2014/main" id="{8377FC73-30B2-5F42-C816-3F4C602B9012}"/>
              </a:ext>
            </a:extLst>
          </p:cNvPr>
          <p:cNvSpPr>
            <a:spLocks noChangeArrowheads="1"/>
          </p:cNvSpPr>
          <p:nvPr/>
        </p:nvSpPr>
        <p:spPr bwMode="auto">
          <a:xfrm>
            <a:off x="100013" y="863600"/>
            <a:ext cx="5654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Chuyển đổi các kiểu dữ liệu</a:t>
            </a:r>
          </a:p>
        </p:txBody>
      </p:sp>
      <p:sp>
        <p:nvSpPr>
          <p:cNvPr id="363525" name="Rectangle 5">
            <a:extLst>
              <a:ext uri="{FF2B5EF4-FFF2-40B4-BE49-F238E27FC236}">
                <a16:creationId xmlns:a16="http://schemas.microsoft.com/office/drawing/2014/main" id="{5ABC4665-BA09-AA5B-3482-9A5CE03B8F51}"/>
              </a:ext>
            </a:extLst>
          </p:cNvPr>
          <p:cNvSpPr>
            <a:spLocks noChangeArrowheads="1"/>
          </p:cNvSpPr>
          <p:nvPr/>
        </p:nvSpPr>
        <p:spPr bwMode="auto">
          <a:xfrm>
            <a:off x="838200" y="2154238"/>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buFontTx/>
              <a:buBlip>
                <a:blip r:embed="rId2"/>
              </a:buBlip>
            </a:pPr>
            <a:r>
              <a:rPr lang="en-US" altLang="en-US"/>
              <a:t> Chuyển đổi tường minh</a:t>
            </a:r>
          </a:p>
        </p:txBody>
      </p:sp>
      <p:sp>
        <p:nvSpPr>
          <p:cNvPr id="363526" name="Rectangle 6">
            <a:extLst>
              <a:ext uri="{FF2B5EF4-FFF2-40B4-BE49-F238E27FC236}">
                <a16:creationId xmlns:a16="http://schemas.microsoft.com/office/drawing/2014/main" id="{485ED05E-ADC8-5BBC-A6FE-0ABD819D5946}"/>
              </a:ext>
            </a:extLst>
          </p:cNvPr>
          <p:cNvSpPr>
            <a:spLocks noChangeArrowheads="1"/>
          </p:cNvSpPr>
          <p:nvPr/>
        </p:nvSpPr>
        <p:spPr bwMode="auto">
          <a:xfrm>
            <a:off x="-762000" y="1560513"/>
            <a:ext cx="77724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buFontTx/>
              <a:buBlip>
                <a:blip r:embed="rId2"/>
              </a:buBlip>
            </a:pPr>
            <a:r>
              <a:rPr lang="en-US" altLang="en-US"/>
              <a:t> Chuyển đổi ngầm định</a:t>
            </a:r>
          </a:p>
        </p:txBody>
      </p:sp>
      <p:pic>
        <p:nvPicPr>
          <p:cNvPr id="363527" name="Picture 7">
            <a:extLst>
              <a:ext uri="{FF2B5EF4-FFF2-40B4-BE49-F238E27FC236}">
                <a16:creationId xmlns:a16="http://schemas.microsoft.com/office/drawing/2014/main" id="{C326AB5A-E4A9-BE94-3CD0-DA00D6220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3153003"/>
            <a:ext cx="4219575" cy="3238500"/>
          </a:xfrm>
          <a:prstGeom prst="rect">
            <a:avLst/>
          </a:prstGeom>
          <a:noFill/>
          <a:ln w="127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63528" name="Rectangle 8">
            <a:extLst>
              <a:ext uri="{FF2B5EF4-FFF2-40B4-BE49-F238E27FC236}">
                <a16:creationId xmlns:a16="http://schemas.microsoft.com/office/drawing/2014/main" id="{B3B0C85A-3249-0804-5322-93C20DACDB30}"/>
              </a:ext>
            </a:extLst>
          </p:cNvPr>
          <p:cNvSpPr>
            <a:spLocks noChangeArrowheads="1"/>
          </p:cNvSpPr>
          <p:nvPr/>
        </p:nvSpPr>
        <p:spPr bwMode="auto">
          <a:xfrm>
            <a:off x="-16329" y="2897189"/>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a:solidFill>
                  <a:srgbClr val="000066"/>
                </a:solidFill>
              </a:rPr>
              <a:t>Chuyển đổi ngầm định</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3526"/>
                                        </p:tgtEl>
                                        <p:attrNameLst>
                                          <p:attrName>style.visibility</p:attrName>
                                        </p:attrNameLst>
                                      </p:cBhvr>
                                      <p:to>
                                        <p:strVal val="visible"/>
                                      </p:to>
                                    </p:set>
                                    <p:animEffect transition="in" filter="box(in)">
                                      <p:cBhvr>
                                        <p:cTn id="7" dur="1000"/>
                                        <p:tgtEl>
                                          <p:spTgt spid="3635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3525"/>
                                        </p:tgtEl>
                                        <p:attrNameLst>
                                          <p:attrName>style.visibility</p:attrName>
                                        </p:attrNameLst>
                                      </p:cBhvr>
                                      <p:to>
                                        <p:strVal val="visible"/>
                                      </p:to>
                                    </p:set>
                                    <p:animEffect transition="in" filter="box(in)">
                                      <p:cBhvr>
                                        <p:cTn id="12" dur="1000"/>
                                        <p:tgtEl>
                                          <p:spTgt spid="3635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3528"/>
                                        </p:tgtEl>
                                        <p:attrNameLst>
                                          <p:attrName>style.visibility</p:attrName>
                                        </p:attrNameLst>
                                      </p:cBhvr>
                                      <p:to>
                                        <p:strVal val="visible"/>
                                      </p:to>
                                    </p:set>
                                    <p:animEffect transition="in" filter="box(in)">
                                      <p:cBhvr>
                                        <p:cTn id="17" dur="1000"/>
                                        <p:tgtEl>
                                          <p:spTgt spid="3635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363527"/>
                                        </p:tgtEl>
                                        <p:attrNameLst>
                                          <p:attrName>style.visibility</p:attrName>
                                        </p:attrNameLst>
                                      </p:cBhvr>
                                      <p:to>
                                        <p:strVal val="visible"/>
                                      </p:to>
                                    </p:set>
                                    <p:anim calcmode="lin" valueType="num">
                                      <p:cBhvr additive="base">
                                        <p:cTn id="22" dur="500" fill="hold"/>
                                        <p:tgtEl>
                                          <p:spTgt spid="363527"/>
                                        </p:tgtEl>
                                        <p:attrNameLst>
                                          <p:attrName>ppt_x</p:attrName>
                                        </p:attrNameLst>
                                      </p:cBhvr>
                                      <p:tavLst>
                                        <p:tav tm="0">
                                          <p:val>
                                            <p:strVal val="#ppt_x"/>
                                          </p:val>
                                        </p:tav>
                                        <p:tav tm="100000">
                                          <p:val>
                                            <p:strVal val="#ppt_x"/>
                                          </p:val>
                                        </p:tav>
                                      </p:tavLst>
                                    </p:anim>
                                    <p:anim calcmode="lin" valueType="num">
                                      <p:cBhvr additive="base">
                                        <p:cTn id="23" dur="500" fill="hold"/>
                                        <p:tgtEl>
                                          <p:spTgt spid="3635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5" grpId="0"/>
      <p:bldP spid="363526" grpId="0"/>
      <p:bldP spid="3635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C6B49B8-782B-7234-0200-896772E509DA}"/>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364550" name="Picture 6">
            <a:extLst>
              <a:ext uri="{FF2B5EF4-FFF2-40B4-BE49-F238E27FC236}">
                <a16:creationId xmlns:a16="http://schemas.microsoft.com/office/drawing/2014/main" id="{B15D29B5-F455-AF14-D804-E281B3362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168098"/>
            <a:ext cx="5867400" cy="2521803"/>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64551" name="Rectangle 7">
            <a:extLst>
              <a:ext uri="{FF2B5EF4-FFF2-40B4-BE49-F238E27FC236}">
                <a16:creationId xmlns:a16="http://schemas.microsoft.com/office/drawing/2014/main" id="{B3644C2A-8E1C-DD50-F5F1-057201A3AFBC}"/>
              </a:ext>
            </a:extLst>
          </p:cNvPr>
          <p:cNvSpPr>
            <a:spLocks noChangeArrowheads="1"/>
          </p:cNvSpPr>
          <p:nvPr/>
        </p:nvSpPr>
        <p:spPr bwMode="auto">
          <a:xfrm>
            <a:off x="-386443" y="1219200"/>
            <a:ext cx="4953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a:solidFill>
                  <a:srgbClr val="000066"/>
                </a:solidFill>
              </a:rPr>
              <a:t> Chuyển đổi tường minh</a:t>
            </a:r>
          </a:p>
          <a:p>
            <a:pPr algn="ctr"/>
            <a:r>
              <a:rPr lang="en-US" altLang="en-US">
                <a:solidFill>
                  <a:srgbClr val="000066"/>
                </a:solidFill>
              </a:rPr>
              <a:t> (Ép kiểu)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4551"/>
                                        </p:tgtEl>
                                        <p:attrNameLst>
                                          <p:attrName>style.visibility</p:attrName>
                                        </p:attrNameLst>
                                      </p:cBhvr>
                                      <p:to>
                                        <p:strVal val="visible"/>
                                      </p:to>
                                    </p:set>
                                    <p:animEffect transition="in" filter="box(in)">
                                      <p:cBhvr>
                                        <p:cTn id="7" dur="1000"/>
                                        <p:tgtEl>
                                          <p:spTgt spid="3645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4550"/>
                                        </p:tgtEl>
                                        <p:attrNameLst>
                                          <p:attrName>style.visibility</p:attrName>
                                        </p:attrNameLst>
                                      </p:cBhvr>
                                      <p:to>
                                        <p:strVal val="visible"/>
                                      </p:to>
                                    </p:set>
                                    <p:animEffect transition="in" filter="box(in)">
                                      <p:cBhvr>
                                        <p:cTn id="12" dur="1000"/>
                                        <p:tgtEl>
                                          <p:spTgt spid="364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5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13F34A1-04C1-A391-7181-8DA9AD7DAABF}"/>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395268" name="Picture 4">
            <a:extLst>
              <a:ext uri="{FF2B5EF4-FFF2-40B4-BE49-F238E27FC236}">
                <a16:creationId xmlns:a16="http://schemas.microsoft.com/office/drawing/2014/main" id="{616517DF-9AE8-983F-73E3-08585BA95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2209800"/>
            <a:ext cx="6629400" cy="29718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2" name="Rectangle 7">
            <a:extLst>
              <a:ext uri="{FF2B5EF4-FFF2-40B4-BE49-F238E27FC236}">
                <a16:creationId xmlns:a16="http://schemas.microsoft.com/office/drawing/2014/main" id="{EA9EAFCC-2A9F-9BE3-D6F1-B116DCDE6841}"/>
              </a:ext>
            </a:extLst>
          </p:cNvPr>
          <p:cNvSpPr>
            <a:spLocks noChangeArrowheads="1"/>
          </p:cNvSpPr>
          <p:nvPr/>
        </p:nvSpPr>
        <p:spPr bwMode="auto">
          <a:xfrm>
            <a:off x="-152400" y="999644"/>
            <a:ext cx="4953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a:solidFill>
                  <a:srgbClr val="000066"/>
                </a:solidFill>
              </a:rPr>
              <a:t> Chuyển đổi tường minh</a:t>
            </a:r>
          </a:p>
          <a:p>
            <a:pPr algn="ctr"/>
            <a:r>
              <a:rPr lang="en-US" altLang="en-US">
                <a:solidFill>
                  <a:srgbClr val="000066"/>
                </a:solidFill>
              </a:rPr>
              <a:t> (Ép kiểu)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5268"/>
                                        </p:tgtEl>
                                        <p:attrNameLst>
                                          <p:attrName>style.visibility</p:attrName>
                                        </p:attrNameLst>
                                      </p:cBhvr>
                                      <p:to>
                                        <p:strVal val="visible"/>
                                      </p:to>
                                    </p:set>
                                    <p:animEffect transition="in" filter="box(in)">
                                      <p:cBhvr>
                                        <p:cTn id="7" dur="1000"/>
                                        <p:tgtEl>
                                          <p:spTgt spid="39526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BAE5B0F-5387-97F5-E0FA-02C508762F62}"/>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398340" name="Picture 4">
            <a:extLst>
              <a:ext uri="{FF2B5EF4-FFF2-40B4-BE49-F238E27FC236}">
                <a16:creationId xmlns:a16="http://schemas.microsoft.com/office/drawing/2014/main" id="{F5C345D7-773A-90B8-2130-5795C3416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8306" y="4981128"/>
            <a:ext cx="3941762" cy="1694199"/>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98341" name="Rectangle 5">
            <a:extLst>
              <a:ext uri="{FF2B5EF4-FFF2-40B4-BE49-F238E27FC236}">
                <a16:creationId xmlns:a16="http://schemas.microsoft.com/office/drawing/2014/main" id="{A0AC77C2-BCD5-2116-A064-427E9359349E}"/>
              </a:ext>
            </a:extLst>
          </p:cNvPr>
          <p:cNvSpPr>
            <a:spLocks noChangeArrowheads="1"/>
          </p:cNvSpPr>
          <p:nvPr/>
        </p:nvSpPr>
        <p:spPr bwMode="auto">
          <a:xfrm>
            <a:off x="304800" y="3962400"/>
            <a:ext cx="3260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solidFill>
                  <a:srgbClr val="990000"/>
                </a:solidFill>
              </a:rPr>
              <a:t>Casting (Ép kiểu)</a:t>
            </a:r>
            <a:r>
              <a:rPr lang="en-US" altLang="en-US">
                <a:solidFill>
                  <a:schemeClr val="accent2"/>
                </a:solidFill>
              </a:rPr>
              <a:t> </a:t>
            </a:r>
          </a:p>
        </p:txBody>
      </p:sp>
      <p:sp>
        <p:nvSpPr>
          <p:cNvPr id="398342" name="Rectangle 6">
            <a:extLst>
              <a:ext uri="{FF2B5EF4-FFF2-40B4-BE49-F238E27FC236}">
                <a16:creationId xmlns:a16="http://schemas.microsoft.com/office/drawing/2014/main" id="{22F869BC-FA4F-156F-A5B8-B241B26EA165}"/>
              </a:ext>
            </a:extLst>
          </p:cNvPr>
          <p:cNvSpPr>
            <a:spLocks noChangeArrowheads="1"/>
          </p:cNvSpPr>
          <p:nvPr/>
        </p:nvSpPr>
        <p:spPr bwMode="auto">
          <a:xfrm>
            <a:off x="3429000" y="3895893"/>
            <a:ext cx="55403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eaLnBrk="1" hangingPunct="1"/>
            <a:r>
              <a:rPr lang="en-US" altLang="en-US" sz="2000">
                <a:solidFill>
                  <a:srgbClr val="003300"/>
                </a:solidFill>
              </a:rPr>
              <a:t>chuyển đổi giữa các kiểu dữ liệu có tính chất tương tự nhau (thường là số) </a:t>
            </a:r>
          </a:p>
        </p:txBody>
      </p:sp>
      <p:sp>
        <p:nvSpPr>
          <p:cNvPr id="398343" name="Rectangle 7">
            <a:extLst>
              <a:ext uri="{FF2B5EF4-FFF2-40B4-BE49-F238E27FC236}">
                <a16:creationId xmlns:a16="http://schemas.microsoft.com/office/drawing/2014/main" id="{B34701DC-D5BD-4663-6898-C2649379DBC0}"/>
              </a:ext>
            </a:extLst>
          </p:cNvPr>
          <p:cNvSpPr>
            <a:spLocks noChangeArrowheads="1"/>
          </p:cNvSpPr>
          <p:nvPr/>
        </p:nvSpPr>
        <p:spPr bwMode="auto">
          <a:xfrm>
            <a:off x="298450" y="1066800"/>
            <a:ext cx="1254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solidFill>
                  <a:srgbClr val="990000"/>
                </a:solidFill>
              </a:rPr>
              <a:t>Parse</a:t>
            </a:r>
            <a:r>
              <a:rPr lang="en-US" altLang="en-US">
                <a:solidFill>
                  <a:srgbClr val="990000"/>
                </a:solidFill>
              </a:rPr>
              <a:t> </a:t>
            </a:r>
          </a:p>
        </p:txBody>
      </p:sp>
      <p:sp>
        <p:nvSpPr>
          <p:cNvPr id="398344" name="Rectangle 8">
            <a:extLst>
              <a:ext uri="{FF2B5EF4-FFF2-40B4-BE49-F238E27FC236}">
                <a16:creationId xmlns:a16="http://schemas.microsoft.com/office/drawing/2014/main" id="{9875BD27-8899-C5E0-1D17-65205BF67EB6}"/>
              </a:ext>
            </a:extLst>
          </p:cNvPr>
          <p:cNvSpPr>
            <a:spLocks noChangeArrowheads="1"/>
          </p:cNvSpPr>
          <p:nvPr/>
        </p:nvSpPr>
        <p:spPr bwMode="auto">
          <a:xfrm>
            <a:off x="1628775" y="1001881"/>
            <a:ext cx="72167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eaLnBrk="1" hangingPunct="1"/>
            <a:r>
              <a:rPr lang="en-US" altLang="en-US" sz="2000"/>
              <a:t>là phương thức được sử dụng khá phổ biến khi muốn chuyển đổi một chuỗi sang một kiểu dữ liệu tương ứng. </a:t>
            </a:r>
          </a:p>
        </p:txBody>
      </p:sp>
      <p:pic>
        <p:nvPicPr>
          <p:cNvPr id="398345" name="Picture 9">
            <a:extLst>
              <a:ext uri="{FF2B5EF4-FFF2-40B4-BE49-F238E27FC236}">
                <a16:creationId xmlns:a16="http://schemas.microsoft.com/office/drawing/2014/main" id="{79A9EF6D-28DD-DC6A-D454-AEA25A99C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512" y="2201694"/>
            <a:ext cx="7010400" cy="1292225"/>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8343"/>
                                        </p:tgtEl>
                                        <p:attrNameLst>
                                          <p:attrName>style.visibility</p:attrName>
                                        </p:attrNameLst>
                                      </p:cBhvr>
                                      <p:to>
                                        <p:strVal val="visible"/>
                                      </p:to>
                                    </p:set>
                                    <p:animEffect transition="in" filter="box(in)">
                                      <p:cBhvr>
                                        <p:cTn id="7" dur="1000"/>
                                        <p:tgtEl>
                                          <p:spTgt spid="3983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8344"/>
                                        </p:tgtEl>
                                        <p:attrNameLst>
                                          <p:attrName>style.visibility</p:attrName>
                                        </p:attrNameLst>
                                      </p:cBhvr>
                                      <p:to>
                                        <p:strVal val="visible"/>
                                      </p:to>
                                    </p:set>
                                    <p:animEffect transition="in" filter="box(in)">
                                      <p:cBhvr>
                                        <p:cTn id="12" dur="1000"/>
                                        <p:tgtEl>
                                          <p:spTgt spid="3983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8345"/>
                                        </p:tgtEl>
                                        <p:attrNameLst>
                                          <p:attrName>style.visibility</p:attrName>
                                        </p:attrNameLst>
                                      </p:cBhvr>
                                      <p:to>
                                        <p:strVal val="visible"/>
                                      </p:to>
                                    </p:set>
                                    <p:animEffect transition="in" filter="box(in)">
                                      <p:cBhvr>
                                        <p:cTn id="17" dur="1000"/>
                                        <p:tgtEl>
                                          <p:spTgt spid="3983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98341"/>
                                        </p:tgtEl>
                                        <p:attrNameLst>
                                          <p:attrName>style.visibility</p:attrName>
                                        </p:attrNameLst>
                                      </p:cBhvr>
                                      <p:to>
                                        <p:strVal val="visible"/>
                                      </p:to>
                                    </p:set>
                                    <p:animEffect transition="in" filter="box(in)">
                                      <p:cBhvr>
                                        <p:cTn id="22" dur="1000"/>
                                        <p:tgtEl>
                                          <p:spTgt spid="3983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98342"/>
                                        </p:tgtEl>
                                        <p:attrNameLst>
                                          <p:attrName>style.visibility</p:attrName>
                                        </p:attrNameLst>
                                      </p:cBhvr>
                                      <p:to>
                                        <p:strVal val="visible"/>
                                      </p:to>
                                    </p:set>
                                    <p:animEffect transition="in" filter="box(in)">
                                      <p:cBhvr>
                                        <p:cTn id="27" dur="1000"/>
                                        <p:tgtEl>
                                          <p:spTgt spid="3983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98340"/>
                                        </p:tgtEl>
                                        <p:attrNameLst>
                                          <p:attrName>style.visibility</p:attrName>
                                        </p:attrNameLst>
                                      </p:cBhvr>
                                      <p:to>
                                        <p:strVal val="visible"/>
                                      </p:to>
                                    </p:set>
                                    <p:animEffect transition="in" filter="box(in)">
                                      <p:cBhvr>
                                        <p:cTn id="32" dur="1000"/>
                                        <p:tgtEl>
                                          <p:spTgt spid="398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1" grpId="0"/>
      <p:bldP spid="398342" grpId="0"/>
      <p:bldP spid="398343" grpId="0"/>
      <p:bldP spid="3983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BE279D4-2914-829D-869E-2BA177458020}"/>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96292" name="Rectangle 4">
            <a:extLst>
              <a:ext uri="{FF2B5EF4-FFF2-40B4-BE49-F238E27FC236}">
                <a16:creationId xmlns:a16="http://schemas.microsoft.com/office/drawing/2014/main" id="{FB94F979-C3A2-8E8E-14F4-CF138DCC69BA}"/>
              </a:ext>
            </a:extLst>
          </p:cNvPr>
          <p:cNvSpPr>
            <a:spLocks noChangeArrowheads="1"/>
          </p:cNvSpPr>
          <p:nvPr/>
        </p:nvSpPr>
        <p:spPr bwMode="auto">
          <a:xfrm>
            <a:off x="114300" y="902493"/>
            <a:ext cx="1811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solidFill>
                  <a:srgbClr val="990000"/>
                </a:solidFill>
              </a:rPr>
              <a:t>TryParse</a:t>
            </a:r>
            <a:r>
              <a:rPr lang="en-US" altLang="en-US">
                <a:solidFill>
                  <a:srgbClr val="990000"/>
                </a:solidFill>
              </a:rPr>
              <a:t> </a:t>
            </a:r>
          </a:p>
        </p:txBody>
      </p:sp>
      <p:sp>
        <p:nvSpPr>
          <p:cNvPr id="396293" name="Rectangle 5">
            <a:extLst>
              <a:ext uri="{FF2B5EF4-FFF2-40B4-BE49-F238E27FC236}">
                <a16:creationId xmlns:a16="http://schemas.microsoft.com/office/drawing/2014/main" id="{605E4092-AC5A-DC8D-D541-3A05C9B2570E}"/>
              </a:ext>
            </a:extLst>
          </p:cNvPr>
          <p:cNvSpPr>
            <a:spLocks noChangeArrowheads="1"/>
          </p:cNvSpPr>
          <p:nvPr/>
        </p:nvSpPr>
        <p:spPr bwMode="auto">
          <a:xfrm>
            <a:off x="1978932" y="906602"/>
            <a:ext cx="705076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eaLnBrk="1" hangingPunct="1"/>
            <a:r>
              <a:rPr lang="en-US" altLang="en-US" sz="2000"/>
              <a:t>là phương thức được tích hợp sẵn trong các </a:t>
            </a:r>
          </a:p>
          <a:p>
            <a:pPr algn="just" eaLnBrk="1" hangingPunct="1"/>
            <a:r>
              <a:rPr lang="en-US" altLang="en-US" sz="2000"/>
              <a:t>lớp kiểu dữ liệu cơ bản của C#. </a:t>
            </a:r>
          </a:p>
        </p:txBody>
      </p:sp>
      <p:sp>
        <p:nvSpPr>
          <p:cNvPr id="396294" name="Rectangle 6">
            <a:extLst>
              <a:ext uri="{FF2B5EF4-FFF2-40B4-BE49-F238E27FC236}">
                <a16:creationId xmlns:a16="http://schemas.microsoft.com/office/drawing/2014/main" id="{1C6E4C5A-7C8F-6904-F831-B15839DA65BE}"/>
              </a:ext>
            </a:extLst>
          </p:cNvPr>
          <p:cNvSpPr>
            <a:spLocks noChangeArrowheads="1"/>
          </p:cNvSpPr>
          <p:nvPr/>
        </p:nvSpPr>
        <p:spPr bwMode="auto">
          <a:xfrm>
            <a:off x="111983" y="2133153"/>
            <a:ext cx="847566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eaLnBrk="1" hangingPunct="1"/>
            <a:r>
              <a:rPr lang="en-US" altLang="en-US"/>
              <a:t>	</a:t>
            </a:r>
            <a:r>
              <a:rPr lang="en-US" altLang="en-US" sz="2000">
                <a:solidFill>
                  <a:srgbClr val="003300"/>
                </a:solidFill>
              </a:rPr>
              <a:t>- tham số thứ nhất là chuỗi cần chuyển đổi</a:t>
            </a:r>
          </a:p>
          <a:p>
            <a:pPr algn="just" eaLnBrk="1" hangingPunct="1"/>
            <a:r>
              <a:rPr lang="en-US" altLang="en-US" sz="2000"/>
              <a:t>	</a:t>
            </a:r>
            <a:r>
              <a:rPr lang="en-US" altLang="en-US" sz="2000">
                <a:solidFill>
                  <a:srgbClr val="003300"/>
                </a:solidFill>
              </a:rPr>
              <a:t>- tham số thứ hai là biến sẽ chứa giá trị đã được chuyển đổi, biến thứ hai này phải được đánh dấu là out </a:t>
            </a:r>
          </a:p>
        </p:txBody>
      </p:sp>
      <p:sp>
        <p:nvSpPr>
          <p:cNvPr id="396295" name="Rectangle 7">
            <a:extLst>
              <a:ext uri="{FF2B5EF4-FFF2-40B4-BE49-F238E27FC236}">
                <a16:creationId xmlns:a16="http://schemas.microsoft.com/office/drawing/2014/main" id="{01CD37DB-9228-69FE-9F4F-D8C0FB1D9EE1}"/>
              </a:ext>
            </a:extLst>
          </p:cNvPr>
          <p:cNvSpPr>
            <a:spLocks noChangeArrowheads="1"/>
          </p:cNvSpPr>
          <p:nvPr/>
        </p:nvSpPr>
        <p:spPr bwMode="auto">
          <a:xfrm>
            <a:off x="322263" y="1690688"/>
            <a:ext cx="2898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a:solidFill>
                  <a:srgbClr val="000066"/>
                </a:solidFill>
              </a:rPr>
              <a:t>Cú pháp TryParse</a:t>
            </a:r>
          </a:p>
        </p:txBody>
      </p:sp>
      <p:sp>
        <p:nvSpPr>
          <p:cNvPr id="396297" name="Rectangle 9">
            <a:extLst>
              <a:ext uri="{FF2B5EF4-FFF2-40B4-BE49-F238E27FC236}">
                <a16:creationId xmlns:a16="http://schemas.microsoft.com/office/drawing/2014/main" id="{DF6C09CD-A8E4-7DCD-508B-82B76F0BE5CE}"/>
              </a:ext>
            </a:extLst>
          </p:cNvPr>
          <p:cNvSpPr>
            <a:spLocks noChangeArrowheads="1"/>
          </p:cNvSpPr>
          <p:nvPr/>
        </p:nvSpPr>
        <p:spPr bwMode="auto">
          <a:xfrm>
            <a:off x="354920" y="5443566"/>
            <a:ext cx="847566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eaLnBrk="1" hangingPunct="1"/>
            <a:r>
              <a:rPr lang="en-US" altLang="en-US" sz="2000"/>
              <a:t>TryParse sẽ trả về các giá trị true (chuyển đổi thành công) hoặc false (chuyển đổi không thành công, biến mang giá trị mặc định). </a:t>
            </a:r>
          </a:p>
        </p:txBody>
      </p:sp>
      <p:pic>
        <p:nvPicPr>
          <p:cNvPr id="396299" name="Picture 11">
            <a:extLst>
              <a:ext uri="{FF2B5EF4-FFF2-40B4-BE49-F238E27FC236}">
                <a16:creationId xmlns:a16="http://schemas.microsoft.com/office/drawing/2014/main" id="{7B34752E-8DE3-C337-60F0-EA867E18AE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5638" y="3338067"/>
            <a:ext cx="6019800" cy="1791145"/>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6292"/>
                                        </p:tgtEl>
                                        <p:attrNameLst>
                                          <p:attrName>style.visibility</p:attrName>
                                        </p:attrNameLst>
                                      </p:cBhvr>
                                      <p:to>
                                        <p:strVal val="visible"/>
                                      </p:to>
                                    </p:set>
                                    <p:animEffect transition="in" filter="box(in)">
                                      <p:cBhvr>
                                        <p:cTn id="7" dur="1000"/>
                                        <p:tgtEl>
                                          <p:spTgt spid="396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6293"/>
                                        </p:tgtEl>
                                        <p:attrNameLst>
                                          <p:attrName>style.visibility</p:attrName>
                                        </p:attrNameLst>
                                      </p:cBhvr>
                                      <p:to>
                                        <p:strVal val="visible"/>
                                      </p:to>
                                    </p:set>
                                    <p:animEffect transition="in" filter="box(in)">
                                      <p:cBhvr>
                                        <p:cTn id="12" dur="1000"/>
                                        <p:tgtEl>
                                          <p:spTgt spid="3962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6295"/>
                                        </p:tgtEl>
                                        <p:attrNameLst>
                                          <p:attrName>style.visibility</p:attrName>
                                        </p:attrNameLst>
                                      </p:cBhvr>
                                      <p:to>
                                        <p:strVal val="visible"/>
                                      </p:to>
                                    </p:set>
                                    <p:animEffect transition="in" filter="box(in)">
                                      <p:cBhvr>
                                        <p:cTn id="17" dur="1000"/>
                                        <p:tgtEl>
                                          <p:spTgt spid="3962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96294"/>
                                        </p:tgtEl>
                                        <p:attrNameLst>
                                          <p:attrName>style.visibility</p:attrName>
                                        </p:attrNameLst>
                                      </p:cBhvr>
                                      <p:to>
                                        <p:strVal val="visible"/>
                                      </p:to>
                                    </p:set>
                                    <p:animEffect transition="in" filter="box(in)">
                                      <p:cBhvr>
                                        <p:cTn id="22" dur="1000"/>
                                        <p:tgtEl>
                                          <p:spTgt spid="3962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96299"/>
                                        </p:tgtEl>
                                        <p:attrNameLst>
                                          <p:attrName>style.visibility</p:attrName>
                                        </p:attrNameLst>
                                      </p:cBhvr>
                                      <p:to>
                                        <p:strVal val="visible"/>
                                      </p:to>
                                    </p:set>
                                    <p:animEffect transition="in" filter="box(in)">
                                      <p:cBhvr>
                                        <p:cTn id="27" dur="1000"/>
                                        <p:tgtEl>
                                          <p:spTgt spid="3962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96297"/>
                                        </p:tgtEl>
                                        <p:attrNameLst>
                                          <p:attrName>style.visibility</p:attrName>
                                        </p:attrNameLst>
                                      </p:cBhvr>
                                      <p:to>
                                        <p:strVal val="visible"/>
                                      </p:to>
                                    </p:set>
                                    <p:animEffect transition="in" filter="box(in)">
                                      <p:cBhvr>
                                        <p:cTn id="32" dur="1000"/>
                                        <p:tgtEl>
                                          <p:spTgt spid="396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2" grpId="0"/>
      <p:bldP spid="396293" grpId="0"/>
      <p:bldP spid="396294" grpId="0"/>
      <p:bldP spid="396295" grpId="0"/>
      <p:bldP spid="39629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5FB25A78-0882-8D98-DFA9-804C59042D38}"/>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28675" name="Rectangle 4">
            <a:extLst>
              <a:ext uri="{FF2B5EF4-FFF2-40B4-BE49-F238E27FC236}">
                <a16:creationId xmlns:a16="http://schemas.microsoft.com/office/drawing/2014/main" id="{D68B6F32-61AA-C94F-5955-EA4BA39A7352}"/>
              </a:ext>
            </a:extLst>
          </p:cNvPr>
          <p:cNvSpPr>
            <a:spLocks noChangeArrowheads="1"/>
          </p:cNvSpPr>
          <p:nvPr/>
        </p:nvSpPr>
        <p:spPr bwMode="auto">
          <a:xfrm>
            <a:off x="111351" y="697139"/>
            <a:ext cx="1630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b="1">
                <a:solidFill>
                  <a:schemeClr val="accent2"/>
                </a:solidFill>
              </a:rPr>
              <a:t>Convert</a:t>
            </a:r>
            <a:r>
              <a:rPr lang="en-US" altLang="en-US">
                <a:solidFill>
                  <a:srgbClr val="FF0000"/>
                </a:solidFill>
              </a:rPr>
              <a:t> </a:t>
            </a:r>
          </a:p>
        </p:txBody>
      </p:sp>
      <p:sp>
        <p:nvSpPr>
          <p:cNvPr id="397317" name="Rectangle 5">
            <a:extLst>
              <a:ext uri="{FF2B5EF4-FFF2-40B4-BE49-F238E27FC236}">
                <a16:creationId xmlns:a16="http://schemas.microsoft.com/office/drawing/2014/main" id="{58F3FAAF-52E6-F109-80BF-7602F171031B}"/>
              </a:ext>
            </a:extLst>
          </p:cNvPr>
          <p:cNvSpPr>
            <a:spLocks noChangeArrowheads="1"/>
          </p:cNvSpPr>
          <p:nvPr/>
        </p:nvSpPr>
        <p:spPr bwMode="auto">
          <a:xfrm>
            <a:off x="272256" y="1078945"/>
            <a:ext cx="856694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indent="-342900" algn="just" eaLnBrk="1" hangingPunct="1">
              <a:buFont typeface="Wingdings" panose="05000000000000000000" pitchFamily="2" charset="2"/>
              <a:buChar char="ü"/>
            </a:pPr>
            <a:r>
              <a:rPr lang="en-US" altLang="en-US" sz="2000">
                <a:solidFill>
                  <a:srgbClr val="003300"/>
                </a:solidFill>
              </a:rPr>
              <a:t>Lớp Convert là một lớp tiện ích trong C# cung cấp cho chúng ta rất nhiều phương thức tĩnh khác nhau để chuyển đổi từ một kiểu dữ liệu này sang kiểu dữ liệu khác. </a:t>
            </a:r>
          </a:p>
          <a:p>
            <a:pPr marL="342900" indent="-342900" algn="just" eaLnBrk="1" hangingPunct="1">
              <a:buFont typeface="Wingdings" panose="05000000000000000000" pitchFamily="2" charset="2"/>
              <a:buChar char="ü"/>
            </a:pPr>
            <a:r>
              <a:rPr lang="en-US" altLang="en-US" sz="2000">
                <a:solidFill>
                  <a:srgbClr val="003300"/>
                </a:solidFill>
              </a:rPr>
              <a:t>Tham số mà các phương thức trong Convert nhận không nhất thiết phải là chuỗi mà có thể ở nhiều kiểu dữ liệu khác nhau (int, bool, double…). </a:t>
            </a:r>
          </a:p>
        </p:txBody>
      </p:sp>
      <p:pic>
        <p:nvPicPr>
          <p:cNvPr id="397318" name="Picture 6">
            <a:extLst>
              <a:ext uri="{FF2B5EF4-FFF2-40B4-BE49-F238E27FC236}">
                <a16:creationId xmlns:a16="http://schemas.microsoft.com/office/drawing/2014/main" id="{F5BDF7D0-3E2A-8BA2-656B-CA1DA199F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686175"/>
            <a:ext cx="3886200" cy="10668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97319" name="Picture 7">
            <a:extLst>
              <a:ext uri="{FF2B5EF4-FFF2-40B4-BE49-F238E27FC236}">
                <a16:creationId xmlns:a16="http://schemas.microsoft.com/office/drawing/2014/main" id="{87C934EC-8A19-D169-503A-27E9C18C2E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029200"/>
            <a:ext cx="5878513" cy="13716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7317"/>
                                        </p:tgtEl>
                                        <p:attrNameLst>
                                          <p:attrName>style.visibility</p:attrName>
                                        </p:attrNameLst>
                                      </p:cBhvr>
                                      <p:to>
                                        <p:strVal val="visible"/>
                                      </p:to>
                                    </p:set>
                                    <p:animEffect transition="in" filter="box(in)">
                                      <p:cBhvr>
                                        <p:cTn id="7" dur="1000"/>
                                        <p:tgtEl>
                                          <p:spTgt spid="3973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7318"/>
                                        </p:tgtEl>
                                        <p:attrNameLst>
                                          <p:attrName>style.visibility</p:attrName>
                                        </p:attrNameLst>
                                      </p:cBhvr>
                                      <p:to>
                                        <p:strVal val="visible"/>
                                      </p:to>
                                    </p:set>
                                    <p:animEffect transition="in" filter="box(in)">
                                      <p:cBhvr>
                                        <p:cTn id="12" dur="1000"/>
                                        <p:tgtEl>
                                          <p:spTgt spid="3973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7319"/>
                                        </p:tgtEl>
                                        <p:attrNameLst>
                                          <p:attrName>style.visibility</p:attrName>
                                        </p:attrNameLst>
                                      </p:cBhvr>
                                      <p:to>
                                        <p:strVal val="visible"/>
                                      </p:to>
                                    </p:set>
                                    <p:animEffect transition="in" filter="box(in)">
                                      <p:cBhvr>
                                        <p:cTn id="17" dur="1000"/>
                                        <p:tgtEl>
                                          <p:spTgt spid="397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99FDAEE-5B9E-E6C4-6A10-37125ACF2883}"/>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29699" name="Rectangle 4">
            <a:extLst>
              <a:ext uri="{FF2B5EF4-FFF2-40B4-BE49-F238E27FC236}">
                <a16:creationId xmlns:a16="http://schemas.microsoft.com/office/drawing/2014/main" id="{8CAFA063-8454-9A1F-B26E-BC0C77D55E31}"/>
              </a:ext>
            </a:extLst>
          </p:cNvPr>
          <p:cNvSpPr>
            <a:spLocks noChangeArrowheads="1"/>
          </p:cNvSpPr>
          <p:nvPr/>
        </p:nvSpPr>
        <p:spPr bwMode="auto">
          <a:xfrm>
            <a:off x="71438" y="795338"/>
            <a:ext cx="29003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Biến</a:t>
            </a:r>
          </a:p>
        </p:txBody>
      </p:sp>
      <p:sp>
        <p:nvSpPr>
          <p:cNvPr id="360453" name="Rectangle 5">
            <a:extLst>
              <a:ext uri="{FF2B5EF4-FFF2-40B4-BE49-F238E27FC236}">
                <a16:creationId xmlns:a16="http://schemas.microsoft.com/office/drawing/2014/main" id="{A15EDFBC-59E1-6B3A-CBB4-8BC657C8202B}"/>
              </a:ext>
            </a:extLst>
          </p:cNvPr>
          <p:cNvSpPr>
            <a:spLocks noChangeArrowheads="1"/>
          </p:cNvSpPr>
          <p:nvPr/>
        </p:nvSpPr>
        <p:spPr bwMode="auto">
          <a:xfrm>
            <a:off x="190500" y="1409769"/>
            <a:ext cx="8953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indent="-342900">
              <a:buFont typeface="Wingdings" panose="05000000000000000000" pitchFamily="2" charset="2"/>
              <a:buChar char="ü"/>
            </a:pPr>
            <a:r>
              <a:rPr lang="en-US" altLang="en-US"/>
              <a:t>Một biến là một vùng lưu trữ với một kiểu dữ liệu</a:t>
            </a:r>
          </a:p>
        </p:txBody>
      </p:sp>
      <p:sp>
        <p:nvSpPr>
          <p:cNvPr id="360454" name="Rectangle 6">
            <a:extLst>
              <a:ext uri="{FF2B5EF4-FFF2-40B4-BE49-F238E27FC236}">
                <a16:creationId xmlns:a16="http://schemas.microsoft.com/office/drawing/2014/main" id="{29DEBCA2-FBAD-52F2-22E7-2377BB55FCEA}"/>
              </a:ext>
            </a:extLst>
          </p:cNvPr>
          <p:cNvSpPr>
            <a:spLocks noChangeArrowheads="1"/>
          </p:cNvSpPr>
          <p:nvPr/>
        </p:nvSpPr>
        <p:spPr bwMode="auto">
          <a:xfrm>
            <a:off x="190500" y="1950424"/>
            <a:ext cx="89535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indent="-342900" algn="just">
              <a:buFont typeface="Wingdings" panose="05000000000000000000" pitchFamily="2" charset="2"/>
              <a:buChar char="ü"/>
            </a:pPr>
            <a:r>
              <a:rPr lang="en-US" altLang="en-US"/>
              <a:t>Phải khai báo kiểu của biến và gán cho biến một tên duy nhất</a:t>
            </a:r>
          </a:p>
        </p:txBody>
      </p:sp>
      <p:sp>
        <p:nvSpPr>
          <p:cNvPr id="360455" name="Rectangle 7">
            <a:extLst>
              <a:ext uri="{FF2B5EF4-FFF2-40B4-BE49-F238E27FC236}">
                <a16:creationId xmlns:a16="http://schemas.microsoft.com/office/drawing/2014/main" id="{C36D2545-3E18-E58D-3180-98761CE4ED34}"/>
              </a:ext>
            </a:extLst>
          </p:cNvPr>
          <p:cNvSpPr>
            <a:spLocks noChangeArrowheads="1"/>
          </p:cNvSpPr>
          <p:nvPr/>
        </p:nvSpPr>
        <p:spPr bwMode="auto">
          <a:xfrm>
            <a:off x="381000" y="3048000"/>
            <a:ext cx="5867400"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lnSpc>
                <a:spcPct val="120000"/>
              </a:lnSpc>
            </a:pPr>
            <a:r>
              <a:rPr lang="en-US" altLang="en-US">
                <a:solidFill>
                  <a:srgbClr val="000066"/>
                </a:solidFill>
              </a:rPr>
              <a:t>Cú pháp</a:t>
            </a:r>
            <a:r>
              <a:rPr lang="en-US" altLang="en-US"/>
              <a:t>:</a:t>
            </a:r>
          </a:p>
          <a:p>
            <a:pPr algn="just">
              <a:lnSpc>
                <a:spcPct val="120000"/>
              </a:lnSpc>
            </a:pPr>
            <a:r>
              <a:rPr lang="en-US" altLang="en-US" i="1">
                <a:solidFill>
                  <a:srgbClr val="003300"/>
                </a:solidFill>
              </a:rPr>
              <a:t>&lt;Kiểu dữ liệu&gt;</a:t>
            </a:r>
            <a:r>
              <a:rPr lang="en-US" altLang="en-US" i="1"/>
              <a:t> </a:t>
            </a:r>
            <a:r>
              <a:rPr lang="en-US" altLang="en-US" i="1">
                <a:solidFill>
                  <a:srgbClr val="FF6699"/>
                </a:solidFill>
              </a:rPr>
              <a:t>&lt;Tên biến&gt;</a:t>
            </a:r>
            <a:r>
              <a:rPr lang="en-US" altLang="en-US" i="1"/>
              <a:t> ;</a:t>
            </a:r>
          </a:p>
          <a:p>
            <a:pPr algn="just">
              <a:lnSpc>
                <a:spcPct val="120000"/>
              </a:lnSpc>
            </a:pPr>
            <a:r>
              <a:rPr lang="en-US" altLang="en-US"/>
              <a:t>– </a:t>
            </a:r>
            <a:r>
              <a:rPr lang="en-US" altLang="en-US">
                <a:solidFill>
                  <a:srgbClr val="003300"/>
                </a:solidFill>
              </a:rPr>
              <a:t>Kiểu dữ liệu</a:t>
            </a:r>
            <a:r>
              <a:rPr lang="en-US" altLang="en-US"/>
              <a:t>: int , long , float…</a:t>
            </a:r>
          </a:p>
        </p:txBody>
      </p:sp>
      <p:sp>
        <p:nvSpPr>
          <p:cNvPr id="360456" name="Text Box 8">
            <a:extLst>
              <a:ext uri="{FF2B5EF4-FFF2-40B4-BE49-F238E27FC236}">
                <a16:creationId xmlns:a16="http://schemas.microsoft.com/office/drawing/2014/main" id="{4EB9872E-B528-35B7-1AA2-026560E18B48}"/>
              </a:ext>
            </a:extLst>
          </p:cNvPr>
          <p:cNvSpPr txBox="1">
            <a:spLocks noChangeArrowheads="1"/>
          </p:cNvSpPr>
          <p:nvPr/>
        </p:nvSpPr>
        <p:spPr bwMode="auto">
          <a:xfrm>
            <a:off x="6477000" y="3352800"/>
            <a:ext cx="23622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a:solidFill>
                  <a:srgbClr val="990000"/>
                </a:solidFill>
              </a:rPr>
              <a:t>int tuoi;</a:t>
            </a:r>
          </a:p>
          <a:p>
            <a:pPr algn="just">
              <a:spcBef>
                <a:spcPct val="50000"/>
              </a:spcBef>
            </a:pPr>
            <a:r>
              <a:rPr lang="en-US" altLang="en-US">
                <a:solidFill>
                  <a:srgbClr val="000066"/>
                </a:solidFill>
              </a:rPr>
              <a:t>float diem;</a:t>
            </a:r>
          </a:p>
          <a:p>
            <a:pPr algn="just">
              <a:spcBef>
                <a:spcPct val="50000"/>
              </a:spcBef>
            </a:pPr>
            <a:r>
              <a:rPr lang="en-US" altLang="en-US">
                <a:solidFill>
                  <a:srgbClr val="660033"/>
                </a:solidFill>
              </a:rPr>
              <a:t>double tien;</a:t>
            </a:r>
          </a:p>
          <a:p>
            <a:pPr algn="just">
              <a:spcBef>
                <a:spcPct val="50000"/>
              </a:spcBef>
            </a:pPr>
            <a:r>
              <a:rPr lang="en-US" altLang="en-US">
                <a:solidFill>
                  <a:srgbClr val="003300"/>
                </a:solidFill>
              </a:rPr>
              <a:t>string ten;</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0453"/>
                                        </p:tgtEl>
                                        <p:attrNameLst>
                                          <p:attrName>style.visibility</p:attrName>
                                        </p:attrNameLst>
                                      </p:cBhvr>
                                      <p:to>
                                        <p:strVal val="visible"/>
                                      </p:to>
                                    </p:set>
                                    <p:animEffect transition="in" filter="box(in)">
                                      <p:cBhvr>
                                        <p:cTn id="7" dur="1000"/>
                                        <p:tgtEl>
                                          <p:spTgt spid="3604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0454"/>
                                        </p:tgtEl>
                                        <p:attrNameLst>
                                          <p:attrName>style.visibility</p:attrName>
                                        </p:attrNameLst>
                                      </p:cBhvr>
                                      <p:to>
                                        <p:strVal val="visible"/>
                                      </p:to>
                                    </p:set>
                                    <p:animEffect transition="in" filter="box(in)">
                                      <p:cBhvr>
                                        <p:cTn id="12" dur="1000"/>
                                        <p:tgtEl>
                                          <p:spTgt spid="3604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0455">
                                            <p:txEl>
                                              <p:pRg st="0" end="0"/>
                                            </p:txEl>
                                          </p:spTgt>
                                        </p:tgtEl>
                                        <p:attrNameLst>
                                          <p:attrName>style.visibility</p:attrName>
                                        </p:attrNameLst>
                                      </p:cBhvr>
                                      <p:to>
                                        <p:strVal val="visible"/>
                                      </p:to>
                                    </p:set>
                                    <p:animEffect transition="in" filter="box(in)">
                                      <p:cBhvr>
                                        <p:cTn id="17" dur="1000"/>
                                        <p:tgtEl>
                                          <p:spTgt spid="3604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0455">
                                            <p:txEl>
                                              <p:pRg st="1" end="1"/>
                                            </p:txEl>
                                          </p:spTgt>
                                        </p:tgtEl>
                                        <p:attrNameLst>
                                          <p:attrName>style.visibility</p:attrName>
                                        </p:attrNameLst>
                                      </p:cBhvr>
                                      <p:to>
                                        <p:strVal val="visible"/>
                                      </p:to>
                                    </p:set>
                                    <p:animEffect transition="in" filter="box(in)">
                                      <p:cBhvr>
                                        <p:cTn id="22" dur="1000"/>
                                        <p:tgtEl>
                                          <p:spTgt spid="36045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60455">
                                            <p:txEl>
                                              <p:pRg st="2" end="2"/>
                                            </p:txEl>
                                          </p:spTgt>
                                        </p:tgtEl>
                                        <p:attrNameLst>
                                          <p:attrName>style.visibility</p:attrName>
                                        </p:attrNameLst>
                                      </p:cBhvr>
                                      <p:to>
                                        <p:strVal val="visible"/>
                                      </p:to>
                                    </p:set>
                                    <p:animEffect transition="in" filter="box(in)">
                                      <p:cBhvr>
                                        <p:cTn id="27" dur="1000"/>
                                        <p:tgtEl>
                                          <p:spTgt spid="360455">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60456"/>
                                        </p:tgtEl>
                                        <p:attrNameLst>
                                          <p:attrName>style.visibility</p:attrName>
                                        </p:attrNameLst>
                                      </p:cBhvr>
                                      <p:to>
                                        <p:strVal val="visible"/>
                                      </p:to>
                                    </p:set>
                                    <p:animEffect transition="in" filter="box(in)">
                                      <p:cBhvr>
                                        <p:cTn id="32" dur="1000"/>
                                        <p:tgtEl>
                                          <p:spTgt spid="360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3" grpId="0"/>
      <p:bldP spid="360454" grpId="0"/>
      <p:bldP spid="360455" grpId="0" build="p"/>
      <p:bldP spid="36045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21E9CC8-9D6C-904A-3F82-C73DE61BEF8A}"/>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365573" name="Picture 5">
            <a:extLst>
              <a:ext uri="{FF2B5EF4-FFF2-40B4-BE49-F238E27FC236}">
                <a16:creationId xmlns:a16="http://schemas.microsoft.com/office/drawing/2014/main" id="{05743CE7-19A0-D444-BFAE-50737A8F6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038600"/>
            <a:ext cx="8640763" cy="22860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65574" name="Rectangle 6">
            <a:extLst>
              <a:ext uri="{FF2B5EF4-FFF2-40B4-BE49-F238E27FC236}">
                <a16:creationId xmlns:a16="http://schemas.microsoft.com/office/drawing/2014/main" id="{2E7231AA-28A5-DE4D-3241-DB97977E53DA}"/>
              </a:ext>
            </a:extLst>
          </p:cNvPr>
          <p:cNvSpPr>
            <a:spLocks noChangeArrowheads="1"/>
          </p:cNvSpPr>
          <p:nvPr/>
        </p:nvSpPr>
        <p:spPr bwMode="auto">
          <a:xfrm>
            <a:off x="381000" y="990600"/>
            <a:ext cx="8534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1">
                <a:solidFill>
                  <a:srgbClr val="FF0000"/>
                </a:solidFill>
              </a:rPr>
              <a:t>Lưu ý</a:t>
            </a:r>
            <a:r>
              <a:rPr lang="en-US" altLang="en-US">
                <a:solidFill>
                  <a:srgbClr val="FF0000"/>
                </a:solidFill>
              </a:rPr>
              <a:t>: </a:t>
            </a:r>
            <a:r>
              <a:rPr lang="en-US" altLang="en-US"/>
              <a:t>Trước khi sử dụng một biến, thì biến đó phải 	được khởi tạo.</a:t>
            </a:r>
          </a:p>
        </p:txBody>
      </p:sp>
      <p:sp>
        <p:nvSpPr>
          <p:cNvPr id="365575" name="Rectangle 7">
            <a:extLst>
              <a:ext uri="{FF2B5EF4-FFF2-40B4-BE49-F238E27FC236}">
                <a16:creationId xmlns:a16="http://schemas.microsoft.com/office/drawing/2014/main" id="{67AD0984-6004-AB8F-86A4-D4189936E67D}"/>
              </a:ext>
            </a:extLst>
          </p:cNvPr>
          <p:cNvSpPr>
            <a:spLocks noChangeArrowheads="1"/>
          </p:cNvSpPr>
          <p:nvPr/>
        </p:nvSpPr>
        <p:spPr bwMode="auto">
          <a:xfrm>
            <a:off x="457200" y="1876425"/>
            <a:ext cx="8305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1"/>
              <a:t>Ví dụ:</a:t>
            </a:r>
          </a:p>
          <a:p>
            <a:pPr algn="just"/>
            <a:r>
              <a:rPr lang="en-US" altLang="en-US"/>
              <a:t>– int x; //Khai báo biến trước.</a:t>
            </a:r>
          </a:p>
          <a:p>
            <a:pPr algn="just"/>
            <a:r>
              <a:rPr lang="en-US" altLang="en-US"/>
              <a:t>– x = 5; // Khởi gán giá trị và sử dụng</a:t>
            </a:r>
          </a:p>
          <a:p>
            <a:pPr algn="just"/>
            <a:r>
              <a:rPr lang="en-US" altLang="en-US"/>
              <a:t>– int x = 1 //Khai báo và khởi gán cùng lúc</a:t>
            </a:r>
          </a:p>
          <a:p>
            <a:pPr algn="just"/>
            <a:r>
              <a:rPr lang="en-US" altLang="en-US"/>
              <a:t>– int x = 10, y = 20; //Khai báo nhiều biến</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5574"/>
                                        </p:tgtEl>
                                        <p:attrNameLst>
                                          <p:attrName>style.visibility</p:attrName>
                                        </p:attrNameLst>
                                      </p:cBhvr>
                                      <p:to>
                                        <p:strVal val="visible"/>
                                      </p:to>
                                    </p:set>
                                    <p:animEffect transition="in" filter="box(in)">
                                      <p:cBhvr>
                                        <p:cTn id="7" dur="1000"/>
                                        <p:tgtEl>
                                          <p:spTgt spid="3655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5575"/>
                                        </p:tgtEl>
                                        <p:attrNameLst>
                                          <p:attrName>style.visibility</p:attrName>
                                        </p:attrNameLst>
                                      </p:cBhvr>
                                      <p:to>
                                        <p:strVal val="visible"/>
                                      </p:to>
                                    </p:set>
                                    <p:animEffect transition="in" filter="box(in)">
                                      <p:cBhvr>
                                        <p:cTn id="12" dur="1000"/>
                                        <p:tgtEl>
                                          <p:spTgt spid="3655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5573"/>
                                        </p:tgtEl>
                                        <p:attrNameLst>
                                          <p:attrName>style.visibility</p:attrName>
                                        </p:attrNameLst>
                                      </p:cBhvr>
                                      <p:to>
                                        <p:strVal val="visible"/>
                                      </p:to>
                                    </p:set>
                                    <p:animEffect transition="in" filter="box(in)">
                                      <p:cBhvr>
                                        <p:cTn id="17" dur="1000"/>
                                        <p:tgtEl>
                                          <p:spTgt spid="365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4" grpId="0"/>
      <p:bldP spid="3655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815ED32-6403-89C6-C856-4E58A3BC6F0D}"/>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1747" name="Rectangle 4">
            <a:extLst>
              <a:ext uri="{FF2B5EF4-FFF2-40B4-BE49-F238E27FC236}">
                <a16:creationId xmlns:a16="http://schemas.microsoft.com/office/drawing/2014/main" id="{E26311FB-74DB-5098-37A4-44C9033720A9}"/>
              </a:ext>
            </a:extLst>
          </p:cNvPr>
          <p:cNvSpPr>
            <a:spLocks noChangeArrowheads="1"/>
          </p:cNvSpPr>
          <p:nvPr/>
        </p:nvSpPr>
        <p:spPr bwMode="auto">
          <a:xfrm>
            <a:off x="28575" y="847725"/>
            <a:ext cx="12239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Hằng</a:t>
            </a:r>
          </a:p>
        </p:txBody>
      </p:sp>
      <p:sp>
        <p:nvSpPr>
          <p:cNvPr id="366597" name="Rectangle 5">
            <a:extLst>
              <a:ext uri="{FF2B5EF4-FFF2-40B4-BE49-F238E27FC236}">
                <a16:creationId xmlns:a16="http://schemas.microsoft.com/office/drawing/2014/main" id="{9B3F9954-9DE4-DC5E-B8EF-5472C1974BDB}"/>
              </a:ext>
            </a:extLst>
          </p:cNvPr>
          <p:cNvSpPr>
            <a:spLocks noChangeArrowheads="1"/>
          </p:cNvSpPr>
          <p:nvPr/>
        </p:nvSpPr>
        <p:spPr bwMode="auto">
          <a:xfrm>
            <a:off x="1344386" y="870233"/>
            <a:ext cx="734241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t>là một biến nhưng giá trị của hằng không thay đổi</a:t>
            </a:r>
          </a:p>
        </p:txBody>
      </p:sp>
      <p:sp>
        <p:nvSpPr>
          <p:cNvPr id="366598" name="Rectangle 6">
            <a:extLst>
              <a:ext uri="{FF2B5EF4-FFF2-40B4-BE49-F238E27FC236}">
                <a16:creationId xmlns:a16="http://schemas.microsoft.com/office/drawing/2014/main" id="{19B6B187-0F39-AB9E-9F47-67303F508255}"/>
              </a:ext>
            </a:extLst>
          </p:cNvPr>
          <p:cNvSpPr>
            <a:spLocks noChangeArrowheads="1"/>
          </p:cNvSpPr>
          <p:nvPr/>
        </p:nvSpPr>
        <p:spPr bwMode="auto">
          <a:xfrm>
            <a:off x="291872" y="1528763"/>
            <a:ext cx="856025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endParaRPr lang="en-US" altLang="en-US">
              <a:solidFill>
                <a:srgbClr val="990000"/>
              </a:solidFill>
            </a:endParaRPr>
          </a:p>
          <a:p>
            <a:pPr algn="just"/>
            <a:r>
              <a:rPr lang="en-US" altLang="en-US">
                <a:solidFill>
                  <a:srgbClr val="990000"/>
                </a:solidFill>
              </a:rPr>
              <a:t>VD:</a:t>
            </a:r>
          </a:p>
          <a:p>
            <a:pPr algn="just"/>
            <a:r>
              <a:rPr lang="en-US" altLang="en-US">
                <a:solidFill>
                  <a:srgbClr val="990000"/>
                </a:solidFill>
              </a:rPr>
              <a:t>const int a = 100; </a:t>
            </a:r>
            <a:r>
              <a:rPr lang="en-US" altLang="en-US" i="1">
                <a:solidFill>
                  <a:srgbClr val="000066"/>
                </a:solidFill>
              </a:rPr>
              <a:t>// giá trị này không thể bị thay đổi</a:t>
            </a:r>
          </a:p>
        </p:txBody>
      </p:sp>
      <p:sp>
        <p:nvSpPr>
          <p:cNvPr id="366599" name="Rectangle 7">
            <a:extLst>
              <a:ext uri="{FF2B5EF4-FFF2-40B4-BE49-F238E27FC236}">
                <a16:creationId xmlns:a16="http://schemas.microsoft.com/office/drawing/2014/main" id="{A2F11EF9-EAA0-F434-9B77-6F5CE3932530}"/>
              </a:ext>
            </a:extLst>
          </p:cNvPr>
          <p:cNvSpPr>
            <a:spLocks noChangeArrowheads="1"/>
          </p:cNvSpPr>
          <p:nvPr/>
        </p:nvSpPr>
        <p:spPr bwMode="auto">
          <a:xfrm>
            <a:off x="171108" y="3176438"/>
            <a:ext cx="8972892"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indent="-342900">
              <a:buFont typeface="Wingdings" panose="05000000000000000000" pitchFamily="2" charset="2"/>
              <a:buChar char="ü"/>
            </a:pPr>
            <a:r>
              <a:rPr lang="en-US" altLang="en-US">
                <a:solidFill>
                  <a:srgbClr val="000066"/>
                </a:solidFill>
              </a:rPr>
              <a:t>Hằng bắt buộc phải được gán giá trị lúc khai báo. 	</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6597"/>
                                        </p:tgtEl>
                                        <p:attrNameLst>
                                          <p:attrName>style.visibility</p:attrName>
                                        </p:attrNameLst>
                                      </p:cBhvr>
                                      <p:to>
                                        <p:strVal val="visible"/>
                                      </p:to>
                                    </p:set>
                                    <p:animEffect transition="in" filter="box(in)">
                                      <p:cBhvr>
                                        <p:cTn id="7" dur="1000"/>
                                        <p:tgtEl>
                                          <p:spTgt spid="3665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6598"/>
                                        </p:tgtEl>
                                        <p:attrNameLst>
                                          <p:attrName>style.visibility</p:attrName>
                                        </p:attrNameLst>
                                      </p:cBhvr>
                                      <p:to>
                                        <p:strVal val="visible"/>
                                      </p:to>
                                    </p:set>
                                    <p:animEffect transition="in" filter="box(in)">
                                      <p:cBhvr>
                                        <p:cTn id="12" dur="1000"/>
                                        <p:tgtEl>
                                          <p:spTgt spid="3665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6599"/>
                                        </p:tgtEl>
                                        <p:attrNameLst>
                                          <p:attrName>style.visibility</p:attrName>
                                        </p:attrNameLst>
                                      </p:cBhvr>
                                      <p:to>
                                        <p:strVal val="visible"/>
                                      </p:to>
                                    </p:set>
                                    <p:animEffect transition="in" filter="box(in)">
                                      <p:cBhvr>
                                        <p:cTn id="17" dur="1000"/>
                                        <p:tgtEl>
                                          <p:spTgt spid="366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7" grpId="0"/>
      <p:bldP spid="366598" grpId="0"/>
      <p:bldP spid="36659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940A92F-285A-BBC1-8802-5FA37A09FDF5}"/>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68645" name="Rectangle 5">
            <a:extLst>
              <a:ext uri="{FF2B5EF4-FFF2-40B4-BE49-F238E27FC236}">
                <a16:creationId xmlns:a16="http://schemas.microsoft.com/office/drawing/2014/main" id="{45F5C448-7888-D090-A248-15F016207083}"/>
              </a:ext>
            </a:extLst>
          </p:cNvPr>
          <p:cNvSpPr>
            <a:spLocks noChangeArrowheads="1"/>
          </p:cNvSpPr>
          <p:nvPr/>
        </p:nvSpPr>
        <p:spPr bwMode="auto">
          <a:xfrm>
            <a:off x="228600" y="971550"/>
            <a:ext cx="86868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t>cú pháp sau:</a:t>
            </a:r>
          </a:p>
          <a:p>
            <a:pPr algn="just">
              <a:lnSpc>
                <a:spcPct val="150000"/>
              </a:lnSpc>
            </a:pPr>
            <a:r>
              <a:rPr lang="en-US" altLang="en-US"/>
              <a:t>	</a:t>
            </a:r>
            <a:r>
              <a:rPr lang="en-US" altLang="en-US">
                <a:solidFill>
                  <a:srgbClr val="660033"/>
                </a:solidFill>
              </a:rPr>
              <a:t>&lt;const&gt; &lt;type&gt; &lt;tên hằng&gt; = &lt;giá trị&gt;;</a:t>
            </a:r>
          </a:p>
          <a:p>
            <a:pPr algn="just"/>
            <a:r>
              <a:rPr lang="en-US" altLang="en-US"/>
              <a:t>	</a:t>
            </a:r>
            <a:r>
              <a:rPr lang="en-US" altLang="en-US">
                <a:solidFill>
                  <a:srgbClr val="000066"/>
                </a:solidFill>
              </a:rPr>
              <a:t>const int DoSoi = 100;</a:t>
            </a:r>
          </a:p>
        </p:txBody>
      </p:sp>
      <p:pic>
        <p:nvPicPr>
          <p:cNvPr id="368646" name="Picture 6">
            <a:extLst>
              <a:ext uri="{FF2B5EF4-FFF2-40B4-BE49-F238E27FC236}">
                <a16:creationId xmlns:a16="http://schemas.microsoft.com/office/drawing/2014/main" id="{E56949D4-97E9-FA1C-BCD3-2D1754264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2590800"/>
            <a:ext cx="7848600" cy="2590800"/>
          </a:xfrm>
          <a:prstGeom prst="rect">
            <a:avLst/>
          </a:prstGeom>
          <a:noFill/>
          <a:ln w="1905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8645"/>
                                        </p:tgtEl>
                                        <p:attrNameLst>
                                          <p:attrName>style.visibility</p:attrName>
                                        </p:attrNameLst>
                                      </p:cBhvr>
                                      <p:to>
                                        <p:strVal val="visible"/>
                                      </p:to>
                                    </p:set>
                                    <p:animEffect transition="in" filter="box(in)">
                                      <p:cBhvr>
                                        <p:cTn id="7" dur="1000"/>
                                        <p:tgtEl>
                                          <p:spTgt spid="3686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8646"/>
                                        </p:tgtEl>
                                        <p:attrNameLst>
                                          <p:attrName>style.visibility</p:attrName>
                                        </p:attrNameLst>
                                      </p:cBhvr>
                                      <p:to>
                                        <p:strVal val="visible"/>
                                      </p:to>
                                    </p:set>
                                    <p:animEffect transition="in" filter="box(in)">
                                      <p:cBhvr>
                                        <p:cTn id="12" dur="1000"/>
                                        <p:tgtEl>
                                          <p:spTgt spid="368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9114DF5-5933-361C-EDB6-92F4783C9D47}"/>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369668" name="Picture 4">
            <a:extLst>
              <a:ext uri="{FF2B5EF4-FFF2-40B4-BE49-F238E27FC236}">
                <a16:creationId xmlns:a16="http://schemas.microsoft.com/office/drawing/2014/main" id="{3EF40645-5B8B-2ED9-CB25-8D27D6F90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14400"/>
            <a:ext cx="8458200" cy="556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9668"/>
                                        </p:tgtEl>
                                        <p:attrNameLst>
                                          <p:attrName>style.visibility</p:attrName>
                                        </p:attrNameLst>
                                      </p:cBhvr>
                                      <p:to>
                                        <p:strVal val="visible"/>
                                      </p:to>
                                    </p:set>
                                    <p:animEffect transition="in" filter="box(in)">
                                      <p:cBhvr>
                                        <p:cTn id="7" dur="1000"/>
                                        <p:tgtEl>
                                          <p:spTgt spid="369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4080D2A-200C-A9A0-BF19-A62238C050A8}"/>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4819" name="Rectangle 4">
            <a:extLst>
              <a:ext uri="{FF2B5EF4-FFF2-40B4-BE49-F238E27FC236}">
                <a16:creationId xmlns:a16="http://schemas.microsoft.com/office/drawing/2014/main" id="{D92D03FC-311C-AFCC-F61D-FFA927FB7C6F}"/>
              </a:ext>
            </a:extLst>
          </p:cNvPr>
          <p:cNvSpPr>
            <a:spLocks noChangeArrowheads="1"/>
          </p:cNvSpPr>
          <p:nvPr/>
        </p:nvSpPr>
        <p:spPr bwMode="auto">
          <a:xfrm>
            <a:off x="-990600" y="948419"/>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3300"/>
                </a:solidFill>
              </a:rPr>
              <a:t>Kiểu liệt kê</a:t>
            </a:r>
          </a:p>
        </p:txBody>
      </p:sp>
      <p:sp>
        <p:nvSpPr>
          <p:cNvPr id="370693" name="Rectangle 5">
            <a:extLst>
              <a:ext uri="{FF2B5EF4-FFF2-40B4-BE49-F238E27FC236}">
                <a16:creationId xmlns:a16="http://schemas.microsoft.com/office/drawing/2014/main" id="{C051EEE2-B95F-9556-168D-D2354C7977E4}"/>
              </a:ext>
            </a:extLst>
          </p:cNvPr>
          <p:cNvSpPr>
            <a:spLocks noChangeArrowheads="1"/>
          </p:cNvSpPr>
          <p:nvPr/>
        </p:nvSpPr>
        <p:spPr bwMode="auto">
          <a:xfrm>
            <a:off x="2514600" y="885735"/>
            <a:ext cx="6477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t>là tập hợp các tên hằng có giá trị không thay đổi (thường được gọi là</a:t>
            </a:r>
          </a:p>
          <a:p>
            <a:pPr algn="just"/>
            <a:r>
              <a:rPr lang="en-US" altLang="en-US"/>
              <a:t>danh sách liệt kê).</a:t>
            </a:r>
          </a:p>
        </p:txBody>
      </p:sp>
      <p:sp>
        <p:nvSpPr>
          <p:cNvPr id="370694" name="Rectangle 6">
            <a:extLst>
              <a:ext uri="{FF2B5EF4-FFF2-40B4-BE49-F238E27FC236}">
                <a16:creationId xmlns:a16="http://schemas.microsoft.com/office/drawing/2014/main" id="{22BB6E6F-D0D6-1C62-1F72-F5CFCF297E6B}"/>
              </a:ext>
            </a:extLst>
          </p:cNvPr>
          <p:cNvSpPr>
            <a:spLocks noChangeArrowheads="1"/>
          </p:cNvSpPr>
          <p:nvPr/>
        </p:nvSpPr>
        <p:spPr bwMode="auto">
          <a:xfrm>
            <a:off x="190500" y="2081168"/>
            <a:ext cx="85725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solidFill>
                  <a:srgbClr val="990000"/>
                </a:solidFill>
              </a:rPr>
              <a:t>[thuộc tính] [bổ sung] enum &lt;tên liệt kê&gt; [:kiểu cơ sở] {danh sách các thành phần liệt kê}</a:t>
            </a:r>
          </a:p>
        </p:txBody>
      </p:sp>
      <p:pic>
        <p:nvPicPr>
          <p:cNvPr id="370696" name="Picture 8">
            <a:extLst>
              <a:ext uri="{FF2B5EF4-FFF2-40B4-BE49-F238E27FC236}">
                <a16:creationId xmlns:a16="http://schemas.microsoft.com/office/drawing/2014/main" id="{E5645D7D-7C5F-4DF0-D88F-7965E6D33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276600"/>
            <a:ext cx="3124200" cy="29718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0693"/>
                                        </p:tgtEl>
                                        <p:attrNameLst>
                                          <p:attrName>style.visibility</p:attrName>
                                        </p:attrNameLst>
                                      </p:cBhvr>
                                      <p:to>
                                        <p:strVal val="visible"/>
                                      </p:to>
                                    </p:set>
                                    <p:animEffect transition="in" filter="box(in)">
                                      <p:cBhvr>
                                        <p:cTn id="7" dur="1000"/>
                                        <p:tgtEl>
                                          <p:spTgt spid="3706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0694"/>
                                        </p:tgtEl>
                                        <p:attrNameLst>
                                          <p:attrName>style.visibility</p:attrName>
                                        </p:attrNameLst>
                                      </p:cBhvr>
                                      <p:to>
                                        <p:strVal val="visible"/>
                                      </p:to>
                                    </p:set>
                                    <p:animEffect transition="in" filter="box(in)">
                                      <p:cBhvr>
                                        <p:cTn id="12" dur="1000"/>
                                        <p:tgtEl>
                                          <p:spTgt spid="3706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0696"/>
                                        </p:tgtEl>
                                        <p:attrNameLst>
                                          <p:attrName>style.visibility</p:attrName>
                                        </p:attrNameLst>
                                      </p:cBhvr>
                                      <p:to>
                                        <p:strVal val="visible"/>
                                      </p:to>
                                    </p:set>
                                    <p:animEffect transition="in" filter="box(in)">
                                      <p:cBhvr>
                                        <p:cTn id="17" dur="1000"/>
                                        <p:tgtEl>
                                          <p:spTgt spid="370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3" grpId="0"/>
      <p:bldP spid="37069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EA8DDFB9-AB1B-6ED6-23D8-DDC4F1F5BFD3}"/>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371716" name="Picture 4">
            <a:extLst>
              <a:ext uri="{FF2B5EF4-FFF2-40B4-BE49-F238E27FC236}">
                <a16:creationId xmlns:a16="http://schemas.microsoft.com/office/drawing/2014/main" id="{679E6650-1ED3-8CBE-3545-5D6C786136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90600"/>
            <a:ext cx="7924800" cy="51816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1716"/>
                                        </p:tgtEl>
                                        <p:attrNameLst>
                                          <p:attrName>style.visibility</p:attrName>
                                        </p:attrNameLst>
                                      </p:cBhvr>
                                      <p:to>
                                        <p:strVal val="visible"/>
                                      </p:to>
                                    </p:set>
                                    <p:animEffect transition="in" filter="box(in)">
                                      <p:cBhvr>
                                        <p:cTn id="7" dur="1000"/>
                                        <p:tgtEl>
                                          <p:spTgt spid="371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E919ED1-F786-B134-38F6-5A5B863063EC}"/>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72741" name="Rectangle 5">
            <a:extLst>
              <a:ext uri="{FF2B5EF4-FFF2-40B4-BE49-F238E27FC236}">
                <a16:creationId xmlns:a16="http://schemas.microsoft.com/office/drawing/2014/main" id="{9E607B8D-9D9C-EAE1-F983-493016F7D7AD}"/>
              </a:ext>
            </a:extLst>
          </p:cNvPr>
          <p:cNvSpPr>
            <a:spLocks noChangeArrowheads="1"/>
          </p:cNvSpPr>
          <p:nvPr/>
        </p:nvSpPr>
        <p:spPr bwMode="auto">
          <a:xfrm>
            <a:off x="381000" y="992186"/>
            <a:ext cx="4876800" cy="144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sz="2200">
                <a:solidFill>
                  <a:srgbClr val="990000"/>
                </a:solidFill>
              </a:rPr>
              <a:t>Nếu không khởi tạo cho các thành phần này thì chúng sẽ nhận các giá trị tiếp theo với thành phần đầu tiên là 0.</a:t>
            </a:r>
          </a:p>
        </p:txBody>
      </p:sp>
      <p:pic>
        <p:nvPicPr>
          <p:cNvPr id="372742" name="Picture 6">
            <a:extLst>
              <a:ext uri="{FF2B5EF4-FFF2-40B4-BE49-F238E27FC236}">
                <a16:creationId xmlns:a16="http://schemas.microsoft.com/office/drawing/2014/main" id="{A6D86EB5-85F6-F36B-B600-96924A971E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513" y="990600"/>
            <a:ext cx="3552825" cy="54102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72743" name="Rectangle 7">
            <a:extLst>
              <a:ext uri="{FF2B5EF4-FFF2-40B4-BE49-F238E27FC236}">
                <a16:creationId xmlns:a16="http://schemas.microsoft.com/office/drawing/2014/main" id="{942A9535-F2C0-3591-0F93-5FEB0B23D3E8}"/>
              </a:ext>
            </a:extLst>
          </p:cNvPr>
          <p:cNvSpPr>
            <a:spLocks noChangeArrowheads="1"/>
          </p:cNvSpPr>
          <p:nvPr/>
        </p:nvSpPr>
        <p:spPr bwMode="auto">
          <a:xfrm>
            <a:off x="323850" y="2520950"/>
            <a:ext cx="4933950"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sz="2200">
                <a:solidFill>
                  <a:srgbClr val="000066"/>
                </a:solidFill>
              </a:rPr>
              <a:t>Kiểu liệt kê là một kiểu hình thức do đó bắt buộc phải thực hiện phép chuyển đổi tường minh với các kiêu giá trị nguyên:</a:t>
            </a:r>
            <a:r>
              <a:rPr lang="en-US" altLang="en-US" sz="2200"/>
              <a:t> </a:t>
            </a:r>
          </a:p>
        </p:txBody>
      </p:sp>
      <p:sp>
        <p:nvSpPr>
          <p:cNvPr id="3" name="TextBox 2">
            <a:extLst>
              <a:ext uri="{FF2B5EF4-FFF2-40B4-BE49-F238E27FC236}">
                <a16:creationId xmlns:a16="http://schemas.microsoft.com/office/drawing/2014/main" id="{B428ECA6-DEFB-0952-A73A-56048F9F68A4}"/>
              </a:ext>
            </a:extLst>
          </p:cNvPr>
          <p:cNvSpPr txBox="1"/>
          <p:nvPr/>
        </p:nvSpPr>
        <p:spPr>
          <a:xfrm>
            <a:off x="587830" y="4442127"/>
            <a:ext cx="4669970" cy="461665"/>
          </a:xfrm>
          <a:prstGeom prst="rect">
            <a:avLst/>
          </a:prstGeom>
          <a:noFill/>
        </p:spPr>
        <p:txBody>
          <a:bodyPr wrap="square">
            <a:spAutoFit/>
          </a:bodyPr>
          <a:lstStyle/>
          <a:p>
            <a:pPr algn="just"/>
            <a:r>
              <a:rPr lang="en-US" altLang="en-US" sz="2400">
                <a:solidFill>
                  <a:srgbClr val="990000"/>
                </a:solidFill>
              </a:rPr>
              <a:t>int x = (int) ThuTu.Thu_Nhat;</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2741"/>
                                        </p:tgtEl>
                                        <p:attrNameLst>
                                          <p:attrName>style.visibility</p:attrName>
                                        </p:attrNameLst>
                                      </p:cBhvr>
                                      <p:to>
                                        <p:strVal val="visible"/>
                                      </p:to>
                                    </p:set>
                                    <p:animEffect transition="in" filter="box(in)">
                                      <p:cBhvr>
                                        <p:cTn id="7" dur="1000"/>
                                        <p:tgtEl>
                                          <p:spTgt spid="3727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2743"/>
                                        </p:tgtEl>
                                        <p:attrNameLst>
                                          <p:attrName>style.visibility</p:attrName>
                                        </p:attrNameLst>
                                      </p:cBhvr>
                                      <p:to>
                                        <p:strVal val="visible"/>
                                      </p:to>
                                    </p:set>
                                    <p:animEffect transition="in" filter="box(in)">
                                      <p:cBhvr>
                                        <p:cTn id="12" dur="1000"/>
                                        <p:tgtEl>
                                          <p:spTgt spid="3727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2742"/>
                                        </p:tgtEl>
                                        <p:attrNameLst>
                                          <p:attrName>style.visibility</p:attrName>
                                        </p:attrNameLst>
                                      </p:cBhvr>
                                      <p:to>
                                        <p:strVal val="visible"/>
                                      </p:to>
                                    </p:set>
                                    <p:animEffect transition="in" filter="box(in)">
                                      <p:cBhvr>
                                        <p:cTn id="17" dur="1000"/>
                                        <p:tgtEl>
                                          <p:spTgt spid="372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41" grpId="0"/>
      <p:bldP spid="37274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8272898-DFCE-FAFD-A776-2054475A1FD8}"/>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7891" name="Rectangle 4">
            <a:extLst>
              <a:ext uri="{FF2B5EF4-FFF2-40B4-BE49-F238E27FC236}">
                <a16:creationId xmlns:a16="http://schemas.microsoft.com/office/drawing/2014/main" id="{95AB1D6F-8892-B328-A475-B34F208A9CF2}"/>
              </a:ext>
            </a:extLst>
          </p:cNvPr>
          <p:cNvSpPr>
            <a:spLocks noChangeArrowheads="1"/>
          </p:cNvSpPr>
          <p:nvPr/>
        </p:nvSpPr>
        <p:spPr bwMode="auto">
          <a:xfrm>
            <a:off x="314325" y="896938"/>
            <a:ext cx="34178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Kiểu chuỗi ký tự</a:t>
            </a:r>
          </a:p>
        </p:txBody>
      </p:sp>
      <p:sp>
        <p:nvSpPr>
          <p:cNvPr id="373765" name="Rectangle 5">
            <a:extLst>
              <a:ext uri="{FF2B5EF4-FFF2-40B4-BE49-F238E27FC236}">
                <a16:creationId xmlns:a16="http://schemas.microsoft.com/office/drawing/2014/main" id="{469D440A-6C93-C86D-9498-17A789CAEB3F}"/>
              </a:ext>
            </a:extLst>
          </p:cNvPr>
          <p:cNvSpPr>
            <a:spLocks noChangeArrowheads="1"/>
          </p:cNvSpPr>
          <p:nvPr/>
        </p:nvSpPr>
        <p:spPr bwMode="auto">
          <a:xfrm>
            <a:off x="314325" y="1596230"/>
            <a:ext cx="86010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buFont typeface="Courier New" panose="02070309020205020404" pitchFamily="49" charset="0"/>
              <a:buChar char="o"/>
            </a:pPr>
            <a:r>
              <a:rPr lang="en-US" altLang="en-US"/>
              <a:t>Để khai báo một chuỗi sử dụng từ khoá string	</a:t>
            </a:r>
          </a:p>
          <a:p>
            <a:pPr>
              <a:buFont typeface="Courier New" panose="02070309020205020404" pitchFamily="49" charset="0"/>
              <a:buChar char="o"/>
            </a:pPr>
            <a:r>
              <a:rPr lang="en-US" altLang="en-US">
                <a:solidFill>
                  <a:srgbClr val="660033"/>
                </a:solidFill>
              </a:rPr>
              <a:t>string chuoi;</a:t>
            </a:r>
          </a:p>
        </p:txBody>
      </p:sp>
      <p:sp>
        <p:nvSpPr>
          <p:cNvPr id="373766" name="Rectangle 6">
            <a:extLst>
              <a:ext uri="{FF2B5EF4-FFF2-40B4-BE49-F238E27FC236}">
                <a16:creationId xmlns:a16="http://schemas.microsoft.com/office/drawing/2014/main" id="{621BE2F5-43EA-8252-4BC6-B3ABBDD7F732}"/>
              </a:ext>
            </a:extLst>
          </p:cNvPr>
          <p:cNvSpPr>
            <a:spLocks noChangeArrowheads="1"/>
          </p:cNvSpPr>
          <p:nvPr/>
        </p:nvSpPr>
        <p:spPr bwMode="auto">
          <a:xfrm>
            <a:off x="314325" y="2590800"/>
            <a:ext cx="799623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buFont typeface="Courier New" panose="02070309020205020404" pitchFamily="49" charset="0"/>
              <a:buChar char="o"/>
            </a:pPr>
            <a:r>
              <a:rPr lang="en-US" altLang="en-US"/>
              <a:t>Một hằng chuỗi được tạo bằng cách đặt các chuỗi trong dấu nháy kép. VD: </a:t>
            </a:r>
            <a:r>
              <a:rPr lang="en-US" altLang="en-US">
                <a:solidFill>
                  <a:schemeClr val="folHlink"/>
                </a:solidFill>
              </a:rPr>
              <a:t>“Xin chao”</a:t>
            </a:r>
          </a:p>
        </p:txBody>
      </p:sp>
      <p:sp>
        <p:nvSpPr>
          <p:cNvPr id="373767" name="Rectangle 7">
            <a:extLst>
              <a:ext uri="{FF2B5EF4-FFF2-40B4-BE49-F238E27FC236}">
                <a16:creationId xmlns:a16="http://schemas.microsoft.com/office/drawing/2014/main" id="{0557F98F-7B25-217F-F567-613FECC5D413}"/>
              </a:ext>
            </a:extLst>
          </p:cNvPr>
          <p:cNvSpPr>
            <a:spLocks noChangeArrowheads="1"/>
          </p:cNvSpPr>
          <p:nvPr/>
        </p:nvSpPr>
        <p:spPr bwMode="auto">
          <a:xfrm>
            <a:off x="258308" y="3810000"/>
            <a:ext cx="865709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buFont typeface="Courier New" panose="02070309020205020404" pitchFamily="49" charset="0"/>
              <a:buChar char="o"/>
            </a:pPr>
            <a:r>
              <a:rPr lang="en-US" altLang="en-US"/>
              <a:t>Đây là cách chung để khởi tạo một chuỗi ký tự với giá trị hằng: </a:t>
            </a:r>
            <a:r>
              <a:rPr lang="en-US" altLang="en-US">
                <a:solidFill>
                  <a:srgbClr val="003300"/>
                </a:solidFill>
              </a:rPr>
              <a:t>string chuoi = “Xin chao</a:t>
            </a:r>
            <a:r>
              <a:rPr lang="en-US" altLang="en-US"/>
              <a:t>”</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3765"/>
                                        </p:tgtEl>
                                        <p:attrNameLst>
                                          <p:attrName>style.visibility</p:attrName>
                                        </p:attrNameLst>
                                      </p:cBhvr>
                                      <p:to>
                                        <p:strVal val="visible"/>
                                      </p:to>
                                    </p:set>
                                    <p:animEffect transition="in" filter="box(in)">
                                      <p:cBhvr>
                                        <p:cTn id="7" dur="1000"/>
                                        <p:tgtEl>
                                          <p:spTgt spid="3737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3766"/>
                                        </p:tgtEl>
                                        <p:attrNameLst>
                                          <p:attrName>style.visibility</p:attrName>
                                        </p:attrNameLst>
                                      </p:cBhvr>
                                      <p:to>
                                        <p:strVal val="visible"/>
                                      </p:to>
                                    </p:set>
                                    <p:animEffect transition="in" filter="box(in)">
                                      <p:cBhvr>
                                        <p:cTn id="12" dur="1000"/>
                                        <p:tgtEl>
                                          <p:spTgt spid="3737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3767"/>
                                        </p:tgtEl>
                                        <p:attrNameLst>
                                          <p:attrName>style.visibility</p:attrName>
                                        </p:attrNameLst>
                                      </p:cBhvr>
                                      <p:to>
                                        <p:strVal val="visible"/>
                                      </p:to>
                                    </p:set>
                                    <p:animEffect transition="in" filter="box(in)">
                                      <p:cBhvr>
                                        <p:cTn id="17" dur="1000"/>
                                        <p:tgtEl>
                                          <p:spTgt spid="373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p:bldP spid="373766" grpId="0"/>
      <p:bldP spid="37376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06158AC-80F5-A4DC-76BD-88310F259699}"/>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8915" name="Rectangle 4">
            <a:extLst>
              <a:ext uri="{FF2B5EF4-FFF2-40B4-BE49-F238E27FC236}">
                <a16:creationId xmlns:a16="http://schemas.microsoft.com/office/drawing/2014/main" id="{0956D287-A6FA-0439-C47A-1FF491FF3DB2}"/>
              </a:ext>
            </a:extLst>
          </p:cNvPr>
          <p:cNvSpPr>
            <a:spLocks noChangeArrowheads="1"/>
          </p:cNvSpPr>
          <p:nvPr/>
        </p:nvSpPr>
        <p:spPr bwMode="auto">
          <a:xfrm>
            <a:off x="123825" y="763588"/>
            <a:ext cx="5676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Khoảng trắng (whitespace)</a:t>
            </a:r>
          </a:p>
        </p:txBody>
      </p:sp>
      <p:sp>
        <p:nvSpPr>
          <p:cNvPr id="392197" name="Rectangle 5">
            <a:extLst>
              <a:ext uri="{FF2B5EF4-FFF2-40B4-BE49-F238E27FC236}">
                <a16:creationId xmlns:a16="http://schemas.microsoft.com/office/drawing/2014/main" id="{BD3D38A3-36ED-CC87-C9F5-58D39D4770CC}"/>
              </a:ext>
            </a:extLst>
          </p:cNvPr>
          <p:cNvSpPr>
            <a:spLocks noChangeArrowheads="1"/>
          </p:cNvSpPr>
          <p:nvPr/>
        </p:nvSpPr>
        <p:spPr bwMode="auto">
          <a:xfrm>
            <a:off x="304800" y="1371600"/>
            <a:ext cx="84582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indent="-342900" algn="just">
              <a:buFont typeface="Wingdings" panose="05000000000000000000" pitchFamily="2" charset="2"/>
              <a:buChar char="ü"/>
            </a:pPr>
            <a:r>
              <a:rPr lang="en-US" altLang="en-US"/>
              <a:t>C# sẽ bỏ qua tất cả các khoảng trắng, như vậy có  thể viết như sau:</a:t>
            </a:r>
          </a:p>
        </p:txBody>
      </p:sp>
      <p:pic>
        <p:nvPicPr>
          <p:cNvPr id="392198" name="Picture 6">
            <a:extLst>
              <a:ext uri="{FF2B5EF4-FFF2-40B4-BE49-F238E27FC236}">
                <a16:creationId xmlns:a16="http://schemas.microsoft.com/office/drawing/2014/main" id="{0F51FC8F-B1FF-89EF-39BE-A8E6E8B89C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290763"/>
            <a:ext cx="2743200" cy="13716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92199" name="Rectangle 7">
            <a:extLst>
              <a:ext uri="{FF2B5EF4-FFF2-40B4-BE49-F238E27FC236}">
                <a16:creationId xmlns:a16="http://schemas.microsoft.com/office/drawing/2014/main" id="{37C2068F-ED3A-DB6A-4A31-B66B342F6DE1}"/>
              </a:ext>
            </a:extLst>
          </p:cNvPr>
          <p:cNvSpPr>
            <a:spLocks noChangeArrowheads="1"/>
          </p:cNvSpPr>
          <p:nvPr/>
        </p:nvSpPr>
        <p:spPr bwMode="auto">
          <a:xfrm>
            <a:off x="304800" y="3886200"/>
            <a:ext cx="8610600" cy="149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t>Trong C# có thể:</a:t>
            </a:r>
          </a:p>
          <a:p>
            <a:pPr marL="342900" indent="-342900" algn="just">
              <a:lnSpc>
                <a:spcPct val="150000"/>
              </a:lnSpc>
              <a:buFont typeface="Wingdings" panose="05000000000000000000" pitchFamily="2" charset="2"/>
              <a:buChar char="ü"/>
            </a:pPr>
            <a:r>
              <a:rPr lang="en-US" altLang="en-US"/>
              <a:t>Gõ một câu lệnh trên nhiều dòng</a:t>
            </a:r>
          </a:p>
          <a:p>
            <a:pPr marL="342900" indent="-342900" algn="just">
              <a:lnSpc>
                <a:spcPct val="150000"/>
              </a:lnSpc>
              <a:buFont typeface="Wingdings" panose="05000000000000000000" pitchFamily="2" charset="2"/>
              <a:buChar char="ü"/>
            </a:pPr>
            <a:r>
              <a:rPr lang="en-US" altLang="en-US"/>
              <a:t>Một dòng có thể nhiều câu lệnh</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2197"/>
                                        </p:tgtEl>
                                        <p:attrNameLst>
                                          <p:attrName>style.visibility</p:attrName>
                                        </p:attrNameLst>
                                      </p:cBhvr>
                                      <p:to>
                                        <p:strVal val="visible"/>
                                      </p:to>
                                    </p:set>
                                    <p:animEffect transition="in" filter="box(in)">
                                      <p:cBhvr>
                                        <p:cTn id="7" dur="1000"/>
                                        <p:tgtEl>
                                          <p:spTgt spid="3921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2198"/>
                                        </p:tgtEl>
                                        <p:attrNameLst>
                                          <p:attrName>style.visibility</p:attrName>
                                        </p:attrNameLst>
                                      </p:cBhvr>
                                      <p:to>
                                        <p:strVal val="visible"/>
                                      </p:to>
                                    </p:set>
                                    <p:animEffect transition="in" filter="box(in)">
                                      <p:cBhvr>
                                        <p:cTn id="12" dur="1000"/>
                                        <p:tgtEl>
                                          <p:spTgt spid="3921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2199"/>
                                        </p:tgtEl>
                                        <p:attrNameLst>
                                          <p:attrName>style.visibility</p:attrName>
                                        </p:attrNameLst>
                                      </p:cBhvr>
                                      <p:to>
                                        <p:strVal val="visible"/>
                                      </p:to>
                                    </p:set>
                                    <p:animEffect transition="in" filter="box(in)">
                                      <p:cBhvr>
                                        <p:cTn id="17" dur="1000"/>
                                        <p:tgtEl>
                                          <p:spTgt spid="392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7" grpId="0"/>
      <p:bldP spid="392199"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99D324A-BDD6-D3A4-2BDB-16336767E573}"/>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9939" name="Rectangle 4">
            <a:extLst>
              <a:ext uri="{FF2B5EF4-FFF2-40B4-BE49-F238E27FC236}">
                <a16:creationId xmlns:a16="http://schemas.microsoft.com/office/drawing/2014/main" id="{0EDBFD03-88FB-2D1C-32A8-4CDFF39AD168}"/>
              </a:ext>
            </a:extLst>
          </p:cNvPr>
          <p:cNvSpPr>
            <a:spLocks noChangeArrowheads="1"/>
          </p:cNvSpPr>
          <p:nvPr/>
        </p:nvSpPr>
        <p:spPr bwMode="auto">
          <a:xfrm>
            <a:off x="109538" y="768350"/>
            <a:ext cx="360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Toán tử trong C#</a:t>
            </a:r>
          </a:p>
        </p:txBody>
      </p:sp>
      <p:sp>
        <p:nvSpPr>
          <p:cNvPr id="376892" name="Rectangle 60">
            <a:extLst>
              <a:ext uri="{FF2B5EF4-FFF2-40B4-BE49-F238E27FC236}">
                <a16:creationId xmlns:a16="http://schemas.microsoft.com/office/drawing/2014/main" id="{B8C2FAC8-CC94-61D4-E3FA-C462E2CAABB4}"/>
              </a:ext>
            </a:extLst>
          </p:cNvPr>
          <p:cNvSpPr>
            <a:spLocks noChangeArrowheads="1"/>
          </p:cNvSpPr>
          <p:nvPr/>
        </p:nvSpPr>
        <p:spPr bwMode="auto">
          <a:xfrm>
            <a:off x="409575" y="1962150"/>
            <a:ext cx="8763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t>Bao gồm: toán tử gán, toán tử toán học, toán tử quan hệ, logic...</a:t>
            </a:r>
          </a:p>
        </p:txBody>
      </p:sp>
      <p:sp>
        <p:nvSpPr>
          <p:cNvPr id="376893" name="Rectangle 61">
            <a:extLst>
              <a:ext uri="{FF2B5EF4-FFF2-40B4-BE49-F238E27FC236}">
                <a16:creationId xmlns:a16="http://schemas.microsoft.com/office/drawing/2014/main" id="{2EAA95B5-FED2-7187-F82F-F81257338894}"/>
              </a:ext>
            </a:extLst>
          </p:cNvPr>
          <p:cNvSpPr>
            <a:spLocks noChangeArrowheads="1"/>
          </p:cNvSpPr>
          <p:nvPr/>
        </p:nvSpPr>
        <p:spPr bwMode="auto">
          <a:xfrm>
            <a:off x="3927475" y="762000"/>
            <a:ext cx="52165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a:t>được kí hiệu bằng một biểu tượng dùng để thực hiện một hành động</a:t>
            </a:r>
          </a:p>
        </p:txBody>
      </p:sp>
      <p:pic>
        <p:nvPicPr>
          <p:cNvPr id="376895" name="Picture 63">
            <a:extLst>
              <a:ext uri="{FF2B5EF4-FFF2-40B4-BE49-F238E27FC236}">
                <a16:creationId xmlns:a16="http://schemas.microsoft.com/office/drawing/2014/main" id="{32E58F72-1524-EEAA-9F32-147F9B872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3475" y="3265893"/>
            <a:ext cx="7315200" cy="35814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6893"/>
                                        </p:tgtEl>
                                        <p:attrNameLst>
                                          <p:attrName>style.visibility</p:attrName>
                                        </p:attrNameLst>
                                      </p:cBhvr>
                                      <p:to>
                                        <p:strVal val="visible"/>
                                      </p:to>
                                    </p:set>
                                    <p:animEffect transition="in" filter="box(in)">
                                      <p:cBhvr>
                                        <p:cTn id="7" dur="1000"/>
                                        <p:tgtEl>
                                          <p:spTgt spid="376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6892"/>
                                        </p:tgtEl>
                                        <p:attrNameLst>
                                          <p:attrName>style.visibility</p:attrName>
                                        </p:attrNameLst>
                                      </p:cBhvr>
                                      <p:to>
                                        <p:strVal val="visible"/>
                                      </p:to>
                                    </p:set>
                                    <p:animEffect transition="in" filter="box(in)">
                                      <p:cBhvr>
                                        <p:cTn id="12" dur="1000"/>
                                        <p:tgtEl>
                                          <p:spTgt spid="3768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6895"/>
                                        </p:tgtEl>
                                        <p:attrNameLst>
                                          <p:attrName>style.visibility</p:attrName>
                                        </p:attrNameLst>
                                      </p:cBhvr>
                                      <p:to>
                                        <p:strVal val="visible"/>
                                      </p:to>
                                    </p:set>
                                    <p:animEffect transition="in" filter="box(in)">
                                      <p:cBhvr>
                                        <p:cTn id="17" dur="1000"/>
                                        <p:tgtEl>
                                          <p:spTgt spid="376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92" grpId="0"/>
      <p:bldP spid="37689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C178E0E-0726-BF29-36DB-9D199866B411}"/>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40963" name="Rectangle 5">
            <a:extLst>
              <a:ext uri="{FF2B5EF4-FFF2-40B4-BE49-F238E27FC236}">
                <a16:creationId xmlns:a16="http://schemas.microsoft.com/office/drawing/2014/main" id="{F4C179A3-91F4-4F0D-72B8-2B84E973DC51}"/>
              </a:ext>
            </a:extLst>
          </p:cNvPr>
          <p:cNvSpPr>
            <a:spLocks noChangeArrowheads="1"/>
          </p:cNvSpPr>
          <p:nvPr/>
        </p:nvSpPr>
        <p:spPr bwMode="auto">
          <a:xfrm>
            <a:off x="228600" y="914400"/>
            <a:ext cx="2697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Toán tử số học</a:t>
            </a:r>
          </a:p>
        </p:txBody>
      </p:sp>
      <p:graphicFrame>
        <p:nvGraphicFramePr>
          <p:cNvPr id="399415" name="Group 55">
            <a:extLst>
              <a:ext uri="{FF2B5EF4-FFF2-40B4-BE49-F238E27FC236}">
                <a16:creationId xmlns:a16="http://schemas.microsoft.com/office/drawing/2014/main" id="{AA08E386-24A6-6779-F960-2F3B493A657C}"/>
              </a:ext>
            </a:extLst>
          </p:cNvPr>
          <p:cNvGraphicFramePr>
            <a:graphicFrameLocks noGrp="1"/>
          </p:cNvGraphicFramePr>
          <p:nvPr/>
        </p:nvGraphicFramePr>
        <p:xfrm>
          <a:off x="228600" y="1676400"/>
          <a:ext cx="8534400" cy="4186238"/>
        </p:xfrm>
        <a:graphic>
          <a:graphicData uri="http://schemas.openxmlformats.org/drawingml/2006/table">
            <a:tbl>
              <a:tblPr/>
              <a:tblGrid>
                <a:gridCol w="22098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2271713">
                  <a:extLst>
                    <a:ext uri="{9D8B030D-6E8A-4147-A177-3AD203B41FA5}">
                      <a16:colId xmlns:a16="http://schemas.microsoft.com/office/drawing/2014/main" val="20002"/>
                    </a:ext>
                  </a:extLst>
                </a:gridCol>
                <a:gridCol w="2071687">
                  <a:extLst>
                    <a:ext uri="{9D8B030D-6E8A-4147-A177-3AD203B41FA5}">
                      <a16:colId xmlns:a16="http://schemas.microsoft.com/office/drawing/2014/main" val="20003"/>
                    </a:ext>
                  </a:extLst>
                </a:gridCol>
              </a:tblGrid>
              <a:tr h="609600">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Toán tử 1 ngôi</a:t>
                      </a:r>
                      <a:endParaRPr kumimoji="0" lang="en-US" sz="2400" b="1"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Chức năng</a:t>
                      </a:r>
                      <a:endParaRPr kumimoji="0" lang="en-US" sz="2400" b="1"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Toán tử 2 ngôi</a:t>
                      </a:r>
                      <a:endParaRPr kumimoji="0" lang="en-US" sz="2400" b="1"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Chức năng</a:t>
                      </a:r>
                      <a:endParaRPr kumimoji="0" lang="en-US" sz="2400" b="1"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609600">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Lấy đối số</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Cộng</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609600">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Tăng 1 giá trị</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Trừ</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609600">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 -</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Giảm 1 giá trị</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Nhân</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sz="2400" b="0" i="0" u="none" strike="noStrike" cap="none" normalizeH="0" baseline="0">
                        <a:ln>
                          <a:noFill/>
                        </a:ln>
                        <a:solidFill>
                          <a:schemeClr val="tx1"/>
                        </a:solidFill>
                        <a:effectLst/>
                        <a:latin typeface="Verdana" pitchFamily="34"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sz="2400" b="0" i="0" u="none" strike="noStrike" cap="none" normalizeH="0" baseline="0">
                        <a:ln>
                          <a:noFill/>
                        </a:ln>
                        <a:solidFill>
                          <a:schemeClr val="tx1"/>
                        </a:solidFill>
                        <a:effectLst/>
                        <a:latin typeface="Verdana" pitchFamily="34"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Lấy phần dư</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sz="2400" b="0" i="0" u="none" strike="noStrike" cap="none" normalizeH="0" baseline="0">
                        <a:ln>
                          <a:noFill/>
                        </a:ln>
                        <a:solidFill>
                          <a:schemeClr val="tx1"/>
                        </a:solidFill>
                        <a:effectLst/>
                        <a:latin typeface="Verdana" pitchFamily="34"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sz="2400" b="0" i="0" u="none" strike="noStrike" cap="none" normalizeH="0" baseline="0">
                        <a:ln>
                          <a:noFill/>
                        </a:ln>
                        <a:solidFill>
                          <a:schemeClr val="tx1"/>
                        </a:solidFill>
                        <a:effectLst/>
                        <a:latin typeface="Verdana" pitchFamily="34"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Chia</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r h="5286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sz="2400" b="0" i="0" u="none" strike="noStrike" cap="none" normalizeH="0" baseline="0">
                        <a:ln>
                          <a:noFill/>
                        </a:ln>
                        <a:solidFill>
                          <a:schemeClr val="tx1"/>
                        </a:solidFill>
                        <a:effectLst/>
                        <a:latin typeface="Verdana" pitchFamily="34"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sz="2400" b="0" i="0" u="none" strike="noStrike" cap="none" normalizeH="0" baseline="0">
                        <a:ln>
                          <a:noFill/>
                        </a:ln>
                        <a:solidFill>
                          <a:schemeClr val="tx1"/>
                        </a:solidFill>
                        <a:effectLst/>
                        <a:latin typeface="Verdana" pitchFamily="34"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Lấy số mũ</a:t>
                      </a:r>
                      <a:endParaRPr kumimoji="0" lang="en-US" sz="24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6"/>
                  </a:ext>
                </a:extLst>
              </a:tr>
            </a:tbl>
          </a:graphicData>
        </a:graphic>
      </p:graphicFrame>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415"/>
                                        </p:tgtEl>
                                        <p:attrNameLst>
                                          <p:attrName>style.visibility</p:attrName>
                                        </p:attrNameLst>
                                      </p:cBhvr>
                                      <p:to>
                                        <p:strVal val="visible"/>
                                      </p:to>
                                    </p:set>
                                    <p:animEffect transition="in" filter="box(in)">
                                      <p:cBhvr>
                                        <p:cTn id="7" dur="500"/>
                                        <p:tgtEl>
                                          <p:spTgt spid="399415"/>
                                        </p:tgtEl>
                                      </p:cBhvr>
                                    </p:animEffect>
                                  </p:childTnLst>
                                  <p:subTnLst>
                                    <p:set>
                                      <p:cBhvr override="childStyle">
                                        <p:cTn dur="1" fill="hold" display="0" masterRel="nextClick" afterEffect="1"/>
                                        <p:tgtEl>
                                          <p:spTgt spid="3994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8068835-1E2F-2ED3-558B-989AB06D4178}"/>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41987" name="Picture 4">
            <a:extLst>
              <a:ext uri="{FF2B5EF4-FFF2-40B4-BE49-F238E27FC236}">
                <a16:creationId xmlns:a16="http://schemas.microsoft.com/office/drawing/2014/main" id="{CE5AABBC-15F4-DE1D-7B90-4BD9621397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19200"/>
            <a:ext cx="8229600" cy="49530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5625898-E9B8-2B70-059D-E0EEE4D32687}"/>
              </a:ext>
            </a:extLst>
          </p:cNvPr>
          <p:cNvSpPr>
            <a:spLocks noChangeArrowheads="1"/>
          </p:cNvSpPr>
          <p:nvPr/>
        </p:nvSpPr>
        <p:spPr bwMode="auto">
          <a:xfrm>
            <a:off x="4038600" y="2514600"/>
            <a:ext cx="1676400" cy="228600"/>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en-US" altLang="en-US"/>
          </a:p>
        </p:txBody>
      </p:sp>
      <p:sp>
        <p:nvSpPr>
          <p:cNvPr id="5" name="Rectangle 4">
            <a:extLst>
              <a:ext uri="{FF2B5EF4-FFF2-40B4-BE49-F238E27FC236}">
                <a16:creationId xmlns:a16="http://schemas.microsoft.com/office/drawing/2014/main" id="{E01C1757-F171-030A-44AF-675774B9ED06}"/>
              </a:ext>
            </a:extLst>
          </p:cNvPr>
          <p:cNvSpPr>
            <a:spLocks noChangeArrowheads="1"/>
          </p:cNvSpPr>
          <p:nvPr/>
        </p:nvSpPr>
        <p:spPr bwMode="auto">
          <a:xfrm>
            <a:off x="4114800" y="2743200"/>
            <a:ext cx="1676400" cy="228600"/>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en-US" altLang="en-US"/>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nodeType="clickEffect">
                                  <p:stCondLst>
                                    <p:cond delay="0"/>
                                  </p:stCondLst>
                                  <p:childTnLst>
                                    <p:anim calcmode="lin" valueType="num">
                                      <p:cBhvr additive="base">
                                        <p:cTn id="12" dur="500"/>
                                        <p:tgtEl>
                                          <p:spTgt spid="5"/>
                                        </p:tgtEl>
                                        <p:attrNameLst>
                                          <p:attrName>ppt_x</p:attrName>
                                        </p:attrNameLst>
                                      </p:cBhvr>
                                      <p:tavLst>
                                        <p:tav tm="0">
                                          <p:val>
                                            <p:strVal val="ppt_x"/>
                                          </p:val>
                                        </p:tav>
                                        <p:tav tm="100000">
                                          <p:val>
                                            <p:strVal val="ppt_x"/>
                                          </p:val>
                                        </p:tav>
                                      </p:tavLst>
                                    </p:anim>
                                    <p:anim calcmode="lin" valueType="num">
                                      <p:cBhvr additive="base">
                                        <p:cTn id="13" dur="500"/>
                                        <p:tgtEl>
                                          <p:spTgt spid="5"/>
                                        </p:tgtEl>
                                        <p:attrNameLst>
                                          <p:attrName>ppt_y</p:attrName>
                                        </p:attrNameLst>
                                      </p:cBhvr>
                                      <p:tavLst>
                                        <p:tav tm="0">
                                          <p:val>
                                            <p:strVal val="ppt_y"/>
                                          </p:val>
                                        </p:tav>
                                        <p:tav tm="100000">
                                          <p:val>
                                            <p:strVal val="1+ppt_h/2"/>
                                          </p:val>
                                        </p:tav>
                                      </p:tavLst>
                                    </p:anim>
                                    <p:set>
                                      <p:cBhvr>
                                        <p:cTn id="14"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31">
            <a:extLst>
              <a:ext uri="{FF2B5EF4-FFF2-40B4-BE49-F238E27FC236}">
                <a16:creationId xmlns:a16="http://schemas.microsoft.com/office/drawing/2014/main" id="{B6F52A86-C47B-9459-8A8F-310D4C78E42E}"/>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43011" name="Rectangle 4">
            <a:extLst>
              <a:ext uri="{FF2B5EF4-FFF2-40B4-BE49-F238E27FC236}">
                <a16:creationId xmlns:a16="http://schemas.microsoft.com/office/drawing/2014/main" id="{668058A6-739B-BD14-ED40-5DA236A6E0D4}"/>
              </a:ext>
            </a:extLst>
          </p:cNvPr>
          <p:cNvSpPr>
            <a:spLocks noChangeArrowheads="1"/>
          </p:cNvSpPr>
          <p:nvPr/>
        </p:nvSpPr>
        <p:spPr bwMode="auto">
          <a:xfrm>
            <a:off x="233363" y="890588"/>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Toán tử quan hệ</a:t>
            </a:r>
          </a:p>
        </p:txBody>
      </p:sp>
      <p:pic>
        <p:nvPicPr>
          <p:cNvPr id="378922" name="Picture 42">
            <a:extLst>
              <a:ext uri="{FF2B5EF4-FFF2-40B4-BE49-F238E27FC236}">
                <a16:creationId xmlns:a16="http://schemas.microsoft.com/office/drawing/2014/main" id="{B96CD4D9-CD4F-54E5-C6D7-5494DB6C3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00200"/>
            <a:ext cx="7696200" cy="45720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8922"/>
                                        </p:tgtEl>
                                        <p:attrNameLst>
                                          <p:attrName>style.visibility</p:attrName>
                                        </p:attrNameLst>
                                      </p:cBhvr>
                                      <p:to>
                                        <p:strVal val="visible"/>
                                      </p:to>
                                    </p:set>
                                    <p:animEffect transition="in" filter="box(in)">
                                      <p:cBhvr>
                                        <p:cTn id="7" dur="1000"/>
                                        <p:tgtEl>
                                          <p:spTgt spid="378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08174F1-FF0B-D08A-6822-E02D1DFB4FE1}"/>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44035" name="Rectangle 4">
            <a:extLst>
              <a:ext uri="{FF2B5EF4-FFF2-40B4-BE49-F238E27FC236}">
                <a16:creationId xmlns:a16="http://schemas.microsoft.com/office/drawing/2014/main" id="{A3B85804-EF9D-A2E6-1AD3-D000E42187B3}"/>
              </a:ext>
            </a:extLst>
          </p:cNvPr>
          <p:cNvSpPr>
            <a:spLocks noChangeArrowheads="1"/>
          </p:cNvSpPr>
          <p:nvPr/>
        </p:nvSpPr>
        <p:spPr bwMode="auto">
          <a:xfrm>
            <a:off x="176213" y="876300"/>
            <a:ext cx="2406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Toán tử logic</a:t>
            </a:r>
          </a:p>
        </p:txBody>
      </p:sp>
      <p:pic>
        <p:nvPicPr>
          <p:cNvPr id="379932" name="Picture 28">
            <a:extLst>
              <a:ext uri="{FF2B5EF4-FFF2-40B4-BE49-F238E27FC236}">
                <a16:creationId xmlns:a16="http://schemas.microsoft.com/office/drawing/2014/main" id="{7197955D-59B5-8ACF-3B25-F774A90CF6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00200"/>
            <a:ext cx="8077200" cy="30480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9932"/>
                                        </p:tgtEl>
                                        <p:attrNameLst>
                                          <p:attrName>style.visibility</p:attrName>
                                        </p:attrNameLst>
                                      </p:cBhvr>
                                      <p:to>
                                        <p:strVal val="visible"/>
                                      </p:to>
                                    </p:set>
                                    <p:animEffect transition="in" filter="box(in)">
                                      <p:cBhvr>
                                        <p:cTn id="7" dur="1000"/>
                                        <p:tgtEl>
                                          <p:spTgt spid="379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94E7E2E-6C6D-D0EE-DC19-98A487BB3350}"/>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pic>
        <p:nvPicPr>
          <p:cNvPr id="45059" name="Picture 4">
            <a:extLst>
              <a:ext uri="{FF2B5EF4-FFF2-40B4-BE49-F238E27FC236}">
                <a16:creationId xmlns:a16="http://schemas.microsoft.com/office/drawing/2014/main" id="{D78C0C45-93CF-29B6-E50F-393725E29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8382000" cy="3109913"/>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45060" name="Picture 5">
            <a:extLst>
              <a:ext uri="{FF2B5EF4-FFF2-40B4-BE49-F238E27FC236}">
                <a16:creationId xmlns:a16="http://schemas.microsoft.com/office/drawing/2014/main" id="{4CA57E3C-45B2-1FA1-F152-A037D92BDF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4176713"/>
            <a:ext cx="3657600" cy="9906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45061" name="Picture 6">
            <a:extLst>
              <a:ext uri="{FF2B5EF4-FFF2-40B4-BE49-F238E27FC236}">
                <a16:creationId xmlns:a16="http://schemas.microsoft.com/office/drawing/2014/main" id="{A5EC6D6A-E8BA-27FD-CE20-FEE4790586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4191000"/>
            <a:ext cx="3657600" cy="9906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45062" name="Picture 7">
            <a:extLst>
              <a:ext uri="{FF2B5EF4-FFF2-40B4-BE49-F238E27FC236}">
                <a16:creationId xmlns:a16="http://schemas.microsoft.com/office/drawing/2014/main" id="{8882DAC5-7565-377C-709F-28F005D4C3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5367338"/>
            <a:ext cx="3810000" cy="10668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B71274C-A57D-8E66-BFD2-29F4B19B61C0}"/>
              </a:ext>
            </a:extLst>
          </p:cNvPr>
          <p:cNvSpPr>
            <a:spLocks noChangeArrowheads="1"/>
          </p:cNvSpPr>
          <p:nvPr/>
        </p:nvSpPr>
        <p:spPr bwMode="auto">
          <a:xfrm>
            <a:off x="1066800" y="4997450"/>
            <a:ext cx="3576638" cy="138113"/>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en-US" altLang="en-US"/>
          </a:p>
        </p:txBody>
      </p:sp>
      <p:sp>
        <p:nvSpPr>
          <p:cNvPr id="8" name="Rectangle 7">
            <a:extLst>
              <a:ext uri="{FF2B5EF4-FFF2-40B4-BE49-F238E27FC236}">
                <a16:creationId xmlns:a16="http://schemas.microsoft.com/office/drawing/2014/main" id="{74A25ED1-9934-F431-85BE-934A7D9DC5CF}"/>
              </a:ext>
            </a:extLst>
          </p:cNvPr>
          <p:cNvSpPr>
            <a:spLocks noChangeArrowheads="1"/>
          </p:cNvSpPr>
          <p:nvPr/>
        </p:nvSpPr>
        <p:spPr bwMode="auto">
          <a:xfrm>
            <a:off x="5105400" y="4965700"/>
            <a:ext cx="3576638" cy="138113"/>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en-US" altLang="en-US"/>
          </a:p>
        </p:txBody>
      </p:sp>
      <p:sp>
        <p:nvSpPr>
          <p:cNvPr id="9" name="Rectangle 8">
            <a:extLst>
              <a:ext uri="{FF2B5EF4-FFF2-40B4-BE49-F238E27FC236}">
                <a16:creationId xmlns:a16="http://schemas.microsoft.com/office/drawing/2014/main" id="{01D1CF61-7C36-A92E-FF76-E976F064875E}"/>
              </a:ext>
            </a:extLst>
          </p:cNvPr>
          <p:cNvSpPr>
            <a:spLocks noChangeArrowheads="1"/>
          </p:cNvSpPr>
          <p:nvPr/>
        </p:nvSpPr>
        <p:spPr bwMode="auto">
          <a:xfrm>
            <a:off x="2814638" y="6191250"/>
            <a:ext cx="3576637" cy="138113"/>
          </a:xfrm>
          <a:prstGeom prst="rec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en-US" altLang="en-US"/>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nodeType="clickEffect">
                                  <p:stCondLst>
                                    <p:cond delay="0"/>
                                  </p:stCondLst>
                                  <p:childTnLst>
                                    <p:anim calcmode="lin" valueType="num">
                                      <p:cBhvr additive="base">
                                        <p:cTn id="12" dur="500"/>
                                        <p:tgtEl>
                                          <p:spTgt spid="8"/>
                                        </p:tgtEl>
                                        <p:attrNameLst>
                                          <p:attrName>ppt_x</p:attrName>
                                        </p:attrNameLst>
                                      </p:cBhvr>
                                      <p:tavLst>
                                        <p:tav tm="0">
                                          <p:val>
                                            <p:strVal val="ppt_x"/>
                                          </p:val>
                                        </p:tav>
                                        <p:tav tm="100000">
                                          <p:val>
                                            <p:strVal val="ppt_x"/>
                                          </p:val>
                                        </p:tav>
                                      </p:tavLst>
                                    </p:anim>
                                    <p:anim calcmode="lin" valueType="num">
                                      <p:cBhvr additive="base">
                                        <p:cTn id="13" dur="500"/>
                                        <p:tgtEl>
                                          <p:spTgt spid="8"/>
                                        </p:tgtEl>
                                        <p:attrNameLst>
                                          <p:attrName>ppt_y</p:attrName>
                                        </p:attrNameLst>
                                      </p:cBhvr>
                                      <p:tavLst>
                                        <p:tav tm="0">
                                          <p:val>
                                            <p:strVal val="ppt_y"/>
                                          </p:val>
                                        </p:tav>
                                        <p:tav tm="100000">
                                          <p:val>
                                            <p:strVal val="1+ppt_h/2"/>
                                          </p:val>
                                        </p:tav>
                                      </p:tavLst>
                                    </p:anim>
                                    <p:set>
                                      <p:cBhvr>
                                        <p:cTn id="14" dur="1" fill="hold">
                                          <p:stCondLst>
                                            <p:cond delay="499"/>
                                          </p:stCondLst>
                                        </p:cTn>
                                        <p:tgtEl>
                                          <p:spTgt spid="8"/>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nodeType="clickEffect">
                                  <p:stCondLst>
                                    <p:cond delay="0"/>
                                  </p:stCondLst>
                                  <p:childTnLst>
                                    <p:anim calcmode="lin" valueType="num">
                                      <p:cBhvr additive="base">
                                        <p:cTn id="18" dur="500"/>
                                        <p:tgtEl>
                                          <p:spTgt spid="9"/>
                                        </p:tgtEl>
                                        <p:attrNameLst>
                                          <p:attrName>ppt_x</p:attrName>
                                        </p:attrNameLst>
                                      </p:cBhvr>
                                      <p:tavLst>
                                        <p:tav tm="0">
                                          <p:val>
                                            <p:strVal val="ppt_x"/>
                                          </p:val>
                                        </p:tav>
                                        <p:tav tm="100000">
                                          <p:val>
                                            <p:strVal val="ppt_x"/>
                                          </p:val>
                                        </p:tav>
                                      </p:tavLst>
                                    </p:anim>
                                    <p:anim calcmode="lin" valueType="num">
                                      <p:cBhvr additive="base">
                                        <p:cTn id="19" dur="500"/>
                                        <p:tgtEl>
                                          <p:spTgt spid="9"/>
                                        </p:tgtEl>
                                        <p:attrNameLst>
                                          <p:attrName>ppt_y</p:attrName>
                                        </p:attrNameLst>
                                      </p:cBhvr>
                                      <p:tavLst>
                                        <p:tav tm="0">
                                          <p:val>
                                            <p:strVal val="ppt_y"/>
                                          </p:val>
                                        </p:tav>
                                        <p:tav tm="100000">
                                          <p:val>
                                            <p:strVal val="1+ppt_h/2"/>
                                          </p:val>
                                        </p:tav>
                                      </p:tavLst>
                                    </p:anim>
                                    <p:set>
                                      <p:cBhvr>
                                        <p:cTn id="20"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9A078F1-A55B-ACDA-11EE-1A7475636119}"/>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46083" name="Rectangle 4">
            <a:extLst>
              <a:ext uri="{FF2B5EF4-FFF2-40B4-BE49-F238E27FC236}">
                <a16:creationId xmlns:a16="http://schemas.microsoft.com/office/drawing/2014/main" id="{71517E82-46C2-59D5-403B-032E6367E118}"/>
              </a:ext>
            </a:extLst>
          </p:cNvPr>
          <p:cNvSpPr>
            <a:spLocks noChangeArrowheads="1"/>
          </p:cNvSpPr>
          <p:nvPr/>
        </p:nvSpPr>
        <p:spPr bwMode="auto">
          <a:xfrm>
            <a:off x="228600" y="838200"/>
            <a:ext cx="222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Toán tử gán</a:t>
            </a:r>
          </a:p>
        </p:txBody>
      </p:sp>
      <p:pic>
        <p:nvPicPr>
          <p:cNvPr id="381997" name="Picture 45">
            <a:extLst>
              <a:ext uri="{FF2B5EF4-FFF2-40B4-BE49-F238E27FC236}">
                <a16:creationId xmlns:a16="http://schemas.microsoft.com/office/drawing/2014/main" id="{1995771E-2ACA-13B4-D9EE-EC62ACF935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24000"/>
            <a:ext cx="8077200" cy="48006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1997"/>
                                        </p:tgtEl>
                                        <p:attrNameLst>
                                          <p:attrName>style.visibility</p:attrName>
                                        </p:attrNameLst>
                                      </p:cBhvr>
                                      <p:to>
                                        <p:strVal val="visible"/>
                                      </p:to>
                                    </p:set>
                                    <p:animEffect transition="in" filter="box(in)">
                                      <p:cBhvr>
                                        <p:cTn id="7" dur="1000"/>
                                        <p:tgtEl>
                                          <p:spTgt spid="381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DDB1682-8220-94F4-2D19-5E4EA0CE17BB}"/>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graphicFrame>
        <p:nvGraphicFramePr>
          <p:cNvPr id="381031" name="Group 103">
            <a:extLst>
              <a:ext uri="{FF2B5EF4-FFF2-40B4-BE49-F238E27FC236}">
                <a16:creationId xmlns:a16="http://schemas.microsoft.com/office/drawing/2014/main" id="{89F438C3-5A1B-0EB6-C1F6-880F6D39933C}"/>
              </a:ext>
            </a:extLst>
          </p:cNvPr>
          <p:cNvGraphicFramePr>
            <a:graphicFrameLocks noGrp="1"/>
          </p:cNvGraphicFramePr>
          <p:nvPr>
            <p:ph sz="half" idx="1"/>
          </p:nvPr>
        </p:nvGraphicFramePr>
        <p:xfrm>
          <a:off x="609600" y="1285875"/>
          <a:ext cx="8229600" cy="2773364"/>
        </p:xfrm>
        <a:graphic>
          <a:graphicData uri="http://schemas.openxmlformats.org/drawingml/2006/table">
            <a:tbl>
              <a:tblPr/>
              <a:tblGrid>
                <a:gridCol w="1981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533282">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Times New Roman" pitchFamily="18" charset="0"/>
                          <a:cs typeface="Times New Roman" pitchFamily="18" charset="0"/>
                        </a:rPr>
                        <a:t>Loại toán tử</a:t>
                      </a:r>
                      <a:endParaRPr kumimoji="0" lang="en-US" sz="2200" b="1"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Times New Roman" pitchFamily="18" charset="0"/>
                          <a:cs typeface="Times New Roman" pitchFamily="18" charset="0"/>
                        </a:rPr>
                        <a:t>Toán tử</a:t>
                      </a:r>
                      <a:endParaRPr kumimoji="0" lang="en-US" sz="2200" b="1"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Times New Roman" pitchFamily="18" charset="0"/>
                          <a:cs typeface="Times New Roman" pitchFamily="18" charset="0"/>
                        </a:rPr>
                        <a:t>Tính kết hợp</a:t>
                      </a:r>
                      <a:endParaRPr kumimoji="0" lang="en-US" sz="2200" b="1"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533282">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Một ngôi</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 , ++ , --</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phải sang trái</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426700">
                <a:tc rowSpan="4">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Hai ngôi</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rowSpan="3">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trái sang phải</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426700">
                <a:tc vMerge="1">
                  <a:txBody>
                    <a:bodyPr/>
                    <a:lstStyle/>
                    <a:p>
                      <a:endParaRPr lang="en-US"/>
                    </a:p>
                  </a:txBody>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 /, %</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vMerge="1">
                  <a:txBody>
                    <a:bodyPr/>
                    <a:lstStyle/>
                    <a:p>
                      <a:endParaRPr lang="en-US"/>
                    </a:p>
                  </a:txBody>
                  <a:tcPr/>
                </a:tc>
                <a:extLst>
                  <a:ext uri="{0D108BD9-81ED-4DB2-BD59-A6C34878D82A}">
                    <a16:rowId xmlns:a16="http://schemas.microsoft.com/office/drawing/2014/main" val="10003"/>
                  </a:ext>
                </a:extLst>
              </a:tr>
              <a:tr h="426700">
                <a:tc vMerge="1">
                  <a:txBody>
                    <a:bodyPr/>
                    <a:lstStyle/>
                    <a:p>
                      <a:endParaRPr lang="en-US"/>
                    </a:p>
                  </a:txBody>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 -</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vMerge="1">
                  <a:txBody>
                    <a:bodyPr/>
                    <a:lstStyle/>
                    <a:p>
                      <a:endParaRPr lang="en-US"/>
                    </a:p>
                  </a:txBody>
                  <a:tcPr/>
                </a:tc>
                <a:extLst>
                  <a:ext uri="{0D108BD9-81ED-4DB2-BD59-A6C34878D82A}">
                    <a16:rowId xmlns:a16="http://schemas.microsoft.com/office/drawing/2014/main" val="10004"/>
                  </a:ext>
                </a:extLst>
              </a:tr>
              <a:tr h="426700">
                <a:tc vMerge="1">
                  <a:txBody>
                    <a:bodyPr/>
                    <a:lstStyle/>
                    <a:p>
                      <a:endParaRPr lang="en-US"/>
                    </a:p>
                  </a:txBody>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phải sang trái</a:t>
                      </a:r>
                      <a:endParaRPr kumimoji="0" lang="en-US" sz="2200" b="0" i="0" u="none" strike="noStrike" cap="none" normalizeH="0" baseline="0">
                        <a:ln>
                          <a:noFill/>
                        </a:ln>
                        <a:solidFill>
                          <a:schemeClr val="tx1"/>
                        </a:solidFill>
                        <a:effectLst/>
                        <a:latin typeface="Arial" charset="0"/>
                      </a:endParaRPr>
                    </a:p>
                  </a:txBody>
                  <a:tcPr marT="45710" marB="45710"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5"/>
                  </a:ext>
                </a:extLst>
              </a:tr>
            </a:tbl>
          </a:graphicData>
        </a:graphic>
      </p:graphicFrame>
      <p:sp>
        <p:nvSpPr>
          <p:cNvPr id="47132" name="Rectangle 4">
            <a:extLst>
              <a:ext uri="{FF2B5EF4-FFF2-40B4-BE49-F238E27FC236}">
                <a16:creationId xmlns:a16="http://schemas.microsoft.com/office/drawing/2014/main" id="{AA3EA5E0-4421-BC47-DB84-0ACC6EC8A01A}"/>
              </a:ext>
            </a:extLst>
          </p:cNvPr>
          <p:cNvSpPr>
            <a:spLocks noChangeArrowheads="1"/>
          </p:cNvSpPr>
          <p:nvPr/>
        </p:nvSpPr>
        <p:spPr bwMode="auto">
          <a:xfrm>
            <a:off x="190500" y="765175"/>
            <a:ext cx="69897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en-US" altLang="en-US" sz="2600" b="1">
                <a:solidFill>
                  <a:srgbClr val="000066"/>
                </a:solidFill>
              </a:rPr>
              <a:t>Độ ưu tiên của toán</a:t>
            </a:r>
            <a:r>
              <a:rPr lang="en-US" altLang="en-US" b="1">
                <a:solidFill>
                  <a:srgbClr val="000066"/>
                </a:solidFill>
              </a:rPr>
              <a:t> tử </a:t>
            </a:r>
            <a:r>
              <a:rPr lang="en-US" altLang="en-US" sz="2600" b="1">
                <a:solidFill>
                  <a:srgbClr val="000066"/>
                </a:solidFill>
              </a:rPr>
              <a:t>(Precedence)</a:t>
            </a:r>
            <a:r>
              <a:rPr lang="en-US" altLang="en-US"/>
              <a:t> </a:t>
            </a:r>
          </a:p>
        </p:txBody>
      </p:sp>
      <p:sp>
        <p:nvSpPr>
          <p:cNvPr id="380969" name="Rectangle 41">
            <a:extLst>
              <a:ext uri="{FF2B5EF4-FFF2-40B4-BE49-F238E27FC236}">
                <a16:creationId xmlns:a16="http://schemas.microsoft.com/office/drawing/2014/main" id="{9F0E97A2-F1E0-9640-B54F-8E2054C9D721}"/>
              </a:ext>
            </a:extLst>
          </p:cNvPr>
          <p:cNvSpPr>
            <a:spLocks noChangeArrowheads="1"/>
          </p:cNvSpPr>
          <p:nvPr/>
        </p:nvSpPr>
        <p:spPr bwMode="auto">
          <a:xfrm>
            <a:off x="304800" y="4144963"/>
            <a:ext cx="8183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eaLnBrk="1" hangingPunct="1"/>
            <a:r>
              <a:rPr lang="en-US" altLang="en-US" b="1">
                <a:solidFill>
                  <a:srgbClr val="000066"/>
                </a:solidFill>
              </a:rPr>
              <a:t>Thứ tự ưu tiên giữa các kiểu toán tử khác nhau</a:t>
            </a:r>
          </a:p>
        </p:txBody>
      </p:sp>
      <p:graphicFrame>
        <p:nvGraphicFramePr>
          <p:cNvPr id="381013" name="Group 85">
            <a:extLst>
              <a:ext uri="{FF2B5EF4-FFF2-40B4-BE49-F238E27FC236}">
                <a16:creationId xmlns:a16="http://schemas.microsoft.com/office/drawing/2014/main" id="{12977797-5733-8AB0-00DD-3E2205607750}"/>
              </a:ext>
            </a:extLst>
          </p:cNvPr>
          <p:cNvGraphicFramePr>
            <a:graphicFrameLocks noGrp="1"/>
          </p:cNvGraphicFramePr>
          <p:nvPr>
            <p:ph sz="half" idx="2"/>
          </p:nvPr>
        </p:nvGraphicFramePr>
        <p:xfrm>
          <a:off x="4800600" y="4635500"/>
          <a:ext cx="4038600" cy="1836738"/>
        </p:xfrm>
        <a:graphic>
          <a:graphicData uri="http://schemas.openxmlformats.org/drawingml/2006/table">
            <a:tbl>
              <a:tblPr/>
              <a:tblGrid>
                <a:gridCol w="1524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457200">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Times New Roman" pitchFamily="18" charset="0"/>
                          <a:cs typeface="Times New Roman" pitchFamily="18" charset="0"/>
                        </a:rPr>
                        <a:t>Thứ tự</a:t>
                      </a:r>
                      <a:endParaRPr kumimoji="0" lang="en-US" sz="2200" b="1"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Times New Roman" pitchFamily="18" charset="0"/>
                          <a:cs typeface="Times New Roman" pitchFamily="18" charset="0"/>
                        </a:rPr>
                        <a:t>Kiểu toán tử</a:t>
                      </a:r>
                      <a:endParaRPr kumimoji="0" lang="en-US" sz="2200" b="1"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465138">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1</a:t>
                      </a:r>
                      <a:endParaRPr kumimoji="0" lang="en-US" sz="22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Số học</a:t>
                      </a:r>
                      <a:endParaRPr kumimoji="0" lang="en-US" sz="22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457200">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2</a:t>
                      </a:r>
                      <a:endParaRPr kumimoji="0" lang="en-US" sz="22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So sánh (quan hệ)</a:t>
                      </a:r>
                      <a:endParaRPr kumimoji="0" lang="en-US" sz="22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457200">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3</a:t>
                      </a:r>
                      <a:endParaRPr kumimoji="0" lang="en-US" sz="22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imes New Roman" pitchFamily="18" charset="0"/>
                          <a:cs typeface="Times New Roman" pitchFamily="18" charset="0"/>
                        </a:rPr>
                        <a:t>logic</a:t>
                      </a:r>
                      <a:endParaRPr kumimoji="0" lang="en-US" sz="2200" b="0" i="0" u="none" strike="noStrike" cap="none" normalizeH="0" baseline="0">
                        <a:ln>
                          <a:noFill/>
                        </a:ln>
                        <a:solidFill>
                          <a:schemeClr val="tx1"/>
                        </a:solidFill>
                        <a:effectLst/>
                        <a:latin typeface="Arial" charset="0"/>
                      </a:endParaRPr>
                    </a:p>
                  </a:txBody>
                  <a:tcPr horzOverflow="overflow">
                    <a:lnL w="38100" cap="flat" cmpd="sng" algn="ctr">
                      <a:solidFill>
                        <a:srgbClr val="003300"/>
                      </a:solidFill>
                      <a:prstDash val="solid"/>
                      <a:round/>
                      <a:headEnd type="none" w="med" len="med"/>
                      <a:tailEnd type="none" w="med" len="med"/>
                    </a:lnL>
                    <a:lnR w="38100" cap="flat" cmpd="sng" algn="ctr">
                      <a:solidFill>
                        <a:srgbClr val="003300"/>
                      </a:solidFill>
                      <a:prstDash val="solid"/>
                      <a:round/>
                      <a:headEnd type="none" w="med" len="med"/>
                      <a:tailEnd type="none" w="med" len="med"/>
                    </a:lnR>
                    <a:lnT w="38100" cap="flat" cmpd="sng" algn="ctr">
                      <a:solidFill>
                        <a:srgbClr val="003300"/>
                      </a:solidFill>
                      <a:prstDash val="solid"/>
                      <a:round/>
                      <a:headEnd type="none" w="med" len="med"/>
                      <a:tailEnd type="none" w="med" len="med"/>
                    </a:lnT>
                    <a:lnB w="38100" cap="flat" cmpd="sng" algn="ctr">
                      <a:solidFill>
                        <a:srgbClr val="0033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bl>
          </a:graphicData>
        </a:graphic>
      </p:graphicFrame>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1031"/>
                                        </p:tgtEl>
                                        <p:attrNameLst>
                                          <p:attrName>style.visibility</p:attrName>
                                        </p:attrNameLst>
                                      </p:cBhvr>
                                      <p:to>
                                        <p:strVal val="visible"/>
                                      </p:to>
                                    </p:set>
                                    <p:animEffect transition="in" filter="box(in)">
                                      <p:cBhvr>
                                        <p:cTn id="7" dur="1000"/>
                                        <p:tgtEl>
                                          <p:spTgt spid="3810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1013"/>
                                        </p:tgtEl>
                                        <p:attrNameLst>
                                          <p:attrName>style.visibility</p:attrName>
                                        </p:attrNameLst>
                                      </p:cBhvr>
                                      <p:to>
                                        <p:strVal val="visible"/>
                                      </p:to>
                                    </p:set>
                                    <p:animEffect transition="in" filter="box(in)">
                                      <p:cBhvr>
                                        <p:cTn id="12" dur="1000"/>
                                        <p:tgtEl>
                                          <p:spTgt spid="3810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0969"/>
                                        </p:tgtEl>
                                        <p:attrNameLst>
                                          <p:attrName>style.visibility</p:attrName>
                                        </p:attrNameLst>
                                      </p:cBhvr>
                                      <p:to>
                                        <p:strVal val="visible"/>
                                      </p:to>
                                    </p:set>
                                    <p:animEffect transition="in" filter="box(in)">
                                      <p:cBhvr>
                                        <p:cTn id="17" dur="1000"/>
                                        <p:tgtEl>
                                          <p:spTgt spid="3809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81013"/>
                                        </p:tgtEl>
                                        <p:attrNameLst>
                                          <p:attrName>style.visibility</p:attrName>
                                        </p:attrNameLst>
                                      </p:cBhvr>
                                      <p:to>
                                        <p:strVal val="visible"/>
                                      </p:to>
                                    </p:set>
                                    <p:animEffect transition="in" filter="box(in)">
                                      <p:cBhvr>
                                        <p:cTn id="22" dur="1000"/>
                                        <p:tgtEl>
                                          <p:spTgt spid="381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6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A3E6FEF-0A5B-606E-A9EC-06662C6E359F}"/>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91174" name="Text Box 6">
            <a:extLst>
              <a:ext uri="{FF2B5EF4-FFF2-40B4-BE49-F238E27FC236}">
                <a16:creationId xmlns:a16="http://schemas.microsoft.com/office/drawing/2014/main" id="{219CC8B2-3B94-2012-81D4-CBD759AF6AA9}"/>
              </a:ext>
            </a:extLst>
          </p:cNvPr>
          <p:cNvSpPr txBox="1">
            <a:spLocks noChangeArrowheads="1"/>
          </p:cNvSpPr>
          <p:nvPr/>
        </p:nvSpPr>
        <p:spPr bwMode="auto">
          <a:xfrm>
            <a:off x="304800" y="142013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a:solidFill>
                  <a:srgbClr val="008000"/>
                </a:solidFill>
              </a:rPr>
              <a:t>1. Cho biết giá trị CanhCut trong liệt kê sau:</a:t>
            </a:r>
          </a:p>
        </p:txBody>
      </p:sp>
      <p:sp>
        <p:nvSpPr>
          <p:cNvPr id="391175" name="Rectangle 7">
            <a:extLst>
              <a:ext uri="{FF2B5EF4-FFF2-40B4-BE49-F238E27FC236}">
                <a16:creationId xmlns:a16="http://schemas.microsoft.com/office/drawing/2014/main" id="{145E8146-3488-9AE4-7323-DB3F8B86F188}"/>
              </a:ext>
            </a:extLst>
          </p:cNvPr>
          <p:cNvSpPr>
            <a:spLocks noChangeArrowheads="1"/>
          </p:cNvSpPr>
          <p:nvPr/>
        </p:nvSpPr>
        <p:spPr bwMode="auto">
          <a:xfrm>
            <a:off x="1790700" y="2008187"/>
            <a:ext cx="5867400" cy="2677656"/>
          </a:xfrm>
          <a:prstGeom prst="rect">
            <a:avLst/>
          </a:prstGeom>
          <a:noFill/>
          <a:ln w="38100">
            <a:solidFill>
              <a:srgbClr val="00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a:t>enum LoaiChim</a:t>
            </a:r>
          </a:p>
          <a:p>
            <a:r>
              <a:rPr lang="en-US" altLang="en-US"/>
              <a:t>{</a:t>
            </a:r>
          </a:p>
          <a:p>
            <a:r>
              <a:rPr lang="en-US" altLang="en-US"/>
              <a:t>	HaiAu,</a:t>
            </a:r>
          </a:p>
          <a:p>
            <a:r>
              <a:rPr lang="en-US" altLang="en-US"/>
              <a:t>	BoiCa,</a:t>
            </a:r>
          </a:p>
          <a:p>
            <a:r>
              <a:rPr lang="en-US" altLang="en-US"/>
              <a:t>		    DaiBang = 50,</a:t>
            </a:r>
          </a:p>
          <a:p>
            <a:r>
              <a:rPr lang="en-US" altLang="en-US"/>
              <a:t>	  CanhCut</a:t>
            </a:r>
          </a:p>
          <a:p>
            <a:r>
              <a:rPr lang="en-US" altLang="en-US"/>
              <a:t>}</a:t>
            </a:r>
          </a:p>
        </p:txBody>
      </p:sp>
      <p:sp>
        <p:nvSpPr>
          <p:cNvPr id="48133" name="Rectangle 8">
            <a:extLst>
              <a:ext uri="{FF2B5EF4-FFF2-40B4-BE49-F238E27FC236}">
                <a16:creationId xmlns:a16="http://schemas.microsoft.com/office/drawing/2014/main" id="{4A05F833-7501-A598-96BE-7AF067330087}"/>
              </a:ext>
            </a:extLst>
          </p:cNvPr>
          <p:cNvSpPr>
            <a:spLocks noChangeArrowheads="1"/>
          </p:cNvSpPr>
          <p:nvPr/>
        </p:nvSpPr>
        <p:spPr bwMode="auto">
          <a:xfrm>
            <a:off x="3429000" y="825500"/>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a:solidFill>
                  <a:schemeClr val="accent2"/>
                </a:solidFill>
              </a:rPr>
              <a:t>Câu hỏi</a:t>
            </a:r>
          </a:p>
        </p:txBody>
      </p:sp>
      <p:sp>
        <p:nvSpPr>
          <p:cNvPr id="391177" name="Text Box 9">
            <a:extLst>
              <a:ext uri="{FF2B5EF4-FFF2-40B4-BE49-F238E27FC236}">
                <a16:creationId xmlns:a16="http://schemas.microsoft.com/office/drawing/2014/main" id="{010087F0-0784-5E2A-D49D-ED9769D51351}"/>
              </a:ext>
            </a:extLst>
          </p:cNvPr>
          <p:cNvSpPr txBox="1">
            <a:spLocks noChangeArrowheads="1"/>
          </p:cNvSpPr>
          <p:nvPr/>
        </p:nvSpPr>
        <p:spPr bwMode="auto">
          <a:xfrm>
            <a:off x="636814" y="4947558"/>
            <a:ext cx="8229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a:solidFill>
                  <a:srgbClr val="990000"/>
                </a:solidFill>
              </a:rPr>
              <a:t>2. Tạo một Console application để tính cộng, trừ, nhân, chia và lấy phần dư của 2 số được nhập giá trị từ bàn phím.</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1174"/>
                                        </p:tgtEl>
                                        <p:attrNameLst>
                                          <p:attrName>style.visibility</p:attrName>
                                        </p:attrNameLst>
                                      </p:cBhvr>
                                      <p:to>
                                        <p:strVal val="visible"/>
                                      </p:to>
                                    </p:set>
                                    <p:animEffect transition="in" filter="box(in)">
                                      <p:cBhvr>
                                        <p:cTn id="7" dur="1000"/>
                                        <p:tgtEl>
                                          <p:spTgt spid="3911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1175"/>
                                        </p:tgtEl>
                                        <p:attrNameLst>
                                          <p:attrName>style.visibility</p:attrName>
                                        </p:attrNameLst>
                                      </p:cBhvr>
                                      <p:to>
                                        <p:strVal val="visible"/>
                                      </p:to>
                                    </p:set>
                                    <p:animEffect transition="in" filter="box(in)">
                                      <p:cBhvr>
                                        <p:cTn id="12" dur="1000"/>
                                        <p:tgtEl>
                                          <p:spTgt spid="3911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1177"/>
                                        </p:tgtEl>
                                        <p:attrNameLst>
                                          <p:attrName>style.visibility</p:attrName>
                                        </p:attrNameLst>
                                      </p:cBhvr>
                                      <p:to>
                                        <p:strVal val="visible"/>
                                      </p:to>
                                    </p:set>
                                    <p:animEffect transition="in" filter="box(in)">
                                      <p:cBhvr>
                                        <p:cTn id="17" dur="1000"/>
                                        <p:tgtEl>
                                          <p:spTgt spid="391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4" grpId="0"/>
      <p:bldP spid="391175" grpId="0" animBg="1"/>
      <p:bldP spid="39117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65E8FFA-6659-FBEC-A727-194AFDEFA4C5}"/>
              </a:ext>
            </a:extLst>
          </p:cNvPr>
          <p:cNvSpPr>
            <a:spLocks noGrp="1" noChangeArrowheads="1"/>
          </p:cNvSpPr>
          <p:nvPr>
            <p:ph type="title"/>
          </p:nvPr>
        </p:nvSpPr>
        <p:spPr/>
        <p:txBody>
          <a:bodyPr/>
          <a:lstStyle/>
          <a:p>
            <a:pPr eaLnBrk="1" hangingPunct="1"/>
            <a:r>
              <a:rPr lang="en-US" altLang="en-US" sz="3000" b="1"/>
              <a:t>2. Kiểu</a:t>
            </a:r>
            <a:r>
              <a:rPr lang="en-US" altLang="en-US" sz="3000"/>
              <a:t> </a:t>
            </a:r>
            <a:r>
              <a:rPr lang="en-US" altLang="en-US" sz="3000" b="1"/>
              <a:t>dữ liệu – biến và toán tử trong C#</a:t>
            </a:r>
          </a:p>
        </p:txBody>
      </p:sp>
      <p:sp>
        <p:nvSpPr>
          <p:cNvPr id="382981" name="Text Box 5">
            <a:extLst>
              <a:ext uri="{FF2B5EF4-FFF2-40B4-BE49-F238E27FC236}">
                <a16:creationId xmlns:a16="http://schemas.microsoft.com/office/drawing/2014/main" id="{834F187B-ED5F-B9D9-5631-DAD543471C75}"/>
              </a:ext>
            </a:extLst>
          </p:cNvPr>
          <p:cNvSpPr txBox="1">
            <a:spLocks noChangeArrowheads="1"/>
          </p:cNvSpPr>
          <p:nvPr/>
        </p:nvSpPr>
        <p:spPr bwMode="auto">
          <a:xfrm>
            <a:off x="228600" y="104775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a:solidFill>
                  <a:srgbClr val="000066"/>
                </a:solidFill>
              </a:rPr>
              <a:t>3. Viết một chương trình để chuyển đơn vị tiền tệ</a:t>
            </a:r>
          </a:p>
        </p:txBody>
      </p:sp>
      <p:graphicFrame>
        <p:nvGraphicFramePr>
          <p:cNvPr id="383052" name="Group 76">
            <a:extLst>
              <a:ext uri="{FF2B5EF4-FFF2-40B4-BE49-F238E27FC236}">
                <a16:creationId xmlns:a16="http://schemas.microsoft.com/office/drawing/2014/main" id="{D041559A-1A76-6318-DE71-AB7BC5C6ACBA}"/>
              </a:ext>
            </a:extLst>
          </p:cNvPr>
          <p:cNvGraphicFramePr>
            <a:graphicFrameLocks noGrp="1"/>
          </p:cNvGraphicFramePr>
          <p:nvPr>
            <p:ph idx="1"/>
            <p:extLst>
              <p:ext uri="{D42A27DB-BD31-4B8C-83A1-F6EECF244321}">
                <p14:modId xmlns:p14="http://schemas.microsoft.com/office/powerpoint/2010/main" val="1612215934"/>
              </p:ext>
            </p:extLst>
          </p:nvPr>
        </p:nvGraphicFramePr>
        <p:xfrm>
          <a:off x="1295400" y="1866900"/>
          <a:ext cx="5943600" cy="2684465"/>
        </p:xfrm>
        <a:graphic>
          <a:graphicData uri="http://schemas.openxmlformats.org/drawingml/2006/table">
            <a:tbl>
              <a:tblPr/>
              <a:tblGrid>
                <a:gridCol w="15240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48766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Tiền tệ</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Mô tả</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Tỉ giá</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53332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USD</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US Dollar</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1</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53332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SGD</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Singapore Dollar</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1.8423</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56031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VND</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VietNam dong</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19367</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r h="56983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JPY</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Japanese Yen</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2600" b="0" i="0" u="none" strike="noStrike" cap="none" normalizeH="0" baseline="0">
                          <a:ln>
                            <a:noFill/>
                          </a:ln>
                          <a:solidFill>
                            <a:schemeClr val="tx1"/>
                          </a:solidFill>
                          <a:effectLst/>
                          <a:latin typeface="Verdana" pitchFamily="34" charset="0"/>
                        </a:rPr>
                        <a:t>13.592</a:t>
                      </a:r>
                    </a:p>
                  </a:txBody>
                  <a:tcPr marT="45714" marB="45714" horzOverflow="overflow">
                    <a:lnL w="38100" cap="flat" cmpd="sng" algn="ctr">
                      <a:solidFill>
                        <a:srgbClr val="008000"/>
                      </a:solidFill>
                      <a:prstDash val="solid"/>
                      <a:round/>
                      <a:headEnd type="none" w="med" len="med"/>
                      <a:tailEnd type="none" w="med" len="med"/>
                    </a:lnL>
                    <a:lnR w="38100" cap="flat" cmpd="sng" algn="ctr">
                      <a:solidFill>
                        <a:srgbClr val="008000"/>
                      </a:solidFill>
                      <a:prstDash val="solid"/>
                      <a:round/>
                      <a:headEnd type="none" w="med" len="med"/>
                      <a:tailEnd type="none" w="med" len="med"/>
                    </a:lnR>
                    <a:lnT w="38100" cap="flat" cmpd="sng" algn="ctr">
                      <a:solidFill>
                        <a:srgbClr val="008000"/>
                      </a:solidFill>
                      <a:prstDash val="solid"/>
                      <a:round/>
                      <a:headEnd type="none" w="med" len="med"/>
                      <a:tailEnd type="none" w="med" len="med"/>
                    </a:lnT>
                    <a:lnB w="38100" cap="flat" cmpd="sng" algn="ctr">
                      <a:solidFill>
                        <a:srgbClr val="008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4"/>
                  </a:ext>
                </a:extLst>
              </a:tr>
            </a:tbl>
          </a:graphicData>
        </a:graphic>
      </p:graphicFrame>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2981"/>
                                        </p:tgtEl>
                                        <p:attrNameLst>
                                          <p:attrName>style.visibility</p:attrName>
                                        </p:attrNameLst>
                                      </p:cBhvr>
                                      <p:to>
                                        <p:strVal val="visible"/>
                                      </p:to>
                                    </p:set>
                                    <p:animEffect transition="in" filter="box(in)">
                                      <p:cBhvr>
                                        <p:cTn id="7" dur="1000"/>
                                        <p:tgtEl>
                                          <p:spTgt spid="3829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3052"/>
                                        </p:tgtEl>
                                        <p:attrNameLst>
                                          <p:attrName>style.visibility</p:attrName>
                                        </p:attrNameLst>
                                      </p:cBhvr>
                                      <p:to>
                                        <p:strVal val="visible"/>
                                      </p:to>
                                    </p:set>
                                    <p:animEffect transition="in" filter="box(in)">
                                      <p:cBhvr>
                                        <p:cTn id="12" dur="1000"/>
                                        <p:tgtEl>
                                          <p:spTgt spid="383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CCF85D4-F828-B62B-A5E0-84D58E3A20F9}"/>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17411" name="Rectangle 4">
            <a:extLst>
              <a:ext uri="{FF2B5EF4-FFF2-40B4-BE49-F238E27FC236}">
                <a16:creationId xmlns:a16="http://schemas.microsoft.com/office/drawing/2014/main" id="{EEFECEEA-630C-04FB-BFF4-340587F756B8}"/>
              </a:ext>
            </a:extLst>
          </p:cNvPr>
          <p:cNvSpPr>
            <a:spLocks noChangeArrowheads="1"/>
          </p:cNvSpPr>
          <p:nvPr/>
        </p:nvSpPr>
        <p:spPr bwMode="auto">
          <a:xfrm>
            <a:off x="123825" y="777875"/>
            <a:ext cx="447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Câu lệnh (statement)</a:t>
            </a:r>
          </a:p>
        </p:txBody>
      </p:sp>
      <p:sp>
        <p:nvSpPr>
          <p:cNvPr id="357381" name="Rectangle 5">
            <a:extLst>
              <a:ext uri="{FF2B5EF4-FFF2-40B4-BE49-F238E27FC236}">
                <a16:creationId xmlns:a16="http://schemas.microsoft.com/office/drawing/2014/main" id="{7F590353-D0BF-CBFD-B8BA-71E26EB541BA}"/>
              </a:ext>
            </a:extLst>
          </p:cNvPr>
          <p:cNvSpPr>
            <a:spLocks noChangeArrowheads="1"/>
          </p:cNvSpPr>
          <p:nvPr/>
        </p:nvSpPr>
        <p:spPr bwMode="auto">
          <a:xfrm>
            <a:off x="422275" y="1269774"/>
            <a:ext cx="83439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indent="-342900" algn="just">
              <a:buFont typeface="Wingdings" panose="05000000000000000000" pitchFamily="2" charset="2"/>
              <a:buChar char="ü"/>
            </a:pPr>
            <a:r>
              <a:rPr lang="en-US" altLang="en-US" b="0"/>
              <a:t>Trong C# một chỉ dẫn lập trình đầy đủ được gọi là câu lệnh. </a:t>
            </a:r>
          </a:p>
          <a:p>
            <a:pPr marL="342900" indent="-342900" algn="just">
              <a:buFont typeface="Wingdings" panose="05000000000000000000" pitchFamily="2" charset="2"/>
              <a:buChar char="ü"/>
            </a:pPr>
            <a:r>
              <a:rPr lang="en-US" altLang="en-US" b="0"/>
              <a:t>Chương trình bao gồm nhiều câu lệnh tuần tự với nhau. </a:t>
            </a:r>
          </a:p>
          <a:p>
            <a:pPr marL="342900" indent="-342900" algn="just">
              <a:buFont typeface="Wingdings" panose="05000000000000000000" pitchFamily="2" charset="2"/>
              <a:buChar char="ü"/>
            </a:pPr>
            <a:r>
              <a:rPr lang="en-US" altLang="en-US" b="0"/>
              <a:t>Mỗi câu lệnh phải kết thúc với một dấu chấm phẩy</a:t>
            </a:r>
          </a:p>
          <a:p>
            <a:pPr marL="342900" indent="-342900" algn="just">
              <a:buFont typeface="Wingdings" panose="05000000000000000000" pitchFamily="2" charset="2"/>
              <a:buChar char="ü"/>
            </a:pPr>
            <a:r>
              <a:rPr lang="en-US" altLang="en-US" b="0"/>
              <a:t>Ví dụ:</a:t>
            </a:r>
          </a:p>
        </p:txBody>
      </p:sp>
      <p:pic>
        <p:nvPicPr>
          <p:cNvPr id="357382" name="Picture 6">
            <a:extLst>
              <a:ext uri="{FF2B5EF4-FFF2-40B4-BE49-F238E27FC236}">
                <a16:creationId xmlns:a16="http://schemas.microsoft.com/office/drawing/2014/main" id="{7DE72ABD-5F0D-AE58-F017-756CA6C23F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733800"/>
            <a:ext cx="3810000" cy="16002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7381"/>
                                        </p:tgtEl>
                                        <p:attrNameLst>
                                          <p:attrName>style.visibility</p:attrName>
                                        </p:attrNameLst>
                                      </p:cBhvr>
                                      <p:to>
                                        <p:strVal val="visible"/>
                                      </p:to>
                                    </p:set>
                                    <p:animEffect transition="in" filter="box(in)">
                                      <p:cBhvr>
                                        <p:cTn id="7" dur="1000"/>
                                        <p:tgtEl>
                                          <p:spTgt spid="3573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7382"/>
                                        </p:tgtEl>
                                        <p:attrNameLst>
                                          <p:attrName>style.visibility</p:attrName>
                                        </p:attrNameLst>
                                      </p:cBhvr>
                                      <p:to>
                                        <p:strVal val="visible"/>
                                      </p:to>
                                    </p:set>
                                    <p:animEffect transition="in" filter="box(in)">
                                      <p:cBhvr>
                                        <p:cTn id="12" dur="1000"/>
                                        <p:tgtEl>
                                          <p:spTgt spid="357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5502490-EBF4-48DC-051F-1C334D429DEC}"/>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58404" name="Rectangle 4">
            <a:extLst>
              <a:ext uri="{FF2B5EF4-FFF2-40B4-BE49-F238E27FC236}">
                <a16:creationId xmlns:a16="http://schemas.microsoft.com/office/drawing/2014/main" id="{199BCFA9-C571-19E3-7758-70A74DA61DC5}"/>
              </a:ext>
            </a:extLst>
          </p:cNvPr>
          <p:cNvSpPr>
            <a:spLocks noChangeArrowheads="1"/>
          </p:cNvSpPr>
          <p:nvPr/>
        </p:nvSpPr>
        <p:spPr bwMode="auto">
          <a:xfrm>
            <a:off x="228600" y="914400"/>
            <a:ext cx="8763000" cy="226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lnSpc>
                <a:spcPct val="120000"/>
              </a:lnSpc>
            </a:pPr>
            <a:r>
              <a:rPr lang="en-US" altLang="en-US" b="0">
                <a:solidFill>
                  <a:schemeClr val="accent2"/>
                </a:solidFill>
              </a:rPr>
              <a:t>Câu lệnh phân nhánh:</a:t>
            </a:r>
          </a:p>
          <a:p>
            <a:pPr marL="800100" lvl="1" indent="-342900" algn="just">
              <a:lnSpc>
                <a:spcPct val="120000"/>
              </a:lnSpc>
              <a:buFont typeface="Courier New" panose="02070309020205020404" pitchFamily="49" charset="0"/>
              <a:buChar char="o"/>
            </a:pPr>
            <a:r>
              <a:rPr lang="en-US" altLang="en-US" b="0">
                <a:solidFill>
                  <a:srgbClr val="003300"/>
                </a:solidFill>
              </a:rPr>
              <a:t>Phân nhánh không có điều kiện (unconditional branching statement)</a:t>
            </a:r>
          </a:p>
          <a:p>
            <a:pPr marL="800100" lvl="1" indent="-342900" algn="just">
              <a:lnSpc>
                <a:spcPct val="120000"/>
              </a:lnSpc>
              <a:buFont typeface="Courier New" panose="02070309020205020404" pitchFamily="49" charset="0"/>
              <a:buChar char="o"/>
            </a:pPr>
            <a:r>
              <a:rPr lang="en-US" altLang="en-US" b="0">
                <a:solidFill>
                  <a:srgbClr val="003300"/>
                </a:solidFill>
              </a:rPr>
              <a:t>Phân nhánh có điều kiện (conditional branching statement).</a:t>
            </a:r>
          </a:p>
        </p:txBody>
      </p:sp>
      <p:sp>
        <p:nvSpPr>
          <p:cNvPr id="358405" name="Rectangle 5">
            <a:extLst>
              <a:ext uri="{FF2B5EF4-FFF2-40B4-BE49-F238E27FC236}">
                <a16:creationId xmlns:a16="http://schemas.microsoft.com/office/drawing/2014/main" id="{0DBFBD0A-7B34-02B1-97B3-C8DDDD74ED7F}"/>
              </a:ext>
            </a:extLst>
          </p:cNvPr>
          <p:cNvSpPr>
            <a:spLocks noChangeArrowheads="1"/>
          </p:cNvSpPr>
          <p:nvPr/>
        </p:nvSpPr>
        <p:spPr bwMode="auto">
          <a:xfrm>
            <a:off x="166007" y="3175725"/>
            <a:ext cx="8888186" cy="226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lnSpc>
                <a:spcPct val="120000"/>
              </a:lnSpc>
            </a:pPr>
            <a:r>
              <a:rPr lang="en-US" altLang="en-US" b="0">
                <a:solidFill>
                  <a:schemeClr val="accent2"/>
                </a:solidFill>
              </a:rPr>
              <a:t>Câu lệnh lặp: </a:t>
            </a:r>
          </a:p>
          <a:p>
            <a:pPr marL="2628900" lvl="5" indent="-342900" algn="just">
              <a:lnSpc>
                <a:spcPct val="120000"/>
              </a:lnSpc>
              <a:buFont typeface="Courier New" panose="02070309020205020404" pitchFamily="49" charset="0"/>
              <a:buChar char="o"/>
            </a:pPr>
            <a:r>
              <a:rPr lang="en-US" altLang="en-US" b="0"/>
              <a:t>for</a:t>
            </a:r>
          </a:p>
          <a:p>
            <a:pPr marL="2628900" lvl="5" indent="-342900" algn="just">
              <a:lnSpc>
                <a:spcPct val="120000"/>
              </a:lnSpc>
              <a:buFont typeface="Courier New" panose="02070309020205020404" pitchFamily="49" charset="0"/>
              <a:buChar char="o"/>
            </a:pPr>
            <a:r>
              <a:rPr lang="en-US" altLang="en-US" b="0"/>
              <a:t>while</a:t>
            </a:r>
          </a:p>
          <a:p>
            <a:pPr marL="2628900" lvl="5" indent="-342900" algn="just">
              <a:lnSpc>
                <a:spcPct val="120000"/>
              </a:lnSpc>
              <a:buFont typeface="Courier New" panose="02070309020205020404" pitchFamily="49" charset="0"/>
              <a:buChar char="o"/>
            </a:pPr>
            <a:r>
              <a:rPr lang="en-US" altLang="en-US" b="0"/>
              <a:t>do... while</a:t>
            </a:r>
          </a:p>
          <a:p>
            <a:pPr marL="2628900" lvl="5" indent="-342900" algn="just">
              <a:lnSpc>
                <a:spcPct val="120000"/>
              </a:lnSpc>
              <a:buFont typeface="Courier New" panose="02070309020205020404" pitchFamily="49" charset="0"/>
              <a:buChar char="o"/>
            </a:pPr>
            <a:r>
              <a:rPr lang="en-US" altLang="en-US" b="0"/>
              <a:t>foreach</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04"/>
                                        </p:tgtEl>
                                        <p:attrNameLst>
                                          <p:attrName>style.visibility</p:attrName>
                                        </p:attrNameLst>
                                      </p:cBhvr>
                                      <p:to>
                                        <p:strVal val="visible"/>
                                      </p:to>
                                    </p:set>
                                    <p:animEffect transition="in" filter="box(in)">
                                      <p:cBhvr>
                                        <p:cTn id="7" dur="1000"/>
                                        <p:tgtEl>
                                          <p:spTgt spid="3584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8405"/>
                                        </p:tgtEl>
                                        <p:attrNameLst>
                                          <p:attrName>style.visibility</p:attrName>
                                        </p:attrNameLst>
                                      </p:cBhvr>
                                      <p:to>
                                        <p:strVal val="visible"/>
                                      </p:to>
                                    </p:set>
                                    <p:animEffect transition="in" filter="box(in)">
                                      <p:cBhvr>
                                        <p:cTn id="12" dur="1000"/>
                                        <p:tgtEl>
                                          <p:spTgt spid="358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4" grpId="0"/>
      <p:bldP spid="35840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B75A086-C9F0-0E0E-6D4E-17236892629E}"/>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19459" name="Rectangle 4">
            <a:extLst>
              <a:ext uri="{FF2B5EF4-FFF2-40B4-BE49-F238E27FC236}">
                <a16:creationId xmlns:a16="http://schemas.microsoft.com/office/drawing/2014/main" id="{196196E6-9F96-CBAC-364A-50B0525C8F3D}"/>
              </a:ext>
            </a:extLst>
          </p:cNvPr>
          <p:cNvSpPr>
            <a:spLocks noChangeArrowheads="1"/>
          </p:cNvSpPr>
          <p:nvPr/>
        </p:nvSpPr>
        <p:spPr bwMode="auto">
          <a:xfrm>
            <a:off x="157163" y="820738"/>
            <a:ext cx="64627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Phân nhánh không có điều kiện</a:t>
            </a:r>
          </a:p>
        </p:txBody>
      </p:sp>
      <p:sp>
        <p:nvSpPr>
          <p:cNvPr id="359429" name="Rectangle 5">
            <a:extLst>
              <a:ext uri="{FF2B5EF4-FFF2-40B4-BE49-F238E27FC236}">
                <a16:creationId xmlns:a16="http://schemas.microsoft.com/office/drawing/2014/main" id="{86EE9B67-AC0A-2A51-46FC-2D366E9FD6C1}"/>
              </a:ext>
            </a:extLst>
          </p:cNvPr>
          <p:cNvSpPr>
            <a:spLocks noChangeArrowheads="1"/>
          </p:cNvSpPr>
          <p:nvPr/>
        </p:nvSpPr>
        <p:spPr bwMode="auto">
          <a:xfrm>
            <a:off x="192881" y="1454764"/>
            <a:ext cx="87582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0">
                <a:solidFill>
                  <a:srgbClr val="000066"/>
                </a:solidFill>
              </a:rPr>
              <a:t>Phân nhánh không có điều kiện có thể tạo ra bằng hai cách: gọi một hàm và dùng từ khoá phân nhánh không điều kiện.</a:t>
            </a:r>
          </a:p>
        </p:txBody>
      </p:sp>
      <p:sp>
        <p:nvSpPr>
          <p:cNvPr id="359430" name="Rectangle 6">
            <a:extLst>
              <a:ext uri="{FF2B5EF4-FFF2-40B4-BE49-F238E27FC236}">
                <a16:creationId xmlns:a16="http://schemas.microsoft.com/office/drawing/2014/main" id="{618FC2A9-E97A-1C9E-A7DC-18F2A6C8C4F8}"/>
              </a:ext>
            </a:extLst>
          </p:cNvPr>
          <p:cNvSpPr>
            <a:spLocks noChangeArrowheads="1"/>
          </p:cNvSpPr>
          <p:nvPr/>
        </p:nvSpPr>
        <p:spPr bwMode="auto">
          <a:xfrm>
            <a:off x="192881" y="2796814"/>
            <a:ext cx="1593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i="1">
                <a:solidFill>
                  <a:srgbClr val="990000"/>
                </a:solidFill>
              </a:rPr>
              <a:t>Gọi hàm</a:t>
            </a:r>
          </a:p>
        </p:txBody>
      </p:sp>
      <p:sp>
        <p:nvSpPr>
          <p:cNvPr id="359431" name="Rectangle 7">
            <a:extLst>
              <a:ext uri="{FF2B5EF4-FFF2-40B4-BE49-F238E27FC236}">
                <a16:creationId xmlns:a16="http://schemas.microsoft.com/office/drawing/2014/main" id="{4CD1F702-A4AA-BDE8-3BC9-0D972344EDB4}"/>
              </a:ext>
            </a:extLst>
          </p:cNvPr>
          <p:cNvSpPr>
            <a:spLocks noChangeArrowheads="1"/>
          </p:cNvSpPr>
          <p:nvPr/>
        </p:nvSpPr>
        <p:spPr bwMode="auto">
          <a:xfrm>
            <a:off x="157163" y="3254014"/>
            <a:ext cx="8758236" cy="3341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indent="-342900" algn="just">
              <a:lnSpc>
                <a:spcPct val="150000"/>
              </a:lnSpc>
              <a:buFont typeface="Wingdings" panose="05000000000000000000" pitchFamily="2" charset="2"/>
              <a:buChar char="ü"/>
            </a:pPr>
            <a:r>
              <a:rPr lang="en-US" altLang="en-US" b="0"/>
              <a:t>Khi trình biên dịch xử lý đến tên của một hàm, thì sẽ ngưng thực hiện hàm hiện thời mà bắt đầu phân nhánh để tạo một gọi hàm mới. </a:t>
            </a:r>
          </a:p>
          <a:p>
            <a:pPr marL="342900" indent="-342900" algn="just">
              <a:lnSpc>
                <a:spcPct val="150000"/>
              </a:lnSpc>
              <a:buFont typeface="Wingdings" panose="05000000000000000000" pitchFamily="2" charset="2"/>
              <a:buChar char="ü"/>
            </a:pPr>
            <a:r>
              <a:rPr lang="en-US" altLang="en-US" b="0"/>
              <a:t>Sau khi hàm vừa tạo thực hiện xong và trả về một giá trị thì trình biên dịch sẽ tiếp tục thực hiện dòng lệnh tiếp sau của hàm ban đầu.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9429"/>
                                        </p:tgtEl>
                                        <p:attrNameLst>
                                          <p:attrName>style.visibility</p:attrName>
                                        </p:attrNameLst>
                                      </p:cBhvr>
                                      <p:to>
                                        <p:strVal val="visible"/>
                                      </p:to>
                                    </p:set>
                                    <p:animEffect transition="in" filter="box(in)">
                                      <p:cBhvr>
                                        <p:cTn id="7" dur="1000"/>
                                        <p:tgtEl>
                                          <p:spTgt spid="3594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9430"/>
                                        </p:tgtEl>
                                        <p:attrNameLst>
                                          <p:attrName>style.visibility</p:attrName>
                                        </p:attrNameLst>
                                      </p:cBhvr>
                                      <p:to>
                                        <p:strVal val="visible"/>
                                      </p:to>
                                    </p:set>
                                    <p:animEffect transition="in" filter="box(in)">
                                      <p:cBhvr>
                                        <p:cTn id="12" dur="1000"/>
                                        <p:tgtEl>
                                          <p:spTgt spid="3594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9431"/>
                                        </p:tgtEl>
                                        <p:attrNameLst>
                                          <p:attrName>style.visibility</p:attrName>
                                        </p:attrNameLst>
                                      </p:cBhvr>
                                      <p:to>
                                        <p:strVal val="visible"/>
                                      </p:to>
                                    </p:set>
                                    <p:animEffect transition="in" filter="box(in)">
                                      <p:cBhvr>
                                        <p:cTn id="17" dur="1000"/>
                                        <p:tgtEl>
                                          <p:spTgt spid="359431"/>
                                        </p:tgtEl>
                                      </p:cBhvr>
                                    </p:animEffect>
                                  </p:childTnLst>
                                  <p:subTnLst>
                                    <p:set>
                                      <p:cBhvr override="childStyle">
                                        <p:cTn dur="1" fill="hold" display="0" masterRel="nextClick" afterEffect="1"/>
                                        <p:tgtEl>
                                          <p:spTgt spid="35943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9" grpId="0"/>
      <p:bldP spid="359430" grpId="0"/>
      <p:bldP spid="35943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FB3CCEB-1977-0C0D-C70C-12DB70220C51}"/>
              </a:ext>
            </a:extLst>
          </p:cNvPr>
          <p:cNvSpPr>
            <a:spLocks noGrp="1" noChangeArrowheads="1"/>
          </p:cNvSpPr>
          <p:nvPr>
            <p:ph type="title"/>
          </p:nvPr>
        </p:nvSpPr>
        <p:spPr/>
        <p:txBody>
          <a:bodyPr/>
          <a:lstStyle/>
          <a:p>
            <a:pPr eaLnBrk="1" hangingPunct="1"/>
            <a:r>
              <a:rPr lang="en-US" altLang="en-US" sz="3200" b="1"/>
              <a:t>3. Cấu trúc điều khiển trong C#</a:t>
            </a:r>
          </a:p>
        </p:txBody>
      </p:sp>
      <p:pic>
        <p:nvPicPr>
          <p:cNvPr id="360452" name="Picture 4">
            <a:extLst>
              <a:ext uri="{FF2B5EF4-FFF2-40B4-BE49-F238E27FC236}">
                <a16:creationId xmlns:a16="http://schemas.microsoft.com/office/drawing/2014/main" id="{CC393357-B586-0128-E85C-450D2C68E0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90600"/>
            <a:ext cx="8077200" cy="53340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0452"/>
                                        </p:tgtEl>
                                        <p:attrNameLst>
                                          <p:attrName>style.visibility</p:attrName>
                                        </p:attrNameLst>
                                      </p:cBhvr>
                                      <p:to>
                                        <p:strVal val="visible"/>
                                      </p:to>
                                    </p:set>
                                    <p:animEffect transition="in" filter="box(in)">
                                      <p:cBhvr>
                                        <p:cTn id="7" dur="1000"/>
                                        <p:tgtEl>
                                          <p:spTgt spid="360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3DB28C6-5833-B9E5-9970-58F74608D558}"/>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21507" name="Rectangle 4">
            <a:extLst>
              <a:ext uri="{FF2B5EF4-FFF2-40B4-BE49-F238E27FC236}">
                <a16:creationId xmlns:a16="http://schemas.microsoft.com/office/drawing/2014/main" id="{AB555CF9-2325-1DB4-B319-4B1022B9C980}"/>
              </a:ext>
            </a:extLst>
          </p:cNvPr>
          <p:cNvSpPr>
            <a:spLocks noChangeArrowheads="1"/>
          </p:cNvSpPr>
          <p:nvPr/>
        </p:nvSpPr>
        <p:spPr bwMode="auto">
          <a:xfrm>
            <a:off x="190500" y="825500"/>
            <a:ext cx="782161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Câu lệnh Phân nhánh không điều kiện</a:t>
            </a:r>
          </a:p>
        </p:txBody>
      </p:sp>
      <p:sp>
        <p:nvSpPr>
          <p:cNvPr id="361477" name="Rectangle 5">
            <a:extLst>
              <a:ext uri="{FF2B5EF4-FFF2-40B4-BE49-F238E27FC236}">
                <a16:creationId xmlns:a16="http://schemas.microsoft.com/office/drawing/2014/main" id="{1E9025AA-C281-62EA-C46F-F76A7C6A48A6}"/>
              </a:ext>
            </a:extLst>
          </p:cNvPr>
          <p:cNvSpPr>
            <a:spLocks noChangeArrowheads="1"/>
          </p:cNvSpPr>
          <p:nvPr/>
        </p:nvSpPr>
        <p:spPr bwMode="auto">
          <a:xfrm>
            <a:off x="534081" y="1437341"/>
            <a:ext cx="853848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l"/>
            <a:r>
              <a:rPr lang="en-US" altLang="en-US" b="0">
                <a:solidFill>
                  <a:srgbClr val="000066"/>
                </a:solidFill>
              </a:rPr>
              <a:t>gồm các từ khóa</a:t>
            </a:r>
            <a:r>
              <a:rPr lang="en-US" altLang="en-US" b="0"/>
              <a:t>: goto, break, continue, return, statementthrow.</a:t>
            </a:r>
          </a:p>
        </p:txBody>
      </p:sp>
      <p:sp>
        <p:nvSpPr>
          <p:cNvPr id="361478" name="Rectangle 6">
            <a:extLst>
              <a:ext uri="{FF2B5EF4-FFF2-40B4-BE49-F238E27FC236}">
                <a16:creationId xmlns:a16="http://schemas.microsoft.com/office/drawing/2014/main" id="{2F39B0FD-4C3A-56DF-03A0-B65854F4274F}"/>
              </a:ext>
            </a:extLst>
          </p:cNvPr>
          <p:cNvSpPr>
            <a:spLocks noChangeArrowheads="1"/>
          </p:cNvSpPr>
          <p:nvPr/>
        </p:nvSpPr>
        <p:spPr bwMode="auto">
          <a:xfrm>
            <a:off x="228600" y="2314575"/>
            <a:ext cx="348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i="1">
                <a:solidFill>
                  <a:srgbClr val="000066"/>
                </a:solidFill>
              </a:rPr>
              <a:t>Câu lệnh nhảy goto</a:t>
            </a:r>
          </a:p>
        </p:txBody>
      </p:sp>
      <p:sp>
        <p:nvSpPr>
          <p:cNvPr id="361479" name="Rectangle 7">
            <a:extLst>
              <a:ext uri="{FF2B5EF4-FFF2-40B4-BE49-F238E27FC236}">
                <a16:creationId xmlns:a16="http://schemas.microsoft.com/office/drawing/2014/main" id="{D2D55500-0087-380E-9421-E18CD9F72B41}"/>
              </a:ext>
            </a:extLst>
          </p:cNvPr>
          <p:cNvSpPr>
            <a:spLocks noChangeArrowheads="1"/>
          </p:cNvSpPr>
          <p:nvPr/>
        </p:nvSpPr>
        <p:spPr bwMode="auto">
          <a:xfrm>
            <a:off x="501424" y="2709683"/>
            <a:ext cx="810917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0"/>
              <a:t>Cho phép chương trình nhảy vô điều kiện tới một vị trí trong chương trình thông qua tên nhãn.</a:t>
            </a:r>
          </a:p>
        </p:txBody>
      </p:sp>
      <p:sp>
        <p:nvSpPr>
          <p:cNvPr id="361480" name="Text Box 8">
            <a:extLst>
              <a:ext uri="{FF2B5EF4-FFF2-40B4-BE49-F238E27FC236}">
                <a16:creationId xmlns:a16="http://schemas.microsoft.com/office/drawing/2014/main" id="{AC9AEF4F-E173-D205-2268-B17F00756DAC}"/>
              </a:ext>
            </a:extLst>
          </p:cNvPr>
          <p:cNvSpPr txBox="1">
            <a:spLocks noChangeArrowheads="1"/>
          </p:cNvSpPr>
          <p:nvPr/>
        </p:nvSpPr>
        <p:spPr bwMode="auto">
          <a:xfrm>
            <a:off x="228600" y="3650695"/>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b="1">
                <a:solidFill>
                  <a:srgbClr val="660033"/>
                </a:solidFill>
              </a:rPr>
              <a:t>Cú pháp:</a:t>
            </a:r>
          </a:p>
        </p:txBody>
      </p:sp>
      <p:sp>
        <p:nvSpPr>
          <p:cNvPr id="361481" name="Text Box 9">
            <a:extLst>
              <a:ext uri="{FF2B5EF4-FFF2-40B4-BE49-F238E27FC236}">
                <a16:creationId xmlns:a16="http://schemas.microsoft.com/office/drawing/2014/main" id="{F6544A98-58A3-8F88-1FED-0924D2C9018D}"/>
              </a:ext>
            </a:extLst>
          </p:cNvPr>
          <p:cNvSpPr txBox="1">
            <a:spLocks noChangeArrowheads="1"/>
          </p:cNvSpPr>
          <p:nvPr/>
        </p:nvSpPr>
        <p:spPr bwMode="auto">
          <a:xfrm>
            <a:off x="609600" y="4107895"/>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buFontTx/>
              <a:buBlip>
                <a:blip r:embed="rId2"/>
              </a:buBlip>
            </a:pPr>
            <a:r>
              <a:rPr lang="en-US" altLang="en-US"/>
              <a:t> Tạo một nhãn</a:t>
            </a:r>
          </a:p>
        </p:txBody>
      </p:sp>
      <p:sp>
        <p:nvSpPr>
          <p:cNvPr id="361482" name="Text Box 10">
            <a:extLst>
              <a:ext uri="{FF2B5EF4-FFF2-40B4-BE49-F238E27FC236}">
                <a16:creationId xmlns:a16="http://schemas.microsoft.com/office/drawing/2014/main" id="{12C86258-6FA4-441A-C581-F91E88CF4718}"/>
              </a:ext>
            </a:extLst>
          </p:cNvPr>
          <p:cNvSpPr txBox="1">
            <a:spLocks noChangeArrowheads="1"/>
          </p:cNvSpPr>
          <p:nvPr/>
        </p:nvSpPr>
        <p:spPr bwMode="auto">
          <a:xfrm>
            <a:off x="656091" y="459566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buFontTx/>
              <a:buBlip>
                <a:blip r:embed="rId3"/>
              </a:buBlip>
            </a:pPr>
            <a:r>
              <a:rPr lang="en-US" altLang="en-US"/>
              <a:t> goto đến nhãn</a:t>
            </a:r>
          </a:p>
        </p:txBody>
      </p:sp>
      <p:pic>
        <p:nvPicPr>
          <p:cNvPr id="361483" name="Picture 11">
            <a:extLst>
              <a:ext uri="{FF2B5EF4-FFF2-40B4-BE49-F238E27FC236}">
                <a16:creationId xmlns:a16="http://schemas.microsoft.com/office/drawing/2014/main" id="{E03B5396-6ADB-DF24-6B14-39F794B435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2" y="3780518"/>
            <a:ext cx="5257800" cy="22860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1477"/>
                                        </p:tgtEl>
                                        <p:attrNameLst>
                                          <p:attrName>style.visibility</p:attrName>
                                        </p:attrNameLst>
                                      </p:cBhvr>
                                      <p:to>
                                        <p:strVal val="visible"/>
                                      </p:to>
                                    </p:set>
                                    <p:animEffect transition="in" filter="box(in)">
                                      <p:cBhvr>
                                        <p:cTn id="7" dur="1000"/>
                                        <p:tgtEl>
                                          <p:spTgt spid="3614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1478"/>
                                        </p:tgtEl>
                                        <p:attrNameLst>
                                          <p:attrName>style.visibility</p:attrName>
                                        </p:attrNameLst>
                                      </p:cBhvr>
                                      <p:to>
                                        <p:strVal val="visible"/>
                                      </p:to>
                                    </p:set>
                                    <p:animEffect transition="in" filter="box(in)">
                                      <p:cBhvr>
                                        <p:cTn id="12" dur="1000"/>
                                        <p:tgtEl>
                                          <p:spTgt spid="3614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1479"/>
                                        </p:tgtEl>
                                        <p:attrNameLst>
                                          <p:attrName>style.visibility</p:attrName>
                                        </p:attrNameLst>
                                      </p:cBhvr>
                                      <p:to>
                                        <p:strVal val="visible"/>
                                      </p:to>
                                    </p:set>
                                    <p:animEffect transition="in" filter="box(in)">
                                      <p:cBhvr>
                                        <p:cTn id="17" dur="1000"/>
                                        <p:tgtEl>
                                          <p:spTgt spid="3614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1480"/>
                                        </p:tgtEl>
                                        <p:attrNameLst>
                                          <p:attrName>style.visibility</p:attrName>
                                        </p:attrNameLst>
                                      </p:cBhvr>
                                      <p:to>
                                        <p:strVal val="visible"/>
                                      </p:to>
                                    </p:set>
                                    <p:animEffect transition="in" filter="box(in)">
                                      <p:cBhvr>
                                        <p:cTn id="22" dur="1000"/>
                                        <p:tgtEl>
                                          <p:spTgt spid="3614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61481"/>
                                        </p:tgtEl>
                                        <p:attrNameLst>
                                          <p:attrName>style.visibility</p:attrName>
                                        </p:attrNameLst>
                                      </p:cBhvr>
                                      <p:to>
                                        <p:strVal val="visible"/>
                                      </p:to>
                                    </p:set>
                                    <p:animEffect transition="in" filter="box(in)">
                                      <p:cBhvr>
                                        <p:cTn id="27" dur="1000"/>
                                        <p:tgtEl>
                                          <p:spTgt spid="3614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61482"/>
                                        </p:tgtEl>
                                        <p:attrNameLst>
                                          <p:attrName>style.visibility</p:attrName>
                                        </p:attrNameLst>
                                      </p:cBhvr>
                                      <p:to>
                                        <p:strVal val="visible"/>
                                      </p:to>
                                    </p:set>
                                    <p:animEffect transition="in" filter="box(in)">
                                      <p:cBhvr>
                                        <p:cTn id="32" dur="1000"/>
                                        <p:tgtEl>
                                          <p:spTgt spid="3614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61483"/>
                                        </p:tgtEl>
                                        <p:attrNameLst>
                                          <p:attrName>style.visibility</p:attrName>
                                        </p:attrNameLst>
                                      </p:cBhvr>
                                      <p:to>
                                        <p:strVal val="visible"/>
                                      </p:to>
                                    </p:set>
                                    <p:animEffect transition="in" filter="box(in)">
                                      <p:cBhvr>
                                        <p:cTn id="37" dur="1000"/>
                                        <p:tgtEl>
                                          <p:spTgt spid="361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7" grpId="0"/>
      <p:bldP spid="361478" grpId="0"/>
      <p:bldP spid="361479" grpId="0"/>
      <p:bldP spid="361480" grpId="0"/>
      <p:bldP spid="361481" grpId="0"/>
      <p:bldP spid="36148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221F38D-708B-959A-CEA2-B2877DDE4F52}"/>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22531" name="Rectangle 4">
            <a:extLst>
              <a:ext uri="{FF2B5EF4-FFF2-40B4-BE49-F238E27FC236}">
                <a16:creationId xmlns:a16="http://schemas.microsoft.com/office/drawing/2014/main" id="{7D10E0BB-9F85-6AFA-77BA-D8AA8E452822}"/>
              </a:ext>
            </a:extLst>
          </p:cNvPr>
          <p:cNvSpPr>
            <a:spLocks noChangeArrowheads="1"/>
          </p:cNvSpPr>
          <p:nvPr/>
        </p:nvSpPr>
        <p:spPr bwMode="auto">
          <a:xfrm>
            <a:off x="190500" y="825500"/>
            <a:ext cx="51006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Phân nhánh có điều kiện</a:t>
            </a:r>
          </a:p>
        </p:txBody>
      </p:sp>
      <p:sp>
        <p:nvSpPr>
          <p:cNvPr id="362503" name="Text Box 7">
            <a:extLst>
              <a:ext uri="{FF2B5EF4-FFF2-40B4-BE49-F238E27FC236}">
                <a16:creationId xmlns:a16="http://schemas.microsoft.com/office/drawing/2014/main" id="{47D03FE5-F7EB-0E93-0B43-9D27F96E38F6}"/>
              </a:ext>
            </a:extLst>
          </p:cNvPr>
          <p:cNvSpPr txBox="1">
            <a:spLocks noChangeArrowheads="1"/>
          </p:cNvSpPr>
          <p:nvPr/>
        </p:nvSpPr>
        <p:spPr bwMode="auto">
          <a:xfrm>
            <a:off x="190500" y="1484313"/>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b="1">
                <a:solidFill>
                  <a:srgbClr val="000066"/>
                </a:solidFill>
              </a:rPr>
              <a:t>If – Dạng 1</a:t>
            </a:r>
          </a:p>
        </p:txBody>
      </p:sp>
      <p:sp>
        <p:nvSpPr>
          <p:cNvPr id="362504" name="Rectangle 8">
            <a:extLst>
              <a:ext uri="{FF2B5EF4-FFF2-40B4-BE49-F238E27FC236}">
                <a16:creationId xmlns:a16="http://schemas.microsoft.com/office/drawing/2014/main" id="{0F90988D-74BC-C3E0-0CAA-FB04B19681D8}"/>
              </a:ext>
            </a:extLst>
          </p:cNvPr>
          <p:cNvSpPr>
            <a:spLocks noChangeArrowheads="1"/>
          </p:cNvSpPr>
          <p:nvPr/>
        </p:nvSpPr>
        <p:spPr bwMode="auto">
          <a:xfrm>
            <a:off x="533400" y="2081213"/>
            <a:ext cx="4114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990000"/>
                </a:solidFill>
              </a:rPr>
              <a:t>if</a:t>
            </a:r>
            <a:r>
              <a:rPr lang="en-US" altLang="en-US">
                <a:solidFill>
                  <a:srgbClr val="990000"/>
                </a:solidFill>
              </a:rPr>
              <a:t> (&lt;Điều kiện1&gt;)</a:t>
            </a:r>
          </a:p>
          <a:p>
            <a:r>
              <a:rPr lang="en-US" altLang="en-US">
                <a:solidFill>
                  <a:srgbClr val="990000"/>
                </a:solidFill>
              </a:rPr>
              <a:t>{</a:t>
            </a:r>
          </a:p>
          <a:p>
            <a:r>
              <a:rPr lang="en-US" altLang="en-US">
                <a:solidFill>
                  <a:srgbClr val="990000"/>
                </a:solidFill>
              </a:rPr>
              <a:t>	</a:t>
            </a:r>
            <a:r>
              <a:rPr lang="en-US" altLang="en-US">
                <a:solidFill>
                  <a:srgbClr val="003300"/>
                </a:solidFill>
              </a:rPr>
              <a:t>&lt;Khối lệnh 1&gt;</a:t>
            </a:r>
          </a:p>
          <a:p>
            <a:r>
              <a:rPr lang="en-US" altLang="en-US">
                <a:solidFill>
                  <a:srgbClr val="990000"/>
                </a:solidFill>
              </a:rPr>
              <a:t>}</a:t>
            </a:r>
          </a:p>
        </p:txBody>
      </p:sp>
      <p:pic>
        <p:nvPicPr>
          <p:cNvPr id="362506" name="Picture 10">
            <a:extLst>
              <a:ext uri="{FF2B5EF4-FFF2-40B4-BE49-F238E27FC236}">
                <a16:creationId xmlns:a16="http://schemas.microsoft.com/office/drawing/2014/main" id="{8FA68FEF-982C-1BCF-F1C8-8E7F6ABA46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1138" y="2009172"/>
            <a:ext cx="2971800" cy="2695575"/>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2503"/>
                                        </p:tgtEl>
                                        <p:attrNameLst>
                                          <p:attrName>style.visibility</p:attrName>
                                        </p:attrNameLst>
                                      </p:cBhvr>
                                      <p:to>
                                        <p:strVal val="visible"/>
                                      </p:to>
                                    </p:set>
                                    <p:animEffect transition="in" filter="box(in)">
                                      <p:cBhvr>
                                        <p:cTn id="7" dur="1000"/>
                                        <p:tgtEl>
                                          <p:spTgt spid="3625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2504"/>
                                        </p:tgtEl>
                                        <p:attrNameLst>
                                          <p:attrName>style.visibility</p:attrName>
                                        </p:attrNameLst>
                                      </p:cBhvr>
                                      <p:to>
                                        <p:strVal val="visible"/>
                                      </p:to>
                                    </p:set>
                                    <p:animEffect transition="in" filter="box(in)">
                                      <p:cBhvr>
                                        <p:cTn id="12" dur="1000"/>
                                        <p:tgtEl>
                                          <p:spTgt spid="3625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2506"/>
                                        </p:tgtEl>
                                        <p:attrNameLst>
                                          <p:attrName>style.visibility</p:attrName>
                                        </p:attrNameLst>
                                      </p:cBhvr>
                                      <p:to>
                                        <p:strVal val="visible"/>
                                      </p:to>
                                    </p:set>
                                    <p:animEffect transition="in" filter="box(in)">
                                      <p:cBhvr>
                                        <p:cTn id="17" dur="1000"/>
                                        <p:tgtEl>
                                          <p:spTgt spid="362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03" grpId="0"/>
      <p:bldP spid="36250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1B261AA-759A-3F76-DA17-98807F11C082}"/>
              </a:ext>
            </a:extLst>
          </p:cNvPr>
          <p:cNvSpPr>
            <a:spLocks noGrp="1" noChangeArrowheads="1"/>
          </p:cNvSpPr>
          <p:nvPr>
            <p:ph type="title"/>
          </p:nvPr>
        </p:nvSpPr>
        <p:spPr/>
        <p:txBody>
          <a:bodyPr/>
          <a:lstStyle/>
          <a:p>
            <a:pPr eaLnBrk="1" hangingPunct="1"/>
            <a:r>
              <a:rPr lang="en-US" altLang="en-US" sz="3200" b="1"/>
              <a:t>3. Cấu trúc điều khiển trong C#</a:t>
            </a:r>
          </a:p>
        </p:txBody>
      </p:sp>
      <p:grpSp>
        <p:nvGrpSpPr>
          <p:cNvPr id="363526" name="Group 6">
            <a:extLst>
              <a:ext uri="{FF2B5EF4-FFF2-40B4-BE49-F238E27FC236}">
                <a16:creationId xmlns:a16="http://schemas.microsoft.com/office/drawing/2014/main" id="{80D4AB52-7AD2-723D-722F-D090BD2F3F1E}"/>
              </a:ext>
            </a:extLst>
          </p:cNvPr>
          <p:cNvGrpSpPr>
            <a:grpSpLocks/>
          </p:cNvGrpSpPr>
          <p:nvPr/>
        </p:nvGrpSpPr>
        <p:grpSpPr bwMode="auto">
          <a:xfrm>
            <a:off x="381000" y="1600200"/>
            <a:ext cx="8458200" cy="4648200"/>
            <a:chOff x="240" y="624"/>
            <a:chExt cx="5328" cy="3312"/>
          </a:xfrm>
        </p:grpSpPr>
        <p:pic>
          <p:nvPicPr>
            <p:cNvPr id="23557" name="Picture 4">
              <a:extLst>
                <a:ext uri="{FF2B5EF4-FFF2-40B4-BE49-F238E27FC236}">
                  <a16:creationId xmlns:a16="http://schemas.microsoft.com/office/drawing/2014/main" id="{4DEE417E-AB7F-0D9B-AB9A-819A9333C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 y="624"/>
              <a:ext cx="5328" cy="3312"/>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23558" name="Picture 5">
              <a:extLst>
                <a:ext uri="{FF2B5EF4-FFF2-40B4-BE49-F238E27FC236}">
                  <a16:creationId xmlns:a16="http://schemas.microsoft.com/office/drawing/2014/main" id="{73FDEC45-2044-C2C0-D306-3B706DB4D4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2400"/>
              <a:ext cx="1728" cy="1104"/>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grpSp>
      <p:sp>
        <p:nvSpPr>
          <p:cNvPr id="363527" name="Text Box 7">
            <a:extLst>
              <a:ext uri="{FF2B5EF4-FFF2-40B4-BE49-F238E27FC236}">
                <a16:creationId xmlns:a16="http://schemas.microsoft.com/office/drawing/2014/main" id="{74A9F11E-B0F4-1B88-F22D-9EDA181F908E}"/>
              </a:ext>
            </a:extLst>
          </p:cNvPr>
          <p:cNvSpPr txBox="1">
            <a:spLocks noChangeArrowheads="1"/>
          </p:cNvSpPr>
          <p:nvPr/>
        </p:nvSpPr>
        <p:spPr bwMode="auto">
          <a:xfrm>
            <a:off x="38100" y="914400"/>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a:solidFill>
                  <a:srgbClr val="660033"/>
                </a:solidFill>
              </a:rPr>
              <a:t>VD: Xét điểm đỗ</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3527"/>
                                        </p:tgtEl>
                                        <p:attrNameLst>
                                          <p:attrName>style.visibility</p:attrName>
                                        </p:attrNameLst>
                                      </p:cBhvr>
                                      <p:to>
                                        <p:strVal val="visible"/>
                                      </p:to>
                                    </p:set>
                                    <p:animEffect transition="in" filter="box(in)">
                                      <p:cBhvr>
                                        <p:cTn id="7" dur="1000"/>
                                        <p:tgtEl>
                                          <p:spTgt spid="3635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3526"/>
                                        </p:tgtEl>
                                        <p:attrNameLst>
                                          <p:attrName>style.visibility</p:attrName>
                                        </p:attrNameLst>
                                      </p:cBhvr>
                                      <p:to>
                                        <p:strVal val="visible"/>
                                      </p:to>
                                    </p:set>
                                    <p:animEffect transition="in" filter="box(in)">
                                      <p:cBhvr>
                                        <p:cTn id="12" dur="1000"/>
                                        <p:tgtEl>
                                          <p:spTgt spid="363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FC2615A1-E00B-D045-746A-E7AD30473ECA}"/>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64548" name="Text Box 4">
            <a:extLst>
              <a:ext uri="{FF2B5EF4-FFF2-40B4-BE49-F238E27FC236}">
                <a16:creationId xmlns:a16="http://schemas.microsoft.com/office/drawing/2014/main" id="{B7E3B26C-D225-41FD-8827-1CA053E44B87}"/>
              </a:ext>
            </a:extLst>
          </p:cNvPr>
          <p:cNvSpPr txBox="1">
            <a:spLocks noChangeArrowheads="1"/>
          </p:cNvSpPr>
          <p:nvPr/>
        </p:nvSpPr>
        <p:spPr bwMode="auto">
          <a:xfrm>
            <a:off x="304800" y="9906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b="1">
                <a:solidFill>
                  <a:srgbClr val="000066"/>
                </a:solidFill>
              </a:rPr>
              <a:t>If – Dạng 2</a:t>
            </a:r>
          </a:p>
        </p:txBody>
      </p:sp>
      <p:sp>
        <p:nvSpPr>
          <p:cNvPr id="364549" name="Rectangle 5">
            <a:extLst>
              <a:ext uri="{FF2B5EF4-FFF2-40B4-BE49-F238E27FC236}">
                <a16:creationId xmlns:a16="http://schemas.microsoft.com/office/drawing/2014/main" id="{5C24E16C-AC13-6441-6432-483368D6AA11}"/>
              </a:ext>
            </a:extLst>
          </p:cNvPr>
          <p:cNvSpPr>
            <a:spLocks noChangeArrowheads="1"/>
          </p:cNvSpPr>
          <p:nvPr/>
        </p:nvSpPr>
        <p:spPr bwMode="auto">
          <a:xfrm>
            <a:off x="272143" y="1624013"/>
            <a:ext cx="43434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l"/>
            <a:r>
              <a:rPr lang="en-US" altLang="en-US" b="1">
                <a:solidFill>
                  <a:srgbClr val="990000"/>
                </a:solidFill>
              </a:rPr>
              <a:t>if</a:t>
            </a:r>
            <a:r>
              <a:rPr lang="en-US" altLang="en-US">
                <a:solidFill>
                  <a:srgbClr val="990000"/>
                </a:solidFill>
              </a:rPr>
              <a:t> (&lt;Điều kiện&gt;)</a:t>
            </a:r>
          </a:p>
          <a:p>
            <a:pPr algn="l"/>
            <a:r>
              <a:rPr lang="en-US" altLang="en-US">
                <a:solidFill>
                  <a:srgbClr val="990000"/>
                </a:solidFill>
              </a:rPr>
              <a:t>{</a:t>
            </a:r>
          </a:p>
          <a:p>
            <a:pPr algn="l"/>
            <a:r>
              <a:rPr lang="en-US" altLang="en-US">
                <a:solidFill>
                  <a:srgbClr val="990000"/>
                </a:solidFill>
              </a:rPr>
              <a:t>	</a:t>
            </a:r>
            <a:r>
              <a:rPr lang="en-US" altLang="en-US">
                <a:solidFill>
                  <a:srgbClr val="003300"/>
                </a:solidFill>
              </a:rPr>
              <a:t>&lt;Khối lệnh A&gt;</a:t>
            </a:r>
          </a:p>
          <a:p>
            <a:pPr algn="l"/>
            <a:r>
              <a:rPr lang="en-US" altLang="en-US">
                <a:solidFill>
                  <a:srgbClr val="990000"/>
                </a:solidFill>
              </a:rPr>
              <a:t>}</a:t>
            </a:r>
          </a:p>
          <a:p>
            <a:pPr algn="l"/>
            <a:r>
              <a:rPr lang="en-US" altLang="en-US" b="1">
                <a:solidFill>
                  <a:srgbClr val="990000"/>
                </a:solidFill>
              </a:rPr>
              <a:t>else</a:t>
            </a:r>
          </a:p>
          <a:p>
            <a:pPr algn="l"/>
            <a:r>
              <a:rPr lang="en-US" altLang="en-US">
                <a:solidFill>
                  <a:srgbClr val="990000"/>
                </a:solidFill>
              </a:rPr>
              <a:t>{</a:t>
            </a:r>
          </a:p>
          <a:p>
            <a:pPr algn="l"/>
            <a:r>
              <a:rPr lang="en-US" altLang="en-US">
                <a:solidFill>
                  <a:srgbClr val="990000"/>
                </a:solidFill>
              </a:rPr>
              <a:t>	</a:t>
            </a:r>
            <a:r>
              <a:rPr lang="en-US" altLang="en-US">
                <a:solidFill>
                  <a:srgbClr val="003300"/>
                </a:solidFill>
              </a:rPr>
              <a:t>&lt;Khối lệnh B&gt;</a:t>
            </a:r>
          </a:p>
          <a:p>
            <a:pPr algn="l"/>
            <a:r>
              <a:rPr lang="en-US" altLang="en-US">
                <a:solidFill>
                  <a:srgbClr val="990000"/>
                </a:solidFill>
              </a:rPr>
              <a:t>}</a:t>
            </a:r>
          </a:p>
        </p:txBody>
      </p:sp>
      <p:pic>
        <p:nvPicPr>
          <p:cNvPr id="364550" name="Picture 6">
            <a:extLst>
              <a:ext uri="{FF2B5EF4-FFF2-40B4-BE49-F238E27FC236}">
                <a16:creationId xmlns:a16="http://schemas.microsoft.com/office/drawing/2014/main" id="{B8CAB215-C9C2-3C45-53BC-A6D9DF148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600200"/>
            <a:ext cx="4800600" cy="44958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64551" name="Picture 7">
            <a:extLst>
              <a:ext uri="{FF2B5EF4-FFF2-40B4-BE49-F238E27FC236}">
                <a16:creationId xmlns:a16="http://schemas.microsoft.com/office/drawing/2014/main" id="{1FE90EAF-F1B1-8B4E-4DE9-E6B1883DAE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6725" y="1600200"/>
            <a:ext cx="4343400" cy="40386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64552" name="Text Box 8">
            <a:extLst>
              <a:ext uri="{FF2B5EF4-FFF2-40B4-BE49-F238E27FC236}">
                <a16:creationId xmlns:a16="http://schemas.microsoft.com/office/drawing/2014/main" id="{CA4F0774-3F26-C9F7-B28A-79FE47A41A5D}"/>
              </a:ext>
            </a:extLst>
          </p:cNvPr>
          <p:cNvSpPr txBox="1">
            <a:spLocks noChangeArrowheads="1"/>
          </p:cNvSpPr>
          <p:nvPr/>
        </p:nvSpPr>
        <p:spPr bwMode="auto">
          <a:xfrm>
            <a:off x="4038600" y="862013"/>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a:solidFill>
                  <a:srgbClr val="660033"/>
                </a:solidFill>
              </a:rPr>
              <a:t>Xét điểm đỗ - trượt</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4548"/>
                                        </p:tgtEl>
                                        <p:attrNameLst>
                                          <p:attrName>style.visibility</p:attrName>
                                        </p:attrNameLst>
                                      </p:cBhvr>
                                      <p:to>
                                        <p:strVal val="visible"/>
                                      </p:to>
                                    </p:set>
                                    <p:animEffect transition="in" filter="box(in)">
                                      <p:cBhvr>
                                        <p:cTn id="7" dur="1000"/>
                                        <p:tgtEl>
                                          <p:spTgt spid="3645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4549"/>
                                        </p:tgtEl>
                                        <p:attrNameLst>
                                          <p:attrName>style.visibility</p:attrName>
                                        </p:attrNameLst>
                                      </p:cBhvr>
                                      <p:to>
                                        <p:strVal val="visible"/>
                                      </p:to>
                                    </p:set>
                                    <p:animEffect transition="in" filter="box(in)">
                                      <p:cBhvr>
                                        <p:cTn id="12" dur="1000"/>
                                        <p:tgtEl>
                                          <p:spTgt spid="3645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4551"/>
                                        </p:tgtEl>
                                        <p:attrNameLst>
                                          <p:attrName>style.visibility</p:attrName>
                                        </p:attrNameLst>
                                      </p:cBhvr>
                                      <p:to>
                                        <p:strVal val="visible"/>
                                      </p:to>
                                    </p:set>
                                    <p:animEffect transition="in" filter="box(in)">
                                      <p:cBhvr>
                                        <p:cTn id="17" dur="1000"/>
                                        <p:tgtEl>
                                          <p:spTgt spid="364551"/>
                                        </p:tgtEl>
                                      </p:cBhvr>
                                    </p:animEffect>
                                  </p:childTnLst>
                                  <p:subTnLst>
                                    <p:set>
                                      <p:cBhvr override="childStyle">
                                        <p:cTn dur="1" fill="hold" display="0" masterRel="nextClick" afterEffect="1"/>
                                        <p:tgtEl>
                                          <p:spTgt spid="364551"/>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4552"/>
                                        </p:tgtEl>
                                        <p:attrNameLst>
                                          <p:attrName>style.visibility</p:attrName>
                                        </p:attrNameLst>
                                      </p:cBhvr>
                                      <p:to>
                                        <p:strVal val="visible"/>
                                      </p:to>
                                    </p:set>
                                    <p:animEffect transition="in" filter="box(in)">
                                      <p:cBhvr>
                                        <p:cTn id="22" dur="1000"/>
                                        <p:tgtEl>
                                          <p:spTgt spid="3645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64550"/>
                                        </p:tgtEl>
                                        <p:attrNameLst>
                                          <p:attrName>style.visibility</p:attrName>
                                        </p:attrNameLst>
                                      </p:cBhvr>
                                      <p:to>
                                        <p:strVal val="visible"/>
                                      </p:to>
                                    </p:set>
                                    <p:animEffect transition="in" filter="box(in)">
                                      <p:cBhvr>
                                        <p:cTn id="27" dur="1000"/>
                                        <p:tgtEl>
                                          <p:spTgt spid="364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8" grpId="0"/>
      <p:bldP spid="364549" grpId="0"/>
      <p:bldP spid="36455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01B1816-0E8E-1A8D-365D-20D6FC83C6B1}"/>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65572" name="Text Box 4">
            <a:extLst>
              <a:ext uri="{FF2B5EF4-FFF2-40B4-BE49-F238E27FC236}">
                <a16:creationId xmlns:a16="http://schemas.microsoft.com/office/drawing/2014/main" id="{93ADFD7A-D90A-7252-33B2-E1EA68EC3383}"/>
              </a:ext>
            </a:extLst>
          </p:cNvPr>
          <p:cNvSpPr txBox="1">
            <a:spLocks noChangeArrowheads="1"/>
          </p:cNvSpPr>
          <p:nvPr/>
        </p:nvSpPr>
        <p:spPr bwMode="auto">
          <a:xfrm>
            <a:off x="261938" y="8763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b="1">
                <a:solidFill>
                  <a:srgbClr val="000066"/>
                </a:solidFill>
              </a:rPr>
              <a:t>If – Dạng 3</a:t>
            </a:r>
          </a:p>
        </p:txBody>
      </p:sp>
      <p:sp>
        <p:nvSpPr>
          <p:cNvPr id="365573" name="Rectangle 5">
            <a:extLst>
              <a:ext uri="{FF2B5EF4-FFF2-40B4-BE49-F238E27FC236}">
                <a16:creationId xmlns:a16="http://schemas.microsoft.com/office/drawing/2014/main" id="{9A961921-1DDF-D0D1-D747-79BFC24E5C63}"/>
              </a:ext>
            </a:extLst>
          </p:cNvPr>
          <p:cNvSpPr>
            <a:spLocks noChangeArrowheads="1"/>
          </p:cNvSpPr>
          <p:nvPr/>
        </p:nvSpPr>
        <p:spPr bwMode="auto">
          <a:xfrm>
            <a:off x="0" y="1676400"/>
            <a:ext cx="46482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1">
                <a:solidFill>
                  <a:srgbClr val="990000"/>
                </a:solidFill>
              </a:rPr>
              <a:t>if</a:t>
            </a:r>
            <a:r>
              <a:rPr lang="en-US" altLang="en-US">
                <a:solidFill>
                  <a:srgbClr val="990000"/>
                </a:solidFill>
              </a:rPr>
              <a:t> (&lt;Điều kiện 1&gt;)</a:t>
            </a:r>
          </a:p>
          <a:p>
            <a:pPr algn="just"/>
            <a:r>
              <a:rPr lang="en-US" altLang="en-US">
                <a:solidFill>
                  <a:srgbClr val="990000"/>
                </a:solidFill>
              </a:rPr>
              <a:t>{</a:t>
            </a:r>
          </a:p>
          <a:p>
            <a:pPr algn="just"/>
            <a:r>
              <a:rPr lang="en-US" altLang="en-US">
                <a:solidFill>
                  <a:srgbClr val="990000"/>
                </a:solidFill>
              </a:rPr>
              <a:t>	</a:t>
            </a:r>
            <a:r>
              <a:rPr lang="en-US" altLang="en-US">
                <a:solidFill>
                  <a:srgbClr val="003300"/>
                </a:solidFill>
              </a:rPr>
              <a:t>&lt;Khối lệnh 1&gt;</a:t>
            </a:r>
          </a:p>
          <a:p>
            <a:pPr algn="just"/>
            <a:r>
              <a:rPr lang="en-US" altLang="en-US">
                <a:solidFill>
                  <a:srgbClr val="990000"/>
                </a:solidFill>
              </a:rPr>
              <a:t>}</a:t>
            </a:r>
          </a:p>
          <a:p>
            <a:pPr algn="just"/>
            <a:r>
              <a:rPr lang="en-US" altLang="en-US" b="1">
                <a:solidFill>
                  <a:srgbClr val="990000"/>
                </a:solidFill>
              </a:rPr>
              <a:t>else if </a:t>
            </a:r>
            <a:r>
              <a:rPr lang="en-US" altLang="en-US">
                <a:solidFill>
                  <a:srgbClr val="990000"/>
                </a:solidFill>
              </a:rPr>
              <a:t>(&lt;Điều kiện 2&gt;)</a:t>
            </a:r>
          </a:p>
          <a:p>
            <a:pPr algn="just"/>
            <a:r>
              <a:rPr lang="en-US" altLang="en-US">
                <a:solidFill>
                  <a:srgbClr val="990000"/>
                </a:solidFill>
              </a:rPr>
              <a:t>{</a:t>
            </a:r>
          </a:p>
          <a:p>
            <a:pPr algn="just"/>
            <a:r>
              <a:rPr lang="en-US" altLang="en-US">
                <a:solidFill>
                  <a:srgbClr val="990000"/>
                </a:solidFill>
              </a:rPr>
              <a:t>	</a:t>
            </a:r>
            <a:r>
              <a:rPr lang="en-US" altLang="en-US">
                <a:solidFill>
                  <a:srgbClr val="003300"/>
                </a:solidFill>
              </a:rPr>
              <a:t>&lt;Khối lệnh 2&gt;</a:t>
            </a:r>
          </a:p>
          <a:p>
            <a:pPr algn="just"/>
            <a:r>
              <a:rPr lang="en-US" altLang="en-US">
                <a:solidFill>
                  <a:srgbClr val="990000"/>
                </a:solidFill>
              </a:rPr>
              <a:t>}</a:t>
            </a:r>
          </a:p>
          <a:p>
            <a:pPr algn="just"/>
            <a:r>
              <a:rPr lang="en-US" altLang="en-US" b="1">
                <a:solidFill>
                  <a:srgbClr val="990000"/>
                </a:solidFill>
              </a:rPr>
              <a:t>else</a:t>
            </a:r>
          </a:p>
          <a:p>
            <a:pPr algn="just"/>
            <a:r>
              <a:rPr lang="en-US" altLang="en-US">
                <a:solidFill>
                  <a:srgbClr val="990000"/>
                </a:solidFill>
              </a:rPr>
              <a:t>{</a:t>
            </a:r>
          </a:p>
          <a:p>
            <a:pPr algn="just"/>
            <a:r>
              <a:rPr lang="en-US" altLang="en-US">
                <a:solidFill>
                  <a:srgbClr val="990000"/>
                </a:solidFill>
              </a:rPr>
              <a:t>	</a:t>
            </a:r>
            <a:r>
              <a:rPr lang="en-US" altLang="en-US">
                <a:solidFill>
                  <a:srgbClr val="003300"/>
                </a:solidFill>
              </a:rPr>
              <a:t>&lt;Khối lệnh 3&gt;</a:t>
            </a:r>
          </a:p>
          <a:p>
            <a:pPr algn="just"/>
            <a:r>
              <a:rPr lang="en-US" altLang="en-US">
                <a:solidFill>
                  <a:srgbClr val="990000"/>
                </a:solidFill>
              </a:rPr>
              <a:t>}</a:t>
            </a:r>
          </a:p>
        </p:txBody>
      </p:sp>
      <p:pic>
        <p:nvPicPr>
          <p:cNvPr id="365574" name="Picture 6">
            <a:extLst>
              <a:ext uri="{FF2B5EF4-FFF2-40B4-BE49-F238E27FC236}">
                <a16:creationId xmlns:a16="http://schemas.microsoft.com/office/drawing/2014/main" id="{E5C9F8B7-8144-0CAA-9537-78C3D18A9A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905000"/>
            <a:ext cx="4495800" cy="44196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65575" name="Text Box 7">
            <a:extLst>
              <a:ext uri="{FF2B5EF4-FFF2-40B4-BE49-F238E27FC236}">
                <a16:creationId xmlns:a16="http://schemas.microsoft.com/office/drawing/2014/main" id="{082C48FF-296B-7783-BD48-B2C78DD06DEF}"/>
              </a:ext>
            </a:extLst>
          </p:cNvPr>
          <p:cNvSpPr txBox="1">
            <a:spLocks noChangeArrowheads="1"/>
          </p:cNvSpPr>
          <p:nvPr/>
        </p:nvSpPr>
        <p:spPr bwMode="auto">
          <a:xfrm>
            <a:off x="4343400" y="990600"/>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a:solidFill>
                  <a:srgbClr val="660033"/>
                </a:solidFill>
              </a:rPr>
              <a:t>Xét điều kiện của điểm</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5572"/>
                                        </p:tgtEl>
                                        <p:attrNameLst>
                                          <p:attrName>style.visibility</p:attrName>
                                        </p:attrNameLst>
                                      </p:cBhvr>
                                      <p:to>
                                        <p:strVal val="visible"/>
                                      </p:to>
                                    </p:set>
                                    <p:animEffect transition="in" filter="box(in)">
                                      <p:cBhvr>
                                        <p:cTn id="7" dur="1000"/>
                                        <p:tgtEl>
                                          <p:spTgt spid="3655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5573"/>
                                        </p:tgtEl>
                                        <p:attrNameLst>
                                          <p:attrName>style.visibility</p:attrName>
                                        </p:attrNameLst>
                                      </p:cBhvr>
                                      <p:to>
                                        <p:strVal val="visible"/>
                                      </p:to>
                                    </p:set>
                                    <p:animEffect transition="in" filter="box(in)">
                                      <p:cBhvr>
                                        <p:cTn id="12" dur="1000"/>
                                        <p:tgtEl>
                                          <p:spTgt spid="3655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5575"/>
                                        </p:tgtEl>
                                        <p:attrNameLst>
                                          <p:attrName>style.visibility</p:attrName>
                                        </p:attrNameLst>
                                      </p:cBhvr>
                                      <p:to>
                                        <p:strVal val="visible"/>
                                      </p:to>
                                    </p:set>
                                    <p:animEffect transition="in" filter="box(in)">
                                      <p:cBhvr>
                                        <p:cTn id="17" dur="1000"/>
                                        <p:tgtEl>
                                          <p:spTgt spid="3655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5574"/>
                                        </p:tgtEl>
                                        <p:attrNameLst>
                                          <p:attrName>style.visibility</p:attrName>
                                        </p:attrNameLst>
                                      </p:cBhvr>
                                      <p:to>
                                        <p:strVal val="visible"/>
                                      </p:to>
                                    </p:set>
                                    <p:animEffect transition="in" filter="box(in)">
                                      <p:cBhvr>
                                        <p:cTn id="22" dur="1000"/>
                                        <p:tgtEl>
                                          <p:spTgt spid="365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2" grpId="0"/>
      <p:bldP spid="365573" grpId="0"/>
      <p:bldP spid="36557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671BD46-CE47-690E-BD0A-AA50C2E59A31}"/>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66596" name="Text Box 4">
            <a:extLst>
              <a:ext uri="{FF2B5EF4-FFF2-40B4-BE49-F238E27FC236}">
                <a16:creationId xmlns:a16="http://schemas.microsoft.com/office/drawing/2014/main" id="{780FF9DE-45C8-DD4C-34A3-097E575AFCB1}"/>
              </a:ext>
            </a:extLst>
          </p:cNvPr>
          <p:cNvSpPr txBox="1">
            <a:spLocks noChangeArrowheads="1"/>
          </p:cNvSpPr>
          <p:nvPr/>
        </p:nvSpPr>
        <p:spPr bwMode="auto">
          <a:xfrm>
            <a:off x="261938" y="976313"/>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b="1">
                <a:solidFill>
                  <a:srgbClr val="000066"/>
                </a:solidFill>
              </a:rPr>
              <a:t>If – Dạng 4</a:t>
            </a:r>
          </a:p>
        </p:txBody>
      </p:sp>
      <p:sp>
        <p:nvSpPr>
          <p:cNvPr id="366598" name="Rectangle 6">
            <a:extLst>
              <a:ext uri="{FF2B5EF4-FFF2-40B4-BE49-F238E27FC236}">
                <a16:creationId xmlns:a16="http://schemas.microsoft.com/office/drawing/2014/main" id="{991F95AB-DCE5-0BA9-3F43-C72BA6B7192B}"/>
              </a:ext>
            </a:extLst>
          </p:cNvPr>
          <p:cNvSpPr>
            <a:spLocks noChangeArrowheads="1"/>
          </p:cNvSpPr>
          <p:nvPr/>
        </p:nvSpPr>
        <p:spPr bwMode="auto">
          <a:xfrm>
            <a:off x="251052" y="1563439"/>
            <a:ext cx="5311548"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sz="2200" b="1">
                <a:solidFill>
                  <a:srgbClr val="990000"/>
                </a:solidFill>
              </a:rPr>
              <a:t>if</a:t>
            </a:r>
            <a:r>
              <a:rPr lang="en-US" altLang="en-US" sz="2200">
                <a:solidFill>
                  <a:srgbClr val="990000"/>
                </a:solidFill>
              </a:rPr>
              <a:t> (&lt;Điều kiện1&gt;)</a:t>
            </a:r>
          </a:p>
          <a:p>
            <a:pPr algn="just"/>
            <a:r>
              <a:rPr lang="en-US" altLang="en-US" sz="2200">
                <a:solidFill>
                  <a:srgbClr val="990000"/>
                </a:solidFill>
              </a:rPr>
              <a:t>{</a:t>
            </a:r>
          </a:p>
          <a:p>
            <a:pPr algn="just"/>
            <a:r>
              <a:rPr lang="en-US" altLang="en-US" sz="2200">
                <a:solidFill>
                  <a:srgbClr val="990000"/>
                </a:solidFill>
              </a:rPr>
              <a:t>	</a:t>
            </a:r>
            <a:r>
              <a:rPr lang="en-US" altLang="en-US" sz="2200" b="1">
                <a:solidFill>
                  <a:srgbClr val="003300"/>
                </a:solidFill>
              </a:rPr>
              <a:t>if</a:t>
            </a:r>
            <a:r>
              <a:rPr lang="en-US" altLang="en-US" sz="2200">
                <a:solidFill>
                  <a:srgbClr val="003300"/>
                </a:solidFill>
              </a:rPr>
              <a:t>(&lt;Điều kiện2&gt;</a:t>
            </a:r>
          </a:p>
          <a:p>
            <a:pPr algn="just"/>
            <a:r>
              <a:rPr lang="en-US" altLang="en-US" sz="2200">
                <a:solidFill>
                  <a:srgbClr val="003300"/>
                </a:solidFill>
              </a:rPr>
              <a:t>	{</a:t>
            </a:r>
          </a:p>
          <a:p>
            <a:pPr algn="just"/>
            <a:r>
              <a:rPr lang="en-US" altLang="en-US" sz="2200">
                <a:solidFill>
                  <a:srgbClr val="003300"/>
                </a:solidFill>
              </a:rPr>
              <a:t>		&lt;Khối lệnh12&gt;</a:t>
            </a:r>
          </a:p>
          <a:p>
            <a:pPr algn="just"/>
            <a:r>
              <a:rPr lang="en-US" altLang="en-US" sz="2200">
                <a:solidFill>
                  <a:srgbClr val="003300"/>
                </a:solidFill>
              </a:rPr>
              <a:t>	}</a:t>
            </a:r>
          </a:p>
          <a:p>
            <a:pPr algn="just"/>
            <a:r>
              <a:rPr lang="en-US" altLang="en-US" sz="2200">
                <a:solidFill>
                  <a:srgbClr val="003300"/>
                </a:solidFill>
              </a:rPr>
              <a:t>	</a:t>
            </a:r>
            <a:r>
              <a:rPr lang="en-US" altLang="en-US" sz="2200" b="1">
                <a:solidFill>
                  <a:srgbClr val="003300"/>
                </a:solidFill>
              </a:rPr>
              <a:t>else</a:t>
            </a:r>
          </a:p>
          <a:p>
            <a:pPr algn="just"/>
            <a:r>
              <a:rPr lang="en-US" altLang="en-US" sz="2200">
                <a:solidFill>
                  <a:srgbClr val="003300"/>
                </a:solidFill>
              </a:rPr>
              <a:t>	{</a:t>
            </a:r>
          </a:p>
          <a:p>
            <a:pPr algn="just"/>
            <a:r>
              <a:rPr lang="en-US" altLang="en-US" sz="2200">
                <a:solidFill>
                  <a:srgbClr val="003300"/>
                </a:solidFill>
              </a:rPr>
              <a:t>		&lt;Khối lệnh(1-2)&gt;</a:t>
            </a:r>
          </a:p>
          <a:p>
            <a:pPr algn="just"/>
            <a:r>
              <a:rPr lang="en-US" altLang="en-US" sz="2200">
                <a:solidFill>
                  <a:srgbClr val="003300"/>
                </a:solidFill>
              </a:rPr>
              <a:t>	}</a:t>
            </a:r>
          </a:p>
          <a:p>
            <a:pPr algn="just"/>
            <a:r>
              <a:rPr lang="en-US" altLang="en-US" sz="2200">
                <a:solidFill>
                  <a:srgbClr val="990000"/>
                </a:solidFill>
              </a:rPr>
              <a:t>}</a:t>
            </a:r>
          </a:p>
        </p:txBody>
      </p:sp>
      <p:sp>
        <p:nvSpPr>
          <p:cNvPr id="366599" name="Rectangle 7">
            <a:extLst>
              <a:ext uri="{FF2B5EF4-FFF2-40B4-BE49-F238E27FC236}">
                <a16:creationId xmlns:a16="http://schemas.microsoft.com/office/drawing/2014/main" id="{6DF92DB0-1D9B-2C78-0DD5-ECB9CCEC27F9}"/>
              </a:ext>
            </a:extLst>
          </p:cNvPr>
          <p:cNvSpPr>
            <a:spLocks noChangeArrowheads="1"/>
          </p:cNvSpPr>
          <p:nvPr/>
        </p:nvSpPr>
        <p:spPr bwMode="auto">
          <a:xfrm>
            <a:off x="4572000" y="1433513"/>
            <a:ext cx="5311548"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sz="2200" b="1">
                <a:solidFill>
                  <a:srgbClr val="990000"/>
                </a:solidFill>
              </a:rPr>
              <a:t>else</a:t>
            </a:r>
            <a:r>
              <a:rPr lang="en-US" altLang="en-US" sz="2200" b="1">
                <a:solidFill>
                  <a:srgbClr val="003300"/>
                </a:solidFill>
              </a:rPr>
              <a:t> </a:t>
            </a:r>
          </a:p>
          <a:p>
            <a:pPr algn="just"/>
            <a:r>
              <a:rPr lang="en-US" altLang="en-US" sz="2200">
                <a:solidFill>
                  <a:srgbClr val="003300"/>
                </a:solidFill>
              </a:rPr>
              <a:t>{</a:t>
            </a:r>
          </a:p>
          <a:p>
            <a:pPr algn="just"/>
            <a:r>
              <a:rPr lang="en-US" altLang="en-US" sz="2200" b="1">
                <a:solidFill>
                  <a:srgbClr val="003300"/>
                </a:solidFill>
              </a:rPr>
              <a:t>	if</a:t>
            </a:r>
            <a:r>
              <a:rPr lang="en-US" altLang="en-US" sz="2200">
                <a:solidFill>
                  <a:srgbClr val="003300"/>
                </a:solidFill>
              </a:rPr>
              <a:t>(&lt;Điều kiện 3&gt;</a:t>
            </a:r>
          </a:p>
          <a:p>
            <a:pPr algn="just"/>
            <a:r>
              <a:rPr lang="en-US" altLang="en-US" sz="2200">
                <a:solidFill>
                  <a:srgbClr val="003300"/>
                </a:solidFill>
              </a:rPr>
              <a:t>	{</a:t>
            </a:r>
          </a:p>
          <a:p>
            <a:pPr algn="just"/>
            <a:r>
              <a:rPr lang="en-US" altLang="en-US" sz="2200">
                <a:solidFill>
                  <a:srgbClr val="003300"/>
                </a:solidFill>
              </a:rPr>
              <a:t>		&lt;Khối lệnh -1 3&gt;</a:t>
            </a:r>
          </a:p>
          <a:p>
            <a:pPr algn="just"/>
            <a:r>
              <a:rPr lang="en-US" altLang="en-US" sz="2200">
                <a:solidFill>
                  <a:srgbClr val="003300"/>
                </a:solidFill>
              </a:rPr>
              <a:t>	}</a:t>
            </a:r>
          </a:p>
          <a:p>
            <a:pPr algn="just"/>
            <a:r>
              <a:rPr lang="en-US" altLang="en-US" sz="2200">
                <a:solidFill>
                  <a:srgbClr val="003300"/>
                </a:solidFill>
              </a:rPr>
              <a:t>	</a:t>
            </a:r>
            <a:r>
              <a:rPr lang="en-US" altLang="en-US" sz="2200" b="1">
                <a:solidFill>
                  <a:srgbClr val="003300"/>
                </a:solidFill>
              </a:rPr>
              <a:t>else</a:t>
            </a:r>
          </a:p>
          <a:p>
            <a:pPr algn="just"/>
            <a:r>
              <a:rPr lang="en-US" altLang="en-US" sz="2200">
                <a:solidFill>
                  <a:srgbClr val="003300"/>
                </a:solidFill>
              </a:rPr>
              <a:t>	{</a:t>
            </a:r>
          </a:p>
          <a:p>
            <a:pPr algn="just"/>
            <a:r>
              <a:rPr lang="en-US" altLang="en-US" sz="2200">
                <a:solidFill>
                  <a:srgbClr val="003300"/>
                </a:solidFill>
              </a:rPr>
              <a:t>		&lt;Khối lệnh-1 -3&gt;</a:t>
            </a:r>
          </a:p>
          <a:p>
            <a:pPr algn="just"/>
            <a:r>
              <a:rPr lang="en-US" altLang="en-US" sz="2200">
                <a:solidFill>
                  <a:srgbClr val="003300"/>
                </a:solidFill>
              </a:rPr>
              <a:t>	}</a:t>
            </a:r>
          </a:p>
          <a:p>
            <a:pPr algn="just"/>
            <a:r>
              <a:rPr lang="en-US" altLang="en-US" sz="2200">
                <a:solidFill>
                  <a:srgbClr val="990000"/>
                </a:solidFill>
              </a:rPr>
              <a:t>}</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6596"/>
                                        </p:tgtEl>
                                        <p:attrNameLst>
                                          <p:attrName>style.visibility</p:attrName>
                                        </p:attrNameLst>
                                      </p:cBhvr>
                                      <p:to>
                                        <p:strVal val="visible"/>
                                      </p:to>
                                    </p:set>
                                    <p:animEffect transition="in" filter="box(in)">
                                      <p:cBhvr>
                                        <p:cTn id="7" dur="1000"/>
                                        <p:tgtEl>
                                          <p:spTgt spid="3665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6598"/>
                                        </p:tgtEl>
                                        <p:attrNameLst>
                                          <p:attrName>style.visibility</p:attrName>
                                        </p:attrNameLst>
                                      </p:cBhvr>
                                      <p:to>
                                        <p:strVal val="visible"/>
                                      </p:to>
                                    </p:set>
                                    <p:animEffect transition="in" filter="box(in)">
                                      <p:cBhvr>
                                        <p:cTn id="12" dur="1000"/>
                                        <p:tgtEl>
                                          <p:spTgt spid="3665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6599"/>
                                        </p:tgtEl>
                                        <p:attrNameLst>
                                          <p:attrName>style.visibility</p:attrName>
                                        </p:attrNameLst>
                                      </p:cBhvr>
                                      <p:to>
                                        <p:strVal val="visible"/>
                                      </p:to>
                                    </p:set>
                                    <p:animEffect transition="in" filter="box(in)">
                                      <p:cBhvr>
                                        <p:cTn id="17" dur="1000"/>
                                        <p:tgtEl>
                                          <p:spTgt spid="366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6" grpId="0"/>
      <p:bldP spid="366598" grpId="0"/>
      <p:bldP spid="36659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5EAC349-A8ED-AAEA-8FCC-D14BD7B344DB}"/>
              </a:ext>
            </a:extLst>
          </p:cNvPr>
          <p:cNvSpPr>
            <a:spLocks noGrp="1" noChangeArrowheads="1"/>
          </p:cNvSpPr>
          <p:nvPr>
            <p:ph type="title"/>
          </p:nvPr>
        </p:nvSpPr>
        <p:spPr/>
        <p:txBody>
          <a:bodyPr/>
          <a:lstStyle/>
          <a:p>
            <a:pPr eaLnBrk="1" hangingPunct="1"/>
            <a:r>
              <a:rPr lang="en-US" altLang="en-US" sz="3200" b="1"/>
              <a:t>3. Cấu trúc điều khiển trong C#</a:t>
            </a:r>
          </a:p>
        </p:txBody>
      </p:sp>
      <p:pic>
        <p:nvPicPr>
          <p:cNvPr id="367620" name="Picture 4">
            <a:extLst>
              <a:ext uri="{FF2B5EF4-FFF2-40B4-BE49-F238E27FC236}">
                <a16:creationId xmlns:a16="http://schemas.microsoft.com/office/drawing/2014/main" id="{B0C6921B-7EC2-D27C-7D5E-DD9FF2DC8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8382000" cy="47244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67621" name="Text Box 5">
            <a:extLst>
              <a:ext uri="{FF2B5EF4-FFF2-40B4-BE49-F238E27FC236}">
                <a16:creationId xmlns:a16="http://schemas.microsoft.com/office/drawing/2014/main" id="{BC219C0C-C67B-F535-CCFC-A9E7F683D069}"/>
              </a:ext>
            </a:extLst>
          </p:cNvPr>
          <p:cNvSpPr txBox="1">
            <a:spLocks noChangeArrowheads="1"/>
          </p:cNvSpPr>
          <p:nvPr/>
        </p:nvSpPr>
        <p:spPr bwMode="auto">
          <a:xfrm>
            <a:off x="447675" y="804863"/>
            <a:ext cx="8305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sz="2000">
                <a:solidFill>
                  <a:srgbClr val="990000"/>
                </a:solidFill>
              </a:rPr>
              <a:t>Nhập a, b từ bàn phím, xét giá trị của a và trong a xét giá trị của b. Hiện kết quả lên màn hình</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7621"/>
                                        </p:tgtEl>
                                        <p:attrNameLst>
                                          <p:attrName>style.visibility</p:attrName>
                                        </p:attrNameLst>
                                      </p:cBhvr>
                                      <p:to>
                                        <p:strVal val="visible"/>
                                      </p:to>
                                    </p:set>
                                    <p:animEffect transition="in" filter="box(in)">
                                      <p:cBhvr>
                                        <p:cTn id="7" dur="1000"/>
                                        <p:tgtEl>
                                          <p:spTgt spid="3676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7620"/>
                                        </p:tgtEl>
                                        <p:attrNameLst>
                                          <p:attrName>style.visibility</p:attrName>
                                        </p:attrNameLst>
                                      </p:cBhvr>
                                      <p:to>
                                        <p:strVal val="visible"/>
                                      </p:to>
                                    </p:set>
                                    <p:animEffect transition="in" filter="box(in)">
                                      <p:cBhvr>
                                        <p:cTn id="12" dur="1000"/>
                                        <p:tgtEl>
                                          <p:spTgt spid="367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9259AF5-A43E-6F82-A639-123BD97F2CFA}"/>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28675" name="Rectangle 4">
            <a:extLst>
              <a:ext uri="{FF2B5EF4-FFF2-40B4-BE49-F238E27FC236}">
                <a16:creationId xmlns:a16="http://schemas.microsoft.com/office/drawing/2014/main" id="{5726E388-C5DE-E8EA-1494-1574F00BEF92}"/>
              </a:ext>
            </a:extLst>
          </p:cNvPr>
          <p:cNvSpPr>
            <a:spLocks noChangeArrowheads="1"/>
          </p:cNvSpPr>
          <p:nvPr/>
        </p:nvSpPr>
        <p:spPr bwMode="auto">
          <a:xfrm>
            <a:off x="100013" y="768350"/>
            <a:ext cx="3351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Câu lệnh switch</a:t>
            </a:r>
          </a:p>
        </p:txBody>
      </p:sp>
      <p:sp>
        <p:nvSpPr>
          <p:cNvPr id="368645" name="Rectangle 5">
            <a:extLst>
              <a:ext uri="{FF2B5EF4-FFF2-40B4-BE49-F238E27FC236}">
                <a16:creationId xmlns:a16="http://schemas.microsoft.com/office/drawing/2014/main" id="{4B221E94-D40A-143C-6490-0453D70B1EB2}"/>
              </a:ext>
            </a:extLst>
          </p:cNvPr>
          <p:cNvSpPr>
            <a:spLocks noChangeArrowheads="1"/>
          </p:cNvSpPr>
          <p:nvPr/>
        </p:nvSpPr>
        <p:spPr bwMode="auto">
          <a:xfrm>
            <a:off x="3595688" y="804863"/>
            <a:ext cx="5410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a:t>liệt kê các giá trị và chỉ thực hiện các giá trị thích hợp</a:t>
            </a:r>
          </a:p>
        </p:txBody>
      </p:sp>
      <p:pic>
        <p:nvPicPr>
          <p:cNvPr id="368646" name="Picture 6">
            <a:extLst>
              <a:ext uri="{FF2B5EF4-FFF2-40B4-BE49-F238E27FC236}">
                <a16:creationId xmlns:a16="http://schemas.microsoft.com/office/drawing/2014/main" id="{4ADFB9D6-8E46-9F7F-F12A-1BC0A9FB9C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05000"/>
            <a:ext cx="3209925" cy="207645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68648" name="Picture 8">
            <a:extLst>
              <a:ext uri="{FF2B5EF4-FFF2-40B4-BE49-F238E27FC236}">
                <a16:creationId xmlns:a16="http://schemas.microsoft.com/office/drawing/2014/main" id="{5CE019AF-3630-383C-2C9C-BA8E169F25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905000"/>
            <a:ext cx="4876800" cy="42672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68649" name="Picture 9">
            <a:extLst>
              <a:ext uri="{FF2B5EF4-FFF2-40B4-BE49-F238E27FC236}">
                <a16:creationId xmlns:a16="http://schemas.microsoft.com/office/drawing/2014/main" id="{B08BB8C5-94EB-26CC-DDB3-E1A04C86CC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267200"/>
            <a:ext cx="32004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8645"/>
                                        </p:tgtEl>
                                        <p:attrNameLst>
                                          <p:attrName>style.visibility</p:attrName>
                                        </p:attrNameLst>
                                      </p:cBhvr>
                                      <p:to>
                                        <p:strVal val="visible"/>
                                      </p:to>
                                    </p:set>
                                    <p:animEffect transition="in" filter="box(in)">
                                      <p:cBhvr>
                                        <p:cTn id="7" dur="1000"/>
                                        <p:tgtEl>
                                          <p:spTgt spid="3686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8646"/>
                                        </p:tgtEl>
                                        <p:attrNameLst>
                                          <p:attrName>style.visibility</p:attrName>
                                        </p:attrNameLst>
                                      </p:cBhvr>
                                      <p:to>
                                        <p:strVal val="visible"/>
                                      </p:to>
                                    </p:set>
                                    <p:animEffect transition="in" filter="box(in)">
                                      <p:cBhvr>
                                        <p:cTn id="12" dur="1000"/>
                                        <p:tgtEl>
                                          <p:spTgt spid="3686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8648"/>
                                        </p:tgtEl>
                                        <p:attrNameLst>
                                          <p:attrName>style.visibility</p:attrName>
                                        </p:attrNameLst>
                                      </p:cBhvr>
                                      <p:to>
                                        <p:strVal val="visible"/>
                                      </p:to>
                                    </p:set>
                                    <p:animEffect transition="in" filter="box(in)">
                                      <p:cBhvr>
                                        <p:cTn id="17" dur="1000"/>
                                        <p:tgtEl>
                                          <p:spTgt spid="3686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8649"/>
                                        </p:tgtEl>
                                        <p:attrNameLst>
                                          <p:attrName>style.visibility</p:attrName>
                                        </p:attrNameLst>
                                      </p:cBhvr>
                                      <p:to>
                                        <p:strVal val="visible"/>
                                      </p:to>
                                    </p:set>
                                    <p:animEffect transition="in" filter="box(in)">
                                      <p:cBhvr>
                                        <p:cTn id="22" dur="1000"/>
                                        <p:tgtEl>
                                          <p:spTgt spid="368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F2F20B3-4CDF-CF7F-9ACC-2E0FFDA40D60}"/>
              </a:ext>
            </a:extLst>
          </p:cNvPr>
          <p:cNvSpPr>
            <a:spLocks noGrp="1" noChangeArrowheads="1"/>
          </p:cNvSpPr>
          <p:nvPr>
            <p:ph type="title"/>
          </p:nvPr>
        </p:nvSpPr>
        <p:spPr/>
        <p:txBody>
          <a:bodyPr/>
          <a:lstStyle/>
          <a:p>
            <a:pPr eaLnBrk="1" hangingPunct="1"/>
            <a:r>
              <a:rPr lang="en-US" altLang="en-US" sz="3200" b="1"/>
              <a:t>3. Cấu trúc điều khiển trong C#</a:t>
            </a:r>
          </a:p>
        </p:txBody>
      </p:sp>
      <p:pic>
        <p:nvPicPr>
          <p:cNvPr id="369668" name="Picture 4">
            <a:extLst>
              <a:ext uri="{FF2B5EF4-FFF2-40B4-BE49-F238E27FC236}">
                <a16:creationId xmlns:a16="http://schemas.microsoft.com/office/drawing/2014/main" id="{6C80225C-78C1-248C-E268-31B0A5B464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14400"/>
            <a:ext cx="4419600" cy="55626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69669" name="Picture 5">
            <a:extLst>
              <a:ext uri="{FF2B5EF4-FFF2-40B4-BE49-F238E27FC236}">
                <a16:creationId xmlns:a16="http://schemas.microsoft.com/office/drawing/2014/main" id="{6DCDDC00-D4FC-2934-8320-176B1365B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914400"/>
            <a:ext cx="4191000" cy="49530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9668"/>
                                        </p:tgtEl>
                                        <p:attrNameLst>
                                          <p:attrName>style.visibility</p:attrName>
                                        </p:attrNameLst>
                                      </p:cBhvr>
                                      <p:to>
                                        <p:strVal val="visible"/>
                                      </p:to>
                                    </p:set>
                                    <p:animEffect transition="in" filter="box(in)">
                                      <p:cBhvr>
                                        <p:cTn id="7" dur="1000"/>
                                        <p:tgtEl>
                                          <p:spTgt spid="3696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9669"/>
                                        </p:tgtEl>
                                        <p:attrNameLst>
                                          <p:attrName>style.visibility</p:attrName>
                                        </p:attrNameLst>
                                      </p:cBhvr>
                                      <p:to>
                                        <p:strVal val="visible"/>
                                      </p:to>
                                    </p:set>
                                    <p:animEffect transition="in" filter="box(in)">
                                      <p:cBhvr>
                                        <p:cTn id="12" dur="1000"/>
                                        <p:tgtEl>
                                          <p:spTgt spid="369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B004145-52A6-2FF7-8C0F-EC80D847D40B}"/>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0723" name="Rectangle 4">
            <a:extLst>
              <a:ext uri="{FF2B5EF4-FFF2-40B4-BE49-F238E27FC236}">
                <a16:creationId xmlns:a16="http://schemas.microsoft.com/office/drawing/2014/main" id="{16CB4CB1-91E1-979C-0F5C-693038163869}"/>
              </a:ext>
            </a:extLst>
          </p:cNvPr>
          <p:cNvSpPr>
            <a:spLocks noChangeArrowheads="1"/>
          </p:cNvSpPr>
          <p:nvPr/>
        </p:nvSpPr>
        <p:spPr bwMode="auto">
          <a:xfrm>
            <a:off x="100013" y="763588"/>
            <a:ext cx="2654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sz="2800" b="1" i="1">
                <a:solidFill>
                  <a:schemeClr val="accent2"/>
                </a:solidFill>
              </a:rPr>
              <a:t>Câu lệnh lặp</a:t>
            </a:r>
          </a:p>
        </p:txBody>
      </p:sp>
      <p:sp>
        <p:nvSpPr>
          <p:cNvPr id="370693" name="Rectangle 5">
            <a:extLst>
              <a:ext uri="{FF2B5EF4-FFF2-40B4-BE49-F238E27FC236}">
                <a16:creationId xmlns:a16="http://schemas.microsoft.com/office/drawing/2014/main" id="{FD21FAD9-464B-16A9-029E-8D0F4353FCDF}"/>
              </a:ext>
            </a:extLst>
          </p:cNvPr>
          <p:cNvSpPr>
            <a:spLocks noChangeArrowheads="1"/>
          </p:cNvSpPr>
          <p:nvPr/>
        </p:nvSpPr>
        <p:spPr bwMode="auto">
          <a:xfrm>
            <a:off x="85725" y="1381125"/>
            <a:ext cx="2719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Vòng</a:t>
            </a:r>
            <a:r>
              <a:rPr lang="en-US" altLang="en-US" i="1">
                <a:solidFill>
                  <a:srgbClr val="000066"/>
                </a:solidFill>
              </a:rPr>
              <a:t> </a:t>
            </a:r>
            <a:r>
              <a:rPr lang="en-US" altLang="en-US" b="1">
                <a:solidFill>
                  <a:srgbClr val="000066"/>
                </a:solidFill>
              </a:rPr>
              <a:t>lặp while</a:t>
            </a:r>
          </a:p>
        </p:txBody>
      </p:sp>
      <p:pic>
        <p:nvPicPr>
          <p:cNvPr id="370694" name="Picture 6">
            <a:extLst>
              <a:ext uri="{FF2B5EF4-FFF2-40B4-BE49-F238E27FC236}">
                <a16:creationId xmlns:a16="http://schemas.microsoft.com/office/drawing/2014/main" id="{9E106685-6D75-A770-EBC4-26D71F6671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363" y="2057400"/>
            <a:ext cx="5257800" cy="43434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70695" name="Picture 7">
            <a:extLst>
              <a:ext uri="{FF2B5EF4-FFF2-40B4-BE49-F238E27FC236}">
                <a16:creationId xmlns:a16="http://schemas.microsoft.com/office/drawing/2014/main" id="{1443912C-7D0F-D2E2-549A-E35EF83A74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488" y="2057400"/>
            <a:ext cx="3209925" cy="2024063"/>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70696" name="Picture 8">
            <a:extLst>
              <a:ext uri="{FF2B5EF4-FFF2-40B4-BE49-F238E27FC236}">
                <a16:creationId xmlns:a16="http://schemas.microsoft.com/office/drawing/2014/main" id="{EA4A3DB6-0DC5-2BA7-DB2C-CD5F916112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4343400"/>
            <a:ext cx="1295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0693"/>
                                        </p:tgtEl>
                                        <p:attrNameLst>
                                          <p:attrName>style.visibility</p:attrName>
                                        </p:attrNameLst>
                                      </p:cBhvr>
                                      <p:to>
                                        <p:strVal val="visible"/>
                                      </p:to>
                                    </p:set>
                                    <p:animEffect transition="in" filter="box(in)">
                                      <p:cBhvr>
                                        <p:cTn id="7" dur="1000"/>
                                        <p:tgtEl>
                                          <p:spTgt spid="3706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0694"/>
                                        </p:tgtEl>
                                        <p:attrNameLst>
                                          <p:attrName>style.visibility</p:attrName>
                                        </p:attrNameLst>
                                      </p:cBhvr>
                                      <p:to>
                                        <p:strVal val="visible"/>
                                      </p:to>
                                    </p:set>
                                    <p:animEffect transition="in" filter="box(in)">
                                      <p:cBhvr>
                                        <p:cTn id="12" dur="500"/>
                                        <p:tgtEl>
                                          <p:spTgt spid="3706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0695"/>
                                        </p:tgtEl>
                                        <p:attrNameLst>
                                          <p:attrName>style.visibility</p:attrName>
                                        </p:attrNameLst>
                                      </p:cBhvr>
                                      <p:to>
                                        <p:strVal val="visible"/>
                                      </p:to>
                                    </p:set>
                                    <p:animEffect transition="in" filter="box(in)">
                                      <p:cBhvr>
                                        <p:cTn id="17" dur="1000"/>
                                        <p:tgtEl>
                                          <p:spTgt spid="3706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0696"/>
                                        </p:tgtEl>
                                        <p:attrNameLst>
                                          <p:attrName>style.visibility</p:attrName>
                                        </p:attrNameLst>
                                      </p:cBhvr>
                                      <p:to>
                                        <p:strVal val="visible"/>
                                      </p:to>
                                    </p:set>
                                    <p:animEffect transition="in" filter="box(in)">
                                      <p:cBhvr>
                                        <p:cTn id="22" dur="1000"/>
                                        <p:tgtEl>
                                          <p:spTgt spid="370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83F210E-860A-EA5B-B5EF-CDBDEEB269AB}"/>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71716" name="Rectangle 4">
            <a:extLst>
              <a:ext uri="{FF2B5EF4-FFF2-40B4-BE49-F238E27FC236}">
                <a16:creationId xmlns:a16="http://schemas.microsoft.com/office/drawing/2014/main" id="{262E4FE1-113B-B3D7-CA1A-8303FD5474D3}"/>
              </a:ext>
            </a:extLst>
          </p:cNvPr>
          <p:cNvSpPr>
            <a:spLocks noChangeArrowheads="1"/>
          </p:cNvSpPr>
          <p:nvPr/>
        </p:nvSpPr>
        <p:spPr bwMode="auto">
          <a:xfrm>
            <a:off x="214313" y="842963"/>
            <a:ext cx="2279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Vòng</a:t>
            </a:r>
            <a:r>
              <a:rPr lang="en-US" altLang="en-US" i="1">
                <a:solidFill>
                  <a:srgbClr val="000066"/>
                </a:solidFill>
              </a:rPr>
              <a:t> </a:t>
            </a:r>
            <a:r>
              <a:rPr lang="en-US" altLang="en-US" b="1">
                <a:solidFill>
                  <a:srgbClr val="000066"/>
                </a:solidFill>
              </a:rPr>
              <a:t>lặp for</a:t>
            </a:r>
          </a:p>
        </p:txBody>
      </p:sp>
      <p:sp>
        <p:nvSpPr>
          <p:cNvPr id="371717" name="Text Box 5">
            <a:extLst>
              <a:ext uri="{FF2B5EF4-FFF2-40B4-BE49-F238E27FC236}">
                <a16:creationId xmlns:a16="http://schemas.microsoft.com/office/drawing/2014/main" id="{A892E081-FE82-CBB3-B911-FFD0BF6527D6}"/>
              </a:ext>
            </a:extLst>
          </p:cNvPr>
          <p:cNvSpPr txBox="1">
            <a:spLocks noChangeArrowheads="1"/>
          </p:cNvSpPr>
          <p:nvPr/>
        </p:nvSpPr>
        <p:spPr bwMode="auto">
          <a:xfrm>
            <a:off x="214313" y="1447800"/>
            <a:ext cx="9158287" cy="1954381"/>
          </a:xfrm>
          <a:prstGeom prst="rect">
            <a:avLst/>
          </a:prstGeom>
          <a:noFill/>
          <a:ln w="38100">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sz="2200">
                <a:solidFill>
                  <a:srgbClr val="990000"/>
                </a:solidFill>
              </a:rPr>
              <a:t>for</a:t>
            </a:r>
            <a:r>
              <a:rPr lang="en-US" altLang="en-US" sz="2200"/>
              <a:t>([</a:t>
            </a:r>
            <a:r>
              <a:rPr lang="en-US" altLang="en-US" sz="2200">
                <a:solidFill>
                  <a:srgbClr val="003300"/>
                </a:solidFill>
              </a:rPr>
              <a:t>phần khởi tạo</a:t>
            </a:r>
            <a:r>
              <a:rPr lang="en-US" altLang="en-US" sz="2200"/>
              <a:t>];[</a:t>
            </a:r>
            <a:r>
              <a:rPr lang="en-US" altLang="en-US" sz="2200">
                <a:solidFill>
                  <a:srgbClr val="660033"/>
                </a:solidFill>
              </a:rPr>
              <a:t>biểu thức điều kiện</a:t>
            </a:r>
            <a:r>
              <a:rPr lang="en-US" altLang="en-US" sz="2200"/>
              <a:t>]; [</a:t>
            </a:r>
            <a:r>
              <a:rPr lang="en-US" altLang="en-US" sz="2200">
                <a:solidFill>
                  <a:srgbClr val="000099"/>
                </a:solidFill>
              </a:rPr>
              <a:t>bước lặp</a:t>
            </a:r>
            <a:r>
              <a:rPr lang="en-US" altLang="en-US" sz="2200"/>
              <a:t>])</a:t>
            </a:r>
          </a:p>
          <a:p>
            <a:pPr algn="just">
              <a:spcBef>
                <a:spcPct val="50000"/>
              </a:spcBef>
            </a:pPr>
            <a:r>
              <a:rPr lang="en-US" altLang="en-US" sz="2200"/>
              <a:t>{</a:t>
            </a:r>
          </a:p>
          <a:p>
            <a:pPr algn="just">
              <a:spcBef>
                <a:spcPct val="50000"/>
              </a:spcBef>
            </a:pPr>
            <a:r>
              <a:rPr lang="en-US" altLang="en-US" sz="2200"/>
              <a:t>	&lt;khối lệnh&gt;;</a:t>
            </a:r>
          </a:p>
          <a:p>
            <a:pPr algn="just">
              <a:spcBef>
                <a:spcPct val="50000"/>
              </a:spcBef>
            </a:pPr>
            <a:r>
              <a:rPr lang="en-US" altLang="en-US" sz="2200"/>
              <a:t>}</a:t>
            </a:r>
          </a:p>
        </p:txBody>
      </p:sp>
      <p:pic>
        <p:nvPicPr>
          <p:cNvPr id="371718" name="Picture 6">
            <a:extLst>
              <a:ext uri="{FF2B5EF4-FFF2-40B4-BE49-F238E27FC236}">
                <a16:creationId xmlns:a16="http://schemas.microsoft.com/office/drawing/2014/main" id="{B2DE2A9A-07F9-B451-581F-FEC7BCB68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733800"/>
            <a:ext cx="5562600" cy="2514600"/>
          </a:xfrm>
          <a:prstGeom prst="rect">
            <a:avLst/>
          </a:prstGeom>
          <a:noFill/>
          <a:ln w="38100">
            <a:solidFill>
              <a:srgbClr val="000099"/>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1716"/>
                                        </p:tgtEl>
                                        <p:attrNameLst>
                                          <p:attrName>style.visibility</p:attrName>
                                        </p:attrNameLst>
                                      </p:cBhvr>
                                      <p:to>
                                        <p:strVal val="visible"/>
                                      </p:to>
                                    </p:set>
                                    <p:animEffect transition="in" filter="box(in)">
                                      <p:cBhvr>
                                        <p:cTn id="7" dur="1000"/>
                                        <p:tgtEl>
                                          <p:spTgt spid="3717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1717"/>
                                        </p:tgtEl>
                                        <p:attrNameLst>
                                          <p:attrName>style.visibility</p:attrName>
                                        </p:attrNameLst>
                                      </p:cBhvr>
                                      <p:to>
                                        <p:strVal val="visible"/>
                                      </p:to>
                                    </p:set>
                                    <p:animEffect transition="in" filter="box(in)">
                                      <p:cBhvr>
                                        <p:cTn id="12" dur="1000"/>
                                        <p:tgtEl>
                                          <p:spTgt spid="3717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1718"/>
                                        </p:tgtEl>
                                        <p:attrNameLst>
                                          <p:attrName>style.visibility</p:attrName>
                                        </p:attrNameLst>
                                      </p:cBhvr>
                                      <p:to>
                                        <p:strVal val="visible"/>
                                      </p:to>
                                    </p:set>
                                    <p:animEffect transition="in" filter="box(in)">
                                      <p:cBhvr>
                                        <p:cTn id="17" dur="500"/>
                                        <p:tgtEl>
                                          <p:spTgt spid="371718"/>
                                        </p:tgtEl>
                                      </p:cBhvr>
                                    </p:animEffect>
                                  </p:childTnLst>
                                  <p:subTnLst>
                                    <p:set>
                                      <p:cBhvr override="childStyle">
                                        <p:cTn dur="1" fill="hold" display="0" masterRel="nextClick" afterEffect="1"/>
                                        <p:tgtEl>
                                          <p:spTgt spid="37171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6" grpId="0"/>
      <p:bldP spid="37171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B9A818C-8618-C839-82C0-53ED0CF0610B}"/>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73765" name="Rectangle 5">
            <a:extLst>
              <a:ext uri="{FF2B5EF4-FFF2-40B4-BE49-F238E27FC236}">
                <a16:creationId xmlns:a16="http://schemas.microsoft.com/office/drawing/2014/main" id="{C8A977EA-69B7-85D8-961F-D6F280192AB5}"/>
              </a:ext>
            </a:extLst>
          </p:cNvPr>
          <p:cNvSpPr>
            <a:spLocks noChangeArrowheads="1"/>
          </p:cNvSpPr>
          <p:nvPr/>
        </p:nvSpPr>
        <p:spPr bwMode="auto">
          <a:xfrm>
            <a:off x="142875" y="842963"/>
            <a:ext cx="3948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Vòng</a:t>
            </a:r>
            <a:r>
              <a:rPr lang="en-US" altLang="en-US" i="1">
                <a:solidFill>
                  <a:srgbClr val="000066"/>
                </a:solidFill>
              </a:rPr>
              <a:t> </a:t>
            </a:r>
            <a:r>
              <a:rPr lang="en-US" altLang="en-US" b="1">
                <a:solidFill>
                  <a:srgbClr val="000066"/>
                </a:solidFill>
              </a:rPr>
              <a:t>lặp foreach ....in</a:t>
            </a:r>
          </a:p>
        </p:txBody>
      </p:sp>
      <p:sp>
        <p:nvSpPr>
          <p:cNvPr id="373766" name="Text Box 6">
            <a:extLst>
              <a:ext uri="{FF2B5EF4-FFF2-40B4-BE49-F238E27FC236}">
                <a16:creationId xmlns:a16="http://schemas.microsoft.com/office/drawing/2014/main" id="{1AE00DAB-442C-6B22-0DA5-D974D091E4C7}"/>
              </a:ext>
            </a:extLst>
          </p:cNvPr>
          <p:cNvSpPr txBox="1">
            <a:spLocks noChangeArrowheads="1"/>
          </p:cNvSpPr>
          <p:nvPr/>
        </p:nvSpPr>
        <p:spPr bwMode="auto">
          <a:xfrm>
            <a:off x="4281488" y="833140"/>
            <a:ext cx="482441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sz="2200" b="0"/>
              <a:t>cho phép tạo vòng lặp thông qua một tập hợp hay một mảng.</a:t>
            </a:r>
          </a:p>
        </p:txBody>
      </p:sp>
      <p:sp>
        <p:nvSpPr>
          <p:cNvPr id="373767" name="Text Box 7">
            <a:extLst>
              <a:ext uri="{FF2B5EF4-FFF2-40B4-BE49-F238E27FC236}">
                <a16:creationId xmlns:a16="http://schemas.microsoft.com/office/drawing/2014/main" id="{DDFD2052-3F5B-9C2B-A753-8D92CA536828}"/>
              </a:ext>
            </a:extLst>
          </p:cNvPr>
          <p:cNvSpPr txBox="1">
            <a:spLocks noChangeArrowheads="1"/>
          </p:cNvSpPr>
          <p:nvPr/>
        </p:nvSpPr>
        <p:spPr bwMode="auto">
          <a:xfrm>
            <a:off x="0" y="1905000"/>
            <a:ext cx="9372600"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sz="1800" b="1"/>
              <a:t>foreach(&lt;</a:t>
            </a:r>
            <a:r>
              <a:rPr lang="en-US" altLang="en-US" sz="1800" b="1">
                <a:solidFill>
                  <a:srgbClr val="000099"/>
                </a:solidFill>
              </a:rPr>
              <a:t>kiểu tập hợp</a:t>
            </a:r>
            <a:r>
              <a:rPr lang="en-US" altLang="en-US" sz="1800" b="1"/>
              <a:t>&gt; &lt;</a:t>
            </a:r>
            <a:r>
              <a:rPr lang="en-US" altLang="en-US" sz="1800" b="1">
                <a:solidFill>
                  <a:srgbClr val="990000"/>
                </a:solidFill>
              </a:rPr>
              <a:t>tên truy cập thành phần</a:t>
            </a:r>
            <a:r>
              <a:rPr lang="en-US" altLang="en-US" sz="1800" b="1"/>
              <a:t>&gt; in &lt;</a:t>
            </a:r>
            <a:r>
              <a:rPr lang="en-US" altLang="en-US" sz="1800" b="1">
                <a:solidFill>
                  <a:srgbClr val="003300"/>
                </a:solidFill>
              </a:rPr>
              <a:t>tên tập hợp</a:t>
            </a:r>
            <a:r>
              <a:rPr lang="en-US" altLang="en-US" sz="1800" b="1"/>
              <a:t>&gt;)</a:t>
            </a:r>
          </a:p>
          <a:p>
            <a:pPr algn="just">
              <a:spcBef>
                <a:spcPct val="50000"/>
              </a:spcBef>
            </a:pPr>
            <a:r>
              <a:rPr lang="en-US" altLang="en-US" sz="1800" b="1"/>
              <a:t>{</a:t>
            </a:r>
          </a:p>
          <a:p>
            <a:pPr algn="just">
              <a:spcBef>
                <a:spcPct val="50000"/>
              </a:spcBef>
            </a:pPr>
            <a:r>
              <a:rPr lang="en-US" altLang="en-US" sz="1800" b="1"/>
              <a:t>	&lt;Khối lệnh&gt;;</a:t>
            </a:r>
          </a:p>
          <a:p>
            <a:pPr algn="just">
              <a:spcBef>
                <a:spcPct val="50000"/>
              </a:spcBef>
            </a:pPr>
            <a:r>
              <a:rPr lang="en-US" altLang="en-US" sz="1800" b="1"/>
              <a:t>}</a:t>
            </a:r>
          </a:p>
        </p:txBody>
      </p:sp>
      <p:pic>
        <p:nvPicPr>
          <p:cNvPr id="373768" name="Picture 8">
            <a:extLst>
              <a:ext uri="{FF2B5EF4-FFF2-40B4-BE49-F238E27FC236}">
                <a16:creationId xmlns:a16="http://schemas.microsoft.com/office/drawing/2014/main" id="{D1825497-2429-BC6D-4E05-94E2C1806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264" y="3331029"/>
            <a:ext cx="6572250" cy="3505200"/>
          </a:xfrm>
          <a:prstGeom prst="rect">
            <a:avLst/>
          </a:prstGeom>
          <a:noFill/>
          <a:ln w="38100">
            <a:solidFill>
              <a:srgbClr val="000099"/>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3765"/>
                                        </p:tgtEl>
                                        <p:attrNameLst>
                                          <p:attrName>style.visibility</p:attrName>
                                        </p:attrNameLst>
                                      </p:cBhvr>
                                      <p:to>
                                        <p:strVal val="visible"/>
                                      </p:to>
                                    </p:set>
                                    <p:animEffect transition="in" filter="box(in)">
                                      <p:cBhvr>
                                        <p:cTn id="7" dur="1000"/>
                                        <p:tgtEl>
                                          <p:spTgt spid="3737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3766"/>
                                        </p:tgtEl>
                                        <p:attrNameLst>
                                          <p:attrName>style.visibility</p:attrName>
                                        </p:attrNameLst>
                                      </p:cBhvr>
                                      <p:to>
                                        <p:strVal val="visible"/>
                                      </p:to>
                                    </p:set>
                                    <p:animEffect transition="in" filter="box(in)">
                                      <p:cBhvr>
                                        <p:cTn id="12" dur="1000"/>
                                        <p:tgtEl>
                                          <p:spTgt spid="3737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3767"/>
                                        </p:tgtEl>
                                        <p:attrNameLst>
                                          <p:attrName>style.visibility</p:attrName>
                                        </p:attrNameLst>
                                      </p:cBhvr>
                                      <p:to>
                                        <p:strVal val="visible"/>
                                      </p:to>
                                    </p:set>
                                    <p:animEffect transition="in" filter="box(in)">
                                      <p:cBhvr>
                                        <p:cTn id="17" dur="1000"/>
                                        <p:tgtEl>
                                          <p:spTgt spid="3737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3768"/>
                                        </p:tgtEl>
                                        <p:attrNameLst>
                                          <p:attrName>style.visibility</p:attrName>
                                        </p:attrNameLst>
                                      </p:cBhvr>
                                      <p:to>
                                        <p:strVal val="visible"/>
                                      </p:to>
                                    </p:set>
                                    <p:animEffect transition="in" filter="box(in)">
                                      <p:cBhvr>
                                        <p:cTn id="22" dur="1000"/>
                                        <p:tgtEl>
                                          <p:spTgt spid="373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p:bldP spid="373766" grpId="0"/>
      <p:bldP spid="37376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8F47AA5-730F-CD3C-B3A3-6D41C5EBF0DC}"/>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72740" name="Rectangle 4">
            <a:extLst>
              <a:ext uri="{FF2B5EF4-FFF2-40B4-BE49-F238E27FC236}">
                <a16:creationId xmlns:a16="http://schemas.microsoft.com/office/drawing/2014/main" id="{26CFB6A5-26F6-E73F-C75B-F776C3DBED8B}"/>
              </a:ext>
            </a:extLst>
          </p:cNvPr>
          <p:cNvSpPr>
            <a:spLocks noChangeArrowheads="1"/>
          </p:cNvSpPr>
          <p:nvPr/>
        </p:nvSpPr>
        <p:spPr bwMode="auto">
          <a:xfrm>
            <a:off x="214313" y="842963"/>
            <a:ext cx="3470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en-US" altLang="en-US" b="1">
                <a:solidFill>
                  <a:srgbClr val="000066"/>
                </a:solidFill>
              </a:rPr>
              <a:t>Vòng</a:t>
            </a:r>
            <a:r>
              <a:rPr lang="en-US" altLang="en-US" i="1">
                <a:solidFill>
                  <a:srgbClr val="000066"/>
                </a:solidFill>
              </a:rPr>
              <a:t> </a:t>
            </a:r>
            <a:r>
              <a:rPr lang="en-US" altLang="en-US" b="1">
                <a:solidFill>
                  <a:srgbClr val="000066"/>
                </a:solidFill>
              </a:rPr>
              <a:t>lặp do...while</a:t>
            </a:r>
          </a:p>
        </p:txBody>
      </p:sp>
      <p:sp>
        <p:nvSpPr>
          <p:cNvPr id="372741" name="Text Box 5">
            <a:extLst>
              <a:ext uri="{FF2B5EF4-FFF2-40B4-BE49-F238E27FC236}">
                <a16:creationId xmlns:a16="http://schemas.microsoft.com/office/drawing/2014/main" id="{60184C56-B948-C932-EB2E-1A3281A38004}"/>
              </a:ext>
            </a:extLst>
          </p:cNvPr>
          <p:cNvSpPr txBox="1">
            <a:spLocks noChangeArrowheads="1"/>
          </p:cNvSpPr>
          <p:nvPr/>
        </p:nvSpPr>
        <p:spPr bwMode="auto">
          <a:xfrm>
            <a:off x="4114800" y="838200"/>
            <a:ext cx="4343400" cy="224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sz="2000">
                <a:solidFill>
                  <a:srgbClr val="990000"/>
                </a:solidFill>
              </a:rPr>
              <a:t>do</a:t>
            </a:r>
          </a:p>
          <a:p>
            <a:pPr algn="just">
              <a:spcBef>
                <a:spcPct val="50000"/>
              </a:spcBef>
            </a:pPr>
            <a:r>
              <a:rPr lang="en-US" altLang="en-US" sz="2000"/>
              <a:t>{</a:t>
            </a:r>
          </a:p>
          <a:p>
            <a:pPr algn="just">
              <a:spcBef>
                <a:spcPct val="50000"/>
              </a:spcBef>
            </a:pPr>
            <a:r>
              <a:rPr lang="en-US" altLang="en-US" sz="2000"/>
              <a:t>	&lt;Khối lệnh&gt;;</a:t>
            </a:r>
          </a:p>
          <a:p>
            <a:pPr algn="just">
              <a:spcBef>
                <a:spcPct val="50000"/>
              </a:spcBef>
            </a:pPr>
            <a:r>
              <a:rPr lang="en-US" altLang="en-US" sz="2000"/>
              <a:t>}</a:t>
            </a:r>
          </a:p>
          <a:p>
            <a:pPr algn="just">
              <a:spcBef>
                <a:spcPct val="50000"/>
              </a:spcBef>
            </a:pPr>
            <a:r>
              <a:rPr lang="en-US" altLang="en-US" sz="2000">
                <a:solidFill>
                  <a:srgbClr val="990000"/>
                </a:solidFill>
              </a:rPr>
              <a:t>while</a:t>
            </a:r>
            <a:r>
              <a:rPr lang="en-US" altLang="en-US" sz="2000"/>
              <a:t>(</a:t>
            </a:r>
            <a:r>
              <a:rPr lang="en-US" altLang="en-US" sz="2000">
                <a:solidFill>
                  <a:srgbClr val="000099"/>
                </a:solidFill>
              </a:rPr>
              <a:t>biểu thức điều kiện</a:t>
            </a:r>
            <a:r>
              <a:rPr lang="en-US" altLang="en-US" sz="2000"/>
              <a:t>)</a:t>
            </a:r>
          </a:p>
        </p:txBody>
      </p:sp>
      <p:pic>
        <p:nvPicPr>
          <p:cNvPr id="372742" name="Picture 6">
            <a:extLst>
              <a:ext uri="{FF2B5EF4-FFF2-40B4-BE49-F238E27FC236}">
                <a16:creationId xmlns:a16="http://schemas.microsoft.com/office/drawing/2014/main" id="{A162A05F-645B-BD0F-A0B8-CC0ADE836A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3" y="3103563"/>
            <a:ext cx="8548687" cy="3602037"/>
          </a:xfrm>
          <a:prstGeom prst="rect">
            <a:avLst/>
          </a:prstGeom>
          <a:noFill/>
          <a:ln w="38100">
            <a:solidFill>
              <a:srgbClr val="000099"/>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2740"/>
                                        </p:tgtEl>
                                        <p:attrNameLst>
                                          <p:attrName>style.visibility</p:attrName>
                                        </p:attrNameLst>
                                      </p:cBhvr>
                                      <p:to>
                                        <p:strVal val="visible"/>
                                      </p:to>
                                    </p:set>
                                    <p:animEffect transition="in" filter="box(in)">
                                      <p:cBhvr>
                                        <p:cTn id="7" dur="1000"/>
                                        <p:tgtEl>
                                          <p:spTgt spid="3727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2741"/>
                                        </p:tgtEl>
                                        <p:attrNameLst>
                                          <p:attrName>style.visibility</p:attrName>
                                        </p:attrNameLst>
                                      </p:cBhvr>
                                      <p:to>
                                        <p:strVal val="visible"/>
                                      </p:to>
                                    </p:set>
                                    <p:animEffect transition="in" filter="box(in)">
                                      <p:cBhvr>
                                        <p:cTn id="12" dur="1000"/>
                                        <p:tgtEl>
                                          <p:spTgt spid="3727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2742"/>
                                        </p:tgtEl>
                                        <p:attrNameLst>
                                          <p:attrName>style.visibility</p:attrName>
                                        </p:attrNameLst>
                                      </p:cBhvr>
                                      <p:to>
                                        <p:strVal val="visible"/>
                                      </p:to>
                                    </p:set>
                                    <p:animEffect transition="in" filter="box(in)">
                                      <p:cBhvr>
                                        <p:cTn id="17" dur="1000"/>
                                        <p:tgtEl>
                                          <p:spTgt spid="372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40" grpId="0"/>
      <p:bldP spid="37274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1D31E258-55D4-EB17-5571-7D501DFCD2FC}"/>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4819" name="Text Box 4">
            <a:extLst>
              <a:ext uri="{FF2B5EF4-FFF2-40B4-BE49-F238E27FC236}">
                <a16:creationId xmlns:a16="http://schemas.microsoft.com/office/drawing/2014/main" id="{781A2181-CDB8-694A-752D-482FFC5D6DAD}"/>
              </a:ext>
            </a:extLst>
          </p:cNvPr>
          <p:cNvSpPr txBox="1">
            <a:spLocks noChangeArrowheads="1"/>
          </p:cNvSpPr>
          <p:nvPr/>
        </p:nvSpPr>
        <p:spPr bwMode="auto">
          <a:xfrm>
            <a:off x="3581400" y="823913"/>
            <a:ext cx="1905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sz="2800" b="1">
                <a:solidFill>
                  <a:schemeClr val="accent2"/>
                </a:solidFill>
              </a:rPr>
              <a:t>Câu hỏi</a:t>
            </a:r>
          </a:p>
        </p:txBody>
      </p:sp>
      <p:sp>
        <p:nvSpPr>
          <p:cNvPr id="377861" name="Text Box 5">
            <a:extLst>
              <a:ext uri="{FF2B5EF4-FFF2-40B4-BE49-F238E27FC236}">
                <a16:creationId xmlns:a16="http://schemas.microsoft.com/office/drawing/2014/main" id="{86A714C3-A717-D733-1F4B-5BD8A2B31A30}"/>
              </a:ext>
            </a:extLst>
          </p:cNvPr>
          <p:cNvSpPr txBox="1">
            <a:spLocks noChangeArrowheads="1"/>
          </p:cNvSpPr>
          <p:nvPr/>
        </p:nvSpPr>
        <p:spPr bwMode="auto">
          <a:xfrm>
            <a:off x="609600" y="1433513"/>
            <a:ext cx="8305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b="0">
                <a:solidFill>
                  <a:srgbClr val="000066"/>
                </a:solidFill>
              </a:rPr>
              <a:t>1. Tạo một Console Application để viết chương trình giải phương trình bậc 2</a:t>
            </a:r>
          </a:p>
        </p:txBody>
      </p:sp>
      <p:sp>
        <p:nvSpPr>
          <p:cNvPr id="377862" name="Text Box 6">
            <a:extLst>
              <a:ext uri="{FF2B5EF4-FFF2-40B4-BE49-F238E27FC236}">
                <a16:creationId xmlns:a16="http://schemas.microsoft.com/office/drawing/2014/main" id="{999968A0-58F1-1446-0232-DCEE38380949}"/>
              </a:ext>
            </a:extLst>
          </p:cNvPr>
          <p:cNvSpPr txBox="1">
            <a:spLocks noChangeArrowheads="1"/>
          </p:cNvSpPr>
          <p:nvPr/>
        </p:nvSpPr>
        <p:spPr bwMode="auto">
          <a:xfrm>
            <a:off x="595313" y="2424113"/>
            <a:ext cx="8305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b="0">
                <a:solidFill>
                  <a:srgbClr val="990033"/>
                </a:solidFill>
              </a:rPr>
              <a:t>2. Trong Console Application đã tạo, tạo thêm một project và sử dụng vòng lặp for – while để viết chương trình hiện 100 số từ 1 đến 100</a:t>
            </a:r>
          </a:p>
        </p:txBody>
      </p:sp>
      <p:sp>
        <p:nvSpPr>
          <p:cNvPr id="377863" name="Text Box 7">
            <a:extLst>
              <a:ext uri="{FF2B5EF4-FFF2-40B4-BE49-F238E27FC236}">
                <a16:creationId xmlns:a16="http://schemas.microsoft.com/office/drawing/2014/main" id="{4272B397-6371-A812-C417-CEA357DDB368}"/>
              </a:ext>
            </a:extLst>
          </p:cNvPr>
          <p:cNvSpPr txBox="1">
            <a:spLocks noChangeArrowheads="1"/>
          </p:cNvSpPr>
          <p:nvPr/>
        </p:nvSpPr>
        <p:spPr bwMode="auto">
          <a:xfrm>
            <a:off x="571500" y="3643313"/>
            <a:ext cx="8305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spcBef>
                <a:spcPct val="50000"/>
              </a:spcBef>
            </a:pPr>
            <a:r>
              <a:rPr lang="en-US" altLang="en-US" b="0">
                <a:solidFill>
                  <a:srgbClr val="003300"/>
                </a:solidFill>
              </a:rPr>
              <a:t>3. Trong Console Application đã tạo, tạo thêm một project và sử dụng vòng lặp foreach...in để tổng một dãy số cho trước.</a:t>
            </a:r>
          </a:p>
        </p:txBody>
      </p:sp>
      <p:sp>
        <p:nvSpPr>
          <p:cNvPr id="377864" name="Text Box 8">
            <a:extLst>
              <a:ext uri="{FF2B5EF4-FFF2-40B4-BE49-F238E27FC236}">
                <a16:creationId xmlns:a16="http://schemas.microsoft.com/office/drawing/2014/main" id="{D29AB138-7292-8EBD-9780-F1ABC35112B3}"/>
              </a:ext>
            </a:extLst>
          </p:cNvPr>
          <p:cNvSpPr txBox="1">
            <a:spLocks noChangeArrowheads="1"/>
          </p:cNvSpPr>
          <p:nvPr/>
        </p:nvSpPr>
        <p:spPr bwMode="auto">
          <a:xfrm>
            <a:off x="552450" y="4953000"/>
            <a:ext cx="8305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0">
                <a:solidFill>
                  <a:srgbClr val="990000"/>
                </a:solidFill>
              </a:rPr>
              <a:t>4. Trong Console Application đã tạo, tạo thêm một project và sử dụng câu lệnh switch để viết chương trình tính chu vi và diện tích của hình chữ nhật, hình vuông, hình tam giác.</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7861"/>
                                        </p:tgtEl>
                                        <p:attrNameLst>
                                          <p:attrName>style.visibility</p:attrName>
                                        </p:attrNameLst>
                                      </p:cBhvr>
                                      <p:to>
                                        <p:strVal val="visible"/>
                                      </p:to>
                                    </p:set>
                                    <p:animEffect transition="in" filter="box(in)">
                                      <p:cBhvr>
                                        <p:cTn id="7" dur="1000"/>
                                        <p:tgtEl>
                                          <p:spTgt spid="3778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7862"/>
                                        </p:tgtEl>
                                        <p:attrNameLst>
                                          <p:attrName>style.visibility</p:attrName>
                                        </p:attrNameLst>
                                      </p:cBhvr>
                                      <p:to>
                                        <p:strVal val="visible"/>
                                      </p:to>
                                    </p:set>
                                    <p:animEffect transition="in" filter="box(in)">
                                      <p:cBhvr>
                                        <p:cTn id="12" dur="1000"/>
                                        <p:tgtEl>
                                          <p:spTgt spid="3778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7863"/>
                                        </p:tgtEl>
                                        <p:attrNameLst>
                                          <p:attrName>style.visibility</p:attrName>
                                        </p:attrNameLst>
                                      </p:cBhvr>
                                      <p:to>
                                        <p:strVal val="visible"/>
                                      </p:to>
                                    </p:set>
                                    <p:animEffect transition="in" filter="box(in)">
                                      <p:cBhvr>
                                        <p:cTn id="17" dur="1000"/>
                                        <p:tgtEl>
                                          <p:spTgt spid="3778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7864"/>
                                        </p:tgtEl>
                                        <p:attrNameLst>
                                          <p:attrName>style.visibility</p:attrName>
                                        </p:attrNameLst>
                                      </p:cBhvr>
                                      <p:to>
                                        <p:strVal val="visible"/>
                                      </p:to>
                                    </p:set>
                                    <p:animEffect transition="in" filter="box(in)">
                                      <p:cBhvr>
                                        <p:cTn id="22" dur="1000"/>
                                        <p:tgtEl>
                                          <p:spTgt spid="377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p:bldP spid="377862" grpId="0"/>
      <p:bldP spid="377863" grpId="0"/>
      <p:bldP spid="37786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057643D-3D22-1E76-DEC4-789737B78C37}"/>
              </a:ext>
            </a:extLst>
          </p:cNvPr>
          <p:cNvSpPr>
            <a:spLocks noGrp="1" noChangeArrowheads="1"/>
          </p:cNvSpPr>
          <p:nvPr>
            <p:ph type="title"/>
          </p:nvPr>
        </p:nvSpPr>
        <p:spPr/>
        <p:txBody>
          <a:bodyPr/>
          <a:lstStyle/>
          <a:p>
            <a:pPr eaLnBrk="1" hangingPunct="1"/>
            <a:r>
              <a:rPr lang="en-US" altLang="en-US" sz="3200" b="1"/>
              <a:t>3. Cấu trúc điều khiển trong C#</a:t>
            </a:r>
          </a:p>
        </p:txBody>
      </p:sp>
      <p:sp>
        <p:nvSpPr>
          <p:cNvPr id="378884" name="Rectangle 4">
            <a:extLst>
              <a:ext uri="{FF2B5EF4-FFF2-40B4-BE49-F238E27FC236}">
                <a16:creationId xmlns:a16="http://schemas.microsoft.com/office/drawing/2014/main" id="{7814E167-5FEA-68A0-BA5D-58C552152389}"/>
              </a:ext>
            </a:extLst>
          </p:cNvPr>
          <p:cNvSpPr>
            <a:spLocks noChangeArrowheads="1"/>
          </p:cNvSpPr>
          <p:nvPr/>
        </p:nvSpPr>
        <p:spPr bwMode="auto">
          <a:xfrm>
            <a:off x="281963" y="869950"/>
            <a:ext cx="86334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0">
                <a:solidFill>
                  <a:srgbClr val="000066"/>
                </a:solidFill>
              </a:rPr>
              <a:t>5. Viết một Console Application sử dụng 2 vòng lặp for để hiện các số chẵn và các số lẻ của các số từ 1 - 100</a:t>
            </a:r>
          </a:p>
        </p:txBody>
      </p:sp>
      <p:sp>
        <p:nvSpPr>
          <p:cNvPr id="378885" name="Rectangle 5">
            <a:extLst>
              <a:ext uri="{FF2B5EF4-FFF2-40B4-BE49-F238E27FC236}">
                <a16:creationId xmlns:a16="http://schemas.microsoft.com/office/drawing/2014/main" id="{8537BA44-1779-4193-3194-0E2F6C9079A2}"/>
              </a:ext>
            </a:extLst>
          </p:cNvPr>
          <p:cNvSpPr>
            <a:spLocks noChangeArrowheads="1"/>
          </p:cNvSpPr>
          <p:nvPr/>
        </p:nvSpPr>
        <p:spPr bwMode="auto">
          <a:xfrm>
            <a:off x="281963" y="1885097"/>
            <a:ext cx="86334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0">
                <a:solidFill>
                  <a:srgbClr val="990000"/>
                </a:solidFill>
              </a:rPr>
              <a:t>6. Viết một Console Application sử dụng câu lệnh switch để lựa chọn các toán tử +, - , *, / để tính toán 2 số được nhập từ bàn phím</a:t>
            </a:r>
          </a:p>
        </p:txBody>
      </p:sp>
      <p:sp>
        <p:nvSpPr>
          <p:cNvPr id="378886" name="Rectangle 6">
            <a:extLst>
              <a:ext uri="{FF2B5EF4-FFF2-40B4-BE49-F238E27FC236}">
                <a16:creationId xmlns:a16="http://schemas.microsoft.com/office/drawing/2014/main" id="{C8B881FD-6280-F21C-6E18-C28B3647934F}"/>
              </a:ext>
            </a:extLst>
          </p:cNvPr>
          <p:cNvSpPr>
            <a:spLocks noChangeArrowheads="1"/>
          </p:cNvSpPr>
          <p:nvPr/>
        </p:nvSpPr>
        <p:spPr bwMode="auto">
          <a:xfrm>
            <a:off x="254749" y="3423557"/>
            <a:ext cx="86334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lgn="just"/>
            <a:r>
              <a:rPr lang="en-US" altLang="en-US" b="0">
                <a:solidFill>
                  <a:srgbClr val="003300"/>
                </a:solidFill>
              </a:rPr>
              <a:t>7. Viết một chương trình nhập vào tên, tuổi, địa chỉ, điểm toán, điểm tin, điểm anh, sử dụng vòng lặp do...while để kiểm tra điều kiện của các điểm phải &gt;=0 and &lt;=10. Hiện tất cả kết quả lên màn hình.  </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8884"/>
                                        </p:tgtEl>
                                        <p:attrNameLst>
                                          <p:attrName>style.visibility</p:attrName>
                                        </p:attrNameLst>
                                      </p:cBhvr>
                                      <p:to>
                                        <p:strVal val="visible"/>
                                      </p:to>
                                    </p:set>
                                    <p:animEffect transition="in" filter="box(in)">
                                      <p:cBhvr>
                                        <p:cTn id="7" dur="1000"/>
                                        <p:tgtEl>
                                          <p:spTgt spid="3788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8885"/>
                                        </p:tgtEl>
                                        <p:attrNameLst>
                                          <p:attrName>style.visibility</p:attrName>
                                        </p:attrNameLst>
                                      </p:cBhvr>
                                      <p:to>
                                        <p:strVal val="visible"/>
                                      </p:to>
                                    </p:set>
                                    <p:animEffect transition="in" filter="box(in)">
                                      <p:cBhvr>
                                        <p:cTn id="12" dur="1000"/>
                                        <p:tgtEl>
                                          <p:spTgt spid="3788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8886"/>
                                        </p:tgtEl>
                                        <p:attrNameLst>
                                          <p:attrName>style.visibility</p:attrName>
                                        </p:attrNameLst>
                                      </p:cBhvr>
                                      <p:to>
                                        <p:strVal val="visible"/>
                                      </p:to>
                                    </p:set>
                                    <p:animEffect transition="in" filter="box(in)">
                                      <p:cBhvr>
                                        <p:cTn id="17" dur="1000"/>
                                        <p:tgtEl>
                                          <p:spTgt spid="378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4" grpId="0"/>
      <p:bldP spid="378885" grpId="0"/>
      <p:bldP spid="378886" grpId="0"/>
    </p:bldLst>
  </p:timing>
</p:sld>
</file>

<file path=ppt/tags/tag1.xml><?xml version="1.0" encoding="utf-8"?>
<p:tagLst xmlns:a="http://schemas.openxmlformats.org/drawingml/2006/main" xmlns:r="http://schemas.openxmlformats.org/officeDocument/2006/relationships" xmlns:p="http://schemas.openxmlformats.org/presentationml/2006/main">
  <p:tag name="INKNOELEADERBOARD" val="-828670764"/>
</p:tagLst>
</file>

<file path=ppt/theme/theme1.xml><?xml version="1.0" encoding="utf-8"?>
<a:theme xmlns:a="http://schemas.openxmlformats.org/drawingml/2006/main" name="cdb2004112l">
  <a:themeElements>
    <a:clrScheme name="sample 3">
      <a:dk1>
        <a:srgbClr val="002A00"/>
      </a:dk1>
      <a:lt1>
        <a:srgbClr val="FFFFFF"/>
      </a:lt1>
      <a:dk2>
        <a:srgbClr val="FFFFE7"/>
      </a:dk2>
      <a:lt2>
        <a:srgbClr val="B2B2B2"/>
      </a:lt2>
      <a:accent1>
        <a:srgbClr val="6D77BF"/>
      </a:accent1>
      <a:accent2>
        <a:srgbClr val="669900"/>
      </a:accent2>
      <a:accent3>
        <a:srgbClr val="FFFFFF"/>
      </a:accent3>
      <a:accent4>
        <a:srgbClr val="002200"/>
      </a:accent4>
      <a:accent5>
        <a:srgbClr val="BABDDC"/>
      </a:accent5>
      <a:accent6>
        <a:srgbClr val="5C8A00"/>
      </a:accent6>
      <a:hlink>
        <a:srgbClr val="A76E23"/>
      </a:hlink>
      <a:folHlink>
        <a:srgbClr val="145232"/>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Arial" charset="0"/>
          </a:defRPr>
        </a:defPPr>
      </a:lstStyle>
    </a:lnDef>
  </a:objectDefaults>
  <a:extraClrSchemeLst>
    <a:extraClrScheme>
      <a:clrScheme name="sample 1">
        <a:dk1>
          <a:srgbClr val="000066"/>
        </a:dk1>
        <a:lt1>
          <a:srgbClr val="FFFFFF"/>
        </a:lt1>
        <a:dk2>
          <a:srgbClr val="E1E1E7"/>
        </a:dk2>
        <a:lt2>
          <a:srgbClr val="B2B2B2"/>
        </a:lt2>
        <a:accent1>
          <a:srgbClr val="009999"/>
        </a:accent1>
        <a:accent2>
          <a:srgbClr val="FF9933"/>
        </a:accent2>
        <a:accent3>
          <a:srgbClr val="FFFFFF"/>
        </a:accent3>
        <a:accent4>
          <a:srgbClr val="000056"/>
        </a:accent4>
        <a:accent5>
          <a:srgbClr val="AACACA"/>
        </a:accent5>
        <a:accent6>
          <a:srgbClr val="E78A2D"/>
        </a:accent6>
        <a:hlink>
          <a:srgbClr val="6A9EB0"/>
        </a:hlink>
        <a:folHlink>
          <a:srgbClr val="336699"/>
        </a:folHlink>
      </a:clrScheme>
      <a:clrMap bg1="lt1" tx1="dk1" bg2="lt2" tx2="dk2" accent1="accent1" accent2="accent2" accent3="accent3" accent4="accent4" accent5="accent5" accent6="accent6" hlink="hlink" folHlink="folHlink"/>
    </a:extraClrScheme>
    <a:extraClrScheme>
      <a:clrScheme name="sample 2">
        <a:dk1>
          <a:srgbClr val="000000"/>
        </a:dk1>
        <a:lt1>
          <a:srgbClr val="FFFFFF"/>
        </a:lt1>
        <a:dk2>
          <a:srgbClr val="FFFFFF"/>
        </a:dk2>
        <a:lt2>
          <a:srgbClr val="B2B2B2"/>
        </a:lt2>
        <a:accent1>
          <a:srgbClr val="C0D070"/>
        </a:accent1>
        <a:accent2>
          <a:srgbClr val="0099CC"/>
        </a:accent2>
        <a:accent3>
          <a:srgbClr val="FFFFFF"/>
        </a:accent3>
        <a:accent4>
          <a:srgbClr val="000000"/>
        </a:accent4>
        <a:accent5>
          <a:srgbClr val="DCE4BB"/>
        </a:accent5>
        <a:accent6>
          <a:srgbClr val="008AB9"/>
        </a:accent6>
        <a:hlink>
          <a:srgbClr val="CA9938"/>
        </a:hlink>
        <a:folHlink>
          <a:srgbClr val="683241"/>
        </a:folHlink>
      </a:clrScheme>
      <a:clrMap bg1="lt1" tx1="dk1" bg2="lt2" tx2="dk2" accent1="accent1" accent2="accent2" accent3="accent3" accent4="accent4" accent5="accent5" accent6="accent6" hlink="hlink" folHlink="folHlink"/>
    </a:extraClrScheme>
    <a:extraClrScheme>
      <a:clrScheme name="sample 3">
        <a:dk1>
          <a:srgbClr val="002A00"/>
        </a:dk1>
        <a:lt1>
          <a:srgbClr val="FFFFFF"/>
        </a:lt1>
        <a:dk2>
          <a:srgbClr val="FFFFE7"/>
        </a:dk2>
        <a:lt2>
          <a:srgbClr val="B2B2B2"/>
        </a:lt2>
        <a:accent1>
          <a:srgbClr val="6D77BF"/>
        </a:accent1>
        <a:accent2>
          <a:srgbClr val="669900"/>
        </a:accent2>
        <a:accent3>
          <a:srgbClr val="FFFFFF"/>
        </a:accent3>
        <a:accent4>
          <a:srgbClr val="002200"/>
        </a:accent4>
        <a:accent5>
          <a:srgbClr val="BABDDC"/>
        </a:accent5>
        <a:accent6>
          <a:srgbClr val="5C8A00"/>
        </a:accent6>
        <a:hlink>
          <a:srgbClr val="A76E23"/>
        </a:hlink>
        <a:folHlink>
          <a:srgbClr val="14523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cdb2004112l</Template>
  <TotalTime>11904</TotalTime>
  <Words>3354</Words>
  <Application>Microsoft Office PowerPoint</Application>
  <PresentationFormat>On-screen Show (4:3)</PresentationFormat>
  <Paragraphs>370</Paragraphs>
  <Slides>61</Slides>
  <Notes>2</Notes>
  <HiddenSlides>1</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61</vt:i4>
      </vt:variant>
    </vt:vector>
  </HeadingPairs>
  <TitlesOfParts>
    <vt:vector size="72" baseType="lpstr">
      <vt:lpstr>Arial</vt:lpstr>
      <vt:lpstr>Calibri</vt:lpstr>
      <vt:lpstr>Courier New</vt:lpstr>
      <vt:lpstr>Tahoma</vt:lpstr>
      <vt:lpstr>Times New Roman</vt:lpstr>
      <vt:lpstr>Verdana</vt:lpstr>
      <vt:lpstr>Wingdings</vt:lpstr>
      <vt:lpstr>cdb2004112l</vt:lpstr>
      <vt:lpstr>Custom Design</vt:lpstr>
      <vt:lpstr>Profile</vt:lpstr>
      <vt:lpstr>Image</vt:lpstr>
      <vt:lpstr>LẬP TRÌNH. NET</vt:lpstr>
      <vt:lpstr>Chương 2. Lập trình hướng đối tượng với C#</vt:lpstr>
      <vt:lpstr>1. Giới thiệu về ngôn ngữ lập trình C#</vt:lpstr>
      <vt:lpstr>1. Giới thiệu về ngôn ngữ lập trình C#</vt:lpstr>
      <vt:lpstr>1. Giới thiệu về ngôn ngữ lập trình C#</vt:lpstr>
      <vt:lpstr>1. Giới thiệu về ngôn ngữ lập trình C#</vt:lpstr>
      <vt:lpstr>1. Giới thiệu về ngôn ngữ lập trình C#</vt:lpstr>
      <vt:lpstr>1. Giới thiệu về ngôn ngữ lập trình C#</vt:lpstr>
      <vt:lpstr>1. Giới thiệu về ngôn ngữ lập trình C#</vt:lpstr>
      <vt:lpstr>1. Giới thiệu về ngôn ngữ lập trình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2. Kiểu dữ liệu – biến và toán tử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lpstr>3. Cấu trúc điều khiển trong 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BÀI TOÁN PHÂN LOẠI VĂN BẢN TIẾNG VIỆT TRONG KHAI PHÁ DỮ LIỆU VĂN BẢN</dc:title>
  <dc:creator>Trung Dung</dc:creator>
  <cp:lastModifiedBy>Nguyễn Thu Hằng</cp:lastModifiedBy>
  <cp:revision>830</cp:revision>
  <dcterms:created xsi:type="dcterms:W3CDTF">2014-02-26T07:45:26Z</dcterms:created>
  <dcterms:modified xsi:type="dcterms:W3CDTF">2024-05-09T09:25:54Z</dcterms:modified>
</cp:coreProperties>
</file>