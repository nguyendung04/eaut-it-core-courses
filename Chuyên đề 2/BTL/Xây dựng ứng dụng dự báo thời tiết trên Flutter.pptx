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21.fntdata" ContentType="application/x-fontdata"/>
  <Override PartName="/ppt/fonts/font22.fntdata" ContentType="application/x-fontdata"/>
  <Override PartName="/ppt/fonts/font23.fntdata" ContentType="application/x-fontdata"/>
  <Override PartName="/ppt/fonts/font24.fntdata" ContentType="application/x-fontdata"/>
  <Override PartName="/ppt/fonts/font25.fntdata" ContentType="application/x-fontdata"/>
  <Override PartName="/ppt/fonts/font26.fntdata" ContentType="application/x-fontdata"/>
  <Override PartName="/ppt/fonts/font27.fntdata" ContentType="application/x-fontdata"/>
  <Override PartName="/ppt/fonts/font28.fntdata" ContentType="application/x-fontdata"/>
  <Override PartName="/ppt/fonts/font29.fntdata" ContentType="application/x-fontdata"/>
  <Override PartName="/ppt/fonts/font3.fntdata" ContentType="application/x-fontdata"/>
  <Override PartName="/ppt/fonts/font30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79300" cy="6858000"/>
  <p:notesSz cx="12179300" cy="6858000"/>
  <p:embeddedFontLst>
    <p:embeddedFont>
      <p:font typeface="PISDPA+Roboto Bold"/>
      <p:regular r:id="rId18"/>
    </p:embeddedFont>
    <p:embeddedFont>
      <p:font typeface="RMDLHC+Roboto"/>
      <p:regular r:id="rId19"/>
    </p:embeddedFont>
    <p:embeddedFont>
      <p:font typeface="NFBWAP+Roboto Italic"/>
      <p:regular r:id="rId20"/>
    </p:embeddedFont>
    <p:embeddedFont>
      <p:font typeface="VIGUJC+Roboto Medium"/>
      <p:regular r:id="rId21"/>
    </p:embeddedFont>
    <p:embeddedFont>
      <p:font typeface="HENIAA+Roboto Italic"/>
      <p:regular r:id="rId22"/>
    </p:embeddedFont>
    <p:embeddedFont>
      <p:font typeface="TBMUQR+Roboto Bold"/>
      <p:regular r:id="rId23"/>
    </p:embeddedFont>
    <p:embeddedFont>
      <p:font typeface="JWVVIF+Roboto"/>
      <p:regular r:id="rId24"/>
    </p:embeddedFont>
    <p:embeddedFont>
      <p:font typeface="SIOMOL+Roboto Medium"/>
      <p:regular r:id="rId25"/>
    </p:embeddedFont>
    <p:embeddedFont>
      <p:font typeface="CFJCBD+Roboto Bold"/>
      <p:regular r:id="rId26"/>
    </p:embeddedFont>
    <p:embeddedFont>
      <p:font typeface="LKQNVR+Roboto Italic"/>
      <p:regular r:id="rId27"/>
    </p:embeddedFont>
    <p:embeddedFont>
      <p:font typeface="UVLQWA+Roboto Medium"/>
      <p:regular r:id="rId28"/>
    </p:embeddedFont>
    <p:embeddedFont>
      <p:font typeface="LPCPWU+Roboto Bold"/>
      <p:regular r:id="rId29"/>
    </p:embeddedFont>
    <p:embeddedFont>
      <p:font typeface="KWVFHS+Roboto"/>
      <p:regular r:id="rId30"/>
    </p:embeddedFont>
    <p:embeddedFont>
      <p:font typeface="QURWVC+Roboto"/>
      <p:regular r:id="rId31"/>
    </p:embeddedFont>
    <p:embeddedFont>
      <p:font typeface="LEADHR+Roboto Bold"/>
      <p:regular r:id="rId32"/>
    </p:embeddedFont>
    <p:embeddedFont>
      <p:font typeface="WVTEWE+Roboto Italic"/>
      <p:regular r:id="rId33"/>
    </p:embeddedFont>
    <p:embeddedFont>
      <p:font typeface="WCLJPI+Roboto Bold"/>
      <p:regular r:id="rId34"/>
    </p:embeddedFont>
    <p:embeddedFont>
      <p:font typeface="QGUBRF+Roboto"/>
      <p:regular r:id="rId35"/>
    </p:embeddedFont>
    <p:embeddedFont>
      <p:font typeface="KJWCDD+Roboto"/>
      <p:regular r:id="rId36"/>
    </p:embeddedFont>
    <p:embeddedFont>
      <p:font typeface="ATIKMU+Roboto Bold"/>
      <p:regular r:id="rId37"/>
    </p:embeddedFont>
    <p:embeddedFont>
      <p:font typeface="TTOOAQ+Roboto"/>
      <p:regular r:id="rId38"/>
    </p:embeddedFont>
    <p:embeddedFont>
      <p:font typeface="OUVFCU+Roboto Bold"/>
      <p:regular r:id="rId39"/>
    </p:embeddedFont>
    <p:embeddedFont>
      <p:font typeface="NDKMHG+Roboto Italic"/>
      <p:regular r:id="rId40"/>
    </p:embeddedFont>
    <p:embeddedFont>
      <p:font typeface="RJQFDR+Roboto Bold"/>
      <p:regular r:id="rId41"/>
    </p:embeddedFont>
    <p:embeddedFont>
      <p:font typeface="PQMTEM+Roboto"/>
      <p:regular r:id="rId42"/>
    </p:embeddedFont>
    <p:embeddedFont>
      <p:font typeface="VFJBER+Roboto Italic"/>
      <p:regular r:id="rId43"/>
    </p:embeddedFont>
    <p:embeddedFont>
      <p:font typeface="UKMCST+Roboto"/>
      <p:regular r:id="rId44"/>
    </p:embeddedFont>
    <p:embeddedFont>
      <p:font typeface="KJBPCO+Roboto Medium"/>
      <p:regular r:id="rId45"/>
    </p:embeddedFont>
    <p:embeddedFont>
      <p:font typeface="VMPSTP+Roboto Bold"/>
      <p:regular r:id="rId46"/>
    </p:embeddedFont>
    <p:embeddedFont>
      <p:font typeface="NMAKCS+Roboto Italic"/>
      <p:regular r:id="rId4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presProps" Target="presProps.xml" /><Relationship Id="rId10" Type="http://schemas.openxmlformats.org/officeDocument/2006/relationships/slide" Target="slides/slide5.xml" /><Relationship Id="rId11" Type="http://schemas.openxmlformats.org/officeDocument/2006/relationships/slide" Target="slides/slide6.xml" /><Relationship Id="rId12" Type="http://schemas.openxmlformats.org/officeDocument/2006/relationships/slide" Target="slides/slide7.xml" /><Relationship Id="rId13" Type="http://schemas.openxmlformats.org/officeDocument/2006/relationships/slide" Target="slides/slide8.xml" /><Relationship Id="rId14" Type="http://schemas.openxmlformats.org/officeDocument/2006/relationships/slide" Target="slides/slide9.xml" /><Relationship Id="rId15" Type="http://schemas.openxmlformats.org/officeDocument/2006/relationships/slide" Target="slides/slide10.xml" /><Relationship Id="rId16" Type="http://schemas.openxmlformats.org/officeDocument/2006/relationships/slide" Target="slides/slide11.xml" /><Relationship Id="rId17" Type="http://schemas.openxmlformats.org/officeDocument/2006/relationships/slide" Target="slides/slide12.xml" /><Relationship Id="rId18" Type="http://schemas.openxmlformats.org/officeDocument/2006/relationships/font" Target="fonts/font1.fntdata" /><Relationship Id="rId19" Type="http://schemas.openxmlformats.org/officeDocument/2006/relationships/font" Target="fonts/font2.fntdata" /><Relationship Id="rId2" Type="http://schemas.openxmlformats.org/officeDocument/2006/relationships/tableStyles" Target="tableStyles.xml" /><Relationship Id="rId20" Type="http://schemas.openxmlformats.org/officeDocument/2006/relationships/font" Target="fonts/font3.fntdata" /><Relationship Id="rId21" Type="http://schemas.openxmlformats.org/officeDocument/2006/relationships/font" Target="fonts/font4.fntdata" /><Relationship Id="rId22" Type="http://schemas.openxmlformats.org/officeDocument/2006/relationships/font" Target="fonts/font5.fntdata" /><Relationship Id="rId23" Type="http://schemas.openxmlformats.org/officeDocument/2006/relationships/font" Target="fonts/font6.fntdata" /><Relationship Id="rId24" Type="http://schemas.openxmlformats.org/officeDocument/2006/relationships/font" Target="fonts/font7.fntdata" /><Relationship Id="rId25" Type="http://schemas.openxmlformats.org/officeDocument/2006/relationships/font" Target="fonts/font8.fntdata" /><Relationship Id="rId26" Type="http://schemas.openxmlformats.org/officeDocument/2006/relationships/font" Target="fonts/font9.fntdata" /><Relationship Id="rId27" Type="http://schemas.openxmlformats.org/officeDocument/2006/relationships/font" Target="fonts/font10.fntdata" /><Relationship Id="rId28" Type="http://schemas.openxmlformats.org/officeDocument/2006/relationships/font" Target="fonts/font11.fntdata" /><Relationship Id="rId29" Type="http://schemas.openxmlformats.org/officeDocument/2006/relationships/font" Target="fonts/font12.fntdata" /><Relationship Id="rId3" Type="http://schemas.openxmlformats.org/officeDocument/2006/relationships/viewProps" Target="viewProps.xml" /><Relationship Id="rId30" Type="http://schemas.openxmlformats.org/officeDocument/2006/relationships/font" Target="fonts/font13.fntdata" /><Relationship Id="rId31" Type="http://schemas.openxmlformats.org/officeDocument/2006/relationships/font" Target="fonts/font14.fntdata" /><Relationship Id="rId32" Type="http://schemas.openxmlformats.org/officeDocument/2006/relationships/font" Target="fonts/font15.fntdata" /><Relationship Id="rId33" Type="http://schemas.openxmlformats.org/officeDocument/2006/relationships/font" Target="fonts/font16.fntdata" /><Relationship Id="rId34" Type="http://schemas.openxmlformats.org/officeDocument/2006/relationships/font" Target="fonts/font17.fntdata" /><Relationship Id="rId35" Type="http://schemas.openxmlformats.org/officeDocument/2006/relationships/font" Target="fonts/font18.fntdata" /><Relationship Id="rId36" Type="http://schemas.openxmlformats.org/officeDocument/2006/relationships/font" Target="fonts/font19.fntdata" /><Relationship Id="rId37" Type="http://schemas.openxmlformats.org/officeDocument/2006/relationships/font" Target="fonts/font20.fntdata" /><Relationship Id="rId38" Type="http://schemas.openxmlformats.org/officeDocument/2006/relationships/font" Target="fonts/font21.fntdata" /><Relationship Id="rId39" Type="http://schemas.openxmlformats.org/officeDocument/2006/relationships/font" Target="fonts/font22.fntdata" /><Relationship Id="rId4" Type="http://schemas.openxmlformats.org/officeDocument/2006/relationships/theme" Target="theme/theme1.xml" /><Relationship Id="rId40" Type="http://schemas.openxmlformats.org/officeDocument/2006/relationships/font" Target="fonts/font23.fntdata" /><Relationship Id="rId41" Type="http://schemas.openxmlformats.org/officeDocument/2006/relationships/font" Target="fonts/font24.fntdata" /><Relationship Id="rId42" Type="http://schemas.openxmlformats.org/officeDocument/2006/relationships/font" Target="fonts/font25.fntdata" /><Relationship Id="rId43" Type="http://schemas.openxmlformats.org/officeDocument/2006/relationships/font" Target="fonts/font26.fntdata" /><Relationship Id="rId44" Type="http://schemas.openxmlformats.org/officeDocument/2006/relationships/font" Target="fonts/font27.fntdata" /><Relationship Id="rId45" Type="http://schemas.openxmlformats.org/officeDocument/2006/relationships/font" Target="fonts/font28.fntdata" /><Relationship Id="rId46" Type="http://schemas.openxmlformats.org/officeDocument/2006/relationships/font" Target="fonts/font29.fntdata" /><Relationship Id="rId47" Type="http://schemas.openxmlformats.org/officeDocument/2006/relationships/font" Target="fonts/font30.fntdata" /><Relationship Id="rId5" Type="http://schemas.openxmlformats.org/officeDocument/2006/relationships/slideMaster" Target="slideMasters/slideMaster1.xml" /><Relationship Id="rId6" Type="http://schemas.openxmlformats.org/officeDocument/2006/relationships/slide" Target="slides/slide1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slide" Target="slides/slide4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7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8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9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0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1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2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793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23924" y="830907"/>
            <a:ext cx="2412206" cy="2390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8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b="1">
                <a:solidFill>
                  <a:srgbClr val="1a73e8"/>
                </a:solidFill>
                <a:latin typeface="PISDPA+Roboto Bold"/>
                <a:cs typeface="PISDPA+Roboto Bold"/>
              </a:rPr>
              <a:t>Môn</a:t>
            </a:r>
            <a:r>
              <a:rPr dirty="0" sz="1200" b="1">
                <a:solidFill>
                  <a:srgbClr val="1a73e8"/>
                </a:solidFill>
                <a:latin typeface="PISDPA+Roboto Bold"/>
                <a:cs typeface="PISDPA+Roboto Bold"/>
              </a:rPr>
              <a:t> </a:t>
            </a:r>
            <a:r>
              <a:rPr dirty="0" sz="1200" b="1">
                <a:solidFill>
                  <a:srgbClr val="1a73e8"/>
                </a:solidFill>
                <a:latin typeface="PISDPA+Roboto Bold"/>
                <a:cs typeface="PISDPA+Roboto Bold"/>
              </a:rPr>
              <a:t>học:</a:t>
            </a:r>
            <a:r>
              <a:rPr dirty="0" sz="1200" b="1">
                <a:solidFill>
                  <a:srgbClr val="1a73e8"/>
                </a:solidFill>
                <a:latin typeface="PISDPA+Roboto Bold"/>
                <a:cs typeface="PISDPA+Roboto Bold"/>
              </a:rPr>
              <a:t> </a:t>
            </a:r>
            <a:r>
              <a:rPr dirty="0" sz="1200" b="1">
                <a:solidFill>
                  <a:srgbClr val="1a73e8"/>
                </a:solidFill>
                <a:latin typeface="PISDPA+Roboto Bold"/>
                <a:cs typeface="PISDPA+Roboto Bold"/>
              </a:rPr>
              <a:t>Chuyên</a:t>
            </a:r>
            <a:r>
              <a:rPr dirty="0" sz="1200" b="1">
                <a:solidFill>
                  <a:srgbClr val="1a73e8"/>
                </a:solidFill>
                <a:latin typeface="PISDPA+Roboto Bold"/>
                <a:cs typeface="PISDPA+Roboto Bold"/>
              </a:rPr>
              <a:t> </a:t>
            </a:r>
            <a:r>
              <a:rPr dirty="0" sz="1200" b="1">
                <a:solidFill>
                  <a:srgbClr val="1a73e8"/>
                </a:solidFill>
                <a:latin typeface="PISDPA+Roboto Bold"/>
                <a:cs typeface="PISDPA+Roboto Bold"/>
              </a:rPr>
              <a:t>đề</a:t>
            </a:r>
            <a:r>
              <a:rPr dirty="0" sz="1200" b="1">
                <a:solidFill>
                  <a:srgbClr val="1a73e8"/>
                </a:solidFill>
                <a:latin typeface="PISDPA+Roboto Bold"/>
                <a:cs typeface="PISDPA+Roboto Bold"/>
              </a:rPr>
              <a:t> </a:t>
            </a:r>
            <a:r>
              <a:rPr dirty="0" sz="1200" b="1">
                <a:solidFill>
                  <a:srgbClr val="1a73e8"/>
                </a:solidFill>
                <a:latin typeface="PISDPA+Roboto Bold"/>
                <a:cs typeface="PISDPA+Roboto Bold"/>
              </a:rPr>
              <a:t>tốt</a:t>
            </a:r>
            <a:r>
              <a:rPr dirty="0" sz="1200" b="1">
                <a:solidFill>
                  <a:srgbClr val="1a73e8"/>
                </a:solidFill>
                <a:latin typeface="PISDPA+Roboto Bold"/>
                <a:cs typeface="PISDPA+Roboto Bold"/>
              </a:rPr>
              <a:t> </a:t>
            </a:r>
            <a:r>
              <a:rPr dirty="0" sz="1200" b="1">
                <a:solidFill>
                  <a:srgbClr val="1a73e8"/>
                </a:solidFill>
                <a:latin typeface="PISDPA+Roboto Bold"/>
                <a:cs typeface="PISDPA+Roboto Bold"/>
              </a:rPr>
              <a:t>nghiệp</a:t>
            </a:r>
            <a:r>
              <a:rPr dirty="0" sz="1200" b="1">
                <a:solidFill>
                  <a:srgbClr val="1a73e8"/>
                </a:solidFill>
                <a:latin typeface="PISDPA+Roboto Bold"/>
                <a:cs typeface="PISDPA+Roboto Bold"/>
              </a:rPr>
              <a:t> </a:t>
            </a:r>
            <a:r>
              <a:rPr dirty="0" sz="1200" b="1">
                <a:solidFill>
                  <a:srgbClr val="1a73e8"/>
                </a:solidFill>
                <a:latin typeface="PISDPA+Roboto Bold"/>
                <a:cs typeface="PISDPA+Roboto Bold"/>
              </a:rPr>
              <a:t>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1999" y="1414908"/>
            <a:ext cx="6108277" cy="16442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 b="1">
                <a:solidFill>
                  <a:srgbClr val="1a73e8"/>
                </a:solidFill>
                <a:latin typeface="Arial"/>
                <a:cs typeface="Arial"/>
              </a:rPr>
              <a:t>XÂY</a:t>
            </a:r>
            <a:r>
              <a:rPr dirty="0" sz="3600" spc="-64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1a73e8"/>
                </a:solidFill>
                <a:latin typeface="Arial"/>
                <a:cs typeface="Arial"/>
              </a:rPr>
              <a:t>DỰNG</a:t>
            </a:r>
            <a:r>
              <a:rPr dirty="0" sz="360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1a73e8"/>
                </a:solidFill>
                <a:latin typeface="Arial"/>
                <a:cs typeface="Arial"/>
              </a:rPr>
              <a:t>ỨNG</a:t>
            </a:r>
            <a:r>
              <a:rPr dirty="0" sz="360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1a73e8"/>
                </a:solidFill>
                <a:latin typeface="Arial"/>
                <a:cs typeface="Arial"/>
              </a:rPr>
              <a:t>DỤNG</a:t>
            </a:r>
            <a:r>
              <a:rPr dirty="0" sz="360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1a73e8"/>
                </a:solidFill>
                <a:latin typeface="Arial"/>
                <a:cs typeface="Arial"/>
              </a:rPr>
              <a:t>DỰ</a:t>
            </a:r>
          </a:p>
          <a:p>
            <a:pPr marL="0" marR="0">
              <a:lnSpc>
                <a:spcPts val="4021"/>
              </a:lnSpc>
              <a:spcBef>
                <a:spcPts val="378"/>
              </a:spcBef>
              <a:spcAft>
                <a:spcPts val="0"/>
              </a:spcAft>
            </a:pPr>
            <a:r>
              <a:rPr dirty="0" sz="3600" b="1">
                <a:solidFill>
                  <a:srgbClr val="1a73e8"/>
                </a:solidFill>
                <a:latin typeface="Arial"/>
                <a:cs typeface="Arial"/>
              </a:rPr>
              <a:t>BÁO</a:t>
            </a:r>
            <a:r>
              <a:rPr dirty="0" sz="360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1a73e8"/>
                </a:solidFill>
                <a:latin typeface="Arial"/>
                <a:cs typeface="Arial"/>
              </a:rPr>
              <a:t>THỜI</a:t>
            </a:r>
            <a:r>
              <a:rPr dirty="0" sz="360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1a73e8"/>
                </a:solidFill>
                <a:latin typeface="Arial"/>
                <a:cs typeface="Arial"/>
              </a:rPr>
              <a:t>TIẾT</a:t>
            </a:r>
            <a:r>
              <a:rPr dirty="0" sz="360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600" b="1">
                <a:solidFill>
                  <a:srgbClr val="1a73e8"/>
                </a:solidFill>
                <a:latin typeface="Arial"/>
                <a:cs typeface="Arial"/>
              </a:rPr>
              <a:t>TRÊN</a:t>
            </a:r>
          </a:p>
          <a:p>
            <a:pPr marL="0" marR="0">
              <a:lnSpc>
                <a:spcPts val="4021"/>
              </a:lnSpc>
              <a:spcBef>
                <a:spcPts val="203"/>
              </a:spcBef>
              <a:spcAft>
                <a:spcPts val="0"/>
              </a:spcAft>
            </a:pPr>
            <a:r>
              <a:rPr dirty="0" sz="3600" b="1">
                <a:solidFill>
                  <a:srgbClr val="1a73e8"/>
                </a:solidFill>
                <a:latin typeface="Arial"/>
                <a:cs typeface="Arial"/>
              </a:rPr>
              <a:t>FLUTTER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1999" y="3307779"/>
            <a:ext cx="4062151" cy="60781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Kiến</a:t>
            </a: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trúc</a:t>
            </a: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hướng</a:t>
            </a: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MVC/MVVM</a:t>
            </a: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nhẹ</a:t>
            </a: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và</a:t>
            </a:r>
          </a:p>
          <a:p>
            <a:pPr marL="0" marR="0">
              <a:lnSpc>
                <a:spcPts val="2010"/>
              </a:lnSpc>
              <a:spcBef>
                <a:spcPts val="464"/>
              </a:spcBef>
              <a:spcAft>
                <a:spcPts val="0"/>
              </a:spcAft>
            </a:pP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Quản</a:t>
            </a: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lý</a:t>
            </a: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thông</a:t>
            </a: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báo</a:t>
            </a: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thông</a:t>
            </a: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minh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71649" y="5516296"/>
            <a:ext cx="1238277" cy="4158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3c4043"/>
                </a:solidFill>
                <a:latin typeface="PISDPA+Roboto Bold"/>
                <a:cs typeface="PISDPA+Roboto Bold"/>
              </a:rPr>
              <a:t>Nguyễn</a:t>
            </a:r>
            <a:r>
              <a:rPr dirty="0" sz="1350" b="1">
                <a:solidFill>
                  <a:srgbClr val="3c4043"/>
                </a:solidFill>
                <a:latin typeface="PISDPA+Roboto Bold"/>
                <a:cs typeface="PISDPA+Roboto Bold"/>
              </a:rPr>
              <a:t> </a:t>
            </a:r>
            <a:r>
              <a:rPr dirty="0" sz="1350" spc="-15" b="1">
                <a:solidFill>
                  <a:srgbClr val="3c4043"/>
                </a:solidFill>
                <a:latin typeface="PISDPA+Roboto Bold"/>
                <a:cs typeface="PISDPA+Roboto Bold"/>
              </a:rPr>
              <a:t>Văn</a:t>
            </a:r>
            <a:r>
              <a:rPr dirty="0" sz="1350" spc="15" b="1">
                <a:solidFill>
                  <a:srgbClr val="3c4043"/>
                </a:solidFill>
                <a:latin typeface="PISDPA+Roboto Bold"/>
                <a:cs typeface="PISDPA+Roboto Bold"/>
              </a:rPr>
              <a:t> </a:t>
            </a:r>
            <a:r>
              <a:rPr dirty="0" sz="1350" b="1">
                <a:solidFill>
                  <a:srgbClr val="3c4043"/>
                </a:solidFill>
                <a:latin typeface="PISDPA+Roboto Bold"/>
                <a:cs typeface="PISDPA+Roboto Bold"/>
              </a:rPr>
              <a:t>A</a:t>
            </a:r>
          </a:p>
          <a:p>
            <a:pPr marL="0" marR="0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70757a"/>
                </a:solidFill>
                <a:latin typeface="RMDLHC+Roboto"/>
                <a:cs typeface="RMDLHC+Roboto"/>
              </a:rPr>
              <a:t>MSSV:</a:t>
            </a:r>
            <a:r>
              <a:rPr dirty="0" sz="1050">
                <a:solidFill>
                  <a:srgbClr val="70757a"/>
                </a:solidFill>
                <a:latin typeface="RMDLHC+Roboto"/>
                <a:cs typeface="RMDLHC+Roboto"/>
              </a:rPr>
              <a:t> </a:t>
            </a:r>
            <a:r>
              <a:rPr dirty="0" sz="1050">
                <a:solidFill>
                  <a:srgbClr val="70757a"/>
                </a:solidFill>
                <a:latin typeface="RMDLHC+Roboto"/>
                <a:cs typeface="RMDLHC+Roboto"/>
              </a:rPr>
              <a:t>20220001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338637" y="5516296"/>
            <a:ext cx="1177007" cy="4158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spc="-20" b="1">
                <a:solidFill>
                  <a:srgbClr val="3c4043"/>
                </a:solidFill>
                <a:latin typeface="PISDPA+Roboto Bold"/>
                <a:cs typeface="PISDPA+Roboto Bold"/>
              </a:rPr>
              <a:t>Trần</a:t>
            </a:r>
            <a:r>
              <a:rPr dirty="0" sz="1350" spc="-18" b="1">
                <a:solidFill>
                  <a:srgbClr val="3c4043"/>
                </a:solidFill>
                <a:latin typeface="PISDPA+Roboto Bold"/>
                <a:cs typeface="PISDPA+Roboto Bold"/>
              </a:rPr>
              <a:t> </a:t>
            </a:r>
            <a:r>
              <a:rPr dirty="0" sz="1350" b="1">
                <a:solidFill>
                  <a:srgbClr val="3c4043"/>
                </a:solidFill>
                <a:latin typeface="PISDPA+Roboto Bold"/>
                <a:cs typeface="PISDPA+Roboto Bold"/>
              </a:rPr>
              <a:t>Thị</a:t>
            </a:r>
            <a:r>
              <a:rPr dirty="0" sz="1350" b="1">
                <a:solidFill>
                  <a:srgbClr val="3c4043"/>
                </a:solidFill>
                <a:latin typeface="PISDPA+Roboto Bold"/>
                <a:cs typeface="PISDPA+Roboto Bold"/>
              </a:rPr>
              <a:t> </a:t>
            </a:r>
            <a:r>
              <a:rPr dirty="0" sz="1350" b="1">
                <a:solidFill>
                  <a:srgbClr val="3c4043"/>
                </a:solidFill>
                <a:latin typeface="PISDPA+Roboto Bold"/>
                <a:cs typeface="PISDPA+Roboto Bold"/>
              </a:rPr>
              <a:t>B</a:t>
            </a:r>
          </a:p>
          <a:p>
            <a:pPr marL="0" marR="0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70757a"/>
                </a:solidFill>
                <a:latin typeface="RMDLHC+Roboto"/>
                <a:cs typeface="RMDLHC+Roboto"/>
              </a:rPr>
              <a:t>MSSV:</a:t>
            </a:r>
            <a:r>
              <a:rPr dirty="0" sz="1050">
                <a:solidFill>
                  <a:srgbClr val="70757a"/>
                </a:solidFill>
                <a:latin typeface="RMDLHC+Roboto"/>
                <a:cs typeface="RMDLHC+Roboto"/>
              </a:rPr>
              <a:t> </a:t>
            </a:r>
            <a:r>
              <a:rPr dirty="0" sz="1050">
                <a:solidFill>
                  <a:srgbClr val="70757a"/>
                </a:solidFill>
                <a:latin typeface="RMDLHC+Roboto"/>
                <a:cs typeface="RMDLHC+Roboto"/>
              </a:rPr>
              <a:t>20220002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905624" y="5516296"/>
            <a:ext cx="1177007" cy="4158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3c4043"/>
                </a:solidFill>
                <a:latin typeface="PISDPA+Roboto Bold"/>
                <a:cs typeface="PISDPA+Roboto Bold"/>
              </a:rPr>
              <a:t>Lê</a:t>
            </a:r>
            <a:r>
              <a:rPr dirty="0" sz="1350" b="1">
                <a:solidFill>
                  <a:srgbClr val="3c4043"/>
                </a:solidFill>
                <a:latin typeface="PISDPA+Roboto Bold"/>
                <a:cs typeface="PISDPA+Roboto Bold"/>
              </a:rPr>
              <a:t> </a:t>
            </a:r>
            <a:r>
              <a:rPr dirty="0" sz="1350" spc="-15" b="1">
                <a:solidFill>
                  <a:srgbClr val="3c4043"/>
                </a:solidFill>
                <a:latin typeface="PISDPA+Roboto Bold"/>
                <a:cs typeface="PISDPA+Roboto Bold"/>
              </a:rPr>
              <a:t>Văn</a:t>
            </a:r>
            <a:r>
              <a:rPr dirty="0" sz="1350" spc="15" b="1">
                <a:solidFill>
                  <a:srgbClr val="3c4043"/>
                </a:solidFill>
                <a:latin typeface="PISDPA+Roboto Bold"/>
                <a:cs typeface="PISDPA+Roboto Bold"/>
              </a:rPr>
              <a:t> </a:t>
            </a:r>
            <a:r>
              <a:rPr dirty="0" sz="1350" b="1">
                <a:solidFill>
                  <a:srgbClr val="3c4043"/>
                </a:solidFill>
                <a:latin typeface="PISDPA+Roboto Bold"/>
                <a:cs typeface="PISDPA+Roboto Bold"/>
              </a:rPr>
              <a:t>C</a:t>
            </a:r>
          </a:p>
          <a:p>
            <a:pPr marL="0" marR="0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70757a"/>
                </a:solidFill>
                <a:latin typeface="RMDLHC+Roboto"/>
                <a:cs typeface="RMDLHC+Roboto"/>
              </a:rPr>
              <a:t>MSSV:</a:t>
            </a:r>
            <a:r>
              <a:rPr dirty="0" sz="1050">
                <a:solidFill>
                  <a:srgbClr val="70757a"/>
                </a:solidFill>
                <a:latin typeface="RMDLHC+Roboto"/>
                <a:cs typeface="RMDLHC+Roboto"/>
              </a:rPr>
              <a:t> </a:t>
            </a:r>
            <a:r>
              <a:rPr dirty="0" sz="1050">
                <a:solidFill>
                  <a:srgbClr val="70757a"/>
                </a:solidFill>
                <a:latin typeface="RMDLHC+Roboto"/>
                <a:cs typeface="RMDLHC+Roboto"/>
              </a:rPr>
              <a:t>20220003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472611" y="5516296"/>
            <a:ext cx="1177007" cy="4158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3c4043"/>
                </a:solidFill>
                <a:latin typeface="PISDPA+Roboto Bold"/>
                <a:cs typeface="PISDPA+Roboto Bold"/>
              </a:rPr>
              <a:t>Phạm</a:t>
            </a:r>
            <a:r>
              <a:rPr dirty="0" sz="1350" spc="-40" b="1">
                <a:solidFill>
                  <a:srgbClr val="3c4043"/>
                </a:solidFill>
                <a:latin typeface="PISDPA+Roboto Bold"/>
                <a:cs typeface="PISDPA+Roboto Bold"/>
              </a:rPr>
              <a:t> </a:t>
            </a:r>
            <a:r>
              <a:rPr dirty="0" sz="1350" b="1">
                <a:solidFill>
                  <a:srgbClr val="3c4043"/>
                </a:solidFill>
                <a:latin typeface="PISDPA+Roboto Bold"/>
                <a:cs typeface="PISDPA+Roboto Bold"/>
              </a:rPr>
              <a:t>Thị</a:t>
            </a:r>
            <a:r>
              <a:rPr dirty="0" sz="1350" b="1">
                <a:solidFill>
                  <a:srgbClr val="3c4043"/>
                </a:solidFill>
                <a:latin typeface="PISDPA+Roboto Bold"/>
                <a:cs typeface="PISDPA+Roboto Bold"/>
              </a:rPr>
              <a:t> </a:t>
            </a:r>
            <a:r>
              <a:rPr dirty="0" sz="1350" b="1">
                <a:solidFill>
                  <a:srgbClr val="3c4043"/>
                </a:solidFill>
                <a:latin typeface="PISDPA+Roboto Bold"/>
                <a:cs typeface="PISDPA+Roboto Bold"/>
              </a:rPr>
              <a:t>D</a:t>
            </a:r>
          </a:p>
          <a:p>
            <a:pPr marL="0" marR="0">
              <a:lnSpc>
                <a:spcPts val="1275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70757a"/>
                </a:solidFill>
                <a:latin typeface="RMDLHC+Roboto"/>
                <a:cs typeface="RMDLHC+Roboto"/>
              </a:rPr>
              <a:t>MSSV:</a:t>
            </a:r>
            <a:r>
              <a:rPr dirty="0" sz="1050">
                <a:solidFill>
                  <a:srgbClr val="70757a"/>
                </a:solidFill>
                <a:latin typeface="RMDLHC+Roboto"/>
                <a:cs typeface="RMDLHC+Roboto"/>
              </a:rPr>
              <a:t> </a:t>
            </a:r>
            <a:r>
              <a:rPr dirty="0" sz="1050">
                <a:solidFill>
                  <a:srgbClr val="70757a"/>
                </a:solidFill>
                <a:latin typeface="RMDLHC+Roboto"/>
                <a:cs typeface="RMDLHC+Roboto"/>
              </a:rPr>
              <a:t>20220004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255513" y="5602933"/>
            <a:ext cx="327273" cy="2390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8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b="1">
                <a:solidFill>
                  <a:srgbClr val="1a73e8"/>
                </a:solidFill>
                <a:latin typeface="PISDPA+Roboto Bold"/>
                <a:cs typeface="PISDPA+Roboto Bold"/>
              </a:rPr>
              <a:t>01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822501" y="5602933"/>
            <a:ext cx="327273" cy="2390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8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b="1">
                <a:solidFill>
                  <a:srgbClr val="1a73e8"/>
                </a:solidFill>
                <a:latin typeface="PISDPA+Roboto Bold"/>
                <a:cs typeface="PISDPA+Roboto Bold"/>
              </a:rPr>
              <a:t>02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389488" y="5602933"/>
            <a:ext cx="327273" cy="2390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8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b="1">
                <a:solidFill>
                  <a:srgbClr val="1a73e8"/>
                </a:solidFill>
                <a:latin typeface="PISDPA+Roboto Bold"/>
                <a:cs typeface="PISDPA+Roboto Bold"/>
              </a:rPr>
              <a:t>03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956475" y="5602933"/>
            <a:ext cx="327273" cy="2390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8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b="1">
                <a:solidFill>
                  <a:srgbClr val="1a73e8"/>
                </a:solidFill>
                <a:latin typeface="PISDPA+Roboto Bold"/>
                <a:cs typeface="PISDPA+Roboto Bold"/>
              </a:rPr>
              <a:t>04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61999" y="6499193"/>
            <a:ext cx="2503930" cy="2139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84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i="1">
                <a:solidFill>
                  <a:srgbClr val="70757a"/>
                </a:solidFill>
                <a:latin typeface="NFBWAP+Roboto Italic"/>
                <a:cs typeface="NFBWAP+Roboto Italic"/>
              </a:rPr>
              <a:t>Giảng</a:t>
            </a:r>
            <a:r>
              <a:rPr dirty="0" sz="1050" i="1">
                <a:solidFill>
                  <a:srgbClr val="70757a"/>
                </a:solidFill>
                <a:latin typeface="NFBWAP+Roboto Italic"/>
                <a:cs typeface="NFBWAP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NFBWAP+Roboto Italic"/>
                <a:cs typeface="NFBWAP+Roboto Italic"/>
              </a:rPr>
              <a:t>viên</a:t>
            </a:r>
            <a:r>
              <a:rPr dirty="0" sz="1050" i="1">
                <a:solidFill>
                  <a:srgbClr val="70757a"/>
                </a:solidFill>
                <a:latin typeface="NFBWAP+Roboto Italic"/>
                <a:cs typeface="NFBWAP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NFBWAP+Roboto Italic"/>
                <a:cs typeface="NFBWAP+Roboto Italic"/>
              </a:rPr>
              <a:t>hướng</a:t>
            </a:r>
            <a:r>
              <a:rPr dirty="0" sz="1050" i="1">
                <a:solidFill>
                  <a:srgbClr val="70757a"/>
                </a:solidFill>
                <a:latin typeface="NFBWAP+Roboto Italic"/>
                <a:cs typeface="NFBWAP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NFBWAP+Roboto Italic"/>
                <a:cs typeface="NFBWAP+Roboto Italic"/>
              </a:rPr>
              <a:t>dẫn:</a:t>
            </a:r>
            <a:r>
              <a:rPr dirty="0" sz="1050" spc="-11" i="1">
                <a:solidFill>
                  <a:srgbClr val="70757a"/>
                </a:solidFill>
                <a:latin typeface="NFBWAP+Roboto Italic"/>
                <a:cs typeface="NFBWAP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NFBWAP+Roboto Italic"/>
                <a:cs typeface="NFBWAP+Roboto Italic"/>
              </a:rPr>
              <a:t>TS.</a:t>
            </a:r>
            <a:r>
              <a:rPr dirty="0" sz="1050" spc="13" i="1">
                <a:solidFill>
                  <a:srgbClr val="70757a"/>
                </a:solidFill>
                <a:latin typeface="NFBWAP+Roboto Italic"/>
                <a:cs typeface="NFBWAP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NFBWAP+Roboto Italic"/>
                <a:cs typeface="NFBWAP+Roboto Italic"/>
              </a:rPr>
              <a:t>Nguyễn</a:t>
            </a:r>
            <a:r>
              <a:rPr dirty="0" sz="1050" spc="10" i="1">
                <a:solidFill>
                  <a:srgbClr val="70757a"/>
                </a:solidFill>
                <a:latin typeface="NFBWAP+Roboto Italic"/>
                <a:cs typeface="NFBWAP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NFBWAP+Roboto Italic"/>
                <a:cs typeface="NFBWAP+Roboto Italic"/>
              </a:rPr>
              <a:t>Hữu</a:t>
            </a:r>
            <a:r>
              <a:rPr dirty="0" sz="1050" i="1">
                <a:solidFill>
                  <a:srgbClr val="70757a"/>
                </a:solidFill>
                <a:latin typeface="NFBWAP+Roboto Italic"/>
                <a:cs typeface="NFBWAP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NFBWAP+Roboto Italic"/>
                <a:cs typeface="NFBWAP+Roboto Italic"/>
              </a:rPr>
              <a:t>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387928" y="6499193"/>
            <a:ext cx="2194452" cy="2139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84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i="1">
                <a:solidFill>
                  <a:srgbClr val="70757a"/>
                </a:solidFill>
                <a:latin typeface="NFBWAP+Roboto Italic"/>
                <a:cs typeface="NFBWAP+Roboto Italic"/>
              </a:rPr>
              <a:t>©</a:t>
            </a:r>
            <a:r>
              <a:rPr dirty="0" sz="1050" i="1">
                <a:solidFill>
                  <a:srgbClr val="70757a"/>
                </a:solidFill>
                <a:latin typeface="NFBWAP+Roboto Italic"/>
                <a:cs typeface="NFBWAP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NFBWAP+Roboto Italic"/>
                <a:cs typeface="NFBWAP+Roboto Italic"/>
              </a:rPr>
              <a:t>2026</a:t>
            </a:r>
            <a:r>
              <a:rPr dirty="0" sz="1050" i="1">
                <a:solidFill>
                  <a:srgbClr val="70757a"/>
                </a:solidFill>
                <a:latin typeface="NFBWAP+Roboto Italic"/>
                <a:cs typeface="NFBWAP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NFBWAP+Roboto Italic"/>
                <a:cs typeface="NFBWAP+Roboto Italic"/>
              </a:rPr>
              <a:t>Flutter</a:t>
            </a:r>
            <a:r>
              <a:rPr dirty="0" sz="1050" i="1">
                <a:solidFill>
                  <a:srgbClr val="70757a"/>
                </a:solidFill>
                <a:latin typeface="NFBWAP+Roboto Italic"/>
                <a:cs typeface="NFBWAP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NFBWAP+Roboto Italic"/>
                <a:cs typeface="NFBWAP+Roboto Italic"/>
              </a:rPr>
              <a:t>Weather</a:t>
            </a:r>
            <a:r>
              <a:rPr dirty="0" sz="1050" spc="12" i="1">
                <a:solidFill>
                  <a:srgbClr val="70757a"/>
                </a:solidFill>
                <a:latin typeface="NFBWAP+Roboto Italic"/>
                <a:cs typeface="NFBWAP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NFBWAP+Roboto Italic"/>
                <a:cs typeface="NFBWAP+Roboto Italic"/>
              </a:rPr>
              <a:t>App</a:t>
            </a:r>
            <a:r>
              <a:rPr dirty="0" sz="1050" i="1">
                <a:solidFill>
                  <a:srgbClr val="70757a"/>
                </a:solidFill>
                <a:latin typeface="NFBWAP+Roboto Italic"/>
                <a:cs typeface="NFBWAP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NFBWAP+Roboto Italic"/>
                <a:cs typeface="NFBWAP+Roboto Italic"/>
              </a:rPr>
              <a:t>Project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793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1999" y="571295"/>
            <a:ext cx="5091093" cy="4850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19"/>
              </a:lnSpc>
              <a:spcBef>
                <a:spcPts val="0"/>
              </a:spcBef>
              <a:spcAft>
                <a:spcPts val="0"/>
              </a:spcAft>
            </a:pPr>
            <a:r>
              <a:rPr dirty="0" sz="3150" spc="75" b="1">
                <a:solidFill>
                  <a:srgbClr val="1a73e8"/>
                </a:solidFill>
                <a:latin typeface="Arial"/>
                <a:cs typeface="Arial"/>
              </a:rPr>
              <a:t>TỔNG</a:t>
            </a:r>
            <a:r>
              <a:rPr dirty="0" sz="3150" spc="75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150" spc="75" b="1">
                <a:solidFill>
                  <a:srgbClr val="1a73e8"/>
                </a:solidFill>
                <a:latin typeface="Arial"/>
                <a:cs typeface="Arial"/>
              </a:rPr>
              <a:t>QUAN</a:t>
            </a:r>
            <a:r>
              <a:rPr dirty="0" sz="3150" spc="75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150" spc="75" b="1">
                <a:solidFill>
                  <a:srgbClr val="1a73e8"/>
                </a:solidFill>
                <a:latin typeface="Arial"/>
                <a:cs typeface="Arial"/>
              </a:rPr>
              <a:t>ỨNG</a:t>
            </a:r>
            <a:r>
              <a:rPr dirty="0" sz="3150" spc="75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150" spc="75" b="1">
                <a:solidFill>
                  <a:srgbClr val="1a73e8"/>
                </a:solidFill>
                <a:latin typeface="Arial"/>
                <a:cs typeface="Arial"/>
              </a:rPr>
              <a:t>DỤNG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00124" y="3172235"/>
            <a:ext cx="2679780" cy="575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78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Dự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 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báo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 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thời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 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tiết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 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hiện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 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tại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 </a:t>
            </a:r>
            <a:r>
              <a:rPr dirty="0" sz="1500" spc="-10">
                <a:solidFill>
                  <a:srgbClr val="3c4043"/>
                </a:solidFill>
                <a:latin typeface="VIGUJC+Roboto Medium"/>
                <a:cs typeface="VIGUJC+Roboto Medium"/>
              </a:rPr>
              <a:t>và</a:t>
            </a:r>
            <a:r>
              <a:rPr dirty="0" sz="1500" spc="10">
                <a:solidFill>
                  <a:srgbClr val="3c4043"/>
                </a:solidFill>
                <a:latin typeface="VIGUJC+Roboto Medium"/>
                <a:cs typeface="VIGUJC+Roboto Medium"/>
              </a:rPr>
              <a:t> 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chi</a:t>
            </a:r>
          </a:p>
          <a:p>
            <a:pPr marL="0" marR="0">
              <a:lnSpc>
                <a:spcPts val="1978"/>
              </a:lnSpc>
              <a:spcBef>
                <a:spcPts val="221"/>
              </a:spcBef>
              <a:spcAft>
                <a:spcPts val="0"/>
              </a:spcAft>
            </a:pP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tiết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 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trong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 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5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 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ngày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 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tới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314824" y="3172235"/>
            <a:ext cx="2379426" cy="8608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78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Gợi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 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ý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 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thông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 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minh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 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dựa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 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trên</a:t>
            </a:r>
          </a:p>
          <a:p>
            <a:pPr marL="0" marR="0">
              <a:lnSpc>
                <a:spcPts val="1978"/>
              </a:lnSpc>
              <a:spcBef>
                <a:spcPts val="221"/>
              </a:spcBef>
              <a:spcAft>
                <a:spcPts val="0"/>
              </a:spcAft>
            </a:pP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điều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 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kiện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 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thực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 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tế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 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(áo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 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mưa,</a:t>
            </a:r>
          </a:p>
          <a:p>
            <a:pPr marL="0" marR="0">
              <a:lnSpc>
                <a:spcPts val="1978"/>
              </a:lnSpc>
              <a:spcBef>
                <a:spcPts val="271"/>
              </a:spcBef>
              <a:spcAft>
                <a:spcPts val="0"/>
              </a:spcAft>
            </a:pP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chống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 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nắng...)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00124" y="5305835"/>
            <a:ext cx="2650200" cy="575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78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Thông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 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báo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 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nhắc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 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việc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 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định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 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kỳ</a:t>
            </a:r>
          </a:p>
          <a:p>
            <a:pPr marL="0" marR="0">
              <a:lnSpc>
                <a:spcPts val="1978"/>
              </a:lnSpc>
              <a:spcBef>
                <a:spcPts val="221"/>
              </a:spcBef>
              <a:spcAft>
                <a:spcPts val="0"/>
              </a:spcAft>
            </a:pP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(12:00)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 </a:t>
            </a:r>
            <a:r>
              <a:rPr dirty="0" sz="1500" spc="-10">
                <a:solidFill>
                  <a:srgbClr val="3c4043"/>
                </a:solidFill>
                <a:latin typeface="VIGUJC+Roboto Medium"/>
                <a:cs typeface="VIGUJC+Roboto Medium"/>
              </a:rPr>
              <a:t>và</a:t>
            </a:r>
            <a:r>
              <a:rPr dirty="0" sz="1500" spc="10">
                <a:solidFill>
                  <a:srgbClr val="3c4043"/>
                </a:solidFill>
                <a:latin typeface="VIGUJC+Roboto Medium"/>
                <a:cs typeface="VIGUJC+Roboto Medium"/>
              </a:rPr>
              <a:t> 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lịch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 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nhắc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 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tùy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 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chỉnh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314824" y="5305835"/>
            <a:ext cx="2730754" cy="575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78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Hỗ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 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trợ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 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GPS,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 </a:t>
            </a:r>
            <a:r>
              <a:rPr dirty="0" sz="1500" spc="-10">
                <a:solidFill>
                  <a:srgbClr val="3c4043"/>
                </a:solidFill>
                <a:latin typeface="VIGUJC+Roboto Medium"/>
                <a:cs typeface="VIGUJC+Roboto Medium"/>
              </a:rPr>
              <a:t>tra</a:t>
            </a:r>
            <a:r>
              <a:rPr dirty="0" sz="1500" spc="10">
                <a:solidFill>
                  <a:srgbClr val="3c4043"/>
                </a:solidFill>
                <a:latin typeface="VIGUJC+Roboto Medium"/>
                <a:cs typeface="VIGUJC+Roboto Medium"/>
              </a:rPr>
              <a:t> 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cứu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 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thành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 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phố</a:t>
            </a:r>
          </a:p>
          <a:p>
            <a:pPr marL="0" marR="0">
              <a:lnSpc>
                <a:spcPts val="1978"/>
              </a:lnSpc>
              <a:spcBef>
                <a:spcPts val="221"/>
              </a:spcBef>
              <a:spcAft>
                <a:spcPts val="0"/>
              </a:spcAft>
            </a:pPr>
            <a:r>
              <a:rPr dirty="0" sz="1500" spc="-10">
                <a:solidFill>
                  <a:srgbClr val="3c4043"/>
                </a:solidFill>
                <a:latin typeface="VIGUJC+Roboto Medium"/>
                <a:cs typeface="VIGUJC+Roboto Medium"/>
              </a:rPr>
              <a:t>và</a:t>
            </a:r>
            <a:r>
              <a:rPr dirty="0" sz="1500" spc="10">
                <a:solidFill>
                  <a:srgbClr val="3c4043"/>
                </a:solidFill>
                <a:latin typeface="VIGUJC+Roboto Medium"/>
                <a:cs typeface="VIGUJC+Roboto Medium"/>
              </a:rPr>
              <a:t> 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lưu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 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trữ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 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cache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 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dữ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 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liệu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 </a:t>
            </a:r>
            <a:r>
              <a:rPr dirty="0" sz="1500">
                <a:solidFill>
                  <a:srgbClr val="3c4043"/>
                </a:solidFill>
                <a:latin typeface="VIGUJC+Roboto Medium"/>
                <a:cs typeface="VIGUJC+Roboto Medium"/>
              </a:rPr>
              <a:t>oﬄine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61999" y="6308693"/>
            <a:ext cx="4021568" cy="2139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84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i="1">
                <a:solidFill>
                  <a:srgbClr val="70757a"/>
                </a:solidFill>
                <a:latin typeface="HENIAA+Roboto Italic"/>
                <a:cs typeface="HENIAA+Roboto Italic"/>
              </a:rPr>
              <a:t>©</a:t>
            </a:r>
            <a:r>
              <a:rPr dirty="0" sz="1050" i="1">
                <a:solidFill>
                  <a:srgbClr val="70757a"/>
                </a:solidFill>
                <a:latin typeface="HENIAA+Roboto Italic"/>
                <a:cs typeface="HENIAA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HENIAA+Roboto Italic"/>
                <a:cs typeface="HENIAA+Roboto Italic"/>
              </a:rPr>
              <a:t>2026</a:t>
            </a:r>
            <a:r>
              <a:rPr dirty="0" sz="1050" i="1">
                <a:solidFill>
                  <a:srgbClr val="70757a"/>
                </a:solidFill>
                <a:latin typeface="HENIAA+Roboto Italic"/>
                <a:cs typeface="HENIAA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HENIAA+Roboto Italic"/>
                <a:cs typeface="HENIAA+Roboto Italic"/>
              </a:rPr>
              <a:t>Flutter</a:t>
            </a:r>
            <a:r>
              <a:rPr dirty="0" sz="1050" i="1">
                <a:solidFill>
                  <a:srgbClr val="70757a"/>
                </a:solidFill>
                <a:latin typeface="HENIAA+Roboto Italic"/>
                <a:cs typeface="HENIAA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HENIAA+Roboto Italic"/>
                <a:cs typeface="HENIAA+Roboto Italic"/>
              </a:rPr>
              <a:t>Weather</a:t>
            </a:r>
            <a:r>
              <a:rPr dirty="0" sz="1050" spc="12" i="1">
                <a:solidFill>
                  <a:srgbClr val="70757a"/>
                </a:solidFill>
                <a:latin typeface="HENIAA+Roboto Italic"/>
                <a:cs typeface="HENIAA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HENIAA+Roboto Italic"/>
                <a:cs typeface="HENIAA+Roboto Italic"/>
              </a:rPr>
              <a:t>App</a:t>
            </a:r>
            <a:r>
              <a:rPr dirty="0" sz="1050" i="1">
                <a:solidFill>
                  <a:srgbClr val="70757a"/>
                </a:solidFill>
                <a:latin typeface="HENIAA+Roboto Italic"/>
                <a:cs typeface="HENIAA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HENIAA+Roboto Italic"/>
                <a:cs typeface="HENIAA+Roboto Italic"/>
              </a:rPr>
              <a:t>Project.</a:t>
            </a:r>
            <a:r>
              <a:rPr dirty="0" sz="1050" i="1">
                <a:solidFill>
                  <a:srgbClr val="70757a"/>
                </a:solidFill>
                <a:latin typeface="HENIAA+Roboto Italic"/>
                <a:cs typeface="HENIAA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HENIAA+Roboto Italic"/>
                <a:cs typeface="HENIAA+Roboto Italic"/>
              </a:rPr>
              <a:t>Thiết</a:t>
            </a:r>
            <a:r>
              <a:rPr dirty="0" sz="1050" i="1">
                <a:solidFill>
                  <a:srgbClr val="70757a"/>
                </a:solidFill>
                <a:latin typeface="HENIAA+Roboto Italic"/>
                <a:cs typeface="HENIAA+Roboto Italic"/>
              </a:rPr>
              <a:t> </a:t>
            </a:r>
            <a:r>
              <a:rPr dirty="0" sz="1050" spc="-10" i="1">
                <a:solidFill>
                  <a:srgbClr val="70757a"/>
                </a:solidFill>
                <a:latin typeface="HENIAA+Roboto Italic"/>
                <a:cs typeface="HENIAA+Roboto Italic"/>
              </a:rPr>
              <a:t>kế</a:t>
            </a:r>
            <a:r>
              <a:rPr dirty="0" sz="1050" spc="19" i="1">
                <a:solidFill>
                  <a:srgbClr val="70757a"/>
                </a:solidFill>
                <a:latin typeface="HENIAA+Roboto Italic"/>
                <a:cs typeface="HENIAA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HENIAA+Roboto Italic"/>
                <a:cs typeface="HENIAA+Roboto Italic"/>
              </a:rPr>
              <a:t>bởi</a:t>
            </a:r>
            <a:r>
              <a:rPr dirty="0" sz="1050" i="1">
                <a:solidFill>
                  <a:srgbClr val="70757a"/>
                </a:solidFill>
                <a:latin typeface="HENIAA+Roboto Italic"/>
                <a:cs typeface="HENIAA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HENIAA+Roboto Italic"/>
                <a:cs typeface="HENIAA+Roboto Italic"/>
              </a:rPr>
              <a:t>Đội</a:t>
            </a:r>
            <a:r>
              <a:rPr dirty="0" sz="1050" i="1">
                <a:solidFill>
                  <a:srgbClr val="70757a"/>
                </a:solidFill>
                <a:latin typeface="HENIAA+Roboto Italic"/>
                <a:cs typeface="HENIAA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HENIAA+Roboto Italic"/>
                <a:cs typeface="HENIAA+Roboto Italic"/>
              </a:rPr>
              <a:t>ngũ</a:t>
            </a:r>
            <a:r>
              <a:rPr dirty="0" sz="1050" i="1">
                <a:solidFill>
                  <a:srgbClr val="70757a"/>
                </a:solidFill>
                <a:latin typeface="HENIAA+Roboto Italic"/>
                <a:cs typeface="HENIAA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HENIAA+Roboto Italic"/>
                <a:cs typeface="HENIAA+Roboto Italic"/>
              </a:rPr>
              <a:t>Phát</a:t>
            </a:r>
            <a:r>
              <a:rPr dirty="0" sz="1050" i="1">
                <a:solidFill>
                  <a:srgbClr val="70757a"/>
                </a:solidFill>
                <a:latin typeface="HENIAA+Roboto Italic"/>
                <a:cs typeface="HENIAA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HENIAA+Roboto Italic"/>
                <a:cs typeface="HENIAA+Roboto Italic"/>
              </a:rPr>
              <a:t>triển.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793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04924" y="571295"/>
            <a:ext cx="5373168" cy="4850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19"/>
              </a:lnSpc>
              <a:spcBef>
                <a:spcPts val="0"/>
              </a:spcBef>
              <a:spcAft>
                <a:spcPts val="0"/>
              </a:spcAft>
            </a:pP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Luồng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Kiến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150" spc="-43" b="1">
                <a:solidFill>
                  <a:srgbClr val="1a73e8"/>
                </a:solidFill>
                <a:latin typeface="Arial"/>
                <a:cs typeface="Arial"/>
              </a:rPr>
              <a:t>Trúc</a:t>
            </a:r>
            <a:r>
              <a:rPr dirty="0" sz="3150" spc="43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Ứng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Dụng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65200" y="1725345"/>
            <a:ext cx="755656" cy="2642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ffffff"/>
                </a:solidFill>
                <a:latin typeface="TBMUQR+Roboto Bold"/>
                <a:cs typeface="TBMUQR+Roboto Bold"/>
              </a:rPr>
              <a:t>View/UI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498353" y="1725345"/>
            <a:ext cx="921329" cy="2642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ffffff"/>
                </a:solidFill>
                <a:latin typeface="TBMUQR+Roboto Bold"/>
                <a:cs typeface="TBMUQR+Roboto Bold"/>
              </a:rPr>
              <a:t>Controller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807719" y="1725345"/>
            <a:ext cx="728950" cy="2642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ffffff"/>
                </a:solidFill>
                <a:latin typeface="TBMUQR+Roboto Bold"/>
                <a:cs typeface="TBMUQR+Roboto Bold"/>
              </a:rPr>
              <a:t>Service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069460" y="1725345"/>
            <a:ext cx="634351" cy="2642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ffffff"/>
                </a:solidFill>
                <a:latin typeface="TBMUQR+Roboto Bold"/>
                <a:cs typeface="TBMUQR+Roboto Bold"/>
              </a:rPr>
              <a:t>Model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147249" y="1725345"/>
            <a:ext cx="908102" cy="2642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ffffff"/>
                </a:solidFill>
                <a:latin typeface="TBMUQR+Roboto Bold"/>
                <a:cs typeface="TBMUQR+Roboto Bold"/>
              </a:rPr>
              <a:t>UI</a:t>
            </a:r>
            <a:r>
              <a:rPr dirty="0" sz="1350" b="1">
                <a:solidFill>
                  <a:srgbClr val="ffffff"/>
                </a:solidFill>
                <a:latin typeface="TBMUQR+Roboto Bold"/>
                <a:cs typeface="TBMUQR+Roboto Bold"/>
              </a:rPr>
              <a:t> </a:t>
            </a:r>
            <a:r>
              <a:rPr dirty="0" sz="1350" b="1">
                <a:solidFill>
                  <a:srgbClr val="ffffff"/>
                </a:solidFill>
                <a:latin typeface="TBMUQR+Roboto Bold"/>
                <a:cs typeface="TBMUQR+Roboto Bold"/>
              </a:rPr>
              <a:t>Render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86830" y="3002980"/>
            <a:ext cx="2146175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Thiết</a:t>
            </a: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lập</a:t>
            </a: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Hệ</a:t>
            </a: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thống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756099" y="3002980"/>
            <a:ext cx="2940025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86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 b="1">
                <a:solidFill>
                  <a:srgbClr val="1e8e3e"/>
                </a:solidFill>
                <a:latin typeface="TBMUQR+Roboto Bold"/>
                <a:cs typeface="TBMUQR+Roboto Bold"/>
              </a:rPr>
              <a:t>THÀNH</a:t>
            </a:r>
            <a:r>
              <a:rPr dirty="0" sz="900" b="1">
                <a:solidFill>
                  <a:srgbClr val="1e8e3e"/>
                </a:solidFill>
                <a:latin typeface="TBMUQR+Roboto Bold"/>
                <a:cs typeface="TBMUQR+Roboto Bold"/>
              </a:rPr>
              <a:t> </a:t>
            </a:r>
            <a:r>
              <a:rPr dirty="0" sz="900" b="1">
                <a:solidFill>
                  <a:srgbClr val="1e8e3e"/>
                </a:solidFill>
                <a:latin typeface="TBMUQR+Roboto Bold"/>
                <a:cs typeface="TBMUQR+Roboto Bold"/>
              </a:rPr>
              <a:t>CÔNG</a:t>
            </a:r>
          </a:p>
          <a:p>
            <a:pPr marL="884039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Xử</a:t>
            </a: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lý</a:t>
            </a: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Dữ</a:t>
            </a: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liệu</a:t>
            </a: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Mới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388249" y="3023481"/>
            <a:ext cx="651067" cy="1888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86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 b="1">
                <a:solidFill>
                  <a:srgbClr val="f9ab00"/>
                </a:solidFill>
                <a:latin typeface="TBMUQR+Roboto Bold"/>
                <a:cs typeface="TBMUQR+Roboto Bold"/>
              </a:rPr>
              <a:t>XỬ</a:t>
            </a:r>
            <a:r>
              <a:rPr dirty="0" sz="900" b="1">
                <a:solidFill>
                  <a:srgbClr val="f9ab00"/>
                </a:solidFill>
                <a:latin typeface="TBMUQR+Roboto Bold"/>
                <a:cs typeface="TBMUQR+Roboto Bold"/>
              </a:rPr>
              <a:t> </a:t>
            </a:r>
            <a:r>
              <a:rPr dirty="0" sz="900" spc="-123" b="1">
                <a:solidFill>
                  <a:srgbClr val="f9ab00"/>
                </a:solidFill>
                <a:latin typeface="TBMUQR+Roboto Bold"/>
                <a:cs typeface="TBMUQR+Roboto Bold"/>
              </a:rPr>
              <a:t>LÝ</a:t>
            </a:r>
            <a:r>
              <a:rPr dirty="0" sz="900" spc="123" b="1">
                <a:solidFill>
                  <a:srgbClr val="f9ab00"/>
                </a:solidFill>
                <a:latin typeface="TBMUQR+Roboto Bold"/>
                <a:cs typeface="TBMUQR+Roboto Bold"/>
              </a:rPr>
              <a:t> </a:t>
            </a:r>
            <a:r>
              <a:rPr dirty="0" sz="900" spc="-14" b="1">
                <a:solidFill>
                  <a:srgbClr val="f9ab00"/>
                </a:solidFill>
                <a:latin typeface="TBMUQR+Roboto Bold"/>
                <a:cs typeface="TBMUQR+Roboto Bold"/>
              </a:rPr>
              <a:t>LỖI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123949" y="3090156"/>
            <a:ext cx="663178" cy="1888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86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 b="1">
                <a:solidFill>
                  <a:srgbClr val="1a73e8"/>
                </a:solidFill>
                <a:latin typeface="TBMUQR+Roboto Bold"/>
                <a:cs typeface="TBMUQR+Roboto Bold"/>
              </a:rPr>
              <a:t>KHỞI</a:t>
            </a:r>
            <a:r>
              <a:rPr dirty="0" sz="900" spc="-25" b="1">
                <a:solidFill>
                  <a:srgbClr val="1a73e8"/>
                </a:solidFill>
                <a:latin typeface="TBMUQR+Roboto Bold"/>
                <a:cs typeface="TBMUQR+Roboto Bold"/>
              </a:rPr>
              <a:t> </a:t>
            </a:r>
            <a:r>
              <a:rPr dirty="0" sz="900" spc="-31" b="1">
                <a:solidFill>
                  <a:srgbClr val="1a73e8"/>
                </a:solidFill>
                <a:latin typeface="TBMUQR+Roboto Bold"/>
                <a:cs typeface="TBMUQR+Roboto Bold"/>
              </a:rPr>
              <a:t>TẠO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273949" y="3326830"/>
            <a:ext cx="2641550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Khôi</a:t>
            </a: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phục</a:t>
            </a: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Ngoại</a:t>
            </a: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444746"/>
                </a:solidFill>
                <a:latin typeface="Arial"/>
                <a:cs typeface="Arial"/>
              </a:rPr>
              <a:t>tuyến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009649" y="3658465"/>
            <a:ext cx="3043758" cy="5530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9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 spc="15">
                <a:solidFill>
                  <a:srgbClr val="3c4043"/>
                </a:solidFill>
                <a:latin typeface="JWVVIF+Roboto"/>
                <a:cs typeface="JWVVIF+Roboto"/>
              </a:rPr>
              <a:t>Quy</a:t>
            </a:r>
            <a:r>
              <a:rPr dirty="0" sz="1400" spc="15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>
                <a:solidFill>
                  <a:srgbClr val="3c4043"/>
                </a:solidFill>
                <a:latin typeface="JWVVIF+Roboto"/>
                <a:cs typeface="JWVVIF+Roboto"/>
              </a:rPr>
              <a:t>trình</a:t>
            </a:r>
            <a:r>
              <a:rPr dirty="0" sz="1400" spc="23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JWVVIF+Roboto"/>
                <a:cs typeface="JWVVIF+Roboto"/>
              </a:rPr>
              <a:t>bắt</a:t>
            </a:r>
            <a:r>
              <a:rPr dirty="0" sz="1400" spc="13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JWVVIF+Roboto"/>
                <a:cs typeface="JWVVIF+Roboto"/>
              </a:rPr>
              <a:t>đầu</a:t>
            </a:r>
            <a:r>
              <a:rPr dirty="0" sz="1400" spc="18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JWVVIF+Roboto"/>
                <a:cs typeface="JWVVIF+Roboto"/>
              </a:rPr>
              <a:t>ngay</a:t>
            </a:r>
            <a:r>
              <a:rPr dirty="0" sz="1400" spc="20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2">
                <a:solidFill>
                  <a:srgbClr val="3c4043"/>
                </a:solidFill>
                <a:latin typeface="JWVVIF+Roboto"/>
                <a:cs typeface="JWVVIF+Roboto"/>
              </a:rPr>
              <a:t>khi</a:t>
            </a:r>
            <a:r>
              <a:rPr dirty="0" sz="1400" spc="11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5">
                <a:solidFill>
                  <a:srgbClr val="3c4043"/>
                </a:solidFill>
                <a:latin typeface="JWVVIF+Roboto"/>
                <a:cs typeface="JWVVIF+Roboto"/>
              </a:rPr>
              <a:t>ứng</a:t>
            </a:r>
            <a:r>
              <a:rPr dirty="0" sz="1400" spc="18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JWVVIF+Roboto"/>
                <a:cs typeface="JWVVIF+Roboto"/>
              </a:rPr>
              <a:t>dụng</a:t>
            </a:r>
          </a:p>
          <a:p>
            <a:pPr marL="0" marR="0">
              <a:lnSpc>
                <a:spcPts val="1879"/>
              </a:lnSpc>
              <a:spcBef>
                <a:spcPts val="295"/>
              </a:spcBef>
              <a:spcAft>
                <a:spcPts val="0"/>
              </a:spcAft>
            </a:pPr>
            <a:r>
              <a:rPr dirty="0" sz="1400" spc="14">
                <a:solidFill>
                  <a:srgbClr val="3c4043"/>
                </a:solidFill>
                <a:latin typeface="JWVVIF+Roboto"/>
                <a:cs typeface="JWVVIF+Roboto"/>
              </a:rPr>
              <a:t>khởi</a:t>
            </a:r>
            <a:r>
              <a:rPr dirty="0" sz="1400" spc="11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JWVVIF+Roboto"/>
                <a:cs typeface="JWVVIF+Roboto"/>
              </a:rPr>
              <a:t>chạy: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641799" y="3658465"/>
            <a:ext cx="2900781" cy="5530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9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 spc="15">
                <a:solidFill>
                  <a:srgbClr val="3c4043"/>
                </a:solidFill>
                <a:latin typeface="JWVVIF+Roboto"/>
                <a:cs typeface="JWVVIF+Roboto"/>
              </a:rPr>
              <a:t>Khi</a:t>
            </a:r>
            <a:r>
              <a:rPr dirty="0" sz="1400" spc="10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2">
                <a:solidFill>
                  <a:srgbClr val="3c4043"/>
                </a:solidFill>
                <a:latin typeface="JWVVIF+Roboto"/>
                <a:cs typeface="JWVVIF+Roboto"/>
              </a:rPr>
              <a:t>có</a:t>
            </a:r>
            <a:r>
              <a:rPr dirty="0" sz="1400" spc="19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>
                <a:solidFill>
                  <a:srgbClr val="3c4043"/>
                </a:solidFill>
                <a:latin typeface="JWVVIF+Roboto"/>
                <a:cs typeface="JWVVIF+Roboto"/>
              </a:rPr>
              <a:t>kết</a:t>
            </a:r>
            <a:r>
              <a:rPr dirty="0" sz="1400" spc="20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JWVVIF+Roboto"/>
                <a:cs typeface="JWVVIF+Roboto"/>
              </a:rPr>
              <a:t>nối</a:t>
            </a:r>
            <a:r>
              <a:rPr dirty="0" sz="1400" spc="10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JWVVIF+Roboto"/>
                <a:cs typeface="JWVVIF+Roboto"/>
              </a:rPr>
              <a:t>Internet</a:t>
            </a:r>
            <a:r>
              <a:rPr dirty="0" sz="1400" spc="15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>
                <a:solidFill>
                  <a:srgbClr val="3c4043"/>
                </a:solidFill>
                <a:latin typeface="JWVVIF+Roboto"/>
                <a:cs typeface="JWVVIF+Roboto"/>
              </a:rPr>
              <a:t>và</a:t>
            </a:r>
            <a:r>
              <a:rPr dirty="0" sz="1400" spc="30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5">
                <a:solidFill>
                  <a:srgbClr val="3c4043"/>
                </a:solidFill>
                <a:latin typeface="JWVVIF+Roboto"/>
                <a:cs typeface="JWVVIF+Roboto"/>
              </a:rPr>
              <a:t>API</a:t>
            </a:r>
            <a:r>
              <a:rPr dirty="0" sz="1400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JWVVIF+Roboto"/>
                <a:cs typeface="JWVVIF+Roboto"/>
              </a:rPr>
              <a:t>phản</a:t>
            </a:r>
          </a:p>
          <a:p>
            <a:pPr marL="0" marR="0">
              <a:lnSpc>
                <a:spcPts val="1879"/>
              </a:lnSpc>
              <a:spcBef>
                <a:spcPts val="295"/>
              </a:spcBef>
              <a:spcAft>
                <a:spcPts val="0"/>
              </a:spcAft>
            </a:pPr>
            <a:r>
              <a:rPr dirty="0" sz="1400" spc="14">
                <a:solidFill>
                  <a:srgbClr val="3c4043"/>
                </a:solidFill>
                <a:latin typeface="JWVVIF+Roboto"/>
                <a:cs typeface="JWVVIF+Roboto"/>
              </a:rPr>
              <a:t>hồi</a:t>
            </a:r>
            <a:r>
              <a:rPr dirty="0" sz="1400" spc="10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JWVVIF+Roboto"/>
                <a:cs typeface="JWVVIF+Roboto"/>
              </a:rPr>
              <a:t>hợp</a:t>
            </a:r>
            <a:r>
              <a:rPr dirty="0" sz="1400" spc="18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JWVVIF+Roboto"/>
                <a:cs typeface="JWVVIF+Roboto"/>
              </a:rPr>
              <a:t>lệ: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273949" y="3982315"/>
            <a:ext cx="2950001" cy="5530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9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3c4043"/>
                </a:solidFill>
                <a:latin typeface="JWVVIF+Roboto"/>
                <a:cs typeface="JWVVIF+Roboto"/>
              </a:rPr>
              <a:t>Trường</a:t>
            </a:r>
            <a:r>
              <a:rPr dirty="0" sz="1400" spc="29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JWVVIF+Roboto"/>
                <a:cs typeface="JWVVIF+Roboto"/>
              </a:rPr>
              <a:t>hợp</a:t>
            </a:r>
            <a:r>
              <a:rPr dirty="0" sz="1400" spc="18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8">
                <a:solidFill>
                  <a:srgbClr val="3c4043"/>
                </a:solidFill>
                <a:latin typeface="JWVVIF+Roboto"/>
                <a:cs typeface="JWVVIF+Roboto"/>
              </a:rPr>
              <a:t>mất</a:t>
            </a:r>
            <a:r>
              <a:rPr dirty="0" sz="1400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5">
                <a:solidFill>
                  <a:srgbClr val="3c4043"/>
                </a:solidFill>
                <a:latin typeface="JWVVIF+Roboto"/>
                <a:cs typeface="JWVVIF+Roboto"/>
              </a:rPr>
              <a:t>mạng</a:t>
            </a:r>
            <a:r>
              <a:rPr dirty="0" sz="1400" spc="16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JWVVIF+Roboto"/>
                <a:cs typeface="JWVVIF+Roboto"/>
              </a:rPr>
              <a:t>hoặc</a:t>
            </a:r>
            <a:r>
              <a:rPr dirty="0" sz="1400" spc="17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JWVVIF+Roboto"/>
                <a:cs typeface="JWVVIF+Roboto"/>
              </a:rPr>
              <a:t>lỗi</a:t>
            </a:r>
            <a:r>
              <a:rPr dirty="0" sz="1400" spc="14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5">
                <a:solidFill>
                  <a:srgbClr val="3c4043"/>
                </a:solidFill>
                <a:latin typeface="JWVVIF+Roboto"/>
                <a:cs typeface="JWVVIF+Roboto"/>
              </a:rPr>
              <a:t>API</a:t>
            </a:r>
          </a:p>
          <a:p>
            <a:pPr marL="0" marR="0">
              <a:lnSpc>
                <a:spcPts val="1879"/>
              </a:lnSpc>
              <a:spcBef>
                <a:spcPts val="295"/>
              </a:spcBef>
              <a:spcAft>
                <a:spcPts val="0"/>
              </a:spcAft>
            </a:pPr>
            <a:r>
              <a:rPr dirty="0" sz="1400" spc="11">
                <a:solidFill>
                  <a:srgbClr val="3c4043"/>
                </a:solidFill>
                <a:latin typeface="JWVVIF+Roboto"/>
                <a:cs typeface="JWVVIF+Roboto"/>
              </a:rPr>
              <a:t>(4xx,</a:t>
            </a:r>
            <a:r>
              <a:rPr dirty="0" sz="1400" spc="11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1">
                <a:solidFill>
                  <a:srgbClr val="3c4043"/>
                </a:solidFill>
                <a:latin typeface="JWVVIF+Roboto"/>
                <a:cs typeface="JWVVIF+Roboto"/>
              </a:rPr>
              <a:t>5xx):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200149" y="4296640"/>
            <a:ext cx="2824431" cy="8197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9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 spc="12" b="1">
                <a:solidFill>
                  <a:srgbClr val="3c4043"/>
                </a:solidFill>
                <a:latin typeface="TBMUQR+Roboto Bold"/>
                <a:cs typeface="TBMUQR+Roboto Bold"/>
              </a:rPr>
              <a:t>NotiﬁcationService:</a:t>
            </a:r>
            <a:r>
              <a:rPr dirty="0" sz="1400" b="1">
                <a:solidFill>
                  <a:srgbClr val="3c4043"/>
                </a:solidFill>
                <a:latin typeface="TBMUQR+Roboto Bold"/>
                <a:cs typeface="TBMUQR+Roboto Bold"/>
              </a:rPr>
              <a:t> </a:t>
            </a:r>
            <a:r>
              <a:rPr dirty="0" sz="1400" spc="15">
                <a:solidFill>
                  <a:srgbClr val="3c4043"/>
                </a:solidFill>
                <a:latin typeface="JWVVIF+Roboto"/>
                <a:cs typeface="JWVVIF+Roboto"/>
              </a:rPr>
              <a:t>Cấu</a:t>
            </a:r>
            <a:r>
              <a:rPr dirty="0" sz="1400" spc="17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JWVVIF+Roboto"/>
                <a:cs typeface="JWVVIF+Roboto"/>
              </a:rPr>
              <a:t>hình</a:t>
            </a:r>
          </a:p>
          <a:p>
            <a:pPr marL="0" marR="0">
              <a:lnSpc>
                <a:spcPts val="1879"/>
              </a:lnSpc>
              <a:spcBef>
                <a:spcPts val="295"/>
              </a:spcBef>
              <a:spcAft>
                <a:spcPts val="0"/>
              </a:spcAft>
            </a:pPr>
            <a:r>
              <a:rPr dirty="0" sz="1400">
                <a:solidFill>
                  <a:srgbClr val="3c4043"/>
                </a:solidFill>
                <a:latin typeface="JWVVIF+Roboto"/>
                <a:cs typeface="JWVVIF+Roboto"/>
              </a:rPr>
              <a:t>kênh</a:t>
            </a:r>
            <a:r>
              <a:rPr dirty="0" sz="1400" spc="23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2">
                <a:solidFill>
                  <a:srgbClr val="3c4043"/>
                </a:solidFill>
                <a:latin typeface="JWVVIF+Roboto"/>
                <a:cs typeface="JWVVIF+Roboto"/>
              </a:rPr>
              <a:t>thông</a:t>
            </a:r>
            <a:r>
              <a:rPr dirty="0" sz="1400" spc="20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JWVVIF+Roboto"/>
                <a:cs typeface="JWVVIF+Roboto"/>
              </a:rPr>
              <a:t>báo</a:t>
            </a:r>
            <a:r>
              <a:rPr dirty="0" sz="1400" spc="19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2">
                <a:solidFill>
                  <a:srgbClr val="3c4043"/>
                </a:solidFill>
                <a:latin typeface="JWVVIF+Roboto"/>
                <a:cs typeface="JWVVIF+Roboto"/>
              </a:rPr>
              <a:t>cục</a:t>
            </a:r>
            <a:r>
              <a:rPr dirty="0" sz="1400" spc="18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JWVVIF+Roboto"/>
                <a:cs typeface="JWVVIF+Roboto"/>
              </a:rPr>
              <a:t>bộ</a:t>
            </a:r>
            <a:r>
              <a:rPr dirty="0" sz="1400" spc="18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>
                <a:solidFill>
                  <a:srgbClr val="3c4043"/>
                </a:solidFill>
                <a:latin typeface="JWVVIF+Roboto"/>
                <a:cs typeface="JWVVIF+Roboto"/>
              </a:rPr>
              <a:t>và</a:t>
            </a:r>
            <a:r>
              <a:rPr dirty="0" sz="1400" spc="30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JWVVIF+Roboto"/>
                <a:cs typeface="JWVVIF+Roboto"/>
              </a:rPr>
              <a:t>lập</a:t>
            </a:r>
            <a:r>
              <a:rPr dirty="0" sz="1400" spc="22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>
                <a:solidFill>
                  <a:srgbClr val="3c4043"/>
                </a:solidFill>
                <a:latin typeface="JWVVIF+Roboto"/>
                <a:cs typeface="JWVVIF+Roboto"/>
              </a:rPr>
              <a:t>lịch</a:t>
            </a:r>
          </a:p>
          <a:p>
            <a:pPr marL="0" marR="0">
              <a:lnSpc>
                <a:spcPts val="1879"/>
              </a:lnSpc>
              <a:spcBef>
                <a:spcPts val="220"/>
              </a:spcBef>
              <a:spcAft>
                <a:spcPts val="0"/>
              </a:spcAft>
            </a:pPr>
            <a:r>
              <a:rPr dirty="0" sz="1400" spc="14">
                <a:solidFill>
                  <a:srgbClr val="3c4043"/>
                </a:solidFill>
                <a:latin typeface="JWVVIF+Roboto"/>
                <a:cs typeface="JWVVIF+Roboto"/>
              </a:rPr>
              <a:t>nhắc</a:t>
            </a:r>
            <a:r>
              <a:rPr dirty="0" sz="1400" spc="18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JWVVIF+Roboto"/>
                <a:cs typeface="JWVVIF+Roboto"/>
              </a:rPr>
              <a:t>nhở.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832299" y="4296640"/>
            <a:ext cx="2665325" cy="5530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9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 spc="15">
                <a:solidFill>
                  <a:srgbClr val="3c4043"/>
                </a:solidFill>
                <a:latin typeface="JWVVIF+Roboto"/>
                <a:cs typeface="JWVVIF+Roboto"/>
              </a:rPr>
              <a:t>Cập</a:t>
            </a:r>
            <a:r>
              <a:rPr dirty="0" sz="1400" spc="17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JWVVIF+Roboto"/>
                <a:cs typeface="JWVVIF+Roboto"/>
              </a:rPr>
              <a:t>nhật</a:t>
            </a:r>
            <a:r>
              <a:rPr dirty="0" sz="1400" spc="13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5" b="1">
                <a:solidFill>
                  <a:srgbClr val="3c4043"/>
                </a:solidFill>
                <a:latin typeface="TBMUQR+Roboto Bold"/>
                <a:cs typeface="TBMUQR+Roboto Bold"/>
              </a:rPr>
              <a:t>Model</a:t>
            </a:r>
            <a:r>
              <a:rPr dirty="0" sz="1400" b="1">
                <a:solidFill>
                  <a:srgbClr val="3c4043"/>
                </a:solidFill>
                <a:latin typeface="TBMUQR+Roboto Bold"/>
                <a:cs typeface="TBMUQR+Roboto Bold"/>
              </a:rPr>
              <a:t> </a:t>
            </a:r>
            <a:r>
              <a:rPr dirty="0" sz="1400">
                <a:solidFill>
                  <a:srgbClr val="3c4043"/>
                </a:solidFill>
                <a:latin typeface="JWVVIF+Roboto"/>
                <a:cs typeface="JWVVIF+Roboto"/>
              </a:rPr>
              <a:t>và</a:t>
            </a:r>
            <a:r>
              <a:rPr dirty="0" sz="1400" spc="30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JWVVIF+Roboto"/>
                <a:cs typeface="JWVVIF+Roboto"/>
              </a:rPr>
              <a:t>lưu</a:t>
            </a:r>
            <a:r>
              <a:rPr dirty="0" sz="1400" spc="21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>
                <a:solidFill>
                  <a:srgbClr val="3c4043"/>
                </a:solidFill>
                <a:latin typeface="JWVVIF+Roboto"/>
                <a:cs typeface="JWVVIF+Roboto"/>
              </a:rPr>
              <a:t>vào</a:t>
            </a:r>
          </a:p>
          <a:p>
            <a:pPr marL="0" marR="0">
              <a:lnSpc>
                <a:spcPts val="1879"/>
              </a:lnSpc>
              <a:spcBef>
                <a:spcPts val="295"/>
              </a:spcBef>
              <a:spcAft>
                <a:spcPts val="0"/>
              </a:spcAft>
            </a:pPr>
            <a:r>
              <a:rPr dirty="0" sz="1400" spc="11" b="1">
                <a:solidFill>
                  <a:srgbClr val="3c4043"/>
                </a:solidFill>
                <a:latin typeface="TBMUQR+Roboto Bold"/>
                <a:cs typeface="TBMUQR+Roboto Bold"/>
              </a:rPr>
              <a:t>SQLite</a:t>
            </a:r>
            <a:r>
              <a:rPr dirty="0" sz="1400" b="1">
                <a:solidFill>
                  <a:srgbClr val="3c4043"/>
                </a:solidFill>
                <a:latin typeface="TBMUQR+Roboto Bold"/>
                <a:cs typeface="TBMUQR+Roboto Bold"/>
              </a:rPr>
              <a:t> </a:t>
            </a:r>
            <a:r>
              <a:rPr dirty="0" sz="1400" spc="15">
                <a:solidFill>
                  <a:srgbClr val="3c4043"/>
                </a:solidFill>
                <a:latin typeface="JWVVIF+Roboto"/>
                <a:cs typeface="JWVVIF+Roboto"/>
              </a:rPr>
              <a:t>để</a:t>
            </a:r>
            <a:r>
              <a:rPr dirty="0" sz="1400" spc="17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2">
                <a:solidFill>
                  <a:srgbClr val="3c4043"/>
                </a:solidFill>
                <a:latin typeface="JWVVIF+Roboto"/>
                <a:cs typeface="JWVVIF+Roboto"/>
              </a:rPr>
              <a:t>sử</a:t>
            </a:r>
            <a:r>
              <a:rPr dirty="0" sz="1400" spc="21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JWVVIF+Roboto"/>
                <a:cs typeface="JWVVIF+Roboto"/>
              </a:rPr>
              <a:t>dụng</a:t>
            </a:r>
            <a:r>
              <a:rPr dirty="0" sz="1400" spc="18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JWVVIF+Roboto"/>
                <a:cs typeface="JWVVIF+Roboto"/>
              </a:rPr>
              <a:t>ngoại</a:t>
            </a:r>
            <a:r>
              <a:rPr dirty="0" sz="1400" spc="10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JWVVIF+Roboto"/>
                <a:cs typeface="JWVVIF+Roboto"/>
              </a:rPr>
              <a:t>tuyến.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464449" y="4620490"/>
            <a:ext cx="2811544" cy="5530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9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3c4043"/>
                </a:solidFill>
                <a:latin typeface="JWVVIF+Roboto"/>
                <a:cs typeface="JWVVIF+Roboto"/>
              </a:rPr>
              <a:t>Truy</a:t>
            </a:r>
            <a:r>
              <a:rPr dirty="0" sz="1400" spc="35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>
                <a:solidFill>
                  <a:srgbClr val="3c4043"/>
                </a:solidFill>
                <a:latin typeface="JWVVIF+Roboto"/>
                <a:cs typeface="JWVVIF+Roboto"/>
              </a:rPr>
              <a:t>vấn</a:t>
            </a:r>
            <a:r>
              <a:rPr dirty="0" sz="1400" spc="25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4" b="1">
                <a:solidFill>
                  <a:srgbClr val="3c4043"/>
                </a:solidFill>
                <a:latin typeface="TBMUQR+Roboto Bold"/>
                <a:cs typeface="TBMUQR+Roboto Bold"/>
              </a:rPr>
              <a:t>DbService</a:t>
            </a:r>
            <a:r>
              <a:rPr dirty="0" sz="1400" b="1">
                <a:solidFill>
                  <a:srgbClr val="3c4043"/>
                </a:solidFill>
                <a:latin typeface="TBMUQR+Roboto Bold"/>
                <a:cs typeface="TBMUQR+Roboto Bold"/>
              </a:rPr>
              <a:t> </a:t>
            </a:r>
            <a:r>
              <a:rPr dirty="0" sz="1400" spc="15">
                <a:solidFill>
                  <a:srgbClr val="3c4043"/>
                </a:solidFill>
                <a:latin typeface="JWVVIF+Roboto"/>
                <a:cs typeface="JWVVIF+Roboto"/>
              </a:rPr>
              <a:t>để</a:t>
            </a:r>
            <a:r>
              <a:rPr dirty="0" sz="1400" spc="17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>
                <a:solidFill>
                  <a:srgbClr val="3c4043"/>
                </a:solidFill>
                <a:latin typeface="JWVVIF+Roboto"/>
                <a:cs typeface="JWVVIF+Roboto"/>
              </a:rPr>
              <a:t>lấy</a:t>
            </a:r>
            <a:r>
              <a:rPr dirty="0" sz="1400" spc="25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JWVVIF+Roboto"/>
                <a:cs typeface="JWVVIF+Roboto"/>
              </a:rPr>
              <a:t>dữ</a:t>
            </a:r>
            <a:r>
              <a:rPr dirty="0" sz="1400" spc="20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>
                <a:solidFill>
                  <a:srgbClr val="3c4043"/>
                </a:solidFill>
                <a:latin typeface="JWVVIF+Roboto"/>
                <a:cs typeface="JWVVIF+Roboto"/>
              </a:rPr>
              <a:t>liệu</a:t>
            </a:r>
          </a:p>
          <a:p>
            <a:pPr marL="0" marR="0">
              <a:lnSpc>
                <a:spcPts val="1879"/>
              </a:lnSpc>
              <a:spcBef>
                <a:spcPts val="295"/>
              </a:spcBef>
              <a:spcAft>
                <a:spcPts val="0"/>
              </a:spcAft>
            </a:pPr>
            <a:r>
              <a:rPr dirty="0" sz="1400">
                <a:solidFill>
                  <a:srgbClr val="3c4043"/>
                </a:solidFill>
                <a:latin typeface="JWVVIF+Roboto"/>
                <a:cs typeface="JWVVIF+Roboto"/>
              </a:rPr>
              <a:t>lịch</a:t>
            </a:r>
            <a:r>
              <a:rPr dirty="0" sz="1400" spc="24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2">
                <a:solidFill>
                  <a:srgbClr val="3c4043"/>
                </a:solidFill>
                <a:latin typeface="JWVVIF+Roboto"/>
                <a:cs typeface="JWVVIF+Roboto"/>
              </a:rPr>
              <a:t>sử</a:t>
            </a:r>
            <a:r>
              <a:rPr dirty="0" sz="1400" spc="21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JWVVIF+Roboto"/>
                <a:cs typeface="JWVVIF+Roboto"/>
              </a:rPr>
              <a:t>gần</a:t>
            </a:r>
            <a:r>
              <a:rPr dirty="0" sz="1400" spc="18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JWVVIF+Roboto"/>
                <a:cs typeface="JWVVIF+Roboto"/>
              </a:rPr>
              <a:t>nhất</a:t>
            </a:r>
            <a:r>
              <a:rPr dirty="0" sz="1400" spc="13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>
                <a:solidFill>
                  <a:srgbClr val="3c4043"/>
                </a:solidFill>
                <a:latin typeface="JWVVIF+Roboto"/>
                <a:cs typeface="JWVVIF+Roboto"/>
              </a:rPr>
              <a:t>từ</a:t>
            </a:r>
            <a:r>
              <a:rPr dirty="0" sz="1400" spc="25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JWVVIF+Roboto"/>
                <a:cs typeface="JWVVIF+Roboto"/>
              </a:rPr>
              <a:t>bộ</a:t>
            </a:r>
            <a:r>
              <a:rPr dirty="0" sz="1400" spc="18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JWVVIF+Roboto"/>
                <a:cs typeface="JWVVIF+Roboto"/>
              </a:rPr>
              <a:t>nhớ</a:t>
            </a:r>
            <a:r>
              <a:rPr dirty="0" sz="1400" spc="19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5">
                <a:solidFill>
                  <a:srgbClr val="3c4043"/>
                </a:solidFill>
                <a:latin typeface="JWVVIF+Roboto"/>
                <a:cs typeface="JWVVIF+Roboto"/>
              </a:rPr>
              <a:t>tạm.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832299" y="4934815"/>
            <a:ext cx="2832296" cy="27677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9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 spc="11">
                <a:solidFill>
                  <a:srgbClr val="3c4043"/>
                </a:solidFill>
                <a:latin typeface="JWVVIF+Roboto"/>
                <a:cs typeface="JWVVIF+Roboto"/>
              </a:rPr>
              <a:t>Kích</a:t>
            </a:r>
            <a:r>
              <a:rPr dirty="0" sz="1400" spc="20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JWVVIF+Roboto"/>
                <a:cs typeface="JWVVIF+Roboto"/>
              </a:rPr>
              <a:t>hoạt</a:t>
            </a:r>
            <a:r>
              <a:rPr dirty="0" sz="1400" spc="13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2">
                <a:solidFill>
                  <a:srgbClr val="3c4043"/>
                </a:solidFill>
                <a:latin typeface="JWVVIF+Roboto"/>
                <a:cs typeface="JWVVIF+Roboto"/>
              </a:rPr>
              <a:t>thông</a:t>
            </a:r>
            <a:r>
              <a:rPr dirty="0" sz="1400" spc="20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JWVVIF+Roboto"/>
                <a:cs typeface="JWVVIF+Roboto"/>
              </a:rPr>
              <a:t>báo</a:t>
            </a:r>
            <a:r>
              <a:rPr dirty="0" sz="1400" spc="19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1">
                <a:solidFill>
                  <a:srgbClr val="3c4043"/>
                </a:solidFill>
                <a:latin typeface="JWVVIF+Roboto"/>
                <a:cs typeface="JWVVIF+Roboto"/>
              </a:rPr>
              <a:t>thời</a:t>
            </a:r>
            <a:r>
              <a:rPr dirty="0" sz="1400" spc="12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>
                <a:solidFill>
                  <a:srgbClr val="3c4043"/>
                </a:solidFill>
                <a:latin typeface="JWVVIF+Roboto"/>
                <a:cs typeface="JWVVIF+Roboto"/>
              </a:rPr>
              <a:t>tiết</a:t>
            </a:r>
            <a:r>
              <a:rPr dirty="0" sz="1400" spc="17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1">
                <a:solidFill>
                  <a:srgbClr val="3c4043"/>
                </a:solidFill>
                <a:latin typeface="JWVVIF+Roboto"/>
                <a:cs typeface="JWVVIF+Roboto"/>
              </a:rPr>
              <a:t>thực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200149" y="5211040"/>
            <a:ext cx="2769630" cy="54347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9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 spc="11" b="1">
                <a:solidFill>
                  <a:srgbClr val="3c4043"/>
                </a:solidFill>
                <a:latin typeface="TBMUQR+Roboto Bold"/>
                <a:cs typeface="TBMUQR+Roboto Bold"/>
              </a:rPr>
              <a:t>SQLite</a:t>
            </a:r>
            <a:r>
              <a:rPr dirty="0" sz="1400" b="1">
                <a:solidFill>
                  <a:srgbClr val="3c4043"/>
                </a:solidFill>
                <a:latin typeface="TBMUQR+Roboto Bold"/>
                <a:cs typeface="TBMUQR+Roboto Bold"/>
              </a:rPr>
              <a:t> </a:t>
            </a:r>
            <a:r>
              <a:rPr dirty="0" sz="1400" b="1">
                <a:solidFill>
                  <a:srgbClr val="3c4043"/>
                </a:solidFill>
                <a:latin typeface="TBMUQR+Roboto Bold"/>
                <a:cs typeface="TBMUQR+Roboto Bold"/>
              </a:rPr>
              <a:t>Init:</a:t>
            </a:r>
            <a:r>
              <a:rPr dirty="0" sz="1400" b="1">
                <a:solidFill>
                  <a:srgbClr val="3c4043"/>
                </a:solidFill>
                <a:latin typeface="TBMUQR+Roboto Bold"/>
                <a:cs typeface="TBMUQR+Roboto Bold"/>
              </a:rPr>
              <a:t> </a:t>
            </a:r>
            <a:r>
              <a:rPr dirty="0" sz="1400" spc="21">
                <a:solidFill>
                  <a:srgbClr val="3c4043"/>
                </a:solidFill>
                <a:latin typeface="JWVVIF+Roboto"/>
                <a:cs typeface="JWVVIF+Roboto"/>
              </a:rPr>
              <a:t>Mở</a:t>
            </a:r>
            <a:r>
              <a:rPr dirty="0" sz="1400" spc="11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>
                <a:solidFill>
                  <a:srgbClr val="3c4043"/>
                </a:solidFill>
                <a:latin typeface="JWVVIF+Roboto"/>
                <a:cs typeface="JWVVIF+Roboto"/>
              </a:rPr>
              <a:t>kết</a:t>
            </a:r>
            <a:r>
              <a:rPr dirty="0" sz="1400" spc="20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JWVVIF+Roboto"/>
                <a:cs typeface="JWVVIF+Roboto"/>
              </a:rPr>
              <a:t>nối</a:t>
            </a:r>
            <a:r>
              <a:rPr dirty="0" sz="1400" spc="10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2">
                <a:solidFill>
                  <a:srgbClr val="3c4043"/>
                </a:solidFill>
                <a:latin typeface="JWVVIF+Roboto"/>
                <a:cs typeface="JWVVIF+Roboto"/>
              </a:rPr>
              <a:t>database,</a:t>
            </a:r>
          </a:p>
          <a:p>
            <a:pPr marL="0" marR="0">
              <a:lnSpc>
                <a:spcPts val="1879"/>
              </a:lnSpc>
              <a:spcBef>
                <a:spcPts val="220"/>
              </a:spcBef>
              <a:spcAft>
                <a:spcPts val="0"/>
              </a:spcAft>
            </a:pPr>
            <a:r>
              <a:rPr dirty="0" sz="1400" spc="10">
                <a:solidFill>
                  <a:srgbClr val="3c4043"/>
                </a:solidFill>
                <a:latin typeface="JWVVIF+Roboto"/>
                <a:cs typeface="JWVVIF+Roboto"/>
              </a:rPr>
              <a:t>kiểm</a:t>
            </a:r>
            <a:r>
              <a:rPr dirty="0" sz="1400" spc="29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>
                <a:solidFill>
                  <a:srgbClr val="3c4043"/>
                </a:solidFill>
                <a:latin typeface="JWVVIF+Roboto"/>
                <a:cs typeface="JWVVIF+Roboto"/>
              </a:rPr>
              <a:t>tra</a:t>
            </a:r>
            <a:r>
              <a:rPr dirty="0" sz="1400" spc="37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2">
                <a:solidFill>
                  <a:srgbClr val="3c4043"/>
                </a:solidFill>
                <a:latin typeface="JWVVIF+Roboto"/>
                <a:cs typeface="JWVVIF+Roboto"/>
              </a:rPr>
              <a:t>cấu</a:t>
            </a:r>
            <a:r>
              <a:rPr dirty="0" sz="1400" spc="19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JWVVIF+Roboto"/>
                <a:cs typeface="JWVVIF+Roboto"/>
              </a:rPr>
              <a:t>trúc</a:t>
            </a:r>
            <a:r>
              <a:rPr dirty="0" sz="1400" spc="21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JWVVIF+Roboto"/>
                <a:cs typeface="JWVVIF+Roboto"/>
              </a:rPr>
              <a:t>bảng</a:t>
            </a:r>
            <a:r>
              <a:rPr dirty="0" sz="1400" spc="18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JWVVIF+Roboto"/>
                <a:cs typeface="JWVVIF+Roboto"/>
              </a:rPr>
              <a:t>lưu</a:t>
            </a:r>
            <a:r>
              <a:rPr dirty="0" sz="1400" spc="21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JWVVIF+Roboto"/>
                <a:cs typeface="JWVVIF+Roboto"/>
              </a:rPr>
              <a:t>trữ.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832299" y="5211040"/>
            <a:ext cx="2308566" cy="27677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9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3c4043"/>
                </a:solidFill>
                <a:latin typeface="JWVVIF+Roboto"/>
                <a:cs typeface="JWVVIF+Roboto"/>
              </a:rPr>
              <a:t>tế</a:t>
            </a:r>
            <a:r>
              <a:rPr dirty="0" sz="1400" spc="23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JWVVIF+Roboto"/>
                <a:cs typeface="JWVVIF+Roboto"/>
              </a:rPr>
              <a:t>qua</a:t>
            </a:r>
            <a:r>
              <a:rPr dirty="0" sz="1400" spc="18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2" b="1">
                <a:solidFill>
                  <a:srgbClr val="3c4043"/>
                </a:solidFill>
                <a:latin typeface="TBMUQR+Roboto Bold"/>
                <a:cs typeface="TBMUQR+Roboto Bold"/>
              </a:rPr>
              <a:t>NotiﬁcationService</a:t>
            </a:r>
            <a:r>
              <a:rPr dirty="0" sz="1400">
                <a:solidFill>
                  <a:srgbClr val="3c4043"/>
                </a:solidFill>
                <a:latin typeface="JWVVIF+Roboto"/>
                <a:cs typeface="JWVVIF+Roboto"/>
              </a:rPr>
              <a:t>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464449" y="5258665"/>
            <a:ext cx="2622072" cy="8197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9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 spc="11">
                <a:solidFill>
                  <a:srgbClr val="3c4043"/>
                </a:solidFill>
                <a:latin typeface="JWVVIF+Roboto"/>
                <a:cs typeface="JWVVIF+Roboto"/>
              </a:rPr>
              <a:t>Hiển</a:t>
            </a:r>
            <a:r>
              <a:rPr dirty="0" sz="1400" spc="20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JWVVIF+Roboto"/>
                <a:cs typeface="JWVVIF+Roboto"/>
              </a:rPr>
              <a:t>thị</a:t>
            </a:r>
            <a:r>
              <a:rPr dirty="0" sz="1400" spc="13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2">
                <a:solidFill>
                  <a:srgbClr val="3c4043"/>
                </a:solidFill>
                <a:latin typeface="JWVVIF+Roboto"/>
                <a:cs typeface="JWVVIF+Roboto"/>
              </a:rPr>
              <a:t>cảnh</a:t>
            </a:r>
            <a:r>
              <a:rPr dirty="0" sz="1400" spc="18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JWVVIF+Roboto"/>
                <a:cs typeface="JWVVIF+Roboto"/>
              </a:rPr>
              <a:t>báo</a:t>
            </a:r>
            <a:r>
              <a:rPr dirty="0" sz="1400" spc="19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>
                <a:solidFill>
                  <a:srgbClr val="3c4043"/>
                </a:solidFill>
                <a:latin typeface="JWVVIF+Roboto"/>
                <a:cs typeface="JWVVIF+Roboto"/>
              </a:rPr>
              <a:t>trạng</a:t>
            </a:r>
            <a:r>
              <a:rPr dirty="0" sz="1400" spc="28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1">
                <a:solidFill>
                  <a:srgbClr val="3c4043"/>
                </a:solidFill>
                <a:latin typeface="JWVVIF+Roboto"/>
                <a:cs typeface="JWVVIF+Roboto"/>
              </a:rPr>
              <a:t>thái</a:t>
            </a:r>
            <a:r>
              <a:rPr dirty="0" sz="1400" spc="12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JWVVIF+Roboto"/>
                <a:cs typeface="JWVVIF+Roboto"/>
              </a:rPr>
              <a:t>dữ</a:t>
            </a:r>
          </a:p>
          <a:p>
            <a:pPr marL="0" marR="0">
              <a:lnSpc>
                <a:spcPts val="1879"/>
              </a:lnSpc>
              <a:spcBef>
                <a:spcPts val="295"/>
              </a:spcBef>
              <a:spcAft>
                <a:spcPts val="0"/>
              </a:spcAft>
            </a:pPr>
            <a:r>
              <a:rPr dirty="0" sz="1400">
                <a:solidFill>
                  <a:srgbClr val="3c4043"/>
                </a:solidFill>
                <a:latin typeface="JWVVIF+Roboto"/>
                <a:cs typeface="JWVVIF+Roboto"/>
              </a:rPr>
              <a:t>liệu</a:t>
            </a:r>
            <a:r>
              <a:rPr dirty="0" sz="1400" spc="24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2">
                <a:solidFill>
                  <a:srgbClr val="3c4043"/>
                </a:solidFill>
                <a:latin typeface="JWVVIF+Roboto"/>
                <a:cs typeface="JWVVIF+Roboto"/>
              </a:rPr>
              <a:t>cũ</a:t>
            </a:r>
            <a:r>
              <a:rPr dirty="0" sz="1400" spc="19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1">
                <a:solidFill>
                  <a:srgbClr val="3c4043"/>
                </a:solidFill>
                <a:latin typeface="JWVVIF+Roboto"/>
                <a:cs typeface="JWVVIF+Roboto"/>
              </a:rPr>
              <a:t>(Outdated)</a:t>
            </a:r>
            <a:r>
              <a:rPr dirty="0" sz="1400" spc="15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2">
                <a:solidFill>
                  <a:srgbClr val="3c4043"/>
                </a:solidFill>
                <a:latin typeface="JWVVIF+Roboto"/>
                <a:cs typeface="JWVVIF+Roboto"/>
              </a:rPr>
              <a:t>cho</a:t>
            </a:r>
            <a:r>
              <a:rPr dirty="0" sz="1400" spc="19">
                <a:solidFill>
                  <a:srgbClr val="3c4043"/>
                </a:solidFill>
                <a:latin typeface="JWVVIF+Roboto"/>
                <a:cs typeface="JWVVI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JWVVIF+Roboto"/>
                <a:cs typeface="JWVVIF+Roboto"/>
              </a:rPr>
              <a:t>người</a:t>
            </a:r>
          </a:p>
          <a:p>
            <a:pPr marL="0" marR="0">
              <a:lnSpc>
                <a:spcPts val="1879"/>
              </a:lnSpc>
              <a:spcBef>
                <a:spcPts val="220"/>
              </a:spcBef>
              <a:spcAft>
                <a:spcPts val="0"/>
              </a:spcAft>
            </a:pPr>
            <a:r>
              <a:rPr dirty="0" sz="1400" spc="14">
                <a:solidFill>
                  <a:srgbClr val="3c4043"/>
                </a:solidFill>
                <a:latin typeface="JWVVIF+Roboto"/>
                <a:cs typeface="JWVVIF+Roboto"/>
              </a:rPr>
              <a:t>dùng.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793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1999" y="571295"/>
            <a:ext cx="6508662" cy="4850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19"/>
              </a:lnSpc>
              <a:spcBef>
                <a:spcPts val="0"/>
              </a:spcBef>
              <a:spcAft>
                <a:spcPts val="0"/>
              </a:spcAft>
            </a:pP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Controller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—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150" spc="-34" b="1">
                <a:solidFill>
                  <a:srgbClr val="1a73e8"/>
                </a:solidFill>
                <a:latin typeface="Arial"/>
                <a:cs typeface="Arial"/>
              </a:rPr>
              <a:t>Trung</a:t>
            </a:r>
            <a:r>
              <a:rPr dirty="0" sz="3150" spc="34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tâm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điều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phối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00124" y="1666373"/>
            <a:ext cx="5440644" cy="6097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Đóng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vai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 spc="-15">
                <a:solidFill>
                  <a:srgbClr val="3c4043"/>
                </a:solidFill>
                <a:latin typeface="SIOMOL+Roboto Medium"/>
                <a:cs typeface="SIOMOL+Roboto Medium"/>
              </a:rPr>
              <a:t>trò</a:t>
            </a:r>
            <a:r>
              <a:rPr dirty="0" sz="1650" spc="15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 b="1">
                <a:solidFill>
                  <a:srgbClr val="1a73e8"/>
                </a:solidFill>
                <a:latin typeface="CFJCBD+Roboto Bold"/>
                <a:cs typeface="CFJCBD+Roboto Bold"/>
              </a:rPr>
              <a:t>cầu</a:t>
            </a:r>
            <a:r>
              <a:rPr dirty="0" sz="1650" b="1">
                <a:solidFill>
                  <a:srgbClr val="1a73e8"/>
                </a:solidFill>
                <a:latin typeface="CFJCBD+Roboto Bold"/>
                <a:cs typeface="CFJCBD+Roboto Bold"/>
              </a:rPr>
              <a:t> </a:t>
            </a:r>
            <a:r>
              <a:rPr dirty="0" sz="1650" b="1">
                <a:solidFill>
                  <a:srgbClr val="1a73e8"/>
                </a:solidFill>
                <a:latin typeface="CFJCBD+Roboto Bold"/>
                <a:cs typeface="CFJCBD+Roboto Bold"/>
              </a:rPr>
              <a:t>nối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,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tách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biệt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hoàn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toàn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Giao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diện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người</a:t>
            </a:r>
          </a:p>
          <a:p>
            <a:pPr marL="0" marR="0">
              <a:lnSpc>
                <a:spcPts val="2176"/>
              </a:lnSpc>
              <a:spcBef>
                <a:spcPts val="148"/>
              </a:spcBef>
              <a:spcAft>
                <a:spcPts val="0"/>
              </a:spcAft>
            </a:pP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dùng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(UI)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 spc="-11">
                <a:solidFill>
                  <a:srgbClr val="3c4043"/>
                </a:solidFill>
                <a:latin typeface="SIOMOL+Roboto Medium"/>
                <a:cs typeface="SIOMOL+Roboto Medium"/>
              </a:rPr>
              <a:t>và</a:t>
            </a:r>
            <a:r>
              <a:rPr dirty="0" sz="1650" spc="11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Logic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xử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lý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API.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0124" y="2914148"/>
            <a:ext cx="5426133" cy="6097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Hàm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 b="1">
                <a:solidFill>
                  <a:srgbClr val="1a73e8"/>
                </a:solidFill>
                <a:latin typeface="CFJCBD+Roboto Bold"/>
                <a:cs typeface="CFJCBD+Roboto Bold"/>
              </a:rPr>
              <a:t>formatWeather()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:</a:t>
            </a:r>
            <a:r>
              <a:rPr dirty="0" sz="1650" spc="-47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 spc="-51">
                <a:solidFill>
                  <a:srgbClr val="3c4043"/>
                </a:solidFill>
                <a:latin typeface="SIOMOL+Roboto Medium"/>
                <a:cs typeface="SIOMOL+Roboto Medium"/>
              </a:rPr>
              <a:t>Tự</a:t>
            </a:r>
            <a:r>
              <a:rPr dirty="0" sz="1650" spc="51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động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phân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tích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dữ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liệu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 spc="-11">
                <a:solidFill>
                  <a:srgbClr val="3c4043"/>
                </a:solidFill>
                <a:latin typeface="SIOMOL+Roboto Medium"/>
                <a:cs typeface="SIOMOL+Roboto Medium"/>
              </a:rPr>
              <a:t>và</a:t>
            </a:r>
            <a:r>
              <a:rPr dirty="0" sz="1650" spc="11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sinh</a:t>
            </a:r>
          </a:p>
          <a:p>
            <a:pPr marL="0" marR="0">
              <a:lnSpc>
                <a:spcPts val="2176"/>
              </a:lnSpc>
              <a:spcBef>
                <a:spcPts val="148"/>
              </a:spcBef>
              <a:spcAft>
                <a:spcPts val="0"/>
              </a:spcAft>
            </a:pP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câu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gợi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ý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hành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động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thông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minh.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00124" y="4171448"/>
            <a:ext cx="5468428" cy="6097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Quản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lý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luồng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gọi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dữ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liệu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qua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 b="1">
                <a:solidFill>
                  <a:srgbClr val="1a73e8"/>
                </a:solidFill>
                <a:latin typeface="CFJCBD+Roboto Bold"/>
                <a:cs typeface="CFJCBD+Roboto Bold"/>
              </a:rPr>
              <a:t>ApiService</a:t>
            </a:r>
            <a:r>
              <a:rPr dirty="0" sz="1650" b="1">
                <a:solidFill>
                  <a:srgbClr val="1a73e8"/>
                </a:solidFill>
                <a:latin typeface="CFJCBD+Roboto Bold"/>
                <a:cs typeface="CFJCBD+Roboto Bold"/>
              </a:rPr>
              <a:t> 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hoặc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định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vị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 spc="-11">
                <a:solidFill>
                  <a:srgbClr val="3c4043"/>
                </a:solidFill>
                <a:latin typeface="SIOMOL+Roboto Medium"/>
                <a:cs typeface="SIOMOL+Roboto Medium"/>
              </a:rPr>
              <a:t>tọa</a:t>
            </a:r>
          </a:p>
          <a:p>
            <a:pPr marL="0" marR="0">
              <a:lnSpc>
                <a:spcPts val="2176"/>
              </a:lnSpc>
              <a:spcBef>
                <a:spcPts val="148"/>
              </a:spcBef>
              <a:spcAft>
                <a:spcPts val="0"/>
              </a:spcAft>
            </a:pP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độ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thực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từ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 b="1">
                <a:solidFill>
                  <a:srgbClr val="1a73e8"/>
                </a:solidFill>
                <a:latin typeface="CFJCBD+Roboto Bold"/>
                <a:cs typeface="CFJCBD+Roboto Bold"/>
              </a:rPr>
              <a:t>LocationService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00124" y="5428748"/>
            <a:ext cx="5334278" cy="60021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Điều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phối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thông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báo: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 b="1">
                <a:solidFill>
                  <a:srgbClr val="1a73e8"/>
                </a:solidFill>
                <a:latin typeface="CFJCBD+Roboto Bold"/>
                <a:cs typeface="CFJCBD+Roboto Bold"/>
              </a:rPr>
              <a:t>getWeatherAlert()</a:t>
            </a:r>
            <a:r>
              <a:rPr dirty="0" sz="1650" b="1">
                <a:solidFill>
                  <a:srgbClr val="1a73e8"/>
                </a:solidFill>
                <a:latin typeface="CFJCBD+Roboto Bold"/>
                <a:cs typeface="CFJCBD+Roboto Bold"/>
              </a:rPr>
              <a:t> </a:t>
            </a:r>
            <a:r>
              <a:rPr dirty="0" sz="1650" spc="-11">
                <a:solidFill>
                  <a:srgbClr val="3c4043"/>
                </a:solidFill>
                <a:latin typeface="SIOMOL+Roboto Medium"/>
                <a:cs typeface="SIOMOL+Roboto Medium"/>
              </a:rPr>
              <a:t>và</a:t>
            </a:r>
            <a:r>
              <a:rPr dirty="0" sz="1650" spc="11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lập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lịch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nhắc</a:t>
            </a:r>
          </a:p>
          <a:p>
            <a:pPr marL="0" marR="0">
              <a:lnSpc>
                <a:spcPts val="2176"/>
              </a:lnSpc>
              <a:spcBef>
                <a:spcPts val="23"/>
              </a:spcBef>
              <a:spcAft>
                <a:spcPts val="0"/>
              </a:spcAft>
            </a:pP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nhở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 </a:t>
            </a:r>
            <a:r>
              <a:rPr dirty="0" sz="1650" b="1">
                <a:solidFill>
                  <a:srgbClr val="1a73e8"/>
                </a:solidFill>
                <a:latin typeface="CFJCBD+Roboto Bold"/>
                <a:cs typeface="CFJCBD+Roboto Bold"/>
              </a:rPr>
              <a:t>scheduleWorkReminder()</a:t>
            </a:r>
            <a:r>
              <a:rPr dirty="0" sz="1650">
                <a:solidFill>
                  <a:srgbClr val="3c4043"/>
                </a:solidFill>
                <a:latin typeface="SIOMOL+Roboto Medium"/>
                <a:cs typeface="SIOMOL+Roboto Medium"/>
              </a:rPr>
              <a:t>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61999" y="6308693"/>
            <a:ext cx="4673212" cy="2139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84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i="1">
                <a:solidFill>
                  <a:srgbClr val="70757a"/>
                </a:solidFill>
                <a:latin typeface="LKQNVR+Roboto Italic"/>
                <a:cs typeface="LKQNVR+Roboto Italic"/>
              </a:rPr>
              <a:t>Xây</a:t>
            </a:r>
            <a:r>
              <a:rPr dirty="0" sz="1050" spc="13" i="1">
                <a:solidFill>
                  <a:srgbClr val="70757a"/>
                </a:solidFill>
                <a:latin typeface="LKQNVR+Roboto Italic"/>
                <a:cs typeface="LKQNVR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LKQNVR+Roboto Italic"/>
                <a:cs typeface="LKQNVR+Roboto Italic"/>
              </a:rPr>
              <a:t>dựng</a:t>
            </a:r>
            <a:r>
              <a:rPr dirty="0" sz="1050" i="1">
                <a:solidFill>
                  <a:srgbClr val="70757a"/>
                </a:solidFill>
                <a:latin typeface="LKQNVR+Roboto Italic"/>
                <a:cs typeface="LKQNVR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LKQNVR+Roboto Italic"/>
                <a:cs typeface="LKQNVR+Roboto Italic"/>
              </a:rPr>
              <a:t>ứng</a:t>
            </a:r>
            <a:r>
              <a:rPr dirty="0" sz="1050" i="1">
                <a:solidFill>
                  <a:srgbClr val="70757a"/>
                </a:solidFill>
                <a:latin typeface="LKQNVR+Roboto Italic"/>
                <a:cs typeface="LKQNVR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LKQNVR+Roboto Italic"/>
                <a:cs typeface="LKQNVR+Roboto Italic"/>
              </a:rPr>
              <a:t>dụng</a:t>
            </a:r>
            <a:r>
              <a:rPr dirty="0" sz="1050" i="1">
                <a:solidFill>
                  <a:srgbClr val="70757a"/>
                </a:solidFill>
                <a:latin typeface="LKQNVR+Roboto Italic"/>
                <a:cs typeface="LKQNVR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LKQNVR+Roboto Italic"/>
                <a:cs typeface="LKQNVR+Roboto Italic"/>
              </a:rPr>
              <a:t>dự</a:t>
            </a:r>
            <a:r>
              <a:rPr dirty="0" sz="1050" i="1">
                <a:solidFill>
                  <a:srgbClr val="70757a"/>
                </a:solidFill>
                <a:latin typeface="LKQNVR+Roboto Italic"/>
                <a:cs typeface="LKQNVR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LKQNVR+Roboto Italic"/>
                <a:cs typeface="LKQNVR+Roboto Italic"/>
              </a:rPr>
              <a:t>báo</a:t>
            </a:r>
            <a:r>
              <a:rPr dirty="0" sz="1050" i="1">
                <a:solidFill>
                  <a:srgbClr val="70757a"/>
                </a:solidFill>
                <a:latin typeface="LKQNVR+Roboto Italic"/>
                <a:cs typeface="LKQNVR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LKQNVR+Roboto Italic"/>
                <a:cs typeface="LKQNVR+Roboto Italic"/>
              </a:rPr>
              <a:t>thời</a:t>
            </a:r>
            <a:r>
              <a:rPr dirty="0" sz="1050" i="1">
                <a:solidFill>
                  <a:srgbClr val="70757a"/>
                </a:solidFill>
                <a:latin typeface="LKQNVR+Roboto Italic"/>
                <a:cs typeface="LKQNVR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LKQNVR+Roboto Italic"/>
                <a:cs typeface="LKQNVR+Roboto Italic"/>
              </a:rPr>
              <a:t>tiết</a:t>
            </a:r>
            <a:r>
              <a:rPr dirty="0" sz="1050" i="1">
                <a:solidFill>
                  <a:srgbClr val="70757a"/>
                </a:solidFill>
                <a:latin typeface="LKQNVR+Roboto Italic"/>
                <a:cs typeface="LKQNVR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LKQNVR+Roboto Italic"/>
                <a:cs typeface="LKQNVR+Roboto Italic"/>
              </a:rPr>
              <a:t>trên</a:t>
            </a:r>
            <a:r>
              <a:rPr dirty="0" sz="1050" spc="12" i="1">
                <a:solidFill>
                  <a:srgbClr val="70757a"/>
                </a:solidFill>
                <a:latin typeface="LKQNVR+Roboto Italic"/>
                <a:cs typeface="LKQNVR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LKQNVR+Roboto Italic"/>
                <a:cs typeface="LKQNVR+Roboto Italic"/>
              </a:rPr>
              <a:t>Flutter</a:t>
            </a:r>
            <a:r>
              <a:rPr dirty="0" sz="1050" i="1">
                <a:solidFill>
                  <a:srgbClr val="70757a"/>
                </a:solidFill>
                <a:latin typeface="LKQNVR+Roboto Italic"/>
                <a:cs typeface="LKQNVR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LKQNVR+Roboto Italic"/>
                <a:cs typeface="LKQNVR+Roboto Italic"/>
              </a:rPr>
              <a:t>©</a:t>
            </a:r>
            <a:r>
              <a:rPr dirty="0" sz="1050" i="1">
                <a:solidFill>
                  <a:srgbClr val="70757a"/>
                </a:solidFill>
                <a:latin typeface="LKQNVR+Roboto Italic"/>
                <a:cs typeface="LKQNVR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LKQNVR+Roboto Italic"/>
                <a:cs typeface="LKQNVR+Roboto Italic"/>
              </a:rPr>
              <a:t>2026</a:t>
            </a:r>
            <a:r>
              <a:rPr dirty="0" sz="1050" i="1">
                <a:solidFill>
                  <a:srgbClr val="70757a"/>
                </a:solidFill>
                <a:latin typeface="LKQNVR+Roboto Italic"/>
                <a:cs typeface="LKQNVR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LKQNVR+Roboto Italic"/>
                <a:cs typeface="LKQNVR+Roboto Italic"/>
              </a:rPr>
              <a:t>|</a:t>
            </a:r>
            <a:r>
              <a:rPr dirty="0" sz="1050" i="1">
                <a:solidFill>
                  <a:srgbClr val="70757a"/>
                </a:solidFill>
                <a:latin typeface="LKQNVR+Roboto Italic"/>
                <a:cs typeface="LKQNVR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LKQNVR+Roboto Italic"/>
                <a:cs typeface="LKQNVR+Roboto Italic"/>
              </a:rPr>
              <a:t>Nhóm</a:t>
            </a:r>
            <a:r>
              <a:rPr dirty="0" sz="1050" i="1">
                <a:solidFill>
                  <a:srgbClr val="70757a"/>
                </a:solidFill>
                <a:latin typeface="LKQNVR+Roboto Italic"/>
                <a:cs typeface="LKQNVR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LKQNVR+Roboto Italic"/>
                <a:cs typeface="LKQNVR+Roboto Italic"/>
              </a:rPr>
              <a:t>thực</a:t>
            </a:r>
            <a:r>
              <a:rPr dirty="0" sz="1050" i="1">
                <a:solidFill>
                  <a:srgbClr val="70757a"/>
                </a:solidFill>
                <a:latin typeface="LKQNVR+Roboto Italic"/>
                <a:cs typeface="LKQNVR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LKQNVR+Roboto Italic"/>
                <a:cs typeface="LKQNVR+Roboto Italic"/>
              </a:rPr>
              <a:t>hiện</a:t>
            </a:r>
            <a:r>
              <a:rPr dirty="0" sz="1050" i="1">
                <a:solidFill>
                  <a:srgbClr val="70757a"/>
                </a:solidFill>
                <a:latin typeface="LKQNVR+Roboto Italic"/>
                <a:cs typeface="LKQNVR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LKQNVR+Roboto Italic"/>
                <a:cs typeface="LKQNVR+Roboto Italic"/>
              </a:rPr>
              <a:t>dự</a:t>
            </a:r>
            <a:r>
              <a:rPr dirty="0" sz="1050" i="1">
                <a:solidFill>
                  <a:srgbClr val="70757a"/>
                </a:solidFill>
                <a:latin typeface="LKQNVR+Roboto Italic"/>
                <a:cs typeface="LKQNVR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LKQNVR+Roboto Italic"/>
                <a:cs typeface="LKQNVR+Roboto Italic"/>
              </a:rPr>
              <a:t>án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793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1999" y="571295"/>
            <a:ext cx="3642874" cy="4850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19"/>
              </a:lnSpc>
              <a:spcBef>
                <a:spcPts val="0"/>
              </a:spcBef>
              <a:spcAft>
                <a:spcPts val="0"/>
              </a:spcAft>
            </a:pP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Hệ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thống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Services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1999" y="1094872"/>
            <a:ext cx="6281736" cy="314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650">
                <a:solidFill>
                  <a:srgbClr val="70757a"/>
                </a:solidFill>
                <a:latin typeface="UVLQWA+Roboto Medium"/>
                <a:cs typeface="UVLQWA+Roboto Medium"/>
              </a:rPr>
              <a:t>Các</a:t>
            </a:r>
            <a:r>
              <a:rPr dirty="0" sz="1650">
                <a:solidFill>
                  <a:srgbClr val="70757a"/>
                </a:solidFill>
                <a:latin typeface="UVLQWA+Roboto Medium"/>
                <a:cs typeface="UVLQWA+Roboto Medium"/>
              </a:rPr>
              <a:t> </a:t>
            </a:r>
            <a:r>
              <a:rPr dirty="0" sz="1650">
                <a:solidFill>
                  <a:srgbClr val="70757a"/>
                </a:solidFill>
                <a:latin typeface="UVLQWA+Roboto Medium"/>
                <a:cs typeface="UVLQWA+Roboto Medium"/>
              </a:rPr>
              <a:t>thành</a:t>
            </a:r>
            <a:r>
              <a:rPr dirty="0" sz="1650">
                <a:solidFill>
                  <a:srgbClr val="70757a"/>
                </a:solidFill>
                <a:latin typeface="UVLQWA+Roboto Medium"/>
                <a:cs typeface="UVLQWA+Roboto Medium"/>
              </a:rPr>
              <a:t> </a:t>
            </a:r>
            <a:r>
              <a:rPr dirty="0" sz="1650">
                <a:solidFill>
                  <a:srgbClr val="70757a"/>
                </a:solidFill>
                <a:latin typeface="UVLQWA+Roboto Medium"/>
                <a:cs typeface="UVLQWA+Roboto Medium"/>
              </a:rPr>
              <a:t>phần</a:t>
            </a:r>
            <a:r>
              <a:rPr dirty="0" sz="1650">
                <a:solidFill>
                  <a:srgbClr val="70757a"/>
                </a:solidFill>
                <a:latin typeface="UVLQWA+Roboto Medium"/>
                <a:cs typeface="UVLQWA+Roboto Medium"/>
              </a:rPr>
              <a:t> </a:t>
            </a:r>
            <a:r>
              <a:rPr dirty="0" sz="1650">
                <a:solidFill>
                  <a:srgbClr val="70757a"/>
                </a:solidFill>
                <a:latin typeface="UVLQWA+Roboto Medium"/>
                <a:cs typeface="UVLQWA+Roboto Medium"/>
              </a:rPr>
              <a:t>cốt</a:t>
            </a:r>
            <a:r>
              <a:rPr dirty="0" sz="1650">
                <a:solidFill>
                  <a:srgbClr val="70757a"/>
                </a:solidFill>
                <a:latin typeface="UVLQWA+Roboto Medium"/>
                <a:cs typeface="UVLQWA+Roboto Medium"/>
              </a:rPr>
              <a:t> </a:t>
            </a:r>
            <a:r>
              <a:rPr dirty="0" sz="1650">
                <a:solidFill>
                  <a:srgbClr val="70757a"/>
                </a:solidFill>
                <a:latin typeface="UVLQWA+Roboto Medium"/>
                <a:cs typeface="UVLQWA+Roboto Medium"/>
              </a:rPr>
              <a:t>lõi</a:t>
            </a:r>
            <a:r>
              <a:rPr dirty="0" sz="1650">
                <a:solidFill>
                  <a:srgbClr val="70757a"/>
                </a:solidFill>
                <a:latin typeface="UVLQWA+Roboto Medium"/>
                <a:cs typeface="UVLQWA+Roboto Medium"/>
              </a:rPr>
              <a:t> </a:t>
            </a:r>
            <a:r>
              <a:rPr dirty="0" sz="1650">
                <a:solidFill>
                  <a:srgbClr val="70757a"/>
                </a:solidFill>
                <a:latin typeface="UVLQWA+Roboto Medium"/>
                <a:cs typeface="UVLQWA+Roboto Medium"/>
              </a:rPr>
              <a:t>xử</a:t>
            </a:r>
            <a:r>
              <a:rPr dirty="0" sz="1650">
                <a:solidFill>
                  <a:srgbClr val="70757a"/>
                </a:solidFill>
                <a:latin typeface="UVLQWA+Roboto Medium"/>
                <a:cs typeface="UVLQWA+Roboto Medium"/>
              </a:rPr>
              <a:t> </a:t>
            </a:r>
            <a:r>
              <a:rPr dirty="0" sz="1650">
                <a:solidFill>
                  <a:srgbClr val="70757a"/>
                </a:solidFill>
                <a:latin typeface="UVLQWA+Roboto Medium"/>
                <a:cs typeface="UVLQWA+Roboto Medium"/>
              </a:rPr>
              <a:t>lý</a:t>
            </a:r>
            <a:r>
              <a:rPr dirty="0" sz="1650">
                <a:solidFill>
                  <a:srgbClr val="70757a"/>
                </a:solidFill>
                <a:latin typeface="UVLQWA+Roboto Medium"/>
                <a:cs typeface="UVLQWA+Roboto Medium"/>
              </a:rPr>
              <a:t> </a:t>
            </a:r>
            <a:r>
              <a:rPr dirty="0" sz="1650">
                <a:solidFill>
                  <a:srgbClr val="70757a"/>
                </a:solidFill>
                <a:latin typeface="UVLQWA+Roboto Medium"/>
                <a:cs typeface="UVLQWA+Roboto Medium"/>
              </a:rPr>
              <a:t>logic</a:t>
            </a:r>
            <a:r>
              <a:rPr dirty="0" sz="1650">
                <a:solidFill>
                  <a:srgbClr val="70757a"/>
                </a:solidFill>
                <a:latin typeface="UVLQWA+Roboto Medium"/>
                <a:cs typeface="UVLQWA+Roboto Medium"/>
              </a:rPr>
              <a:t> </a:t>
            </a:r>
            <a:r>
              <a:rPr dirty="0" sz="1650">
                <a:solidFill>
                  <a:srgbClr val="70757a"/>
                </a:solidFill>
                <a:latin typeface="UVLQWA+Roboto Medium"/>
                <a:cs typeface="UVLQWA+Roboto Medium"/>
              </a:rPr>
              <a:t>nghiệp</a:t>
            </a:r>
            <a:r>
              <a:rPr dirty="0" sz="1650">
                <a:solidFill>
                  <a:srgbClr val="70757a"/>
                </a:solidFill>
                <a:latin typeface="UVLQWA+Roboto Medium"/>
                <a:cs typeface="UVLQWA+Roboto Medium"/>
              </a:rPr>
              <a:t> </a:t>
            </a:r>
            <a:r>
              <a:rPr dirty="0" sz="1650">
                <a:solidFill>
                  <a:srgbClr val="70757a"/>
                </a:solidFill>
                <a:latin typeface="UVLQWA+Roboto Medium"/>
                <a:cs typeface="UVLQWA+Roboto Medium"/>
              </a:rPr>
              <a:t>vụ</a:t>
            </a:r>
            <a:r>
              <a:rPr dirty="0" sz="1650">
                <a:solidFill>
                  <a:srgbClr val="70757a"/>
                </a:solidFill>
                <a:latin typeface="UVLQWA+Roboto Medium"/>
                <a:cs typeface="UVLQWA+Roboto Medium"/>
              </a:rPr>
              <a:t> </a:t>
            </a:r>
            <a:r>
              <a:rPr dirty="0" sz="1650">
                <a:solidFill>
                  <a:srgbClr val="70757a"/>
                </a:solidFill>
                <a:latin typeface="UVLQWA+Roboto Medium"/>
                <a:cs typeface="UVLQWA+Roboto Medium"/>
              </a:rPr>
              <a:t>trong</a:t>
            </a:r>
            <a:r>
              <a:rPr dirty="0" sz="1650">
                <a:solidFill>
                  <a:srgbClr val="70757a"/>
                </a:solidFill>
                <a:latin typeface="UVLQWA+Roboto Medium"/>
                <a:cs typeface="UVLQWA+Roboto Medium"/>
              </a:rPr>
              <a:t> </a:t>
            </a:r>
            <a:r>
              <a:rPr dirty="0" sz="1650">
                <a:solidFill>
                  <a:srgbClr val="70757a"/>
                </a:solidFill>
                <a:latin typeface="UVLQWA+Roboto Medium"/>
                <a:cs typeface="UVLQWA+Roboto Medium"/>
              </a:rPr>
              <a:t>kiến</a:t>
            </a:r>
            <a:r>
              <a:rPr dirty="0" sz="1650">
                <a:solidFill>
                  <a:srgbClr val="70757a"/>
                </a:solidFill>
                <a:latin typeface="UVLQWA+Roboto Medium"/>
                <a:cs typeface="UVLQWA+Roboto Medium"/>
              </a:rPr>
              <a:t> </a:t>
            </a:r>
            <a:r>
              <a:rPr dirty="0" sz="1650">
                <a:solidFill>
                  <a:srgbClr val="70757a"/>
                </a:solidFill>
                <a:latin typeface="UVLQWA+Roboto Medium"/>
                <a:cs typeface="UVLQWA+Roboto Medium"/>
              </a:rPr>
              <a:t>trúc</a:t>
            </a:r>
            <a:r>
              <a:rPr dirty="0" sz="1650">
                <a:solidFill>
                  <a:srgbClr val="70757a"/>
                </a:solidFill>
                <a:latin typeface="UVLQWA+Roboto Medium"/>
                <a:cs typeface="UVLQWA+Roboto Medium"/>
              </a:rPr>
              <a:t> </a:t>
            </a:r>
            <a:r>
              <a:rPr dirty="0" sz="1650">
                <a:solidFill>
                  <a:srgbClr val="70757a"/>
                </a:solidFill>
                <a:latin typeface="UVLQWA+Roboto Medium"/>
                <a:cs typeface="UVLQWA+Roboto Medium"/>
              </a:rPr>
              <a:t>Flutter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62024" y="1913111"/>
            <a:ext cx="1361144" cy="33958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spc="-38" b="1">
                <a:solidFill>
                  <a:srgbClr val="ffffff"/>
                </a:solidFill>
                <a:latin typeface="LPCPWU+Roboto Bold"/>
                <a:cs typeface="LPCPWU+Roboto Bold"/>
              </a:rPr>
              <a:t>Tên</a:t>
            </a:r>
            <a:r>
              <a:rPr dirty="0" sz="1800" spc="38" b="1">
                <a:solidFill>
                  <a:srgbClr val="ffffff"/>
                </a:solidFill>
                <a:latin typeface="LPCPWU+Roboto Bold"/>
                <a:cs typeface="LPCPWU+Roboto Bold"/>
              </a:rPr>
              <a:t> </a:t>
            </a:r>
            <a:r>
              <a:rPr dirty="0" sz="1800" b="1">
                <a:solidFill>
                  <a:srgbClr val="ffffff"/>
                </a:solidFill>
                <a:latin typeface="LPCPWU+Roboto Bold"/>
                <a:cs typeface="LPCPWU+Roboto Bold"/>
              </a:rPr>
              <a:t>Service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689127" y="1913111"/>
            <a:ext cx="1747577" cy="33958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ffff"/>
                </a:solidFill>
                <a:latin typeface="LPCPWU+Roboto Bold"/>
                <a:cs typeface="LPCPWU+Roboto Bold"/>
              </a:rPr>
              <a:t>Nhiệm</a:t>
            </a:r>
            <a:r>
              <a:rPr dirty="0" sz="1800" b="1">
                <a:solidFill>
                  <a:srgbClr val="ffffff"/>
                </a:solidFill>
                <a:latin typeface="LPCPWU+Roboto Bold"/>
                <a:cs typeface="LPCPWU+Roboto Bold"/>
              </a:rPr>
              <a:t> </a:t>
            </a:r>
            <a:r>
              <a:rPr dirty="0" sz="1800" b="1">
                <a:solidFill>
                  <a:srgbClr val="ffffff"/>
                </a:solidFill>
                <a:latin typeface="LPCPWU+Roboto Bold"/>
                <a:cs typeface="LPCPWU+Roboto Bold"/>
              </a:rPr>
              <a:t>vụ</a:t>
            </a:r>
            <a:r>
              <a:rPr dirty="0" sz="1800" b="1">
                <a:solidFill>
                  <a:srgbClr val="ffffff"/>
                </a:solidFill>
                <a:latin typeface="LPCPWU+Roboto Bold"/>
                <a:cs typeface="LPCPWU+Roboto Bold"/>
              </a:rPr>
              <a:t> </a:t>
            </a:r>
            <a:r>
              <a:rPr dirty="0" sz="1800" b="1">
                <a:solidFill>
                  <a:srgbClr val="ffffff"/>
                </a:solidFill>
                <a:latin typeface="LPCPWU+Roboto Bold"/>
                <a:cs typeface="LPCPWU+Roboto Bold"/>
              </a:rPr>
              <a:t>chính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689127" y="2553110"/>
            <a:ext cx="6216959" cy="5179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78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17">
                <a:solidFill>
                  <a:srgbClr val="3c4043"/>
                </a:solidFill>
                <a:latin typeface="KWVFHS+Roboto"/>
                <a:cs typeface="KWVFHS+Roboto"/>
              </a:rPr>
              <a:t>Tương</a:t>
            </a:r>
            <a:r>
              <a:rPr dirty="0" sz="1500" spc="30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tác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với</a:t>
            </a:r>
            <a:r>
              <a:rPr dirty="0" sz="1500" spc="18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OpenWeatherMap</a:t>
            </a:r>
            <a:r>
              <a:rPr dirty="0" sz="1500" spc="15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API,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xử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lý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gọi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mạng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 spc="-10">
                <a:solidFill>
                  <a:srgbClr val="3c4043"/>
                </a:solidFill>
                <a:latin typeface="KWVFHS+Roboto"/>
                <a:cs typeface="KWVFHS+Roboto"/>
              </a:rPr>
              <a:t>và</a:t>
            </a:r>
            <a:r>
              <a:rPr dirty="0" sz="1500" spc="24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phân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giải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dữ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liệu</a:t>
            </a:r>
          </a:p>
          <a:p>
            <a:pPr marL="0" marR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JSON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thành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Object.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47799" y="2610260"/>
            <a:ext cx="1077366" cy="2893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78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a73e8"/>
                </a:solidFill>
                <a:latin typeface="LPCPWU+Roboto Bold"/>
                <a:cs typeface="LPCPWU+Roboto Bold"/>
              </a:rPr>
              <a:t>ApiService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689127" y="3362735"/>
            <a:ext cx="6459549" cy="5179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78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Quản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lý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cơ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sở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dữ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liệu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SQLite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tại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máy</a:t>
            </a:r>
            <a:r>
              <a:rPr dirty="0" sz="1500" spc="18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để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lưu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trữ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cache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thời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tiết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 spc="-10">
                <a:solidFill>
                  <a:srgbClr val="3c4043"/>
                </a:solidFill>
                <a:latin typeface="KWVFHS+Roboto"/>
                <a:cs typeface="KWVFHS+Roboto"/>
              </a:rPr>
              <a:t>và</a:t>
            </a:r>
            <a:r>
              <a:rPr dirty="0" sz="1500" spc="24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danh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sách</a:t>
            </a:r>
          </a:p>
          <a:p>
            <a:pPr marL="0" marR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địa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điểm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yêu</a:t>
            </a:r>
            <a:r>
              <a:rPr dirty="0" sz="1500" spc="18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thích.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447799" y="3419885"/>
            <a:ext cx="1024160" cy="2893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78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a73e8"/>
                </a:solidFill>
                <a:latin typeface="LPCPWU+Roboto Bold"/>
                <a:cs typeface="LPCPWU+Roboto Bold"/>
              </a:rPr>
              <a:t>DbService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689127" y="4172360"/>
            <a:ext cx="6402436" cy="5179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78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23">
                <a:solidFill>
                  <a:srgbClr val="3c4043"/>
                </a:solidFill>
                <a:latin typeface="KWVFHS+Roboto"/>
                <a:cs typeface="KWVFHS+Roboto"/>
              </a:rPr>
              <a:t>Yêu</a:t>
            </a:r>
            <a:r>
              <a:rPr dirty="0" sz="1500" spc="37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cầu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quyền</a:t>
            </a:r>
            <a:r>
              <a:rPr dirty="0" sz="1500" spc="15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truy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cập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phần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cứng,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xác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định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tọa</a:t>
            </a:r>
            <a:r>
              <a:rPr dirty="0" sz="1500" spc="20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độ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GPS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hiện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tại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của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người</a:t>
            </a:r>
          </a:p>
          <a:p>
            <a:pPr marL="0" marR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dùng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một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cách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chính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xác.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447799" y="4229510"/>
            <a:ext cx="1534734" cy="2893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78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a73e8"/>
                </a:solidFill>
                <a:latin typeface="LPCPWU+Roboto Bold"/>
                <a:cs typeface="LPCPWU+Roboto Bold"/>
              </a:rPr>
              <a:t>LocationService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689127" y="4981985"/>
            <a:ext cx="6575542" cy="5179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78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Thiết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lập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lịch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nhắc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nhở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(Scheduled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Notiﬁcations)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 spc="-10">
                <a:solidFill>
                  <a:srgbClr val="3c4043"/>
                </a:solidFill>
                <a:latin typeface="KWVFHS+Roboto"/>
                <a:cs typeface="KWVFHS+Roboto"/>
              </a:rPr>
              <a:t>và</a:t>
            </a:r>
            <a:r>
              <a:rPr dirty="0" sz="1500" spc="24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đẩy</a:t>
            </a:r>
            <a:r>
              <a:rPr dirty="0" sz="1500" spc="18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thông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báo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cảnh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báo</a:t>
            </a:r>
          </a:p>
          <a:p>
            <a:pPr marL="0" marR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thời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tiết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nguy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hiểm.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437679" y="5020085"/>
            <a:ext cx="1904664" cy="10989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78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a73e8"/>
                </a:solidFill>
                <a:latin typeface="LPCPWU+Roboto Bold"/>
                <a:cs typeface="LPCPWU+Roboto Bold"/>
              </a:rPr>
              <a:t>NotiﬁcationService</a:t>
            </a:r>
          </a:p>
          <a:p>
            <a:pPr marL="0" marR="0">
              <a:lnSpc>
                <a:spcPts val="1978"/>
              </a:lnSpc>
              <a:spcBef>
                <a:spcPts val="4396"/>
              </a:spcBef>
              <a:spcAft>
                <a:spcPts val="0"/>
              </a:spcAft>
            </a:pPr>
            <a:r>
              <a:rPr dirty="0" sz="1500" b="1">
                <a:solidFill>
                  <a:srgbClr val="1a73e8"/>
                </a:solidFill>
                <a:latin typeface="LPCPWU+Roboto Bold"/>
                <a:cs typeface="LPCPWU+Roboto Bold"/>
              </a:rPr>
              <a:t>WeatherChatService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689127" y="5791610"/>
            <a:ext cx="6332022" cy="5179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78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Tích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hợp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OpenRouter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(AI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Model)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để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cung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cấp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tính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năng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trò</a:t>
            </a:r>
            <a:r>
              <a:rPr dirty="0" sz="1500" spc="20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chuyện,</a:t>
            </a:r>
            <a:r>
              <a:rPr dirty="0" sz="1500" spc="15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tư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vấn</a:t>
            </a:r>
          </a:p>
          <a:p>
            <a:pPr marL="0" marR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trang</a:t>
            </a:r>
            <a:r>
              <a:rPr dirty="0" sz="1500" spc="20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phục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theo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thời</a:t>
            </a:r>
            <a:r>
              <a:rPr dirty="0" sz="1500" spc="13">
                <a:solidFill>
                  <a:srgbClr val="3c4043"/>
                </a:solidFill>
                <a:latin typeface="KWVFHS+Roboto"/>
                <a:cs typeface="KWVFHS+Roboto"/>
              </a:rPr>
              <a:t> </a:t>
            </a:r>
            <a:r>
              <a:rPr dirty="0" sz="1500">
                <a:solidFill>
                  <a:srgbClr val="3c4043"/>
                </a:solidFill>
                <a:latin typeface="KWVFHS+Roboto"/>
                <a:cs typeface="KWVFHS+Roboto"/>
              </a:rPr>
              <a:t>tiết.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793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1999" y="571295"/>
            <a:ext cx="4531853" cy="4850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19"/>
              </a:lnSpc>
              <a:spcBef>
                <a:spcPts val="0"/>
              </a:spcBef>
              <a:spcAft>
                <a:spcPts val="0"/>
              </a:spcAft>
            </a:pP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Cấu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trúc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Model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Dữ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liệu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1999" y="1277670"/>
            <a:ext cx="5548721" cy="2642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70757a"/>
                </a:solidFill>
                <a:latin typeface="QURWVC+Roboto"/>
                <a:cs typeface="QURWVC+Roboto"/>
              </a:rPr>
              <a:t>Định</a:t>
            </a:r>
            <a:r>
              <a:rPr dirty="0" sz="1350" spc="11">
                <a:solidFill>
                  <a:srgbClr val="70757a"/>
                </a:solidFill>
                <a:latin typeface="QURWVC+Roboto"/>
                <a:cs typeface="QURWVC+Roboto"/>
              </a:rPr>
              <a:t> </a:t>
            </a:r>
            <a:r>
              <a:rPr dirty="0" sz="1350">
                <a:solidFill>
                  <a:srgbClr val="70757a"/>
                </a:solidFill>
                <a:latin typeface="QURWVC+Roboto"/>
                <a:cs typeface="QURWVC+Roboto"/>
              </a:rPr>
              <a:t>nghĩa</a:t>
            </a:r>
            <a:r>
              <a:rPr dirty="0" sz="1350" spc="11">
                <a:solidFill>
                  <a:srgbClr val="70757a"/>
                </a:solidFill>
                <a:latin typeface="QURWVC+Roboto"/>
                <a:cs typeface="QURWVC+Roboto"/>
              </a:rPr>
              <a:t> </a:t>
            </a:r>
            <a:r>
              <a:rPr dirty="0" sz="1350">
                <a:solidFill>
                  <a:srgbClr val="70757a"/>
                </a:solidFill>
                <a:latin typeface="QURWVC+Roboto"/>
                <a:cs typeface="QURWVC+Roboto"/>
              </a:rPr>
              <a:t>kiến</a:t>
            </a:r>
            <a:r>
              <a:rPr dirty="0" sz="1350" spc="11">
                <a:solidFill>
                  <a:srgbClr val="70757a"/>
                </a:solidFill>
                <a:latin typeface="QURWVC+Roboto"/>
                <a:cs typeface="QURWVC+Roboto"/>
              </a:rPr>
              <a:t> </a:t>
            </a:r>
            <a:r>
              <a:rPr dirty="0" sz="1350">
                <a:solidFill>
                  <a:srgbClr val="70757a"/>
                </a:solidFill>
                <a:latin typeface="QURWVC+Roboto"/>
                <a:cs typeface="QURWVC+Roboto"/>
              </a:rPr>
              <a:t>trúc</a:t>
            </a:r>
            <a:r>
              <a:rPr dirty="0" sz="1350" spc="11">
                <a:solidFill>
                  <a:srgbClr val="70757a"/>
                </a:solidFill>
                <a:latin typeface="QURWVC+Roboto"/>
                <a:cs typeface="QURWVC+Roboto"/>
              </a:rPr>
              <a:t> </a:t>
            </a:r>
            <a:r>
              <a:rPr dirty="0" sz="1350">
                <a:solidFill>
                  <a:srgbClr val="70757a"/>
                </a:solidFill>
                <a:latin typeface="QURWVC+Roboto"/>
                <a:cs typeface="QURWVC+Roboto"/>
              </a:rPr>
              <a:t>dữ</a:t>
            </a:r>
            <a:r>
              <a:rPr dirty="0" sz="1350" spc="11">
                <a:solidFill>
                  <a:srgbClr val="70757a"/>
                </a:solidFill>
                <a:latin typeface="QURWVC+Roboto"/>
                <a:cs typeface="QURWVC+Roboto"/>
              </a:rPr>
              <a:t> </a:t>
            </a:r>
            <a:r>
              <a:rPr dirty="0" sz="1350">
                <a:solidFill>
                  <a:srgbClr val="70757a"/>
                </a:solidFill>
                <a:latin typeface="QURWVC+Roboto"/>
                <a:cs typeface="QURWVC+Roboto"/>
              </a:rPr>
              <a:t>liệu</a:t>
            </a:r>
            <a:r>
              <a:rPr dirty="0" sz="1350" spc="11">
                <a:solidFill>
                  <a:srgbClr val="70757a"/>
                </a:solidFill>
                <a:latin typeface="QURWVC+Roboto"/>
                <a:cs typeface="QURWVC+Roboto"/>
              </a:rPr>
              <a:t> </a:t>
            </a:r>
            <a:r>
              <a:rPr dirty="0" sz="1350" spc="-10">
                <a:solidFill>
                  <a:srgbClr val="70757a"/>
                </a:solidFill>
                <a:latin typeface="QURWVC+Roboto"/>
                <a:cs typeface="QURWVC+Roboto"/>
              </a:rPr>
              <a:t>và</a:t>
            </a:r>
            <a:r>
              <a:rPr dirty="0" sz="1350" spc="21">
                <a:solidFill>
                  <a:srgbClr val="70757a"/>
                </a:solidFill>
                <a:latin typeface="QURWVC+Roboto"/>
                <a:cs typeface="QURWVC+Roboto"/>
              </a:rPr>
              <a:t> </a:t>
            </a:r>
            <a:r>
              <a:rPr dirty="0" sz="1350">
                <a:solidFill>
                  <a:srgbClr val="70757a"/>
                </a:solidFill>
                <a:latin typeface="QURWVC+Roboto"/>
                <a:cs typeface="QURWVC+Roboto"/>
              </a:rPr>
              <a:t>chuyển</a:t>
            </a:r>
            <a:r>
              <a:rPr dirty="0" sz="1350" spc="13">
                <a:solidFill>
                  <a:srgbClr val="70757a"/>
                </a:solidFill>
                <a:latin typeface="QURWVC+Roboto"/>
                <a:cs typeface="QURWVC+Roboto"/>
              </a:rPr>
              <a:t> </a:t>
            </a:r>
            <a:r>
              <a:rPr dirty="0" sz="1350">
                <a:solidFill>
                  <a:srgbClr val="70757a"/>
                </a:solidFill>
                <a:latin typeface="QURWVC+Roboto"/>
                <a:cs typeface="QURWVC+Roboto"/>
              </a:rPr>
              <a:t>đổi</a:t>
            </a:r>
            <a:r>
              <a:rPr dirty="0" sz="1350" spc="11">
                <a:solidFill>
                  <a:srgbClr val="70757a"/>
                </a:solidFill>
                <a:latin typeface="QURWVC+Roboto"/>
                <a:cs typeface="QURWVC+Roboto"/>
              </a:rPr>
              <a:t> </a:t>
            </a:r>
            <a:r>
              <a:rPr dirty="0" sz="1350">
                <a:solidFill>
                  <a:srgbClr val="70757a"/>
                </a:solidFill>
                <a:latin typeface="QURWVC+Roboto"/>
                <a:cs typeface="QURWVC+Roboto"/>
              </a:rPr>
              <a:t>JSON</a:t>
            </a:r>
            <a:r>
              <a:rPr dirty="0" sz="1350" spc="11">
                <a:solidFill>
                  <a:srgbClr val="70757a"/>
                </a:solidFill>
                <a:latin typeface="QURWVC+Roboto"/>
                <a:cs typeface="QURWVC+Roboto"/>
              </a:rPr>
              <a:t> </a:t>
            </a:r>
            <a:r>
              <a:rPr dirty="0" sz="1350">
                <a:solidFill>
                  <a:srgbClr val="70757a"/>
                </a:solidFill>
                <a:latin typeface="QURWVC+Roboto"/>
                <a:cs typeface="QURWVC+Roboto"/>
              </a:rPr>
              <a:t>cho</a:t>
            </a:r>
            <a:r>
              <a:rPr dirty="0" sz="1350" spc="11">
                <a:solidFill>
                  <a:srgbClr val="70757a"/>
                </a:solidFill>
                <a:latin typeface="QURWVC+Roboto"/>
                <a:cs typeface="QURWVC+Roboto"/>
              </a:rPr>
              <a:t> </a:t>
            </a:r>
            <a:r>
              <a:rPr dirty="0" sz="1350">
                <a:solidFill>
                  <a:srgbClr val="70757a"/>
                </a:solidFill>
                <a:latin typeface="QURWVC+Roboto"/>
                <a:cs typeface="QURWVC+Roboto"/>
              </a:rPr>
              <a:t>ứng</a:t>
            </a:r>
            <a:r>
              <a:rPr dirty="0" sz="1350" spc="11">
                <a:solidFill>
                  <a:srgbClr val="70757a"/>
                </a:solidFill>
                <a:latin typeface="QURWVC+Roboto"/>
                <a:cs typeface="QURWVC+Roboto"/>
              </a:rPr>
              <a:t> </a:t>
            </a:r>
            <a:r>
              <a:rPr dirty="0" sz="1350">
                <a:solidFill>
                  <a:srgbClr val="70757a"/>
                </a:solidFill>
                <a:latin typeface="QURWVC+Roboto"/>
                <a:cs typeface="QURWVC+Roboto"/>
              </a:rPr>
              <a:t>dụng</a:t>
            </a:r>
            <a:r>
              <a:rPr dirty="0" sz="1350" spc="11">
                <a:solidFill>
                  <a:srgbClr val="70757a"/>
                </a:solidFill>
                <a:latin typeface="QURWVC+Roboto"/>
                <a:cs typeface="QURWVC+Roboto"/>
              </a:rPr>
              <a:t> </a:t>
            </a:r>
            <a:r>
              <a:rPr dirty="0" sz="1350">
                <a:solidFill>
                  <a:srgbClr val="70757a"/>
                </a:solidFill>
                <a:latin typeface="QURWVC+Roboto"/>
                <a:cs typeface="QURWVC+Roboto"/>
              </a:rPr>
              <a:t>Weather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62024" y="2047922"/>
            <a:ext cx="553817" cy="1933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ffffff"/>
                </a:solidFill>
                <a:latin typeface="DejaVu Sans Mono"/>
                <a:cs typeface="DejaVu Sans Mono"/>
              </a:rPr>
              <a:t>class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613224" y="2047922"/>
            <a:ext cx="553817" cy="1933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ffffff"/>
                </a:solidFill>
                <a:latin typeface="DejaVu Sans Mono"/>
                <a:cs typeface="DejaVu Sans Mono"/>
              </a:rPr>
              <a:t>class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264424" y="2047922"/>
            <a:ext cx="553817" cy="1933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ffffff"/>
                </a:solidFill>
                <a:latin typeface="DejaVu Sans Mono"/>
                <a:cs typeface="DejaVu Sans Mono"/>
              </a:rPr>
              <a:t>class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62024" y="2212405"/>
            <a:ext cx="1054298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Weather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613225" y="2212405"/>
            <a:ext cx="2108671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WeatherReminder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264424" y="2212405"/>
            <a:ext cx="1828837" cy="2934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CitySuggestion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62024" y="2793058"/>
            <a:ext cx="1056605" cy="2390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8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b="1">
                <a:solidFill>
                  <a:srgbClr val="1a73e8"/>
                </a:solidFill>
                <a:latin typeface="LEADHR+Roboto Bold"/>
                <a:cs typeface="LEADHR+Roboto Bold"/>
              </a:rPr>
              <a:t>ATTRIBUTES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613225" y="2793058"/>
            <a:ext cx="1056605" cy="2390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8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b="1">
                <a:solidFill>
                  <a:srgbClr val="1a73e8"/>
                </a:solidFill>
                <a:latin typeface="LEADHR+Roboto Bold"/>
                <a:cs typeface="LEADHR+Roboto Bold"/>
              </a:rPr>
              <a:t>ATTRIBUTES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264424" y="2793058"/>
            <a:ext cx="1056605" cy="2390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8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b="1">
                <a:solidFill>
                  <a:srgbClr val="1a73e8"/>
                </a:solidFill>
                <a:latin typeface="LEADHR+Roboto Bold"/>
                <a:cs typeface="LEADHR+Roboto Bold"/>
              </a:rPr>
              <a:t>ATTRIBUTES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62024" y="3201265"/>
            <a:ext cx="1785309" cy="65777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9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 b="1">
                <a:solidFill>
                  <a:srgbClr val="4285f4"/>
                </a:solidFill>
                <a:latin typeface="LEADHR+Roboto Bold"/>
                <a:cs typeface="LEADHR+Roboto Bold"/>
              </a:rPr>
              <a:t>•</a:t>
            </a:r>
            <a:r>
              <a:rPr dirty="0" sz="1400" spc="646" b="1">
                <a:solidFill>
                  <a:srgbClr val="4285f4"/>
                </a:solidFill>
                <a:latin typeface="Times New Roman"/>
                <a:cs typeface="Times New Roman"/>
              </a:rPr>
              <a:t> </a:t>
            </a:r>
            <a:r>
              <a:rPr dirty="0" sz="1400" spc="12">
                <a:solidFill>
                  <a:srgbClr val="3c4043"/>
                </a:solidFill>
                <a:latin typeface="QURWVC+Roboto"/>
                <a:cs typeface="QURWVC+Roboto"/>
              </a:rPr>
              <a:t>Nhiệt</a:t>
            </a:r>
            <a:r>
              <a:rPr dirty="0" sz="1400" spc="14">
                <a:solidFill>
                  <a:srgbClr val="3c4043"/>
                </a:solidFill>
                <a:latin typeface="QURWVC+Roboto"/>
                <a:cs typeface="QURWVC+Roboto"/>
              </a:rPr>
              <a:t> </a:t>
            </a:r>
            <a:r>
              <a:rPr dirty="0" sz="1400" spc="15">
                <a:solidFill>
                  <a:srgbClr val="3c4043"/>
                </a:solidFill>
                <a:latin typeface="QURWVC+Roboto"/>
                <a:cs typeface="QURWVC+Roboto"/>
              </a:rPr>
              <a:t>độ</a:t>
            </a:r>
            <a:r>
              <a:rPr dirty="0" sz="1400" spc="18">
                <a:solidFill>
                  <a:srgbClr val="3c4043"/>
                </a:solidFill>
                <a:latin typeface="QURWVC+Roboto"/>
                <a:cs typeface="QURWVC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QURWVC+Roboto"/>
                <a:cs typeface="QURWVC+Roboto"/>
              </a:rPr>
              <a:t>(Celsius)</a:t>
            </a:r>
          </a:p>
          <a:p>
            <a:pPr marL="0" marR="0">
              <a:lnSpc>
                <a:spcPts val="1879"/>
              </a:lnSpc>
              <a:spcBef>
                <a:spcPts val="1120"/>
              </a:spcBef>
              <a:spcAft>
                <a:spcPts val="0"/>
              </a:spcAft>
            </a:pPr>
            <a:r>
              <a:rPr dirty="0" sz="1400" b="1">
                <a:solidFill>
                  <a:srgbClr val="4285f4"/>
                </a:solidFill>
                <a:latin typeface="LEADHR+Roboto Bold"/>
                <a:cs typeface="LEADHR+Roboto Bold"/>
              </a:rPr>
              <a:t>•</a:t>
            </a:r>
            <a:r>
              <a:rPr dirty="0" sz="1400" spc="646" b="1">
                <a:solidFill>
                  <a:srgbClr val="4285f4"/>
                </a:solidFill>
                <a:latin typeface="Times New Roman"/>
                <a:cs typeface="Times New Roman"/>
              </a:rPr>
              <a:t> </a:t>
            </a:r>
            <a:r>
              <a:rPr dirty="0" sz="1400" spc="17">
                <a:solidFill>
                  <a:srgbClr val="3c4043"/>
                </a:solidFill>
                <a:latin typeface="QURWVC+Roboto"/>
                <a:cs typeface="QURWVC+Roboto"/>
              </a:rPr>
              <a:t>Độ</a:t>
            </a:r>
            <a:r>
              <a:rPr dirty="0" sz="1400" spc="16">
                <a:solidFill>
                  <a:srgbClr val="3c4043"/>
                </a:solidFill>
                <a:latin typeface="QURWVC+Roboto"/>
                <a:cs typeface="QURWVC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QURWVC+Roboto"/>
                <a:cs typeface="QURWVC+Roboto"/>
              </a:rPr>
              <a:t>ẩm</a:t>
            </a:r>
            <a:r>
              <a:rPr dirty="0" sz="1400" spc="27">
                <a:solidFill>
                  <a:srgbClr val="3c4043"/>
                </a:solidFill>
                <a:latin typeface="QURWVC+Roboto"/>
                <a:cs typeface="QURWVC+Roboto"/>
              </a:rPr>
              <a:t> </a:t>
            </a:r>
            <a:r>
              <a:rPr dirty="0" sz="1400" spc="12">
                <a:solidFill>
                  <a:srgbClr val="3c4043"/>
                </a:solidFill>
                <a:latin typeface="QURWVC+Roboto"/>
                <a:cs typeface="QURWVC+Roboto"/>
              </a:rPr>
              <a:t>(%)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613225" y="3201265"/>
            <a:ext cx="1240617" cy="27677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9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 b="1">
                <a:solidFill>
                  <a:srgbClr val="4285f4"/>
                </a:solidFill>
                <a:latin typeface="LEADHR+Roboto Bold"/>
                <a:cs typeface="LEADHR+Roboto Bold"/>
              </a:rPr>
              <a:t>•</a:t>
            </a:r>
            <a:r>
              <a:rPr dirty="0" sz="1400" spc="646" b="1">
                <a:solidFill>
                  <a:srgbClr val="4285f4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3c4043"/>
                </a:solidFill>
                <a:latin typeface="QURWVC+Roboto"/>
                <a:cs typeface="QURWVC+Roboto"/>
              </a:rPr>
              <a:t>ID</a:t>
            </a:r>
            <a:r>
              <a:rPr dirty="0" sz="1400" spc="28">
                <a:solidFill>
                  <a:srgbClr val="3c4043"/>
                </a:solidFill>
                <a:latin typeface="QURWVC+Roboto"/>
                <a:cs typeface="QURWVC+Roboto"/>
              </a:rPr>
              <a:t> </a:t>
            </a:r>
            <a:r>
              <a:rPr dirty="0" sz="1400" spc="11">
                <a:solidFill>
                  <a:srgbClr val="3c4043"/>
                </a:solidFill>
                <a:latin typeface="QURWVC+Roboto"/>
                <a:cs typeface="QURWVC+Roboto"/>
              </a:rPr>
              <a:t>(Unique)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264424" y="3201265"/>
            <a:ext cx="1489281" cy="27677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9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 b="1">
                <a:solidFill>
                  <a:srgbClr val="4285f4"/>
                </a:solidFill>
                <a:latin typeface="LEADHR+Roboto Bold"/>
                <a:cs typeface="LEADHR+Roboto Bold"/>
              </a:rPr>
              <a:t>•</a:t>
            </a:r>
            <a:r>
              <a:rPr dirty="0" sz="1400" spc="646" b="1">
                <a:solidFill>
                  <a:srgbClr val="4285f4"/>
                </a:solidFill>
                <a:latin typeface="Times New Roman"/>
                <a:cs typeface="Times New Roman"/>
              </a:rPr>
              <a:t> </a:t>
            </a:r>
            <a:r>
              <a:rPr dirty="0" sz="1400" spc="-20">
                <a:solidFill>
                  <a:srgbClr val="3c4043"/>
                </a:solidFill>
                <a:latin typeface="QURWVC+Roboto"/>
                <a:cs typeface="QURWVC+Roboto"/>
              </a:rPr>
              <a:t>Tên</a:t>
            </a:r>
            <a:r>
              <a:rPr dirty="0" sz="1400" spc="52">
                <a:solidFill>
                  <a:srgbClr val="3c4043"/>
                </a:solidFill>
                <a:latin typeface="QURWVC+Roboto"/>
                <a:cs typeface="QURWVC+Roboto"/>
              </a:rPr>
              <a:t> </a:t>
            </a:r>
            <a:r>
              <a:rPr dirty="0" sz="1400" spc="11">
                <a:solidFill>
                  <a:srgbClr val="3c4043"/>
                </a:solidFill>
                <a:latin typeface="QURWVC+Roboto"/>
                <a:cs typeface="QURWVC+Roboto"/>
              </a:rPr>
              <a:t>thành</a:t>
            </a:r>
            <a:r>
              <a:rPr dirty="0" sz="1400" spc="20">
                <a:solidFill>
                  <a:srgbClr val="3c4043"/>
                </a:solidFill>
                <a:latin typeface="QURWVC+Roboto"/>
                <a:cs typeface="QURWVC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QURWVC+Roboto"/>
                <a:cs typeface="QURWVC+Roboto"/>
              </a:rPr>
              <a:t>phố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613225" y="3582265"/>
            <a:ext cx="1974149" cy="103877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9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 b="1">
                <a:solidFill>
                  <a:srgbClr val="4285f4"/>
                </a:solidFill>
                <a:latin typeface="LEADHR+Roboto Bold"/>
                <a:cs typeface="LEADHR+Roboto Bold"/>
              </a:rPr>
              <a:t>•</a:t>
            </a:r>
            <a:r>
              <a:rPr dirty="0" sz="1400" spc="646" b="1">
                <a:solidFill>
                  <a:srgbClr val="4285f4"/>
                </a:solidFill>
                <a:latin typeface="Times New Roman"/>
                <a:cs typeface="Times New Roman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QURWVC+Roboto"/>
                <a:cs typeface="QURWVC+Roboto"/>
              </a:rPr>
              <a:t>Thời</a:t>
            </a:r>
            <a:r>
              <a:rPr dirty="0" sz="1400" spc="10">
                <a:solidFill>
                  <a:srgbClr val="3c4043"/>
                </a:solidFill>
                <a:latin typeface="QURWVC+Roboto"/>
                <a:cs typeface="QURWVC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QURWVC+Roboto"/>
                <a:cs typeface="QURWVC+Roboto"/>
              </a:rPr>
              <a:t>gian</a:t>
            </a:r>
            <a:r>
              <a:rPr dirty="0" sz="1400" spc="21">
                <a:solidFill>
                  <a:srgbClr val="3c4043"/>
                </a:solidFill>
                <a:latin typeface="QURWVC+Roboto"/>
                <a:cs typeface="QURWVC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QURWVC+Roboto"/>
                <a:cs typeface="QURWVC+Roboto"/>
              </a:rPr>
              <a:t>đặt</a:t>
            </a:r>
            <a:r>
              <a:rPr dirty="0" sz="1400" spc="12">
                <a:solidFill>
                  <a:srgbClr val="3c4043"/>
                </a:solidFill>
                <a:latin typeface="QURWVC+Roboto"/>
                <a:cs typeface="QURWVC+Roboto"/>
              </a:rPr>
              <a:t> </a:t>
            </a:r>
            <a:r>
              <a:rPr dirty="0" sz="1400" spc="12">
                <a:solidFill>
                  <a:srgbClr val="3c4043"/>
                </a:solidFill>
                <a:latin typeface="QURWVC+Roboto"/>
                <a:cs typeface="QURWVC+Roboto"/>
              </a:rPr>
              <a:t>(Time)</a:t>
            </a:r>
          </a:p>
          <a:p>
            <a:pPr marL="0" marR="0">
              <a:lnSpc>
                <a:spcPts val="1879"/>
              </a:lnSpc>
              <a:spcBef>
                <a:spcPts val="1120"/>
              </a:spcBef>
              <a:spcAft>
                <a:spcPts val="0"/>
              </a:spcAft>
            </a:pPr>
            <a:r>
              <a:rPr dirty="0" sz="1400" b="1">
                <a:solidFill>
                  <a:srgbClr val="4285f4"/>
                </a:solidFill>
                <a:latin typeface="LEADHR+Roboto Bold"/>
                <a:cs typeface="LEADHR+Roboto Bold"/>
              </a:rPr>
              <a:t>•</a:t>
            </a:r>
            <a:r>
              <a:rPr dirty="0" sz="1400" spc="646" b="1">
                <a:solidFill>
                  <a:srgbClr val="4285f4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3c4043"/>
                </a:solidFill>
                <a:latin typeface="QURWVC+Roboto"/>
                <a:cs typeface="QURWVC+Roboto"/>
              </a:rPr>
              <a:t>Trạng</a:t>
            </a:r>
            <a:r>
              <a:rPr dirty="0" sz="1400" spc="40">
                <a:solidFill>
                  <a:srgbClr val="3c4043"/>
                </a:solidFill>
                <a:latin typeface="QURWVC+Roboto"/>
                <a:cs typeface="QURWVC+Roboto"/>
              </a:rPr>
              <a:t> </a:t>
            </a:r>
            <a:r>
              <a:rPr dirty="0" sz="1400" spc="11">
                <a:solidFill>
                  <a:srgbClr val="3c4043"/>
                </a:solidFill>
                <a:latin typeface="QURWVC+Roboto"/>
                <a:cs typeface="QURWVC+Roboto"/>
              </a:rPr>
              <a:t>thái</a:t>
            </a:r>
            <a:r>
              <a:rPr dirty="0" sz="1400" spc="12">
                <a:solidFill>
                  <a:srgbClr val="3c4043"/>
                </a:solidFill>
                <a:latin typeface="QURWVC+Roboto"/>
                <a:cs typeface="QURWVC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QURWVC+Roboto"/>
                <a:cs typeface="QURWVC+Roboto"/>
              </a:rPr>
              <a:t>(On/Off)</a:t>
            </a:r>
          </a:p>
          <a:p>
            <a:pPr marL="0" marR="0">
              <a:lnSpc>
                <a:spcPts val="1879"/>
              </a:lnSpc>
              <a:spcBef>
                <a:spcPts val="1120"/>
              </a:spcBef>
              <a:spcAft>
                <a:spcPts val="0"/>
              </a:spcAft>
            </a:pPr>
            <a:r>
              <a:rPr dirty="0" sz="1400" b="1">
                <a:solidFill>
                  <a:srgbClr val="4285f4"/>
                </a:solidFill>
                <a:latin typeface="LEADHR+Roboto Bold"/>
                <a:cs typeface="LEADHR+Roboto Bold"/>
              </a:rPr>
              <a:t>•</a:t>
            </a:r>
            <a:r>
              <a:rPr dirty="0" sz="1400" spc="646" b="1">
                <a:solidFill>
                  <a:srgbClr val="4285f4"/>
                </a:solidFill>
                <a:latin typeface="Times New Roman"/>
                <a:cs typeface="Times New Roman"/>
              </a:rPr>
              <a:t> </a:t>
            </a:r>
            <a:r>
              <a:rPr dirty="0" sz="1400" spc="11">
                <a:solidFill>
                  <a:srgbClr val="3c4043"/>
                </a:solidFill>
                <a:latin typeface="QURWVC+Roboto"/>
                <a:cs typeface="QURWVC+Roboto"/>
              </a:rPr>
              <a:t>Điều</a:t>
            </a:r>
            <a:r>
              <a:rPr dirty="0" sz="1400" spc="20">
                <a:solidFill>
                  <a:srgbClr val="3c4043"/>
                </a:solidFill>
                <a:latin typeface="QURWVC+Roboto"/>
                <a:cs typeface="QURWVC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QURWVC+Roboto"/>
                <a:cs typeface="QURWVC+Roboto"/>
              </a:rPr>
              <a:t>kiện</a:t>
            </a:r>
            <a:r>
              <a:rPr dirty="0" sz="1400" spc="21">
                <a:solidFill>
                  <a:srgbClr val="3c4043"/>
                </a:solidFill>
                <a:latin typeface="QURWVC+Roboto"/>
                <a:cs typeface="QURWVC+Roboto"/>
              </a:rPr>
              <a:t> </a:t>
            </a:r>
            <a:r>
              <a:rPr dirty="0" sz="1400" spc="12">
                <a:solidFill>
                  <a:srgbClr val="3c4043"/>
                </a:solidFill>
                <a:latin typeface="QURWVC+Roboto"/>
                <a:cs typeface="QURWVC+Roboto"/>
              </a:rPr>
              <a:t>thông</a:t>
            </a:r>
            <a:r>
              <a:rPr dirty="0" sz="1400" spc="20">
                <a:solidFill>
                  <a:srgbClr val="3c4043"/>
                </a:solidFill>
                <a:latin typeface="QURWVC+Roboto"/>
                <a:cs typeface="QURWVC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QURWVC+Roboto"/>
                <a:cs typeface="QURWVC+Roboto"/>
              </a:rPr>
              <a:t>báo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264424" y="3582265"/>
            <a:ext cx="2005431" cy="103877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9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 b="1">
                <a:solidFill>
                  <a:srgbClr val="4285f4"/>
                </a:solidFill>
                <a:latin typeface="LEADHR+Roboto Bold"/>
                <a:cs typeface="LEADHR+Roboto Bold"/>
              </a:rPr>
              <a:t>•</a:t>
            </a:r>
            <a:r>
              <a:rPr dirty="0" sz="1400" spc="646" b="1">
                <a:solidFill>
                  <a:srgbClr val="4285f4"/>
                </a:solidFill>
                <a:latin typeface="Times New Roman"/>
                <a:cs typeface="Times New Roman"/>
              </a:rPr>
              <a:t> </a:t>
            </a:r>
            <a:r>
              <a:rPr dirty="0" sz="1400" spc="15">
                <a:solidFill>
                  <a:srgbClr val="3c4043"/>
                </a:solidFill>
                <a:latin typeface="QURWVC+Roboto"/>
                <a:cs typeface="QURWVC+Roboto"/>
              </a:rPr>
              <a:t>Quốc</a:t>
            </a:r>
            <a:r>
              <a:rPr dirty="0" sz="1400" spc="16">
                <a:solidFill>
                  <a:srgbClr val="3c4043"/>
                </a:solidFill>
                <a:latin typeface="QURWVC+Roboto"/>
                <a:cs typeface="QURWVC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QURWVC+Roboto"/>
                <a:cs typeface="QURWVC+Roboto"/>
              </a:rPr>
              <a:t>gia</a:t>
            </a:r>
            <a:r>
              <a:rPr dirty="0" sz="1400" spc="22">
                <a:solidFill>
                  <a:srgbClr val="3c4043"/>
                </a:solidFill>
                <a:latin typeface="QURWVC+Roboto"/>
                <a:cs typeface="QURWVC+Roboto"/>
              </a:rPr>
              <a:t> </a:t>
            </a:r>
            <a:r>
              <a:rPr dirty="0" sz="1400" spc="15">
                <a:solidFill>
                  <a:srgbClr val="3c4043"/>
                </a:solidFill>
                <a:latin typeface="QURWVC+Roboto"/>
                <a:cs typeface="QURWVC+Roboto"/>
              </a:rPr>
              <a:t>(Mã</a:t>
            </a:r>
            <a:r>
              <a:rPr dirty="0" sz="1400" spc="17">
                <a:solidFill>
                  <a:srgbClr val="3c4043"/>
                </a:solidFill>
                <a:latin typeface="QURWVC+Roboto"/>
                <a:cs typeface="QURWVC+Roboto"/>
              </a:rPr>
              <a:t> </a:t>
            </a:r>
            <a:r>
              <a:rPr dirty="0" sz="1400" spc="12">
                <a:solidFill>
                  <a:srgbClr val="3c4043"/>
                </a:solidFill>
                <a:latin typeface="QURWVC+Roboto"/>
                <a:cs typeface="QURWVC+Roboto"/>
              </a:rPr>
              <a:t>vùng)</a:t>
            </a:r>
          </a:p>
          <a:p>
            <a:pPr marL="0" marR="0">
              <a:lnSpc>
                <a:spcPts val="1879"/>
              </a:lnSpc>
              <a:spcBef>
                <a:spcPts val="1120"/>
              </a:spcBef>
              <a:spcAft>
                <a:spcPts val="0"/>
              </a:spcAft>
            </a:pPr>
            <a:r>
              <a:rPr dirty="0" sz="1400" b="1">
                <a:solidFill>
                  <a:srgbClr val="4285f4"/>
                </a:solidFill>
                <a:latin typeface="LEADHR+Roboto Bold"/>
                <a:cs typeface="LEADHR+Roboto Bold"/>
              </a:rPr>
              <a:t>•</a:t>
            </a:r>
            <a:r>
              <a:rPr dirty="0" sz="1400" spc="646" b="1">
                <a:solidFill>
                  <a:srgbClr val="4285f4"/>
                </a:solidFill>
                <a:latin typeface="Times New Roman"/>
                <a:cs typeface="Times New Roman"/>
              </a:rPr>
              <a:t> </a:t>
            </a:r>
            <a:r>
              <a:rPr dirty="0" sz="1400" spc="-20">
                <a:solidFill>
                  <a:srgbClr val="3c4043"/>
                </a:solidFill>
                <a:latin typeface="QURWVC+Roboto"/>
                <a:cs typeface="QURWVC+Roboto"/>
              </a:rPr>
              <a:t>Tọa</a:t>
            </a:r>
            <a:r>
              <a:rPr dirty="0" sz="1400" spc="52">
                <a:solidFill>
                  <a:srgbClr val="3c4043"/>
                </a:solidFill>
                <a:latin typeface="QURWVC+Roboto"/>
                <a:cs typeface="QURWVC+Roboto"/>
              </a:rPr>
              <a:t> </a:t>
            </a:r>
            <a:r>
              <a:rPr dirty="0" sz="1400" spc="15">
                <a:solidFill>
                  <a:srgbClr val="3c4043"/>
                </a:solidFill>
                <a:latin typeface="QURWVC+Roboto"/>
                <a:cs typeface="QURWVC+Roboto"/>
              </a:rPr>
              <a:t>độ</a:t>
            </a:r>
            <a:r>
              <a:rPr dirty="0" sz="1400" spc="18">
                <a:solidFill>
                  <a:srgbClr val="3c4043"/>
                </a:solidFill>
                <a:latin typeface="QURWVC+Roboto"/>
                <a:cs typeface="QURWVC+Roboto"/>
              </a:rPr>
              <a:t> </a:t>
            </a:r>
            <a:r>
              <a:rPr dirty="0" sz="1400" spc="11">
                <a:solidFill>
                  <a:srgbClr val="3c4043"/>
                </a:solidFill>
                <a:latin typeface="QURWVC+Roboto"/>
                <a:cs typeface="QURWVC+Roboto"/>
              </a:rPr>
              <a:t>vĩ</a:t>
            </a:r>
            <a:r>
              <a:rPr dirty="0" sz="1400" spc="12">
                <a:solidFill>
                  <a:srgbClr val="3c4043"/>
                </a:solidFill>
                <a:latin typeface="QURWVC+Roboto"/>
                <a:cs typeface="QURWVC+Roboto"/>
              </a:rPr>
              <a:t> </a:t>
            </a:r>
            <a:r>
              <a:rPr dirty="0" sz="1400" spc="15">
                <a:solidFill>
                  <a:srgbClr val="3c4043"/>
                </a:solidFill>
                <a:latin typeface="QURWVC+Roboto"/>
                <a:cs typeface="QURWVC+Roboto"/>
              </a:rPr>
              <a:t>độ</a:t>
            </a:r>
            <a:r>
              <a:rPr dirty="0" sz="1400" spc="18">
                <a:solidFill>
                  <a:srgbClr val="3c4043"/>
                </a:solidFill>
                <a:latin typeface="QURWVC+Roboto"/>
                <a:cs typeface="QURWVC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QURWVC+Roboto"/>
                <a:cs typeface="QURWVC+Roboto"/>
              </a:rPr>
              <a:t>(Lat)</a:t>
            </a:r>
          </a:p>
          <a:p>
            <a:pPr marL="0" marR="0">
              <a:lnSpc>
                <a:spcPts val="1879"/>
              </a:lnSpc>
              <a:spcBef>
                <a:spcPts val="1120"/>
              </a:spcBef>
              <a:spcAft>
                <a:spcPts val="0"/>
              </a:spcAft>
            </a:pPr>
            <a:r>
              <a:rPr dirty="0" sz="1400" b="1">
                <a:solidFill>
                  <a:srgbClr val="4285f4"/>
                </a:solidFill>
                <a:latin typeface="LEADHR+Roboto Bold"/>
                <a:cs typeface="LEADHR+Roboto Bold"/>
              </a:rPr>
              <a:t>•</a:t>
            </a:r>
            <a:r>
              <a:rPr dirty="0" sz="1400" spc="646" b="1">
                <a:solidFill>
                  <a:srgbClr val="4285f4"/>
                </a:solidFill>
                <a:latin typeface="Times New Roman"/>
                <a:cs typeface="Times New Roman"/>
              </a:rPr>
              <a:t> </a:t>
            </a:r>
            <a:r>
              <a:rPr dirty="0" sz="1400" spc="-20">
                <a:solidFill>
                  <a:srgbClr val="3c4043"/>
                </a:solidFill>
                <a:latin typeface="QURWVC+Roboto"/>
                <a:cs typeface="QURWVC+Roboto"/>
              </a:rPr>
              <a:t>Tọa</a:t>
            </a:r>
            <a:r>
              <a:rPr dirty="0" sz="1400" spc="52">
                <a:solidFill>
                  <a:srgbClr val="3c4043"/>
                </a:solidFill>
                <a:latin typeface="QURWVC+Roboto"/>
                <a:cs typeface="QURWVC+Roboto"/>
              </a:rPr>
              <a:t> </a:t>
            </a:r>
            <a:r>
              <a:rPr dirty="0" sz="1400" spc="15">
                <a:solidFill>
                  <a:srgbClr val="3c4043"/>
                </a:solidFill>
                <a:latin typeface="QURWVC+Roboto"/>
                <a:cs typeface="QURWVC+Roboto"/>
              </a:rPr>
              <a:t>độ</a:t>
            </a:r>
            <a:r>
              <a:rPr dirty="0" sz="1400" spc="18">
                <a:solidFill>
                  <a:srgbClr val="3c4043"/>
                </a:solidFill>
                <a:latin typeface="QURWVC+Roboto"/>
                <a:cs typeface="QURWVC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QURWVC+Roboto"/>
                <a:cs typeface="QURWVC+Roboto"/>
              </a:rPr>
              <a:t>kinh</a:t>
            </a:r>
            <a:r>
              <a:rPr dirty="0" sz="1400" spc="21">
                <a:solidFill>
                  <a:srgbClr val="3c4043"/>
                </a:solidFill>
                <a:latin typeface="QURWVC+Roboto"/>
                <a:cs typeface="QURWVC+Roboto"/>
              </a:rPr>
              <a:t> </a:t>
            </a:r>
            <a:r>
              <a:rPr dirty="0" sz="1400" spc="15">
                <a:solidFill>
                  <a:srgbClr val="3c4043"/>
                </a:solidFill>
                <a:latin typeface="QURWVC+Roboto"/>
                <a:cs typeface="QURWVC+Roboto"/>
              </a:rPr>
              <a:t>độ</a:t>
            </a:r>
            <a:r>
              <a:rPr dirty="0" sz="1400" spc="18">
                <a:solidFill>
                  <a:srgbClr val="3c4043"/>
                </a:solidFill>
                <a:latin typeface="QURWVC+Roboto"/>
                <a:cs typeface="QURWVC+Roboto"/>
              </a:rPr>
              <a:t> </a:t>
            </a:r>
            <a:r>
              <a:rPr dirty="0" sz="1400" spc="11">
                <a:solidFill>
                  <a:srgbClr val="3c4043"/>
                </a:solidFill>
                <a:latin typeface="QURWVC+Roboto"/>
                <a:cs typeface="QURWVC+Roboto"/>
              </a:rPr>
              <a:t>(Lng)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962024" y="3963265"/>
            <a:ext cx="1883131" cy="103877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9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 b="1">
                <a:solidFill>
                  <a:srgbClr val="4285f4"/>
                </a:solidFill>
                <a:latin typeface="LEADHR+Roboto Bold"/>
                <a:cs typeface="LEADHR+Roboto Bold"/>
              </a:rPr>
              <a:t>•</a:t>
            </a:r>
            <a:r>
              <a:rPr dirty="0" sz="1400" spc="646" b="1">
                <a:solidFill>
                  <a:srgbClr val="4285f4"/>
                </a:solidFill>
                <a:latin typeface="Times New Roman"/>
                <a:cs typeface="Times New Roman"/>
              </a:rPr>
              <a:t> </a:t>
            </a:r>
            <a:r>
              <a:rPr dirty="0" sz="1400" spc="-20">
                <a:solidFill>
                  <a:srgbClr val="3c4043"/>
                </a:solidFill>
                <a:latin typeface="QURWVC+Roboto"/>
                <a:cs typeface="QURWVC+Roboto"/>
              </a:rPr>
              <a:t>Tốc</a:t>
            </a:r>
            <a:r>
              <a:rPr dirty="0" sz="1400" spc="51">
                <a:solidFill>
                  <a:srgbClr val="3c4043"/>
                </a:solidFill>
                <a:latin typeface="QURWVC+Roboto"/>
                <a:cs typeface="QURWVC+Roboto"/>
              </a:rPr>
              <a:t> </a:t>
            </a:r>
            <a:r>
              <a:rPr dirty="0" sz="1400" spc="15">
                <a:solidFill>
                  <a:srgbClr val="3c4043"/>
                </a:solidFill>
                <a:latin typeface="QURWVC+Roboto"/>
                <a:cs typeface="QURWVC+Roboto"/>
              </a:rPr>
              <a:t>độ</a:t>
            </a:r>
            <a:r>
              <a:rPr dirty="0" sz="1400" spc="18">
                <a:solidFill>
                  <a:srgbClr val="3c4043"/>
                </a:solidFill>
                <a:latin typeface="QURWVC+Roboto"/>
                <a:cs typeface="QURWVC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QURWVC+Roboto"/>
                <a:cs typeface="QURWVC+Roboto"/>
              </a:rPr>
              <a:t>gió</a:t>
            </a:r>
            <a:r>
              <a:rPr dirty="0" sz="1400" spc="22">
                <a:solidFill>
                  <a:srgbClr val="3c4043"/>
                </a:solidFill>
                <a:latin typeface="QURWVC+Roboto"/>
                <a:cs typeface="QURWVC+Roboto"/>
              </a:rPr>
              <a:t> </a:t>
            </a:r>
            <a:r>
              <a:rPr dirty="0" sz="1400" spc="12">
                <a:solidFill>
                  <a:srgbClr val="3c4043"/>
                </a:solidFill>
                <a:latin typeface="QURWVC+Roboto"/>
                <a:cs typeface="QURWVC+Roboto"/>
              </a:rPr>
              <a:t>(m/s)</a:t>
            </a:r>
          </a:p>
          <a:p>
            <a:pPr marL="0" marR="0">
              <a:lnSpc>
                <a:spcPts val="1879"/>
              </a:lnSpc>
              <a:spcBef>
                <a:spcPts val="1120"/>
              </a:spcBef>
              <a:spcAft>
                <a:spcPts val="0"/>
              </a:spcAft>
            </a:pPr>
            <a:r>
              <a:rPr dirty="0" sz="1400" b="1">
                <a:solidFill>
                  <a:srgbClr val="4285f4"/>
                </a:solidFill>
                <a:latin typeface="LEADHR+Roboto Bold"/>
                <a:cs typeface="LEADHR+Roboto Bold"/>
              </a:rPr>
              <a:t>•</a:t>
            </a:r>
            <a:r>
              <a:rPr dirty="0" sz="1400" spc="646" b="1">
                <a:solidFill>
                  <a:srgbClr val="4285f4"/>
                </a:solidFill>
                <a:latin typeface="Times New Roman"/>
                <a:cs typeface="Times New Roman"/>
              </a:rPr>
              <a:t> </a:t>
            </a:r>
            <a:r>
              <a:rPr dirty="0" sz="1400" spc="11">
                <a:solidFill>
                  <a:srgbClr val="3c4043"/>
                </a:solidFill>
                <a:latin typeface="QURWVC+Roboto"/>
                <a:cs typeface="QURWVC+Roboto"/>
              </a:rPr>
              <a:t>Tình</a:t>
            </a:r>
            <a:r>
              <a:rPr dirty="0" sz="1400" spc="20">
                <a:solidFill>
                  <a:srgbClr val="3c4043"/>
                </a:solidFill>
                <a:latin typeface="QURWVC+Roboto"/>
                <a:cs typeface="QURWVC+Roboto"/>
              </a:rPr>
              <a:t> </a:t>
            </a:r>
            <a:r>
              <a:rPr dirty="0" sz="1400">
                <a:solidFill>
                  <a:srgbClr val="3c4043"/>
                </a:solidFill>
                <a:latin typeface="QURWVC+Roboto"/>
                <a:cs typeface="QURWVC+Roboto"/>
              </a:rPr>
              <a:t>trạng</a:t>
            </a:r>
            <a:r>
              <a:rPr dirty="0" sz="1400" spc="28">
                <a:solidFill>
                  <a:srgbClr val="3c4043"/>
                </a:solidFill>
                <a:latin typeface="QURWVC+Roboto"/>
                <a:cs typeface="QURWVC+Roboto"/>
              </a:rPr>
              <a:t> </a:t>
            </a:r>
            <a:r>
              <a:rPr dirty="0" sz="1400" spc="15">
                <a:solidFill>
                  <a:srgbClr val="3c4043"/>
                </a:solidFill>
                <a:latin typeface="QURWVC+Roboto"/>
                <a:cs typeface="QURWVC+Roboto"/>
              </a:rPr>
              <a:t>(Mô</a:t>
            </a:r>
            <a:r>
              <a:rPr dirty="0" sz="1400" spc="17">
                <a:solidFill>
                  <a:srgbClr val="3c4043"/>
                </a:solidFill>
                <a:latin typeface="QURWVC+Roboto"/>
                <a:cs typeface="QURWVC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QURWVC+Roboto"/>
                <a:cs typeface="QURWVC+Roboto"/>
              </a:rPr>
              <a:t>tả)</a:t>
            </a:r>
          </a:p>
          <a:p>
            <a:pPr marL="0" marR="0">
              <a:lnSpc>
                <a:spcPts val="1879"/>
              </a:lnSpc>
              <a:spcBef>
                <a:spcPts val="1120"/>
              </a:spcBef>
              <a:spcAft>
                <a:spcPts val="0"/>
              </a:spcAft>
            </a:pPr>
            <a:r>
              <a:rPr dirty="0" sz="1400" b="1">
                <a:solidFill>
                  <a:srgbClr val="4285f4"/>
                </a:solidFill>
                <a:latin typeface="LEADHR+Roboto Bold"/>
                <a:cs typeface="LEADHR+Roboto Bold"/>
              </a:rPr>
              <a:t>•</a:t>
            </a:r>
            <a:r>
              <a:rPr dirty="0" sz="1400" spc="646" b="1">
                <a:solidFill>
                  <a:srgbClr val="4285f4"/>
                </a:solidFill>
                <a:latin typeface="Times New Roman"/>
                <a:cs typeface="Times New Roman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QURWVC+Roboto"/>
                <a:cs typeface="QURWVC+Roboto"/>
              </a:rPr>
              <a:t>Icon</a:t>
            </a:r>
            <a:r>
              <a:rPr dirty="0" sz="1400" spc="21">
                <a:solidFill>
                  <a:srgbClr val="3c4043"/>
                </a:solidFill>
                <a:latin typeface="QURWVC+Roboto"/>
                <a:cs typeface="QURWVC+Roboto"/>
              </a:rPr>
              <a:t> </a:t>
            </a:r>
            <a:r>
              <a:rPr dirty="0" sz="1400" spc="15">
                <a:solidFill>
                  <a:srgbClr val="3c4043"/>
                </a:solidFill>
                <a:latin typeface="QURWVC+Roboto"/>
                <a:cs typeface="QURWVC+Roboto"/>
              </a:rPr>
              <a:t>Code</a:t>
            </a:r>
            <a:r>
              <a:rPr dirty="0" sz="1400" spc="17">
                <a:solidFill>
                  <a:srgbClr val="3c4043"/>
                </a:solidFill>
                <a:latin typeface="QURWVC+Roboto"/>
                <a:cs typeface="QURWVC+Roboto"/>
              </a:rPr>
              <a:t> </a:t>
            </a:r>
            <a:r>
              <a:rPr dirty="0" sz="1400" spc="11">
                <a:solidFill>
                  <a:srgbClr val="3c4043"/>
                </a:solidFill>
                <a:latin typeface="QURWVC+Roboto"/>
                <a:cs typeface="QURWVC+Roboto"/>
              </a:rPr>
              <a:t>(Dữ</a:t>
            </a:r>
            <a:r>
              <a:rPr dirty="0" sz="1400" spc="21">
                <a:solidFill>
                  <a:srgbClr val="3c4043"/>
                </a:solidFill>
                <a:latin typeface="QURWVC+Roboto"/>
                <a:cs typeface="QURWVC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QURWVC+Roboto"/>
                <a:cs typeface="QURWVC+Roboto"/>
              </a:rPr>
              <a:t>liệu)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962024" y="5353097"/>
            <a:ext cx="2480620" cy="1933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4285f4"/>
                </a:solidFill>
                <a:latin typeface="DejaVu Sans Mono"/>
                <a:cs typeface="DejaVu Sans Mono"/>
              </a:rPr>
              <a:t>factory</a:t>
            </a:r>
            <a:r>
              <a:rPr dirty="0" sz="1050">
                <a:solidFill>
                  <a:srgbClr val="4285f4"/>
                </a:solidFill>
                <a:latin typeface="DejaVu Sans Mono"/>
                <a:cs typeface="DejaVu Sans Mono"/>
              </a:rPr>
              <a:t> </a:t>
            </a:r>
            <a:r>
              <a:rPr dirty="0" sz="1050">
                <a:solidFill>
                  <a:srgbClr val="4285f4"/>
                </a:solidFill>
                <a:latin typeface="DejaVu Sans Mono"/>
                <a:cs typeface="DejaVu Sans Mono"/>
              </a:rPr>
              <a:t>Weather.fromJson(...)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613225" y="5353097"/>
            <a:ext cx="2400336" cy="1933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4285f4"/>
                </a:solidFill>
                <a:latin typeface="DejaVu Sans Mono"/>
                <a:cs typeface="DejaVu Sans Mono"/>
              </a:rPr>
              <a:t>Map&lt;String,</a:t>
            </a:r>
            <a:r>
              <a:rPr dirty="0" sz="1050">
                <a:solidFill>
                  <a:srgbClr val="4285f4"/>
                </a:solidFill>
                <a:latin typeface="DejaVu Sans Mono"/>
                <a:cs typeface="DejaVu Sans Mono"/>
              </a:rPr>
              <a:t> </a:t>
            </a:r>
            <a:r>
              <a:rPr dirty="0" sz="1050">
                <a:solidFill>
                  <a:srgbClr val="4285f4"/>
                </a:solidFill>
                <a:latin typeface="DejaVu Sans Mono"/>
                <a:cs typeface="DejaVu Sans Mono"/>
              </a:rPr>
              <a:t>dynamic&gt;</a:t>
            </a:r>
            <a:r>
              <a:rPr dirty="0" sz="1050">
                <a:solidFill>
                  <a:srgbClr val="4285f4"/>
                </a:solidFill>
                <a:latin typeface="DejaVu Sans Mono"/>
                <a:cs typeface="DejaVu Sans Mono"/>
              </a:rPr>
              <a:t> </a:t>
            </a:r>
            <a:r>
              <a:rPr dirty="0" sz="1050">
                <a:solidFill>
                  <a:srgbClr val="4285f4"/>
                </a:solidFill>
                <a:latin typeface="DejaVu Sans Mono"/>
                <a:cs typeface="DejaVu Sans Mono"/>
              </a:rPr>
              <a:t>toMap()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264424" y="5353097"/>
            <a:ext cx="2400337" cy="1933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4285f4"/>
                </a:solidFill>
                <a:latin typeface="DejaVu Sans Mono"/>
                <a:cs typeface="DejaVu Sans Mono"/>
              </a:rPr>
              <a:t>factory</a:t>
            </a:r>
            <a:r>
              <a:rPr dirty="0" sz="1050">
                <a:solidFill>
                  <a:srgbClr val="4285f4"/>
                </a:solidFill>
                <a:latin typeface="DejaVu Sans Mono"/>
                <a:cs typeface="DejaVu Sans Mono"/>
              </a:rPr>
              <a:t> </a:t>
            </a:r>
            <a:r>
              <a:rPr dirty="0" sz="1050">
                <a:solidFill>
                  <a:srgbClr val="4285f4"/>
                </a:solidFill>
                <a:latin typeface="DejaVu Sans Mono"/>
                <a:cs typeface="DejaVu Sans Mono"/>
              </a:rPr>
              <a:t>City.fromSearch(...)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61999" y="6403943"/>
            <a:ext cx="3876562" cy="2139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84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i="1">
                <a:solidFill>
                  <a:srgbClr val="70757a"/>
                </a:solidFill>
                <a:latin typeface="WVTEWE+Roboto Italic"/>
                <a:cs typeface="WVTEWE+Roboto Italic"/>
              </a:rPr>
              <a:t>©</a:t>
            </a:r>
            <a:r>
              <a:rPr dirty="0" sz="1050" i="1">
                <a:solidFill>
                  <a:srgbClr val="70757a"/>
                </a:solidFill>
                <a:latin typeface="WVTEWE+Roboto Italic"/>
                <a:cs typeface="WVTEWE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WVTEWE+Roboto Italic"/>
                <a:cs typeface="WVTEWE+Roboto Italic"/>
              </a:rPr>
              <a:t>2026</a:t>
            </a:r>
            <a:r>
              <a:rPr dirty="0" sz="1050" i="1">
                <a:solidFill>
                  <a:srgbClr val="70757a"/>
                </a:solidFill>
                <a:latin typeface="WVTEWE+Roboto Italic"/>
                <a:cs typeface="WVTEWE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WVTEWE+Roboto Italic"/>
                <a:cs typeface="WVTEWE+Roboto Italic"/>
              </a:rPr>
              <a:t>Flutter</a:t>
            </a:r>
            <a:r>
              <a:rPr dirty="0" sz="1050" i="1">
                <a:solidFill>
                  <a:srgbClr val="70757a"/>
                </a:solidFill>
                <a:latin typeface="WVTEWE+Roboto Italic"/>
                <a:cs typeface="WVTEWE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WVTEWE+Roboto Italic"/>
                <a:cs typeface="WVTEWE+Roboto Italic"/>
              </a:rPr>
              <a:t>Weather</a:t>
            </a:r>
            <a:r>
              <a:rPr dirty="0" sz="1050" spc="12" i="1">
                <a:solidFill>
                  <a:srgbClr val="70757a"/>
                </a:solidFill>
                <a:latin typeface="WVTEWE+Roboto Italic"/>
                <a:cs typeface="WVTEWE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WVTEWE+Roboto Italic"/>
                <a:cs typeface="WVTEWE+Roboto Italic"/>
              </a:rPr>
              <a:t>Development</a:t>
            </a:r>
            <a:r>
              <a:rPr dirty="0" sz="1050" i="1">
                <a:solidFill>
                  <a:srgbClr val="70757a"/>
                </a:solidFill>
                <a:latin typeface="WVTEWE+Roboto Italic"/>
                <a:cs typeface="WVTEWE+Roboto Italic"/>
              </a:rPr>
              <a:t> </a:t>
            </a:r>
            <a:r>
              <a:rPr dirty="0" sz="1050" spc="-17" i="1">
                <a:solidFill>
                  <a:srgbClr val="70757a"/>
                </a:solidFill>
                <a:latin typeface="WVTEWE+Roboto Italic"/>
                <a:cs typeface="WVTEWE+Roboto Italic"/>
              </a:rPr>
              <a:t>Team</a:t>
            </a:r>
            <a:r>
              <a:rPr dirty="0" sz="1050" spc="26" i="1">
                <a:solidFill>
                  <a:srgbClr val="70757a"/>
                </a:solidFill>
                <a:latin typeface="WVTEWE+Roboto Italic"/>
                <a:cs typeface="WVTEWE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WVTEWE+Roboto Italic"/>
                <a:cs typeface="WVTEWE+Roboto Italic"/>
              </a:rPr>
              <a:t>-</a:t>
            </a:r>
            <a:r>
              <a:rPr dirty="0" sz="1050" i="1">
                <a:solidFill>
                  <a:srgbClr val="70757a"/>
                </a:solidFill>
                <a:latin typeface="WVTEWE+Roboto Italic"/>
                <a:cs typeface="WVTEWE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WVTEWE+Roboto Italic"/>
                <a:cs typeface="WVTEWE+Roboto Italic"/>
              </a:rPr>
              <a:t>Project</a:t>
            </a:r>
            <a:r>
              <a:rPr dirty="0" sz="1050" spc="11" i="1">
                <a:solidFill>
                  <a:srgbClr val="70757a"/>
                </a:solidFill>
                <a:latin typeface="WVTEWE+Roboto Italic"/>
                <a:cs typeface="WVTEWE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WVTEWE+Roboto Italic"/>
                <a:cs typeface="WVTEWE+Roboto Italic"/>
              </a:rPr>
              <a:t>Architecture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793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1999" y="799895"/>
            <a:ext cx="6240660" cy="4850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19"/>
              </a:lnSpc>
              <a:spcBef>
                <a:spcPts val="0"/>
              </a:spcBef>
              <a:spcAft>
                <a:spcPts val="0"/>
              </a:spcAft>
            </a:pP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XỬ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LÝ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LOGIC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&amp;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UTILS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TIỆN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ÍCH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33524" y="1928459"/>
            <a:ext cx="1074315" cy="3147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dirty="0" sz="1950" b="1">
                <a:solidFill>
                  <a:srgbClr val="444746"/>
                </a:solidFill>
                <a:latin typeface="Arial"/>
                <a:cs typeface="Arial"/>
              </a:rPr>
              <a:t>SlugExt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81824" y="1928459"/>
            <a:ext cx="1666112" cy="3147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dirty="0" sz="1950" b="1">
                <a:solidFill>
                  <a:srgbClr val="444746"/>
                </a:solidFill>
                <a:latin typeface="Arial"/>
                <a:cs typeface="Arial"/>
              </a:rPr>
              <a:t>WeatherUtils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94928" y="1964383"/>
            <a:ext cx="343569" cy="2390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8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b="1">
                <a:solidFill>
                  <a:srgbClr val="ffffff"/>
                </a:solidFill>
                <a:latin typeface="WCLJPI+Roboto Bold"/>
                <a:cs typeface="WCLJPI+Roboto Bold"/>
              </a:rPr>
              <a:t>TX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66444" y="1964383"/>
            <a:ext cx="297209" cy="2390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8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b="1">
                <a:solidFill>
                  <a:srgbClr val="ffffff"/>
                </a:solidFill>
                <a:latin typeface="WCLJPI+Roboto Bold"/>
                <a:cs typeface="WCLJPI+Roboto Bold"/>
              </a:rPr>
              <a:t>UI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00124" y="2372590"/>
            <a:ext cx="4767085" cy="8197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9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 spc="21">
                <a:solidFill>
                  <a:srgbClr val="3c4043"/>
                </a:solidFill>
                <a:latin typeface="QGUBRF+Roboto"/>
                <a:cs typeface="QGUBRF+Roboto"/>
              </a:rPr>
              <a:t>Mở</a:t>
            </a:r>
            <a:r>
              <a:rPr dirty="0" sz="1400" spc="11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>
                <a:solidFill>
                  <a:srgbClr val="3c4043"/>
                </a:solidFill>
                <a:latin typeface="QGUBRF+Roboto"/>
                <a:cs typeface="QGUBRF+Roboto"/>
              </a:rPr>
              <a:t>rộng</a:t>
            </a:r>
            <a:r>
              <a:rPr dirty="0" sz="1400" spc="25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QGUBRF+Roboto"/>
                <a:cs typeface="QGUBRF+Roboto"/>
              </a:rPr>
              <a:t>String</a:t>
            </a:r>
            <a:r>
              <a:rPr dirty="0" sz="1400" spc="22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QGUBRF+Roboto"/>
                <a:cs typeface="QGUBRF+Roboto"/>
              </a:rPr>
              <a:t>giúp</a:t>
            </a:r>
            <a:r>
              <a:rPr dirty="0" sz="1400" spc="21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QGUBRF+Roboto"/>
                <a:cs typeface="QGUBRF+Roboto"/>
              </a:rPr>
              <a:t>loại</a:t>
            </a:r>
            <a:r>
              <a:rPr dirty="0" sz="1400" spc="13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QGUBRF+Roboto"/>
                <a:cs typeface="QGUBRF+Roboto"/>
              </a:rPr>
              <a:t>bỏ</a:t>
            </a:r>
            <a:r>
              <a:rPr dirty="0" sz="1400" spc="18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QGUBRF+Roboto"/>
                <a:cs typeface="QGUBRF+Roboto"/>
              </a:rPr>
              <a:t>dấu</a:t>
            </a:r>
            <a:r>
              <a:rPr dirty="0" sz="1400" spc="18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QGUBRF+Roboto"/>
                <a:cs typeface="QGUBRF+Roboto"/>
              </a:rPr>
              <a:t>tiếng</a:t>
            </a:r>
            <a:r>
              <a:rPr dirty="0" sz="1400" spc="22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1">
                <a:solidFill>
                  <a:srgbClr val="3c4043"/>
                </a:solidFill>
                <a:latin typeface="QGUBRF+Roboto"/>
                <a:cs typeface="QGUBRF+Roboto"/>
              </a:rPr>
              <a:t>Việt</a:t>
            </a:r>
            <a:r>
              <a:rPr dirty="0" sz="1400" spc="15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QGUBRF+Roboto"/>
                <a:cs typeface="QGUBRF+Roboto"/>
              </a:rPr>
              <a:t>(ví</a:t>
            </a:r>
            <a:r>
              <a:rPr dirty="0" sz="1400" spc="14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QGUBRF+Roboto"/>
                <a:cs typeface="QGUBRF+Roboto"/>
              </a:rPr>
              <a:t>dụ:</a:t>
            </a:r>
            <a:r>
              <a:rPr dirty="0" sz="1400" spc="10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2">
                <a:solidFill>
                  <a:srgbClr val="3c4043"/>
                </a:solidFill>
                <a:latin typeface="QGUBRF+Roboto"/>
                <a:cs typeface="QGUBRF+Roboto"/>
              </a:rPr>
              <a:t>"Hà</a:t>
            </a:r>
            <a:r>
              <a:rPr dirty="0" sz="1400" spc="19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2">
                <a:solidFill>
                  <a:srgbClr val="3c4043"/>
                </a:solidFill>
                <a:latin typeface="QGUBRF+Roboto"/>
                <a:cs typeface="QGUBRF+Roboto"/>
              </a:rPr>
              <a:t>Nội"</a:t>
            </a:r>
          </a:p>
          <a:p>
            <a:pPr marL="0" marR="0">
              <a:lnSpc>
                <a:spcPts val="1879"/>
              </a:lnSpc>
              <a:spcBef>
                <a:spcPts val="295"/>
              </a:spcBef>
              <a:spcAft>
                <a:spcPts val="0"/>
              </a:spcAft>
            </a:pPr>
            <a:r>
              <a:rPr dirty="0" sz="1400" spc="11">
                <a:solidFill>
                  <a:srgbClr val="3c4043"/>
                </a:solidFill>
                <a:latin typeface="QGUBRF+Roboto"/>
                <a:cs typeface="QGUBRF+Roboto"/>
              </a:rPr>
              <a:t>thành</a:t>
            </a:r>
            <a:r>
              <a:rPr dirty="0" sz="1400" spc="20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QGUBRF+Roboto"/>
                <a:cs typeface="QGUBRF+Roboto"/>
              </a:rPr>
              <a:t>"ha-noi").</a:t>
            </a:r>
            <a:r>
              <a:rPr dirty="0" sz="1400" spc="14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QGUBRF+Roboto"/>
                <a:cs typeface="QGUBRF+Roboto"/>
              </a:rPr>
              <a:t>Đây</a:t>
            </a:r>
            <a:r>
              <a:rPr dirty="0" sz="1400" spc="20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>
                <a:solidFill>
                  <a:srgbClr val="3c4043"/>
                </a:solidFill>
                <a:latin typeface="QGUBRF+Roboto"/>
                <a:cs typeface="QGUBRF+Roboto"/>
              </a:rPr>
              <a:t>là</a:t>
            </a:r>
            <a:r>
              <a:rPr dirty="0" sz="1400" spc="26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QGUBRF+Roboto"/>
                <a:cs typeface="QGUBRF+Roboto"/>
              </a:rPr>
              <a:t>logic</a:t>
            </a:r>
            <a:r>
              <a:rPr dirty="0" sz="1400" spc="21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QGUBRF+Roboto"/>
                <a:cs typeface="QGUBRF+Roboto"/>
              </a:rPr>
              <a:t>cốt</a:t>
            </a:r>
            <a:r>
              <a:rPr dirty="0" sz="1400" spc="13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QGUBRF+Roboto"/>
                <a:cs typeface="QGUBRF+Roboto"/>
              </a:rPr>
              <a:t>lõi</a:t>
            </a:r>
            <a:r>
              <a:rPr dirty="0" sz="1400" spc="14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QGUBRF+Roboto"/>
                <a:cs typeface="QGUBRF+Roboto"/>
              </a:rPr>
              <a:t>giúp</a:t>
            </a:r>
            <a:r>
              <a:rPr dirty="0" sz="1400" spc="21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QGUBRF+Roboto"/>
                <a:cs typeface="QGUBRF+Roboto"/>
              </a:rPr>
              <a:t>hệ</a:t>
            </a:r>
            <a:r>
              <a:rPr dirty="0" sz="1400" spc="18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2">
                <a:solidFill>
                  <a:srgbClr val="3c4043"/>
                </a:solidFill>
                <a:latin typeface="QGUBRF+Roboto"/>
                <a:cs typeface="QGUBRF+Roboto"/>
              </a:rPr>
              <a:t>thống</a:t>
            </a:r>
            <a:r>
              <a:rPr dirty="0" sz="1400" spc="20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>
                <a:solidFill>
                  <a:srgbClr val="3c4043"/>
                </a:solidFill>
                <a:latin typeface="QGUBRF+Roboto"/>
                <a:cs typeface="QGUBRF+Roboto"/>
              </a:rPr>
              <a:t>tìm</a:t>
            </a:r>
            <a:r>
              <a:rPr dirty="0" sz="1400" spc="33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QGUBRF+Roboto"/>
                <a:cs typeface="QGUBRF+Roboto"/>
              </a:rPr>
              <a:t>kiếm</a:t>
            </a:r>
          </a:p>
          <a:p>
            <a:pPr marL="0" marR="0">
              <a:lnSpc>
                <a:spcPts val="1879"/>
              </a:lnSpc>
              <a:spcBef>
                <a:spcPts val="220"/>
              </a:spcBef>
              <a:spcAft>
                <a:spcPts val="0"/>
              </a:spcAft>
            </a:pPr>
            <a:r>
              <a:rPr dirty="0" sz="1400">
                <a:solidFill>
                  <a:srgbClr val="3c4043"/>
                </a:solidFill>
                <a:latin typeface="QGUBRF+Roboto"/>
                <a:cs typeface="QGUBRF+Roboto"/>
              </a:rPr>
              <a:t>linh</a:t>
            </a:r>
            <a:r>
              <a:rPr dirty="0" sz="1400" spc="23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QGUBRF+Roboto"/>
                <a:cs typeface="QGUBRF+Roboto"/>
              </a:rPr>
              <a:t>hoạt</a:t>
            </a:r>
            <a:r>
              <a:rPr dirty="0" sz="1400" spc="13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>
                <a:solidFill>
                  <a:srgbClr val="3c4043"/>
                </a:solidFill>
                <a:latin typeface="QGUBRF+Roboto"/>
                <a:cs typeface="QGUBRF+Roboto"/>
              </a:rPr>
              <a:t>và</a:t>
            </a:r>
            <a:r>
              <a:rPr dirty="0" sz="1400" spc="30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1">
                <a:solidFill>
                  <a:srgbClr val="3c4043"/>
                </a:solidFill>
                <a:latin typeface="QGUBRF+Roboto"/>
                <a:cs typeface="QGUBRF+Roboto"/>
              </a:rPr>
              <a:t>chính</a:t>
            </a:r>
            <a:r>
              <a:rPr dirty="0" sz="1400" spc="20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2">
                <a:solidFill>
                  <a:srgbClr val="3c4043"/>
                </a:solidFill>
                <a:latin typeface="QGUBRF+Roboto"/>
                <a:cs typeface="QGUBRF+Roboto"/>
              </a:rPr>
              <a:t>xác</a:t>
            </a:r>
            <a:r>
              <a:rPr dirty="0" sz="1400" spc="18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QGUBRF+Roboto"/>
                <a:cs typeface="QGUBRF+Roboto"/>
              </a:rPr>
              <a:t>hơn</a:t>
            </a:r>
            <a:r>
              <a:rPr dirty="0" sz="1400" spc="18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2">
                <a:solidFill>
                  <a:srgbClr val="3c4043"/>
                </a:solidFill>
                <a:latin typeface="QGUBRF+Roboto"/>
                <a:cs typeface="QGUBRF+Roboto"/>
              </a:rPr>
              <a:t>khi</a:t>
            </a:r>
            <a:r>
              <a:rPr dirty="0" sz="1400" spc="11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QGUBRF+Roboto"/>
                <a:cs typeface="QGUBRF+Roboto"/>
              </a:rPr>
              <a:t>người</a:t>
            </a:r>
            <a:r>
              <a:rPr dirty="0" sz="1400" spc="10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QGUBRF+Roboto"/>
                <a:cs typeface="QGUBRF+Roboto"/>
              </a:rPr>
              <a:t>dùng</a:t>
            </a:r>
            <a:r>
              <a:rPr dirty="0" sz="1400" spc="18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QGUBRF+Roboto"/>
                <a:cs typeface="QGUBRF+Roboto"/>
              </a:rPr>
              <a:t>nhập</a:t>
            </a:r>
            <a:r>
              <a:rPr dirty="0" sz="1400" spc="19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QGUBRF+Roboto"/>
                <a:cs typeface="QGUBRF+Roboto"/>
              </a:rPr>
              <a:t>liệu.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448424" y="2372590"/>
            <a:ext cx="4807557" cy="8197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9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 spc="14">
                <a:solidFill>
                  <a:srgbClr val="3c4043"/>
                </a:solidFill>
                <a:latin typeface="QGUBRF+Roboto"/>
                <a:cs typeface="QGUBRF+Roboto"/>
              </a:rPr>
              <a:t>Thành</a:t>
            </a:r>
            <a:r>
              <a:rPr dirty="0" sz="1400" spc="18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QGUBRF+Roboto"/>
                <a:cs typeface="QGUBRF+Roboto"/>
              </a:rPr>
              <a:t>phần</a:t>
            </a:r>
            <a:r>
              <a:rPr dirty="0" sz="1400" spc="18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QGUBRF+Roboto"/>
                <a:cs typeface="QGUBRF+Roboto"/>
              </a:rPr>
              <a:t>điều</a:t>
            </a:r>
            <a:r>
              <a:rPr dirty="0" sz="1400" spc="21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QGUBRF+Roboto"/>
                <a:cs typeface="QGUBRF+Roboto"/>
              </a:rPr>
              <a:t>phối</a:t>
            </a:r>
            <a:r>
              <a:rPr dirty="0" sz="1400" spc="10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QGUBRF+Roboto"/>
                <a:cs typeface="QGUBRF+Roboto"/>
              </a:rPr>
              <a:t>thị</a:t>
            </a:r>
            <a:r>
              <a:rPr dirty="0" sz="1400" spc="13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1">
                <a:solidFill>
                  <a:srgbClr val="3c4043"/>
                </a:solidFill>
                <a:latin typeface="QGUBRF+Roboto"/>
                <a:cs typeface="QGUBRF+Roboto"/>
              </a:rPr>
              <a:t>giác:</a:t>
            </a:r>
            <a:r>
              <a:rPr dirty="0" sz="1400" spc="-14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-50">
                <a:solidFill>
                  <a:srgbClr val="3c4043"/>
                </a:solidFill>
                <a:latin typeface="QGUBRF+Roboto"/>
                <a:cs typeface="QGUBRF+Roboto"/>
              </a:rPr>
              <a:t>Tự</a:t>
            </a:r>
            <a:r>
              <a:rPr dirty="0" sz="1400" spc="85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QGUBRF+Roboto"/>
                <a:cs typeface="QGUBRF+Roboto"/>
              </a:rPr>
              <a:t>động</a:t>
            </a:r>
            <a:r>
              <a:rPr dirty="0" sz="1400" spc="18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QGUBRF+Roboto"/>
                <a:cs typeface="QGUBRF+Roboto"/>
              </a:rPr>
              <a:t>ánh</a:t>
            </a:r>
            <a:r>
              <a:rPr dirty="0" sz="1400" spc="18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1">
                <a:solidFill>
                  <a:srgbClr val="3c4043"/>
                </a:solidFill>
                <a:latin typeface="QGUBRF+Roboto"/>
                <a:cs typeface="QGUBRF+Roboto"/>
              </a:rPr>
              <a:t>xạ</a:t>
            </a:r>
            <a:r>
              <a:rPr dirty="0" sz="1400" spc="19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21">
                <a:solidFill>
                  <a:srgbClr val="3c4043"/>
                </a:solidFill>
                <a:latin typeface="QGUBRF+Roboto"/>
                <a:cs typeface="QGUBRF+Roboto"/>
              </a:rPr>
              <a:t>mã</a:t>
            </a:r>
            <a:r>
              <a:rPr dirty="0" sz="1400" spc="10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1">
                <a:solidFill>
                  <a:srgbClr val="3c4043"/>
                </a:solidFill>
                <a:latin typeface="QGUBRF+Roboto"/>
                <a:cs typeface="QGUBRF+Roboto"/>
              </a:rPr>
              <a:t>thời</a:t>
            </a:r>
            <a:r>
              <a:rPr dirty="0" sz="1400" spc="12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>
                <a:solidFill>
                  <a:srgbClr val="3c4043"/>
                </a:solidFill>
                <a:latin typeface="QGUBRF+Roboto"/>
                <a:cs typeface="QGUBRF+Roboto"/>
              </a:rPr>
              <a:t>tiết</a:t>
            </a:r>
          </a:p>
          <a:p>
            <a:pPr marL="0" marR="0">
              <a:lnSpc>
                <a:spcPts val="1879"/>
              </a:lnSpc>
              <a:spcBef>
                <a:spcPts val="295"/>
              </a:spcBef>
              <a:spcAft>
                <a:spcPts val="0"/>
              </a:spcAft>
            </a:pPr>
            <a:r>
              <a:rPr dirty="0" sz="1400" spc="11">
                <a:solidFill>
                  <a:srgbClr val="3c4043"/>
                </a:solidFill>
                <a:latin typeface="QGUBRF+Roboto"/>
                <a:cs typeface="QGUBRF+Roboto"/>
              </a:rPr>
              <a:t>(Weather</a:t>
            </a:r>
            <a:r>
              <a:rPr dirty="0" sz="1400" spc="15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QGUBRF+Roboto"/>
                <a:cs typeface="QGUBRF+Roboto"/>
              </a:rPr>
              <a:t>Code)</a:t>
            </a:r>
            <a:r>
              <a:rPr dirty="0" sz="1400" spc="12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2">
                <a:solidFill>
                  <a:srgbClr val="3c4043"/>
                </a:solidFill>
                <a:latin typeface="QGUBRF+Roboto"/>
                <a:cs typeface="QGUBRF+Roboto"/>
              </a:rPr>
              <a:t>sang</a:t>
            </a:r>
            <a:r>
              <a:rPr dirty="0" sz="1400" spc="19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2">
                <a:solidFill>
                  <a:srgbClr val="3c4043"/>
                </a:solidFill>
                <a:latin typeface="QGUBRF+Roboto"/>
                <a:cs typeface="QGUBRF+Roboto"/>
              </a:rPr>
              <a:t>các</a:t>
            </a:r>
            <a:r>
              <a:rPr dirty="0" sz="1400" spc="18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QGUBRF+Roboto"/>
                <a:cs typeface="QGUBRF+Roboto"/>
              </a:rPr>
              <a:t>bộ</a:t>
            </a:r>
            <a:r>
              <a:rPr dirty="0" sz="1400" spc="18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>
                <a:solidFill>
                  <a:srgbClr val="3c4043"/>
                </a:solidFill>
                <a:latin typeface="QGUBRF+Roboto"/>
                <a:cs typeface="QGUBRF+Roboto"/>
              </a:rPr>
              <a:t>Gradient</a:t>
            </a:r>
            <a:r>
              <a:rPr dirty="0" sz="1400" spc="18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QGUBRF+Roboto"/>
                <a:cs typeface="QGUBRF+Roboto"/>
              </a:rPr>
              <a:t>nền</a:t>
            </a:r>
            <a:r>
              <a:rPr dirty="0" sz="1400" spc="18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QGUBRF+Roboto"/>
                <a:cs typeface="QGUBRF+Roboto"/>
              </a:rPr>
              <a:t>động</a:t>
            </a:r>
            <a:r>
              <a:rPr dirty="0" sz="1400" spc="18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>
                <a:solidFill>
                  <a:srgbClr val="3c4043"/>
                </a:solidFill>
                <a:latin typeface="QGUBRF+Roboto"/>
                <a:cs typeface="QGUBRF+Roboto"/>
              </a:rPr>
              <a:t>và</a:t>
            </a:r>
            <a:r>
              <a:rPr dirty="0" sz="1400" spc="30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QGUBRF+Roboto"/>
                <a:cs typeface="QGUBRF+Roboto"/>
              </a:rPr>
              <a:t>icon</a:t>
            </a:r>
          </a:p>
          <a:p>
            <a:pPr marL="0" marR="0">
              <a:lnSpc>
                <a:spcPts val="1879"/>
              </a:lnSpc>
              <a:spcBef>
                <a:spcPts val="220"/>
              </a:spcBef>
              <a:spcAft>
                <a:spcPts val="0"/>
              </a:spcAft>
            </a:pPr>
            <a:r>
              <a:rPr dirty="0" sz="1400" spc="12">
                <a:solidFill>
                  <a:srgbClr val="3c4043"/>
                </a:solidFill>
                <a:latin typeface="QGUBRF+Roboto"/>
                <a:cs typeface="QGUBRF+Roboto"/>
              </a:rPr>
              <a:t>tương</a:t>
            </a:r>
            <a:r>
              <a:rPr dirty="0" sz="1400" spc="19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QGUBRF+Roboto"/>
                <a:cs typeface="QGUBRF+Roboto"/>
              </a:rPr>
              <a:t>ứng,</a:t>
            </a:r>
            <a:r>
              <a:rPr dirty="0" sz="1400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QGUBRF+Roboto"/>
                <a:cs typeface="QGUBRF+Roboto"/>
              </a:rPr>
              <a:t>tạo</a:t>
            </a:r>
            <a:r>
              <a:rPr dirty="0" sz="1400" spc="22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>
                <a:solidFill>
                  <a:srgbClr val="3c4043"/>
                </a:solidFill>
                <a:latin typeface="QGUBRF+Roboto"/>
                <a:cs typeface="QGUBRF+Roboto"/>
              </a:rPr>
              <a:t>trải</a:t>
            </a:r>
            <a:r>
              <a:rPr dirty="0" sz="1400" spc="23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1">
                <a:solidFill>
                  <a:srgbClr val="3c4043"/>
                </a:solidFill>
                <a:latin typeface="QGUBRF+Roboto"/>
                <a:cs typeface="QGUBRF+Roboto"/>
              </a:rPr>
              <a:t>nghiệm</a:t>
            </a:r>
            <a:r>
              <a:rPr dirty="0" sz="1400" spc="28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QGUBRF+Roboto"/>
                <a:cs typeface="QGUBRF+Roboto"/>
              </a:rPr>
              <a:t>người</a:t>
            </a:r>
            <a:r>
              <a:rPr dirty="0" sz="1400" spc="10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QGUBRF+Roboto"/>
                <a:cs typeface="QGUBRF+Roboto"/>
              </a:rPr>
              <a:t>dùng</a:t>
            </a:r>
            <a:r>
              <a:rPr dirty="0" sz="1400" spc="18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QGUBRF+Roboto"/>
                <a:cs typeface="QGUBRF+Roboto"/>
              </a:rPr>
              <a:t>sống</a:t>
            </a:r>
            <a:r>
              <a:rPr dirty="0" sz="1400" spc="19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QGUBRF+Roboto"/>
                <a:cs typeface="QGUBRF+Roboto"/>
              </a:rPr>
              <a:t>động.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533524" y="4290659"/>
            <a:ext cx="1914124" cy="3147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dirty="0" sz="1950" b="1">
                <a:solidFill>
                  <a:srgbClr val="444746"/>
                </a:solidFill>
                <a:latin typeface="Arial"/>
                <a:cs typeface="Arial"/>
              </a:rPr>
              <a:t>Format</a:t>
            </a:r>
            <a:r>
              <a:rPr dirty="0" sz="195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444746"/>
                </a:solidFill>
                <a:latin typeface="Arial"/>
                <a:cs typeface="Arial"/>
              </a:rPr>
              <a:t>Dữ</a:t>
            </a:r>
            <a:r>
              <a:rPr dirty="0" sz="195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444746"/>
                </a:solidFill>
                <a:latin typeface="Arial"/>
                <a:cs typeface="Arial"/>
              </a:rPr>
              <a:t>liệu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981824" y="4290659"/>
            <a:ext cx="771525" cy="3147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dirty="0" sz="1950" b="1">
                <a:solidFill>
                  <a:srgbClr val="444746"/>
                </a:solidFill>
                <a:latin typeface="Arial"/>
                <a:cs typeface="Arial"/>
              </a:rPr>
              <a:t>Cắt</a:t>
            </a:r>
            <a:r>
              <a:rPr dirty="0" sz="195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444746"/>
                </a:solidFill>
                <a:latin typeface="Arial"/>
                <a:cs typeface="Arial"/>
              </a:rPr>
              <a:t>F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90463" y="4326583"/>
            <a:ext cx="354136" cy="2390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8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1" b="1">
                <a:solidFill>
                  <a:srgbClr val="ffffff"/>
                </a:solidFill>
                <a:latin typeface="WCLJPI+Roboto Bold"/>
                <a:cs typeface="WCLJPI+Roboto Bold"/>
              </a:rPr>
              <a:t>DA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547394" y="4326583"/>
            <a:ext cx="340146" cy="2390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8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37" b="1">
                <a:solidFill>
                  <a:srgbClr val="ffffff"/>
                </a:solidFill>
                <a:latin typeface="WCLJPI+Roboto Bold"/>
                <a:cs typeface="WCLJPI+Roboto Bold"/>
              </a:rPr>
              <a:t>LO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000124" y="4734790"/>
            <a:ext cx="4678630" cy="8197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9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 spc="14">
                <a:solidFill>
                  <a:srgbClr val="3c4043"/>
                </a:solidFill>
                <a:latin typeface="QGUBRF+Roboto"/>
                <a:cs typeface="QGUBRF+Roboto"/>
              </a:rPr>
              <a:t>Chuẩn</a:t>
            </a:r>
            <a:r>
              <a:rPr dirty="0" sz="1400" spc="18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QGUBRF+Roboto"/>
                <a:cs typeface="QGUBRF+Roboto"/>
              </a:rPr>
              <a:t>hóa</a:t>
            </a:r>
            <a:r>
              <a:rPr dirty="0" sz="1400" spc="18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QGUBRF+Roboto"/>
                <a:cs typeface="QGUBRF+Roboto"/>
              </a:rPr>
              <a:t>dữ</a:t>
            </a:r>
            <a:r>
              <a:rPr dirty="0" sz="1400" spc="20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>
                <a:solidFill>
                  <a:srgbClr val="3c4043"/>
                </a:solidFill>
                <a:latin typeface="QGUBRF+Roboto"/>
                <a:cs typeface="QGUBRF+Roboto"/>
              </a:rPr>
              <a:t>liệu</a:t>
            </a:r>
            <a:r>
              <a:rPr dirty="0" sz="1400" spc="24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>
                <a:solidFill>
                  <a:srgbClr val="3c4043"/>
                </a:solidFill>
                <a:latin typeface="QGUBRF+Roboto"/>
                <a:cs typeface="QGUBRF+Roboto"/>
              </a:rPr>
              <a:t>từ</a:t>
            </a:r>
            <a:r>
              <a:rPr dirty="0" sz="1400" spc="25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2">
                <a:solidFill>
                  <a:srgbClr val="3c4043"/>
                </a:solidFill>
                <a:latin typeface="QGUBRF+Roboto"/>
                <a:cs typeface="QGUBRF+Roboto"/>
              </a:rPr>
              <a:t>API:</a:t>
            </a:r>
            <a:r>
              <a:rPr dirty="0" sz="1400" spc="11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1">
                <a:solidFill>
                  <a:srgbClr val="3c4043"/>
                </a:solidFill>
                <a:latin typeface="QGUBRF+Roboto"/>
                <a:cs typeface="QGUBRF+Roboto"/>
              </a:rPr>
              <a:t>Dịch</a:t>
            </a:r>
            <a:r>
              <a:rPr dirty="0" sz="1400" spc="20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2">
                <a:solidFill>
                  <a:srgbClr val="3c4043"/>
                </a:solidFill>
                <a:latin typeface="QGUBRF+Roboto"/>
                <a:cs typeface="QGUBRF+Roboto"/>
              </a:rPr>
              <a:t>các</a:t>
            </a:r>
            <a:r>
              <a:rPr dirty="0" sz="1400" spc="18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21">
                <a:solidFill>
                  <a:srgbClr val="3c4043"/>
                </a:solidFill>
                <a:latin typeface="QGUBRF+Roboto"/>
                <a:cs typeface="QGUBRF+Roboto"/>
              </a:rPr>
              <a:t>mô</a:t>
            </a:r>
            <a:r>
              <a:rPr dirty="0" sz="1400" spc="11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>
                <a:solidFill>
                  <a:srgbClr val="3c4043"/>
                </a:solidFill>
                <a:latin typeface="QGUBRF+Roboto"/>
                <a:cs typeface="QGUBRF+Roboto"/>
              </a:rPr>
              <a:t>tả</a:t>
            </a:r>
            <a:r>
              <a:rPr dirty="0" sz="1400" spc="24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>
                <a:solidFill>
                  <a:srgbClr val="3c4043"/>
                </a:solidFill>
                <a:latin typeface="QGUBRF+Roboto"/>
                <a:cs typeface="QGUBRF+Roboto"/>
              </a:rPr>
              <a:t>trạng</a:t>
            </a:r>
            <a:r>
              <a:rPr dirty="0" sz="1400" spc="28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1">
                <a:solidFill>
                  <a:srgbClr val="3c4043"/>
                </a:solidFill>
                <a:latin typeface="QGUBRF+Roboto"/>
                <a:cs typeface="QGUBRF+Roboto"/>
              </a:rPr>
              <a:t>thái</a:t>
            </a:r>
            <a:r>
              <a:rPr dirty="0" sz="1400" spc="12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2">
                <a:solidFill>
                  <a:srgbClr val="3c4043"/>
                </a:solidFill>
                <a:latin typeface="QGUBRF+Roboto"/>
                <a:cs typeface="QGUBRF+Roboto"/>
              </a:rPr>
              <a:t>sang</a:t>
            </a:r>
          </a:p>
          <a:p>
            <a:pPr marL="0" marR="0">
              <a:lnSpc>
                <a:spcPts val="1879"/>
              </a:lnSpc>
              <a:spcBef>
                <a:spcPts val="295"/>
              </a:spcBef>
              <a:spcAft>
                <a:spcPts val="0"/>
              </a:spcAft>
            </a:pPr>
            <a:r>
              <a:rPr dirty="0" sz="1400" spc="10">
                <a:solidFill>
                  <a:srgbClr val="3c4043"/>
                </a:solidFill>
                <a:latin typeface="QGUBRF+Roboto"/>
                <a:cs typeface="QGUBRF+Roboto"/>
              </a:rPr>
              <a:t>tiếng</a:t>
            </a:r>
            <a:r>
              <a:rPr dirty="0" sz="1400" spc="22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1">
                <a:solidFill>
                  <a:srgbClr val="3c4043"/>
                </a:solidFill>
                <a:latin typeface="QGUBRF+Roboto"/>
                <a:cs typeface="QGUBRF+Roboto"/>
              </a:rPr>
              <a:t>Việt</a:t>
            </a:r>
            <a:r>
              <a:rPr dirty="0" sz="1400" spc="15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>
                <a:solidFill>
                  <a:srgbClr val="3c4043"/>
                </a:solidFill>
                <a:latin typeface="QGUBRF+Roboto"/>
                <a:cs typeface="QGUBRF+Roboto"/>
              </a:rPr>
              <a:t>và</a:t>
            </a:r>
            <a:r>
              <a:rPr dirty="0" sz="1400" spc="30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QGUBRF+Roboto"/>
                <a:cs typeface="QGUBRF+Roboto"/>
              </a:rPr>
              <a:t>chuyển</a:t>
            </a:r>
            <a:r>
              <a:rPr dirty="0" sz="1400" spc="21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5">
                <a:solidFill>
                  <a:srgbClr val="3c4043"/>
                </a:solidFill>
                <a:latin typeface="QGUBRF+Roboto"/>
                <a:cs typeface="QGUBRF+Roboto"/>
              </a:rPr>
              <a:t>đổi</a:t>
            </a:r>
            <a:r>
              <a:rPr dirty="0" sz="1400" spc="10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1">
                <a:solidFill>
                  <a:srgbClr val="3c4043"/>
                </a:solidFill>
                <a:latin typeface="QGUBRF+Roboto"/>
                <a:cs typeface="QGUBRF+Roboto"/>
              </a:rPr>
              <a:t>định</a:t>
            </a:r>
            <a:r>
              <a:rPr dirty="0" sz="1400" spc="20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QGUBRF+Roboto"/>
                <a:cs typeface="QGUBRF+Roboto"/>
              </a:rPr>
              <a:t>dạng</a:t>
            </a:r>
            <a:r>
              <a:rPr dirty="0" sz="1400" spc="18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1">
                <a:solidFill>
                  <a:srgbClr val="3c4043"/>
                </a:solidFill>
                <a:latin typeface="QGUBRF+Roboto"/>
                <a:cs typeface="QGUBRF+Roboto"/>
              </a:rPr>
              <a:t>thời</a:t>
            </a:r>
            <a:r>
              <a:rPr dirty="0" sz="1400" spc="12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QGUBRF+Roboto"/>
                <a:cs typeface="QGUBRF+Roboto"/>
              </a:rPr>
              <a:t>gian</a:t>
            </a:r>
            <a:r>
              <a:rPr dirty="0" sz="1400" spc="21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2">
                <a:solidFill>
                  <a:srgbClr val="3c4043"/>
                </a:solidFill>
                <a:latin typeface="QGUBRF+Roboto"/>
                <a:cs typeface="QGUBRF+Roboto"/>
              </a:rPr>
              <a:t>(DateTime)</a:t>
            </a:r>
          </a:p>
          <a:p>
            <a:pPr marL="0" marR="0">
              <a:lnSpc>
                <a:spcPts val="1879"/>
              </a:lnSpc>
              <a:spcBef>
                <a:spcPts val="220"/>
              </a:spcBef>
              <a:spcAft>
                <a:spcPts val="0"/>
              </a:spcAft>
            </a:pPr>
            <a:r>
              <a:rPr dirty="0" sz="1400" spc="14">
                <a:solidFill>
                  <a:srgbClr val="3c4043"/>
                </a:solidFill>
                <a:latin typeface="QGUBRF+Roboto"/>
                <a:cs typeface="QGUBRF+Roboto"/>
              </a:rPr>
              <a:t>phù</a:t>
            </a:r>
            <a:r>
              <a:rPr dirty="0" sz="1400" spc="18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QGUBRF+Roboto"/>
                <a:cs typeface="QGUBRF+Roboto"/>
              </a:rPr>
              <a:t>hợp</a:t>
            </a:r>
            <a:r>
              <a:rPr dirty="0" sz="1400" spc="18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>
                <a:solidFill>
                  <a:srgbClr val="3c4043"/>
                </a:solidFill>
                <a:latin typeface="QGUBRF+Roboto"/>
                <a:cs typeface="QGUBRF+Roboto"/>
              </a:rPr>
              <a:t>với</a:t>
            </a:r>
            <a:r>
              <a:rPr dirty="0" sz="1400" spc="16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8">
                <a:solidFill>
                  <a:srgbClr val="3c4043"/>
                </a:solidFill>
                <a:latin typeface="QGUBRF+Roboto"/>
                <a:cs typeface="QGUBRF+Roboto"/>
              </a:rPr>
              <a:t>múi</a:t>
            </a:r>
            <a:r>
              <a:rPr dirty="0" sz="1400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QGUBRF+Roboto"/>
                <a:cs typeface="QGUBRF+Roboto"/>
              </a:rPr>
              <a:t>giờ</a:t>
            </a:r>
            <a:r>
              <a:rPr dirty="0" sz="1400" spc="22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>
                <a:solidFill>
                  <a:srgbClr val="3c4043"/>
                </a:solidFill>
                <a:latin typeface="QGUBRF+Roboto"/>
                <a:cs typeface="QGUBRF+Roboto"/>
              </a:rPr>
              <a:t>và</a:t>
            </a:r>
            <a:r>
              <a:rPr dirty="0" sz="1400" spc="30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1">
                <a:solidFill>
                  <a:srgbClr val="3c4043"/>
                </a:solidFill>
                <a:latin typeface="QGUBRF+Roboto"/>
                <a:cs typeface="QGUBRF+Roboto"/>
              </a:rPr>
              <a:t>thói</a:t>
            </a:r>
            <a:r>
              <a:rPr dirty="0" sz="1400" spc="12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QGUBRF+Roboto"/>
                <a:cs typeface="QGUBRF+Roboto"/>
              </a:rPr>
              <a:t>quen</a:t>
            </a:r>
            <a:r>
              <a:rPr dirty="0" sz="1400" spc="18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5">
                <a:solidFill>
                  <a:srgbClr val="3c4043"/>
                </a:solidFill>
                <a:latin typeface="QGUBRF+Roboto"/>
                <a:cs typeface="QGUBRF+Roboto"/>
              </a:rPr>
              <a:t>đọc</a:t>
            </a:r>
            <a:r>
              <a:rPr dirty="0" sz="1400" spc="17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2">
                <a:solidFill>
                  <a:srgbClr val="3c4043"/>
                </a:solidFill>
                <a:latin typeface="QGUBRF+Roboto"/>
                <a:cs typeface="QGUBRF+Roboto"/>
              </a:rPr>
              <a:t>của</a:t>
            </a:r>
            <a:r>
              <a:rPr dirty="0" sz="1400" spc="18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4">
                <a:solidFill>
                  <a:srgbClr val="3c4043"/>
                </a:solidFill>
                <a:latin typeface="QGUBRF+Roboto"/>
                <a:cs typeface="QGUBRF+Roboto"/>
              </a:rPr>
              <a:t>người</a:t>
            </a:r>
            <a:r>
              <a:rPr dirty="0" sz="1400" spc="10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QGUBRF+Roboto"/>
                <a:cs typeface="QGUBRF+Roboto"/>
              </a:rPr>
              <a:t>Việt.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448424" y="4734790"/>
            <a:ext cx="1397398" cy="8197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9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 spc="14">
                <a:solidFill>
                  <a:srgbClr val="3c4043"/>
                </a:solidFill>
                <a:latin typeface="QGUBRF+Roboto"/>
                <a:cs typeface="QGUBRF+Roboto"/>
              </a:rPr>
              <a:t>Thuật</a:t>
            </a:r>
            <a:r>
              <a:rPr dirty="0" sz="1400" spc="12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>
                <a:solidFill>
                  <a:srgbClr val="3c4043"/>
                </a:solidFill>
                <a:latin typeface="QGUBRF+Roboto"/>
                <a:cs typeface="QGUBRF+Roboto"/>
              </a:rPr>
              <a:t>toán</a:t>
            </a:r>
            <a:r>
              <a:rPr dirty="0" sz="1400" spc="25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QGUBRF+Roboto"/>
                <a:cs typeface="QGUBRF+Roboto"/>
              </a:rPr>
              <a:t>lọc</a:t>
            </a:r>
          </a:p>
          <a:p>
            <a:pPr marL="0" marR="0">
              <a:lnSpc>
                <a:spcPts val="1879"/>
              </a:lnSpc>
              <a:spcBef>
                <a:spcPts val="295"/>
              </a:spcBef>
              <a:spcAft>
                <a:spcPts val="0"/>
              </a:spcAft>
            </a:pPr>
            <a:r>
              <a:rPr dirty="0" sz="1400" spc="11">
                <a:solidFill>
                  <a:srgbClr val="3c4043"/>
                </a:solidFill>
                <a:latin typeface="QGUBRF+Roboto"/>
                <a:cs typeface="QGUBRF+Roboto"/>
              </a:rPr>
              <a:t>OpenWeather</a:t>
            </a:r>
            <a:r>
              <a:rPr dirty="0" sz="1400" spc="15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>
                <a:solidFill>
                  <a:srgbClr val="3c4043"/>
                </a:solidFill>
                <a:latin typeface="QGUBRF+Roboto"/>
                <a:cs typeface="QGUBRF+Roboto"/>
              </a:rPr>
              <a:t>đ</a:t>
            </a:r>
          </a:p>
          <a:p>
            <a:pPr marL="0" marR="0">
              <a:lnSpc>
                <a:spcPts val="1879"/>
              </a:lnSpc>
              <a:spcBef>
                <a:spcPts val="220"/>
              </a:spcBef>
              <a:spcAft>
                <a:spcPts val="0"/>
              </a:spcAft>
            </a:pPr>
            <a:r>
              <a:rPr dirty="0" sz="1400" spc="10">
                <a:solidFill>
                  <a:srgbClr val="3c4043"/>
                </a:solidFill>
                <a:latin typeface="QGUBRF+Roboto"/>
                <a:cs typeface="QGUBRF+Roboto"/>
              </a:rPr>
              <a:t>ngày</a:t>
            </a:r>
            <a:r>
              <a:rPr dirty="0" sz="1400" spc="20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QGUBRF+Roboto"/>
                <a:cs typeface="QGUBRF+Roboto"/>
              </a:rPr>
              <a:t>hiện</a:t>
            </a:r>
            <a:r>
              <a:rPr dirty="0" sz="1400" spc="21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 spc="10">
                <a:solidFill>
                  <a:srgbClr val="3c4043"/>
                </a:solidFill>
                <a:latin typeface="QGUBRF+Roboto"/>
                <a:cs typeface="QGUBRF+Roboto"/>
              </a:rPr>
              <a:t>tại</a:t>
            </a:r>
            <a:r>
              <a:rPr dirty="0" sz="1400" spc="13">
                <a:solidFill>
                  <a:srgbClr val="3c4043"/>
                </a:solidFill>
                <a:latin typeface="QGUBRF+Roboto"/>
                <a:cs typeface="QGUBRF+Roboto"/>
              </a:rPr>
              <a:t> </a:t>
            </a:r>
            <a:r>
              <a:rPr dirty="0" sz="1400">
                <a:solidFill>
                  <a:srgbClr val="3c4043"/>
                </a:solidFill>
                <a:latin typeface="QGUBRF+Roboto"/>
                <a:cs typeface="QGUBRF+Roboto"/>
              </a:rPr>
              <a:t>và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793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1999" y="571295"/>
            <a:ext cx="8060614" cy="8622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19"/>
              </a:lnSpc>
              <a:spcBef>
                <a:spcPts val="0"/>
              </a:spcBef>
              <a:spcAft>
                <a:spcPts val="0"/>
              </a:spcAft>
            </a:pP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Quy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trình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Kỹ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thuật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Nhắc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nhở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(Reminders)</a:t>
            </a:r>
          </a:p>
          <a:p>
            <a:pPr marL="0" marR="0">
              <a:lnSpc>
                <a:spcPts val="2373"/>
              </a:lnSpc>
              <a:spcBef>
                <a:spcPts val="596"/>
              </a:spcBef>
              <a:spcAft>
                <a:spcPts val="0"/>
              </a:spcAft>
            </a:pPr>
            <a:r>
              <a:rPr dirty="0" sz="1800">
                <a:solidFill>
                  <a:srgbClr val="444746"/>
                </a:solidFill>
                <a:latin typeface="KJWCDD+Roboto"/>
                <a:cs typeface="KJWCDD+Roboto"/>
              </a:rPr>
              <a:t>Kiến</a:t>
            </a:r>
            <a:r>
              <a:rPr dirty="0" sz="1800" spc="15">
                <a:solidFill>
                  <a:srgbClr val="444746"/>
                </a:solidFill>
                <a:latin typeface="KJWCDD+Roboto"/>
                <a:cs typeface="KJWCDD+Roboto"/>
              </a:rPr>
              <a:t> </a:t>
            </a:r>
            <a:r>
              <a:rPr dirty="0" sz="1800">
                <a:solidFill>
                  <a:srgbClr val="444746"/>
                </a:solidFill>
                <a:latin typeface="KJWCDD+Roboto"/>
                <a:cs typeface="KJWCDD+Roboto"/>
              </a:rPr>
              <a:t>trúc</a:t>
            </a:r>
            <a:r>
              <a:rPr dirty="0" sz="1800" spc="15">
                <a:solidFill>
                  <a:srgbClr val="444746"/>
                </a:solidFill>
                <a:latin typeface="KJWCDD+Roboto"/>
                <a:cs typeface="KJWCDD+Roboto"/>
              </a:rPr>
              <a:t> </a:t>
            </a:r>
            <a:r>
              <a:rPr dirty="0" sz="1800">
                <a:solidFill>
                  <a:srgbClr val="444746"/>
                </a:solidFill>
                <a:latin typeface="KJWCDD+Roboto"/>
                <a:cs typeface="KJWCDD+Roboto"/>
              </a:rPr>
              <a:t>dữ</a:t>
            </a:r>
            <a:r>
              <a:rPr dirty="0" sz="1800" spc="15">
                <a:solidFill>
                  <a:srgbClr val="444746"/>
                </a:solidFill>
                <a:latin typeface="KJWCDD+Roboto"/>
                <a:cs typeface="KJWCDD+Roboto"/>
              </a:rPr>
              <a:t> </a:t>
            </a:r>
            <a:r>
              <a:rPr dirty="0" sz="1800">
                <a:solidFill>
                  <a:srgbClr val="444746"/>
                </a:solidFill>
                <a:latin typeface="KJWCDD+Roboto"/>
                <a:cs typeface="KJWCDD+Roboto"/>
              </a:rPr>
              <a:t>liệu</a:t>
            </a:r>
            <a:r>
              <a:rPr dirty="0" sz="1800" spc="15">
                <a:solidFill>
                  <a:srgbClr val="444746"/>
                </a:solidFill>
                <a:latin typeface="KJWCDD+Roboto"/>
                <a:cs typeface="KJWCDD+Roboto"/>
              </a:rPr>
              <a:t> </a:t>
            </a:r>
            <a:r>
              <a:rPr dirty="0" sz="1800" spc="-12">
                <a:solidFill>
                  <a:srgbClr val="444746"/>
                </a:solidFill>
                <a:latin typeface="KJWCDD+Roboto"/>
                <a:cs typeface="KJWCDD+Roboto"/>
              </a:rPr>
              <a:t>và</a:t>
            </a:r>
            <a:r>
              <a:rPr dirty="0" sz="1800" spc="28">
                <a:solidFill>
                  <a:srgbClr val="444746"/>
                </a:solidFill>
                <a:latin typeface="KJWCDD+Roboto"/>
                <a:cs typeface="KJWCDD+Roboto"/>
              </a:rPr>
              <a:t> </a:t>
            </a:r>
            <a:r>
              <a:rPr dirty="0" sz="1800" spc="-10">
                <a:solidFill>
                  <a:srgbClr val="444746"/>
                </a:solidFill>
                <a:latin typeface="KJWCDD+Roboto"/>
                <a:cs typeface="KJWCDD+Roboto"/>
              </a:rPr>
              <a:t>Luồng</a:t>
            </a:r>
            <a:r>
              <a:rPr dirty="0" sz="1800" spc="25">
                <a:solidFill>
                  <a:srgbClr val="444746"/>
                </a:solidFill>
                <a:latin typeface="KJWCDD+Roboto"/>
                <a:cs typeface="KJWCDD+Roboto"/>
              </a:rPr>
              <a:t> </a:t>
            </a:r>
            <a:r>
              <a:rPr dirty="0" sz="1800">
                <a:solidFill>
                  <a:srgbClr val="444746"/>
                </a:solidFill>
                <a:latin typeface="KJWCDD+Roboto"/>
                <a:cs typeface="KJWCDD+Roboto"/>
              </a:rPr>
              <a:t>xử</a:t>
            </a:r>
            <a:r>
              <a:rPr dirty="0" sz="1800" spc="15">
                <a:solidFill>
                  <a:srgbClr val="444746"/>
                </a:solidFill>
                <a:latin typeface="KJWCDD+Roboto"/>
                <a:cs typeface="KJWCDD+Roboto"/>
              </a:rPr>
              <a:t> </a:t>
            </a:r>
            <a:r>
              <a:rPr dirty="0" sz="1800">
                <a:solidFill>
                  <a:srgbClr val="444746"/>
                </a:solidFill>
                <a:latin typeface="KJWCDD+Roboto"/>
                <a:cs typeface="KJWCDD+Roboto"/>
              </a:rPr>
              <a:t>lý</a:t>
            </a:r>
            <a:r>
              <a:rPr dirty="0" sz="1800" spc="15">
                <a:solidFill>
                  <a:srgbClr val="444746"/>
                </a:solidFill>
                <a:latin typeface="KJWCDD+Roboto"/>
                <a:cs typeface="KJWCDD+Roboto"/>
              </a:rPr>
              <a:t> </a:t>
            </a:r>
            <a:r>
              <a:rPr dirty="0" sz="1800">
                <a:solidFill>
                  <a:srgbClr val="444746"/>
                </a:solidFill>
                <a:latin typeface="KJWCDD+Roboto"/>
                <a:cs typeface="KJWCDD+Roboto"/>
              </a:rPr>
              <a:t>thông</a:t>
            </a:r>
            <a:r>
              <a:rPr dirty="0" sz="1800" spc="15">
                <a:solidFill>
                  <a:srgbClr val="444746"/>
                </a:solidFill>
                <a:latin typeface="KJWCDD+Roboto"/>
                <a:cs typeface="KJWCDD+Roboto"/>
              </a:rPr>
              <a:t> </a:t>
            </a:r>
            <a:r>
              <a:rPr dirty="0" sz="1800">
                <a:solidFill>
                  <a:srgbClr val="444746"/>
                </a:solidFill>
                <a:latin typeface="KJWCDD+Roboto"/>
                <a:cs typeface="KJWCDD+Roboto"/>
              </a:rPr>
              <a:t>báo</a:t>
            </a:r>
            <a:r>
              <a:rPr dirty="0" sz="1800" spc="15">
                <a:solidFill>
                  <a:srgbClr val="444746"/>
                </a:solidFill>
                <a:latin typeface="KJWCDD+Roboto"/>
                <a:cs typeface="KJWCDD+Roboto"/>
              </a:rPr>
              <a:t> </a:t>
            </a:r>
            <a:r>
              <a:rPr dirty="0" sz="1800">
                <a:solidFill>
                  <a:srgbClr val="444746"/>
                </a:solidFill>
                <a:latin typeface="KJWCDD+Roboto"/>
                <a:cs typeface="KJWCDD+Roboto"/>
              </a:rPr>
              <a:t>trong</a:t>
            </a:r>
            <a:r>
              <a:rPr dirty="0" sz="1800" spc="19">
                <a:solidFill>
                  <a:srgbClr val="444746"/>
                </a:solidFill>
                <a:latin typeface="KJWCDD+Roboto"/>
                <a:cs typeface="KJWCDD+Roboto"/>
              </a:rPr>
              <a:t> </a:t>
            </a:r>
            <a:r>
              <a:rPr dirty="0" sz="1800">
                <a:solidFill>
                  <a:srgbClr val="444746"/>
                </a:solidFill>
                <a:latin typeface="KJWCDD+Roboto"/>
                <a:cs typeface="KJWCDD+Roboto"/>
              </a:rPr>
              <a:t>Flutter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9054" y="1881634"/>
            <a:ext cx="660945" cy="54887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 b="1">
                <a:solidFill>
                  <a:srgbClr val="1a73e8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30428" y="1881634"/>
            <a:ext cx="660945" cy="54887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 b="1">
                <a:solidFill>
                  <a:srgbClr val="1a73e8"/>
                </a:solidFill>
                <a:latin typeface="Arial"/>
                <a:cs typeface="Arial"/>
              </a:rPr>
              <a:t>02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00124" y="2010575"/>
            <a:ext cx="1723718" cy="2722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dirty="0" sz="1650" b="1">
                <a:solidFill>
                  <a:srgbClr val="1a73e8"/>
                </a:solidFill>
                <a:latin typeface="Arial"/>
                <a:cs typeface="Arial"/>
              </a:rPr>
              <a:t>Thiết</a:t>
            </a:r>
            <a:r>
              <a:rPr dirty="0" sz="16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a73e8"/>
                </a:solidFill>
                <a:latin typeface="Arial"/>
                <a:cs typeface="Arial"/>
              </a:rPr>
              <a:t>lập</a:t>
            </a:r>
            <a:r>
              <a:rPr dirty="0" sz="16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a73e8"/>
                </a:solidFill>
                <a:latin typeface="Arial"/>
                <a:cs typeface="Arial"/>
              </a:rPr>
              <a:t>(Input)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381499" y="2010575"/>
            <a:ext cx="1713690" cy="2722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dirty="0" sz="1650" b="1">
                <a:solidFill>
                  <a:srgbClr val="1a73e8"/>
                </a:solidFill>
                <a:latin typeface="Arial"/>
                <a:cs typeface="Arial"/>
              </a:rPr>
              <a:t>Xử</a:t>
            </a:r>
            <a:r>
              <a:rPr dirty="0" sz="16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a73e8"/>
                </a:solidFill>
                <a:latin typeface="Arial"/>
                <a:cs typeface="Arial"/>
              </a:rPr>
              <a:t>lý</a:t>
            </a:r>
            <a:r>
              <a:rPr dirty="0" sz="16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a73e8"/>
                </a:solidFill>
                <a:latin typeface="Arial"/>
                <a:cs typeface="Arial"/>
              </a:rPr>
              <a:t>&amp;</a:t>
            </a:r>
            <a:r>
              <a:rPr dirty="0" sz="16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a73e8"/>
                </a:solidFill>
                <a:latin typeface="Arial"/>
                <a:cs typeface="Arial"/>
              </a:rPr>
              <a:t>Lưu</a:t>
            </a:r>
            <a:r>
              <a:rPr dirty="0" sz="16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a73e8"/>
                </a:solidFill>
                <a:latin typeface="Arial"/>
                <a:cs typeface="Arial"/>
              </a:rPr>
              <a:t>trữ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00124" y="2382571"/>
            <a:ext cx="2612863" cy="10357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Người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dùng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tương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tác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với</a:t>
            </a:r>
            <a:r>
              <a:rPr dirty="0" sz="1350" spc="16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 b="1">
                <a:solidFill>
                  <a:srgbClr val="3c4043"/>
                </a:solidFill>
                <a:latin typeface="ATIKMU+Roboto Bold"/>
                <a:cs typeface="ATIKMU+Roboto Bold"/>
              </a:rPr>
              <a:t>Dialog</a:t>
            </a:r>
          </a:p>
          <a:p>
            <a:pPr marL="0" marR="0">
              <a:lnSpc>
                <a:spcPts val="1780"/>
              </a:lnSpc>
              <a:spcBef>
                <a:spcPts val="244"/>
              </a:spcBef>
              <a:spcAft>
                <a:spcPts val="0"/>
              </a:spcAft>
            </a:pPr>
            <a:r>
              <a:rPr dirty="0" sz="1350" b="1">
                <a:solidFill>
                  <a:srgbClr val="3c4043"/>
                </a:solidFill>
                <a:latin typeface="ATIKMU+Roboto Bold"/>
                <a:cs typeface="ATIKMU+Roboto Bold"/>
              </a:rPr>
              <a:t>nhập</a:t>
            </a:r>
            <a:r>
              <a:rPr dirty="0" sz="1350" b="1">
                <a:solidFill>
                  <a:srgbClr val="3c4043"/>
                </a:solidFill>
                <a:latin typeface="ATIKMU+Roboto Bold"/>
                <a:cs typeface="ATIKMU+Roboto Bold"/>
              </a:rPr>
              <a:t> </a:t>
            </a:r>
            <a:r>
              <a:rPr dirty="0" sz="1350" b="1">
                <a:solidFill>
                  <a:srgbClr val="3c4043"/>
                </a:solidFill>
                <a:latin typeface="ATIKMU+Roboto Bold"/>
                <a:cs typeface="ATIKMU+Roboto Bold"/>
              </a:rPr>
              <a:t>liệu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.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Hệ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thống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thu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thập</a:t>
            </a:r>
          </a:p>
          <a:p>
            <a:pPr marL="0" marR="0">
              <a:lnSpc>
                <a:spcPts val="1780"/>
              </a:lnSpc>
              <a:spcBef>
                <a:spcPts val="244"/>
              </a:spcBef>
              <a:spcAft>
                <a:spcPts val="0"/>
              </a:spcAft>
            </a:pP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thông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tin:</a:t>
            </a:r>
            <a:r>
              <a:rPr dirty="0" sz="1350" spc="-14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Thời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gian,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Địa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điểm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 spc="-10">
                <a:solidFill>
                  <a:srgbClr val="3c4043"/>
                </a:solidFill>
                <a:latin typeface="KJWCDD+Roboto"/>
                <a:cs typeface="KJWCDD+Roboto"/>
              </a:rPr>
              <a:t>và</a:t>
            </a:r>
          </a:p>
          <a:p>
            <a:pPr marL="0" marR="0">
              <a:lnSpc>
                <a:spcPts val="1780"/>
              </a:lnSpc>
              <a:spcBef>
                <a:spcPts val="294"/>
              </a:spcBef>
              <a:spcAft>
                <a:spcPts val="0"/>
              </a:spcAft>
            </a:pP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Kiểu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thông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báo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ưu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tiên.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381499" y="2382571"/>
            <a:ext cx="2748260" cy="10357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Dữ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liệu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được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chuẩn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hóa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 spc="-10">
                <a:solidFill>
                  <a:srgbClr val="3c4043"/>
                </a:solidFill>
                <a:latin typeface="KJWCDD+Roboto"/>
                <a:cs typeface="KJWCDD+Roboto"/>
              </a:rPr>
              <a:t>và</a:t>
            </a:r>
            <a:r>
              <a:rPr dirty="0" sz="1350" spc="2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lưu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trữ</a:t>
            </a:r>
          </a:p>
          <a:p>
            <a:pPr marL="0" marR="0">
              <a:lnSpc>
                <a:spcPts val="1780"/>
              </a:lnSpc>
              <a:spcBef>
                <a:spcPts val="244"/>
              </a:spcBef>
              <a:spcAft>
                <a:spcPts val="0"/>
              </a:spcAft>
            </a:pP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vào</a:t>
            </a:r>
            <a:r>
              <a:rPr dirty="0" sz="1350" spc="16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 b="1">
                <a:solidFill>
                  <a:srgbClr val="3c4043"/>
                </a:solidFill>
                <a:latin typeface="ATIKMU+Roboto Bold"/>
                <a:cs typeface="ATIKMU+Roboto Bold"/>
              </a:rPr>
              <a:t>SQLite</a:t>
            </a:r>
            <a:r>
              <a:rPr dirty="0" sz="1350" b="1">
                <a:solidFill>
                  <a:srgbClr val="3c4043"/>
                </a:solidFill>
                <a:latin typeface="ATIKMU+Roboto Bold"/>
                <a:cs typeface="ATIKMU+Roboto Bold"/>
              </a:rPr>
              <a:t> </a:t>
            </a:r>
            <a:r>
              <a:rPr dirty="0" sz="1350" b="1">
                <a:solidFill>
                  <a:srgbClr val="3c4043"/>
                </a:solidFill>
                <a:latin typeface="ATIKMU+Roboto Bold"/>
                <a:cs typeface="ATIKMU+Roboto Bold"/>
              </a:rPr>
              <a:t>Database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.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Logic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ứng</a:t>
            </a:r>
          </a:p>
          <a:p>
            <a:pPr marL="0" marR="0">
              <a:lnSpc>
                <a:spcPts val="1780"/>
              </a:lnSpc>
              <a:spcBef>
                <a:spcPts val="244"/>
              </a:spcBef>
              <a:spcAft>
                <a:spcPts val="0"/>
              </a:spcAft>
            </a:pP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dụng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tính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toán</a:t>
            </a:r>
            <a:r>
              <a:rPr dirty="0" sz="1350" spc="15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thời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điểm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kích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hoạt</a:t>
            </a:r>
          </a:p>
          <a:p>
            <a:pPr marL="0" marR="0">
              <a:lnSpc>
                <a:spcPts val="1780"/>
              </a:lnSpc>
              <a:spcBef>
                <a:spcPts val="294"/>
              </a:spcBef>
              <a:spcAft>
                <a:spcPts val="0"/>
              </a:spcAft>
            </a:pP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dựa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trên</a:t>
            </a:r>
            <a:r>
              <a:rPr dirty="0" sz="1350" spc="15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múi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giờ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thực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tế.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149054" y="4653409"/>
            <a:ext cx="660945" cy="54887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 b="1">
                <a:solidFill>
                  <a:srgbClr val="1a73e8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530428" y="4653409"/>
            <a:ext cx="660945" cy="54887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dirty="0" sz="3600" b="1">
                <a:solidFill>
                  <a:srgbClr val="1a73e8"/>
                </a:solidFill>
                <a:latin typeface="Arial"/>
                <a:cs typeface="Arial"/>
              </a:rPr>
              <a:t>04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00124" y="4782350"/>
            <a:ext cx="2190089" cy="2722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dirty="0" sz="1650" b="1">
                <a:solidFill>
                  <a:srgbClr val="1a73e8"/>
                </a:solidFill>
                <a:latin typeface="Arial"/>
                <a:cs typeface="Arial"/>
              </a:rPr>
              <a:t>Thực</a:t>
            </a:r>
            <a:r>
              <a:rPr dirty="0" sz="16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a73e8"/>
                </a:solidFill>
                <a:latin typeface="Arial"/>
                <a:cs typeface="Arial"/>
              </a:rPr>
              <a:t>thi</a:t>
            </a:r>
            <a:r>
              <a:rPr dirty="0" sz="16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a73e8"/>
                </a:solidFill>
                <a:latin typeface="Arial"/>
                <a:cs typeface="Arial"/>
              </a:rPr>
              <a:t>(Execution)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381499" y="4782350"/>
            <a:ext cx="1863588" cy="2722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43"/>
              </a:lnSpc>
              <a:spcBef>
                <a:spcPts val="0"/>
              </a:spcBef>
              <a:spcAft>
                <a:spcPts val="0"/>
              </a:spcAft>
            </a:pPr>
            <a:r>
              <a:rPr dirty="0" sz="1650" b="1">
                <a:solidFill>
                  <a:srgbClr val="1a73e8"/>
                </a:solidFill>
                <a:latin typeface="Arial"/>
                <a:cs typeface="Arial"/>
              </a:rPr>
              <a:t>Quản</a:t>
            </a:r>
            <a:r>
              <a:rPr dirty="0" sz="16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a73e8"/>
                </a:solidFill>
                <a:latin typeface="Arial"/>
                <a:cs typeface="Arial"/>
              </a:rPr>
              <a:t>lý</a:t>
            </a:r>
            <a:r>
              <a:rPr dirty="0" sz="16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1a73e8"/>
                </a:solidFill>
                <a:latin typeface="Arial"/>
                <a:cs typeface="Arial"/>
              </a:rPr>
              <a:t>(Control)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000124" y="5154346"/>
            <a:ext cx="784956" cy="2642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Sử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dụng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381499" y="5154346"/>
            <a:ext cx="2163365" cy="2642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Người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dùng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có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thể</a:t>
            </a:r>
            <a:r>
              <a:rPr dirty="0" sz="1350" spc="12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 spc="-18" b="1">
                <a:solidFill>
                  <a:srgbClr val="3c4043"/>
                </a:solidFill>
                <a:latin typeface="ATIKMU+Roboto Bold"/>
                <a:cs typeface="ATIKMU+Roboto Bold"/>
              </a:rPr>
              <a:t>Bật/Tắt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000124" y="5411521"/>
            <a:ext cx="2711006" cy="10357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3c4043"/>
                </a:solidFill>
                <a:latin typeface="ATIKMU+Roboto Bold"/>
                <a:cs typeface="ATIKMU+Roboto Bold"/>
              </a:rPr>
              <a:t>ﬂutter_local_notiﬁcations</a:t>
            </a:r>
            <a:r>
              <a:rPr dirty="0" sz="1350" b="1">
                <a:solidFill>
                  <a:srgbClr val="3c4043"/>
                </a:solidFill>
                <a:latin typeface="ATIKMU+Roboto Bold"/>
                <a:cs typeface="ATIKMU+Roboto Bold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để</a:t>
            </a:r>
          </a:p>
          <a:p>
            <a:pPr marL="0" marR="0">
              <a:lnSpc>
                <a:spcPts val="1780"/>
              </a:lnSpc>
              <a:spcBef>
                <a:spcPts val="244"/>
              </a:spcBef>
              <a:spcAft>
                <a:spcPts val="0"/>
              </a:spcAft>
            </a:pP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đăng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ký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lịch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hẹn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với</a:t>
            </a:r>
            <a:r>
              <a:rPr dirty="0" sz="1350" spc="15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hệ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điều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hành.</a:t>
            </a:r>
          </a:p>
          <a:p>
            <a:pPr marL="0" marR="0">
              <a:lnSpc>
                <a:spcPts val="1780"/>
              </a:lnSpc>
              <a:spcBef>
                <a:spcPts val="244"/>
              </a:spcBef>
              <a:spcAft>
                <a:spcPts val="0"/>
              </a:spcAft>
            </a:pP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Thông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báo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hiển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thị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ngay</a:t>
            </a:r>
            <a:r>
              <a:rPr dirty="0" sz="1350" spc="14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cả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khi</a:t>
            </a:r>
          </a:p>
          <a:p>
            <a:pPr marL="0" marR="0">
              <a:lnSpc>
                <a:spcPts val="1780"/>
              </a:lnSpc>
              <a:spcBef>
                <a:spcPts val="294"/>
              </a:spcBef>
              <a:spcAft>
                <a:spcPts val="0"/>
              </a:spcAft>
            </a:pP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ứng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dụng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chạy</a:t>
            </a:r>
            <a:r>
              <a:rPr dirty="0" sz="1350" spc="14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ngầm.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381499" y="5411521"/>
            <a:ext cx="2573210" cy="7785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spc="-20" b="1">
                <a:solidFill>
                  <a:srgbClr val="3c4043"/>
                </a:solidFill>
                <a:latin typeface="ATIKMU+Roboto Bold"/>
                <a:cs typeface="ATIKMU+Roboto Bold"/>
              </a:rPr>
              <a:t>(Toggle)</a:t>
            </a:r>
            <a:r>
              <a:rPr dirty="0" sz="1350" spc="18" b="1">
                <a:solidFill>
                  <a:srgbClr val="3c4043"/>
                </a:solidFill>
                <a:latin typeface="ATIKMU+Roboto Bold"/>
                <a:cs typeface="ATIKMU+Roboto Bold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hoặc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xóa</a:t>
            </a:r>
            <a:r>
              <a:rPr dirty="0" sz="1350" spc="18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lời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nhắc.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Hệ</a:t>
            </a:r>
          </a:p>
          <a:p>
            <a:pPr marL="0" marR="0">
              <a:lnSpc>
                <a:spcPts val="1780"/>
              </a:lnSpc>
              <a:spcBef>
                <a:spcPts val="244"/>
              </a:spcBef>
              <a:spcAft>
                <a:spcPts val="0"/>
              </a:spcAft>
            </a:pP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thống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tự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động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cập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nhật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lại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hàng</a:t>
            </a:r>
          </a:p>
          <a:p>
            <a:pPr marL="0" marR="0">
              <a:lnSpc>
                <a:spcPts val="1780"/>
              </a:lnSpc>
              <a:spcBef>
                <a:spcPts val="244"/>
              </a:spcBef>
              <a:spcAft>
                <a:spcPts val="0"/>
              </a:spcAft>
            </a:pP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đợi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thông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báo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trong</a:t>
            </a:r>
            <a:r>
              <a:rPr dirty="0" sz="1350" spc="14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hệ</a:t>
            </a:r>
            <a:r>
              <a:rPr dirty="0" sz="1350" spc="11">
                <a:solidFill>
                  <a:srgbClr val="3c4043"/>
                </a:solidFill>
                <a:latin typeface="KJWCDD+Roboto"/>
                <a:cs typeface="KJWCDD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KJWCDD+Roboto"/>
                <a:cs typeface="KJWCDD+Roboto"/>
              </a:rPr>
              <a:t>thống.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793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1999" y="571295"/>
            <a:ext cx="7805894" cy="4850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19"/>
              </a:lnSpc>
              <a:spcBef>
                <a:spcPts val="0"/>
              </a:spcBef>
              <a:spcAft>
                <a:spcPts val="0"/>
              </a:spcAft>
            </a:pP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Bảo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mật</a:t>
            </a:r>
            <a:r>
              <a:rPr dirty="0" sz="3150" spc="-116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API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Key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trong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ứng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dụng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Flutter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74927" y="1873113"/>
            <a:ext cx="4479372" cy="3360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100" b="1">
                <a:solidFill>
                  <a:srgbClr val="444746"/>
                </a:solidFill>
                <a:latin typeface="Arial"/>
                <a:cs typeface="Arial"/>
              </a:rPr>
              <a:t>Giải</a:t>
            </a:r>
            <a:r>
              <a:rPr dirty="0" sz="210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444746"/>
                </a:solidFill>
                <a:latin typeface="Arial"/>
                <a:cs typeface="Arial"/>
              </a:rPr>
              <a:t>pháp</a:t>
            </a:r>
            <a:r>
              <a:rPr dirty="0" sz="210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444746"/>
                </a:solidFill>
                <a:latin typeface="Arial"/>
                <a:cs typeface="Arial"/>
              </a:rPr>
              <a:t>1:</a:t>
            </a:r>
            <a:r>
              <a:rPr dirty="0" sz="210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444746"/>
                </a:solidFill>
                <a:latin typeface="Arial"/>
                <a:cs typeface="Arial"/>
              </a:rPr>
              <a:t>Sử</a:t>
            </a:r>
            <a:r>
              <a:rPr dirty="0" sz="210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444746"/>
                </a:solidFill>
                <a:latin typeface="Arial"/>
                <a:cs typeface="Arial"/>
              </a:rPr>
              <a:t>dụng</a:t>
            </a:r>
            <a:r>
              <a:rPr dirty="0" sz="210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444746"/>
                </a:solidFill>
                <a:latin typeface="Arial"/>
                <a:cs typeface="Arial"/>
              </a:rPr>
              <a:t>--dart-define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57274" y="1920738"/>
            <a:ext cx="2123479" cy="3360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100" b="1">
                <a:solidFill>
                  <a:srgbClr val="444746"/>
                </a:solidFill>
                <a:latin typeface="Arial"/>
                <a:cs typeface="Arial"/>
              </a:rPr>
              <a:t>Vấn</a:t>
            </a:r>
            <a:r>
              <a:rPr dirty="0" sz="210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444746"/>
                </a:solidFill>
                <a:latin typeface="Arial"/>
                <a:cs typeface="Arial"/>
              </a:rPr>
              <a:t>đề</a:t>
            </a:r>
            <a:r>
              <a:rPr dirty="0" sz="210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444746"/>
                </a:solidFill>
                <a:latin typeface="Arial"/>
                <a:cs typeface="Arial"/>
              </a:rPr>
              <a:t>bảo</a:t>
            </a:r>
            <a:r>
              <a:rPr dirty="0" sz="210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444746"/>
                </a:solidFill>
                <a:latin typeface="Arial"/>
                <a:cs typeface="Arial"/>
              </a:rPr>
              <a:t>mật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74927" y="2399797"/>
            <a:ext cx="5730440" cy="6287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650" spc="-14">
                <a:solidFill>
                  <a:srgbClr val="3c4043"/>
                </a:solidFill>
                <a:latin typeface="TTOOAQ+Roboto"/>
                <a:cs typeface="TTOOAQ+Roboto"/>
              </a:rPr>
              <a:t>Truyền</a:t>
            </a:r>
            <a:r>
              <a:rPr dirty="0" sz="1650" spc="28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tham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số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cấu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hình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trực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tiếp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từ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dòng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lệnh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khi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thực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hiện</a:t>
            </a:r>
          </a:p>
          <a:p>
            <a:pPr marL="0" marR="0">
              <a:lnSpc>
                <a:spcPts val="2176"/>
              </a:lnSpc>
              <a:spcBef>
                <a:spcPts val="298"/>
              </a:spcBef>
              <a:spcAft>
                <a:spcPts val="0"/>
              </a:spcAft>
            </a:pP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lệnh</a:t>
            </a:r>
            <a:r>
              <a:rPr dirty="0" sz="1650" spc="15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DejaVu Sans Mono"/>
                <a:cs typeface="DejaVu Sans Mono"/>
              </a:rPr>
              <a:t>flutter</a:t>
            </a:r>
            <a:r>
              <a:rPr dirty="0" sz="1650">
                <a:solidFill>
                  <a:srgbClr val="3c4043"/>
                </a:solidFill>
                <a:latin typeface="DejaVu Sans Mono"/>
                <a:cs typeface="DejaVu Sans Mono"/>
              </a:rPr>
              <a:t> </a:t>
            </a:r>
            <a:r>
              <a:rPr dirty="0" sz="1650">
                <a:solidFill>
                  <a:srgbClr val="3c4043"/>
                </a:solidFill>
                <a:latin typeface="DejaVu Sans Mono"/>
                <a:cs typeface="DejaVu Sans Mono"/>
              </a:rPr>
              <a:t>run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hoặc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DejaVu Sans Mono"/>
                <a:cs typeface="DejaVu Sans Mono"/>
              </a:rPr>
              <a:t>build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95399" y="2428372"/>
            <a:ext cx="3035591" cy="94311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650" b="1">
                <a:solidFill>
                  <a:srgbClr val="3c4043"/>
                </a:solidFill>
                <a:latin typeface="OUVFCU+Roboto Bold"/>
                <a:cs typeface="OUVFCU+Roboto Bold"/>
              </a:rPr>
              <a:t>Rủi</a:t>
            </a:r>
            <a:r>
              <a:rPr dirty="0" sz="1650" b="1">
                <a:solidFill>
                  <a:srgbClr val="3c4043"/>
                </a:solidFill>
                <a:latin typeface="OUVFCU+Roboto Bold"/>
                <a:cs typeface="OUVFCU+Roboto Bold"/>
              </a:rPr>
              <a:t> </a:t>
            </a:r>
            <a:r>
              <a:rPr dirty="0" sz="1650" spc="-15" b="1">
                <a:solidFill>
                  <a:srgbClr val="3c4043"/>
                </a:solidFill>
                <a:latin typeface="OUVFCU+Roboto Bold"/>
                <a:cs typeface="OUVFCU+Roboto Bold"/>
              </a:rPr>
              <a:t>ro:</a:t>
            </a:r>
            <a:r>
              <a:rPr dirty="0" sz="1650" spc="14" b="1">
                <a:solidFill>
                  <a:srgbClr val="3c4043"/>
                </a:solidFill>
                <a:latin typeface="OUVFCU+Roboto Bold"/>
                <a:cs typeface="OUVFCU+Roboto Bold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API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 spc="-15">
                <a:solidFill>
                  <a:srgbClr val="3c4043"/>
                </a:solidFill>
                <a:latin typeface="TTOOAQ+Roboto"/>
                <a:cs typeface="TTOOAQ+Roboto"/>
              </a:rPr>
              <a:t>Key</a:t>
            </a:r>
            <a:r>
              <a:rPr dirty="0" sz="1650" spc="30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bị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lộ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khi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đẩy</a:t>
            </a:r>
            <a:r>
              <a:rPr dirty="0" sz="1650" spc="20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mã</a:t>
            </a:r>
          </a:p>
          <a:p>
            <a:pPr marL="0" marR="0">
              <a:lnSpc>
                <a:spcPts val="2176"/>
              </a:lnSpc>
              <a:spcBef>
                <a:spcPts val="298"/>
              </a:spcBef>
              <a:spcAft>
                <a:spcPts val="0"/>
              </a:spcAft>
            </a:pP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nguồn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lên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các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nền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tảng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như</a:t>
            </a:r>
          </a:p>
          <a:p>
            <a:pPr marL="0" marR="0">
              <a:lnSpc>
                <a:spcPts val="2176"/>
              </a:lnSpc>
              <a:spcBef>
                <a:spcPts val="248"/>
              </a:spcBef>
              <a:spcAft>
                <a:spcPts val="0"/>
              </a:spcAft>
            </a:pP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GitHub/GitLab.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95399" y="3514222"/>
            <a:ext cx="3183302" cy="12574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650" b="1">
                <a:solidFill>
                  <a:srgbClr val="3c4043"/>
                </a:solidFill>
                <a:latin typeface="OUVFCU+Roboto Bold"/>
                <a:cs typeface="OUVFCU+Roboto Bold"/>
              </a:rPr>
              <a:t>Hệ</a:t>
            </a:r>
            <a:r>
              <a:rPr dirty="0" sz="1650" b="1">
                <a:solidFill>
                  <a:srgbClr val="3c4043"/>
                </a:solidFill>
                <a:latin typeface="OUVFCU+Roboto Bold"/>
                <a:cs typeface="OUVFCU+Roboto Bold"/>
              </a:rPr>
              <a:t> </a:t>
            </a:r>
            <a:r>
              <a:rPr dirty="0" sz="1650" b="1">
                <a:solidFill>
                  <a:srgbClr val="3c4043"/>
                </a:solidFill>
                <a:latin typeface="OUVFCU+Roboto Bold"/>
                <a:cs typeface="OUVFCU+Roboto Bold"/>
              </a:rPr>
              <a:t>quả:</a:t>
            </a:r>
            <a:r>
              <a:rPr dirty="0" sz="1650" b="1">
                <a:solidFill>
                  <a:srgbClr val="3c4043"/>
                </a:solidFill>
                <a:latin typeface="OUVFCU+Roboto Bold"/>
                <a:cs typeface="OUVFCU+Roboto Bold"/>
              </a:rPr>
              <a:t> </a:t>
            </a:r>
            <a:r>
              <a:rPr dirty="0" sz="1650" spc="-20">
                <a:solidFill>
                  <a:srgbClr val="3c4043"/>
                </a:solidFill>
                <a:latin typeface="TTOOAQ+Roboto"/>
                <a:cs typeface="TTOOAQ+Roboto"/>
              </a:rPr>
              <a:t>Kẻ</a:t>
            </a:r>
            <a:r>
              <a:rPr dirty="0" sz="1650" spc="35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xấu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có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thể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lợi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dụng</a:t>
            </a:r>
          </a:p>
          <a:p>
            <a:pPr marL="0" marR="0">
              <a:lnSpc>
                <a:spcPts val="2176"/>
              </a:lnSpc>
              <a:spcBef>
                <a:spcPts val="298"/>
              </a:spcBef>
              <a:spcAft>
                <a:spcPts val="0"/>
              </a:spcAft>
            </a:pPr>
            <a:r>
              <a:rPr dirty="0" sz="1650" spc="-15">
                <a:solidFill>
                  <a:srgbClr val="3c4043"/>
                </a:solidFill>
                <a:latin typeface="TTOOAQ+Roboto"/>
                <a:cs typeface="TTOOAQ+Roboto"/>
              </a:rPr>
              <a:t>Key</a:t>
            </a:r>
            <a:r>
              <a:rPr dirty="0" sz="1650" spc="30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để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truy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cập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dịch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vụ,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gây</a:t>
            </a:r>
            <a:r>
              <a:rPr dirty="0" sz="1650" spc="20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phát</a:t>
            </a:r>
          </a:p>
          <a:p>
            <a:pPr marL="0" marR="0">
              <a:lnSpc>
                <a:spcPts val="2176"/>
              </a:lnSpc>
              <a:spcBef>
                <a:spcPts val="248"/>
              </a:spcBef>
              <a:spcAft>
                <a:spcPts val="0"/>
              </a:spcAft>
            </a:pP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sinh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chi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phí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hoặc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vi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phạm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hạn</a:t>
            </a:r>
          </a:p>
          <a:p>
            <a:pPr marL="0" marR="0">
              <a:lnSpc>
                <a:spcPts val="2176"/>
              </a:lnSpc>
              <a:spcBef>
                <a:spcPts val="298"/>
              </a:spcBef>
              <a:spcAft>
                <a:spcPts val="0"/>
              </a:spcAft>
            </a:pP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mức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sử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dụng.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374927" y="4035288"/>
            <a:ext cx="4731748" cy="3360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100" b="1">
                <a:solidFill>
                  <a:srgbClr val="444746"/>
                </a:solidFill>
                <a:latin typeface="Arial"/>
                <a:cs typeface="Arial"/>
              </a:rPr>
              <a:t>Giải</a:t>
            </a:r>
            <a:r>
              <a:rPr dirty="0" sz="210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444746"/>
                </a:solidFill>
                <a:latin typeface="Arial"/>
                <a:cs typeface="Arial"/>
              </a:rPr>
              <a:t>pháp</a:t>
            </a:r>
            <a:r>
              <a:rPr dirty="0" sz="210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444746"/>
                </a:solidFill>
                <a:latin typeface="Arial"/>
                <a:cs typeface="Arial"/>
              </a:rPr>
              <a:t>2:</a:t>
            </a:r>
            <a:r>
              <a:rPr dirty="0" sz="210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444746"/>
                </a:solidFill>
                <a:latin typeface="Arial"/>
                <a:cs typeface="Arial"/>
              </a:rPr>
              <a:t>Thư</a:t>
            </a:r>
            <a:r>
              <a:rPr dirty="0" sz="210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444746"/>
                </a:solidFill>
                <a:latin typeface="Arial"/>
                <a:cs typeface="Arial"/>
              </a:rPr>
              <a:t>viện</a:t>
            </a:r>
            <a:r>
              <a:rPr dirty="0" sz="210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444746"/>
                </a:solidFill>
                <a:latin typeface="Arial"/>
                <a:cs typeface="Arial"/>
              </a:rPr>
              <a:t>flutter_dotenv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374927" y="4561972"/>
            <a:ext cx="5674629" cy="314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Sử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dụng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tệp</a:t>
            </a:r>
            <a:r>
              <a:rPr dirty="0" sz="1650" spc="15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 b="1">
                <a:solidFill>
                  <a:srgbClr val="1a73e8"/>
                </a:solidFill>
                <a:latin typeface="OUVFCU+Roboto Bold"/>
                <a:cs typeface="OUVFCU+Roboto Bold"/>
              </a:rPr>
              <a:t>.env</a:t>
            </a:r>
            <a:r>
              <a:rPr dirty="0" sz="1650" b="1">
                <a:solidFill>
                  <a:srgbClr val="1a73e8"/>
                </a:solidFill>
                <a:latin typeface="OUVFCU+Roboto Bold"/>
                <a:cs typeface="OUVFCU+Roboto Bold"/>
              </a:rPr>
              <a:t> </a:t>
            </a:r>
            <a:r>
              <a:rPr dirty="0" sz="1650" spc="-11">
                <a:solidFill>
                  <a:srgbClr val="3c4043"/>
                </a:solidFill>
                <a:latin typeface="TTOOAQ+Roboto"/>
                <a:cs typeface="TTOOAQ+Roboto"/>
              </a:rPr>
              <a:t>và</a:t>
            </a:r>
            <a:r>
              <a:rPr dirty="0" sz="1650" spc="26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thêm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vào</a:t>
            </a:r>
            <a:r>
              <a:rPr dirty="0" sz="1650" spc="20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DejaVu Sans Mono"/>
                <a:cs typeface="DejaVu Sans Mono"/>
              </a:rPr>
              <a:t>.gitignore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để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quản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lý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biến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374927" y="4876297"/>
            <a:ext cx="1236268" cy="314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môi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trường.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295399" y="4914397"/>
            <a:ext cx="3226584" cy="94311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650" b="1">
                <a:solidFill>
                  <a:srgbClr val="3c4043"/>
                </a:solidFill>
                <a:latin typeface="OUVFCU+Roboto Bold"/>
                <a:cs typeface="OUVFCU+Roboto Bold"/>
              </a:rPr>
              <a:t>Nguyên</a:t>
            </a:r>
            <a:r>
              <a:rPr dirty="0" sz="1650" b="1">
                <a:solidFill>
                  <a:srgbClr val="3c4043"/>
                </a:solidFill>
                <a:latin typeface="OUVFCU+Roboto Bold"/>
                <a:cs typeface="OUVFCU+Roboto Bold"/>
              </a:rPr>
              <a:t> </a:t>
            </a:r>
            <a:r>
              <a:rPr dirty="0" sz="1650" b="1">
                <a:solidFill>
                  <a:srgbClr val="3c4043"/>
                </a:solidFill>
                <a:latin typeface="OUVFCU+Roboto Bold"/>
                <a:cs typeface="OUVFCU+Roboto Bold"/>
              </a:rPr>
              <a:t>tắc:</a:t>
            </a:r>
            <a:r>
              <a:rPr dirty="0" sz="1650" spc="-33" b="1">
                <a:solidFill>
                  <a:srgbClr val="3c4043"/>
                </a:solidFill>
                <a:latin typeface="OUVFCU+Roboto Bold"/>
                <a:cs typeface="OUVFCU+Roboto Bold"/>
              </a:rPr>
              <a:t> </a:t>
            </a:r>
            <a:r>
              <a:rPr dirty="0" sz="1650" spc="-21">
                <a:solidFill>
                  <a:srgbClr val="3c4043"/>
                </a:solidFill>
                <a:latin typeface="TTOOAQ+Roboto"/>
                <a:cs typeface="TTOOAQ+Roboto"/>
              </a:rPr>
              <a:t>Tuyệt</a:t>
            </a:r>
            <a:r>
              <a:rPr dirty="0" sz="1650" spc="36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đối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không</a:t>
            </a:r>
          </a:p>
          <a:p>
            <a:pPr marL="0" marR="0">
              <a:lnSpc>
                <a:spcPts val="2176"/>
              </a:lnSpc>
              <a:spcBef>
                <a:spcPts val="298"/>
              </a:spcBef>
              <a:spcAft>
                <a:spcPts val="0"/>
              </a:spcAft>
            </a:pP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hard-code</a:t>
            </a:r>
            <a:r>
              <a:rPr dirty="0" sz="1650" spc="16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API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 spc="-15">
                <a:solidFill>
                  <a:srgbClr val="3c4043"/>
                </a:solidFill>
                <a:latin typeface="TTOOAQ+Roboto"/>
                <a:cs typeface="TTOOAQ+Roboto"/>
              </a:rPr>
              <a:t>Key</a:t>
            </a:r>
            <a:r>
              <a:rPr dirty="0" sz="1650" spc="30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trực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tiếp</a:t>
            </a:r>
            <a:r>
              <a:rPr dirty="0" sz="1650" spc="14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trong</a:t>
            </a:r>
          </a:p>
          <a:p>
            <a:pPr marL="0" marR="0">
              <a:lnSpc>
                <a:spcPts val="2176"/>
              </a:lnSpc>
              <a:spcBef>
                <a:spcPts val="248"/>
              </a:spcBef>
              <a:spcAft>
                <a:spcPts val="0"/>
              </a:spcAft>
            </a:pP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tệp</a:t>
            </a:r>
            <a:r>
              <a:rPr dirty="0" sz="1650" spc="15">
                <a:solidFill>
                  <a:srgbClr val="3c4043"/>
                </a:solidFill>
                <a:latin typeface="TTOOAQ+Roboto"/>
                <a:cs typeface="TTOOAQ+Roboto"/>
              </a:rPr>
              <a:t> </a:t>
            </a:r>
            <a:r>
              <a:rPr dirty="0" sz="1650">
                <a:solidFill>
                  <a:srgbClr val="3c4043"/>
                </a:solidFill>
                <a:latin typeface="DejaVu Sans Mono"/>
                <a:cs typeface="DejaVu Sans Mono"/>
              </a:rPr>
              <a:t>main.dart</a:t>
            </a:r>
            <a:r>
              <a:rPr dirty="0" sz="1650">
                <a:solidFill>
                  <a:srgbClr val="3c4043"/>
                </a:solidFill>
                <a:latin typeface="TTOOAQ+Roboto"/>
                <a:cs typeface="TTOOAQ+Roboto"/>
              </a:rPr>
              <a:t>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565427" y="5534164"/>
            <a:ext cx="5400116" cy="9562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29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808080"/>
                </a:solidFill>
                <a:latin typeface="Courier New"/>
                <a:cs typeface="Courier New"/>
              </a:rPr>
              <a:t>//</a:t>
            </a:r>
            <a:r>
              <a:rPr dirty="0" sz="135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808080"/>
                </a:solidFill>
                <a:latin typeface="Courier New"/>
                <a:cs typeface="Courier New"/>
              </a:rPr>
              <a:t>Tải</a:t>
            </a:r>
            <a:r>
              <a:rPr dirty="0" sz="135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808080"/>
                </a:solidFill>
                <a:latin typeface="Courier New"/>
                <a:cs typeface="Courier New"/>
              </a:rPr>
              <a:t>file</a:t>
            </a:r>
            <a:r>
              <a:rPr dirty="0" sz="135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808080"/>
                </a:solidFill>
                <a:latin typeface="Courier New"/>
                <a:cs typeface="Courier New"/>
              </a:rPr>
              <a:t>.env</a:t>
            </a:r>
            <a:r>
              <a:rPr dirty="0" sz="135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808080"/>
                </a:solidFill>
                <a:latin typeface="Courier New"/>
                <a:cs typeface="Courier New"/>
              </a:rPr>
              <a:t>trong</a:t>
            </a:r>
            <a:r>
              <a:rPr dirty="0" sz="135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808080"/>
                </a:solidFill>
                <a:latin typeface="Courier New"/>
                <a:cs typeface="Courier New"/>
              </a:rPr>
              <a:t>hàm</a:t>
            </a:r>
            <a:r>
              <a:rPr dirty="0" sz="135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808080"/>
                </a:solidFill>
                <a:latin typeface="Courier New"/>
                <a:cs typeface="Courier New"/>
              </a:rPr>
              <a:t>main()</a:t>
            </a:r>
            <a:r>
              <a:rPr dirty="0" sz="135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8ab4f8"/>
                </a:solidFill>
                <a:latin typeface="Courier New"/>
                <a:cs typeface="Courier New"/>
              </a:rPr>
              <a:t>await</a:t>
            </a:r>
          </a:p>
          <a:p>
            <a:pPr marL="0" marR="0">
              <a:lnSpc>
                <a:spcPts val="1529"/>
              </a:lnSpc>
              <a:spcBef>
                <a:spcPts val="470"/>
              </a:spcBef>
              <a:spcAft>
                <a:spcPts val="0"/>
              </a:spcAft>
            </a:pPr>
            <a:r>
              <a:rPr dirty="0" sz="1350">
                <a:solidFill>
                  <a:srgbClr val="e8eaed"/>
                </a:solidFill>
                <a:latin typeface="Courier New"/>
                <a:cs typeface="Courier New"/>
              </a:rPr>
              <a:t>dotenv.</a:t>
            </a:r>
            <a:r>
              <a:rPr dirty="0" sz="1350">
                <a:solidFill>
                  <a:srgbClr val="8ab4f8"/>
                </a:solidFill>
                <a:latin typeface="Courier New"/>
                <a:cs typeface="Courier New"/>
              </a:rPr>
              <a:t>load</a:t>
            </a:r>
            <a:r>
              <a:rPr dirty="0" sz="1350">
                <a:solidFill>
                  <a:srgbClr val="e8eaed"/>
                </a:solidFill>
                <a:latin typeface="Courier New"/>
                <a:cs typeface="Courier New"/>
              </a:rPr>
              <a:t>(fileName:</a:t>
            </a:r>
            <a:r>
              <a:rPr dirty="0" sz="1350">
                <a:solidFill>
                  <a:srgbClr val="e8eaed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ce9178"/>
                </a:solidFill>
                <a:latin typeface="Courier New"/>
                <a:cs typeface="Courier New"/>
              </a:rPr>
              <a:t>".env"</a:t>
            </a:r>
            <a:r>
              <a:rPr dirty="0" sz="1350">
                <a:solidFill>
                  <a:srgbClr val="e8eaed"/>
                </a:solidFill>
                <a:latin typeface="Courier New"/>
                <a:cs typeface="Courier New"/>
              </a:rPr>
              <a:t>);</a:t>
            </a:r>
            <a:r>
              <a:rPr dirty="0" sz="1350">
                <a:solidFill>
                  <a:srgbClr val="e8eaed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808080"/>
                </a:solidFill>
                <a:latin typeface="Courier New"/>
                <a:cs typeface="Courier New"/>
              </a:rPr>
              <a:t>//</a:t>
            </a:r>
            <a:r>
              <a:rPr dirty="0" sz="135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808080"/>
                </a:solidFill>
                <a:latin typeface="Courier New"/>
                <a:cs typeface="Courier New"/>
              </a:rPr>
              <a:t>Sử</a:t>
            </a:r>
            <a:r>
              <a:rPr dirty="0" sz="135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808080"/>
                </a:solidFill>
                <a:latin typeface="Courier New"/>
                <a:cs typeface="Courier New"/>
              </a:rPr>
              <a:t>dụng</a:t>
            </a:r>
            <a:r>
              <a:rPr dirty="0" sz="135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808080"/>
                </a:solidFill>
                <a:latin typeface="Courier New"/>
                <a:cs typeface="Courier New"/>
              </a:rPr>
              <a:t>API</a:t>
            </a:r>
            <a:r>
              <a:rPr dirty="0" sz="135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808080"/>
                </a:solidFill>
                <a:latin typeface="Courier New"/>
                <a:cs typeface="Courier New"/>
              </a:rPr>
              <a:t>Key</a:t>
            </a:r>
          </a:p>
          <a:p>
            <a:pPr marL="0" marR="0">
              <a:lnSpc>
                <a:spcPts val="1529"/>
              </a:lnSpc>
              <a:spcBef>
                <a:spcPts val="395"/>
              </a:spcBef>
              <a:spcAft>
                <a:spcPts val="0"/>
              </a:spcAft>
            </a:pPr>
            <a:r>
              <a:rPr dirty="0" sz="1350">
                <a:solidFill>
                  <a:srgbClr val="808080"/>
                </a:solidFill>
                <a:latin typeface="Courier New"/>
                <a:cs typeface="Courier New"/>
              </a:rPr>
              <a:t>trong</a:t>
            </a:r>
            <a:r>
              <a:rPr dirty="0" sz="135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808080"/>
                </a:solidFill>
                <a:latin typeface="Courier New"/>
                <a:cs typeface="Courier New"/>
              </a:rPr>
              <a:t>code</a:t>
            </a:r>
            <a:r>
              <a:rPr dirty="0" sz="135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8ab4f8"/>
                </a:solidFill>
                <a:latin typeface="Courier New"/>
                <a:cs typeface="Courier New"/>
              </a:rPr>
              <a:t>String</a:t>
            </a:r>
            <a:r>
              <a:rPr dirty="0" sz="1350">
                <a:solidFill>
                  <a:srgbClr val="8ab4f8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e8eaed"/>
                </a:solidFill>
                <a:latin typeface="Courier New"/>
                <a:cs typeface="Courier New"/>
              </a:rPr>
              <a:t>apiKey</a:t>
            </a:r>
            <a:r>
              <a:rPr dirty="0" sz="1350">
                <a:solidFill>
                  <a:srgbClr val="e8eaed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e8eaed"/>
                </a:solidFill>
                <a:latin typeface="Courier New"/>
                <a:cs typeface="Courier New"/>
              </a:rPr>
              <a:t>=</a:t>
            </a:r>
            <a:r>
              <a:rPr dirty="0" sz="1350">
                <a:solidFill>
                  <a:srgbClr val="e8eaed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e8eaed"/>
                </a:solidFill>
                <a:latin typeface="Courier New"/>
                <a:cs typeface="Courier New"/>
              </a:rPr>
              <a:t>dotenv.</a:t>
            </a:r>
            <a:r>
              <a:rPr dirty="0" sz="1350">
                <a:solidFill>
                  <a:srgbClr val="8ab4f8"/>
                </a:solidFill>
                <a:latin typeface="Courier New"/>
                <a:cs typeface="Courier New"/>
              </a:rPr>
              <a:t>env</a:t>
            </a:r>
            <a:r>
              <a:rPr dirty="0" sz="1350">
                <a:solidFill>
                  <a:srgbClr val="e8eaed"/>
                </a:solidFill>
                <a:latin typeface="Courier New"/>
                <a:cs typeface="Courier New"/>
              </a:rPr>
              <a:t>[</a:t>
            </a:r>
            <a:r>
              <a:rPr dirty="0" sz="1350">
                <a:solidFill>
                  <a:srgbClr val="ce9178"/>
                </a:solidFill>
                <a:latin typeface="Courier New"/>
                <a:cs typeface="Courier New"/>
              </a:rPr>
              <a:t>'API_KEY'</a:t>
            </a:r>
            <a:r>
              <a:rPr dirty="0" sz="1350">
                <a:solidFill>
                  <a:srgbClr val="e8eaed"/>
                </a:solidFill>
                <a:latin typeface="Courier New"/>
                <a:cs typeface="Courier New"/>
              </a:rPr>
              <a:t>]</a:t>
            </a:r>
            <a:r>
              <a:rPr dirty="0" sz="1350">
                <a:solidFill>
                  <a:srgbClr val="e8eaed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e8eaed"/>
                </a:solidFill>
                <a:latin typeface="Courier New"/>
                <a:cs typeface="Courier New"/>
              </a:rPr>
              <a:t>??</a:t>
            </a:r>
          </a:p>
          <a:p>
            <a:pPr marL="0" marR="0">
              <a:lnSpc>
                <a:spcPts val="1529"/>
              </a:lnSpc>
              <a:spcBef>
                <a:spcPts val="345"/>
              </a:spcBef>
              <a:spcAft>
                <a:spcPts val="0"/>
              </a:spcAft>
            </a:pPr>
            <a:r>
              <a:rPr dirty="0" sz="1350">
                <a:solidFill>
                  <a:srgbClr val="ce9178"/>
                </a:solidFill>
                <a:latin typeface="Courier New"/>
                <a:cs typeface="Courier New"/>
              </a:rPr>
              <a:t>''</a:t>
            </a:r>
            <a:r>
              <a:rPr dirty="0" sz="1350">
                <a:solidFill>
                  <a:srgbClr val="e8eaed"/>
                </a:solidFill>
                <a:latin typeface="Courier New"/>
                <a:cs typeface="Courier New"/>
              </a:rPr>
              <a:t>;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61999" y="6403943"/>
            <a:ext cx="4179074" cy="2139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84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i="1">
                <a:solidFill>
                  <a:srgbClr val="70757a"/>
                </a:solidFill>
                <a:latin typeface="NDKMHG+Roboto Italic"/>
                <a:cs typeface="NDKMHG+Roboto Italic"/>
              </a:rPr>
              <a:t>©</a:t>
            </a:r>
            <a:r>
              <a:rPr dirty="0" sz="1050" i="1">
                <a:solidFill>
                  <a:srgbClr val="70757a"/>
                </a:solidFill>
                <a:latin typeface="NDKMHG+Roboto Italic"/>
                <a:cs typeface="NDKMHG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NDKMHG+Roboto Italic"/>
                <a:cs typeface="NDKMHG+Roboto Italic"/>
              </a:rPr>
              <a:t>2026</a:t>
            </a:r>
            <a:r>
              <a:rPr dirty="0" sz="1050" i="1">
                <a:solidFill>
                  <a:srgbClr val="70757a"/>
                </a:solidFill>
                <a:latin typeface="NDKMHG+Roboto Italic"/>
                <a:cs typeface="NDKMHG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NDKMHG+Roboto Italic"/>
                <a:cs typeface="NDKMHG+Roboto Italic"/>
              </a:rPr>
              <a:t>Dự</a:t>
            </a:r>
            <a:r>
              <a:rPr dirty="0" sz="1050" i="1">
                <a:solidFill>
                  <a:srgbClr val="70757a"/>
                </a:solidFill>
                <a:latin typeface="NDKMHG+Roboto Italic"/>
                <a:cs typeface="NDKMHG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NDKMHG+Roboto Italic"/>
                <a:cs typeface="NDKMHG+Roboto Italic"/>
              </a:rPr>
              <a:t>báo</a:t>
            </a:r>
            <a:r>
              <a:rPr dirty="0" sz="1050" i="1">
                <a:solidFill>
                  <a:srgbClr val="70757a"/>
                </a:solidFill>
                <a:latin typeface="NDKMHG+Roboto Italic"/>
                <a:cs typeface="NDKMHG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NDKMHG+Roboto Italic"/>
                <a:cs typeface="NDKMHG+Roboto Italic"/>
              </a:rPr>
              <a:t>thời</a:t>
            </a:r>
            <a:r>
              <a:rPr dirty="0" sz="1050" i="1">
                <a:solidFill>
                  <a:srgbClr val="70757a"/>
                </a:solidFill>
                <a:latin typeface="NDKMHG+Roboto Italic"/>
                <a:cs typeface="NDKMHG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NDKMHG+Roboto Italic"/>
                <a:cs typeface="NDKMHG+Roboto Italic"/>
              </a:rPr>
              <a:t>tiết</a:t>
            </a:r>
            <a:r>
              <a:rPr dirty="0" sz="1050" i="1">
                <a:solidFill>
                  <a:srgbClr val="70757a"/>
                </a:solidFill>
                <a:latin typeface="NDKMHG+Roboto Italic"/>
                <a:cs typeface="NDKMHG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NDKMHG+Roboto Italic"/>
                <a:cs typeface="NDKMHG+Roboto Italic"/>
              </a:rPr>
              <a:t>Flutter</a:t>
            </a:r>
            <a:r>
              <a:rPr dirty="0" sz="1050" i="1">
                <a:solidFill>
                  <a:srgbClr val="70757a"/>
                </a:solidFill>
                <a:latin typeface="NDKMHG+Roboto Italic"/>
                <a:cs typeface="NDKMHG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NDKMHG+Roboto Italic"/>
                <a:cs typeface="NDKMHG+Roboto Italic"/>
              </a:rPr>
              <a:t>-</a:t>
            </a:r>
            <a:r>
              <a:rPr dirty="0" sz="1050" i="1">
                <a:solidFill>
                  <a:srgbClr val="70757a"/>
                </a:solidFill>
                <a:latin typeface="NDKMHG+Roboto Italic"/>
                <a:cs typeface="NDKMHG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NDKMHG+Roboto Italic"/>
                <a:cs typeface="NDKMHG+Roboto Italic"/>
              </a:rPr>
              <a:t>Giải</a:t>
            </a:r>
            <a:r>
              <a:rPr dirty="0" sz="1050" i="1">
                <a:solidFill>
                  <a:srgbClr val="70757a"/>
                </a:solidFill>
                <a:latin typeface="NDKMHG+Roboto Italic"/>
                <a:cs typeface="NDKMHG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NDKMHG+Roboto Italic"/>
                <a:cs typeface="NDKMHG+Roboto Italic"/>
              </a:rPr>
              <a:t>pháp</a:t>
            </a:r>
            <a:r>
              <a:rPr dirty="0" sz="1050" i="1">
                <a:solidFill>
                  <a:srgbClr val="70757a"/>
                </a:solidFill>
                <a:latin typeface="NDKMHG+Roboto Italic"/>
                <a:cs typeface="NDKMHG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NDKMHG+Roboto Italic"/>
                <a:cs typeface="NDKMHG+Roboto Italic"/>
              </a:rPr>
              <a:t>bảo</a:t>
            </a:r>
            <a:r>
              <a:rPr dirty="0" sz="1050" i="1">
                <a:solidFill>
                  <a:srgbClr val="70757a"/>
                </a:solidFill>
                <a:latin typeface="NDKMHG+Roboto Italic"/>
                <a:cs typeface="NDKMHG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NDKMHG+Roboto Italic"/>
                <a:cs typeface="NDKMHG+Roboto Italic"/>
              </a:rPr>
              <a:t>mật</a:t>
            </a:r>
            <a:r>
              <a:rPr dirty="0" sz="1050" i="1">
                <a:solidFill>
                  <a:srgbClr val="70757a"/>
                </a:solidFill>
                <a:latin typeface="NDKMHG+Roboto Italic"/>
                <a:cs typeface="NDKMHG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NDKMHG+Roboto Italic"/>
                <a:cs typeface="NDKMHG+Roboto Italic"/>
              </a:rPr>
              <a:t>và</a:t>
            </a:r>
            <a:r>
              <a:rPr dirty="0" sz="1050" spc="17" i="1">
                <a:solidFill>
                  <a:srgbClr val="70757a"/>
                </a:solidFill>
                <a:latin typeface="NDKMHG+Roboto Italic"/>
                <a:cs typeface="NDKMHG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NDKMHG+Roboto Italic"/>
                <a:cs typeface="NDKMHG+Roboto Italic"/>
              </a:rPr>
              <a:t>quản</a:t>
            </a:r>
            <a:r>
              <a:rPr dirty="0" sz="1050" i="1">
                <a:solidFill>
                  <a:srgbClr val="70757a"/>
                </a:solidFill>
                <a:latin typeface="NDKMHG+Roboto Italic"/>
                <a:cs typeface="NDKMHG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NDKMHG+Roboto Italic"/>
                <a:cs typeface="NDKMHG+Roboto Italic"/>
              </a:rPr>
              <a:t>lý</a:t>
            </a:r>
            <a:r>
              <a:rPr dirty="0" sz="1050" i="1">
                <a:solidFill>
                  <a:srgbClr val="70757a"/>
                </a:solidFill>
                <a:latin typeface="NDKMHG+Roboto Italic"/>
                <a:cs typeface="NDKMHG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NDKMHG+Roboto Italic"/>
                <a:cs typeface="NDKMHG+Roboto Italic"/>
              </a:rPr>
              <a:t>cấu</a:t>
            </a:r>
            <a:r>
              <a:rPr dirty="0" sz="1050" i="1">
                <a:solidFill>
                  <a:srgbClr val="70757a"/>
                </a:solidFill>
                <a:latin typeface="NDKMHG+Roboto Italic"/>
                <a:cs typeface="NDKMHG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NDKMHG+Roboto Italic"/>
                <a:cs typeface="NDKMHG+Roboto Italic"/>
              </a:rPr>
              <a:t>hình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793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1999" y="571295"/>
            <a:ext cx="2241397" cy="4850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19"/>
              </a:lnSpc>
              <a:spcBef>
                <a:spcPts val="0"/>
              </a:spcBef>
              <a:spcAft>
                <a:spcPts val="0"/>
              </a:spcAft>
            </a:pPr>
            <a:r>
              <a:rPr dirty="0" sz="3150" spc="75" b="1">
                <a:solidFill>
                  <a:srgbClr val="1a73e8"/>
                </a:solidFill>
                <a:latin typeface="Arial"/>
                <a:cs typeface="Arial"/>
              </a:rPr>
              <a:t>KẾT</a:t>
            </a:r>
            <a:r>
              <a:rPr dirty="0" sz="3150" spc="75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150" spc="75" b="1">
                <a:solidFill>
                  <a:srgbClr val="1a73e8"/>
                </a:solidFill>
                <a:latin typeface="Arial"/>
                <a:cs typeface="Arial"/>
              </a:rPr>
              <a:t>LUẬN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19224" y="1552073"/>
            <a:ext cx="2210348" cy="314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650" b="1">
                <a:solidFill>
                  <a:srgbClr val="1a73e8"/>
                </a:solidFill>
                <a:latin typeface="RJQFDR+Roboto Bold"/>
                <a:cs typeface="RJQFDR+Roboto Bold"/>
              </a:rPr>
              <a:t>Hoàn</a:t>
            </a:r>
            <a:r>
              <a:rPr dirty="0" sz="1650" b="1">
                <a:solidFill>
                  <a:srgbClr val="1a73e8"/>
                </a:solidFill>
                <a:latin typeface="RJQFDR+Roboto Bold"/>
                <a:cs typeface="RJQFDR+Roboto Bold"/>
              </a:rPr>
              <a:t> </a:t>
            </a:r>
            <a:r>
              <a:rPr dirty="0" sz="1650" b="1">
                <a:solidFill>
                  <a:srgbClr val="1a73e8"/>
                </a:solidFill>
                <a:latin typeface="RJQFDR+Roboto Bold"/>
                <a:cs typeface="RJQFDR+Roboto Bold"/>
              </a:rPr>
              <a:t>thiện</a:t>
            </a:r>
            <a:r>
              <a:rPr dirty="0" sz="1650" b="1">
                <a:solidFill>
                  <a:srgbClr val="1a73e8"/>
                </a:solidFill>
                <a:latin typeface="RJQFDR+Roboto Bold"/>
                <a:cs typeface="RJQFDR+Roboto Bold"/>
              </a:rPr>
              <a:t> </a:t>
            </a:r>
            <a:r>
              <a:rPr dirty="0" sz="1650" b="1">
                <a:solidFill>
                  <a:srgbClr val="1a73e8"/>
                </a:solidFill>
                <a:latin typeface="RJQFDR+Roboto Bold"/>
                <a:cs typeface="RJQFDR+Roboto Bold"/>
              </a:rPr>
              <a:t>chức</a:t>
            </a:r>
            <a:r>
              <a:rPr dirty="0" sz="1650" b="1">
                <a:solidFill>
                  <a:srgbClr val="1a73e8"/>
                </a:solidFill>
                <a:latin typeface="RJQFDR+Roboto Bold"/>
                <a:cs typeface="RJQFDR+Roboto Bold"/>
              </a:rPr>
              <a:t> </a:t>
            </a:r>
            <a:r>
              <a:rPr dirty="0" sz="1650" b="1">
                <a:solidFill>
                  <a:srgbClr val="1a73e8"/>
                </a:solidFill>
                <a:latin typeface="RJQFDR+Roboto Bold"/>
                <a:cs typeface="RJQFDR+Roboto Bold"/>
              </a:rPr>
              <a:t>năng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19224" y="1906321"/>
            <a:ext cx="5577351" cy="52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Đã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triển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khai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thành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công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các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tính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năng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cốt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lõi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 spc="-10">
                <a:solidFill>
                  <a:srgbClr val="3c4043"/>
                </a:solidFill>
                <a:latin typeface="PQMTEM+Roboto"/>
                <a:cs typeface="PQMTEM+Roboto"/>
              </a:rPr>
              <a:t>và</a:t>
            </a:r>
            <a:r>
              <a:rPr dirty="0" sz="1350" spc="2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tối</a:t>
            </a:r>
            <a:r>
              <a:rPr dirty="0" sz="1350" spc="18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ưu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hóa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khả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năng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sử</a:t>
            </a:r>
          </a:p>
          <a:p>
            <a:pPr marL="0" marR="0">
              <a:lnSpc>
                <a:spcPts val="1780"/>
              </a:lnSpc>
              <a:spcBef>
                <a:spcPts val="244"/>
              </a:spcBef>
              <a:spcAft>
                <a:spcPts val="0"/>
              </a:spcAft>
            </a:pP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dụng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ngoại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tuyến</a:t>
            </a:r>
            <a:r>
              <a:rPr dirty="0" sz="1350" spc="13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(oﬄine).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19224" y="2914148"/>
            <a:ext cx="1921808" cy="314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650" b="1">
                <a:solidFill>
                  <a:srgbClr val="1a73e8"/>
                </a:solidFill>
                <a:latin typeface="RJQFDR+Roboto Bold"/>
                <a:cs typeface="RJQFDR+Roboto Bold"/>
              </a:rPr>
              <a:t>Kiến</a:t>
            </a:r>
            <a:r>
              <a:rPr dirty="0" sz="1650" b="1">
                <a:solidFill>
                  <a:srgbClr val="1a73e8"/>
                </a:solidFill>
                <a:latin typeface="RJQFDR+Roboto Bold"/>
                <a:cs typeface="RJQFDR+Roboto Bold"/>
              </a:rPr>
              <a:t> </a:t>
            </a:r>
            <a:r>
              <a:rPr dirty="0" sz="1650" b="1">
                <a:solidFill>
                  <a:srgbClr val="1a73e8"/>
                </a:solidFill>
                <a:latin typeface="RJQFDR+Roboto Bold"/>
                <a:cs typeface="RJQFDR+Roboto Bold"/>
              </a:rPr>
              <a:t>trúc</a:t>
            </a:r>
            <a:r>
              <a:rPr dirty="0" sz="1650" b="1">
                <a:solidFill>
                  <a:srgbClr val="1a73e8"/>
                </a:solidFill>
                <a:latin typeface="RJQFDR+Roboto Bold"/>
                <a:cs typeface="RJQFDR+Roboto Bold"/>
              </a:rPr>
              <a:t> </a:t>
            </a:r>
            <a:r>
              <a:rPr dirty="0" sz="1650" b="1">
                <a:solidFill>
                  <a:srgbClr val="1a73e8"/>
                </a:solidFill>
                <a:latin typeface="RJQFDR+Roboto Bold"/>
                <a:cs typeface="RJQFDR+Roboto Bold"/>
              </a:rPr>
              <a:t>bền</a:t>
            </a:r>
            <a:r>
              <a:rPr dirty="0" sz="1650" b="1">
                <a:solidFill>
                  <a:srgbClr val="1a73e8"/>
                </a:solidFill>
                <a:latin typeface="RJQFDR+Roboto Bold"/>
                <a:cs typeface="RJQFDR+Roboto Bold"/>
              </a:rPr>
              <a:t> </a:t>
            </a:r>
            <a:r>
              <a:rPr dirty="0" sz="1650" b="1">
                <a:solidFill>
                  <a:srgbClr val="1a73e8"/>
                </a:solidFill>
                <a:latin typeface="RJQFDR+Roboto Bold"/>
                <a:cs typeface="RJQFDR+Roboto Bold"/>
              </a:rPr>
              <a:t>vững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19224" y="3268396"/>
            <a:ext cx="5715148" cy="52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Sử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dụng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mô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hình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MVC/MVVM</a:t>
            </a:r>
            <a:r>
              <a:rPr dirty="0" sz="1350" spc="12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giúp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mã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nguồn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luôn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sạch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sẽ,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minh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bạch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 spc="-10">
                <a:solidFill>
                  <a:srgbClr val="3c4043"/>
                </a:solidFill>
                <a:latin typeface="PQMTEM+Roboto"/>
                <a:cs typeface="PQMTEM+Roboto"/>
              </a:rPr>
              <a:t>và</a:t>
            </a:r>
          </a:p>
          <a:p>
            <a:pPr marL="0" marR="0">
              <a:lnSpc>
                <a:spcPts val="1780"/>
              </a:lnSpc>
              <a:spcBef>
                <a:spcPts val="244"/>
              </a:spcBef>
              <a:spcAft>
                <a:spcPts val="0"/>
              </a:spcAft>
            </a:pP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dễ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dàng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bảo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trì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trong</a:t>
            </a:r>
            <a:r>
              <a:rPr dirty="0" sz="1350" spc="14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dài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hạn.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19224" y="4276223"/>
            <a:ext cx="1476207" cy="314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650" b="1">
                <a:solidFill>
                  <a:srgbClr val="1a73e8"/>
                </a:solidFill>
                <a:latin typeface="RJQFDR+Roboto Bold"/>
                <a:cs typeface="RJQFDR+Roboto Bold"/>
              </a:rPr>
              <a:t>Độ</a:t>
            </a:r>
            <a:r>
              <a:rPr dirty="0" sz="1650" b="1">
                <a:solidFill>
                  <a:srgbClr val="1a73e8"/>
                </a:solidFill>
                <a:latin typeface="RJQFDR+Roboto Bold"/>
                <a:cs typeface="RJQFDR+Roboto Bold"/>
              </a:rPr>
              <a:t> </a:t>
            </a:r>
            <a:r>
              <a:rPr dirty="0" sz="1650" b="1">
                <a:solidFill>
                  <a:srgbClr val="1a73e8"/>
                </a:solidFill>
                <a:latin typeface="RJQFDR+Roboto Bold"/>
                <a:cs typeface="RJQFDR+Roboto Bold"/>
              </a:rPr>
              <a:t>tin</a:t>
            </a:r>
            <a:r>
              <a:rPr dirty="0" sz="1650" b="1">
                <a:solidFill>
                  <a:srgbClr val="1a73e8"/>
                </a:solidFill>
                <a:latin typeface="RJQFDR+Roboto Bold"/>
                <a:cs typeface="RJQFDR+Roboto Bold"/>
              </a:rPr>
              <a:t> </a:t>
            </a:r>
            <a:r>
              <a:rPr dirty="0" sz="1650" b="1">
                <a:solidFill>
                  <a:srgbClr val="1a73e8"/>
                </a:solidFill>
                <a:latin typeface="RJQFDR+Roboto Bold"/>
                <a:cs typeface="RJQFDR+Roboto Bold"/>
              </a:rPr>
              <a:t>cậy</a:t>
            </a:r>
            <a:r>
              <a:rPr dirty="0" sz="1650" b="1">
                <a:solidFill>
                  <a:srgbClr val="1a73e8"/>
                </a:solidFill>
                <a:latin typeface="RJQFDR+Roboto Bold"/>
                <a:cs typeface="RJQFDR+Roboto Bold"/>
              </a:rPr>
              <a:t> </a:t>
            </a:r>
            <a:r>
              <a:rPr dirty="0" sz="1650" b="1">
                <a:solidFill>
                  <a:srgbClr val="1a73e8"/>
                </a:solidFill>
                <a:latin typeface="RJQFDR+Roboto Bold"/>
                <a:cs typeface="RJQFDR+Roboto Bold"/>
              </a:rPr>
              <a:t>cao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19224" y="4630471"/>
            <a:ext cx="5647756" cy="52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Cơ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chế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xử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lý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lỗi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linh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hoạt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(gracefully</a:t>
            </a:r>
            <a:r>
              <a:rPr dirty="0" sz="1350" spc="14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fallback)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đảm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bảo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trải</a:t>
            </a:r>
            <a:r>
              <a:rPr dirty="0" sz="1350" spc="20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nghiệm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người</a:t>
            </a:r>
          </a:p>
          <a:p>
            <a:pPr marL="0" marR="0">
              <a:lnSpc>
                <a:spcPts val="1780"/>
              </a:lnSpc>
              <a:spcBef>
                <a:spcPts val="244"/>
              </a:spcBef>
              <a:spcAft>
                <a:spcPts val="0"/>
              </a:spcAft>
            </a:pP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dùng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không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bị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gián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đoạn.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419224" y="5638298"/>
            <a:ext cx="1870239" cy="314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650" b="1">
                <a:solidFill>
                  <a:srgbClr val="1a73e8"/>
                </a:solidFill>
                <a:latin typeface="RJQFDR+Roboto Bold"/>
                <a:cs typeface="RJQFDR+Roboto Bold"/>
              </a:rPr>
              <a:t>Khả</a:t>
            </a:r>
            <a:r>
              <a:rPr dirty="0" sz="1650" b="1">
                <a:solidFill>
                  <a:srgbClr val="1a73e8"/>
                </a:solidFill>
                <a:latin typeface="RJQFDR+Roboto Bold"/>
                <a:cs typeface="RJQFDR+Roboto Bold"/>
              </a:rPr>
              <a:t> </a:t>
            </a:r>
            <a:r>
              <a:rPr dirty="0" sz="1650" b="1">
                <a:solidFill>
                  <a:srgbClr val="1a73e8"/>
                </a:solidFill>
                <a:latin typeface="RJQFDR+Roboto Bold"/>
                <a:cs typeface="RJQFDR+Roboto Bold"/>
              </a:rPr>
              <a:t>năng</a:t>
            </a:r>
            <a:r>
              <a:rPr dirty="0" sz="1650" b="1">
                <a:solidFill>
                  <a:srgbClr val="1a73e8"/>
                </a:solidFill>
                <a:latin typeface="RJQFDR+Roboto Bold"/>
                <a:cs typeface="RJQFDR+Roboto Bold"/>
              </a:rPr>
              <a:t> </a:t>
            </a:r>
            <a:r>
              <a:rPr dirty="0" sz="1650" b="1">
                <a:solidFill>
                  <a:srgbClr val="1a73e8"/>
                </a:solidFill>
                <a:latin typeface="RJQFDR+Roboto Bold"/>
                <a:cs typeface="RJQFDR+Roboto Bold"/>
              </a:rPr>
              <a:t>mở</a:t>
            </a:r>
            <a:r>
              <a:rPr dirty="0" sz="1650" b="1">
                <a:solidFill>
                  <a:srgbClr val="1a73e8"/>
                </a:solidFill>
                <a:latin typeface="RJQFDR+Roboto Bold"/>
                <a:cs typeface="RJQFDR+Roboto Bold"/>
              </a:rPr>
              <a:t> </a:t>
            </a:r>
            <a:r>
              <a:rPr dirty="0" sz="1650" spc="-10" b="1">
                <a:solidFill>
                  <a:srgbClr val="1a73e8"/>
                </a:solidFill>
                <a:latin typeface="RJQFDR+Roboto Bold"/>
                <a:cs typeface="RJQFDR+Roboto Bold"/>
              </a:rPr>
              <a:t>rộng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419224" y="5992546"/>
            <a:ext cx="5582625" cy="5213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80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Tính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module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hóa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cao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cho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phép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tích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hợp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thêm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các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API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thời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tiết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mới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hoặc</a:t>
            </a:r>
          </a:p>
          <a:p>
            <a:pPr marL="0" marR="0">
              <a:lnSpc>
                <a:spcPts val="1780"/>
              </a:lnSpc>
              <a:spcBef>
                <a:spcPts val="244"/>
              </a:spcBef>
              <a:spcAft>
                <a:spcPts val="0"/>
              </a:spcAft>
            </a:pP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tính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năng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bổ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trợ</a:t>
            </a:r>
            <a:r>
              <a:rPr dirty="0" sz="1350" spc="17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một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cách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nhanh</a:t>
            </a:r>
            <a:r>
              <a:rPr dirty="0" sz="1350" spc="11">
                <a:solidFill>
                  <a:srgbClr val="3c4043"/>
                </a:solidFill>
                <a:latin typeface="PQMTEM+Roboto"/>
                <a:cs typeface="PQMTEM+Roboto"/>
              </a:rPr>
              <a:t> </a:t>
            </a:r>
            <a:r>
              <a:rPr dirty="0" sz="1350">
                <a:solidFill>
                  <a:srgbClr val="3c4043"/>
                </a:solidFill>
                <a:latin typeface="PQMTEM+Roboto"/>
                <a:cs typeface="PQMTEM+Roboto"/>
              </a:rPr>
              <a:t>chóng.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61999" y="6403943"/>
            <a:ext cx="3555103" cy="2139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84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i="1">
                <a:solidFill>
                  <a:srgbClr val="70757a"/>
                </a:solidFill>
                <a:latin typeface="VFJBER+Roboto Italic"/>
                <a:cs typeface="VFJBER+Roboto Italic"/>
              </a:rPr>
              <a:t>©</a:t>
            </a:r>
            <a:r>
              <a:rPr dirty="0" sz="1050" i="1">
                <a:solidFill>
                  <a:srgbClr val="70757a"/>
                </a:solidFill>
                <a:latin typeface="VFJBER+Roboto Italic"/>
                <a:cs typeface="VFJBER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VFJBER+Roboto Italic"/>
                <a:cs typeface="VFJBER+Roboto Italic"/>
              </a:rPr>
              <a:t>2026</a:t>
            </a:r>
            <a:r>
              <a:rPr dirty="0" sz="1050" i="1">
                <a:solidFill>
                  <a:srgbClr val="70757a"/>
                </a:solidFill>
                <a:latin typeface="VFJBER+Roboto Italic"/>
                <a:cs typeface="VFJBER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VFJBER+Roboto Italic"/>
                <a:cs typeface="VFJBER+Roboto Italic"/>
              </a:rPr>
              <a:t>Dự</a:t>
            </a:r>
            <a:r>
              <a:rPr dirty="0" sz="1050" i="1">
                <a:solidFill>
                  <a:srgbClr val="70757a"/>
                </a:solidFill>
                <a:latin typeface="VFJBER+Roboto Italic"/>
                <a:cs typeface="VFJBER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VFJBER+Roboto Italic"/>
                <a:cs typeface="VFJBER+Roboto Italic"/>
              </a:rPr>
              <a:t>án</a:t>
            </a:r>
            <a:r>
              <a:rPr dirty="0" sz="1050" i="1">
                <a:solidFill>
                  <a:srgbClr val="70757a"/>
                </a:solidFill>
                <a:latin typeface="VFJBER+Roboto Italic"/>
                <a:cs typeface="VFJBER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VFJBER+Roboto Italic"/>
                <a:cs typeface="VFJBER+Roboto Italic"/>
              </a:rPr>
              <a:t>Flutter</a:t>
            </a:r>
            <a:r>
              <a:rPr dirty="0" sz="1050" i="1">
                <a:solidFill>
                  <a:srgbClr val="70757a"/>
                </a:solidFill>
                <a:latin typeface="VFJBER+Roboto Italic"/>
                <a:cs typeface="VFJBER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VFJBER+Roboto Italic"/>
                <a:cs typeface="VFJBER+Roboto Italic"/>
              </a:rPr>
              <a:t>Weather</a:t>
            </a:r>
            <a:r>
              <a:rPr dirty="0" sz="1050" spc="12" i="1">
                <a:solidFill>
                  <a:srgbClr val="70757a"/>
                </a:solidFill>
                <a:latin typeface="VFJBER+Roboto Italic"/>
                <a:cs typeface="VFJBER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VFJBER+Roboto Italic"/>
                <a:cs typeface="VFJBER+Roboto Italic"/>
              </a:rPr>
              <a:t>App</a:t>
            </a:r>
            <a:r>
              <a:rPr dirty="0" sz="1050" i="1">
                <a:solidFill>
                  <a:srgbClr val="70757a"/>
                </a:solidFill>
                <a:latin typeface="VFJBER+Roboto Italic"/>
                <a:cs typeface="VFJBER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VFJBER+Roboto Italic"/>
                <a:cs typeface="VFJBER+Roboto Italic"/>
              </a:rPr>
              <a:t>-</a:t>
            </a:r>
            <a:r>
              <a:rPr dirty="0" sz="1050" i="1">
                <a:solidFill>
                  <a:srgbClr val="70757a"/>
                </a:solidFill>
                <a:latin typeface="VFJBER+Roboto Italic"/>
                <a:cs typeface="VFJBER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VFJBER+Roboto Italic"/>
                <a:cs typeface="VFJBER+Roboto Italic"/>
              </a:rPr>
              <a:t>Báo</a:t>
            </a:r>
            <a:r>
              <a:rPr dirty="0" sz="1050" i="1">
                <a:solidFill>
                  <a:srgbClr val="70757a"/>
                </a:solidFill>
                <a:latin typeface="VFJBER+Roboto Italic"/>
                <a:cs typeface="VFJBER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VFJBER+Roboto Italic"/>
                <a:cs typeface="VFJBER+Roboto Italic"/>
              </a:rPr>
              <a:t>cáo</a:t>
            </a:r>
            <a:r>
              <a:rPr dirty="0" sz="1050" i="1">
                <a:solidFill>
                  <a:srgbClr val="70757a"/>
                </a:solidFill>
                <a:latin typeface="VFJBER+Roboto Italic"/>
                <a:cs typeface="VFJBER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VFJBER+Roboto Italic"/>
                <a:cs typeface="VFJBER+Roboto Italic"/>
              </a:rPr>
              <a:t>tổng</a:t>
            </a:r>
            <a:r>
              <a:rPr dirty="0" sz="1050" spc="12" i="1">
                <a:solidFill>
                  <a:srgbClr val="70757a"/>
                </a:solidFill>
                <a:latin typeface="VFJBER+Roboto Italic"/>
                <a:cs typeface="VFJBER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VFJBER+Roboto Italic"/>
                <a:cs typeface="VFJBER+Roboto Italic"/>
              </a:rPr>
              <a:t>kết</a:t>
            </a:r>
            <a:r>
              <a:rPr dirty="0" sz="1050" spc="14" i="1">
                <a:solidFill>
                  <a:srgbClr val="70757a"/>
                </a:solidFill>
                <a:latin typeface="VFJBER+Roboto Italic"/>
                <a:cs typeface="VFJBER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VFJBER+Roboto Italic"/>
                <a:cs typeface="VFJBER+Roboto Italic"/>
              </a:rPr>
              <a:t>đồ</a:t>
            </a:r>
            <a:r>
              <a:rPr dirty="0" sz="1050" i="1">
                <a:solidFill>
                  <a:srgbClr val="70757a"/>
                </a:solidFill>
                <a:latin typeface="VFJBER+Roboto Italic"/>
                <a:cs typeface="VFJBER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VFJBER+Roboto Italic"/>
                <a:cs typeface="VFJBER+Roboto Italic"/>
              </a:rPr>
              <a:t>án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793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1999" y="571295"/>
            <a:ext cx="6434043" cy="4850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19"/>
              </a:lnSpc>
              <a:spcBef>
                <a:spcPts val="0"/>
              </a:spcBef>
              <a:spcAft>
                <a:spcPts val="0"/>
              </a:spcAft>
            </a:pP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Hướng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phát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triển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trong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tương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3150" b="1">
                <a:solidFill>
                  <a:srgbClr val="1a73e8"/>
                </a:solidFill>
                <a:latin typeface="Arial"/>
                <a:cs typeface="Arial"/>
              </a:rPr>
              <a:t>lai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23999" y="1699859"/>
            <a:ext cx="2668562" cy="3147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dirty="0" sz="1950" b="1">
                <a:solidFill>
                  <a:srgbClr val="444746"/>
                </a:solidFill>
                <a:latin typeface="Arial"/>
                <a:cs typeface="Arial"/>
              </a:rPr>
              <a:t>Widget</a:t>
            </a:r>
            <a:r>
              <a:rPr dirty="0" sz="195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444746"/>
                </a:solidFill>
                <a:latin typeface="Arial"/>
                <a:cs typeface="Arial"/>
              </a:rPr>
              <a:t>&amp;</a:t>
            </a:r>
            <a:r>
              <a:rPr dirty="0" sz="195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444746"/>
                </a:solidFill>
                <a:latin typeface="Arial"/>
                <a:cs typeface="Arial"/>
              </a:rPr>
              <a:t>Lockscreen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72299" y="1699859"/>
            <a:ext cx="2807986" cy="3147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dirty="0" sz="1950" b="1">
                <a:solidFill>
                  <a:srgbClr val="444746"/>
                </a:solidFill>
                <a:latin typeface="Arial"/>
                <a:cs typeface="Arial"/>
              </a:rPr>
              <a:t>Đồng</a:t>
            </a:r>
            <a:r>
              <a:rPr dirty="0" sz="195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444746"/>
                </a:solidFill>
                <a:latin typeface="Arial"/>
                <a:cs typeface="Arial"/>
              </a:rPr>
              <a:t>bộ</a:t>
            </a:r>
            <a:r>
              <a:rPr dirty="0" sz="195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444746"/>
                </a:solidFill>
                <a:latin typeface="Arial"/>
                <a:cs typeface="Arial"/>
              </a:rPr>
              <a:t>hóa</a:t>
            </a:r>
            <a:r>
              <a:rPr dirty="0" sz="195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444746"/>
                </a:solidFill>
                <a:latin typeface="Arial"/>
                <a:cs typeface="Arial"/>
              </a:rPr>
              <a:t>đám</a:t>
            </a:r>
            <a:r>
              <a:rPr dirty="0" sz="195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444746"/>
                </a:solidFill>
                <a:latin typeface="Arial"/>
                <a:cs typeface="Arial"/>
              </a:rPr>
              <a:t>mây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00124" y="2143990"/>
            <a:ext cx="4798809" cy="8197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9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 spc="14">
                <a:solidFill>
                  <a:srgbClr val="5f6368"/>
                </a:solidFill>
                <a:latin typeface="UKMCST+Roboto"/>
                <a:cs typeface="UKMCST+Roboto"/>
              </a:rPr>
              <a:t>Phát</a:t>
            </a:r>
            <a:r>
              <a:rPr dirty="0" sz="1400" spc="12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>
                <a:solidFill>
                  <a:srgbClr val="5f6368"/>
                </a:solidFill>
                <a:latin typeface="UKMCST+Roboto"/>
                <a:cs typeface="UKMCST+Roboto"/>
              </a:rPr>
              <a:t>triển</a:t>
            </a:r>
            <a:r>
              <a:rPr dirty="0" sz="1400" spc="23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2">
                <a:solidFill>
                  <a:srgbClr val="5f6368"/>
                </a:solidFill>
                <a:latin typeface="UKMCST+Roboto"/>
                <a:cs typeface="UKMCST+Roboto"/>
              </a:rPr>
              <a:t>các</a:t>
            </a:r>
            <a:r>
              <a:rPr dirty="0" sz="1400" spc="18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>
                <a:solidFill>
                  <a:srgbClr val="5f6368"/>
                </a:solidFill>
                <a:latin typeface="UKMCST+Roboto"/>
                <a:cs typeface="UKMCST+Roboto"/>
              </a:rPr>
              <a:t>tiện</a:t>
            </a:r>
            <a:r>
              <a:rPr dirty="0" sz="1400" spc="23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0">
                <a:solidFill>
                  <a:srgbClr val="5f6368"/>
                </a:solidFill>
                <a:latin typeface="UKMCST+Roboto"/>
                <a:cs typeface="UKMCST+Roboto"/>
              </a:rPr>
              <a:t>ích</a:t>
            </a:r>
            <a:r>
              <a:rPr dirty="0" sz="1400" spc="22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4">
                <a:solidFill>
                  <a:srgbClr val="5f6368"/>
                </a:solidFill>
                <a:latin typeface="UKMCST+Roboto"/>
                <a:cs typeface="UKMCST+Roboto"/>
              </a:rPr>
              <a:t>con</a:t>
            </a:r>
            <a:r>
              <a:rPr dirty="0" sz="1400" spc="18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4">
                <a:solidFill>
                  <a:srgbClr val="5f6368"/>
                </a:solidFill>
                <a:latin typeface="UKMCST+Roboto"/>
                <a:cs typeface="UKMCST+Roboto"/>
              </a:rPr>
              <a:t>(Widgets)</a:t>
            </a:r>
            <a:r>
              <a:rPr dirty="0" sz="1400" spc="13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5">
                <a:solidFill>
                  <a:srgbClr val="5f6368"/>
                </a:solidFill>
                <a:latin typeface="UKMCST+Roboto"/>
                <a:cs typeface="UKMCST+Roboto"/>
              </a:rPr>
              <a:t>đa</a:t>
            </a:r>
            <a:r>
              <a:rPr dirty="0" sz="1400" spc="17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0">
                <a:solidFill>
                  <a:srgbClr val="5f6368"/>
                </a:solidFill>
                <a:latin typeface="UKMCST+Roboto"/>
                <a:cs typeface="UKMCST+Roboto"/>
              </a:rPr>
              <a:t>kích</a:t>
            </a:r>
            <a:r>
              <a:rPr dirty="0" sz="1400" spc="21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2">
                <a:solidFill>
                  <a:srgbClr val="5f6368"/>
                </a:solidFill>
                <a:latin typeface="UKMCST+Roboto"/>
                <a:cs typeface="UKMCST+Roboto"/>
              </a:rPr>
              <a:t>thước</a:t>
            </a:r>
            <a:r>
              <a:rPr dirty="0" sz="1400" spc="18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>
                <a:solidFill>
                  <a:srgbClr val="5f6368"/>
                </a:solidFill>
                <a:latin typeface="UKMCST+Roboto"/>
                <a:cs typeface="UKMCST+Roboto"/>
              </a:rPr>
              <a:t>trên</a:t>
            </a:r>
          </a:p>
          <a:p>
            <a:pPr marL="0" marR="0">
              <a:lnSpc>
                <a:spcPts val="1879"/>
              </a:lnSpc>
              <a:spcBef>
                <a:spcPts val="295"/>
              </a:spcBef>
              <a:spcAft>
                <a:spcPts val="0"/>
              </a:spcAft>
            </a:pPr>
            <a:r>
              <a:rPr dirty="0" sz="1400" spc="18">
                <a:solidFill>
                  <a:srgbClr val="5f6368"/>
                </a:solidFill>
                <a:latin typeface="UKMCST+Roboto"/>
                <a:cs typeface="UKMCST+Roboto"/>
              </a:rPr>
              <a:t>màn</a:t>
            </a:r>
            <a:r>
              <a:rPr dirty="0" sz="1400" spc="14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0">
                <a:solidFill>
                  <a:srgbClr val="5f6368"/>
                </a:solidFill>
                <a:latin typeface="UKMCST+Roboto"/>
                <a:cs typeface="UKMCST+Roboto"/>
              </a:rPr>
              <a:t>hình</a:t>
            </a:r>
            <a:r>
              <a:rPr dirty="0" sz="1400" spc="21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1">
                <a:solidFill>
                  <a:srgbClr val="5f6368"/>
                </a:solidFill>
                <a:latin typeface="UKMCST+Roboto"/>
                <a:cs typeface="UKMCST+Roboto"/>
              </a:rPr>
              <a:t>chính</a:t>
            </a:r>
            <a:r>
              <a:rPr dirty="0" sz="1400" spc="20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>
                <a:solidFill>
                  <a:srgbClr val="5f6368"/>
                </a:solidFill>
                <a:latin typeface="UKMCST+Roboto"/>
                <a:cs typeface="UKMCST+Roboto"/>
              </a:rPr>
              <a:t>và</a:t>
            </a:r>
            <a:r>
              <a:rPr dirty="0" sz="1400" spc="30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4">
                <a:solidFill>
                  <a:srgbClr val="5f6368"/>
                </a:solidFill>
                <a:latin typeface="UKMCST+Roboto"/>
                <a:cs typeface="UKMCST+Roboto"/>
              </a:rPr>
              <a:t>hỗ</a:t>
            </a:r>
            <a:r>
              <a:rPr dirty="0" sz="1400" spc="19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>
                <a:solidFill>
                  <a:srgbClr val="5f6368"/>
                </a:solidFill>
                <a:latin typeface="UKMCST+Roboto"/>
                <a:cs typeface="UKMCST+Roboto"/>
              </a:rPr>
              <a:t>trợ</a:t>
            </a:r>
            <a:r>
              <a:rPr dirty="0" sz="1400" spc="31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2">
                <a:solidFill>
                  <a:srgbClr val="5f6368"/>
                </a:solidFill>
                <a:latin typeface="UKMCST+Roboto"/>
                <a:cs typeface="UKMCST+Roboto"/>
              </a:rPr>
              <a:t>thông</a:t>
            </a:r>
            <a:r>
              <a:rPr dirty="0" sz="1400" spc="20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4">
                <a:solidFill>
                  <a:srgbClr val="5f6368"/>
                </a:solidFill>
                <a:latin typeface="UKMCST+Roboto"/>
                <a:cs typeface="UKMCST+Roboto"/>
              </a:rPr>
              <a:t>báo</a:t>
            </a:r>
            <a:r>
              <a:rPr dirty="0" sz="1400" spc="19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>
                <a:solidFill>
                  <a:srgbClr val="5f6368"/>
                </a:solidFill>
                <a:latin typeface="UKMCST+Roboto"/>
                <a:cs typeface="UKMCST+Roboto"/>
              </a:rPr>
              <a:t>đẩy</a:t>
            </a:r>
            <a:r>
              <a:rPr dirty="0" sz="1400" spc="21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0">
                <a:solidFill>
                  <a:srgbClr val="5f6368"/>
                </a:solidFill>
                <a:latin typeface="UKMCST+Roboto"/>
                <a:cs typeface="UKMCST+Roboto"/>
              </a:rPr>
              <a:t>trực</a:t>
            </a:r>
            <a:r>
              <a:rPr dirty="0" sz="1400" spc="21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>
                <a:solidFill>
                  <a:srgbClr val="5f6368"/>
                </a:solidFill>
                <a:latin typeface="UKMCST+Roboto"/>
                <a:cs typeface="UKMCST+Roboto"/>
              </a:rPr>
              <a:t>tiếp</a:t>
            </a:r>
            <a:r>
              <a:rPr dirty="0" sz="1400" spc="23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>
                <a:solidFill>
                  <a:srgbClr val="5f6368"/>
                </a:solidFill>
                <a:latin typeface="UKMCST+Roboto"/>
                <a:cs typeface="UKMCST+Roboto"/>
              </a:rPr>
              <a:t>trên</a:t>
            </a:r>
            <a:r>
              <a:rPr dirty="0" sz="1400" spc="26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8">
                <a:solidFill>
                  <a:srgbClr val="5f6368"/>
                </a:solidFill>
                <a:latin typeface="UKMCST+Roboto"/>
                <a:cs typeface="UKMCST+Roboto"/>
              </a:rPr>
              <a:t>màn</a:t>
            </a:r>
          </a:p>
          <a:p>
            <a:pPr marL="0" marR="0">
              <a:lnSpc>
                <a:spcPts val="1879"/>
              </a:lnSpc>
              <a:spcBef>
                <a:spcPts val="220"/>
              </a:spcBef>
              <a:spcAft>
                <a:spcPts val="0"/>
              </a:spcAft>
            </a:pPr>
            <a:r>
              <a:rPr dirty="0" sz="1400" spc="10">
                <a:solidFill>
                  <a:srgbClr val="5f6368"/>
                </a:solidFill>
                <a:latin typeface="UKMCST+Roboto"/>
                <a:cs typeface="UKMCST+Roboto"/>
              </a:rPr>
              <a:t>hình</a:t>
            </a:r>
            <a:r>
              <a:rPr dirty="0" sz="1400" spc="21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4">
                <a:solidFill>
                  <a:srgbClr val="5f6368"/>
                </a:solidFill>
                <a:latin typeface="UKMCST+Roboto"/>
                <a:cs typeface="UKMCST+Roboto"/>
              </a:rPr>
              <a:t>khóa</a:t>
            </a:r>
            <a:r>
              <a:rPr dirty="0" sz="1400" spc="18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>
                <a:solidFill>
                  <a:srgbClr val="5f6368"/>
                </a:solidFill>
                <a:latin typeface="UKMCST+Roboto"/>
                <a:cs typeface="UKMCST+Roboto"/>
              </a:rPr>
              <a:t>(Live</a:t>
            </a:r>
            <a:r>
              <a:rPr dirty="0" sz="1400" spc="24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0">
                <a:solidFill>
                  <a:srgbClr val="5f6368"/>
                </a:solidFill>
                <a:latin typeface="UKMCST+Roboto"/>
                <a:cs typeface="UKMCST+Roboto"/>
              </a:rPr>
              <a:t>Activities).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48424" y="2143990"/>
            <a:ext cx="4801990" cy="8197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9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 spc="10">
                <a:solidFill>
                  <a:srgbClr val="5f6368"/>
                </a:solidFill>
                <a:latin typeface="UKMCST+Roboto"/>
                <a:cs typeface="UKMCST+Roboto"/>
              </a:rPr>
              <a:t>Tích</a:t>
            </a:r>
            <a:r>
              <a:rPr dirty="0" sz="1400" spc="21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4">
                <a:solidFill>
                  <a:srgbClr val="5f6368"/>
                </a:solidFill>
                <a:latin typeface="UKMCST+Roboto"/>
                <a:cs typeface="UKMCST+Roboto"/>
              </a:rPr>
              <a:t>hợp</a:t>
            </a:r>
            <a:r>
              <a:rPr dirty="0" sz="1400" spc="18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4">
                <a:solidFill>
                  <a:srgbClr val="5f6368"/>
                </a:solidFill>
                <a:latin typeface="UKMCST+Roboto"/>
                <a:cs typeface="UKMCST+Roboto"/>
              </a:rPr>
              <a:t>hệ</a:t>
            </a:r>
            <a:r>
              <a:rPr dirty="0" sz="1400" spc="18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2">
                <a:solidFill>
                  <a:srgbClr val="5f6368"/>
                </a:solidFill>
                <a:latin typeface="UKMCST+Roboto"/>
                <a:cs typeface="UKMCST+Roboto"/>
              </a:rPr>
              <a:t>thống</a:t>
            </a:r>
            <a:r>
              <a:rPr dirty="0" sz="1400" spc="20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1">
                <a:solidFill>
                  <a:srgbClr val="5f6368"/>
                </a:solidFill>
                <a:latin typeface="UKMCST+Roboto"/>
                <a:cs typeface="UKMCST+Roboto"/>
              </a:rPr>
              <a:t>Firebase/Supabase</a:t>
            </a:r>
            <a:r>
              <a:rPr dirty="0" sz="1400" spc="20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5">
                <a:solidFill>
                  <a:srgbClr val="5f6368"/>
                </a:solidFill>
                <a:latin typeface="UKMCST+Roboto"/>
                <a:cs typeface="UKMCST+Roboto"/>
              </a:rPr>
              <a:t>để</a:t>
            </a:r>
            <a:r>
              <a:rPr dirty="0" sz="1400" spc="17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4">
                <a:solidFill>
                  <a:srgbClr val="5f6368"/>
                </a:solidFill>
                <a:latin typeface="UKMCST+Roboto"/>
                <a:cs typeface="UKMCST+Roboto"/>
              </a:rPr>
              <a:t>đồng</a:t>
            </a:r>
            <a:r>
              <a:rPr dirty="0" sz="1400" spc="18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4">
                <a:solidFill>
                  <a:srgbClr val="5f6368"/>
                </a:solidFill>
                <a:latin typeface="UKMCST+Roboto"/>
                <a:cs typeface="UKMCST+Roboto"/>
              </a:rPr>
              <a:t>bộ</a:t>
            </a:r>
            <a:r>
              <a:rPr dirty="0" sz="1400" spc="18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4">
                <a:solidFill>
                  <a:srgbClr val="5f6368"/>
                </a:solidFill>
                <a:latin typeface="UKMCST+Roboto"/>
                <a:cs typeface="UKMCST+Roboto"/>
              </a:rPr>
              <a:t>hóa</a:t>
            </a:r>
            <a:r>
              <a:rPr dirty="0" sz="1400" spc="18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0">
                <a:solidFill>
                  <a:srgbClr val="5f6368"/>
                </a:solidFill>
                <a:latin typeface="UKMCST+Roboto"/>
                <a:cs typeface="UKMCST+Roboto"/>
              </a:rPr>
              <a:t>địa</a:t>
            </a:r>
          </a:p>
          <a:p>
            <a:pPr marL="0" marR="0">
              <a:lnSpc>
                <a:spcPts val="1879"/>
              </a:lnSpc>
              <a:spcBef>
                <a:spcPts val="295"/>
              </a:spcBef>
              <a:spcAft>
                <a:spcPts val="0"/>
              </a:spcAft>
            </a:pPr>
            <a:r>
              <a:rPr dirty="0" sz="1400" spc="10">
                <a:solidFill>
                  <a:srgbClr val="5f6368"/>
                </a:solidFill>
                <a:latin typeface="UKMCST+Roboto"/>
                <a:cs typeface="UKMCST+Roboto"/>
              </a:rPr>
              <a:t>điểm</a:t>
            </a:r>
            <a:r>
              <a:rPr dirty="0" sz="1400" spc="29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>
                <a:solidFill>
                  <a:srgbClr val="5f6368"/>
                </a:solidFill>
                <a:latin typeface="UKMCST+Roboto"/>
                <a:cs typeface="UKMCST+Roboto"/>
              </a:rPr>
              <a:t>yêu</a:t>
            </a:r>
            <a:r>
              <a:rPr dirty="0" sz="1400" spc="24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0">
                <a:solidFill>
                  <a:srgbClr val="5f6368"/>
                </a:solidFill>
                <a:latin typeface="UKMCST+Roboto"/>
                <a:cs typeface="UKMCST+Roboto"/>
              </a:rPr>
              <a:t>thích</a:t>
            </a:r>
            <a:r>
              <a:rPr dirty="0" sz="1400" spc="22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>
                <a:solidFill>
                  <a:srgbClr val="5f6368"/>
                </a:solidFill>
                <a:latin typeface="UKMCST+Roboto"/>
                <a:cs typeface="UKMCST+Roboto"/>
              </a:rPr>
              <a:t>và</a:t>
            </a:r>
            <a:r>
              <a:rPr dirty="0" sz="1400" spc="30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2">
                <a:solidFill>
                  <a:srgbClr val="5f6368"/>
                </a:solidFill>
                <a:latin typeface="UKMCST+Roboto"/>
                <a:cs typeface="UKMCST+Roboto"/>
              </a:rPr>
              <a:t>cài</a:t>
            </a:r>
            <a:r>
              <a:rPr dirty="0" sz="1400" spc="11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4">
                <a:solidFill>
                  <a:srgbClr val="5f6368"/>
                </a:solidFill>
                <a:latin typeface="UKMCST+Roboto"/>
                <a:cs typeface="UKMCST+Roboto"/>
              </a:rPr>
              <a:t>đặt</a:t>
            </a:r>
            <a:r>
              <a:rPr dirty="0" sz="1400" spc="12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4">
                <a:solidFill>
                  <a:srgbClr val="5f6368"/>
                </a:solidFill>
                <a:latin typeface="UKMCST+Roboto"/>
                <a:cs typeface="UKMCST+Roboto"/>
              </a:rPr>
              <a:t>người</a:t>
            </a:r>
            <a:r>
              <a:rPr dirty="0" sz="1400" spc="10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4">
                <a:solidFill>
                  <a:srgbClr val="5f6368"/>
                </a:solidFill>
                <a:latin typeface="UKMCST+Roboto"/>
                <a:cs typeface="UKMCST+Roboto"/>
              </a:rPr>
              <a:t>dùng</a:t>
            </a:r>
            <a:r>
              <a:rPr dirty="0" sz="1400" spc="18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>
                <a:solidFill>
                  <a:srgbClr val="5f6368"/>
                </a:solidFill>
                <a:latin typeface="UKMCST+Roboto"/>
                <a:cs typeface="UKMCST+Roboto"/>
              </a:rPr>
              <a:t>trên</a:t>
            </a:r>
            <a:r>
              <a:rPr dirty="0" sz="1400" spc="26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1">
                <a:solidFill>
                  <a:srgbClr val="5f6368"/>
                </a:solidFill>
                <a:latin typeface="UKMCST+Roboto"/>
                <a:cs typeface="UKMCST+Roboto"/>
              </a:rPr>
              <a:t>nhiều</a:t>
            </a:r>
            <a:r>
              <a:rPr dirty="0" sz="1400" spc="20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0">
                <a:solidFill>
                  <a:srgbClr val="5f6368"/>
                </a:solidFill>
                <a:latin typeface="UKMCST+Roboto"/>
                <a:cs typeface="UKMCST+Roboto"/>
              </a:rPr>
              <a:t>thiết</a:t>
            </a:r>
            <a:r>
              <a:rPr dirty="0" sz="1400" spc="16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4">
                <a:solidFill>
                  <a:srgbClr val="5f6368"/>
                </a:solidFill>
                <a:latin typeface="UKMCST+Roboto"/>
                <a:cs typeface="UKMCST+Roboto"/>
              </a:rPr>
              <a:t>bị</a:t>
            </a:r>
            <a:r>
              <a:rPr dirty="0" sz="1400" spc="10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4">
                <a:solidFill>
                  <a:srgbClr val="5f6368"/>
                </a:solidFill>
                <a:latin typeface="UKMCST+Roboto"/>
                <a:cs typeface="UKMCST+Roboto"/>
              </a:rPr>
              <a:t>di</a:t>
            </a:r>
          </a:p>
          <a:p>
            <a:pPr marL="0" marR="0">
              <a:lnSpc>
                <a:spcPts val="1879"/>
              </a:lnSpc>
              <a:spcBef>
                <a:spcPts val="220"/>
              </a:spcBef>
              <a:spcAft>
                <a:spcPts val="0"/>
              </a:spcAft>
            </a:pPr>
            <a:r>
              <a:rPr dirty="0" sz="1400" spc="14">
                <a:solidFill>
                  <a:srgbClr val="5f6368"/>
                </a:solidFill>
                <a:latin typeface="UKMCST+Roboto"/>
                <a:cs typeface="UKMCST+Roboto"/>
              </a:rPr>
              <a:t>động</a:t>
            </a:r>
            <a:r>
              <a:rPr dirty="0" sz="1400" spc="18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2">
                <a:solidFill>
                  <a:srgbClr val="5f6368"/>
                </a:solidFill>
                <a:latin typeface="UKMCST+Roboto"/>
                <a:cs typeface="UKMCST+Roboto"/>
              </a:rPr>
              <a:t>khác</a:t>
            </a:r>
            <a:r>
              <a:rPr dirty="0" sz="1400" spc="18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4">
                <a:solidFill>
                  <a:srgbClr val="5f6368"/>
                </a:solidFill>
                <a:latin typeface="UKMCST+Roboto"/>
                <a:cs typeface="UKMCST+Roboto"/>
              </a:rPr>
              <a:t>nhau.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523999" y="5205059"/>
            <a:ext cx="2873768" cy="3147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dirty="0" sz="1950" b="1">
                <a:solidFill>
                  <a:srgbClr val="444746"/>
                </a:solidFill>
                <a:latin typeface="Arial"/>
                <a:cs typeface="Arial"/>
              </a:rPr>
              <a:t>Mở</a:t>
            </a:r>
            <a:r>
              <a:rPr dirty="0" sz="195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444746"/>
                </a:solidFill>
                <a:latin typeface="Arial"/>
                <a:cs typeface="Arial"/>
              </a:rPr>
              <a:t>rộng</a:t>
            </a:r>
            <a:r>
              <a:rPr dirty="0" sz="195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444746"/>
                </a:solidFill>
                <a:latin typeface="Arial"/>
                <a:cs typeface="Arial"/>
              </a:rPr>
              <a:t>nguồn</a:t>
            </a:r>
            <a:r>
              <a:rPr dirty="0" sz="195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444746"/>
                </a:solidFill>
                <a:latin typeface="Arial"/>
                <a:cs typeface="Arial"/>
              </a:rPr>
              <a:t>dữ</a:t>
            </a:r>
            <a:r>
              <a:rPr dirty="0" sz="195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444746"/>
                </a:solidFill>
                <a:latin typeface="Arial"/>
                <a:cs typeface="Arial"/>
              </a:rPr>
              <a:t>liệu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972299" y="5205059"/>
            <a:ext cx="2584763" cy="3147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dirty="0" sz="1950" b="1">
                <a:solidFill>
                  <a:srgbClr val="444746"/>
                </a:solidFill>
                <a:latin typeface="Arial"/>
                <a:cs typeface="Arial"/>
              </a:rPr>
              <a:t>AI</a:t>
            </a:r>
            <a:r>
              <a:rPr dirty="0" sz="195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444746"/>
                </a:solidFill>
                <a:latin typeface="Arial"/>
                <a:cs typeface="Arial"/>
              </a:rPr>
              <a:t>&amp;</a:t>
            </a:r>
            <a:r>
              <a:rPr dirty="0" sz="195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1950" spc="-36" b="1">
                <a:solidFill>
                  <a:srgbClr val="444746"/>
                </a:solidFill>
                <a:latin typeface="Arial"/>
                <a:cs typeface="Arial"/>
              </a:rPr>
              <a:t>Trợ</a:t>
            </a:r>
            <a:r>
              <a:rPr dirty="0" sz="1950" spc="36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444746"/>
                </a:solidFill>
                <a:latin typeface="Arial"/>
                <a:cs typeface="Arial"/>
              </a:rPr>
              <a:t>lý</a:t>
            </a:r>
            <a:r>
              <a:rPr dirty="0" sz="195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444746"/>
                </a:solidFill>
                <a:latin typeface="Arial"/>
                <a:cs typeface="Arial"/>
              </a:rPr>
              <a:t>giọng</a:t>
            </a:r>
            <a:r>
              <a:rPr dirty="0" sz="1950" b="1">
                <a:solidFill>
                  <a:srgbClr val="444746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444746"/>
                </a:solidFill>
                <a:latin typeface="Arial"/>
                <a:cs typeface="Arial"/>
              </a:rPr>
              <a:t>nói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00124" y="5658715"/>
            <a:ext cx="4616066" cy="8197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9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5f6368"/>
                </a:solidFill>
                <a:latin typeface="UKMCST+Roboto"/>
                <a:cs typeface="UKMCST+Roboto"/>
              </a:rPr>
              <a:t>Kết</a:t>
            </a:r>
            <a:r>
              <a:rPr dirty="0" sz="1400" spc="21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4">
                <a:solidFill>
                  <a:srgbClr val="5f6368"/>
                </a:solidFill>
                <a:latin typeface="UKMCST+Roboto"/>
                <a:cs typeface="UKMCST+Roboto"/>
              </a:rPr>
              <a:t>nối</a:t>
            </a:r>
            <a:r>
              <a:rPr dirty="0" sz="1400" spc="10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1">
                <a:solidFill>
                  <a:srgbClr val="5f6368"/>
                </a:solidFill>
                <a:latin typeface="UKMCST+Roboto"/>
                <a:cs typeface="UKMCST+Roboto"/>
              </a:rPr>
              <a:t>thêm</a:t>
            </a:r>
            <a:r>
              <a:rPr dirty="0" sz="1400" spc="28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>
                <a:solidFill>
                  <a:srgbClr val="5f6368"/>
                </a:solidFill>
                <a:latin typeface="UKMCST+Roboto"/>
                <a:cs typeface="UKMCST+Roboto"/>
              </a:rPr>
              <a:t>với</a:t>
            </a:r>
            <a:r>
              <a:rPr dirty="0" sz="1400" spc="16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1">
                <a:solidFill>
                  <a:srgbClr val="5f6368"/>
                </a:solidFill>
                <a:latin typeface="UKMCST+Roboto"/>
                <a:cs typeface="UKMCST+Roboto"/>
              </a:rPr>
              <a:t>AccuWeather</a:t>
            </a:r>
            <a:r>
              <a:rPr dirty="0" sz="1400" spc="15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5">
                <a:solidFill>
                  <a:srgbClr val="5f6368"/>
                </a:solidFill>
                <a:latin typeface="UKMCST+Roboto"/>
                <a:cs typeface="UKMCST+Roboto"/>
              </a:rPr>
              <a:t>API</a:t>
            </a:r>
            <a:r>
              <a:rPr dirty="0" sz="1400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5">
                <a:solidFill>
                  <a:srgbClr val="5f6368"/>
                </a:solidFill>
                <a:latin typeface="UKMCST+Roboto"/>
                <a:cs typeface="UKMCST+Roboto"/>
              </a:rPr>
              <a:t>để</a:t>
            </a:r>
            <a:r>
              <a:rPr dirty="0" sz="1400" spc="17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1">
                <a:solidFill>
                  <a:srgbClr val="5f6368"/>
                </a:solidFill>
                <a:latin typeface="UKMCST+Roboto"/>
                <a:cs typeface="UKMCST+Roboto"/>
              </a:rPr>
              <a:t>tăng</a:t>
            </a:r>
            <a:r>
              <a:rPr dirty="0" sz="1400" spc="20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5">
                <a:solidFill>
                  <a:srgbClr val="5f6368"/>
                </a:solidFill>
                <a:latin typeface="UKMCST+Roboto"/>
                <a:cs typeface="UKMCST+Roboto"/>
              </a:rPr>
              <a:t>độ</a:t>
            </a:r>
            <a:r>
              <a:rPr dirty="0" sz="1400" spc="18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1">
                <a:solidFill>
                  <a:srgbClr val="5f6368"/>
                </a:solidFill>
                <a:latin typeface="UKMCST+Roboto"/>
                <a:cs typeface="UKMCST+Roboto"/>
              </a:rPr>
              <a:t>chính</a:t>
            </a:r>
            <a:r>
              <a:rPr dirty="0" sz="1400" spc="20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2">
                <a:solidFill>
                  <a:srgbClr val="5f6368"/>
                </a:solidFill>
                <a:latin typeface="UKMCST+Roboto"/>
                <a:cs typeface="UKMCST+Roboto"/>
              </a:rPr>
              <a:t>xác</a:t>
            </a:r>
          </a:p>
          <a:p>
            <a:pPr marL="0" marR="0">
              <a:lnSpc>
                <a:spcPts val="1879"/>
              </a:lnSpc>
              <a:spcBef>
                <a:spcPts val="220"/>
              </a:spcBef>
              <a:spcAft>
                <a:spcPts val="0"/>
              </a:spcAft>
            </a:pPr>
            <a:r>
              <a:rPr dirty="0" sz="1400" spc="12">
                <a:solidFill>
                  <a:srgbClr val="5f6368"/>
                </a:solidFill>
                <a:latin typeface="UKMCST+Roboto"/>
                <a:cs typeface="UKMCST+Roboto"/>
              </a:rPr>
              <a:t>của</a:t>
            </a:r>
            <a:r>
              <a:rPr dirty="0" sz="1400" spc="18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4">
                <a:solidFill>
                  <a:srgbClr val="5f6368"/>
                </a:solidFill>
                <a:latin typeface="UKMCST+Roboto"/>
                <a:cs typeface="UKMCST+Roboto"/>
              </a:rPr>
              <a:t>dự</a:t>
            </a:r>
            <a:r>
              <a:rPr dirty="0" sz="1400" spc="20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4">
                <a:solidFill>
                  <a:srgbClr val="5f6368"/>
                </a:solidFill>
                <a:latin typeface="UKMCST+Roboto"/>
                <a:cs typeface="UKMCST+Roboto"/>
              </a:rPr>
              <a:t>báo</a:t>
            </a:r>
            <a:r>
              <a:rPr dirty="0" sz="1400" spc="19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1">
                <a:solidFill>
                  <a:srgbClr val="5f6368"/>
                </a:solidFill>
                <a:latin typeface="UKMCST+Roboto"/>
                <a:cs typeface="UKMCST+Roboto"/>
              </a:rPr>
              <a:t>theo</a:t>
            </a:r>
            <a:r>
              <a:rPr dirty="0" sz="1400" spc="21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0">
                <a:solidFill>
                  <a:srgbClr val="5f6368"/>
                </a:solidFill>
                <a:latin typeface="UKMCST+Roboto"/>
                <a:cs typeface="UKMCST+Roboto"/>
              </a:rPr>
              <a:t>giờ</a:t>
            </a:r>
            <a:r>
              <a:rPr dirty="0" sz="1400" spc="22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>
                <a:solidFill>
                  <a:srgbClr val="5f6368"/>
                </a:solidFill>
                <a:latin typeface="UKMCST+Roboto"/>
                <a:cs typeface="UKMCST+Roboto"/>
              </a:rPr>
              <a:t>và</a:t>
            </a:r>
            <a:r>
              <a:rPr dirty="0" sz="1400" spc="30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2">
                <a:solidFill>
                  <a:srgbClr val="5f6368"/>
                </a:solidFill>
                <a:latin typeface="UKMCST+Roboto"/>
                <a:cs typeface="UKMCST+Roboto"/>
              </a:rPr>
              <a:t>các</a:t>
            </a:r>
            <a:r>
              <a:rPr dirty="0" sz="1400" spc="18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2">
                <a:solidFill>
                  <a:srgbClr val="5f6368"/>
                </a:solidFill>
                <a:latin typeface="UKMCST+Roboto"/>
                <a:cs typeface="UKMCST+Roboto"/>
              </a:rPr>
              <a:t>chỉ</a:t>
            </a:r>
            <a:r>
              <a:rPr dirty="0" sz="1400" spc="11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2">
                <a:solidFill>
                  <a:srgbClr val="5f6368"/>
                </a:solidFill>
                <a:latin typeface="UKMCST+Roboto"/>
                <a:cs typeface="UKMCST+Roboto"/>
              </a:rPr>
              <a:t>số</a:t>
            </a:r>
            <a:r>
              <a:rPr dirty="0" sz="1400" spc="20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>
                <a:solidFill>
                  <a:srgbClr val="5f6368"/>
                </a:solidFill>
                <a:latin typeface="UKMCST+Roboto"/>
                <a:cs typeface="UKMCST+Roboto"/>
              </a:rPr>
              <a:t>ô</a:t>
            </a:r>
            <a:r>
              <a:rPr dirty="0" sz="1400" spc="32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1">
                <a:solidFill>
                  <a:srgbClr val="5f6368"/>
                </a:solidFill>
                <a:latin typeface="UKMCST+Roboto"/>
                <a:cs typeface="UKMCST+Roboto"/>
              </a:rPr>
              <a:t>nhiễm</a:t>
            </a:r>
            <a:r>
              <a:rPr dirty="0" sz="1400" spc="28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4">
                <a:solidFill>
                  <a:srgbClr val="5f6368"/>
                </a:solidFill>
                <a:latin typeface="UKMCST+Roboto"/>
                <a:cs typeface="UKMCST+Roboto"/>
              </a:rPr>
              <a:t>không</a:t>
            </a:r>
            <a:r>
              <a:rPr dirty="0" sz="1400" spc="19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2">
                <a:solidFill>
                  <a:srgbClr val="5f6368"/>
                </a:solidFill>
                <a:latin typeface="UKMCST+Roboto"/>
                <a:cs typeface="UKMCST+Roboto"/>
              </a:rPr>
              <a:t>khí</a:t>
            </a:r>
          </a:p>
          <a:p>
            <a:pPr marL="0" marR="0">
              <a:lnSpc>
                <a:spcPts val="1879"/>
              </a:lnSpc>
              <a:spcBef>
                <a:spcPts val="295"/>
              </a:spcBef>
              <a:spcAft>
                <a:spcPts val="0"/>
              </a:spcAft>
            </a:pPr>
            <a:r>
              <a:rPr dirty="0" sz="1400" spc="10">
                <a:solidFill>
                  <a:srgbClr val="5f6368"/>
                </a:solidFill>
                <a:latin typeface="UKMCST+Roboto"/>
                <a:cs typeface="UKMCST+Roboto"/>
              </a:rPr>
              <a:t>chuyên</a:t>
            </a:r>
            <a:r>
              <a:rPr dirty="0" sz="1400" spc="21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2">
                <a:solidFill>
                  <a:srgbClr val="5f6368"/>
                </a:solidFill>
                <a:latin typeface="UKMCST+Roboto"/>
                <a:cs typeface="UKMCST+Roboto"/>
              </a:rPr>
              <a:t>sâu.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448424" y="5658715"/>
            <a:ext cx="4507552" cy="8197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9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 spc="10">
                <a:solidFill>
                  <a:srgbClr val="5f6368"/>
                </a:solidFill>
                <a:latin typeface="UKMCST+Roboto"/>
                <a:cs typeface="UKMCST+Roboto"/>
              </a:rPr>
              <a:t>Tích</a:t>
            </a:r>
            <a:r>
              <a:rPr dirty="0" sz="1400" spc="21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4">
                <a:solidFill>
                  <a:srgbClr val="5f6368"/>
                </a:solidFill>
                <a:latin typeface="UKMCST+Roboto"/>
                <a:cs typeface="UKMCST+Roboto"/>
              </a:rPr>
              <a:t>hợp</a:t>
            </a:r>
            <a:r>
              <a:rPr dirty="0" sz="1400" spc="18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2">
                <a:solidFill>
                  <a:srgbClr val="5f6368"/>
                </a:solidFill>
                <a:latin typeface="UKMCST+Roboto"/>
                <a:cs typeface="UKMCST+Roboto"/>
              </a:rPr>
              <a:t>Dark</a:t>
            </a:r>
            <a:r>
              <a:rPr dirty="0" sz="1400" spc="18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7">
                <a:solidFill>
                  <a:srgbClr val="5f6368"/>
                </a:solidFill>
                <a:latin typeface="UKMCST+Roboto"/>
                <a:cs typeface="UKMCST+Roboto"/>
              </a:rPr>
              <a:t>Mode</a:t>
            </a:r>
            <a:r>
              <a:rPr dirty="0" sz="1400" spc="15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2">
                <a:solidFill>
                  <a:srgbClr val="5f6368"/>
                </a:solidFill>
                <a:latin typeface="UKMCST+Roboto"/>
                <a:cs typeface="UKMCST+Roboto"/>
              </a:rPr>
              <a:t>thông</a:t>
            </a:r>
            <a:r>
              <a:rPr dirty="0" sz="1400" spc="20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4">
                <a:solidFill>
                  <a:srgbClr val="5f6368"/>
                </a:solidFill>
                <a:latin typeface="UKMCST+Roboto"/>
                <a:cs typeface="UKMCST+Roboto"/>
              </a:rPr>
              <a:t>minh</a:t>
            </a:r>
            <a:r>
              <a:rPr dirty="0" sz="1400" spc="18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1">
                <a:solidFill>
                  <a:srgbClr val="5f6368"/>
                </a:solidFill>
                <a:latin typeface="UKMCST+Roboto"/>
                <a:cs typeface="UKMCST+Roboto"/>
              </a:rPr>
              <a:t>theo</a:t>
            </a:r>
            <a:r>
              <a:rPr dirty="0" sz="1400" spc="21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1">
                <a:solidFill>
                  <a:srgbClr val="5f6368"/>
                </a:solidFill>
                <a:latin typeface="UKMCST+Roboto"/>
                <a:cs typeface="UKMCST+Roboto"/>
              </a:rPr>
              <a:t>thời</a:t>
            </a:r>
            <a:r>
              <a:rPr dirty="0" sz="1400" spc="12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0">
                <a:solidFill>
                  <a:srgbClr val="5f6368"/>
                </a:solidFill>
                <a:latin typeface="UKMCST+Roboto"/>
                <a:cs typeface="UKMCST+Roboto"/>
              </a:rPr>
              <a:t>gian</a:t>
            </a:r>
            <a:r>
              <a:rPr dirty="0" sz="1400" spc="21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1">
                <a:solidFill>
                  <a:srgbClr val="5f6368"/>
                </a:solidFill>
                <a:latin typeface="UKMCST+Roboto"/>
                <a:cs typeface="UKMCST+Roboto"/>
              </a:rPr>
              <a:t>thực</a:t>
            </a:r>
            <a:r>
              <a:rPr dirty="0" sz="1400" spc="19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>
                <a:solidFill>
                  <a:srgbClr val="5f6368"/>
                </a:solidFill>
                <a:latin typeface="UKMCST+Roboto"/>
                <a:cs typeface="UKMCST+Roboto"/>
              </a:rPr>
              <a:t>và</a:t>
            </a:r>
          </a:p>
          <a:p>
            <a:pPr marL="0" marR="0">
              <a:lnSpc>
                <a:spcPts val="1879"/>
              </a:lnSpc>
              <a:spcBef>
                <a:spcPts val="220"/>
              </a:spcBef>
              <a:spcAft>
                <a:spcPts val="0"/>
              </a:spcAft>
            </a:pPr>
            <a:r>
              <a:rPr dirty="0" sz="1400" spc="14">
                <a:solidFill>
                  <a:srgbClr val="5f6368"/>
                </a:solidFill>
                <a:latin typeface="UKMCST+Roboto"/>
                <a:cs typeface="UKMCST+Roboto"/>
              </a:rPr>
              <a:t>phát</a:t>
            </a:r>
            <a:r>
              <a:rPr dirty="0" sz="1400" spc="13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>
                <a:solidFill>
                  <a:srgbClr val="5f6368"/>
                </a:solidFill>
                <a:latin typeface="UKMCST+Roboto"/>
                <a:cs typeface="UKMCST+Roboto"/>
              </a:rPr>
              <a:t>triển</a:t>
            </a:r>
            <a:r>
              <a:rPr dirty="0" sz="1400" spc="23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>
                <a:solidFill>
                  <a:srgbClr val="5f6368"/>
                </a:solidFill>
                <a:latin typeface="UKMCST+Roboto"/>
                <a:cs typeface="UKMCST+Roboto"/>
              </a:rPr>
              <a:t>tính</a:t>
            </a:r>
            <a:r>
              <a:rPr dirty="0" sz="1400" spc="23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4">
                <a:solidFill>
                  <a:srgbClr val="5f6368"/>
                </a:solidFill>
                <a:latin typeface="UKMCST+Roboto"/>
                <a:cs typeface="UKMCST+Roboto"/>
              </a:rPr>
              <a:t>năng</a:t>
            </a:r>
            <a:r>
              <a:rPr dirty="0" sz="1400" spc="19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4">
                <a:solidFill>
                  <a:srgbClr val="5f6368"/>
                </a:solidFill>
                <a:latin typeface="UKMCST+Roboto"/>
                <a:cs typeface="UKMCST+Roboto"/>
              </a:rPr>
              <a:t>hỏi</a:t>
            </a:r>
            <a:r>
              <a:rPr dirty="0" sz="1400" spc="10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4">
                <a:solidFill>
                  <a:srgbClr val="5f6368"/>
                </a:solidFill>
                <a:latin typeface="UKMCST+Roboto"/>
                <a:cs typeface="UKMCST+Roboto"/>
              </a:rPr>
              <a:t>đáp</a:t>
            </a:r>
            <a:r>
              <a:rPr dirty="0" sz="1400" spc="18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1">
                <a:solidFill>
                  <a:srgbClr val="5f6368"/>
                </a:solidFill>
                <a:latin typeface="UKMCST+Roboto"/>
                <a:cs typeface="UKMCST+Roboto"/>
              </a:rPr>
              <a:t>thời</a:t>
            </a:r>
            <a:r>
              <a:rPr dirty="0" sz="1400" spc="12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>
                <a:solidFill>
                  <a:srgbClr val="5f6368"/>
                </a:solidFill>
                <a:latin typeface="UKMCST+Roboto"/>
                <a:cs typeface="UKMCST+Roboto"/>
              </a:rPr>
              <a:t>tiết</a:t>
            </a:r>
            <a:r>
              <a:rPr dirty="0" sz="1400" spc="17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4">
                <a:solidFill>
                  <a:srgbClr val="5f6368"/>
                </a:solidFill>
                <a:latin typeface="UKMCST+Roboto"/>
                <a:cs typeface="UKMCST+Roboto"/>
              </a:rPr>
              <a:t>qua</a:t>
            </a:r>
            <a:r>
              <a:rPr dirty="0" sz="1400" spc="18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>
                <a:solidFill>
                  <a:srgbClr val="5f6368"/>
                </a:solidFill>
                <a:latin typeface="UKMCST+Roboto"/>
                <a:cs typeface="UKMCST+Roboto"/>
              </a:rPr>
              <a:t>trợ</a:t>
            </a:r>
            <a:r>
              <a:rPr dirty="0" sz="1400" spc="31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>
                <a:solidFill>
                  <a:srgbClr val="5f6368"/>
                </a:solidFill>
                <a:latin typeface="UKMCST+Roboto"/>
                <a:cs typeface="UKMCST+Roboto"/>
              </a:rPr>
              <a:t>lý</a:t>
            </a:r>
            <a:r>
              <a:rPr dirty="0" sz="1400" spc="24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4">
                <a:solidFill>
                  <a:srgbClr val="5f6368"/>
                </a:solidFill>
                <a:latin typeface="UKMCST+Roboto"/>
                <a:cs typeface="UKMCST+Roboto"/>
              </a:rPr>
              <a:t>ảo</a:t>
            </a:r>
            <a:r>
              <a:rPr dirty="0" sz="1400" spc="19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4">
                <a:solidFill>
                  <a:srgbClr val="5f6368"/>
                </a:solidFill>
                <a:latin typeface="UKMCST+Roboto"/>
                <a:cs typeface="UKMCST+Roboto"/>
              </a:rPr>
              <a:t>bằng</a:t>
            </a:r>
          </a:p>
          <a:p>
            <a:pPr marL="0" marR="0">
              <a:lnSpc>
                <a:spcPts val="1879"/>
              </a:lnSpc>
              <a:spcBef>
                <a:spcPts val="295"/>
              </a:spcBef>
              <a:spcAft>
                <a:spcPts val="0"/>
              </a:spcAft>
            </a:pPr>
            <a:r>
              <a:rPr dirty="0" sz="1400" spc="11">
                <a:solidFill>
                  <a:srgbClr val="5f6368"/>
                </a:solidFill>
                <a:latin typeface="UKMCST+Roboto"/>
                <a:cs typeface="UKMCST+Roboto"/>
              </a:rPr>
              <a:t>giọng</a:t>
            </a:r>
            <a:r>
              <a:rPr dirty="0" sz="1400" spc="20">
                <a:solidFill>
                  <a:srgbClr val="5f6368"/>
                </a:solidFill>
                <a:latin typeface="UKMCST+Roboto"/>
                <a:cs typeface="UKMCST+Roboto"/>
              </a:rPr>
              <a:t> </a:t>
            </a:r>
            <a:r>
              <a:rPr dirty="0" sz="1400" spc="10">
                <a:solidFill>
                  <a:srgbClr val="5f6368"/>
                </a:solidFill>
                <a:latin typeface="UKMCST+Roboto"/>
                <a:cs typeface="UKMCST+Roboto"/>
              </a:rPr>
              <a:t>nói.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793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61999" y="1648420"/>
            <a:ext cx="5599806" cy="145256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362"/>
              </a:lnSpc>
              <a:spcBef>
                <a:spcPts val="0"/>
              </a:spcBef>
              <a:spcAft>
                <a:spcPts val="0"/>
              </a:spcAft>
            </a:pPr>
            <a:r>
              <a:rPr dirty="0" sz="4800" b="1">
                <a:solidFill>
                  <a:srgbClr val="1a73e8"/>
                </a:solidFill>
                <a:latin typeface="Arial"/>
                <a:cs typeface="Arial"/>
              </a:rPr>
              <a:t>Cảm</a:t>
            </a:r>
            <a:r>
              <a:rPr dirty="0" sz="480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4800" b="1">
                <a:solidFill>
                  <a:srgbClr val="1a73e8"/>
                </a:solidFill>
                <a:latin typeface="Arial"/>
                <a:cs typeface="Arial"/>
              </a:rPr>
              <a:t>ơn</a:t>
            </a:r>
            <a:r>
              <a:rPr dirty="0" sz="480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4800" b="1">
                <a:solidFill>
                  <a:srgbClr val="1a73e8"/>
                </a:solidFill>
                <a:latin typeface="Arial"/>
                <a:cs typeface="Arial"/>
              </a:rPr>
              <a:t>thầy</a:t>
            </a:r>
            <a:r>
              <a:rPr dirty="0" sz="480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4800" b="1">
                <a:solidFill>
                  <a:srgbClr val="1a73e8"/>
                </a:solidFill>
                <a:latin typeface="Arial"/>
                <a:cs typeface="Arial"/>
              </a:rPr>
              <a:t>cô</a:t>
            </a:r>
            <a:r>
              <a:rPr dirty="0" sz="480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4800" b="1">
                <a:solidFill>
                  <a:srgbClr val="1a73e8"/>
                </a:solidFill>
                <a:latin typeface="Arial"/>
                <a:cs typeface="Arial"/>
              </a:rPr>
              <a:t>và</a:t>
            </a:r>
          </a:p>
          <a:p>
            <a:pPr marL="0" marR="0">
              <a:lnSpc>
                <a:spcPts val="5362"/>
              </a:lnSpc>
              <a:spcBef>
                <a:spcPts val="362"/>
              </a:spcBef>
              <a:spcAft>
                <a:spcPts val="0"/>
              </a:spcAft>
            </a:pPr>
            <a:r>
              <a:rPr dirty="0" sz="4800" b="1">
                <a:solidFill>
                  <a:srgbClr val="1a73e8"/>
                </a:solidFill>
                <a:latin typeface="Arial"/>
                <a:cs typeface="Arial"/>
              </a:rPr>
              <a:t>các</a:t>
            </a:r>
            <a:r>
              <a:rPr dirty="0" sz="4800" b="1">
                <a:solidFill>
                  <a:srgbClr val="1a73e8"/>
                </a:solidFill>
                <a:latin typeface="Arial"/>
                <a:cs typeface="Arial"/>
              </a:rPr>
              <a:t> </a:t>
            </a:r>
            <a:r>
              <a:rPr dirty="0" sz="4800" b="1">
                <a:solidFill>
                  <a:srgbClr val="1a73e8"/>
                </a:solidFill>
                <a:latin typeface="Arial"/>
                <a:cs typeface="Arial"/>
              </a:rPr>
              <a:t>bạn!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47749" y="3359087"/>
            <a:ext cx="4643846" cy="7898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769"/>
              </a:lnSpc>
              <a:spcBef>
                <a:spcPts val="0"/>
              </a:spcBef>
              <a:spcAft>
                <a:spcPts val="0"/>
              </a:spcAft>
            </a:pPr>
            <a:r>
              <a:rPr dirty="0" sz="2100">
                <a:solidFill>
                  <a:srgbClr val="444746"/>
                </a:solidFill>
                <a:latin typeface="KJBPCO+Roboto Medium"/>
                <a:cs typeface="KJBPCO+Roboto Medium"/>
              </a:rPr>
              <a:t>Rất</a:t>
            </a:r>
            <a:r>
              <a:rPr dirty="0" sz="2100">
                <a:solidFill>
                  <a:srgbClr val="444746"/>
                </a:solidFill>
                <a:latin typeface="KJBPCO+Roboto Medium"/>
                <a:cs typeface="KJBPCO+Roboto Medium"/>
              </a:rPr>
              <a:t> </a:t>
            </a:r>
            <a:r>
              <a:rPr dirty="0" sz="2100">
                <a:solidFill>
                  <a:srgbClr val="444746"/>
                </a:solidFill>
                <a:latin typeface="KJBPCO+Roboto Medium"/>
                <a:cs typeface="KJBPCO+Roboto Medium"/>
              </a:rPr>
              <a:t>mong</a:t>
            </a:r>
            <a:r>
              <a:rPr dirty="0" sz="2100">
                <a:solidFill>
                  <a:srgbClr val="444746"/>
                </a:solidFill>
                <a:latin typeface="KJBPCO+Roboto Medium"/>
                <a:cs typeface="KJBPCO+Roboto Medium"/>
              </a:rPr>
              <a:t> </a:t>
            </a:r>
            <a:r>
              <a:rPr dirty="0" sz="2100">
                <a:solidFill>
                  <a:srgbClr val="444746"/>
                </a:solidFill>
                <a:latin typeface="KJBPCO+Roboto Medium"/>
                <a:cs typeface="KJBPCO+Roboto Medium"/>
              </a:rPr>
              <a:t>nhận</a:t>
            </a:r>
            <a:r>
              <a:rPr dirty="0" sz="2100">
                <a:solidFill>
                  <a:srgbClr val="444746"/>
                </a:solidFill>
                <a:latin typeface="KJBPCO+Roboto Medium"/>
                <a:cs typeface="KJBPCO+Roboto Medium"/>
              </a:rPr>
              <a:t> </a:t>
            </a:r>
            <a:r>
              <a:rPr dirty="0" sz="2100">
                <a:solidFill>
                  <a:srgbClr val="444746"/>
                </a:solidFill>
                <a:latin typeface="KJBPCO+Roboto Medium"/>
                <a:cs typeface="KJBPCO+Roboto Medium"/>
              </a:rPr>
              <a:t>được</a:t>
            </a:r>
            <a:r>
              <a:rPr dirty="0" sz="2100">
                <a:solidFill>
                  <a:srgbClr val="444746"/>
                </a:solidFill>
                <a:latin typeface="KJBPCO+Roboto Medium"/>
                <a:cs typeface="KJBPCO+Roboto Medium"/>
              </a:rPr>
              <a:t> </a:t>
            </a:r>
            <a:r>
              <a:rPr dirty="0" sz="2100">
                <a:solidFill>
                  <a:srgbClr val="444746"/>
                </a:solidFill>
                <a:latin typeface="KJBPCO+Roboto Medium"/>
                <a:cs typeface="KJBPCO+Roboto Medium"/>
              </a:rPr>
              <a:t>câu</a:t>
            </a:r>
            <a:r>
              <a:rPr dirty="0" sz="2100">
                <a:solidFill>
                  <a:srgbClr val="444746"/>
                </a:solidFill>
                <a:latin typeface="KJBPCO+Roboto Medium"/>
                <a:cs typeface="KJBPCO+Roboto Medium"/>
              </a:rPr>
              <a:t> </a:t>
            </a:r>
            <a:r>
              <a:rPr dirty="0" sz="2100">
                <a:solidFill>
                  <a:srgbClr val="444746"/>
                </a:solidFill>
                <a:latin typeface="KJBPCO+Roboto Medium"/>
                <a:cs typeface="KJBPCO+Roboto Medium"/>
              </a:rPr>
              <a:t>hỏi</a:t>
            </a:r>
            <a:r>
              <a:rPr dirty="0" sz="2100">
                <a:solidFill>
                  <a:srgbClr val="444746"/>
                </a:solidFill>
                <a:latin typeface="KJBPCO+Roboto Medium"/>
                <a:cs typeface="KJBPCO+Roboto Medium"/>
              </a:rPr>
              <a:t> </a:t>
            </a:r>
            <a:r>
              <a:rPr dirty="0" sz="2100" spc="-15">
                <a:solidFill>
                  <a:srgbClr val="444746"/>
                </a:solidFill>
                <a:latin typeface="KJBPCO+Roboto Medium"/>
                <a:cs typeface="KJBPCO+Roboto Medium"/>
              </a:rPr>
              <a:t>và</a:t>
            </a:r>
            <a:r>
              <a:rPr dirty="0" sz="2100" spc="15">
                <a:solidFill>
                  <a:srgbClr val="444746"/>
                </a:solidFill>
                <a:latin typeface="KJBPCO+Roboto Medium"/>
                <a:cs typeface="KJBPCO+Roboto Medium"/>
              </a:rPr>
              <a:t> </a:t>
            </a:r>
            <a:r>
              <a:rPr dirty="0" sz="2100">
                <a:solidFill>
                  <a:srgbClr val="444746"/>
                </a:solidFill>
                <a:latin typeface="KJBPCO+Roboto Medium"/>
                <a:cs typeface="KJBPCO+Roboto Medium"/>
              </a:rPr>
              <a:t>góp</a:t>
            </a:r>
            <a:r>
              <a:rPr dirty="0" sz="2100">
                <a:solidFill>
                  <a:srgbClr val="444746"/>
                </a:solidFill>
                <a:latin typeface="KJBPCO+Roboto Medium"/>
                <a:cs typeface="KJBPCO+Roboto Medium"/>
              </a:rPr>
              <a:t> </a:t>
            </a:r>
            <a:r>
              <a:rPr dirty="0" sz="2100">
                <a:solidFill>
                  <a:srgbClr val="444746"/>
                </a:solidFill>
                <a:latin typeface="KJBPCO+Roboto Medium"/>
                <a:cs typeface="KJBPCO+Roboto Medium"/>
              </a:rPr>
              <a:t>ý</a:t>
            </a:r>
          </a:p>
          <a:p>
            <a:pPr marL="0" marR="0">
              <a:lnSpc>
                <a:spcPts val="2769"/>
              </a:lnSpc>
              <a:spcBef>
                <a:spcPts val="330"/>
              </a:spcBef>
              <a:spcAft>
                <a:spcPts val="0"/>
              </a:spcAft>
            </a:pPr>
            <a:r>
              <a:rPr dirty="0" sz="2100">
                <a:solidFill>
                  <a:srgbClr val="444746"/>
                </a:solidFill>
                <a:latin typeface="KJBPCO+Roboto Medium"/>
                <a:cs typeface="KJBPCO+Roboto Medium"/>
              </a:rPr>
              <a:t>từ</a:t>
            </a:r>
            <a:r>
              <a:rPr dirty="0" sz="2100">
                <a:solidFill>
                  <a:srgbClr val="444746"/>
                </a:solidFill>
                <a:latin typeface="KJBPCO+Roboto Medium"/>
                <a:cs typeface="KJBPCO+Roboto Medium"/>
              </a:rPr>
              <a:t> </a:t>
            </a:r>
            <a:r>
              <a:rPr dirty="0" sz="2100">
                <a:solidFill>
                  <a:srgbClr val="444746"/>
                </a:solidFill>
                <a:latin typeface="KJBPCO+Roboto Medium"/>
                <a:cs typeface="KJBPCO+Roboto Medium"/>
              </a:rPr>
              <a:t>mọi</a:t>
            </a:r>
            <a:r>
              <a:rPr dirty="0" sz="2100">
                <a:solidFill>
                  <a:srgbClr val="444746"/>
                </a:solidFill>
                <a:latin typeface="KJBPCO+Roboto Medium"/>
                <a:cs typeface="KJBPCO+Roboto Medium"/>
              </a:rPr>
              <a:t> </a:t>
            </a:r>
            <a:r>
              <a:rPr dirty="0" sz="2100">
                <a:solidFill>
                  <a:srgbClr val="444746"/>
                </a:solidFill>
                <a:latin typeface="KJBPCO+Roboto Medium"/>
                <a:cs typeface="KJBPCO+Roboto Medium"/>
              </a:rPr>
              <a:t>người</a:t>
            </a:r>
            <a:r>
              <a:rPr dirty="0" sz="2100">
                <a:solidFill>
                  <a:srgbClr val="444746"/>
                </a:solidFill>
                <a:latin typeface="KJBPCO+Roboto Medium"/>
                <a:cs typeface="KJBPCO+Roboto Medium"/>
              </a:rPr>
              <a:t> </a:t>
            </a:r>
            <a:r>
              <a:rPr dirty="0" sz="2100">
                <a:solidFill>
                  <a:srgbClr val="444746"/>
                </a:solidFill>
                <a:latin typeface="KJBPCO+Roboto Medium"/>
                <a:cs typeface="KJBPCO+Roboto Medium"/>
              </a:rPr>
              <a:t>để</a:t>
            </a:r>
            <a:r>
              <a:rPr dirty="0" sz="2100">
                <a:solidFill>
                  <a:srgbClr val="444746"/>
                </a:solidFill>
                <a:latin typeface="KJBPCO+Roboto Medium"/>
                <a:cs typeface="KJBPCO+Roboto Medium"/>
              </a:rPr>
              <a:t> </a:t>
            </a:r>
            <a:r>
              <a:rPr dirty="0" sz="2100">
                <a:solidFill>
                  <a:srgbClr val="444746"/>
                </a:solidFill>
                <a:latin typeface="KJBPCO+Roboto Medium"/>
                <a:cs typeface="KJBPCO+Roboto Medium"/>
              </a:rPr>
              <a:t>hoàn</a:t>
            </a:r>
            <a:r>
              <a:rPr dirty="0" sz="2100">
                <a:solidFill>
                  <a:srgbClr val="444746"/>
                </a:solidFill>
                <a:latin typeface="KJBPCO+Roboto Medium"/>
                <a:cs typeface="KJBPCO+Roboto Medium"/>
              </a:rPr>
              <a:t> </a:t>
            </a:r>
            <a:r>
              <a:rPr dirty="0" sz="2100">
                <a:solidFill>
                  <a:srgbClr val="444746"/>
                </a:solidFill>
                <a:latin typeface="KJBPCO+Roboto Medium"/>
                <a:cs typeface="KJBPCO+Roboto Medium"/>
              </a:rPr>
              <a:t>thiện</a:t>
            </a:r>
            <a:r>
              <a:rPr dirty="0" sz="2100">
                <a:solidFill>
                  <a:srgbClr val="444746"/>
                </a:solidFill>
                <a:latin typeface="KJBPCO+Roboto Medium"/>
                <a:cs typeface="KJBPCO+Roboto Medium"/>
              </a:rPr>
              <a:t> </a:t>
            </a:r>
            <a:r>
              <a:rPr dirty="0" sz="2100">
                <a:solidFill>
                  <a:srgbClr val="444746"/>
                </a:solidFill>
                <a:latin typeface="KJBPCO+Roboto Medium"/>
                <a:cs typeface="KJBPCO+Roboto Medium"/>
              </a:rPr>
              <a:t>ứng</a:t>
            </a:r>
            <a:r>
              <a:rPr dirty="0" sz="2100">
                <a:solidFill>
                  <a:srgbClr val="444746"/>
                </a:solidFill>
                <a:latin typeface="KJBPCO+Roboto Medium"/>
                <a:cs typeface="KJBPCO+Roboto Medium"/>
              </a:rPr>
              <a:t> </a:t>
            </a:r>
            <a:r>
              <a:rPr dirty="0" sz="2100">
                <a:solidFill>
                  <a:srgbClr val="444746"/>
                </a:solidFill>
                <a:latin typeface="KJBPCO+Roboto Medium"/>
                <a:cs typeface="KJBPCO+Roboto Medium"/>
              </a:rPr>
              <a:t>dụng.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0124" y="4907608"/>
            <a:ext cx="1312887" cy="2390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82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150" b="1">
                <a:solidFill>
                  <a:srgbClr val="1a73e8"/>
                </a:solidFill>
                <a:latin typeface="VMPSTP+Roboto Bold"/>
                <a:cs typeface="VMPSTP+Roboto Bold"/>
              </a:rPr>
              <a:t>Q&amp;A</a:t>
            </a:r>
            <a:r>
              <a:rPr dirty="0" sz="1200" spc="150" b="1">
                <a:solidFill>
                  <a:srgbClr val="1a73e8"/>
                </a:solidFill>
                <a:latin typeface="VMPSTP+Roboto Bold"/>
                <a:cs typeface="VMPSTP+Roboto Bold"/>
              </a:rPr>
              <a:t> </a:t>
            </a:r>
            <a:r>
              <a:rPr dirty="0" sz="1200" spc="150" b="1">
                <a:solidFill>
                  <a:srgbClr val="1a73e8"/>
                </a:solidFill>
                <a:latin typeface="VMPSTP+Roboto Bold"/>
                <a:cs typeface="VMPSTP+Roboto Bold"/>
              </a:rPr>
              <a:t>SESSION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61999" y="6308693"/>
            <a:ext cx="3667943" cy="2139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84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i="1">
                <a:solidFill>
                  <a:srgbClr val="70757a"/>
                </a:solidFill>
                <a:latin typeface="NMAKCS+Roboto Italic"/>
                <a:cs typeface="NMAKCS+Roboto Italic"/>
              </a:rPr>
              <a:t>Dự</a:t>
            </a:r>
            <a:r>
              <a:rPr dirty="0" sz="1050" i="1">
                <a:solidFill>
                  <a:srgbClr val="70757a"/>
                </a:solidFill>
                <a:latin typeface="NMAKCS+Roboto Italic"/>
                <a:cs typeface="NMAKCS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NMAKCS+Roboto Italic"/>
                <a:cs typeface="NMAKCS+Roboto Italic"/>
              </a:rPr>
              <a:t>án</a:t>
            </a:r>
            <a:r>
              <a:rPr dirty="0" sz="1050" i="1">
                <a:solidFill>
                  <a:srgbClr val="70757a"/>
                </a:solidFill>
                <a:latin typeface="NMAKCS+Roboto Italic"/>
                <a:cs typeface="NMAKCS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NMAKCS+Roboto Italic"/>
                <a:cs typeface="NMAKCS+Roboto Italic"/>
              </a:rPr>
              <a:t>Xây</a:t>
            </a:r>
            <a:r>
              <a:rPr dirty="0" sz="1050" spc="13" i="1">
                <a:solidFill>
                  <a:srgbClr val="70757a"/>
                </a:solidFill>
                <a:latin typeface="NMAKCS+Roboto Italic"/>
                <a:cs typeface="NMAKCS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NMAKCS+Roboto Italic"/>
                <a:cs typeface="NMAKCS+Roboto Italic"/>
              </a:rPr>
              <a:t>dựng</a:t>
            </a:r>
            <a:r>
              <a:rPr dirty="0" sz="1050" i="1">
                <a:solidFill>
                  <a:srgbClr val="70757a"/>
                </a:solidFill>
                <a:latin typeface="NMAKCS+Roboto Italic"/>
                <a:cs typeface="NMAKCS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NMAKCS+Roboto Italic"/>
                <a:cs typeface="NMAKCS+Roboto Italic"/>
              </a:rPr>
              <a:t>ứng</a:t>
            </a:r>
            <a:r>
              <a:rPr dirty="0" sz="1050" i="1">
                <a:solidFill>
                  <a:srgbClr val="70757a"/>
                </a:solidFill>
                <a:latin typeface="NMAKCS+Roboto Italic"/>
                <a:cs typeface="NMAKCS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NMAKCS+Roboto Italic"/>
                <a:cs typeface="NMAKCS+Roboto Italic"/>
              </a:rPr>
              <a:t>dụng</a:t>
            </a:r>
            <a:r>
              <a:rPr dirty="0" sz="1050" i="1">
                <a:solidFill>
                  <a:srgbClr val="70757a"/>
                </a:solidFill>
                <a:latin typeface="NMAKCS+Roboto Italic"/>
                <a:cs typeface="NMAKCS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NMAKCS+Roboto Italic"/>
                <a:cs typeface="NMAKCS+Roboto Italic"/>
              </a:rPr>
              <a:t>dự</a:t>
            </a:r>
            <a:r>
              <a:rPr dirty="0" sz="1050" i="1">
                <a:solidFill>
                  <a:srgbClr val="70757a"/>
                </a:solidFill>
                <a:latin typeface="NMAKCS+Roboto Italic"/>
                <a:cs typeface="NMAKCS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NMAKCS+Roboto Italic"/>
                <a:cs typeface="NMAKCS+Roboto Italic"/>
              </a:rPr>
              <a:t>báo</a:t>
            </a:r>
            <a:r>
              <a:rPr dirty="0" sz="1050" i="1">
                <a:solidFill>
                  <a:srgbClr val="70757a"/>
                </a:solidFill>
                <a:latin typeface="NMAKCS+Roboto Italic"/>
                <a:cs typeface="NMAKCS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NMAKCS+Roboto Italic"/>
                <a:cs typeface="NMAKCS+Roboto Italic"/>
              </a:rPr>
              <a:t>thời</a:t>
            </a:r>
            <a:r>
              <a:rPr dirty="0" sz="1050" i="1">
                <a:solidFill>
                  <a:srgbClr val="70757a"/>
                </a:solidFill>
                <a:latin typeface="NMAKCS+Roboto Italic"/>
                <a:cs typeface="NMAKCS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NMAKCS+Roboto Italic"/>
                <a:cs typeface="NMAKCS+Roboto Italic"/>
              </a:rPr>
              <a:t>tiết</a:t>
            </a:r>
            <a:r>
              <a:rPr dirty="0" sz="1050" i="1">
                <a:solidFill>
                  <a:srgbClr val="70757a"/>
                </a:solidFill>
                <a:latin typeface="NMAKCS+Roboto Italic"/>
                <a:cs typeface="NMAKCS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NMAKCS+Roboto Italic"/>
                <a:cs typeface="NMAKCS+Roboto Italic"/>
              </a:rPr>
              <a:t>trên</a:t>
            </a:r>
            <a:r>
              <a:rPr dirty="0" sz="1050" spc="12" i="1">
                <a:solidFill>
                  <a:srgbClr val="70757a"/>
                </a:solidFill>
                <a:latin typeface="NMAKCS+Roboto Italic"/>
                <a:cs typeface="NMAKCS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NMAKCS+Roboto Italic"/>
                <a:cs typeface="NMAKCS+Roboto Italic"/>
              </a:rPr>
              <a:t>Flutter</a:t>
            </a:r>
            <a:r>
              <a:rPr dirty="0" sz="1050" i="1">
                <a:solidFill>
                  <a:srgbClr val="70757a"/>
                </a:solidFill>
                <a:latin typeface="NMAKCS+Roboto Italic"/>
                <a:cs typeface="NMAKCS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NMAKCS+Roboto Italic"/>
                <a:cs typeface="NMAKCS+Roboto Italic"/>
              </a:rPr>
              <a:t>©</a:t>
            </a:r>
            <a:r>
              <a:rPr dirty="0" sz="1050" i="1">
                <a:solidFill>
                  <a:srgbClr val="70757a"/>
                </a:solidFill>
                <a:latin typeface="NMAKCS+Roboto Italic"/>
                <a:cs typeface="NMAKCS+Roboto Italic"/>
              </a:rPr>
              <a:t> </a:t>
            </a:r>
            <a:r>
              <a:rPr dirty="0" sz="1050" i="1">
                <a:solidFill>
                  <a:srgbClr val="70757a"/>
                </a:solidFill>
                <a:latin typeface="NMAKCS+Roboto Italic"/>
                <a:cs typeface="NMAKCS+Roboto Italic"/>
              </a:rPr>
              <a:t>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PresentationFormat>On-screen Show (4:3)</PresentationFormat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cp:revision>1</cp:revision>
  <dcterms:modified xsi:type="dcterms:W3CDTF">2026-05-28T06:14:57+00:00</dcterms:modified>
</cp:coreProperties>
</file>