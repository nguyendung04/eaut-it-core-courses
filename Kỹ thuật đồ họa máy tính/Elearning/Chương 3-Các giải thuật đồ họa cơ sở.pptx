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33"/>
  </p:notesMasterIdLst>
  <p:sldIdLst>
    <p:sldId id="257" r:id="rId2"/>
    <p:sldId id="261" r:id="rId3"/>
    <p:sldId id="548" r:id="rId4"/>
    <p:sldId id="549" r:id="rId5"/>
    <p:sldId id="550" r:id="rId6"/>
    <p:sldId id="551" r:id="rId7"/>
    <p:sldId id="552" r:id="rId8"/>
    <p:sldId id="553" r:id="rId9"/>
    <p:sldId id="554" r:id="rId10"/>
    <p:sldId id="555" r:id="rId11"/>
    <p:sldId id="556" r:id="rId12"/>
    <p:sldId id="557" r:id="rId13"/>
    <p:sldId id="558" r:id="rId14"/>
    <p:sldId id="559" r:id="rId15"/>
    <p:sldId id="560" r:id="rId16"/>
    <p:sldId id="561" r:id="rId17"/>
    <p:sldId id="562" r:id="rId18"/>
    <p:sldId id="563" r:id="rId19"/>
    <p:sldId id="564" r:id="rId20"/>
    <p:sldId id="565" r:id="rId21"/>
    <p:sldId id="566" r:id="rId22"/>
    <p:sldId id="567" r:id="rId23"/>
    <p:sldId id="568" r:id="rId24"/>
    <p:sldId id="569" r:id="rId25"/>
    <p:sldId id="570" r:id="rId26"/>
    <p:sldId id="571" r:id="rId27"/>
    <p:sldId id="572" r:id="rId28"/>
    <p:sldId id="573" r:id="rId29"/>
    <p:sldId id="574" r:id="rId30"/>
    <p:sldId id="575" r:id="rId31"/>
    <p:sldId id="57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5580" autoAdjust="0"/>
    <p:restoredTop sz="94660"/>
  </p:normalViewPr>
  <p:slideViewPr>
    <p:cSldViewPr snapToGrid="0">
      <p:cViewPr varScale="1">
        <p:scale>
          <a:sx n="72" d="100"/>
          <a:sy n="72" d="100"/>
        </p:scale>
        <p:origin x="82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1BEA3-C1B4-4F81-B774-56CF4F6F2B3D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357F2-8A00-477D-A2A6-A064B5B7C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60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8C208-A8CA-451B-A617-AAF7EEB23970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183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01C9C-A7E5-475D-A82B-8F25EA51ED4D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373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1B79A-A846-4CD3-BE07-F51E079F343C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31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1AA92-3A27-4044-A846-F0B22DEAA556}" type="datetime1">
              <a:rPr lang="en-US" smtClean="0"/>
              <a:t>23/02/2024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78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91D6-46FC-4241-A052-368ED6A1E775}" type="datetime1">
              <a:rPr lang="en-US" smtClean="0"/>
              <a:t>23/02/2024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676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01821-D8BA-4A33-9127-E646FBBCFD34}" type="datetime1">
              <a:rPr lang="en-US" smtClean="0"/>
              <a:t>23/02/2024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895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E7A59-681B-490F-949F-06E03EB51531}" type="datetime1">
              <a:rPr lang="en-US" smtClean="0"/>
              <a:t>23/02/2024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10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2B1920-196B-49B0-84DC-EDB18744D998}" type="datetime1">
              <a:rPr lang="en-US" smtClean="0"/>
              <a:t>23/02/2024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82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57103-E9CB-4520-B4BD-6D945AE49AB8}" type="datetime1">
              <a:rPr lang="en-US" smtClean="0"/>
              <a:t>23/02/2024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38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2751C-5A31-438E-8F8E-D5F39376FE65}" type="datetime1">
              <a:rPr lang="en-US" smtClean="0"/>
              <a:t>23/02/2024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7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B03AE-3FD7-43CC-A20C-C840BD270F9A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355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04F9-720C-433F-93FA-DA11CC9BBA02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815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67D743-5AFC-4A6A-8528-6F12E7BE8A5F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074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11653-EE83-4B83-963D-42E5EBB0AD17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633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8AEDA-B8F2-4875-B671-7E9BA9C0AFE3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30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4E46D-EC3D-4C29-A7B3-B747B6D81963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699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26199-BE4D-4E59-A68B-DE0A96FC2810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21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45FA6F9-EFE2-4FB9-924B-C34FD8F233ED}" type="datetime1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17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45390" y="2673921"/>
            <a:ext cx="6773956" cy="1063579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25774" algn="ctr"/>
            <a:r>
              <a:rPr lang="en-US" sz="3530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KỸ THUẬT </a:t>
            </a:r>
            <a:r>
              <a:rPr sz="3530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ĐỒ</a:t>
            </a:r>
            <a:r>
              <a:rPr sz="3530" b="1" spc="-4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3530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HỌA</a:t>
            </a:r>
            <a:r>
              <a:rPr sz="3530" b="1" spc="-13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3530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MÁY</a:t>
            </a:r>
            <a:r>
              <a:rPr sz="3530" b="1" spc="-22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3530" b="1" spc="-18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TÍNH</a:t>
            </a:r>
            <a:endParaRPr sz="3530" b="1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  <a:p>
            <a:pPr algn="ctr">
              <a:spcBef>
                <a:spcPts val="1006"/>
              </a:spcBef>
            </a:pPr>
            <a:r>
              <a:rPr lang="en-US" sz="2471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(3TC)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5366" y="4332263"/>
            <a:ext cx="3103735" cy="1558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88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GV: 	</a:t>
            </a:r>
            <a:r>
              <a:rPr lang="en-US" sz="1588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Ngô</a:t>
            </a:r>
            <a:r>
              <a:rPr lang="en-US" sz="1588" b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Thùy Giang</a:t>
            </a:r>
          </a:p>
          <a:p>
            <a:pPr>
              <a:lnSpc>
                <a:spcPct val="150000"/>
              </a:lnSpc>
            </a:pPr>
            <a:r>
              <a:rPr lang="en-US" sz="1588" b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Khoa: 	Công nghệ thông tin</a:t>
            </a:r>
          </a:p>
          <a:p>
            <a:pPr>
              <a:lnSpc>
                <a:spcPct val="150000"/>
              </a:lnSpc>
            </a:pPr>
            <a:r>
              <a:rPr lang="en-US" sz="1588" b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SĐT: 	</a:t>
            </a:r>
            <a:r>
              <a:rPr lang="en-US" sz="1588" b="1" smtClean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0979.357.190</a:t>
            </a:r>
          </a:p>
          <a:p>
            <a:pPr>
              <a:lnSpc>
                <a:spcPct val="150000"/>
              </a:lnSpc>
            </a:pPr>
            <a:r>
              <a:rPr lang="en-US" sz="1588" b="1" smtClean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Email:giangnt@eaut.edu.vn</a:t>
            </a:r>
            <a:endParaRPr lang="en-US" sz="1588" b="1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428" y="648853"/>
            <a:ext cx="1900925" cy="1900925"/>
          </a:xfrm>
          <a:prstGeom prst="rect">
            <a:avLst/>
          </a:prstGeom>
        </p:spPr>
      </p:pic>
      <p:sp>
        <p:nvSpPr>
          <p:cNvPr id="6" name="object 2"/>
          <p:cNvSpPr txBox="1"/>
          <p:nvPr/>
        </p:nvSpPr>
        <p:spPr>
          <a:xfrm>
            <a:off x="3256226" y="1251791"/>
            <a:ext cx="6773956" cy="381213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25774" algn="ctr"/>
            <a:r>
              <a:rPr lang="en-US" sz="2400" b="1" smtClean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TRƯỜNG ĐẠI HỌC CÔNG NGHỆ ĐÔNG Á</a:t>
            </a:r>
            <a:endParaRPr lang="en-US" sz="2400" b="1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921163" y="2341706"/>
            <a:ext cx="8820727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b="1">
              <a:solidFill>
                <a:schemeClr val="accent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>
                <a:solidFill>
                  <a:schemeClr val="accent1">
                    <a:lumMod val="50000"/>
                  </a:schemeClr>
                </a:solidFill>
                <a:latin typeface="Constantia" panose="02030602050306030303" pitchFamily="18" charset="0"/>
              </a:rPr>
              <a:t>CHƯƠNG </a:t>
            </a:r>
            <a:r>
              <a:rPr lang="en-US" sz="4400" b="1" smtClean="0">
                <a:solidFill>
                  <a:schemeClr val="accent1">
                    <a:lumMod val="50000"/>
                  </a:schemeClr>
                </a:solidFill>
                <a:latin typeface="Constantia" panose="02030602050306030303" pitchFamily="18" charset="0"/>
              </a:rPr>
              <a:t>III. CÁC GIẢI THUẬT ĐỒ HỌA </a:t>
            </a:r>
            <a:r>
              <a:rPr lang="vi-VN" sz="4400" b="1" smtClean="0">
                <a:solidFill>
                  <a:schemeClr val="accent1">
                    <a:lumMod val="50000"/>
                  </a:schemeClr>
                </a:solidFill>
                <a:latin typeface="Constantia" panose="02030602050306030303" pitchFamily="18" charset="0"/>
              </a:rPr>
              <a:t>CƠ SỞ</a:t>
            </a:r>
            <a:endParaRPr lang="en-US" sz="440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49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CÁC GIẢI THUẬT XÉN TỈA</a:t>
            </a:r>
            <a:endParaRPr lang="en-US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30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2" y="880363"/>
            <a:ext cx="743902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Xác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định</a:t>
            </a:r>
            <a:r>
              <a:rPr sz="3800" spc="-2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giao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dirty="0">
                <a:latin typeface="Verdana"/>
                <a:cs typeface="Verdana"/>
              </a:rPr>
              <a:t>hai</a:t>
            </a:r>
            <a:r>
              <a:rPr sz="3800" spc="-10" dirty="0">
                <a:latin typeface="Verdana"/>
                <a:cs typeface="Verdana"/>
              </a:rPr>
              <a:t> đường thẳng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44014" y="1718715"/>
            <a:ext cx="7844155" cy="438594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81000" indent="-343535">
              <a:spcBef>
                <a:spcPts val="610"/>
              </a:spcBef>
              <a:buClr>
                <a:srgbClr val="CC0000"/>
              </a:buClr>
              <a:buFont typeface="Wingdings"/>
              <a:buChar char=""/>
              <a:tabLst>
                <a:tab pos="381635" algn="l"/>
              </a:tabLst>
            </a:pPr>
            <a:r>
              <a:rPr sz="2100" spc="-5" dirty="0">
                <a:latin typeface="Verdana"/>
                <a:cs typeface="Verdana"/>
              </a:rPr>
              <a:t>Giao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của</a:t>
            </a:r>
            <a:r>
              <a:rPr sz="2100" spc="-2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hai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đường thẳng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đi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qua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hai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điểm</a:t>
            </a:r>
            <a:endParaRPr sz="2100">
              <a:latin typeface="Verdana"/>
              <a:cs typeface="Verdana"/>
            </a:endParaRPr>
          </a:p>
          <a:p>
            <a:pPr marL="781050" lvl="1" indent="-286385">
              <a:spcBef>
                <a:spcPts val="484"/>
              </a:spcBef>
              <a:buClr>
                <a:srgbClr val="CC0000"/>
              </a:buClr>
              <a:buFont typeface="Wingdings"/>
              <a:buChar char=""/>
              <a:tabLst>
                <a:tab pos="781685" algn="l"/>
              </a:tabLst>
            </a:pPr>
            <a:r>
              <a:rPr sz="2000" spc="-5" dirty="0">
                <a:latin typeface="Verdana"/>
                <a:cs typeface="Verdana"/>
              </a:rPr>
              <a:t>Ví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dụ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đơn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giản</a:t>
            </a:r>
            <a:endParaRPr sz="2000">
              <a:latin typeface="Verdana"/>
              <a:cs typeface="Verdana"/>
            </a:endParaRPr>
          </a:p>
          <a:p>
            <a:pPr marL="1181100" marR="407034" indent="-228600">
              <a:spcBef>
                <a:spcPts val="430"/>
              </a:spcBef>
            </a:pPr>
            <a:r>
              <a:rPr dirty="0">
                <a:solidFill>
                  <a:srgbClr val="CC0000"/>
                </a:solidFill>
                <a:latin typeface="Wingdings"/>
                <a:cs typeface="Wingdings"/>
              </a:rPr>
              <a:t></a:t>
            </a:r>
            <a:r>
              <a:rPr spc="-254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latin typeface="Verdana"/>
                <a:cs typeface="Verdana"/>
              </a:rPr>
              <a:t>Đườn</a:t>
            </a:r>
            <a:r>
              <a:rPr dirty="0">
                <a:latin typeface="Verdana"/>
                <a:cs typeface="Verdana"/>
              </a:rPr>
              <a:t>g </a:t>
            </a:r>
            <a:r>
              <a:rPr spc="-5" dirty="0">
                <a:latin typeface="Verdana"/>
                <a:cs typeface="Verdana"/>
              </a:rPr>
              <a:t>thẳn</a:t>
            </a:r>
            <a:r>
              <a:rPr dirty="0">
                <a:latin typeface="Verdana"/>
                <a:cs typeface="Verdana"/>
              </a:rPr>
              <a:t>g </a:t>
            </a:r>
            <a:r>
              <a:rPr spc="-5" dirty="0">
                <a:latin typeface="Verdana"/>
                <a:cs typeface="Verdana"/>
              </a:rPr>
              <a:t>đ</a:t>
            </a:r>
            <a:r>
              <a:rPr dirty="0">
                <a:latin typeface="Verdana"/>
                <a:cs typeface="Verdana"/>
              </a:rPr>
              <a:t>i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qu</a:t>
            </a:r>
            <a:r>
              <a:rPr dirty="0">
                <a:latin typeface="Verdana"/>
                <a:cs typeface="Verdana"/>
              </a:rPr>
              <a:t>a </a:t>
            </a:r>
            <a:r>
              <a:rPr spc="-10" dirty="0">
                <a:latin typeface="Verdana"/>
                <a:cs typeface="Verdana"/>
              </a:rPr>
              <a:t>t</a:t>
            </a:r>
            <a:r>
              <a:rPr dirty="0">
                <a:latin typeface="Verdana"/>
                <a:cs typeface="Verdana"/>
              </a:rPr>
              <a:t>ọa </a:t>
            </a:r>
            <a:r>
              <a:rPr spc="-5" dirty="0">
                <a:latin typeface="Verdana"/>
                <a:cs typeface="Verdana"/>
              </a:rPr>
              <a:t>đ</a:t>
            </a:r>
            <a:r>
              <a:rPr dirty="0">
                <a:latin typeface="Verdana"/>
                <a:cs typeface="Verdana"/>
              </a:rPr>
              <a:t>ộ </a:t>
            </a:r>
            <a:r>
              <a:rPr spc="-5" dirty="0">
                <a:latin typeface="Verdana"/>
                <a:cs typeface="Verdana"/>
              </a:rPr>
              <a:t>(4</a:t>
            </a:r>
            <a:r>
              <a:rPr dirty="0">
                <a:latin typeface="Verdana"/>
                <a:cs typeface="Verdana"/>
              </a:rPr>
              <a:t>, 2)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và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(2</a:t>
            </a:r>
            <a:r>
              <a:rPr dirty="0">
                <a:latin typeface="Verdana"/>
                <a:cs typeface="Verdana"/>
              </a:rPr>
              <a:t>, 0) có </a:t>
            </a:r>
            <a:r>
              <a:rPr spc="-5" dirty="0">
                <a:latin typeface="Verdana"/>
                <a:cs typeface="Verdana"/>
              </a:rPr>
              <a:t>gia</a:t>
            </a:r>
            <a:r>
              <a:rPr dirty="0">
                <a:latin typeface="Verdana"/>
                <a:cs typeface="Verdana"/>
              </a:rPr>
              <a:t>o với  </a:t>
            </a:r>
            <a:r>
              <a:rPr spc="-5" dirty="0">
                <a:latin typeface="Verdana"/>
                <a:cs typeface="Verdana"/>
              </a:rPr>
              <a:t>đoạn thẳng</a:t>
            </a:r>
            <a:r>
              <a:rPr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đi</a:t>
            </a:r>
            <a:r>
              <a:rPr spc="1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qua (0,</a:t>
            </a:r>
            <a:r>
              <a:rPr dirty="0">
                <a:latin typeface="Verdana"/>
                <a:cs typeface="Verdana"/>
              </a:rPr>
              <a:t> 4) và</a:t>
            </a:r>
            <a:r>
              <a:rPr spc="-5" dirty="0">
                <a:latin typeface="Verdana"/>
                <a:cs typeface="Verdana"/>
              </a:rPr>
              <a:t> (4,</a:t>
            </a:r>
            <a:r>
              <a:rPr dirty="0">
                <a:latin typeface="Verdana"/>
                <a:cs typeface="Verdana"/>
              </a:rPr>
              <a:t> 0)?</a:t>
            </a:r>
            <a:endParaRPr>
              <a:latin typeface="Verdana"/>
              <a:cs typeface="Verdana"/>
            </a:endParaRPr>
          </a:p>
          <a:p>
            <a:pPr marL="781050" lvl="1" indent="-286385">
              <a:spcBef>
                <a:spcPts val="480"/>
              </a:spcBef>
              <a:buClr>
                <a:srgbClr val="CC0000"/>
              </a:buClr>
              <a:buFont typeface="Wingdings"/>
              <a:buChar char=""/>
              <a:tabLst>
                <a:tab pos="781685" algn="l"/>
              </a:tabLst>
            </a:pPr>
            <a:r>
              <a:rPr sz="2000" spc="-5" dirty="0">
                <a:latin typeface="Verdana"/>
                <a:cs typeface="Verdana"/>
              </a:rPr>
              <a:t>Giải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pháp</a:t>
            </a:r>
            <a:endParaRPr sz="2000">
              <a:latin typeface="Verdana"/>
              <a:cs typeface="Verdana"/>
            </a:endParaRPr>
          </a:p>
          <a:p>
            <a:pPr marL="952500">
              <a:spcBef>
                <a:spcPts val="434"/>
              </a:spcBef>
            </a:pPr>
            <a:r>
              <a:rPr dirty="0">
                <a:solidFill>
                  <a:srgbClr val="CC0000"/>
                </a:solidFill>
                <a:latin typeface="Wingdings"/>
                <a:cs typeface="Wingdings"/>
              </a:rPr>
              <a:t></a:t>
            </a:r>
            <a:r>
              <a:rPr spc="-254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latin typeface="Verdana"/>
                <a:cs typeface="Verdana"/>
              </a:rPr>
              <a:t>Xá</a:t>
            </a:r>
            <a:r>
              <a:rPr dirty="0">
                <a:latin typeface="Verdana"/>
                <a:cs typeface="Verdana"/>
              </a:rPr>
              <a:t>c </a:t>
            </a:r>
            <a:r>
              <a:rPr spc="-5" dirty="0">
                <a:latin typeface="Verdana"/>
                <a:cs typeface="Verdana"/>
              </a:rPr>
              <a:t>địn</a:t>
            </a:r>
            <a:r>
              <a:rPr dirty="0">
                <a:latin typeface="Verdana"/>
                <a:cs typeface="Verdana"/>
              </a:rPr>
              <a:t>h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phươn</a:t>
            </a:r>
            <a:r>
              <a:rPr dirty="0">
                <a:latin typeface="Verdana"/>
                <a:cs typeface="Verdana"/>
              </a:rPr>
              <a:t>g </a:t>
            </a:r>
            <a:r>
              <a:rPr spc="-5" dirty="0">
                <a:latin typeface="Verdana"/>
                <a:cs typeface="Verdana"/>
              </a:rPr>
              <a:t>trìn</a:t>
            </a:r>
            <a:r>
              <a:rPr dirty="0">
                <a:latin typeface="Verdana"/>
                <a:cs typeface="Verdana"/>
              </a:rPr>
              <a:t>h </a:t>
            </a:r>
            <a:r>
              <a:rPr spc="-5" dirty="0">
                <a:latin typeface="Verdana"/>
                <a:cs typeface="Verdana"/>
              </a:rPr>
              <a:t>đ</a:t>
            </a:r>
            <a:r>
              <a:rPr dirty="0">
                <a:latin typeface="Verdana"/>
                <a:cs typeface="Verdana"/>
              </a:rPr>
              <a:t>ường </a:t>
            </a:r>
            <a:r>
              <a:rPr spc="-5" dirty="0">
                <a:latin typeface="Verdana"/>
                <a:cs typeface="Verdana"/>
              </a:rPr>
              <a:t>thẳn</a:t>
            </a:r>
            <a:r>
              <a:rPr dirty="0">
                <a:latin typeface="Verdana"/>
                <a:cs typeface="Verdana"/>
              </a:rPr>
              <a:t>g </a:t>
            </a:r>
            <a:r>
              <a:rPr spc="-5" dirty="0">
                <a:latin typeface="Verdana"/>
                <a:cs typeface="Verdana"/>
              </a:rPr>
              <a:t>qu</a:t>
            </a:r>
            <a:r>
              <a:rPr dirty="0">
                <a:latin typeface="Verdana"/>
                <a:cs typeface="Verdana"/>
              </a:rPr>
              <a:t>a 2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điể</a:t>
            </a:r>
            <a:r>
              <a:rPr dirty="0">
                <a:latin typeface="Verdana"/>
                <a:cs typeface="Verdana"/>
              </a:rPr>
              <a:t>m</a:t>
            </a:r>
            <a:r>
              <a:rPr spc="1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y=ax+b,</a:t>
            </a:r>
            <a:endParaRPr>
              <a:latin typeface="Verdana"/>
              <a:cs typeface="Verdana"/>
            </a:endParaRPr>
          </a:p>
          <a:p>
            <a:pPr marL="1181100"/>
            <a:r>
              <a:rPr spc="-5" dirty="0">
                <a:latin typeface="Verdana"/>
                <a:cs typeface="Verdana"/>
              </a:rPr>
              <a:t>trong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đó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a=(y2-y1)/(x2-x1)</a:t>
            </a:r>
            <a:endParaRPr>
              <a:latin typeface="Verdana"/>
              <a:cs typeface="Verdana"/>
            </a:endParaRPr>
          </a:p>
          <a:p>
            <a:pPr marL="952500">
              <a:spcBef>
                <a:spcPts val="434"/>
              </a:spcBef>
            </a:pPr>
            <a:r>
              <a:rPr dirty="0">
                <a:solidFill>
                  <a:srgbClr val="CC0000"/>
                </a:solidFill>
                <a:latin typeface="Wingdings"/>
                <a:cs typeface="Wingdings"/>
              </a:rPr>
              <a:t></a:t>
            </a:r>
            <a:r>
              <a:rPr spc="-254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latin typeface="Verdana"/>
                <a:cs typeface="Verdana"/>
              </a:rPr>
              <a:t>t</a:t>
            </a:r>
            <a:r>
              <a:rPr dirty="0">
                <a:latin typeface="Verdana"/>
                <a:cs typeface="Verdana"/>
              </a:rPr>
              <a:t>ừ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ví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d</a:t>
            </a:r>
            <a:r>
              <a:rPr dirty="0">
                <a:latin typeface="Verdana"/>
                <a:cs typeface="Verdana"/>
              </a:rPr>
              <a:t>ụ </a:t>
            </a:r>
            <a:r>
              <a:rPr spc="-5" dirty="0">
                <a:latin typeface="Verdana"/>
                <a:cs typeface="Verdana"/>
              </a:rPr>
              <a:t>trê</a:t>
            </a:r>
            <a:r>
              <a:rPr dirty="0">
                <a:latin typeface="Verdana"/>
                <a:cs typeface="Verdana"/>
              </a:rPr>
              <a:t>n </a:t>
            </a:r>
            <a:r>
              <a:rPr spc="-5" dirty="0">
                <a:latin typeface="Verdana"/>
                <a:cs typeface="Verdana"/>
              </a:rPr>
              <a:t>t</a:t>
            </a:r>
            <a:r>
              <a:rPr dirty="0">
                <a:latin typeface="Verdana"/>
                <a:cs typeface="Verdana"/>
              </a:rPr>
              <a:t>a có: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y</a:t>
            </a:r>
            <a:r>
              <a:rPr spc="10" dirty="0">
                <a:latin typeface="Verdana"/>
                <a:cs typeface="Verdana"/>
              </a:rPr>
              <a:t>=</a:t>
            </a:r>
            <a:r>
              <a:rPr dirty="0">
                <a:latin typeface="Verdana"/>
                <a:cs typeface="Verdana"/>
              </a:rPr>
              <a:t>-2+x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và y=4</a:t>
            </a:r>
            <a:r>
              <a:rPr spc="-5" dirty="0">
                <a:latin typeface="Verdana"/>
                <a:cs typeface="Verdana"/>
              </a:rPr>
              <a:t>-</a:t>
            </a:r>
            <a:r>
              <a:rPr dirty="0">
                <a:latin typeface="Verdana"/>
                <a:cs typeface="Verdana"/>
              </a:rPr>
              <a:t>x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gia</a:t>
            </a:r>
            <a:r>
              <a:rPr dirty="0">
                <a:latin typeface="Verdana"/>
                <a:cs typeface="Verdana"/>
              </a:rPr>
              <a:t>o </a:t>
            </a:r>
            <a:r>
              <a:rPr spc="-5" dirty="0">
                <a:latin typeface="Verdana"/>
                <a:cs typeface="Verdana"/>
              </a:rPr>
              <a:t>điể</a:t>
            </a:r>
            <a:r>
              <a:rPr dirty="0">
                <a:latin typeface="Verdana"/>
                <a:cs typeface="Verdana"/>
              </a:rPr>
              <a:t>m</a:t>
            </a:r>
            <a:r>
              <a:rPr spc="1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tạ</a:t>
            </a:r>
            <a:r>
              <a:rPr dirty="0">
                <a:latin typeface="Verdana"/>
                <a:cs typeface="Verdana"/>
              </a:rPr>
              <a:t>i </a:t>
            </a:r>
            <a:r>
              <a:rPr spc="-5" dirty="0">
                <a:latin typeface="Verdana"/>
                <a:cs typeface="Verdana"/>
              </a:rPr>
              <a:t>(3</a:t>
            </a:r>
            <a:r>
              <a:rPr dirty="0">
                <a:latin typeface="Verdana"/>
                <a:cs typeface="Verdana"/>
              </a:rPr>
              <a:t>, </a:t>
            </a:r>
            <a:r>
              <a:rPr spc="5" dirty="0">
                <a:latin typeface="Verdana"/>
                <a:cs typeface="Verdana"/>
              </a:rPr>
              <a:t>1</a:t>
            </a:r>
            <a:r>
              <a:rPr dirty="0">
                <a:latin typeface="Verdana"/>
                <a:cs typeface="Verdana"/>
              </a:rPr>
              <a:t>)</a:t>
            </a:r>
            <a:endParaRPr>
              <a:latin typeface="Verdana"/>
              <a:cs typeface="Verdana"/>
            </a:endParaRPr>
          </a:p>
          <a:p>
            <a:pPr marL="781050" marR="270510" lvl="1" indent="-285750">
              <a:spcBef>
                <a:spcPts val="475"/>
              </a:spcBef>
              <a:buClr>
                <a:srgbClr val="CC0000"/>
              </a:buClr>
              <a:buFont typeface="Wingdings"/>
              <a:buChar char=""/>
              <a:tabLst>
                <a:tab pos="781685" algn="l"/>
                <a:tab pos="2781300" algn="l"/>
              </a:tabLst>
            </a:pPr>
            <a:r>
              <a:rPr sz="2000" spc="-5" dirty="0">
                <a:latin typeface="Verdana"/>
                <a:cs typeface="Verdana"/>
              </a:rPr>
              <a:t>Tổng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quát: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nếu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ta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có</a:t>
            </a:r>
            <a:r>
              <a:rPr sz="2000" dirty="0">
                <a:latin typeface="Verdana"/>
                <a:cs typeface="Verdana"/>
              </a:rPr>
              <a:t> y=a</a:t>
            </a:r>
            <a:r>
              <a:rPr sz="1950" baseline="-21367" dirty="0">
                <a:latin typeface="Verdana"/>
                <a:cs typeface="Verdana"/>
              </a:rPr>
              <a:t>1</a:t>
            </a:r>
            <a:r>
              <a:rPr sz="2000" dirty="0">
                <a:latin typeface="Verdana"/>
                <a:cs typeface="Verdana"/>
              </a:rPr>
              <a:t>+b</a:t>
            </a:r>
            <a:r>
              <a:rPr sz="1950" baseline="-21367" dirty="0">
                <a:latin typeface="Verdana"/>
                <a:cs typeface="Verdana"/>
              </a:rPr>
              <a:t>1</a:t>
            </a:r>
            <a:r>
              <a:rPr sz="2000" dirty="0">
                <a:latin typeface="Verdana"/>
                <a:cs typeface="Verdana"/>
              </a:rPr>
              <a:t>x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và</a:t>
            </a:r>
            <a:r>
              <a:rPr sz="2000" dirty="0">
                <a:latin typeface="Verdana"/>
                <a:cs typeface="Verdana"/>
              </a:rPr>
              <a:t> y=a</a:t>
            </a:r>
            <a:r>
              <a:rPr sz="1950" baseline="-21367" dirty="0">
                <a:latin typeface="Verdana"/>
                <a:cs typeface="Verdana"/>
              </a:rPr>
              <a:t>2</a:t>
            </a:r>
            <a:r>
              <a:rPr sz="2000" dirty="0">
                <a:latin typeface="Verdana"/>
                <a:cs typeface="Verdana"/>
              </a:rPr>
              <a:t>+b</a:t>
            </a:r>
            <a:r>
              <a:rPr sz="1950" baseline="-21367" dirty="0">
                <a:latin typeface="Verdana"/>
                <a:cs typeface="Verdana"/>
              </a:rPr>
              <a:t>2</a:t>
            </a:r>
            <a:r>
              <a:rPr sz="2000" dirty="0">
                <a:latin typeface="Verdana"/>
                <a:cs typeface="Verdana"/>
              </a:rPr>
              <a:t>x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thì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giao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điểm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sẽ ở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tại:	</a:t>
            </a:r>
            <a:r>
              <a:rPr sz="2000" dirty="0">
                <a:latin typeface="Verdana"/>
                <a:cs typeface="Verdana"/>
              </a:rPr>
              <a:t>x</a:t>
            </a:r>
            <a:r>
              <a:rPr sz="1950" baseline="-21367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=-(a</a:t>
            </a:r>
            <a:r>
              <a:rPr sz="1950" baseline="-21367" dirty="0">
                <a:latin typeface="Verdana"/>
                <a:cs typeface="Verdana"/>
              </a:rPr>
              <a:t>1</a:t>
            </a:r>
            <a:r>
              <a:rPr sz="2000" dirty="0">
                <a:latin typeface="Verdana"/>
                <a:cs typeface="Verdana"/>
              </a:rPr>
              <a:t>-a</a:t>
            </a:r>
            <a:r>
              <a:rPr sz="1950" baseline="-21367" dirty="0">
                <a:latin typeface="Verdana"/>
                <a:cs typeface="Verdana"/>
              </a:rPr>
              <a:t>2</a:t>
            </a:r>
            <a:r>
              <a:rPr sz="2000" dirty="0">
                <a:latin typeface="Verdana"/>
                <a:cs typeface="Verdana"/>
              </a:rPr>
              <a:t>)/(b</a:t>
            </a:r>
            <a:r>
              <a:rPr sz="1950" baseline="-21367" dirty="0">
                <a:latin typeface="Verdana"/>
                <a:cs typeface="Verdana"/>
              </a:rPr>
              <a:t>1</a:t>
            </a:r>
            <a:r>
              <a:rPr sz="2000" dirty="0">
                <a:latin typeface="Verdana"/>
                <a:cs typeface="Verdana"/>
              </a:rPr>
              <a:t>-b</a:t>
            </a:r>
            <a:r>
              <a:rPr sz="1950" baseline="-21367" dirty="0">
                <a:latin typeface="Verdana"/>
                <a:cs typeface="Verdana"/>
              </a:rPr>
              <a:t>2</a:t>
            </a:r>
            <a:r>
              <a:rPr sz="2000" dirty="0">
                <a:latin typeface="Verdana"/>
                <a:cs typeface="Verdana"/>
              </a:rPr>
              <a:t>)</a:t>
            </a:r>
            <a:endParaRPr sz="2000">
              <a:latin typeface="Verdana"/>
              <a:cs typeface="Verdana"/>
            </a:endParaRPr>
          </a:p>
          <a:p>
            <a:pPr marL="2781300">
              <a:spcBef>
                <a:spcPts val="480"/>
              </a:spcBef>
            </a:pPr>
            <a:r>
              <a:rPr sz="2000" dirty="0">
                <a:latin typeface="Verdana"/>
                <a:cs typeface="Verdana"/>
              </a:rPr>
              <a:t>y</a:t>
            </a:r>
            <a:r>
              <a:rPr sz="1950" baseline="-21367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=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1950" baseline="-21367" dirty="0">
                <a:latin typeface="Verdana"/>
                <a:cs typeface="Verdana"/>
              </a:rPr>
              <a:t>1</a:t>
            </a:r>
            <a:r>
              <a:rPr sz="2000" dirty="0">
                <a:latin typeface="Verdana"/>
                <a:cs typeface="Verdana"/>
              </a:rPr>
              <a:t>+b</a:t>
            </a:r>
            <a:r>
              <a:rPr sz="1950" baseline="-21367" dirty="0">
                <a:latin typeface="Verdana"/>
                <a:cs typeface="Verdana"/>
              </a:rPr>
              <a:t>1</a:t>
            </a:r>
            <a:r>
              <a:rPr sz="2000" dirty="0">
                <a:latin typeface="Verdana"/>
                <a:cs typeface="Verdana"/>
              </a:rPr>
              <a:t>x</a:t>
            </a:r>
            <a:r>
              <a:rPr sz="1950" baseline="-21367" dirty="0">
                <a:latin typeface="Verdana"/>
                <a:cs typeface="Verdana"/>
              </a:rPr>
              <a:t>i</a:t>
            </a:r>
            <a:endParaRPr sz="1950" baseline="-21367">
              <a:latin typeface="Verdana"/>
              <a:cs typeface="Verdana"/>
            </a:endParaRPr>
          </a:p>
          <a:p>
            <a:pPr marL="781050" marR="55244" lvl="1" indent="-285750">
              <a:spcBef>
                <a:spcPts val="480"/>
              </a:spcBef>
              <a:buClr>
                <a:srgbClr val="CC0000"/>
              </a:buClr>
              <a:buFont typeface="Wingdings"/>
              <a:buChar char=""/>
              <a:tabLst>
                <a:tab pos="781685" algn="l"/>
              </a:tabLst>
            </a:pPr>
            <a:r>
              <a:rPr sz="2000" spc="-5" dirty="0">
                <a:latin typeface="Verdana"/>
                <a:cs typeface="Verdana"/>
              </a:rPr>
              <a:t>Các </a:t>
            </a:r>
            <a:r>
              <a:rPr sz="2000" spc="-10" dirty="0">
                <a:latin typeface="Verdana"/>
                <a:cs typeface="Verdana"/>
              </a:rPr>
              <a:t>trường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hợp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đặc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biệt: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song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song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với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trục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x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hay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trục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y, song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song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với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nhau.</a:t>
            </a:r>
            <a:endParaRPr sz="20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508525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2" y="880363"/>
            <a:ext cx="711009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Xác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định</a:t>
            </a:r>
            <a:r>
              <a:rPr sz="3800" spc="-3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giao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dirty="0">
                <a:latin typeface="Verdana"/>
                <a:cs typeface="Verdana"/>
              </a:rPr>
              <a:t>hai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đoạn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thẳng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44013" y="1753870"/>
            <a:ext cx="5153660" cy="2891817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81000" marR="30480" indent="-343535">
              <a:lnSpc>
                <a:spcPts val="2160"/>
              </a:lnSpc>
              <a:spcBef>
                <a:spcPts val="370"/>
              </a:spcBef>
              <a:buClr>
                <a:srgbClr val="CC0000"/>
              </a:buClr>
              <a:buFont typeface="Wingdings"/>
              <a:buChar char=""/>
              <a:tabLst>
                <a:tab pos="381635" algn="l"/>
              </a:tabLst>
            </a:pPr>
            <a:r>
              <a:rPr sz="2000" spc="-5" dirty="0">
                <a:latin typeface="Verdana"/>
                <a:cs typeface="Verdana"/>
              </a:rPr>
              <a:t>Nếu</a:t>
            </a:r>
            <a:r>
              <a:rPr sz="2000" spc="-10" dirty="0">
                <a:latin typeface="Verdana"/>
                <a:cs typeface="Verdana"/>
              </a:rPr>
              <a:t> sử</a:t>
            </a:r>
            <a:r>
              <a:rPr sz="2000" spc="-5" dirty="0">
                <a:latin typeface="Verdana"/>
                <a:cs typeface="Verdana"/>
              </a:rPr>
              <a:t> dụng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phương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pháp tìm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giao 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đường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thẳng: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đòi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hỏi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kiểm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tra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tọa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độ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của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giao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điểm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đường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thẳng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có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nằm 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trong</a:t>
            </a:r>
            <a:r>
              <a:rPr sz="2000" spc="-5" dirty="0">
                <a:latin typeface="Verdana"/>
                <a:cs typeface="Verdana"/>
              </a:rPr>
              <a:t> đoạn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thẳng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hay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không?</a:t>
            </a:r>
            <a:endParaRPr sz="2000">
              <a:latin typeface="Verdana"/>
              <a:cs typeface="Verdana"/>
            </a:endParaRPr>
          </a:p>
          <a:p>
            <a:pPr marL="381000" marR="320040" indent="-343535">
              <a:lnSpc>
                <a:spcPts val="2160"/>
              </a:lnSpc>
              <a:spcBef>
                <a:spcPts val="480"/>
              </a:spcBef>
              <a:buClr>
                <a:srgbClr val="CC0000"/>
              </a:buClr>
              <a:buFont typeface="Wingdings"/>
              <a:buChar char=""/>
              <a:tabLst>
                <a:tab pos="381635" algn="l"/>
              </a:tabLst>
            </a:pPr>
            <a:r>
              <a:rPr sz="2000" spc="-10" dirty="0">
                <a:latin typeface="Verdana"/>
                <a:cs typeface="Verdana"/>
              </a:rPr>
              <a:t>Phương</a:t>
            </a:r>
            <a:r>
              <a:rPr sz="2000" spc="-5" dirty="0">
                <a:latin typeface="Verdana"/>
                <a:cs typeface="Verdana"/>
              </a:rPr>
              <a:t> pháp khác: </a:t>
            </a:r>
            <a:r>
              <a:rPr sz="2000" spc="-10" dirty="0">
                <a:latin typeface="Verdana"/>
                <a:cs typeface="Verdana"/>
              </a:rPr>
              <a:t>biểu</a:t>
            </a:r>
            <a:r>
              <a:rPr sz="2000" spc="-5" dirty="0">
                <a:latin typeface="Verdana"/>
                <a:cs typeface="Verdana"/>
              </a:rPr>
              <a:t> diễn </a:t>
            </a:r>
            <a:r>
              <a:rPr sz="2000" spc="-10" dirty="0">
                <a:latin typeface="Verdana"/>
                <a:cs typeface="Verdana"/>
              </a:rPr>
              <a:t>đoạn </a:t>
            </a:r>
            <a:r>
              <a:rPr sz="2000" spc="-68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thẳng</a:t>
            </a:r>
            <a:r>
              <a:rPr sz="2000" spc="-5" dirty="0">
                <a:latin typeface="Verdana"/>
                <a:cs typeface="Verdana"/>
              </a:rPr>
              <a:t> bằng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tham</a:t>
            </a:r>
            <a:r>
              <a:rPr sz="2000" spc="-5" dirty="0">
                <a:latin typeface="Verdana"/>
                <a:cs typeface="Verdana"/>
              </a:rPr>
              <a:t> số</a:t>
            </a:r>
            <a:endParaRPr sz="2000">
              <a:latin typeface="Verdana"/>
              <a:cs typeface="Verdana"/>
            </a:endParaRPr>
          </a:p>
          <a:p>
            <a:pPr marL="781050" lvl="1" indent="-286385">
              <a:spcBef>
                <a:spcPts val="170"/>
              </a:spcBef>
              <a:buClr>
                <a:srgbClr val="CC0000"/>
              </a:buClr>
              <a:buFont typeface="Wingdings"/>
              <a:buChar char=""/>
              <a:tabLst>
                <a:tab pos="781685" algn="l"/>
              </a:tabLst>
            </a:pPr>
            <a:r>
              <a:rPr sz="1700" spc="-10" dirty="0">
                <a:latin typeface="Verdana"/>
                <a:cs typeface="Verdana"/>
              </a:rPr>
              <a:t>Đoạn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thẳng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1 từ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5" dirty="0">
                <a:latin typeface="Verdana"/>
                <a:cs typeface="Verdana"/>
              </a:rPr>
              <a:t>(x</a:t>
            </a:r>
            <a:r>
              <a:rPr sz="1650" spc="7" baseline="-20202" dirty="0">
                <a:latin typeface="Verdana"/>
                <a:cs typeface="Verdana"/>
              </a:rPr>
              <a:t>A</a:t>
            </a:r>
            <a:r>
              <a:rPr sz="1700" spc="5" dirty="0">
                <a:latin typeface="Verdana"/>
                <a:cs typeface="Verdana"/>
              </a:rPr>
              <a:t>,</a:t>
            </a:r>
            <a:r>
              <a:rPr sz="1700" spc="-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y</a:t>
            </a:r>
            <a:r>
              <a:rPr sz="1650" baseline="-20202" dirty="0">
                <a:latin typeface="Verdana"/>
                <a:cs typeface="Verdana"/>
              </a:rPr>
              <a:t>A</a:t>
            </a:r>
            <a:r>
              <a:rPr sz="1700" dirty="0">
                <a:latin typeface="Verdana"/>
                <a:cs typeface="Verdana"/>
              </a:rPr>
              <a:t>)</a:t>
            </a:r>
            <a:r>
              <a:rPr sz="1700" spc="-5" dirty="0">
                <a:latin typeface="Verdana"/>
                <a:cs typeface="Verdana"/>
              </a:rPr>
              <a:t> đến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5" dirty="0">
                <a:latin typeface="Verdana"/>
                <a:cs typeface="Verdana"/>
              </a:rPr>
              <a:t>(x</a:t>
            </a:r>
            <a:r>
              <a:rPr sz="1650" spc="7" baseline="-20202" dirty="0">
                <a:latin typeface="Verdana"/>
                <a:cs typeface="Verdana"/>
              </a:rPr>
              <a:t>B</a:t>
            </a:r>
            <a:r>
              <a:rPr sz="1700" spc="5" dirty="0">
                <a:latin typeface="Verdana"/>
                <a:cs typeface="Verdana"/>
              </a:rPr>
              <a:t>,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5" dirty="0">
                <a:latin typeface="Verdana"/>
                <a:cs typeface="Verdana"/>
              </a:rPr>
              <a:t>y</a:t>
            </a:r>
            <a:r>
              <a:rPr sz="1650" spc="7" baseline="-20202" dirty="0">
                <a:latin typeface="Verdana"/>
                <a:cs typeface="Verdana"/>
              </a:rPr>
              <a:t>B</a:t>
            </a:r>
            <a:r>
              <a:rPr sz="1700" spc="5" dirty="0">
                <a:latin typeface="Verdana"/>
                <a:cs typeface="Verdana"/>
              </a:rPr>
              <a:t>)</a:t>
            </a:r>
            <a:endParaRPr sz="1700">
              <a:latin typeface="Verdana"/>
              <a:cs typeface="Verdana"/>
            </a:endParaRPr>
          </a:p>
          <a:p>
            <a:pPr marL="781050" lvl="1" indent="-286385">
              <a:spcBef>
                <a:spcPts val="204"/>
              </a:spcBef>
              <a:buClr>
                <a:srgbClr val="CC0000"/>
              </a:buClr>
              <a:buFont typeface="Wingdings"/>
              <a:buChar char=""/>
              <a:tabLst>
                <a:tab pos="781685" algn="l"/>
              </a:tabLst>
            </a:pPr>
            <a:r>
              <a:rPr sz="1700" spc="-5" dirty="0">
                <a:latin typeface="Verdana"/>
                <a:cs typeface="Verdana"/>
              </a:rPr>
              <a:t>Đoạn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thẳng </a:t>
            </a:r>
            <a:r>
              <a:rPr sz="1700" dirty="0">
                <a:latin typeface="Verdana"/>
                <a:cs typeface="Verdana"/>
              </a:rPr>
              <a:t>2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từ </a:t>
            </a:r>
            <a:r>
              <a:rPr sz="1700" spc="5" dirty="0">
                <a:latin typeface="Verdana"/>
                <a:cs typeface="Verdana"/>
              </a:rPr>
              <a:t>(x</a:t>
            </a:r>
            <a:r>
              <a:rPr sz="1650" spc="7" baseline="-20202" dirty="0">
                <a:latin typeface="Verdana"/>
                <a:cs typeface="Verdana"/>
              </a:rPr>
              <a:t>C</a:t>
            </a:r>
            <a:r>
              <a:rPr sz="1700" spc="5" dirty="0">
                <a:latin typeface="Verdana"/>
                <a:cs typeface="Verdana"/>
              </a:rPr>
              <a:t>,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spc="5" dirty="0">
                <a:latin typeface="Verdana"/>
                <a:cs typeface="Verdana"/>
              </a:rPr>
              <a:t>y</a:t>
            </a:r>
            <a:r>
              <a:rPr sz="1650" spc="7" baseline="-20202" dirty="0">
                <a:latin typeface="Verdana"/>
                <a:cs typeface="Verdana"/>
              </a:rPr>
              <a:t>C</a:t>
            </a:r>
            <a:r>
              <a:rPr sz="1700" spc="5" dirty="0">
                <a:latin typeface="Verdana"/>
                <a:cs typeface="Verdana"/>
              </a:rPr>
              <a:t>)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đến </a:t>
            </a:r>
            <a:r>
              <a:rPr sz="1700" spc="5" dirty="0">
                <a:latin typeface="Verdana"/>
                <a:cs typeface="Verdana"/>
              </a:rPr>
              <a:t>(x</a:t>
            </a:r>
            <a:r>
              <a:rPr sz="1650" spc="7" baseline="-20202" dirty="0">
                <a:latin typeface="Verdana"/>
                <a:cs typeface="Verdana"/>
              </a:rPr>
              <a:t>D</a:t>
            </a:r>
            <a:r>
              <a:rPr sz="1700" spc="5" dirty="0">
                <a:latin typeface="Verdana"/>
                <a:cs typeface="Verdana"/>
              </a:rPr>
              <a:t>,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spc="5" dirty="0">
                <a:latin typeface="Verdana"/>
                <a:cs typeface="Verdana"/>
              </a:rPr>
              <a:t>y</a:t>
            </a:r>
            <a:r>
              <a:rPr sz="1650" spc="7" baseline="-20202" dirty="0">
                <a:latin typeface="Verdana"/>
                <a:cs typeface="Verdana"/>
              </a:rPr>
              <a:t>D</a:t>
            </a:r>
            <a:r>
              <a:rPr sz="1700" spc="5" dirty="0">
                <a:latin typeface="Verdana"/>
                <a:cs typeface="Verdana"/>
              </a:rPr>
              <a:t>)</a:t>
            </a:r>
            <a:endParaRPr sz="1700">
              <a:latin typeface="Verdana"/>
              <a:cs typeface="Verdana"/>
            </a:endParaRPr>
          </a:p>
          <a:p>
            <a:pPr marL="781050" marR="291465" lvl="1" indent="-285750">
              <a:lnSpc>
                <a:spcPts val="1839"/>
              </a:lnSpc>
              <a:spcBef>
                <a:spcPts val="434"/>
              </a:spcBef>
              <a:buClr>
                <a:srgbClr val="CC0000"/>
              </a:buClr>
              <a:buFont typeface="Wingdings"/>
              <a:buChar char=""/>
              <a:tabLst>
                <a:tab pos="781685" algn="l"/>
              </a:tabLst>
            </a:pPr>
            <a:r>
              <a:rPr sz="1700" spc="-5" dirty="0">
                <a:latin typeface="Verdana"/>
                <a:cs typeface="Verdana"/>
              </a:rPr>
              <a:t>Tính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toán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giao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của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hai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đoạn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thẳng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tại </a:t>
            </a:r>
            <a:r>
              <a:rPr sz="1700" spc="-58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tọa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độ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có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t,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s: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34424" y="4995877"/>
            <a:ext cx="4081145" cy="721360"/>
          </a:xfrm>
          <a:custGeom>
            <a:avLst/>
            <a:gdLst/>
            <a:ahLst/>
            <a:cxnLst/>
            <a:rect l="l" t="t" r="r" b="b"/>
            <a:pathLst>
              <a:path w="4081145" h="721360">
                <a:moveTo>
                  <a:pt x="0" y="0"/>
                </a:moveTo>
                <a:lnTo>
                  <a:pt x="4026736" y="0"/>
                </a:lnTo>
              </a:path>
              <a:path w="4081145" h="721360">
                <a:moveTo>
                  <a:pt x="54019" y="721228"/>
                </a:moveTo>
                <a:lnTo>
                  <a:pt x="4080684" y="721228"/>
                </a:lnTo>
              </a:path>
            </a:pathLst>
          </a:custGeom>
          <a:ln w="171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125083" y="4813815"/>
            <a:ext cx="4104004" cy="116776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111125" indent="-73660">
              <a:spcBef>
                <a:spcPts val="1310"/>
              </a:spcBef>
            </a:pPr>
            <a:r>
              <a:rPr sz="1750" spc="85" dirty="0">
                <a:latin typeface="Times New Roman"/>
                <a:cs typeface="Times New Roman"/>
              </a:rPr>
              <a:t>(</a:t>
            </a:r>
            <a:r>
              <a:rPr sz="1750" spc="-200" dirty="0">
                <a:latin typeface="Times New Roman"/>
                <a:cs typeface="Times New Roman"/>
              </a:rPr>
              <a:t> </a:t>
            </a:r>
            <a:r>
              <a:rPr sz="1750" i="1" spc="170" dirty="0">
                <a:latin typeface="Times New Roman"/>
                <a:cs typeface="Times New Roman"/>
              </a:rPr>
              <a:t>x</a:t>
            </a:r>
            <a:r>
              <a:rPr sz="1875" i="1" spc="172" baseline="-20000" dirty="0">
                <a:latin typeface="Times New Roman"/>
                <a:cs typeface="Times New Roman"/>
              </a:rPr>
              <a:t>B</a:t>
            </a:r>
            <a:r>
              <a:rPr sz="1875" i="1" spc="67" baseline="-20000" dirty="0">
                <a:latin typeface="Times New Roman"/>
                <a:cs typeface="Times New Roman"/>
              </a:rPr>
              <a:t> </a:t>
            </a:r>
            <a:r>
              <a:rPr sz="1750" spc="145" dirty="0">
                <a:latin typeface="Symbol"/>
                <a:cs typeface="Symbol"/>
              </a:rPr>
              <a:t></a:t>
            </a:r>
            <a:r>
              <a:rPr sz="1750" spc="-254" dirty="0">
                <a:latin typeface="Times New Roman"/>
                <a:cs typeface="Times New Roman"/>
              </a:rPr>
              <a:t> </a:t>
            </a:r>
            <a:r>
              <a:rPr sz="1750" i="1" spc="245" dirty="0">
                <a:latin typeface="Times New Roman"/>
                <a:cs typeface="Times New Roman"/>
              </a:rPr>
              <a:t>x</a:t>
            </a:r>
            <a:r>
              <a:rPr sz="1875" i="1" spc="172" baseline="-20000" dirty="0">
                <a:latin typeface="Times New Roman"/>
                <a:cs typeface="Times New Roman"/>
              </a:rPr>
              <a:t>A</a:t>
            </a:r>
            <a:r>
              <a:rPr sz="1875" i="1" spc="-15" baseline="-20000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)</a:t>
            </a:r>
            <a:r>
              <a:rPr sz="1750" spc="85" dirty="0">
                <a:latin typeface="Times New Roman"/>
                <a:cs typeface="Times New Roman"/>
              </a:rPr>
              <a:t>(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i="1" spc="130" dirty="0">
                <a:latin typeface="Times New Roman"/>
                <a:cs typeface="Times New Roman"/>
              </a:rPr>
              <a:t>y</a:t>
            </a:r>
            <a:r>
              <a:rPr sz="1875" i="1" spc="187" baseline="-20000" dirty="0">
                <a:latin typeface="Times New Roman"/>
                <a:cs typeface="Times New Roman"/>
              </a:rPr>
              <a:t>C</a:t>
            </a:r>
            <a:r>
              <a:rPr sz="1875" i="1" spc="142" baseline="-20000" dirty="0">
                <a:latin typeface="Times New Roman"/>
                <a:cs typeface="Times New Roman"/>
              </a:rPr>
              <a:t> </a:t>
            </a:r>
            <a:r>
              <a:rPr sz="1750" spc="145" dirty="0">
                <a:latin typeface="Symbol"/>
                <a:cs typeface="Symbol"/>
              </a:rPr>
              <a:t></a:t>
            </a:r>
            <a:r>
              <a:rPr sz="1750" spc="-160" dirty="0">
                <a:latin typeface="Times New Roman"/>
                <a:cs typeface="Times New Roman"/>
              </a:rPr>
              <a:t> </a:t>
            </a:r>
            <a:r>
              <a:rPr sz="1750" i="1" spc="204" dirty="0">
                <a:latin typeface="Times New Roman"/>
                <a:cs typeface="Times New Roman"/>
              </a:rPr>
              <a:t>y</a:t>
            </a:r>
            <a:r>
              <a:rPr sz="1875" i="1" spc="202" baseline="-20000" dirty="0">
                <a:latin typeface="Times New Roman"/>
                <a:cs typeface="Times New Roman"/>
              </a:rPr>
              <a:t>D</a:t>
            </a:r>
            <a:r>
              <a:rPr sz="1875" i="1" spc="89" baseline="-20000" dirty="0">
                <a:latin typeface="Times New Roman"/>
                <a:cs typeface="Times New Roman"/>
              </a:rPr>
              <a:t> </a:t>
            </a:r>
            <a:r>
              <a:rPr sz="1750" spc="180" dirty="0">
                <a:latin typeface="Times New Roman"/>
                <a:cs typeface="Times New Roman"/>
              </a:rPr>
              <a:t>)</a:t>
            </a:r>
            <a:r>
              <a:rPr sz="1750" spc="210" dirty="0">
                <a:latin typeface="Symbol"/>
                <a:cs typeface="Symbol"/>
              </a:rPr>
              <a:t></a:t>
            </a:r>
            <a:r>
              <a:rPr sz="1750" spc="85" dirty="0">
                <a:latin typeface="Times New Roman"/>
                <a:cs typeface="Times New Roman"/>
              </a:rPr>
              <a:t>(</a:t>
            </a:r>
            <a:r>
              <a:rPr sz="1750" spc="-204" dirty="0">
                <a:latin typeface="Times New Roman"/>
                <a:cs typeface="Times New Roman"/>
              </a:rPr>
              <a:t> </a:t>
            </a:r>
            <a:r>
              <a:rPr sz="1750" i="1" spc="95" dirty="0">
                <a:latin typeface="Times New Roman"/>
                <a:cs typeface="Times New Roman"/>
              </a:rPr>
              <a:t>x</a:t>
            </a:r>
            <a:r>
              <a:rPr sz="1875" i="1" spc="187" baseline="-20000" dirty="0">
                <a:latin typeface="Times New Roman"/>
                <a:cs typeface="Times New Roman"/>
              </a:rPr>
              <a:t>C</a:t>
            </a:r>
            <a:r>
              <a:rPr sz="1875" i="1" spc="142" baseline="-20000" dirty="0">
                <a:latin typeface="Times New Roman"/>
                <a:cs typeface="Times New Roman"/>
              </a:rPr>
              <a:t> </a:t>
            </a:r>
            <a:r>
              <a:rPr sz="1750" spc="145" dirty="0">
                <a:latin typeface="Symbol"/>
                <a:cs typeface="Symbol"/>
              </a:rPr>
              <a:t></a:t>
            </a:r>
            <a:r>
              <a:rPr sz="1750" spc="-250" dirty="0">
                <a:latin typeface="Times New Roman"/>
                <a:cs typeface="Times New Roman"/>
              </a:rPr>
              <a:t> </a:t>
            </a:r>
            <a:r>
              <a:rPr sz="1750" i="1" spc="170" dirty="0">
                <a:latin typeface="Times New Roman"/>
                <a:cs typeface="Times New Roman"/>
              </a:rPr>
              <a:t>x</a:t>
            </a:r>
            <a:r>
              <a:rPr sz="1875" i="1" spc="202" baseline="-20000" dirty="0">
                <a:latin typeface="Times New Roman"/>
                <a:cs typeface="Times New Roman"/>
              </a:rPr>
              <a:t>D</a:t>
            </a:r>
            <a:r>
              <a:rPr sz="1875" i="1" spc="89" baseline="-20000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)</a:t>
            </a:r>
            <a:r>
              <a:rPr sz="1750" spc="85" dirty="0">
                <a:latin typeface="Times New Roman"/>
                <a:cs typeface="Times New Roman"/>
              </a:rPr>
              <a:t>(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i="1" spc="204" dirty="0">
                <a:latin typeface="Times New Roman"/>
                <a:cs typeface="Times New Roman"/>
              </a:rPr>
              <a:t>y</a:t>
            </a:r>
            <a:r>
              <a:rPr sz="1875" i="1" spc="172" baseline="-20000" dirty="0">
                <a:latin typeface="Times New Roman"/>
                <a:cs typeface="Times New Roman"/>
              </a:rPr>
              <a:t>B</a:t>
            </a:r>
            <a:r>
              <a:rPr sz="1875" i="1" spc="75" baseline="-20000" dirty="0">
                <a:latin typeface="Times New Roman"/>
                <a:cs typeface="Times New Roman"/>
              </a:rPr>
              <a:t> </a:t>
            </a:r>
            <a:r>
              <a:rPr sz="1750" spc="145" dirty="0">
                <a:latin typeface="Symbol"/>
                <a:cs typeface="Symbol"/>
              </a:rPr>
              <a:t></a:t>
            </a:r>
            <a:r>
              <a:rPr sz="1750" spc="-165" dirty="0">
                <a:latin typeface="Times New Roman"/>
                <a:cs typeface="Times New Roman"/>
              </a:rPr>
              <a:t> </a:t>
            </a:r>
            <a:r>
              <a:rPr sz="1750" i="1" spc="285" dirty="0">
                <a:latin typeface="Times New Roman"/>
                <a:cs typeface="Times New Roman"/>
              </a:rPr>
              <a:t>y</a:t>
            </a:r>
            <a:r>
              <a:rPr sz="1875" i="1" spc="172" baseline="-20000" dirty="0">
                <a:latin typeface="Times New Roman"/>
                <a:cs typeface="Times New Roman"/>
              </a:rPr>
              <a:t>A</a:t>
            </a:r>
            <a:r>
              <a:rPr sz="1875" i="1" spc="-15" baseline="-20000" dirty="0">
                <a:latin typeface="Times New Roman"/>
                <a:cs typeface="Times New Roman"/>
              </a:rPr>
              <a:t> </a:t>
            </a:r>
            <a:r>
              <a:rPr sz="1750" spc="85" dirty="0">
                <a:latin typeface="Times New Roman"/>
                <a:cs typeface="Times New Roman"/>
              </a:rPr>
              <a:t>)</a:t>
            </a:r>
            <a:endParaRPr sz="1750">
              <a:latin typeface="Times New Roman"/>
              <a:cs typeface="Times New Roman"/>
            </a:endParaRPr>
          </a:p>
          <a:p>
            <a:pPr marL="92075" marR="30480" indent="19050">
              <a:lnSpc>
                <a:spcPct val="112599"/>
              </a:lnSpc>
              <a:spcBef>
                <a:spcPts val="950"/>
              </a:spcBef>
            </a:pPr>
            <a:r>
              <a:rPr sz="1750" spc="85" dirty="0">
                <a:latin typeface="Times New Roman"/>
                <a:cs typeface="Times New Roman"/>
              </a:rPr>
              <a:t>(</a:t>
            </a:r>
            <a:r>
              <a:rPr sz="1750" spc="-200" dirty="0">
                <a:latin typeface="Times New Roman"/>
                <a:cs typeface="Times New Roman"/>
              </a:rPr>
              <a:t> </a:t>
            </a:r>
            <a:r>
              <a:rPr sz="1750" i="1" spc="170" dirty="0">
                <a:latin typeface="Times New Roman"/>
                <a:cs typeface="Times New Roman"/>
              </a:rPr>
              <a:t>x</a:t>
            </a:r>
            <a:r>
              <a:rPr sz="1875" i="1" spc="172" baseline="-20000" dirty="0">
                <a:latin typeface="Times New Roman"/>
                <a:cs typeface="Times New Roman"/>
              </a:rPr>
              <a:t>B</a:t>
            </a:r>
            <a:r>
              <a:rPr sz="1875" i="1" spc="67" baseline="-20000" dirty="0">
                <a:latin typeface="Times New Roman"/>
                <a:cs typeface="Times New Roman"/>
              </a:rPr>
              <a:t> </a:t>
            </a:r>
            <a:r>
              <a:rPr sz="1750" spc="145" dirty="0">
                <a:latin typeface="Symbol"/>
                <a:cs typeface="Symbol"/>
              </a:rPr>
              <a:t></a:t>
            </a:r>
            <a:r>
              <a:rPr sz="1750" spc="-254" dirty="0">
                <a:latin typeface="Times New Roman"/>
                <a:cs typeface="Times New Roman"/>
              </a:rPr>
              <a:t> </a:t>
            </a:r>
            <a:r>
              <a:rPr sz="1750" i="1" spc="245" dirty="0">
                <a:latin typeface="Times New Roman"/>
                <a:cs typeface="Times New Roman"/>
              </a:rPr>
              <a:t>x</a:t>
            </a:r>
            <a:r>
              <a:rPr sz="1875" i="1" spc="172" baseline="-20000" dirty="0">
                <a:latin typeface="Times New Roman"/>
                <a:cs typeface="Times New Roman"/>
              </a:rPr>
              <a:t>A</a:t>
            </a:r>
            <a:r>
              <a:rPr sz="1875" i="1" spc="-15" baseline="-20000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)</a:t>
            </a:r>
            <a:r>
              <a:rPr sz="1750" spc="85" dirty="0">
                <a:latin typeface="Times New Roman"/>
                <a:cs typeface="Times New Roman"/>
              </a:rPr>
              <a:t>(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i="1" spc="130" dirty="0">
                <a:latin typeface="Times New Roman"/>
                <a:cs typeface="Times New Roman"/>
              </a:rPr>
              <a:t>y</a:t>
            </a:r>
            <a:r>
              <a:rPr sz="1875" i="1" spc="187" baseline="-20000" dirty="0">
                <a:latin typeface="Times New Roman"/>
                <a:cs typeface="Times New Roman"/>
              </a:rPr>
              <a:t>C</a:t>
            </a:r>
            <a:r>
              <a:rPr sz="1875" i="1" spc="142" baseline="-20000" dirty="0">
                <a:latin typeface="Times New Roman"/>
                <a:cs typeface="Times New Roman"/>
              </a:rPr>
              <a:t> </a:t>
            </a:r>
            <a:r>
              <a:rPr sz="1750" spc="145" dirty="0">
                <a:latin typeface="Symbol"/>
                <a:cs typeface="Symbol"/>
              </a:rPr>
              <a:t></a:t>
            </a:r>
            <a:r>
              <a:rPr sz="1750" spc="-160" dirty="0">
                <a:latin typeface="Times New Roman"/>
                <a:cs typeface="Times New Roman"/>
              </a:rPr>
              <a:t> </a:t>
            </a:r>
            <a:r>
              <a:rPr sz="1750" i="1" spc="280" dirty="0">
                <a:latin typeface="Times New Roman"/>
                <a:cs typeface="Times New Roman"/>
              </a:rPr>
              <a:t>y</a:t>
            </a:r>
            <a:r>
              <a:rPr sz="1875" i="1" spc="172" baseline="-20000" dirty="0">
                <a:latin typeface="Times New Roman"/>
                <a:cs typeface="Times New Roman"/>
              </a:rPr>
              <a:t>A</a:t>
            </a:r>
            <a:r>
              <a:rPr sz="1875" i="1" spc="-15" baseline="-20000" dirty="0">
                <a:latin typeface="Times New Roman"/>
                <a:cs typeface="Times New Roman"/>
              </a:rPr>
              <a:t> </a:t>
            </a:r>
            <a:r>
              <a:rPr sz="1750" spc="180" dirty="0">
                <a:latin typeface="Times New Roman"/>
                <a:cs typeface="Times New Roman"/>
              </a:rPr>
              <a:t>)</a:t>
            </a:r>
            <a:r>
              <a:rPr sz="1750" spc="200" dirty="0">
                <a:latin typeface="Symbol"/>
                <a:cs typeface="Symbol"/>
              </a:rPr>
              <a:t></a:t>
            </a:r>
            <a:r>
              <a:rPr sz="1750" spc="85" dirty="0">
                <a:latin typeface="Times New Roman"/>
                <a:cs typeface="Times New Roman"/>
              </a:rPr>
              <a:t>(</a:t>
            </a:r>
            <a:r>
              <a:rPr sz="1750" spc="-200" dirty="0">
                <a:latin typeface="Times New Roman"/>
                <a:cs typeface="Times New Roman"/>
              </a:rPr>
              <a:t> </a:t>
            </a:r>
            <a:r>
              <a:rPr sz="1750" i="1" spc="95" dirty="0">
                <a:latin typeface="Times New Roman"/>
                <a:cs typeface="Times New Roman"/>
              </a:rPr>
              <a:t>x</a:t>
            </a:r>
            <a:r>
              <a:rPr sz="1875" i="1" spc="187" baseline="-20000" dirty="0">
                <a:latin typeface="Times New Roman"/>
                <a:cs typeface="Times New Roman"/>
              </a:rPr>
              <a:t>C</a:t>
            </a:r>
            <a:r>
              <a:rPr sz="1875" i="1" spc="142" baseline="-20000" dirty="0">
                <a:latin typeface="Times New Roman"/>
                <a:cs typeface="Times New Roman"/>
              </a:rPr>
              <a:t> </a:t>
            </a:r>
            <a:r>
              <a:rPr sz="1750" spc="145" dirty="0">
                <a:latin typeface="Symbol"/>
                <a:cs typeface="Symbol"/>
              </a:rPr>
              <a:t></a:t>
            </a:r>
            <a:r>
              <a:rPr sz="1750" spc="-250" dirty="0">
                <a:latin typeface="Times New Roman"/>
                <a:cs typeface="Times New Roman"/>
              </a:rPr>
              <a:t> </a:t>
            </a:r>
            <a:r>
              <a:rPr sz="1750" i="1" spc="245" dirty="0">
                <a:latin typeface="Times New Roman"/>
                <a:cs typeface="Times New Roman"/>
              </a:rPr>
              <a:t>x</a:t>
            </a:r>
            <a:r>
              <a:rPr sz="1875" i="1" spc="172" baseline="-20000" dirty="0">
                <a:latin typeface="Times New Roman"/>
                <a:cs typeface="Times New Roman"/>
              </a:rPr>
              <a:t>A</a:t>
            </a:r>
            <a:r>
              <a:rPr sz="1875" i="1" spc="-15" baseline="-20000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)</a:t>
            </a:r>
            <a:r>
              <a:rPr sz="1750" spc="85" dirty="0">
                <a:latin typeface="Times New Roman"/>
                <a:cs typeface="Times New Roman"/>
              </a:rPr>
              <a:t>(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i="1" spc="204" dirty="0">
                <a:latin typeface="Times New Roman"/>
                <a:cs typeface="Times New Roman"/>
              </a:rPr>
              <a:t>y</a:t>
            </a:r>
            <a:r>
              <a:rPr sz="1875" i="1" spc="172" baseline="-20000" dirty="0">
                <a:latin typeface="Times New Roman"/>
                <a:cs typeface="Times New Roman"/>
              </a:rPr>
              <a:t>B</a:t>
            </a:r>
            <a:r>
              <a:rPr sz="1875" i="1" spc="67" baseline="-20000" dirty="0">
                <a:latin typeface="Times New Roman"/>
                <a:cs typeface="Times New Roman"/>
              </a:rPr>
              <a:t> </a:t>
            </a:r>
            <a:r>
              <a:rPr sz="1750" spc="145" dirty="0">
                <a:latin typeface="Symbol"/>
                <a:cs typeface="Symbol"/>
              </a:rPr>
              <a:t></a:t>
            </a:r>
            <a:r>
              <a:rPr sz="1750" spc="-160" dirty="0">
                <a:latin typeface="Times New Roman"/>
                <a:cs typeface="Times New Roman"/>
              </a:rPr>
              <a:t> </a:t>
            </a:r>
            <a:r>
              <a:rPr sz="1750" i="1" spc="280" dirty="0">
                <a:latin typeface="Times New Roman"/>
                <a:cs typeface="Times New Roman"/>
              </a:rPr>
              <a:t>y</a:t>
            </a:r>
            <a:r>
              <a:rPr sz="1875" i="1" spc="172" baseline="-20000" dirty="0">
                <a:latin typeface="Times New Roman"/>
                <a:cs typeface="Times New Roman"/>
              </a:rPr>
              <a:t>A</a:t>
            </a:r>
            <a:r>
              <a:rPr sz="1875" i="1" spc="-15" baseline="-20000" dirty="0">
                <a:latin typeface="Times New Roman"/>
                <a:cs typeface="Times New Roman"/>
              </a:rPr>
              <a:t> </a:t>
            </a:r>
            <a:r>
              <a:rPr sz="1750" spc="75" dirty="0">
                <a:latin typeface="Times New Roman"/>
                <a:cs typeface="Times New Roman"/>
              </a:rPr>
              <a:t>)  (</a:t>
            </a:r>
            <a:r>
              <a:rPr sz="1750" spc="-200" dirty="0">
                <a:latin typeface="Times New Roman"/>
                <a:cs typeface="Times New Roman"/>
              </a:rPr>
              <a:t> </a:t>
            </a:r>
            <a:r>
              <a:rPr sz="1750" i="1" spc="170" dirty="0">
                <a:latin typeface="Times New Roman"/>
                <a:cs typeface="Times New Roman"/>
              </a:rPr>
              <a:t>x</a:t>
            </a:r>
            <a:r>
              <a:rPr sz="1875" i="1" spc="172" baseline="-20000" dirty="0">
                <a:latin typeface="Times New Roman"/>
                <a:cs typeface="Times New Roman"/>
              </a:rPr>
              <a:t>B</a:t>
            </a:r>
            <a:r>
              <a:rPr sz="1875" i="1" spc="67" baseline="-20000" dirty="0">
                <a:latin typeface="Times New Roman"/>
                <a:cs typeface="Times New Roman"/>
              </a:rPr>
              <a:t> </a:t>
            </a:r>
            <a:r>
              <a:rPr sz="1750" spc="145" dirty="0">
                <a:latin typeface="Symbol"/>
                <a:cs typeface="Symbol"/>
              </a:rPr>
              <a:t></a:t>
            </a:r>
            <a:r>
              <a:rPr sz="1750" spc="-254" dirty="0">
                <a:latin typeface="Times New Roman"/>
                <a:cs typeface="Times New Roman"/>
              </a:rPr>
              <a:t> </a:t>
            </a:r>
            <a:r>
              <a:rPr sz="1750" i="1" spc="245" dirty="0">
                <a:latin typeface="Times New Roman"/>
                <a:cs typeface="Times New Roman"/>
              </a:rPr>
              <a:t>x</a:t>
            </a:r>
            <a:r>
              <a:rPr sz="1875" i="1" spc="172" baseline="-20000" dirty="0">
                <a:latin typeface="Times New Roman"/>
                <a:cs typeface="Times New Roman"/>
              </a:rPr>
              <a:t>A</a:t>
            </a:r>
            <a:r>
              <a:rPr sz="1875" i="1" spc="-15" baseline="-20000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)</a:t>
            </a:r>
            <a:r>
              <a:rPr sz="1750" spc="85" dirty="0">
                <a:latin typeface="Times New Roman"/>
                <a:cs typeface="Times New Roman"/>
              </a:rPr>
              <a:t>(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i="1" spc="130" dirty="0">
                <a:latin typeface="Times New Roman"/>
                <a:cs typeface="Times New Roman"/>
              </a:rPr>
              <a:t>y</a:t>
            </a:r>
            <a:r>
              <a:rPr sz="1875" i="1" spc="187" baseline="-20000" dirty="0">
                <a:latin typeface="Times New Roman"/>
                <a:cs typeface="Times New Roman"/>
              </a:rPr>
              <a:t>C</a:t>
            </a:r>
            <a:r>
              <a:rPr sz="1875" i="1" spc="142" baseline="-20000" dirty="0">
                <a:latin typeface="Times New Roman"/>
                <a:cs typeface="Times New Roman"/>
              </a:rPr>
              <a:t> </a:t>
            </a:r>
            <a:r>
              <a:rPr sz="1750" spc="145" dirty="0">
                <a:latin typeface="Symbol"/>
                <a:cs typeface="Symbol"/>
              </a:rPr>
              <a:t></a:t>
            </a:r>
            <a:r>
              <a:rPr sz="1750" spc="-160" dirty="0">
                <a:latin typeface="Times New Roman"/>
                <a:cs typeface="Times New Roman"/>
              </a:rPr>
              <a:t> </a:t>
            </a:r>
            <a:r>
              <a:rPr sz="1750" i="1" spc="204" dirty="0">
                <a:latin typeface="Times New Roman"/>
                <a:cs typeface="Times New Roman"/>
              </a:rPr>
              <a:t>y</a:t>
            </a:r>
            <a:r>
              <a:rPr sz="1875" i="1" spc="202" baseline="-20000" dirty="0">
                <a:latin typeface="Times New Roman"/>
                <a:cs typeface="Times New Roman"/>
              </a:rPr>
              <a:t>D</a:t>
            </a:r>
            <a:r>
              <a:rPr sz="1875" i="1" spc="89" baseline="-20000" dirty="0">
                <a:latin typeface="Times New Roman"/>
                <a:cs typeface="Times New Roman"/>
              </a:rPr>
              <a:t> </a:t>
            </a:r>
            <a:r>
              <a:rPr sz="1750" spc="180" dirty="0">
                <a:latin typeface="Times New Roman"/>
                <a:cs typeface="Times New Roman"/>
              </a:rPr>
              <a:t>)</a:t>
            </a:r>
            <a:r>
              <a:rPr sz="1750" spc="200" dirty="0">
                <a:latin typeface="Symbol"/>
                <a:cs typeface="Symbol"/>
              </a:rPr>
              <a:t></a:t>
            </a:r>
            <a:r>
              <a:rPr sz="1750" spc="85" dirty="0">
                <a:latin typeface="Times New Roman"/>
                <a:cs typeface="Times New Roman"/>
              </a:rPr>
              <a:t>(</a:t>
            </a:r>
            <a:r>
              <a:rPr sz="1750" spc="-200" dirty="0">
                <a:latin typeface="Times New Roman"/>
                <a:cs typeface="Times New Roman"/>
              </a:rPr>
              <a:t> </a:t>
            </a:r>
            <a:r>
              <a:rPr sz="1750" i="1" spc="95" dirty="0">
                <a:latin typeface="Times New Roman"/>
                <a:cs typeface="Times New Roman"/>
              </a:rPr>
              <a:t>x</a:t>
            </a:r>
            <a:r>
              <a:rPr sz="1875" i="1" spc="187" baseline="-20000" dirty="0">
                <a:latin typeface="Times New Roman"/>
                <a:cs typeface="Times New Roman"/>
              </a:rPr>
              <a:t>C</a:t>
            </a:r>
            <a:r>
              <a:rPr sz="1875" i="1" spc="142" baseline="-20000" dirty="0">
                <a:latin typeface="Times New Roman"/>
                <a:cs typeface="Times New Roman"/>
              </a:rPr>
              <a:t> </a:t>
            </a:r>
            <a:r>
              <a:rPr sz="1750" spc="145" dirty="0">
                <a:latin typeface="Symbol"/>
                <a:cs typeface="Symbol"/>
              </a:rPr>
              <a:t></a:t>
            </a:r>
            <a:r>
              <a:rPr sz="1750" spc="-250" dirty="0">
                <a:latin typeface="Times New Roman"/>
                <a:cs typeface="Times New Roman"/>
              </a:rPr>
              <a:t> </a:t>
            </a:r>
            <a:r>
              <a:rPr sz="1750" i="1" spc="170" dirty="0">
                <a:latin typeface="Times New Roman"/>
                <a:cs typeface="Times New Roman"/>
              </a:rPr>
              <a:t>x</a:t>
            </a:r>
            <a:r>
              <a:rPr sz="1875" i="1" spc="202" baseline="-20000" dirty="0">
                <a:latin typeface="Times New Roman"/>
                <a:cs typeface="Times New Roman"/>
              </a:rPr>
              <a:t>D</a:t>
            </a:r>
            <a:r>
              <a:rPr sz="1875" i="1" spc="89" baseline="-20000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)</a:t>
            </a:r>
            <a:r>
              <a:rPr sz="1750" spc="85" dirty="0">
                <a:latin typeface="Times New Roman"/>
                <a:cs typeface="Times New Roman"/>
              </a:rPr>
              <a:t>(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i="1" spc="204" dirty="0">
                <a:latin typeface="Times New Roman"/>
                <a:cs typeface="Times New Roman"/>
              </a:rPr>
              <a:t>y</a:t>
            </a:r>
            <a:r>
              <a:rPr sz="1875" i="1" spc="172" baseline="-20000" dirty="0">
                <a:latin typeface="Times New Roman"/>
                <a:cs typeface="Times New Roman"/>
              </a:rPr>
              <a:t>B</a:t>
            </a:r>
            <a:r>
              <a:rPr sz="1875" i="1" spc="75" baseline="-20000" dirty="0">
                <a:latin typeface="Times New Roman"/>
                <a:cs typeface="Times New Roman"/>
              </a:rPr>
              <a:t> </a:t>
            </a:r>
            <a:r>
              <a:rPr sz="1750" spc="145" dirty="0">
                <a:latin typeface="Symbol"/>
                <a:cs typeface="Symbol"/>
              </a:rPr>
              <a:t></a:t>
            </a:r>
            <a:r>
              <a:rPr sz="1750" spc="-160" dirty="0">
                <a:latin typeface="Times New Roman"/>
                <a:cs typeface="Times New Roman"/>
              </a:rPr>
              <a:t> </a:t>
            </a:r>
            <a:r>
              <a:rPr sz="1750" i="1" spc="280" dirty="0">
                <a:latin typeface="Times New Roman"/>
                <a:cs typeface="Times New Roman"/>
              </a:rPr>
              <a:t>y</a:t>
            </a:r>
            <a:r>
              <a:rPr sz="1875" i="1" spc="172" baseline="-20000" dirty="0">
                <a:latin typeface="Times New Roman"/>
                <a:cs typeface="Times New Roman"/>
              </a:rPr>
              <a:t>A</a:t>
            </a:r>
            <a:r>
              <a:rPr sz="1875" i="1" spc="-15" baseline="-20000" dirty="0">
                <a:latin typeface="Times New Roman"/>
                <a:cs typeface="Times New Roman"/>
              </a:rPr>
              <a:t> </a:t>
            </a:r>
            <a:r>
              <a:rPr sz="1750" spc="85" dirty="0">
                <a:latin typeface="Times New Roman"/>
                <a:cs typeface="Times New Roman"/>
              </a:rPr>
              <a:t>)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55191" y="5416997"/>
            <a:ext cx="542925" cy="485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3000" i="1" spc="175" dirty="0">
                <a:latin typeface="Times New Roman"/>
                <a:cs typeface="Times New Roman"/>
              </a:rPr>
              <a:t>s</a:t>
            </a:r>
            <a:r>
              <a:rPr sz="3000" i="1" spc="-10" dirty="0">
                <a:latin typeface="Times New Roman"/>
                <a:cs typeface="Times New Roman"/>
              </a:rPr>
              <a:t> </a:t>
            </a:r>
            <a:r>
              <a:rPr sz="3000" spc="245" dirty="0">
                <a:latin typeface="Symbol"/>
                <a:cs typeface="Symbol"/>
              </a:rPr>
              <a:t></a:t>
            </a:r>
            <a:endParaRPr sz="300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08872" y="4505172"/>
            <a:ext cx="4663440" cy="4857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spcBef>
                <a:spcPts val="120"/>
              </a:spcBef>
            </a:pPr>
            <a:r>
              <a:rPr sz="4500" i="1" spc="187" baseline="-27777" dirty="0">
                <a:latin typeface="Times New Roman"/>
                <a:cs typeface="Times New Roman"/>
              </a:rPr>
              <a:t>t</a:t>
            </a:r>
            <a:r>
              <a:rPr sz="4500" i="1" spc="307" baseline="-27777" dirty="0">
                <a:latin typeface="Times New Roman"/>
                <a:cs typeface="Times New Roman"/>
              </a:rPr>
              <a:t> </a:t>
            </a:r>
            <a:r>
              <a:rPr sz="4500" spc="367" baseline="-27777" dirty="0">
                <a:latin typeface="Symbol"/>
                <a:cs typeface="Symbol"/>
              </a:rPr>
              <a:t></a:t>
            </a:r>
            <a:r>
              <a:rPr sz="4500" spc="480" baseline="-27777" dirty="0">
                <a:latin typeface="Times New Roman"/>
                <a:cs typeface="Times New Roman"/>
              </a:rPr>
              <a:t> </a:t>
            </a:r>
            <a:r>
              <a:rPr sz="1750" spc="85" dirty="0">
                <a:latin typeface="Times New Roman"/>
                <a:cs typeface="Times New Roman"/>
              </a:rPr>
              <a:t>(</a:t>
            </a:r>
            <a:r>
              <a:rPr sz="1750" spc="-200" dirty="0">
                <a:latin typeface="Times New Roman"/>
                <a:cs typeface="Times New Roman"/>
              </a:rPr>
              <a:t> </a:t>
            </a:r>
            <a:r>
              <a:rPr sz="1750" i="1" spc="90" dirty="0">
                <a:latin typeface="Times New Roman"/>
                <a:cs typeface="Times New Roman"/>
              </a:rPr>
              <a:t>x</a:t>
            </a:r>
            <a:r>
              <a:rPr sz="1875" i="1" spc="187" baseline="-20000" dirty="0">
                <a:latin typeface="Times New Roman"/>
                <a:cs typeface="Times New Roman"/>
              </a:rPr>
              <a:t>C</a:t>
            </a:r>
            <a:r>
              <a:rPr sz="1875" i="1" spc="142" baseline="-20000" dirty="0">
                <a:latin typeface="Times New Roman"/>
                <a:cs typeface="Times New Roman"/>
              </a:rPr>
              <a:t> </a:t>
            </a:r>
            <a:r>
              <a:rPr sz="1750" spc="145" dirty="0">
                <a:latin typeface="Symbol"/>
                <a:cs typeface="Symbol"/>
              </a:rPr>
              <a:t></a:t>
            </a:r>
            <a:r>
              <a:rPr sz="1750" spc="-250" dirty="0">
                <a:latin typeface="Times New Roman"/>
                <a:cs typeface="Times New Roman"/>
              </a:rPr>
              <a:t> </a:t>
            </a:r>
            <a:r>
              <a:rPr sz="1750" i="1" spc="245" dirty="0">
                <a:latin typeface="Times New Roman"/>
                <a:cs typeface="Times New Roman"/>
              </a:rPr>
              <a:t>x</a:t>
            </a:r>
            <a:r>
              <a:rPr sz="1875" i="1" spc="172" baseline="-20000" dirty="0">
                <a:latin typeface="Times New Roman"/>
                <a:cs typeface="Times New Roman"/>
              </a:rPr>
              <a:t>A</a:t>
            </a:r>
            <a:r>
              <a:rPr sz="1875" i="1" spc="-15" baseline="-20000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)</a:t>
            </a:r>
            <a:r>
              <a:rPr sz="1750" spc="85" dirty="0">
                <a:latin typeface="Times New Roman"/>
                <a:cs typeface="Times New Roman"/>
              </a:rPr>
              <a:t>(</a:t>
            </a:r>
            <a:r>
              <a:rPr sz="1750" spc="-35" dirty="0">
                <a:latin typeface="Times New Roman"/>
                <a:cs typeface="Times New Roman"/>
              </a:rPr>
              <a:t> </a:t>
            </a:r>
            <a:r>
              <a:rPr sz="1750" i="1" spc="130" dirty="0">
                <a:latin typeface="Times New Roman"/>
                <a:cs typeface="Times New Roman"/>
              </a:rPr>
              <a:t>y</a:t>
            </a:r>
            <a:r>
              <a:rPr sz="1875" i="1" spc="187" baseline="-20000" dirty="0">
                <a:latin typeface="Times New Roman"/>
                <a:cs typeface="Times New Roman"/>
              </a:rPr>
              <a:t>C</a:t>
            </a:r>
            <a:r>
              <a:rPr sz="1875" i="1" spc="142" baseline="-20000" dirty="0">
                <a:latin typeface="Times New Roman"/>
                <a:cs typeface="Times New Roman"/>
              </a:rPr>
              <a:t> </a:t>
            </a:r>
            <a:r>
              <a:rPr sz="1750" spc="145" dirty="0">
                <a:latin typeface="Symbol"/>
                <a:cs typeface="Symbol"/>
              </a:rPr>
              <a:t></a:t>
            </a:r>
            <a:r>
              <a:rPr sz="1750" spc="-170" dirty="0">
                <a:latin typeface="Times New Roman"/>
                <a:cs typeface="Times New Roman"/>
              </a:rPr>
              <a:t> </a:t>
            </a:r>
            <a:r>
              <a:rPr sz="1750" i="1" spc="210" dirty="0">
                <a:latin typeface="Times New Roman"/>
                <a:cs typeface="Times New Roman"/>
              </a:rPr>
              <a:t>y</a:t>
            </a:r>
            <a:r>
              <a:rPr sz="1875" i="1" spc="202" baseline="-20000" dirty="0">
                <a:latin typeface="Times New Roman"/>
                <a:cs typeface="Times New Roman"/>
              </a:rPr>
              <a:t>D</a:t>
            </a:r>
            <a:r>
              <a:rPr sz="1875" i="1" spc="75" baseline="-20000" dirty="0">
                <a:latin typeface="Times New Roman"/>
                <a:cs typeface="Times New Roman"/>
              </a:rPr>
              <a:t> </a:t>
            </a:r>
            <a:r>
              <a:rPr sz="1750" spc="185" dirty="0">
                <a:latin typeface="Times New Roman"/>
                <a:cs typeface="Times New Roman"/>
              </a:rPr>
              <a:t>)</a:t>
            </a:r>
            <a:r>
              <a:rPr sz="1750" spc="200" dirty="0">
                <a:latin typeface="Symbol"/>
                <a:cs typeface="Symbol"/>
              </a:rPr>
              <a:t></a:t>
            </a:r>
            <a:r>
              <a:rPr sz="1750" spc="85" dirty="0">
                <a:latin typeface="Times New Roman"/>
                <a:cs typeface="Times New Roman"/>
              </a:rPr>
              <a:t>(</a:t>
            </a:r>
            <a:r>
              <a:rPr sz="1750" spc="-200" dirty="0">
                <a:latin typeface="Times New Roman"/>
                <a:cs typeface="Times New Roman"/>
              </a:rPr>
              <a:t> </a:t>
            </a:r>
            <a:r>
              <a:rPr sz="1750" i="1" spc="95" dirty="0">
                <a:latin typeface="Times New Roman"/>
                <a:cs typeface="Times New Roman"/>
              </a:rPr>
              <a:t>x</a:t>
            </a:r>
            <a:r>
              <a:rPr sz="1875" i="1" spc="187" baseline="-20000" dirty="0">
                <a:latin typeface="Times New Roman"/>
                <a:cs typeface="Times New Roman"/>
              </a:rPr>
              <a:t>C</a:t>
            </a:r>
            <a:r>
              <a:rPr sz="1875" i="1" spc="142" baseline="-20000" dirty="0">
                <a:latin typeface="Times New Roman"/>
                <a:cs typeface="Times New Roman"/>
              </a:rPr>
              <a:t> </a:t>
            </a:r>
            <a:r>
              <a:rPr sz="1750" spc="145" dirty="0">
                <a:latin typeface="Symbol"/>
                <a:cs typeface="Symbol"/>
              </a:rPr>
              <a:t></a:t>
            </a:r>
            <a:r>
              <a:rPr sz="1750" spc="-250" dirty="0">
                <a:latin typeface="Times New Roman"/>
                <a:cs typeface="Times New Roman"/>
              </a:rPr>
              <a:t> </a:t>
            </a:r>
            <a:r>
              <a:rPr sz="1750" i="1" spc="240" dirty="0">
                <a:latin typeface="Times New Roman"/>
                <a:cs typeface="Times New Roman"/>
              </a:rPr>
              <a:t>x</a:t>
            </a:r>
            <a:r>
              <a:rPr sz="1875" i="1" spc="172" baseline="-20000" dirty="0">
                <a:latin typeface="Times New Roman"/>
                <a:cs typeface="Times New Roman"/>
              </a:rPr>
              <a:t>A</a:t>
            </a:r>
            <a:r>
              <a:rPr sz="1875" i="1" spc="-15" baseline="-20000" dirty="0">
                <a:latin typeface="Times New Roman"/>
                <a:cs typeface="Times New Roman"/>
              </a:rPr>
              <a:t> </a:t>
            </a:r>
            <a:r>
              <a:rPr sz="1750" spc="-20" dirty="0">
                <a:latin typeface="Times New Roman"/>
                <a:cs typeface="Times New Roman"/>
              </a:rPr>
              <a:t>)</a:t>
            </a:r>
            <a:r>
              <a:rPr sz="1750" spc="85" dirty="0">
                <a:latin typeface="Times New Roman"/>
                <a:cs typeface="Times New Roman"/>
              </a:rPr>
              <a:t>(</a:t>
            </a:r>
            <a:r>
              <a:rPr sz="1750" spc="-25" dirty="0">
                <a:latin typeface="Times New Roman"/>
                <a:cs typeface="Times New Roman"/>
              </a:rPr>
              <a:t> </a:t>
            </a:r>
            <a:r>
              <a:rPr sz="1750" i="1" spc="130" dirty="0">
                <a:latin typeface="Times New Roman"/>
                <a:cs typeface="Times New Roman"/>
              </a:rPr>
              <a:t>y</a:t>
            </a:r>
            <a:r>
              <a:rPr sz="1875" i="1" spc="187" baseline="-20000" dirty="0">
                <a:latin typeface="Times New Roman"/>
                <a:cs typeface="Times New Roman"/>
              </a:rPr>
              <a:t>C</a:t>
            </a:r>
            <a:r>
              <a:rPr sz="1875" i="1" spc="142" baseline="-20000" dirty="0">
                <a:latin typeface="Times New Roman"/>
                <a:cs typeface="Times New Roman"/>
              </a:rPr>
              <a:t> </a:t>
            </a:r>
            <a:r>
              <a:rPr sz="1750" spc="145" dirty="0">
                <a:latin typeface="Symbol"/>
                <a:cs typeface="Symbol"/>
              </a:rPr>
              <a:t></a:t>
            </a:r>
            <a:r>
              <a:rPr sz="1750" spc="-170" dirty="0">
                <a:latin typeface="Times New Roman"/>
                <a:cs typeface="Times New Roman"/>
              </a:rPr>
              <a:t> </a:t>
            </a:r>
            <a:r>
              <a:rPr sz="1750" i="1" spc="280" dirty="0">
                <a:latin typeface="Times New Roman"/>
                <a:cs typeface="Times New Roman"/>
              </a:rPr>
              <a:t>y</a:t>
            </a:r>
            <a:r>
              <a:rPr sz="1875" i="1" spc="172" baseline="-20000" dirty="0">
                <a:latin typeface="Times New Roman"/>
                <a:cs typeface="Times New Roman"/>
              </a:rPr>
              <a:t>A</a:t>
            </a:r>
            <a:r>
              <a:rPr sz="1875" i="1" spc="-15" baseline="-20000" dirty="0">
                <a:latin typeface="Times New Roman"/>
                <a:cs typeface="Times New Roman"/>
              </a:rPr>
              <a:t> </a:t>
            </a:r>
            <a:r>
              <a:rPr sz="1750" spc="85" dirty="0">
                <a:latin typeface="Times New Roman"/>
                <a:cs typeface="Times New Roman"/>
              </a:rPr>
              <a:t>)</a:t>
            </a:r>
            <a:endParaRPr sz="175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05701" y="1700023"/>
            <a:ext cx="3162299" cy="362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04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2" y="880363"/>
            <a:ext cx="752919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10" dirty="0">
                <a:latin typeface="Verdana"/>
                <a:cs typeface="Verdana"/>
              </a:rPr>
              <a:t>Thuật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toán cắt</a:t>
            </a:r>
            <a:r>
              <a:rPr sz="3800" spc="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xén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đoạn </a:t>
            </a:r>
            <a:r>
              <a:rPr sz="3800" spc="-10" dirty="0">
                <a:latin typeface="Verdana"/>
                <a:cs typeface="Verdana"/>
              </a:rPr>
              <a:t>thẳng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9413" y="1704114"/>
            <a:ext cx="7499984" cy="391731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5600" indent="-343535">
              <a:spcBef>
                <a:spcPts val="720"/>
              </a:spcBef>
              <a:buClr>
                <a:srgbClr val="CC0000"/>
              </a:buClr>
              <a:buFont typeface="Wingdings"/>
              <a:buChar char=""/>
              <a:tabLst>
                <a:tab pos="356235" algn="l"/>
              </a:tabLst>
            </a:pPr>
            <a:r>
              <a:rPr sz="2600" spc="-5" dirty="0">
                <a:latin typeface="Verdana"/>
                <a:cs typeface="Verdana"/>
              </a:rPr>
              <a:t>Các</a:t>
            </a:r>
            <a:r>
              <a:rPr sz="2600" spc="-3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giải</a:t>
            </a:r>
            <a:r>
              <a:rPr sz="2600" spc="-3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pháp</a:t>
            </a:r>
            <a:endParaRPr sz="2600">
              <a:latin typeface="Verdana"/>
              <a:cs typeface="Verdana"/>
            </a:endParaRPr>
          </a:p>
          <a:p>
            <a:pPr marL="755650" marR="220979" lvl="1" indent="-285750">
              <a:spcBef>
                <a:spcPts val="535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sz="2200" dirty="0">
                <a:latin typeface="Verdana"/>
                <a:cs typeface="Verdana"/>
              </a:rPr>
              <a:t>Kiểm </a:t>
            </a:r>
            <a:r>
              <a:rPr sz="2200" spc="-5" dirty="0">
                <a:latin typeface="Verdana"/>
                <a:cs typeface="Verdana"/>
              </a:rPr>
              <a:t>tra từng pixel </a:t>
            </a:r>
            <a:r>
              <a:rPr sz="2200" dirty="0">
                <a:latin typeface="Verdana"/>
                <a:cs typeface="Verdana"/>
              </a:rPr>
              <a:t>của </a:t>
            </a:r>
            <a:r>
              <a:rPr sz="2200" spc="-5" dirty="0">
                <a:latin typeface="Verdana"/>
                <a:cs typeface="Verdana"/>
              </a:rPr>
              <a:t>đoạn thẳng </a:t>
            </a:r>
            <a:r>
              <a:rPr sz="2200" dirty="0">
                <a:latin typeface="Verdana"/>
                <a:cs typeface="Verdana"/>
              </a:rPr>
              <a:t>có ở trong </a:t>
            </a:r>
            <a:r>
              <a:rPr sz="2200" spc="-76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hcn?</a:t>
            </a:r>
            <a:endParaRPr sz="2200">
              <a:latin typeface="Verdana"/>
              <a:cs typeface="Verdana"/>
            </a:endParaRPr>
          </a:p>
          <a:p>
            <a:pPr marL="755650" marR="14604" lvl="1" indent="-285750">
              <a:spcBef>
                <a:spcPts val="525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sz="2200" spc="-5" dirty="0">
                <a:latin typeface="Verdana"/>
                <a:cs typeface="Verdana"/>
              </a:rPr>
              <a:t>Tính toán </a:t>
            </a:r>
            <a:r>
              <a:rPr sz="2200" dirty="0">
                <a:latin typeface="Verdana"/>
                <a:cs typeface="Verdana"/>
              </a:rPr>
              <a:t>các </a:t>
            </a:r>
            <a:r>
              <a:rPr sz="2200" spc="-5" dirty="0">
                <a:latin typeface="Verdana"/>
                <a:cs typeface="Verdana"/>
              </a:rPr>
              <a:t>điểm </a:t>
            </a:r>
            <a:r>
              <a:rPr sz="2200" dirty="0">
                <a:latin typeface="Verdana"/>
                <a:cs typeface="Verdana"/>
              </a:rPr>
              <a:t>cắt của </a:t>
            </a:r>
            <a:r>
              <a:rPr sz="2200" spc="-5" dirty="0">
                <a:latin typeface="Verdana"/>
                <a:cs typeface="Verdana"/>
              </a:rPr>
              <a:t>từng đoạn thẳng </a:t>
            </a:r>
            <a:r>
              <a:rPr sz="2200" dirty="0">
                <a:latin typeface="Verdana"/>
                <a:cs typeface="Verdana"/>
              </a:rPr>
              <a:t>với </a:t>
            </a:r>
            <a:r>
              <a:rPr sz="2200" spc="-7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cạnh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chữ</a:t>
            </a:r>
            <a:r>
              <a:rPr sz="2200" spc="-5" dirty="0">
                <a:latin typeface="Verdana"/>
                <a:cs typeface="Verdana"/>
              </a:rPr>
              <a:t> nhật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cắt xén</a:t>
            </a:r>
            <a:endParaRPr sz="2200">
              <a:latin typeface="Verdana"/>
              <a:cs typeface="Verdana"/>
            </a:endParaRPr>
          </a:p>
          <a:p>
            <a:pPr marL="755650" marR="5080" lvl="1" indent="-285750" algn="just">
              <a:spcBef>
                <a:spcPts val="530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sz="2200" spc="-5" dirty="0">
                <a:latin typeface="Verdana"/>
                <a:cs typeface="Verdana"/>
              </a:rPr>
              <a:t>Thuật toán Sutherland-Cohen: loại </a:t>
            </a:r>
            <a:r>
              <a:rPr sz="2200" dirty="0">
                <a:latin typeface="Verdana"/>
                <a:cs typeface="Verdana"/>
              </a:rPr>
              <a:t>bỏ </a:t>
            </a:r>
            <a:r>
              <a:rPr sz="2200" spc="-5" dirty="0">
                <a:latin typeface="Verdana"/>
                <a:cs typeface="Verdana"/>
              </a:rPr>
              <a:t>các đoạn </a:t>
            </a:r>
            <a:r>
              <a:rPr sz="2200" spc="-7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không cần cắt xén </a:t>
            </a:r>
            <a:r>
              <a:rPr sz="2200" spc="-5" dirty="0">
                <a:latin typeface="Verdana"/>
                <a:cs typeface="Verdana"/>
              </a:rPr>
              <a:t>bằng </a:t>
            </a:r>
            <a:r>
              <a:rPr sz="2200" dirty="0">
                <a:latin typeface="Verdana"/>
                <a:cs typeface="Verdana"/>
              </a:rPr>
              <a:t>xét </a:t>
            </a:r>
            <a:r>
              <a:rPr sz="2200" spc="-5" dirty="0">
                <a:latin typeface="Verdana"/>
                <a:cs typeface="Verdana"/>
              </a:rPr>
              <a:t>tọa độ đầu </a:t>
            </a:r>
            <a:r>
              <a:rPr sz="2200" dirty="0">
                <a:latin typeface="Verdana"/>
                <a:cs typeface="Verdana"/>
              </a:rPr>
              <a:t>mút các </a:t>
            </a:r>
            <a:r>
              <a:rPr sz="2200" spc="-76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đoạn thẳng </a:t>
            </a:r>
            <a:r>
              <a:rPr sz="2200" dirty="0">
                <a:latin typeface="Verdana"/>
                <a:cs typeface="Verdana"/>
              </a:rPr>
              <a:t>-&gt;</a:t>
            </a:r>
            <a:r>
              <a:rPr sz="2200" spc="-5" dirty="0">
                <a:latin typeface="Verdana"/>
                <a:cs typeface="Verdana"/>
              </a:rPr>
              <a:t> đơn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giản </a:t>
            </a:r>
            <a:r>
              <a:rPr sz="2200" dirty="0">
                <a:latin typeface="Verdana"/>
                <a:cs typeface="Verdana"/>
              </a:rPr>
              <a:t>và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hiệu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quả.</a:t>
            </a:r>
            <a:endParaRPr sz="2200">
              <a:latin typeface="Verdana"/>
              <a:cs typeface="Verdana"/>
            </a:endParaRPr>
          </a:p>
          <a:p>
            <a:pPr marL="755650" lvl="1" indent="-286385" algn="just">
              <a:spcBef>
                <a:spcPts val="530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sz="2200" spc="-5" dirty="0">
                <a:latin typeface="Verdana"/>
                <a:cs typeface="Verdana"/>
              </a:rPr>
              <a:t>Chia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nhỏ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trung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điểm</a:t>
            </a:r>
            <a:endParaRPr sz="2200">
              <a:latin typeface="Verdana"/>
              <a:cs typeface="Verdana"/>
            </a:endParaRPr>
          </a:p>
          <a:p>
            <a:pPr marL="755650" lvl="1" indent="-286385" algn="just">
              <a:spcBef>
                <a:spcPts val="1019"/>
              </a:spcBef>
              <a:buClr>
                <a:srgbClr val="CC0000"/>
              </a:buClr>
              <a:buFont typeface="Wingdings"/>
              <a:buChar char=""/>
              <a:tabLst>
                <a:tab pos="756285" algn="l"/>
              </a:tabLst>
            </a:pPr>
            <a:r>
              <a:rPr sz="2200" spc="-5" dirty="0">
                <a:latin typeface="Verdana"/>
                <a:cs typeface="Verdana"/>
              </a:rPr>
              <a:t>Cyrus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&amp;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Beck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algorithm</a:t>
            </a:r>
            <a:endParaRPr sz="22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888584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2" y="880363"/>
            <a:ext cx="722947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10" dirty="0">
                <a:latin typeface="Verdana"/>
                <a:cs typeface="Verdana"/>
              </a:rPr>
              <a:t>Thuật</a:t>
            </a:r>
            <a:r>
              <a:rPr sz="3800" spc="-2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toán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Sutherland-Cohen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9413" y="1663649"/>
            <a:ext cx="8121650" cy="1491615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355600" indent="-343535">
              <a:spcBef>
                <a:spcPts val="1035"/>
              </a:spcBef>
              <a:buClr>
                <a:srgbClr val="CC0000"/>
              </a:buClr>
              <a:buFont typeface="Wingdings"/>
              <a:buChar char=""/>
              <a:tabLst>
                <a:tab pos="356235" algn="l"/>
              </a:tabLst>
            </a:pPr>
            <a:r>
              <a:rPr sz="2600" spc="-5" dirty="0">
                <a:latin typeface="Verdana"/>
                <a:cs typeface="Verdana"/>
              </a:rPr>
              <a:t>Mã hóa các đầu mút </a:t>
            </a:r>
            <a:r>
              <a:rPr sz="2600" dirty="0">
                <a:latin typeface="Verdana"/>
                <a:cs typeface="Verdana"/>
              </a:rPr>
              <a:t>các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đoạn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thẳng</a:t>
            </a:r>
            <a:endParaRPr sz="2600">
              <a:latin typeface="Verdana"/>
              <a:cs typeface="Verdana"/>
            </a:endParaRPr>
          </a:p>
          <a:p>
            <a:pPr marL="355600" marR="5080" indent="-343535">
              <a:lnSpc>
                <a:spcPct val="110000"/>
              </a:lnSpc>
              <a:spcBef>
                <a:spcPts val="625"/>
              </a:spcBef>
              <a:buClr>
                <a:srgbClr val="CC0000"/>
              </a:buClr>
              <a:buFont typeface="Wingdings"/>
              <a:buChar char=""/>
              <a:tabLst>
                <a:tab pos="356235" algn="l"/>
              </a:tabLst>
            </a:pPr>
            <a:r>
              <a:rPr sz="2600" spc="-5" dirty="0">
                <a:latin typeface="Verdana"/>
                <a:cs typeface="Verdana"/>
              </a:rPr>
              <a:t>Xác</a:t>
            </a:r>
            <a:r>
              <a:rPr sz="2600" spc="6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định</a:t>
            </a:r>
            <a:r>
              <a:rPr sz="2600" spc="9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nhanh</a:t>
            </a:r>
            <a:r>
              <a:rPr sz="2600" spc="1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đoạn</a:t>
            </a:r>
            <a:r>
              <a:rPr sz="2600" spc="7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thẳng</a:t>
            </a:r>
            <a:r>
              <a:rPr sz="2600" spc="1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có</a:t>
            </a:r>
            <a:r>
              <a:rPr sz="2600" spc="7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cần</a:t>
            </a:r>
            <a:r>
              <a:rPr sz="2600" spc="7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cắt</a:t>
            </a:r>
            <a:r>
              <a:rPr sz="2600" spc="8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xén 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hay không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nhờ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các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phép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toán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logic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AND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và </a:t>
            </a:r>
            <a:r>
              <a:rPr sz="2600" spc="-10" dirty="0">
                <a:latin typeface="Verdana"/>
                <a:cs typeface="Verdana"/>
              </a:rPr>
              <a:t>OR</a:t>
            </a:r>
            <a:endParaRPr sz="26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03070" y="3284220"/>
            <a:ext cx="8964930" cy="2772410"/>
            <a:chOff x="179070" y="3284220"/>
            <a:chExt cx="8964930" cy="27724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070" y="3284220"/>
              <a:ext cx="4321302" cy="277215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1754" y="3573780"/>
              <a:ext cx="3492246" cy="244602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772537" y="4365879"/>
              <a:ext cx="2879725" cy="359410"/>
            </a:xfrm>
            <a:custGeom>
              <a:avLst/>
              <a:gdLst/>
              <a:ahLst/>
              <a:cxnLst/>
              <a:rect l="l" t="t" r="r" b="b"/>
              <a:pathLst>
                <a:path w="2879725" h="359410">
                  <a:moveTo>
                    <a:pt x="2159380" y="0"/>
                  </a:moveTo>
                  <a:lnTo>
                    <a:pt x="2159380" y="89789"/>
                  </a:lnTo>
                  <a:lnTo>
                    <a:pt x="0" y="89789"/>
                  </a:lnTo>
                  <a:lnTo>
                    <a:pt x="0" y="269113"/>
                  </a:lnTo>
                  <a:lnTo>
                    <a:pt x="2159380" y="269113"/>
                  </a:lnTo>
                  <a:lnTo>
                    <a:pt x="2159380" y="358902"/>
                  </a:lnTo>
                  <a:lnTo>
                    <a:pt x="2879598" y="179451"/>
                  </a:lnTo>
                  <a:lnTo>
                    <a:pt x="2159380" y="0"/>
                  </a:lnTo>
                  <a:close/>
                </a:path>
              </a:pathLst>
            </a:custGeom>
            <a:solidFill>
              <a:srgbClr val="A2B1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772537" y="4365879"/>
              <a:ext cx="2879725" cy="359410"/>
            </a:xfrm>
            <a:custGeom>
              <a:avLst/>
              <a:gdLst/>
              <a:ahLst/>
              <a:cxnLst/>
              <a:rect l="l" t="t" r="r" b="b"/>
              <a:pathLst>
                <a:path w="2879725" h="359410">
                  <a:moveTo>
                    <a:pt x="0" y="89789"/>
                  </a:moveTo>
                  <a:lnTo>
                    <a:pt x="2159380" y="89789"/>
                  </a:lnTo>
                  <a:lnTo>
                    <a:pt x="2159380" y="0"/>
                  </a:lnTo>
                  <a:lnTo>
                    <a:pt x="2879598" y="179451"/>
                  </a:lnTo>
                  <a:lnTo>
                    <a:pt x="2159380" y="358902"/>
                  </a:lnTo>
                  <a:lnTo>
                    <a:pt x="2159380" y="269113"/>
                  </a:lnTo>
                  <a:lnTo>
                    <a:pt x="0" y="269113"/>
                  </a:lnTo>
                  <a:lnTo>
                    <a:pt x="0" y="89789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05793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39151" y="2565654"/>
            <a:ext cx="2228849" cy="24475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77542" y="880363"/>
            <a:ext cx="722947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10" dirty="0">
                <a:latin typeface="Verdana"/>
                <a:cs typeface="Verdana"/>
              </a:rPr>
              <a:t>Thuật</a:t>
            </a:r>
            <a:r>
              <a:rPr sz="3800" spc="-2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toán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Sutherland-Cohen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6664" y="1701038"/>
            <a:ext cx="6778625" cy="3950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2900">
              <a:lnSpc>
                <a:spcPts val="2280"/>
              </a:lnSpc>
              <a:spcBef>
                <a:spcPts val="100"/>
              </a:spcBef>
              <a:buClr>
                <a:srgbClr val="CC0000"/>
              </a:buClr>
              <a:buFont typeface="Wingdings"/>
              <a:buChar char=""/>
              <a:tabLst>
                <a:tab pos="381000" algn="l"/>
              </a:tabLst>
            </a:pPr>
            <a:r>
              <a:rPr sz="2000" dirty="0">
                <a:latin typeface="Verdana"/>
                <a:cs typeface="Verdana"/>
              </a:rPr>
              <a:t>Kết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quả phép OR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hai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mã</a:t>
            </a:r>
            <a:r>
              <a:rPr sz="2000" spc="-5" dirty="0">
                <a:latin typeface="Verdana"/>
                <a:cs typeface="Verdana"/>
              </a:rPr>
              <a:t> đầu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mút</a:t>
            </a:r>
            <a:r>
              <a:rPr sz="2000" spc="-5" dirty="0">
                <a:latin typeface="Verdana"/>
                <a:cs typeface="Verdana"/>
              </a:rPr>
              <a:t> đoạn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thẳng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cho</a:t>
            </a:r>
            <a:endParaRPr sz="2000">
              <a:latin typeface="Verdana"/>
              <a:cs typeface="Verdana"/>
            </a:endParaRPr>
          </a:p>
          <a:p>
            <a:pPr marL="381000">
              <a:lnSpc>
                <a:spcPts val="2280"/>
              </a:lnSpc>
            </a:pPr>
            <a:r>
              <a:rPr sz="2000" spc="-5" dirty="0">
                <a:latin typeface="Verdana"/>
                <a:cs typeface="Verdana"/>
              </a:rPr>
              <a:t>kết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quả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0: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cả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hai </a:t>
            </a:r>
            <a:r>
              <a:rPr sz="2000" spc="-10" dirty="0">
                <a:latin typeface="Verdana"/>
                <a:cs typeface="Verdana"/>
              </a:rPr>
              <a:t>điểm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nằm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trong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chữ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nhật.</a:t>
            </a:r>
            <a:endParaRPr sz="2000">
              <a:latin typeface="Verdana"/>
              <a:cs typeface="Verdana"/>
            </a:endParaRPr>
          </a:p>
          <a:p>
            <a:pPr marL="381000" marR="297815" indent="-342900">
              <a:lnSpc>
                <a:spcPts val="2160"/>
              </a:lnSpc>
              <a:spcBef>
                <a:spcPts val="509"/>
              </a:spcBef>
              <a:buClr>
                <a:srgbClr val="CC0000"/>
              </a:buClr>
              <a:buFont typeface="Wingdings"/>
              <a:buChar char=""/>
              <a:tabLst>
                <a:tab pos="381000" algn="l"/>
              </a:tabLst>
            </a:pPr>
            <a:r>
              <a:rPr sz="2000" spc="-5" dirty="0">
                <a:latin typeface="Verdana"/>
                <a:cs typeface="Verdana"/>
              </a:rPr>
              <a:t>Kết quả phép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AND hai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mã đầu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mút đoạn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thẳng </a:t>
            </a:r>
            <a:r>
              <a:rPr sz="2000" spc="-5" dirty="0">
                <a:latin typeface="Verdana"/>
                <a:cs typeface="Verdana"/>
              </a:rPr>
              <a:t> cho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kết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quả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khác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0: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cả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hai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điểm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nằm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ngoài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chữ </a:t>
            </a:r>
            <a:r>
              <a:rPr sz="2000" spc="-68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nhật</a:t>
            </a:r>
            <a:endParaRPr sz="2000">
              <a:latin typeface="Verdana"/>
              <a:cs typeface="Verdana"/>
            </a:endParaRPr>
          </a:p>
          <a:p>
            <a:pPr marL="381000" indent="-342900">
              <a:spcBef>
                <a:spcPts val="209"/>
              </a:spcBef>
              <a:buClr>
                <a:srgbClr val="CC0000"/>
              </a:buClr>
              <a:buFont typeface="Wingdings"/>
              <a:buChar char=""/>
              <a:tabLst>
                <a:tab pos="381000" algn="l"/>
              </a:tabLst>
            </a:pPr>
            <a:r>
              <a:rPr sz="2000" spc="-5" dirty="0">
                <a:latin typeface="Verdana"/>
                <a:cs typeface="Verdana"/>
              </a:rPr>
              <a:t>Cắt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xén</a:t>
            </a:r>
            <a:endParaRPr sz="2000">
              <a:latin typeface="Verdana"/>
              <a:cs typeface="Verdana"/>
            </a:endParaRPr>
          </a:p>
          <a:p>
            <a:pPr marL="781050" marR="105410" lvl="1" indent="-286385">
              <a:lnSpc>
                <a:spcPts val="1839"/>
              </a:lnSpc>
              <a:spcBef>
                <a:spcPts val="430"/>
              </a:spcBef>
              <a:buClr>
                <a:srgbClr val="CC0000"/>
              </a:buClr>
              <a:buFont typeface="Wingdings"/>
              <a:buChar char=""/>
              <a:tabLst>
                <a:tab pos="781685" algn="l"/>
              </a:tabLst>
            </a:pPr>
            <a:r>
              <a:rPr sz="1700" spc="-5" dirty="0">
                <a:latin typeface="Verdana"/>
                <a:cs typeface="Verdana"/>
              </a:rPr>
              <a:t>Giao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của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đoạn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thẳng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với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các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cạnh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chữ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nhật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song</a:t>
            </a:r>
            <a:r>
              <a:rPr sz="1700" spc="2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song </a:t>
            </a:r>
            <a:r>
              <a:rPr sz="1700" spc="-58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trục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tung</a:t>
            </a:r>
            <a:endParaRPr sz="1700">
              <a:latin typeface="Verdana"/>
              <a:cs typeface="Verdana"/>
            </a:endParaRPr>
          </a:p>
          <a:p>
            <a:pPr marL="1181100" marR="242570" lvl="2" indent="-228600">
              <a:lnSpc>
                <a:spcPts val="1839"/>
              </a:lnSpc>
              <a:spcBef>
                <a:spcPts val="400"/>
              </a:spcBef>
              <a:buClr>
                <a:srgbClr val="CC0000"/>
              </a:buClr>
              <a:buFont typeface="Wingdings"/>
              <a:buChar char=""/>
              <a:tabLst>
                <a:tab pos="1181735" algn="l"/>
              </a:tabLst>
            </a:pPr>
            <a:r>
              <a:rPr sz="1700" spc="-5" dirty="0">
                <a:latin typeface="Verdana"/>
                <a:cs typeface="Verdana"/>
              </a:rPr>
              <a:t>x có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giá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trị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10" dirty="0">
                <a:latin typeface="Verdana"/>
                <a:cs typeface="Verdana"/>
              </a:rPr>
              <a:t>X</a:t>
            </a:r>
            <a:r>
              <a:rPr sz="1650" spc="15" baseline="-20202" dirty="0">
                <a:latin typeface="Verdana"/>
                <a:cs typeface="Verdana"/>
              </a:rPr>
              <a:t>min</a:t>
            </a:r>
            <a:r>
              <a:rPr sz="1700" spc="10" dirty="0">
                <a:latin typeface="Verdana"/>
                <a:cs typeface="Verdana"/>
              </a:rPr>
              <a:t>,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spc="15" dirty="0">
                <a:latin typeface="Verdana"/>
                <a:cs typeface="Verdana"/>
              </a:rPr>
              <a:t>X</a:t>
            </a:r>
            <a:r>
              <a:rPr sz="1650" spc="22" baseline="-20202" dirty="0">
                <a:latin typeface="Verdana"/>
                <a:cs typeface="Verdana"/>
              </a:rPr>
              <a:t>max</a:t>
            </a:r>
            <a:r>
              <a:rPr sz="1650" spc="300" baseline="-20202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và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hệ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số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góc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a=(y</a:t>
            </a:r>
            <a:r>
              <a:rPr sz="1650" baseline="-20202" dirty="0">
                <a:latin typeface="Verdana"/>
                <a:cs typeface="Verdana"/>
              </a:rPr>
              <a:t>2</a:t>
            </a:r>
            <a:r>
              <a:rPr sz="1700" dirty="0">
                <a:latin typeface="Verdana"/>
                <a:cs typeface="Verdana"/>
              </a:rPr>
              <a:t>-y</a:t>
            </a:r>
            <a:r>
              <a:rPr sz="1650" baseline="-20202" dirty="0">
                <a:latin typeface="Verdana"/>
                <a:cs typeface="Verdana"/>
              </a:rPr>
              <a:t>1</a:t>
            </a:r>
            <a:r>
              <a:rPr sz="1700" dirty="0">
                <a:latin typeface="Verdana"/>
                <a:cs typeface="Verdana"/>
              </a:rPr>
              <a:t>)/(x</a:t>
            </a:r>
            <a:r>
              <a:rPr sz="1650" baseline="-20202" dirty="0">
                <a:latin typeface="Verdana"/>
                <a:cs typeface="Verdana"/>
              </a:rPr>
              <a:t>2</a:t>
            </a:r>
            <a:r>
              <a:rPr sz="1700" dirty="0">
                <a:latin typeface="Verdana"/>
                <a:cs typeface="Verdana"/>
              </a:rPr>
              <a:t>- </a:t>
            </a:r>
            <a:r>
              <a:rPr sz="1700" spc="-58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x</a:t>
            </a:r>
            <a:r>
              <a:rPr sz="1650" baseline="-20202" dirty="0">
                <a:latin typeface="Verdana"/>
                <a:cs typeface="Verdana"/>
              </a:rPr>
              <a:t>1</a:t>
            </a:r>
            <a:r>
              <a:rPr sz="1700" dirty="0">
                <a:latin typeface="Verdana"/>
                <a:cs typeface="Verdana"/>
              </a:rPr>
              <a:t>)</a:t>
            </a:r>
            <a:endParaRPr sz="1700">
              <a:latin typeface="Verdana"/>
              <a:cs typeface="Verdana"/>
            </a:endParaRPr>
          </a:p>
          <a:p>
            <a:pPr marL="1866900">
              <a:spcBef>
                <a:spcPts val="170"/>
              </a:spcBef>
            </a:pPr>
            <a:r>
              <a:rPr sz="1700" spc="-5" dirty="0">
                <a:latin typeface="Verdana"/>
                <a:cs typeface="Verdana"/>
              </a:rPr>
              <a:t>y=y</a:t>
            </a:r>
            <a:r>
              <a:rPr sz="1650" spc="-7" baseline="-20202" dirty="0">
                <a:latin typeface="Verdana"/>
                <a:cs typeface="Verdana"/>
              </a:rPr>
              <a:t>1</a:t>
            </a:r>
            <a:r>
              <a:rPr sz="1700" spc="-5" dirty="0">
                <a:latin typeface="Verdana"/>
                <a:cs typeface="Verdana"/>
              </a:rPr>
              <a:t>+a(x-x</a:t>
            </a:r>
            <a:r>
              <a:rPr sz="1650" spc="-7" baseline="-20202" dirty="0">
                <a:latin typeface="Verdana"/>
                <a:cs typeface="Verdana"/>
              </a:rPr>
              <a:t>1</a:t>
            </a:r>
            <a:r>
              <a:rPr sz="1700" spc="-5" dirty="0">
                <a:latin typeface="Verdana"/>
                <a:cs typeface="Verdana"/>
              </a:rPr>
              <a:t>)</a:t>
            </a:r>
            <a:endParaRPr sz="1700">
              <a:latin typeface="Verdana"/>
              <a:cs typeface="Verdana"/>
            </a:endParaRPr>
          </a:p>
          <a:p>
            <a:pPr marL="781050" lvl="1" indent="-286385">
              <a:spcBef>
                <a:spcPts val="210"/>
              </a:spcBef>
              <a:buClr>
                <a:srgbClr val="CC0000"/>
              </a:buClr>
              <a:buFont typeface="Wingdings"/>
              <a:buChar char=""/>
              <a:tabLst>
                <a:tab pos="781685" algn="l"/>
              </a:tabLst>
            </a:pPr>
            <a:r>
              <a:rPr sz="1700" spc="-5" dirty="0">
                <a:latin typeface="Verdana"/>
                <a:cs typeface="Verdana"/>
              </a:rPr>
              <a:t>Giao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đoạn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thẳng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với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các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cạnh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song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song</a:t>
            </a:r>
            <a:r>
              <a:rPr sz="1700" spc="2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trục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hoành</a:t>
            </a:r>
            <a:endParaRPr sz="1700">
              <a:latin typeface="Verdana"/>
              <a:cs typeface="Verdana"/>
            </a:endParaRPr>
          </a:p>
          <a:p>
            <a:pPr marL="1181100" lvl="2" indent="-229235">
              <a:spcBef>
                <a:spcPts val="204"/>
              </a:spcBef>
              <a:buClr>
                <a:srgbClr val="CC0000"/>
              </a:buClr>
              <a:buFont typeface="Wingdings"/>
              <a:buChar char=""/>
              <a:tabLst>
                <a:tab pos="1181735" algn="l"/>
              </a:tabLst>
            </a:pPr>
            <a:r>
              <a:rPr sz="1700" spc="-5" dirty="0">
                <a:latin typeface="Verdana"/>
                <a:cs typeface="Verdana"/>
              </a:rPr>
              <a:t>y có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giá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trị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10" dirty="0">
                <a:latin typeface="Verdana"/>
                <a:cs typeface="Verdana"/>
              </a:rPr>
              <a:t>Y</a:t>
            </a:r>
            <a:r>
              <a:rPr sz="1650" spc="15" baseline="-20202" dirty="0">
                <a:latin typeface="Verdana"/>
                <a:cs typeface="Verdana"/>
              </a:rPr>
              <a:t>min</a:t>
            </a:r>
            <a:r>
              <a:rPr sz="1700" spc="10" dirty="0">
                <a:latin typeface="Verdana"/>
                <a:cs typeface="Verdana"/>
              </a:rPr>
              <a:t>,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15" dirty="0">
                <a:latin typeface="Verdana"/>
                <a:cs typeface="Verdana"/>
              </a:rPr>
              <a:t>Y</a:t>
            </a:r>
            <a:r>
              <a:rPr sz="1650" spc="22" baseline="-20202" dirty="0">
                <a:latin typeface="Verdana"/>
                <a:cs typeface="Verdana"/>
              </a:rPr>
              <a:t>max</a:t>
            </a:r>
            <a:r>
              <a:rPr sz="1650" spc="315" baseline="-20202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và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hệ số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góc</a:t>
            </a:r>
            <a:endParaRPr sz="1700">
              <a:latin typeface="Verdana"/>
              <a:cs typeface="Verdana"/>
            </a:endParaRPr>
          </a:p>
          <a:p>
            <a:pPr marL="1866900">
              <a:spcBef>
                <a:spcPts val="170"/>
              </a:spcBef>
            </a:pPr>
            <a:r>
              <a:rPr sz="1400" spc="-5" dirty="0">
                <a:latin typeface="Verdana"/>
                <a:cs typeface="Verdana"/>
              </a:rPr>
              <a:t>X=x</a:t>
            </a:r>
            <a:r>
              <a:rPr sz="1350" spc="-7" baseline="-21604" dirty="0">
                <a:latin typeface="Verdana"/>
                <a:cs typeface="Verdana"/>
              </a:rPr>
              <a:t>1</a:t>
            </a:r>
            <a:r>
              <a:rPr sz="1400" spc="-5" dirty="0">
                <a:latin typeface="Verdana"/>
                <a:cs typeface="Verdana"/>
              </a:rPr>
              <a:t>+(y-y</a:t>
            </a:r>
            <a:r>
              <a:rPr sz="1350" spc="-7" baseline="-21604" dirty="0">
                <a:latin typeface="Verdana"/>
                <a:cs typeface="Verdana"/>
              </a:rPr>
              <a:t>1</a:t>
            </a:r>
            <a:r>
              <a:rPr sz="1400" spc="-5" dirty="0">
                <a:latin typeface="Verdana"/>
                <a:cs typeface="Verdana"/>
              </a:rPr>
              <a:t>)/a</a:t>
            </a:r>
            <a:endParaRPr sz="14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09050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1" y="880363"/>
            <a:ext cx="7715250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10" dirty="0">
                <a:latin typeface="Verdana"/>
                <a:cs typeface="Verdana"/>
              </a:rPr>
              <a:t>Thuật </a:t>
            </a:r>
            <a:r>
              <a:rPr sz="3800" spc="-5" dirty="0">
                <a:latin typeface="Verdana"/>
                <a:cs typeface="Verdana"/>
              </a:rPr>
              <a:t>toán</a:t>
            </a:r>
            <a:r>
              <a:rPr sz="380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chia nhỏ </a:t>
            </a:r>
            <a:r>
              <a:rPr sz="3800" spc="-10" dirty="0">
                <a:latin typeface="Verdana"/>
                <a:cs typeface="Verdana"/>
              </a:rPr>
              <a:t>trung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điểm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44013" y="1687575"/>
            <a:ext cx="7626350" cy="345059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81000" indent="-343535" algn="just">
              <a:spcBef>
                <a:spcPts val="855"/>
              </a:spcBef>
              <a:buClr>
                <a:srgbClr val="CC0000"/>
              </a:buClr>
              <a:buFont typeface="Wingdings"/>
              <a:buChar char=""/>
              <a:tabLst>
                <a:tab pos="381635" algn="l"/>
              </a:tabLst>
            </a:pPr>
            <a:r>
              <a:rPr sz="2100" dirty="0">
                <a:latin typeface="Verdana"/>
                <a:cs typeface="Verdana"/>
              </a:rPr>
              <a:t>Dựa</a:t>
            </a:r>
            <a:r>
              <a:rPr sz="2100" spc="-2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trên</a:t>
            </a:r>
            <a:r>
              <a:rPr sz="2100" spc="-2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phương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pháp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chia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đôi</a:t>
            </a:r>
            <a:endParaRPr sz="2100">
              <a:latin typeface="Verdana"/>
              <a:cs typeface="Verdana"/>
            </a:endParaRPr>
          </a:p>
          <a:p>
            <a:pPr marL="381000" marR="97155" indent="-343535" algn="just">
              <a:lnSpc>
                <a:spcPct val="110000"/>
              </a:lnSpc>
              <a:spcBef>
                <a:spcPts val="505"/>
              </a:spcBef>
              <a:buClr>
                <a:srgbClr val="CC0000"/>
              </a:buClr>
              <a:buFont typeface="Wingdings"/>
              <a:buChar char=""/>
              <a:tabLst>
                <a:tab pos="381635" algn="l"/>
              </a:tabLst>
            </a:pPr>
            <a:r>
              <a:rPr sz="2100" spc="-5" dirty="0">
                <a:latin typeface="Verdana"/>
                <a:cs typeface="Verdana"/>
              </a:rPr>
              <a:t>Đoạn thẳng được </a:t>
            </a:r>
            <a:r>
              <a:rPr sz="2100" dirty="0">
                <a:latin typeface="Verdana"/>
                <a:cs typeface="Verdana"/>
              </a:rPr>
              <a:t>chia </a:t>
            </a:r>
            <a:r>
              <a:rPr sz="2100" spc="-5" dirty="0">
                <a:latin typeface="Verdana"/>
                <a:cs typeface="Verdana"/>
              </a:rPr>
              <a:t>tại trung điểm </a:t>
            </a:r>
            <a:r>
              <a:rPr sz="2100" dirty="0">
                <a:latin typeface="Verdana"/>
                <a:cs typeface="Verdana"/>
              </a:rPr>
              <a:t>của nó </a:t>
            </a:r>
            <a:r>
              <a:rPr sz="2100" spc="-5" dirty="0">
                <a:latin typeface="Verdana"/>
                <a:cs typeface="Verdana"/>
              </a:rPr>
              <a:t>thành </a:t>
            </a:r>
            <a:r>
              <a:rPr sz="2100" dirty="0">
                <a:latin typeface="Verdana"/>
                <a:cs typeface="Verdana"/>
              </a:rPr>
              <a:t>2 </a:t>
            </a:r>
            <a:r>
              <a:rPr sz="2100" spc="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đoạn </a:t>
            </a:r>
            <a:r>
              <a:rPr sz="2100" dirty="0">
                <a:latin typeface="Verdana"/>
                <a:cs typeface="Verdana"/>
              </a:rPr>
              <a:t>nhỏ hơn </a:t>
            </a:r>
            <a:r>
              <a:rPr sz="2100" dirty="0">
                <a:latin typeface="Microsoft Sans Serif"/>
                <a:cs typeface="Microsoft Sans Serif"/>
              </a:rPr>
              <a:t>→ </a:t>
            </a:r>
            <a:r>
              <a:rPr sz="2100" dirty="0">
                <a:latin typeface="Verdana"/>
                <a:cs typeface="Verdana"/>
              </a:rPr>
              <a:t>xác </a:t>
            </a:r>
            <a:r>
              <a:rPr sz="2100" spc="-5" dirty="0">
                <a:latin typeface="Verdana"/>
                <a:cs typeface="Verdana"/>
              </a:rPr>
              <a:t>định </a:t>
            </a:r>
            <a:r>
              <a:rPr sz="2100" dirty="0">
                <a:latin typeface="Verdana"/>
                <a:cs typeface="Verdana"/>
              </a:rPr>
              <a:t>xem </a:t>
            </a:r>
            <a:r>
              <a:rPr sz="2100" spc="-5" dirty="0">
                <a:latin typeface="Verdana"/>
                <a:cs typeface="Verdana"/>
              </a:rPr>
              <a:t>thuộc loại </a:t>
            </a:r>
            <a:r>
              <a:rPr sz="2100" dirty="0">
                <a:latin typeface="Verdana"/>
                <a:cs typeface="Verdana"/>
              </a:rPr>
              <a:t>cắt </a:t>
            </a:r>
            <a:r>
              <a:rPr sz="2100" spc="-5" dirty="0">
                <a:latin typeface="Verdana"/>
                <a:cs typeface="Verdana"/>
              </a:rPr>
              <a:t>nào? </a:t>
            </a:r>
            <a:r>
              <a:rPr sz="2100" dirty="0">
                <a:latin typeface="Microsoft Sans Serif"/>
                <a:cs typeface="Microsoft Sans Serif"/>
              </a:rPr>
              <a:t>→ </a:t>
            </a:r>
            <a:r>
              <a:rPr sz="2100" spc="5" dirty="0">
                <a:latin typeface="Microsoft Sans Serif"/>
                <a:cs typeface="Microsoft Sans Serif"/>
              </a:rPr>
              <a:t> </a:t>
            </a:r>
            <a:r>
              <a:rPr sz="2100" spc="-5" dirty="0">
                <a:latin typeface="Verdana"/>
                <a:cs typeface="Verdana"/>
              </a:rPr>
              <a:t>tiếp tục </a:t>
            </a:r>
            <a:r>
              <a:rPr sz="2100" dirty="0">
                <a:latin typeface="Verdana"/>
                <a:cs typeface="Verdana"/>
              </a:rPr>
              <a:t>chia nhỏ </a:t>
            </a:r>
            <a:r>
              <a:rPr sz="2100" dirty="0">
                <a:latin typeface="Microsoft Sans Serif"/>
                <a:cs typeface="Microsoft Sans Serif"/>
              </a:rPr>
              <a:t>→ </a:t>
            </a:r>
            <a:r>
              <a:rPr sz="2100" dirty="0">
                <a:latin typeface="Verdana"/>
                <a:cs typeface="Verdana"/>
              </a:rPr>
              <a:t>chỉ còn </a:t>
            </a:r>
            <a:r>
              <a:rPr sz="2100" spc="-5" dirty="0">
                <a:latin typeface="Verdana"/>
                <a:cs typeface="Verdana"/>
              </a:rPr>
              <a:t>đoạn thuộc loại nhìn thấy </a:t>
            </a:r>
            <a:r>
              <a:rPr sz="2100" spc="-72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hoặc</a:t>
            </a:r>
            <a:r>
              <a:rPr sz="210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không</a:t>
            </a:r>
            <a:r>
              <a:rPr sz="210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nhìn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thấy</a:t>
            </a:r>
            <a:endParaRPr sz="2100">
              <a:latin typeface="Verdana"/>
              <a:cs typeface="Verdana"/>
            </a:endParaRPr>
          </a:p>
          <a:p>
            <a:pPr marL="381000" marR="30480" indent="-343535" algn="just">
              <a:lnSpc>
                <a:spcPct val="110100"/>
              </a:lnSpc>
              <a:spcBef>
                <a:spcPts val="500"/>
              </a:spcBef>
              <a:buClr>
                <a:srgbClr val="CC0000"/>
              </a:buClr>
              <a:buFont typeface="Wingdings"/>
              <a:buChar char=""/>
              <a:tabLst>
                <a:tab pos="381635" algn="l"/>
              </a:tabLst>
            </a:pPr>
            <a:r>
              <a:rPr sz="2100" spc="-5" dirty="0">
                <a:latin typeface="Verdana"/>
                <a:cs typeface="Verdana"/>
              </a:rPr>
              <a:t>Với khung nhìn trong thiết bị vật lý </a:t>
            </a:r>
            <a:r>
              <a:rPr sz="2100" dirty="0">
                <a:latin typeface="Microsoft Sans Serif"/>
                <a:cs typeface="Microsoft Sans Serif"/>
              </a:rPr>
              <a:t>→ </a:t>
            </a:r>
            <a:r>
              <a:rPr sz="2100" spc="-5" dirty="0">
                <a:latin typeface="Verdana"/>
                <a:cs typeface="Verdana"/>
              </a:rPr>
              <a:t>đoạn thẳng thu </a:t>
            </a:r>
            <a:r>
              <a:rPr sz="2100" spc="-72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được</a:t>
            </a:r>
            <a:r>
              <a:rPr sz="2100" spc="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nhỏ hơn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độ </a:t>
            </a:r>
            <a:r>
              <a:rPr sz="2100" dirty="0">
                <a:latin typeface="Verdana"/>
                <a:cs typeface="Verdana"/>
              </a:rPr>
              <a:t>chính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xác</a:t>
            </a:r>
            <a:r>
              <a:rPr sz="2100" spc="-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của màn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hình.</a:t>
            </a:r>
            <a:endParaRPr sz="2100">
              <a:latin typeface="Verdana"/>
              <a:cs typeface="Verdana"/>
            </a:endParaRPr>
          </a:p>
          <a:p>
            <a:pPr marL="381000" marR="368935" indent="-343535" algn="just">
              <a:lnSpc>
                <a:spcPct val="110000"/>
              </a:lnSpc>
              <a:spcBef>
                <a:spcPts val="505"/>
              </a:spcBef>
              <a:buClr>
                <a:srgbClr val="CC0000"/>
              </a:buClr>
              <a:buFont typeface="Wingdings"/>
              <a:buChar char=""/>
              <a:tabLst>
                <a:tab pos="381635" algn="l"/>
              </a:tabLst>
            </a:pPr>
            <a:r>
              <a:rPr sz="2100" spc="-5" dirty="0">
                <a:latin typeface="Verdana"/>
                <a:cs typeface="Verdana"/>
              </a:rPr>
              <a:t>Nếu đoạn thẳng có </a:t>
            </a:r>
            <a:r>
              <a:rPr sz="2100" dirty="0">
                <a:latin typeface="Verdana"/>
                <a:cs typeface="Verdana"/>
              </a:rPr>
              <a:t>số </a:t>
            </a:r>
            <a:r>
              <a:rPr sz="2100" spc="-5" dirty="0">
                <a:latin typeface="Verdana"/>
                <a:cs typeface="Verdana"/>
              </a:rPr>
              <a:t>điểm ảnh là </a:t>
            </a:r>
            <a:r>
              <a:rPr sz="2100" dirty="0">
                <a:latin typeface="Verdana"/>
                <a:cs typeface="Verdana"/>
              </a:rPr>
              <a:t>M </a:t>
            </a:r>
            <a:r>
              <a:rPr sz="2100" dirty="0">
                <a:latin typeface="Microsoft Sans Serif"/>
                <a:cs typeface="Microsoft Sans Serif"/>
              </a:rPr>
              <a:t>→ </a:t>
            </a:r>
            <a:r>
              <a:rPr sz="2100" spc="-5" dirty="0">
                <a:latin typeface="Verdana"/>
                <a:cs typeface="Verdana"/>
              </a:rPr>
              <a:t>phải </a:t>
            </a:r>
            <a:r>
              <a:rPr sz="2100" dirty="0">
                <a:latin typeface="Verdana"/>
                <a:cs typeface="Verdana"/>
              </a:rPr>
              <a:t>chia N </a:t>
            </a:r>
            <a:r>
              <a:rPr sz="2100" spc="-72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phép</a:t>
            </a:r>
            <a:r>
              <a:rPr sz="2100" dirty="0">
                <a:latin typeface="Verdana"/>
                <a:cs typeface="Verdana"/>
              </a:rPr>
              <a:t> chia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trong đó</a:t>
            </a:r>
            <a:r>
              <a:rPr sz="2100" spc="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N=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log</a:t>
            </a:r>
            <a:r>
              <a:rPr sz="2100" spc="-7" baseline="-19841" dirty="0">
                <a:latin typeface="Verdana"/>
                <a:cs typeface="Verdana"/>
              </a:rPr>
              <a:t>2</a:t>
            </a:r>
            <a:r>
              <a:rPr sz="2100" spc="-5" dirty="0">
                <a:latin typeface="Verdana"/>
                <a:cs typeface="Verdana"/>
              </a:rPr>
              <a:t>M.</a:t>
            </a:r>
            <a:endParaRPr sz="21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64569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2" y="880363"/>
            <a:ext cx="606234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10" dirty="0">
                <a:latin typeface="Verdana"/>
                <a:cs typeface="Verdana"/>
              </a:rPr>
              <a:t>Thuật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toán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Cyrus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&amp;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Beck</a:t>
            </a:r>
            <a:endParaRPr sz="38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992630" y="3500629"/>
            <a:ext cx="8530590" cy="2211705"/>
            <a:chOff x="468630" y="3500628"/>
            <a:chExt cx="8530590" cy="22117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48071" y="3573780"/>
              <a:ext cx="3851148" cy="212826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8630" y="3500628"/>
              <a:ext cx="4248150" cy="221132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045716" y="1683309"/>
            <a:ext cx="8072120" cy="1751762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149225" indent="-111760">
              <a:spcBef>
                <a:spcPts val="1060"/>
              </a:spcBef>
              <a:buSzPct val="93750"/>
              <a:buChar char="•"/>
              <a:tabLst>
                <a:tab pos="149860" algn="l"/>
              </a:tabLst>
            </a:pPr>
            <a:r>
              <a:rPr sz="1600" dirty="0">
                <a:latin typeface="Verdana"/>
                <a:cs typeface="Verdana"/>
              </a:rPr>
              <a:t>Sử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dụng phương trình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tham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số:</a:t>
            </a:r>
            <a:endParaRPr sz="1600">
              <a:latin typeface="Verdana"/>
              <a:cs typeface="Verdana"/>
            </a:endParaRPr>
          </a:p>
          <a:p>
            <a:pPr marL="606425" lvl="1" indent="-111760">
              <a:spcBef>
                <a:spcPts val="960"/>
              </a:spcBef>
              <a:buSzPct val="93750"/>
              <a:buFont typeface="Verdana"/>
              <a:buChar char="•"/>
              <a:tabLst>
                <a:tab pos="607060" algn="l"/>
              </a:tabLst>
            </a:pPr>
            <a:r>
              <a:rPr sz="1600" i="1" dirty="0">
                <a:latin typeface="Verdana"/>
                <a:cs typeface="Verdana"/>
              </a:rPr>
              <a:t>P(t)=P</a:t>
            </a:r>
            <a:r>
              <a:rPr sz="1575" i="1" baseline="-21164" dirty="0">
                <a:latin typeface="Verdana"/>
                <a:cs typeface="Verdana"/>
              </a:rPr>
              <a:t>0</a:t>
            </a:r>
            <a:r>
              <a:rPr sz="1575" i="1" spc="217" baseline="-21164" dirty="0">
                <a:latin typeface="Verdana"/>
                <a:cs typeface="Verdana"/>
              </a:rPr>
              <a:t> </a:t>
            </a:r>
            <a:r>
              <a:rPr sz="1600" i="1" dirty="0">
                <a:latin typeface="Verdana"/>
                <a:cs typeface="Verdana"/>
              </a:rPr>
              <a:t>+</a:t>
            </a:r>
            <a:r>
              <a:rPr sz="1600" i="1" spc="-25" dirty="0">
                <a:latin typeface="Verdana"/>
                <a:cs typeface="Verdana"/>
              </a:rPr>
              <a:t> </a:t>
            </a:r>
            <a:r>
              <a:rPr sz="1600" i="1" dirty="0">
                <a:latin typeface="Verdana"/>
                <a:cs typeface="Verdana"/>
              </a:rPr>
              <a:t>t(P</a:t>
            </a:r>
            <a:r>
              <a:rPr sz="1575" i="1" baseline="-21164" dirty="0">
                <a:latin typeface="Verdana"/>
                <a:cs typeface="Verdana"/>
              </a:rPr>
              <a:t>1</a:t>
            </a:r>
            <a:r>
              <a:rPr sz="1600" i="1" dirty="0">
                <a:latin typeface="Verdana"/>
                <a:cs typeface="Verdana"/>
              </a:rPr>
              <a:t>-P</a:t>
            </a:r>
            <a:r>
              <a:rPr sz="1575" i="1" baseline="-21164" dirty="0">
                <a:latin typeface="Verdana"/>
                <a:cs typeface="Verdana"/>
              </a:rPr>
              <a:t>0</a:t>
            </a:r>
            <a:r>
              <a:rPr sz="1600" i="1" dirty="0">
                <a:latin typeface="Verdana"/>
                <a:cs typeface="Verdana"/>
              </a:rPr>
              <a:t>)</a:t>
            </a:r>
            <a:endParaRPr sz="1600">
              <a:latin typeface="Verdana"/>
              <a:cs typeface="Verdana"/>
            </a:endParaRPr>
          </a:p>
          <a:p>
            <a:pPr marL="38100" marR="30480">
              <a:spcBef>
                <a:spcPts val="960"/>
              </a:spcBef>
              <a:buSzPct val="93750"/>
              <a:buChar char="•"/>
              <a:tabLst>
                <a:tab pos="149860" algn="l"/>
              </a:tabLst>
            </a:pPr>
            <a:r>
              <a:rPr sz="1600" spc="-5" dirty="0">
                <a:latin typeface="Verdana"/>
                <a:cs typeface="Verdana"/>
              </a:rPr>
              <a:t>Xác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định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giao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điểm</a:t>
            </a:r>
            <a:r>
              <a:rPr sz="1600" dirty="0">
                <a:latin typeface="Verdana"/>
                <a:cs typeface="Verdana"/>
              </a:rPr>
              <a:t> của</a:t>
            </a:r>
            <a:r>
              <a:rPr sz="1600" spc="-5" dirty="0">
                <a:latin typeface="Verdana"/>
                <a:cs typeface="Verdana"/>
              </a:rPr>
              <a:t> đoạn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thẳng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với </a:t>
            </a:r>
            <a:r>
              <a:rPr sz="1600" spc="-5" dirty="0">
                <a:latin typeface="Verdana"/>
                <a:cs typeface="Verdana"/>
              </a:rPr>
              <a:t>biên </a:t>
            </a:r>
            <a:r>
              <a:rPr sz="1600" dirty="0">
                <a:latin typeface="Verdana"/>
                <a:cs typeface="Verdana"/>
              </a:rPr>
              <a:t>hcn, sau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đó</a:t>
            </a:r>
            <a:r>
              <a:rPr sz="16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xem</a:t>
            </a:r>
            <a:r>
              <a:rPr sz="1600" spc="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chúng có </a:t>
            </a:r>
            <a:r>
              <a:rPr sz="1600" spc="-5" dirty="0">
                <a:latin typeface="Verdana"/>
                <a:cs typeface="Verdana"/>
              </a:rPr>
              <a:t>thuộc </a:t>
            </a:r>
            <a:r>
              <a:rPr sz="1600" spc="-5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vùng</a:t>
            </a:r>
            <a:r>
              <a:rPr sz="1600" spc="-5" dirty="0">
                <a:latin typeface="Verdana"/>
                <a:cs typeface="Verdana"/>
              </a:rPr>
              <a:t> clipping?</a:t>
            </a:r>
            <a:endParaRPr sz="1600">
              <a:latin typeface="Verdana"/>
              <a:cs typeface="Verdana"/>
            </a:endParaRPr>
          </a:p>
          <a:p>
            <a:pPr marL="149225" indent="-111760">
              <a:spcBef>
                <a:spcPts val="960"/>
              </a:spcBef>
              <a:buSzPct val="93750"/>
              <a:buChar char="•"/>
              <a:tabLst>
                <a:tab pos="149860" algn="l"/>
              </a:tabLst>
            </a:pPr>
            <a:r>
              <a:rPr sz="1600" spc="-5" dirty="0">
                <a:latin typeface="Verdana"/>
                <a:cs typeface="Verdana"/>
              </a:rPr>
              <a:t>Tìm </a:t>
            </a:r>
            <a:r>
              <a:rPr sz="1600" dirty="0">
                <a:latin typeface="Verdana"/>
                <a:cs typeface="Verdana"/>
              </a:rPr>
              <a:t>một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điểm trên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mp clip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và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vecto</a:t>
            </a:r>
            <a:r>
              <a:rPr sz="1600" dirty="0">
                <a:latin typeface="Verdana"/>
                <a:cs typeface="Verdana"/>
              </a:rPr>
              <a:t> pháp </a:t>
            </a:r>
            <a:r>
              <a:rPr sz="1600" spc="-5" dirty="0">
                <a:latin typeface="Verdana"/>
                <a:cs typeface="Verdana"/>
              </a:rPr>
              <a:t>tuyến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của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nó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63140" y="5670803"/>
            <a:ext cx="311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dirty="0">
                <a:latin typeface="Verdana"/>
                <a:cs typeface="Verdana"/>
              </a:rPr>
              <a:t>P</a:t>
            </a:r>
            <a:r>
              <a:rPr baseline="-20833" dirty="0">
                <a:latin typeface="Verdana"/>
                <a:cs typeface="Verdana"/>
              </a:rPr>
              <a:t>0</a:t>
            </a:r>
            <a:endParaRPr baseline="-20833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64839" y="4756404"/>
            <a:ext cx="3498850" cy="1260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0080">
              <a:spcBef>
                <a:spcPts val="100"/>
              </a:spcBef>
            </a:pPr>
            <a:r>
              <a:rPr sz="1600" i="1" dirty="0">
                <a:latin typeface="Verdana"/>
                <a:cs typeface="Verdana"/>
              </a:rPr>
              <a:t>N</a:t>
            </a:r>
            <a:r>
              <a:rPr sz="1575" i="1" baseline="-21164" dirty="0">
                <a:latin typeface="Verdana"/>
                <a:cs typeface="Verdana"/>
              </a:rPr>
              <a:t>j</a:t>
            </a:r>
            <a:r>
              <a:rPr sz="1575" i="1" spc="-75" baseline="-21164" dirty="0">
                <a:latin typeface="Verdana"/>
                <a:cs typeface="Verdana"/>
              </a:rPr>
              <a:t> </a:t>
            </a:r>
            <a:r>
              <a:rPr sz="1600" i="1" dirty="0">
                <a:latin typeface="Verdana"/>
                <a:cs typeface="Verdana"/>
              </a:rPr>
              <a:t>.(P(t)-P</a:t>
            </a:r>
            <a:r>
              <a:rPr sz="1575" i="1" baseline="-21164" dirty="0">
                <a:latin typeface="Verdana"/>
                <a:cs typeface="Verdana"/>
              </a:rPr>
              <a:t>EJ</a:t>
            </a:r>
            <a:r>
              <a:rPr sz="1600" i="1" dirty="0">
                <a:latin typeface="Verdana"/>
                <a:cs typeface="Verdana"/>
              </a:rPr>
              <a:t>)&lt;0</a:t>
            </a:r>
            <a:endParaRPr sz="1600">
              <a:latin typeface="Verdana"/>
              <a:cs typeface="Verdana"/>
            </a:endParaRPr>
          </a:p>
          <a:p>
            <a:pPr marL="731520">
              <a:spcBef>
                <a:spcPts val="1795"/>
              </a:spcBef>
            </a:pPr>
            <a:r>
              <a:rPr sz="1600" i="1" dirty="0">
                <a:latin typeface="Verdana"/>
                <a:cs typeface="Verdana"/>
              </a:rPr>
              <a:t>N</a:t>
            </a:r>
            <a:r>
              <a:rPr sz="1575" i="1" baseline="-21164" dirty="0">
                <a:latin typeface="Verdana"/>
                <a:cs typeface="Verdana"/>
              </a:rPr>
              <a:t>j</a:t>
            </a:r>
            <a:r>
              <a:rPr sz="1575" i="1" spc="-60" baseline="-21164" dirty="0">
                <a:latin typeface="Verdana"/>
                <a:cs typeface="Verdana"/>
              </a:rPr>
              <a:t> </a:t>
            </a:r>
            <a:r>
              <a:rPr sz="1600" i="1" dirty="0">
                <a:latin typeface="Verdana"/>
                <a:cs typeface="Verdana"/>
              </a:rPr>
              <a:t>.(P(t)-P</a:t>
            </a:r>
            <a:r>
              <a:rPr sz="1575" i="1" baseline="-21164" dirty="0">
                <a:latin typeface="Verdana"/>
                <a:cs typeface="Verdana"/>
              </a:rPr>
              <a:t>EJ</a:t>
            </a:r>
            <a:r>
              <a:rPr sz="1600" i="1" dirty="0">
                <a:latin typeface="Verdana"/>
                <a:cs typeface="Verdana"/>
              </a:rPr>
              <a:t>)=0</a:t>
            </a:r>
            <a:endParaRPr sz="1600">
              <a:latin typeface="Verdana"/>
              <a:cs typeface="Verdana"/>
            </a:endParaRPr>
          </a:p>
          <a:p>
            <a:pPr>
              <a:spcBef>
                <a:spcPts val="40"/>
              </a:spcBef>
            </a:pPr>
            <a:endParaRPr sz="1750">
              <a:latin typeface="Verdana"/>
              <a:cs typeface="Verdana"/>
            </a:endParaRPr>
          </a:p>
          <a:p>
            <a:pPr marL="38100"/>
            <a:r>
              <a:rPr sz="1600" i="1" dirty="0">
                <a:latin typeface="Verdana"/>
                <a:cs typeface="Verdana"/>
              </a:rPr>
              <a:t>N</a:t>
            </a:r>
            <a:r>
              <a:rPr sz="1575" i="1" baseline="-21164" dirty="0">
                <a:latin typeface="Verdana"/>
                <a:cs typeface="Verdana"/>
              </a:rPr>
              <a:t>j</a:t>
            </a:r>
            <a:r>
              <a:rPr sz="1575" i="1" spc="-60" baseline="-21164" dirty="0">
                <a:latin typeface="Verdana"/>
                <a:cs typeface="Verdana"/>
              </a:rPr>
              <a:t> </a:t>
            </a:r>
            <a:r>
              <a:rPr sz="1600" i="1" dirty="0">
                <a:latin typeface="Verdana"/>
                <a:cs typeface="Verdana"/>
              </a:rPr>
              <a:t>.(P(t)-P</a:t>
            </a:r>
            <a:r>
              <a:rPr sz="1575" i="1" baseline="-21164" dirty="0">
                <a:latin typeface="Verdana"/>
                <a:cs typeface="Verdana"/>
              </a:rPr>
              <a:t>EJ</a:t>
            </a:r>
            <a:r>
              <a:rPr sz="1600" i="1" dirty="0">
                <a:latin typeface="Verdana"/>
                <a:cs typeface="Verdana"/>
              </a:rPr>
              <a:t>)&gt;0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87854" y="3462909"/>
            <a:ext cx="1905000" cy="76200"/>
          </a:xfrm>
          <a:custGeom>
            <a:avLst/>
            <a:gdLst/>
            <a:ahLst/>
            <a:cxnLst/>
            <a:rect l="l" t="t" r="r" b="b"/>
            <a:pathLst>
              <a:path w="19050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905000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905000" h="76200">
                <a:moveTo>
                  <a:pt x="1905000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905000" y="44450"/>
                </a:lnTo>
                <a:lnTo>
                  <a:pt x="19050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491992" y="4923028"/>
            <a:ext cx="1638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Verdana"/>
                <a:cs typeface="Verdana"/>
              </a:rPr>
              <a:t>P</a:t>
            </a:r>
            <a:endParaRPr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45739" y="5151628"/>
            <a:ext cx="224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Verdana"/>
                <a:cs typeface="Verdana"/>
              </a:rPr>
              <a:t>P’</a:t>
            </a:r>
            <a:endParaRPr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71694" y="4070604"/>
            <a:ext cx="99695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1200">
              <a:lnSpc>
                <a:spcPts val="1980"/>
              </a:lnSpc>
              <a:spcBef>
                <a:spcPts val="100"/>
              </a:spcBef>
            </a:pPr>
            <a:r>
              <a:rPr dirty="0">
                <a:latin typeface="Verdana"/>
                <a:cs typeface="Verdana"/>
              </a:rPr>
              <a:t>P</a:t>
            </a:r>
            <a:r>
              <a:rPr baseline="-20833" dirty="0">
                <a:latin typeface="Verdana"/>
                <a:cs typeface="Verdana"/>
              </a:rPr>
              <a:t>1</a:t>
            </a:r>
            <a:endParaRPr baseline="-20833">
              <a:latin typeface="Verdana"/>
              <a:cs typeface="Verdana"/>
            </a:endParaRPr>
          </a:p>
          <a:p>
            <a:pPr marL="25400">
              <a:lnSpc>
                <a:spcPts val="1980"/>
              </a:lnSpc>
            </a:pPr>
            <a:r>
              <a:rPr dirty="0">
                <a:latin typeface="Verdana"/>
                <a:cs typeface="Verdana"/>
              </a:rPr>
              <a:t>P”</a:t>
            </a:r>
            <a:endParaRPr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800072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972563" y="1776547"/>
            <a:ext cx="6324600" cy="3474669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38100">
              <a:spcBef>
                <a:spcPts val="1055"/>
              </a:spcBef>
            </a:pPr>
            <a:r>
              <a:rPr sz="2000" i="1" spc="-5" dirty="0">
                <a:latin typeface="Verdana"/>
                <a:cs typeface="Verdana"/>
              </a:rPr>
              <a:t>P(t)=P</a:t>
            </a:r>
            <a:r>
              <a:rPr sz="1950" i="1" spc="-7" baseline="-21367" dirty="0">
                <a:latin typeface="Verdana"/>
                <a:cs typeface="Verdana"/>
              </a:rPr>
              <a:t>0</a:t>
            </a:r>
            <a:r>
              <a:rPr sz="1950" i="1" spc="330" baseline="-21367" dirty="0">
                <a:latin typeface="Verdana"/>
                <a:cs typeface="Verdana"/>
              </a:rPr>
              <a:t> </a:t>
            </a:r>
            <a:r>
              <a:rPr sz="2000" i="1" spc="-5" dirty="0">
                <a:latin typeface="Verdana"/>
                <a:cs typeface="Verdana"/>
              </a:rPr>
              <a:t>+</a:t>
            </a:r>
            <a:r>
              <a:rPr sz="2000" i="1" spc="-30" dirty="0">
                <a:latin typeface="Verdana"/>
                <a:cs typeface="Verdana"/>
              </a:rPr>
              <a:t> </a:t>
            </a:r>
            <a:r>
              <a:rPr sz="2000" i="1" dirty="0">
                <a:latin typeface="Verdana"/>
                <a:cs typeface="Verdana"/>
              </a:rPr>
              <a:t>(P</a:t>
            </a:r>
            <a:r>
              <a:rPr sz="1950" i="1" baseline="-21367" dirty="0">
                <a:latin typeface="Verdana"/>
                <a:cs typeface="Verdana"/>
              </a:rPr>
              <a:t>1</a:t>
            </a:r>
            <a:r>
              <a:rPr sz="2000" i="1" dirty="0">
                <a:latin typeface="Verdana"/>
                <a:cs typeface="Verdana"/>
              </a:rPr>
              <a:t>-P</a:t>
            </a:r>
            <a:r>
              <a:rPr sz="1950" i="1" baseline="-21367" dirty="0">
                <a:latin typeface="Verdana"/>
                <a:cs typeface="Verdana"/>
              </a:rPr>
              <a:t>0</a:t>
            </a:r>
            <a:r>
              <a:rPr sz="2000" i="1" dirty="0">
                <a:latin typeface="Verdana"/>
                <a:cs typeface="Verdana"/>
              </a:rPr>
              <a:t>)t</a:t>
            </a:r>
            <a:endParaRPr sz="2000">
              <a:latin typeface="Verdana"/>
              <a:cs typeface="Verdana"/>
            </a:endParaRPr>
          </a:p>
          <a:p>
            <a:pPr marL="38100">
              <a:spcBef>
                <a:spcPts val="960"/>
              </a:spcBef>
            </a:pPr>
            <a:r>
              <a:rPr sz="2000" b="1" i="1" dirty="0">
                <a:latin typeface="Verdana"/>
                <a:cs typeface="Verdana"/>
              </a:rPr>
              <a:t>N</a:t>
            </a:r>
            <a:r>
              <a:rPr sz="1950" b="1" i="1" baseline="-21367" dirty="0">
                <a:latin typeface="Verdana"/>
                <a:cs typeface="Verdana"/>
              </a:rPr>
              <a:t>j</a:t>
            </a:r>
            <a:r>
              <a:rPr sz="1950" b="1" i="1" spc="352" baseline="-21367" dirty="0">
                <a:latin typeface="Verdana"/>
                <a:cs typeface="Verdana"/>
              </a:rPr>
              <a:t> </a:t>
            </a:r>
            <a:r>
              <a:rPr sz="2000" b="1" i="1" spc="-5" dirty="0">
                <a:latin typeface="Verdana"/>
                <a:cs typeface="Verdana"/>
              </a:rPr>
              <a:t>.(P(t)-P</a:t>
            </a:r>
            <a:r>
              <a:rPr sz="1950" b="1" i="1" spc="-7" baseline="-21367" dirty="0">
                <a:latin typeface="Verdana"/>
                <a:cs typeface="Verdana"/>
              </a:rPr>
              <a:t>EJ</a:t>
            </a:r>
            <a:r>
              <a:rPr sz="2000" b="1" i="1" spc="-5" dirty="0">
                <a:latin typeface="Verdana"/>
                <a:cs typeface="Verdana"/>
              </a:rPr>
              <a:t>)=0</a:t>
            </a:r>
            <a:r>
              <a:rPr sz="2000" b="1" i="1" spc="30" dirty="0">
                <a:latin typeface="Verdana"/>
                <a:cs typeface="Verdana"/>
              </a:rPr>
              <a:t> </a:t>
            </a:r>
            <a:r>
              <a:rPr sz="2000" dirty="0">
                <a:latin typeface="Symbol"/>
                <a:cs typeface="Symbol"/>
              </a:rPr>
              <a:t></a:t>
            </a:r>
            <a:r>
              <a:rPr sz="2000" b="1" i="1" dirty="0">
                <a:latin typeface="Verdana"/>
                <a:cs typeface="Verdana"/>
              </a:rPr>
              <a:t>N</a:t>
            </a:r>
            <a:r>
              <a:rPr sz="1950" b="1" i="1" baseline="-21367" dirty="0">
                <a:latin typeface="Verdana"/>
                <a:cs typeface="Verdana"/>
              </a:rPr>
              <a:t>j</a:t>
            </a:r>
            <a:r>
              <a:rPr sz="1950" b="1" i="1" spc="359" baseline="-21367" dirty="0">
                <a:latin typeface="Verdana"/>
                <a:cs typeface="Verdana"/>
              </a:rPr>
              <a:t> </a:t>
            </a:r>
            <a:r>
              <a:rPr sz="2000" b="1" i="1" dirty="0">
                <a:latin typeface="Verdana"/>
                <a:cs typeface="Verdana"/>
              </a:rPr>
              <a:t>.(P</a:t>
            </a:r>
            <a:r>
              <a:rPr sz="1950" b="1" i="1" baseline="-21367" dirty="0">
                <a:latin typeface="Verdana"/>
                <a:cs typeface="Verdana"/>
              </a:rPr>
              <a:t>0</a:t>
            </a:r>
            <a:r>
              <a:rPr sz="1950" b="1" i="1" spc="382" baseline="-21367" dirty="0">
                <a:latin typeface="Verdana"/>
                <a:cs typeface="Verdana"/>
              </a:rPr>
              <a:t> </a:t>
            </a:r>
            <a:r>
              <a:rPr sz="2000" b="1" i="1" dirty="0">
                <a:latin typeface="Verdana"/>
                <a:cs typeface="Verdana"/>
              </a:rPr>
              <a:t>+</a:t>
            </a:r>
            <a:r>
              <a:rPr sz="2000" b="1" i="1" spc="-5" dirty="0">
                <a:latin typeface="Verdana"/>
                <a:cs typeface="Verdana"/>
              </a:rPr>
              <a:t> </a:t>
            </a:r>
            <a:r>
              <a:rPr sz="2000" b="1" i="1" dirty="0">
                <a:latin typeface="Verdana"/>
                <a:cs typeface="Verdana"/>
              </a:rPr>
              <a:t>(P</a:t>
            </a:r>
            <a:r>
              <a:rPr sz="1950" b="1" i="1" baseline="-21367" dirty="0">
                <a:latin typeface="Verdana"/>
                <a:cs typeface="Verdana"/>
              </a:rPr>
              <a:t>1</a:t>
            </a:r>
            <a:r>
              <a:rPr sz="2000" b="1" i="1" dirty="0">
                <a:latin typeface="Verdana"/>
                <a:cs typeface="Verdana"/>
              </a:rPr>
              <a:t>-P</a:t>
            </a:r>
            <a:r>
              <a:rPr sz="1950" b="1" i="1" baseline="-21367" dirty="0">
                <a:latin typeface="Verdana"/>
                <a:cs typeface="Verdana"/>
              </a:rPr>
              <a:t>0</a:t>
            </a:r>
            <a:r>
              <a:rPr sz="2000" b="1" i="1" dirty="0">
                <a:latin typeface="Verdana"/>
                <a:cs typeface="Verdana"/>
              </a:rPr>
              <a:t>)t</a:t>
            </a:r>
            <a:r>
              <a:rPr sz="2000" b="1" i="1" spc="15" dirty="0">
                <a:latin typeface="Verdana"/>
                <a:cs typeface="Verdana"/>
              </a:rPr>
              <a:t> </a:t>
            </a:r>
            <a:r>
              <a:rPr sz="2000" b="1" i="1" dirty="0">
                <a:latin typeface="Verdana"/>
                <a:cs typeface="Verdana"/>
              </a:rPr>
              <a:t>-</a:t>
            </a:r>
            <a:r>
              <a:rPr sz="2000" b="1" i="1" spc="5" dirty="0">
                <a:latin typeface="Verdana"/>
                <a:cs typeface="Verdana"/>
              </a:rPr>
              <a:t> </a:t>
            </a:r>
            <a:r>
              <a:rPr sz="2000" b="1" i="1" dirty="0">
                <a:latin typeface="Verdana"/>
                <a:cs typeface="Verdana"/>
              </a:rPr>
              <a:t>P</a:t>
            </a:r>
            <a:r>
              <a:rPr sz="1950" b="1" i="1" baseline="-21367" dirty="0">
                <a:latin typeface="Verdana"/>
                <a:cs typeface="Verdana"/>
              </a:rPr>
              <a:t>EJ</a:t>
            </a:r>
            <a:r>
              <a:rPr sz="2000" b="1" i="1" dirty="0">
                <a:latin typeface="Verdana"/>
                <a:cs typeface="Verdana"/>
              </a:rPr>
              <a:t>)=0</a:t>
            </a:r>
            <a:endParaRPr sz="2000">
              <a:latin typeface="Verdana"/>
              <a:cs typeface="Verdana"/>
            </a:endParaRPr>
          </a:p>
          <a:p>
            <a:pPr marL="38100" marR="1922780">
              <a:lnSpc>
                <a:spcPct val="140000"/>
              </a:lnSpc>
              <a:spcBef>
                <a:spcPts val="5"/>
              </a:spcBef>
            </a:pPr>
            <a:r>
              <a:rPr sz="2000" dirty="0">
                <a:latin typeface="Symbol"/>
                <a:cs typeface="Symbol"/>
              </a:rPr>
              <a:t></a:t>
            </a:r>
            <a:r>
              <a:rPr sz="2000" b="1" i="1" dirty="0">
                <a:latin typeface="Verdana"/>
                <a:cs typeface="Verdana"/>
              </a:rPr>
              <a:t>N</a:t>
            </a:r>
            <a:r>
              <a:rPr sz="1950" b="1" i="1" baseline="-21367" dirty="0">
                <a:latin typeface="Verdana"/>
                <a:cs typeface="Verdana"/>
              </a:rPr>
              <a:t>j</a:t>
            </a:r>
            <a:r>
              <a:rPr sz="1950" b="1" i="1" spc="345" baseline="-21367" dirty="0">
                <a:latin typeface="Verdana"/>
                <a:cs typeface="Verdana"/>
              </a:rPr>
              <a:t> </a:t>
            </a:r>
            <a:r>
              <a:rPr sz="2000" b="1" i="1" dirty="0">
                <a:latin typeface="Verdana"/>
                <a:cs typeface="Verdana"/>
              </a:rPr>
              <a:t>.(P</a:t>
            </a:r>
            <a:r>
              <a:rPr sz="1950" b="1" i="1" baseline="-21367" dirty="0">
                <a:latin typeface="Verdana"/>
                <a:cs typeface="Verdana"/>
              </a:rPr>
              <a:t>0</a:t>
            </a:r>
            <a:r>
              <a:rPr sz="1950" b="1" i="1" spc="359" baseline="-21367" dirty="0">
                <a:latin typeface="Verdana"/>
                <a:cs typeface="Verdana"/>
              </a:rPr>
              <a:t> </a:t>
            </a:r>
            <a:r>
              <a:rPr sz="2000" b="1" i="1" spc="-5" dirty="0">
                <a:latin typeface="Verdana"/>
                <a:cs typeface="Verdana"/>
              </a:rPr>
              <a:t>- </a:t>
            </a:r>
            <a:r>
              <a:rPr sz="2000" b="1" i="1" spc="5" dirty="0">
                <a:latin typeface="Verdana"/>
                <a:cs typeface="Verdana"/>
              </a:rPr>
              <a:t>P</a:t>
            </a:r>
            <a:r>
              <a:rPr sz="1950" b="1" i="1" spc="7" baseline="-21367" dirty="0">
                <a:latin typeface="Verdana"/>
                <a:cs typeface="Verdana"/>
              </a:rPr>
              <a:t>EJ</a:t>
            </a:r>
            <a:r>
              <a:rPr sz="2000" b="1" i="1" spc="5" dirty="0">
                <a:latin typeface="Verdana"/>
                <a:cs typeface="Verdana"/>
              </a:rPr>
              <a:t>)</a:t>
            </a:r>
            <a:r>
              <a:rPr sz="2000" b="1" i="1" spc="-10" dirty="0">
                <a:latin typeface="Verdana"/>
                <a:cs typeface="Verdana"/>
              </a:rPr>
              <a:t> </a:t>
            </a:r>
            <a:r>
              <a:rPr sz="2000" b="1" i="1" spc="-5" dirty="0">
                <a:latin typeface="Verdana"/>
                <a:cs typeface="Verdana"/>
              </a:rPr>
              <a:t>+ </a:t>
            </a:r>
            <a:r>
              <a:rPr sz="2000" b="1" i="1" spc="5" dirty="0">
                <a:latin typeface="Verdana"/>
                <a:cs typeface="Verdana"/>
              </a:rPr>
              <a:t>N</a:t>
            </a:r>
            <a:r>
              <a:rPr sz="1950" b="1" i="1" spc="7" baseline="-21367" dirty="0">
                <a:latin typeface="Verdana"/>
                <a:cs typeface="Verdana"/>
              </a:rPr>
              <a:t>j</a:t>
            </a:r>
            <a:r>
              <a:rPr sz="1950" b="1" i="1" spc="-7" baseline="-21367" dirty="0">
                <a:latin typeface="Verdana"/>
                <a:cs typeface="Verdana"/>
              </a:rPr>
              <a:t> </a:t>
            </a:r>
            <a:r>
              <a:rPr sz="2000" b="1" i="1" dirty="0">
                <a:latin typeface="Verdana"/>
                <a:cs typeface="Verdana"/>
              </a:rPr>
              <a:t>.(P</a:t>
            </a:r>
            <a:r>
              <a:rPr sz="1950" b="1" i="1" baseline="-21367" dirty="0">
                <a:latin typeface="Verdana"/>
                <a:cs typeface="Verdana"/>
              </a:rPr>
              <a:t>1</a:t>
            </a:r>
            <a:r>
              <a:rPr sz="2000" b="1" i="1" dirty="0">
                <a:latin typeface="Verdana"/>
                <a:cs typeface="Verdana"/>
              </a:rPr>
              <a:t>-P</a:t>
            </a:r>
            <a:r>
              <a:rPr sz="1950" b="1" i="1" baseline="-21367" dirty="0">
                <a:latin typeface="Verdana"/>
                <a:cs typeface="Verdana"/>
              </a:rPr>
              <a:t>0</a:t>
            </a:r>
            <a:r>
              <a:rPr sz="2000" b="1" i="1" dirty="0">
                <a:latin typeface="Verdana"/>
                <a:cs typeface="Verdana"/>
              </a:rPr>
              <a:t>)t=0 </a:t>
            </a:r>
            <a:r>
              <a:rPr sz="2000" b="1" i="1" spc="-670" dirty="0">
                <a:latin typeface="Verdana"/>
                <a:cs typeface="Verdana"/>
              </a:rPr>
              <a:t> </a:t>
            </a:r>
            <a:r>
              <a:rPr sz="2000" b="1" i="1" spc="-5" dirty="0">
                <a:latin typeface="Verdana"/>
                <a:cs typeface="Verdana"/>
              </a:rPr>
              <a:t>D</a:t>
            </a:r>
            <a:r>
              <a:rPr sz="2000" b="1" i="1" dirty="0">
                <a:latin typeface="Verdana"/>
                <a:cs typeface="Verdana"/>
              </a:rPr>
              <a:t> </a:t>
            </a:r>
            <a:r>
              <a:rPr sz="2000" b="1" i="1" spc="-5" dirty="0">
                <a:latin typeface="Verdana"/>
                <a:cs typeface="Verdana"/>
              </a:rPr>
              <a:t>=</a:t>
            </a:r>
            <a:r>
              <a:rPr sz="2000" b="1" i="1" spc="5" dirty="0">
                <a:latin typeface="Verdana"/>
                <a:cs typeface="Verdana"/>
              </a:rPr>
              <a:t> </a:t>
            </a:r>
            <a:r>
              <a:rPr sz="2000" b="1" i="1" spc="10" dirty="0">
                <a:latin typeface="Verdana"/>
                <a:cs typeface="Verdana"/>
              </a:rPr>
              <a:t>P</a:t>
            </a:r>
            <a:r>
              <a:rPr sz="1950" b="1" i="1" spc="15" baseline="-21367" dirty="0">
                <a:latin typeface="Verdana"/>
                <a:cs typeface="Verdana"/>
              </a:rPr>
              <a:t>1</a:t>
            </a:r>
            <a:r>
              <a:rPr sz="1950" b="1" i="1" baseline="-21367" dirty="0">
                <a:latin typeface="Verdana"/>
                <a:cs typeface="Verdana"/>
              </a:rPr>
              <a:t> </a:t>
            </a:r>
            <a:r>
              <a:rPr sz="2000" b="1" i="1" spc="-5" dirty="0">
                <a:latin typeface="Verdana"/>
                <a:cs typeface="Verdana"/>
              </a:rPr>
              <a:t>-</a:t>
            </a:r>
            <a:r>
              <a:rPr sz="2000" b="1" i="1" spc="5" dirty="0">
                <a:latin typeface="Verdana"/>
                <a:cs typeface="Verdana"/>
              </a:rPr>
              <a:t> P</a:t>
            </a:r>
            <a:r>
              <a:rPr sz="1950" b="1" i="1" spc="7" baseline="-21367" dirty="0">
                <a:latin typeface="Verdana"/>
                <a:cs typeface="Verdana"/>
              </a:rPr>
              <a:t>0</a:t>
            </a:r>
            <a:endParaRPr sz="1950" baseline="-21367">
              <a:latin typeface="Verdana"/>
              <a:cs typeface="Verdana"/>
            </a:endParaRPr>
          </a:p>
          <a:p>
            <a:pPr marL="38100">
              <a:spcBef>
                <a:spcPts val="960"/>
              </a:spcBef>
            </a:pPr>
            <a:r>
              <a:rPr sz="2000" spc="-5" dirty="0">
                <a:solidFill>
                  <a:srgbClr val="CC0000"/>
                </a:solidFill>
                <a:latin typeface="Symbol"/>
                <a:cs typeface="Symbol"/>
              </a:rPr>
              <a:t></a:t>
            </a:r>
            <a:r>
              <a:rPr sz="2000" spc="22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000" b="1" i="1" dirty="0">
                <a:latin typeface="Verdana"/>
                <a:cs typeface="Verdana"/>
              </a:rPr>
              <a:t>t=-N</a:t>
            </a:r>
            <a:r>
              <a:rPr sz="1950" b="1" i="1" baseline="-21367" dirty="0">
                <a:latin typeface="Verdana"/>
                <a:cs typeface="Verdana"/>
              </a:rPr>
              <a:t>j</a:t>
            </a:r>
            <a:r>
              <a:rPr sz="1950" b="1" i="1" spc="352" baseline="-21367" dirty="0">
                <a:latin typeface="Verdana"/>
                <a:cs typeface="Verdana"/>
              </a:rPr>
              <a:t> </a:t>
            </a:r>
            <a:r>
              <a:rPr sz="2000" b="1" i="1" dirty="0">
                <a:latin typeface="Verdana"/>
                <a:cs typeface="Verdana"/>
              </a:rPr>
              <a:t>.(P</a:t>
            </a:r>
            <a:r>
              <a:rPr sz="1950" b="1" i="1" baseline="-21367" dirty="0">
                <a:latin typeface="Verdana"/>
                <a:cs typeface="Verdana"/>
              </a:rPr>
              <a:t>0</a:t>
            </a:r>
            <a:r>
              <a:rPr sz="2000" b="1" i="1" dirty="0">
                <a:latin typeface="Verdana"/>
                <a:cs typeface="Verdana"/>
              </a:rPr>
              <a:t>- P</a:t>
            </a:r>
            <a:r>
              <a:rPr sz="1950" b="1" i="1" baseline="-21367" dirty="0">
                <a:latin typeface="Verdana"/>
                <a:cs typeface="Verdana"/>
              </a:rPr>
              <a:t>EJ</a:t>
            </a:r>
            <a:r>
              <a:rPr sz="2000" b="1" i="1" dirty="0">
                <a:latin typeface="Verdana"/>
                <a:cs typeface="Verdana"/>
              </a:rPr>
              <a:t>)/N</a:t>
            </a:r>
            <a:r>
              <a:rPr sz="1950" b="1" i="1" baseline="-21367" dirty="0">
                <a:latin typeface="Verdana"/>
                <a:cs typeface="Verdana"/>
              </a:rPr>
              <a:t>j</a:t>
            </a:r>
            <a:r>
              <a:rPr sz="1950" b="1" i="1" spc="330" baseline="-21367" dirty="0">
                <a:latin typeface="Verdana"/>
                <a:cs typeface="Verdana"/>
              </a:rPr>
              <a:t> </a:t>
            </a:r>
            <a:r>
              <a:rPr sz="2000" b="1" i="1" spc="-10" dirty="0">
                <a:latin typeface="Verdana"/>
                <a:cs typeface="Verdana"/>
              </a:rPr>
              <a:t>.D</a:t>
            </a:r>
            <a:endParaRPr sz="2000">
              <a:latin typeface="Verdana"/>
              <a:cs typeface="Verdana"/>
            </a:endParaRPr>
          </a:p>
          <a:p>
            <a:pPr marL="38100">
              <a:spcBef>
                <a:spcPts val="960"/>
              </a:spcBef>
            </a:pPr>
            <a:r>
              <a:rPr sz="2000" spc="-5" dirty="0">
                <a:solidFill>
                  <a:srgbClr val="CC0000"/>
                </a:solidFill>
                <a:latin typeface="Symbol"/>
                <a:cs typeface="Symbol"/>
              </a:rPr>
              <a:t></a:t>
            </a:r>
            <a:r>
              <a:rPr sz="2000" spc="21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2000" b="1" i="1" spc="-5" dirty="0">
                <a:latin typeface="Verdana"/>
                <a:cs typeface="Verdana"/>
              </a:rPr>
              <a:t>Xác</a:t>
            </a:r>
            <a:r>
              <a:rPr sz="2000" b="1" i="1" spc="-10" dirty="0">
                <a:latin typeface="Verdana"/>
                <a:cs typeface="Verdana"/>
              </a:rPr>
              <a:t> </a:t>
            </a:r>
            <a:r>
              <a:rPr sz="2000" b="1" i="1" spc="-5" dirty="0">
                <a:latin typeface="Verdana"/>
                <a:cs typeface="Verdana"/>
              </a:rPr>
              <a:t>định</a:t>
            </a:r>
            <a:r>
              <a:rPr sz="2000" b="1" i="1" spc="-10" dirty="0">
                <a:latin typeface="Verdana"/>
                <a:cs typeface="Verdana"/>
              </a:rPr>
              <a:t> hướng</a:t>
            </a:r>
            <a:endParaRPr sz="2000">
              <a:latin typeface="Verdana"/>
              <a:cs typeface="Verdana"/>
            </a:endParaRPr>
          </a:p>
          <a:p>
            <a:pPr marL="38100" marR="2063750">
              <a:lnSpc>
                <a:spcPct val="140000"/>
              </a:lnSpc>
            </a:pPr>
            <a:r>
              <a:rPr sz="2000" spc="-5" dirty="0">
                <a:latin typeface="Verdana"/>
                <a:cs typeface="Verdana"/>
              </a:rPr>
              <a:t>t &lt;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0: điểm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Verdana"/>
                <a:cs typeface="Verdana"/>
              </a:rPr>
              <a:t>đi vào</a:t>
            </a:r>
            <a:r>
              <a:rPr sz="2000" dirty="0">
                <a:solidFill>
                  <a:srgbClr val="A40020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vùng clip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(PE)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 &gt; 0: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A40020"/>
                </a:solidFill>
                <a:latin typeface="Verdana"/>
                <a:cs typeface="Verdana"/>
              </a:rPr>
              <a:t>đi ra </a:t>
            </a:r>
            <a:r>
              <a:rPr sz="2000" spc="-5" dirty="0">
                <a:latin typeface="Verdana"/>
                <a:cs typeface="Verdana"/>
              </a:rPr>
              <a:t>vùng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clip </a:t>
            </a:r>
            <a:r>
              <a:rPr sz="2000" spc="-10" dirty="0">
                <a:latin typeface="Verdana"/>
                <a:cs typeface="Verdana"/>
              </a:rPr>
              <a:t>(PL)</a:t>
            </a:r>
            <a:endParaRPr sz="20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548591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2169414" y="1783588"/>
            <a:ext cx="7210425" cy="1769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356235" algn="l"/>
              </a:tabLst>
            </a:pPr>
            <a:r>
              <a:rPr sz="2600" spc="-5" dirty="0">
                <a:latin typeface="Verdana"/>
                <a:cs typeface="Verdana"/>
              </a:rPr>
              <a:t>Sắp xếp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các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PE và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PL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lần lượt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theo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giá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trị </a:t>
            </a:r>
            <a:r>
              <a:rPr sz="2600" spc="-9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của t</a:t>
            </a:r>
            <a:endParaRPr sz="2600">
              <a:latin typeface="Verdana"/>
              <a:cs typeface="Verdana"/>
            </a:endParaRPr>
          </a:p>
          <a:p>
            <a:pPr marL="355600" indent="-343535">
              <a:spcBef>
                <a:spcPts val="625"/>
              </a:spcBef>
              <a:buClr>
                <a:srgbClr val="CC0000"/>
              </a:buClr>
              <a:buFont typeface="Wingdings"/>
              <a:buChar char=""/>
              <a:tabLst>
                <a:tab pos="356235" algn="l"/>
              </a:tabLst>
            </a:pPr>
            <a:r>
              <a:rPr sz="2600" spc="-5" dirty="0">
                <a:latin typeface="Verdana"/>
                <a:cs typeface="Verdana"/>
              </a:rPr>
              <a:t>PL&lt;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PE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: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không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có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giao</a:t>
            </a:r>
            <a:r>
              <a:rPr sz="2600" spc="-10" dirty="0">
                <a:latin typeface="Verdana"/>
                <a:cs typeface="Verdana"/>
              </a:rPr>
              <a:t> điểm</a:t>
            </a:r>
            <a:endParaRPr sz="2600">
              <a:latin typeface="Verdana"/>
              <a:cs typeface="Verdana"/>
            </a:endParaRPr>
          </a:p>
          <a:p>
            <a:pPr marL="355600" indent="-343535">
              <a:spcBef>
                <a:spcPts val="625"/>
              </a:spcBef>
              <a:buClr>
                <a:srgbClr val="CC0000"/>
              </a:buClr>
              <a:buFont typeface="Wingdings"/>
              <a:buChar char=""/>
              <a:tabLst>
                <a:tab pos="356235" algn="l"/>
              </a:tabLst>
            </a:pPr>
            <a:r>
              <a:rPr sz="2600" spc="-5" dirty="0">
                <a:latin typeface="Verdana"/>
                <a:cs typeface="Verdana"/>
              </a:rPr>
              <a:t>Vẽ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từ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PE</a:t>
            </a:r>
            <a:r>
              <a:rPr sz="2600" spc="-2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-&gt;</a:t>
            </a:r>
            <a:r>
              <a:rPr sz="2600" spc="-3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PL</a:t>
            </a:r>
            <a:endParaRPr sz="26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92473" y="3644646"/>
            <a:ext cx="5399532" cy="241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559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2" y="880363"/>
            <a:ext cx="597725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10" dirty="0">
                <a:latin typeface="Verdana"/>
                <a:cs typeface="Verdana"/>
              </a:rPr>
              <a:t>Thuật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toán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cắt</a:t>
            </a:r>
            <a:r>
              <a:rPr sz="3800" spc="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xén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vùng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53692" y="1687575"/>
            <a:ext cx="8118475" cy="434975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5600" indent="-342900">
              <a:spcBef>
                <a:spcPts val="855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</a:tabLst>
            </a:pPr>
            <a:r>
              <a:rPr sz="2100" spc="-5" dirty="0">
                <a:latin typeface="Verdana"/>
                <a:cs typeface="Verdana"/>
              </a:rPr>
              <a:t>Tác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giả: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Sutherland-Cohen</a:t>
            </a:r>
            <a:endParaRPr sz="2100">
              <a:latin typeface="Verdana"/>
              <a:cs typeface="Verdana"/>
            </a:endParaRPr>
          </a:p>
          <a:p>
            <a:pPr marL="355600" indent="-342900">
              <a:spcBef>
                <a:spcPts val="755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</a:tabLst>
            </a:pPr>
            <a:r>
              <a:rPr sz="2100" spc="-5" dirty="0">
                <a:latin typeface="Verdana"/>
                <a:cs typeface="Verdana"/>
              </a:rPr>
              <a:t>Input:</a:t>
            </a:r>
            <a:endParaRPr sz="2100">
              <a:latin typeface="Verdana"/>
              <a:cs typeface="Verdana"/>
            </a:endParaRPr>
          </a:p>
          <a:p>
            <a:pPr marL="755650" lvl="1" indent="-285750">
              <a:spcBef>
                <a:spcPts val="730"/>
              </a:spcBef>
              <a:buClr>
                <a:srgbClr val="CC0000"/>
              </a:buClr>
              <a:buFont typeface="Wingdings"/>
              <a:buChar char=""/>
              <a:tabLst>
                <a:tab pos="755650" algn="l"/>
              </a:tabLst>
            </a:pPr>
            <a:r>
              <a:rPr sz="2000" spc="-5" dirty="0">
                <a:latin typeface="Verdana"/>
                <a:cs typeface="Verdana"/>
              </a:rPr>
              <a:t>chữ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nhật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cắt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xén</a:t>
            </a:r>
            <a:endParaRPr sz="2000">
              <a:latin typeface="Verdana"/>
              <a:cs typeface="Verdana"/>
            </a:endParaRPr>
          </a:p>
          <a:p>
            <a:pPr marL="755650" lvl="1" indent="-285750">
              <a:spcBef>
                <a:spcPts val="720"/>
              </a:spcBef>
              <a:buClr>
                <a:srgbClr val="CC0000"/>
              </a:buClr>
              <a:buFont typeface="Wingdings"/>
              <a:buChar char=""/>
              <a:tabLst>
                <a:tab pos="755650" algn="l"/>
              </a:tabLst>
            </a:pPr>
            <a:r>
              <a:rPr sz="2000" spc="-5" dirty="0">
                <a:latin typeface="Verdana"/>
                <a:cs typeface="Verdana"/>
              </a:rPr>
              <a:t>Vùng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là </a:t>
            </a:r>
            <a:r>
              <a:rPr sz="2000" spc="-10" dirty="0">
                <a:latin typeface="Verdana"/>
                <a:cs typeface="Verdana"/>
              </a:rPr>
              <a:t>đa</a:t>
            </a:r>
            <a:r>
              <a:rPr sz="2000" spc="-5" dirty="0">
                <a:latin typeface="Verdana"/>
                <a:cs typeface="Verdana"/>
              </a:rPr>
              <a:t> giác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được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xác đinh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bởi trật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tự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các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cặp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tọa độ.</a:t>
            </a:r>
            <a:endParaRPr sz="2000">
              <a:latin typeface="Verdana"/>
              <a:cs typeface="Verdana"/>
            </a:endParaRPr>
          </a:p>
          <a:p>
            <a:pPr marL="355600" indent="-342900">
              <a:spcBef>
                <a:spcPts val="745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</a:tabLst>
            </a:pPr>
            <a:r>
              <a:rPr sz="2100" spc="-10" dirty="0">
                <a:latin typeface="Verdana"/>
                <a:cs typeface="Verdana"/>
              </a:rPr>
              <a:t>OutPut:</a:t>
            </a:r>
            <a:endParaRPr sz="2100">
              <a:latin typeface="Verdana"/>
              <a:cs typeface="Verdana"/>
            </a:endParaRPr>
          </a:p>
          <a:p>
            <a:pPr marL="755650" lvl="1" indent="-285750">
              <a:spcBef>
                <a:spcPts val="730"/>
              </a:spcBef>
              <a:buClr>
                <a:srgbClr val="CC0000"/>
              </a:buClr>
              <a:buFont typeface="Wingdings"/>
              <a:buChar char=""/>
              <a:tabLst>
                <a:tab pos="755650" algn="l"/>
              </a:tabLst>
            </a:pPr>
            <a:r>
              <a:rPr sz="2000" spc="-5" dirty="0">
                <a:latin typeface="Verdana"/>
                <a:cs typeface="Verdana"/>
              </a:rPr>
              <a:t>Các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đa </a:t>
            </a:r>
            <a:r>
              <a:rPr sz="2000" spc="-5" dirty="0">
                <a:latin typeface="Verdana"/>
                <a:cs typeface="Verdana"/>
              </a:rPr>
              <a:t>giác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nằm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trong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cửa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sổ cắt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xén</a:t>
            </a:r>
            <a:endParaRPr sz="2000">
              <a:latin typeface="Verdana"/>
              <a:cs typeface="Verdana"/>
            </a:endParaRPr>
          </a:p>
          <a:p>
            <a:pPr marL="355600" indent="-342900">
              <a:spcBef>
                <a:spcPts val="750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</a:tabLst>
            </a:pPr>
            <a:r>
              <a:rPr sz="2100" dirty="0">
                <a:latin typeface="Verdana"/>
                <a:cs typeface="Verdana"/>
              </a:rPr>
              <a:t>Ý</a:t>
            </a:r>
            <a:r>
              <a:rPr sz="2100" spc="-2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tưởng</a:t>
            </a:r>
            <a:r>
              <a:rPr sz="2100" spc="-2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thuật</a:t>
            </a:r>
            <a:r>
              <a:rPr sz="2100" spc="-3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toán</a:t>
            </a:r>
            <a:endParaRPr sz="2100">
              <a:latin typeface="Verdana"/>
              <a:cs typeface="Verdana"/>
            </a:endParaRPr>
          </a:p>
          <a:p>
            <a:pPr marL="755650" lvl="1" indent="-285750">
              <a:spcBef>
                <a:spcPts val="730"/>
              </a:spcBef>
              <a:buClr>
                <a:srgbClr val="CC0000"/>
              </a:buClr>
              <a:buFont typeface="Wingdings"/>
              <a:buChar char=""/>
              <a:tabLst>
                <a:tab pos="755650" algn="l"/>
              </a:tabLst>
            </a:pPr>
            <a:r>
              <a:rPr sz="2000" spc="-5" dirty="0">
                <a:latin typeface="Verdana"/>
                <a:cs typeface="Verdana"/>
              </a:rPr>
              <a:t>So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sánh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lần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lượt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các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đỉnh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đa giác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với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biên cửa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sổ</a:t>
            </a:r>
            <a:endParaRPr sz="2000">
              <a:latin typeface="Verdana"/>
              <a:cs typeface="Verdana"/>
            </a:endParaRPr>
          </a:p>
          <a:p>
            <a:pPr marL="927100">
              <a:spcBef>
                <a:spcPts val="675"/>
              </a:spcBef>
            </a:pPr>
            <a:r>
              <a:rPr dirty="0">
                <a:solidFill>
                  <a:srgbClr val="CC0000"/>
                </a:solidFill>
                <a:latin typeface="Wingdings"/>
                <a:cs typeface="Wingdings"/>
              </a:rPr>
              <a:t></a:t>
            </a:r>
            <a:r>
              <a:rPr spc="-254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latin typeface="Verdana"/>
                <a:cs typeface="Verdana"/>
              </a:rPr>
              <a:t>Đỉn</a:t>
            </a:r>
            <a:r>
              <a:rPr dirty="0">
                <a:latin typeface="Verdana"/>
                <a:cs typeface="Verdana"/>
              </a:rPr>
              <a:t>h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nằm ngoà</a:t>
            </a:r>
            <a:r>
              <a:rPr spc="-10" dirty="0">
                <a:latin typeface="Verdana"/>
                <a:cs typeface="Verdana"/>
              </a:rPr>
              <a:t>i</a:t>
            </a:r>
            <a:r>
              <a:rPr dirty="0">
                <a:latin typeface="Verdana"/>
                <a:cs typeface="Verdana"/>
              </a:rPr>
              <a:t>, </a:t>
            </a:r>
            <a:r>
              <a:rPr spc="-10" dirty="0">
                <a:latin typeface="Verdana"/>
                <a:cs typeface="Verdana"/>
              </a:rPr>
              <a:t>l</a:t>
            </a:r>
            <a:r>
              <a:rPr dirty="0">
                <a:latin typeface="Verdana"/>
                <a:cs typeface="Verdana"/>
              </a:rPr>
              <a:t>oại</a:t>
            </a:r>
            <a:r>
              <a:rPr spc="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b</a:t>
            </a:r>
            <a:r>
              <a:rPr dirty="0">
                <a:latin typeface="Verdana"/>
                <a:cs typeface="Verdana"/>
              </a:rPr>
              <a:t>ỏ ngay</a:t>
            </a:r>
            <a:endParaRPr>
              <a:latin typeface="Verdana"/>
              <a:cs typeface="Verdana"/>
            </a:endParaRPr>
          </a:p>
          <a:p>
            <a:pPr marL="927100">
              <a:spcBef>
                <a:spcPts val="645"/>
              </a:spcBef>
            </a:pPr>
            <a:r>
              <a:rPr dirty="0">
                <a:solidFill>
                  <a:srgbClr val="CC0000"/>
                </a:solidFill>
                <a:latin typeface="Wingdings"/>
                <a:cs typeface="Wingdings"/>
              </a:rPr>
              <a:t></a:t>
            </a:r>
            <a:r>
              <a:rPr spc="-254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latin typeface="Verdana"/>
                <a:cs typeface="Verdana"/>
              </a:rPr>
              <a:t>Đỉn</a:t>
            </a:r>
            <a:r>
              <a:rPr dirty="0">
                <a:latin typeface="Verdana"/>
                <a:cs typeface="Verdana"/>
              </a:rPr>
              <a:t>h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nằm </a:t>
            </a:r>
            <a:r>
              <a:rPr spc="-10" dirty="0">
                <a:latin typeface="Verdana"/>
                <a:cs typeface="Verdana"/>
              </a:rPr>
              <a:t>t</a:t>
            </a:r>
            <a:r>
              <a:rPr dirty="0">
                <a:latin typeface="Verdana"/>
                <a:cs typeface="Verdana"/>
              </a:rPr>
              <a:t>rong, </a:t>
            </a:r>
            <a:r>
              <a:rPr spc="-10" dirty="0">
                <a:latin typeface="Verdana"/>
                <a:cs typeface="Verdana"/>
              </a:rPr>
              <a:t>l</a:t>
            </a:r>
            <a:r>
              <a:rPr dirty="0">
                <a:latin typeface="Verdana"/>
                <a:cs typeface="Verdana"/>
              </a:rPr>
              <a:t>ưu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tr</a:t>
            </a:r>
            <a:r>
              <a:rPr dirty="0">
                <a:latin typeface="Verdana"/>
                <a:cs typeface="Verdana"/>
              </a:rPr>
              <a:t>ữ </a:t>
            </a:r>
            <a:r>
              <a:rPr spc="-5" dirty="0">
                <a:latin typeface="Verdana"/>
                <a:cs typeface="Verdana"/>
              </a:rPr>
              <a:t>lạ</a:t>
            </a:r>
            <a:r>
              <a:rPr dirty="0">
                <a:latin typeface="Verdana"/>
                <a:cs typeface="Verdana"/>
              </a:rPr>
              <a:t>i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là</a:t>
            </a:r>
            <a:r>
              <a:rPr dirty="0">
                <a:latin typeface="Verdana"/>
                <a:cs typeface="Verdana"/>
              </a:rPr>
              <a:t>m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kết quả</a:t>
            </a:r>
            <a:endParaRPr>
              <a:latin typeface="Verdana"/>
              <a:cs typeface="Verdana"/>
            </a:endParaRPr>
          </a:p>
          <a:p>
            <a:pPr marL="927100">
              <a:spcBef>
                <a:spcPts val="650"/>
              </a:spcBef>
            </a:pPr>
            <a:r>
              <a:rPr dirty="0">
                <a:solidFill>
                  <a:srgbClr val="CC0000"/>
                </a:solidFill>
                <a:latin typeface="Wingdings"/>
                <a:cs typeface="Wingdings"/>
              </a:rPr>
              <a:t></a:t>
            </a:r>
            <a:r>
              <a:rPr spc="-254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latin typeface="Verdana"/>
                <a:cs typeface="Verdana"/>
              </a:rPr>
              <a:t>Tín</a:t>
            </a:r>
            <a:r>
              <a:rPr dirty="0">
                <a:latin typeface="Verdana"/>
                <a:cs typeface="Verdana"/>
              </a:rPr>
              <a:t>h</a:t>
            </a:r>
            <a:r>
              <a:rPr spc="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gia</a:t>
            </a:r>
            <a:r>
              <a:rPr dirty="0">
                <a:latin typeface="Verdana"/>
                <a:cs typeface="Verdana"/>
              </a:rPr>
              <a:t>o </a:t>
            </a:r>
            <a:r>
              <a:rPr spc="-5" dirty="0">
                <a:latin typeface="Verdana"/>
                <a:cs typeface="Verdana"/>
              </a:rPr>
              <a:t>điể</a:t>
            </a:r>
            <a:r>
              <a:rPr dirty="0">
                <a:latin typeface="Verdana"/>
                <a:cs typeface="Verdana"/>
              </a:rPr>
              <a:t>m</a:t>
            </a:r>
            <a:r>
              <a:rPr spc="1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của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các</a:t>
            </a:r>
            <a:r>
              <a:rPr spc="-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cạnh </a:t>
            </a:r>
            <a:r>
              <a:rPr spc="-5" dirty="0">
                <a:latin typeface="Verdana"/>
                <a:cs typeface="Verdana"/>
              </a:rPr>
              <a:t>đ</a:t>
            </a:r>
            <a:r>
              <a:rPr dirty="0">
                <a:latin typeface="Verdana"/>
                <a:cs typeface="Verdana"/>
              </a:rPr>
              <a:t>a </a:t>
            </a:r>
            <a:r>
              <a:rPr spc="-5" dirty="0">
                <a:latin typeface="Verdana"/>
                <a:cs typeface="Verdana"/>
              </a:rPr>
              <a:t>giá</a:t>
            </a:r>
            <a:r>
              <a:rPr dirty="0">
                <a:latin typeface="Verdana"/>
                <a:cs typeface="Verdana"/>
              </a:rPr>
              <a:t>c vùng với cạnh chữ nhật</a:t>
            </a:r>
            <a:endParaRPr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629731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2" y="880363"/>
            <a:ext cx="597725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10" dirty="0">
                <a:latin typeface="Verdana"/>
                <a:cs typeface="Verdana"/>
              </a:rPr>
              <a:t>Thuật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toán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cắt</a:t>
            </a:r>
            <a:r>
              <a:rPr sz="3800" spc="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xén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vùng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97963" y="1691844"/>
            <a:ext cx="8200390" cy="261683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355600" indent="-343535">
              <a:spcBef>
                <a:spcPts val="819"/>
              </a:spcBef>
              <a:buClr>
                <a:srgbClr val="CC0000"/>
              </a:buClr>
              <a:buFont typeface="Wingdings"/>
              <a:buChar char=""/>
              <a:tabLst>
                <a:tab pos="356235" algn="l"/>
              </a:tabLst>
            </a:pPr>
            <a:r>
              <a:rPr sz="2000" spc="-5" dirty="0">
                <a:latin typeface="Verdana"/>
                <a:cs typeface="Verdana"/>
              </a:rPr>
              <a:t>Duyệt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lần lượt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(theo</a:t>
            </a:r>
            <a:r>
              <a:rPr sz="2000" spc="-5" dirty="0">
                <a:latin typeface="Verdana"/>
                <a:cs typeface="Verdana"/>
              </a:rPr>
              <a:t> chiều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kim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đồng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hồ)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các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cạnh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đa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giác</a:t>
            </a:r>
            <a:endParaRPr sz="2000">
              <a:latin typeface="Verdana"/>
              <a:cs typeface="Verdana"/>
            </a:endParaRPr>
          </a:p>
          <a:p>
            <a:pPr marL="355600" marR="5080" indent="-343535">
              <a:lnSpc>
                <a:spcPct val="110000"/>
              </a:lnSpc>
              <a:spcBef>
                <a:spcPts val="480"/>
              </a:spcBef>
              <a:buClr>
                <a:srgbClr val="CC0000"/>
              </a:buClr>
              <a:buFont typeface="Wingdings"/>
              <a:buChar char=""/>
              <a:tabLst>
                <a:tab pos="356235" algn="l"/>
              </a:tabLst>
            </a:pPr>
            <a:r>
              <a:rPr sz="2000" spc="-5" dirty="0">
                <a:latin typeface="Verdana"/>
                <a:cs typeface="Verdana"/>
              </a:rPr>
              <a:t>Nếu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đỉnh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duyệt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xuất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phát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từ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trong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cửa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sổ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theo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cạnh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đa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giác </a:t>
            </a:r>
            <a:r>
              <a:rPr sz="2000" spc="-5" dirty="0">
                <a:latin typeface="Verdana"/>
                <a:cs typeface="Verdana"/>
              </a:rPr>
              <a:t> đi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ra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ngoài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cửa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sổ: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lưu trữ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giao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của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cạnh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đa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giác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với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biên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cửa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sổ</a:t>
            </a:r>
            <a:endParaRPr sz="2000">
              <a:latin typeface="Verdana"/>
              <a:cs typeface="Verdana"/>
            </a:endParaRPr>
          </a:p>
          <a:p>
            <a:pPr marL="355600" marR="48260" indent="-343535">
              <a:lnSpc>
                <a:spcPct val="110000"/>
              </a:lnSpc>
              <a:spcBef>
                <a:spcPts val="480"/>
              </a:spcBef>
              <a:buClr>
                <a:srgbClr val="CC0000"/>
              </a:buClr>
              <a:buFont typeface="Wingdings"/>
              <a:buChar char=""/>
              <a:tabLst>
                <a:tab pos="356235" algn="l"/>
              </a:tabLst>
            </a:pPr>
            <a:r>
              <a:rPr sz="2000" spc="-5" dirty="0">
                <a:latin typeface="Verdana"/>
                <a:cs typeface="Verdana"/>
              </a:rPr>
              <a:t>Nếu đường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đi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từ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ngoài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vào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trong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cửa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sổ: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lưu trữ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đỉnh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đa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giác </a:t>
            </a:r>
            <a:r>
              <a:rPr sz="2000" spc="-69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và giao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điểm</a:t>
            </a:r>
            <a:endParaRPr sz="2000">
              <a:latin typeface="Verdana"/>
              <a:cs typeface="Verdana"/>
            </a:endParaRPr>
          </a:p>
          <a:p>
            <a:pPr marL="355600" indent="-343535">
              <a:spcBef>
                <a:spcPts val="720"/>
              </a:spcBef>
              <a:buClr>
                <a:srgbClr val="CC0000"/>
              </a:buClr>
              <a:buFont typeface="Wingdings"/>
              <a:buChar char=""/>
              <a:tabLst>
                <a:tab pos="356235" algn="l"/>
              </a:tabLst>
            </a:pPr>
            <a:r>
              <a:rPr sz="2000" spc="-5" dirty="0">
                <a:latin typeface="Verdana"/>
                <a:cs typeface="Verdana"/>
              </a:rPr>
              <a:t>Thí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dụ xét hai đỉnh </a:t>
            </a:r>
            <a:r>
              <a:rPr sz="2000" spc="-10" dirty="0">
                <a:latin typeface="Verdana"/>
                <a:cs typeface="Verdana"/>
              </a:rPr>
              <a:t>đa</a:t>
            </a:r>
            <a:r>
              <a:rPr sz="2000" spc="-5" dirty="0">
                <a:latin typeface="Verdana"/>
                <a:cs typeface="Verdana"/>
              </a:rPr>
              <a:t> giác S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và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P: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177" y="4365498"/>
            <a:ext cx="6913626" cy="178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35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2" y="880363"/>
            <a:ext cx="652462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Cắt</a:t>
            </a:r>
            <a:r>
              <a:rPr sz="3800" spc="-2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xén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vùng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bằng</a:t>
            </a:r>
            <a:r>
              <a:rPr sz="3800" spc="-2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đa</a:t>
            </a:r>
            <a:r>
              <a:rPr sz="3800" spc="-10" dirty="0">
                <a:latin typeface="Verdana"/>
                <a:cs typeface="Verdana"/>
              </a:rPr>
              <a:t> giác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82140" y="1600911"/>
            <a:ext cx="5419090" cy="4182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92710" indent="-342900">
              <a:lnSpc>
                <a:spcPct val="110000"/>
              </a:lnSpc>
              <a:spcBef>
                <a:spcPts val="100"/>
              </a:spcBef>
              <a:buClr>
                <a:srgbClr val="CC0000"/>
              </a:buClr>
              <a:buFont typeface="Wingdings"/>
              <a:buChar char=""/>
              <a:tabLst>
                <a:tab pos="380365" algn="l"/>
                <a:tab pos="381000" algn="l"/>
              </a:tabLst>
            </a:pPr>
            <a:r>
              <a:rPr sz="1700" spc="-10" dirty="0">
                <a:latin typeface="Verdana"/>
                <a:cs typeface="Verdana"/>
              </a:rPr>
              <a:t>Thuật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toán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do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Clamer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Schutte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(Đại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học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Delft, </a:t>
            </a:r>
            <a:r>
              <a:rPr sz="1700" spc="-58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Hà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Lan)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đề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xuất</a:t>
            </a:r>
            <a:endParaRPr sz="1700">
              <a:latin typeface="Verdana"/>
              <a:cs typeface="Verdana"/>
            </a:endParaRPr>
          </a:p>
          <a:p>
            <a:pPr marL="781050" marR="114935" lvl="1" indent="-285750">
              <a:lnSpc>
                <a:spcPct val="110000"/>
              </a:lnSpc>
              <a:spcBef>
                <a:spcPts val="385"/>
              </a:spcBef>
              <a:buClr>
                <a:srgbClr val="CC0000"/>
              </a:buClr>
              <a:buFont typeface="Wingdings"/>
              <a:buChar char=""/>
              <a:tabLst>
                <a:tab pos="780415" algn="l"/>
                <a:tab pos="781050" algn="l"/>
              </a:tabLst>
            </a:pPr>
            <a:r>
              <a:rPr sz="1500" spc="-5" dirty="0">
                <a:latin typeface="Verdana"/>
                <a:cs typeface="Verdana"/>
              </a:rPr>
              <a:t>Cho</a:t>
            </a:r>
            <a:r>
              <a:rPr sz="1500" spc="-1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trước</a:t>
            </a:r>
            <a:r>
              <a:rPr sz="1500" spc="-1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hai</a:t>
            </a:r>
            <a:r>
              <a:rPr sz="1500" spc="-1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đa</a:t>
            </a:r>
            <a:r>
              <a:rPr sz="1500" spc="-1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giác </a:t>
            </a:r>
            <a:r>
              <a:rPr sz="1500" dirty="0">
                <a:latin typeface="Verdana"/>
                <a:cs typeface="Verdana"/>
              </a:rPr>
              <a:t>P</a:t>
            </a:r>
            <a:r>
              <a:rPr sz="1500" spc="-1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và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Q</a:t>
            </a:r>
            <a:r>
              <a:rPr sz="1500" spc="-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không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có </a:t>
            </a:r>
            <a:r>
              <a:rPr sz="1500" spc="-5" dirty="0">
                <a:latin typeface="Verdana"/>
                <a:cs typeface="Verdana"/>
              </a:rPr>
              <a:t>lỗ</a:t>
            </a:r>
            <a:r>
              <a:rPr sz="1500" spc="-1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hổng, </a:t>
            </a:r>
            <a:r>
              <a:rPr sz="1500" spc="-51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không </a:t>
            </a:r>
            <a:r>
              <a:rPr sz="1500" spc="-5" dirty="0">
                <a:latin typeface="Verdana"/>
                <a:cs typeface="Verdana"/>
              </a:rPr>
              <a:t>tự </a:t>
            </a:r>
            <a:r>
              <a:rPr sz="1500" dirty="0">
                <a:latin typeface="Verdana"/>
                <a:cs typeface="Verdana"/>
              </a:rPr>
              <a:t>cắt và </a:t>
            </a:r>
            <a:r>
              <a:rPr sz="1500" spc="-5" dirty="0">
                <a:latin typeface="Verdana"/>
                <a:cs typeface="Verdana"/>
              </a:rPr>
              <a:t>đỉnh </a:t>
            </a:r>
            <a:r>
              <a:rPr sz="1500" dirty="0">
                <a:latin typeface="Verdana"/>
                <a:cs typeface="Verdana"/>
              </a:rPr>
              <a:t>của </a:t>
            </a:r>
            <a:r>
              <a:rPr sz="1500" spc="-5" dirty="0">
                <a:latin typeface="Verdana"/>
                <a:cs typeface="Verdana"/>
              </a:rPr>
              <a:t>chúng được </a:t>
            </a:r>
            <a:r>
              <a:rPr sz="1500" dirty="0">
                <a:latin typeface="Verdana"/>
                <a:cs typeface="Verdana"/>
              </a:rPr>
              <a:t>sắp xếp </a:t>
            </a:r>
            <a:r>
              <a:rPr sz="1500" spc="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theo</a:t>
            </a:r>
            <a:r>
              <a:rPr sz="1500" spc="-1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chiều kim</a:t>
            </a:r>
            <a:r>
              <a:rPr sz="1500" spc="-5" dirty="0">
                <a:latin typeface="Verdana"/>
                <a:cs typeface="Verdana"/>
              </a:rPr>
              <a:t> đồng</a:t>
            </a:r>
            <a:r>
              <a:rPr sz="1500" dirty="0">
                <a:latin typeface="Verdana"/>
                <a:cs typeface="Verdana"/>
              </a:rPr>
              <a:t> hồ</a:t>
            </a:r>
            <a:endParaRPr sz="1500">
              <a:latin typeface="Verdana"/>
              <a:cs typeface="Verdana"/>
            </a:endParaRPr>
          </a:p>
          <a:p>
            <a:pPr marL="781050" lvl="1" indent="-285750">
              <a:spcBef>
                <a:spcPts val="540"/>
              </a:spcBef>
              <a:buClr>
                <a:srgbClr val="CC0000"/>
              </a:buClr>
              <a:buFont typeface="Wingdings"/>
              <a:buChar char=""/>
              <a:tabLst>
                <a:tab pos="780415" algn="l"/>
                <a:tab pos="781050" algn="l"/>
              </a:tabLst>
            </a:pPr>
            <a:r>
              <a:rPr sz="1500" spc="-5" dirty="0">
                <a:latin typeface="Verdana"/>
                <a:cs typeface="Verdana"/>
              </a:rPr>
              <a:t>Hãy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tìm</a:t>
            </a:r>
            <a:r>
              <a:rPr sz="1500" spc="-1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đa giác thuộc tập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650" spc="202" baseline="-5050" dirty="0">
                <a:latin typeface="Symbol"/>
                <a:cs typeface="Symbol"/>
              </a:rPr>
              <a:t></a:t>
            </a:r>
            <a:r>
              <a:rPr sz="1650" spc="652" baseline="-505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Verdana"/>
                <a:cs typeface="Verdana"/>
              </a:rPr>
              <a:t>Q,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P\Q,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Q\P</a:t>
            </a:r>
            <a:endParaRPr sz="1500">
              <a:latin typeface="Verdana"/>
              <a:cs typeface="Verdana"/>
            </a:endParaRPr>
          </a:p>
          <a:p>
            <a:pPr marL="381000" indent="-342900">
              <a:spcBef>
                <a:spcPts val="590"/>
              </a:spcBef>
              <a:buClr>
                <a:srgbClr val="CC0000"/>
              </a:buClr>
              <a:buFont typeface="Wingdings"/>
              <a:buChar char=""/>
              <a:tabLst>
                <a:tab pos="380365" algn="l"/>
                <a:tab pos="381000" algn="l"/>
              </a:tabLst>
            </a:pPr>
            <a:r>
              <a:rPr sz="1700" spc="-5" dirty="0">
                <a:latin typeface="Verdana"/>
                <a:cs typeface="Verdana"/>
              </a:rPr>
              <a:t>Các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bước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của </a:t>
            </a:r>
            <a:r>
              <a:rPr sz="1700" spc="-10" dirty="0">
                <a:latin typeface="Verdana"/>
                <a:cs typeface="Verdana"/>
              </a:rPr>
              <a:t>thuật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toán</a:t>
            </a:r>
            <a:endParaRPr sz="1700">
              <a:latin typeface="Verdana"/>
              <a:cs typeface="Verdana"/>
            </a:endParaRPr>
          </a:p>
          <a:p>
            <a:pPr marL="781050" marR="30480" lvl="1" indent="-285750">
              <a:lnSpc>
                <a:spcPct val="110000"/>
              </a:lnSpc>
              <a:spcBef>
                <a:spcPts val="385"/>
              </a:spcBef>
              <a:buClr>
                <a:srgbClr val="CC0000"/>
              </a:buClr>
              <a:buFont typeface="Wingdings"/>
              <a:buChar char=""/>
              <a:tabLst>
                <a:tab pos="780415" algn="l"/>
                <a:tab pos="781050" algn="l"/>
              </a:tabLst>
            </a:pPr>
            <a:r>
              <a:rPr sz="1500" spc="-5" dirty="0">
                <a:latin typeface="Verdana"/>
                <a:cs typeface="Verdana"/>
              </a:rPr>
              <a:t>Phân lớp </a:t>
            </a:r>
            <a:r>
              <a:rPr sz="1500" dirty="0">
                <a:latin typeface="Verdana"/>
                <a:cs typeface="Verdana"/>
              </a:rPr>
              <a:t>các </a:t>
            </a:r>
            <a:r>
              <a:rPr sz="1500" spc="-5" dirty="0">
                <a:latin typeface="Verdana"/>
                <a:cs typeface="Verdana"/>
              </a:rPr>
              <a:t>đỉnh </a:t>
            </a:r>
            <a:r>
              <a:rPr sz="1500" dirty="0">
                <a:latin typeface="Verdana"/>
                <a:cs typeface="Verdana"/>
              </a:rPr>
              <a:t>của hai đa </a:t>
            </a:r>
            <a:r>
              <a:rPr sz="1500" spc="-5" dirty="0">
                <a:latin typeface="Verdana"/>
                <a:cs typeface="Verdana"/>
              </a:rPr>
              <a:t>giác </a:t>
            </a:r>
            <a:r>
              <a:rPr sz="1500" dirty="0">
                <a:latin typeface="Verdana"/>
                <a:cs typeface="Verdana"/>
              </a:rPr>
              <a:t>vào 2 </a:t>
            </a:r>
            <a:r>
              <a:rPr sz="1500" spc="-5" dirty="0">
                <a:latin typeface="Verdana"/>
                <a:cs typeface="Verdana"/>
              </a:rPr>
              <a:t>danh 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sách: gán </a:t>
            </a:r>
            <a:r>
              <a:rPr sz="1500" dirty="0">
                <a:latin typeface="Verdana"/>
                <a:cs typeface="Verdana"/>
              </a:rPr>
              <a:t>vào mỗi </a:t>
            </a:r>
            <a:r>
              <a:rPr sz="1500" spc="-5" dirty="0">
                <a:latin typeface="Verdana"/>
                <a:cs typeface="Verdana"/>
              </a:rPr>
              <a:t>đỉnh giá trị i(inside), 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o(outside) </a:t>
            </a:r>
            <a:r>
              <a:rPr sz="1500" dirty="0">
                <a:latin typeface="Verdana"/>
                <a:cs typeface="Verdana"/>
              </a:rPr>
              <a:t>hay </a:t>
            </a:r>
            <a:r>
              <a:rPr sz="1500" spc="-5" dirty="0">
                <a:latin typeface="Verdana"/>
                <a:cs typeface="Verdana"/>
              </a:rPr>
              <a:t>b(boundary) phụ thuộc </a:t>
            </a:r>
            <a:r>
              <a:rPr sz="1500" dirty="0">
                <a:latin typeface="Verdana"/>
                <a:cs typeface="Verdana"/>
              </a:rPr>
              <a:t>vào vị </a:t>
            </a:r>
            <a:r>
              <a:rPr sz="1500" spc="-5" dirty="0">
                <a:latin typeface="Verdana"/>
                <a:cs typeface="Verdana"/>
              </a:rPr>
              <a:t>trí </a:t>
            </a:r>
            <a:r>
              <a:rPr sz="1500" spc="-51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của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nó so với</a:t>
            </a:r>
            <a:r>
              <a:rPr sz="1500" spc="-5" dirty="0">
                <a:latin typeface="Verdana"/>
                <a:cs typeface="Verdana"/>
              </a:rPr>
              <a:t> đa giác</a:t>
            </a:r>
            <a:r>
              <a:rPr sz="1500" dirty="0">
                <a:latin typeface="Verdana"/>
                <a:cs typeface="Verdana"/>
              </a:rPr>
              <a:t> kia</a:t>
            </a:r>
            <a:endParaRPr sz="1500">
              <a:latin typeface="Verdana"/>
              <a:cs typeface="Verdana"/>
            </a:endParaRPr>
          </a:p>
          <a:p>
            <a:pPr marL="952500">
              <a:spcBef>
                <a:spcPts val="540"/>
              </a:spcBef>
            </a:pPr>
            <a:r>
              <a:rPr sz="1500" dirty="0">
                <a:solidFill>
                  <a:srgbClr val="CC0000"/>
                </a:solidFill>
                <a:latin typeface="Wingdings"/>
                <a:cs typeface="Wingdings"/>
              </a:rPr>
              <a:t></a:t>
            </a:r>
            <a:r>
              <a:rPr sz="1500" spc="80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Verdana"/>
                <a:cs typeface="Verdana"/>
              </a:rPr>
              <a:t>Pv=&lt;(P1,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o),</a:t>
            </a:r>
            <a:r>
              <a:rPr sz="1500" spc="-5" dirty="0">
                <a:latin typeface="Verdana"/>
                <a:cs typeface="Verdana"/>
              </a:rPr>
              <a:t> (P2,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o),</a:t>
            </a:r>
            <a:r>
              <a:rPr sz="1500" spc="-5" dirty="0">
                <a:latin typeface="Verdana"/>
                <a:cs typeface="Verdana"/>
              </a:rPr>
              <a:t> (P3,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i),</a:t>
            </a:r>
            <a:r>
              <a:rPr sz="1500" spc="-1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(P4,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o),(P5,</a:t>
            </a:r>
            <a:endParaRPr sz="1500">
              <a:latin typeface="Verdana"/>
              <a:cs typeface="Verdana"/>
            </a:endParaRPr>
          </a:p>
          <a:p>
            <a:pPr marL="1181100">
              <a:spcBef>
                <a:spcPts val="180"/>
              </a:spcBef>
            </a:pPr>
            <a:r>
              <a:rPr sz="1500" spc="-5" dirty="0">
                <a:latin typeface="Verdana"/>
                <a:cs typeface="Verdana"/>
              </a:rPr>
              <a:t>b)&gt;</a:t>
            </a:r>
            <a:endParaRPr sz="1500">
              <a:latin typeface="Verdana"/>
              <a:cs typeface="Verdana"/>
            </a:endParaRPr>
          </a:p>
          <a:p>
            <a:pPr marL="952500">
              <a:spcBef>
                <a:spcPts val="540"/>
              </a:spcBef>
            </a:pPr>
            <a:r>
              <a:rPr sz="1500" dirty="0">
                <a:solidFill>
                  <a:srgbClr val="CC0000"/>
                </a:solidFill>
                <a:latin typeface="Wingdings"/>
                <a:cs typeface="Wingdings"/>
              </a:rPr>
              <a:t></a:t>
            </a:r>
            <a:r>
              <a:rPr sz="1500" spc="7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Verdana"/>
                <a:cs typeface="Verdana"/>
              </a:rPr>
              <a:t>Qv=&lt;(Q1,</a:t>
            </a:r>
            <a:r>
              <a:rPr sz="1500" spc="-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o),</a:t>
            </a:r>
            <a:r>
              <a:rPr sz="1500" spc="-1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(Q2,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o),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(Q3,</a:t>
            </a:r>
            <a:r>
              <a:rPr sz="1500" spc="-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o),</a:t>
            </a:r>
            <a:r>
              <a:rPr sz="1500" spc="-1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(Q4,</a:t>
            </a:r>
            <a:r>
              <a:rPr sz="1500" spc="-2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i),</a:t>
            </a:r>
            <a:endParaRPr sz="1500">
              <a:latin typeface="Verdana"/>
              <a:cs typeface="Verdana"/>
            </a:endParaRPr>
          </a:p>
          <a:p>
            <a:pPr marL="1181100">
              <a:spcBef>
                <a:spcPts val="180"/>
              </a:spcBef>
            </a:pPr>
            <a:r>
              <a:rPr sz="1500" spc="-5" dirty="0">
                <a:latin typeface="Verdana"/>
                <a:cs typeface="Verdana"/>
              </a:rPr>
              <a:t>(Q5,</a:t>
            </a:r>
            <a:r>
              <a:rPr sz="1500" spc="-2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b), (Q6,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o),</a:t>
            </a:r>
            <a:r>
              <a:rPr sz="1500" spc="-1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(Q7,</a:t>
            </a:r>
            <a:r>
              <a:rPr sz="1500" spc="-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o),</a:t>
            </a:r>
            <a:r>
              <a:rPr sz="1500" spc="-1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(Q8,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b), (Q9,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b)&gt;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4823" y="1700023"/>
            <a:ext cx="3313176" cy="326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691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6852" y="1700022"/>
            <a:ext cx="3540252" cy="323697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77542" y="880363"/>
            <a:ext cx="652462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Cắt</a:t>
            </a:r>
            <a:r>
              <a:rPr sz="3800" spc="-2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xén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vùng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bằng</a:t>
            </a:r>
            <a:r>
              <a:rPr sz="3800" spc="-2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đa</a:t>
            </a:r>
            <a:r>
              <a:rPr sz="3800" spc="-10" dirty="0">
                <a:latin typeface="Verdana"/>
                <a:cs typeface="Verdana"/>
              </a:rPr>
              <a:t> giác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7963" y="1778712"/>
            <a:ext cx="4589780" cy="360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73685" indent="-343535">
              <a:lnSpc>
                <a:spcPct val="110000"/>
              </a:lnSpc>
              <a:spcBef>
                <a:spcPts val="100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  <a:tab pos="356235" algn="l"/>
              </a:tabLst>
            </a:pPr>
            <a:r>
              <a:rPr sz="1700" spc="-5" dirty="0">
                <a:latin typeface="Verdana"/>
                <a:cs typeface="Verdana"/>
              </a:rPr>
              <a:t>Tìm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giao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các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cạnh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của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hai đa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giác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P, </a:t>
            </a:r>
            <a:r>
              <a:rPr sz="1700" spc="-58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Q.</a:t>
            </a:r>
            <a:endParaRPr sz="1700">
              <a:latin typeface="Verdana"/>
              <a:cs typeface="Verdana"/>
            </a:endParaRPr>
          </a:p>
          <a:p>
            <a:pPr marL="355600" marR="5080" indent="-343535">
              <a:lnSpc>
                <a:spcPct val="110000"/>
              </a:lnSpc>
              <a:spcBef>
                <a:spcPts val="405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  <a:tab pos="356235" algn="l"/>
              </a:tabLst>
            </a:pPr>
            <a:r>
              <a:rPr sz="1700" spc="-5" dirty="0">
                <a:latin typeface="Verdana"/>
                <a:cs typeface="Verdana"/>
              </a:rPr>
              <a:t>Mỗi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giao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điểm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được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xen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vào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Pv hay Qv </a:t>
            </a:r>
            <a:r>
              <a:rPr sz="1700" spc="-58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và đánh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dấu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b(boundary)</a:t>
            </a:r>
            <a:r>
              <a:rPr sz="1700" spc="2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để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có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danh </a:t>
            </a:r>
            <a:r>
              <a:rPr sz="1700" spc="-5" dirty="0">
                <a:latin typeface="Verdana"/>
                <a:cs typeface="Verdana"/>
              </a:rPr>
              <a:t> sách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mới</a:t>
            </a:r>
            <a:endParaRPr sz="1700">
              <a:latin typeface="Verdana"/>
              <a:cs typeface="Verdana"/>
            </a:endParaRPr>
          </a:p>
          <a:p>
            <a:pPr marL="355600">
              <a:spcBef>
                <a:spcPts val="615"/>
              </a:spcBef>
            </a:pPr>
            <a:r>
              <a:rPr sz="1700" spc="-5" dirty="0">
                <a:latin typeface="Verdana"/>
                <a:cs typeface="Verdana"/>
              </a:rPr>
              <a:t>Pef=&lt;(P1,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o),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(P2, o),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(P’1,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b),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(P3,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i),</a:t>
            </a:r>
            <a:endParaRPr sz="1700">
              <a:latin typeface="Verdana"/>
              <a:cs typeface="Verdana"/>
            </a:endParaRPr>
          </a:p>
          <a:p>
            <a:pPr marL="355600" marR="563245">
              <a:lnSpc>
                <a:spcPct val="110000"/>
              </a:lnSpc>
            </a:pPr>
            <a:r>
              <a:rPr sz="1700" spc="-5" dirty="0">
                <a:latin typeface="Verdana"/>
                <a:cs typeface="Verdana"/>
              </a:rPr>
              <a:t>(P’2,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b),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(P4,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o),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(P’3,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b),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(P5,</a:t>
            </a:r>
            <a:r>
              <a:rPr sz="1700" spc="-10" dirty="0">
                <a:latin typeface="Verdana"/>
                <a:cs typeface="Verdana"/>
              </a:rPr>
              <a:t> b), </a:t>
            </a:r>
            <a:r>
              <a:rPr sz="1700" spc="-58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(P’4, </a:t>
            </a:r>
            <a:r>
              <a:rPr sz="1700" spc="-10" dirty="0">
                <a:latin typeface="Verdana"/>
                <a:cs typeface="Verdana"/>
              </a:rPr>
              <a:t>b),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(P’5, </a:t>
            </a:r>
            <a:r>
              <a:rPr sz="1700" spc="-10" dirty="0">
                <a:latin typeface="Verdana"/>
                <a:cs typeface="Verdana"/>
              </a:rPr>
              <a:t>b)&gt;</a:t>
            </a:r>
            <a:endParaRPr sz="1700">
              <a:latin typeface="Verdana"/>
              <a:cs typeface="Verdana"/>
            </a:endParaRPr>
          </a:p>
          <a:p>
            <a:pPr marL="355600">
              <a:spcBef>
                <a:spcPts val="615"/>
              </a:spcBef>
            </a:pPr>
            <a:r>
              <a:rPr sz="1700" spc="-10" dirty="0">
                <a:latin typeface="Verdana"/>
                <a:cs typeface="Verdana"/>
              </a:rPr>
              <a:t>Qef=&lt;(Q1, </a:t>
            </a:r>
            <a:r>
              <a:rPr sz="1700" spc="-5" dirty="0">
                <a:latin typeface="Verdana"/>
                <a:cs typeface="Verdana"/>
              </a:rPr>
              <a:t>o),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(Q2,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o),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(Q3, o),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(Q’1,</a:t>
            </a:r>
            <a:endParaRPr sz="1700">
              <a:latin typeface="Verdana"/>
              <a:cs typeface="Verdana"/>
            </a:endParaRPr>
          </a:p>
          <a:p>
            <a:pPr marL="355600">
              <a:spcBef>
                <a:spcPts val="200"/>
              </a:spcBef>
            </a:pPr>
            <a:r>
              <a:rPr sz="1700" spc="-5" dirty="0">
                <a:latin typeface="Verdana"/>
                <a:cs typeface="Verdana"/>
              </a:rPr>
              <a:t>b),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(Q4,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i),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(Q5,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b),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(Q’2,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b),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(Q’3,</a:t>
            </a:r>
            <a:r>
              <a:rPr sz="1700" spc="-10" dirty="0">
                <a:latin typeface="Verdana"/>
                <a:cs typeface="Verdana"/>
              </a:rPr>
              <a:t> b),</a:t>
            </a:r>
            <a:endParaRPr sz="1700">
              <a:latin typeface="Verdana"/>
              <a:cs typeface="Verdana"/>
            </a:endParaRPr>
          </a:p>
          <a:p>
            <a:pPr marL="355600" marR="565785">
              <a:lnSpc>
                <a:spcPct val="110000"/>
              </a:lnSpc>
            </a:pPr>
            <a:r>
              <a:rPr sz="1700" spc="-5" dirty="0">
                <a:latin typeface="Verdana"/>
                <a:cs typeface="Verdana"/>
              </a:rPr>
              <a:t>(Q6, o), Q7, o), (Q8, </a:t>
            </a:r>
            <a:r>
              <a:rPr sz="1700" spc="-10" dirty="0">
                <a:latin typeface="Verdana"/>
                <a:cs typeface="Verdana"/>
              </a:rPr>
              <a:t>b), </a:t>
            </a:r>
            <a:r>
              <a:rPr sz="1700" spc="-5" dirty="0">
                <a:latin typeface="Verdana"/>
                <a:cs typeface="Verdana"/>
              </a:rPr>
              <a:t>(Q’4, </a:t>
            </a:r>
            <a:r>
              <a:rPr sz="1700" spc="-10" dirty="0">
                <a:latin typeface="Verdana"/>
                <a:cs typeface="Verdana"/>
              </a:rPr>
              <a:t>b), </a:t>
            </a:r>
            <a:r>
              <a:rPr sz="1700" spc="-58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(Q’5,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b),</a:t>
            </a:r>
            <a:r>
              <a:rPr sz="170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(Q9,</a:t>
            </a:r>
            <a:r>
              <a:rPr sz="1700" spc="-10" dirty="0">
                <a:latin typeface="Verdana"/>
                <a:cs typeface="Verdana"/>
              </a:rPr>
              <a:t> b)&gt;</a:t>
            </a:r>
            <a:endParaRPr sz="17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03284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9771" y="1844801"/>
            <a:ext cx="3348228" cy="343966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77542" y="880363"/>
            <a:ext cx="652462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Cắt</a:t>
            </a:r>
            <a:r>
              <a:rPr sz="3800" spc="-2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xén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vùng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bằng</a:t>
            </a:r>
            <a:r>
              <a:rPr sz="3800" spc="-2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đa</a:t>
            </a:r>
            <a:r>
              <a:rPr sz="3800" spc="-10" dirty="0">
                <a:latin typeface="Verdana"/>
                <a:cs typeface="Verdana"/>
              </a:rPr>
              <a:t> giác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53692" y="1752825"/>
            <a:ext cx="5238115" cy="180022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indent="-342900">
              <a:spcBef>
                <a:spcPts val="505"/>
              </a:spcBef>
              <a:buClr>
                <a:srgbClr val="CC0000"/>
              </a:buClr>
              <a:buFont typeface="Wingdings"/>
              <a:buChar char=""/>
              <a:tabLst>
                <a:tab pos="354965" algn="l"/>
                <a:tab pos="355600" algn="l"/>
              </a:tabLst>
            </a:pPr>
            <a:r>
              <a:rPr sz="1700" spc="-5" dirty="0">
                <a:latin typeface="Verdana"/>
                <a:cs typeface="Verdana"/>
              </a:rPr>
              <a:t>Danh sách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Pef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spc="-5" dirty="0">
                <a:latin typeface="Verdana"/>
                <a:cs typeface="Verdana"/>
              </a:rPr>
              <a:t>và </a:t>
            </a:r>
            <a:r>
              <a:rPr sz="1700" spc="-10" dirty="0">
                <a:latin typeface="Verdana"/>
                <a:cs typeface="Verdana"/>
              </a:rPr>
              <a:t>Qef:</a:t>
            </a:r>
            <a:endParaRPr sz="1700">
              <a:latin typeface="Verdana"/>
              <a:cs typeface="Verdana"/>
            </a:endParaRPr>
          </a:p>
          <a:p>
            <a:pPr marL="755650" lvl="1" indent="-285750">
              <a:spcBef>
                <a:spcPts val="365"/>
              </a:spcBef>
              <a:buClr>
                <a:srgbClr val="CC0000"/>
              </a:buClr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1500" spc="-5" dirty="0">
                <a:latin typeface="Verdana"/>
                <a:cs typeface="Verdana"/>
              </a:rPr>
              <a:t>Pef=&lt;(P1,</a:t>
            </a:r>
            <a:r>
              <a:rPr sz="1500" spc="-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o),</a:t>
            </a:r>
            <a:r>
              <a:rPr sz="1500" spc="-5" dirty="0">
                <a:latin typeface="Verdana"/>
                <a:cs typeface="Verdana"/>
              </a:rPr>
              <a:t> (P2,</a:t>
            </a:r>
            <a:r>
              <a:rPr sz="1500" spc="-1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o),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(P’1,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b),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(P3,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i),</a:t>
            </a:r>
            <a:r>
              <a:rPr sz="1500" spc="-1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(P’2,</a:t>
            </a:r>
            <a:endParaRPr sz="1500">
              <a:latin typeface="Verdana"/>
              <a:cs typeface="Verdana"/>
            </a:endParaRPr>
          </a:p>
          <a:p>
            <a:pPr marL="755015"/>
            <a:r>
              <a:rPr sz="1500" spc="-5" dirty="0">
                <a:latin typeface="Verdana"/>
                <a:cs typeface="Verdana"/>
              </a:rPr>
              <a:t>b),</a:t>
            </a:r>
            <a:r>
              <a:rPr sz="1500" spc="-1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(P4,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o),</a:t>
            </a:r>
            <a:r>
              <a:rPr sz="1500" spc="-1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(P’3,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b),</a:t>
            </a:r>
            <a:r>
              <a:rPr sz="1500" spc="-1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(P5,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b), (P’4,</a:t>
            </a:r>
            <a:r>
              <a:rPr sz="1500" spc="-2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b), (P’5,</a:t>
            </a:r>
            <a:endParaRPr sz="1500">
              <a:latin typeface="Verdana"/>
              <a:cs typeface="Verdana"/>
            </a:endParaRPr>
          </a:p>
          <a:p>
            <a:pPr marL="755015"/>
            <a:r>
              <a:rPr sz="1500" spc="-5" dirty="0">
                <a:latin typeface="Verdana"/>
                <a:cs typeface="Verdana"/>
              </a:rPr>
              <a:t>b)&gt;</a:t>
            </a:r>
            <a:endParaRPr sz="1500">
              <a:latin typeface="Verdana"/>
              <a:cs typeface="Verdana"/>
            </a:endParaRPr>
          </a:p>
          <a:p>
            <a:pPr marL="755650" lvl="1" indent="-285750">
              <a:spcBef>
                <a:spcPts val="360"/>
              </a:spcBef>
              <a:buClr>
                <a:srgbClr val="CC0000"/>
              </a:buClr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1500" spc="-10" dirty="0">
                <a:latin typeface="Verdana"/>
                <a:cs typeface="Verdana"/>
              </a:rPr>
              <a:t>Qef=&lt;(Q1,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o),</a:t>
            </a:r>
            <a:r>
              <a:rPr sz="1500" spc="-5" dirty="0">
                <a:latin typeface="Verdana"/>
                <a:cs typeface="Verdana"/>
              </a:rPr>
              <a:t> (Q2,o),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(Q3,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o),</a:t>
            </a:r>
            <a:r>
              <a:rPr sz="1500" spc="-5" dirty="0">
                <a:latin typeface="Verdana"/>
                <a:cs typeface="Verdana"/>
              </a:rPr>
              <a:t> (Q’1,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b),</a:t>
            </a:r>
            <a:r>
              <a:rPr sz="150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(Q4,</a:t>
            </a:r>
            <a:endParaRPr sz="1500">
              <a:latin typeface="Verdana"/>
              <a:cs typeface="Verdana"/>
            </a:endParaRPr>
          </a:p>
          <a:p>
            <a:pPr marL="755015"/>
            <a:r>
              <a:rPr sz="1500" spc="-5" dirty="0">
                <a:latin typeface="Verdana"/>
                <a:cs typeface="Verdana"/>
              </a:rPr>
              <a:t>i),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(Q5,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b), (Q’2,</a:t>
            </a:r>
            <a:r>
              <a:rPr sz="1500" spc="-2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b), (Q’3,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b),</a:t>
            </a:r>
            <a:r>
              <a:rPr sz="1500" spc="-1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(Q6,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o),</a:t>
            </a:r>
            <a:r>
              <a:rPr sz="1500" spc="-5" dirty="0">
                <a:latin typeface="Verdana"/>
                <a:cs typeface="Verdana"/>
              </a:rPr>
              <a:t> (Q7,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o),</a:t>
            </a:r>
            <a:endParaRPr sz="1500">
              <a:latin typeface="Verdana"/>
              <a:cs typeface="Verdana"/>
            </a:endParaRPr>
          </a:p>
          <a:p>
            <a:pPr marL="755015"/>
            <a:r>
              <a:rPr sz="1500" spc="-5" dirty="0">
                <a:latin typeface="Verdana"/>
                <a:cs typeface="Verdana"/>
              </a:rPr>
              <a:t>(Q8,</a:t>
            </a:r>
            <a:r>
              <a:rPr sz="1500" spc="-3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b), (Q’4,</a:t>
            </a:r>
            <a:r>
              <a:rPr sz="1500" spc="-3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b), (Q’5,</a:t>
            </a:r>
            <a:r>
              <a:rPr sz="1500" spc="-25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b),</a:t>
            </a:r>
            <a:r>
              <a:rPr sz="1500" spc="-1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(Q9,</a:t>
            </a:r>
            <a:r>
              <a:rPr sz="1500" spc="-30" dirty="0">
                <a:latin typeface="Verdana"/>
                <a:cs typeface="Verdana"/>
              </a:rPr>
              <a:t> </a:t>
            </a:r>
            <a:r>
              <a:rPr sz="1500" spc="-5" dirty="0">
                <a:latin typeface="Verdana"/>
                <a:cs typeface="Verdana"/>
              </a:rPr>
              <a:t>b)&gt;</a:t>
            </a:r>
            <a:endParaRPr sz="15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57889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GIẢI THUẬT TÔ MIỀN KÍN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355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1" y="880363"/>
            <a:ext cx="4123690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Các</a:t>
            </a:r>
            <a:r>
              <a:rPr sz="3800" spc="-3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bước</a:t>
            </a:r>
            <a:r>
              <a:rPr sz="3800" spc="-2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tô</a:t>
            </a:r>
            <a:r>
              <a:rPr sz="3800" spc="-2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màu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9414" y="1704035"/>
            <a:ext cx="7211059" cy="137287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482600" indent="-470534">
              <a:spcBef>
                <a:spcPts val="72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  <a:tab pos="483234" algn="l"/>
              </a:tabLst>
            </a:pPr>
            <a:r>
              <a:rPr sz="2600" spc="-5" dirty="0">
                <a:latin typeface="Verdana"/>
                <a:cs typeface="Verdana"/>
              </a:rPr>
              <a:t>Xác</a:t>
            </a:r>
            <a:r>
              <a:rPr sz="2600" spc="-2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định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vị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trí các điểm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cần tô màu</a:t>
            </a:r>
            <a:endParaRPr sz="2600">
              <a:latin typeface="Verdana"/>
              <a:cs typeface="Verdana"/>
            </a:endParaRPr>
          </a:p>
          <a:p>
            <a:pPr marL="482600" marR="5080" indent="-470534">
              <a:spcBef>
                <a:spcPts val="62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  <a:tab pos="483234" algn="l"/>
              </a:tabLst>
            </a:pPr>
            <a:r>
              <a:rPr sz="2600" spc="-10" dirty="0">
                <a:latin typeface="Verdana"/>
                <a:cs typeface="Verdana"/>
              </a:rPr>
              <a:t>Quyết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định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tô các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điểm bằng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màu </a:t>
            </a:r>
            <a:r>
              <a:rPr sz="2600" spc="-10" dirty="0">
                <a:latin typeface="Verdana"/>
                <a:cs typeface="Verdana"/>
              </a:rPr>
              <a:t>tương </a:t>
            </a:r>
            <a:r>
              <a:rPr sz="2600" spc="-894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ứng</a:t>
            </a:r>
            <a:endParaRPr sz="26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27603" y="3137154"/>
            <a:ext cx="6629400" cy="2818130"/>
            <a:chOff x="1403603" y="3137154"/>
            <a:chExt cx="6629400" cy="28181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3603" y="3229356"/>
              <a:ext cx="2952750" cy="263652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9655" y="3142107"/>
              <a:ext cx="3168396" cy="28079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859655" y="3142107"/>
              <a:ext cx="3168650" cy="2807970"/>
            </a:xfrm>
            <a:custGeom>
              <a:avLst/>
              <a:gdLst/>
              <a:ahLst/>
              <a:cxnLst/>
              <a:rect l="l" t="t" r="r" b="b"/>
              <a:pathLst>
                <a:path w="3168650" h="2807970">
                  <a:moveTo>
                    <a:pt x="0" y="1403984"/>
                  </a:moveTo>
                  <a:lnTo>
                    <a:pt x="814" y="1358542"/>
                  </a:lnTo>
                  <a:lnTo>
                    <a:pt x="3239" y="1313461"/>
                  </a:lnTo>
                  <a:lnTo>
                    <a:pt x="7252" y="1268762"/>
                  </a:lnTo>
                  <a:lnTo>
                    <a:pt x="12827" y="1224467"/>
                  </a:lnTo>
                  <a:lnTo>
                    <a:pt x="19940" y="1180598"/>
                  </a:lnTo>
                  <a:lnTo>
                    <a:pt x="28566" y="1137177"/>
                  </a:lnTo>
                  <a:lnTo>
                    <a:pt x="38681" y="1094226"/>
                  </a:lnTo>
                  <a:lnTo>
                    <a:pt x="50260" y="1051767"/>
                  </a:lnTo>
                  <a:lnTo>
                    <a:pt x="63278" y="1009820"/>
                  </a:lnTo>
                  <a:lnTo>
                    <a:pt x="77711" y="968409"/>
                  </a:lnTo>
                  <a:lnTo>
                    <a:pt x="93535" y="927554"/>
                  </a:lnTo>
                  <a:lnTo>
                    <a:pt x="110724" y="887278"/>
                  </a:lnTo>
                  <a:lnTo>
                    <a:pt x="129254" y="847602"/>
                  </a:lnTo>
                  <a:lnTo>
                    <a:pt x="149101" y="808549"/>
                  </a:lnTo>
                  <a:lnTo>
                    <a:pt x="170240" y="770139"/>
                  </a:lnTo>
                  <a:lnTo>
                    <a:pt x="192646" y="732395"/>
                  </a:lnTo>
                  <a:lnTo>
                    <a:pt x="216295" y="695339"/>
                  </a:lnTo>
                  <a:lnTo>
                    <a:pt x="241162" y="658991"/>
                  </a:lnTo>
                  <a:lnTo>
                    <a:pt x="267222" y="623375"/>
                  </a:lnTo>
                  <a:lnTo>
                    <a:pt x="294452" y="588512"/>
                  </a:lnTo>
                  <a:lnTo>
                    <a:pt x="322825" y="554423"/>
                  </a:lnTo>
                  <a:lnTo>
                    <a:pt x="352319" y="521131"/>
                  </a:lnTo>
                  <a:lnTo>
                    <a:pt x="382908" y="488657"/>
                  </a:lnTo>
                  <a:lnTo>
                    <a:pt x="414567" y="457022"/>
                  </a:lnTo>
                  <a:lnTo>
                    <a:pt x="447273" y="426250"/>
                  </a:lnTo>
                  <a:lnTo>
                    <a:pt x="480999" y="396361"/>
                  </a:lnTo>
                  <a:lnTo>
                    <a:pt x="515723" y="367377"/>
                  </a:lnTo>
                  <a:lnTo>
                    <a:pt x="551419" y="339321"/>
                  </a:lnTo>
                  <a:lnTo>
                    <a:pt x="588062" y="312213"/>
                  </a:lnTo>
                  <a:lnTo>
                    <a:pt x="625629" y="286076"/>
                  </a:lnTo>
                  <a:lnTo>
                    <a:pt x="664094" y="260932"/>
                  </a:lnTo>
                  <a:lnTo>
                    <a:pt x="703433" y="236802"/>
                  </a:lnTo>
                  <a:lnTo>
                    <a:pt x="743621" y="213707"/>
                  </a:lnTo>
                  <a:lnTo>
                    <a:pt x="784634" y="191671"/>
                  </a:lnTo>
                  <a:lnTo>
                    <a:pt x="826447" y="170714"/>
                  </a:lnTo>
                  <a:lnTo>
                    <a:pt x="869035" y="150858"/>
                  </a:lnTo>
                  <a:lnTo>
                    <a:pt x="912374" y="132126"/>
                  </a:lnTo>
                  <a:lnTo>
                    <a:pt x="956440" y="114538"/>
                  </a:lnTo>
                  <a:lnTo>
                    <a:pt x="1001207" y="98117"/>
                  </a:lnTo>
                  <a:lnTo>
                    <a:pt x="1046652" y="82885"/>
                  </a:lnTo>
                  <a:lnTo>
                    <a:pt x="1092749" y="68863"/>
                  </a:lnTo>
                  <a:lnTo>
                    <a:pt x="1139473" y="56073"/>
                  </a:lnTo>
                  <a:lnTo>
                    <a:pt x="1186802" y="44537"/>
                  </a:lnTo>
                  <a:lnTo>
                    <a:pt x="1234709" y="34276"/>
                  </a:lnTo>
                  <a:lnTo>
                    <a:pt x="1283170" y="25313"/>
                  </a:lnTo>
                  <a:lnTo>
                    <a:pt x="1332161" y="17669"/>
                  </a:lnTo>
                  <a:lnTo>
                    <a:pt x="1381656" y="11366"/>
                  </a:lnTo>
                  <a:lnTo>
                    <a:pt x="1431633" y="6426"/>
                  </a:lnTo>
                  <a:lnTo>
                    <a:pt x="1482065" y="2870"/>
                  </a:lnTo>
                  <a:lnTo>
                    <a:pt x="1532928" y="721"/>
                  </a:lnTo>
                  <a:lnTo>
                    <a:pt x="1584198" y="0"/>
                  </a:lnTo>
                  <a:lnTo>
                    <a:pt x="1635467" y="721"/>
                  </a:lnTo>
                  <a:lnTo>
                    <a:pt x="1686330" y="2870"/>
                  </a:lnTo>
                  <a:lnTo>
                    <a:pt x="1736762" y="6426"/>
                  </a:lnTo>
                  <a:lnTo>
                    <a:pt x="1786739" y="11366"/>
                  </a:lnTo>
                  <a:lnTo>
                    <a:pt x="1836234" y="17669"/>
                  </a:lnTo>
                  <a:lnTo>
                    <a:pt x="1885225" y="25313"/>
                  </a:lnTo>
                  <a:lnTo>
                    <a:pt x="1933686" y="34276"/>
                  </a:lnTo>
                  <a:lnTo>
                    <a:pt x="1981593" y="44537"/>
                  </a:lnTo>
                  <a:lnTo>
                    <a:pt x="2028922" y="56073"/>
                  </a:lnTo>
                  <a:lnTo>
                    <a:pt x="2075646" y="68863"/>
                  </a:lnTo>
                  <a:lnTo>
                    <a:pt x="2121743" y="82885"/>
                  </a:lnTo>
                  <a:lnTo>
                    <a:pt x="2167188" y="98117"/>
                  </a:lnTo>
                  <a:lnTo>
                    <a:pt x="2211955" y="114538"/>
                  </a:lnTo>
                  <a:lnTo>
                    <a:pt x="2256021" y="132126"/>
                  </a:lnTo>
                  <a:lnTo>
                    <a:pt x="2299360" y="150858"/>
                  </a:lnTo>
                  <a:lnTo>
                    <a:pt x="2341948" y="170714"/>
                  </a:lnTo>
                  <a:lnTo>
                    <a:pt x="2383761" y="191671"/>
                  </a:lnTo>
                  <a:lnTo>
                    <a:pt x="2424774" y="213707"/>
                  </a:lnTo>
                  <a:lnTo>
                    <a:pt x="2464962" y="236802"/>
                  </a:lnTo>
                  <a:lnTo>
                    <a:pt x="2504301" y="260932"/>
                  </a:lnTo>
                  <a:lnTo>
                    <a:pt x="2542766" y="286076"/>
                  </a:lnTo>
                  <a:lnTo>
                    <a:pt x="2580333" y="312213"/>
                  </a:lnTo>
                  <a:lnTo>
                    <a:pt x="2616976" y="339321"/>
                  </a:lnTo>
                  <a:lnTo>
                    <a:pt x="2652672" y="367377"/>
                  </a:lnTo>
                  <a:lnTo>
                    <a:pt x="2687396" y="396361"/>
                  </a:lnTo>
                  <a:lnTo>
                    <a:pt x="2721122" y="426250"/>
                  </a:lnTo>
                  <a:lnTo>
                    <a:pt x="2753828" y="457022"/>
                  </a:lnTo>
                  <a:lnTo>
                    <a:pt x="2785487" y="488657"/>
                  </a:lnTo>
                  <a:lnTo>
                    <a:pt x="2816076" y="521131"/>
                  </a:lnTo>
                  <a:lnTo>
                    <a:pt x="2845570" y="554423"/>
                  </a:lnTo>
                  <a:lnTo>
                    <a:pt x="2873943" y="588512"/>
                  </a:lnTo>
                  <a:lnTo>
                    <a:pt x="2901173" y="623375"/>
                  </a:lnTo>
                  <a:lnTo>
                    <a:pt x="2927233" y="658991"/>
                  </a:lnTo>
                  <a:lnTo>
                    <a:pt x="2952100" y="695339"/>
                  </a:lnTo>
                  <a:lnTo>
                    <a:pt x="2975749" y="732395"/>
                  </a:lnTo>
                  <a:lnTo>
                    <a:pt x="2998155" y="770139"/>
                  </a:lnTo>
                  <a:lnTo>
                    <a:pt x="3019294" y="808549"/>
                  </a:lnTo>
                  <a:lnTo>
                    <a:pt x="3039141" y="847602"/>
                  </a:lnTo>
                  <a:lnTo>
                    <a:pt x="3057671" y="887278"/>
                  </a:lnTo>
                  <a:lnTo>
                    <a:pt x="3074860" y="927554"/>
                  </a:lnTo>
                  <a:lnTo>
                    <a:pt x="3090684" y="968409"/>
                  </a:lnTo>
                  <a:lnTo>
                    <a:pt x="3105117" y="1009820"/>
                  </a:lnTo>
                  <a:lnTo>
                    <a:pt x="3118135" y="1051767"/>
                  </a:lnTo>
                  <a:lnTo>
                    <a:pt x="3129714" y="1094226"/>
                  </a:lnTo>
                  <a:lnTo>
                    <a:pt x="3139829" y="1137177"/>
                  </a:lnTo>
                  <a:lnTo>
                    <a:pt x="3148455" y="1180598"/>
                  </a:lnTo>
                  <a:lnTo>
                    <a:pt x="3155568" y="1224467"/>
                  </a:lnTo>
                  <a:lnTo>
                    <a:pt x="3161143" y="1268762"/>
                  </a:lnTo>
                  <a:lnTo>
                    <a:pt x="3165156" y="1313461"/>
                  </a:lnTo>
                  <a:lnTo>
                    <a:pt x="3167581" y="1358542"/>
                  </a:lnTo>
                  <a:lnTo>
                    <a:pt x="3168396" y="1403984"/>
                  </a:lnTo>
                  <a:lnTo>
                    <a:pt x="3167581" y="1449427"/>
                  </a:lnTo>
                  <a:lnTo>
                    <a:pt x="3165156" y="1494508"/>
                  </a:lnTo>
                  <a:lnTo>
                    <a:pt x="3161143" y="1539207"/>
                  </a:lnTo>
                  <a:lnTo>
                    <a:pt x="3155568" y="1583502"/>
                  </a:lnTo>
                  <a:lnTo>
                    <a:pt x="3148455" y="1627371"/>
                  </a:lnTo>
                  <a:lnTo>
                    <a:pt x="3139829" y="1670792"/>
                  </a:lnTo>
                  <a:lnTo>
                    <a:pt x="3129714" y="1713743"/>
                  </a:lnTo>
                  <a:lnTo>
                    <a:pt x="3118135" y="1756202"/>
                  </a:lnTo>
                  <a:lnTo>
                    <a:pt x="3105117" y="1798149"/>
                  </a:lnTo>
                  <a:lnTo>
                    <a:pt x="3090684" y="1839560"/>
                  </a:lnTo>
                  <a:lnTo>
                    <a:pt x="3074860" y="1880415"/>
                  </a:lnTo>
                  <a:lnTo>
                    <a:pt x="3057671" y="1920691"/>
                  </a:lnTo>
                  <a:lnTo>
                    <a:pt x="3039141" y="1960367"/>
                  </a:lnTo>
                  <a:lnTo>
                    <a:pt x="3019294" y="1999420"/>
                  </a:lnTo>
                  <a:lnTo>
                    <a:pt x="2998155" y="2037830"/>
                  </a:lnTo>
                  <a:lnTo>
                    <a:pt x="2975749" y="2075574"/>
                  </a:lnTo>
                  <a:lnTo>
                    <a:pt x="2952100" y="2112630"/>
                  </a:lnTo>
                  <a:lnTo>
                    <a:pt x="2927233" y="2148978"/>
                  </a:lnTo>
                  <a:lnTo>
                    <a:pt x="2901173" y="2184594"/>
                  </a:lnTo>
                  <a:lnTo>
                    <a:pt x="2873943" y="2219457"/>
                  </a:lnTo>
                  <a:lnTo>
                    <a:pt x="2845570" y="2253546"/>
                  </a:lnTo>
                  <a:lnTo>
                    <a:pt x="2816076" y="2286838"/>
                  </a:lnTo>
                  <a:lnTo>
                    <a:pt x="2785487" y="2319312"/>
                  </a:lnTo>
                  <a:lnTo>
                    <a:pt x="2753828" y="2350947"/>
                  </a:lnTo>
                  <a:lnTo>
                    <a:pt x="2721122" y="2381719"/>
                  </a:lnTo>
                  <a:lnTo>
                    <a:pt x="2687396" y="2411608"/>
                  </a:lnTo>
                  <a:lnTo>
                    <a:pt x="2652672" y="2440592"/>
                  </a:lnTo>
                  <a:lnTo>
                    <a:pt x="2616976" y="2468648"/>
                  </a:lnTo>
                  <a:lnTo>
                    <a:pt x="2580333" y="2495756"/>
                  </a:lnTo>
                  <a:lnTo>
                    <a:pt x="2542766" y="2521893"/>
                  </a:lnTo>
                  <a:lnTo>
                    <a:pt x="2504301" y="2547037"/>
                  </a:lnTo>
                  <a:lnTo>
                    <a:pt x="2464962" y="2571167"/>
                  </a:lnTo>
                  <a:lnTo>
                    <a:pt x="2424774" y="2594262"/>
                  </a:lnTo>
                  <a:lnTo>
                    <a:pt x="2383761" y="2616298"/>
                  </a:lnTo>
                  <a:lnTo>
                    <a:pt x="2341948" y="2637255"/>
                  </a:lnTo>
                  <a:lnTo>
                    <a:pt x="2299360" y="2657111"/>
                  </a:lnTo>
                  <a:lnTo>
                    <a:pt x="2256021" y="2675843"/>
                  </a:lnTo>
                  <a:lnTo>
                    <a:pt x="2211955" y="2693431"/>
                  </a:lnTo>
                  <a:lnTo>
                    <a:pt x="2167188" y="2709852"/>
                  </a:lnTo>
                  <a:lnTo>
                    <a:pt x="2121743" y="2725084"/>
                  </a:lnTo>
                  <a:lnTo>
                    <a:pt x="2075646" y="2739106"/>
                  </a:lnTo>
                  <a:lnTo>
                    <a:pt x="2028922" y="2751896"/>
                  </a:lnTo>
                  <a:lnTo>
                    <a:pt x="1981593" y="2763432"/>
                  </a:lnTo>
                  <a:lnTo>
                    <a:pt x="1933686" y="2773693"/>
                  </a:lnTo>
                  <a:lnTo>
                    <a:pt x="1885225" y="2782656"/>
                  </a:lnTo>
                  <a:lnTo>
                    <a:pt x="1836234" y="2790300"/>
                  </a:lnTo>
                  <a:lnTo>
                    <a:pt x="1786739" y="2796603"/>
                  </a:lnTo>
                  <a:lnTo>
                    <a:pt x="1736762" y="2801543"/>
                  </a:lnTo>
                  <a:lnTo>
                    <a:pt x="1686330" y="2805099"/>
                  </a:lnTo>
                  <a:lnTo>
                    <a:pt x="1635467" y="2807248"/>
                  </a:lnTo>
                  <a:lnTo>
                    <a:pt x="1584198" y="2807969"/>
                  </a:lnTo>
                  <a:lnTo>
                    <a:pt x="1532928" y="2807248"/>
                  </a:lnTo>
                  <a:lnTo>
                    <a:pt x="1482065" y="2805099"/>
                  </a:lnTo>
                  <a:lnTo>
                    <a:pt x="1431633" y="2801543"/>
                  </a:lnTo>
                  <a:lnTo>
                    <a:pt x="1381656" y="2796603"/>
                  </a:lnTo>
                  <a:lnTo>
                    <a:pt x="1332161" y="2790300"/>
                  </a:lnTo>
                  <a:lnTo>
                    <a:pt x="1283170" y="2782656"/>
                  </a:lnTo>
                  <a:lnTo>
                    <a:pt x="1234709" y="2773693"/>
                  </a:lnTo>
                  <a:lnTo>
                    <a:pt x="1186802" y="2763432"/>
                  </a:lnTo>
                  <a:lnTo>
                    <a:pt x="1139473" y="2751896"/>
                  </a:lnTo>
                  <a:lnTo>
                    <a:pt x="1092749" y="2739106"/>
                  </a:lnTo>
                  <a:lnTo>
                    <a:pt x="1046652" y="2725084"/>
                  </a:lnTo>
                  <a:lnTo>
                    <a:pt x="1001207" y="2709852"/>
                  </a:lnTo>
                  <a:lnTo>
                    <a:pt x="956440" y="2693431"/>
                  </a:lnTo>
                  <a:lnTo>
                    <a:pt x="912374" y="2675843"/>
                  </a:lnTo>
                  <a:lnTo>
                    <a:pt x="869035" y="2657111"/>
                  </a:lnTo>
                  <a:lnTo>
                    <a:pt x="826447" y="2637255"/>
                  </a:lnTo>
                  <a:lnTo>
                    <a:pt x="784634" y="2616298"/>
                  </a:lnTo>
                  <a:lnTo>
                    <a:pt x="743621" y="2594262"/>
                  </a:lnTo>
                  <a:lnTo>
                    <a:pt x="703433" y="2571167"/>
                  </a:lnTo>
                  <a:lnTo>
                    <a:pt x="664094" y="2547037"/>
                  </a:lnTo>
                  <a:lnTo>
                    <a:pt x="625629" y="2521893"/>
                  </a:lnTo>
                  <a:lnTo>
                    <a:pt x="588062" y="2495756"/>
                  </a:lnTo>
                  <a:lnTo>
                    <a:pt x="551419" y="2468648"/>
                  </a:lnTo>
                  <a:lnTo>
                    <a:pt x="515723" y="2440592"/>
                  </a:lnTo>
                  <a:lnTo>
                    <a:pt x="480999" y="2411608"/>
                  </a:lnTo>
                  <a:lnTo>
                    <a:pt x="447273" y="2381719"/>
                  </a:lnTo>
                  <a:lnTo>
                    <a:pt x="414567" y="2350947"/>
                  </a:lnTo>
                  <a:lnTo>
                    <a:pt x="382908" y="2319312"/>
                  </a:lnTo>
                  <a:lnTo>
                    <a:pt x="352319" y="2286838"/>
                  </a:lnTo>
                  <a:lnTo>
                    <a:pt x="322825" y="2253546"/>
                  </a:lnTo>
                  <a:lnTo>
                    <a:pt x="294452" y="2219457"/>
                  </a:lnTo>
                  <a:lnTo>
                    <a:pt x="267222" y="2184594"/>
                  </a:lnTo>
                  <a:lnTo>
                    <a:pt x="241162" y="2148978"/>
                  </a:lnTo>
                  <a:lnTo>
                    <a:pt x="216295" y="2112630"/>
                  </a:lnTo>
                  <a:lnTo>
                    <a:pt x="192646" y="2075574"/>
                  </a:lnTo>
                  <a:lnTo>
                    <a:pt x="170240" y="2037830"/>
                  </a:lnTo>
                  <a:lnTo>
                    <a:pt x="149101" y="1999420"/>
                  </a:lnTo>
                  <a:lnTo>
                    <a:pt x="129254" y="1960367"/>
                  </a:lnTo>
                  <a:lnTo>
                    <a:pt x="110724" y="1920691"/>
                  </a:lnTo>
                  <a:lnTo>
                    <a:pt x="93535" y="1880415"/>
                  </a:lnTo>
                  <a:lnTo>
                    <a:pt x="77711" y="1839560"/>
                  </a:lnTo>
                  <a:lnTo>
                    <a:pt x="63278" y="1798149"/>
                  </a:lnTo>
                  <a:lnTo>
                    <a:pt x="50260" y="1756202"/>
                  </a:lnTo>
                  <a:lnTo>
                    <a:pt x="38681" y="1713743"/>
                  </a:lnTo>
                  <a:lnTo>
                    <a:pt x="28566" y="1670792"/>
                  </a:lnTo>
                  <a:lnTo>
                    <a:pt x="19940" y="1627371"/>
                  </a:lnTo>
                  <a:lnTo>
                    <a:pt x="12827" y="1583502"/>
                  </a:lnTo>
                  <a:lnTo>
                    <a:pt x="7252" y="1539207"/>
                  </a:lnTo>
                  <a:lnTo>
                    <a:pt x="3239" y="1494508"/>
                  </a:lnTo>
                  <a:lnTo>
                    <a:pt x="814" y="1449427"/>
                  </a:lnTo>
                  <a:lnTo>
                    <a:pt x="0" y="1403984"/>
                  </a:lnTo>
                  <a:close/>
                </a:path>
              </a:pathLst>
            </a:custGeom>
            <a:ln w="99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42135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1" y="849123"/>
            <a:ext cx="4671060" cy="63563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Verdana"/>
                <a:cs typeface="Verdana"/>
              </a:rPr>
              <a:t>Các</a:t>
            </a:r>
            <a:r>
              <a:rPr spc="-3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cách</a:t>
            </a:r>
            <a:r>
              <a:rPr spc="-4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tô</a:t>
            </a:r>
            <a:r>
              <a:rPr spc="-2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màu</a:t>
            </a:r>
            <a:endParaRPr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9413" y="1782826"/>
            <a:ext cx="7512050" cy="203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0" marR="5080" indent="-470534">
              <a:spcBef>
                <a:spcPts val="100"/>
              </a:spcBef>
              <a:buClr>
                <a:srgbClr val="CC0000"/>
              </a:buClr>
              <a:buFont typeface="Wingdings"/>
              <a:buChar char=""/>
              <a:tabLst>
                <a:tab pos="483234" algn="l"/>
                <a:tab pos="1082675" algn="l"/>
              </a:tabLst>
            </a:pPr>
            <a:r>
              <a:rPr sz="3000" spc="-5" dirty="0">
                <a:latin typeface="Verdana"/>
                <a:cs typeface="Verdana"/>
              </a:rPr>
              <a:t>Tô	</a:t>
            </a:r>
            <a:r>
              <a:rPr sz="3000" dirty="0">
                <a:latin typeface="Verdana"/>
                <a:cs typeface="Verdana"/>
              </a:rPr>
              <a:t>màu </a:t>
            </a:r>
            <a:r>
              <a:rPr sz="3000" spc="-5" dirty="0">
                <a:latin typeface="Verdana"/>
                <a:cs typeface="Verdana"/>
              </a:rPr>
              <a:t>theo từng điểm (tô </a:t>
            </a:r>
            <a:r>
              <a:rPr sz="3000" dirty="0">
                <a:latin typeface="Verdana"/>
                <a:cs typeface="Verdana"/>
              </a:rPr>
              <a:t>màu </a:t>
            </a:r>
            <a:r>
              <a:rPr sz="3000" spc="-5" dirty="0">
                <a:latin typeface="Verdana"/>
                <a:cs typeface="Verdana"/>
              </a:rPr>
              <a:t>đơn </a:t>
            </a:r>
            <a:r>
              <a:rPr sz="3000" spc="-1045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giản)</a:t>
            </a:r>
            <a:endParaRPr sz="3000">
              <a:latin typeface="Verdana"/>
              <a:cs typeface="Verdana"/>
            </a:endParaRPr>
          </a:p>
          <a:p>
            <a:pPr marL="482600" indent="-470534">
              <a:spcBef>
                <a:spcPts val="720"/>
              </a:spcBef>
              <a:buClr>
                <a:srgbClr val="CC0000"/>
              </a:buClr>
              <a:buFont typeface="Wingdings"/>
              <a:buChar char=""/>
              <a:tabLst>
                <a:tab pos="483234" algn="l"/>
                <a:tab pos="1082675" algn="l"/>
              </a:tabLst>
            </a:pPr>
            <a:r>
              <a:rPr sz="3000" spc="-5" dirty="0">
                <a:latin typeface="Verdana"/>
                <a:cs typeface="Verdana"/>
              </a:rPr>
              <a:t>Tô	</a:t>
            </a:r>
            <a:r>
              <a:rPr sz="3000" dirty="0">
                <a:latin typeface="Verdana"/>
                <a:cs typeface="Verdana"/>
              </a:rPr>
              <a:t>màu</a:t>
            </a:r>
            <a:r>
              <a:rPr sz="3000" spc="-35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theo</a:t>
            </a:r>
            <a:r>
              <a:rPr sz="3000" spc="-25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dòng</a:t>
            </a:r>
            <a:r>
              <a:rPr sz="3000" spc="-10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quét</a:t>
            </a:r>
            <a:endParaRPr sz="3000">
              <a:latin typeface="Verdana"/>
              <a:cs typeface="Verdana"/>
            </a:endParaRPr>
          </a:p>
          <a:p>
            <a:pPr marL="482600" indent="-470534">
              <a:spcBef>
                <a:spcPts val="720"/>
              </a:spcBef>
              <a:buClr>
                <a:srgbClr val="CC0000"/>
              </a:buClr>
              <a:buFont typeface="Wingdings"/>
              <a:buChar char=""/>
              <a:tabLst>
                <a:tab pos="483234" algn="l"/>
                <a:tab pos="1082675" algn="l"/>
              </a:tabLst>
            </a:pPr>
            <a:r>
              <a:rPr sz="3000" spc="-5" dirty="0">
                <a:latin typeface="Verdana"/>
                <a:cs typeface="Verdana"/>
              </a:rPr>
              <a:t>Tô	</a:t>
            </a:r>
            <a:r>
              <a:rPr sz="3000" dirty="0">
                <a:latin typeface="Verdana"/>
                <a:cs typeface="Verdana"/>
              </a:rPr>
              <a:t>màu</a:t>
            </a:r>
            <a:r>
              <a:rPr sz="3000" spc="-35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theo</a:t>
            </a:r>
            <a:r>
              <a:rPr sz="3000" spc="-20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đường</a:t>
            </a:r>
            <a:r>
              <a:rPr sz="3000" spc="-20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biên</a:t>
            </a:r>
            <a:endParaRPr sz="30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791411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1" y="880363"/>
            <a:ext cx="5739130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Tô</a:t>
            </a:r>
            <a:r>
              <a:rPr sz="3800" spc="-2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màu theo</a:t>
            </a:r>
            <a:r>
              <a:rPr sz="3800" spc="-2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từng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điểm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9413" y="1783589"/>
            <a:ext cx="7532370" cy="1689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82600" marR="239395" indent="-470534"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  <a:tab pos="483234" algn="l"/>
              </a:tabLst>
            </a:pPr>
            <a:r>
              <a:rPr sz="2600" spc="-5" dirty="0">
                <a:latin typeface="Verdana"/>
                <a:cs typeface="Verdana"/>
              </a:rPr>
              <a:t>Xác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định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điểm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có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thuộc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vùng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cần tô màu </a:t>
            </a:r>
            <a:r>
              <a:rPr sz="2600" spc="-894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hay không?</a:t>
            </a:r>
            <a:endParaRPr sz="2600">
              <a:latin typeface="Verdana"/>
              <a:cs typeface="Verdana"/>
            </a:endParaRPr>
          </a:p>
          <a:p>
            <a:pPr marL="482600" marR="5080" indent="-470534">
              <a:spcBef>
                <a:spcPts val="625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  <a:tab pos="483234" algn="l"/>
              </a:tabLst>
            </a:pPr>
            <a:r>
              <a:rPr sz="2600" spc="-5" dirty="0">
                <a:latin typeface="Verdana"/>
                <a:cs typeface="Verdana"/>
              </a:rPr>
              <a:t>Xác</a:t>
            </a:r>
            <a:r>
              <a:rPr sz="2600" spc="-2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lập màu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sắc</a:t>
            </a:r>
            <a:r>
              <a:rPr sz="2600" spc="-1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nếu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điểm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thuộc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vùng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cần </a:t>
            </a:r>
            <a:r>
              <a:rPr sz="2600" spc="-9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tô màu.</a:t>
            </a:r>
            <a:endParaRPr sz="26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703070" y="3524250"/>
            <a:ext cx="8964930" cy="2467610"/>
            <a:chOff x="179070" y="3524250"/>
            <a:chExt cx="8964930" cy="24676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070" y="3537203"/>
              <a:ext cx="4248150" cy="245440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7646" y="3524250"/>
              <a:ext cx="4356354" cy="246735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2970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1" y="423164"/>
            <a:ext cx="7170420" cy="10623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3400" spc="-5" dirty="0">
                <a:latin typeface="Verdana"/>
                <a:cs typeface="Verdana"/>
              </a:rPr>
              <a:t>Xác định </a:t>
            </a:r>
            <a:r>
              <a:rPr sz="3400" dirty="0">
                <a:latin typeface="Verdana"/>
                <a:cs typeface="Verdana"/>
              </a:rPr>
              <a:t>một </a:t>
            </a:r>
            <a:r>
              <a:rPr sz="3400" spc="-5" dirty="0">
                <a:latin typeface="Verdana"/>
                <a:cs typeface="Verdana"/>
              </a:rPr>
              <a:t>điểm </a:t>
            </a:r>
            <a:r>
              <a:rPr sz="3400" dirty="0">
                <a:latin typeface="Verdana"/>
                <a:cs typeface="Verdana"/>
              </a:rPr>
              <a:t>có nằm </a:t>
            </a:r>
            <a:r>
              <a:rPr sz="3400" spc="-5" dirty="0">
                <a:latin typeface="Verdana"/>
                <a:cs typeface="Verdana"/>
              </a:rPr>
              <a:t>trong </a:t>
            </a:r>
            <a:r>
              <a:rPr sz="3400" spc="-1185" dirty="0">
                <a:latin typeface="Verdana"/>
                <a:cs typeface="Verdana"/>
              </a:rPr>
              <a:t> </a:t>
            </a:r>
            <a:r>
              <a:rPr sz="3400" spc="-5" dirty="0">
                <a:latin typeface="Verdana"/>
                <a:cs typeface="Verdana"/>
              </a:rPr>
              <a:t>đa </a:t>
            </a:r>
            <a:r>
              <a:rPr sz="3400" spc="-10" dirty="0">
                <a:latin typeface="Verdana"/>
                <a:cs typeface="Verdana"/>
              </a:rPr>
              <a:t>giác</a:t>
            </a:r>
            <a:endParaRPr sz="3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01191" y="1737411"/>
            <a:ext cx="5596255" cy="4314001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81000" indent="-342900">
              <a:spcBef>
                <a:spcPts val="360"/>
              </a:spcBef>
              <a:buClr>
                <a:srgbClr val="CC0000"/>
              </a:buClr>
              <a:buFont typeface="Wingdings"/>
              <a:buChar char=""/>
              <a:tabLst>
                <a:tab pos="381000" algn="l"/>
              </a:tabLst>
            </a:pPr>
            <a:r>
              <a:rPr sz="2200" spc="-5" dirty="0">
                <a:latin typeface="Verdana"/>
                <a:cs typeface="Verdana"/>
              </a:rPr>
              <a:t>Phương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pháp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kiểm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tra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góc</a:t>
            </a:r>
            <a:endParaRPr sz="2200">
              <a:latin typeface="Verdana"/>
              <a:cs typeface="Verdana"/>
            </a:endParaRPr>
          </a:p>
          <a:p>
            <a:pPr marL="781050" marR="117475" lvl="1" indent="-285750">
              <a:lnSpc>
                <a:spcPts val="2380"/>
              </a:lnSpc>
              <a:spcBef>
                <a:spcPts val="560"/>
              </a:spcBef>
              <a:buClr>
                <a:srgbClr val="CC0000"/>
              </a:buClr>
              <a:buFont typeface="Wingdings"/>
              <a:buChar char=""/>
              <a:tabLst>
                <a:tab pos="781050" algn="l"/>
              </a:tabLst>
            </a:pPr>
            <a:r>
              <a:rPr sz="2200" spc="-5" dirty="0">
                <a:latin typeface="Verdana"/>
                <a:cs typeface="Verdana"/>
              </a:rPr>
              <a:t>Thí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dụ,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xét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xem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điểm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cho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trước </a:t>
            </a:r>
            <a:r>
              <a:rPr sz="2200" spc="-7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có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ở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trong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đa</a:t>
            </a:r>
            <a:r>
              <a:rPr sz="220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giác </a:t>
            </a:r>
            <a:r>
              <a:rPr sz="2200" dirty="0">
                <a:latin typeface="Verdana"/>
                <a:cs typeface="Verdana"/>
              </a:rPr>
              <a:t>ABCDE?</a:t>
            </a:r>
            <a:endParaRPr sz="2200">
              <a:latin typeface="Verdana"/>
              <a:cs typeface="Verdana"/>
            </a:endParaRPr>
          </a:p>
          <a:p>
            <a:pPr marL="781050" marR="63500" lvl="1" indent="-285750">
              <a:lnSpc>
                <a:spcPts val="2380"/>
              </a:lnSpc>
              <a:spcBef>
                <a:spcPts val="520"/>
              </a:spcBef>
              <a:buClr>
                <a:srgbClr val="CC0000"/>
              </a:buClr>
              <a:buFont typeface="Wingdings"/>
              <a:buChar char=""/>
              <a:tabLst>
                <a:tab pos="781050" algn="l"/>
              </a:tabLst>
            </a:pPr>
            <a:r>
              <a:rPr sz="2200" spc="-5" dirty="0">
                <a:latin typeface="Verdana"/>
                <a:cs typeface="Verdana"/>
              </a:rPr>
              <a:t>từ điểm </a:t>
            </a:r>
            <a:r>
              <a:rPr sz="2200" dirty="0">
                <a:latin typeface="Verdana"/>
                <a:cs typeface="Verdana"/>
              </a:rPr>
              <a:t>P nối với </a:t>
            </a:r>
            <a:r>
              <a:rPr sz="2200" spc="-5" dirty="0">
                <a:latin typeface="Verdana"/>
                <a:cs typeface="Verdana"/>
              </a:rPr>
              <a:t>các đỉnh đa </a:t>
            </a:r>
            <a:r>
              <a:rPr sz="2200" dirty="0">
                <a:latin typeface="Verdana"/>
                <a:cs typeface="Verdana"/>
              </a:rPr>
              <a:t>giác </a:t>
            </a:r>
            <a:r>
              <a:rPr sz="2200" spc="-76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để tạo thành </a:t>
            </a:r>
            <a:r>
              <a:rPr sz="2200" dirty="0">
                <a:latin typeface="Verdana"/>
                <a:cs typeface="Verdana"/>
              </a:rPr>
              <a:t>các </a:t>
            </a:r>
            <a:r>
              <a:rPr sz="2200" spc="-5" dirty="0">
                <a:latin typeface="Verdana"/>
                <a:cs typeface="Verdana"/>
              </a:rPr>
              <a:t>góc theo thứ tự </a:t>
            </a:r>
            <a:r>
              <a:rPr sz="2200" dirty="0">
                <a:latin typeface="Verdana"/>
                <a:cs typeface="Verdana"/>
              </a:rPr>
              <a:t> ngược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chiều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kim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đồng </a:t>
            </a:r>
            <a:r>
              <a:rPr sz="2200" dirty="0">
                <a:latin typeface="Verdana"/>
                <a:cs typeface="Verdana"/>
              </a:rPr>
              <a:t>hồ</a:t>
            </a:r>
            <a:endParaRPr sz="2200">
              <a:latin typeface="Verdana"/>
              <a:cs typeface="Verdana"/>
            </a:endParaRPr>
          </a:p>
          <a:p>
            <a:pPr marL="781050" marR="30480" lvl="1" indent="-285750">
              <a:lnSpc>
                <a:spcPts val="2380"/>
              </a:lnSpc>
              <a:spcBef>
                <a:spcPts val="520"/>
              </a:spcBef>
              <a:buClr>
                <a:srgbClr val="CC0000"/>
              </a:buClr>
              <a:buFont typeface="Wingdings"/>
              <a:buChar char=""/>
              <a:tabLst>
                <a:tab pos="781050" algn="l"/>
              </a:tabLst>
            </a:pPr>
            <a:r>
              <a:rPr sz="2200" spc="-5" dirty="0">
                <a:latin typeface="Verdana"/>
                <a:cs typeface="Verdana"/>
              </a:rPr>
              <a:t>Các </a:t>
            </a:r>
            <a:r>
              <a:rPr sz="2200" dirty="0">
                <a:latin typeface="Verdana"/>
                <a:cs typeface="Verdana"/>
              </a:rPr>
              <a:t>góc này có </a:t>
            </a:r>
            <a:r>
              <a:rPr sz="2200" spc="-5" dirty="0">
                <a:latin typeface="Verdana"/>
                <a:cs typeface="Verdana"/>
              </a:rPr>
              <a:t>giá trị dương hoặc </a:t>
            </a:r>
            <a:r>
              <a:rPr sz="2200" spc="-7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âm</a:t>
            </a:r>
            <a:r>
              <a:rPr sz="2200" spc="-5" dirty="0">
                <a:latin typeface="Verdana"/>
                <a:cs typeface="Verdana"/>
              </a:rPr>
              <a:t> tùy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theo</a:t>
            </a:r>
            <a:r>
              <a:rPr sz="2200" spc="-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hướng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đo</a:t>
            </a:r>
            <a:endParaRPr sz="2200">
              <a:latin typeface="Verdana"/>
              <a:cs typeface="Verdana"/>
            </a:endParaRPr>
          </a:p>
          <a:p>
            <a:pPr marL="781050" lvl="1" indent="-285750">
              <a:spcBef>
                <a:spcPts val="225"/>
              </a:spcBef>
              <a:buClr>
                <a:srgbClr val="CC0000"/>
              </a:buClr>
              <a:buFont typeface="Wingdings"/>
              <a:buChar char=""/>
              <a:tabLst>
                <a:tab pos="781050" algn="l"/>
              </a:tabLst>
            </a:pPr>
            <a:r>
              <a:rPr sz="2200" spc="-5" dirty="0">
                <a:latin typeface="Verdana"/>
                <a:cs typeface="Verdana"/>
              </a:rPr>
              <a:t>Tính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tổng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các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góc</a:t>
            </a:r>
            <a:endParaRPr sz="2200">
              <a:latin typeface="Verdana"/>
              <a:cs typeface="Verdana"/>
            </a:endParaRPr>
          </a:p>
          <a:p>
            <a:pPr marL="1181100" marR="147955" indent="-228600">
              <a:lnSpc>
                <a:spcPts val="2050"/>
              </a:lnSpc>
              <a:spcBef>
                <a:spcPts val="484"/>
              </a:spcBef>
            </a:pPr>
            <a:r>
              <a:rPr sz="1900" spc="25" dirty="0">
                <a:solidFill>
                  <a:srgbClr val="CC0000"/>
                </a:solidFill>
                <a:latin typeface="Wingdings"/>
                <a:cs typeface="Wingdings"/>
              </a:rPr>
              <a:t></a:t>
            </a:r>
            <a:r>
              <a:rPr sz="1900" spc="25" dirty="0">
                <a:latin typeface="Verdana"/>
                <a:cs typeface="Verdana"/>
              </a:rPr>
              <a:t>Nếu</a:t>
            </a:r>
            <a:r>
              <a:rPr sz="1900" spc="-10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tổng</a:t>
            </a:r>
            <a:r>
              <a:rPr sz="1900" spc="-2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các</a:t>
            </a:r>
            <a:r>
              <a:rPr sz="1900" spc="-25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góc</a:t>
            </a:r>
            <a:r>
              <a:rPr sz="1900" spc="-25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bằng</a:t>
            </a:r>
            <a:r>
              <a:rPr sz="1900" spc="-2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0</a:t>
            </a:r>
            <a:r>
              <a:rPr sz="1900" spc="-5" dirty="0">
                <a:latin typeface="Verdana"/>
                <a:cs typeface="Verdana"/>
              </a:rPr>
              <a:t> thì</a:t>
            </a:r>
            <a:r>
              <a:rPr sz="1900" spc="-2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P</a:t>
            </a:r>
            <a:r>
              <a:rPr sz="1900" spc="-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nằm </a:t>
            </a:r>
            <a:r>
              <a:rPr sz="1900" spc="-65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ngoài</a:t>
            </a:r>
            <a:r>
              <a:rPr sz="1900" spc="-20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đa</a:t>
            </a:r>
            <a:r>
              <a:rPr sz="1900" spc="-10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giác</a:t>
            </a:r>
            <a:endParaRPr sz="1900">
              <a:latin typeface="Verdana"/>
              <a:cs typeface="Verdana"/>
            </a:endParaRPr>
          </a:p>
          <a:p>
            <a:pPr marL="1181100" marR="360045" indent="-228600">
              <a:lnSpc>
                <a:spcPts val="2050"/>
              </a:lnSpc>
              <a:spcBef>
                <a:spcPts val="459"/>
              </a:spcBef>
            </a:pPr>
            <a:r>
              <a:rPr sz="1900" spc="25" dirty="0">
                <a:solidFill>
                  <a:srgbClr val="CC0000"/>
                </a:solidFill>
                <a:latin typeface="Wingdings"/>
                <a:cs typeface="Wingdings"/>
              </a:rPr>
              <a:t></a:t>
            </a:r>
            <a:r>
              <a:rPr sz="1900" spc="25" dirty="0">
                <a:latin typeface="Verdana"/>
                <a:cs typeface="Verdana"/>
              </a:rPr>
              <a:t>Nếu</a:t>
            </a:r>
            <a:r>
              <a:rPr sz="1900" spc="-10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tổng</a:t>
            </a:r>
            <a:r>
              <a:rPr sz="1900" spc="-2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các</a:t>
            </a:r>
            <a:r>
              <a:rPr sz="1900" spc="-25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góc</a:t>
            </a:r>
            <a:r>
              <a:rPr sz="1900" spc="-25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bằng</a:t>
            </a:r>
            <a:r>
              <a:rPr sz="1900" spc="-20" dirty="0">
                <a:latin typeface="Verdana"/>
                <a:cs typeface="Verdana"/>
              </a:rPr>
              <a:t> </a:t>
            </a:r>
            <a:r>
              <a:rPr sz="1900" spc="5" dirty="0">
                <a:latin typeface="Verdana"/>
                <a:cs typeface="Verdana"/>
              </a:rPr>
              <a:t>360</a:t>
            </a:r>
            <a:r>
              <a:rPr sz="1875" spc="7" baseline="24444" dirty="0">
                <a:latin typeface="Verdana"/>
                <a:cs typeface="Verdana"/>
              </a:rPr>
              <a:t>o</a:t>
            </a:r>
            <a:r>
              <a:rPr sz="1875" spc="315" baseline="24444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thì</a:t>
            </a:r>
            <a:r>
              <a:rPr sz="1900" spc="-15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P </a:t>
            </a:r>
            <a:r>
              <a:rPr sz="1900" spc="-65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nằm</a:t>
            </a:r>
            <a:r>
              <a:rPr sz="1900" spc="-20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trong</a:t>
            </a:r>
            <a:r>
              <a:rPr sz="1900" spc="-15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đa</a:t>
            </a:r>
            <a:r>
              <a:rPr sz="1900" spc="-10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giác</a:t>
            </a:r>
            <a:endParaRPr sz="19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1001" y="1916429"/>
            <a:ext cx="2666999" cy="225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895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77541" y="423164"/>
            <a:ext cx="7170420" cy="10623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3400" spc="-5" dirty="0">
                <a:latin typeface="Verdana"/>
                <a:cs typeface="Verdana"/>
              </a:rPr>
              <a:t>Xác định </a:t>
            </a:r>
            <a:r>
              <a:rPr sz="3400" dirty="0">
                <a:latin typeface="Verdana"/>
                <a:cs typeface="Verdana"/>
              </a:rPr>
              <a:t>một </a:t>
            </a:r>
            <a:r>
              <a:rPr sz="3400" spc="-5" dirty="0">
                <a:latin typeface="Verdana"/>
                <a:cs typeface="Verdana"/>
              </a:rPr>
              <a:t>điểm </a:t>
            </a:r>
            <a:r>
              <a:rPr sz="3400" dirty="0">
                <a:latin typeface="Verdana"/>
                <a:cs typeface="Verdana"/>
              </a:rPr>
              <a:t>có nằm </a:t>
            </a:r>
            <a:r>
              <a:rPr sz="3400" spc="-5" dirty="0">
                <a:latin typeface="Verdana"/>
                <a:cs typeface="Verdana"/>
              </a:rPr>
              <a:t>trong </a:t>
            </a:r>
            <a:r>
              <a:rPr sz="3400" spc="-1185" dirty="0">
                <a:latin typeface="Verdana"/>
                <a:cs typeface="Verdana"/>
              </a:rPr>
              <a:t> </a:t>
            </a:r>
            <a:r>
              <a:rPr sz="3400" spc="-5" dirty="0">
                <a:latin typeface="Verdana"/>
                <a:cs typeface="Verdana"/>
              </a:rPr>
              <a:t>đa </a:t>
            </a:r>
            <a:r>
              <a:rPr sz="3400" spc="-10" dirty="0">
                <a:latin typeface="Verdana"/>
                <a:cs typeface="Verdana"/>
              </a:rPr>
              <a:t>giác</a:t>
            </a:r>
            <a:endParaRPr sz="34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9904" y="1700022"/>
            <a:ext cx="7919466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0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2" y="880363"/>
            <a:ext cx="683450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Xác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định</a:t>
            </a:r>
            <a:r>
              <a:rPr sz="3800" spc="-2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điểm</a:t>
            </a:r>
            <a:r>
              <a:rPr sz="3800" spc="-10" dirty="0">
                <a:latin typeface="Verdana"/>
                <a:cs typeface="Verdana"/>
              </a:rPr>
              <a:t> trong </a:t>
            </a:r>
            <a:r>
              <a:rPr sz="3800" spc="-5" dirty="0">
                <a:latin typeface="Verdana"/>
                <a:cs typeface="Verdana"/>
              </a:rPr>
              <a:t>đa</a:t>
            </a:r>
            <a:r>
              <a:rPr sz="3800" spc="-10" dirty="0">
                <a:latin typeface="Verdana"/>
                <a:cs typeface="Verdana"/>
              </a:rPr>
              <a:t> giác</a:t>
            </a:r>
            <a:endParaRPr sz="3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26591" y="1829563"/>
            <a:ext cx="8303895" cy="3790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66040" indent="-342900">
              <a:spcBef>
                <a:spcPts val="95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</a:tabLst>
            </a:pPr>
            <a:r>
              <a:rPr sz="2600" spc="-10" dirty="0">
                <a:latin typeface="Verdana"/>
                <a:cs typeface="Verdana"/>
              </a:rPr>
              <a:t>Thuật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toán này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ứng dụng</a:t>
            </a:r>
            <a:r>
              <a:rPr sz="2600" spc="2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để xác định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điểm </a:t>
            </a:r>
            <a:r>
              <a:rPr sz="2600" spc="-10" dirty="0">
                <a:latin typeface="Verdana"/>
                <a:cs typeface="Verdana"/>
              </a:rPr>
              <a:t>độc </a:t>
            </a:r>
            <a:r>
              <a:rPr sz="2600" spc="-894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lập hay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đầu</a:t>
            </a:r>
            <a:r>
              <a:rPr sz="2600" spc="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mút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đoạn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thẳng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nằm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trong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đa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giác</a:t>
            </a:r>
            <a:endParaRPr sz="2600">
              <a:latin typeface="Verdana"/>
              <a:cs typeface="Verdana"/>
            </a:endParaRPr>
          </a:p>
          <a:p>
            <a:pPr marL="355600" indent="-342900">
              <a:spcBef>
                <a:spcPts val="625"/>
              </a:spcBef>
              <a:buClr>
                <a:srgbClr val="CC0000"/>
              </a:buClr>
              <a:buFont typeface="Wingdings"/>
              <a:buChar char=""/>
              <a:tabLst>
                <a:tab pos="355600" algn="l"/>
              </a:tabLst>
            </a:pPr>
            <a:r>
              <a:rPr sz="2600" spc="-5" dirty="0">
                <a:latin typeface="Verdana"/>
                <a:cs typeface="Verdana"/>
              </a:rPr>
              <a:t>Định</a:t>
            </a:r>
            <a:r>
              <a:rPr sz="2600" spc="-10" dirty="0">
                <a:latin typeface="Verdana"/>
                <a:cs typeface="Verdana"/>
              </a:rPr>
              <a:t> </a:t>
            </a:r>
            <a:r>
              <a:rPr sz="2600" dirty="0">
                <a:latin typeface="Verdana"/>
                <a:cs typeface="Verdana"/>
              </a:rPr>
              <a:t>lý </a:t>
            </a:r>
            <a:r>
              <a:rPr sz="2600" spc="-5" dirty="0">
                <a:latin typeface="Verdana"/>
                <a:cs typeface="Verdana"/>
              </a:rPr>
              <a:t>nửa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đường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thẳng</a:t>
            </a:r>
            <a:r>
              <a:rPr sz="2600" spc="1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của</a:t>
            </a:r>
            <a:r>
              <a:rPr sz="2600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Jordan</a:t>
            </a:r>
            <a:endParaRPr sz="2600">
              <a:latin typeface="Verdana"/>
              <a:cs typeface="Verdana"/>
            </a:endParaRPr>
          </a:p>
          <a:p>
            <a:pPr marL="755650" marR="391160" lvl="1" indent="-285750">
              <a:spcBef>
                <a:spcPts val="509"/>
              </a:spcBef>
              <a:buClr>
                <a:srgbClr val="CC0000"/>
              </a:buClr>
              <a:buFont typeface="Wingdings"/>
              <a:buChar char=""/>
              <a:tabLst>
                <a:tab pos="755650" algn="l"/>
              </a:tabLst>
            </a:pPr>
            <a:r>
              <a:rPr sz="2100" spc="-5" dirty="0">
                <a:latin typeface="Verdana"/>
                <a:cs typeface="Verdana"/>
              </a:rPr>
              <a:t>từ điểm cho trước </a:t>
            </a:r>
            <a:r>
              <a:rPr sz="2100" dirty="0">
                <a:latin typeface="Verdana"/>
                <a:cs typeface="Verdana"/>
              </a:rPr>
              <a:t>hãy vẽ </a:t>
            </a:r>
            <a:r>
              <a:rPr sz="2100" spc="-5" dirty="0">
                <a:latin typeface="Verdana"/>
                <a:cs typeface="Verdana"/>
              </a:rPr>
              <a:t>tia </a:t>
            </a:r>
            <a:r>
              <a:rPr sz="2100" dirty="0">
                <a:latin typeface="Verdana"/>
                <a:cs typeface="Verdana"/>
              </a:rPr>
              <a:t>ra cạnh </a:t>
            </a:r>
            <a:r>
              <a:rPr sz="2100" spc="-5" dirty="0">
                <a:latin typeface="Verdana"/>
                <a:cs typeface="Verdana"/>
              </a:rPr>
              <a:t>tận cùng </a:t>
            </a:r>
            <a:r>
              <a:rPr sz="2100" dirty="0">
                <a:latin typeface="Verdana"/>
                <a:cs typeface="Verdana"/>
              </a:rPr>
              <a:t>của </a:t>
            </a:r>
            <a:r>
              <a:rPr sz="2100" spc="-5" dirty="0">
                <a:latin typeface="Verdana"/>
                <a:cs typeface="Verdana"/>
              </a:rPr>
              <a:t>đa </a:t>
            </a:r>
            <a:r>
              <a:rPr sz="2100" spc="-72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giác</a:t>
            </a:r>
            <a:endParaRPr sz="2100">
              <a:latin typeface="Verdana"/>
              <a:cs typeface="Verdana"/>
            </a:endParaRPr>
          </a:p>
          <a:p>
            <a:pPr marL="755650" lvl="1" indent="-285750">
              <a:spcBef>
                <a:spcPts val="500"/>
              </a:spcBef>
              <a:buClr>
                <a:srgbClr val="CC0000"/>
              </a:buClr>
              <a:buFont typeface="Wingdings"/>
              <a:buChar char=""/>
              <a:tabLst>
                <a:tab pos="755650" algn="l"/>
              </a:tabLst>
            </a:pPr>
            <a:r>
              <a:rPr sz="2100" spc="-5" dirty="0">
                <a:latin typeface="Verdana"/>
                <a:cs typeface="Verdana"/>
              </a:rPr>
              <a:t>Tính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tổng giao điểm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của</a:t>
            </a:r>
            <a:r>
              <a:rPr sz="2100" spc="-5" dirty="0">
                <a:latin typeface="Verdana"/>
                <a:cs typeface="Verdana"/>
              </a:rPr>
              <a:t> tia </a:t>
            </a:r>
            <a:r>
              <a:rPr sz="2100" dirty="0">
                <a:latin typeface="Verdana"/>
                <a:cs typeface="Verdana"/>
              </a:rPr>
              <a:t>với</a:t>
            </a:r>
            <a:r>
              <a:rPr sz="2100" spc="-2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các </a:t>
            </a:r>
            <a:r>
              <a:rPr sz="2100" spc="-5" dirty="0">
                <a:latin typeface="Verdana"/>
                <a:cs typeface="Verdana"/>
              </a:rPr>
              <a:t>cạnh đa</a:t>
            </a:r>
            <a:r>
              <a:rPr sz="210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giác</a:t>
            </a:r>
            <a:endParaRPr sz="2100">
              <a:latin typeface="Verdana"/>
              <a:cs typeface="Verdana"/>
            </a:endParaRPr>
          </a:p>
          <a:p>
            <a:pPr marL="1155700" marR="5080" indent="-228600">
              <a:spcBef>
                <a:spcPts val="505"/>
              </a:spcBef>
            </a:pPr>
            <a:r>
              <a:rPr sz="2100" spc="-5" dirty="0">
                <a:solidFill>
                  <a:srgbClr val="CC0000"/>
                </a:solidFill>
                <a:latin typeface="Wingdings"/>
                <a:cs typeface="Wingdings"/>
              </a:rPr>
              <a:t></a:t>
            </a:r>
            <a:r>
              <a:rPr sz="2100" spc="-5" dirty="0">
                <a:latin typeface="Verdana"/>
                <a:cs typeface="Verdana"/>
              </a:rPr>
              <a:t>Nếu tổng </a:t>
            </a:r>
            <a:r>
              <a:rPr sz="2100" dirty="0">
                <a:latin typeface="Verdana"/>
                <a:cs typeface="Verdana"/>
              </a:rPr>
              <a:t>số </a:t>
            </a:r>
            <a:r>
              <a:rPr sz="2100" spc="-5" dirty="0">
                <a:latin typeface="Verdana"/>
                <a:cs typeface="Verdana"/>
              </a:rPr>
              <a:t>điểm là lẻ thì điểm đó </a:t>
            </a:r>
            <a:r>
              <a:rPr sz="2100" dirty="0">
                <a:latin typeface="Verdana"/>
                <a:cs typeface="Verdana"/>
              </a:rPr>
              <a:t>nằm </a:t>
            </a:r>
            <a:r>
              <a:rPr sz="2100" spc="-5" dirty="0">
                <a:latin typeface="Verdana"/>
                <a:cs typeface="Verdana"/>
              </a:rPr>
              <a:t>trong đa </a:t>
            </a:r>
            <a:r>
              <a:rPr sz="210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giác, ngược</a:t>
            </a:r>
            <a:r>
              <a:rPr sz="2100" spc="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lại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tổng</a:t>
            </a:r>
            <a:r>
              <a:rPr sz="2100" dirty="0">
                <a:latin typeface="Verdana"/>
                <a:cs typeface="Verdana"/>
              </a:rPr>
              <a:t> số</a:t>
            </a:r>
            <a:r>
              <a:rPr sz="2100" spc="-5" dirty="0">
                <a:latin typeface="Verdana"/>
                <a:cs typeface="Verdana"/>
              </a:rPr>
              <a:t> điểm là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chẵn</a:t>
            </a:r>
            <a:r>
              <a:rPr sz="210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thì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điểm đó</a:t>
            </a:r>
            <a:r>
              <a:rPr sz="2100" dirty="0">
                <a:latin typeface="Verdana"/>
                <a:cs typeface="Verdana"/>
              </a:rPr>
              <a:t> nằm </a:t>
            </a:r>
            <a:r>
              <a:rPr sz="2100" spc="-72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ngoài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đa</a:t>
            </a:r>
            <a:r>
              <a:rPr sz="2100" spc="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giác</a:t>
            </a:r>
            <a:endParaRPr sz="2100">
              <a:latin typeface="Verdana"/>
              <a:cs typeface="Verdana"/>
            </a:endParaRPr>
          </a:p>
          <a:p>
            <a:pPr marL="755650" lvl="1" indent="-285750">
              <a:spcBef>
                <a:spcPts val="505"/>
              </a:spcBef>
              <a:buClr>
                <a:srgbClr val="CC0000"/>
              </a:buClr>
              <a:buFont typeface="Wingdings"/>
              <a:buChar char=""/>
              <a:tabLst>
                <a:tab pos="755650" algn="l"/>
              </a:tabLst>
            </a:pPr>
            <a:r>
              <a:rPr sz="2100" spc="-5" dirty="0">
                <a:latin typeface="Verdana"/>
                <a:cs typeface="Verdana"/>
              </a:rPr>
              <a:t>để dễ tính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toán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hãy dựng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tia</a:t>
            </a:r>
            <a:r>
              <a:rPr sz="2100" dirty="0">
                <a:latin typeface="Verdana"/>
                <a:cs typeface="Verdana"/>
              </a:rPr>
              <a:t> song</a:t>
            </a:r>
            <a:r>
              <a:rPr sz="2100" spc="-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song với</a:t>
            </a:r>
            <a:r>
              <a:rPr sz="2100" spc="-5" dirty="0">
                <a:latin typeface="Verdana"/>
                <a:cs typeface="Verdana"/>
              </a:rPr>
              <a:t> trục tọa độ</a:t>
            </a:r>
            <a:endParaRPr sz="21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519902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1" y="423164"/>
            <a:ext cx="7170420" cy="106235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3400" spc="-5" dirty="0">
                <a:latin typeface="Verdana"/>
                <a:cs typeface="Verdana"/>
              </a:rPr>
              <a:t>Xác định </a:t>
            </a:r>
            <a:r>
              <a:rPr sz="3400" dirty="0">
                <a:latin typeface="Verdana"/>
                <a:cs typeface="Verdana"/>
              </a:rPr>
              <a:t>một </a:t>
            </a:r>
            <a:r>
              <a:rPr sz="3400" spc="-5" dirty="0">
                <a:latin typeface="Verdana"/>
                <a:cs typeface="Verdana"/>
              </a:rPr>
              <a:t>điểm </a:t>
            </a:r>
            <a:r>
              <a:rPr sz="3400" dirty="0">
                <a:latin typeface="Verdana"/>
                <a:cs typeface="Verdana"/>
              </a:rPr>
              <a:t>có nằm </a:t>
            </a:r>
            <a:r>
              <a:rPr sz="3400" spc="-5" dirty="0">
                <a:latin typeface="Verdana"/>
                <a:cs typeface="Verdana"/>
              </a:rPr>
              <a:t>trong </a:t>
            </a:r>
            <a:r>
              <a:rPr sz="3400" spc="-1185" dirty="0">
                <a:latin typeface="Verdana"/>
                <a:cs typeface="Verdana"/>
              </a:rPr>
              <a:t> </a:t>
            </a:r>
            <a:r>
              <a:rPr sz="3400" spc="-5" dirty="0">
                <a:latin typeface="Verdana"/>
                <a:cs typeface="Verdana"/>
              </a:rPr>
              <a:t>đa </a:t>
            </a:r>
            <a:r>
              <a:rPr sz="3400" spc="-10" dirty="0">
                <a:latin typeface="Verdana"/>
                <a:cs typeface="Verdana"/>
              </a:rPr>
              <a:t>giác</a:t>
            </a:r>
            <a:endParaRPr sz="3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9414" y="2331465"/>
            <a:ext cx="7757159" cy="3375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2600" marR="363855" indent="-470534">
              <a:spcBef>
                <a:spcPts val="100"/>
              </a:spcBef>
              <a:buClr>
                <a:srgbClr val="CC0000"/>
              </a:buClr>
              <a:buFont typeface="Wingdings"/>
              <a:buChar char=""/>
              <a:tabLst>
                <a:tab pos="483234" algn="l"/>
              </a:tabLst>
            </a:pPr>
            <a:r>
              <a:rPr sz="3000" spc="-5" dirty="0">
                <a:latin typeface="Verdana"/>
                <a:cs typeface="Verdana"/>
              </a:rPr>
              <a:t>Qui </a:t>
            </a:r>
            <a:r>
              <a:rPr sz="3000" dirty="0">
                <a:latin typeface="Verdana"/>
                <a:cs typeface="Verdana"/>
              </a:rPr>
              <a:t>ước: </a:t>
            </a:r>
            <a:r>
              <a:rPr sz="3000" spc="-5" dirty="0">
                <a:latin typeface="Verdana"/>
                <a:cs typeface="Verdana"/>
              </a:rPr>
              <a:t>tại </a:t>
            </a:r>
            <a:r>
              <a:rPr sz="3000" dirty="0">
                <a:latin typeface="Verdana"/>
                <a:cs typeface="Verdana"/>
              </a:rPr>
              <a:t>các </a:t>
            </a:r>
            <a:r>
              <a:rPr sz="3000" spc="-5" dirty="0">
                <a:latin typeface="Verdana"/>
                <a:cs typeface="Verdana"/>
              </a:rPr>
              <a:t>đỉnh </a:t>
            </a:r>
            <a:r>
              <a:rPr sz="3000" dirty="0">
                <a:latin typeface="Verdana"/>
                <a:cs typeface="Verdana"/>
              </a:rPr>
              <a:t>của </a:t>
            </a:r>
            <a:r>
              <a:rPr sz="3000" spc="-5" dirty="0">
                <a:latin typeface="Verdana"/>
                <a:cs typeface="Verdana"/>
              </a:rPr>
              <a:t>đa giác thì </a:t>
            </a:r>
            <a:r>
              <a:rPr sz="3000" spc="-104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số</a:t>
            </a:r>
            <a:r>
              <a:rPr sz="3000" spc="-5" dirty="0">
                <a:latin typeface="Verdana"/>
                <a:cs typeface="Verdana"/>
              </a:rPr>
              <a:t> giao điểm được tính</a:t>
            </a:r>
            <a:r>
              <a:rPr sz="3000" spc="-1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hai</a:t>
            </a:r>
            <a:r>
              <a:rPr sz="3000" spc="-5" dirty="0">
                <a:latin typeface="Verdana"/>
                <a:cs typeface="Verdana"/>
              </a:rPr>
              <a:t> </a:t>
            </a:r>
            <a:r>
              <a:rPr sz="3000" spc="-10" dirty="0">
                <a:latin typeface="Verdana"/>
                <a:cs typeface="Verdana"/>
              </a:rPr>
              <a:t>lần</a:t>
            </a:r>
            <a:endParaRPr sz="3000">
              <a:latin typeface="Verdana"/>
              <a:cs typeface="Verdana"/>
            </a:endParaRPr>
          </a:p>
          <a:p>
            <a:pPr marL="482600" marR="5080" indent="-470534">
              <a:spcBef>
                <a:spcPts val="700"/>
              </a:spcBef>
              <a:buClr>
                <a:srgbClr val="CC0000"/>
              </a:buClr>
              <a:buFont typeface="Wingdings"/>
              <a:buChar char=""/>
              <a:tabLst>
                <a:tab pos="482600" algn="l"/>
                <a:tab pos="483234" algn="l"/>
              </a:tabLst>
            </a:pPr>
            <a:r>
              <a:rPr sz="2900" spc="-10" dirty="0">
                <a:latin typeface="Verdana"/>
                <a:cs typeface="Verdana"/>
              </a:rPr>
              <a:t>Thuật </a:t>
            </a:r>
            <a:r>
              <a:rPr sz="2900" spc="-5" dirty="0">
                <a:latin typeface="Verdana"/>
                <a:cs typeface="Verdana"/>
              </a:rPr>
              <a:t>toán</a:t>
            </a:r>
            <a:r>
              <a:rPr sz="2900" dirty="0">
                <a:latin typeface="Verdana"/>
                <a:cs typeface="Verdana"/>
              </a:rPr>
              <a:t> </a:t>
            </a:r>
            <a:r>
              <a:rPr sz="2900" spc="-5" dirty="0">
                <a:latin typeface="Verdana"/>
                <a:cs typeface="Verdana"/>
              </a:rPr>
              <a:t>này</a:t>
            </a:r>
            <a:r>
              <a:rPr sz="2900" spc="10" dirty="0">
                <a:latin typeface="Verdana"/>
                <a:cs typeface="Verdana"/>
              </a:rPr>
              <a:t> </a:t>
            </a:r>
            <a:r>
              <a:rPr sz="2900" spc="-5" dirty="0">
                <a:latin typeface="Verdana"/>
                <a:cs typeface="Verdana"/>
              </a:rPr>
              <a:t>đúng</a:t>
            </a:r>
            <a:r>
              <a:rPr sz="2900" spc="20" dirty="0">
                <a:latin typeface="Verdana"/>
                <a:cs typeface="Verdana"/>
              </a:rPr>
              <a:t> </a:t>
            </a:r>
            <a:r>
              <a:rPr sz="2900" spc="-5" dirty="0">
                <a:latin typeface="Verdana"/>
                <a:cs typeface="Verdana"/>
              </a:rPr>
              <a:t>cả</a:t>
            </a:r>
            <a:r>
              <a:rPr sz="2900" dirty="0">
                <a:latin typeface="Verdana"/>
                <a:cs typeface="Verdana"/>
              </a:rPr>
              <a:t> </a:t>
            </a:r>
            <a:r>
              <a:rPr sz="2900" spc="-5" dirty="0">
                <a:latin typeface="Verdana"/>
                <a:cs typeface="Verdana"/>
              </a:rPr>
              <a:t>với</a:t>
            </a:r>
            <a:r>
              <a:rPr sz="2900" spc="5" dirty="0">
                <a:latin typeface="Verdana"/>
                <a:cs typeface="Verdana"/>
              </a:rPr>
              <a:t> </a:t>
            </a:r>
            <a:r>
              <a:rPr sz="2900" spc="-10" dirty="0">
                <a:latin typeface="Verdana"/>
                <a:cs typeface="Verdana"/>
              </a:rPr>
              <a:t>trường</a:t>
            </a:r>
            <a:r>
              <a:rPr sz="2900" spc="10" dirty="0">
                <a:latin typeface="Verdana"/>
                <a:cs typeface="Verdana"/>
              </a:rPr>
              <a:t> </a:t>
            </a:r>
            <a:r>
              <a:rPr sz="2900" spc="-5" dirty="0">
                <a:latin typeface="Verdana"/>
                <a:cs typeface="Verdana"/>
              </a:rPr>
              <a:t>hợp </a:t>
            </a:r>
            <a:r>
              <a:rPr sz="2900" spc="-1005" dirty="0">
                <a:latin typeface="Verdana"/>
                <a:cs typeface="Verdana"/>
              </a:rPr>
              <a:t> </a:t>
            </a:r>
            <a:r>
              <a:rPr sz="2900" spc="-5" dirty="0">
                <a:latin typeface="Verdana"/>
                <a:cs typeface="Verdana"/>
              </a:rPr>
              <a:t>đa</a:t>
            </a:r>
            <a:r>
              <a:rPr sz="2900" dirty="0">
                <a:latin typeface="Verdana"/>
                <a:cs typeface="Verdana"/>
              </a:rPr>
              <a:t> </a:t>
            </a:r>
            <a:r>
              <a:rPr sz="2900" spc="-5" dirty="0">
                <a:latin typeface="Verdana"/>
                <a:cs typeface="Verdana"/>
              </a:rPr>
              <a:t>giác</a:t>
            </a:r>
            <a:r>
              <a:rPr sz="2900" spc="5" dirty="0">
                <a:latin typeface="Verdana"/>
                <a:cs typeface="Verdana"/>
              </a:rPr>
              <a:t> </a:t>
            </a:r>
            <a:r>
              <a:rPr sz="2900" spc="-5" dirty="0">
                <a:latin typeface="Verdana"/>
                <a:cs typeface="Verdana"/>
              </a:rPr>
              <a:t>có</a:t>
            </a:r>
            <a:r>
              <a:rPr sz="2900" dirty="0">
                <a:latin typeface="Verdana"/>
                <a:cs typeface="Verdana"/>
              </a:rPr>
              <a:t> </a:t>
            </a:r>
            <a:r>
              <a:rPr sz="2900" spc="-5" dirty="0">
                <a:latin typeface="Verdana"/>
                <a:cs typeface="Verdana"/>
              </a:rPr>
              <a:t>lỗ</a:t>
            </a:r>
            <a:r>
              <a:rPr sz="2900" spc="5" dirty="0">
                <a:latin typeface="Verdana"/>
                <a:cs typeface="Verdana"/>
              </a:rPr>
              <a:t> </a:t>
            </a:r>
            <a:r>
              <a:rPr sz="2900" spc="-5" dirty="0">
                <a:latin typeface="Verdana"/>
                <a:cs typeface="Verdana"/>
              </a:rPr>
              <a:t>hổng</a:t>
            </a:r>
            <a:endParaRPr sz="2900">
              <a:latin typeface="Verdana"/>
              <a:cs typeface="Verdana"/>
            </a:endParaRPr>
          </a:p>
          <a:p>
            <a:pPr marL="482600" marR="220345" indent="-470534" algn="just">
              <a:spcBef>
                <a:spcPts val="715"/>
              </a:spcBef>
              <a:buClr>
                <a:srgbClr val="CC0000"/>
              </a:buClr>
              <a:buFont typeface="Wingdings"/>
              <a:buChar char=""/>
              <a:tabLst>
                <a:tab pos="483234" algn="l"/>
              </a:tabLst>
            </a:pPr>
            <a:r>
              <a:rPr sz="3000" dirty="0">
                <a:latin typeface="Verdana"/>
                <a:cs typeface="Verdana"/>
              </a:rPr>
              <a:t>Sinh viên </a:t>
            </a:r>
            <a:r>
              <a:rPr sz="3000" spc="-5" dirty="0">
                <a:latin typeface="Verdana"/>
                <a:cs typeface="Verdana"/>
              </a:rPr>
              <a:t>tự tìm </a:t>
            </a:r>
            <a:r>
              <a:rPr sz="3000" spc="-10" dirty="0">
                <a:latin typeface="Verdana"/>
                <a:cs typeface="Verdana"/>
              </a:rPr>
              <a:t>hiểu </a:t>
            </a:r>
            <a:r>
              <a:rPr sz="3000" spc="-5" dirty="0">
                <a:latin typeface="Verdana"/>
                <a:cs typeface="Verdana"/>
              </a:rPr>
              <a:t>thêm </a:t>
            </a:r>
            <a:r>
              <a:rPr sz="3000" dirty="0">
                <a:latin typeface="Verdana"/>
                <a:cs typeface="Verdana"/>
              </a:rPr>
              <a:t>các </a:t>
            </a:r>
            <a:r>
              <a:rPr sz="3000" spc="-5" dirty="0">
                <a:latin typeface="Verdana"/>
                <a:cs typeface="Verdana"/>
              </a:rPr>
              <a:t>thuật </a:t>
            </a:r>
            <a:r>
              <a:rPr sz="3000" spc="-1040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toán </a:t>
            </a:r>
            <a:r>
              <a:rPr sz="3000" dirty="0">
                <a:latin typeface="Verdana"/>
                <a:cs typeface="Verdana"/>
              </a:rPr>
              <a:t>xác </a:t>
            </a:r>
            <a:r>
              <a:rPr sz="3000" spc="-5" dirty="0">
                <a:latin typeface="Verdana"/>
                <a:cs typeface="Verdana"/>
              </a:rPr>
              <a:t>định điểm </a:t>
            </a:r>
            <a:r>
              <a:rPr sz="3000" dirty="0">
                <a:latin typeface="Verdana"/>
                <a:cs typeface="Verdana"/>
              </a:rPr>
              <a:t>có </a:t>
            </a:r>
            <a:r>
              <a:rPr sz="3000" spc="-5" dirty="0">
                <a:latin typeface="Verdana"/>
                <a:cs typeface="Verdana"/>
              </a:rPr>
              <a:t>nằm trong </a:t>
            </a:r>
            <a:r>
              <a:rPr sz="3000" dirty="0">
                <a:latin typeface="Verdana"/>
                <a:cs typeface="Verdana"/>
              </a:rPr>
              <a:t>đa </a:t>
            </a:r>
            <a:r>
              <a:rPr sz="3000" spc="-1040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giác hay</a:t>
            </a:r>
            <a:r>
              <a:rPr sz="3000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không</a:t>
            </a:r>
            <a:endParaRPr sz="30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45523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7542" y="849123"/>
            <a:ext cx="2604135" cy="63563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Verdana"/>
                <a:cs typeface="Verdana"/>
              </a:rPr>
              <a:t>Nhận</a:t>
            </a:r>
            <a:r>
              <a:rPr spc="-8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xét</a:t>
            </a:r>
            <a:endParaRPr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69413" y="1691386"/>
            <a:ext cx="6941184" cy="212852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482600" indent="-470534">
              <a:spcBef>
                <a:spcPts val="820"/>
              </a:spcBef>
              <a:buClr>
                <a:srgbClr val="CC0000"/>
              </a:buClr>
              <a:buFont typeface="Wingdings"/>
              <a:buChar char=""/>
              <a:tabLst>
                <a:tab pos="483234" algn="l"/>
                <a:tab pos="1082675" algn="l"/>
              </a:tabLst>
            </a:pPr>
            <a:r>
              <a:rPr sz="3000" spc="-5" dirty="0">
                <a:latin typeface="Verdana"/>
                <a:cs typeface="Verdana"/>
              </a:rPr>
              <a:t>Tô	</a:t>
            </a:r>
            <a:r>
              <a:rPr sz="3000" dirty="0">
                <a:latin typeface="Verdana"/>
                <a:cs typeface="Verdana"/>
              </a:rPr>
              <a:t>màu</a:t>
            </a:r>
            <a:r>
              <a:rPr sz="3000" spc="-6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mịn</a:t>
            </a:r>
            <a:endParaRPr sz="3000">
              <a:latin typeface="Verdana"/>
              <a:cs typeface="Verdana"/>
            </a:endParaRPr>
          </a:p>
          <a:p>
            <a:pPr marL="482600" marR="5080" indent="-470534">
              <a:spcBef>
                <a:spcPts val="720"/>
              </a:spcBef>
              <a:buClr>
                <a:srgbClr val="CC0000"/>
              </a:buClr>
              <a:buFont typeface="Wingdings"/>
              <a:buChar char=""/>
              <a:tabLst>
                <a:tab pos="483234" algn="l"/>
              </a:tabLst>
            </a:pPr>
            <a:r>
              <a:rPr sz="3000" spc="-5" dirty="0">
                <a:latin typeface="Verdana"/>
                <a:cs typeface="Verdana"/>
              </a:rPr>
              <a:t>Có thể </a:t>
            </a:r>
            <a:r>
              <a:rPr sz="3000" dirty="0">
                <a:latin typeface="Verdana"/>
                <a:cs typeface="Verdana"/>
              </a:rPr>
              <a:t>áp </a:t>
            </a:r>
            <a:r>
              <a:rPr sz="3000" spc="-5" dirty="0">
                <a:latin typeface="Verdana"/>
                <a:cs typeface="Verdana"/>
              </a:rPr>
              <a:t>dụng </a:t>
            </a:r>
            <a:r>
              <a:rPr sz="3000" dirty="0">
                <a:latin typeface="Verdana"/>
                <a:cs typeface="Verdana"/>
              </a:rPr>
              <a:t>cho nhiều </a:t>
            </a:r>
            <a:r>
              <a:rPr sz="3000" spc="-5" dirty="0">
                <a:latin typeface="Verdana"/>
                <a:cs typeface="Verdana"/>
              </a:rPr>
              <a:t>loại đối </a:t>
            </a:r>
            <a:r>
              <a:rPr sz="3000" spc="-1040" dirty="0">
                <a:latin typeface="Verdana"/>
                <a:cs typeface="Verdana"/>
              </a:rPr>
              <a:t> </a:t>
            </a:r>
            <a:r>
              <a:rPr sz="3000" spc="-5" dirty="0">
                <a:latin typeface="Verdana"/>
                <a:cs typeface="Verdana"/>
              </a:rPr>
              <a:t>tượng</a:t>
            </a:r>
            <a:r>
              <a:rPr sz="3000" spc="-1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hình</a:t>
            </a:r>
            <a:r>
              <a:rPr sz="3000" spc="-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học</a:t>
            </a:r>
            <a:r>
              <a:rPr sz="3000" spc="-5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khác</a:t>
            </a:r>
            <a:r>
              <a:rPr sz="3000" spc="-5" dirty="0">
                <a:latin typeface="Verdana"/>
                <a:cs typeface="Verdana"/>
              </a:rPr>
              <a:t> nhau</a:t>
            </a:r>
            <a:endParaRPr sz="3000">
              <a:latin typeface="Verdana"/>
              <a:cs typeface="Verdana"/>
            </a:endParaRPr>
          </a:p>
          <a:p>
            <a:pPr marL="482600" indent="-470534">
              <a:spcBef>
                <a:spcPts val="720"/>
              </a:spcBef>
              <a:buClr>
                <a:srgbClr val="CC0000"/>
              </a:buClr>
              <a:buFont typeface="Wingdings"/>
              <a:buChar char=""/>
              <a:tabLst>
                <a:tab pos="483234" algn="l"/>
                <a:tab pos="1280795" algn="l"/>
              </a:tabLst>
            </a:pPr>
            <a:r>
              <a:rPr sz="3000" spc="-5" dirty="0">
                <a:latin typeface="Verdana"/>
                <a:cs typeface="Verdana"/>
              </a:rPr>
              <a:t>Tốc	độ</a:t>
            </a:r>
            <a:r>
              <a:rPr sz="3000" spc="-50" dirty="0">
                <a:latin typeface="Verdana"/>
                <a:cs typeface="Verdana"/>
              </a:rPr>
              <a:t> </a:t>
            </a:r>
            <a:r>
              <a:rPr sz="3000" dirty="0">
                <a:latin typeface="Verdana"/>
                <a:cs typeface="Verdana"/>
              </a:rPr>
              <a:t>chậm</a:t>
            </a:r>
            <a:endParaRPr sz="30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6384519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77542" y="849123"/>
            <a:ext cx="6645909" cy="63563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Verdana"/>
                <a:cs typeface="Verdana"/>
              </a:rPr>
              <a:t>Tô</a:t>
            </a:r>
            <a:r>
              <a:rPr spc="-2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màu</a:t>
            </a:r>
            <a:r>
              <a:rPr spc="-1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theo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dòng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quét</a:t>
            </a:r>
            <a:endParaRPr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1752600"/>
            <a:ext cx="7924800" cy="4421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829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77541" y="880363"/>
            <a:ext cx="6847840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Hạn</a:t>
            </a:r>
            <a:r>
              <a:rPr sz="3800" spc="-2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chế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số</a:t>
            </a:r>
            <a:r>
              <a:rPr sz="3800" spc="-3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lượng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dòng</a:t>
            </a:r>
            <a:r>
              <a:rPr sz="3800" spc="-1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quét</a:t>
            </a:r>
            <a:endParaRPr sz="38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3605" y="1752600"/>
            <a:ext cx="6295644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8570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2190241" y="890473"/>
            <a:ext cx="2633980" cy="58674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spcBef>
                <a:spcPts val="15"/>
              </a:spcBef>
            </a:pPr>
            <a:r>
              <a:rPr sz="3800" spc="-10" dirty="0">
                <a:latin typeface="Verdana"/>
                <a:cs typeface="Verdana"/>
              </a:rPr>
              <a:t>Thuật</a:t>
            </a:r>
            <a:r>
              <a:rPr sz="3800" spc="-30" dirty="0">
                <a:latin typeface="Verdana"/>
                <a:cs typeface="Verdana"/>
              </a:rPr>
              <a:t> </a:t>
            </a:r>
            <a:r>
              <a:rPr sz="3800" spc="-10" dirty="0">
                <a:latin typeface="Verdana"/>
                <a:cs typeface="Verdana"/>
              </a:rPr>
              <a:t>toán</a:t>
            </a:r>
            <a:endParaRPr sz="38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070" y="0"/>
            <a:ext cx="5833110" cy="609295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764272" y="1012697"/>
            <a:ext cx="2794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45" dirty="0">
                <a:latin typeface="Verdana"/>
                <a:cs typeface="Verdana"/>
              </a:rPr>
              <a:t>ET-</a:t>
            </a:r>
            <a:r>
              <a:rPr spc="-3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Edge</a:t>
            </a:r>
            <a:r>
              <a:rPr spc="-2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table</a:t>
            </a:r>
            <a:endParaRPr>
              <a:latin typeface="Verdana"/>
              <a:cs typeface="Verdana"/>
            </a:endParaRPr>
          </a:p>
          <a:p>
            <a:pPr marL="12700"/>
            <a:r>
              <a:rPr dirty="0">
                <a:latin typeface="Verdana"/>
                <a:cs typeface="Verdana"/>
              </a:rPr>
              <a:t>AET</a:t>
            </a:r>
            <a:r>
              <a:rPr spc="-25" dirty="0">
                <a:latin typeface="Verdana"/>
                <a:cs typeface="Verdana"/>
              </a:rPr>
              <a:t> </a:t>
            </a:r>
            <a:r>
              <a:rPr dirty="0">
                <a:latin typeface="Verdana"/>
                <a:cs typeface="Verdana"/>
              </a:rPr>
              <a:t>–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Active</a:t>
            </a:r>
            <a:r>
              <a:rPr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Edge</a:t>
            </a:r>
            <a:r>
              <a:rPr spc="-10" dirty="0">
                <a:latin typeface="Verdana"/>
                <a:cs typeface="Verdana"/>
              </a:rPr>
              <a:t> </a:t>
            </a:r>
            <a:r>
              <a:rPr spc="-45" dirty="0">
                <a:latin typeface="Verdana"/>
                <a:cs typeface="Verdana"/>
              </a:rPr>
              <a:t>Table</a:t>
            </a:r>
            <a:endParaRPr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3044903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77542" y="880363"/>
            <a:ext cx="5658485" cy="60452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3800" spc="-5" dirty="0">
                <a:latin typeface="Verdana"/>
                <a:cs typeface="Verdana"/>
              </a:rPr>
              <a:t>Tô</a:t>
            </a:r>
            <a:r>
              <a:rPr sz="3800" spc="-20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màu theo</a:t>
            </a:r>
            <a:r>
              <a:rPr sz="3800" spc="-15" dirty="0">
                <a:latin typeface="Verdana"/>
                <a:cs typeface="Verdana"/>
              </a:rPr>
              <a:t> </a:t>
            </a:r>
            <a:r>
              <a:rPr sz="3800" spc="-5" dirty="0">
                <a:latin typeface="Verdana"/>
                <a:cs typeface="Verdana"/>
              </a:rPr>
              <a:t>vùng</a:t>
            </a:r>
            <a:r>
              <a:rPr sz="3800" spc="-10" dirty="0">
                <a:latin typeface="Verdana"/>
                <a:cs typeface="Verdana"/>
              </a:rPr>
              <a:t> biên</a:t>
            </a:r>
            <a:endParaRPr sz="38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018054" y="1828136"/>
            <a:ext cx="7993380" cy="4105910"/>
            <a:chOff x="539495" y="1988819"/>
            <a:chExt cx="7993380" cy="410591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3628" y="2060448"/>
              <a:ext cx="3889248" cy="403250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9495" y="1988819"/>
              <a:ext cx="3694176" cy="410565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043559" y="3716654"/>
              <a:ext cx="721360" cy="866140"/>
            </a:xfrm>
            <a:custGeom>
              <a:avLst/>
              <a:gdLst/>
              <a:ahLst/>
              <a:cxnLst/>
              <a:rect l="l" t="t" r="r" b="b"/>
              <a:pathLst>
                <a:path w="721360" h="866139">
                  <a:moveTo>
                    <a:pt x="288798" y="427228"/>
                  </a:moveTo>
                  <a:lnTo>
                    <a:pt x="76200" y="427228"/>
                  </a:lnTo>
                  <a:lnTo>
                    <a:pt x="76200" y="395478"/>
                  </a:lnTo>
                  <a:lnTo>
                    <a:pt x="0" y="433578"/>
                  </a:lnTo>
                  <a:lnTo>
                    <a:pt x="76200" y="471678"/>
                  </a:lnTo>
                  <a:lnTo>
                    <a:pt x="76200" y="439928"/>
                  </a:lnTo>
                  <a:lnTo>
                    <a:pt x="288798" y="439928"/>
                  </a:lnTo>
                  <a:lnTo>
                    <a:pt x="288798" y="427228"/>
                  </a:lnTo>
                  <a:close/>
                </a:path>
                <a:path w="721360" h="866139">
                  <a:moveTo>
                    <a:pt x="398526" y="789432"/>
                  </a:moveTo>
                  <a:lnTo>
                    <a:pt x="366776" y="789432"/>
                  </a:lnTo>
                  <a:lnTo>
                    <a:pt x="366776" y="506730"/>
                  </a:lnTo>
                  <a:lnTo>
                    <a:pt x="354076" y="506730"/>
                  </a:lnTo>
                  <a:lnTo>
                    <a:pt x="354076" y="789432"/>
                  </a:lnTo>
                  <a:lnTo>
                    <a:pt x="322326" y="789432"/>
                  </a:lnTo>
                  <a:lnTo>
                    <a:pt x="360426" y="865632"/>
                  </a:lnTo>
                  <a:lnTo>
                    <a:pt x="392176" y="802132"/>
                  </a:lnTo>
                  <a:lnTo>
                    <a:pt x="398526" y="789432"/>
                  </a:lnTo>
                  <a:close/>
                </a:path>
                <a:path w="721360" h="866139">
                  <a:moveTo>
                    <a:pt x="398526" y="76200"/>
                  </a:moveTo>
                  <a:lnTo>
                    <a:pt x="392176" y="63500"/>
                  </a:lnTo>
                  <a:lnTo>
                    <a:pt x="360426" y="0"/>
                  </a:lnTo>
                  <a:lnTo>
                    <a:pt x="322326" y="76200"/>
                  </a:lnTo>
                  <a:lnTo>
                    <a:pt x="354076" y="76200"/>
                  </a:lnTo>
                  <a:lnTo>
                    <a:pt x="354076" y="360426"/>
                  </a:lnTo>
                  <a:lnTo>
                    <a:pt x="366776" y="360426"/>
                  </a:lnTo>
                  <a:lnTo>
                    <a:pt x="366776" y="76200"/>
                  </a:lnTo>
                  <a:lnTo>
                    <a:pt x="398526" y="76200"/>
                  </a:lnTo>
                  <a:close/>
                </a:path>
                <a:path w="721360" h="866139">
                  <a:moveTo>
                    <a:pt x="720852" y="433578"/>
                  </a:moveTo>
                  <a:lnTo>
                    <a:pt x="708152" y="427228"/>
                  </a:lnTo>
                  <a:lnTo>
                    <a:pt x="644652" y="395478"/>
                  </a:lnTo>
                  <a:lnTo>
                    <a:pt x="644652" y="427228"/>
                  </a:lnTo>
                  <a:lnTo>
                    <a:pt x="433578" y="427228"/>
                  </a:lnTo>
                  <a:lnTo>
                    <a:pt x="433578" y="439928"/>
                  </a:lnTo>
                  <a:lnTo>
                    <a:pt x="644652" y="439928"/>
                  </a:lnTo>
                  <a:lnTo>
                    <a:pt x="644652" y="471678"/>
                  </a:lnTo>
                  <a:lnTo>
                    <a:pt x="708152" y="439928"/>
                  </a:lnTo>
                  <a:lnTo>
                    <a:pt x="720852" y="4335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15312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2169413" y="2071625"/>
            <a:ext cx="6965950" cy="3947491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spcBef>
                <a:spcPts val="350"/>
              </a:spcBef>
            </a:pPr>
            <a:r>
              <a:rPr sz="2100" dirty="0">
                <a:latin typeface="Verdana"/>
                <a:cs typeface="Verdana"/>
              </a:rPr>
              <a:t>void </a:t>
            </a:r>
            <a:r>
              <a:rPr sz="2100" spc="-5" dirty="0">
                <a:latin typeface="Verdana"/>
                <a:cs typeface="Verdana"/>
              </a:rPr>
              <a:t>floodFill4</a:t>
            </a:r>
            <a:r>
              <a:rPr sz="2100" spc="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(int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x,</a:t>
            </a:r>
            <a:r>
              <a:rPr sz="2100" spc="-5" dirty="0">
                <a:latin typeface="Verdana"/>
                <a:cs typeface="Verdana"/>
              </a:rPr>
              <a:t> int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y,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int fillColor,</a:t>
            </a:r>
            <a:r>
              <a:rPr sz="210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int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oldColor)</a:t>
            </a:r>
            <a:endParaRPr sz="2100">
              <a:latin typeface="Verdana"/>
              <a:cs typeface="Verdana"/>
            </a:endParaRPr>
          </a:p>
          <a:p>
            <a:pPr marL="12700">
              <a:spcBef>
                <a:spcPts val="250"/>
              </a:spcBef>
            </a:pPr>
            <a:r>
              <a:rPr sz="2100" dirty="0">
                <a:latin typeface="Verdana"/>
                <a:cs typeface="Verdana"/>
              </a:rPr>
              <a:t>{</a:t>
            </a:r>
            <a:endParaRPr sz="2100">
              <a:latin typeface="Verdana"/>
              <a:cs typeface="Verdana"/>
            </a:endParaRPr>
          </a:p>
          <a:p>
            <a:pPr marL="387350" marR="2381250" indent="-187960">
              <a:lnSpc>
                <a:spcPct val="110000"/>
              </a:lnSpc>
            </a:pPr>
            <a:r>
              <a:rPr sz="2100" spc="-5" dirty="0">
                <a:latin typeface="Verdana"/>
                <a:cs typeface="Verdana"/>
              </a:rPr>
              <a:t>if</a:t>
            </a:r>
            <a:r>
              <a:rPr sz="2100" spc="-2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(getPixel</a:t>
            </a:r>
            <a:r>
              <a:rPr sz="2100" spc="-2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(x,</a:t>
            </a:r>
            <a:r>
              <a:rPr sz="2100" spc="-2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y)</a:t>
            </a:r>
            <a:r>
              <a:rPr sz="2100" spc="-2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==</a:t>
            </a:r>
            <a:r>
              <a:rPr sz="2100" spc="-2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oldColor)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{ </a:t>
            </a:r>
            <a:r>
              <a:rPr sz="2100" spc="-72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setColor </a:t>
            </a:r>
            <a:r>
              <a:rPr sz="2100" spc="-10" dirty="0">
                <a:latin typeface="Verdana"/>
                <a:cs typeface="Verdana"/>
              </a:rPr>
              <a:t>(fillColor);</a:t>
            </a:r>
            <a:endParaRPr sz="2100">
              <a:latin typeface="Verdana"/>
              <a:cs typeface="Verdana"/>
            </a:endParaRPr>
          </a:p>
          <a:p>
            <a:pPr marL="387350">
              <a:spcBef>
                <a:spcPts val="254"/>
              </a:spcBef>
            </a:pPr>
            <a:r>
              <a:rPr sz="2100" spc="-5" dirty="0">
                <a:latin typeface="Verdana"/>
                <a:cs typeface="Verdana"/>
              </a:rPr>
              <a:t>setPixel</a:t>
            </a:r>
            <a:r>
              <a:rPr sz="2100" spc="-3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(x,</a:t>
            </a:r>
            <a:r>
              <a:rPr sz="2100" spc="-3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y);</a:t>
            </a:r>
            <a:endParaRPr sz="2100">
              <a:latin typeface="Verdana"/>
              <a:cs typeface="Verdana"/>
            </a:endParaRPr>
          </a:p>
          <a:p>
            <a:pPr marL="387350" marR="1530350">
              <a:lnSpc>
                <a:spcPct val="110000"/>
              </a:lnSpc>
            </a:pPr>
            <a:r>
              <a:rPr sz="2100" spc="-5" dirty="0">
                <a:latin typeface="Verdana"/>
                <a:cs typeface="Verdana"/>
              </a:rPr>
              <a:t>floodFill4</a:t>
            </a:r>
            <a:r>
              <a:rPr sz="2100" spc="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(x+1,</a:t>
            </a:r>
            <a:r>
              <a:rPr sz="2100" spc="-10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y,</a:t>
            </a:r>
            <a:r>
              <a:rPr sz="2100" spc="-5" dirty="0">
                <a:latin typeface="Verdana"/>
                <a:cs typeface="Verdana"/>
              </a:rPr>
              <a:t> fillColor,</a:t>
            </a:r>
            <a:r>
              <a:rPr sz="2100" spc="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oldColor); </a:t>
            </a:r>
            <a:r>
              <a:rPr sz="2100" spc="-72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floodFill4 (x-1, </a:t>
            </a:r>
            <a:r>
              <a:rPr sz="2100" dirty="0">
                <a:latin typeface="Verdana"/>
                <a:cs typeface="Verdana"/>
              </a:rPr>
              <a:t>y, </a:t>
            </a:r>
            <a:r>
              <a:rPr sz="2100" spc="-5" dirty="0">
                <a:latin typeface="Verdana"/>
                <a:cs typeface="Verdana"/>
              </a:rPr>
              <a:t>fillColor, oldColor); </a:t>
            </a:r>
            <a:r>
              <a:rPr sz="210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floodFill4</a:t>
            </a:r>
            <a:r>
              <a:rPr sz="2100" spc="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(x,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dirty="0">
                <a:latin typeface="Verdana"/>
                <a:cs typeface="Verdana"/>
              </a:rPr>
              <a:t>y+1,</a:t>
            </a:r>
            <a:r>
              <a:rPr sz="2100" spc="-5" dirty="0">
                <a:latin typeface="Verdana"/>
                <a:cs typeface="Verdana"/>
              </a:rPr>
              <a:t> fillColor,</a:t>
            </a:r>
            <a:r>
              <a:rPr sz="2100" spc="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oldColor); </a:t>
            </a:r>
            <a:r>
              <a:rPr sz="2100" spc="-720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floodFill4</a:t>
            </a:r>
            <a:r>
              <a:rPr sz="2100" spc="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(x,</a:t>
            </a:r>
            <a:r>
              <a:rPr sz="2100" spc="-1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y-1,</a:t>
            </a:r>
            <a:r>
              <a:rPr sz="2100" spc="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fillColor,</a:t>
            </a:r>
            <a:r>
              <a:rPr sz="2100" spc="5" dirty="0">
                <a:latin typeface="Verdana"/>
                <a:cs typeface="Verdana"/>
              </a:rPr>
              <a:t> </a:t>
            </a:r>
            <a:r>
              <a:rPr sz="2100" spc="-5" dirty="0">
                <a:latin typeface="Verdana"/>
                <a:cs typeface="Verdana"/>
              </a:rPr>
              <a:t>oldColor);</a:t>
            </a:r>
            <a:endParaRPr sz="2100">
              <a:latin typeface="Verdana"/>
              <a:cs typeface="Verdana"/>
            </a:endParaRPr>
          </a:p>
          <a:p>
            <a:pPr marL="200025">
              <a:spcBef>
                <a:spcPts val="254"/>
              </a:spcBef>
            </a:pPr>
            <a:r>
              <a:rPr sz="2100" dirty="0">
                <a:latin typeface="Verdana"/>
                <a:cs typeface="Verdana"/>
              </a:rPr>
              <a:t>}</a:t>
            </a:r>
            <a:endParaRPr sz="2100">
              <a:latin typeface="Verdana"/>
              <a:cs typeface="Verdana"/>
            </a:endParaRPr>
          </a:p>
          <a:p>
            <a:pPr marL="12700">
              <a:spcBef>
                <a:spcPts val="250"/>
              </a:spcBef>
            </a:pPr>
            <a:r>
              <a:rPr sz="2100" dirty="0">
                <a:latin typeface="Verdana"/>
                <a:cs typeface="Verdana"/>
              </a:rPr>
              <a:t>}</a:t>
            </a:r>
            <a:endParaRPr sz="21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1535938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937</TotalTime>
  <Words>1879</Words>
  <Application>Microsoft Office PowerPoint</Application>
  <PresentationFormat>Widescreen</PresentationFormat>
  <Paragraphs>174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Arial</vt:lpstr>
      <vt:lpstr>Calibri</vt:lpstr>
      <vt:lpstr>Constantia</vt:lpstr>
      <vt:lpstr>Corbel</vt:lpstr>
      <vt:lpstr>Microsoft Sans Serif</vt:lpstr>
      <vt:lpstr>Symbol</vt:lpstr>
      <vt:lpstr>Times New Roman</vt:lpstr>
      <vt:lpstr>Verdana</vt:lpstr>
      <vt:lpstr>Wingdings</vt:lpstr>
      <vt:lpstr>Parallax</vt:lpstr>
      <vt:lpstr>PowerPoint Presentation</vt:lpstr>
      <vt:lpstr>CHƯƠNG III. CÁC GIẢI THUẬT ĐỒ HỌA CƠ SỞ</vt:lpstr>
      <vt:lpstr>CÁC GIẢI THUẬT XÉN TỈA</vt:lpstr>
      <vt:lpstr>Xác định giao hai đường thẳng</vt:lpstr>
      <vt:lpstr>Xác định giao hai đoạn thẳng</vt:lpstr>
      <vt:lpstr>Thuật toán cắt xén đoạn thẳng</vt:lpstr>
      <vt:lpstr>Thuật toán Sutherland-Cohen</vt:lpstr>
      <vt:lpstr>Thuật toán Sutherland-Cohen</vt:lpstr>
      <vt:lpstr>Thuật toán chia nhỏ trung điểm</vt:lpstr>
      <vt:lpstr>Thuật toán Cyrus &amp; Beck</vt:lpstr>
      <vt:lpstr>PowerPoint Presentation</vt:lpstr>
      <vt:lpstr>PowerPoint Presentation</vt:lpstr>
      <vt:lpstr>Thuật toán cắt xén vùng</vt:lpstr>
      <vt:lpstr>Thuật toán cắt xén vùng</vt:lpstr>
      <vt:lpstr>Cắt xén vùng bằng đa giác</vt:lpstr>
      <vt:lpstr>Cắt xén vùng bằng đa giác</vt:lpstr>
      <vt:lpstr>Cắt xén vùng bằng đa giác</vt:lpstr>
      <vt:lpstr>GIẢI THUẬT TÔ MIỀN KÍN</vt:lpstr>
      <vt:lpstr>Các bước tô màu</vt:lpstr>
      <vt:lpstr>Các cách tô màu</vt:lpstr>
      <vt:lpstr>Tô màu theo từng điểm</vt:lpstr>
      <vt:lpstr>Xác định một điểm có nằm trong  đa giác</vt:lpstr>
      <vt:lpstr>Xác định một điểm có nằm trong  đa giác</vt:lpstr>
      <vt:lpstr>Xác định điểm trong đa giác</vt:lpstr>
      <vt:lpstr>Xác định một điểm có nằm trong  đa giác</vt:lpstr>
      <vt:lpstr>Nhận xét</vt:lpstr>
      <vt:lpstr>Tô màu theo dòng quét</vt:lpstr>
      <vt:lpstr>Hạn chế số lượng dòng quét</vt:lpstr>
      <vt:lpstr>PowerPoint Presentation</vt:lpstr>
      <vt:lpstr>Tô màu theo vùng biên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83</cp:revision>
  <dcterms:created xsi:type="dcterms:W3CDTF">2024-02-21T06:49:26Z</dcterms:created>
  <dcterms:modified xsi:type="dcterms:W3CDTF">2024-02-23T13:04:37Z</dcterms:modified>
</cp:coreProperties>
</file>