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80"/>
  </p:notesMasterIdLst>
  <p:sldIdLst>
    <p:sldId id="257" r:id="rId2"/>
    <p:sldId id="261" r:id="rId3"/>
    <p:sldId id="547" r:id="rId4"/>
    <p:sldId id="515" r:id="rId5"/>
    <p:sldId id="516" r:id="rId6"/>
    <p:sldId id="517" r:id="rId7"/>
    <p:sldId id="518" r:id="rId8"/>
    <p:sldId id="519" r:id="rId9"/>
    <p:sldId id="520" r:id="rId10"/>
    <p:sldId id="521" r:id="rId11"/>
    <p:sldId id="522" r:id="rId12"/>
    <p:sldId id="523" r:id="rId13"/>
    <p:sldId id="524" r:id="rId14"/>
    <p:sldId id="525" r:id="rId15"/>
    <p:sldId id="526" r:id="rId16"/>
    <p:sldId id="527" r:id="rId17"/>
    <p:sldId id="528" r:id="rId18"/>
    <p:sldId id="529" r:id="rId19"/>
    <p:sldId id="530" r:id="rId20"/>
    <p:sldId id="531" r:id="rId21"/>
    <p:sldId id="532" r:id="rId22"/>
    <p:sldId id="533" r:id="rId23"/>
    <p:sldId id="534" r:id="rId24"/>
    <p:sldId id="535" r:id="rId25"/>
    <p:sldId id="536" r:id="rId26"/>
    <p:sldId id="537" r:id="rId27"/>
    <p:sldId id="538" r:id="rId28"/>
    <p:sldId id="539" r:id="rId29"/>
    <p:sldId id="540" r:id="rId30"/>
    <p:sldId id="541" r:id="rId31"/>
    <p:sldId id="542" r:id="rId32"/>
    <p:sldId id="543" r:id="rId33"/>
    <p:sldId id="544" r:id="rId34"/>
    <p:sldId id="545" r:id="rId35"/>
    <p:sldId id="546" r:id="rId36"/>
    <p:sldId id="548" r:id="rId37"/>
    <p:sldId id="550" r:id="rId38"/>
    <p:sldId id="551" r:id="rId39"/>
    <p:sldId id="552" r:id="rId40"/>
    <p:sldId id="553" r:id="rId41"/>
    <p:sldId id="554" r:id="rId42"/>
    <p:sldId id="555" r:id="rId43"/>
    <p:sldId id="556" r:id="rId44"/>
    <p:sldId id="557" r:id="rId45"/>
    <p:sldId id="558" r:id="rId46"/>
    <p:sldId id="559" r:id="rId47"/>
    <p:sldId id="560" r:id="rId48"/>
    <p:sldId id="561" r:id="rId49"/>
    <p:sldId id="562" r:id="rId50"/>
    <p:sldId id="563" r:id="rId51"/>
    <p:sldId id="564" r:id="rId52"/>
    <p:sldId id="565" r:id="rId53"/>
    <p:sldId id="566" r:id="rId54"/>
    <p:sldId id="567" r:id="rId55"/>
    <p:sldId id="568" r:id="rId56"/>
    <p:sldId id="569" r:id="rId57"/>
    <p:sldId id="570" r:id="rId58"/>
    <p:sldId id="571" r:id="rId59"/>
    <p:sldId id="572" r:id="rId60"/>
    <p:sldId id="573" r:id="rId61"/>
    <p:sldId id="574" r:id="rId62"/>
    <p:sldId id="575" r:id="rId63"/>
    <p:sldId id="576" r:id="rId64"/>
    <p:sldId id="577" r:id="rId65"/>
    <p:sldId id="578" r:id="rId66"/>
    <p:sldId id="579" r:id="rId67"/>
    <p:sldId id="580" r:id="rId68"/>
    <p:sldId id="581" r:id="rId69"/>
    <p:sldId id="582" r:id="rId70"/>
    <p:sldId id="583" r:id="rId71"/>
    <p:sldId id="584" r:id="rId72"/>
    <p:sldId id="585" r:id="rId73"/>
    <p:sldId id="586" r:id="rId74"/>
    <p:sldId id="588" r:id="rId75"/>
    <p:sldId id="589" r:id="rId76"/>
    <p:sldId id="590" r:id="rId77"/>
    <p:sldId id="591" r:id="rId78"/>
    <p:sldId id="592" r:id="rId7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5580" autoAdjust="0"/>
    <p:restoredTop sz="94660"/>
  </p:normalViewPr>
  <p:slideViewPr>
    <p:cSldViewPr snapToGrid="0">
      <p:cViewPr varScale="1">
        <p:scale>
          <a:sx n="72" d="100"/>
          <a:sy n="72" d="100"/>
        </p:scale>
        <p:origin x="82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D1BEA3-C1B4-4F81-B774-56CF4F6F2B3D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E357F2-8A00-477D-A2A6-A064B5B7C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60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8C208-A8CA-451B-A617-AAF7EEB23970}" type="datetime1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183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01C9C-A7E5-475D-A82B-8F25EA51ED4D}" type="datetime1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373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1B79A-A846-4CD3-BE07-F51E079F343C}" type="datetime1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731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1AA92-3A27-4044-A846-F0B22DEAA556}" type="datetime1">
              <a:rPr lang="en-US" smtClean="0"/>
              <a:t>23/02/2024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578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F91D6-46FC-4241-A052-368ED6A1E775}" type="datetime1">
              <a:rPr lang="en-US" smtClean="0"/>
              <a:t>23/02/2024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676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01821-D8BA-4A33-9127-E646FBBCFD34}" type="datetime1">
              <a:rPr lang="en-US" smtClean="0"/>
              <a:t>23/02/2024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895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E7A59-681B-490F-949F-06E03EB51531}" type="datetime1">
              <a:rPr lang="en-US" smtClean="0"/>
              <a:t>23/02/2024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310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920-196B-49B0-84DC-EDB18744D998}" type="datetime1">
              <a:rPr lang="en-US" smtClean="0"/>
              <a:t>23/02/2024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827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57103-E9CB-4520-B4BD-6D945AE49AB8}" type="datetime1">
              <a:rPr lang="en-US" smtClean="0"/>
              <a:t>23/02/2024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338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2751C-5A31-438E-8F8E-D5F39376FE65}" type="datetime1">
              <a:rPr lang="en-US" smtClean="0"/>
              <a:t>23/02/2024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74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03AE-3FD7-43CC-A20C-C840BD270F9A}" type="datetime1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355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404F9-720C-433F-93FA-DA11CC9BBA02}" type="datetime1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8156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7D743-5AFC-4A6A-8528-6F12E7BE8A5F}" type="datetime1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5074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11653-EE83-4B83-963D-42E5EBB0AD17}" type="datetime1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6332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8AEDA-B8F2-4875-B671-7E9BA9C0AFE3}" type="datetime1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5302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4E46D-EC3D-4C29-A7B3-B747B6D81963}" type="datetime1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1699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26199-BE4D-4E59-A68B-DE0A96FC2810}" type="datetime1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521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FF702E00-3C8C-4895-ADA0-51EA1140C44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0609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45FA6F9-EFE2-4FB9-924B-C34FD8F233ED}" type="datetime1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317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9.png"/><Relationship Id="rId4" Type="http://schemas.openxmlformats.org/officeDocument/2006/relationships/image" Target="../media/image8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1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0.png"/><Relationship Id="rId4" Type="http://schemas.openxmlformats.org/officeDocument/2006/relationships/image" Target="../media/image19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45390" y="2673921"/>
            <a:ext cx="6773956" cy="1063579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25774" algn="ctr"/>
            <a:r>
              <a:rPr lang="en-US" sz="3530" b="1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KỸ THUẬT </a:t>
            </a:r>
            <a:r>
              <a:rPr sz="3530" b="1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ĐỒ</a:t>
            </a:r>
            <a:r>
              <a:rPr sz="3530" b="1" spc="-4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sz="3530" b="1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HỌA</a:t>
            </a:r>
            <a:r>
              <a:rPr sz="3530" b="1" spc="-13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sz="3530" b="1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MÁY</a:t>
            </a:r>
            <a:r>
              <a:rPr sz="3530" b="1" spc="-22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sz="3530" b="1" spc="-18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TÍNH</a:t>
            </a:r>
            <a:endParaRPr sz="3530" b="1" dirty="0">
              <a:solidFill>
                <a:schemeClr val="accent1">
                  <a:lumMod val="50000"/>
                </a:schemeClr>
              </a:solidFill>
              <a:latin typeface="Arial"/>
              <a:cs typeface="Arial"/>
            </a:endParaRPr>
          </a:p>
          <a:p>
            <a:pPr algn="ctr">
              <a:spcBef>
                <a:spcPts val="1006"/>
              </a:spcBef>
            </a:pPr>
            <a:r>
              <a:rPr lang="en-US" sz="2471" b="1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(3TC)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35366" y="4332263"/>
            <a:ext cx="3103735" cy="1558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88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GV: 	</a:t>
            </a:r>
            <a:r>
              <a:rPr lang="en-US" sz="1588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Ngô</a:t>
            </a:r>
            <a:r>
              <a:rPr lang="en-US" sz="1588" b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Thùy Giang</a:t>
            </a:r>
          </a:p>
          <a:p>
            <a:pPr>
              <a:lnSpc>
                <a:spcPct val="150000"/>
              </a:lnSpc>
            </a:pPr>
            <a:r>
              <a:rPr lang="en-US" sz="1588" b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Khoa: 	Công nghệ thông tin</a:t>
            </a:r>
          </a:p>
          <a:p>
            <a:pPr>
              <a:lnSpc>
                <a:spcPct val="150000"/>
              </a:lnSpc>
            </a:pPr>
            <a:r>
              <a:rPr lang="en-US" sz="1588" b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SĐT: 	</a:t>
            </a:r>
            <a:r>
              <a:rPr lang="en-US" sz="1588" b="1" smtClean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0979.357.190</a:t>
            </a:r>
          </a:p>
          <a:p>
            <a:pPr>
              <a:lnSpc>
                <a:spcPct val="150000"/>
              </a:lnSpc>
            </a:pPr>
            <a:r>
              <a:rPr lang="en-US" sz="1588" b="1" smtClean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Email:giangnt@eaut.edu.vn</a:t>
            </a:r>
            <a:endParaRPr lang="en-US" sz="1588" b="1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428" y="648853"/>
            <a:ext cx="1900925" cy="1900925"/>
          </a:xfrm>
          <a:prstGeom prst="rect">
            <a:avLst/>
          </a:prstGeom>
        </p:spPr>
      </p:pic>
      <p:sp>
        <p:nvSpPr>
          <p:cNvPr id="6" name="object 2"/>
          <p:cNvSpPr txBox="1"/>
          <p:nvPr/>
        </p:nvSpPr>
        <p:spPr>
          <a:xfrm>
            <a:off x="3256226" y="1251791"/>
            <a:ext cx="6773956" cy="381213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25774" algn="ctr"/>
            <a:r>
              <a:rPr lang="en-US" sz="2400" b="1" smtClean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TRƯỜNG ĐẠI HỌC CÔNG NGHỆ ĐÔNG Á</a:t>
            </a:r>
            <a:endParaRPr lang="en-US" sz="2400" b="1">
              <a:solidFill>
                <a:schemeClr val="accent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921163" y="2341706"/>
            <a:ext cx="8820727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>
              <a:solidFill>
                <a:schemeClr val="accent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>
                <a:solidFill>
                  <a:schemeClr val="accent1">
                    <a:lumMod val="50000"/>
                  </a:schemeClr>
                </a:solidFill>
                <a:latin typeface="Constantia" panose="02030602050306030303" pitchFamily="18" charset="0"/>
              </a:rPr>
              <a:t>CHƯƠNG </a:t>
            </a:r>
            <a:r>
              <a:rPr lang="en-US" sz="4400" b="1" smtClean="0">
                <a:solidFill>
                  <a:schemeClr val="accent1">
                    <a:lumMod val="50000"/>
                  </a:schemeClr>
                </a:solidFill>
                <a:latin typeface="Constantia" panose="02030602050306030303" pitchFamily="18" charset="0"/>
              </a:rPr>
              <a:t>IV. </a:t>
            </a:r>
            <a:br>
              <a:rPr lang="en-US" sz="4400" b="1" smtClean="0">
                <a:solidFill>
                  <a:schemeClr val="accent1">
                    <a:lumMod val="50000"/>
                  </a:schemeClr>
                </a:solidFill>
                <a:latin typeface="Constantia" panose="02030602050306030303" pitchFamily="18" charset="0"/>
              </a:rPr>
            </a:br>
            <a:r>
              <a:rPr lang="en-US" sz="4400" b="1" smtClean="0">
                <a:solidFill>
                  <a:schemeClr val="accent1">
                    <a:lumMod val="50000"/>
                  </a:schemeClr>
                </a:solidFill>
                <a:latin typeface="Constantia" panose="02030602050306030303" pitchFamily="18" charset="0"/>
              </a:rPr>
              <a:t>CÁC PHÉP BIẾN ĐỔI ĐỒ HỌA</a:t>
            </a:r>
            <a:endParaRPr lang="en-US" sz="440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494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921163" y="2341706"/>
            <a:ext cx="8820727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>
              <a:solidFill>
                <a:schemeClr val="accent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4400" b="1" smtClean="0">
                <a:latin typeface="Arial" panose="020B0604020202020204" pitchFamily="34" charset="0"/>
              </a:rPr>
              <a:t>CÁC </a:t>
            </a:r>
            <a:r>
              <a:rPr lang="en-US" altLang="en-US" sz="4400" b="1">
                <a:latin typeface="Arial" panose="020B0604020202020204" pitchFamily="34" charset="0"/>
              </a:rPr>
              <a:t>PHÉP BIẾN </a:t>
            </a:r>
            <a:r>
              <a:rPr lang="en-US" altLang="en-US" sz="4400" b="1">
                <a:latin typeface="Arial" panose="020B0604020202020204" pitchFamily="34" charset="0"/>
              </a:rPr>
              <a:t>ĐỔI </a:t>
            </a:r>
            <a:r>
              <a:rPr lang="en-US" altLang="en-US" sz="4400" b="1" smtClean="0">
                <a:latin typeface="Arial" panose="020B0604020202020204" pitchFamily="34" charset="0"/>
              </a:rPr>
              <a:t/>
            </a:r>
            <a:br>
              <a:rPr lang="en-US" altLang="en-US" sz="4400" b="1" smtClean="0">
                <a:latin typeface="Arial" panose="020B0604020202020204" pitchFamily="34" charset="0"/>
              </a:rPr>
            </a:br>
            <a:r>
              <a:rPr lang="en-US" altLang="en-US" sz="4400" b="1" smtClean="0">
                <a:latin typeface="Arial" panose="020B0604020202020204" pitchFamily="34" charset="0"/>
              </a:rPr>
              <a:t>CƠ </a:t>
            </a:r>
            <a:r>
              <a:rPr lang="en-US" altLang="en-US" sz="4400" b="1">
                <a:latin typeface="Arial" panose="020B0604020202020204" pitchFamily="34" charset="0"/>
              </a:rPr>
              <a:t>BẢN</a:t>
            </a:r>
            <a:endParaRPr lang="en-US" altLang="en-US" sz="4400" b="1">
              <a:latin typeface="Arial" panose="020B0604020202020204" pitchFamily="34" charset="0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69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6943-EB36-48C0-A202-AD67C67709AB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424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panose="020B0604020202020204" pitchFamily="34" charset="0"/>
              </a:rPr>
              <a:t>4.1.1</a:t>
            </a:r>
            <a:r>
              <a:rPr lang="en-US" altLang="en-US">
                <a:latin typeface="Arial" panose="020B0604020202020204" pitchFamily="34" charset="0"/>
              </a:rPr>
              <a:t>. Các phép biến đổi cơ bản</a:t>
            </a:r>
          </a:p>
        </p:txBody>
      </p:sp>
      <p:sp>
        <p:nvSpPr>
          <p:cNvPr id="424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Biến đổi tuyến tính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Các đường thẳng giữ nguyên là đường thẳng</a:t>
            </a:r>
          </a:p>
          <a:p>
            <a:r>
              <a:rPr lang="en-US" altLang="en-US">
                <a:latin typeface="Arial" panose="020B0604020202020204" pitchFamily="34" charset="0"/>
              </a:rPr>
              <a:t>Biến đổi Affine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Các đường thẳng song song giữ nguyên song song</a:t>
            </a:r>
          </a:p>
          <a:p>
            <a:r>
              <a:rPr lang="en-US" altLang="en-US">
                <a:latin typeface="Arial" panose="020B0604020202020204" pitchFamily="34" charset="0"/>
              </a:rPr>
              <a:t>Biến đổi trực giao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Bảo toàn khoảng cách, dịch chuyển đối tượng như khối rắn</a:t>
            </a:r>
          </a:p>
        </p:txBody>
      </p:sp>
    </p:spTree>
    <p:extLst>
      <p:ext uri="{BB962C8B-B14F-4D97-AF65-F5344CB8AC3E}">
        <p14:creationId xmlns:p14="http://schemas.microsoft.com/office/powerpoint/2010/main" val="3346912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80AA-884B-449E-86E0-00A831F3058E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652301" name="Rectangle 1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 smtClean="0">
                <a:latin typeface="Arial" panose="020B0604020202020204" pitchFamily="34" charset="0"/>
              </a:rPr>
              <a:t>4.1.1</a:t>
            </a:r>
            <a:r>
              <a:rPr lang="en-US" altLang="en-US">
                <a:latin typeface="Arial" panose="020B0604020202020204" pitchFamily="34" charset="0"/>
              </a:rPr>
              <a:t>. Các phép biến đổi cơ bản</a:t>
            </a:r>
          </a:p>
        </p:txBody>
      </p:sp>
      <p:sp>
        <p:nvSpPr>
          <p:cNvPr id="652302" name="Rectangle 14"/>
          <p:cNvSpPr>
            <a:spLocks noGrp="1" noChangeArrowheads="1"/>
          </p:cNvSpPr>
          <p:nvPr>
            <p:ph type="body" idx="1"/>
          </p:nvPr>
        </p:nvSpPr>
        <p:spPr>
          <a:xfrm>
            <a:off x="1726018" y="419987"/>
            <a:ext cx="8229600" cy="4530725"/>
          </a:xfrm>
          <a:noFill/>
          <a:ln/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Xoay, dịch chuyển, phản chiếu là affine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Bất kỳ biến đổi affine nào cũng có thể viết như sau</a:t>
            </a:r>
          </a:p>
        </p:txBody>
      </p:sp>
      <p:graphicFrame>
        <p:nvGraphicFramePr>
          <p:cNvPr id="652303" name="Object 15"/>
          <p:cNvGraphicFramePr>
            <a:graphicFrameLocks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88222141"/>
              </p:ext>
            </p:extLst>
          </p:nvPr>
        </p:nvGraphicFramePr>
        <p:xfrm>
          <a:off x="2540000" y="3292918"/>
          <a:ext cx="7620000" cy="230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Equation" r:id="rId3" imgW="2184120" imgH="660240" progId="Equation.3">
                  <p:embed/>
                </p:oleObj>
              </mc:Choice>
              <mc:Fallback>
                <p:oleObj name="Equation" r:id="rId3" imgW="2184120" imgH="660240" progId="Equation.3">
                  <p:embed/>
                  <p:pic>
                    <p:nvPicPr>
                      <p:cNvPr id="65230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0" y="3292918"/>
                        <a:ext cx="7620000" cy="230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59008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51F92-5887-4E8E-B967-0449CF428EF0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655368" name="Rectangle 8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 smtClean="0">
                <a:latin typeface="Arial" panose="020B0604020202020204" pitchFamily="34" charset="0"/>
              </a:rPr>
              <a:t>4.1.1</a:t>
            </a:r>
            <a:r>
              <a:rPr lang="en-US" altLang="en-US">
                <a:latin typeface="Arial" panose="020B0604020202020204" pitchFamily="34" charset="0"/>
              </a:rPr>
              <a:t>. Các phép biến đổi cơ bản</a:t>
            </a:r>
          </a:p>
        </p:txBody>
      </p:sp>
      <p:sp>
        <p:nvSpPr>
          <p:cNvPr id="655369" name="Rectangle 9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altLang="en-US">
                <a:latin typeface="Arial" panose="020B0604020202020204" pitchFamily="34" charset="0"/>
              </a:rPr>
              <a:t>Tịnh tiến (translation)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		x’ = x+Tx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 		y’ </a:t>
            </a:r>
            <a:r>
              <a:rPr lang="en-US" altLang="en-US">
                <a:latin typeface="Arial" panose="020B0604020202020204" pitchFamily="34" charset="0"/>
              </a:rPr>
              <a:t>= </a:t>
            </a:r>
            <a:r>
              <a:rPr lang="en-US" altLang="en-US" smtClean="0">
                <a:latin typeface="Arial" panose="020B0604020202020204" pitchFamily="34" charset="0"/>
              </a:rPr>
              <a:t>y+Ty</a:t>
            </a:r>
            <a:endParaRPr lang="en-US" altLang="en-US">
              <a:latin typeface="Arial" panose="020B0604020202020204" pitchFamily="34" charset="0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		(Tx, Ty) là vecto tịnh tiến</a:t>
            </a:r>
          </a:p>
          <a:p>
            <a:pPr lvl="1">
              <a:lnSpc>
                <a:spcPct val="110000"/>
              </a:lnSpc>
            </a:pPr>
            <a:r>
              <a:rPr lang="en-US" altLang="en-US">
                <a:latin typeface="Arial" panose="020B0604020202020204" pitchFamily="34" charset="0"/>
              </a:rPr>
              <a:t>Định nghĩa: 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		</a:t>
            </a:r>
            <a:r>
              <a:rPr lang="en-US" altLang="en-US" sz="2800">
                <a:latin typeface="Arial" panose="020B0604020202020204" pitchFamily="34" charset="0"/>
              </a:rPr>
              <a:t>P=[x  y], P’=[x’  y’], T=[Tx  Ty]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		[x’  y’] = [x  y] + [Tx  Ty]</a:t>
            </a:r>
          </a:p>
        </p:txBody>
      </p:sp>
      <p:sp>
        <p:nvSpPr>
          <p:cNvPr id="655371" name="AutoShape 11"/>
          <p:cNvSpPr>
            <a:spLocks/>
          </p:cNvSpPr>
          <p:nvPr/>
        </p:nvSpPr>
        <p:spPr bwMode="auto">
          <a:xfrm>
            <a:off x="1841204" y="3055835"/>
            <a:ext cx="152400" cy="990600"/>
          </a:xfrm>
          <a:prstGeom prst="leftBrace">
            <a:avLst>
              <a:gd name="adj1" fmla="val 541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655372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3239" y="2781300"/>
            <a:ext cx="3124200" cy="226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2258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22A6E-B56A-4882-85C2-606118AAEAFE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654340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 smtClean="0">
                <a:latin typeface="Arial" panose="020B0604020202020204" pitchFamily="34" charset="0"/>
              </a:rPr>
              <a:t>4.1.1</a:t>
            </a:r>
            <a:r>
              <a:rPr lang="en-US" altLang="en-US">
                <a:latin typeface="Arial" panose="020B0604020202020204" pitchFamily="34" charset="0"/>
              </a:rPr>
              <a:t>. Các phép biến đổi cơ bản</a:t>
            </a:r>
          </a:p>
        </p:txBody>
      </p:sp>
      <p:sp>
        <p:nvSpPr>
          <p:cNvPr id="654341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600201"/>
            <a:ext cx="8305800" cy="4530725"/>
          </a:xfrm>
          <a:noFill/>
          <a:ln/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>
                <a:latin typeface="Arial" panose="020B0604020202020204" pitchFamily="34" charset="0"/>
              </a:rPr>
              <a:t>Co dãn (scaling)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</a:rPr>
              <a:t>		x’=x.Sx		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</a:rPr>
              <a:t>		y’=y.Sy		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</a:rPr>
              <a:t>Sx là hệ số co dãn chiều x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Arial" panose="020B0604020202020204" pitchFamily="34" charset="0"/>
              </a:rPr>
              <a:t>Sy là hệ số co dãn chiều y.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en-US" altLang="en-US" sz="2800">
              <a:latin typeface="Arial" panose="020B0604020202020204" pitchFamily="34" charset="0"/>
            </a:endParaRPr>
          </a:p>
        </p:txBody>
      </p:sp>
      <p:sp>
        <p:nvSpPr>
          <p:cNvPr id="654344" name="AutoShape 8"/>
          <p:cNvSpPr>
            <a:spLocks/>
          </p:cNvSpPr>
          <p:nvPr/>
        </p:nvSpPr>
        <p:spPr bwMode="auto">
          <a:xfrm>
            <a:off x="2723707" y="2783958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54345" name="Object 9"/>
          <p:cNvGraphicFramePr>
            <a:graphicFrameLocks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11505220"/>
              </p:ext>
            </p:extLst>
          </p:nvPr>
        </p:nvGraphicFramePr>
        <p:xfrm>
          <a:off x="4316818" y="4949825"/>
          <a:ext cx="4343400" cy="136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Equation" r:id="rId3" imgW="1536480" imgH="482400" progId="Equation.3">
                  <p:embed/>
                </p:oleObj>
              </mc:Choice>
              <mc:Fallback>
                <p:oleObj name="Equation" r:id="rId3" imgW="1536480" imgH="482400" progId="Equation.3">
                  <p:embed/>
                  <p:pic>
                    <p:nvPicPr>
                      <p:cNvPr id="65434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6818" y="4949825"/>
                        <a:ext cx="4343400" cy="1363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72759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56E25-AAF1-4FFE-96E1-9BE347B26669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653316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 smtClean="0">
                <a:latin typeface="Arial" panose="020B0604020202020204" pitchFamily="34" charset="0"/>
              </a:rPr>
              <a:t>4.1.1</a:t>
            </a:r>
            <a:r>
              <a:rPr lang="en-US" altLang="en-US">
                <a:latin typeface="Arial" panose="020B0604020202020204" pitchFamily="34" charset="0"/>
              </a:rPr>
              <a:t>. Các phép biến đổi cơ bản</a:t>
            </a:r>
          </a:p>
        </p:txBody>
      </p:sp>
      <p:sp>
        <p:nvSpPr>
          <p:cNvPr id="653317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600201"/>
            <a:ext cx="8305800" cy="4530725"/>
          </a:xfrm>
          <a:noFill/>
          <a:ln/>
        </p:spPr>
        <p:txBody>
          <a:bodyPr/>
          <a:lstStyle/>
          <a:p>
            <a:r>
              <a:rPr lang="en-US" altLang="en-US"/>
              <a:t>Quay hình (Rotation)</a:t>
            </a:r>
          </a:p>
        </p:txBody>
      </p:sp>
      <p:pic>
        <p:nvPicPr>
          <p:cNvPr id="653322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057400"/>
            <a:ext cx="8305800" cy="405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53323" name="AutoShape 11"/>
          <p:cNvSpPr>
            <a:spLocks/>
          </p:cNvSpPr>
          <p:nvPr/>
        </p:nvSpPr>
        <p:spPr bwMode="auto">
          <a:xfrm>
            <a:off x="2133600" y="2133600"/>
            <a:ext cx="76200" cy="838200"/>
          </a:xfrm>
          <a:prstGeom prst="leftBrace">
            <a:avLst>
              <a:gd name="adj1" fmla="val 9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3324" name="AutoShape 12"/>
          <p:cNvSpPr>
            <a:spLocks/>
          </p:cNvSpPr>
          <p:nvPr/>
        </p:nvSpPr>
        <p:spPr bwMode="auto">
          <a:xfrm>
            <a:off x="2362200" y="4191000"/>
            <a:ext cx="76200" cy="838200"/>
          </a:xfrm>
          <a:prstGeom prst="leftBrace">
            <a:avLst>
              <a:gd name="adj1" fmla="val 9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836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D2007-A83A-4603-97A3-CEBA135BA93D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662532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 smtClean="0">
                <a:latin typeface="Arial" panose="020B0604020202020204" pitchFamily="34" charset="0"/>
              </a:rPr>
              <a:t>4.1.2</a:t>
            </a:r>
            <a:r>
              <a:rPr lang="en-US" altLang="en-US">
                <a:latin typeface="Arial" panose="020B0604020202020204" pitchFamily="34" charset="0"/>
              </a:rPr>
              <a:t>. Hệ tọa độ thuần nhất</a:t>
            </a:r>
          </a:p>
        </p:txBody>
      </p:sp>
      <p:sp>
        <p:nvSpPr>
          <p:cNvPr id="662533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600201"/>
            <a:ext cx="8305800" cy="4530725"/>
          </a:xfrm>
          <a:noFill/>
          <a:ln/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en-US">
                <a:latin typeface="Arial" panose="020B0604020202020204" pitchFamily="34" charset="0"/>
              </a:rPr>
              <a:t>Các biến đổi cơ sở có cách xử lý khác nhau</a:t>
            </a:r>
          </a:p>
          <a:p>
            <a:pPr lvl="1">
              <a:lnSpc>
                <a:spcPct val="120000"/>
              </a:lnSpc>
            </a:pPr>
            <a:r>
              <a:rPr lang="en-US" altLang="en-US">
                <a:latin typeface="Arial" panose="020B0604020202020204" pitchFamily="34" charset="0"/>
              </a:rPr>
              <a:t>P’=P + T (tịnh tiến); P’ = P.S (co dãn); P’ = P.R (xoay)</a:t>
            </a:r>
          </a:p>
          <a:p>
            <a:pPr>
              <a:lnSpc>
                <a:spcPct val="120000"/>
              </a:lnSpc>
            </a:pPr>
            <a:r>
              <a:rPr lang="en-US" altLang="en-US">
                <a:latin typeface="Arial" panose="020B0604020202020204" pitchFamily="34" charset="0"/>
              </a:rPr>
              <a:t>Thực tế: Nhu cầu tổ hợp các chuyển đổi cơ sở</a:t>
            </a:r>
          </a:p>
          <a:p>
            <a:pPr lvl="1">
              <a:lnSpc>
                <a:spcPct val="120000"/>
              </a:lnSpc>
            </a:pPr>
            <a:r>
              <a:rPr lang="en-US" altLang="en-US">
                <a:latin typeface="Arial" panose="020B0604020202020204" pitchFamily="34" charset="0"/>
              </a:rPr>
              <a:t>Cần cách xử lý nhất quán để dễ dàng tổ hợp</a:t>
            </a:r>
          </a:p>
          <a:p>
            <a:pPr lvl="1">
              <a:lnSpc>
                <a:spcPct val="120000"/>
              </a:lnSpc>
            </a:pPr>
            <a:r>
              <a:rPr lang="en-US" altLang="en-US">
                <a:latin typeface="Arial" panose="020B0604020202020204" pitchFamily="34" charset="0"/>
              </a:rPr>
              <a:t>Sử dụng hệ thống tọa độ thuần nhất (Homogeneous Coordinates)</a:t>
            </a:r>
          </a:p>
        </p:txBody>
      </p:sp>
    </p:spTree>
    <p:extLst>
      <p:ext uri="{BB962C8B-B14F-4D97-AF65-F5344CB8AC3E}">
        <p14:creationId xmlns:p14="http://schemas.microsoft.com/office/powerpoint/2010/main" val="2410551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D9BA5-0584-454B-BD3E-C3700D88543C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661508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 smtClean="0">
                <a:latin typeface="Arial" panose="020B0604020202020204" pitchFamily="34" charset="0"/>
              </a:rPr>
              <a:t>4.1.2</a:t>
            </a:r>
            <a:r>
              <a:rPr lang="en-US" altLang="en-US">
                <a:latin typeface="Arial" panose="020B0604020202020204" pitchFamily="34" charset="0"/>
              </a:rPr>
              <a:t>. Hệ tọa độ thuần nhất</a:t>
            </a:r>
          </a:p>
        </p:txBody>
      </p:sp>
      <p:sp>
        <p:nvSpPr>
          <p:cNvPr id="661509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600201"/>
            <a:ext cx="8305800" cy="4530725"/>
          </a:xfrm>
          <a:noFill/>
          <a:ln/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en-US">
                <a:latin typeface="Arial" panose="020B0604020202020204" pitchFamily="34" charset="0"/>
              </a:rPr>
              <a:t>Mục tiêu ban đầu của hệ tọa độ thuần nhất là để biểu diễn khái niệm vô hạn</a:t>
            </a:r>
          </a:p>
          <a:p>
            <a:pPr lvl="1">
              <a:lnSpc>
                <a:spcPct val="120000"/>
              </a:lnSpc>
            </a:pPr>
            <a:r>
              <a:rPr lang="en-US" altLang="en-US">
                <a:latin typeface="Arial" panose="020B0604020202020204" pitchFamily="34" charset="0"/>
              </a:rPr>
              <a:t>Không thể biểu diễn giá trị vô hạn trong hệ tọa độ Đề các</a:t>
            </a:r>
          </a:p>
          <a:p>
            <a:pPr lvl="1">
              <a:lnSpc>
                <a:spcPct val="120000"/>
              </a:lnSpc>
            </a:pPr>
            <a:r>
              <a:rPr lang="en-US" altLang="en-US">
                <a:latin typeface="Arial" panose="020B0604020202020204" pitchFamily="34" charset="0"/>
              </a:rPr>
              <a:t>Giả sử với hai số thực w và a</a:t>
            </a:r>
          </a:p>
          <a:p>
            <a:pPr lvl="2">
              <a:lnSpc>
                <a:spcPct val="120000"/>
              </a:lnSpc>
            </a:pPr>
            <a:r>
              <a:rPr lang="en-US" altLang="en-US">
                <a:latin typeface="Arial" panose="020B0604020202020204" pitchFamily="34" charset="0"/>
              </a:rPr>
              <a:t>Giá trị vô hạn được biểu diễn bởi v=a/w</a:t>
            </a:r>
          </a:p>
          <a:p>
            <a:pPr lvl="2">
              <a:lnSpc>
                <a:spcPct val="120000"/>
              </a:lnSpc>
            </a:pPr>
            <a:r>
              <a:rPr lang="en-US" altLang="en-US">
                <a:latin typeface="Arial" panose="020B0604020202020204" pitchFamily="34" charset="0"/>
              </a:rPr>
              <a:t>Khi w-&gt;0 thì a/w tiến tới vô hạn: cặp (a, w) biểu diễn khái niệm vô hạn; cặp (a, 0) biểu diễn giá trị vô hạn.</a:t>
            </a:r>
          </a:p>
        </p:txBody>
      </p:sp>
    </p:spTree>
    <p:extLst>
      <p:ext uri="{BB962C8B-B14F-4D97-AF65-F5344CB8AC3E}">
        <p14:creationId xmlns:p14="http://schemas.microsoft.com/office/powerpoint/2010/main" val="3949392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31931-D701-4C58-8FD8-2ED3E6B54001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660484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 smtClean="0">
                <a:latin typeface="Arial" panose="020B0604020202020204" pitchFamily="34" charset="0"/>
              </a:rPr>
              <a:t>4.1.2</a:t>
            </a:r>
            <a:r>
              <a:rPr lang="en-US" altLang="en-US">
                <a:latin typeface="Arial" panose="020B0604020202020204" pitchFamily="34" charset="0"/>
              </a:rPr>
              <a:t>. Hệ tọa độ thuần nhất</a:t>
            </a:r>
          </a:p>
        </p:txBody>
      </p:sp>
      <p:sp>
        <p:nvSpPr>
          <p:cNvPr id="660485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600201"/>
            <a:ext cx="8305800" cy="4530725"/>
          </a:xfrm>
          <a:noFill/>
          <a:ln/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en-US">
                <a:latin typeface="Arial" panose="020B0604020202020204" pitchFamily="34" charset="0"/>
              </a:rPr>
              <a:t>Áp dụng hệ tọa độ xy trong mặt phẳng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f(x, y) = 0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f(x/w, y/w)=0</a:t>
            </a:r>
          </a:p>
          <a:p>
            <a:pPr lvl="1">
              <a:lnSpc>
                <a:spcPct val="120000"/>
              </a:lnSpc>
            </a:pPr>
            <a:r>
              <a:rPr lang="en-US" altLang="en-US">
                <a:latin typeface="Arial" panose="020B0604020202020204" pitchFamily="34" charset="0"/>
              </a:rPr>
              <a:t>Nếu f(x, y)=0 là đa thức bậc n thì nhân nó với w</a:t>
            </a:r>
            <a:r>
              <a:rPr lang="en-US" altLang="en-US" baseline="30000">
                <a:latin typeface="Arial" panose="020B0604020202020204" pitchFamily="34" charset="0"/>
              </a:rPr>
              <a:t>n</a:t>
            </a:r>
            <a:r>
              <a:rPr lang="en-US" altLang="en-US">
                <a:latin typeface="Arial" panose="020B0604020202020204" pitchFamily="34" charset="0"/>
              </a:rPr>
              <a:t> để loại bỏ mẫu</a:t>
            </a:r>
          </a:p>
        </p:txBody>
      </p:sp>
    </p:spTree>
    <p:extLst>
      <p:ext uri="{BB962C8B-B14F-4D97-AF65-F5344CB8AC3E}">
        <p14:creationId xmlns:p14="http://schemas.microsoft.com/office/powerpoint/2010/main" val="3828421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0ECB-D609-4AC3-A0F8-38CB232CCB3D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659460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 smtClean="0">
                <a:latin typeface="Arial" panose="020B0604020202020204" pitchFamily="34" charset="0"/>
              </a:rPr>
              <a:t>4.1.2</a:t>
            </a:r>
            <a:r>
              <a:rPr lang="en-US" altLang="en-US">
                <a:latin typeface="Arial" panose="020B0604020202020204" pitchFamily="34" charset="0"/>
              </a:rPr>
              <a:t>. Hệ tọa độ thuần nhất</a:t>
            </a:r>
          </a:p>
        </p:txBody>
      </p:sp>
      <p:sp>
        <p:nvSpPr>
          <p:cNvPr id="659461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2044995" y="2025503"/>
            <a:ext cx="8305800" cy="4530725"/>
          </a:xfrm>
          <a:noFill/>
          <a:ln/>
        </p:spPr>
        <p:txBody>
          <a:bodyPr/>
          <a:lstStyle/>
          <a:p>
            <a:pPr>
              <a:lnSpc>
                <a:spcPct val="115000"/>
              </a:lnSpc>
            </a:pPr>
            <a:r>
              <a:rPr lang="en-US" altLang="en-US">
                <a:latin typeface="Arial" panose="020B0604020202020204" pitchFamily="34" charset="0"/>
              </a:rPr>
              <a:t>Phương trình bậc nhất (đường thẳng):</a:t>
            </a:r>
          </a:p>
          <a:p>
            <a:pPr lvl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Ax + By + C = 0; thay x, y ta có:</a:t>
            </a:r>
          </a:p>
          <a:p>
            <a:pPr lvl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A(x/w) + B(y/w) + C = 0; nhân với w ta có:</a:t>
            </a:r>
          </a:p>
          <a:p>
            <a:pPr lvl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Ax+By+Cw=0</a:t>
            </a:r>
          </a:p>
          <a:p>
            <a:pPr>
              <a:lnSpc>
                <a:spcPct val="115000"/>
              </a:lnSpc>
            </a:pPr>
            <a:r>
              <a:rPr lang="en-US" altLang="en-US">
                <a:latin typeface="Arial" panose="020B0604020202020204" pitchFamily="34" charset="0"/>
              </a:rPr>
              <a:t>Đa thức bậc 2:</a:t>
            </a:r>
          </a:p>
          <a:p>
            <a:pPr lvl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Ax</a:t>
            </a:r>
            <a:r>
              <a:rPr lang="en-US" altLang="en-US" baseline="30000">
                <a:latin typeface="Arial" panose="020B0604020202020204" pitchFamily="34" charset="0"/>
              </a:rPr>
              <a:t>2</a:t>
            </a:r>
            <a:r>
              <a:rPr lang="en-US" altLang="en-US">
                <a:latin typeface="Arial" panose="020B0604020202020204" pitchFamily="34" charset="0"/>
              </a:rPr>
              <a:t>+2Bxy+Cy</a:t>
            </a:r>
            <a:r>
              <a:rPr lang="en-US" altLang="en-US" baseline="30000">
                <a:latin typeface="Arial" panose="020B0604020202020204" pitchFamily="34" charset="0"/>
              </a:rPr>
              <a:t>2</a:t>
            </a:r>
            <a:r>
              <a:rPr lang="en-US" altLang="en-US">
                <a:latin typeface="Arial" panose="020B0604020202020204" pitchFamily="34" charset="0"/>
              </a:rPr>
              <a:t>+2Dx+2Ey+F=0</a:t>
            </a:r>
          </a:p>
          <a:p>
            <a:pPr lvl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Sau khi thay thế và nhân với w</a:t>
            </a:r>
            <a:r>
              <a:rPr lang="en-US" altLang="en-US" baseline="30000">
                <a:latin typeface="Arial" panose="020B0604020202020204" pitchFamily="34" charset="0"/>
              </a:rPr>
              <a:t>2</a:t>
            </a:r>
            <a:r>
              <a:rPr lang="en-US" altLang="en-US">
                <a:latin typeface="Arial" panose="020B0604020202020204" pitchFamily="34" charset="0"/>
              </a:rPr>
              <a:t> ta có:</a:t>
            </a:r>
          </a:p>
          <a:p>
            <a:pPr lvl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Ax</a:t>
            </a:r>
            <a:r>
              <a:rPr lang="en-US" altLang="en-US" baseline="30000">
                <a:latin typeface="Arial" panose="020B0604020202020204" pitchFamily="34" charset="0"/>
              </a:rPr>
              <a:t>2 </a:t>
            </a:r>
            <a:r>
              <a:rPr lang="en-US" altLang="en-US">
                <a:latin typeface="Arial" panose="020B0604020202020204" pitchFamily="34" charset="0"/>
              </a:rPr>
              <a:t>+ 2Bxy + Cy</a:t>
            </a:r>
            <a:r>
              <a:rPr lang="en-US" altLang="en-US" baseline="30000">
                <a:latin typeface="Arial" panose="020B0604020202020204" pitchFamily="34" charset="0"/>
              </a:rPr>
              <a:t>2 </a:t>
            </a:r>
            <a:r>
              <a:rPr lang="en-US" altLang="en-US">
                <a:latin typeface="Arial" panose="020B0604020202020204" pitchFamily="34" charset="0"/>
              </a:rPr>
              <a:t>+ 2Dxw + 2Eyw + Fw</a:t>
            </a:r>
            <a:r>
              <a:rPr lang="en-US" altLang="en-US" baseline="30000">
                <a:latin typeface="Arial" panose="020B0604020202020204" pitchFamily="34" charset="0"/>
              </a:rPr>
              <a:t>2 </a:t>
            </a:r>
            <a:r>
              <a:rPr lang="en-US" altLang="en-US">
                <a:latin typeface="Arial" panose="020B0604020202020204" pitchFamily="34" charset="0"/>
              </a:rPr>
              <a:t>= 0</a:t>
            </a:r>
          </a:p>
        </p:txBody>
      </p:sp>
    </p:spTree>
    <p:extLst>
      <p:ext uri="{BB962C8B-B14F-4D97-AF65-F5344CB8AC3E}">
        <p14:creationId xmlns:p14="http://schemas.microsoft.com/office/powerpoint/2010/main" val="415060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4A348-9EC2-48DB-8F5C-B43A5F0747E4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669700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 smtClean="0">
                <a:latin typeface="Arial" panose="020B0604020202020204" pitchFamily="34" charset="0"/>
              </a:rPr>
              <a:t>4.1.2</a:t>
            </a:r>
            <a:r>
              <a:rPr lang="en-US" altLang="en-US">
                <a:latin typeface="Arial" panose="020B0604020202020204" pitchFamily="34" charset="0"/>
              </a:rPr>
              <a:t>. Hệ tọa độ thuần nhất</a:t>
            </a:r>
          </a:p>
        </p:txBody>
      </p:sp>
      <p:sp>
        <p:nvSpPr>
          <p:cNvPr id="669701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600201"/>
            <a:ext cx="8305800" cy="4530725"/>
          </a:xfrm>
          <a:noFill/>
          <a:ln/>
        </p:spPr>
        <p:txBody>
          <a:bodyPr/>
          <a:lstStyle/>
          <a:p>
            <a:pPr algn="just">
              <a:lnSpc>
                <a:spcPct val="115000"/>
              </a:lnSpc>
            </a:pPr>
            <a:r>
              <a:rPr lang="en-US" altLang="en-US">
                <a:latin typeface="Arial" panose="020B0604020202020204" pitchFamily="34" charset="0"/>
              </a:rPr>
              <a:t>Nhận xét:</a:t>
            </a:r>
          </a:p>
          <a:p>
            <a:pPr lvl="1" algn="just">
              <a:lnSpc>
                <a:spcPct val="115000"/>
              </a:lnSpc>
            </a:pPr>
            <a:r>
              <a:rPr lang="en-US" altLang="en-US">
                <a:latin typeface="Arial" panose="020B0604020202020204" pitchFamily="34" charset="0"/>
              </a:rPr>
              <a:t>Các phần tử trong đa thức đều có bậc như nhau</a:t>
            </a:r>
          </a:p>
          <a:p>
            <a:pPr lvl="2" algn="just">
              <a:lnSpc>
                <a:spcPct val="115000"/>
              </a:lnSpc>
            </a:pPr>
            <a:r>
              <a:rPr lang="en-US" altLang="en-US">
                <a:latin typeface="Arial" panose="020B0604020202020204" pitchFamily="34" charset="0"/>
              </a:rPr>
              <a:t>Đa thức bậc n thì các thành phần của nó đều có bậc n</a:t>
            </a:r>
          </a:p>
          <a:p>
            <a:pPr lvl="2" algn="just">
              <a:lnSpc>
                <a:spcPct val="115000"/>
              </a:lnSpc>
            </a:pPr>
            <a:r>
              <a:rPr lang="en-US" altLang="en-US">
                <a:latin typeface="Arial" panose="020B0604020202020204" pitchFamily="34" charset="0"/>
              </a:rPr>
              <a:t>Cho trước đa thức bậc n, sau khi bổ sung w thì mọi thành phần đều có bậc n -&gt; gọi nó là đa thức thuần nhất và tọa độ (x, y, w) là tọa độ thuần nhất.</a:t>
            </a:r>
          </a:p>
        </p:txBody>
      </p:sp>
    </p:spTree>
    <p:extLst>
      <p:ext uri="{BB962C8B-B14F-4D97-AF65-F5344CB8AC3E}">
        <p14:creationId xmlns:p14="http://schemas.microsoft.com/office/powerpoint/2010/main" val="86814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87F8-7453-4636-9420-99E3E341EBF3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668676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 smtClean="0">
                <a:latin typeface="Arial" panose="020B0604020202020204" pitchFamily="34" charset="0"/>
              </a:rPr>
              <a:t>4.1.2</a:t>
            </a:r>
            <a:r>
              <a:rPr lang="en-US" altLang="en-US">
                <a:latin typeface="Arial" panose="020B0604020202020204" pitchFamily="34" charset="0"/>
              </a:rPr>
              <a:t>. Hệ tọa độ thuần nhất</a:t>
            </a:r>
          </a:p>
        </p:txBody>
      </p:sp>
      <p:sp>
        <p:nvSpPr>
          <p:cNvPr id="668677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864242" y="2183218"/>
            <a:ext cx="5642344" cy="4572000"/>
          </a:xfrm>
          <a:noFill/>
          <a:ln/>
        </p:spPr>
        <p:txBody>
          <a:bodyPr/>
          <a:lstStyle/>
          <a:p>
            <a:pPr algn="just">
              <a:lnSpc>
                <a:spcPct val="120000"/>
              </a:lnSpc>
            </a:pPr>
            <a:r>
              <a:rPr lang="en-US" altLang="en-US">
                <a:latin typeface="Arial" panose="020B0604020202020204" pitchFamily="34" charset="0"/>
              </a:rPr>
              <a:t>Diễn giải hình học</a:t>
            </a:r>
          </a:p>
          <a:p>
            <a:pPr lvl="1" algn="just">
              <a:lnSpc>
                <a:spcPct val="120000"/>
              </a:lnSpc>
            </a:pPr>
            <a:r>
              <a:rPr lang="en-US" altLang="en-US">
                <a:latin typeface="Arial" panose="020B0604020202020204" pitchFamily="34" charset="0"/>
              </a:rPr>
              <a:t>Cho trước tọa độ thuần nhất (x, y, w) của điểm trong mặt phẳng xy. (x, y, w) là điểm trong không gian xyw.</a:t>
            </a:r>
          </a:p>
          <a:p>
            <a:pPr lvl="1" algn="just">
              <a:lnSpc>
                <a:spcPct val="120000"/>
              </a:lnSpc>
            </a:pPr>
            <a:r>
              <a:rPr lang="en-US" altLang="en-US">
                <a:latin typeface="Arial" panose="020B0604020202020204" pitchFamily="34" charset="0"/>
              </a:rPr>
              <a:t>Đoạn thẳng nối điểm (x, y, w) với gốc tọa độ trong không gian 3D sẽ cắt mặt phẳng w=1 tại (x/w, y/w, 1)</a:t>
            </a:r>
          </a:p>
          <a:p>
            <a:pPr lvl="1" algn="just">
              <a:lnSpc>
                <a:spcPct val="120000"/>
              </a:lnSpc>
            </a:pPr>
            <a:r>
              <a:rPr lang="en-US" altLang="en-US">
                <a:latin typeface="Arial" panose="020B0604020202020204" pitchFamily="34" charset="0"/>
              </a:rPr>
              <a:t>Điểm đồng nhất 2D được xem như điểm trong không gian 3D và chiếu điểm 3D vào mặt phẳng w=1</a:t>
            </a:r>
          </a:p>
        </p:txBody>
      </p:sp>
      <p:pic>
        <p:nvPicPr>
          <p:cNvPr id="66867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4631" y="1981200"/>
            <a:ext cx="3197225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43723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B400A-0A2F-4BB1-8472-C59A92F0A83E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667652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 smtClean="0">
                <a:latin typeface="Arial" panose="020B0604020202020204" pitchFamily="34" charset="0"/>
              </a:rPr>
              <a:t>4.1.3</a:t>
            </a:r>
            <a:r>
              <a:rPr lang="en-US" altLang="en-US">
                <a:latin typeface="Arial" panose="020B0604020202020204" pitchFamily="34" charset="0"/>
              </a:rPr>
              <a:t>. Ma trận biến đổi</a:t>
            </a:r>
          </a:p>
        </p:txBody>
      </p:sp>
      <p:sp>
        <p:nvSpPr>
          <p:cNvPr id="667653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600201"/>
            <a:ext cx="8305800" cy="4530725"/>
          </a:xfrm>
          <a:noFill/>
          <a:ln/>
        </p:spPr>
        <p:txBody>
          <a:bodyPr/>
          <a:lstStyle/>
          <a:p>
            <a:pPr algn="just"/>
            <a:r>
              <a:rPr lang="en-US" altLang="en-US">
                <a:latin typeface="Arial" panose="020B0604020202020204" pitchFamily="34" charset="0"/>
              </a:rPr>
              <a:t>Nhận xét:</a:t>
            </a:r>
          </a:p>
          <a:p>
            <a:pPr lvl="1" algn="just"/>
            <a:r>
              <a:rPr lang="en-US" altLang="en-US">
                <a:latin typeface="Arial" panose="020B0604020202020204" pitchFamily="34" charset="0"/>
              </a:rPr>
              <a:t>Bất kỳ biến đổi tuyến tính nào cũng có thể biểu diễn dưới dạng ma trận trong hệ thống tọa độ thuần nhất.</a:t>
            </a:r>
          </a:p>
          <a:p>
            <a:pPr algn="just">
              <a:lnSpc>
                <a:spcPct val="120000"/>
              </a:lnSpc>
            </a:pPr>
            <a:r>
              <a:rPr lang="en-US" altLang="en-US">
                <a:latin typeface="Arial" panose="020B0604020202020204" pitchFamily="34" charset="0"/>
              </a:rPr>
              <a:t>Biểu diễn tọa độ 2D [x, y] trong hệ tọa độ thuần nhất là bộ ba [x y 1]</a:t>
            </a:r>
          </a:p>
          <a:p>
            <a:pPr lvl="1" algn="just">
              <a:lnSpc>
                <a:spcPct val="120000"/>
              </a:lnSpc>
            </a:pPr>
            <a:r>
              <a:rPr lang="en-US" altLang="en-US">
                <a:latin typeface="Arial" panose="020B0604020202020204" pitchFamily="34" charset="0"/>
              </a:rPr>
              <a:t>Các điểm là vecto hàng 3 phần tử</a:t>
            </a:r>
          </a:p>
          <a:p>
            <a:pPr lvl="1" algn="just">
              <a:lnSpc>
                <a:spcPct val="120000"/>
              </a:lnSpc>
            </a:pPr>
            <a:r>
              <a:rPr lang="en-US" altLang="en-US">
                <a:latin typeface="Arial" panose="020B0604020202020204" pitchFamily="34" charset="0"/>
              </a:rPr>
              <a:t>Ma trận biến đổi có kích thước 3x3</a:t>
            </a:r>
          </a:p>
        </p:txBody>
      </p:sp>
    </p:spTree>
    <p:extLst>
      <p:ext uri="{BB962C8B-B14F-4D97-AF65-F5344CB8AC3E}">
        <p14:creationId xmlns:p14="http://schemas.microsoft.com/office/powerpoint/2010/main" val="1272972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B3FE7-5FC5-477D-B12F-C3A75CC69136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666628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 smtClean="0">
                <a:latin typeface="Arial" panose="020B0604020202020204" pitchFamily="34" charset="0"/>
              </a:rPr>
              <a:t>4.1.3</a:t>
            </a:r>
            <a:r>
              <a:rPr lang="en-US" altLang="en-US">
                <a:latin typeface="Arial" panose="020B0604020202020204" pitchFamily="34" charset="0"/>
              </a:rPr>
              <a:t>. Ma trận biến đổi</a:t>
            </a:r>
          </a:p>
        </p:txBody>
      </p:sp>
      <p:sp>
        <p:nvSpPr>
          <p:cNvPr id="666629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311349" y="1595327"/>
            <a:ext cx="5384800" cy="920973"/>
          </a:xfrm>
          <a:noFill/>
          <a:ln/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Phép tịnh tiến</a:t>
            </a:r>
          </a:p>
          <a:p>
            <a:endParaRPr lang="en-US" altLang="en-US">
              <a:latin typeface="Arial" panose="020B0604020202020204" pitchFamily="34" charset="0"/>
            </a:endParaRPr>
          </a:p>
        </p:txBody>
      </p:sp>
      <p:graphicFrame>
        <p:nvGraphicFramePr>
          <p:cNvPr id="666630" name="Object 6"/>
          <p:cNvGraphicFramePr>
            <a:graphicFrameLocks noChangeAspect="1"/>
          </p:cNvGraphicFramePr>
          <p:nvPr>
            <p:ph sz="half" idx="2"/>
          </p:nvPr>
        </p:nvGraphicFramePr>
        <p:xfrm>
          <a:off x="2286000" y="2286000"/>
          <a:ext cx="3810000" cy="344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Equation" r:id="rId3" imgW="1600200" imgH="1447560" progId="Equation.3">
                  <p:embed/>
                </p:oleObj>
              </mc:Choice>
              <mc:Fallback>
                <p:oleObj name="Equation" r:id="rId3" imgW="1600200" imgH="1447560" progId="Equation.3">
                  <p:embed/>
                  <p:pic>
                    <p:nvPicPr>
                      <p:cNvPr id="66663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286000"/>
                        <a:ext cx="3810000" cy="344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66632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5995" y="1585913"/>
            <a:ext cx="3989388" cy="449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965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9B199-44FA-408D-9928-02B6E9C0C464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665604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 smtClean="0">
                <a:latin typeface="Arial" panose="020B0604020202020204" pitchFamily="34" charset="0"/>
              </a:rPr>
              <a:t>4.1.3</a:t>
            </a:r>
            <a:r>
              <a:rPr lang="en-US" altLang="en-US">
                <a:latin typeface="Arial" panose="020B0604020202020204" pitchFamily="34" charset="0"/>
              </a:rPr>
              <a:t>. Ma trận biến đổi</a:t>
            </a:r>
          </a:p>
        </p:txBody>
      </p:sp>
      <p:pic>
        <p:nvPicPr>
          <p:cNvPr id="665608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4219" y="2013099"/>
            <a:ext cx="8305800" cy="475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02949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B7FEB-410C-4042-ACDA-972D329FF043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664580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 smtClean="0">
                <a:latin typeface="Arial" panose="020B0604020202020204" pitchFamily="34" charset="0"/>
              </a:rPr>
              <a:t>4.1.4</a:t>
            </a:r>
            <a:r>
              <a:rPr lang="en-US" altLang="en-US">
                <a:latin typeface="Arial" panose="020B0604020202020204" pitchFamily="34" charset="0"/>
              </a:rPr>
              <a:t>. Biến đổi tổng hợp</a:t>
            </a:r>
          </a:p>
        </p:txBody>
      </p:sp>
      <p:sp>
        <p:nvSpPr>
          <p:cNvPr id="664581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600201"/>
            <a:ext cx="8305800" cy="4530725"/>
          </a:xfrm>
          <a:noFill/>
          <a:ln/>
        </p:spPr>
        <p:txBody>
          <a:bodyPr/>
          <a:lstStyle/>
          <a:p>
            <a:pPr>
              <a:lnSpc>
                <a:spcPct val="125000"/>
              </a:lnSpc>
            </a:pPr>
            <a:r>
              <a:rPr lang="en-US" altLang="en-US">
                <a:latin typeface="Arial" panose="020B0604020202020204" pitchFamily="34" charset="0"/>
              </a:rPr>
              <a:t>Giải pháp</a:t>
            </a:r>
          </a:p>
          <a:p>
            <a:pPr lvl="1">
              <a:lnSpc>
                <a:spcPct val="125000"/>
              </a:lnSpc>
            </a:pPr>
            <a:r>
              <a:rPr lang="en-US" altLang="en-US">
                <a:latin typeface="Arial" panose="020B0604020202020204" pitchFamily="34" charset="0"/>
              </a:rPr>
              <a:t>Tính ma trận kết quả các chuyển đổi thành phần trong chuyển đổi gộp</a:t>
            </a:r>
          </a:p>
          <a:p>
            <a:pPr lvl="1">
              <a:lnSpc>
                <a:spcPct val="125000"/>
              </a:lnSpc>
            </a:pPr>
            <a:r>
              <a:rPr lang="en-US" altLang="en-US">
                <a:latin typeface="Arial" panose="020B0604020202020204" pitchFamily="34" charset="0"/>
              </a:rPr>
              <a:t>Nhân tọa độ điểm với ma trận kết quả</a:t>
            </a:r>
          </a:p>
          <a:p>
            <a:pPr lvl="1">
              <a:lnSpc>
                <a:spcPct val="125000"/>
              </a:lnSpc>
            </a:pPr>
            <a:endParaRPr lang="en-US" altLang="en-US">
              <a:latin typeface="Arial" panose="020B0604020202020204" pitchFamily="34" charset="0"/>
            </a:endParaRPr>
          </a:p>
          <a:p>
            <a:endParaRPr lang="en-US" altLang="en-US">
              <a:latin typeface="Arial" panose="020B0604020202020204" pitchFamily="34" charset="0"/>
            </a:endParaRPr>
          </a:p>
          <a:p>
            <a:endParaRPr lang="en-US" altLang="en-US" sz="3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384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B6DA7-EFBE-479D-903A-E7F1FA6F72F4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663556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 smtClean="0">
                <a:latin typeface="Arial" panose="020B0604020202020204" pitchFamily="34" charset="0"/>
              </a:rPr>
              <a:t>4.1.4</a:t>
            </a:r>
            <a:r>
              <a:rPr lang="en-US" altLang="en-US">
                <a:latin typeface="Arial" panose="020B0604020202020204" pitchFamily="34" charset="0"/>
              </a:rPr>
              <a:t>. Biến đổi tổng hợp</a:t>
            </a:r>
          </a:p>
        </p:txBody>
      </p:sp>
      <p:sp>
        <p:nvSpPr>
          <p:cNvPr id="663557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600201"/>
            <a:ext cx="8229600" cy="4530725"/>
          </a:xfrm>
          <a:noFill/>
          <a:ln/>
        </p:spPr>
        <p:txBody>
          <a:bodyPr/>
          <a:lstStyle/>
          <a:p>
            <a:pPr>
              <a:lnSpc>
                <a:spcPct val="125000"/>
              </a:lnSpc>
            </a:pPr>
            <a:r>
              <a:rPr lang="en-US" altLang="en-US">
                <a:latin typeface="Arial" panose="020B0604020202020204" pitchFamily="34" charset="0"/>
              </a:rPr>
              <a:t>Tổng hợp hai phép tịnh tiến</a:t>
            </a:r>
          </a:p>
          <a:p>
            <a:pPr lvl="1">
              <a:lnSpc>
                <a:spcPct val="125000"/>
              </a:lnSpc>
            </a:pPr>
            <a:r>
              <a:rPr lang="en-US" altLang="en-US">
                <a:latin typeface="Arial" panose="020B0604020202020204" pitchFamily="34" charset="0"/>
              </a:rPr>
              <a:t>T(Tx</a:t>
            </a:r>
            <a:r>
              <a:rPr lang="en-US" altLang="en-US" baseline="-25000">
                <a:latin typeface="Arial" panose="020B0604020202020204" pitchFamily="34" charset="0"/>
              </a:rPr>
              <a:t>1</a:t>
            </a:r>
            <a:r>
              <a:rPr lang="en-US" altLang="en-US">
                <a:latin typeface="Arial" panose="020B0604020202020204" pitchFamily="34" charset="0"/>
              </a:rPr>
              <a:t>, Ty</a:t>
            </a:r>
            <a:r>
              <a:rPr lang="en-US" altLang="en-US" baseline="-25000">
                <a:latin typeface="Arial" panose="020B0604020202020204" pitchFamily="34" charset="0"/>
              </a:rPr>
              <a:t>1</a:t>
            </a:r>
            <a:r>
              <a:rPr lang="en-US" altLang="en-US">
                <a:latin typeface="Arial" panose="020B0604020202020204" pitchFamily="34" charset="0"/>
              </a:rPr>
              <a:t>).T(Tx</a:t>
            </a:r>
            <a:r>
              <a:rPr lang="en-US" altLang="en-US" baseline="-25000">
                <a:latin typeface="Arial" panose="020B0604020202020204" pitchFamily="34" charset="0"/>
              </a:rPr>
              <a:t>2</a:t>
            </a:r>
            <a:r>
              <a:rPr lang="en-US" altLang="en-US">
                <a:latin typeface="Arial" panose="020B0604020202020204" pitchFamily="34" charset="0"/>
              </a:rPr>
              <a:t>, Ty</a:t>
            </a:r>
            <a:r>
              <a:rPr lang="en-US" altLang="en-US" baseline="-25000">
                <a:latin typeface="Arial" panose="020B0604020202020204" pitchFamily="34" charset="0"/>
              </a:rPr>
              <a:t>2</a:t>
            </a:r>
            <a:r>
              <a:rPr lang="en-US" altLang="en-US">
                <a:latin typeface="Arial" panose="020B0604020202020204" pitchFamily="34" charset="0"/>
              </a:rPr>
              <a:t>)=T(Tx</a:t>
            </a:r>
            <a:r>
              <a:rPr lang="en-US" altLang="en-US" baseline="-25000">
                <a:latin typeface="Arial" panose="020B0604020202020204" pitchFamily="34" charset="0"/>
              </a:rPr>
              <a:t>1</a:t>
            </a:r>
            <a:r>
              <a:rPr lang="en-US" altLang="en-US">
                <a:latin typeface="Arial" panose="020B0604020202020204" pitchFamily="34" charset="0"/>
              </a:rPr>
              <a:t>+Tx</a:t>
            </a:r>
            <a:r>
              <a:rPr lang="en-US" altLang="en-US" baseline="-25000">
                <a:latin typeface="Arial" panose="020B0604020202020204" pitchFamily="34" charset="0"/>
              </a:rPr>
              <a:t>2</a:t>
            </a:r>
            <a:r>
              <a:rPr lang="en-US" altLang="en-US">
                <a:latin typeface="Arial" panose="020B0604020202020204" pitchFamily="34" charset="0"/>
              </a:rPr>
              <a:t>,</a:t>
            </a:r>
            <a:r>
              <a:rPr lang="en-US" altLang="en-US" baseline="-25000">
                <a:latin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</a:rPr>
              <a:t>Ty</a:t>
            </a:r>
            <a:r>
              <a:rPr lang="en-US" altLang="en-US" baseline="-25000">
                <a:latin typeface="Arial" panose="020B0604020202020204" pitchFamily="34" charset="0"/>
              </a:rPr>
              <a:t>1</a:t>
            </a:r>
            <a:r>
              <a:rPr lang="en-US" altLang="en-US">
                <a:latin typeface="Arial" panose="020B0604020202020204" pitchFamily="34" charset="0"/>
              </a:rPr>
              <a:t>+Ty</a:t>
            </a:r>
            <a:r>
              <a:rPr lang="en-US" altLang="en-US" baseline="-25000">
                <a:latin typeface="Arial" panose="020B0604020202020204" pitchFamily="34" charset="0"/>
              </a:rPr>
              <a:t>2</a:t>
            </a:r>
            <a:r>
              <a:rPr lang="en-US" altLang="en-US">
                <a:latin typeface="Arial" panose="020B0604020202020204" pitchFamily="34" charset="0"/>
              </a:rPr>
              <a:t>)</a:t>
            </a:r>
          </a:p>
          <a:p>
            <a:endParaRPr lang="en-US" altLang="en-US">
              <a:latin typeface="Arial" panose="020B0604020202020204" pitchFamily="34" charset="0"/>
            </a:endParaRPr>
          </a:p>
          <a:p>
            <a:endParaRPr lang="en-US" altLang="en-US" sz="3600">
              <a:latin typeface="Arial" panose="020B0604020202020204" pitchFamily="34" charset="0"/>
            </a:endParaRPr>
          </a:p>
        </p:txBody>
      </p:sp>
      <p:graphicFrame>
        <p:nvGraphicFramePr>
          <p:cNvPr id="663562" name="Object 10"/>
          <p:cNvGraphicFramePr>
            <a:graphicFrameLocks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7181181"/>
              </p:ext>
            </p:extLst>
          </p:nvPr>
        </p:nvGraphicFramePr>
        <p:xfrm>
          <a:off x="2581939" y="4024425"/>
          <a:ext cx="8229600" cy="180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Equation" r:id="rId3" imgW="3365280" imgH="736560" progId="Equation.3">
                  <p:embed/>
                </p:oleObj>
              </mc:Choice>
              <mc:Fallback>
                <p:oleObj name="Equation" r:id="rId3" imgW="3365280" imgH="736560" progId="Equation.3">
                  <p:embed/>
                  <p:pic>
                    <p:nvPicPr>
                      <p:cNvPr id="66356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1939" y="4024425"/>
                        <a:ext cx="8229600" cy="180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899532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F5849-B7B6-4A53-8753-D9222D8E1E61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679940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 smtClean="0">
                <a:latin typeface="Arial" panose="020B0604020202020204" pitchFamily="34" charset="0"/>
              </a:rPr>
              <a:t>4.1.4</a:t>
            </a:r>
            <a:r>
              <a:rPr lang="en-US" altLang="en-US">
                <a:latin typeface="Arial" panose="020B0604020202020204" pitchFamily="34" charset="0"/>
              </a:rPr>
              <a:t>. Biến đổi tổng hợp</a:t>
            </a:r>
          </a:p>
        </p:txBody>
      </p:sp>
      <p:sp>
        <p:nvSpPr>
          <p:cNvPr id="679941" name="Rectangle 5"/>
          <p:cNvSpPr>
            <a:spLocks noGrp="1" noChangeArrowheads="1"/>
          </p:cNvSpPr>
          <p:nvPr>
            <p:ph type="body" sz="half" idx="1"/>
          </p:nvPr>
        </p:nvSpPr>
        <p:spPr>
          <a:noFill/>
          <a:ln/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Tổng hợp hai phép co giãn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S(Sx</a:t>
            </a:r>
            <a:r>
              <a:rPr lang="en-US" altLang="en-US" baseline="-25000">
                <a:latin typeface="Arial" panose="020B0604020202020204" pitchFamily="34" charset="0"/>
              </a:rPr>
              <a:t>1</a:t>
            </a:r>
            <a:r>
              <a:rPr lang="en-US" altLang="en-US">
                <a:latin typeface="Arial" panose="020B0604020202020204" pitchFamily="34" charset="0"/>
              </a:rPr>
              <a:t>, Sy</a:t>
            </a:r>
            <a:r>
              <a:rPr lang="en-US" altLang="en-US" baseline="-25000">
                <a:latin typeface="Arial" panose="020B0604020202020204" pitchFamily="34" charset="0"/>
              </a:rPr>
              <a:t>1</a:t>
            </a:r>
            <a:r>
              <a:rPr lang="en-US" altLang="en-US">
                <a:latin typeface="Arial" panose="020B0604020202020204" pitchFamily="34" charset="0"/>
              </a:rPr>
              <a:t>).S(Sx</a:t>
            </a:r>
            <a:r>
              <a:rPr lang="en-US" altLang="en-US" baseline="-25000">
                <a:latin typeface="Arial" panose="020B0604020202020204" pitchFamily="34" charset="0"/>
              </a:rPr>
              <a:t>2</a:t>
            </a:r>
            <a:r>
              <a:rPr lang="en-US" altLang="en-US">
                <a:latin typeface="Arial" panose="020B0604020202020204" pitchFamily="34" charset="0"/>
              </a:rPr>
              <a:t>, Sy</a:t>
            </a:r>
            <a:r>
              <a:rPr lang="en-US" altLang="en-US" baseline="-25000">
                <a:latin typeface="Arial" panose="020B0604020202020204" pitchFamily="34" charset="0"/>
              </a:rPr>
              <a:t>2</a:t>
            </a:r>
            <a:r>
              <a:rPr lang="en-US" altLang="en-US">
                <a:latin typeface="Arial" panose="020B0604020202020204" pitchFamily="34" charset="0"/>
              </a:rPr>
              <a:t>)=S(Sx</a:t>
            </a:r>
            <a:r>
              <a:rPr lang="en-US" altLang="en-US" baseline="-25000">
                <a:latin typeface="Arial" panose="020B0604020202020204" pitchFamily="34" charset="0"/>
              </a:rPr>
              <a:t>1</a:t>
            </a:r>
            <a:r>
              <a:rPr lang="en-US" altLang="en-US">
                <a:latin typeface="Arial" panose="020B0604020202020204" pitchFamily="34" charset="0"/>
              </a:rPr>
              <a:t>.Sx</a:t>
            </a:r>
            <a:r>
              <a:rPr lang="en-US" altLang="en-US" baseline="-25000">
                <a:latin typeface="Arial" panose="020B0604020202020204" pitchFamily="34" charset="0"/>
              </a:rPr>
              <a:t>2</a:t>
            </a:r>
            <a:r>
              <a:rPr lang="en-US" altLang="en-US">
                <a:latin typeface="Arial" panose="020B0604020202020204" pitchFamily="34" charset="0"/>
              </a:rPr>
              <a:t>, Sy</a:t>
            </a:r>
            <a:r>
              <a:rPr lang="en-US" altLang="en-US" baseline="-25000">
                <a:latin typeface="Arial" panose="020B0604020202020204" pitchFamily="34" charset="0"/>
              </a:rPr>
              <a:t>1</a:t>
            </a:r>
            <a:r>
              <a:rPr lang="en-US" altLang="en-US">
                <a:latin typeface="Arial" panose="020B0604020202020204" pitchFamily="34" charset="0"/>
              </a:rPr>
              <a:t>.Sy</a:t>
            </a:r>
            <a:r>
              <a:rPr lang="en-US" altLang="en-US" baseline="-25000">
                <a:latin typeface="Arial" panose="020B0604020202020204" pitchFamily="34" charset="0"/>
              </a:rPr>
              <a:t>2</a:t>
            </a:r>
            <a:r>
              <a:rPr lang="en-US" altLang="en-US">
                <a:latin typeface="Arial" panose="020B0604020202020204" pitchFamily="34" charset="0"/>
              </a:rPr>
              <a:t>)</a:t>
            </a:r>
          </a:p>
          <a:p>
            <a:endParaRPr lang="en-US" altLang="en-US">
              <a:latin typeface="Arial" panose="020B0604020202020204" pitchFamily="34" charset="0"/>
            </a:endParaRPr>
          </a:p>
          <a:p>
            <a:endParaRPr lang="en-US" altLang="en-US" sz="4000">
              <a:latin typeface="Arial" panose="020B0604020202020204" pitchFamily="34" charset="0"/>
            </a:endParaRPr>
          </a:p>
        </p:txBody>
      </p:sp>
      <p:pic>
        <p:nvPicPr>
          <p:cNvPr id="67994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52" t="52322" r="9929" b="31186"/>
          <a:stretch>
            <a:fillRect/>
          </a:stretch>
        </p:blipFill>
        <p:spPr bwMode="auto">
          <a:xfrm>
            <a:off x="2835349" y="4327525"/>
            <a:ext cx="8229600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71851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9F8D8-D6F2-441B-9DC3-67913EFAD1CA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678916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 smtClean="0">
                <a:latin typeface="Arial" panose="020B0604020202020204" pitchFamily="34" charset="0"/>
              </a:rPr>
              <a:t>4.1.4</a:t>
            </a:r>
            <a:r>
              <a:rPr lang="en-US" altLang="en-US">
                <a:latin typeface="Arial" panose="020B0604020202020204" pitchFamily="34" charset="0"/>
              </a:rPr>
              <a:t>. Biến đổi tổng hợp</a:t>
            </a:r>
          </a:p>
        </p:txBody>
      </p:sp>
      <p:sp>
        <p:nvSpPr>
          <p:cNvPr id="678917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208726" y="1562099"/>
            <a:ext cx="10018713" cy="3124201"/>
          </a:xfrm>
          <a:noFill/>
          <a:ln/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Tổng hợp hai phép quay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R(</a:t>
            </a:r>
            <a:r>
              <a:rPr lang="el-GR" altLang="en-US">
                <a:latin typeface="Arial" panose="020B0604020202020204" pitchFamily="34" charset="0"/>
              </a:rPr>
              <a:t>θ</a:t>
            </a:r>
            <a:r>
              <a:rPr lang="en-US" altLang="en-US" baseline="-25000">
                <a:latin typeface="Arial" panose="020B0604020202020204" pitchFamily="34" charset="0"/>
              </a:rPr>
              <a:t>1</a:t>
            </a:r>
            <a:r>
              <a:rPr lang="en-US" altLang="en-US">
                <a:latin typeface="Arial" panose="020B0604020202020204" pitchFamily="34" charset="0"/>
              </a:rPr>
              <a:t>).R(</a:t>
            </a:r>
            <a:r>
              <a:rPr lang="el-GR" altLang="en-US">
                <a:latin typeface="Arial" panose="020B0604020202020204" pitchFamily="34" charset="0"/>
              </a:rPr>
              <a:t>θ</a:t>
            </a:r>
            <a:r>
              <a:rPr lang="en-US" altLang="en-US" baseline="-25000">
                <a:latin typeface="Arial" panose="020B0604020202020204" pitchFamily="34" charset="0"/>
              </a:rPr>
              <a:t>2</a:t>
            </a:r>
            <a:r>
              <a:rPr lang="en-US" altLang="en-US">
                <a:latin typeface="Arial" panose="020B0604020202020204" pitchFamily="34" charset="0"/>
              </a:rPr>
              <a:t>) = R(</a:t>
            </a:r>
            <a:r>
              <a:rPr lang="el-GR" altLang="en-US">
                <a:latin typeface="Arial" panose="020B0604020202020204" pitchFamily="34" charset="0"/>
              </a:rPr>
              <a:t>θ</a:t>
            </a:r>
            <a:r>
              <a:rPr lang="en-US" altLang="en-US" baseline="-25000">
                <a:latin typeface="Arial" panose="020B0604020202020204" pitchFamily="34" charset="0"/>
              </a:rPr>
              <a:t>1</a:t>
            </a:r>
            <a:r>
              <a:rPr lang="en-US" altLang="en-US">
                <a:latin typeface="Arial" panose="020B0604020202020204" pitchFamily="34" charset="0"/>
              </a:rPr>
              <a:t>+</a:t>
            </a:r>
            <a:r>
              <a:rPr lang="el-GR" altLang="en-US">
                <a:latin typeface="Arial" panose="020B0604020202020204" pitchFamily="34" charset="0"/>
              </a:rPr>
              <a:t>θ</a:t>
            </a:r>
            <a:r>
              <a:rPr lang="en-US" altLang="en-US" baseline="-25000">
                <a:latin typeface="Arial" panose="020B0604020202020204" pitchFamily="34" charset="0"/>
              </a:rPr>
              <a:t>2</a:t>
            </a:r>
            <a:r>
              <a:rPr lang="en-US" altLang="en-US">
                <a:latin typeface="Arial" panose="020B0604020202020204" pitchFamily="34" charset="0"/>
              </a:rPr>
              <a:t>)</a:t>
            </a:r>
          </a:p>
          <a:p>
            <a:endParaRPr lang="en-US" altLang="en-US">
              <a:latin typeface="Arial" panose="020B0604020202020204" pitchFamily="34" charset="0"/>
            </a:endParaRPr>
          </a:p>
          <a:p>
            <a:endParaRPr lang="en-US" altLang="en-US" sz="4000">
              <a:latin typeface="Arial" panose="020B0604020202020204" pitchFamily="34" charset="0"/>
            </a:endParaRPr>
          </a:p>
        </p:txBody>
      </p:sp>
      <p:pic>
        <p:nvPicPr>
          <p:cNvPr id="678920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52" t="44046" r="22502" b="23131"/>
          <a:stretch>
            <a:fillRect/>
          </a:stretch>
        </p:blipFill>
        <p:spPr bwMode="auto">
          <a:xfrm>
            <a:off x="4841358" y="2804318"/>
            <a:ext cx="7162800" cy="376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37242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4E27A-137B-4865-9005-F1B65C90F5E6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677892" name="Rectangle 4"/>
          <p:cNvSpPr>
            <a:spLocks noGrp="1" noChangeArrowheads="1"/>
          </p:cNvSpPr>
          <p:nvPr>
            <p:ph type="title"/>
          </p:nvPr>
        </p:nvSpPr>
        <p:spPr>
          <a:xfrm>
            <a:off x="1484310" y="0"/>
            <a:ext cx="10018713" cy="1752599"/>
          </a:xfrm>
          <a:noFill/>
          <a:ln/>
        </p:spPr>
        <p:txBody>
          <a:bodyPr/>
          <a:lstStyle/>
          <a:p>
            <a:r>
              <a:rPr lang="en-US" altLang="en-US" smtClean="0">
                <a:latin typeface="Arial" panose="020B0604020202020204" pitchFamily="34" charset="0"/>
              </a:rPr>
              <a:t>4.1.5</a:t>
            </a:r>
            <a:r>
              <a:rPr lang="en-US" altLang="en-US">
                <a:latin typeface="Arial" panose="020B0604020202020204" pitchFamily="34" charset="0"/>
              </a:rPr>
              <a:t>. Co giãn theo điểm chốt</a:t>
            </a:r>
          </a:p>
        </p:txBody>
      </p:sp>
      <p:sp>
        <p:nvSpPr>
          <p:cNvPr id="677893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484310" y="1752599"/>
            <a:ext cx="10018713" cy="3124201"/>
          </a:xfrm>
          <a:noFill/>
          <a:ln/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altLang="en-US">
                <a:latin typeface="Arial" panose="020B0604020202020204" pitchFamily="34" charset="0"/>
              </a:rPr>
              <a:t>Vấn đề</a:t>
            </a:r>
          </a:p>
          <a:p>
            <a:pPr lvl="1">
              <a:lnSpc>
                <a:spcPct val="110000"/>
              </a:lnSpc>
            </a:pPr>
            <a:r>
              <a:rPr lang="en-US" altLang="en-US">
                <a:latin typeface="Arial" panose="020B0604020202020204" pitchFamily="34" charset="0"/>
              </a:rPr>
              <a:t>Cho trước ∆ABC, tọa độ chốt (x</a:t>
            </a:r>
            <a:r>
              <a:rPr lang="en-US" altLang="en-US" baseline="-25000">
                <a:latin typeface="Arial" panose="020B0604020202020204" pitchFamily="34" charset="0"/>
              </a:rPr>
              <a:t>F</a:t>
            </a:r>
            <a:r>
              <a:rPr lang="en-US" altLang="en-US">
                <a:latin typeface="Arial" panose="020B0604020202020204" pitchFamily="34" charset="0"/>
              </a:rPr>
              <a:t>, y</a:t>
            </a:r>
            <a:r>
              <a:rPr lang="en-US" altLang="en-US" baseline="-25000">
                <a:latin typeface="Arial" panose="020B0604020202020204" pitchFamily="34" charset="0"/>
              </a:rPr>
              <a:t>F</a:t>
            </a:r>
            <a:r>
              <a:rPr lang="en-US" altLang="en-US">
                <a:latin typeface="Arial" panose="020B0604020202020204" pitchFamily="34" charset="0"/>
              </a:rPr>
              <a:t>) và tỷ lệ co dãn (a)</a:t>
            </a:r>
          </a:p>
          <a:p>
            <a:pPr lvl="1">
              <a:lnSpc>
                <a:spcPct val="110000"/>
              </a:lnSpc>
            </a:pPr>
            <a:r>
              <a:rPr lang="en-US" altLang="en-US">
                <a:latin typeface="Arial" panose="020B0604020202020204" pitchFamily="34" charset="0"/>
              </a:rPr>
              <a:t>Thực hiện biến đổi để có kết quả (d)</a:t>
            </a:r>
          </a:p>
          <a:p>
            <a:pPr>
              <a:lnSpc>
                <a:spcPct val="110000"/>
              </a:lnSpc>
            </a:pPr>
            <a:r>
              <a:rPr lang="en-US" altLang="en-US">
                <a:latin typeface="Arial" panose="020B0604020202020204" pitchFamily="34" charset="0"/>
              </a:rPr>
              <a:t>Các bước thực hiện</a:t>
            </a:r>
          </a:p>
          <a:p>
            <a:pPr lvl="1">
              <a:lnSpc>
                <a:spcPct val="110000"/>
              </a:lnSpc>
            </a:pPr>
            <a:r>
              <a:rPr lang="en-US" altLang="en-US">
                <a:latin typeface="Arial" panose="020B0604020202020204" pitchFamily="34" charset="0"/>
              </a:rPr>
              <a:t>Dịch đối tượng sao cho điểm chốt trùng với gốc tọa độ</a:t>
            </a:r>
          </a:p>
          <a:p>
            <a:pPr lvl="1">
              <a:lnSpc>
                <a:spcPct val="110000"/>
              </a:lnSpc>
            </a:pPr>
            <a:r>
              <a:rPr lang="en-US" altLang="en-US">
                <a:latin typeface="Arial" panose="020B0604020202020204" pitchFamily="34" charset="0"/>
              </a:rPr>
              <a:t>Thực hiện co dãn theo tỷ lệ cho trước</a:t>
            </a:r>
          </a:p>
          <a:p>
            <a:pPr lvl="1">
              <a:lnSpc>
                <a:spcPct val="110000"/>
              </a:lnSpc>
            </a:pPr>
            <a:r>
              <a:rPr lang="en-US" altLang="en-US">
                <a:latin typeface="Arial" panose="020B0604020202020204" pitchFamily="34" charset="0"/>
              </a:rPr>
              <a:t>Dịch ngược đối tượng sao cho điểm chốt về vị trí ban đầu</a:t>
            </a:r>
          </a:p>
          <a:p>
            <a:endParaRPr lang="en-US" altLang="en-US" sz="4000">
              <a:latin typeface="Arial" panose="020B0604020202020204" pitchFamily="34" charset="0"/>
            </a:endParaRPr>
          </a:p>
        </p:txBody>
      </p:sp>
      <p:pic>
        <p:nvPicPr>
          <p:cNvPr id="67789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0763" y="4497386"/>
            <a:ext cx="6781800" cy="2132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20430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49B70-2F7B-4D5C-BEF9-C38A5CAE2C05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676868" name="Rectangle 4"/>
          <p:cNvSpPr>
            <a:spLocks noGrp="1" noChangeArrowheads="1"/>
          </p:cNvSpPr>
          <p:nvPr>
            <p:ph type="title"/>
          </p:nvPr>
        </p:nvSpPr>
        <p:spPr>
          <a:xfrm>
            <a:off x="1484310" y="135"/>
            <a:ext cx="10018713" cy="1752599"/>
          </a:xfrm>
          <a:noFill/>
          <a:ln/>
        </p:spPr>
        <p:txBody>
          <a:bodyPr/>
          <a:lstStyle/>
          <a:p>
            <a:r>
              <a:rPr lang="en-US" altLang="en-US" smtClean="0">
                <a:latin typeface="Arial" panose="020B0604020202020204" pitchFamily="34" charset="0"/>
              </a:rPr>
              <a:t>4.1.6</a:t>
            </a:r>
            <a:r>
              <a:rPr lang="en-US" altLang="en-US">
                <a:latin typeface="Arial" panose="020B0604020202020204" pitchFamily="34" charset="0"/>
              </a:rPr>
              <a:t>. Quay theo điểm chốt</a:t>
            </a:r>
          </a:p>
        </p:txBody>
      </p:sp>
      <p:sp>
        <p:nvSpPr>
          <p:cNvPr id="676869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558738" y="1523999"/>
            <a:ext cx="10018713" cy="3124201"/>
          </a:xfrm>
          <a:noFill/>
          <a:ln/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altLang="en-US">
                <a:latin typeface="Arial" panose="020B0604020202020204" pitchFamily="34" charset="0"/>
              </a:rPr>
              <a:t>Vấn đề</a:t>
            </a:r>
          </a:p>
          <a:p>
            <a:pPr lvl="1">
              <a:lnSpc>
                <a:spcPct val="110000"/>
              </a:lnSpc>
            </a:pPr>
            <a:r>
              <a:rPr lang="en-US" altLang="en-US">
                <a:latin typeface="Arial" panose="020B0604020202020204" pitchFamily="34" charset="0"/>
              </a:rPr>
              <a:t>Cho trước ∆ABC, tọa độ chốt (x</a:t>
            </a:r>
            <a:r>
              <a:rPr lang="en-US" altLang="en-US" baseline="-25000">
                <a:latin typeface="Arial" panose="020B0604020202020204" pitchFamily="34" charset="0"/>
              </a:rPr>
              <a:t>F</a:t>
            </a:r>
            <a:r>
              <a:rPr lang="en-US" altLang="en-US">
                <a:latin typeface="Arial" panose="020B0604020202020204" pitchFamily="34" charset="0"/>
              </a:rPr>
              <a:t>, y</a:t>
            </a:r>
            <a:r>
              <a:rPr lang="en-US" altLang="en-US" baseline="-25000">
                <a:latin typeface="Arial" panose="020B0604020202020204" pitchFamily="34" charset="0"/>
              </a:rPr>
              <a:t>F</a:t>
            </a:r>
            <a:r>
              <a:rPr lang="en-US" altLang="en-US">
                <a:latin typeface="Arial" panose="020B0604020202020204" pitchFamily="34" charset="0"/>
              </a:rPr>
              <a:t>) và góc quay (a)</a:t>
            </a:r>
          </a:p>
          <a:p>
            <a:pPr lvl="1">
              <a:lnSpc>
                <a:spcPct val="110000"/>
              </a:lnSpc>
            </a:pPr>
            <a:r>
              <a:rPr lang="en-US" altLang="en-US">
                <a:latin typeface="Arial" panose="020B0604020202020204" pitchFamily="34" charset="0"/>
              </a:rPr>
              <a:t>Thực hiện biến đổi để có kết quả (d)</a:t>
            </a:r>
          </a:p>
          <a:p>
            <a:pPr>
              <a:lnSpc>
                <a:spcPct val="110000"/>
              </a:lnSpc>
            </a:pPr>
            <a:r>
              <a:rPr lang="en-US" altLang="en-US">
                <a:latin typeface="Arial" panose="020B0604020202020204" pitchFamily="34" charset="0"/>
              </a:rPr>
              <a:t>Các bước thực hiện</a:t>
            </a:r>
          </a:p>
          <a:p>
            <a:pPr lvl="1">
              <a:lnSpc>
                <a:spcPct val="110000"/>
              </a:lnSpc>
            </a:pPr>
            <a:r>
              <a:rPr lang="en-US" altLang="en-US">
                <a:latin typeface="Arial" panose="020B0604020202020204" pitchFamily="34" charset="0"/>
              </a:rPr>
              <a:t>Dịch đối tượng sao cho điểm chốt trùng gốc tọa độ</a:t>
            </a:r>
          </a:p>
          <a:p>
            <a:pPr lvl="1">
              <a:lnSpc>
                <a:spcPct val="110000"/>
              </a:lnSpc>
            </a:pPr>
            <a:r>
              <a:rPr lang="en-US" altLang="en-US">
                <a:latin typeface="Arial" panose="020B0604020202020204" pitchFamily="34" charset="0"/>
              </a:rPr>
              <a:t>Thực hiện quay theo góc cho trước</a:t>
            </a:r>
          </a:p>
          <a:p>
            <a:pPr lvl="1">
              <a:lnSpc>
                <a:spcPct val="110000"/>
              </a:lnSpc>
            </a:pPr>
            <a:r>
              <a:rPr lang="en-US" altLang="en-US">
                <a:latin typeface="Arial" panose="020B0604020202020204" pitchFamily="34" charset="0"/>
              </a:rPr>
              <a:t>Dịch ngược đối tượng sao cho điểm chốt về vị trí ban đầu</a:t>
            </a:r>
          </a:p>
          <a:p>
            <a:endParaRPr lang="en-US" altLang="en-US" sz="4000">
              <a:latin typeface="Arial" panose="020B0604020202020204" pitchFamily="34" charset="0"/>
            </a:endParaRPr>
          </a:p>
        </p:txBody>
      </p:sp>
      <p:pic>
        <p:nvPicPr>
          <p:cNvPr id="67687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1366" y="4435549"/>
            <a:ext cx="6324600" cy="212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92282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3CAC2-3790-4098-843B-395465B40297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675844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 smtClean="0">
                <a:latin typeface="Arial" panose="020B0604020202020204" pitchFamily="34" charset="0"/>
              </a:rPr>
              <a:t>4.1.6</a:t>
            </a:r>
            <a:r>
              <a:rPr lang="en-US" altLang="en-US">
                <a:latin typeface="Arial" panose="020B0604020202020204" pitchFamily="34" charset="0"/>
              </a:rPr>
              <a:t>. Quay theo điểm chốt</a:t>
            </a:r>
          </a:p>
        </p:txBody>
      </p:sp>
      <p:sp>
        <p:nvSpPr>
          <p:cNvPr id="675845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356719" y="1028563"/>
            <a:ext cx="10018713" cy="3124201"/>
          </a:xfrm>
          <a:noFill/>
          <a:ln/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Ma trận tổng hợp</a:t>
            </a:r>
          </a:p>
          <a:p>
            <a:endParaRPr lang="en-US" altLang="en-US" sz="4000">
              <a:latin typeface="Arial" panose="020B0604020202020204" pitchFamily="34" charset="0"/>
            </a:endParaRPr>
          </a:p>
        </p:txBody>
      </p:sp>
      <p:pic>
        <p:nvPicPr>
          <p:cNvPr id="675847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5329" y="2145825"/>
            <a:ext cx="4655933" cy="1909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75848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0995" y="4338503"/>
            <a:ext cx="6324600" cy="212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304896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92418-6F09-42B9-9837-AD41CC47A563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674820" name="Rectangle 4"/>
          <p:cNvSpPr>
            <a:spLocks noGrp="1" noChangeArrowheads="1"/>
          </p:cNvSpPr>
          <p:nvPr>
            <p:ph type="title"/>
          </p:nvPr>
        </p:nvSpPr>
        <p:spPr>
          <a:xfrm>
            <a:off x="1484309" y="0"/>
            <a:ext cx="10018713" cy="1752599"/>
          </a:xfrm>
          <a:noFill/>
          <a:ln/>
        </p:spPr>
        <p:txBody>
          <a:bodyPr/>
          <a:lstStyle/>
          <a:p>
            <a:r>
              <a:rPr lang="en-US" altLang="en-US" smtClean="0">
                <a:latin typeface="Arial" panose="020B0604020202020204" pitchFamily="34" charset="0"/>
              </a:rPr>
              <a:t>4.1.7</a:t>
            </a:r>
            <a:r>
              <a:rPr lang="en-US" altLang="en-US">
                <a:latin typeface="Arial" panose="020B0604020202020204" pitchFamily="34" charset="0"/>
              </a:rPr>
              <a:t>. Co giãn theo hướng tùy ý</a:t>
            </a:r>
          </a:p>
        </p:txBody>
      </p:sp>
      <p:sp>
        <p:nvSpPr>
          <p:cNvPr id="674821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377985" y="1727199"/>
            <a:ext cx="10018713" cy="3124201"/>
          </a:xfrm>
          <a:noFill/>
          <a:ln/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en-US">
                <a:latin typeface="Arial" panose="020B0604020202020204" pitchFamily="34" charset="0"/>
              </a:rPr>
              <a:t>Ma trận biến đổi co dãn cơ bản</a:t>
            </a:r>
          </a:p>
          <a:p>
            <a:pPr lvl="1">
              <a:lnSpc>
                <a:spcPct val="120000"/>
              </a:lnSpc>
            </a:pPr>
            <a:r>
              <a:rPr lang="en-US" altLang="en-US">
                <a:latin typeface="Arial" panose="020B0604020202020204" pitchFamily="34" charset="0"/>
              </a:rPr>
              <a:t>Tỷ lệ Sx và Sy áp dụng cho co dãn theo chiều trục x và y</a:t>
            </a:r>
          </a:p>
          <a:p>
            <a:pPr>
              <a:lnSpc>
                <a:spcPct val="120000"/>
              </a:lnSpc>
            </a:pPr>
            <a:r>
              <a:rPr lang="en-US" altLang="en-US">
                <a:latin typeface="Arial" panose="020B0604020202020204" pitchFamily="34" charset="0"/>
              </a:rPr>
              <a:t>Co dãn theo hướng tùy ý</a:t>
            </a:r>
          </a:p>
          <a:p>
            <a:pPr lvl="1">
              <a:lnSpc>
                <a:spcPct val="120000"/>
              </a:lnSpc>
            </a:pPr>
            <a:r>
              <a:rPr lang="en-US" altLang="en-US">
                <a:latin typeface="Arial" panose="020B0604020202020204" pitchFamily="34" charset="0"/>
              </a:rPr>
              <a:t>Thực hiện chuyển đổi gộp: xoay và co dãn</a:t>
            </a:r>
          </a:p>
          <a:p>
            <a:pPr>
              <a:lnSpc>
                <a:spcPct val="120000"/>
              </a:lnSpc>
            </a:pPr>
            <a:r>
              <a:rPr lang="en-US" altLang="en-US">
                <a:latin typeface="Arial" panose="020B0604020202020204" pitchFamily="34" charset="0"/>
              </a:rPr>
              <a:t>Vấn đề</a:t>
            </a:r>
          </a:p>
          <a:p>
            <a:pPr lvl="1">
              <a:lnSpc>
                <a:spcPct val="120000"/>
              </a:lnSpc>
            </a:pPr>
            <a:r>
              <a:rPr lang="en-US" altLang="en-US">
                <a:latin typeface="Arial" panose="020B0604020202020204" pitchFamily="34" charset="0"/>
              </a:rPr>
              <a:t>Cho trước hình vuông ABCD, hãy co dãn nó theo hướng trên hình a) và theo tỷ lệ S1, S2</a:t>
            </a:r>
          </a:p>
          <a:p>
            <a:endParaRPr lang="en-US" altLang="en-US" sz="4000">
              <a:latin typeface="Arial" panose="020B0604020202020204" pitchFamily="34" charset="0"/>
            </a:endParaRPr>
          </a:p>
        </p:txBody>
      </p:sp>
      <p:pic>
        <p:nvPicPr>
          <p:cNvPr id="674824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9761" y="4500525"/>
            <a:ext cx="6362700" cy="193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57596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A5689-3E2F-40F9-9EF0-23025DAB60C7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673796" name="Rectangle 4"/>
          <p:cNvSpPr>
            <a:spLocks noGrp="1" noChangeArrowheads="1"/>
          </p:cNvSpPr>
          <p:nvPr>
            <p:ph type="title"/>
          </p:nvPr>
        </p:nvSpPr>
        <p:spPr>
          <a:xfrm>
            <a:off x="1484310" y="0"/>
            <a:ext cx="10018713" cy="1752599"/>
          </a:xfrm>
          <a:noFill/>
          <a:ln/>
        </p:spPr>
        <p:txBody>
          <a:bodyPr/>
          <a:lstStyle/>
          <a:p>
            <a:r>
              <a:rPr lang="en-US" altLang="en-US" smtClean="0">
                <a:latin typeface="Arial" panose="020B0604020202020204" pitchFamily="34" charset="0"/>
              </a:rPr>
              <a:t>4.1.7</a:t>
            </a:r>
            <a:r>
              <a:rPr lang="en-US" altLang="en-US">
                <a:latin typeface="Arial" panose="020B0604020202020204" pitchFamily="34" charset="0"/>
              </a:rPr>
              <a:t>. Co giãn theo hướng tùy ý</a:t>
            </a:r>
          </a:p>
        </p:txBody>
      </p:sp>
      <p:sp>
        <p:nvSpPr>
          <p:cNvPr id="673797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580003" y="1444255"/>
            <a:ext cx="10018713" cy="3124201"/>
          </a:xfrm>
          <a:noFill/>
          <a:ln/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>
                <a:latin typeface="Arial" panose="020B0604020202020204" pitchFamily="34" charset="0"/>
              </a:rPr>
              <a:t>Giải pháp</a:t>
            </a:r>
          </a:p>
          <a:p>
            <a:pPr lvl="1">
              <a:lnSpc>
                <a:spcPct val="110000"/>
              </a:lnSpc>
            </a:pPr>
            <a:r>
              <a:rPr lang="en-US" altLang="en-US">
                <a:latin typeface="Arial" panose="020B0604020202020204" pitchFamily="34" charset="0"/>
              </a:rPr>
              <a:t>Xoay hướng S1, S2 sao cho trùng với trục x và trục y (góc xoay </a:t>
            </a:r>
            <a:r>
              <a:rPr lang="el-GR" altLang="en-US">
                <a:latin typeface="Arial" panose="020B0604020202020204" pitchFamily="34" charset="0"/>
              </a:rPr>
              <a:t>θ</a:t>
            </a:r>
            <a:r>
              <a:rPr lang="en-US" altLang="en-US">
                <a:latin typeface="Arial" panose="020B0604020202020204" pitchFamily="34" charset="0"/>
              </a:rPr>
              <a:t>)</a:t>
            </a:r>
          </a:p>
          <a:p>
            <a:pPr lvl="1">
              <a:lnSpc>
                <a:spcPct val="110000"/>
              </a:lnSpc>
            </a:pPr>
            <a:r>
              <a:rPr lang="en-US" altLang="en-US">
                <a:latin typeface="Arial" panose="020B0604020202020204" pitchFamily="34" charset="0"/>
              </a:rPr>
              <a:t>Áp dụng biến đổi co dãn theo tỷ lệ S1, S2</a:t>
            </a:r>
          </a:p>
          <a:p>
            <a:pPr lvl="1">
              <a:lnSpc>
                <a:spcPct val="110000"/>
              </a:lnSpc>
            </a:pPr>
            <a:r>
              <a:rPr lang="en-US" altLang="en-US">
                <a:latin typeface="Arial" panose="020B0604020202020204" pitchFamily="34" charset="0"/>
              </a:rPr>
              <a:t>Xoay trả lại hướng ban đầu</a:t>
            </a:r>
          </a:p>
          <a:p>
            <a:endParaRPr lang="en-US" altLang="en-US" sz="4400">
              <a:latin typeface="Arial" panose="020B0604020202020204" pitchFamily="34" charset="0"/>
            </a:endParaRPr>
          </a:p>
        </p:txBody>
      </p:sp>
      <p:pic>
        <p:nvPicPr>
          <p:cNvPr id="67379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4038600"/>
            <a:ext cx="7391400" cy="2243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38315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1A3CB-0DF4-40D1-AC0A-21A2D40A9D73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672772" name="Rectangle 4"/>
          <p:cNvSpPr>
            <a:spLocks noGrp="1" noChangeArrowheads="1"/>
          </p:cNvSpPr>
          <p:nvPr>
            <p:ph type="title"/>
          </p:nvPr>
        </p:nvSpPr>
        <p:spPr>
          <a:xfrm>
            <a:off x="1484310" y="-1"/>
            <a:ext cx="10018713" cy="1752599"/>
          </a:xfrm>
          <a:noFill/>
          <a:ln/>
        </p:spPr>
        <p:txBody>
          <a:bodyPr/>
          <a:lstStyle/>
          <a:p>
            <a:r>
              <a:rPr lang="en-US" altLang="en-US" smtClean="0">
                <a:latin typeface="Arial" panose="020B0604020202020204" pitchFamily="34" charset="0"/>
              </a:rPr>
              <a:t>4.1.7</a:t>
            </a:r>
            <a:r>
              <a:rPr lang="en-US" altLang="en-US">
                <a:latin typeface="Arial" panose="020B0604020202020204" pitchFamily="34" charset="0"/>
              </a:rPr>
              <a:t>. Co giãn theo hướng tùy ý</a:t>
            </a:r>
          </a:p>
        </p:txBody>
      </p:sp>
      <p:sp>
        <p:nvSpPr>
          <p:cNvPr id="672773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643798" y="142874"/>
            <a:ext cx="10018713" cy="3124201"/>
          </a:xfrm>
          <a:noFill/>
          <a:ln/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Ma trận tổng hợp</a:t>
            </a:r>
          </a:p>
        </p:txBody>
      </p:sp>
      <p:pic>
        <p:nvPicPr>
          <p:cNvPr id="67277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4462464"/>
            <a:ext cx="7391400" cy="2243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7277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286000"/>
            <a:ext cx="8077200" cy="196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63507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E41E-ADCC-43F4-80A7-8ED37AA970E1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671748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 smtClean="0">
                <a:latin typeface="Arial" panose="020B0604020202020204" pitchFamily="34" charset="0"/>
              </a:rPr>
              <a:t>4.1.8</a:t>
            </a:r>
            <a:r>
              <a:rPr lang="en-US" altLang="en-US">
                <a:latin typeface="Arial" panose="020B0604020202020204" pitchFamily="34" charset="0"/>
              </a:rPr>
              <a:t>. Phép phản chiếu</a:t>
            </a:r>
          </a:p>
        </p:txBody>
      </p:sp>
      <p:sp>
        <p:nvSpPr>
          <p:cNvPr id="671749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600201"/>
            <a:ext cx="8382000" cy="4530725"/>
          </a:xfrm>
          <a:noFill/>
          <a:ln/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1400">
                <a:latin typeface="Arial" panose="020B0604020202020204" pitchFamily="34" charset="0"/>
              </a:rPr>
              <a:t>   </a:t>
            </a:r>
            <a:r>
              <a:rPr lang="en-US" altLang="en-US" sz="1600">
                <a:latin typeface="Arial" panose="020B0604020202020204" pitchFamily="34" charset="0"/>
              </a:rPr>
              <a:t>Phản chiếu qua trục x	     Phản chiếu qua trục y             Phản chiếu qua gốc tọa độ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1600">
              <a:latin typeface="Arial" panose="020B0604020202020204" pitchFamily="34" charset="0"/>
            </a:endParaRPr>
          </a:p>
        </p:txBody>
      </p:sp>
      <p:graphicFrame>
        <p:nvGraphicFramePr>
          <p:cNvPr id="671752" name="Object 8"/>
          <p:cNvGraphicFramePr>
            <a:graphicFrameLocks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01425156"/>
              </p:ext>
            </p:extLst>
          </p:nvPr>
        </p:nvGraphicFramePr>
        <p:xfrm>
          <a:off x="2209800" y="1535113"/>
          <a:ext cx="7924800" cy="199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Equation" r:id="rId3" imgW="2743200" imgH="711000" progId="Equation.3">
                  <p:embed/>
                </p:oleObj>
              </mc:Choice>
              <mc:Fallback>
                <p:oleObj name="Equation" r:id="rId3" imgW="2743200" imgH="711000" progId="Equation.3">
                  <p:embed/>
                  <p:pic>
                    <p:nvPicPr>
                      <p:cNvPr id="67175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2971"/>
                      <a:stretch>
                        <a:fillRect/>
                      </a:stretch>
                    </p:blipFill>
                    <p:spPr bwMode="auto">
                      <a:xfrm>
                        <a:off x="2209800" y="1535113"/>
                        <a:ext cx="7924800" cy="1995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1754" name="Line 10"/>
          <p:cNvSpPr>
            <a:spLocks noChangeShapeType="1"/>
          </p:cNvSpPr>
          <p:nvPr/>
        </p:nvSpPr>
        <p:spPr bwMode="auto">
          <a:xfrm>
            <a:off x="3200400" y="3048000"/>
            <a:ext cx="7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671755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4191001"/>
            <a:ext cx="7534275" cy="236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47409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sz="3600" b="1" smtClean="0">
                <a:latin typeface="Arial" panose="020B0604020202020204" pitchFamily="34" charset="0"/>
              </a:rPr>
              <a:t>CHUYỂN </a:t>
            </a:r>
            <a:r>
              <a:rPr lang="en-US" altLang="en-US" sz="3600" b="1">
                <a:latin typeface="Arial" panose="020B0604020202020204" pitchFamily="34" charset="0"/>
              </a:rPr>
              <a:t>TỪ TỌA ĐỘ THỰC SANG TỌA ĐỘ </a:t>
            </a:r>
            <a:r>
              <a:rPr lang="en-US" altLang="en-US" sz="3600" b="1">
                <a:latin typeface="Arial" panose="020B0604020202020204" pitchFamily="34" charset="0"/>
              </a:rPr>
              <a:t>MÀN </a:t>
            </a:r>
            <a:r>
              <a:rPr lang="en-US" altLang="en-US" sz="3600" b="1" smtClean="0">
                <a:latin typeface="Arial" panose="020B0604020202020204" pitchFamily="34" charset="0"/>
              </a:rPr>
              <a:t>HÌNH</a:t>
            </a:r>
            <a:endParaRPr lang="en-US" sz="3600"/>
          </a:p>
        </p:txBody>
      </p:sp>
      <p:sp>
        <p:nvSpPr>
          <p:cNvPr id="685061" name="Rectangle 5"/>
          <p:cNvSpPr>
            <a:spLocks noGrp="1" noChangeArrowheads="1"/>
          </p:cNvSpPr>
          <p:nvPr>
            <p:ph type="subTitle" idx="1"/>
          </p:nvPr>
        </p:nvSpPr>
        <p:spPr>
          <a:noFill/>
          <a:ln/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endParaRPr lang="en-US" altLang="en-US" sz="3200" b="1"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FDD4F-DD1D-4922-8A24-0CF4D4C1C7C2}" type="slidenum">
              <a:rPr lang="en-US" altLang="en-US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26921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E1AC-EC16-4F4F-BA87-3620A9D519F1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686084" name="Rectangle 4"/>
          <p:cNvSpPr>
            <a:spLocks noGrp="1" noChangeArrowheads="1"/>
          </p:cNvSpPr>
          <p:nvPr>
            <p:ph type="title"/>
          </p:nvPr>
        </p:nvSpPr>
        <p:spPr>
          <a:xfrm>
            <a:off x="1981200" y="277814"/>
            <a:ext cx="8534400" cy="1139825"/>
          </a:xfrm>
          <a:noFill/>
          <a:ln/>
        </p:spPr>
        <p:txBody>
          <a:bodyPr/>
          <a:lstStyle/>
          <a:p>
            <a:r>
              <a:rPr lang="en-US" altLang="en-US" smtClean="0">
                <a:latin typeface="Arial" panose="020B0604020202020204" pitchFamily="34" charset="0"/>
              </a:rPr>
              <a:t>4.2.1.Tọa </a:t>
            </a:r>
            <a:r>
              <a:rPr lang="en-US" altLang="en-US">
                <a:latin typeface="Arial" panose="020B0604020202020204" pitchFamily="34" charset="0"/>
              </a:rPr>
              <a:t>độ thực sang cửa sổ nhìn</a:t>
            </a:r>
          </a:p>
        </p:txBody>
      </p:sp>
      <p:sp>
        <p:nvSpPr>
          <p:cNvPr id="686090" name="Rectangle 10"/>
          <p:cNvSpPr>
            <a:spLocks noGrp="1" noChangeArrowheads="1"/>
          </p:cNvSpPr>
          <p:nvPr>
            <p:ph type="body" sz="half" idx="1"/>
          </p:nvPr>
        </p:nvSpPr>
        <p:spPr>
          <a:noFill/>
          <a:ln/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Cấu trúc điểm trong không gian 2D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Type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	Point_2D = Record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		      x,y: integer;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End;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1813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AEB7C-E676-481A-8DE6-864EB6469BF9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691204" name="Rectangle 4"/>
          <p:cNvSpPr>
            <a:spLocks noGrp="1" noChangeArrowheads="1"/>
          </p:cNvSpPr>
          <p:nvPr>
            <p:ph type="title"/>
          </p:nvPr>
        </p:nvSpPr>
        <p:spPr>
          <a:xfrm>
            <a:off x="1981200" y="277814"/>
            <a:ext cx="8534400" cy="1139825"/>
          </a:xfrm>
          <a:noFill/>
          <a:ln/>
        </p:spPr>
        <p:txBody>
          <a:bodyPr/>
          <a:lstStyle/>
          <a:p>
            <a:r>
              <a:rPr lang="en-US" altLang="en-US" smtClean="0">
                <a:latin typeface="Arial" panose="020B0604020202020204" pitchFamily="34" charset="0"/>
              </a:rPr>
              <a:t>4.2.1.Tọa </a:t>
            </a:r>
            <a:r>
              <a:rPr lang="en-US" altLang="en-US">
                <a:latin typeface="Arial" panose="020B0604020202020204" pitchFamily="34" charset="0"/>
              </a:rPr>
              <a:t>độ thực sang cửa sổ nhìn</a:t>
            </a:r>
          </a:p>
        </p:txBody>
      </p:sp>
      <p:sp>
        <p:nvSpPr>
          <p:cNvPr id="691205" name="Rectangle 5"/>
          <p:cNvSpPr>
            <a:spLocks noGrp="1" noChangeArrowheads="1"/>
          </p:cNvSpPr>
          <p:nvPr>
            <p:ph type="body" sz="half" idx="1"/>
          </p:nvPr>
        </p:nvSpPr>
        <p:spPr>
          <a:noFill/>
          <a:ln/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Giả sử đối tượng nằm trong cửa sổ thực hình chữ nhật w(x</a:t>
            </a:r>
            <a:r>
              <a:rPr lang="en-US" altLang="en-US" baseline="-25000">
                <a:latin typeface="Arial" panose="020B0604020202020204" pitchFamily="34" charset="0"/>
              </a:rPr>
              <a:t>min</a:t>
            </a:r>
            <a:r>
              <a:rPr lang="en-US" altLang="en-US">
                <a:latin typeface="Arial" panose="020B0604020202020204" pitchFamily="34" charset="0"/>
              </a:rPr>
              <a:t>,y</a:t>
            </a:r>
            <a:r>
              <a:rPr lang="en-US" altLang="en-US" baseline="-25000">
                <a:latin typeface="Arial" panose="020B0604020202020204" pitchFamily="34" charset="0"/>
              </a:rPr>
              <a:t>min</a:t>
            </a:r>
            <a:r>
              <a:rPr lang="en-US" altLang="en-US">
                <a:latin typeface="Arial" panose="020B0604020202020204" pitchFamily="34" charset="0"/>
              </a:rPr>
              <a:t>,x</a:t>
            </a:r>
            <a:r>
              <a:rPr lang="en-US" altLang="en-US" baseline="-25000">
                <a:latin typeface="Arial" panose="020B0604020202020204" pitchFamily="34" charset="0"/>
              </a:rPr>
              <a:t>max</a:t>
            </a:r>
            <a:r>
              <a:rPr lang="en-US" altLang="en-US">
                <a:latin typeface="Arial" panose="020B0604020202020204" pitchFamily="34" charset="0"/>
              </a:rPr>
              <a:t>,y</a:t>
            </a:r>
            <a:r>
              <a:rPr lang="en-US" altLang="en-US" baseline="-25000">
                <a:latin typeface="Arial" panose="020B0604020202020204" pitchFamily="34" charset="0"/>
              </a:rPr>
              <a:t>max</a:t>
            </a:r>
            <a:r>
              <a:rPr lang="en-US" altLang="en-US">
                <a:latin typeface="Arial" panose="020B0604020202020204" pitchFamily="34" charset="0"/>
              </a:rPr>
              <a:t>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	</a:t>
            </a:r>
            <a:r>
              <a:rPr lang="en-US" altLang="en-US"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>
                <a:latin typeface="Arial" panose="020B0604020202020204" pitchFamily="34" charset="0"/>
              </a:rPr>
              <a:t>Kích thước cửa sổ: (x</a:t>
            </a:r>
            <a:r>
              <a:rPr lang="en-US" altLang="en-US" baseline="-25000">
                <a:latin typeface="Arial" panose="020B0604020202020204" pitchFamily="34" charset="0"/>
              </a:rPr>
              <a:t>max</a:t>
            </a:r>
            <a:r>
              <a:rPr lang="en-US" altLang="en-US">
                <a:latin typeface="Arial" panose="020B0604020202020204" pitchFamily="34" charset="0"/>
              </a:rPr>
              <a:t>-x</a:t>
            </a:r>
            <a:r>
              <a:rPr lang="en-US" altLang="en-US" baseline="-25000">
                <a:latin typeface="Arial" panose="020B0604020202020204" pitchFamily="34" charset="0"/>
              </a:rPr>
              <a:t>min</a:t>
            </a:r>
            <a:r>
              <a:rPr lang="en-US" altLang="en-US">
                <a:latin typeface="Arial" panose="020B0604020202020204" pitchFamily="34" charset="0"/>
              </a:rPr>
              <a:t>)x(y</a:t>
            </a:r>
            <a:r>
              <a:rPr lang="en-US" altLang="en-US" baseline="-25000">
                <a:latin typeface="Arial" panose="020B0604020202020204" pitchFamily="34" charset="0"/>
              </a:rPr>
              <a:t>max</a:t>
            </a:r>
            <a:r>
              <a:rPr lang="en-US" altLang="en-US">
                <a:latin typeface="Arial" panose="020B0604020202020204" pitchFamily="34" charset="0"/>
              </a:rPr>
              <a:t>-y</a:t>
            </a:r>
            <a:r>
              <a:rPr lang="en-US" altLang="en-US" baseline="-25000">
                <a:latin typeface="Arial" panose="020B0604020202020204" pitchFamily="34" charset="0"/>
              </a:rPr>
              <a:t>min</a:t>
            </a:r>
            <a:r>
              <a:rPr lang="en-US" altLang="en-US">
                <a:latin typeface="Arial" panose="020B0604020202020204" pitchFamily="34" charset="0"/>
              </a:rPr>
              <a:t>)</a:t>
            </a:r>
          </a:p>
          <a:p>
            <a:r>
              <a:rPr lang="en-US" altLang="en-US">
                <a:latin typeface="Arial" panose="020B0604020202020204" pitchFamily="34" charset="0"/>
              </a:rPr>
              <a:t>Vấn đề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Nhìn đối tượng trong cửa sổ V hình chữ nhật có kích thước MaxX * MaxY</a:t>
            </a:r>
          </a:p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40806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B7296-AE4F-47DF-9575-7E9BFE475B27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690180" name="Rectangle 4"/>
          <p:cNvSpPr>
            <a:spLocks noGrp="1" noChangeArrowheads="1"/>
          </p:cNvSpPr>
          <p:nvPr>
            <p:ph type="title"/>
          </p:nvPr>
        </p:nvSpPr>
        <p:spPr>
          <a:xfrm>
            <a:off x="1981200" y="277814"/>
            <a:ext cx="8534400" cy="1139825"/>
          </a:xfrm>
          <a:noFill/>
          <a:ln/>
        </p:spPr>
        <p:txBody>
          <a:bodyPr/>
          <a:lstStyle/>
          <a:p>
            <a:r>
              <a:rPr lang="en-US" altLang="en-US" smtClean="0">
                <a:latin typeface="Arial" panose="020B0604020202020204" pitchFamily="34" charset="0"/>
              </a:rPr>
              <a:t>4.2.1.Tọa </a:t>
            </a:r>
            <a:r>
              <a:rPr lang="en-US" altLang="en-US">
                <a:latin typeface="Arial" panose="020B0604020202020204" pitchFamily="34" charset="0"/>
              </a:rPr>
              <a:t>độ thực sang cửa sổ nhìn</a:t>
            </a:r>
          </a:p>
        </p:txBody>
      </p:sp>
      <p:sp>
        <p:nvSpPr>
          <p:cNvPr id="690181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750124" y="2071576"/>
            <a:ext cx="10018713" cy="3124201"/>
          </a:xfrm>
          <a:noFill/>
          <a:ln/>
        </p:spPr>
        <p:txBody>
          <a:bodyPr>
            <a:normAutofit fontScale="92500" lnSpcReduction="10000"/>
          </a:bodyPr>
          <a:lstStyle/>
          <a:p>
            <a:r>
              <a:rPr lang="en-US" altLang="en-US">
                <a:latin typeface="Arial" panose="020B0604020202020204" pitchFamily="34" charset="0"/>
              </a:rPr>
              <a:t>Tình huống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Nếu V &gt; W </a:t>
            </a:r>
            <a:r>
              <a:rPr lang="en-US" altLang="en-US">
                <a:latin typeface="Arial" panose="020B0604020202020204" pitchFamily="34" charset="0"/>
                <a:sym typeface="Wingdings" panose="05000000000000000000" pitchFamily="2" charset="2"/>
              </a:rPr>
              <a:t> Phóng to đối tượng</a:t>
            </a:r>
          </a:p>
          <a:p>
            <a:pPr lvl="1"/>
            <a:r>
              <a:rPr lang="en-US" altLang="en-US">
                <a:latin typeface="Arial" panose="020B0604020202020204" pitchFamily="34" charset="0"/>
                <a:sym typeface="Wingdings" panose="05000000000000000000" pitchFamily="2" charset="2"/>
              </a:rPr>
              <a:t>Nếu V &lt; W  Thu nhỏ đối tượng</a:t>
            </a:r>
          </a:p>
          <a:p>
            <a:pPr lvl="1"/>
            <a:r>
              <a:rPr lang="en-US" altLang="en-US">
                <a:latin typeface="Arial" panose="020B0604020202020204" pitchFamily="34" charset="0"/>
                <a:sym typeface="Wingdings" panose="05000000000000000000" pitchFamily="2" charset="2"/>
              </a:rPr>
              <a:t>Nếu V = W  Giữ nguyên đối tượng</a:t>
            </a:r>
            <a:endParaRPr lang="en-US" altLang="en-US"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  <a:sym typeface="Wingdings" panose="05000000000000000000" pitchFamily="2" charset="2"/>
              </a:rPr>
              <a:t> Co giãn đối tượng theo hệ số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 sz="2400">
                <a:latin typeface="Arial" panose="020B0604020202020204" pitchFamily="34" charset="0"/>
              </a:rPr>
              <a:t>CGx = MaxX/(X</a:t>
            </a:r>
            <a:r>
              <a:rPr lang="en-US" altLang="en-US" sz="2400" baseline="-25000">
                <a:latin typeface="Arial" panose="020B0604020202020204" pitchFamily="34" charset="0"/>
              </a:rPr>
              <a:t>max</a:t>
            </a:r>
            <a:r>
              <a:rPr lang="en-US" altLang="en-US" sz="2400">
                <a:latin typeface="Arial" panose="020B0604020202020204" pitchFamily="34" charset="0"/>
              </a:rPr>
              <a:t>-X</a:t>
            </a:r>
            <a:r>
              <a:rPr lang="en-US" altLang="en-US" sz="2400" baseline="-25000">
                <a:latin typeface="Arial" panose="020B0604020202020204" pitchFamily="34" charset="0"/>
              </a:rPr>
              <a:t>min</a:t>
            </a:r>
            <a:r>
              <a:rPr lang="en-US" altLang="en-US" sz="2400">
                <a:latin typeface="Arial" panose="020B0604020202020204" pitchFamily="34" charset="0"/>
              </a:rPr>
              <a:t>)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 sz="2400">
                <a:latin typeface="Arial" panose="020B0604020202020204" pitchFamily="34" charset="0"/>
              </a:rPr>
              <a:t>CGy = MaxY/(Y</a:t>
            </a:r>
            <a:r>
              <a:rPr lang="en-US" altLang="en-US" sz="2400" baseline="-25000">
                <a:latin typeface="Arial" panose="020B0604020202020204" pitchFamily="34" charset="0"/>
              </a:rPr>
              <a:t>max</a:t>
            </a:r>
            <a:r>
              <a:rPr lang="en-US" altLang="en-US" sz="2400">
                <a:latin typeface="Arial" panose="020B0604020202020204" pitchFamily="34" charset="0"/>
              </a:rPr>
              <a:t>-Y</a:t>
            </a:r>
            <a:r>
              <a:rPr lang="en-US" altLang="en-US" sz="2400" baseline="-25000">
                <a:latin typeface="Arial" panose="020B0604020202020204" pitchFamily="34" charset="0"/>
              </a:rPr>
              <a:t>min</a:t>
            </a:r>
            <a:r>
              <a:rPr lang="en-US" altLang="en-US" sz="2400">
                <a:latin typeface="Arial" panose="020B0604020202020204" pitchFamily="34" charset="0"/>
              </a:rPr>
              <a:t>)</a:t>
            </a:r>
          </a:p>
          <a:p>
            <a:endParaRPr lang="en-US" altLang="en-US" sz="3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4145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CD3B7-CC12-406A-836E-A67ABFF46483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689156" name="Rectangle 4"/>
          <p:cNvSpPr>
            <a:spLocks noGrp="1" noChangeArrowheads="1"/>
          </p:cNvSpPr>
          <p:nvPr>
            <p:ph type="title"/>
          </p:nvPr>
        </p:nvSpPr>
        <p:spPr>
          <a:xfrm>
            <a:off x="1981200" y="277814"/>
            <a:ext cx="8534400" cy="1139825"/>
          </a:xfrm>
          <a:noFill/>
          <a:ln/>
        </p:spPr>
        <p:txBody>
          <a:bodyPr/>
          <a:lstStyle/>
          <a:p>
            <a:r>
              <a:rPr lang="en-US" altLang="en-US" smtClean="0">
                <a:latin typeface="Arial" panose="020B0604020202020204" pitchFamily="34" charset="0"/>
              </a:rPr>
              <a:t>4.2.1.Tọa </a:t>
            </a:r>
            <a:r>
              <a:rPr lang="en-US" altLang="en-US">
                <a:latin typeface="Arial" panose="020B0604020202020204" pitchFamily="34" charset="0"/>
              </a:rPr>
              <a:t>độ thực sang cửa sổ nhìn</a:t>
            </a:r>
          </a:p>
        </p:txBody>
      </p:sp>
      <p:sp>
        <p:nvSpPr>
          <p:cNvPr id="689157" name="Rectangle 5"/>
          <p:cNvSpPr>
            <a:spLocks noGrp="1" noChangeArrowheads="1"/>
          </p:cNvSpPr>
          <p:nvPr>
            <p:ph type="body" sz="half" idx="1"/>
          </p:nvPr>
        </p:nvSpPr>
        <p:spPr>
          <a:noFill/>
          <a:ln/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Thực hiện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Nhân tọa độ các điểm với hệ số co giãn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 sz="2400">
                <a:latin typeface="Arial" panose="020B0604020202020204" pitchFamily="34" charset="0"/>
              </a:rPr>
              <a:t>X</a:t>
            </a:r>
            <a:r>
              <a:rPr lang="en-US" altLang="en-US" sz="2400" baseline="-25000">
                <a:latin typeface="Arial" panose="020B0604020202020204" pitchFamily="34" charset="0"/>
              </a:rPr>
              <a:t>min</a:t>
            </a:r>
            <a:r>
              <a:rPr lang="en-US" altLang="en-US" sz="2400">
                <a:latin typeface="Arial" panose="020B0604020202020204" pitchFamily="34" charset="0"/>
              </a:rPr>
              <a:t> = CGx * x</a:t>
            </a:r>
            <a:r>
              <a:rPr lang="en-US" altLang="en-US" sz="2400" baseline="-25000">
                <a:latin typeface="Arial" panose="020B0604020202020204" pitchFamily="34" charset="0"/>
              </a:rPr>
              <a:t>min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 sz="2400">
                <a:latin typeface="Arial" panose="020B0604020202020204" pitchFamily="34" charset="0"/>
              </a:rPr>
              <a:t>X</a:t>
            </a:r>
            <a:r>
              <a:rPr lang="en-US" altLang="en-US" sz="2400" baseline="-25000">
                <a:latin typeface="Arial" panose="020B0604020202020204" pitchFamily="34" charset="0"/>
              </a:rPr>
              <a:t>max</a:t>
            </a:r>
            <a:r>
              <a:rPr lang="en-US" altLang="en-US" sz="2400">
                <a:latin typeface="Arial" panose="020B0604020202020204" pitchFamily="34" charset="0"/>
              </a:rPr>
              <a:t> = CGx * x</a:t>
            </a:r>
            <a:r>
              <a:rPr lang="en-US" altLang="en-US" sz="2400" baseline="-25000">
                <a:latin typeface="Arial" panose="020B0604020202020204" pitchFamily="34" charset="0"/>
              </a:rPr>
              <a:t>max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 sz="2400">
                <a:latin typeface="Arial" panose="020B0604020202020204" pitchFamily="34" charset="0"/>
              </a:rPr>
              <a:t>Y</a:t>
            </a:r>
            <a:r>
              <a:rPr lang="en-US" altLang="en-US" sz="2400" baseline="-25000">
                <a:latin typeface="Arial" panose="020B0604020202020204" pitchFamily="34" charset="0"/>
              </a:rPr>
              <a:t>min</a:t>
            </a:r>
            <a:r>
              <a:rPr lang="en-US" altLang="en-US" sz="2400">
                <a:latin typeface="Arial" panose="020B0604020202020204" pitchFamily="34" charset="0"/>
              </a:rPr>
              <a:t> = CGy * y</a:t>
            </a:r>
            <a:r>
              <a:rPr lang="en-US" altLang="en-US" sz="2400" baseline="-25000">
                <a:latin typeface="Arial" panose="020B0604020202020204" pitchFamily="34" charset="0"/>
              </a:rPr>
              <a:t>min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 sz="2400">
                <a:latin typeface="Arial" panose="020B0604020202020204" pitchFamily="34" charset="0"/>
              </a:rPr>
              <a:t>X</a:t>
            </a:r>
            <a:r>
              <a:rPr lang="en-US" altLang="en-US" sz="2400" baseline="-25000">
                <a:latin typeface="Arial" panose="020B0604020202020204" pitchFamily="34" charset="0"/>
              </a:rPr>
              <a:t>max</a:t>
            </a:r>
            <a:r>
              <a:rPr lang="en-US" altLang="en-US" sz="2400">
                <a:latin typeface="Arial" panose="020B0604020202020204" pitchFamily="34" charset="0"/>
              </a:rPr>
              <a:t> = CGy * y</a:t>
            </a:r>
            <a:r>
              <a:rPr lang="en-US" altLang="en-US" sz="2400" baseline="-25000">
                <a:latin typeface="Arial" panose="020B0604020202020204" pitchFamily="34" charset="0"/>
              </a:rPr>
              <a:t>max</a:t>
            </a:r>
          </a:p>
          <a:p>
            <a:endParaRPr lang="en-US" altLang="en-US" sz="4000">
              <a:latin typeface="Arial" panose="020B0604020202020204" pitchFamily="34" charset="0"/>
            </a:endParaRPr>
          </a:p>
        </p:txBody>
      </p:sp>
      <p:sp>
        <p:nvSpPr>
          <p:cNvPr id="689158" name="AutoShape 6"/>
          <p:cNvSpPr>
            <a:spLocks/>
          </p:cNvSpPr>
          <p:nvPr/>
        </p:nvSpPr>
        <p:spPr bwMode="auto">
          <a:xfrm>
            <a:off x="2819400" y="2514600"/>
            <a:ext cx="152400" cy="1905000"/>
          </a:xfrm>
          <a:prstGeom prst="leftBrace">
            <a:avLst>
              <a:gd name="adj1" fmla="val 1041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8032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8E08E-D442-4A63-84AD-E6F861F3E19A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6881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81200" y="277814"/>
            <a:ext cx="8534400" cy="1139825"/>
          </a:xfrm>
          <a:noFill/>
          <a:ln/>
        </p:spPr>
        <p:txBody>
          <a:bodyPr/>
          <a:lstStyle/>
          <a:p>
            <a:r>
              <a:rPr lang="en-US" altLang="en-US" smtClean="0">
                <a:latin typeface="Arial" panose="020B0604020202020204" pitchFamily="34" charset="0"/>
              </a:rPr>
              <a:t>4.2.2.Cửa </a:t>
            </a:r>
            <a:r>
              <a:rPr lang="en-US" altLang="en-US">
                <a:latin typeface="Arial" panose="020B0604020202020204" pitchFamily="34" charset="0"/>
              </a:rPr>
              <a:t>sổ nhìn sang màn hình</a:t>
            </a:r>
          </a:p>
        </p:txBody>
      </p:sp>
      <p:sp>
        <p:nvSpPr>
          <p:cNvPr id="688133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739491" y="1433512"/>
            <a:ext cx="10018713" cy="3124201"/>
          </a:xfrm>
          <a:noFill/>
          <a:ln/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Vấn đề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Tọa độ màn hình có gốc là góc trên bên trái, theo chiều dương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Phải mô tả đối tượng như là ở thế giới thực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  <a:sym typeface="Wingdings" panose="05000000000000000000" pitchFamily="2" charset="2"/>
              </a:rPr>
              <a:t> Phải chuyển từ cửa sổ nhìn sang màn hình</a:t>
            </a:r>
            <a:endParaRPr lang="en-US" altLang="en-US">
              <a:latin typeface="Arial" panose="020B0604020202020204" pitchFamily="34" charset="0"/>
            </a:endParaRPr>
          </a:p>
          <a:p>
            <a:endParaRPr lang="en-US" altLang="en-US" sz="4000">
              <a:latin typeface="Arial" panose="020B0604020202020204" pitchFamily="34" charset="0"/>
            </a:endParaRPr>
          </a:p>
        </p:txBody>
      </p:sp>
      <p:grpSp>
        <p:nvGrpSpPr>
          <p:cNvPr id="688139" name="Group 11"/>
          <p:cNvGrpSpPr>
            <a:grpSpLocks/>
          </p:cNvGrpSpPr>
          <p:nvPr/>
        </p:nvGrpSpPr>
        <p:grpSpPr bwMode="auto">
          <a:xfrm>
            <a:off x="4572000" y="4191000"/>
            <a:ext cx="3200400" cy="2209800"/>
            <a:chOff x="864" y="2496"/>
            <a:chExt cx="2016" cy="1392"/>
          </a:xfrm>
        </p:grpSpPr>
        <p:sp>
          <p:nvSpPr>
            <p:cNvPr id="688135" name="Line 7"/>
            <p:cNvSpPr>
              <a:spLocks noChangeShapeType="1"/>
            </p:cNvSpPr>
            <p:nvPr/>
          </p:nvSpPr>
          <p:spPr bwMode="auto">
            <a:xfrm>
              <a:off x="1152" y="2592"/>
              <a:ext cx="0" cy="12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8136" name="Line 8"/>
            <p:cNvSpPr>
              <a:spLocks noChangeShapeType="1"/>
            </p:cNvSpPr>
            <p:nvPr/>
          </p:nvSpPr>
          <p:spPr bwMode="auto">
            <a:xfrm>
              <a:off x="1152" y="2592"/>
              <a:ext cx="17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8138" name="Text Box 10"/>
            <p:cNvSpPr txBox="1">
              <a:spLocks noChangeArrowheads="1"/>
            </p:cNvSpPr>
            <p:nvPr/>
          </p:nvSpPr>
          <p:spPr bwMode="auto">
            <a:xfrm>
              <a:off x="864" y="2496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0,0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923195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C6470-AA6C-43DC-9460-90BF16DD010E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687108" name="Rectangle 4"/>
          <p:cNvSpPr>
            <a:spLocks noGrp="1" noChangeArrowheads="1"/>
          </p:cNvSpPr>
          <p:nvPr>
            <p:ph type="title"/>
          </p:nvPr>
        </p:nvSpPr>
        <p:spPr>
          <a:xfrm>
            <a:off x="1981200" y="277814"/>
            <a:ext cx="8534400" cy="1139825"/>
          </a:xfrm>
          <a:noFill/>
          <a:ln/>
        </p:spPr>
        <p:txBody>
          <a:bodyPr/>
          <a:lstStyle/>
          <a:p>
            <a:r>
              <a:rPr lang="en-US" altLang="en-US" smtClean="0">
                <a:latin typeface="Arial" panose="020B0604020202020204" pitchFamily="34" charset="0"/>
              </a:rPr>
              <a:t>4.2.2.Cửa </a:t>
            </a:r>
            <a:r>
              <a:rPr lang="en-US" altLang="en-US">
                <a:latin typeface="Arial" panose="020B0604020202020204" pitchFamily="34" charset="0"/>
              </a:rPr>
              <a:t>sổ nhìn sang màn hình</a:t>
            </a:r>
          </a:p>
        </p:txBody>
      </p:sp>
      <p:sp>
        <p:nvSpPr>
          <p:cNvPr id="687109" name="Rectangle 5"/>
          <p:cNvSpPr>
            <a:spLocks noGrp="1" noChangeArrowheads="1"/>
          </p:cNvSpPr>
          <p:nvPr>
            <p:ph type="body" sz="half" idx="1"/>
          </p:nvPr>
        </p:nvSpPr>
        <p:spPr>
          <a:noFill/>
          <a:ln/>
        </p:spPr>
        <p:txBody>
          <a:bodyPr>
            <a:normAutofit lnSpcReduction="10000"/>
          </a:bodyPr>
          <a:lstStyle/>
          <a:p>
            <a:r>
              <a:rPr lang="en-US" altLang="en-US">
                <a:latin typeface="Arial" panose="020B0604020202020204" pitchFamily="34" charset="0"/>
              </a:rPr>
              <a:t>Tư tưởng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Nếu x</a:t>
            </a:r>
            <a:r>
              <a:rPr lang="en-US" altLang="en-US" baseline="-25000">
                <a:latin typeface="Arial" panose="020B0604020202020204" pitchFamily="34" charset="0"/>
              </a:rPr>
              <a:t>min</a:t>
            </a:r>
            <a:r>
              <a:rPr lang="en-US" altLang="en-US">
                <a:latin typeface="Arial" panose="020B0604020202020204" pitchFamily="34" charset="0"/>
              </a:rPr>
              <a:t>&lt;0 thì lấy x</a:t>
            </a:r>
            <a:r>
              <a:rPr lang="en-US" altLang="en-US" baseline="-25000">
                <a:latin typeface="Arial" panose="020B0604020202020204" pitchFamily="34" charset="0"/>
              </a:rPr>
              <a:t>gốc</a:t>
            </a:r>
            <a:r>
              <a:rPr lang="en-US" altLang="en-US">
                <a:latin typeface="Arial" panose="020B0604020202020204" pitchFamily="34" charset="0"/>
              </a:rPr>
              <a:t> = |x</a:t>
            </a:r>
            <a:r>
              <a:rPr lang="en-US" altLang="en-US" baseline="-25000">
                <a:latin typeface="Arial" panose="020B0604020202020204" pitchFamily="34" charset="0"/>
              </a:rPr>
              <a:t>min</a:t>
            </a:r>
            <a:r>
              <a:rPr lang="en-US" altLang="en-US">
                <a:latin typeface="Arial" panose="020B0604020202020204" pitchFamily="34" charset="0"/>
              </a:rPr>
              <a:t>|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Nếu y</a:t>
            </a:r>
            <a:r>
              <a:rPr lang="en-US" altLang="en-US" baseline="-25000">
                <a:latin typeface="Arial" panose="020B0604020202020204" pitchFamily="34" charset="0"/>
              </a:rPr>
              <a:t>max</a:t>
            </a:r>
            <a:r>
              <a:rPr lang="en-US" altLang="en-US">
                <a:latin typeface="Arial" panose="020B0604020202020204" pitchFamily="34" charset="0"/>
              </a:rPr>
              <a:t>&gt;0 thì lấy y</a:t>
            </a:r>
            <a:r>
              <a:rPr lang="en-US" altLang="en-US" baseline="-25000">
                <a:latin typeface="Arial" panose="020B0604020202020204" pitchFamily="34" charset="0"/>
              </a:rPr>
              <a:t>gốc</a:t>
            </a:r>
            <a:r>
              <a:rPr lang="en-US" altLang="en-US">
                <a:latin typeface="Arial" panose="020B0604020202020204" pitchFamily="34" charset="0"/>
              </a:rPr>
              <a:t> = |y</a:t>
            </a:r>
            <a:r>
              <a:rPr lang="en-US" altLang="en-US" baseline="-25000">
                <a:latin typeface="Arial" panose="020B0604020202020204" pitchFamily="34" charset="0"/>
              </a:rPr>
              <a:t>max</a:t>
            </a:r>
            <a:r>
              <a:rPr lang="en-US" altLang="en-US">
                <a:latin typeface="Arial" panose="020B0604020202020204" pitchFamily="34" charset="0"/>
              </a:rPr>
              <a:t>|</a:t>
            </a:r>
            <a:endParaRPr lang="en-US" altLang="en-US" baseline="-25000">
              <a:latin typeface="Arial" panose="020B0604020202020204" pitchFamily="34" charset="0"/>
            </a:endParaRPr>
          </a:p>
          <a:p>
            <a:pPr lvl="1"/>
            <a:r>
              <a:rPr lang="en-US" altLang="en-US">
                <a:latin typeface="Arial" panose="020B0604020202020204" pitchFamily="34" charset="0"/>
              </a:rPr>
              <a:t>Các trường hợp khác lấy x</a:t>
            </a:r>
            <a:r>
              <a:rPr lang="en-US" altLang="en-US" baseline="-25000">
                <a:latin typeface="Arial" panose="020B0604020202020204" pitchFamily="34" charset="0"/>
              </a:rPr>
              <a:t>gốc</a:t>
            </a:r>
            <a:r>
              <a:rPr lang="en-US" altLang="en-US">
                <a:latin typeface="Arial" panose="020B0604020202020204" pitchFamily="34" charset="0"/>
              </a:rPr>
              <a:t> =0, y</a:t>
            </a:r>
            <a:r>
              <a:rPr lang="en-US" altLang="en-US" baseline="-25000">
                <a:latin typeface="Arial" panose="020B0604020202020204" pitchFamily="34" charset="0"/>
              </a:rPr>
              <a:t>gốc</a:t>
            </a:r>
            <a:r>
              <a:rPr lang="en-US" altLang="en-US">
                <a:latin typeface="Arial" panose="020B0604020202020204" pitchFamily="34" charset="0"/>
              </a:rPr>
              <a:t> =0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Khi đó, với điểm ban đầu P(x,y) thì</a:t>
            </a:r>
          </a:p>
          <a:p>
            <a:pPr lvl="3">
              <a:buFont typeface="Wingdings" panose="05000000000000000000" pitchFamily="2" charset="2"/>
              <a:buNone/>
            </a:pPr>
            <a:r>
              <a:rPr lang="en-US" altLang="en-US" sz="2400">
                <a:latin typeface="Arial" panose="020B0604020202020204" pitchFamily="34" charset="0"/>
              </a:rPr>
              <a:t>X</a:t>
            </a:r>
            <a:r>
              <a:rPr lang="en-US" altLang="en-US" sz="2400" baseline="-25000">
                <a:latin typeface="Arial" panose="020B0604020202020204" pitchFamily="34" charset="0"/>
              </a:rPr>
              <a:t>new</a:t>
            </a:r>
            <a:r>
              <a:rPr lang="en-US" altLang="en-US" sz="2400">
                <a:latin typeface="Arial" panose="020B0604020202020204" pitchFamily="34" charset="0"/>
              </a:rPr>
              <a:t> = X</a:t>
            </a:r>
            <a:r>
              <a:rPr lang="en-US" altLang="en-US" sz="2400" baseline="-25000">
                <a:latin typeface="Arial" panose="020B0604020202020204" pitchFamily="34" charset="0"/>
              </a:rPr>
              <a:t>gốc</a:t>
            </a:r>
            <a:r>
              <a:rPr lang="en-US" altLang="en-US" sz="2400">
                <a:latin typeface="Arial" panose="020B0604020202020204" pitchFamily="34" charset="0"/>
              </a:rPr>
              <a:t> + x</a:t>
            </a:r>
          </a:p>
          <a:p>
            <a:pPr lvl="3">
              <a:buFont typeface="Wingdings" panose="05000000000000000000" pitchFamily="2" charset="2"/>
              <a:buNone/>
            </a:pPr>
            <a:r>
              <a:rPr lang="en-US" altLang="en-US" sz="2400">
                <a:latin typeface="Arial" panose="020B0604020202020204" pitchFamily="34" charset="0"/>
              </a:rPr>
              <a:t>Y</a:t>
            </a:r>
            <a:r>
              <a:rPr lang="en-US" altLang="en-US" sz="2400" baseline="-25000">
                <a:latin typeface="Arial" panose="020B0604020202020204" pitchFamily="34" charset="0"/>
              </a:rPr>
              <a:t>new</a:t>
            </a:r>
            <a:r>
              <a:rPr lang="en-US" altLang="en-US" sz="2400">
                <a:latin typeface="Arial" panose="020B0604020202020204" pitchFamily="34" charset="0"/>
              </a:rPr>
              <a:t> = Y</a:t>
            </a:r>
            <a:r>
              <a:rPr lang="en-US" altLang="en-US" sz="2400" baseline="-25000">
                <a:latin typeface="Arial" panose="020B0604020202020204" pitchFamily="34" charset="0"/>
              </a:rPr>
              <a:t>gốc</a:t>
            </a:r>
            <a:r>
              <a:rPr lang="en-US" altLang="en-US" sz="2400">
                <a:latin typeface="Arial" panose="020B0604020202020204" pitchFamily="34" charset="0"/>
              </a:rPr>
              <a:t> - y</a:t>
            </a:r>
          </a:p>
          <a:p>
            <a:endParaRPr lang="en-US" altLang="en-US" sz="4800">
              <a:latin typeface="Arial" panose="020B0604020202020204" pitchFamily="34" charset="0"/>
            </a:endParaRPr>
          </a:p>
        </p:txBody>
      </p:sp>
      <p:sp>
        <p:nvSpPr>
          <p:cNvPr id="687114" name="AutoShape 10"/>
          <p:cNvSpPr>
            <a:spLocks/>
          </p:cNvSpPr>
          <p:nvPr/>
        </p:nvSpPr>
        <p:spPr bwMode="auto">
          <a:xfrm>
            <a:off x="3352800" y="38862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3719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smtClean="0">
                <a:latin typeface="Arial" panose="020B0604020202020204" pitchFamily="34" charset="0"/>
                <a:cs typeface="Arial" panose="020B0604020202020204" pitchFamily="34" charset="0"/>
              </a:rPr>
              <a:t>CÁC PHÉP BIẾN ĐỔI </a:t>
            </a:r>
            <a:br>
              <a:rPr lang="en-US" sz="480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800" smtClean="0">
                <a:latin typeface="Arial" panose="020B0604020202020204" pitchFamily="34" charset="0"/>
                <a:cs typeface="Arial" panose="020B0604020202020204" pitchFamily="34" charset="0"/>
              </a:rPr>
              <a:t>HÌNH HỌC 3D</a:t>
            </a:r>
            <a:endParaRPr lang="en-US" sz="4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455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D450B-D9EB-4365-A7B2-5CD77DA43E67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424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654432" y="207335"/>
            <a:ext cx="10018713" cy="1752599"/>
          </a:xfrm>
        </p:spPr>
        <p:txBody>
          <a:bodyPr/>
          <a:lstStyle/>
          <a:p>
            <a:pPr algn="just"/>
            <a:r>
              <a:rPr lang="en-US" altLang="en-US" smtClean="0">
                <a:latin typeface="Arial" panose="020B0604020202020204" pitchFamily="34" charset="0"/>
              </a:rPr>
              <a:t>4.3. </a:t>
            </a:r>
            <a:r>
              <a:rPr lang="en-US" altLang="en-US">
                <a:latin typeface="Arial" panose="020B0604020202020204" pitchFamily="34" charset="0"/>
              </a:rPr>
              <a:t>Đại số véctơ</a:t>
            </a:r>
          </a:p>
        </p:txBody>
      </p:sp>
      <p:sp>
        <p:nvSpPr>
          <p:cNvPr id="424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5181600" cy="4530725"/>
          </a:xfrm>
        </p:spPr>
        <p:txBody>
          <a:bodyPr/>
          <a:lstStyle/>
          <a:p>
            <a:pPr algn="just"/>
            <a:r>
              <a:rPr lang="en-US" altLang="en-US">
                <a:latin typeface="Arial" panose="020B0604020202020204" pitchFamily="34" charset="0"/>
              </a:rPr>
              <a:t>Biểu diễn véctơ</a:t>
            </a:r>
          </a:p>
          <a:p>
            <a:pPr lvl="1" algn="just"/>
            <a:r>
              <a:rPr lang="en-US" altLang="en-US">
                <a:latin typeface="Arial" panose="020B0604020202020204" pitchFamily="34" charset="0"/>
              </a:rPr>
              <a:t>Đoạn thẳng có hướng giữa hai điểm xác định</a:t>
            </a:r>
          </a:p>
          <a:p>
            <a:pPr algn="just"/>
            <a:endParaRPr lang="en-US" altLang="en-US">
              <a:latin typeface="Arial" panose="020B0604020202020204" pitchFamily="34" charset="0"/>
            </a:endParaRPr>
          </a:p>
          <a:p>
            <a:pPr algn="just"/>
            <a:endParaRPr lang="en-US" altLang="en-US">
              <a:latin typeface="Arial" panose="020B0604020202020204" pitchFamily="34" charset="0"/>
            </a:endParaRPr>
          </a:p>
          <a:p>
            <a:pPr algn="just"/>
            <a:r>
              <a:rPr lang="en-US" altLang="en-US">
                <a:latin typeface="Arial" panose="020B0604020202020204" pitchFamily="34" charset="0"/>
              </a:rPr>
              <a:t>Cộng hai véctơ</a:t>
            </a:r>
          </a:p>
          <a:p>
            <a:pPr lvl="1" algn="just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V</a:t>
            </a:r>
            <a:r>
              <a:rPr lang="en-US" altLang="en-US" baseline="-25000">
                <a:latin typeface="Arial" panose="020B0604020202020204" pitchFamily="34" charset="0"/>
              </a:rPr>
              <a:t>1</a:t>
            </a:r>
            <a:r>
              <a:rPr lang="en-US" altLang="en-US">
                <a:latin typeface="Arial" panose="020B0604020202020204" pitchFamily="34" charset="0"/>
              </a:rPr>
              <a:t>+V</a:t>
            </a:r>
            <a:r>
              <a:rPr lang="en-US" altLang="en-US" baseline="-25000">
                <a:latin typeface="Arial" panose="020B0604020202020204" pitchFamily="34" charset="0"/>
              </a:rPr>
              <a:t>2</a:t>
            </a:r>
            <a:r>
              <a:rPr lang="en-US" altLang="en-US">
                <a:latin typeface="Arial" panose="020B0604020202020204" pitchFamily="34" charset="0"/>
              </a:rPr>
              <a:t>= (x</a:t>
            </a:r>
            <a:r>
              <a:rPr lang="en-US" altLang="en-US" baseline="-25000">
                <a:latin typeface="Arial" panose="020B0604020202020204" pitchFamily="34" charset="0"/>
              </a:rPr>
              <a:t>1</a:t>
            </a:r>
            <a:r>
              <a:rPr lang="en-US" altLang="en-US">
                <a:latin typeface="Arial" panose="020B0604020202020204" pitchFamily="34" charset="0"/>
              </a:rPr>
              <a:t>+x</a:t>
            </a:r>
            <a:r>
              <a:rPr lang="en-US" altLang="en-US" baseline="-25000">
                <a:latin typeface="Arial" panose="020B0604020202020204" pitchFamily="34" charset="0"/>
              </a:rPr>
              <a:t>2</a:t>
            </a:r>
            <a:r>
              <a:rPr lang="en-US" altLang="en-US">
                <a:latin typeface="Arial" panose="020B0604020202020204" pitchFamily="34" charset="0"/>
              </a:rPr>
              <a:t>, y</a:t>
            </a:r>
            <a:r>
              <a:rPr lang="en-US" altLang="en-US" baseline="-25000">
                <a:latin typeface="Arial" panose="020B0604020202020204" pitchFamily="34" charset="0"/>
              </a:rPr>
              <a:t>1</a:t>
            </a:r>
            <a:r>
              <a:rPr lang="en-US" altLang="en-US">
                <a:latin typeface="Arial" panose="020B0604020202020204" pitchFamily="34" charset="0"/>
              </a:rPr>
              <a:t>+y</a:t>
            </a:r>
            <a:r>
              <a:rPr lang="en-US" altLang="en-US" baseline="-25000">
                <a:latin typeface="Arial" panose="020B0604020202020204" pitchFamily="34" charset="0"/>
              </a:rPr>
              <a:t>2</a:t>
            </a:r>
            <a:r>
              <a:rPr lang="en-US" altLang="en-US">
                <a:latin typeface="Arial" panose="020B0604020202020204" pitchFamily="34" charset="0"/>
              </a:rPr>
              <a:t>, z</a:t>
            </a:r>
            <a:r>
              <a:rPr lang="en-US" altLang="en-US" baseline="-25000">
                <a:latin typeface="Arial" panose="020B0604020202020204" pitchFamily="34" charset="0"/>
              </a:rPr>
              <a:t>1</a:t>
            </a:r>
            <a:r>
              <a:rPr lang="en-US" altLang="en-US">
                <a:latin typeface="Arial" panose="020B0604020202020204" pitchFamily="34" charset="0"/>
              </a:rPr>
              <a:t>+z</a:t>
            </a:r>
            <a:r>
              <a:rPr lang="en-US" altLang="en-US" baseline="-25000">
                <a:latin typeface="Arial" panose="020B0604020202020204" pitchFamily="34" charset="0"/>
              </a:rPr>
              <a:t>2</a:t>
            </a:r>
            <a:r>
              <a:rPr lang="en-US" altLang="en-US">
                <a:latin typeface="Arial" panose="020B0604020202020204" pitchFamily="34" charset="0"/>
              </a:rPr>
              <a:t>)</a:t>
            </a:r>
          </a:p>
        </p:txBody>
      </p:sp>
      <p:pic>
        <p:nvPicPr>
          <p:cNvPr id="4249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1524001"/>
            <a:ext cx="3352800" cy="2320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2496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1" y="3810001"/>
            <a:ext cx="3040063" cy="2468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4458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B452B-1D14-4786-9E1C-914DE87792F0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652307" name="Rectangle 19"/>
          <p:cNvSpPr>
            <a:spLocks noGrp="1" noChangeArrowheads="1"/>
          </p:cNvSpPr>
          <p:nvPr>
            <p:ph type="title"/>
          </p:nvPr>
        </p:nvSpPr>
        <p:spPr>
          <a:xfrm>
            <a:off x="1676400" y="346076"/>
            <a:ext cx="10972800" cy="1139825"/>
          </a:xfrm>
          <a:noFill/>
          <a:ln/>
        </p:spPr>
        <p:txBody>
          <a:bodyPr/>
          <a:lstStyle/>
          <a:p>
            <a:pPr algn="just"/>
            <a:r>
              <a:rPr lang="en-US" altLang="en-US">
                <a:latin typeface="Arial" panose="020B0604020202020204" pitchFamily="34" charset="0"/>
              </a:rPr>
              <a:t>4.3. Đại số véctơ</a:t>
            </a:r>
          </a:p>
        </p:txBody>
      </p:sp>
      <p:sp>
        <p:nvSpPr>
          <p:cNvPr id="652308" name="Rectangle 20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5181600" cy="4530725"/>
          </a:xfrm>
          <a:noFill/>
          <a:ln/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Nhân hai véctơ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Tích vô hướng hay tích điểm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		V</a:t>
            </a:r>
            <a:r>
              <a:rPr lang="en-US" altLang="en-US" baseline="-25000">
                <a:latin typeface="Arial" panose="020B0604020202020204" pitchFamily="34" charset="0"/>
              </a:rPr>
              <a:t>1</a:t>
            </a:r>
            <a:r>
              <a:rPr lang="en-US" altLang="en-US">
                <a:latin typeface="Arial" panose="020B0604020202020204" pitchFamily="34" charset="0"/>
              </a:rPr>
              <a:t>V</a:t>
            </a:r>
            <a:r>
              <a:rPr lang="en-US" altLang="en-US" baseline="-25000">
                <a:latin typeface="Arial" panose="020B0604020202020204" pitchFamily="34" charset="0"/>
              </a:rPr>
              <a:t>2 </a:t>
            </a:r>
            <a:r>
              <a:rPr lang="en-US" altLang="en-US">
                <a:latin typeface="Arial" panose="020B0604020202020204" pitchFamily="34" charset="0"/>
              </a:rPr>
              <a:t>= x</a:t>
            </a:r>
            <a:r>
              <a:rPr lang="en-US" altLang="en-US" baseline="-25000">
                <a:latin typeface="Arial" panose="020B0604020202020204" pitchFamily="34" charset="0"/>
              </a:rPr>
              <a:t>1</a:t>
            </a:r>
            <a:r>
              <a:rPr lang="en-US" altLang="en-US">
                <a:latin typeface="Arial" panose="020B0604020202020204" pitchFamily="34" charset="0"/>
              </a:rPr>
              <a:t>x</a:t>
            </a:r>
            <a:r>
              <a:rPr lang="en-US" altLang="en-US" baseline="-25000">
                <a:latin typeface="Arial" panose="020B0604020202020204" pitchFamily="34" charset="0"/>
              </a:rPr>
              <a:t>2 </a:t>
            </a:r>
            <a:r>
              <a:rPr lang="en-US" altLang="en-US">
                <a:latin typeface="Arial" panose="020B0604020202020204" pitchFamily="34" charset="0"/>
              </a:rPr>
              <a:t>+ y</a:t>
            </a:r>
            <a:r>
              <a:rPr lang="en-US" altLang="en-US" baseline="-25000">
                <a:latin typeface="Arial" panose="020B0604020202020204" pitchFamily="34" charset="0"/>
              </a:rPr>
              <a:t>1</a:t>
            </a:r>
            <a:r>
              <a:rPr lang="en-US" altLang="en-US">
                <a:latin typeface="Arial" panose="020B0604020202020204" pitchFamily="34" charset="0"/>
              </a:rPr>
              <a:t>y</a:t>
            </a:r>
            <a:r>
              <a:rPr lang="en-US" altLang="en-US" baseline="-25000">
                <a:latin typeface="Arial" panose="020B0604020202020204" pitchFamily="34" charset="0"/>
              </a:rPr>
              <a:t>2 </a:t>
            </a:r>
            <a:r>
              <a:rPr lang="en-US" altLang="en-US">
                <a:latin typeface="Arial" panose="020B0604020202020204" pitchFamily="34" charset="0"/>
              </a:rPr>
              <a:t>+ z</a:t>
            </a:r>
            <a:r>
              <a:rPr lang="en-US" altLang="en-US" baseline="-25000">
                <a:latin typeface="Arial" panose="020B0604020202020204" pitchFamily="34" charset="0"/>
              </a:rPr>
              <a:t>1</a:t>
            </a:r>
            <a:r>
              <a:rPr lang="en-US" altLang="en-US">
                <a:latin typeface="Arial" panose="020B0604020202020204" pitchFamily="34" charset="0"/>
              </a:rPr>
              <a:t>z</a:t>
            </a:r>
            <a:r>
              <a:rPr lang="en-US" altLang="en-US" baseline="-25000">
                <a:latin typeface="Arial" panose="020B0604020202020204" pitchFamily="34" charset="0"/>
              </a:rPr>
              <a:t>2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Độ dài véctơ</a:t>
            </a:r>
          </a:p>
          <a:p>
            <a:pPr lvl="1"/>
            <a:endParaRPr lang="en-US" altLang="en-US">
              <a:latin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None/>
            </a:pPr>
            <a:endParaRPr lang="en-US" altLang="en-US">
              <a:latin typeface="Arial" panose="020B0604020202020204" pitchFamily="34" charset="0"/>
            </a:endParaRPr>
          </a:p>
          <a:p>
            <a:pPr lvl="1"/>
            <a:endParaRPr lang="en-US" altLang="en-US">
              <a:latin typeface="Arial" panose="020B0604020202020204" pitchFamily="34" charset="0"/>
            </a:endParaRPr>
          </a:p>
        </p:txBody>
      </p:sp>
      <p:pic>
        <p:nvPicPr>
          <p:cNvPr id="652311" name="Picture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6600" y="3681006"/>
            <a:ext cx="4191000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52312" name="Picture 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1049" y="4577761"/>
            <a:ext cx="5530850" cy="164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3626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79B6D-A5D3-4231-AC5E-AAC46809FBC0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734212" name="Rectangle 4"/>
          <p:cNvSpPr>
            <a:spLocks noGrp="1" noChangeArrowheads="1"/>
          </p:cNvSpPr>
          <p:nvPr>
            <p:ph type="title"/>
          </p:nvPr>
        </p:nvSpPr>
        <p:spPr>
          <a:xfrm>
            <a:off x="1750125" y="-41273"/>
            <a:ext cx="10018713" cy="1752599"/>
          </a:xfrm>
          <a:noFill/>
          <a:ln/>
        </p:spPr>
        <p:txBody>
          <a:bodyPr/>
          <a:lstStyle/>
          <a:p>
            <a:pPr algn="just"/>
            <a:r>
              <a:rPr lang="en-US" altLang="en-US">
                <a:latin typeface="Arial" panose="020B0604020202020204" pitchFamily="34" charset="0"/>
              </a:rPr>
              <a:t>4.3. Đại số véctơ</a:t>
            </a:r>
          </a:p>
        </p:txBody>
      </p:sp>
      <p:sp>
        <p:nvSpPr>
          <p:cNvPr id="73421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8382000" cy="4530725"/>
          </a:xfrm>
          <a:noFill/>
          <a:ln/>
        </p:spPr>
        <p:txBody>
          <a:bodyPr/>
          <a:lstStyle/>
          <a:p>
            <a:pPr algn="just">
              <a:lnSpc>
                <a:spcPct val="110000"/>
              </a:lnSpc>
            </a:pPr>
            <a:r>
              <a:rPr lang="en-US" altLang="en-US" sz="2000">
                <a:latin typeface="Arial" panose="020B0604020202020204" pitchFamily="34" charset="0"/>
              </a:rPr>
              <a:t>Tích có hướng của hai véctơ</a:t>
            </a:r>
          </a:p>
          <a:p>
            <a:pPr lvl="1" algn="just">
              <a:lnSpc>
                <a:spcPct val="110000"/>
              </a:lnSpc>
            </a:pPr>
            <a:r>
              <a:rPr lang="en-US" altLang="en-US">
                <a:latin typeface="Arial" panose="020B0604020202020204" pitchFamily="34" charset="0"/>
              </a:rPr>
              <a:t>Kết quả là véctơ vuông góc với mặt phẳng tạo ra bởi hai véctơ</a:t>
            </a:r>
          </a:p>
          <a:p>
            <a:pPr lvl="1" algn="just">
              <a:lnSpc>
                <a:spcPct val="110000"/>
              </a:lnSpc>
            </a:pPr>
            <a:r>
              <a:rPr lang="en-US" altLang="en-US">
                <a:latin typeface="Arial" panose="020B0604020202020204" pitchFamily="34" charset="0"/>
              </a:rPr>
              <a:t>Véctơ đơn vị </a:t>
            </a:r>
            <a:r>
              <a:rPr lang="en-US" altLang="en-US" b="1">
                <a:latin typeface="Arial" panose="020B0604020202020204" pitchFamily="34" charset="0"/>
              </a:rPr>
              <a:t>u</a:t>
            </a:r>
          </a:p>
          <a:p>
            <a:pPr lvl="2" algn="just">
              <a:lnSpc>
                <a:spcPct val="110000"/>
              </a:lnSpc>
            </a:pPr>
            <a:r>
              <a:rPr lang="en-US" altLang="en-US" sz="1600">
                <a:latin typeface="Arial" panose="020B0604020202020204" pitchFamily="34" charset="0"/>
              </a:rPr>
              <a:t>Có độ dài bằng 1</a:t>
            </a:r>
          </a:p>
          <a:p>
            <a:pPr lvl="2" algn="just">
              <a:lnSpc>
                <a:spcPct val="110000"/>
              </a:lnSpc>
            </a:pPr>
            <a:r>
              <a:rPr lang="en-US" altLang="en-US" sz="1600">
                <a:latin typeface="Arial" panose="020B0604020202020204" pitchFamily="34" charset="0"/>
              </a:rPr>
              <a:t>Xác định hướng của véctơ kết quả</a:t>
            </a:r>
          </a:p>
          <a:p>
            <a:pPr algn="just">
              <a:lnSpc>
                <a:spcPct val="110000"/>
              </a:lnSpc>
            </a:pPr>
            <a:r>
              <a:rPr lang="en-US" altLang="en-US" sz="2000">
                <a:latin typeface="Arial" panose="020B0604020202020204" pitchFamily="34" charset="0"/>
              </a:rPr>
              <a:t>Quy tắc bàn tay phải</a:t>
            </a:r>
          </a:p>
          <a:p>
            <a:pPr lvl="1" algn="just">
              <a:lnSpc>
                <a:spcPct val="110000"/>
              </a:lnSpc>
            </a:pPr>
            <a:r>
              <a:rPr lang="en-US" altLang="en-US">
                <a:latin typeface="Arial" panose="020B0604020202020204" pitchFamily="34" charset="0"/>
              </a:rPr>
              <a:t>Nắm tay phải, để cong các ngón tay từ </a:t>
            </a:r>
            <a:r>
              <a:rPr lang="en-US" altLang="en-US" b="1">
                <a:latin typeface="Arial" panose="020B0604020202020204" pitchFamily="34" charset="0"/>
              </a:rPr>
              <a:t>V1 </a:t>
            </a:r>
            <a:r>
              <a:rPr lang="en-US" altLang="en-US">
                <a:latin typeface="Arial" panose="020B0604020202020204" pitchFamily="34" charset="0"/>
              </a:rPr>
              <a:t>đến </a:t>
            </a:r>
            <a:r>
              <a:rPr lang="en-US" altLang="en-US" b="1">
                <a:latin typeface="Arial" panose="020B0604020202020204" pitchFamily="34" charset="0"/>
              </a:rPr>
              <a:t>V2 </a:t>
            </a:r>
            <a:r>
              <a:rPr lang="en-US" altLang="en-US">
                <a:latin typeface="Arial" panose="020B0604020202020204" pitchFamily="34" charset="0"/>
              </a:rPr>
              <a:t>(nếu </a:t>
            </a:r>
            <a:r>
              <a:rPr lang="en-US" altLang="en-US" b="1">
                <a:latin typeface="Arial" panose="020B0604020202020204" pitchFamily="34" charset="0"/>
              </a:rPr>
              <a:t>V1</a:t>
            </a:r>
            <a:r>
              <a:rPr lang="en-US" altLang="en-US">
                <a:latin typeface="Arial" panose="020B0604020202020204" pitchFamily="34" charset="0"/>
              </a:rPr>
              <a:t>x</a:t>
            </a:r>
            <a:r>
              <a:rPr lang="en-US" altLang="en-US" b="1">
                <a:latin typeface="Arial" panose="020B0604020202020204" pitchFamily="34" charset="0"/>
              </a:rPr>
              <a:t>V2</a:t>
            </a:r>
            <a:r>
              <a:rPr lang="en-US" altLang="en-US">
                <a:latin typeface="Arial" panose="020B0604020202020204" pitchFamily="34" charset="0"/>
              </a:rPr>
              <a:t>), lòng bàn tay hướng về gốc, ngón cái sẽ trỏ theo hướng của </a:t>
            </a:r>
            <a:r>
              <a:rPr lang="en-US" altLang="en-US" b="1">
                <a:latin typeface="Arial" panose="020B0604020202020204" pitchFamily="34" charset="0"/>
              </a:rPr>
              <a:t>u</a:t>
            </a:r>
          </a:p>
          <a:p>
            <a:pPr lvl="1" algn="just">
              <a:lnSpc>
                <a:spcPct val="110000"/>
              </a:lnSpc>
            </a:pPr>
            <a:r>
              <a:rPr lang="en-US" altLang="en-US" sz="1800">
                <a:latin typeface="Arial" panose="020B0604020202020204" pitchFamily="34" charset="0"/>
              </a:rPr>
              <a:t>Véctơ kết quả</a:t>
            </a: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</a:rPr>
              <a:t>			V</a:t>
            </a:r>
            <a:r>
              <a:rPr lang="en-US" altLang="en-US" sz="2000" baseline="-25000">
                <a:latin typeface="Arial" panose="020B0604020202020204" pitchFamily="34" charset="0"/>
              </a:rPr>
              <a:t>1</a:t>
            </a:r>
            <a:r>
              <a:rPr lang="en-US" altLang="en-US" sz="2000">
                <a:latin typeface="Arial" panose="020B0604020202020204" pitchFamily="34" charset="0"/>
              </a:rPr>
              <a:t>xV</a:t>
            </a:r>
            <a:r>
              <a:rPr lang="en-US" altLang="en-US" sz="2000" baseline="-25000">
                <a:latin typeface="Arial" panose="020B0604020202020204" pitchFamily="34" charset="0"/>
              </a:rPr>
              <a:t>2</a:t>
            </a:r>
            <a:r>
              <a:rPr lang="en-US" altLang="en-US" sz="2000">
                <a:latin typeface="Arial" panose="020B0604020202020204" pitchFamily="34" charset="0"/>
              </a:rPr>
              <a:t>=u|V</a:t>
            </a:r>
            <a:r>
              <a:rPr lang="en-US" altLang="en-US" sz="2000" baseline="-25000">
                <a:latin typeface="Arial" panose="020B0604020202020204" pitchFamily="34" charset="0"/>
              </a:rPr>
              <a:t>1</a:t>
            </a:r>
            <a:r>
              <a:rPr lang="en-US" altLang="en-US" sz="2000">
                <a:latin typeface="Arial" panose="020B0604020202020204" pitchFamily="34" charset="0"/>
              </a:rPr>
              <a:t>||V</a:t>
            </a:r>
            <a:r>
              <a:rPr lang="en-US" altLang="en-US" sz="2000" baseline="-25000">
                <a:latin typeface="Arial" panose="020B0604020202020204" pitchFamily="34" charset="0"/>
              </a:rPr>
              <a:t>2</a:t>
            </a:r>
            <a:r>
              <a:rPr lang="en-US" altLang="en-US" sz="2000">
                <a:latin typeface="Arial" panose="020B0604020202020204" pitchFamily="34" charset="0"/>
              </a:rPr>
              <a:t>|sin</a:t>
            </a:r>
            <a:r>
              <a:rPr lang="en-US" altLang="en-US" sz="2000">
                <a:latin typeface="Arial" panose="020B0604020202020204" pitchFamily="34" charset="0"/>
                <a:sym typeface="Symbol" panose="05050102010706020507" pitchFamily="18" charset="2"/>
              </a:rPr>
              <a:t>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pic>
        <p:nvPicPr>
          <p:cNvPr id="73421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438401"/>
            <a:ext cx="1981200" cy="1439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34216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4651376"/>
            <a:ext cx="2324100" cy="220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4970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66FE3-3DC3-49B7-AA84-AD1B12194387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655375" name="Rectangle 15"/>
          <p:cNvSpPr>
            <a:spLocks noGrp="1" noChangeArrowheads="1"/>
          </p:cNvSpPr>
          <p:nvPr>
            <p:ph type="title"/>
          </p:nvPr>
        </p:nvSpPr>
        <p:spPr>
          <a:xfrm>
            <a:off x="1675697" y="377455"/>
            <a:ext cx="10018713" cy="1752599"/>
          </a:xfrm>
          <a:noFill/>
          <a:ln/>
        </p:spPr>
        <p:txBody>
          <a:bodyPr/>
          <a:lstStyle/>
          <a:p>
            <a:pPr algn="just"/>
            <a:r>
              <a:rPr lang="en-US" altLang="en-US">
                <a:latin typeface="Arial" panose="020B0604020202020204" pitchFamily="34" charset="0"/>
              </a:rPr>
              <a:t>4.3. Đại số véctơ</a:t>
            </a:r>
          </a:p>
        </p:txBody>
      </p:sp>
      <p:sp>
        <p:nvSpPr>
          <p:cNvPr id="655376" name="Rectangle 16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8382000" cy="4530725"/>
          </a:xfrm>
          <a:noFill/>
          <a:ln/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Véctơ đơn vị theo các trục tọa độ:</a:t>
            </a:r>
            <a:r>
              <a:rPr lang="en-US" altLang="en-US" i="1">
                <a:latin typeface="Arial" panose="020B0604020202020204" pitchFamily="34" charset="0"/>
              </a:rPr>
              <a:t>u</a:t>
            </a:r>
            <a:r>
              <a:rPr lang="en-US" altLang="en-US" i="1" baseline="-25000">
                <a:latin typeface="Arial" panose="020B0604020202020204" pitchFamily="34" charset="0"/>
              </a:rPr>
              <a:t>x</a:t>
            </a:r>
            <a:r>
              <a:rPr lang="en-US" altLang="en-US" i="1">
                <a:latin typeface="Arial" panose="020B0604020202020204" pitchFamily="34" charset="0"/>
              </a:rPr>
              <a:t>, u</a:t>
            </a:r>
            <a:r>
              <a:rPr lang="en-US" altLang="en-US" i="1" baseline="-25000">
                <a:latin typeface="Arial" panose="020B0604020202020204" pitchFamily="34" charset="0"/>
              </a:rPr>
              <a:t>y</a:t>
            </a:r>
            <a:r>
              <a:rPr lang="en-US" altLang="en-US" i="1">
                <a:latin typeface="Arial" panose="020B0604020202020204" pitchFamily="34" charset="0"/>
              </a:rPr>
              <a:t>, u</a:t>
            </a:r>
            <a:r>
              <a:rPr lang="en-US" altLang="en-US" i="1" baseline="-25000">
                <a:latin typeface="Arial" panose="020B0604020202020204" pitchFamily="34" charset="0"/>
              </a:rPr>
              <a:t>z</a:t>
            </a:r>
            <a:endParaRPr lang="en-US" altLang="en-US" i="1">
              <a:latin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</a:rPr>
              <a:t>Tích có hướng của hai véctơ được biểu diễn như sau:</a:t>
            </a:r>
          </a:p>
          <a:p>
            <a:endParaRPr lang="en-US" altLang="en-US">
              <a:latin typeface="Arial" panose="020B0604020202020204" pitchFamily="34" charset="0"/>
            </a:endParaRPr>
          </a:p>
          <a:p>
            <a:endParaRPr lang="en-US" altLang="en-US">
              <a:latin typeface="Arial" panose="020B0604020202020204" pitchFamily="34" charset="0"/>
            </a:endParaRPr>
          </a:p>
          <a:p>
            <a:pPr lvl="1"/>
            <a:endParaRPr lang="en-US" altLang="en-US">
              <a:latin typeface="Arial" panose="020B0604020202020204" pitchFamily="34" charset="0"/>
            </a:endParaRPr>
          </a:p>
          <a:p>
            <a:pPr lvl="1"/>
            <a:endParaRPr lang="en-US" altLang="en-US">
              <a:latin typeface="Arial" panose="020B0604020202020204" pitchFamily="34" charset="0"/>
            </a:endParaRPr>
          </a:p>
        </p:txBody>
      </p:sp>
      <p:pic>
        <p:nvPicPr>
          <p:cNvPr id="655379" name="Picture 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904981"/>
            <a:ext cx="7848600" cy="196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4671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DC26A-5B22-404F-8B4A-35059831A273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654350" name="Rectangle 14"/>
          <p:cNvSpPr>
            <a:spLocks noGrp="1" noChangeArrowheads="1"/>
          </p:cNvSpPr>
          <p:nvPr>
            <p:ph type="title"/>
          </p:nvPr>
        </p:nvSpPr>
        <p:spPr>
          <a:xfrm>
            <a:off x="1981200" y="231776"/>
            <a:ext cx="10972800" cy="1139825"/>
          </a:xfrm>
          <a:noFill/>
          <a:ln/>
        </p:spPr>
        <p:txBody>
          <a:bodyPr/>
          <a:lstStyle/>
          <a:p>
            <a:pPr algn="just"/>
            <a:r>
              <a:rPr lang="en-US" altLang="en-US">
                <a:latin typeface="Arial" panose="020B0604020202020204" pitchFamily="34" charset="0"/>
              </a:rPr>
              <a:t>4.3. Đại số véctơ</a:t>
            </a:r>
          </a:p>
        </p:txBody>
      </p:sp>
      <p:sp>
        <p:nvSpPr>
          <p:cNvPr id="654351" name="Rectangle 15"/>
          <p:cNvSpPr>
            <a:spLocks noGrp="1" noChangeArrowheads="1"/>
          </p:cNvSpPr>
          <p:nvPr>
            <p:ph type="body" idx="1"/>
          </p:nvPr>
        </p:nvSpPr>
        <p:spPr>
          <a:xfrm>
            <a:off x="1470837" y="1371601"/>
            <a:ext cx="8382000" cy="2120052"/>
          </a:xfrm>
          <a:noFill/>
          <a:ln/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Cosine hướng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Cho trước véctơ </a:t>
            </a:r>
            <a:r>
              <a:rPr lang="en-US" altLang="en-US" b="1">
                <a:latin typeface="Arial" panose="020B0604020202020204" pitchFamily="34" charset="0"/>
              </a:rPr>
              <a:t>p</a:t>
            </a:r>
            <a:r>
              <a:rPr lang="en-US" altLang="en-US">
                <a:latin typeface="Arial" panose="020B0604020202020204" pitchFamily="34" charset="0"/>
              </a:rPr>
              <a:t>. Cosine hướng là cosine của các góc </a:t>
            </a:r>
            <a:r>
              <a:rPr lang="en-US" altLang="en-US">
                <a:latin typeface="Arial" panose="020B0604020202020204" pitchFamily="34" charset="0"/>
                <a:sym typeface="Symbol" panose="05050102010706020507" pitchFamily="18" charset="2"/>
              </a:rPr>
              <a:t>, , và</a:t>
            </a:r>
            <a:r>
              <a:rPr lang="en-US" altLang="en-US" sz="360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>
                <a:latin typeface="Arial" panose="020B0604020202020204" pitchFamily="34" charset="0"/>
                <a:sym typeface="Symbol" panose="05050102010706020507" pitchFamily="18" charset="2"/>
              </a:rPr>
              <a:t></a:t>
            </a:r>
            <a:endParaRPr lang="en-US" altLang="en-US">
              <a:latin typeface="Arial" panose="020B0604020202020204" pitchFamily="34" charset="0"/>
            </a:endParaRPr>
          </a:p>
        </p:txBody>
      </p:sp>
      <p:pic>
        <p:nvPicPr>
          <p:cNvPr id="654353" name="Picture 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847" y="2873376"/>
            <a:ext cx="4038600" cy="1087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54354" name="Picture 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4900" y="4116387"/>
            <a:ext cx="3505200" cy="274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54355" name="Picture 1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971801"/>
            <a:ext cx="1295400" cy="989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6551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9873B-C921-45E5-94DF-C0C004D990EC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692228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92229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en-US" altLang="en-US" sz="4000" b="1" smtClean="0">
                <a:latin typeface="Arial" panose="020B0604020202020204" pitchFamily="34" charset="0"/>
              </a:rPr>
              <a:t>4.4. </a:t>
            </a:r>
            <a:r>
              <a:rPr lang="en-US" altLang="en-US" sz="4000" b="1">
                <a:latin typeface="Arial" panose="020B0604020202020204" pitchFamily="34" charset="0"/>
              </a:rPr>
              <a:t>CÁC PHÉP BiẾN ĐỔI CƠ SỞ</a:t>
            </a:r>
          </a:p>
        </p:txBody>
      </p:sp>
    </p:spTree>
    <p:extLst>
      <p:ext uri="{BB962C8B-B14F-4D97-AF65-F5344CB8AC3E}">
        <p14:creationId xmlns:p14="http://schemas.microsoft.com/office/powerpoint/2010/main" val="3011302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5FEFC-C4EF-4245-97A1-740893D484E9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653327" name="Rectangle 15"/>
          <p:cNvSpPr>
            <a:spLocks noGrp="1" noChangeArrowheads="1"/>
          </p:cNvSpPr>
          <p:nvPr>
            <p:ph type="title"/>
          </p:nvPr>
        </p:nvSpPr>
        <p:spPr>
          <a:xfrm>
            <a:off x="1686330" y="0"/>
            <a:ext cx="10018713" cy="1752599"/>
          </a:xfrm>
          <a:noFill/>
          <a:ln/>
        </p:spPr>
        <p:txBody>
          <a:bodyPr/>
          <a:lstStyle/>
          <a:p>
            <a:pPr algn="just"/>
            <a:r>
              <a:rPr lang="en-US" altLang="en-US" smtClean="0">
                <a:latin typeface="Arial" panose="020B0604020202020204" pitchFamily="34" charset="0"/>
              </a:rPr>
              <a:t>4.4.1</a:t>
            </a:r>
            <a:r>
              <a:rPr lang="en-US" altLang="en-US">
                <a:latin typeface="Arial" panose="020B0604020202020204" pitchFamily="34" charset="0"/>
              </a:rPr>
              <a:t>. Các phép biến đổi cơ sở</a:t>
            </a:r>
          </a:p>
        </p:txBody>
      </p:sp>
      <p:sp>
        <p:nvSpPr>
          <p:cNvPr id="653328" name="Rectangle 16"/>
          <p:cNvSpPr>
            <a:spLocks noGrp="1" noChangeArrowheads="1"/>
          </p:cNvSpPr>
          <p:nvPr>
            <p:ph type="body" idx="1"/>
          </p:nvPr>
        </p:nvSpPr>
        <p:spPr>
          <a:xfrm>
            <a:off x="1088065" y="1104900"/>
            <a:ext cx="8382000" cy="4530725"/>
          </a:xfrm>
          <a:noFill/>
          <a:ln/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Phép tịnh tiến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Cho P</a:t>
            </a:r>
            <a:r>
              <a:rPr lang="en-US" altLang="en-US" baseline="-25000">
                <a:latin typeface="Arial" panose="020B0604020202020204" pitchFamily="34" charset="0"/>
              </a:rPr>
              <a:t>1</a:t>
            </a:r>
            <a:r>
              <a:rPr lang="en-US" altLang="en-US">
                <a:latin typeface="Arial" panose="020B0604020202020204" pitchFamily="34" charset="0"/>
              </a:rPr>
              <a:t>(x,y,z) trong Oxyz. Tịnh tiến P</a:t>
            </a:r>
            <a:r>
              <a:rPr lang="en-US" altLang="en-US" baseline="-25000">
                <a:latin typeface="Arial" panose="020B0604020202020204" pitchFamily="34" charset="0"/>
              </a:rPr>
              <a:t>1</a:t>
            </a:r>
            <a:r>
              <a:rPr lang="en-US" altLang="en-US">
                <a:latin typeface="Arial" panose="020B0604020202020204" pitchFamily="34" charset="0"/>
              </a:rPr>
              <a:t> theo véc tơ [T</a:t>
            </a:r>
            <a:r>
              <a:rPr lang="en-US" altLang="en-US" baseline="-25000">
                <a:latin typeface="Arial" panose="020B0604020202020204" pitchFamily="34" charset="0"/>
              </a:rPr>
              <a:t>x</a:t>
            </a:r>
            <a:r>
              <a:rPr lang="en-US" altLang="en-US">
                <a:latin typeface="Arial" panose="020B0604020202020204" pitchFamily="34" charset="0"/>
              </a:rPr>
              <a:t>,T</a:t>
            </a:r>
            <a:r>
              <a:rPr lang="en-US" altLang="en-US" baseline="-25000">
                <a:latin typeface="Arial" panose="020B0604020202020204" pitchFamily="34" charset="0"/>
              </a:rPr>
              <a:t>y</a:t>
            </a:r>
            <a:r>
              <a:rPr lang="en-US" altLang="en-US">
                <a:latin typeface="Arial" panose="020B0604020202020204" pitchFamily="34" charset="0"/>
              </a:rPr>
              <a:t>,T</a:t>
            </a:r>
            <a:r>
              <a:rPr lang="en-US" altLang="en-US" baseline="-25000">
                <a:latin typeface="Arial" panose="020B0604020202020204" pitchFamily="34" charset="0"/>
              </a:rPr>
              <a:t>z</a:t>
            </a:r>
            <a:r>
              <a:rPr lang="en-US" altLang="en-US">
                <a:latin typeface="Arial" panose="020B0604020202020204" pitchFamily="34" charset="0"/>
              </a:rPr>
              <a:t>] </a:t>
            </a:r>
            <a:r>
              <a:rPr lang="en-US" altLang="en-US">
                <a:latin typeface="Arial" panose="020B0604020202020204" pitchFamily="34" charset="0"/>
                <a:sym typeface="Wingdings" panose="05000000000000000000" pitchFamily="2" charset="2"/>
              </a:rPr>
              <a:t> P</a:t>
            </a:r>
            <a:r>
              <a:rPr lang="en-US" altLang="en-US" baseline="-25000">
                <a:latin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altLang="en-US">
                <a:latin typeface="Arial" panose="020B0604020202020204" pitchFamily="34" charset="0"/>
                <a:sym typeface="Wingdings" panose="05000000000000000000" pitchFamily="2" charset="2"/>
              </a:rPr>
              <a:t>(x’,y’,z’)</a:t>
            </a:r>
          </a:p>
          <a:p>
            <a:pPr lvl="1"/>
            <a:r>
              <a:rPr lang="en-US" altLang="en-US">
                <a:latin typeface="Arial" panose="020B0604020202020204" pitchFamily="34" charset="0"/>
                <a:sym typeface="Wingdings" panose="05000000000000000000" pitchFamily="2" charset="2"/>
              </a:rPr>
              <a:t>Ta có:</a:t>
            </a:r>
            <a:endParaRPr lang="en-US" altLang="en-US">
              <a:latin typeface="Arial" panose="020B0604020202020204" pitchFamily="34" charset="0"/>
            </a:endParaRPr>
          </a:p>
          <a:p>
            <a:endParaRPr lang="en-US" altLang="en-US">
              <a:latin typeface="Arial" panose="020B0604020202020204" pitchFamily="34" charset="0"/>
            </a:endParaRPr>
          </a:p>
          <a:p>
            <a:pPr lvl="1"/>
            <a:endParaRPr lang="en-US" altLang="en-US">
              <a:latin typeface="Arial" panose="020B0604020202020204" pitchFamily="34" charset="0"/>
            </a:endParaRPr>
          </a:p>
          <a:p>
            <a:pPr lvl="1"/>
            <a:endParaRPr lang="en-US" altLang="en-US">
              <a:latin typeface="Arial" panose="020B0604020202020204" pitchFamily="34" charset="0"/>
            </a:endParaRPr>
          </a:p>
        </p:txBody>
      </p:sp>
      <p:pic>
        <p:nvPicPr>
          <p:cNvPr id="653331" name="Picture 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2683" y="3090641"/>
            <a:ext cx="8077200" cy="1814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53332" name="Picture 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2460" y="4440127"/>
            <a:ext cx="2209800" cy="211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8999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53020-AC84-477D-976A-37D563F36204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662539" name="Rectangle 11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just"/>
            <a:r>
              <a:rPr lang="en-US" altLang="en-US" smtClean="0">
                <a:latin typeface="Arial" panose="020B0604020202020204" pitchFamily="34" charset="0"/>
              </a:rPr>
              <a:t>4.4.1</a:t>
            </a:r>
            <a:r>
              <a:rPr lang="en-US" altLang="en-US">
                <a:latin typeface="Arial" panose="020B0604020202020204" pitchFamily="34" charset="0"/>
              </a:rPr>
              <a:t>. Các phép biến đổi cơ sở</a:t>
            </a:r>
          </a:p>
        </p:txBody>
      </p:sp>
      <p:sp>
        <p:nvSpPr>
          <p:cNvPr id="662540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8382000" cy="4530725"/>
          </a:xfrm>
          <a:noFill/>
          <a:ln/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Phép co giãn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Cho P</a:t>
            </a:r>
            <a:r>
              <a:rPr lang="en-US" altLang="en-US" baseline="-25000">
                <a:latin typeface="Arial" panose="020B0604020202020204" pitchFamily="34" charset="0"/>
              </a:rPr>
              <a:t>1</a:t>
            </a:r>
            <a:r>
              <a:rPr lang="en-US" altLang="en-US">
                <a:latin typeface="Arial" panose="020B0604020202020204" pitchFamily="34" charset="0"/>
              </a:rPr>
              <a:t>(x,y,x) trong Oxyz. Co giãn P</a:t>
            </a:r>
            <a:r>
              <a:rPr lang="en-US" altLang="en-US" baseline="-25000">
                <a:latin typeface="Arial" panose="020B0604020202020204" pitchFamily="34" charset="0"/>
              </a:rPr>
              <a:t>1</a:t>
            </a:r>
            <a:r>
              <a:rPr lang="en-US" altLang="en-US">
                <a:latin typeface="Arial" panose="020B0604020202020204" pitchFamily="34" charset="0"/>
              </a:rPr>
              <a:t> theo tỉ lệ [Sx,Sy,Sz] </a:t>
            </a:r>
            <a:r>
              <a:rPr lang="en-US" altLang="en-US">
                <a:latin typeface="Arial" panose="020B0604020202020204" pitchFamily="34" charset="0"/>
                <a:sym typeface="Wingdings" panose="05000000000000000000" pitchFamily="2" charset="2"/>
              </a:rPr>
              <a:t> P</a:t>
            </a:r>
            <a:r>
              <a:rPr lang="en-US" altLang="en-US" baseline="-25000">
                <a:latin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altLang="en-US">
                <a:latin typeface="Arial" panose="020B0604020202020204" pitchFamily="34" charset="0"/>
                <a:sym typeface="Wingdings" panose="05000000000000000000" pitchFamily="2" charset="2"/>
              </a:rPr>
              <a:t>(x’,y’,z’)</a:t>
            </a:r>
          </a:p>
          <a:p>
            <a:pPr lvl="1"/>
            <a:r>
              <a:rPr lang="en-US" altLang="en-US">
                <a:latin typeface="Arial" panose="020B0604020202020204" pitchFamily="34" charset="0"/>
                <a:sym typeface="Wingdings" panose="05000000000000000000" pitchFamily="2" charset="2"/>
              </a:rPr>
              <a:t>Ta có:</a:t>
            </a:r>
            <a:endParaRPr lang="en-US" altLang="en-US">
              <a:latin typeface="Arial" panose="020B0604020202020204" pitchFamily="34" charset="0"/>
            </a:endParaRPr>
          </a:p>
          <a:p>
            <a:endParaRPr lang="en-US" altLang="en-US">
              <a:latin typeface="Arial" panose="020B0604020202020204" pitchFamily="34" charset="0"/>
            </a:endParaRPr>
          </a:p>
          <a:p>
            <a:pPr lvl="1"/>
            <a:endParaRPr lang="en-US" altLang="en-US">
              <a:latin typeface="Arial" panose="020B0604020202020204" pitchFamily="34" charset="0"/>
            </a:endParaRPr>
          </a:p>
          <a:p>
            <a:pPr lvl="1"/>
            <a:endParaRPr lang="en-US" altLang="en-US">
              <a:latin typeface="Arial" panose="020B0604020202020204" pitchFamily="34" charset="0"/>
            </a:endParaRPr>
          </a:p>
        </p:txBody>
      </p:sp>
      <p:pic>
        <p:nvPicPr>
          <p:cNvPr id="662542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2396" y="3865563"/>
            <a:ext cx="5715000" cy="201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80554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7D790-6143-4F48-9F2D-273C4C006A69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661512" name="Rectangle 8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just"/>
            <a:r>
              <a:rPr lang="en-US" altLang="en-US" smtClean="0">
                <a:latin typeface="Arial" panose="020B0604020202020204" pitchFamily="34" charset="0"/>
              </a:rPr>
              <a:t>4.4.1</a:t>
            </a:r>
            <a:r>
              <a:rPr lang="en-US" altLang="en-US">
                <a:latin typeface="Arial" panose="020B0604020202020204" pitchFamily="34" charset="0"/>
              </a:rPr>
              <a:t>. Các phép biến đổi cơ sở</a:t>
            </a:r>
          </a:p>
        </p:txBody>
      </p:sp>
      <p:sp>
        <p:nvSpPr>
          <p:cNvPr id="661513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8382000" cy="4530725"/>
          </a:xfrm>
          <a:noFill/>
          <a:ln/>
        </p:spPr>
        <p:txBody>
          <a:bodyPr/>
          <a:lstStyle/>
          <a:p>
            <a:pPr algn="just">
              <a:lnSpc>
                <a:spcPct val="105000"/>
              </a:lnSpc>
            </a:pPr>
            <a:r>
              <a:rPr lang="en-US" altLang="en-US">
                <a:latin typeface="Arial" panose="020B0604020202020204" pitchFamily="34" charset="0"/>
              </a:rPr>
              <a:t>Phép quay</a:t>
            </a:r>
          </a:p>
          <a:p>
            <a:pPr lvl="1" algn="just">
              <a:lnSpc>
                <a:spcPct val="105000"/>
              </a:lnSpc>
            </a:pPr>
            <a:r>
              <a:rPr lang="en-US" altLang="en-US">
                <a:latin typeface="Arial" panose="020B0604020202020204" pitchFamily="34" charset="0"/>
              </a:rPr>
              <a:t>Chọn trục xoay và góc xoay</a:t>
            </a:r>
          </a:p>
          <a:p>
            <a:pPr lvl="1" algn="just">
              <a:lnSpc>
                <a:spcPct val="105000"/>
              </a:lnSpc>
            </a:pPr>
            <a:r>
              <a:rPr lang="en-US" altLang="en-US">
                <a:latin typeface="Arial" panose="020B0604020202020204" pitchFamily="34" charset="0"/>
              </a:rPr>
              <a:t>Qui ước: Xoay ngược chiều kim đồng hồ theo trục sẽ tạo thành góc dương nếu nhìn về gốc tọa độ từ nửa trục dương.</a:t>
            </a:r>
          </a:p>
          <a:p>
            <a:pPr lvl="1" algn="just">
              <a:lnSpc>
                <a:spcPct val="105000"/>
              </a:lnSpc>
            </a:pPr>
            <a:r>
              <a:rPr lang="en-US" altLang="en-US">
                <a:latin typeface="Arial" panose="020B0604020202020204" pitchFamily="34" charset="0"/>
              </a:rPr>
              <a:t>Trục dễ quản lý: song song trục tọa độ</a:t>
            </a:r>
          </a:p>
          <a:p>
            <a:pPr algn="just"/>
            <a:endParaRPr lang="en-US" altLang="en-US">
              <a:latin typeface="Arial" panose="020B0604020202020204" pitchFamily="34" charset="0"/>
            </a:endParaRPr>
          </a:p>
          <a:p>
            <a:pPr lvl="1" algn="just"/>
            <a:endParaRPr lang="en-US" altLang="en-US">
              <a:latin typeface="Arial" panose="020B0604020202020204" pitchFamily="34" charset="0"/>
            </a:endParaRPr>
          </a:p>
          <a:p>
            <a:pPr lvl="1" algn="just"/>
            <a:endParaRPr lang="en-US" altLang="en-US">
              <a:latin typeface="Arial" panose="020B0604020202020204" pitchFamily="34" charset="0"/>
            </a:endParaRPr>
          </a:p>
        </p:txBody>
      </p:sp>
      <p:pic>
        <p:nvPicPr>
          <p:cNvPr id="661515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4419601"/>
            <a:ext cx="7239000" cy="18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400601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3D876-9B53-423A-919F-236242C6213D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660488" name="Rectangle 8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just"/>
            <a:r>
              <a:rPr lang="en-US" altLang="en-US" smtClean="0">
                <a:latin typeface="Arial" panose="020B0604020202020204" pitchFamily="34" charset="0"/>
              </a:rPr>
              <a:t>4.4.1</a:t>
            </a:r>
            <a:r>
              <a:rPr lang="en-US" altLang="en-US">
                <a:latin typeface="Arial" panose="020B0604020202020204" pitchFamily="34" charset="0"/>
              </a:rPr>
              <a:t>. Các phép biến đổi cơ sở</a:t>
            </a:r>
          </a:p>
        </p:txBody>
      </p:sp>
      <p:sp>
        <p:nvSpPr>
          <p:cNvPr id="660489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8382000" cy="4530725"/>
          </a:xfrm>
          <a:noFill/>
          <a:ln/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Phép quay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Chọn trục xoay và góc xoay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Qui ước: Xoay ngược chiều kim đồng hồ theo trục sẽ tạo thành góc dương nếu nhìn về gốc tọa độ từ nửa trục dương.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Trục dễ quản lý: song song trục tọa độ</a:t>
            </a:r>
          </a:p>
          <a:p>
            <a:endParaRPr lang="en-US" altLang="en-US">
              <a:latin typeface="Arial" panose="020B0604020202020204" pitchFamily="34" charset="0"/>
            </a:endParaRPr>
          </a:p>
          <a:p>
            <a:pPr lvl="1"/>
            <a:endParaRPr lang="en-US" altLang="en-US">
              <a:latin typeface="Arial" panose="020B0604020202020204" pitchFamily="34" charset="0"/>
            </a:endParaRPr>
          </a:p>
          <a:p>
            <a:pPr lvl="1"/>
            <a:endParaRPr lang="en-US" altLang="en-US">
              <a:latin typeface="Arial" panose="020B0604020202020204" pitchFamily="34" charset="0"/>
            </a:endParaRPr>
          </a:p>
        </p:txBody>
      </p:sp>
      <p:pic>
        <p:nvPicPr>
          <p:cNvPr id="660490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4419601"/>
            <a:ext cx="7239000" cy="18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09820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352FF-3723-47C4-9FEA-E591C55F65C9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693252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just"/>
            <a:r>
              <a:rPr lang="en-US" altLang="en-US" smtClean="0">
                <a:latin typeface="Arial" panose="020B0604020202020204" pitchFamily="34" charset="0"/>
              </a:rPr>
              <a:t>4.4.1</a:t>
            </a:r>
            <a:r>
              <a:rPr lang="en-US" altLang="en-US">
                <a:latin typeface="Arial" panose="020B0604020202020204" pitchFamily="34" charset="0"/>
              </a:rPr>
              <a:t>. Các phép biến đổi cơ sở</a:t>
            </a:r>
          </a:p>
        </p:txBody>
      </p:sp>
      <p:sp>
        <p:nvSpPr>
          <p:cNvPr id="69325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8382000" cy="4530725"/>
          </a:xfrm>
          <a:noFill/>
          <a:ln/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Phép quay</a:t>
            </a:r>
          </a:p>
          <a:p>
            <a:pPr lvl="1">
              <a:lnSpc>
                <a:spcPct val="105000"/>
              </a:lnSpc>
            </a:pPr>
            <a:r>
              <a:rPr lang="en-US" altLang="en-US"/>
              <a:t>Quay quanh trục z</a:t>
            </a:r>
          </a:p>
          <a:p>
            <a:pPr lvl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en-US" i="1"/>
              <a:t>	x’ = xcos</a:t>
            </a:r>
            <a:r>
              <a:rPr lang="en-US" altLang="en-US" i="1">
                <a:sym typeface="Symbol" panose="05050102010706020507" pitchFamily="18" charset="2"/>
              </a:rPr>
              <a:t> - ysin</a:t>
            </a:r>
          </a:p>
          <a:p>
            <a:pPr lvl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en-US" i="1">
                <a:sym typeface="Symbol" panose="05050102010706020507" pitchFamily="18" charset="2"/>
              </a:rPr>
              <a:t>	y’ = xsin + ycos</a:t>
            </a:r>
          </a:p>
          <a:p>
            <a:pPr lvl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en-US" i="1">
                <a:sym typeface="Symbol" panose="05050102010706020507" pitchFamily="18" charset="2"/>
              </a:rPr>
              <a:t>	z’ = z</a:t>
            </a:r>
          </a:p>
          <a:p>
            <a:endParaRPr lang="en-US" altLang="en-US">
              <a:latin typeface="Arial" panose="020B0604020202020204" pitchFamily="34" charset="0"/>
            </a:endParaRPr>
          </a:p>
          <a:p>
            <a:pPr lvl="1"/>
            <a:endParaRPr lang="en-US" altLang="en-US">
              <a:latin typeface="Arial" panose="020B0604020202020204" pitchFamily="34" charset="0"/>
            </a:endParaRPr>
          </a:p>
          <a:p>
            <a:pPr lvl="1"/>
            <a:endParaRPr lang="en-US" altLang="en-US">
              <a:latin typeface="Arial" panose="020B0604020202020204" pitchFamily="34" charset="0"/>
            </a:endParaRPr>
          </a:p>
        </p:txBody>
      </p:sp>
      <p:pic>
        <p:nvPicPr>
          <p:cNvPr id="69325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0353" y="1743075"/>
            <a:ext cx="2667000" cy="2219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93256" name="AutoShape 8"/>
          <p:cNvSpPr>
            <a:spLocks/>
          </p:cNvSpPr>
          <p:nvPr/>
        </p:nvSpPr>
        <p:spPr bwMode="auto">
          <a:xfrm>
            <a:off x="2590800" y="2667000"/>
            <a:ext cx="152400" cy="1295400"/>
          </a:xfrm>
          <a:prstGeom prst="leftBrace">
            <a:avLst>
              <a:gd name="adj1" fmla="val 708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693257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072" y="4429127"/>
            <a:ext cx="6019800" cy="168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93258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28" t="38528" r="47635" b="20122"/>
          <a:stretch>
            <a:fillRect/>
          </a:stretch>
        </p:blipFill>
        <p:spPr bwMode="auto">
          <a:xfrm>
            <a:off x="8562753" y="3980934"/>
            <a:ext cx="2514600" cy="236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33186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0265-9D8D-4315-B4EB-BE3EFA175EA6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694276" name="Rectangle 4"/>
          <p:cNvSpPr>
            <a:spLocks noGrp="1" noChangeArrowheads="1"/>
          </p:cNvSpPr>
          <p:nvPr>
            <p:ph type="title"/>
          </p:nvPr>
        </p:nvSpPr>
        <p:spPr>
          <a:xfrm>
            <a:off x="1601269" y="256637"/>
            <a:ext cx="10018713" cy="1752599"/>
          </a:xfrm>
          <a:noFill/>
          <a:ln/>
        </p:spPr>
        <p:txBody>
          <a:bodyPr/>
          <a:lstStyle/>
          <a:p>
            <a:pPr algn="just"/>
            <a:r>
              <a:rPr lang="en-US" altLang="en-US" smtClean="0">
                <a:latin typeface="Arial" panose="020B0604020202020204" pitchFamily="34" charset="0"/>
              </a:rPr>
              <a:t>4.4.1</a:t>
            </a:r>
            <a:r>
              <a:rPr lang="en-US" altLang="en-US">
                <a:latin typeface="Arial" panose="020B0604020202020204" pitchFamily="34" charset="0"/>
              </a:rPr>
              <a:t>. Các phép biến đổi cơ sở</a:t>
            </a:r>
          </a:p>
        </p:txBody>
      </p:sp>
      <p:sp>
        <p:nvSpPr>
          <p:cNvPr id="69427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601269" y="1937772"/>
            <a:ext cx="8382000" cy="1601456"/>
          </a:xfrm>
          <a:noFill/>
          <a:ln/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Phép quay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Quay quanh trục x</a:t>
            </a:r>
          </a:p>
          <a:p>
            <a:pPr lvl="1"/>
            <a:endParaRPr lang="en-US" altLang="en-US">
              <a:latin typeface="Arial" panose="020B0604020202020204" pitchFamily="34" charset="0"/>
            </a:endParaRPr>
          </a:p>
          <a:p>
            <a:pPr lvl="1"/>
            <a:endParaRPr lang="en-US" altLang="en-US">
              <a:latin typeface="Arial" panose="020B0604020202020204" pitchFamily="34" charset="0"/>
            </a:endParaRPr>
          </a:p>
        </p:txBody>
      </p:sp>
      <p:pic>
        <p:nvPicPr>
          <p:cNvPr id="694283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55" b="60181"/>
          <a:stretch>
            <a:fillRect/>
          </a:stretch>
        </p:blipFill>
        <p:spPr bwMode="auto">
          <a:xfrm>
            <a:off x="2026573" y="4504232"/>
            <a:ext cx="8610600" cy="143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94284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94" t="38528" r="52707" b="25647"/>
          <a:stretch>
            <a:fillRect/>
          </a:stretch>
        </p:blipFill>
        <p:spPr bwMode="auto">
          <a:xfrm>
            <a:off x="7296426" y="1555481"/>
            <a:ext cx="3505200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4285" name="AutoShape 13"/>
          <p:cNvSpPr>
            <a:spLocks/>
          </p:cNvSpPr>
          <p:nvPr/>
        </p:nvSpPr>
        <p:spPr bwMode="auto">
          <a:xfrm>
            <a:off x="2186762" y="4686963"/>
            <a:ext cx="152400" cy="1066800"/>
          </a:xfrm>
          <a:prstGeom prst="leftBrace">
            <a:avLst>
              <a:gd name="adj1" fmla="val 58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081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9C589-108F-4314-83F6-A310F366FEDF}" type="slidenum">
              <a:rPr lang="en-US" altLang="en-US"/>
              <a:pPr/>
              <a:t>49</a:t>
            </a:fld>
            <a:endParaRPr lang="en-US" altLang="en-US"/>
          </a:p>
        </p:txBody>
      </p:sp>
      <p:sp>
        <p:nvSpPr>
          <p:cNvPr id="695300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just"/>
            <a:r>
              <a:rPr lang="en-US" altLang="en-US" smtClean="0">
                <a:latin typeface="Arial" panose="020B0604020202020204" pitchFamily="34" charset="0"/>
              </a:rPr>
              <a:t>4.4.1</a:t>
            </a:r>
            <a:r>
              <a:rPr lang="en-US" altLang="en-US">
                <a:latin typeface="Arial" panose="020B0604020202020204" pitchFamily="34" charset="0"/>
              </a:rPr>
              <a:t>. Các phép biến đổi cơ sở</a:t>
            </a:r>
          </a:p>
        </p:txBody>
      </p:sp>
      <p:sp>
        <p:nvSpPr>
          <p:cNvPr id="69530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371600" y="887820"/>
            <a:ext cx="8382000" cy="4530725"/>
          </a:xfrm>
          <a:noFill/>
          <a:ln/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Phép quay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Quay quanh trục y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>
              <a:latin typeface="Arial" panose="020B0604020202020204" pitchFamily="34" charset="0"/>
            </a:endParaRPr>
          </a:p>
          <a:p>
            <a:pPr lvl="1"/>
            <a:endParaRPr lang="en-US" altLang="en-US">
              <a:latin typeface="Arial" panose="020B0604020202020204" pitchFamily="34" charset="0"/>
            </a:endParaRPr>
          </a:p>
          <a:p>
            <a:pPr lvl="1"/>
            <a:endParaRPr lang="en-US" altLang="en-US">
              <a:latin typeface="Arial" panose="020B0604020202020204" pitchFamily="34" charset="0"/>
            </a:endParaRPr>
          </a:p>
        </p:txBody>
      </p:sp>
      <p:pic>
        <p:nvPicPr>
          <p:cNvPr id="69530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24" t="54094" r="21132"/>
          <a:stretch>
            <a:fillRect/>
          </a:stretch>
        </p:blipFill>
        <p:spPr bwMode="auto">
          <a:xfrm>
            <a:off x="2590800" y="3048001"/>
            <a:ext cx="7162800" cy="300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5C9C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19426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B2B2B2"/>
                  </a:outerShdw>
                </a:effectLst>
              </a14:hiddenEffects>
            </a:ext>
          </a:extLst>
        </p:spPr>
      </p:pic>
      <p:pic>
        <p:nvPicPr>
          <p:cNvPr id="695306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11" t="21977" r="47063" b="35748"/>
          <a:stretch>
            <a:fillRect/>
          </a:stretch>
        </p:blipFill>
        <p:spPr bwMode="auto">
          <a:xfrm>
            <a:off x="8683624" y="1603239"/>
            <a:ext cx="2895600" cy="254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5307" name="AutoShape 11"/>
          <p:cNvSpPr>
            <a:spLocks/>
          </p:cNvSpPr>
          <p:nvPr/>
        </p:nvSpPr>
        <p:spPr bwMode="auto">
          <a:xfrm>
            <a:off x="2514600" y="3048000"/>
            <a:ext cx="76200" cy="1219200"/>
          </a:xfrm>
          <a:prstGeom prst="leftBrace">
            <a:avLst>
              <a:gd name="adj1" fmla="val 133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8613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A4017-DB8C-45BB-B191-258077C2D677}" type="slidenum">
              <a:rPr lang="en-US" altLang="en-US"/>
              <a:pPr/>
              <a:t>50</a:t>
            </a:fld>
            <a:endParaRPr lang="en-US" altLang="en-US"/>
          </a:p>
        </p:txBody>
      </p:sp>
      <p:sp>
        <p:nvSpPr>
          <p:cNvPr id="698372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just"/>
            <a:r>
              <a:rPr lang="en-US" altLang="en-US" smtClean="0">
                <a:latin typeface="Arial" panose="020B0604020202020204" pitchFamily="34" charset="0"/>
              </a:rPr>
              <a:t>4.4.2</a:t>
            </a:r>
            <a:r>
              <a:rPr lang="en-US" altLang="en-US">
                <a:latin typeface="Arial" panose="020B0604020202020204" pitchFamily="34" charset="0"/>
              </a:rPr>
              <a:t>. Phép biến đổi tổng hợp</a:t>
            </a:r>
          </a:p>
        </p:txBody>
      </p:sp>
      <p:sp>
        <p:nvSpPr>
          <p:cNvPr id="69837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8382000" cy="4530725"/>
          </a:xfrm>
          <a:noFill/>
          <a:ln/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Phép tịnh tiến</a:t>
            </a:r>
          </a:p>
          <a:p>
            <a:endParaRPr lang="en-US" altLang="en-US">
              <a:latin typeface="Arial" panose="020B0604020202020204" pitchFamily="34" charset="0"/>
            </a:endParaRPr>
          </a:p>
          <a:p>
            <a:pPr lvl="1"/>
            <a:endParaRPr lang="en-US" altLang="en-US">
              <a:latin typeface="Arial" panose="020B0604020202020204" pitchFamily="34" charset="0"/>
            </a:endParaRPr>
          </a:p>
          <a:p>
            <a:pPr lvl="1"/>
            <a:endParaRPr lang="en-US" altLang="en-US">
              <a:latin typeface="Arial" panose="020B0604020202020204" pitchFamily="34" charset="0"/>
            </a:endParaRPr>
          </a:p>
          <a:p>
            <a:pPr lvl="1"/>
            <a:endParaRPr lang="en-US" altLang="en-US">
              <a:latin typeface="Arial" panose="020B0604020202020204" pitchFamily="34" charset="0"/>
            </a:endParaRPr>
          </a:p>
        </p:txBody>
      </p:sp>
      <p:pic>
        <p:nvPicPr>
          <p:cNvPr id="698377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12" t="9634" b="61462"/>
          <a:stretch>
            <a:fillRect/>
          </a:stretch>
        </p:blipFill>
        <p:spPr bwMode="auto">
          <a:xfrm>
            <a:off x="2478089" y="3352800"/>
            <a:ext cx="83820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5C9C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19426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B2B2B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27452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10CF-89CF-481F-8B05-977D25B19C1B}" type="slidenum">
              <a:rPr lang="en-US" altLang="en-US"/>
              <a:pPr/>
              <a:t>51</a:t>
            </a:fld>
            <a:endParaRPr lang="en-US" altLang="en-US"/>
          </a:p>
        </p:txBody>
      </p:sp>
      <p:sp>
        <p:nvSpPr>
          <p:cNvPr id="702468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just"/>
            <a:r>
              <a:rPr lang="en-US" altLang="en-US" smtClean="0">
                <a:latin typeface="Arial" panose="020B0604020202020204" pitchFamily="34" charset="0"/>
              </a:rPr>
              <a:t>4.4.2</a:t>
            </a:r>
            <a:r>
              <a:rPr lang="en-US" altLang="en-US">
                <a:latin typeface="Arial" panose="020B0604020202020204" pitchFamily="34" charset="0"/>
              </a:rPr>
              <a:t>. Phép biến đổi tổng hợp</a:t>
            </a:r>
          </a:p>
        </p:txBody>
      </p:sp>
      <p:sp>
        <p:nvSpPr>
          <p:cNvPr id="70246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8382000" cy="4530725"/>
          </a:xfrm>
          <a:noFill/>
          <a:ln/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Phép co giãn</a:t>
            </a:r>
          </a:p>
          <a:p>
            <a:endParaRPr lang="en-US" altLang="en-US">
              <a:latin typeface="Arial" panose="020B0604020202020204" pitchFamily="34" charset="0"/>
            </a:endParaRPr>
          </a:p>
          <a:p>
            <a:pPr lvl="1"/>
            <a:endParaRPr lang="en-US" altLang="en-US">
              <a:latin typeface="Arial" panose="020B0604020202020204" pitchFamily="34" charset="0"/>
            </a:endParaRPr>
          </a:p>
          <a:p>
            <a:pPr lvl="1"/>
            <a:endParaRPr lang="en-US" altLang="en-US">
              <a:latin typeface="Arial" panose="020B0604020202020204" pitchFamily="34" charset="0"/>
            </a:endParaRPr>
          </a:p>
          <a:p>
            <a:pPr lvl="1"/>
            <a:endParaRPr lang="en-US" altLang="en-US">
              <a:latin typeface="Arial" panose="020B0604020202020204" pitchFamily="34" charset="0"/>
            </a:endParaRPr>
          </a:p>
        </p:txBody>
      </p:sp>
      <p:pic>
        <p:nvPicPr>
          <p:cNvPr id="70247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55" t="91920" r="28828" b="-1768"/>
          <a:stretch>
            <a:fillRect/>
          </a:stretch>
        </p:blipFill>
        <p:spPr bwMode="auto">
          <a:xfrm>
            <a:off x="2590800" y="3400425"/>
            <a:ext cx="7162800" cy="93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5C9C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19426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B2B2B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85988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57FF9-2F32-4B50-BC18-F003AA471152}" type="slidenum">
              <a:rPr lang="en-US" altLang="en-US"/>
              <a:pPr/>
              <a:t>52</a:t>
            </a:fld>
            <a:endParaRPr lang="en-US" altLang="en-US"/>
          </a:p>
        </p:txBody>
      </p:sp>
      <p:sp>
        <p:nvSpPr>
          <p:cNvPr id="701444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just"/>
            <a:r>
              <a:rPr lang="en-US" altLang="en-US" smtClean="0">
                <a:latin typeface="Arial" panose="020B0604020202020204" pitchFamily="34" charset="0"/>
              </a:rPr>
              <a:t>4.4.2</a:t>
            </a:r>
            <a:r>
              <a:rPr lang="en-US" altLang="en-US">
                <a:latin typeface="Arial" panose="020B0604020202020204" pitchFamily="34" charset="0"/>
              </a:rPr>
              <a:t>. Phép biến đổi tổng hợp</a:t>
            </a:r>
          </a:p>
        </p:txBody>
      </p:sp>
      <p:sp>
        <p:nvSpPr>
          <p:cNvPr id="70144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8382000" cy="4530725"/>
          </a:xfrm>
          <a:noFill/>
          <a:ln/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Phép quay</a:t>
            </a:r>
          </a:p>
          <a:p>
            <a:pPr lvl="1"/>
            <a:endParaRPr lang="en-US" altLang="en-US">
              <a:latin typeface="Arial" panose="020B0604020202020204" pitchFamily="34" charset="0"/>
            </a:endParaRPr>
          </a:p>
          <a:p>
            <a:pPr lvl="1"/>
            <a:endParaRPr lang="en-US" altLang="en-US">
              <a:latin typeface="Arial" panose="020B0604020202020204" pitchFamily="34" charset="0"/>
            </a:endParaRPr>
          </a:p>
          <a:p>
            <a:pPr lvl="1"/>
            <a:endParaRPr lang="en-US" altLang="en-US">
              <a:latin typeface="Arial" panose="020B0604020202020204" pitchFamily="34" charset="0"/>
            </a:endParaRPr>
          </a:p>
        </p:txBody>
      </p:sp>
      <p:pic>
        <p:nvPicPr>
          <p:cNvPr id="70144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8" t="44606" r="32150" b="16736"/>
          <a:stretch>
            <a:fillRect/>
          </a:stretch>
        </p:blipFill>
        <p:spPr bwMode="auto">
          <a:xfrm>
            <a:off x="4635795" y="2838181"/>
            <a:ext cx="4648200" cy="302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5C9C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19426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B2B2B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0967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A92FC-DDD4-4CE2-B46A-5771DB8E0412}" type="slidenum">
              <a:rPr lang="en-US" altLang="en-US"/>
              <a:pPr/>
              <a:t>53</a:t>
            </a:fld>
            <a:endParaRPr lang="en-US" altLang="en-US"/>
          </a:p>
        </p:txBody>
      </p:sp>
      <p:sp>
        <p:nvSpPr>
          <p:cNvPr id="697348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just"/>
            <a:r>
              <a:rPr lang="en-US" altLang="en-US" smtClean="0">
                <a:latin typeface="Arial" panose="020B0604020202020204" pitchFamily="34" charset="0"/>
              </a:rPr>
              <a:t>4.4.3</a:t>
            </a:r>
            <a:r>
              <a:rPr lang="en-US" altLang="en-US">
                <a:latin typeface="Arial" panose="020B0604020202020204" pitchFamily="34" charset="0"/>
              </a:rPr>
              <a:t>. Quay quanh trục bất kỳ</a:t>
            </a:r>
          </a:p>
        </p:txBody>
      </p:sp>
      <p:sp>
        <p:nvSpPr>
          <p:cNvPr id="69734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8382000" cy="4530725"/>
          </a:xfrm>
          <a:noFill/>
          <a:ln/>
        </p:spPr>
        <p:txBody>
          <a:bodyPr/>
          <a:lstStyle/>
          <a:p>
            <a:pPr algn="just"/>
            <a:r>
              <a:rPr lang="en-US" altLang="en-US">
                <a:latin typeface="Arial" panose="020B0604020202020204" pitchFamily="34" charset="0"/>
              </a:rPr>
              <a:t>Trục quay song song trục tọa độ</a:t>
            </a:r>
          </a:p>
          <a:p>
            <a:pPr lvl="1" algn="just"/>
            <a:r>
              <a:rPr lang="en-US" altLang="en-US">
                <a:latin typeface="Arial" panose="020B0604020202020204" pitchFamily="34" charset="0"/>
              </a:rPr>
              <a:t>Dịch đối tượng sao cho trục quay về trục tọa độ song song với nó</a:t>
            </a:r>
          </a:p>
          <a:p>
            <a:pPr lvl="1" algn="just"/>
            <a:r>
              <a:rPr lang="en-US" altLang="en-US">
                <a:latin typeface="Arial" panose="020B0604020202020204" pitchFamily="34" charset="0"/>
              </a:rPr>
              <a:t>Thực hiện quay</a:t>
            </a:r>
          </a:p>
          <a:p>
            <a:pPr lvl="1" algn="just"/>
            <a:r>
              <a:rPr lang="en-US" altLang="en-US">
                <a:latin typeface="Arial" panose="020B0604020202020204" pitchFamily="34" charset="0"/>
              </a:rPr>
              <a:t>Dịch đối tượng sao cho trục quay về vị trí ban đầu</a:t>
            </a:r>
          </a:p>
          <a:p>
            <a:pPr lvl="1" algn="just"/>
            <a:endParaRPr lang="en-US" altLang="en-US">
              <a:latin typeface="Arial" panose="020B0604020202020204" pitchFamily="34" charset="0"/>
            </a:endParaRPr>
          </a:p>
          <a:p>
            <a:pPr lvl="1" algn="just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129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7288D-5FDF-4B02-A0FF-ED6A7A039FD8}" type="slidenum">
              <a:rPr lang="en-US" altLang="en-US"/>
              <a:pPr/>
              <a:t>54</a:t>
            </a:fld>
            <a:endParaRPr lang="en-US" altLang="en-US"/>
          </a:p>
        </p:txBody>
      </p:sp>
      <p:sp>
        <p:nvSpPr>
          <p:cNvPr id="700420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just"/>
            <a:r>
              <a:rPr lang="en-US" altLang="en-US" smtClean="0">
                <a:latin typeface="Arial" panose="020B0604020202020204" pitchFamily="34" charset="0"/>
              </a:rPr>
              <a:t>4.4.3</a:t>
            </a:r>
            <a:r>
              <a:rPr lang="en-US" altLang="en-US">
                <a:latin typeface="Arial" panose="020B0604020202020204" pitchFamily="34" charset="0"/>
              </a:rPr>
              <a:t>. Quay quanh trục bất kỳ</a:t>
            </a:r>
          </a:p>
        </p:txBody>
      </p:sp>
      <p:sp>
        <p:nvSpPr>
          <p:cNvPr id="70042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8382000" cy="4530725"/>
          </a:xfrm>
          <a:noFill/>
          <a:ln/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Trường hợp tổng quát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Yêu cầu bổ sung một vài biến đổi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Xác định ma trận chuyển đổi bằng đại số véctơ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Xác định ma trận chuyển đổi bằng hình học</a:t>
            </a:r>
          </a:p>
          <a:p>
            <a:pPr lvl="1"/>
            <a:endParaRPr lang="en-US" altLang="en-US">
              <a:latin typeface="Arial" panose="020B0604020202020204" pitchFamily="34" charset="0"/>
            </a:endParaRPr>
          </a:p>
          <a:p>
            <a:pPr lvl="1" algn="just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9771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63A0-068F-4FB5-9684-498BE127AB02}" type="slidenum">
              <a:rPr lang="en-US" altLang="en-US"/>
              <a:pPr/>
              <a:t>55</a:t>
            </a:fld>
            <a:endParaRPr lang="en-US" altLang="en-US"/>
          </a:p>
        </p:txBody>
      </p:sp>
      <p:sp>
        <p:nvSpPr>
          <p:cNvPr id="699396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just"/>
            <a:r>
              <a:rPr lang="en-US" altLang="en-US" smtClean="0">
                <a:latin typeface="Arial" panose="020B0604020202020204" pitchFamily="34" charset="0"/>
              </a:rPr>
              <a:t>4.4.3</a:t>
            </a:r>
            <a:r>
              <a:rPr lang="en-US" altLang="en-US">
                <a:latin typeface="Arial" panose="020B0604020202020204" pitchFamily="34" charset="0"/>
              </a:rPr>
              <a:t>. Quay quanh trục bất kỳ</a:t>
            </a:r>
          </a:p>
        </p:txBody>
      </p:sp>
      <p:sp>
        <p:nvSpPr>
          <p:cNvPr id="69939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8382000" cy="4530725"/>
          </a:xfrm>
          <a:noFill/>
          <a:ln/>
        </p:spPr>
        <p:txBody>
          <a:bodyPr/>
          <a:lstStyle/>
          <a:p>
            <a:pPr marL="533400" indent="-533400" algn="just"/>
            <a:r>
              <a:rPr lang="en-US" altLang="en-US">
                <a:latin typeface="Arial" panose="020B0604020202020204" pitchFamily="34" charset="0"/>
              </a:rPr>
              <a:t>Trường hợp tổng quát</a:t>
            </a:r>
          </a:p>
          <a:p>
            <a:pPr marL="914400" lvl="1" indent="-457200" algn="just"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</a:rPr>
              <a:t>Dịch đối tượng sao cho trục quay đi qua gốc tọa độ.</a:t>
            </a:r>
          </a:p>
          <a:p>
            <a:pPr marL="914400" lvl="1" indent="-457200" algn="just"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</a:rPr>
              <a:t>Xoay đối tượng sao cho trục quay trùng với một trong các trục tọa độ.</a:t>
            </a:r>
          </a:p>
          <a:p>
            <a:pPr marL="914400" lvl="1" indent="-457200" algn="just"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</a:rPr>
              <a:t>Thực hiện quay đối tượng.</a:t>
            </a:r>
          </a:p>
          <a:p>
            <a:pPr marL="914400" lvl="1" indent="-457200" algn="just"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</a:rPr>
              <a:t>Áp dụng quay ngược để trục quay trở về hướng quay ban đầu.</a:t>
            </a:r>
          </a:p>
          <a:p>
            <a:pPr marL="914400" lvl="1" indent="-457200" algn="just">
              <a:buFont typeface="Wingdings" panose="05000000000000000000" pitchFamily="2" charset="2"/>
              <a:buAutoNum type="arabicPeriod"/>
            </a:pPr>
            <a:r>
              <a:rPr lang="en-US" altLang="en-US">
                <a:latin typeface="Arial" panose="020B0604020202020204" pitchFamily="34" charset="0"/>
              </a:rPr>
              <a:t>Áp dụng chuyển dịch ngược để đem trục quay về vị trí ban đầu.</a:t>
            </a:r>
          </a:p>
        </p:txBody>
      </p:sp>
    </p:spTree>
    <p:extLst>
      <p:ext uri="{BB962C8B-B14F-4D97-AF65-F5344CB8AC3E}">
        <p14:creationId xmlns:p14="http://schemas.microsoft.com/office/powerpoint/2010/main" val="9685613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E82C5-36BA-44C9-A93E-1484C9CCBB43}" type="slidenum">
              <a:rPr lang="en-US" altLang="en-US"/>
              <a:pPr/>
              <a:t>56</a:t>
            </a:fld>
            <a:endParaRPr lang="en-US" altLang="en-US"/>
          </a:p>
        </p:txBody>
      </p:sp>
      <p:sp>
        <p:nvSpPr>
          <p:cNvPr id="696324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just"/>
            <a:r>
              <a:rPr lang="en-US" altLang="en-US" smtClean="0">
                <a:latin typeface="Arial" panose="020B0604020202020204" pitchFamily="34" charset="0"/>
              </a:rPr>
              <a:t>4.4.3</a:t>
            </a:r>
            <a:r>
              <a:rPr lang="en-US" altLang="en-US">
                <a:latin typeface="Arial" panose="020B0604020202020204" pitchFamily="34" charset="0"/>
              </a:rPr>
              <a:t>. Quay quanh trục bất kỳ</a:t>
            </a:r>
          </a:p>
        </p:txBody>
      </p:sp>
      <p:sp>
        <p:nvSpPr>
          <p:cNvPr id="69632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4572000" cy="4530725"/>
          </a:xfrm>
          <a:noFill/>
          <a:ln/>
        </p:spPr>
        <p:txBody>
          <a:bodyPr/>
          <a:lstStyle/>
          <a:p>
            <a:pPr marL="533400" indent="-533400"/>
            <a:r>
              <a:rPr lang="en-US" altLang="en-US" b="1">
                <a:latin typeface="Arial" panose="020B0604020202020204" pitchFamily="34" charset="0"/>
              </a:rPr>
              <a:t>Tìm ma trận quay bằng đại số véctơ</a:t>
            </a:r>
          </a:p>
          <a:p>
            <a:pPr marL="914400" lvl="1" indent="-457200">
              <a:lnSpc>
                <a:spcPct val="115000"/>
              </a:lnSpc>
            </a:pPr>
            <a:r>
              <a:rPr lang="en-US" altLang="en-US">
                <a:latin typeface="Arial" panose="020B0604020202020204" pitchFamily="34" charset="0"/>
              </a:rPr>
              <a:t>Trục quay đi qua hai điểm P</a:t>
            </a:r>
            <a:r>
              <a:rPr lang="en-US" altLang="en-US" baseline="-25000">
                <a:latin typeface="Arial" panose="020B0604020202020204" pitchFamily="34" charset="0"/>
              </a:rPr>
              <a:t>1</a:t>
            </a:r>
            <a:r>
              <a:rPr lang="en-US" altLang="en-US">
                <a:latin typeface="Arial" panose="020B0604020202020204" pitchFamily="34" charset="0"/>
              </a:rPr>
              <a:t> (x</a:t>
            </a:r>
            <a:r>
              <a:rPr lang="en-US" altLang="en-US" baseline="-25000">
                <a:latin typeface="Arial" panose="020B0604020202020204" pitchFamily="34" charset="0"/>
              </a:rPr>
              <a:t>1</a:t>
            </a:r>
            <a:r>
              <a:rPr lang="en-US" altLang="en-US">
                <a:latin typeface="Arial" panose="020B0604020202020204" pitchFamily="34" charset="0"/>
              </a:rPr>
              <a:t>, y</a:t>
            </a:r>
            <a:r>
              <a:rPr lang="en-US" altLang="en-US" baseline="-25000">
                <a:latin typeface="Arial" panose="020B0604020202020204" pitchFamily="34" charset="0"/>
              </a:rPr>
              <a:t>1</a:t>
            </a:r>
            <a:r>
              <a:rPr lang="en-US" altLang="en-US">
                <a:latin typeface="Arial" panose="020B0604020202020204" pitchFamily="34" charset="0"/>
              </a:rPr>
              <a:t>, z</a:t>
            </a:r>
            <a:r>
              <a:rPr lang="en-US" altLang="en-US" baseline="-25000">
                <a:latin typeface="Arial" panose="020B0604020202020204" pitchFamily="34" charset="0"/>
              </a:rPr>
              <a:t>1</a:t>
            </a:r>
            <a:r>
              <a:rPr lang="en-US" altLang="en-US">
                <a:latin typeface="Arial" panose="020B0604020202020204" pitchFamily="34" charset="0"/>
              </a:rPr>
              <a:t>) và P</a:t>
            </a:r>
            <a:r>
              <a:rPr lang="en-US" altLang="en-US" baseline="-25000">
                <a:latin typeface="Arial" panose="020B0604020202020204" pitchFamily="34" charset="0"/>
              </a:rPr>
              <a:t>2</a:t>
            </a:r>
            <a:r>
              <a:rPr lang="en-US" altLang="en-US">
                <a:latin typeface="Arial" panose="020B0604020202020204" pitchFamily="34" charset="0"/>
              </a:rPr>
              <a:t> (x</a:t>
            </a:r>
            <a:r>
              <a:rPr lang="en-US" altLang="en-US" baseline="-25000">
                <a:latin typeface="Arial" panose="020B0604020202020204" pitchFamily="34" charset="0"/>
              </a:rPr>
              <a:t>2</a:t>
            </a:r>
            <a:r>
              <a:rPr lang="en-US" altLang="en-US">
                <a:latin typeface="Arial" panose="020B0604020202020204" pitchFamily="34" charset="0"/>
              </a:rPr>
              <a:t>, y</a:t>
            </a:r>
            <a:r>
              <a:rPr lang="en-US" altLang="en-US" baseline="-25000">
                <a:latin typeface="Arial" panose="020B0604020202020204" pitchFamily="34" charset="0"/>
              </a:rPr>
              <a:t>2</a:t>
            </a:r>
            <a:r>
              <a:rPr lang="en-US" altLang="en-US">
                <a:latin typeface="Arial" panose="020B0604020202020204" pitchFamily="34" charset="0"/>
              </a:rPr>
              <a:t>, z</a:t>
            </a:r>
            <a:r>
              <a:rPr lang="en-US" altLang="en-US" baseline="-25000">
                <a:latin typeface="Arial" panose="020B0604020202020204" pitchFamily="34" charset="0"/>
              </a:rPr>
              <a:t>2</a:t>
            </a:r>
            <a:r>
              <a:rPr lang="en-US" altLang="en-US">
                <a:latin typeface="Arial" panose="020B0604020202020204" pitchFamily="34" charset="0"/>
              </a:rPr>
              <a:t>).</a:t>
            </a:r>
          </a:p>
          <a:p>
            <a:pPr marL="914400" lvl="1" indent="-457200">
              <a:lnSpc>
                <a:spcPct val="115000"/>
              </a:lnSpc>
            </a:pPr>
            <a:r>
              <a:rPr lang="en-US" altLang="en-US">
                <a:latin typeface="Arial" panose="020B0604020202020204" pitchFamily="34" charset="0"/>
              </a:rPr>
              <a:t>P</a:t>
            </a:r>
            <a:r>
              <a:rPr lang="en-US" altLang="en-US" baseline="-25000">
                <a:latin typeface="Arial" panose="020B0604020202020204" pitchFamily="34" charset="0"/>
              </a:rPr>
              <a:t>1</a:t>
            </a:r>
            <a:r>
              <a:rPr lang="en-US" altLang="en-US">
                <a:latin typeface="Arial" panose="020B0604020202020204" pitchFamily="34" charset="0"/>
              </a:rPr>
              <a:t> và P</a:t>
            </a:r>
            <a:r>
              <a:rPr lang="en-US" altLang="en-US" baseline="-25000">
                <a:latin typeface="Arial" panose="020B0604020202020204" pitchFamily="34" charset="0"/>
              </a:rPr>
              <a:t>2</a:t>
            </a:r>
            <a:r>
              <a:rPr lang="en-US" altLang="en-US">
                <a:latin typeface="Arial" panose="020B0604020202020204" pitchFamily="34" charset="0"/>
              </a:rPr>
              <a:t> xác định véc tơ </a:t>
            </a:r>
            <a:r>
              <a:rPr lang="en-US" altLang="en-US" b="1">
                <a:latin typeface="Arial" panose="020B0604020202020204" pitchFamily="34" charset="0"/>
              </a:rPr>
              <a:t>V</a:t>
            </a:r>
            <a:r>
              <a:rPr lang="en-US" altLang="en-US">
                <a:latin typeface="Arial" panose="020B0604020202020204" pitchFamily="34" charset="0"/>
              </a:rPr>
              <a:t>:</a:t>
            </a:r>
          </a:p>
          <a:p>
            <a:pPr marL="1295400" lvl="2" indent="-381000">
              <a:lnSpc>
                <a:spcPct val="115000"/>
              </a:lnSpc>
              <a:buNone/>
            </a:pPr>
            <a:r>
              <a:rPr lang="en-US" altLang="en-US">
                <a:latin typeface="Arial" panose="020B0604020202020204" pitchFamily="34" charset="0"/>
              </a:rPr>
              <a:t>	V = (x</a:t>
            </a:r>
            <a:r>
              <a:rPr lang="en-US" altLang="en-US" baseline="-25000">
                <a:latin typeface="Arial" panose="020B0604020202020204" pitchFamily="34" charset="0"/>
              </a:rPr>
              <a:t>2 </a:t>
            </a:r>
            <a:r>
              <a:rPr lang="en-US" altLang="en-US">
                <a:latin typeface="Arial" panose="020B0604020202020204" pitchFamily="34" charset="0"/>
              </a:rPr>
              <a:t>- x</a:t>
            </a:r>
            <a:r>
              <a:rPr lang="en-US" altLang="en-US" baseline="-25000">
                <a:latin typeface="Arial" panose="020B0604020202020204" pitchFamily="34" charset="0"/>
              </a:rPr>
              <a:t>1</a:t>
            </a:r>
            <a:r>
              <a:rPr lang="en-US" altLang="en-US">
                <a:latin typeface="Arial" panose="020B0604020202020204" pitchFamily="34" charset="0"/>
              </a:rPr>
              <a:t>, y</a:t>
            </a:r>
            <a:r>
              <a:rPr lang="en-US" altLang="en-US" baseline="-25000">
                <a:latin typeface="Arial" panose="020B0604020202020204" pitchFamily="34" charset="0"/>
              </a:rPr>
              <a:t>2 </a:t>
            </a:r>
            <a:r>
              <a:rPr lang="en-US" altLang="en-US">
                <a:latin typeface="Arial" panose="020B0604020202020204" pitchFamily="34" charset="0"/>
              </a:rPr>
              <a:t>- y</a:t>
            </a:r>
            <a:r>
              <a:rPr lang="en-US" altLang="en-US" baseline="-25000">
                <a:latin typeface="Arial" panose="020B0604020202020204" pitchFamily="34" charset="0"/>
              </a:rPr>
              <a:t>1</a:t>
            </a:r>
            <a:r>
              <a:rPr lang="en-US" altLang="en-US">
                <a:latin typeface="Arial" panose="020B0604020202020204" pitchFamily="34" charset="0"/>
              </a:rPr>
              <a:t>, z</a:t>
            </a:r>
            <a:r>
              <a:rPr lang="en-US" altLang="en-US" baseline="-25000">
                <a:latin typeface="Arial" panose="020B0604020202020204" pitchFamily="34" charset="0"/>
              </a:rPr>
              <a:t>2 </a:t>
            </a:r>
            <a:r>
              <a:rPr lang="en-US" altLang="en-US">
                <a:latin typeface="Arial" panose="020B0604020202020204" pitchFamily="34" charset="0"/>
              </a:rPr>
              <a:t>- z</a:t>
            </a:r>
            <a:r>
              <a:rPr lang="en-US" altLang="en-US" baseline="-25000">
                <a:latin typeface="Arial" panose="020B0604020202020204" pitchFamily="34" charset="0"/>
              </a:rPr>
              <a:t>1</a:t>
            </a:r>
            <a:r>
              <a:rPr lang="en-US" altLang="en-US">
                <a:latin typeface="Arial" panose="020B0604020202020204" pitchFamily="34" charset="0"/>
              </a:rPr>
              <a:t>)</a:t>
            </a:r>
          </a:p>
          <a:p>
            <a:pPr marL="914400" lvl="1" indent="-457200">
              <a:lnSpc>
                <a:spcPct val="115000"/>
              </a:lnSpc>
            </a:pPr>
            <a:r>
              <a:rPr lang="en-US" altLang="en-US">
                <a:latin typeface="Arial" panose="020B0604020202020204" pitchFamily="34" charset="0"/>
              </a:rPr>
              <a:t>Véc tơ đơn vị </a:t>
            </a:r>
            <a:r>
              <a:rPr lang="en-US" altLang="en-US" b="1">
                <a:latin typeface="Arial" panose="020B0604020202020204" pitchFamily="34" charset="0"/>
              </a:rPr>
              <a:t>u </a:t>
            </a:r>
            <a:r>
              <a:rPr lang="en-US" altLang="en-US">
                <a:latin typeface="Arial" panose="020B0604020202020204" pitchFamily="34" charset="0"/>
              </a:rPr>
              <a:t>theo trục quay sẽ là</a:t>
            </a:r>
          </a:p>
        </p:txBody>
      </p:sp>
      <p:pic>
        <p:nvPicPr>
          <p:cNvPr id="69632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76" y="4922838"/>
            <a:ext cx="7769225" cy="868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9632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828800"/>
            <a:ext cx="3581400" cy="2452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412548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3EDC-CD40-4429-90DC-6185DF088E03}" type="slidenum">
              <a:rPr lang="en-US" altLang="en-US"/>
              <a:pPr/>
              <a:t>57</a:t>
            </a:fld>
            <a:endParaRPr lang="en-US" altLang="en-US"/>
          </a:p>
        </p:txBody>
      </p:sp>
      <p:sp>
        <p:nvSpPr>
          <p:cNvPr id="704516" name="Rectangle 4"/>
          <p:cNvSpPr>
            <a:spLocks noGrp="1" noChangeArrowheads="1"/>
          </p:cNvSpPr>
          <p:nvPr>
            <p:ph type="title"/>
          </p:nvPr>
        </p:nvSpPr>
        <p:spPr>
          <a:xfrm>
            <a:off x="1643799" y="0"/>
            <a:ext cx="10018713" cy="1752599"/>
          </a:xfrm>
          <a:noFill/>
          <a:ln/>
        </p:spPr>
        <p:txBody>
          <a:bodyPr/>
          <a:lstStyle/>
          <a:p>
            <a:pPr algn="just"/>
            <a:r>
              <a:rPr lang="en-US" altLang="en-US" smtClean="0">
                <a:latin typeface="Arial" panose="020B0604020202020204" pitchFamily="34" charset="0"/>
              </a:rPr>
              <a:t>4.4.3</a:t>
            </a:r>
            <a:r>
              <a:rPr lang="en-US" altLang="en-US">
                <a:latin typeface="Arial" panose="020B0604020202020204" pitchFamily="34" charset="0"/>
              </a:rPr>
              <a:t>. Quay quanh trục bất kỳ</a:t>
            </a:r>
          </a:p>
        </p:txBody>
      </p:sp>
      <p:sp>
        <p:nvSpPr>
          <p:cNvPr id="70451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0"/>
            <a:ext cx="8458200" cy="4953000"/>
          </a:xfrm>
          <a:noFill/>
          <a:ln/>
        </p:spPr>
        <p:txBody>
          <a:bodyPr/>
          <a:lstStyle/>
          <a:p>
            <a:pPr marL="533400" indent="-533400"/>
            <a:r>
              <a:rPr lang="en-US" altLang="en-US">
                <a:latin typeface="Arial" panose="020B0604020202020204" pitchFamily="34" charset="0"/>
              </a:rPr>
              <a:t>Giả sử chọn trục z để biến đổi trục xoay theo nó</a:t>
            </a:r>
          </a:p>
          <a:p>
            <a:pPr marL="533400" indent="-533400"/>
            <a:r>
              <a:rPr lang="en-US" altLang="en-US">
                <a:latin typeface="Arial" panose="020B0604020202020204" pitchFamily="34" charset="0"/>
              </a:rPr>
              <a:t>Bước 1:</a:t>
            </a:r>
          </a:p>
          <a:p>
            <a:pPr marL="914400" lvl="1" indent="-457200"/>
            <a:r>
              <a:rPr lang="en-US" altLang="en-US">
                <a:latin typeface="Arial" panose="020B0604020202020204" pitchFamily="34" charset="0"/>
              </a:rPr>
              <a:t>Dịch đối tượng sao cho P</a:t>
            </a:r>
            <a:r>
              <a:rPr lang="en-US" altLang="en-US" baseline="-25000">
                <a:latin typeface="Arial" panose="020B0604020202020204" pitchFamily="34" charset="0"/>
              </a:rPr>
              <a:t>1</a:t>
            </a:r>
            <a:r>
              <a:rPr lang="en-US" altLang="en-US">
                <a:latin typeface="Arial" panose="020B0604020202020204" pitchFamily="34" charset="0"/>
              </a:rPr>
              <a:t> về gốc tọa độ</a:t>
            </a:r>
          </a:p>
          <a:p>
            <a:pPr marL="914400" lvl="1" indent="-457200"/>
            <a:endParaRPr lang="en-US" altLang="en-US">
              <a:latin typeface="Arial" panose="020B0604020202020204" pitchFamily="34" charset="0"/>
            </a:endParaRPr>
          </a:p>
          <a:p>
            <a:pPr marL="914400" lvl="1" indent="-457200"/>
            <a:endParaRPr lang="en-US" altLang="en-US">
              <a:latin typeface="Arial" panose="020B0604020202020204" pitchFamily="34" charset="0"/>
            </a:endParaRPr>
          </a:p>
          <a:p>
            <a:pPr marL="914400" lvl="1" indent="-457200"/>
            <a:endParaRPr lang="en-US" altLang="en-US">
              <a:latin typeface="Arial" panose="020B0604020202020204" pitchFamily="34" charset="0"/>
            </a:endParaRPr>
          </a:p>
          <a:p>
            <a:pPr marL="914400" lvl="1" indent="-457200"/>
            <a:endParaRPr lang="en-US" altLang="en-US">
              <a:latin typeface="Arial" panose="020B0604020202020204" pitchFamily="34" charset="0"/>
            </a:endParaRPr>
          </a:p>
          <a:p>
            <a:pPr marL="914400" lvl="1" indent="-457200"/>
            <a:endParaRPr lang="en-US" altLang="en-US">
              <a:latin typeface="Arial" panose="020B0604020202020204" pitchFamily="34" charset="0"/>
            </a:endParaRPr>
          </a:p>
          <a:p>
            <a:pPr marL="914400" lvl="1" indent="-457200"/>
            <a:r>
              <a:rPr lang="en-US" altLang="en-US">
                <a:latin typeface="Arial" panose="020B0604020202020204" pitchFamily="34" charset="0"/>
              </a:rPr>
              <a:t>Biến đổi sao cho trục quay trùng với trục z</a:t>
            </a:r>
          </a:p>
          <a:p>
            <a:pPr marL="1295400" lvl="2" indent="-381000"/>
            <a:r>
              <a:rPr lang="en-US" altLang="en-US">
                <a:latin typeface="Arial" panose="020B0604020202020204" pitchFamily="34" charset="0"/>
              </a:rPr>
              <a:t>Quay quanh trục x sao cho véc tơ u nằm trong mặt phẳng xz</a:t>
            </a:r>
          </a:p>
          <a:p>
            <a:pPr marL="1295400" lvl="2" indent="-381000"/>
            <a:r>
              <a:rPr lang="en-US" altLang="en-US">
                <a:latin typeface="Arial" panose="020B0604020202020204" pitchFamily="34" charset="0"/>
              </a:rPr>
              <a:t>Quay quanh trục y để đưa u về trục z</a:t>
            </a:r>
          </a:p>
        </p:txBody>
      </p:sp>
      <p:pic>
        <p:nvPicPr>
          <p:cNvPr id="704520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1" t="23201" r="6583" b="34264"/>
          <a:stretch>
            <a:fillRect/>
          </a:stretch>
        </p:blipFill>
        <p:spPr bwMode="auto">
          <a:xfrm>
            <a:off x="3595577" y="3053556"/>
            <a:ext cx="7010400" cy="2046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5C9C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19426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B2B2B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3032929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F740-CE9D-4949-BEE9-27DA7381A1FB}" type="slidenum">
              <a:rPr lang="en-US" altLang="en-US"/>
              <a:pPr/>
              <a:t>58</a:t>
            </a:fld>
            <a:endParaRPr lang="en-US" altLang="en-US"/>
          </a:p>
        </p:txBody>
      </p:sp>
      <p:sp>
        <p:nvSpPr>
          <p:cNvPr id="711684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just"/>
            <a:r>
              <a:rPr lang="en-US" altLang="en-US" smtClean="0">
                <a:latin typeface="Arial" panose="020B0604020202020204" pitchFamily="34" charset="0"/>
              </a:rPr>
              <a:t>4.4.3</a:t>
            </a:r>
            <a:r>
              <a:rPr lang="en-US" altLang="en-US">
                <a:latin typeface="Arial" panose="020B0604020202020204" pitchFamily="34" charset="0"/>
              </a:rPr>
              <a:t>. Quay quanh trục bất kỳ</a:t>
            </a:r>
          </a:p>
        </p:txBody>
      </p:sp>
      <p:sp>
        <p:nvSpPr>
          <p:cNvPr id="71168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0"/>
            <a:ext cx="8458200" cy="4953000"/>
          </a:xfrm>
          <a:noFill/>
          <a:ln/>
        </p:spPr>
        <p:txBody>
          <a:bodyPr/>
          <a:lstStyle/>
          <a:p>
            <a:pPr marL="533400" indent="-533400"/>
            <a:r>
              <a:rPr lang="en-US" altLang="en-US">
                <a:latin typeface="Arial" panose="020B0604020202020204" pitchFamily="34" charset="0"/>
              </a:rPr>
              <a:t>Bước 1:</a:t>
            </a:r>
          </a:p>
        </p:txBody>
      </p:sp>
      <p:pic>
        <p:nvPicPr>
          <p:cNvPr id="711687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562" y="2711180"/>
            <a:ext cx="7620000" cy="3338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143372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B0B0D-5142-40A7-B085-86A131936B73}" type="slidenum">
              <a:rPr lang="en-US" altLang="en-US"/>
              <a:pPr/>
              <a:t>59</a:t>
            </a:fld>
            <a:endParaRPr lang="en-US" altLang="en-US"/>
          </a:p>
        </p:txBody>
      </p:sp>
      <p:sp>
        <p:nvSpPr>
          <p:cNvPr id="703492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just"/>
            <a:r>
              <a:rPr lang="en-US" altLang="en-US" smtClean="0">
                <a:latin typeface="Arial" panose="020B0604020202020204" pitchFamily="34" charset="0"/>
              </a:rPr>
              <a:t>4.4.3</a:t>
            </a:r>
            <a:r>
              <a:rPr lang="en-US" altLang="en-US">
                <a:latin typeface="Arial" panose="020B0604020202020204" pitchFamily="34" charset="0"/>
              </a:rPr>
              <a:t>. Quay quanh trục bất kỳ</a:t>
            </a:r>
          </a:p>
        </p:txBody>
      </p:sp>
      <p:sp>
        <p:nvSpPr>
          <p:cNvPr id="70349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375145" y="684913"/>
            <a:ext cx="8458200" cy="4953000"/>
          </a:xfrm>
          <a:noFill/>
          <a:ln/>
        </p:spPr>
        <p:txBody>
          <a:bodyPr/>
          <a:lstStyle/>
          <a:p>
            <a:pPr marL="533400" indent="-533400"/>
            <a:r>
              <a:rPr lang="en-US" altLang="en-US">
                <a:latin typeface="Arial" panose="020B0604020202020204" pitchFamily="34" charset="0"/>
              </a:rPr>
              <a:t>Bước 2: Tìm ma trận quay quanh x để </a:t>
            </a:r>
            <a:r>
              <a:rPr lang="en-US" altLang="en-US" b="1">
                <a:latin typeface="Arial" panose="020B0604020202020204" pitchFamily="34" charset="0"/>
              </a:rPr>
              <a:t>u </a:t>
            </a:r>
            <a:r>
              <a:rPr lang="en-US" altLang="en-US">
                <a:latin typeface="Arial" panose="020B0604020202020204" pitchFamily="34" charset="0"/>
              </a:rPr>
              <a:t>về mặt phẳng xz</a:t>
            </a:r>
          </a:p>
          <a:p>
            <a:pPr marL="914400" lvl="1" indent="-457200"/>
            <a:r>
              <a:rPr lang="en-US" altLang="en-US">
                <a:latin typeface="Arial" panose="020B0604020202020204" pitchFamily="34" charset="0"/>
              </a:rPr>
              <a:t>Góc quay: là góc giữa ánh xạ véctơ </a:t>
            </a:r>
            <a:r>
              <a:rPr lang="en-US" altLang="en-US" b="1">
                <a:latin typeface="Arial" panose="020B0604020202020204" pitchFamily="34" charset="0"/>
              </a:rPr>
              <a:t>u </a:t>
            </a:r>
            <a:r>
              <a:rPr lang="en-US" altLang="en-US">
                <a:latin typeface="Arial" panose="020B0604020202020204" pitchFamily="34" charset="0"/>
              </a:rPr>
              <a:t>vào mặt yz và trục dương z</a:t>
            </a:r>
          </a:p>
          <a:p>
            <a:pPr marL="914400" lvl="1" indent="-457200"/>
            <a:r>
              <a:rPr lang="en-US" altLang="en-US">
                <a:latin typeface="Arial" panose="020B0604020202020204" pitchFamily="34" charset="0"/>
              </a:rPr>
              <a:t>Tìm góc xoay </a:t>
            </a:r>
            <a:r>
              <a:rPr lang="en-US" altLang="en-US">
                <a:latin typeface="Arial" panose="020B0604020202020204" pitchFamily="34" charset="0"/>
                <a:sym typeface="Symbol" panose="05050102010706020507" pitchFamily="18" charset="2"/>
              </a:rPr>
              <a:t></a:t>
            </a:r>
            <a:r>
              <a:rPr lang="en-US" altLang="en-US">
                <a:latin typeface="Arial" panose="020B0604020202020204" pitchFamily="34" charset="0"/>
              </a:rPr>
              <a:t>?</a:t>
            </a:r>
          </a:p>
        </p:txBody>
      </p:sp>
      <p:pic>
        <p:nvPicPr>
          <p:cNvPr id="70349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8136" y="4153786"/>
            <a:ext cx="8602663" cy="2547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780288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C6116-9F7B-48D1-ACFF-33829973E10D}" type="slidenum">
              <a:rPr lang="en-US" altLang="en-US"/>
              <a:pPr/>
              <a:t>60</a:t>
            </a:fld>
            <a:endParaRPr lang="en-US" altLang="en-US"/>
          </a:p>
        </p:txBody>
      </p:sp>
      <p:sp>
        <p:nvSpPr>
          <p:cNvPr id="710660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just"/>
            <a:r>
              <a:rPr lang="en-US" altLang="en-US" smtClean="0">
                <a:latin typeface="Arial" panose="020B0604020202020204" pitchFamily="34" charset="0"/>
              </a:rPr>
              <a:t>4.4.3</a:t>
            </a:r>
            <a:r>
              <a:rPr lang="en-US" altLang="en-US">
                <a:latin typeface="Arial" panose="020B0604020202020204" pitchFamily="34" charset="0"/>
              </a:rPr>
              <a:t>. Quay quanh trục bất kỳ</a:t>
            </a:r>
          </a:p>
        </p:txBody>
      </p:sp>
      <p:sp>
        <p:nvSpPr>
          <p:cNvPr id="71066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098697" y="2144231"/>
            <a:ext cx="8458200" cy="588335"/>
          </a:xfrm>
          <a:noFill/>
          <a:ln/>
        </p:spPr>
        <p:txBody>
          <a:bodyPr/>
          <a:lstStyle/>
          <a:p>
            <a:pPr marL="533400" indent="-533400"/>
            <a:r>
              <a:rPr lang="en-US" altLang="en-US">
                <a:latin typeface="Arial" panose="020B0604020202020204" pitchFamily="34" charset="0"/>
              </a:rPr>
              <a:t>Bước </a:t>
            </a:r>
            <a:r>
              <a:rPr lang="en-US" altLang="en-US">
                <a:latin typeface="Arial" panose="020B0604020202020204" pitchFamily="34" charset="0"/>
              </a:rPr>
              <a:t>2</a:t>
            </a:r>
            <a:r>
              <a:rPr lang="en-US" altLang="en-US" smtClean="0">
                <a:latin typeface="Arial" panose="020B0604020202020204" pitchFamily="34" charset="0"/>
              </a:rPr>
              <a:t>: </a:t>
            </a:r>
            <a:r>
              <a:rPr lang="en-US" altLang="en-US">
                <a:latin typeface="Arial" panose="020B0604020202020204" pitchFamily="34" charset="0"/>
              </a:rPr>
              <a:t>Tìm ma trận xoay quanh x để </a:t>
            </a:r>
            <a:r>
              <a:rPr lang="en-US" altLang="en-US" b="1">
                <a:latin typeface="Arial" panose="020B0604020202020204" pitchFamily="34" charset="0"/>
              </a:rPr>
              <a:t>u </a:t>
            </a:r>
            <a:r>
              <a:rPr lang="en-US" altLang="en-US">
                <a:latin typeface="Arial" panose="020B0604020202020204" pitchFamily="34" charset="0"/>
              </a:rPr>
              <a:t>về mặt phẳng xz</a:t>
            </a:r>
          </a:p>
          <a:p>
            <a:pPr marL="533400" indent="-533400"/>
            <a:endParaRPr lang="en-US" altLang="en-US">
              <a:latin typeface="Arial" panose="020B0604020202020204" pitchFamily="34" charset="0"/>
            </a:endParaRPr>
          </a:p>
        </p:txBody>
      </p:sp>
      <p:pic>
        <p:nvPicPr>
          <p:cNvPr id="71066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335" y="2580844"/>
            <a:ext cx="8670925" cy="301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0666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71" r="2121" b="14052"/>
          <a:stretch>
            <a:fillRect/>
          </a:stretch>
        </p:blipFill>
        <p:spPr bwMode="auto">
          <a:xfrm>
            <a:off x="8714579" y="4190997"/>
            <a:ext cx="3344637" cy="2112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66660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1382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C70-B753-45D8-ACFB-34411ED5050A}" type="slidenum">
              <a:rPr lang="en-US" altLang="en-US"/>
              <a:pPr/>
              <a:t>61</a:t>
            </a:fld>
            <a:endParaRPr lang="en-US" altLang="en-US"/>
          </a:p>
        </p:txBody>
      </p:sp>
      <p:sp>
        <p:nvSpPr>
          <p:cNvPr id="709636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just"/>
            <a:r>
              <a:rPr lang="en-US" altLang="en-US" smtClean="0">
                <a:latin typeface="Arial" panose="020B0604020202020204" pitchFamily="34" charset="0"/>
              </a:rPr>
              <a:t>4.4.3</a:t>
            </a:r>
            <a:r>
              <a:rPr lang="en-US" altLang="en-US">
                <a:latin typeface="Arial" panose="020B0604020202020204" pitchFamily="34" charset="0"/>
              </a:rPr>
              <a:t>. Quay quanh trục bất kỳ</a:t>
            </a:r>
          </a:p>
        </p:txBody>
      </p:sp>
      <p:sp>
        <p:nvSpPr>
          <p:cNvPr id="70963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367353" y="2399412"/>
            <a:ext cx="8458200" cy="686069"/>
          </a:xfrm>
          <a:noFill/>
          <a:ln/>
        </p:spPr>
        <p:txBody>
          <a:bodyPr/>
          <a:lstStyle/>
          <a:p>
            <a:pPr marL="533400" indent="-533400"/>
            <a:r>
              <a:rPr lang="en-US" altLang="en-US">
                <a:latin typeface="Arial" panose="020B0604020202020204" pitchFamily="34" charset="0"/>
              </a:rPr>
              <a:t>Bước </a:t>
            </a:r>
            <a:r>
              <a:rPr lang="en-US" altLang="en-US" smtClean="0">
                <a:latin typeface="Arial" panose="020B0604020202020204" pitchFamily="34" charset="0"/>
              </a:rPr>
              <a:t>2</a:t>
            </a:r>
            <a:endParaRPr lang="en-US" altLang="en-US">
              <a:latin typeface="Arial" panose="020B0604020202020204" pitchFamily="34" charset="0"/>
            </a:endParaRPr>
          </a:p>
          <a:p>
            <a:pPr marL="533400" indent="-533400"/>
            <a:endParaRPr lang="en-US" altLang="en-US">
              <a:latin typeface="Arial" panose="020B0604020202020204" pitchFamily="34" charset="0"/>
            </a:endParaRPr>
          </a:p>
        </p:txBody>
      </p:sp>
      <p:pic>
        <p:nvPicPr>
          <p:cNvPr id="709639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4860" y="2184991"/>
            <a:ext cx="76327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743288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16EF-B7AB-4A73-AF1F-AB482C6407B0}" type="slidenum">
              <a:rPr lang="en-US" altLang="en-US"/>
              <a:pPr/>
              <a:t>62</a:t>
            </a:fld>
            <a:endParaRPr lang="en-US" altLang="en-US"/>
          </a:p>
        </p:txBody>
      </p:sp>
      <p:sp>
        <p:nvSpPr>
          <p:cNvPr id="708612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just"/>
            <a:r>
              <a:rPr lang="en-US" altLang="en-US" smtClean="0">
                <a:latin typeface="Arial" panose="020B0604020202020204" pitchFamily="34" charset="0"/>
              </a:rPr>
              <a:t>4.4.3</a:t>
            </a:r>
            <a:r>
              <a:rPr lang="en-US" altLang="en-US">
                <a:latin typeface="Arial" panose="020B0604020202020204" pitchFamily="34" charset="0"/>
              </a:rPr>
              <a:t>. Quay quanh trục bất kỳ</a:t>
            </a:r>
          </a:p>
        </p:txBody>
      </p:sp>
      <p:sp>
        <p:nvSpPr>
          <p:cNvPr id="70861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0"/>
            <a:ext cx="8458200" cy="4953000"/>
          </a:xfrm>
          <a:noFill/>
          <a:ln/>
        </p:spPr>
        <p:txBody>
          <a:bodyPr/>
          <a:lstStyle/>
          <a:p>
            <a:pPr marL="533400" indent="-533400" algn="just">
              <a:lnSpc>
                <a:spcPct val="120000"/>
              </a:lnSpc>
            </a:pPr>
            <a:r>
              <a:rPr lang="en-US" altLang="en-US">
                <a:latin typeface="Arial" panose="020B0604020202020204" pitchFamily="34" charset="0"/>
              </a:rPr>
              <a:t>Bước 3: Tìm ma trận quay véctơ đơn vị </a:t>
            </a:r>
            <a:r>
              <a:rPr lang="en-US" altLang="en-US" b="1">
                <a:latin typeface="Arial" panose="020B0604020202020204" pitchFamily="34" charset="0"/>
              </a:rPr>
              <a:t>u’’ </a:t>
            </a:r>
            <a:r>
              <a:rPr lang="en-US" altLang="en-US">
                <a:latin typeface="Arial" panose="020B0604020202020204" pitchFamily="34" charset="0"/>
              </a:rPr>
              <a:t>trong mặt xz quanh trục y vào trục dương z</a:t>
            </a:r>
          </a:p>
          <a:p>
            <a:pPr marL="914400" lvl="1" indent="-457200" algn="just">
              <a:lnSpc>
                <a:spcPct val="120000"/>
              </a:lnSpc>
            </a:pPr>
            <a:r>
              <a:rPr lang="en-US" altLang="en-US">
                <a:latin typeface="Arial" panose="020B0604020202020204" pitchFamily="34" charset="0"/>
              </a:rPr>
              <a:t>Các thành phần của </a:t>
            </a:r>
            <a:r>
              <a:rPr lang="en-US" altLang="en-US" b="1">
                <a:latin typeface="Arial" panose="020B0604020202020204" pitchFamily="34" charset="0"/>
              </a:rPr>
              <a:t>u”</a:t>
            </a:r>
            <a:r>
              <a:rPr lang="en-US" altLang="en-US">
                <a:latin typeface="Arial" panose="020B0604020202020204" pitchFamily="34" charset="0"/>
              </a:rPr>
              <a:t>:</a:t>
            </a:r>
          </a:p>
          <a:p>
            <a:pPr marL="1295400" lvl="2" indent="-381000" algn="just">
              <a:lnSpc>
                <a:spcPct val="120000"/>
              </a:lnSpc>
            </a:pPr>
            <a:r>
              <a:rPr lang="en-US" altLang="en-US">
                <a:latin typeface="Arial" panose="020B0604020202020204" pitchFamily="34" charset="0"/>
              </a:rPr>
              <a:t>Xoay quanh trục x nên thành phần x của véctơ có giá trị a</a:t>
            </a:r>
          </a:p>
          <a:p>
            <a:pPr marL="1295400" lvl="2" indent="-381000" algn="just">
              <a:lnSpc>
                <a:spcPct val="120000"/>
              </a:lnSpc>
            </a:pPr>
            <a:r>
              <a:rPr lang="en-US" altLang="en-US">
                <a:latin typeface="Arial" panose="020B0604020202020204" pitchFamily="34" charset="0"/>
              </a:rPr>
              <a:t>Vì xoay </a:t>
            </a:r>
            <a:r>
              <a:rPr lang="en-US" altLang="en-US" b="1">
                <a:latin typeface="Arial" panose="020B0604020202020204" pitchFamily="34" charset="0"/>
              </a:rPr>
              <a:t>u’’ </a:t>
            </a:r>
            <a:r>
              <a:rPr lang="en-US" altLang="en-US">
                <a:latin typeface="Arial" panose="020B0604020202020204" pitchFamily="34" charset="0"/>
              </a:rPr>
              <a:t>vào trục z cho nên thành phần z của </a:t>
            </a:r>
            <a:r>
              <a:rPr lang="en-US" altLang="en-US" b="1">
                <a:latin typeface="Arial" panose="020B0604020202020204" pitchFamily="34" charset="0"/>
              </a:rPr>
              <a:t>u” </a:t>
            </a:r>
            <a:r>
              <a:rPr lang="en-US" altLang="en-US">
                <a:latin typeface="Arial" panose="020B0604020202020204" pitchFamily="34" charset="0"/>
              </a:rPr>
              <a:t>có giá trị d</a:t>
            </a:r>
          </a:p>
          <a:p>
            <a:pPr marL="1295400" lvl="2" indent="-381000" algn="just">
              <a:lnSpc>
                <a:spcPct val="120000"/>
              </a:lnSpc>
            </a:pPr>
            <a:r>
              <a:rPr lang="en-US" altLang="en-US">
                <a:latin typeface="Arial" panose="020B0604020202020204" pitchFamily="34" charset="0"/>
              </a:rPr>
              <a:t>Thành phần y của </a:t>
            </a:r>
            <a:r>
              <a:rPr lang="en-US" altLang="en-US" b="1">
                <a:latin typeface="Arial" panose="020B0604020202020204" pitchFamily="34" charset="0"/>
              </a:rPr>
              <a:t>u” </a:t>
            </a:r>
            <a:r>
              <a:rPr lang="en-US" altLang="en-US">
                <a:latin typeface="Arial" panose="020B0604020202020204" pitchFamily="34" charset="0"/>
              </a:rPr>
              <a:t>có giá trị 0</a:t>
            </a:r>
          </a:p>
        </p:txBody>
      </p:sp>
    </p:spTree>
    <p:extLst>
      <p:ext uri="{BB962C8B-B14F-4D97-AF65-F5344CB8AC3E}">
        <p14:creationId xmlns:p14="http://schemas.microsoft.com/office/powerpoint/2010/main" val="36126770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9973E-646C-4D12-B24C-93DCF4BD0C1D}" type="slidenum">
              <a:rPr lang="en-US" altLang="en-US"/>
              <a:pPr/>
              <a:t>63</a:t>
            </a:fld>
            <a:endParaRPr lang="en-US" altLang="en-US"/>
          </a:p>
        </p:txBody>
      </p:sp>
      <p:sp>
        <p:nvSpPr>
          <p:cNvPr id="707588" name="Rectangle 4"/>
          <p:cNvSpPr>
            <a:spLocks noGrp="1" noChangeArrowheads="1"/>
          </p:cNvSpPr>
          <p:nvPr>
            <p:ph type="title"/>
          </p:nvPr>
        </p:nvSpPr>
        <p:spPr>
          <a:xfrm>
            <a:off x="1580004" y="79744"/>
            <a:ext cx="10018713" cy="1752599"/>
          </a:xfrm>
          <a:noFill/>
          <a:ln/>
        </p:spPr>
        <p:txBody>
          <a:bodyPr/>
          <a:lstStyle/>
          <a:p>
            <a:pPr algn="just"/>
            <a:r>
              <a:rPr lang="en-US" altLang="en-US" smtClean="0">
                <a:latin typeface="Arial" panose="020B0604020202020204" pitchFamily="34" charset="0"/>
              </a:rPr>
              <a:t>4.4.3</a:t>
            </a:r>
            <a:r>
              <a:rPr lang="en-US" altLang="en-US">
                <a:latin typeface="Arial" panose="020B0604020202020204" pitchFamily="34" charset="0"/>
              </a:rPr>
              <a:t>. Quay quanh trục bất kỳ</a:t>
            </a:r>
          </a:p>
        </p:txBody>
      </p:sp>
      <p:sp>
        <p:nvSpPr>
          <p:cNvPr id="70758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0"/>
            <a:ext cx="8458200" cy="4953000"/>
          </a:xfrm>
          <a:noFill/>
          <a:ln/>
        </p:spPr>
        <p:txBody>
          <a:bodyPr/>
          <a:lstStyle/>
          <a:p>
            <a:pPr marL="533400" indent="-533400"/>
            <a:r>
              <a:rPr lang="en-US" altLang="en-US">
                <a:latin typeface="Arial" panose="020B0604020202020204" pitchFamily="34" charset="0"/>
              </a:rPr>
              <a:t>Bước 3: Tìm ma trận xoay véctơ đơn vị </a:t>
            </a:r>
            <a:r>
              <a:rPr lang="en-US" altLang="en-US" b="1">
                <a:latin typeface="Arial" panose="020B0604020202020204" pitchFamily="34" charset="0"/>
              </a:rPr>
              <a:t>u’’ </a:t>
            </a:r>
            <a:r>
              <a:rPr lang="en-US" altLang="en-US">
                <a:latin typeface="Arial" panose="020B0604020202020204" pitchFamily="34" charset="0"/>
              </a:rPr>
              <a:t>trong mặt xz quanh trục y vào trục dương z</a:t>
            </a:r>
          </a:p>
          <a:p>
            <a:pPr marL="914400" lvl="1" indent="-457200"/>
            <a:r>
              <a:rPr lang="en-US" altLang="en-US">
                <a:latin typeface="Arial" panose="020B0604020202020204" pitchFamily="34" charset="0"/>
              </a:rPr>
              <a:t>Tính cos β từ tích vô hướng của </a:t>
            </a:r>
            <a:r>
              <a:rPr lang="en-US" altLang="en-US" b="1">
                <a:latin typeface="Arial" panose="020B0604020202020204" pitchFamily="34" charset="0"/>
              </a:rPr>
              <a:t>u” </a:t>
            </a:r>
            <a:r>
              <a:rPr lang="en-US" altLang="en-US">
                <a:latin typeface="Arial" panose="020B0604020202020204" pitchFamily="34" charset="0"/>
              </a:rPr>
              <a:t>và </a:t>
            </a:r>
            <a:r>
              <a:rPr lang="en-US" altLang="en-US" b="1">
                <a:latin typeface="Arial" panose="020B0604020202020204" pitchFamily="34" charset="0"/>
              </a:rPr>
              <a:t>u</a:t>
            </a:r>
            <a:r>
              <a:rPr lang="en-US" altLang="en-US" b="1" baseline="-25000">
                <a:latin typeface="Arial" panose="020B0604020202020204" pitchFamily="34" charset="0"/>
              </a:rPr>
              <a:t>z</a:t>
            </a:r>
          </a:p>
          <a:p>
            <a:pPr marL="914400" lvl="1" indent="-457200"/>
            <a:endParaRPr lang="en-US" altLang="en-US" b="1">
              <a:latin typeface="Arial" panose="020B0604020202020204" pitchFamily="34" charset="0"/>
            </a:endParaRPr>
          </a:p>
          <a:p>
            <a:pPr marL="914400" lvl="1" indent="-457200"/>
            <a:endParaRPr lang="en-US" altLang="en-US" b="1">
              <a:latin typeface="Arial" panose="020B0604020202020204" pitchFamily="34" charset="0"/>
            </a:endParaRPr>
          </a:p>
          <a:p>
            <a:pPr marL="914400" lvl="1" indent="-457200"/>
            <a:endParaRPr lang="en-US" altLang="en-US" b="1">
              <a:latin typeface="Arial" panose="020B0604020202020204" pitchFamily="34" charset="0"/>
            </a:endParaRPr>
          </a:p>
          <a:p>
            <a:pPr marL="914400" lvl="1" indent="-457200"/>
            <a:endParaRPr lang="en-US" altLang="en-US" b="1">
              <a:latin typeface="Arial" panose="020B0604020202020204" pitchFamily="34" charset="0"/>
            </a:endParaRPr>
          </a:p>
          <a:p>
            <a:pPr marL="914400" lvl="1" indent="-457200"/>
            <a:endParaRPr lang="en-US" altLang="en-US"/>
          </a:p>
          <a:p>
            <a:pPr marL="914400" lvl="1" indent="-457200"/>
            <a:r>
              <a:rPr lang="en-US" altLang="en-US"/>
              <a:t>Theo tính chất cosin hướng ta có:</a:t>
            </a:r>
          </a:p>
          <a:p>
            <a:pPr marL="914400" lvl="1" indent="-457200">
              <a:lnSpc>
                <a:spcPct val="120000"/>
              </a:lnSpc>
              <a:buNone/>
            </a:pPr>
            <a:r>
              <a:rPr lang="en-US" altLang="en-US"/>
              <a:t>|u</a:t>
            </a:r>
            <a:r>
              <a:rPr lang="en-US" altLang="en-US" baseline="-25000"/>
              <a:t>z</a:t>
            </a:r>
            <a:r>
              <a:rPr lang="en-US" altLang="en-US"/>
              <a:t>|=1, |u”|=(a</a:t>
            </a:r>
            <a:r>
              <a:rPr lang="en-US" altLang="en-US" baseline="30000"/>
              <a:t>2</a:t>
            </a:r>
            <a:r>
              <a:rPr lang="en-US" altLang="en-US"/>
              <a:t> + b</a:t>
            </a:r>
            <a:r>
              <a:rPr lang="en-US" altLang="en-US" baseline="30000"/>
              <a:t>2</a:t>
            </a:r>
            <a:r>
              <a:rPr lang="en-US" altLang="en-US"/>
              <a:t> + c</a:t>
            </a:r>
            <a:r>
              <a:rPr lang="en-US" altLang="en-US" baseline="30000"/>
              <a:t>2</a:t>
            </a:r>
            <a:r>
              <a:rPr lang="en-US" altLang="en-US"/>
              <a:t>)</a:t>
            </a:r>
            <a:r>
              <a:rPr lang="en-US" altLang="en-US" baseline="30000"/>
              <a:t>1/2</a:t>
            </a:r>
            <a:r>
              <a:rPr lang="en-US" altLang="en-US"/>
              <a:t>=1</a:t>
            </a:r>
            <a:endParaRPr lang="en-US" altLang="en-US" b="1">
              <a:latin typeface="Arial" panose="020B0604020202020204" pitchFamily="34" charset="0"/>
            </a:endParaRPr>
          </a:p>
          <a:p>
            <a:pPr marL="914400" lvl="1" indent="-457200"/>
            <a:endParaRPr lang="en-US" altLang="en-US" b="1">
              <a:latin typeface="Arial" panose="020B0604020202020204" pitchFamily="34" charset="0"/>
            </a:endParaRPr>
          </a:p>
        </p:txBody>
      </p:sp>
      <p:pic>
        <p:nvPicPr>
          <p:cNvPr id="70759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048000"/>
            <a:ext cx="3733800" cy="1582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0759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3048000"/>
            <a:ext cx="33528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9587240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4743-3D0D-4283-B62E-D0436C726B34}" type="slidenum">
              <a:rPr lang="en-US" altLang="en-US"/>
              <a:pPr/>
              <a:t>64</a:t>
            </a:fld>
            <a:endParaRPr lang="en-US" altLang="en-US"/>
          </a:p>
        </p:txBody>
      </p:sp>
      <p:sp>
        <p:nvSpPr>
          <p:cNvPr id="706564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just"/>
            <a:r>
              <a:rPr lang="en-US" altLang="en-US" smtClean="0">
                <a:latin typeface="Arial" panose="020B0604020202020204" pitchFamily="34" charset="0"/>
              </a:rPr>
              <a:t>4.4.3</a:t>
            </a:r>
            <a:r>
              <a:rPr lang="en-US" altLang="en-US">
                <a:latin typeface="Arial" panose="020B0604020202020204" pitchFamily="34" charset="0"/>
              </a:rPr>
              <a:t>. Quay quanh trục bất kỳ</a:t>
            </a:r>
          </a:p>
        </p:txBody>
      </p:sp>
      <p:sp>
        <p:nvSpPr>
          <p:cNvPr id="70656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0"/>
            <a:ext cx="8458200" cy="4953000"/>
          </a:xfrm>
          <a:noFill/>
          <a:ln/>
        </p:spPr>
        <p:txBody>
          <a:bodyPr/>
          <a:lstStyle/>
          <a:p>
            <a:pPr marL="533400" indent="-533400"/>
            <a:r>
              <a:rPr lang="en-US" altLang="en-US">
                <a:latin typeface="Arial" panose="020B0604020202020204" pitchFamily="34" charset="0"/>
              </a:rPr>
              <a:t>Bước 3: Tìm ma trận xoay véctơ đơn vị </a:t>
            </a:r>
            <a:r>
              <a:rPr lang="en-US" altLang="en-US" b="1">
                <a:latin typeface="Arial" panose="020B0604020202020204" pitchFamily="34" charset="0"/>
              </a:rPr>
              <a:t>u’’ </a:t>
            </a:r>
            <a:r>
              <a:rPr lang="en-US" altLang="en-US">
                <a:latin typeface="Arial" panose="020B0604020202020204" pitchFamily="34" charset="0"/>
              </a:rPr>
              <a:t>trong mặt xz quanh trục y vào trục dương z</a:t>
            </a:r>
          </a:p>
          <a:p>
            <a:pPr marL="914400" lvl="1" indent="-457200"/>
            <a:r>
              <a:rPr lang="en-US" altLang="en-US">
                <a:latin typeface="Arial" panose="020B0604020202020204" pitchFamily="34" charset="0"/>
              </a:rPr>
              <a:t>Tính sinβ từ tích có hướng của </a:t>
            </a:r>
            <a:r>
              <a:rPr lang="en-US" altLang="en-US" b="1">
                <a:latin typeface="Arial" panose="020B0604020202020204" pitchFamily="34" charset="0"/>
              </a:rPr>
              <a:t>u” </a:t>
            </a:r>
            <a:r>
              <a:rPr lang="en-US" altLang="en-US">
                <a:latin typeface="Arial" panose="020B0604020202020204" pitchFamily="34" charset="0"/>
              </a:rPr>
              <a:t>và </a:t>
            </a:r>
            <a:r>
              <a:rPr lang="en-US" altLang="en-US" b="1">
                <a:latin typeface="Arial" panose="020B0604020202020204" pitchFamily="34" charset="0"/>
              </a:rPr>
              <a:t>u</a:t>
            </a:r>
            <a:r>
              <a:rPr lang="en-US" altLang="en-US" b="1" baseline="-25000">
                <a:latin typeface="Arial" panose="020B0604020202020204" pitchFamily="34" charset="0"/>
              </a:rPr>
              <a:t>z</a:t>
            </a:r>
          </a:p>
          <a:p>
            <a:pPr marL="914400" lvl="1" indent="-457200">
              <a:lnSpc>
                <a:spcPct val="120000"/>
              </a:lnSpc>
              <a:buNone/>
            </a:pPr>
            <a:r>
              <a:rPr lang="en-US" altLang="en-US">
                <a:latin typeface="Arial" panose="020B0604020202020204" pitchFamily="34" charset="0"/>
              </a:rPr>
              <a:t>	u”</a:t>
            </a:r>
            <a:r>
              <a:rPr lang="en-US" altLang="en-US" i="1">
                <a:latin typeface="Arial" panose="020B0604020202020204" pitchFamily="34" charset="0"/>
              </a:rPr>
              <a:t>x </a:t>
            </a:r>
            <a:r>
              <a:rPr lang="en-US" altLang="en-US">
                <a:latin typeface="Arial" panose="020B0604020202020204" pitchFamily="34" charset="0"/>
              </a:rPr>
              <a:t>u</a:t>
            </a:r>
            <a:r>
              <a:rPr lang="en-US" altLang="en-US" baseline="-25000">
                <a:latin typeface="Arial" panose="020B0604020202020204" pitchFamily="34" charset="0"/>
              </a:rPr>
              <a:t>z</a:t>
            </a:r>
            <a:r>
              <a:rPr lang="en-US" altLang="en-US">
                <a:latin typeface="Arial" panose="020B0604020202020204" pitchFamily="34" charset="0"/>
              </a:rPr>
              <a:t>=u</a:t>
            </a:r>
            <a:r>
              <a:rPr lang="en-US" altLang="en-US" baseline="-25000">
                <a:latin typeface="Arial" panose="020B0604020202020204" pitchFamily="34" charset="0"/>
              </a:rPr>
              <a:t>y</a:t>
            </a:r>
            <a:r>
              <a:rPr lang="en-US" altLang="en-US">
                <a:latin typeface="Arial" panose="020B0604020202020204" pitchFamily="34" charset="0"/>
              </a:rPr>
              <a:t>|u”||u</a:t>
            </a:r>
            <a:r>
              <a:rPr lang="en-US" altLang="en-US" baseline="-25000">
                <a:latin typeface="Arial" panose="020B0604020202020204" pitchFamily="34" charset="0"/>
              </a:rPr>
              <a:t>z</a:t>
            </a:r>
            <a:r>
              <a:rPr lang="en-US" altLang="en-US">
                <a:latin typeface="Arial" panose="020B0604020202020204" pitchFamily="34" charset="0"/>
              </a:rPr>
              <a:t>|sin</a:t>
            </a:r>
            <a:r>
              <a:rPr lang="en-US" altLang="en-US">
                <a:latin typeface="Arial" panose="020B0604020202020204" pitchFamily="34" charset="0"/>
                <a:sym typeface="Symbol" panose="05050102010706020507" pitchFamily="18" charset="2"/>
              </a:rPr>
              <a:t>=u</a:t>
            </a:r>
            <a:r>
              <a:rPr lang="en-US" altLang="en-US" baseline="-25000">
                <a:latin typeface="Arial" panose="020B0604020202020204" pitchFamily="34" charset="0"/>
                <a:sym typeface="Symbol" panose="05050102010706020507" pitchFamily="18" charset="2"/>
              </a:rPr>
              <a:t>y</a:t>
            </a:r>
            <a:r>
              <a:rPr lang="en-US" altLang="en-US">
                <a:latin typeface="Arial" panose="020B0604020202020204" pitchFamily="34" charset="0"/>
                <a:sym typeface="Symbol" panose="05050102010706020507" pitchFamily="18" charset="2"/>
              </a:rPr>
              <a:t>.1.1.sin = u</a:t>
            </a:r>
            <a:r>
              <a:rPr lang="en-US" altLang="en-US" baseline="-25000">
                <a:latin typeface="Arial" panose="020B0604020202020204" pitchFamily="34" charset="0"/>
                <a:sym typeface="Symbol" panose="05050102010706020507" pitchFamily="18" charset="2"/>
              </a:rPr>
              <a:t>y</a:t>
            </a:r>
            <a:r>
              <a:rPr lang="en-US" altLang="en-US">
                <a:latin typeface="Arial" panose="020B0604020202020204" pitchFamily="34" charset="0"/>
                <a:sym typeface="Symbol" panose="05050102010706020507" pitchFamily="18" charset="2"/>
              </a:rPr>
              <a:t>sin</a:t>
            </a:r>
            <a:endParaRPr lang="en-US" altLang="en-US">
              <a:latin typeface="Arial" panose="020B0604020202020204" pitchFamily="34" charset="0"/>
            </a:endParaRPr>
          </a:p>
          <a:p>
            <a:pPr marL="914400" lvl="1" indent="-457200"/>
            <a:endParaRPr lang="en-US" altLang="en-US">
              <a:latin typeface="Arial" panose="020B0604020202020204" pitchFamily="34" charset="0"/>
            </a:endParaRPr>
          </a:p>
          <a:p>
            <a:pPr marL="914400" lvl="1" indent="-457200"/>
            <a:endParaRPr lang="en-US" altLang="en-US" b="1">
              <a:latin typeface="Arial" panose="020B0604020202020204" pitchFamily="34" charset="0"/>
            </a:endParaRPr>
          </a:p>
          <a:p>
            <a:pPr marL="914400" lvl="1" indent="-457200"/>
            <a:endParaRPr lang="en-US" altLang="en-US" b="1">
              <a:latin typeface="Arial" panose="020B0604020202020204" pitchFamily="34" charset="0"/>
            </a:endParaRPr>
          </a:p>
          <a:p>
            <a:pPr marL="914400" lvl="1" indent="-457200"/>
            <a:endParaRPr lang="en-US" altLang="en-US" b="1">
              <a:latin typeface="Arial" panose="020B0604020202020204" pitchFamily="34" charset="0"/>
            </a:endParaRPr>
          </a:p>
          <a:p>
            <a:pPr marL="914400" lvl="1" indent="-457200">
              <a:buNone/>
            </a:pPr>
            <a:r>
              <a:rPr lang="en-US" altLang="en-US">
                <a:latin typeface="Arial" panose="020B0604020202020204" pitchFamily="34" charset="0"/>
                <a:sym typeface="Symbol" panose="05050102010706020507" pitchFamily="18" charset="2"/>
              </a:rPr>
              <a:t>Do đó sin=-a</a:t>
            </a:r>
          </a:p>
        </p:txBody>
      </p:sp>
      <p:pic>
        <p:nvPicPr>
          <p:cNvPr id="706568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4239733"/>
            <a:ext cx="4038600" cy="125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06569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9623" y="3893868"/>
            <a:ext cx="3581400" cy="2338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324222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FDD2E-9241-4ED7-BF77-5249497C3623}" type="slidenum">
              <a:rPr lang="en-US" altLang="en-US"/>
              <a:pPr/>
              <a:t>65</a:t>
            </a:fld>
            <a:endParaRPr lang="en-US" altLang="en-US"/>
          </a:p>
        </p:txBody>
      </p:sp>
      <p:sp>
        <p:nvSpPr>
          <p:cNvPr id="705540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just"/>
            <a:r>
              <a:rPr lang="en-US" altLang="en-US" smtClean="0">
                <a:latin typeface="Arial" panose="020B0604020202020204" pitchFamily="34" charset="0"/>
              </a:rPr>
              <a:t>4.4.3</a:t>
            </a:r>
            <a:r>
              <a:rPr lang="en-US" altLang="en-US">
                <a:latin typeface="Arial" panose="020B0604020202020204" pitchFamily="34" charset="0"/>
              </a:rPr>
              <a:t>. Quay quanh trục bất kỳ</a:t>
            </a:r>
          </a:p>
        </p:txBody>
      </p:sp>
      <p:sp>
        <p:nvSpPr>
          <p:cNvPr id="70554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790700" y="2171443"/>
            <a:ext cx="8458200" cy="1236921"/>
          </a:xfrm>
          <a:noFill/>
          <a:ln/>
        </p:spPr>
        <p:txBody>
          <a:bodyPr>
            <a:normAutofit lnSpcReduction="10000"/>
          </a:bodyPr>
          <a:lstStyle/>
          <a:p>
            <a:pPr marL="533400" indent="-533400"/>
            <a:r>
              <a:rPr lang="en-US" altLang="en-US">
                <a:latin typeface="Arial" panose="020B0604020202020204" pitchFamily="34" charset="0"/>
              </a:rPr>
              <a:t>Bước 3: Tìm ma trận xoay véctơ đơn vị </a:t>
            </a:r>
            <a:r>
              <a:rPr lang="en-US" altLang="en-US" b="1">
                <a:latin typeface="Arial" panose="020B0604020202020204" pitchFamily="34" charset="0"/>
              </a:rPr>
              <a:t>u’’ </a:t>
            </a:r>
            <a:r>
              <a:rPr lang="en-US" altLang="en-US">
                <a:latin typeface="Arial" panose="020B0604020202020204" pitchFamily="34" charset="0"/>
              </a:rPr>
              <a:t>trong mặt xz quanh trục y vào trục dương z</a:t>
            </a:r>
            <a:endParaRPr lang="en-US" altLang="en-US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marL="914400" lvl="1" indent="-457200"/>
            <a:r>
              <a:rPr lang="en-US" altLang="en-US">
                <a:latin typeface="Arial" panose="020B0604020202020204" pitchFamily="34" charset="0"/>
                <a:sym typeface="Symbol" panose="05050102010706020507" pitchFamily="18" charset="2"/>
              </a:rPr>
              <a:t>Xoay quanh trục y</a:t>
            </a:r>
          </a:p>
        </p:txBody>
      </p:sp>
      <p:pic>
        <p:nvPicPr>
          <p:cNvPr id="70554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3408364"/>
            <a:ext cx="4114800" cy="2687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0554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3711576"/>
            <a:ext cx="3581400" cy="215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8304379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AF399-3357-4C63-839C-CF8828659A85}" type="slidenum">
              <a:rPr lang="en-US" altLang="en-US"/>
              <a:pPr/>
              <a:t>66</a:t>
            </a:fld>
            <a:endParaRPr lang="en-US" altLang="en-US"/>
          </a:p>
        </p:txBody>
      </p:sp>
      <p:sp>
        <p:nvSpPr>
          <p:cNvPr id="714756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just"/>
            <a:r>
              <a:rPr lang="en-US" altLang="en-US" smtClean="0">
                <a:latin typeface="Arial" panose="020B0604020202020204" pitchFamily="34" charset="0"/>
              </a:rPr>
              <a:t>4.4.3</a:t>
            </a:r>
            <a:r>
              <a:rPr lang="en-US" altLang="en-US">
                <a:latin typeface="Arial" panose="020B0604020202020204" pitchFamily="34" charset="0"/>
              </a:rPr>
              <a:t>. Quay quanh trục bất kỳ</a:t>
            </a:r>
          </a:p>
        </p:txBody>
      </p:sp>
      <p:sp>
        <p:nvSpPr>
          <p:cNvPr id="71475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151860" y="1998920"/>
            <a:ext cx="8458200" cy="1545265"/>
          </a:xfrm>
          <a:noFill/>
          <a:ln/>
        </p:spPr>
        <p:txBody>
          <a:bodyPr/>
          <a:lstStyle/>
          <a:p>
            <a:pPr marL="533400" indent="-533400"/>
            <a:r>
              <a:rPr lang="en-US" altLang="en-US">
                <a:latin typeface="Arial" panose="020B0604020202020204" pitchFamily="34" charset="0"/>
              </a:rPr>
              <a:t>Bước 3: Tìm ma trận xoay véctơ đơn vị </a:t>
            </a:r>
            <a:r>
              <a:rPr lang="en-US" altLang="en-US" b="1">
                <a:latin typeface="Arial" panose="020B0604020202020204" pitchFamily="34" charset="0"/>
              </a:rPr>
              <a:t>u’’ </a:t>
            </a:r>
            <a:r>
              <a:rPr lang="en-US" altLang="en-US">
                <a:latin typeface="Arial" panose="020B0604020202020204" pitchFamily="34" charset="0"/>
              </a:rPr>
              <a:t>trong mặt xz quanh trục y vào trục dương z</a:t>
            </a:r>
            <a:endParaRPr lang="en-US" altLang="en-US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marL="914400" lvl="1" indent="-457200"/>
            <a:r>
              <a:rPr lang="en-US" altLang="en-US"/>
              <a:t>Trục xoay là trục z dương, góc xoay </a:t>
            </a:r>
            <a:r>
              <a:rPr lang="en-US" altLang="en-US" sz="2800">
                <a:sym typeface="Symbol" panose="05050102010706020507" pitchFamily="18" charset="2"/>
              </a:rPr>
              <a:t></a:t>
            </a:r>
          </a:p>
        </p:txBody>
      </p:sp>
      <p:pic>
        <p:nvPicPr>
          <p:cNvPr id="71475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3186" y="3794696"/>
            <a:ext cx="4114800" cy="2687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4760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4093" y="4103419"/>
            <a:ext cx="3810000" cy="176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547257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49AA0-9968-4131-9BB1-CA43FFB0077B}" type="slidenum">
              <a:rPr lang="en-US" altLang="en-US"/>
              <a:pPr/>
              <a:t>67</a:t>
            </a:fld>
            <a:endParaRPr lang="en-US" altLang="en-US"/>
          </a:p>
        </p:txBody>
      </p:sp>
      <p:sp>
        <p:nvSpPr>
          <p:cNvPr id="713732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just"/>
            <a:r>
              <a:rPr lang="en-US" altLang="en-US" smtClean="0">
                <a:latin typeface="Arial" panose="020B0604020202020204" pitchFamily="34" charset="0"/>
              </a:rPr>
              <a:t>4.4.3</a:t>
            </a:r>
            <a:r>
              <a:rPr lang="en-US" altLang="en-US">
                <a:latin typeface="Arial" panose="020B0604020202020204" pitchFamily="34" charset="0"/>
              </a:rPr>
              <a:t>. Quay quanh trục bất kỳ</a:t>
            </a:r>
          </a:p>
        </p:txBody>
      </p:sp>
      <p:sp>
        <p:nvSpPr>
          <p:cNvPr id="71373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0"/>
            <a:ext cx="8458200" cy="4953000"/>
          </a:xfrm>
          <a:noFill/>
          <a:ln/>
        </p:spPr>
        <p:txBody>
          <a:bodyPr/>
          <a:lstStyle/>
          <a:p>
            <a:pPr marL="533400" indent="-533400"/>
            <a:r>
              <a:rPr lang="en-US" altLang="en-US">
                <a:latin typeface="Arial" panose="020B0604020202020204" pitchFamily="34" charset="0"/>
              </a:rPr>
              <a:t>Bước 4: Biến đổi trục xoay về vị trí ban đầu</a:t>
            </a:r>
          </a:p>
          <a:p>
            <a:pPr marL="533400" indent="-533400"/>
            <a:r>
              <a:rPr lang="en-US" altLang="en-US">
                <a:latin typeface="Arial" panose="020B0604020202020204" pitchFamily="34" charset="0"/>
              </a:rPr>
              <a:t>Ma trận biến đổi xoay cuối cùng là</a:t>
            </a:r>
          </a:p>
          <a:p>
            <a:pPr marL="914400" lvl="1" indent="-457200">
              <a:buNone/>
            </a:pPr>
            <a:r>
              <a:rPr lang="en-US" altLang="en-US">
                <a:latin typeface="Arial" panose="020B0604020202020204" pitchFamily="34" charset="0"/>
              </a:rPr>
              <a:t>R(</a:t>
            </a:r>
            <a:r>
              <a:rPr lang="en-US" altLang="en-US">
                <a:latin typeface="Arial" panose="020B0604020202020204" pitchFamily="34" charset="0"/>
                <a:sym typeface="Symbol" panose="05050102010706020507" pitchFamily="18" charset="2"/>
              </a:rPr>
              <a:t></a:t>
            </a:r>
            <a:r>
              <a:rPr lang="en-US" altLang="en-US">
                <a:latin typeface="Arial" panose="020B0604020202020204" pitchFamily="34" charset="0"/>
              </a:rPr>
              <a:t>)=T.R</a:t>
            </a:r>
            <a:r>
              <a:rPr lang="en-US" altLang="en-US" baseline="-25000">
                <a:latin typeface="Arial" panose="020B0604020202020204" pitchFamily="34" charset="0"/>
              </a:rPr>
              <a:t>x</a:t>
            </a:r>
            <a:r>
              <a:rPr lang="en-US" altLang="en-US">
                <a:latin typeface="Arial" panose="020B0604020202020204" pitchFamily="34" charset="0"/>
              </a:rPr>
              <a:t>(</a:t>
            </a:r>
            <a:r>
              <a:rPr lang="en-US" altLang="en-US">
                <a:latin typeface="Arial" panose="020B0604020202020204" pitchFamily="34" charset="0"/>
                <a:sym typeface="Symbol" panose="05050102010706020507" pitchFamily="18" charset="2"/>
              </a:rPr>
              <a:t></a:t>
            </a:r>
            <a:r>
              <a:rPr lang="en-US" altLang="en-US">
                <a:latin typeface="Arial" panose="020B0604020202020204" pitchFamily="34" charset="0"/>
              </a:rPr>
              <a:t>).R</a:t>
            </a:r>
            <a:r>
              <a:rPr lang="en-US" altLang="en-US" baseline="-25000">
                <a:latin typeface="Arial" panose="020B0604020202020204" pitchFamily="34" charset="0"/>
              </a:rPr>
              <a:t>y</a:t>
            </a:r>
            <a:r>
              <a:rPr lang="en-US" altLang="en-US">
                <a:latin typeface="Arial" panose="020B0604020202020204" pitchFamily="34" charset="0"/>
              </a:rPr>
              <a:t>(</a:t>
            </a:r>
            <a:r>
              <a:rPr lang="en-US" altLang="en-US">
                <a:latin typeface="Arial" panose="020B0604020202020204" pitchFamily="34" charset="0"/>
                <a:sym typeface="Symbol" panose="05050102010706020507" pitchFamily="18" charset="2"/>
              </a:rPr>
              <a:t></a:t>
            </a:r>
            <a:r>
              <a:rPr lang="en-US" altLang="en-US">
                <a:latin typeface="Arial" panose="020B0604020202020204" pitchFamily="34" charset="0"/>
              </a:rPr>
              <a:t>).R</a:t>
            </a:r>
            <a:r>
              <a:rPr lang="en-US" altLang="en-US" baseline="-25000">
                <a:latin typeface="Arial" panose="020B0604020202020204" pitchFamily="34" charset="0"/>
              </a:rPr>
              <a:t>z</a:t>
            </a:r>
            <a:r>
              <a:rPr lang="en-US" altLang="en-US">
                <a:latin typeface="Arial" panose="020B0604020202020204" pitchFamily="34" charset="0"/>
              </a:rPr>
              <a:t>(</a:t>
            </a:r>
            <a:r>
              <a:rPr lang="en-US" altLang="en-US">
                <a:latin typeface="Arial" panose="020B0604020202020204" pitchFamily="34" charset="0"/>
                <a:sym typeface="Symbol" panose="05050102010706020507" pitchFamily="18" charset="2"/>
              </a:rPr>
              <a:t></a:t>
            </a:r>
            <a:r>
              <a:rPr lang="en-US" altLang="en-US">
                <a:latin typeface="Arial" panose="020B0604020202020204" pitchFamily="34" charset="0"/>
              </a:rPr>
              <a:t>).R</a:t>
            </a:r>
            <a:r>
              <a:rPr lang="en-US" altLang="en-US" baseline="-25000">
                <a:latin typeface="Arial" panose="020B0604020202020204" pitchFamily="34" charset="0"/>
              </a:rPr>
              <a:t>y</a:t>
            </a:r>
            <a:r>
              <a:rPr lang="en-US" altLang="en-US" baseline="30000">
                <a:latin typeface="Arial" panose="020B0604020202020204" pitchFamily="34" charset="0"/>
              </a:rPr>
              <a:t>-1</a:t>
            </a:r>
            <a:r>
              <a:rPr lang="en-US" altLang="en-US">
                <a:latin typeface="Arial" panose="020B0604020202020204" pitchFamily="34" charset="0"/>
              </a:rPr>
              <a:t> (</a:t>
            </a:r>
            <a:r>
              <a:rPr lang="en-US" altLang="en-US">
                <a:latin typeface="Arial" panose="020B0604020202020204" pitchFamily="34" charset="0"/>
                <a:sym typeface="Symbol" panose="05050102010706020507" pitchFamily="18" charset="2"/>
              </a:rPr>
              <a:t></a:t>
            </a:r>
            <a:r>
              <a:rPr lang="en-US" altLang="en-US">
                <a:latin typeface="Arial" panose="020B0604020202020204" pitchFamily="34" charset="0"/>
              </a:rPr>
              <a:t>).R</a:t>
            </a:r>
            <a:r>
              <a:rPr lang="en-US" altLang="en-US" baseline="-25000">
                <a:latin typeface="Arial" panose="020B0604020202020204" pitchFamily="34" charset="0"/>
              </a:rPr>
              <a:t>x</a:t>
            </a:r>
            <a:r>
              <a:rPr lang="en-US" altLang="en-US" baseline="30000">
                <a:latin typeface="Arial" panose="020B0604020202020204" pitchFamily="34" charset="0"/>
              </a:rPr>
              <a:t>-1</a:t>
            </a:r>
            <a:r>
              <a:rPr lang="en-US" altLang="en-US">
                <a:latin typeface="Arial" panose="020B0604020202020204" pitchFamily="34" charset="0"/>
              </a:rPr>
              <a:t> (</a:t>
            </a:r>
            <a:r>
              <a:rPr lang="en-US" altLang="en-US">
                <a:latin typeface="Arial" panose="020B0604020202020204" pitchFamily="34" charset="0"/>
                <a:sym typeface="Symbol" panose="05050102010706020507" pitchFamily="18" charset="2"/>
              </a:rPr>
              <a:t></a:t>
            </a:r>
            <a:r>
              <a:rPr lang="en-US" altLang="en-US">
                <a:latin typeface="Arial" panose="020B0604020202020204" pitchFamily="34" charset="0"/>
              </a:rPr>
              <a:t>).T</a:t>
            </a:r>
            <a:r>
              <a:rPr lang="en-US" altLang="en-US" baseline="30000">
                <a:latin typeface="Arial" panose="020B0604020202020204" pitchFamily="34" charset="0"/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416589030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5AE5E-9729-442B-9D6E-62C73EB93FC2}" type="slidenum">
              <a:rPr lang="en-US" altLang="en-US"/>
              <a:pPr/>
              <a:t>68</a:t>
            </a:fld>
            <a:endParaRPr lang="en-US" altLang="en-US"/>
          </a:p>
        </p:txBody>
      </p:sp>
      <p:sp>
        <p:nvSpPr>
          <p:cNvPr id="712708" name="Rectangle 4"/>
          <p:cNvSpPr>
            <a:spLocks noGrp="1" noChangeArrowheads="1"/>
          </p:cNvSpPr>
          <p:nvPr>
            <p:ph type="title"/>
          </p:nvPr>
        </p:nvSpPr>
        <p:spPr>
          <a:xfrm>
            <a:off x="1654432" y="-356191"/>
            <a:ext cx="10018713" cy="1752599"/>
          </a:xfrm>
          <a:noFill/>
          <a:ln/>
        </p:spPr>
        <p:txBody>
          <a:bodyPr/>
          <a:lstStyle/>
          <a:p>
            <a:pPr algn="just"/>
            <a:r>
              <a:rPr lang="en-US" altLang="en-US" smtClean="0">
                <a:latin typeface="Arial" panose="020B0604020202020204" pitchFamily="34" charset="0"/>
              </a:rPr>
              <a:t>4.4.3</a:t>
            </a:r>
            <a:r>
              <a:rPr lang="en-US" altLang="en-US">
                <a:latin typeface="Arial" panose="020B0604020202020204" pitchFamily="34" charset="0"/>
              </a:rPr>
              <a:t>. Quay quanh trục bất kỳ</a:t>
            </a:r>
          </a:p>
        </p:txBody>
      </p:sp>
      <p:sp>
        <p:nvSpPr>
          <p:cNvPr id="71270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5715000" cy="4530725"/>
          </a:xfrm>
          <a:noFill/>
          <a:ln/>
        </p:spPr>
        <p:txBody>
          <a:bodyPr>
            <a:normAutofit lnSpcReduction="10000"/>
          </a:bodyPr>
          <a:lstStyle/>
          <a:p>
            <a:pPr marL="533400" indent="-533400">
              <a:lnSpc>
                <a:spcPct val="90000"/>
              </a:lnSpc>
            </a:pPr>
            <a:r>
              <a:rPr lang="en-US" altLang="en-US" sz="3200" b="1">
                <a:latin typeface="Arial" panose="020B0604020202020204" pitchFamily="34" charset="0"/>
              </a:rPr>
              <a:t>Tìm ma trận chuyển đổi bằng hình học</a:t>
            </a:r>
          </a:p>
          <a:p>
            <a:pPr marL="914400" lvl="1" indent="-457200">
              <a:lnSpc>
                <a:spcPct val="90000"/>
              </a:lnSpc>
            </a:pPr>
            <a:r>
              <a:rPr lang="en-US" altLang="en-US">
                <a:latin typeface="Arial" panose="020B0604020202020204" pitchFamily="34" charset="0"/>
              </a:rPr>
              <a:t>Bước 1: Tịnh tiến sao cho đầu cuối của nó trùng với gốc tọa độ.</a:t>
            </a:r>
          </a:p>
          <a:p>
            <a:pPr marL="1295400" lvl="2" indent="-381000">
              <a:lnSpc>
                <a:spcPct val="90000"/>
              </a:lnSpc>
            </a:pPr>
            <a:r>
              <a:rPr lang="en-US" altLang="en-US">
                <a:latin typeface="Arial" panose="020B0604020202020204" pitchFamily="34" charset="0"/>
              </a:rPr>
              <a:t>Tọa độ hai đầu đoạn thẳng sẽ là (0, 0, 0) và (x</a:t>
            </a:r>
            <a:r>
              <a:rPr lang="en-US" altLang="en-US" baseline="-25000">
                <a:latin typeface="Arial" panose="020B0604020202020204" pitchFamily="34" charset="0"/>
              </a:rPr>
              <a:t>0</a:t>
            </a:r>
            <a:r>
              <a:rPr lang="en-US" altLang="en-US">
                <a:latin typeface="Arial" panose="020B0604020202020204" pitchFamily="34" charset="0"/>
              </a:rPr>
              <a:t>, y</a:t>
            </a:r>
            <a:r>
              <a:rPr lang="en-US" altLang="en-US" baseline="-25000">
                <a:latin typeface="Arial" panose="020B0604020202020204" pitchFamily="34" charset="0"/>
              </a:rPr>
              <a:t>0</a:t>
            </a:r>
            <a:r>
              <a:rPr lang="en-US" altLang="en-US">
                <a:latin typeface="Arial" panose="020B0604020202020204" pitchFamily="34" charset="0"/>
              </a:rPr>
              <a:t>, z</a:t>
            </a:r>
            <a:r>
              <a:rPr lang="en-US" altLang="en-US" baseline="-25000">
                <a:latin typeface="Arial" panose="020B0604020202020204" pitchFamily="34" charset="0"/>
              </a:rPr>
              <a:t>0</a:t>
            </a:r>
            <a:r>
              <a:rPr lang="en-US" altLang="en-US">
                <a:latin typeface="Arial" panose="020B0604020202020204" pitchFamily="34" charset="0"/>
              </a:rPr>
              <a:t>).</a:t>
            </a:r>
          </a:p>
          <a:p>
            <a:pPr marL="914400" lvl="1" indent="-457200">
              <a:lnSpc>
                <a:spcPct val="90000"/>
              </a:lnSpc>
            </a:pPr>
            <a:r>
              <a:rPr lang="en-US" altLang="en-US">
                <a:latin typeface="Arial" panose="020B0604020202020204" pitchFamily="34" charset="0"/>
              </a:rPr>
              <a:t>Bước 2: Thực hiện xoay quanh trục x và y để trục bất kỳ trùng với trục z</a:t>
            </a:r>
          </a:p>
          <a:p>
            <a:pPr marL="914400" lvl="1" indent="-457200">
              <a:lnSpc>
                <a:spcPct val="90000"/>
              </a:lnSpc>
            </a:pPr>
            <a:r>
              <a:rPr lang="en-US" altLang="en-US">
                <a:latin typeface="Arial" panose="020B0604020202020204" pitchFamily="34" charset="0"/>
              </a:rPr>
              <a:t>Bước 3: Xoay quanh trục z góc θ</a:t>
            </a:r>
          </a:p>
          <a:p>
            <a:pPr marL="914400" lvl="1" indent="-457200">
              <a:lnSpc>
                <a:spcPct val="90000"/>
              </a:lnSpc>
            </a:pPr>
            <a:r>
              <a:rPr lang="en-US" altLang="en-US">
                <a:latin typeface="Arial" panose="020B0604020202020204" pitchFamily="34" charset="0"/>
              </a:rPr>
              <a:t>Bước 4: Xoay ngược lại quanh trục y và x</a:t>
            </a:r>
          </a:p>
          <a:p>
            <a:pPr marL="914400" lvl="1" indent="-457200">
              <a:lnSpc>
                <a:spcPct val="90000"/>
              </a:lnSpc>
            </a:pPr>
            <a:r>
              <a:rPr lang="en-US" altLang="en-US">
                <a:latin typeface="Arial" panose="020B0604020202020204" pitchFamily="34" charset="0"/>
              </a:rPr>
              <a:t>Bước 5: Tịnh tiến ngược để đưa trục về vị trí ban đầu.</a:t>
            </a:r>
          </a:p>
          <a:p>
            <a:pPr marL="914400" lvl="1" indent="-457200">
              <a:lnSpc>
                <a:spcPct val="90000"/>
              </a:lnSpc>
            </a:pPr>
            <a:endParaRPr lang="en-US" altLang="en-US" sz="2800">
              <a:latin typeface="Arial" panose="020B0604020202020204" pitchFamily="34" charset="0"/>
            </a:endParaRPr>
          </a:p>
        </p:txBody>
      </p:sp>
      <p:pic>
        <p:nvPicPr>
          <p:cNvPr id="712712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1" y="1524000"/>
            <a:ext cx="2392363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2713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1" y="4543426"/>
            <a:ext cx="2790825" cy="200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699805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4DCD8-D99F-45F0-83C7-E5A836D4165D}" type="slidenum">
              <a:rPr lang="en-US" altLang="en-US"/>
              <a:pPr/>
              <a:t>69</a:t>
            </a:fld>
            <a:endParaRPr lang="en-US" altLang="en-US"/>
          </a:p>
        </p:txBody>
      </p:sp>
      <p:sp>
        <p:nvSpPr>
          <p:cNvPr id="715780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just"/>
            <a:r>
              <a:rPr lang="en-US" altLang="en-US" smtClean="0">
                <a:latin typeface="Arial" panose="020B0604020202020204" pitchFamily="34" charset="0"/>
              </a:rPr>
              <a:t>4.4.3</a:t>
            </a:r>
            <a:r>
              <a:rPr lang="en-US" altLang="en-US">
                <a:latin typeface="Arial" panose="020B0604020202020204" pitchFamily="34" charset="0"/>
              </a:rPr>
              <a:t>. Quay quanh trục bất kỳ</a:t>
            </a:r>
          </a:p>
        </p:txBody>
      </p:sp>
      <p:sp>
        <p:nvSpPr>
          <p:cNvPr id="71578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587794" y="1975883"/>
            <a:ext cx="7577470" cy="2367517"/>
          </a:xfrm>
          <a:noFill/>
          <a:ln/>
        </p:spPr>
        <p:txBody>
          <a:bodyPr>
            <a:normAutofit/>
          </a:bodyPr>
          <a:lstStyle/>
          <a:p>
            <a:pPr marL="533400" indent="-533400"/>
            <a:r>
              <a:rPr lang="en-US" altLang="en-US" b="1">
                <a:latin typeface="Arial" panose="020B0604020202020204" pitchFamily="34" charset="0"/>
              </a:rPr>
              <a:t>Tìm ma trận chuyển đổi bằng hình học</a:t>
            </a:r>
          </a:p>
          <a:p>
            <a:pPr marL="914400" lvl="1" indent="-457200"/>
            <a:r>
              <a:rPr lang="en-US" altLang="en-US"/>
              <a:t>Ma trận biến đổi cuối cùng</a:t>
            </a:r>
          </a:p>
          <a:p>
            <a:pPr marL="914400" lvl="1" indent="-457200"/>
            <a:endParaRPr lang="en-US" altLang="en-US">
              <a:latin typeface="Arial" panose="020B0604020202020204" pitchFamily="34" charset="0"/>
            </a:endParaRPr>
          </a:p>
          <a:p>
            <a:pPr marL="914400" lvl="1" indent="-457200"/>
            <a:endParaRPr lang="en-US" altLang="en-US" sz="2800">
              <a:latin typeface="Arial" panose="020B0604020202020204" pitchFamily="34" charset="0"/>
            </a:endParaRPr>
          </a:p>
        </p:txBody>
      </p:sp>
      <p:pic>
        <p:nvPicPr>
          <p:cNvPr id="71578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499"/>
          <a:stretch>
            <a:fillRect/>
          </a:stretch>
        </p:blipFill>
        <p:spPr bwMode="auto">
          <a:xfrm>
            <a:off x="1905000" y="4343401"/>
            <a:ext cx="2819400" cy="170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578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1" y="4267201"/>
            <a:ext cx="2790825" cy="200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5788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352800"/>
            <a:ext cx="8305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5789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501"/>
          <a:stretch>
            <a:fillRect/>
          </a:stretch>
        </p:blipFill>
        <p:spPr bwMode="auto">
          <a:xfrm>
            <a:off x="4724400" y="4343400"/>
            <a:ext cx="2667000" cy="178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5624223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ADFD9-08C2-47AD-B58A-660D1E8CC3F9}" type="slidenum">
              <a:rPr lang="en-US" altLang="en-US"/>
              <a:pPr/>
              <a:t>70</a:t>
            </a:fld>
            <a:endParaRPr lang="en-US" altLang="en-US"/>
          </a:p>
        </p:txBody>
      </p:sp>
      <p:sp>
        <p:nvSpPr>
          <p:cNvPr id="716804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just"/>
            <a:r>
              <a:rPr lang="en-US" altLang="en-US" smtClean="0">
                <a:latin typeface="Arial" panose="020B0604020202020204" pitchFamily="34" charset="0"/>
              </a:rPr>
              <a:t>4.4.3</a:t>
            </a:r>
            <a:r>
              <a:rPr lang="en-US" altLang="en-US">
                <a:latin typeface="Arial" panose="020B0604020202020204" pitchFamily="34" charset="0"/>
              </a:rPr>
              <a:t>. Quay quanh trục bất kỳ</a:t>
            </a:r>
          </a:p>
        </p:txBody>
      </p:sp>
      <p:sp>
        <p:nvSpPr>
          <p:cNvPr id="71680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8382000" cy="4530725"/>
          </a:xfrm>
          <a:noFill/>
          <a:ln/>
        </p:spPr>
        <p:txBody>
          <a:bodyPr/>
          <a:lstStyle/>
          <a:p>
            <a:pPr marL="533400" indent="-533400"/>
            <a:r>
              <a:rPr lang="en-US" altLang="en-US">
                <a:latin typeface="Arial" panose="020B0604020202020204" pitchFamily="34" charset="0"/>
              </a:rPr>
              <a:t>Bước 1: Ma trận tịnh tiến</a:t>
            </a:r>
          </a:p>
          <a:p>
            <a:pPr marL="914400" lvl="1" indent="-457200"/>
            <a:endParaRPr lang="en-US" altLang="en-US">
              <a:latin typeface="Arial" panose="020B0604020202020204" pitchFamily="34" charset="0"/>
            </a:endParaRPr>
          </a:p>
          <a:p>
            <a:pPr marL="914400" lvl="1" indent="-457200"/>
            <a:endParaRPr lang="en-US" altLang="en-US" sz="2800">
              <a:latin typeface="Arial" panose="020B0604020202020204" pitchFamily="34" charset="0"/>
            </a:endParaRPr>
          </a:p>
        </p:txBody>
      </p:sp>
      <p:pic>
        <p:nvPicPr>
          <p:cNvPr id="716810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8928" y="3727181"/>
            <a:ext cx="7848600" cy="213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585732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15DF6-E60E-468D-840B-389D8507CC3D}" type="slidenum">
              <a:rPr lang="en-US" altLang="en-US"/>
              <a:pPr/>
              <a:t>71</a:t>
            </a:fld>
            <a:endParaRPr lang="en-US" altLang="en-US"/>
          </a:p>
        </p:txBody>
      </p:sp>
      <p:sp>
        <p:nvSpPr>
          <p:cNvPr id="721924" name="Rectangle 4"/>
          <p:cNvSpPr>
            <a:spLocks noGrp="1" noChangeArrowheads="1"/>
          </p:cNvSpPr>
          <p:nvPr>
            <p:ph type="title"/>
          </p:nvPr>
        </p:nvSpPr>
        <p:spPr>
          <a:xfrm>
            <a:off x="1484310" y="-49211"/>
            <a:ext cx="10018713" cy="1752599"/>
          </a:xfrm>
          <a:noFill/>
          <a:ln/>
        </p:spPr>
        <p:txBody>
          <a:bodyPr/>
          <a:lstStyle/>
          <a:p>
            <a:pPr algn="just"/>
            <a:r>
              <a:rPr lang="en-US" altLang="en-US">
                <a:latin typeface="Arial" panose="020B0604020202020204" pitchFamily="34" charset="0"/>
              </a:rPr>
              <a:t>4.2.3. Quay quanh trục bất kỳ</a:t>
            </a:r>
          </a:p>
        </p:txBody>
      </p:sp>
      <p:sp>
        <p:nvSpPr>
          <p:cNvPr id="72192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5715000" cy="4530725"/>
          </a:xfrm>
          <a:noFill/>
          <a:ln/>
        </p:spPr>
        <p:txBody>
          <a:bodyPr/>
          <a:lstStyle/>
          <a:p>
            <a:pPr marL="533400" indent="-533400"/>
            <a:r>
              <a:rPr lang="en-US" altLang="en-US">
                <a:latin typeface="Arial" panose="020B0604020202020204" pitchFamily="34" charset="0"/>
              </a:rPr>
              <a:t>Bước 2:</a:t>
            </a:r>
          </a:p>
          <a:p>
            <a:pPr marL="914400" lvl="1" indent="-457200"/>
            <a:r>
              <a:rPr lang="en-US" altLang="en-US">
                <a:latin typeface="Arial" panose="020B0604020202020204" pitchFamily="34" charset="0"/>
              </a:rPr>
              <a:t>Tính góc α cho ma trận xoay. Chiếu trục xoay lên mặt phẳng yz</a:t>
            </a:r>
          </a:p>
          <a:p>
            <a:pPr marL="914400" lvl="1" indent="-457200"/>
            <a:endParaRPr lang="en-US" altLang="en-US">
              <a:latin typeface="Arial" panose="020B0604020202020204" pitchFamily="34" charset="0"/>
            </a:endParaRPr>
          </a:p>
          <a:p>
            <a:pPr marL="914400" lvl="1" indent="-457200"/>
            <a:endParaRPr lang="en-US" altLang="en-US">
              <a:latin typeface="Arial" panose="020B0604020202020204" pitchFamily="34" charset="0"/>
            </a:endParaRPr>
          </a:p>
          <a:p>
            <a:pPr marL="914400" lvl="1" indent="-457200"/>
            <a:endParaRPr lang="en-US" altLang="en-US">
              <a:latin typeface="Arial" panose="020B0604020202020204" pitchFamily="34" charset="0"/>
            </a:endParaRPr>
          </a:p>
          <a:p>
            <a:pPr marL="914400" lvl="1" indent="-457200"/>
            <a:endParaRPr lang="en-US" altLang="en-US"/>
          </a:p>
          <a:p>
            <a:pPr marL="914400" lvl="1" indent="-457200"/>
            <a:endParaRPr lang="en-US" altLang="en-US"/>
          </a:p>
          <a:p>
            <a:pPr marL="914400" lvl="1" indent="-457200"/>
            <a:r>
              <a:rPr lang="en-US" altLang="en-US"/>
              <a:t>Ma trận xoay quanh x một góc </a:t>
            </a:r>
            <a:r>
              <a:rPr lang="en-US" altLang="en-US">
                <a:sym typeface="Symbol" panose="05050102010706020507" pitchFamily="18" charset="2"/>
              </a:rPr>
              <a:t></a:t>
            </a:r>
            <a:endParaRPr lang="en-US" altLang="en-US">
              <a:latin typeface="Arial" panose="020B0604020202020204" pitchFamily="34" charset="0"/>
            </a:endParaRPr>
          </a:p>
          <a:p>
            <a:pPr marL="914400" lvl="1" indent="-457200"/>
            <a:endParaRPr lang="en-US" altLang="en-US">
              <a:latin typeface="Arial" panose="020B0604020202020204" pitchFamily="34" charset="0"/>
            </a:endParaRPr>
          </a:p>
        </p:txBody>
      </p:sp>
      <p:pic>
        <p:nvPicPr>
          <p:cNvPr id="721927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679" y="3005138"/>
            <a:ext cx="2667000" cy="1824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21928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4089" y="2293938"/>
            <a:ext cx="267335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21929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4953000"/>
            <a:ext cx="5562600" cy="153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296802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4D7DC-732E-4D2D-9807-48E23BD14354}" type="slidenum">
              <a:rPr lang="en-US" altLang="en-US"/>
              <a:pPr/>
              <a:t>72</a:t>
            </a:fld>
            <a:endParaRPr lang="en-US" altLang="en-US"/>
          </a:p>
        </p:txBody>
      </p:sp>
      <p:sp>
        <p:nvSpPr>
          <p:cNvPr id="720900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just"/>
            <a:r>
              <a:rPr lang="en-US" altLang="en-US" smtClean="0">
                <a:latin typeface="Arial" panose="020B0604020202020204" pitchFamily="34" charset="0"/>
              </a:rPr>
              <a:t>4.4.3</a:t>
            </a:r>
            <a:r>
              <a:rPr lang="en-US" altLang="en-US">
                <a:latin typeface="Arial" panose="020B0604020202020204" pitchFamily="34" charset="0"/>
              </a:rPr>
              <a:t>. Quay quanh trục bất kỳ</a:t>
            </a:r>
          </a:p>
        </p:txBody>
      </p:sp>
      <p:sp>
        <p:nvSpPr>
          <p:cNvPr id="72090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0"/>
            <a:ext cx="5715000" cy="5029200"/>
          </a:xfrm>
          <a:noFill/>
          <a:ln/>
        </p:spPr>
        <p:txBody>
          <a:bodyPr/>
          <a:lstStyle/>
          <a:p>
            <a:pPr marL="533400" indent="-533400"/>
            <a:r>
              <a:rPr lang="en-US" altLang="en-US"/>
              <a:t>Bước 3:</a:t>
            </a:r>
          </a:p>
          <a:p>
            <a:pPr marL="914400" lvl="1" indent="-457200"/>
            <a:r>
              <a:rPr lang="en-US" altLang="en-US"/>
              <a:t>Tìm góc quay </a:t>
            </a:r>
            <a:r>
              <a:rPr lang="en-US" altLang="en-US">
                <a:sym typeface="Symbol" panose="05050102010706020507" pitchFamily="18" charset="2"/>
              </a:rPr>
              <a:t></a:t>
            </a:r>
            <a:r>
              <a:rPr lang="en-US" altLang="en-US"/>
              <a:t> xung quanh trục y</a:t>
            </a:r>
          </a:p>
          <a:p>
            <a:pPr marL="914400" lvl="1" indent="-457200"/>
            <a:endParaRPr lang="en-US" altLang="en-US"/>
          </a:p>
          <a:p>
            <a:pPr marL="914400" lvl="1" indent="-457200"/>
            <a:endParaRPr lang="en-US" altLang="en-US"/>
          </a:p>
          <a:p>
            <a:pPr marL="914400" lvl="1" indent="-457200"/>
            <a:endParaRPr lang="en-US" altLang="en-US"/>
          </a:p>
          <a:p>
            <a:pPr marL="914400" lvl="1" indent="-457200"/>
            <a:endParaRPr lang="en-US" altLang="en-US">
              <a:latin typeface="Arial" panose="020B0604020202020204" pitchFamily="34" charset="0"/>
            </a:endParaRPr>
          </a:p>
          <a:p>
            <a:pPr marL="914400" lvl="1" indent="-457200"/>
            <a:endParaRPr lang="en-US" altLang="en-US"/>
          </a:p>
          <a:p>
            <a:pPr marL="914400" lvl="1" indent="-457200"/>
            <a:endParaRPr lang="en-US" altLang="en-US"/>
          </a:p>
          <a:p>
            <a:pPr marL="914400" lvl="1" indent="-457200"/>
            <a:r>
              <a:rPr lang="en-US" altLang="en-US"/>
              <a:t>Ma trận xoay quanh </a:t>
            </a:r>
            <a:r>
              <a:rPr lang="en-US" altLang="en-US">
                <a:sym typeface="Symbol" panose="05050102010706020507" pitchFamily="18" charset="2"/>
              </a:rPr>
              <a:t></a:t>
            </a:r>
            <a:r>
              <a:rPr lang="en-US" altLang="en-US"/>
              <a:t> một góc </a:t>
            </a:r>
            <a:r>
              <a:rPr lang="en-US" altLang="en-US">
                <a:sym typeface="Symbol" panose="05050102010706020507" pitchFamily="18" charset="2"/>
              </a:rPr>
              <a:t></a:t>
            </a:r>
          </a:p>
        </p:txBody>
      </p:sp>
      <p:pic>
        <p:nvPicPr>
          <p:cNvPr id="72090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1" y="2590801"/>
            <a:ext cx="3624263" cy="2157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20906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1" y="5105401"/>
            <a:ext cx="5445125" cy="144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20907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2438400"/>
            <a:ext cx="3276600" cy="246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72381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35285-29BF-4166-A3CF-40CD1CED1D02}" type="slidenum">
              <a:rPr lang="en-US" altLang="en-US"/>
              <a:pPr/>
              <a:t>73</a:t>
            </a:fld>
            <a:endParaRPr lang="en-US" altLang="en-US"/>
          </a:p>
        </p:txBody>
      </p:sp>
      <p:sp>
        <p:nvSpPr>
          <p:cNvPr id="719876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just"/>
            <a:r>
              <a:rPr lang="en-US" altLang="en-US" smtClean="0">
                <a:latin typeface="Arial" panose="020B0604020202020204" pitchFamily="34" charset="0"/>
              </a:rPr>
              <a:t>4.4.3</a:t>
            </a:r>
            <a:r>
              <a:rPr lang="en-US" altLang="en-US">
                <a:latin typeface="Arial" panose="020B0604020202020204" pitchFamily="34" charset="0"/>
              </a:rPr>
              <a:t>. Quay quanh trục bất kỳ</a:t>
            </a:r>
          </a:p>
        </p:txBody>
      </p:sp>
      <p:sp>
        <p:nvSpPr>
          <p:cNvPr id="71987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0"/>
            <a:ext cx="8305800" cy="5029200"/>
          </a:xfrm>
          <a:noFill/>
          <a:ln/>
        </p:spPr>
        <p:txBody>
          <a:bodyPr/>
          <a:lstStyle/>
          <a:p>
            <a:pPr marL="533400" indent="-533400"/>
            <a:r>
              <a:rPr lang="en-US" altLang="en-US">
                <a:latin typeface="Arial" panose="020B0604020202020204" pitchFamily="34" charset="0"/>
              </a:rPr>
              <a:t>Bước 4:</a:t>
            </a:r>
          </a:p>
          <a:p>
            <a:pPr marL="914400" lvl="1" indent="-457200"/>
            <a:r>
              <a:rPr lang="en-US" altLang="en-US">
                <a:latin typeface="Arial" panose="020B0604020202020204" pitchFamily="34" charset="0"/>
              </a:rPr>
              <a:t>Xoay xung quanh trục đã trùng với trục z</a:t>
            </a:r>
          </a:p>
          <a:p>
            <a:pPr marL="914400" lvl="1" indent="-457200"/>
            <a:endParaRPr lang="en-US" altLang="en-US">
              <a:latin typeface="Arial" panose="020B0604020202020204" pitchFamily="34" charset="0"/>
            </a:endParaRPr>
          </a:p>
          <a:p>
            <a:pPr marL="914400" lvl="1" indent="-457200"/>
            <a:endParaRPr lang="en-US" altLang="en-US">
              <a:latin typeface="Arial" panose="020B0604020202020204" pitchFamily="34" charset="0"/>
            </a:endParaRPr>
          </a:p>
          <a:p>
            <a:pPr marL="914400" lvl="1" indent="-457200"/>
            <a:endParaRPr lang="en-US" altLang="en-US">
              <a:latin typeface="Arial" panose="020B0604020202020204" pitchFamily="34" charset="0"/>
            </a:endParaRPr>
          </a:p>
          <a:p>
            <a:pPr marL="533400" indent="-533400"/>
            <a:endParaRPr lang="en-US" altLang="en-US">
              <a:latin typeface="Arial" panose="020B0604020202020204" pitchFamily="34" charset="0"/>
            </a:endParaRPr>
          </a:p>
          <a:p>
            <a:pPr marL="533400" indent="-533400"/>
            <a:endParaRPr lang="en-US" altLang="en-US">
              <a:latin typeface="Arial" panose="020B0604020202020204" pitchFamily="34" charset="0"/>
            </a:endParaRPr>
          </a:p>
          <a:p>
            <a:pPr marL="533400" indent="-533400"/>
            <a:endParaRPr lang="en-US" altLang="en-US">
              <a:latin typeface="Arial" panose="020B0604020202020204" pitchFamily="34" charset="0"/>
            </a:endParaRPr>
          </a:p>
          <a:p>
            <a:pPr marL="914400" lvl="1" indent="-457200"/>
            <a:r>
              <a:rPr lang="en-US" altLang="en-US">
                <a:latin typeface="Arial" panose="020B0604020202020204" pitchFamily="34" charset="0"/>
              </a:rPr>
              <a:t>Tìm các ma trận biến đổi ngược trước khi tính toán ma trận cuối cùng</a:t>
            </a:r>
          </a:p>
        </p:txBody>
      </p:sp>
      <p:pic>
        <p:nvPicPr>
          <p:cNvPr id="719881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8428" y="2931183"/>
            <a:ext cx="8001000" cy="2443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58771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F21EE-22A1-46FE-B61E-634ED7C6C507}" type="slidenum">
              <a:rPr lang="en-US" altLang="en-US"/>
              <a:pPr/>
              <a:t>74</a:t>
            </a:fld>
            <a:endParaRPr lang="en-US" altLang="en-US"/>
          </a:p>
        </p:txBody>
      </p:sp>
      <p:sp>
        <p:nvSpPr>
          <p:cNvPr id="722948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just"/>
            <a:r>
              <a:rPr lang="en-US" altLang="en-US" smtClean="0">
                <a:latin typeface="Arial" panose="020B0604020202020204" pitchFamily="34" charset="0"/>
              </a:rPr>
              <a:t>4.4.4</a:t>
            </a:r>
            <a:r>
              <a:rPr lang="en-US" altLang="en-US">
                <a:latin typeface="Arial" panose="020B0604020202020204" pitchFamily="34" charset="0"/>
              </a:rPr>
              <a:t>. Phép lấy đối xứng</a:t>
            </a:r>
          </a:p>
        </p:txBody>
      </p:sp>
      <p:sp>
        <p:nvSpPr>
          <p:cNvPr id="72294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019300" y="685800"/>
            <a:ext cx="8305800" cy="5029200"/>
          </a:xfrm>
          <a:noFill/>
          <a:ln/>
        </p:spPr>
        <p:txBody>
          <a:bodyPr/>
          <a:lstStyle/>
          <a:p>
            <a:pPr marL="533400" indent="-533400"/>
            <a:r>
              <a:rPr lang="en-US" altLang="en-US">
                <a:latin typeface="Arial" panose="020B0604020202020204" pitchFamily="34" charset="0"/>
              </a:rPr>
              <a:t>Giải pháp</a:t>
            </a:r>
          </a:p>
          <a:p>
            <a:pPr marL="914400" lvl="1" indent="-457200"/>
            <a:r>
              <a:rPr lang="en-US" altLang="en-US">
                <a:latin typeface="Arial" panose="020B0604020202020204" pitchFamily="34" charset="0"/>
              </a:rPr>
              <a:t>Lấy đối xứng một trục tọa độ qua mặt phẳng phản chiếu</a:t>
            </a:r>
          </a:p>
          <a:p>
            <a:pPr marL="533400" indent="-533400"/>
            <a:r>
              <a:rPr lang="en-US" altLang="en-US">
                <a:latin typeface="Arial" panose="020B0604020202020204" pitchFamily="34" charset="0"/>
              </a:rPr>
              <a:t>Đối xứng qua mặt phẳng xy</a:t>
            </a:r>
          </a:p>
          <a:p>
            <a:pPr marL="914400" lvl="1" indent="-457200"/>
            <a:r>
              <a:rPr lang="en-US" altLang="en-US">
                <a:latin typeface="Arial" panose="020B0604020202020204" pitchFamily="34" charset="0"/>
              </a:rPr>
              <a:t>Biến đổi này làm thay đổi trục z còn giữ nguyên các trục x, y</a:t>
            </a:r>
          </a:p>
          <a:p>
            <a:pPr marL="914400" lvl="1" indent="-457200"/>
            <a:r>
              <a:rPr lang="en-US" altLang="en-US">
                <a:latin typeface="Arial" panose="020B0604020202020204" pitchFamily="34" charset="0"/>
              </a:rPr>
              <a:t>Ma trận:</a:t>
            </a:r>
          </a:p>
        </p:txBody>
      </p:sp>
      <p:pic>
        <p:nvPicPr>
          <p:cNvPr id="72295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4724401"/>
            <a:ext cx="7467600" cy="195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569617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C0E1D-3C32-4F34-8276-7D8735F10F4E}" type="slidenum">
              <a:rPr lang="en-US" altLang="en-US"/>
              <a:pPr/>
              <a:t>75</a:t>
            </a:fld>
            <a:endParaRPr lang="en-US" altLang="en-US"/>
          </a:p>
        </p:txBody>
      </p:sp>
      <p:sp>
        <p:nvSpPr>
          <p:cNvPr id="717828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just"/>
            <a:r>
              <a:rPr lang="en-US" altLang="en-US" smtClean="0">
                <a:latin typeface="Arial" panose="020B0604020202020204" pitchFamily="34" charset="0"/>
              </a:rPr>
              <a:t>4.4.4</a:t>
            </a:r>
            <a:r>
              <a:rPr lang="en-US" altLang="en-US">
                <a:latin typeface="Arial" panose="020B0604020202020204" pitchFamily="34" charset="0"/>
              </a:rPr>
              <a:t>. Phép lấy đối xứng</a:t>
            </a:r>
          </a:p>
        </p:txBody>
      </p:sp>
      <p:sp>
        <p:nvSpPr>
          <p:cNvPr id="71782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789814" y="1720758"/>
            <a:ext cx="8305800" cy="2705986"/>
          </a:xfrm>
          <a:noFill/>
          <a:ln/>
        </p:spPr>
        <p:txBody>
          <a:bodyPr/>
          <a:lstStyle/>
          <a:p>
            <a:pPr marL="533400" indent="-533400"/>
            <a:r>
              <a:rPr lang="en-US" altLang="en-US">
                <a:latin typeface="Arial" panose="020B0604020202020204" pitchFamily="34" charset="0"/>
              </a:rPr>
              <a:t>Đối xứng qua mặt phẳng yz</a:t>
            </a:r>
          </a:p>
          <a:p>
            <a:pPr marL="914400" lvl="1" indent="-457200"/>
            <a:r>
              <a:rPr lang="en-US" altLang="en-US">
                <a:latin typeface="Arial" panose="020B0604020202020204" pitchFamily="34" charset="0"/>
              </a:rPr>
              <a:t>Biến đổi này làm thay đổi trục x còn giữ nguyên các trục y, z</a:t>
            </a:r>
          </a:p>
          <a:p>
            <a:pPr marL="914400" lvl="1" indent="-457200"/>
            <a:r>
              <a:rPr lang="en-US" altLang="en-US">
                <a:latin typeface="Arial" panose="020B0604020202020204" pitchFamily="34" charset="0"/>
              </a:rPr>
              <a:t>Ma trận:</a:t>
            </a:r>
          </a:p>
        </p:txBody>
      </p:sp>
      <p:pic>
        <p:nvPicPr>
          <p:cNvPr id="71783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200"/>
          <a:stretch>
            <a:fillRect/>
          </a:stretch>
        </p:blipFill>
        <p:spPr bwMode="auto">
          <a:xfrm>
            <a:off x="5036288" y="3901805"/>
            <a:ext cx="3200400" cy="2147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373955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883BE-05D8-42E5-BEE7-657C60400DC5}" type="slidenum">
              <a:rPr lang="en-US" altLang="en-US"/>
              <a:pPr/>
              <a:t>76</a:t>
            </a:fld>
            <a:endParaRPr lang="en-US" altLang="en-US"/>
          </a:p>
        </p:txBody>
      </p:sp>
      <p:sp>
        <p:nvSpPr>
          <p:cNvPr id="727044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just"/>
            <a:r>
              <a:rPr lang="en-US" altLang="en-US" smtClean="0">
                <a:latin typeface="Arial" panose="020B0604020202020204" pitchFamily="34" charset="0"/>
              </a:rPr>
              <a:t>4.4.4</a:t>
            </a:r>
            <a:r>
              <a:rPr lang="en-US" altLang="en-US">
                <a:latin typeface="Arial" panose="020B0604020202020204" pitchFamily="34" charset="0"/>
              </a:rPr>
              <a:t>. Phép lấy đối xứng</a:t>
            </a:r>
          </a:p>
        </p:txBody>
      </p:sp>
      <p:sp>
        <p:nvSpPr>
          <p:cNvPr id="72704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587795" y="1275907"/>
            <a:ext cx="8305800" cy="3503428"/>
          </a:xfrm>
          <a:noFill/>
          <a:ln/>
        </p:spPr>
        <p:txBody>
          <a:bodyPr/>
          <a:lstStyle/>
          <a:p>
            <a:pPr marL="533400" indent="-533400"/>
            <a:r>
              <a:rPr lang="en-US" altLang="en-US">
                <a:latin typeface="Arial" panose="020B0604020202020204" pitchFamily="34" charset="0"/>
              </a:rPr>
              <a:t>Đối xứng qua mặt phẳng xz</a:t>
            </a:r>
          </a:p>
          <a:p>
            <a:pPr marL="914400" lvl="1" indent="-457200"/>
            <a:r>
              <a:rPr lang="en-US" altLang="en-US">
                <a:latin typeface="Arial" panose="020B0604020202020204" pitchFamily="34" charset="0"/>
              </a:rPr>
              <a:t>Biến đổi này làm thay đổi trục y còn giữ nguyên các trục x, z</a:t>
            </a:r>
          </a:p>
          <a:p>
            <a:pPr marL="914400" lvl="1" indent="-457200"/>
            <a:r>
              <a:rPr lang="en-US" altLang="en-US">
                <a:latin typeface="Arial" panose="020B0604020202020204" pitchFamily="34" charset="0"/>
              </a:rPr>
              <a:t>Ma trận:</a:t>
            </a:r>
          </a:p>
        </p:txBody>
      </p:sp>
      <p:pic>
        <p:nvPicPr>
          <p:cNvPr id="727047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83"/>
          <a:stretch>
            <a:fillRect/>
          </a:stretch>
        </p:blipFill>
        <p:spPr bwMode="auto">
          <a:xfrm>
            <a:off x="5507826" y="3719678"/>
            <a:ext cx="3124200" cy="2119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9310259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1112F-B26B-4AA9-B1DB-368FC1E8E4BA}" type="slidenum">
              <a:rPr lang="en-US" altLang="en-US"/>
              <a:pPr/>
              <a:t>77</a:t>
            </a:fld>
            <a:endParaRPr lang="en-US" altLang="en-US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just"/>
            <a:r>
              <a:rPr lang="en-US" altLang="en-US" smtClean="0">
                <a:latin typeface="Arial" panose="020B0604020202020204" pitchFamily="34" charset="0"/>
              </a:rPr>
              <a:t>4.4.4</a:t>
            </a:r>
            <a:r>
              <a:rPr lang="en-US" altLang="en-US">
                <a:latin typeface="Arial" panose="020B0604020202020204" pitchFamily="34" charset="0"/>
              </a:rPr>
              <a:t>. Phép lấy đối xứng</a:t>
            </a:r>
          </a:p>
        </p:txBody>
      </p:sp>
      <p:sp>
        <p:nvSpPr>
          <p:cNvPr id="72602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587795" y="1945758"/>
            <a:ext cx="8305800" cy="1823484"/>
          </a:xfrm>
          <a:noFill/>
          <a:ln/>
        </p:spPr>
        <p:txBody>
          <a:bodyPr/>
          <a:lstStyle/>
          <a:p>
            <a:pPr marL="533400" indent="-533400"/>
            <a:r>
              <a:rPr lang="en-US" altLang="en-US">
                <a:latin typeface="Arial" panose="020B0604020202020204" pitchFamily="34" charset="0"/>
              </a:rPr>
              <a:t>Đối xứng qua gốc tọa độ (0,0,0)</a:t>
            </a:r>
          </a:p>
          <a:p>
            <a:pPr marL="914400" lvl="1" indent="-457200"/>
            <a:r>
              <a:rPr lang="en-US" altLang="en-US">
                <a:latin typeface="Arial" panose="020B0604020202020204" pitchFamily="34" charset="0"/>
              </a:rPr>
              <a:t>Biến đổi này làm thay đổi trục x, y, z</a:t>
            </a:r>
          </a:p>
          <a:p>
            <a:pPr marL="914400" lvl="1" indent="-457200"/>
            <a:r>
              <a:rPr lang="en-US" altLang="en-US">
                <a:latin typeface="Arial" panose="020B0604020202020204" pitchFamily="34" charset="0"/>
              </a:rPr>
              <a:t>Ma trận:</a:t>
            </a:r>
          </a:p>
        </p:txBody>
      </p:sp>
      <p:pic>
        <p:nvPicPr>
          <p:cNvPr id="72602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3889" y="3698357"/>
            <a:ext cx="3581400" cy="196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897224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DABB6-5961-46F8-9B9E-AFCF3F0A9EF8}" type="slidenum">
              <a:rPr lang="en-US" altLang="en-US"/>
              <a:pPr/>
              <a:t>78</a:t>
            </a:fld>
            <a:endParaRPr lang="en-US" altLang="en-US"/>
          </a:p>
        </p:txBody>
      </p:sp>
      <p:sp>
        <p:nvSpPr>
          <p:cNvPr id="733188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just"/>
            <a:r>
              <a:rPr lang="en-US" altLang="en-US" smtClean="0">
                <a:latin typeface="Arial" panose="020B0604020202020204" pitchFamily="34" charset="0"/>
              </a:rPr>
              <a:t>4.4.5</a:t>
            </a:r>
            <a:r>
              <a:rPr lang="en-US" altLang="en-US">
                <a:latin typeface="Arial" panose="020B0604020202020204" pitchFamily="34" charset="0"/>
              </a:rPr>
              <a:t>. Phép biến dạng</a:t>
            </a:r>
          </a:p>
        </p:txBody>
      </p:sp>
      <p:sp>
        <p:nvSpPr>
          <p:cNvPr id="73318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609061" y="1724542"/>
            <a:ext cx="8305800" cy="1717158"/>
          </a:xfrm>
          <a:noFill/>
          <a:ln/>
        </p:spPr>
        <p:txBody>
          <a:bodyPr/>
          <a:lstStyle/>
          <a:p>
            <a:pPr marL="533400" indent="-533400"/>
            <a:r>
              <a:rPr lang="en-US" altLang="en-US">
                <a:latin typeface="Arial" panose="020B0604020202020204" pitchFamily="34" charset="0"/>
              </a:rPr>
              <a:t>Tất cả các phần tử nằm trên đường chéo chính = 1</a:t>
            </a:r>
          </a:p>
          <a:p>
            <a:pPr marL="533400" indent="-533400"/>
            <a:r>
              <a:rPr lang="en-US" altLang="en-US">
                <a:latin typeface="Arial" panose="020B0604020202020204" pitchFamily="34" charset="0"/>
              </a:rPr>
              <a:t>Ma trận:</a:t>
            </a:r>
          </a:p>
        </p:txBody>
      </p:sp>
      <p:pic>
        <p:nvPicPr>
          <p:cNvPr id="73319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41" t="33011" r="36899" b="42303"/>
          <a:stretch>
            <a:fillRect/>
          </a:stretch>
        </p:blipFill>
        <p:spPr bwMode="auto">
          <a:xfrm>
            <a:off x="3186223" y="3441700"/>
            <a:ext cx="7848600" cy="318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53531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958</TotalTime>
  <Words>2924</Words>
  <Application>Microsoft Office PowerPoint</Application>
  <PresentationFormat>Widescreen</PresentationFormat>
  <Paragraphs>470</Paragraphs>
  <Slides>78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6" baseType="lpstr">
      <vt:lpstr>Arial</vt:lpstr>
      <vt:lpstr>Calibri</vt:lpstr>
      <vt:lpstr>Constantia</vt:lpstr>
      <vt:lpstr>Corbel</vt:lpstr>
      <vt:lpstr>Symbol</vt:lpstr>
      <vt:lpstr>Wingdings</vt:lpstr>
      <vt:lpstr>Parallax</vt:lpstr>
      <vt:lpstr>Microsoft Equation 3.0</vt:lpstr>
      <vt:lpstr>PowerPoint Presentation</vt:lpstr>
      <vt:lpstr>CHƯƠNG IV.  CÁC PHÉP BIẾN ĐỔI ĐỒ HỌA</vt:lpstr>
      <vt:lpstr>CÁC PHÉP BIẾN ĐỔI  CƠ BẢN</vt:lpstr>
      <vt:lpstr>4.1.1. Các phép biến đổi cơ bản</vt:lpstr>
      <vt:lpstr>4.1.1. Các phép biến đổi cơ bản</vt:lpstr>
      <vt:lpstr>4.1.1. Các phép biến đổi cơ bản</vt:lpstr>
      <vt:lpstr>4.1.1. Các phép biến đổi cơ bản</vt:lpstr>
      <vt:lpstr>4.1.1. Các phép biến đổi cơ bản</vt:lpstr>
      <vt:lpstr>4.1.2. Hệ tọa độ thuần nhất</vt:lpstr>
      <vt:lpstr>4.1.2. Hệ tọa độ thuần nhất</vt:lpstr>
      <vt:lpstr>4.1.2. Hệ tọa độ thuần nhất</vt:lpstr>
      <vt:lpstr>4.1.2. Hệ tọa độ thuần nhất</vt:lpstr>
      <vt:lpstr>4.1.2. Hệ tọa độ thuần nhất</vt:lpstr>
      <vt:lpstr>4.1.2. Hệ tọa độ thuần nhất</vt:lpstr>
      <vt:lpstr>4.1.3. Ma trận biến đổi</vt:lpstr>
      <vt:lpstr>4.1.3. Ma trận biến đổi</vt:lpstr>
      <vt:lpstr>4.1.3. Ma trận biến đổi</vt:lpstr>
      <vt:lpstr>4.1.4. Biến đổi tổng hợp</vt:lpstr>
      <vt:lpstr>4.1.4. Biến đổi tổng hợp</vt:lpstr>
      <vt:lpstr>4.1.4. Biến đổi tổng hợp</vt:lpstr>
      <vt:lpstr>4.1.4. Biến đổi tổng hợp</vt:lpstr>
      <vt:lpstr>4.1.5. Co giãn theo điểm chốt</vt:lpstr>
      <vt:lpstr>4.1.6. Quay theo điểm chốt</vt:lpstr>
      <vt:lpstr>4.1.6. Quay theo điểm chốt</vt:lpstr>
      <vt:lpstr>4.1.7. Co giãn theo hướng tùy ý</vt:lpstr>
      <vt:lpstr>4.1.7. Co giãn theo hướng tùy ý</vt:lpstr>
      <vt:lpstr>4.1.7. Co giãn theo hướng tùy ý</vt:lpstr>
      <vt:lpstr>4.1.8. Phép phản chiếu</vt:lpstr>
      <vt:lpstr>CHUYỂN TỪ TỌA ĐỘ THỰC SANG TỌA ĐỘ MÀN HÌNH</vt:lpstr>
      <vt:lpstr>4.2.1.Tọa độ thực sang cửa sổ nhìn</vt:lpstr>
      <vt:lpstr>4.2.1.Tọa độ thực sang cửa sổ nhìn</vt:lpstr>
      <vt:lpstr>4.2.1.Tọa độ thực sang cửa sổ nhìn</vt:lpstr>
      <vt:lpstr>4.2.1.Tọa độ thực sang cửa sổ nhìn</vt:lpstr>
      <vt:lpstr>4.2.2.Cửa sổ nhìn sang màn hình</vt:lpstr>
      <vt:lpstr>4.2.2.Cửa sổ nhìn sang màn hình</vt:lpstr>
      <vt:lpstr>CÁC PHÉP BIẾN ĐỔI  HÌNH HỌC 3D</vt:lpstr>
      <vt:lpstr>4.3. Đại số véctơ</vt:lpstr>
      <vt:lpstr>4.3. Đại số véctơ</vt:lpstr>
      <vt:lpstr>4.3. Đại số véctơ</vt:lpstr>
      <vt:lpstr>4.3. Đại số véctơ</vt:lpstr>
      <vt:lpstr>4.3. Đại số véctơ</vt:lpstr>
      <vt:lpstr>PowerPoint Presentation</vt:lpstr>
      <vt:lpstr>4.4.1. Các phép biến đổi cơ sở</vt:lpstr>
      <vt:lpstr>4.4.1. Các phép biến đổi cơ sở</vt:lpstr>
      <vt:lpstr>4.4.1. Các phép biến đổi cơ sở</vt:lpstr>
      <vt:lpstr>4.4.1. Các phép biến đổi cơ sở</vt:lpstr>
      <vt:lpstr>4.4.1. Các phép biến đổi cơ sở</vt:lpstr>
      <vt:lpstr>4.4.1. Các phép biến đổi cơ sở</vt:lpstr>
      <vt:lpstr>4.4.1. Các phép biến đổi cơ sở</vt:lpstr>
      <vt:lpstr>4.4.2. Phép biến đổi tổng hợp</vt:lpstr>
      <vt:lpstr>4.4.2. Phép biến đổi tổng hợp</vt:lpstr>
      <vt:lpstr>4.4.2. Phép biến đổi tổng hợp</vt:lpstr>
      <vt:lpstr>4.4.3. Quay quanh trục bất kỳ</vt:lpstr>
      <vt:lpstr>4.4.3. Quay quanh trục bất kỳ</vt:lpstr>
      <vt:lpstr>4.4.3. Quay quanh trục bất kỳ</vt:lpstr>
      <vt:lpstr>4.4.3. Quay quanh trục bất kỳ</vt:lpstr>
      <vt:lpstr>4.4.3. Quay quanh trục bất kỳ</vt:lpstr>
      <vt:lpstr>4.4.3. Quay quanh trục bất kỳ</vt:lpstr>
      <vt:lpstr>4.4.3. Quay quanh trục bất kỳ</vt:lpstr>
      <vt:lpstr>4.4.3. Quay quanh trục bất kỳ</vt:lpstr>
      <vt:lpstr>4.4.3. Quay quanh trục bất kỳ</vt:lpstr>
      <vt:lpstr>4.4.3. Quay quanh trục bất kỳ</vt:lpstr>
      <vt:lpstr>4.4.3. Quay quanh trục bất kỳ</vt:lpstr>
      <vt:lpstr>4.4.3. Quay quanh trục bất kỳ</vt:lpstr>
      <vt:lpstr>4.4.3. Quay quanh trục bất kỳ</vt:lpstr>
      <vt:lpstr>4.4.3. Quay quanh trục bất kỳ</vt:lpstr>
      <vt:lpstr>4.4.3. Quay quanh trục bất kỳ</vt:lpstr>
      <vt:lpstr>4.4.3. Quay quanh trục bất kỳ</vt:lpstr>
      <vt:lpstr>4.4.3. Quay quanh trục bất kỳ</vt:lpstr>
      <vt:lpstr>4.4.3. Quay quanh trục bất kỳ</vt:lpstr>
      <vt:lpstr>4.2.3. Quay quanh trục bất kỳ</vt:lpstr>
      <vt:lpstr>4.4.3. Quay quanh trục bất kỳ</vt:lpstr>
      <vt:lpstr>4.4.3. Quay quanh trục bất kỳ</vt:lpstr>
      <vt:lpstr>4.4.4. Phép lấy đối xứng</vt:lpstr>
      <vt:lpstr>4.4.4. Phép lấy đối xứng</vt:lpstr>
      <vt:lpstr>4.4.4. Phép lấy đối xứng</vt:lpstr>
      <vt:lpstr>4.4.4. Phép lấy đối xứng</vt:lpstr>
      <vt:lpstr>4.4.5. Phép biến dạng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86</cp:revision>
  <dcterms:created xsi:type="dcterms:W3CDTF">2024-02-21T06:49:26Z</dcterms:created>
  <dcterms:modified xsi:type="dcterms:W3CDTF">2024-02-23T13:21:48Z</dcterms:modified>
</cp:coreProperties>
</file>