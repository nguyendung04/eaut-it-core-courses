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7" r:id="rId2"/>
    <p:sldId id="261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1BEA3-C1B4-4F81-B774-56CF4F6F2B3D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357F2-8A00-477D-A2A6-A064B5B7C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6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6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0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9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4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8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1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0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2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1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2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5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63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94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40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02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46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5390" y="2673921"/>
            <a:ext cx="6773956" cy="1063579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KỸ THUẬT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ĐỒ</a:t>
            </a:r>
            <a:r>
              <a:rPr sz="3530" b="1" spc="-4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HỌA</a:t>
            </a:r>
            <a:r>
              <a:rPr sz="3530" b="1" spc="-13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MÁY</a:t>
            </a:r>
            <a:r>
              <a:rPr sz="3530" b="1" spc="-22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spc="-18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TÍNH</a:t>
            </a:r>
            <a:endParaRPr sz="3530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  <a:p>
            <a:pPr algn="ctr">
              <a:spcBef>
                <a:spcPts val="1006"/>
              </a:spcBef>
            </a:pPr>
            <a:r>
              <a:rPr lang="en-US" sz="2471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(3TC)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5366" y="4332263"/>
            <a:ext cx="3103735" cy="1558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88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	</a:t>
            </a:r>
            <a:r>
              <a:rPr lang="en-US" sz="1588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</a:t>
            </a: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Thùy Giang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Khoa: 	Công nghệ thông tin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SĐT: 	</a:t>
            </a: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0979.357.190</a:t>
            </a:r>
          </a:p>
          <a:p>
            <a:pPr>
              <a:lnSpc>
                <a:spcPct val="150000"/>
              </a:lnSpc>
            </a:pP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Email:giangnt@eaut.edu.vn</a:t>
            </a:r>
            <a:endParaRPr lang="en-US" sz="1588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28" y="648853"/>
            <a:ext cx="1900925" cy="1900925"/>
          </a:xfrm>
          <a:prstGeom prst="rect">
            <a:avLst/>
          </a:prstGeom>
        </p:spPr>
      </p:pic>
      <p:sp>
        <p:nvSpPr>
          <p:cNvPr id="6" name="object 2"/>
          <p:cNvSpPr txBox="1"/>
          <p:nvPr/>
        </p:nvSpPr>
        <p:spPr>
          <a:xfrm>
            <a:off x="3256226" y="1251791"/>
            <a:ext cx="6773956" cy="38121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2400" b="1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TRƯỜNG ĐẠI HỌC CÔNG NGHỆ ĐÔNG Á</a:t>
            </a:r>
            <a:endParaRPr lang="en-US" sz="2400" b="1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556162" y="2341706"/>
            <a:ext cx="725285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CHƯƠNG </a:t>
            </a:r>
            <a:r>
              <a:rPr lang="en-US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VI. MÀU SẮC TRONG ĐỒ HỌA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49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7541" y="880363"/>
            <a:ext cx="619506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Ánh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sáng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nhìn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thấy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là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gì?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749602"/>
            <a:ext cx="9440696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1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Ánh sáng mà con </a:t>
            </a:r>
            <a:r>
              <a:rPr sz="2200" spc="-5" dirty="0">
                <a:latin typeface="Verdana"/>
                <a:cs typeface="Verdana"/>
              </a:rPr>
              <a:t>người nhận biết (hay </a:t>
            </a:r>
            <a:r>
              <a:rPr sz="2200" dirty="0">
                <a:latin typeface="Verdana"/>
                <a:cs typeface="Verdana"/>
              </a:rPr>
              <a:t>màu </a:t>
            </a:r>
            <a:r>
              <a:rPr sz="2200" spc="-5" dirty="0">
                <a:latin typeface="Verdana"/>
                <a:cs typeface="Verdana"/>
              </a:rPr>
              <a:t>khác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nhau)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là dải</a:t>
            </a:r>
            <a:r>
              <a:rPr sz="2200" dirty="0">
                <a:latin typeface="Verdana"/>
                <a:cs typeface="Verdana"/>
              </a:rPr>
              <a:t> tần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hẹp </a:t>
            </a:r>
            <a:r>
              <a:rPr sz="2200" spc="-5" dirty="0">
                <a:latin typeface="Verdana"/>
                <a:cs typeface="Verdana"/>
              </a:rPr>
              <a:t>trong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quang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phổ điện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tử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0988" y="2663279"/>
            <a:ext cx="7490459" cy="327888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</a:pPr>
            <a:r>
              <a:rPr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62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1647" y="1916429"/>
            <a:ext cx="4105655" cy="35318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42491" y="150368"/>
            <a:ext cx="7422515" cy="118364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Con người cảm nhận ánh sáng </a:t>
            </a:r>
            <a:r>
              <a:rPr sz="3800" spc="-13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thế nào?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8389" y="1947926"/>
            <a:ext cx="3798570" cy="3396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33375" indent="-342900"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Phần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nhạy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cảm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với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ảnh: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võng mạc </a:t>
            </a:r>
            <a:r>
              <a:rPr sz="2000" spc="-10" dirty="0">
                <a:latin typeface="Verdana"/>
                <a:cs typeface="Verdana"/>
              </a:rPr>
              <a:t>(retina)</a:t>
            </a:r>
            <a:endParaRPr sz="2000">
              <a:latin typeface="Verdana"/>
              <a:cs typeface="Verdana"/>
            </a:endParaRPr>
          </a:p>
          <a:p>
            <a:pPr marL="755650" marR="8890" lvl="1" indent="-285750"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pc="-5" dirty="0">
                <a:latin typeface="Verdana"/>
                <a:cs typeface="Verdana"/>
              </a:rPr>
              <a:t>Retina bao gồm </a:t>
            </a:r>
            <a:r>
              <a:rPr dirty="0">
                <a:latin typeface="Verdana"/>
                <a:cs typeface="Verdana"/>
              </a:rPr>
              <a:t>hai </a:t>
            </a:r>
            <a:r>
              <a:rPr spc="-5" dirty="0">
                <a:latin typeface="Verdana"/>
                <a:cs typeface="Verdana"/>
              </a:rPr>
              <a:t>loại tế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bào: </a:t>
            </a:r>
            <a:r>
              <a:rPr dirty="0">
                <a:latin typeface="Verdana"/>
                <a:cs typeface="Verdana"/>
              </a:rPr>
              <a:t>rod </a:t>
            </a:r>
            <a:r>
              <a:rPr spc="-5" dirty="0">
                <a:latin typeface="Verdana"/>
                <a:cs typeface="Verdana"/>
              </a:rPr>
              <a:t>(que) </a:t>
            </a:r>
            <a:r>
              <a:rPr dirty="0">
                <a:latin typeface="Verdana"/>
                <a:cs typeface="Verdana"/>
              </a:rPr>
              <a:t>và 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cone(nón)</a:t>
            </a:r>
            <a:endParaRPr>
              <a:latin typeface="Verdana"/>
              <a:cs typeface="Verdana"/>
            </a:endParaRPr>
          </a:p>
          <a:p>
            <a:pPr marL="755650" marR="5080" lvl="1" indent="-285750"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pc="-5" dirty="0">
                <a:latin typeface="Verdana"/>
                <a:cs typeface="Verdana"/>
              </a:rPr>
              <a:t>Cone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có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trách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nhiệm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nhận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biết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màu.</a:t>
            </a:r>
            <a:endParaRPr>
              <a:latin typeface="Verdana"/>
              <a:cs typeface="Verdana"/>
            </a:endParaRPr>
          </a:p>
          <a:p>
            <a:pPr marL="355600" marR="140970" indent="-342900">
              <a:spcBef>
                <a:spcPts val="47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000" spc="-10" dirty="0">
                <a:latin typeface="Verdana"/>
                <a:cs typeface="Verdana"/>
              </a:rPr>
              <a:t>Cones </a:t>
            </a:r>
            <a:r>
              <a:rPr sz="2000" spc="-5" dirty="0">
                <a:latin typeface="Verdana"/>
                <a:cs typeface="Verdana"/>
              </a:rPr>
              <a:t>có </a:t>
            </a:r>
            <a:r>
              <a:rPr sz="2000" spc="-10" dirty="0">
                <a:latin typeface="Verdana"/>
                <a:cs typeface="Verdana"/>
              </a:rPr>
              <a:t>ba </a:t>
            </a:r>
            <a:r>
              <a:rPr sz="2000" spc="-5" dirty="0">
                <a:latin typeface="Verdana"/>
                <a:cs typeface="Verdana"/>
              </a:rPr>
              <a:t>loại: S, M, L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tương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ứng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với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cảm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biến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(430 nm), G </a:t>
            </a:r>
            <a:r>
              <a:rPr sz="2000" spc="-10" dirty="0">
                <a:latin typeface="Verdana"/>
                <a:cs typeface="Verdana"/>
              </a:rPr>
              <a:t>(560nm), </a:t>
            </a:r>
            <a:r>
              <a:rPr sz="2000" spc="-5" dirty="0">
                <a:latin typeface="Verdana"/>
                <a:cs typeface="Verdana"/>
              </a:rPr>
              <a:t> R(610nm)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2382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7017" y="1876297"/>
            <a:ext cx="9230728" cy="4688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160" indent="-342900"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54965" algn="l"/>
                <a:tab pos="355600" algn="l"/>
              </a:tabLst>
            </a:pPr>
            <a:r>
              <a:rPr dirty="0">
                <a:latin typeface="Verdana"/>
                <a:cs typeface="Verdana"/>
              </a:rPr>
              <a:t>Vì </a:t>
            </a:r>
            <a:r>
              <a:rPr spc="-5" dirty="0">
                <a:latin typeface="Verdana"/>
                <a:cs typeface="Verdana"/>
              </a:rPr>
              <a:t>ánh sáng là </a:t>
            </a:r>
            <a:r>
              <a:rPr dirty="0">
                <a:latin typeface="Verdana"/>
                <a:cs typeface="Verdana"/>
              </a:rPr>
              <a:t>sóng </a:t>
            </a:r>
            <a:r>
              <a:rPr spc="-5" dirty="0">
                <a:latin typeface="Verdana"/>
                <a:cs typeface="Verdana"/>
              </a:rPr>
              <a:t>điện từ </a:t>
            </a:r>
            <a:r>
              <a:rPr dirty="0">
                <a:latin typeface="Verdana"/>
                <a:cs typeface="Verdana"/>
              </a:rPr>
              <a:t>cho nên có </a:t>
            </a:r>
            <a:r>
              <a:rPr spc="-5" dirty="0">
                <a:latin typeface="Verdana"/>
                <a:cs typeface="Verdana"/>
              </a:rPr>
              <a:t>thể </a:t>
            </a:r>
            <a:r>
              <a:rPr dirty="0">
                <a:latin typeface="Verdana"/>
                <a:cs typeface="Verdana"/>
              </a:rPr>
              <a:t>mô </a:t>
            </a:r>
            <a:r>
              <a:rPr spc="-5" dirty="0">
                <a:latin typeface="Verdana"/>
                <a:cs typeface="Verdana"/>
              </a:rPr>
              <a:t>tả </a:t>
            </a:r>
            <a:r>
              <a:rPr dirty="0">
                <a:latin typeface="Verdana"/>
                <a:cs typeface="Verdana"/>
              </a:rPr>
              <a:t>nó </a:t>
            </a:r>
            <a:r>
              <a:rPr spc="-5" dirty="0">
                <a:latin typeface="Verdana"/>
                <a:cs typeface="Verdana"/>
              </a:rPr>
              <a:t>bằng tần </a:t>
            </a:r>
            <a:r>
              <a:rPr dirty="0">
                <a:latin typeface="Verdana"/>
                <a:cs typeface="Verdana"/>
              </a:rPr>
              <a:t>số hay </a:t>
            </a:r>
            <a:r>
              <a:rPr spc="-5" dirty="0">
                <a:latin typeface="Verdana"/>
                <a:cs typeface="Verdana"/>
              </a:rPr>
              <a:t>bước </a:t>
            </a:r>
            <a:r>
              <a:rPr spc="-5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sóng</a:t>
            </a:r>
            <a:endParaRPr>
              <a:latin typeface="Verdana"/>
              <a:cs typeface="Verdana"/>
            </a:endParaRPr>
          </a:p>
          <a:p>
            <a:pPr marL="755650" lvl="1" indent="-285750"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>
                <a:latin typeface="Verdana"/>
                <a:cs typeface="Verdana"/>
              </a:rPr>
              <a:t>Ánh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sáng</a:t>
            </a:r>
            <a:r>
              <a:rPr dirty="0">
                <a:latin typeface="Verdana"/>
                <a:cs typeface="Verdana"/>
              </a:rPr>
              <a:t> mặt </a:t>
            </a:r>
            <a:r>
              <a:rPr spc="-5" dirty="0">
                <a:latin typeface="Verdana"/>
                <a:cs typeface="Verdana"/>
              </a:rPr>
              <a:t>trời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truyền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đi</a:t>
            </a:r>
            <a:r>
              <a:rPr dirty="0">
                <a:latin typeface="Verdana"/>
                <a:cs typeface="Verdana"/>
              </a:rPr>
              <a:t> mọi </a:t>
            </a:r>
            <a:r>
              <a:rPr spc="-5" dirty="0">
                <a:latin typeface="Verdana"/>
                <a:cs typeface="Verdana"/>
              </a:rPr>
              <a:t>tần </a:t>
            </a:r>
            <a:r>
              <a:rPr dirty="0">
                <a:latin typeface="Verdana"/>
                <a:cs typeface="Verdana"/>
              </a:rPr>
              <a:t>số </a:t>
            </a:r>
            <a:r>
              <a:rPr spc="-5" dirty="0">
                <a:latin typeface="Verdana"/>
                <a:cs typeface="Verdana"/>
              </a:rPr>
              <a:t>trong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dải nhìn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thấy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để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tạo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ra</a:t>
            </a:r>
            <a:endParaRPr>
              <a:latin typeface="Verdana"/>
              <a:cs typeface="Verdana"/>
            </a:endParaRPr>
          </a:p>
          <a:p>
            <a:pPr marL="755650"/>
            <a:r>
              <a:rPr dirty="0">
                <a:latin typeface="Verdana"/>
                <a:cs typeface="Verdana"/>
              </a:rPr>
              <a:t>ánh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sáng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trắng</a:t>
            </a:r>
            <a:endParaRPr>
              <a:latin typeface="Verdana"/>
              <a:cs typeface="Verdana"/>
            </a:endParaRPr>
          </a:p>
          <a:p>
            <a:pPr marL="755650" lvl="1" indent="-285750"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>
                <a:latin typeface="Verdana"/>
                <a:cs typeface="Verdana"/>
              </a:rPr>
              <a:t>Khi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ánh</a:t>
            </a:r>
            <a:r>
              <a:rPr spc="-5" dirty="0">
                <a:latin typeface="Verdana"/>
                <a:cs typeface="Verdana"/>
              </a:rPr>
              <a:t> sáng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trắng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chiếu</a:t>
            </a:r>
            <a:r>
              <a:rPr spc="-5" dirty="0">
                <a:latin typeface="Verdana"/>
                <a:cs typeface="Verdana"/>
              </a:rPr>
              <a:t> lên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đối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tượng:</a:t>
            </a:r>
            <a:endParaRPr>
              <a:latin typeface="Verdana"/>
              <a:cs typeface="Verdana"/>
            </a:endParaRPr>
          </a:p>
          <a:p>
            <a:pPr marL="1155700" lvl="2" indent="-228600">
              <a:spcBef>
                <a:spcPts val="360"/>
              </a:spcBef>
              <a:buClr>
                <a:srgbClr val="CC0000"/>
              </a:buClr>
              <a:buFont typeface="Wingdings"/>
              <a:buChar char=""/>
              <a:tabLst>
                <a:tab pos="1155700" algn="l"/>
              </a:tabLst>
            </a:pPr>
            <a:r>
              <a:rPr dirty="0">
                <a:latin typeface="Verdana"/>
                <a:cs typeface="Verdana"/>
              </a:rPr>
              <a:t>Một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vài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tần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số </a:t>
            </a:r>
            <a:r>
              <a:rPr spc="-5" dirty="0">
                <a:latin typeface="Verdana"/>
                <a:cs typeface="Verdana"/>
              </a:rPr>
              <a:t>phản xạ, </a:t>
            </a:r>
            <a:r>
              <a:rPr dirty="0">
                <a:latin typeface="Verdana"/>
                <a:cs typeface="Verdana"/>
              </a:rPr>
              <a:t>một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số</a:t>
            </a:r>
            <a:r>
              <a:rPr dirty="0">
                <a:latin typeface="Verdana"/>
                <a:cs typeface="Verdana"/>
              </a:rPr>
              <a:t> khác</a:t>
            </a:r>
            <a:r>
              <a:rPr spc="-5" dirty="0">
                <a:latin typeface="Verdana"/>
                <a:cs typeface="Verdana"/>
              </a:rPr>
              <a:t> bị </a:t>
            </a:r>
            <a:r>
              <a:rPr dirty="0">
                <a:latin typeface="Verdana"/>
                <a:cs typeface="Verdana"/>
              </a:rPr>
              <a:t>hấp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thụ</a:t>
            </a:r>
            <a:endParaRPr>
              <a:latin typeface="Verdana"/>
              <a:cs typeface="Verdana"/>
            </a:endParaRPr>
          </a:p>
          <a:p>
            <a:pPr marL="1155700" marR="5080" lvl="2" indent="-228600">
              <a:lnSpc>
                <a:spcPct val="120000"/>
              </a:lnSpc>
              <a:buClr>
                <a:srgbClr val="CC0000"/>
              </a:buClr>
              <a:buFont typeface="Wingdings"/>
              <a:buChar char=""/>
              <a:tabLst>
                <a:tab pos="1155700" algn="l"/>
              </a:tabLst>
            </a:pPr>
            <a:r>
              <a:rPr spc="-5" dirty="0">
                <a:latin typeface="Verdana"/>
                <a:cs typeface="Verdana"/>
              </a:rPr>
              <a:t>tổ </a:t>
            </a:r>
            <a:r>
              <a:rPr dirty="0">
                <a:latin typeface="Verdana"/>
                <a:cs typeface="Verdana"/>
              </a:rPr>
              <a:t>hợp của các </a:t>
            </a:r>
            <a:r>
              <a:rPr spc="-5" dirty="0">
                <a:latin typeface="Verdana"/>
                <a:cs typeface="Verdana"/>
              </a:rPr>
              <a:t>tần </a:t>
            </a:r>
            <a:r>
              <a:rPr dirty="0">
                <a:latin typeface="Verdana"/>
                <a:cs typeface="Verdana"/>
              </a:rPr>
              <a:t>số </a:t>
            </a:r>
            <a:r>
              <a:rPr spc="-5" dirty="0">
                <a:latin typeface="Verdana"/>
                <a:cs typeface="Verdana"/>
              </a:rPr>
              <a:t>phản </a:t>
            </a:r>
            <a:r>
              <a:rPr dirty="0">
                <a:latin typeface="Verdana"/>
                <a:cs typeface="Verdana"/>
              </a:rPr>
              <a:t>xạ hình </a:t>
            </a:r>
            <a:r>
              <a:rPr spc="-5" dirty="0">
                <a:latin typeface="Verdana"/>
                <a:cs typeface="Verdana"/>
              </a:rPr>
              <a:t>thành </a:t>
            </a:r>
            <a:r>
              <a:rPr dirty="0">
                <a:latin typeface="Verdana"/>
                <a:cs typeface="Verdana"/>
              </a:rPr>
              <a:t>cái </a:t>
            </a:r>
            <a:r>
              <a:rPr spc="-5" dirty="0">
                <a:latin typeface="Verdana"/>
                <a:cs typeface="Verdana"/>
              </a:rPr>
              <a:t>gọi là </a:t>
            </a:r>
            <a:r>
              <a:rPr dirty="0">
                <a:latin typeface="Verdana"/>
                <a:cs typeface="Verdana"/>
              </a:rPr>
              <a:t>màu </a:t>
            </a:r>
            <a:r>
              <a:rPr spc="-5" dirty="0">
                <a:latin typeface="Verdana"/>
                <a:cs typeface="Verdana"/>
              </a:rPr>
              <a:t>đối tượng </a:t>
            </a:r>
            <a:r>
              <a:rPr spc="-5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Ví</a:t>
            </a:r>
            <a:r>
              <a:rPr spc="-5" dirty="0">
                <a:latin typeface="Verdana"/>
                <a:cs typeface="Verdana"/>
              </a:rPr>
              <a:t> dụ: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nếu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tần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số</a:t>
            </a:r>
            <a:r>
              <a:rPr spc="-5" dirty="0">
                <a:latin typeface="Verdana"/>
                <a:cs typeface="Verdana"/>
              </a:rPr>
              <a:t> thấp </a:t>
            </a:r>
            <a:r>
              <a:rPr dirty="0">
                <a:latin typeface="Verdana"/>
                <a:cs typeface="Verdana"/>
              </a:rPr>
              <a:t>chiếm ưu</a:t>
            </a:r>
            <a:r>
              <a:rPr spc="-5" dirty="0">
                <a:latin typeface="Verdana"/>
                <a:cs typeface="Verdana"/>
              </a:rPr>
              <a:t> thế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-&gt;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 </a:t>
            </a:r>
            <a:r>
              <a:rPr spc="-5" dirty="0">
                <a:latin typeface="Verdana"/>
                <a:cs typeface="Verdana"/>
              </a:rPr>
              <a:t>đỏ</a:t>
            </a:r>
            <a:endParaRPr>
              <a:latin typeface="Verdana"/>
              <a:cs typeface="Verdana"/>
            </a:endParaRPr>
          </a:p>
          <a:p>
            <a:pPr marL="1155700" lvl="2" indent="-228600">
              <a:spcBef>
                <a:spcPts val="360"/>
              </a:spcBef>
              <a:buClr>
                <a:srgbClr val="CC0000"/>
              </a:buClr>
              <a:buFont typeface="Wingdings"/>
              <a:buChar char=""/>
              <a:tabLst>
                <a:tab pos="1155700" algn="l"/>
              </a:tabLst>
            </a:pPr>
            <a:r>
              <a:rPr spc="-5" dirty="0">
                <a:latin typeface="Verdana"/>
                <a:cs typeface="Verdana"/>
              </a:rPr>
              <a:t>Tần số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(bước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sóng) chiếm ưu</a:t>
            </a:r>
            <a:r>
              <a:rPr spc="-5" dirty="0">
                <a:latin typeface="Verdana"/>
                <a:cs typeface="Verdana"/>
              </a:rPr>
              <a:t> thế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được gọi </a:t>
            </a:r>
            <a:r>
              <a:rPr dirty="0">
                <a:latin typeface="Verdana"/>
                <a:cs typeface="Verdana"/>
              </a:rPr>
              <a:t>là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Color/Hue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hay </a:t>
            </a:r>
            <a:r>
              <a:rPr spc="-5" dirty="0">
                <a:latin typeface="Verdana"/>
                <a:cs typeface="Verdana"/>
              </a:rPr>
              <a:t>Light</a:t>
            </a:r>
            <a:endParaRPr>
              <a:latin typeface="Verdana"/>
              <a:cs typeface="Verdana"/>
            </a:endParaRPr>
          </a:p>
          <a:p>
            <a:pPr marL="355600" indent="-342900">
              <a:spcBef>
                <a:spcPts val="360"/>
              </a:spcBef>
              <a:buClr>
                <a:srgbClr val="CC0000"/>
              </a:buClr>
              <a:buFont typeface="Wingdings"/>
              <a:buChar char=""/>
              <a:tabLst>
                <a:tab pos="354965" algn="l"/>
                <a:tab pos="355600" algn="l"/>
              </a:tabLst>
            </a:pPr>
            <a:r>
              <a:rPr dirty="0">
                <a:latin typeface="Verdana"/>
                <a:cs typeface="Verdana"/>
              </a:rPr>
              <a:t>Khi</a:t>
            </a:r>
            <a:r>
              <a:rPr spc="-5" dirty="0">
                <a:latin typeface="Verdana"/>
                <a:cs typeface="Verdana"/>
              </a:rPr>
              <a:t> ta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quan sát </a:t>
            </a:r>
            <a:r>
              <a:rPr dirty="0">
                <a:latin typeface="Verdana"/>
                <a:cs typeface="Verdana"/>
              </a:rPr>
              <a:t>nguồn sáng,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mắt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ta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đáp </a:t>
            </a:r>
            <a:r>
              <a:rPr dirty="0">
                <a:latin typeface="Verdana"/>
                <a:cs typeface="Verdana"/>
              </a:rPr>
              <a:t>ứng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 và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hai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cảm</a:t>
            </a:r>
            <a:r>
              <a:rPr spc="-5" dirty="0">
                <a:latin typeface="Verdana"/>
                <a:cs typeface="Verdana"/>
              </a:rPr>
              <a:t> giác</a:t>
            </a:r>
            <a:r>
              <a:rPr dirty="0">
                <a:latin typeface="Verdana"/>
                <a:cs typeface="Verdana"/>
              </a:rPr>
              <a:t> khác</a:t>
            </a:r>
            <a:endParaRPr>
              <a:latin typeface="Verdana"/>
              <a:cs typeface="Verdana"/>
            </a:endParaRPr>
          </a:p>
          <a:p>
            <a:pPr marL="755650" marR="306070" lvl="1" indent="-285750"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pc="-5" dirty="0">
                <a:latin typeface="Verdana"/>
                <a:cs typeface="Verdana"/>
              </a:rPr>
              <a:t>Luminance (Brightness): </a:t>
            </a:r>
            <a:r>
              <a:rPr dirty="0">
                <a:latin typeface="Verdana"/>
                <a:cs typeface="Verdana"/>
              </a:rPr>
              <a:t>Liên </a:t>
            </a:r>
            <a:r>
              <a:rPr spc="-5" dirty="0">
                <a:latin typeface="Verdana"/>
                <a:cs typeface="Verdana"/>
              </a:rPr>
              <a:t>quan đến </a:t>
            </a:r>
            <a:r>
              <a:rPr dirty="0">
                <a:latin typeface="Verdana"/>
                <a:cs typeface="Verdana"/>
              </a:rPr>
              <a:t>cường </a:t>
            </a:r>
            <a:r>
              <a:rPr spc="-5" dirty="0">
                <a:latin typeface="Verdana"/>
                <a:cs typeface="Verdana"/>
              </a:rPr>
              <a:t>độ (năng lượng) </a:t>
            </a:r>
            <a:r>
              <a:rPr dirty="0">
                <a:latin typeface="Verdana"/>
                <a:cs typeface="Verdana"/>
              </a:rPr>
              <a:t>ánh </a:t>
            </a:r>
            <a:r>
              <a:rPr spc="-5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sáng: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năng</a:t>
            </a:r>
            <a:r>
              <a:rPr spc="-5" dirty="0">
                <a:latin typeface="Verdana"/>
                <a:cs typeface="Verdana"/>
              </a:rPr>
              <a:t> lượng </a:t>
            </a:r>
            <a:r>
              <a:rPr dirty="0">
                <a:latin typeface="Verdana"/>
                <a:cs typeface="Verdana"/>
              </a:rPr>
              <a:t>càng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cao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-&gt;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nguồn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sáng càng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chói.</a:t>
            </a:r>
            <a:endParaRPr>
              <a:latin typeface="Verdana"/>
              <a:cs typeface="Verdana"/>
            </a:endParaRPr>
          </a:p>
          <a:p>
            <a:pPr marL="755650" lvl="1" indent="-285750"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dirty="0">
                <a:latin typeface="Verdana"/>
                <a:cs typeface="Verdana"/>
              </a:rPr>
              <a:t>Purity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(saturation):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độ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tinh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khiết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của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sáng</a:t>
            </a:r>
            <a:endParaRPr>
              <a:latin typeface="Verdana"/>
              <a:cs typeface="Verdana"/>
            </a:endParaRPr>
          </a:p>
          <a:p>
            <a:pPr marL="355600" marR="57150" indent="-342900">
              <a:spcBef>
                <a:spcPts val="365"/>
              </a:spcBef>
              <a:buClr>
                <a:srgbClr val="CC0000"/>
              </a:buClr>
              <a:buFont typeface="Wingdings"/>
              <a:buChar char=""/>
              <a:tabLst>
                <a:tab pos="354965" algn="l"/>
                <a:tab pos="355600" algn="l"/>
              </a:tabLst>
            </a:pPr>
            <a:r>
              <a:rPr b="1" dirty="0">
                <a:latin typeface="Verdana"/>
                <a:cs typeface="Verdana"/>
              </a:rPr>
              <a:t>Vậy ánh </a:t>
            </a:r>
            <a:r>
              <a:rPr b="1" spc="-5" dirty="0">
                <a:latin typeface="Verdana"/>
                <a:cs typeface="Verdana"/>
              </a:rPr>
              <a:t>sáng có </a:t>
            </a:r>
            <a:r>
              <a:rPr b="1" dirty="0">
                <a:latin typeface="Verdana"/>
                <a:cs typeface="Verdana"/>
              </a:rPr>
              <a:t>3 </a:t>
            </a:r>
            <a:r>
              <a:rPr b="1" spc="-5" dirty="0">
                <a:latin typeface="Verdana"/>
                <a:cs typeface="Verdana"/>
              </a:rPr>
              <a:t>đặc </a:t>
            </a:r>
            <a:r>
              <a:rPr b="1" dirty="0">
                <a:latin typeface="Verdana"/>
                <a:cs typeface="Verdana"/>
              </a:rPr>
              <a:t>tính </a:t>
            </a:r>
            <a:r>
              <a:rPr b="1" spc="-5" dirty="0">
                <a:latin typeface="Verdana"/>
                <a:cs typeface="Verdana"/>
              </a:rPr>
              <a:t>cơ bản liên quan </a:t>
            </a:r>
            <a:r>
              <a:rPr b="1" dirty="0">
                <a:latin typeface="Verdana"/>
                <a:cs typeface="Verdana"/>
              </a:rPr>
              <a:t>trực tiếp tới </a:t>
            </a:r>
            <a:r>
              <a:rPr b="1" spc="-5" dirty="0">
                <a:latin typeface="Verdana"/>
                <a:cs typeface="Verdana"/>
              </a:rPr>
              <a:t>cảm nhận </a:t>
            </a:r>
            <a:r>
              <a:rPr b="1" spc="-500" dirty="0">
                <a:latin typeface="Verdana"/>
                <a:cs typeface="Verdana"/>
              </a:rPr>
              <a:t> </a:t>
            </a:r>
            <a:r>
              <a:rPr b="1" spc="-5" dirty="0">
                <a:latin typeface="Verdana"/>
                <a:cs typeface="Verdana"/>
              </a:rPr>
              <a:t>của</a:t>
            </a:r>
            <a:r>
              <a:rPr b="1" spc="-10" dirty="0">
                <a:latin typeface="Verdana"/>
                <a:cs typeface="Verdana"/>
              </a:rPr>
              <a:t> </a:t>
            </a:r>
            <a:r>
              <a:rPr b="1" spc="-5" dirty="0">
                <a:latin typeface="Verdana"/>
                <a:cs typeface="Verdana"/>
              </a:rPr>
              <a:t>mắt</a:t>
            </a:r>
            <a:r>
              <a:rPr b="1" dirty="0">
                <a:latin typeface="Verdana"/>
                <a:cs typeface="Verdana"/>
              </a:rPr>
              <a:t> </a:t>
            </a:r>
            <a:r>
              <a:rPr b="1" spc="-5" dirty="0">
                <a:latin typeface="Verdana"/>
                <a:cs typeface="Verdana"/>
              </a:rPr>
              <a:t>người </a:t>
            </a:r>
            <a:r>
              <a:rPr b="1" dirty="0">
                <a:latin typeface="Verdana"/>
                <a:cs typeface="Verdana"/>
              </a:rPr>
              <a:t>là:</a:t>
            </a:r>
            <a:r>
              <a:rPr b="1" spc="-10" dirty="0"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C0000"/>
                </a:solidFill>
                <a:latin typeface="Verdana"/>
                <a:cs typeface="Verdana"/>
              </a:rPr>
              <a:t>tần </a:t>
            </a:r>
            <a:r>
              <a:rPr b="1" spc="-5" dirty="0">
                <a:solidFill>
                  <a:srgbClr val="CC0000"/>
                </a:solidFill>
                <a:latin typeface="Verdana"/>
                <a:cs typeface="Verdana"/>
              </a:rPr>
              <a:t>số,</a:t>
            </a:r>
            <a:r>
              <a:rPr b="1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b="1" spc="-5" dirty="0">
                <a:solidFill>
                  <a:srgbClr val="CC0000"/>
                </a:solidFill>
                <a:latin typeface="Verdana"/>
                <a:cs typeface="Verdana"/>
              </a:rPr>
              <a:t>độ</a:t>
            </a:r>
            <a:r>
              <a:rPr b="1" spc="-1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b="1" spc="-5" dirty="0">
                <a:solidFill>
                  <a:srgbClr val="CC0000"/>
                </a:solidFill>
                <a:latin typeface="Verdana"/>
                <a:cs typeface="Verdana"/>
              </a:rPr>
              <a:t>chói</a:t>
            </a:r>
            <a:r>
              <a:rPr b="1" spc="-1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C0000"/>
                </a:solidFill>
                <a:latin typeface="Verdana"/>
                <a:cs typeface="Verdana"/>
              </a:rPr>
              <a:t>và </a:t>
            </a:r>
            <a:r>
              <a:rPr b="1" spc="-5" dirty="0">
                <a:solidFill>
                  <a:srgbClr val="CC0000"/>
                </a:solidFill>
                <a:latin typeface="Verdana"/>
                <a:cs typeface="Verdana"/>
              </a:rPr>
              <a:t>độ</a:t>
            </a:r>
            <a:r>
              <a:rPr b="1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C0000"/>
                </a:solidFill>
                <a:latin typeface="Verdana"/>
                <a:cs typeface="Verdana"/>
              </a:rPr>
              <a:t>tinh</a:t>
            </a:r>
            <a:r>
              <a:rPr b="1" spc="-1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C0000"/>
                </a:solidFill>
                <a:latin typeface="Verdana"/>
                <a:cs typeface="Verdana"/>
              </a:rPr>
              <a:t>khiết</a:t>
            </a:r>
            <a:endParaRPr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44512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Đặc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tính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của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ánh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sáng</a:t>
            </a:r>
            <a:endParaRPr sz="38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5381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627888"/>
            <a:ext cx="248475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Màu</a:t>
            </a:r>
            <a:r>
              <a:rPr sz="3800" spc="-4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là</a:t>
            </a:r>
            <a:r>
              <a:rPr sz="3800" spc="-4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gì?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3864" y="2020824"/>
            <a:ext cx="6970395" cy="2156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24154" indent="-343535"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000" spc="-5" dirty="0">
                <a:latin typeface="Verdana"/>
                <a:cs typeface="Verdana"/>
              </a:rPr>
              <a:t>Có nhiều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định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nghĩa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về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màu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(không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có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định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nghĩa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chính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thức)</a:t>
            </a:r>
            <a:endParaRPr sz="2000">
              <a:latin typeface="Verdana"/>
              <a:cs typeface="Verdana"/>
            </a:endParaRPr>
          </a:p>
          <a:p>
            <a:pPr marL="755650" lvl="1" indent="-286385"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pc="-5" dirty="0">
                <a:latin typeface="Verdana"/>
                <a:cs typeface="Verdana"/>
              </a:rPr>
              <a:t>từ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góc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nhìn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khoa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học:</a:t>
            </a:r>
            <a:endParaRPr>
              <a:latin typeface="Verdana"/>
              <a:cs typeface="Verdana"/>
            </a:endParaRPr>
          </a:p>
          <a:p>
            <a:pPr marL="1155700" lvl="2" indent="-229235">
              <a:spcBef>
                <a:spcPts val="405"/>
              </a:spcBef>
              <a:buClr>
                <a:srgbClr val="CC0000"/>
              </a:buClr>
              <a:buFont typeface="Wingdings"/>
              <a:buChar char=""/>
              <a:tabLst>
                <a:tab pos="1156335" algn="l"/>
              </a:tabLst>
            </a:pPr>
            <a:r>
              <a:rPr sz="1700" dirty="0">
                <a:latin typeface="Verdana"/>
                <a:cs typeface="Verdana"/>
              </a:rPr>
              <a:t>Màu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là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phân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bổ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bước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sóng</a:t>
            </a:r>
            <a:r>
              <a:rPr sz="1700" spc="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λ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(red: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700nm,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violet:</a:t>
            </a:r>
            <a:endParaRPr sz="1700">
              <a:latin typeface="Verdana"/>
              <a:cs typeface="Verdana"/>
            </a:endParaRPr>
          </a:p>
          <a:p>
            <a:pPr marL="1155700">
              <a:spcBef>
                <a:spcPts val="5"/>
              </a:spcBef>
            </a:pPr>
            <a:r>
              <a:rPr sz="1700" spc="-5" dirty="0">
                <a:latin typeface="Verdana"/>
                <a:cs typeface="Verdana"/>
              </a:rPr>
              <a:t>400nm)</a:t>
            </a:r>
            <a:endParaRPr sz="1700">
              <a:latin typeface="Verdana"/>
              <a:cs typeface="Verdana"/>
            </a:endParaRPr>
          </a:p>
          <a:p>
            <a:pPr marL="1155700" lvl="2" indent="-229235">
              <a:spcBef>
                <a:spcPts val="405"/>
              </a:spcBef>
              <a:buClr>
                <a:srgbClr val="CC0000"/>
              </a:buClr>
              <a:buFont typeface="Wingdings"/>
              <a:buChar char=""/>
              <a:tabLst>
                <a:tab pos="1156335" algn="l"/>
              </a:tabLst>
            </a:pPr>
            <a:r>
              <a:rPr sz="1700" spc="-5" dirty="0">
                <a:latin typeface="Verdana"/>
                <a:cs typeface="Verdana"/>
              </a:rPr>
              <a:t>Và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tần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số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f</a:t>
            </a:r>
            <a:endParaRPr sz="1700">
              <a:latin typeface="Verdana"/>
              <a:cs typeface="Verdana"/>
            </a:endParaRPr>
          </a:p>
          <a:p>
            <a:pPr marL="927100">
              <a:spcBef>
                <a:spcPts val="409"/>
              </a:spcBef>
            </a:pPr>
            <a:r>
              <a:rPr sz="1700" spc="-5" dirty="0">
                <a:latin typeface="Verdana"/>
                <a:cs typeface="Verdana"/>
              </a:rPr>
              <a:t>(Tốc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độ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ánh sáng: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c=λf)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1317" y="5102541"/>
            <a:ext cx="6291580" cy="924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98450" indent="-285750"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298450" algn="l"/>
              </a:tabLst>
            </a:pPr>
            <a:r>
              <a:rPr spc="-5" dirty="0">
                <a:latin typeface="Verdana"/>
                <a:cs typeface="Verdana"/>
              </a:rPr>
              <a:t>từ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góc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nhìn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nghệ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thuật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và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cuộc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sống</a:t>
            </a:r>
            <a:endParaRPr>
              <a:latin typeface="Verdana"/>
              <a:cs typeface="Verdana"/>
            </a:endParaRPr>
          </a:p>
          <a:p>
            <a:pPr marL="698500" marR="5080" indent="-228600">
              <a:spcBef>
                <a:spcPts val="405"/>
              </a:spcBef>
            </a:pPr>
            <a:r>
              <a:rPr sz="1700" spc="-5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700" spc="-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Verdana"/>
                <a:cs typeface="Verdana"/>
              </a:rPr>
              <a:t>Màu là </a:t>
            </a:r>
            <a:r>
              <a:rPr sz="1700" dirty="0">
                <a:latin typeface="Verdana"/>
                <a:cs typeface="Verdana"/>
              </a:rPr>
              <a:t>tổ </a:t>
            </a:r>
            <a:r>
              <a:rPr sz="1700" spc="-5" dirty="0">
                <a:latin typeface="Verdana"/>
                <a:cs typeface="Verdana"/>
              </a:rPr>
              <a:t>hợp của Hue </a:t>
            </a:r>
            <a:r>
              <a:rPr sz="1700" spc="-10" dirty="0">
                <a:latin typeface="Verdana"/>
                <a:cs typeface="Verdana"/>
              </a:rPr>
              <a:t>(sắc), </a:t>
            </a:r>
            <a:r>
              <a:rPr sz="1700" spc="-5" dirty="0">
                <a:latin typeface="Verdana"/>
                <a:cs typeface="Verdana"/>
              </a:rPr>
              <a:t>Brightness (độ sáng),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saturation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(sự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bão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hòa)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của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ánh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sáng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3701" y="3429000"/>
            <a:ext cx="3040379" cy="161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4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83780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Mô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hình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 &amp;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Không gian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5523" y="2171792"/>
            <a:ext cx="8904986" cy="338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3820" indent="-343535">
              <a:lnSpc>
                <a:spcPct val="11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dirty="0">
                <a:latin typeface="Verdana"/>
                <a:cs typeface="Verdana"/>
              </a:rPr>
              <a:t>Mô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hình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</a:t>
            </a:r>
            <a:r>
              <a:rPr spc="-5" dirty="0">
                <a:latin typeface="Verdana"/>
                <a:cs typeface="Verdana"/>
              </a:rPr>
              <a:t> là phương pháp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diễn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giải</a:t>
            </a:r>
            <a:r>
              <a:rPr dirty="0">
                <a:latin typeface="Verdana"/>
                <a:cs typeface="Verdana"/>
              </a:rPr>
              <a:t> các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đặc tính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và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tác động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của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 </a:t>
            </a:r>
            <a:r>
              <a:rPr spc="-5" dirty="0">
                <a:latin typeface="Verdana"/>
                <a:cs typeface="Verdana"/>
              </a:rPr>
              <a:t>trong </a:t>
            </a:r>
            <a:r>
              <a:rPr dirty="0">
                <a:latin typeface="Verdana"/>
                <a:cs typeface="Verdana"/>
              </a:rPr>
              <a:t>ngữ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cảnh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nhất</a:t>
            </a:r>
            <a:r>
              <a:rPr spc="-5" dirty="0">
                <a:latin typeface="Verdana"/>
                <a:cs typeface="Verdana"/>
              </a:rPr>
              <a:t> định</a:t>
            </a:r>
            <a:endParaRPr>
              <a:latin typeface="Verdana"/>
              <a:cs typeface="Verdana"/>
            </a:endParaRPr>
          </a:p>
          <a:p>
            <a:pPr marL="355600" marR="419734" indent="-343535">
              <a:lnSpc>
                <a:spcPct val="11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dirty="0">
                <a:latin typeface="Verdana"/>
                <a:cs typeface="Verdana"/>
              </a:rPr>
              <a:t>Không có mô hình màu nào </a:t>
            </a:r>
            <a:r>
              <a:rPr spc="-5" dirty="0">
                <a:latin typeface="Verdana"/>
                <a:cs typeface="Verdana"/>
              </a:rPr>
              <a:t>là đầy đủ </a:t>
            </a:r>
            <a:r>
              <a:rPr dirty="0">
                <a:latin typeface="Verdana"/>
                <a:cs typeface="Verdana"/>
              </a:rPr>
              <a:t>cho mọi khía </a:t>
            </a:r>
            <a:r>
              <a:rPr spc="-5" dirty="0">
                <a:latin typeface="Verdana"/>
                <a:cs typeface="Verdana"/>
              </a:rPr>
              <a:t>cạnh của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</a:t>
            </a:r>
            <a:endParaRPr>
              <a:latin typeface="Verdana"/>
              <a:cs typeface="Verdana"/>
            </a:endParaRPr>
          </a:p>
          <a:p>
            <a:pPr marL="755650" marR="78740" lvl="1" indent="-285750">
              <a:lnSpc>
                <a:spcPct val="110000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dirty="0">
                <a:latin typeface="Verdana"/>
                <a:cs typeface="Verdana"/>
              </a:rPr>
              <a:t>sử </a:t>
            </a:r>
            <a:r>
              <a:rPr spc="-5" dirty="0">
                <a:latin typeface="Verdana"/>
                <a:cs typeface="Verdana"/>
              </a:rPr>
              <a:t>dụng </a:t>
            </a:r>
            <a:r>
              <a:rPr dirty="0">
                <a:latin typeface="Verdana"/>
                <a:cs typeface="Verdana"/>
              </a:rPr>
              <a:t>các mô hình màu khác nhau </a:t>
            </a:r>
            <a:r>
              <a:rPr spc="-5" dirty="0">
                <a:latin typeface="Verdana"/>
                <a:cs typeface="Verdana"/>
              </a:rPr>
              <a:t>để </a:t>
            </a:r>
            <a:r>
              <a:rPr dirty="0">
                <a:latin typeface="Verdana"/>
                <a:cs typeface="Verdana"/>
              </a:rPr>
              <a:t>mô </a:t>
            </a:r>
            <a:r>
              <a:rPr spc="-5" dirty="0">
                <a:latin typeface="Verdana"/>
                <a:cs typeface="Verdana"/>
              </a:rPr>
              <a:t>tả </a:t>
            </a:r>
            <a:r>
              <a:rPr dirty="0">
                <a:latin typeface="Verdana"/>
                <a:cs typeface="Verdana"/>
              </a:rPr>
              <a:t>các </a:t>
            </a:r>
            <a:r>
              <a:rPr spc="-5" dirty="0">
                <a:latin typeface="Verdana"/>
                <a:cs typeface="Verdana"/>
              </a:rPr>
              <a:t>tính </a:t>
            </a:r>
            <a:r>
              <a:rPr dirty="0">
                <a:latin typeface="Verdana"/>
                <a:cs typeface="Verdana"/>
              </a:rPr>
              <a:t>chất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được </a:t>
            </a:r>
            <a:r>
              <a:rPr dirty="0">
                <a:latin typeface="Verdana"/>
                <a:cs typeface="Verdana"/>
              </a:rPr>
              <a:t>nhận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biết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khác nhau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của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màu</a:t>
            </a:r>
            <a:endParaRPr>
              <a:latin typeface="Verdana"/>
              <a:cs typeface="Verdana"/>
            </a:endParaRPr>
          </a:p>
          <a:p>
            <a:pPr marL="355600" indent="-343535">
              <a:spcBef>
                <a:spcPts val="65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dirty="0">
                <a:latin typeface="Verdana"/>
                <a:cs typeface="Verdana"/>
              </a:rPr>
              <a:t>Mỗi mô</a:t>
            </a:r>
            <a:r>
              <a:rPr spc="-5" dirty="0">
                <a:latin typeface="Verdana"/>
                <a:cs typeface="Verdana"/>
              </a:rPr>
              <a:t> hình</a:t>
            </a:r>
            <a:r>
              <a:rPr dirty="0">
                <a:latin typeface="Verdana"/>
                <a:cs typeface="Verdana"/>
              </a:rPr>
              <a:t> màu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được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biểu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diễn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trong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một</a:t>
            </a:r>
            <a:r>
              <a:rPr dirty="0">
                <a:latin typeface="Verdana"/>
                <a:cs typeface="Verdana"/>
              </a:rPr>
              <a:t> không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gian </a:t>
            </a:r>
            <a:r>
              <a:rPr dirty="0">
                <a:latin typeface="Verdana"/>
                <a:cs typeface="Verdana"/>
              </a:rPr>
              <a:t>màu</a:t>
            </a:r>
            <a:r>
              <a:rPr spc="-5" dirty="0">
                <a:latin typeface="Verdana"/>
                <a:cs typeface="Verdana"/>
              </a:rPr>
              <a:t> sắc</a:t>
            </a:r>
            <a:endParaRPr>
              <a:latin typeface="Verdana"/>
              <a:cs typeface="Verdana"/>
            </a:endParaRPr>
          </a:p>
          <a:p>
            <a:pPr marL="755650" marR="319405" lvl="1" indent="-285750">
              <a:lnSpc>
                <a:spcPct val="110000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dirty="0">
                <a:latin typeface="Verdana"/>
                <a:cs typeface="Verdana"/>
              </a:rPr>
              <a:t>Không </a:t>
            </a:r>
            <a:r>
              <a:rPr spc="-5" dirty="0">
                <a:latin typeface="Verdana"/>
                <a:cs typeface="Verdana"/>
              </a:rPr>
              <a:t>gian RGB: </a:t>
            </a:r>
            <a:r>
              <a:rPr dirty="0">
                <a:latin typeface="Verdana"/>
                <a:cs typeface="Verdana"/>
              </a:rPr>
              <a:t>ánh </a:t>
            </a:r>
            <a:r>
              <a:rPr spc="-5" dirty="0">
                <a:latin typeface="Verdana"/>
                <a:cs typeface="Verdana"/>
              </a:rPr>
              <a:t>sáng </a:t>
            </a:r>
            <a:r>
              <a:rPr spc="-5" dirty="0">
                <a:solidFill>
                  <a:srgbClr val="FF0000"/>
                </a:solidFill>
                <a:latin typeface="Verdana"/>
                <a:cs typeface="Verdana"/>
              </a:rPr>
              <a:t>Red</a:t>
            </a:r>
            <a:r>
              <a:rPr spc="-5" dirty="0">
                <a:latin typeface="Verdana"/>
                <a:cs typeface="Verdana"/>
              </a:rPr>
              <a:t>, </a:t>
            </a:r>
            <a:r>
              <a:rPr spc="-5" dirty="0">
                <a:solidFill>
                  <a:srgbClr val="00FF00"/>
                </a:solidFill>
                <a:latin typeface="Verdana"/>
                <a:cs typeface="Verdana"/>
              </a:rPr>
              <a:t>Green</a:t>
            </a:r>
            <a:r>
              <a:rPr spc="-5" dirty="0">
                <a:latin typeface="Verdana"/>
                <a:cs typeface="Verdana"/>
              </a:rPr>
              <a:t>, </a:t>
            </a:r>
            <a:r>
              <a:rPr dirty="0">
                <a:latin typeface="Verdana"/>
                <a:cs typeface="Verdana"/>
              </a:rPr>
              <a:t>và </a:t>
            </a:r>
            <a:r>
              <a:rPr dirty="0">
                <a:solidFill>
                  <a:srgbClr val="0000FF"/>
                </a:solidFill>
                <a:latin typeface="Verdana"/>
                <a:cs typeface="Verdana"/>
              </a:rPr>
              <a:t>Blue </a:t>
            </a:r>
            <a:r>
              <a:rPr dirty="0">
                <a:latin typeface="Verdana"/>
                <a:cs typeface="Verdana"/>
              </a:rPr>
              <a:t>ứng </a:t>
            </a:r>
            <a:r>
              <a:rPr spc="-5" dirty="0">
                <a:latin typeface="Verdana"/>
                <a:cs typeface="Verdana"/>
              </a:rPr>
              <a:t>dụng </a:t>
            </a:r>
            <a:r>
              <a:rPr spc="-6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cho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màn hình, </a:t>
            </a:r>
            <a:r>
              <a:rPr spc="-5" dirty="0">
                <a:latin typeface="Verdana"/>
                <a:cs typeface="Verdana"/>
              </a:rPr>
              <a:t>TV.</a:t>
            </a:r>
            <a:endParaRPr>
              <a:latin typeface="Verdana"/>
              <a:cs typeface="Verdana"/>
            </a:endParaRPr>
          </a:p>
          <a:p>
            <a:pPr marL="755650" lvl="1" indent="-286385">
              <a:spcBef>
                <a:spcPts val="64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dirty="0">
                <a:latin typeface="Verdana"/>
                <a:cs typeface="Verdana"/>
              </a:rPr>
              <a:t>Không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gian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CMYK: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máy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in</a:t>
            </a:r>
            <a:endParaRPr>
              <a:latin typeface="Verdana"/>
              <a:cs typeface="Verdana"/>
            </a:endParaRPr>
          </a:p>
          <a:p>
            <a:pPr marL="755650" lvl="1" indent="-286385">
              <a:spcBef>
                <a:spcPts val="650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dirty="0">
                <a:latin typeface="Verdana"/>
                <a:cs typeface="Verdana"/>
              </a:rPr>
              <a:t>Không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gian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HSV: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nhận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thức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con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người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9030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83780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Mô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hình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 &amp;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Không gian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32250"/>
            <a:ext cx="9098950" cy="396367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3535">
              <a:spcBef>
                <a:spcPts val="50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Ánh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sáng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có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thể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hình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thành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từ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hai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hay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nhiều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nguồn</a:t>
            </a:r>
            <a:endParaRPr sz="1700">
              <a:latin typeface="Verdana"/>
              <a:cs typeface="Verdana"/>
            </a:endParaRPr>
          </a:p>
          <a:p>
            <a:pPr marL="755650" marR="43815" lvl="1" indent="-285750">
              <a:spcBef>
                <a:spcPts val="365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  <a:tab pos="756285" algn="l"/>
              </a:tabLst>
            </a:pPr>
            <a:r>
              <a:rPr sz="1500" dirty="0">
                <a:latin typeface="Verdana"/>
                <a:cs typeface="Verdana"/>
              </a:rPr>
              <a:t>Lựa </a:t>
            </a:r>
            <a:r>
              <a:rPr sz="1500" spc="-5" dirty="0">
                <a:latin typeface="Verdana"/>
                <a:cs typeface="Verdana"/>
              </a:rPr>
              <a:t>chọn </a:t>
            </a:r>
            <a:r>
              <a:rPr sz="1500" dirty="0">
                <a:latin typeface="Verdana"/>
                <a:cs typeface="Verdana"/>
              </a:rPr>
              <a:t>cường </a:t>
            </a:r>
            <a:r>
              <a:rPr sz="1500" spc="-5" dirty="0">
                <a:latin typeface="Verdana"/>
                <a:cs typeface="Verdana"/>
              </a:rPr>
              <a:t>độ phù </a:t>
            </a:r>
            <a:r>
              <a:rPr sz="1500" dirty="0">
                <a:latin typeface="Verdana"/>
                <a:cs typeface="Verdana"/>
              </a:rPr>
              <a:t>hợp cho hai nguồn màu khác </a:t>
            </a:r>
            <a:r>
              <a:rPr sz="1500" spc="-5" dirty="0">
                <a:latin typeface="Verdana"/>
                <a:cs typeface="Verdana"/>
              </a:rPr>
              <a:t>nhau </a:t>
            </a:r>
            <a:r>
              <a:rPr sz="1500" dirty="0">
                <a:latin typeface="Verdana"/>
                <a:cs typeface="Verdana"/>
              </a:rPr>
              <a:t>sẽ </a:t>
            </a:r>
            <a:r>
              <a:rPr sz="1500" spc="-5" dirty="0">
                <a:latin typeface="Verdana"/>
                <a:cs typeface="Verdana"/>
              </a:rPr>
              <a:t>hình thành </a:t>
            </a:r>
            <a:r>
              <a:rPr sz="1500" spc="-5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được</a:t>
            </a:r>
            <a:r>
              <a:rPr sz="1500" dirty="0">
                <a:latin typeface="Verdana"/>
                <a:cs typeface="Verdana"/>
              </a:rPr>
              <a:t> các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màu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khác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nhau.</a:t>
            </a:r>
            <a:endParaRPr sz="1500">
              <a:latin typeface="Verdana"/>
              <a:cs typeface="Verdana"/>
            </a:endParaRPr>
          </a:p>
          <a:p>
            <a:pPr marL="355600" marR="1670685" indent="-343535">
              <a:spcBef>
                <a:spcPts val="40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Nếu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tổ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hợp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2 nguồn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để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có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trắng</a:t>
            </a:r>
            <a:r>
              <a:rPr sz="1700" spc="2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-&gt; gọi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chúng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là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complementary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colors.</a:t>
            </a:r>
            <a:endParaRPr sz="1700">
              <a:latin typeface="Verdana"/>
              <a:cs typeface="Verdana"/>
            </a:endParaRPr>
          </a:p>
          <a:p>
            <a:pPr marL="755650" lvl="1" indent="-286385"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  <a:tab pos="756285" algn="l"/>
              </a:tabLst>
            </a:pPr>
            <a:r>
              <a:rPr sz="1500" dirty="0">
                <a:latin typeface="Verdana"/>
                <a:cs typeface="Verdana"/>
              </a:rPr>
              <a:t>Ví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dụ: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Red+Cyan,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Green+Magenta,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Blue+Yellow</a:t>
            </a:r>
            <a:endParaRPr sz="1500">
              <a:latin typeface="Verdana"/>
              <a:cs typeface="Verdana"/>
            </a:endParaRPr>
          </a:p>
          <a:p>
            <a:pPr marL="355600" marR="5080" indent="-343535">
              <a:spcBef>
                <a:spcPts val="409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Mô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hình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được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sử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dụng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để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mô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tả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tổ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hợp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ba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colors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để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có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dải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(gamut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-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gam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màu)</a:t>
            </a:r>
            <a:endParaRPr sz="1700">
              <a:latin typeface="Verdana"/>
              <a:cs typeface="Verdana"/>
            </a:endParaRPr>
          </a:p>
          <a:p>
            <a:pPr marL="355600" marR="313690" indent="-343535">
              <a:spcBef>
                <a:spcPts val="409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Hai hay ba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được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sử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dụng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để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mô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tả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khác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được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gọi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là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primary</a:t>
            </a:r>
            <a:r>
              <a:rPr sz="1700" spc="-5" dirty="0">
                <a:latin typeface="Verdana"/>
                <a:cs typeface="Verdana"/>
              </a:rPr>
              <a:t> colors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(đây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chính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là cơ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sở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của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không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gian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màu).</a:t>
            </a:r>
            <a:endParaRPr sz="1700">
              <a:latin typeface="Verdana"/>
              <a:cs typeface="Verdana"/>
            </a:endParaRPr>
          </a:p>
          <a:p>
            <a:pPr marL="355600" marR="329565" indent="-343535">
              <a:spcBef>
                <a:spcPts val="40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Thực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tế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là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số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primary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colors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là không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có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giới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hạn.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Tuy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nhiên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chỉ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3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 cơ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sở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đã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đủ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cho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phần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lớn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ứng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dụng.</a:t>
            </a:r>
            <a:endParaRPr sz="1700">
              <a:latin typeface="Verdana"/>
              <a:cs typeface="Verdana"/>
            </a:endParaRPr>
          </a:p>
          <a:p>
            <a:pPr marL="355600" marR="495300" indent="-343535">
              <a:spcBef>
                <a:spcPts val="409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Mô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hình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được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sử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dụng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để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biểu diễn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duy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nhất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trong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hệ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thống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ba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hay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nhiều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chiều.</a:t>
            </a:r>
            <a:endParaRPr sz="17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7454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941325"/>
            <a:ext cx="7053580" cy="54419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3400" spc="-5" dirty="0">
                <a:latin typeface="Verdana"/>
                <a:cs typeface="Verdana"/>
              </a:rPr>
              <a:t>Định</a:t>
            </a:r>
            <a:r>
              <a:rPr sz="3400" spc="-1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lý</a:t>
            </a:r>
            <a:r>
              <a:rPr sz="3400" dirty="0">
                <a:latin typeface="Verdana"/>
                <a:cs typeface="Verdana"/>
              </a:rPr>
              <a:t> cơ</a:t>
            </a:r>
            <a:r>
              <a:rPr sz="3400" spc="-5" dirty="0">
                <a:latin typeface="Verdana"/>
                <a:cs typeface="Verdana"/>
              </a:rPr>
              <a:t> bản</a:t>
            </a:r>
            <a:r>
              <a:rPr sz="3400" spc="-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về</a:t>
            </a:r>
            <a:r>
              <a:rPr sz="3400" spc="-5" dirty="0">
                <a:latin typeface="Verdana"/>
                <a:cs typeface="Verdana"/>
              </a:rPr>
              <a:t> biểu diễn</a:t>
            </a:r>
            <a:r>
              <a:rPr sz="3400" spc="-2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màu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04034"/>
            <a:ext cx="7600315" cy="39090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725930">
              <a:spcBef>
                <a:spcPts val="409"/>
              </a:spcBef>
            </a:pPr>
            <a:r>
              <a:rPr sz="2600" b="1" spc="-5" dirty="0">
                <a:latin typeface="Verdana"/>
                <a:cs typeface="Verdana"/>
              </a:rPr>
              <a:t>Định</a:t>
            </a:r>
            <a:r>
              <a:rPr sz="2600" b="1" spc="-25" dirty="0">
                <a:latin typeface="Verdana"/>
                <a:cs typeface="Verdana"/>
              </a:rPr>
              <a:t> </a:t>
            </a:r>
            <a:r>
              <a:rPr sz="2600" b="1" spc="-5" dirty="0">
                <a:latin typeface="Verdana"/>
                <a:cs typeface="Verdana"/>
              </a:rPr>
              <a:t>lý</a:t>
            </a:r>
            <a:r>
              <a:rPr sz="2600" b="1" spc="-15" dirty="0">
                <a:latin typeface="Verdana"/>
                <a:cs typeface="Verdana"/>
              </a:rPr>
              <a:t> </a:t>
            </a:r>
            <a:r>
              <a:rPr sz="2600" b="1" spc="-10" dirty="0">
                <a:latin typeface="Verdana"/>
                <a:cs typeface="Verdana"/>
              </a:rPr>
              <a:t>Gassman(1853)</a:t>
            </a:r>
            <a:endParaRPr sz="2600">
              <a:latin typeface="Verdana"/>
              <a:cs typeface="Verdana"/>
            </a:endParaRPr>
          </a:p>
          <a:p>
            <a:pPr marL="508000" marR="5080" indent="-495934">
              <a:lnSpc>
                <a:spcPts val="2810"/>
              </a:lnSpc>
              <a:spcBef>
                <a:spcPts val="665"/>
              </a:spcBef>
              <a:buClr>
                <a:srgbClr val="CC0000"/>
              </a:buClr>
              <a:buAutoNum type="arabicPeriod"/>
              <a:tabLst>
                <a:tab pos="508634" algn="l"/>
              </a:tabLst>
            </a:pPr>
            <a:r>
              <a:rPr sz="2600" spc="-5" dirty="0">
                <a:latin typeface="Verdana"/>
                <a:cs typeface="Verdana"/>
              </a:rPr>
              <a:t>Để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biểu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diễn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một màu bất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kỳ cần ít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nhất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3 </a:t>
            </a:r>
            <a:r>
              <a:rPr sz="2600" spc="-894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thành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phần</a:t>
            </a:r>
            <a:endParaRPr sz="2600">
              <a:latin typeface="Verdana"/>
              <a:cs typeface="Verdana"/>
            </a:endParaRPr>
          </a:p>
          <a:p>
            <a:pPr marL="508000" marR="202565" indent="-495934">
              <a:lnSpc>
                <a:spcPct val="90000"/>
              </a:lnSpc>
              <a:spcBef>
                <a:spcPts val="580"/>
              </a:spcBef>
              <a:buClr>
                <a:srgbClr val="CC0000"/>
              </a:buClr>
              <a:buAutoNum type="arabicPeriod"/>
              <a:tabLst>
                <a:tab pos="508634" algn="l"/>
              </a:tabLst>
            </a:pPr>
            <a:r>
              <a:rPr sz="2600" spc="-10" dirty="0">
                <a:latin typeface="Verdana"/>
                <a:cs typeface="Verdana"/>
              </a:rPr>
              <a:t>Trong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tổ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hợp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3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thành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phần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của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màu,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nếu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thay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đổi liên tục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một </a:t>
            </a:r>
            <a:r>
              <a:rPr sz="2600" spc="-10" dirty="0">
                <a:latin typeface="Verdana"/>
                <a:cs typeface="Verdana"/>
              </a:rPr>
              <a:t>thành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phần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và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giữ </a:t>
            </a:r>
            <a:r>
              <a:rPr sz="2600" spc="-5" dirty="0">
                <a:latin typeface="Verdana"/>
                <a:cs typeface="Verdana"/>
              </a:rPr>
              <a:t> nguyên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hai</a:t>
            </a:r>
            <a:r>
              <a:rPr sz="2600" spc="-5" dirty="0">
                <a:latin typeface="Verdana"/>
                <a:cs typeface="Verdana"/>
              </a:rPr>
              <a:t> thành phần</a:t>
            </a:r>
            <a:r>
              <a:rPr sz="2600" dirty="0">
                <a:latin typeface="Verdana"/>
                <a:cs typeface="Verdana"/>
              </a:rPr>
              <a:t> còn</a:t>
            </a:r>
            <a:r>
              <a:rPr sz="2600" spc="-5" dirty="0">
                <a:latin typeface="Verdana"/>
                <a:cs typeface="Verdana"/>
              </a:rPr>
              <a:t> lại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thì màu tổ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hợp </a:t>
            </a:r>
            <a:r>
              <a:rPr sz="2600" dirty="0">
                <a:latin typeface="Verdana"/>
                <a:cs typeface="Verdana"/>
              </a:rPr>
              <a:t>cũng </a:t>
            </a:r>
            <a:r>
              <a:rPr sz="2600" spc="-5" dirty="0">
                <a:latin typeface="Verdana"/>
                <a:cs typeface="Verdana"/>
              </a:rPr>
              <a:t>biến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đổi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liên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tục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theo</a:t>
            </a:r>
            <a:endParaRPr sz="2600">
              <a:latin typeface="Verdana"/>
              <a:cs typeface="Verdana"/>
            </a:endParaRPr>
          </a:p>
          <a:p>
            <a:pPr marL="508000" marR="417195" indent="-495934">
              <a:lnSpc>
                <a:spcPts val="2810"/>
              </a:lnSpc>
              <a:spcBef>
                <a:spcPts val="665"/>
              </a:spcBef>
              <a:buClr>
                <a:srgbClr val="CC0000"/>
              </a:buClr>
              <a:buAutoNum type="arabicPeriod"/>
              <a:tabLst>
                <a:tab pos="508634" algn="l"/>
              </a:tabLst>
            </a:pPr>
            <a:r>
              <a:rPr sz="2600" spc="-5" dirty="0">
                <a:latin typeface="Verdana"/>
                <a:cs typeface="Verdana"/>
              </a:rPr>
              <a:t>Màu tổ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hợp</a:t>
            </a:r>
            <a:r>
              <a:rPr sz="2600" dirty="0">
                <a:latin typeface="Verdana"/>
                <a:cs typeface="Verdana"/>
              </a:rPr>
              <a:t> chỉ </a:t>
            </a:r>
            <a:r>
              <a:rPr sz="2600" spc="-5" dirty="0">
                <a:latin typeface="Verdana"/>
                <a:cs typeface="Verdana"/>
              </a:rPr>
              <a:t>phụ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thuộc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vào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các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thành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phần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tạo nên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mà không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phụ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thuộc</a:t>
            </a:r>
            <a:r>
              <a:rPr sz="2600" spc="-5" dirty="0">
                <a:latin typeface="Verdana"/>
                <a:cs typeface="Verdana"/>
              </a:rPr>
              <a:t> vào 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cách thức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tạo nên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các</a:t>
            </a:r>
            <a:r>
              <a:rPr sz="2600" spc="-10" dirty="0">
                <a:latin typeface="Verdana"/>
                <a:cs typeface="Verdana"/>
              </a:rPr>
              <a:t> thành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phần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đó</a:t>
            </a:r>
            <a:endParaRPr sz="26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6386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520573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Không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gian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RGB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25035"/>
            <a:ext cx="9311386" cy="355663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indent="-343535">
              <a:spcBef>
                <a:spcPts val="56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900" dirty="0">
                <a:latin typeface="Verdana"/>
                <a:cs typeface="Verdana"/>
              </a:rPr>
              <a:t>Biểu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diễn RGB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thuộc</a:t>
            </a:r>
            <a:r>
              <a:rPr sz="1900" spc="-3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mô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hình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cộng:</a:t>
            </a:r>
            <a:endParaRPr sz="1900">
              <a:latin typeface="Verdana"/>
              <a:cs typeface="Verdana"/>
            </a:endParaRPr>
          </a:p>
          <a:p>
            <a:pPr marL="755650" lvl="1" indent="-286385">
              <a:spcBef>
                <a:spcPts val="40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5" dirty="0">
                <a:latin typeface="Verdana"/>
                <a:cs typeface="Verdana"/>
              </a:rPr>
              <a:t>Phát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sinh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mới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bằng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cách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cộng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cường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độ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cơ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sở</a:t>
            </a:r>
            <a:endParaRPr sz="1700">
              <a:latin typeface="Verdana"/>
              <a:cs typeface="Verdana"/>
            </a:endParaRPr>
          </a:p>
          <a:p>
            <a:pPr marL="355600" indent="-343535">
              <a:spcBef>
                <a:spcPts val="45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900" spc="-5" dirty="0">
                <a:latin typeface="Verdana"/>
                <a:cs typeface="Verdana"/>
              </a:rPr>
              <a:t>Gán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giá</a:t>
            </a:r>
            <a:r>
              <a:rPr sz="1900" spc="-1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trị từ</a:t>
            </a:r>
            <a:r>
              <a:rPr sz="1900" spc="-1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0</a:t>
            </a:r>
            <a:r>
              <a:rPr sz="1900" spc="-5" dirty="0">
                <a:latin typeface="Verdana"/>
                <a:cs typeface="Verdana"/>
              </a:rPr>
              <a:t> đến </a:t>
            </a:r>
            <a:r>
              <a:rPr sz="1900" dirty="0">
                <a:latin typeface="Verdana"/>
                <a:cs typeface="Verdana"/>
              </a:rPr>
              <a:t>1</a:t>
            </a:r>
            <a:r>
              <a:rPr sz="1900" spc="-1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cho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R,</a:t>
            </a:r>
            <a:r>
              <a:rPr sz="1900" spc="-1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G,</a:t>
            </a:r>
            <a:r>
              <a:rPr sz="1900" spc="-1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B</a:t>
            </a:r>
            <a:endParaRPr sz="1900">
              <a:latin typeface="Verdana"/>
              <a:cs typeface="Verdana"/>
            </a:endParaRPr>
          </a:p>
          <a:p>
            <a:pPr marL="755650" lvl="1" indent="-286385">
              <a:spcBef>
                <a:spcPts val="40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5" dirty="0">
                <a:latin typeface="Verdana"/>
                <a:cs typeface="Verdana"/>
              </a:rPr>
              <a:t>Red+Blue -&gt;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Magenta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(1,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0,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1)</a:t>
            </a:r>
            <a:endParaRPr sz="1700">
              <a:latin typeface="Verdana"/>
              <a:cs typeface="Verdana"/>
            </a:endParaRPr>
          </a:p>
          <a:p>
            <a:pPr marL="755650" lvl="1" indent="-286385">
              <a:spcBef>
                <a:spcPts val="40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10" dirty="0">
                <a:latin typeface="Verdana"/>
                <a:cs typeface="Verdana"/>
              </a:rPr>
              <a:t>Đường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chéo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từ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(0, 0,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0)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đến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(1, 1,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1)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biểu diễn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màu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xám</a:t>
            </a:r>
            <a:endParaRPr sz="1700">
              <a:latin typeface="Verdana"/>
              <a:cs typeface="Verdana"/>
            </a:endParaRPr>
          </a:p>
          <a:p>
            <a:pPr marL="355600" indent="-343535">
              <a:spcBef>
                <a:spcPts val="45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900" spc="-5" dirty="0">
                <a:latin typeface="Verdana"/>
                <a:cs typeface="Verdana"/>
              </a:rPr>
              <a:t>Nhận</a:t>
            </a:r>
            <a:r>
              <a:rPr sz="1900" spc="-6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xét</a:t>
            </a:r>
            <a:endParaRPr sz="1900">
              <a:latin typeface="Verdana"/>
              <a:cs typeface="Verdana"/>
            </a:endParaRPr>
          </a:p>
          <a:p>
            <a:pPr marL="755650" lvl="1" indent="-286385">
              <a:spcBef>
                <a:spcPts val="40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dirty="0">
                <a:latin typeface="Verdana"/>
                <a:cs typeface="Verdana"/>
              </a:rPr>
              <a:t>Mô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hình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này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không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thể biểu diễn </a:t>
            </a:r>
            <a:r>
              <a:rPr sz="1700" dirty="0">
                <a:latin typeface="Verdana"/>
                <a:cs typeface="Verdana"/>
              </a:rPr>
              <a:t>mọi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màu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trong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phổ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nhìn</a:t>
            </a:r>
            <a:r>
              <a:rPr sz="1700" spc="-5" dirty="0">
                <a:latin typeface="Verdana"/>
                <a:cs typeface="Verdana"/>
              </a:rPr>
              <a:t> thấy</a:t>
            </a:r>
            <a:endParaRPr sz="1700">
              <a:latin typeface="Verdana"/>
              <a:cs typeface="Verdana"/>
            </a:endParaRPr>
          </a:p>
          <a:p>
            <a:pPr marL="755650" lvl="1" indent="-286385">
              <a:spcBef>
                <a:spcPts val="40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5" dirty="0">
                <a:latin typeface="Verdana"/>
                <a:cs typeface="Verdana"/>
              </a:rPr>
              <a:t>đủ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cho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ứng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dụng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máy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tính</a:t>
            </a:r>
            <a:endParaRPr sz="1700">
              <a:latin typeface="Verdana"/>
              <a:cs typeface="Verdana"/>
            </a:endParaRPr>
          </a:p>
          <a:p>
            <a:pPr marL="755650" lvl="1" indent="-286385">
              <a:spcBef>
                <a:spcPts val="40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5" dirty="0">
                <a:latin typeface="Verdana"/>
                <a:cs typeface="Verdana"/>
              </a:rPr>
              <a:t>Màn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hình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máy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tính và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TV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sử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dụng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mô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hình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này</a:t>
            </a:r>
            <a:endParaRPr sz="1700">
              <a:latin typeface="Verdana"/>
              <a:cs typeface="Verdana"/>
            </a:endParaRPr>
          </a:p>
          <a:p>
            <a:pPr marL="755650" lvl="1" indent="-286385">
              <a:spcBef>
                <a:spcPts val="40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5" dirty="0">
                <a:latin typeface="Verdana"/>
                <a:cs typeface="Verdana"/>
              </a:rPr>
              <a:t>Được sử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dụng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rộng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rãi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nhất</a:t>
            </a:r>
            <a:endParaRPr sz="1700">
              <a:latin typeface="Verdana"/>
              <a:cs typeface="Verdana"/>
            </a:endParaRPr>
          </a:p>
          <a:p>
            <a:pPr marL="755650" lvl="1" indent="-286385">
              <a:spcBef>
                <a:spcPts val="40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1700" spc="-5" dirty="0">
                <a:latin typeface="Verdana"/>
                <a:cs typeface="Verdana"/>
              </a:rPr>
              <a:t>Đơn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giản</a:t>
            </a:r>
            <a:endParaRPr sz="17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96645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77542" y="423164"/>
            <a:ext cx="7573009" cy="106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3400" dirty="0">
                <a:latin typeface="Verdana"/>
                <a:cs typeface="Verdana"/>
              </a:rPr>
              <a:t>Màu</a:t>
            </a:r>
            <a:r>
              <a:rPr sz="3400" spc="-2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và</a:t>
            </a:r>
            <a:r>
              <a:rPr sz="3400" spc="-1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các</a:t>
            </a:r>
            <a:r>
              <a:rPr sz="3400" spc="-5" dirty="0">
                <a:latin typeface="Verdana"/>
                <a:cs typeface="Verdana"/>
              </a:rPr>
              <a:t> giá</a:t>
            </a:r>
            <a:r>
              <a:rPr sz="3400" spc="-2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trị tương</a:t>
            </a:r>
            <a:r>
              <a:rPr sz="3400" spc="-3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ứng</a:t>
            </a:r>
            <a:r>
              <a:rPr sz="3400" spc="-20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trong </a:t>
            </a:r>
            <a:r>
              <a:rPr sz="3400" spc="-118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không</a:t>
            </a:r>
            <a:r>
              <a:rPr sz="3400" spc="-1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gian</a:t>
            </a:r>
            <a:r>
              <a:rPr sz="3400" spc="-1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RGB</a:t>
            </a:r>
            <a:endParaRPr sz="34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08276" y="1916429"/>
            <a:ext cx="7703820" cy="4033520"/>
            <a:chOff x="684276" y="1916429"/>
            <a:chExt cx="7703820" cy="40335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6" y="1916429"/>
              <a:ext cx="3742944" cy="403326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3628" y="3179825"/>
              <a:ext cx="3744468" cy="271957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12292" y="1887164"/>
            <a:ext cx="3021330" cy="12304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9530" marR="5080" indent="-37465">
              <a:lnSpc>
                <a:spcPts val="4450"/>
              </a:lnSpc>
              <a:spcBef>
                <a:spcPts val="595"/>
              </a:spcBef>
              <a:tabLst>
                <a:tab pos="1263650" algn="l"/>
              </a:tabLst>
            </a:pPr>
            <a:r>
              <a:rPr sz="2950" i="1" spc="355" dirty="0">
                <a:latin typeface="Times New Roman"/>
                <a:cs typeface="Times New Roman"/>
              </a:rPr>
              <a:t>Color	</a:t>
            </a:r>
            <a:r>
              <a:rPr sz="2950" spc="475" dirty="0">
                <a:latin typeface="Symbol"/>
                <a:cs typeface="Symbol"/>
              </a:rPr>
              <a:t></a:t>
            </a:r>
            <a:r>
              <a:rPr sz="2950" spc="-85" dirty="0">
                <a:latin typeface="Times New Roman"/>
                <a:cs typeface="Times New Roman"/>
              </a:rPr>
              <a:t> </a:t>
            </a:r>
            <a:r>
              <a:rPr sz="4050" spc="155" dirty="0">
                <a:latin typeface="Symbol"/>
                <a:cs typeface="Symbol"/>
              </a:rPr>
              <a:t></a:t>
            </a:r>
            <a:r>
              <a:rPr sz="2950" i="1" spc="155" dirty="0">
                <a:latin typeface="Times New Roman"/>
                <a:cs typeface="Times New Roman"/>
              </a:rPr>
              <a:t>x</a:t>
            </a:r>
            <a:r>
              <a:rPr sz="2950" spc="155" dirty="0">
                <a:latin typeface="Times New Roman"/>
                <a:cs typeface="Times New Roman"/>
              </a:rPr>
              <a:t>,</a:t>
            </a:r>
            <a:r>
              <a:rPr sz="2950" spc="40" dirty="0">
                <a:latin typeface="Times New Roman"/>
                <a:cs typeface="Times New Roman"/>
              </a:rPr>
              <a:t> </a:t>
            </a:r>
            <a:r>
              <a:rPr sz="2950" i="1" spc="330" dirty="0">
                <a:latin typeface="Times New Roman"/>
                <a:cs typeface="Times New Roman"/>
              </a:rPr>
              <a:t>y</a:t>
            </a:r>
            <a:r>
              <a:rPr sz="2950" spc="330" dirty="0">
                <a:latin typeface="Times New Roman"/>
                <a:cs typeface="Times New Roman"/>
              </a:rPr>
              <a:t>,</a:t>
            </a:r>
            <a:r>
              <a:rPr sz="2950" spc="-140" dirty="0">
                <a:latin typeface="Times New Roman"/>
                <a:cs typeface="Times New Roman"/>
              </a:rPr>
              <a:t> </a:t>
            </a:r>
            <a:r>
              <a:rPr sz="2950" i="1" spc="215" dirty="0">
                <a:latin typeface="Times New Roman"/>
                <a:cs typeface="Times New Roman"/>
              </a:rPr>
              <a:t>z</a:t>
            </a:r>
            <a:r>
              <a:rPr sz="4050" spc="215" dirty="0">
                <a:latin typeface="Symbol"/>
                <a:cs typeface="Symbol"/>
              </a:rPr>
              <a:t></a:t>
            </a:r>
            <a:r>
              <a:rPr sz="4050" spc="-994" dirty="0">
                <a:latin typeface="Times New Roman"/>
                <a:cs typeface="Times New Roman"/>
              </a:rPr>
              <a:t> </a:t>
            </a:r>
            <a:r>
              <a:rPr sz="2950" i="1" spc="300" dirty="0">
                <a:latin typeface="Times New Roman"/>
                <a:cs typeface="Times New Roman"/>
              </a:rPr>
              <a:t>x</a:t>
            </a:r>
            <a:r>
              <a:rPr sz="2950" spc="300" dirty="0">
                <a:latin typeface="Times New Roman"/>
                <a:cs typeface="Times New Roman"/>
              </a:rPr>
              <a:t>,</a:t>
            </a:r>
            <a:r>
              <a:rPr sz="2950" spc="50" dirty="0">
                <a:latin typeface="Times New Roman"/>
                <a:cs typeface="Times New Roman"/>
              </a:rPr>
              <a:t> </a:t>
            </a:r>
            <a:r>
              <a:rPr sz="2950" i="1" spc="330" dirty="0">
                <a:latin typeface="Times New Roman"/>
                <a:cs typeface="Times New Roman"/>
              </a:rPr>
              <a:t>y</a:t>
            </a:r>
            <a:r>
              <a:rPr sz="2950" spc="330" dirty="0">
                <a:latin typeface="Times New Roman"/>
                <a:cs typeface="Times New Roman"/>
              </a:rPr>
              <a:t>,</a:t>
            </a:r>
            <a:r>
              <a:rPr sz="2950" spc="-114" dirty="0">
                <a:latin typeface="Times New Roman"/>
                <a:cs typeface="Times New Roman"/>
              </a:rPr>
              <a:t> </a:t>
            </a:r>
            <a:r>
              <a:rPr sz="2950" i="1" spc="335" dirty="0">
                <a:latin typeface="Times New Roman"/>
                <a:cs typeface="Times New Roman"/>
              </a:rPr>
              <a:t>z</a:t>
            </a:r>
            <a:r>
              <a:rPr sz="2950" i="1" spc="-180" dirty="0">
                <a:latin typeface="Times New Roman"/>
                <a:cs typeface="Times New Roman"/>
              </a:rPr>
              <a:t> </a:t>
            </a:r>
            <a:r>
              <a:rPr sz="2950" spc="130" dirty="0">
                <a:latin typeface="Symbol"/>
                <a:cs typeface="Symbol"/>
              </a:rPr>
              <a:t></a:t>
            </a:r>
            <a:r>
              <a:rPr sz="4050" spc="130" dirty="0">
                <a:latin typeface="Symbol"/>
                <a:cs typeface="Symbol"/>
              </a:rPr>
              <a:t></a:t>
            </a:r>
            <a:r>
              <a:rPr sz="2950" spc="130" dirty="0">
                <a:latin typeface="Times New Roman"/>
                <a:cs typeface="Times New Roman"/>
              </a:rPr>
              <a:t>0,1</a:t>
            </a:r>
            <a:r>
              <a:rPr sz="4050" spc="130" dirty="0">
                <a:latin typeface="Symbol"/>
                <a:cs typeface="Symbol"/>
              </a:rPr>
              <a:t></a:t>
            </a:r>
            <a:endParaRPr sz="405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78647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54037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Không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gian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CMYK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83589"/>
            <a:ext cx="7821295" cy="389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93065" indent="-343535"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Với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màn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hình: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màu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là tổ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hợp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các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ánh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sáng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phản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xạ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từ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phosphor.</a:t>
            </a:r>
            <a:endParaRPr sz="2600">
              <a:latin typeface="Verdana"/>
              <a:cs typeface="Verdana"/>
            </a:endParaRPr>
          </a:p>
          <a:p>
            <a:pPr marL="355600" marR="675005" indent="-343535"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Với giấy: phủ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chất màu lên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giấy,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mắt </a:t>
            </a:r>
            <a:r>
              <a:rPr sz="2600" spc="-10" dirty="0">
                <a:latin typeface="Verdana"/>
                <a:cs typeface="Verdana"/>
              </a:rPr>
              <a:t>ta </a:t>
            </a:r>
            <a:r>
              <a:rPr sz="2600" spc="-5" dirty="0">
                <a:latin typeface="Verdana"/>
                <a:cs typeface="Verdana"/>
              </a:rPr>
              <a:t> nhận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biết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ánh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sáng phản</a:t>
            </a:r>
            <a:r>
              <a:rPr sz="2600" spc="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xạ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sau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khi chất </a:t>
            </a:r>
            <a:r>
              <a:rPr sz="2600" spc="-894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màu đã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hấp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thụ</a:t>
            </a:r>
            <a:endParaRPr sz="2600">
              <a:latin typeface="Verdana"/>
              <a:cs typeface="Verdana"/>
            </a:endParaRPr>
          </a:p>
          <a:p>
            <a:pPr marL="755650" marR="160655" lvl="1" indent="-285750">
              <a:spcBef>
                <a:spcPts val="53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dirty="0">
                <a:latin typeface="Verdana"/>
                <a:cs typeface="Verdana"/>
              </a:rPr>
              <a:t>Mực </a:t>
            </a:r>
            <a:r>
              <a:rPr sz="2200" spc="-5" dirty="0">
                <a:latin typeface="Verdana"/>
                <a:cs typeface="Verdana"/>
              </a:rPr>
              <a:t>viết </a:t>
            </a:r>
            <a:r>
              <a:rPr sz="2200" dirty="0">
                <a:latin typeface="Verdana"/>
                <a:cs typeface="Verdana"/>
              </a:rPr>
              <a:t>chữ </a:t>
            </a:r>
            <a:r>
              <a:rPr sz="2200" spc="-5" dirty="0">
                <a:latin typeface="Verdana"/>
                <a:cs typeface="Verdana"/>
              </a:rPr>
              <a:t>màu đen </a:t>
            </a:r>
            <a:r>
              <a:rPr sz="2200" dirty="0">
                <a:latin typeface="Verdana"/>
                <a:cs typeface="Verdana"/>
              </a:rPr>
              <a:t>có nghĩa rằng mực </a:t>
            </a:r>
            <a:r>
              <a:rPr sz="2200" spc="-5" dirty="0">
                <a:latin typeface="Verdana"/>
                <a:cs typeface="Verdana"/>
              </a:rPr>
              <a:t>đã </a:t>
            </a:r>
            <a:r>
              <a:rPr sz="2200" dirty="0">
                <a:latin typeface="Verdana"/>
                <a:cs typeface="Verdana"/>
              </a:rPr>
              <a:t>hấp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thụ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toàn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bộ</a:t>
            </a:r>
            <a:r>
              <a:rPr sz="2200" dirty="0">
                <a:latin typeface="Verdana"/>
                <a:cs typeface="Verdana"/>
              </a:rPr>
              <a:t> ánh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sáng nhìn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thấy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trên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nó</a:t>
            </a:r>
            <a:endParaRPr sz="2200">
              <a:latin typeface="Verdana"/>
              <a:cs typeface="Verdana"/>
            </a:endParaRPr>
          </a:p>
          <a:p>
            <a:pPr marL="755650" marR="5080" lvl="1" indent="-285750">
              <a:spcBef>
                <a:spcPts val="52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Những dòng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chữ này có màu 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green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vì 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mực hấp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thụ toàn bộ bước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sóng 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tương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ứng với màu R và B. </a:t>
            </a:r>
            <a:r>
              <a:rPr sz="2200" spc="-760" dirty="0">
                <a:solidFill>
                  <a:srgbClr val="00FF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Ánh</a:t>
            </a:r>
            <a:r>
              <a:rPr sz="2200" spc="-20" dirty="0">
                <a:solidFill>
                  <a:srgbClr val="00FF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sáng còn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 lại</a:t>
            </a:r>
            <a:r>
              <a:rPr sz="2200" spc="-10" dirty="0">
                <a:solidFill>
                  <a:srgbClr val="00FF00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phản</a:t>
            </a:r>
            <a:r>
              <a:rPr sz="2200" spc="-10" dirty="0">
                <a:solidFill>
                  <a:srgbClr val="00FF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xạ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FF00"/>
                </a:solidFill>
                <a:latin typeface="Verdana"/>
                <a:cs typeface="Verdana"/>
              </a:rPr>
              <a:t>vào mắt</a:t>
            </a:r>
            <a:r>
              <a:rPr sz="2200" spc="-5" dirty="0">
                <a:solidFill>
                  <a:srgbClr val="00FF00"/>
                </a:solidFill>
                <a:latin typeface="Verdana"/>
                <a:cs typeface="Verdana"/>
              </a:rPr>
              <a:t> ta</a:t>
            </a:r>
            <a:r>
              <a:rPr sz="2200" spc="-5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14348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472059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Mô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hình</a:t>
            </a:r>
            <a:r>
              <a:rPr sz="3800" spc="-4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solidFill>
                  <a:srgbClr val="00FFFF"/>
                </a:solidFill>
                <a:latin typeface="Verdana"/>
                <a:cs typeface="Verdana"/>
              </a:rPr>
              <a:t>C</a:t>
            </a:r>
            <a:r>
              <a:rPr sz="3800" spc="-5" dirty="0">
                <a:solidFill>
                  <a:srgbClr val="FF00FF"/>
                </a:solidFill>
                <a:latin typeface="Verdana"/>
                <a:cs typeface="Verdana"/>
              </a:rPr>
              <a:t>M</a:t>
            </a:r>
            <a:r>
              <a:rPr sz="3800" spc="-5" dirty="0">
                <a:solidFill>
                  <a:srgbClr val="FFFF00"/>
                </a:solidFill>
                <a:latin typeface="Verdana"/>
                <a:cs typeface="Verdana"/>
              </a:rPr>
              <a:t>Y</a:t>
            </a:r>
            <a:r>
              <a:rPr sz="3800" spc="-5" dirty="0">
                <a:latin typeface="Verdana"/>
                <a:cs typeface="Verdana"/>
              </a:rPr>
              <a:t>K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758443"/>
            <a:ext cx="6981190" cy="2002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8425" indent="-343535">
              <a:lnSpc>
                <a:spcPct val="114999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500" dirty="0">
                <a:latin typeface="Verdana"/>
                <a:cs typeface="Verdana"/>
              </a:rPr>
              <a:t>Mô </a:t>
            </a:r>
            <a:r>
              <a:rPr sz="1500" spc="-5" dirty="0">
                <a:latin typeface="Verdana"/>
                <a:cs typeface="Verdana"/>
              </a:rPr>
              <a:t>hình </a:t>
            </a:r>
            <a:r>
              <a:rPr sz="1500" dirty="0">
                <a:latin typeface="Verdana"/>
                <a:cs typeface="Verdana"/>
              </a:rPr>
              <a:t>màu xác định </a:t>
            </a:r>
            <a:r>
              <a:rPr sz="1500" spc="-5" dirty="0">
                <a:latin typeface="Verdana"/>
                <a:cs typeface="Verdana"/>
              </a:rPr>
              <a:t>bởi màu </a:t>
            </a:r>
            <a:r>
              <a:rPr sz="1500" dirty="0">
                <a:latin typeface="Verdana"/>
                <a:cs typeface="Verdana"/>
              </a:rPr>
              <a:t>cơ sở </a:t>
            </a:r>
            <a:r>
              <a:rPr sz="1500" spc="-5" dirty="0">
                <a:latin typeface="Verdana"/>
                <a:cs typeface="Verdana"/>
              </a:rPr>
              <a:t>cyan, </a:t>
            </a:r>
            <a:r>
              <a:rPr sz="1500" dirty="0">
                <a:latin typeface="Verdana"/>
                <a:cs typeface="Verdana"/>
              </a:rPr>
              <a:t>magenta và yellow </a:t>
            </a:r>
            <a:r>
              <a:rPr sz="1500" spc="-5" dirty="0">
                <a:latin typeface="Verdana"/>
                <a:cs typeface="Verdana"/>
              </a:rPr>
              <a:t>dành </a:t>
            </a:r>
            <a:r>
              <a:rPr sz="1500" spc="-5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cho máy </a:t>
            </a:r>
            <a:r>
              <a:rPr sz="1500" spc="-5" dirty="0">
                <a:latin typeface="Verdana"/>
                <a:cs typeface="Verdana"/>
              </a:rPr>
              <a:t>in màu.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Mô </a:t>
            </a:r>
            <a:r>
              <a:rPr sz="1500" spc="-5" dirty="0">
                <a:latin typeface="Verdana"/>
                <a:cs typeface="Verdana"/>
              </a:rPr>
              <a:t>hình CMY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(phải)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là bù</a:t>
            </a:r>
            <a:r>
              <a:rPr sz="1500" dirty="0">
                <a:latin typeface="Verdana"/>
                <a:cs typeface="Verdana"/>
              </a:rPr>
              <a:t> của mô hình </a:t>
            </a:r>
            <a:r>
              <a:rPr sz="1500" spc="-5" dirty="0">
                <a:latin typeface="Verdana"/>
                <a:cs typeface="Verdana"/>
              </a:rPr>
              <a:t>RGB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(trái)</a:t>
            </a:r>
            <a:endParaRPr sz="1500">
              <a:latin typeface="Verdana"/>
              <a:cs typeface="Verdana"/>
            </a:endParaRPr>
          </a:p>
          <a:p>
            <a:pPr marL="355600" indent="-343535">
              <a:spcBef>
                <a:spcPts val="63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500" dirty="0">
                <a:latin typeface="Verdana"/>
                <a:cs typeface="Verdana"/>
              </a:rPr>
              <a:t>Biểu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đồ </a:t>
            </a:r>
            <a:r>
              <a:rPr sz="1500" dirty="0">
                <a:latin typeface="Verdana"/>
                <a:cs typeface="Verdana"/>
              </a:rPr>
              <a:t>CMY</a:t>
            </a:r>
            <a:r>
              <a:rPr sz="1500" spc="-5" dirty="0">
                <a:latin typeface="Verdana"/>
                <a:cs typeface="Verdana"/>
              </a:rPr>
              <a:t> thuộc </a:t>
            </a:r>
            <a:r>
              <a:rPr sz="1500" dirty="0">
                <a:latin typeface="Verdana"/>
                <a:cs typeface="Verdana"/>
              </a:rPr>
              <a:t>loại </a:t>
            </a:r>
            <a:r>
              <a:rPr sz="1500" spc="-5" dirty="0">
                <a:latin typeface="Verdana"/>
                <a:cs typeface="Verdana"/>
              </a:rPr>
              <a:t>mô </a:t>
            </a:r>
            <a:r>
              <a:rPr sz="1500" dirty="0">
                <a:latin typeface="Verdana"/>
                <a:cs typeface="Verdana"/>
              </a:rPr>
              <a:t>hình</a:t>
            </a:r>
            <a:r>
              <a:rPr sz="1500" spc="-5" dirty="0">
                <a:latin typeface="Verdana"/>
                <a:cs typeface="Verdana"/>
              </a:rPr>
              <a:t> trừ,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trong </a:t>
            </a:r>
            <a:r>
              <a:rPr sz="1500" dirty="0">
                <a:latin typeface="Verdana"/>
                <a:cs typeface="Verdana"/>
              </a:rPr>
              <a:t>khi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RBG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là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cộng</a:t>
            </a:r>
            <a:endParaRPr sz="1500">
              <a:latin typeface="Verdana"/>
              <a:cs typeface="Verdana"/>
            </a:endParaRPr>
          </a:p>
          <a:p>
            <a:pPr marL="355600" indent="-343535">
              <a:spcBef>
                <a:spcPts val="63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500" spc="-5" dirty="0">
                <a:latin typeface="Verdana"/>
                <a:cs typeface="Verdana"/>
              </a:rPr>
              <a:t>CMY-CMYK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(Cyan-Magenta-Yellow-Black)</a:t>
            </a:r>
            <a:endParaRPr sz="1500">
              <a:latin typeface="Verdana"/>
              <a:cs typeface="Verdana"/>
            </a:endParaRPr>
          </a:p>
          <a:p>
            <a:pPr marL="355600" marR="5080" indent="-343535">
              <a:lnSpc>
                <a:spcPct val="114999"/>
              </a:lnSpc>
              <a:spcBef>
                <a:spcPts val="36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500" spc="-5" dirty="0">
                <a:latin typeface="Verdana"/>
                <a:cs typeface="Verdana"/>
              </a:rPr>
              <a:t>Tổ </a:t>
            </a:r>
            <a:r>
              <a:rPr sz="1500" dirty="0">
                <a:latin typeface="Verdana"/>
                <a:cs typeface="Verdana"/>
              </a:rPr>
              <a:t>hợp ánh </a:t>
            </a:r>
            <a:r>
              <a:rPr sz="1500" spc="-5" dirty="0">
                <a:latin typeface="Verdana"/>
                <a:cs typeface="Verdana"/>
              </a:rPr>
              <a:t>sáng phosphor RGB trên </a:t>
            </a:r>
            <a:r>
              <a:rPr sz="1500" dirty="0">
                <a:latin typeface="Verdana"/>
                <a:cs typeface="Verdana"/>
              </a:rPr>
              <a:t>màn hình và mực </a:t>
            </a:r>
            <a:r>
              <a:rPr sz="1500" spc="-5" dirty="0">
                <a:latin typeface="Verdana"/>
                <a:cs typeface="Verdana"/>
              </a:rPr>
              <a:t>CMYK trên 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giấy được gọi là </a:t>
            </a:r>
            <a:r>
              <a:rPr sz="1500" dirty="0">
                <a:latin typeface="Verdana"/>
                <a:cs typeface="Verdana"/>
              </a:rPr>
              <a:t>màu của </a:t>
            </a:r>
            <a:r>
              <a:rPr sz="1500" spc="-5" dirty="0">
                <a:latin typeface="Verdana"/>
                <a:cs typeface="Verdana"/>
              </a:rPr>
              <a:t>đồ họa </a:t>
            </a:r>
            <a:r>
              <a:rPr sz="1500" dirty="0">
                <a:latin typeface="Verdana"/>
                <a:cs typeface="Verdana"/>
              </a:rPr>
              <a:t>máy </a:t>
            </a:r>
            <a:r>
              <a:rPr sz="1500" spc="-5" dirty="0">
                <a:latin typeface="Verdana"/>
                <a:cs typeface="Verdana"/>
              </a:rPr>
              <a:t>tính. Nhưng </a:t>
            </a:r>
            <a:r>
              <a:rPr sz="1500" dirty="0">
                <a:latin typeface="Verdana"/>
                <a:cs typeface="Verdana"/>
              </a:rPr>
              <a:t>là hai vấn </a:t>
            </a:r>
            <a:r>
              <a:rPr sz="1500" spc="-5" dirty="0">
                <a:latin typeface="Verdana"/>
                <a:cs typeface="Verdana"/>
              </a:rPr>
              <a:t>đề </a:t>
            </a:r>
            <a:r>
              <a:rPr sz="1500" dirty="0">
                <a:latin typeface="Verdana"/>
                <a:cs typeface="Verdana"/>
              </a:rPr>
              <a:t>khác </a:t>
            </a:r>
            <a:r>
              <a:rPr sz="1500" spc="-5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nhau </a:t>
            </a:r>
            <a:r>
              <a:rPr sz="1500" dirty="0">
                <a:latin typeface="Verdana"/>
                <a:cs typeface="Verdana"/>
              </a:rPr>
              <a:t>hoàn </a:t>
            </a:r>
            <a:r>
              <a:rPr sz="1500" spc="-5" dirty="0">
                <a:latin typeface="Verdana"/>
                <a:cs typeface="Verdana"/>
              </a:rPr>
              <a:t>toàn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2255" y="4002023"/>
            <a:ext cx="5003292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7118984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Chuyển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đổi </a:t>
            </a:r>
            <a:r>
              <a:rPr sz="3800" spc="-5" dirty="0">
                <a:latin typeface="Verdana"/>
                <a:cs typeface="Verdana"/>
              </a:rPr>
              <a:t>giữa RGB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và</a:t>
            </a:r>
            <a:r>
              <a:rPr sz="380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CMY</a:t>
            </a:r>
            <a:endParaRPr sz="3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504" y="1789176"/>
            <a:ext cx="8001000" cy="423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73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9414" y="1783589"/>
            <a:ext cx="7675245" cy="376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96240" indent="-343535"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dirty="0">
                <a:latin typeface="Verdana"/>
                <a:cs typeface="Verdana"/>
              </a:rPr>
              <a:t>Mô hình </a:t>
            </a:r>
            <a:r>
              <a:rPr sz="2100" spc="-5" dirty="0">
                <a:latin typeface="Verdana"/>
                <a:cs typeface="Verdana"/>
              </a:rPr>
              <a:t>RGB là màu mắt </a:t>
            </a:r>
            <a:r>
              <a:rPr sz="2100" dirty="0">
                <a:latin typeface="Verdana"/>
                <a:cs typeface="Verdana"/>
              </a:rPr>
              <a:t>con </a:t>
            </a:r>
            <a:r>
              <a:rPr sz="2100" spc="-5" dirty="0">
                <a:latin typeface="Verdana"/>
                <a:cs typeface="Verdana"/>
              </a:rPr>
              <a:t>người </a:t>
            </a:r>
            <a:r>
              <a:rPr sz="2100" dirty="0">
                <a:latin typeface="Verdana"/>
                <a:cs typeface="Verdana"/>
              </a:rPr>
              <a:t>cảm nhận </a:t>
            </a:r>
            <a:r>
              <a:rPr sz="2100" spc="-5" dirty="0">
                <a:latin typeface="Verdana"/>
                <a:cs typeface="Verdana"/>
              </a:rPr>
              <a:t>ánh 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sáng </a:t>
            </a:r>
            <a:r>
              <a:rPr sz="2100" dirty="0">
                <a:latin typeface="Verdana"/>
                <a:cs typeface="Verdana"/>
              </a:rPr>
              <a:t>chứ</a:t>
            </a:r>
            <a:r>
              <a:rPr sz="2100" spc="-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ko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phài </a:t>
            </a:r>
            <a:r>
              <a:rPr sz="2100" dirty="0">
                <a:latin typeface="Verdana"/>
                <a:cs typeface="Verdana"/>
              </a:rPr>
              <a:t>màu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mà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mắt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con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người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cảm</a:t>
            </a:r>
            <a:r>
              <a:rPr sz="2100" spc="-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nhận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màu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sắc.</a:t>
            </a:r>
            <a:endParaRPr sz="2100">
              <a:latin typeface="Verdana"/>
              <a:cs typeface="Verdana"/>
            </a:endParaRPr>
          </a:p>
          <a:p>
            <a:pPr marL="355600" marR="159385" indent="-343535">
              <a:spcBef>
                <a:spcPts val="50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dirty="0">
                <a:latin typeface="Verdana"/>
                <a:cs typeface="Verdana"/>
              </a:rPr>
              <a:t>Mặc </a:t>
            </a:r>
            <a:r>
              <a:rPr sz="2100" spc="-5" dirty="0">
                <a:latin typeface="Verdana"/>
                <a:cs typeface="Verdana"/>
              </a:rPr>
              <a:t>dù mô hình RGB biều diễn chính xác </a:t>
            </a:r>
            <a:r>
              <a:rPr sz="2100" dirty="0">
                <a:latin typeface="Verdana"/>
                <a:cs typeface="Verdana"/>
              </a:rPr>
              <a:t>cái mà màn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hình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cần </a:t>
            </a:r>
            <a:r>
              <a:rPr sz="2100" spc="-5" dirty="0">
                <a:latin typeface="Verdana"/>
                <a:cs typeface="Verdana"/>
              </a:rPr>
              <a:t>hiển thị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cho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mắt </a:t>
            </a:r>
            <a:r>
              <a:rPr sz="2100" spc="-5" dirty="0">
                <a:latin typeface="Verdana"/>
                <a:cs typeface="Verdana"/>
              </a:rPr>
              <a:t>người.</a:t>
            </a:r>
            <a:endParaRPr sz="2100">
              <a:latin typeface="Verdana"/>
              <a:cs typeface="Verdana"/>
            </a:endParaRPr>
          </a:p>
          <a:p>
            <a:pPr marL="355600" marR="90170" indent="-343535">
              <a:spcBef>
                <a:spcPts val="50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spc="-5" dirty="0">
                <a:latin typeface="Verdana"/>
                <a:cs typeface="Verdana"/>
              </a:rPr>
              <a:t>RGB không phải là </a:t>
            </a:r>
            <a:r>
              <a:rPr sz="2100" dirty="0">
                <a:latin typeface="Verdana"/>
                <a:cs typeface="Verdana"/>
              </a:rPr>
              <a:t>mô </a:t>
            </a:r>
            <a:r>
              <a:rPr sz="2100" spc="-5" dirty="0">
                <a:latin typeface="Verdana"/>
                <a:cs typeface="Verdana"/>
              </a:rPr>
              <a:t>hình tốt để </a:t>
            </a:r>
            <a:r>
              <a:rPr sz="2100" dirty="0">
                <a:latin typeface="Verdana"/>
                <a:cs typeface="Verdana"/>
              </a:rPr>
              <a:t>người sử </a:t>
            </a:r>
            <a:r>
              <a:rPr sz="2100" spc="-5" dirty="0">
                <a:latin typeface="Verdana"/>
                <a:cs typeface="Verdana"/>
              </a:rPr>
              <a:t>dụng biểu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diễn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một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màu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cụ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thể khi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họ </a:t>
            </a:r>
            <a:r>
              <a:rPr sz="2100" spc="-5" dirty="0">
                <a:latin typeface="Verdana"/>
                <a:cs typeface="Verdana"/>
              </a:rPr>
              <a:t>suy nghĩ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(as </a:t>
            </a:r>
            <a:r>
              <a:rPr sz="2100" dirty="0">
                <a:latin typeface="Verdana"/>
                <a:cs typeface="Verdana"/>
              </a:rPr>
              <a:t>artist).</a:t>
            </a:r>
            <a:endParaRPr sz="2100">
              <a:latin typeface="Verdana"/>
              <a:cs typeface="Verdana"/>
            </a:endParaRPr>
          </a:p>
          <a:p>
            <a:pPr marL="755650" marR="5080" lvl="1" indent="-285750">
              <a:spcBef>
                <a:spcPts val="484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000" spc="-5" dirty="0">
                <a:latin typeface="Verdana"/>
                <a:cs typeface="Verdana"/>
              </a:rPr>
              <a:t>Nếu người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dùng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cần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biết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giá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trị RGB để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biểu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diễn màu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tía thì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họ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rất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khó tìm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giá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trị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đó</a:t>
            </a:r>
            <a:endParaRPr sz="2000">
              <a:latin typeface="Verdana"/>
              <a:cs typeface="Verdana"/>
            </a:endParaRPr>
          </a:p>
          <a:p>
            <a:pPr marL="355600" marR="422909" indent="-343535">
              <a:spcBef>
                <a:spcPts val="50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dirty="0">
                <a:latin typeface="Verdana"/>
                <a:cs typeface="Verdana"/>
              </a:rPr>
              <a:t>Do vậy </a:t>
            </a:r>
            <a:r>
              <a:rPr sz="2100" spc="-5" dirty="0">
                <a:latin typeface="Verdana"/>
                <a:cs typeface="Verdana"/>
              </a:rPr>
              <a:t>nhiều giao diện chương trình người dùng </a:t>
            </a:r>
            <a:r>
              <a:rPr sz="2100" dirty="0">
                <a:latin typeface="Verdana"/>
                <a:cs typeface="Verdana"/>
              </a:rPr>
              <a:t>sử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dụng </a:t>
            </a:r>
            <a:r>
              <a:rPr sz="2100" dirty="0">
                <a:latin typeface="Verdana"/>
                <a:cs typeface="Verdana"/>
              </a:rPr>
              <a:t>hệ</a:t>
            </a:r>
            <a:r>
              <a:rPr sz="2100" spc="-5" dirty="0">
                <a:latin typeface="Verdana"/>
                <a:cs typeface="Verdana"/>
              </a:rPr>
              <a:t> thống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màu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HSV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để</a:t>
            </a:r>
            <a:r>
              <a:rPr sz="2100" dirty="0">
                <a:latin typeface="Verdana"/>
                <a:cs typeface="Verdana"/>
              </a:rPr>
              <a:t> xác</a:t>
            </a:r>
            <a:r>
              <a:rPr sz="2100" spc="-5" dirty="0">
                <a:latin typeface="Verdana"/>
                <a:cs typeface="Verdana"/>
              </a:rPr>
              <a:t> định màu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436816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Mô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hình</a:t>
            </a:r>
            <a:r>
              <a:rPr sz="3800" spc="-4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HSV</a:t>
            </a:r>
            <a:endParaRPr sz="38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80416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346710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Biểu</a:t>
            </a:r>
            <a:r>
              <a:rPr sz="3800" spc="-5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diễn</a:t>
            </a:r>
            <a:r>
              <a:rPr sz="3800" spc="-3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HSV</a:t>
            </a:r>
            <a:endParaRPr sz="3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08276" y="1916429"/>
            <a:ext cx="3672204" cy="4038600"/>
            <a:chOff x="684276" y="1916429"/>
            <a:chExt cx="3672204" cy="4038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276" y="1916429"/>
              <a:ext cx="3672078" cy="292379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276" y="5084825"/>
              <a:ext cx="3672078" cy="8702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646049" y="2118961"/>
            <a:ext cx="4807041" cy="3089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2000" spc="-5" dirty="0">
                <a:latin typeface="Verdana"/>
                <a:cs typeface="Verdana"/>
              </a:rPr>
              <a:t>Không gian HSV được mô </a:t>
            </a:r>
            <a:r>
              <a:rPr sz="2000" spc="-10" dirty="0">
                <a:latin typeface="Verdana"/>
                <a:cs typeface="Verdana"/>
              </a:rPr>
              <a:t>tả </a:t>
            </a:r>
            <a:r>
              <a:rPr sz="2000" spc="-5" dirty="0">
                <a:latin typeface="Verdana"/>
                <a:cs typeface="Verdana"/>
              </a:rPr>
              <a:t> bằng khối lập</a:t>
            </a:r>
            <a:r>
              <a:rPr sz="2000" spc="-10" dirty="0">
                <a:latin typeface="Verdana"/>
                <a:cs typeface="Verdana"/>
              </a:rPr>
              <a:t> phương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RGB 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quay </a:t>
            </a:r>
            <a:r>
              <a:rPr sz="2000" spc="-5" dirty="0">
                <a:latin typeface="Verdana"/>
                <a:cs typeface="Verdana"/>
              </a:rPr>
              <a:t>trên đỉnh Black. H </a:t>
            </a:r>
            <a:r>
              <a:rPr sz="2000" spc="-10" dirty="0">
                <a:latin typeface="Verdana"/>
                <a:cs typeface="Verdana"/>
              </a:rPr>
              <a:t>(Hue)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là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góc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quay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trục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(value) </a:t>
            </a:r>
            <a:r>
              <a:rPr sz="2000" spc="-5" dirty="0">
                <a:latin typeface="Verdana"/>
                <a:cs typeface="Verdana"/>
              </a:rPr>
              <a:t> qua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</a:t>
            </a:r>
            <a:r>
              <a:rPr sz="2000" spc="-5" dirty="0">
                <a:latin typeface="Verdana"/>
                <a:cs typeface="Verdana"/>
              </a:rPr>
              <a:t> đỉnh</a:t>
            </a:r>
            <a:r>
              <a:rPr sz="2000" spc="-10" dirty="0">
                <a:latin typeface="Verdana"/>
                <a:cs typeface="Verdana"/>
              </a:rPr>
              <a:t> Black</a:t>
            </a:r>
            <a:r>
              <a:rPr sz="2000" dirty="0">
                <a:latin typeface="Verdana"/>
                <a:cs typeface="Verdana"/>
              </a:rPr>
              <a:t> và</a:t>
            </a:r>
            <a:r>
              <a:rPr sz="2000" spc="-5" dirty="0">
                <a:latin typeface="Verdana"/>
                <a:cs typeface="Verdana"/>
              </a:rPr>
              <a:t> White.</a:t>
            </a:r>
            <a:endParaRPr sz="2000">
              <a:latin typeface="Verdana"/>
              <a:cs typeface="Verdana"/>
            </a:endParaRPr>
          </a:p>
          <a:p>
            <a:pPr marL="12700" marR="271780">
              <a:spcBef>
                <a:spcPts val="5"/>
              </a:spcBef>
            </a:pPr>
            <a:r>
              <a:rPr sz="2000" spc="-5" dirty="0">
                <a:latin typeface="Verdana"/>
                <a:cs typeface="Verdana"/>
              </a:rPr>
              <a:t>Các giá trị </a:t>
            </a:r>
            <a:r>
              <a:rPr sz="2000" spc="-10" dirty="0">
                <a:latin typeface="Verdana"/>
                <a:cs typeface="Verdana"/>
              </a:rPr>
              <a:t>biến </a:t>
            </a:r>
            <a:r>
              <a:rPr sz="2000" spc="-5" dirty="0">
                <a:latin typeface="Verdana"/>
                <a:cs typeface="Verdana"/>
              </a:rPr>
              <a:t>thiên của </a:t>
            </a:r>
            <a:r>
              <a:rPr sz="2000" spc="-10" dirty="0">
                <a:latin typeface="Verdana"/>
                <a:cs typeface="Verdana"/>
              </a:rPr>
              <a:t>H,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S,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 như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sau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12700" marR="81915"/>
            <a:r>
              <a:rPr sz="2000" spc="-5" dirty="0">
                <a:latin typeface="Verdana"/>
                <a:cs typeface="Verdana"/>
              </a:rPr>
              <a:t>H</a:t>
            </a:r>
            <a:r>
              <a:rPr sz="2000" spc="-10" dirty="0">
                <a:latin typeface="Verdana"/>
                <a:cs typeface="Verdana"/>
              </a:rPr>
              <a:t> (Hue) </a:t>
            </a:r>
            <a:r>
              <a:rPr sz="2000" spc="-5" dirty="0">
                <a:latin typeface="Verdana"/>
                <a:cs typeface="Verdana"/>
              </a:rPr>
              <a:t>chỉ sắc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thái </a:t>
            </a:r>
            <a:r>
              <a:rPr sz="2000" spc="-10" dirty="0">
                <a:latin typeface="Verdana"/>
                <a:cs typeface="Verdana"/>
              </a:rPr>
              <a:t>có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giá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trị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từ 0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-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360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 marR="605790"/>
            <a:r>
              <a:rPr sz="2000" spc="-5" dirty="0">
                <a:latin typeface="Verdana"/>
                <a:cs typeface="Verdana"/>
              </a:rPr>
              <a:t>S </a:t>
            </a:r>
            <a:r>
              <a:rPr sz="2000" spc="-10" dirty="0">
                <a:latin typeface="Verdana"/>
                <a:cs typeface="Verdana"/>
              </a:rPr>
              <a:t>(Saturation)</a:t>
            </a:r>
            <a:r>
              <a:rPr sz="2000" spc="-5" dirty="0">
                <a:latin typeface="Verdana"/>
                <a:cs typeface="Verdana"/>
              </a:rPr>
              <a:t> chỉ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độ </a:t>
            </a:r>
            <a:r>
              <a:rPr sz="2000" spc="-10" dirty="0">
                <a:latin typeface="Verdana"/>
                <a:cs typeface="Verdana"/>
              </a:rPr>
              <a:t>bão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hoà.</a:t>
            </a:r>
            <a:endParaRPr sz="2000">
              <a:latin typeface="Verdana"/>
              <a:cs typeface="Verdana"/>
            </a:endParaRPr>
          </a:p>
          <a:p>
            <a:pPr marL="12700"/>
            <a:r>
              <a:rPr sz="2000" spc="-5" dirty="0">
                <a:latin typeface="Verdana"/>
                <a:cs typeface="Verdana"/>
              </a:rPr>
              <a:t>V </a:t>
            </a:r>
            <a:r>
              <a:rPr sz="2000" spc="-20" dirty="0">
                <a:latin typeface="Verdana"/>
                <a:cs typeface="Verdana"/>
              </a:rPr>
              <a:t>(Value)</a:t>
            </a:r>
            <a:r>
              <a:rPr sz="2000" spc="-5" dirty="0">
                <a:latin typeface="Verdana"/>
                <a:cs typeface="Verdana"/>
              </a:rPr>
              <a:t> có </a:t>
            </a:r>
            <a:r>
              <a:rPr sz="2000" spc="-10" dirty="0">
                <a:latin typeface="Verdana"/>
                <a:cs typeface="Verdana"/>
              </a:rPr>
              <a:t>giá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trị </a:t>
            </a:r>
            <a:r>
              <a:rPr sz="2000" spc="-10" dirty="0">
                <a:latin typeface="Verdana"/>
                <a:cs typeface="Verdana"/>
              </a:rPr>
              <a:t>từ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0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- 1.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14317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710057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Chuyển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đổi </a:t>
            </a:r>
            <a:r>
              <a:rPr sz="3800" spc="-5" dirty="0">
                <a:latin typeface="Verdana"/>
                <a:cs typeface="Verdana"/>
              </a:rPr>
              <a:t>giữa RGB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và</a:t>
            </a:r>
            <a:r>
              <a:rPr sz="3800" spc="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HSV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86174" y="2471462"/>
            <a:ext cx="3596004" cy="2024380"/>
          </a:xfrm>
          <a:custGeom>
            <a:avLst/>
            <a:gdLst/>
            <a:ahLst/>
            <a:cxnLst/>
            <a:rect l="l" t="t" r="r" b="b"/>
            <a:pathLst>
              <a:path w="3596004" h="2024379">
                <a:moveTo>
                  <a:pt x="733593" y="0"/>
                </a:moveTo>
                <a:lnTo>
                  <a:pt x="2377790" y="0"/>
                </a:lnTo>
              </a:path>
              <a:path w="3596004" h="2024379">
                <a:moveTo>
                  <a:pt x="2754348" y="0"/>
                </a:moveTo>
                <a:lnTo>
                  <a:pt x="3337927" y="0"/>
                </a:lnTo>
              </a:path>
              <a:path w="3596004" h="2024379">
                <a:moveTo>
                  <a:pt x="991622" y="1092533"/>
                </a:moveTo>
                <a:lnTo>
                  <a:pt x="2635972" y="1092533"/>
                </a:lnTo>
              </a:path>
              <a:path w="3596004" h="2024379">
                <a:moveTo>
                  <a:pt x="3012316" y="1092533"/>
                </a:moveTo>
                <a:lnTo>
                  <a:pt x="3595894" y="1092533"/>
                </a:lnTo>
              </a:path>
              <a:path w="3596004" h="2024379">
                <a:moveTo>
                  <a:pt x="0" y="2023949"/>
                </a:moveTo>
                <a:lnTo>
                  <a:pt x="1644196" y="2023949"/>
                </a:lnTo>
              </a:path>
            </a:pathLst>
          </a:custGeom>
          <a:ln w="12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41352" y="2170672"/>
            <a:ext cx="58166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spc="630" dirty="0">
                <a:latin typeface="Times New Roman"/>
                <a:cs typeface="Times New Roman"/>
              </a:rPr>
              <a:t>360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2511" y="2455974"/>
            <a:ext cx="208915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spc="625" dirty="0">
                <a:latin typeface="Symbol"/>
                <a:cs typeface="Symbol"/>
              </a:rPr>
              <a:t>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2511" y="1854880"/>
            <a:ext cx="208915" cy="676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90"/>
              </a:spcBef>
            </a:pPr>
            <a:r>
              <a:rPr sz="1650" spc="625" dirty="0">
                <a:latin typeface="Symbol"/>
                <a:cs typeface="Symbol"/>
              </a:rPr>
              <a:t></a:t>
            </a:r>
            <a:endParaRPr sz="1650">
              <a:latin typeface="Symbol"/>
              <a:cs typeface="Symbol"/>
            </a:endParaRPr>
          </a:p>
          <a:p>
            <a:pPr marL="12700">
              <a:lnSpc>
                <a:spcPts val="1575"/>
              </a:lnSpc>
            </a:pPr>
            <a:r>
              <a:rPr sz="1650" spc="625" dirty="0">
                <a:latin typeface="Symbol"/>
                <a:cs typeface="Symbol"/>
              </a:rPr>
              <a:t></a:t>
            </a:r>
            <a:endParaRPr sz="1650">
              <a:latin typeface="Symbol"/>
              <a:cs typeface="Symbol"/>
            </a:endParaRPr>
          </a:p>
          <a:p>
            <a:pPr marL="12700">
              <a:lnSpc>
                <a:spcPts val="1780"/>
              </a:lnSpc>
            </a:pPr>
            <a:r>
              <a:rPr sz="1650" spc="625" dirty="0">
                <a:latin typeface="Symbol"/>
                <a:cs typeface="Symbol"/>
              </a:rPr>
              <a:t>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3206" y="3784044"/>
            <a:ext cx="3551554" cy="22217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5880" indent="695960">
              <a:lnSpc>
                <a:spcPct val="131400"/>
              </a:lnSpc>
              <a:spcBef>
                <a:spcPts val="100"/>
              </a:spcBef>
              <a:tabLst>
                <a:tab pos="1474470" algn="l"/>
                <a:tab pos="1856739" algn="l"/>
              </a:tabLst>
            </a:pPr>
            <a:r>
              <a:rPr sz="2475" spc="247" baseline="3367" dirty="0">
                <a:latin typeface="Symbol"/>
                <a:cs typeface="Symbol"/>
              </a:rPr>
              <a:t></a:t>
            </a:r>
            <a:r>
              <a:rPr sz="2475" spc="247" baseline="-13468" dirty="0">
                <a:latin typeface="Symbol"/>
                <a:cs typeface="Symbol"/>
              </a:rPr>
              <a:t></a:t>
            </a:r>
            <a:r>
              <a:rPr sz="1650" spc="165" dirty="0">
                <a:latin typeface="Times New Roman"/>
                <a:cs typeface="Times New Roman"/>
              </a:rPr>
              <a:t>0	</a:t>
            </a:r>
            <a:r>
              <a:rPr sz="1650" i="1" spc="310" dirty="0">
                <a:latin typeface="Times New Roman"/>
                <a:cs typeface="Times New Roman"/>
              </a:rPr>
              <a:t>if	</a:t>
            </a:r>
            <a:r>
              <a:rPr sz="1650" i="1" spc="750" dirty="0">
                <a:latin typeface="Times New Roman"/>
                <a:cs typeface="Times New Roman"/>
              </a:rPr>
              <a:t>Max</a:t>
            </a:r>
            <a:r>
              <a:rPr sz="1650" i="1" spc="24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spc="270" dirty="0">
                <a:latin typeface="Times New Roman"/>
                <a:cs typeface="Times New Roman"/>
              </a:rPr>
              <a:t> </a:t>
            </a:r>
            <a:r>
              <a:rPr sz="1650" i="1" spc="650" dirty="0">
                <a:latin typeface="Times New Roman"/>
                <a:cs typeface="Times New Roman"/>
              </a:rPr>
              <a:t>Min </a:t>
            </a:r>
            <a:r>
              <a:rPr sz="1650" i="1" spc="-400" dirty="0">
                <a:latin typeface="Times New Roman"/>
                <a:cs typeface="Times New Roman"/>
              </a:rPr>
              <a:t> </a:t>
            </a:r>
            <a:r>
              <a:rPr sz="2475" i="1" spc="944" baseline="-35353" dirty="0">
                <a:latin typeface="Times New Roman"/>
                <a:cs typeface="Times New Roman"/>
              </a:rPr>
              <a:t>S</a:t>
            </a:r>
            <a:r>
              <a:rPr sz="2475" i="1" spc="742" baseline="-35353" dirty="0">
                <a:latin typeface="Times New Roman"/>
                <a:cs typeface="Times New Roman"/>
              </a:rPr>
              <a:t> </a:t>
            </a:r>
            <a:r>
              <a:rPr sz="2475" spc="1042" baseline="-35353" dirty="0">
                <a:latin typeface="Symbol"/>
                <a:cs typeface="Symbol"/>
              </a:rPr>
              <a:t></a:t>
            </a:r>
            <a:r>
              <a:rPr sz="2475" spc="825" baseline="-35353" dirty="0">
                <a:latin typeface="Times New Roman"/>
                <a:cs typeface="Times New Roman"/>
              </a:rPr>
              <a:t> </a:t>
            </a:r>
            <a:r>
              <a:rPr sz="1650" i="1" spc="750" dirty="0">
                <a:latin typeface="Times New Roman"/>
                <a:cs typeface="Times New Roman"/>
              </a:rPr>
              <a:t>Max</a:t>
            </a:r>
            <a:r>
              <a:rPr sz="1650" i="1" spc="100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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i="1" spc="650" dirty="0">
                <a:latin typeface="Times New Roman"/>
                <a:cs typeface="Times New Roman"/>
              </a:rPr>
              <a:t>Min</a:t>
            </a:r>
            <a:endParaRPr sz="1650">
              <a:latin typeface="Times New Roman"/>
              <a:cs typeface="Times New Roman"/>
            </a:endParaRPr>
          </a:p>
          <a:p>
            <a:pPr marL="25400" marR="1724025" indent="1135380">
              <a:lnSpc>
                <a:spcPct val="106500"/>
              </a:lnSpc>
              <a:spcBef>
                <a:spcPts val="215"/>
              </a:spcBef>
              <a:tabLst>
                <a:tab pos="390525" algn="l"/>
              </a:tabLst>
            </a:pPr>
            <a:r>
              <a:rPr sz="1650" i="1" spc="575" dirty="0">
                <a:latin typeface="Times New Roman"/>
                <a:cs typeface="Times New Roman"/>
              </a:rPr>
              <a:t>Max  </a:t>
            </a:r>
            <a:r>
              <a:rPr sz="1650" i="1" spc="770" dirty="0">
                <a:latin typeface="Times New Roman"/>
                <a:cs typeface="Times New Roman"/>
              </a:rPr>
              <a:t>V	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spc="295" dirty="0">
                <a:latin typeface="Times New Roman"/>
                <a:cs typeface="Times New Roman"/>
              </a:rPr>
              <a:t> </a:t>
            </a:r>
            <a:r>
              <a:rPr sz="1650" i="1" spc="750" dirty="0">
                <a:latin typeface="Times New Roman"/>
                <a:cs typeface="Times New Roman"/>
              </a:rPr>
              <a:t>Max</a:t>
            </a:r>
            <a:endParaRPr sz="1650">
              <a:latin typeface="Times New Roman"/>
              <a:cs typeface="Times New Roman"/>
            </a:endParaRPr>
          </a:p>
          <a:p>
            <a:pPr marL="65405" marR="513080">
              <a:lnSpc>
                <a:spcPts val="2470"/>
              </a:lnSpc>
              <a:spcBef>
                <a:spcPts val="95"/>
              </a:spcBef>
            </a:pPr>
            <a:r>
              <a:rPr sz="1650" i="1" spc="750" dirty="0">
                <a:latin typeface="Times New Roman"/>
                <a:cs typeface="Times New Roman"/>
              </a:rPr>
              <a:t>Max </a:t>
            </a:r>
            <a:r>
              <a:rPr sz="1650" i="1" spc="-12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-145" dirty="0">
                <a:latin typeface="Times New Roman"/>
                <a:cs typeface="Times New Roman"/>
              </a:rPr>
              <a:t> </a:t>
            </a:r>
            <a:r>
              <a:rPr sz="1650" spc="690" dirty="0">
                <a:latin typeface="Times New Roman"/>
                <a:cs typeface="Times New Roman"/>
              </a:rPr>
              <a:t>ma</a:t>
            </a:r>
            <a:r>
              <a:rPr sz="1650" spc="385" dirty="0">
                <a:latin typeface="Times New Roman"/>
                <a:cs typeface="Times New Roman"/>
              </a:rPr>
              <a:t>x</a:t>
            </a:r>
            <a:r>
              <a:rPr sz="1650" spc="420" dirty="0">
                <a:latin typeface="Times New Roman"/>
                <a:cs typeface="Times New Roman"/>
              </a:rPr>
              <a:t>(</a:t>
            </a:r>
            <a:r>
              <a:rPr sz="1650" spc="100" dirty="0">
                <a:latin typeface="Times New Roman"/>
                <a:cs typeface="Times New Roman"/>
              </a:rPr>
              <a:t> </a:t>
            </a:r>
            <a:r>
              <a:rPr sz="1650" i="1" spc="810" dirty="0">
                <a:latin typeface="Times New Roman"/>
                <a:cs typeface="Times New Roman"/>
              </a:rPr>
              <a:t>R</a:t>
            </a:r>
            <a:r>
              <a:rPr sz="1650" spc="315" dirty="0">
                <a:latin typeface="Times New Roman"/>
                <a:cs typeface="Times New Roman"/>
              </a:rPr>
              <a:t>,</a:t>
            </a:r>
            <a:r>
              <a:rPr sz="1650" spc="-140" dirty="0">
                <a:latin typeface="Times New Roman"/>
                <a:cs typeface="Times New Roman"/>
              </a:rPr>
              <a:t> </a:t>
            </a:r>
            <a:r>
              <a:rPr sz="1650" i="1" spc="990" dirty="0">
                <a:latin typeface="Times New Roman"/>
                <a:cs typeface="Times New Roman"/>
              </a:rPr>
              <a:t>G</a:t>
            </a:r>
            <a:r>
              <a:rPr sz="1650" spc="315" dirty="0">
                <a:latin typeface="Times New Roman"/>
                <a:cs typeface="Times New Roman"/>
              </a:rPr>
              <a:t>,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i="1" spc="860" dirty="0">
                <a:latin typeface="Times New Roman"/>
                <a:cs typeface="Times New Roman"/>
              </a:rPr>
              <a:t>B</a:t>
            </a:r>
            <a:r>
              <a:rPr sz="1650" spc="350" dirty="0">
                <a:latin typeface="Times New Roman"/>
                <a:cs typeface="Times New Roman"/>
              </a:rPr>
              <a:t>)  </a:t>
            </a:r>
            <a:r>
              <a:rPr sz="1650" i="1" spc="1055" dirty="0">
                <a:latin typeface="Times New Roman"/>
                <a:cs typeface="Times New Roman"/>
              </a:rPr>
              <a:t>M</a:t>
            </a:r>
            <a:r>
              <a:rPr sz="1650" i="1" spc="270" dirty="0">
                <a:latin typeface="Times New Roman"/>
                <a:cs typeface="Times New Roman"/>
              </a:rPr>
              <a:t>i</a:t>
            </a:r>
            <a:r>
              <a:rPr sz="1650" i="1" spc="630" dirty="0">
                <a:latin typeface="Times New Roman"/>
                <a:cs typeface="Times New Roman"/>
              </a:rPr>
              <a:t>n</a:t>
            </a:r>
            <a:r>
              <a:rPr sz="1650" i="1" dirty="0">
                <a:latin typeface="Times New Roman"/>
                <a:cs typeface="Times New Roman"/>
              </a:rPr>
              <a:t> </a:t>
            </a:r>
            <a:r>
              <a:rPr sz="1650" i="1" spc="-6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-145" dirty="0">
                <a:latin typeface="Times New Roman"/>
                <a:cs typeface="Times New Roman"/>
              </a:rPr>
              <a:t> </a:t>
            </a:r>
            <a:r>
              <a:rPr sz="1650" spc="585" dirty="0">
                <a:latin typeface="Times New Roman"/>
                <a:cs typeface="Times New Roman"/>
              </a:rPr>
              <a:t>mi</a:t>
            </a:r>
            <a:r>
              <a:rPr sz="1650" spc="525" dirty="0">
                <a:latin typeface="Times New Roman"/>
                <a:cs typeface="Times New Roman"/>
              </a:rPr>
              <a:t>n(</a:t>
            </a:r>
            <a:r>
              <a:rPr sz="1650" spc="-110" dirty="0">
                <a:latin typeface="Times New Roman"/>
                <a:cs typeface="Times New Roman"/>
              </a:rPr>
              <a:t> </a:t>
            </a:r>
            <a:r>
              <a:rPr sz="1650" i="1" spc="810" dirty="0">
                <a:latin typeface="Times New Roman"/>
                <a:cs typeface="Times New Roman"/>
              </a:rPr>
              <a:t>R</a:t>
            </a:r>
            <a:r>
              <a:rPr sz="1650" spc="315" dirty="0">
                <a:latin typeface="Times New Roman"/>
                <a:cs typeface="Times New Roman"/>
              </a:rPr>
              <a:t>,</a:t>
            </a:r>
            <a:r>
              <a:rPr sz="1650" spc="-140" dirty="0">
                <a:latin typeface="Times New Roman"/>
                <a:cs typeface="Times New Roman"/>
              </a:rPr>
              <a:t> </a:t>
            </a:r>
            <a:r>
              <a:rPr sz="1650" i="1" spc="990" dirty="0">
                <a:latin typeface="Times New Roman"/>
                <a:cs typeface="Times New Roman"/>
              </a:rPr>
              <a:t>G</a:t>
            </a:r>
            <a:r>
              <a:rPr sz="1650" spc="315" dirty="0">
                <a:latin typeface="Times New Roman"/>
                <a:cs typeface="Times New Roman"/>
              </a:rPr>
              <a:t>,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i="1" spc="860" dirty="0">
                <a:latin typeface="Times New Roman"/>
                <a:cs typeface="Times New Roman"/>
              </a:rPr>
              <a:t>B</a:t>
            </a:r>
            <a:r>
              <a:rPr sz="1650" spc="420" dirty="0"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7110" y="3412179"/>
            <a:ext cx="40386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2475" spc="839" baseline="-20202" dirty="0">
                <a:latin typeface="Symbol"/>
                <a:cs typeface="Symbol"/>
              </a:rPr>
              <a:t></a:t>
            </a:r>
            <a:r>
              <a:rPr sz="1650" spc="560" dirty="0">
                <a:latin typeface="Symbol"/>
                <a:cs typeface="Symbol"/>
              </a:rPr>
              <a:t>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4411" y="3582979"/>
            <a:ext cx="2814955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spcBef>
                <a:spcPts val="90"/>
              </a:spcBef>
              <a:tabLst>
                <a:tab pos="2633980" algn="l"/>
              </a:tabLst>
            </a:pPr>
            <a:r>
              <a:rPr sz="2475" spc="839" baseline="-26936" dirty="0">
                <a:latin typeface="Symbol"/>
                <a:cs typeface="Symbol"/>
              </a:rPr>
              <a:t></a:t>
            </a:r>
            <a:r>
              <a:rPr sz="1650" spc="560" dirty="0">
                <a:latin typeface="Symbol"/>
                <a:cs typeface="Symbol"/>
              </a:rPr>
              <a:t></a:t>
            </a:r>
            <a:r>
              <a:rPr sz="1650" spc="560" dirty="0">
                <a:latin typeface="Times New Roman"/>
                <a:cs typeface="Times New Roman"/>
              </a:rPr>
              <a:t>	</a:t>
            </a:r>
            <a:r>
              <a:rPr sz="1650" spc="484" dirty="0">
                <a:latin typeface="Symbol"/>
                <a:cs typeface="Symbol"/>
              </a:rPr>
              <a:t>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57774" y="3558034"/>
            <a:ext cx="24663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spcBef>
                <a:spcPts val="90"/>
              </a:spcBef>
              <a:tabLst>
                <a:tab pos="2242185" algn="l"/>
              </a:tabLst>
            </a:pPr>
            <a:r>
              <a:rPr sz="1650" i="1" spc="750" dirty="0">
                <a:latin typeface="Times New Roman"/>
                <a:cs typeface="Times New Roman"/>
              </a:rPr>
              <a:t>Max</a:t>
            </a:r>
            <a:r>
              <a:rPr sz="1650" i="1" spc="10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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i="1" spc="650" dirty="0">
                <a:latin typeface="Times New Roman"/>
                <a:cs typeface="Times New Roman"/>
              </a:rPr>
              <a:t>Min</a:t>
            </a:r>
            <a:r>
              <a:rPr sz="1650" i="1" spc="185" dirty="0">
                <a:latin typeface="Times New Roman"/>
                <a:cs typeface="Times New Roman"/>
              </a:rPr>
              <a:t> </a:t>
            </a:r>
            <a:r>
              <a:rPr sz="2475" spc="727" baseline="38720" dirty="0">
                <a:latin typeface="Symbol"/>
                <a:cs typeface="Symbol"/>
              </a:rPr>
              <a:t></a:t>
            </a:r>
            <a:r>
              <a:rPr sz="2475" spc="727" baseline="38720" dirty="0">
                <a:latin typeface="Times New Roman"/>
                <a:cs typeface="Times New Roman"/>
              </a:rPr>
              <a:t>	</a:t>
            </a:r>
            <a:r>
              <a:rPr sz="1650" spc="63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6011" y="3263032"/>
            <a:ext cx="22631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  <a:tabLst>
                <a:tab pos="1311910" algn="l"/>
              </a:tabLst>
            </a:pPr>
            <a:r>
              <a:rPr sz="1650" i="1" spc="770" dirty="0">
                <a:latin typeface="Times New Roman"/>
                <a:cs typeface="Times New Roman"/>
              </a:rPr>
              <a:t>R</a:t>
            </a:r>
            <a:r>
              <a:rPr sz="1650" i="1" spc="130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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i="1" spc="910" dirty="0">
                <a:latin typeface="Times New Roman"/>
                <a:cs typeface="Times New Roman"/>
              </a:rPr>
              <a:t>G	</a:t>
            </a:r>
            <a:r>
              <a:rPr sz="2475" spc="727" baseline="-3367" dirty="0">
                <a:latin typeface="Symbol"/>
                <a:cs typeface="Symbol"/>
              </a:rPr>
              <a:t></a:t>
            </a:r>
            <a:r>
              <a:rPr sz="2475" spc="-142" baseline="-3367" dirty="0">
                <a:latin typeface="Times New Roman"/>
                <a:cs typeface="Times New Roman"/>
              </a:rPr>
              <a:t> </a:t>
            </a:r>
            <a:r>
              <a:rPr sz="2475" spc="472" baseline="-35353" dirty="0">
                <a:latin typeface="Symbol"/>
                <a:cs typeface="Symbol"/>
              </a:rPr>
              <a:t></a:t>
            </a:r>
            <a:r>
              <a:rPr sz="2475" spc="97" baseline="-35353" dirty="0">
                <a:latin typeface="Times New Roman"/>
                <a:cs typeface="Times New Roman"/>
              </a:rPr>
              <a:t> </a:t>
            </a:r>
            <a:r>
              <a:rPr sz="1650" spc="630" dirty="0">
                <a:latin typeface="Times New Roman"/>
                <a:cs typeface="Times New Roman"/>
              </a:rPr>
              <a:t>360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7110" y="3394856"/>
            <a:ext cx="89408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2475" spc="839" baseline="28619" dirty="0">
                <a:latin typeface="Symbol"/>
                <a:cs typeface="Symbol"/>
              </a:rPr>
              <a:t></a:t>
            </a:r>
            <a:r>
              <a:rPr sz="2475" spc="839" baseline="30303" dirty="0">
                <a:latin typeface="Symbol"/>
                <a:cs typeface="Symbol"/>
              </a:rPr>
              <a:t></a:t>
            </a:r>
            <a:r>
              <a:rPr sz="2475" spc="-157" baseline="30303" dirty="0">
                <a:latin typeface="Times New Roman"/>
                <a:cs typeface="Times New Roman"/>
              </a:rPr>
              <a:t> </a:t>
            </a:r>
            <a:r>
              <a:rPr sz="1650" spc="630" dirty="0">
                <a:latin typeface="Times New Roman"/>
                <a:cs typeface="Times New Roman"/>
              </a:rPr>
              <a:t>4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43883" y="3036972"/>
            <a:ext cx="1676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spc="484" dirty="0">
                <a:latin typeface="Symbol"/>
                <a:cs typeface="Symbol"/>
              </a:rPr>
              <a:t>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72510" y="2865825"/>
            <a:ext cx="34163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475" spc="825" baseline="-5050" dirty="0">
                <a:latin typeface="Symbol"/>
                <a:cs typeface="Symbol"/>
              </a:rPr>
              <a:t></a:t>
            </a:r>
            <a:r>
              <a:rPr sz="1650" spc="484" dirty="0">
                <a:latin typeface="Symbol"/>
                <a:cs typeface="Symbol"/>
              </a:rPr>
              <a:t>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47110" y="3036972"/>
            <a:ext cx="39243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2475" spc="772" baseline="-13468" dirty="0">
                <a:latin typeface="Symbol"/>
                <a:cs typeface="Symbol"/>
              </a:rPr>
              <a:t></a:t>
            </a:r>
            <a:r>
              <a:rPr sz="1650" spc="515" dirty="0">
                <a:latin typeface="Symbol"/>
                <a:cs typeface="Symbol"/>
              </a:rPr>
              <a:t>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46520" y="3012028"/>
            <a:ext cx="24663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spcBef>
                <a:spcPts val="90"/>
              </a:spcBef>
              <a:tabLst>
                <a:tab pos="2242185" algn="l"/>
              </a:tabLst>
            </a:pPr>
            <a:r>
              <a:rPr sz="1650" i="1" spc="750" dirty="0">
                <a:latin typeface="Times New Roman"/>
                <a:cs typeface="Times New Roman"/>
              </a:rPr>
              <a:t>Max</a:t>
            </a:r>
            <a:r>
              <a:rPr sz="1650" i="1" spc="10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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i="1" spc="650" dirty="0">
                <a:latin typeface="Times New Roman"/>
                <a:cs typeface="Times New Roman"/>
              </a:rPr>
              <a:t>Min</a:t>
            </a:r>
            <a:r>
              <a:rPr sz="1650" i="1" spc="175" dirty="0">
                <a:latin typeface="Times New Roman"/>
                <a:cs typeface="Times New Roman"/>
              </a:rPr>
              <a:t> </a:t>
            </a:r>
            <a:r>
              <a:rPr sz="2475" spc="727" baseline="38720" dirty="0">
                <a:latin typeface="Symbol"/>
                <a:cs typeface="Symbol"/>
              </a:rPr>
              <a:t></a:t>
            </a:r>
            <a:r>
              <a:rPr sz="2475" spc="727" baseline="38720" dirty="0">
                <a:latin typeface="Times New Roman"/>
                <a:cs typeface="Times New Roman"/>
              </a:rPr>
              <a:t>	</a:t>
            </a:r>
            <a:r>
              <a:rPr sz="1650" spc="63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65300" y="2302496"/>
            <a:ext cx="1956435" cy="1406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  <a:tabLst>
                <a:tab pos="400050" algn="l"/>
              </a:tabLst>
            </a:pPr>
            <a:r>
              <a:rPr sz="1650" i="1" spc="310" dirty="0">
                <a:latin typeface="Times New Roman"/>
                <a:cs typeface="Times New Roman"/>
              </a:rPr>
              <a:t>if	</a:t>
            </a:r>
            <a:r>
              <a:rPr sz="1650" i="1" spc="770" dirty="0">
                <a:latin typeface="Times New Roman"/>
                <a:cs typeface="Times New Roman"/>
              </a:rPr>
              <a:t>R</a:t>
            </a:r>
            <a:r>
              <a:rPr sz="1650" i="1" spc="27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spc="285" dirty="0">
                <a:latin typeface="Times New Roman"/>
                <a:cs typeface="Times New Roman"/>
              </a:rPr>
              <a:t> </a:t>
            </a:r>
            <a:r>
              <a:rPr sz="1650" i="1" spc="750" dirty="0">
                <a:latin typeface="Times New Roman"/>
                <a:cs typeface="Times New Roman"/>
              </a:rPr>
              <a:t>Max</a:t>
            </a:r>
            <a:endParaRPr sz="1650">
              <a:latin typeface="Times New Roman"/>
              <a:cs typeface="Times New Roman"/>
            </a:endParaRPr>
          </a:p>
          <a:p>
            <a:pPr marL="270510" marR="5080" indent="-12065">
              <a:lnSpc>
                <a:spcPts val="4300"/>
              </a:lnSpc>
              <a:spcBef>
                <a:spcPts val="330"/>
              </a:spcBef>
              <a:tabLst>
                <a:tab pos="623570" algn="l"/>
                <a:tab pos="658495" algn="l"/>
              </a:tabLst>
            </a:pPr>
            <a:r>
              <a:rPr sz="1650" i="1" spc="310" dirty="0">
                <a:latin typeface="Times New Roman"/>
                <a:cs typeface="Times New Roman"/>
              </a:rPr>
              <a:t>if	</a:t>
            </a:r>
            <a:r>
              <a:rPr sz="1650" i="1" spc="910" dirty="0">
                <a:latin typeface="Times New Roman"/>
                <a:cs typeface="Times New Roman"/>
              </a:rPr>
              <a:t>G</a:t>
            </a:r>
            <a:r>
              <a:rPr sz="1650" i="1" spc="30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spc="265" dirty="0">
                <a:latin typeface="Times New Roman"/>
                <a:cs typeface="Times New Roman"/>
              </a:rPr>
              <a:t> </a:t>
            </a:r>
            <a:r>
              <a:rPr sz="1650" i="1" spc="750" dirty="0">
                <a:latin typeface="Times New Roman"/>
                <a:cs typeface="Times New Roman"/>
              </a:rPr>
              <a:t>Max </a:t>
            </a:r>
            <a:r>
              <a:rPr sz="1650" i="1" spc="-395" dirty="0">
                <a:latin typeface="Times New Roman"/>
                <a:cs typeface="Times New Roman"/>
              </a:rPr>
              <a:t> </a:t>
            </a:r>
            <a:r>
              <a:rPr sz="1650" i="1" spc="310" dirty="0">
                <a:latin typeface="Times New Roman"/>
                <a:cs typeface="Times New Roman"/>
              </a:rPr>
              <a:t>if		</a:t>
            </a:r>
            <a:r>
              <a:rPr sz="1650" i="1" spc="770" dirty="0">
                <a:latin typeface="Times New Roman"/>
                <a:cs typeface="Times New Roman"/>
              </a:rPr>
              <a:t>B</a:t>
            </a:r>
            <a:r>
              <a:rPr sz="1650" i="1" spc="26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spc="270" dirty="0">
                <a:latin typeface="Times New Roman"/>
                <a:cs typeface="Times New Roman"/>
              </a:rPr>
              <a:t> </a:t>
            </a:r>
            <a:r>
              <a:rPr sz="1650" i="1" spc="750" dirty="0">
                <a:latin typeface="Times New Roman"/>
                <a:cs typeface="Times New Roman"/>
              </a:rPr>
              <a:t>Max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97907" y="2302496"/>
            <a:ext cx="30353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475" spc="727" baseline="-5050" dirty="0">
                <a:latin typeface="Symbol"/>
                <a:cs typeface="Symbol"/>
              </a:rPr>
              <a:t></a:t>
            </a:r>
            <a:r>
              <a:rPr sz="2475" spc="-112" baseline="-5050" dirty="0">
                <a:latin typeface="Times New Roman"/>
                <a:cs typeface="Times New Roman"/>
              </a:rPr>
              <a:t> </a:t>
            </a:r>
            <a:r>
              <a:rPr sz="1650" spc="315" dirty="0">
                <a:latin typeface="Symbol"/>
                <a:cs typeface="Symbol"/>
              </a:rPr>
              <a:t>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7907" y="2185915"/>
            <a:ext cx="1676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spc="484" dirty="0">
                <a:latin typeface="Symbol"/>
                <a:cs typeface="Symbol"/>
              </a:rPr>
              <a:t>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15790" y="2319818"/>
            <a:ext cx="1676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spc="484" dirty="0">
                <a:latin typeface="Symbol"/>
                <a:cs typeface="Symbol"/>
              </a:rPr>
              <a:t>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15790" y="2185915"/>
            <a:ext cx="16764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spc="484" dirty="0">
                <a:latin typeface="Symbol"/>
                <a:cs typeface="Symbol"/>
              </a:rPr>
              <a:t>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77691" y="2465675"/>
            <a:ext cx="2689225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spcBef>
                <a:spcPts val="90"/>
              </a:spcBef>
              <a:tabLst>
                <a:tab pos="2465070" algn="l"/>
              </a:tabLst>
            </a:pPr>
            <a:r>
              <a:rPr sz="2475" spc="727" baseline="-6734" dirty="0">
                <a:latin typeface="Symbol"/>
                <a:cs typeface="Symbol"/>
              </a:rPr>
              <a:t></a:t>
            </a:r>
            <a:r>
              <a:rPr sz="2475" spc="322" baseline="-6734" dirty="0">
                <a:latin typeface="Times New Roman"/>
                <a:cs typeface="Times New Roman"/>
              </a:rPr>
              <a:t> </a:t>
            </a:r>
            <a:r>
              <a:rPr sz="1650" i="1" spc="750" dirty="0">
                <a:latin typeface="Times New Roman"/>
                <a:cs typeface="Times New Roman"/>
              </a:rPr>
              <a:t>Max</a:t>
            </a:r>
            <a:r>
              <a:rPr sz="1650" i="1" spc="10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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i="1" spc="650" dirty="0">
                <a:latin typeface="Times New Roman"/>
                <a:cs typeface="Times New Roman"/>
              </a:rPr>
              <a:t>Min</a:t>
            </a:r>
            <a:r>
              <a:rPr sz="1650" i="1" spc="185" dirty="0">
                <a:latin typeface="Times New Roman"/>
                <a:cs typeface="Times New Roman"/>
              </a:rPr>
              <a:t> </a:t>
            </a:r>
            <a:r>
              <a:rPr sz="2475" spc="727" baseline="-6734" dirty="0">
                <a:latin typeface="Symbol"/>
                <a:cs typeface="Symbol"/>
              </a:rPr>
              <a:t></a:t>
            </a:r>
            <a:r>
              <a:rPr sz="2475" spc="727" baseline="-6734" dirty="0">
                <a:latin typeface="Times New Roman"/>
                <a:cs typeface="Times New Roman"/>
              </a:rPr>
              <a:t>	</a:t>
            </a:r>
            <a:r>
              <a:rPr sz="1650" spc="630" dirty="0">
                <a:latin typeface="Times New Roman"/>
                <a:cs typeface="Times New Roman"/>
              </a:rPr>
              <a:t>6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0137" y="2170671"/>
            <a:ext cx="872490" cy="2654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650" i="1" spc="910" dirty="0">
                <a:latin typeface="Times New Roman"/>
                <a:cs typeface="Times New Roman"/>
              </a:rPr>
              <a:t>G</a:t>
            </a:r>
            <a:r>
              <a:rPr sz="1650" i="1" spc="125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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i="1" spc="770" dirty="0"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57012" y="2717024"/>
            <a:ext cx="4237990" cy="407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27710">
              <a:lnSpc>
                <a:spcPts val="1510"/>
              </a:lnSpc>
              <a:spcBef>
                <a:spcPts val="90"/>
              </a:spcBef>
              <a:tabLst>
                <a:tab pos="1608455" algn="l"/>
                <a:tab pos="2036445" algn="l"/>
                <a:tab pos="3252470" algn="l"/>
                <a:tab pos="3643629" algn="l"/>
              </a:tabLst>
            </a:pPr>
            <a:r>
              <a:rPr sz="2475" spc="772" baseline="16835" dirty="0">
                <a:latin typeface="Symbol"/>
                <a:cs typeface="Symbol"/>
              </a:rPr>
              <a:t></a:t>
            </a:r>
            <a:r>
              <a:rPr sz="2475" spc="772" baseline="-3367" dirty="0">
                <a:latin typeface="Symbol"/>
                <a:cs typeface="Symbol"/>
              </a:rPr>
              <a:t></a:t>
            </a:r>
            <a:r>
              <a:rPr sz="2475" spc="772" baseline="-3367" dirty="0">
                <a:latin typeface="Times New Roman"/>
                <a:cs typeface="Times New Roman"/>
              </a:rPr>
              <a:t>	</a:t>
            </a:r>
            <a:r>
              <a:rPr sz="1650" i="1" u="sng" spc="8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i="1" u="sng" spc="5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50" i="1" u="sng" spc="7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1650" i="1" u="sng" spc="1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u="sng" spc="69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1650" u="sng" spc="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i="1" u="sng" spc="7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	</a:t>
            </a:r>
            <a:r>
              <a:rPr sz="2475" spc="727" baseline="-3367" dirty="0">
                <a:latin typeface="Symbol"/>
                <a:cs typeface="Symbol"/>
              </a:rPr>
              <a:t></a:t>
            </a:r>
            <a:r>
              <a:rPr sz="2475" spc="727" baseline="-3367" dirty="0">
                <a:latin typeface="Times New Roman"/>
                <a:cs typeface="Times New Roman"/>
              </a:rPr>
              <a:t>	</a:t>
            </a:r>
            <a:r>
              <a:rPr sz="1650" u="sng" spc="6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360</a:t>
            </a:r>
            <a:endParaRPr sz="1650">
              <a:latin typeface="Times New Roman"/>
              <a:cs typeface="Times New Roman"/>
            </a:endParaRPr>
          </a:p>
          <a:p>
            <a:pPr marL="38100">
              <a:lnSpc>
                <a:spcPts val="1510"/>
              </a:lnSpc>
              <a:tabLst>
                <a:tab pos="437515" algn="l"/>
                <a:tab pos="1087120" algn="l"/>
                <a:tab pos="3485515" algn="l"/>
              </a:tabLst>
            </a:pPr>
            <a:r>
              <a:rPr sz="1650" i="1" spc="910" dirty="0">
                <a:latin typeface="Times New Roman"/>
                <a:cs typeface="Times New Roman"/>
              </a:rPr>
              <a:t>H	</a:t>
            </a:r>
            <a:r>
              <a:rPr sz="1650" spc="695" dirty="0">
                <a:latin typeface="Symbol"/>
                <a:cs typeface="Symbol"/>
              </a:rPr>
              <a:t></a:t>
            </a:r>
            <a:r>
              <a:rPr sz="1650" spc="695" dirty="0">
                <a:latin typeface="Times New Roman"/>
                <a:cs typeface="Times New Roman"/>
              </a:rPr>
              <a:t>	</a:t>
            </a:r>
            <a:r>
              <a:rPr sz="1650" spc="630" dirty="0">
                <a:latin typeface="Times New Roman"/>
                <a:cs typeface="Times New Roman"/>
              </a:rPr>
              <a:t>2</a:t>
            </a:r>
            <a:r>
              <a:rPr sz="1650" spc="40" dirty="0">
                <a:latin typeface="Times New Roman"/>
                <a:cs typeface="Times New Roman"/>
              </a:rPr>
              <a:t> </a:t>
            </a:r>
            <a:r>
              <a:rPr sz="1650" spc="695" dirty="0">
                <a:latin typeface="Symbol"/>
                <a:cs typeface="Symbol"/>
              </a:rPr>
              <a:t></a:t>
            </a:r>
            <a:r>
              <a:rPr sz="1650" spc="695" dirty="0">
                <a:latin typeface="Times New Roman"/>
                <a:cs typeface="Times New Roman"/>
              </a:rPr>
              <a:t>	</a:t>
            </a:r>
            <a:r>
              <a:rPr sz="1650" spc="315" dirty="0">
                <a:latin typeface="Symbol"/>
                <a:cs typeface="Symbol"/>
              </a:rPr>
              <a:t></a:t>
            </a:r>
            <a:endParaRPr sz="1650">
              <a:latin typeface="Symbol"/>
              <a:cs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40156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504571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Không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gian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YIQ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83589"/>
            <a:ext cx="7831455" cy="36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40055" indent="-343535"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dirty="0">
                <a:latin typeface="Verdana"/>
                <a:cs typeface="Verdana"/>
              </a:rPr>
              <a:t>Mô hình </a:t>
            </a:r>
            <a:r>
              <a:rPr sz="2100" spc="-5" dirty="0">
                <a:latin typeface="Verdana"/>
                <a:cs typeface="Verdana"/>
              </a:rPr>
              <a:t>không gian màu </a:t>
            </a:r>
            <a:r>
              <a:rPr sz="2100" dirty="0">
                <a:latin typeface="Verdana"/>
                <a:cs typeface="Verdana"/>
              </a:rPr>
              <a:t>này </a:t>
            </a:r>
            <a:r>
              <a:rPr sz="2100" spc="-5" dirty="0">
                <a:latin typeface="Verdana"/>
                <a:cs typeface="Verdana"/>
              </a:rPr>
              <a:t>được </a:t>
            </a:r>
            <a:r>
              <a:rPr sz="2100" dirty="0">
                <a:latin typeface="Verdana"/>
                <a:cs typeface="Verdana"/>
              </a:rPr>
              <a:t>áp </a:t>
            </a:r>
            <a:r>
              <a:rPr sz="2100" spc="-5" dirty="0">
                <a:latin typeface="Verdana"/>
                <a:cs typeface="Verdana"/>
              </a:rPr>
              <a:t>dụng </a:t>
            </a:r>
            <a:r>
              <a:rPr sz="2100" dirty="0">
                <a:latin typeface="Verdana"/>
                <a:cs typeface="Verdana"/>
              </a:rPr>
              <a:t>cho 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National Television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Standards</a:t>
            </a:r>
            <a:r>
              <a:rPr sz="2100" spc="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Committee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(NTSC)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để </a:t>
            </a:r>
            <a:r>
              <a:rPr sz="2100" spc="-7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phát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sóng</a:t>
            </a:r>
            <a:r>
              <a:rPr sz="2100" spc="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TV</a:t>
            </a:r>
            <a:endParaRPr sz="2100">
              <a:latin typeface="Verdana"/>
              <a:cs typeface="Verdana"/>
            </a:endParaRPr>
          </a:p>
          <a:p>
            <a:pPr marL="355600" indent="-343535">
              <a:spcBef>
                <a:spcPts val="50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dirty="0">
                <a:latin typeface="Verdana"/>
                <a:cs typeface="Verdana"/>
              </a:rPr>
              <a:t>Mô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hình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này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dựa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trên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thuộc tính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của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mắt</a:t>
            </a:r>
            <a:r>
              <a:rPr sz="2100" spc="-5" dirty="0">
                <a:latin typeface="Verdana"/>
                <a:cs typeface="Verdana"/>
              </a:rPr>
              <a:t> người:</a:t>
            </a:r>
            <a:endParaRPr sz="2100">
              <a:latin typeface="Verdana"/>
              <a:cs typeface="Verdana"/>
            </a:endParaRPr>
          </a:p>
          <a:p>
            <a:pPr marL="755650" marR="5080" indent="-19050">
              <a:spcBef>
                <a:spcPts val="484"/>
              </a:spcBef>
            </a:pPr>
            <a:r>
              <a:rPr sz="2000" spc="-5" dirty="0">
                <a:latin typeface="Verdana"/>
                <a:cs typeface="Verdana"/>
              </a:rPr>
              <a:t>nhạy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cảm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với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sự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thay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đổi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độ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sáng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(Luminance)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hơn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là </a:t>
            </a:r>
            <a:r>
              <a:rPr sz="2000" spc="-5" dirty="0">
                <a:latin typeface="Verdana"/>
                <a:cs typeface="Verdana"/>
              </a:rPr>
              <a:t> sự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thay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đổi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Hue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và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Saturation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nghĩa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là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khả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năng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chúng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ta phân </a:t>
            </a:r>
            <a:r>
              <a:rPr sz="2000" spc="-10" dirty="0">
                <a:latin typeface="Verdana"/>
                <a:cs typeface="Verdana"/>
              </a:rPr>
              <a:t>biệt </a:t>
            </a:r>
            <a:r>
              <a:rPr sz="2000" dirty="0">
                <a:latin typeface="Verdana"/>
                <a:cs typeface="Verdana"/>
              </a:rPr>
              <a:t>màu “không </a:t>
            </a:r>
            <a:r>
              <a:rPr sz="2000" spc="-5" dirty="0">
                <a:latin typeface="Verdana"/>
                <a:cs typeface="Verdana"/>
              </a:rPr>
              <a:t>gian” yếu </a:t>
            </a:r>
            <a:r>
              <a:rPr sz="2000" dirty="0">
                <a:latin typeface="Verdana"/>
                <a:cs typeface="Verdana"/>
              </a:rPr>
              <a:t>hơn khả năng </a:t>
            </a:r>
            <a:r>
              <a:rPr sz="2000" spc="-5" dirty="0">
                <a:latin typeface="Verdana"/>
                <a:cs typeface="Verdana"/>
              </a:rPr>
              <a:t>phân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biệt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đơn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sắc. Gợi cho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ý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nghĩ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là</a:t>
            </a:r>
            <a:r>
              <a:rPr sz="2000" spc="-10" dirty="0">
                <a:latin typeface="Verdana"/>
                <a:cs typeface="Verdana"/>
              </a:rPr>
              <a:t> sử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dụng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nhiều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bit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hơn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dùng để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biểu</a:t>
            </a:r>
            <a:r>
              <a:rPr sz="2000" spc="-5" dirty="0">
                <a:latin typeface="Verdana"/>
                <a:cs typeface="Verdana"/>
              </a:rPr>
              <a:t> diễn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Y (độ chói)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hơn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là</a:t>
            </a:r>
            <a:r>
              <a:rPr sz="2000" spc="-5" dirty="0">
                <a:latin typeface="Verdana"/>
                <a:cs typeface="Verdana"/>
              </a:rPr>
              <a:t> biểu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diễn</a:t>
            </a:r>
            <a:r>
              <a:rPr sz="2000" dirty="0">
                <a:latin typeface="Verdana"/>
                <a:cs typeface="Verdana"/>
              </a:rPr>
              <a:t> I(</a:t>
            </a:r>
            <a:r>
              <a:rPr sz="1900" i="1" dirty="0">
                <a:latin typeface="Verdana"/>
                <a:cs typeface="Verdana"/>
              </a:rPr>
              <a:t>in- </a:t>
            </a:r>
            <a:r>
              <a:rPr sz="1900" i="1" spc="5" dirty="0">
                <a:latin typeface="Verdana"/>
                <a:cs typeface="Verdana"/>
              </a:rPr>
              <a:t> </a:t>
            </a:r>
            <a:r>
              <a:rPr sz="1900" i="1" spc="-5" dirty="0">
                <a:latin typeface="Verdana"/>
                <a:cs typeface="Verdana"/>
              </a:rPr>
              <a:t>phase</a:t>
            </a:r>
            <a:r>
              <a:rPr sz="2000" spc="-5" dirty="0">
                <a:latin typeface="Verdana"/>
                <a:cs typeface="Verdana"/>
              </a:rPr>
              <a:t>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và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 (</a:t>
            </a:r>
            <a:r>
              <a:rPr i="1" spc="-5" dirty="0">
                <a:latin typeface="Verdana"/>
                <a:cs typeface="Verdana"/>
              </a:rPr>
              <a:t>quadrature</a:t>
            </a:r>
            <a:r>
              <a:rPr sz="2000" spc="-5" dirty="0">
                <a:latin typeface="Verdana"/>
                <a:cs typeface="Verdana"/>
              </a:rPr>
              <a:t>).</a:t>
            </a:r>
            <a:endParaRPr sz="2000">
              <a:latin typeface="Verdana"/>
              <a:cs typeface="Verdana"/>
            </a:endParaRPr>
          </a:p>
          <a:p>
            <a:pPr marL="355600" indent="-343535">
              <a:spcBef>
                <a:spcPts val="50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100" spc="-5" dirty="0">
                <a:latin typeface="Verdana"/>
                <a:cs typeface="Verdana"/>
              </a:rPr>
              <a:t>YIQ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là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nền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tảng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của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nén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ảnh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JPEG</a:t>
            </a:r>
            <a:endParaRPr sz="21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73384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695833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Chuyển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đổi </a:t>
            </a:r>
            <a:r>
              <a:rPr sz="3800" spc="-5" dirty="0">
                <a:latin typeface="Verdana"/>
                <a:cs typeface="Verdana"/>
              </a:rPr>
              <a:t>giữa RGB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và</a:t>
            </a:r>
            <a:r>
              <a:rPr sz="3800" spc="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YIQ</a:t>
            </a:r>
            <a:endParaRPr sz="3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922" y="2205227"/>
            <a:ext cx="7559802" cy="302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46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572516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Các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dạng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biểu</a:t>
            </a:r>
            <a:r>
              <a:rPr sz="3800" spc="-4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diễn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ảnh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691387"/>
            <a:ext cx="7684770" cy="40493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579880">
              <a:spcBef>
                <a:spcPts val="820"/>
              </a:spcBef>
            </a:pPr>
            <a:r>
              <a:rPr sz="3000" dirty="0">
                <a:solidFill>
                  <a:srgbClr val="CC0000"/>
                </a:solidFill>
                <a:latin typeface="Verdana"/>
                <a:cs typeface="Verdana"/>
              </a:rPr>
              <a:t>Một</a:t>
            </a:r>
            <a:r>
              <a:rPr sz="3000" spc="-2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CC0000"/>
                </a:solidFill>
                <a:latin typeface="Verdana"/>
                <a:cs typeface="Verdana"/>
              </a:rPr>
              <a:t>số</a:t>
            </a:r>
            <a:r>
              <a:rPr sz="3000" spc="-1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CC0000"/>
                </a:solidFill>
                <a:latin typeface="Verdana"/>
                <a:cs typeface="Verdana"/>
              </a:rPr>
              <a:t>khái</a:t>
            </a:r>
            <a:r>
              <a:rPr sz="3000" spc="-2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CC0000"/>
                </a:solidFill>
                <a:latin typeface="Verdana"/>
                <a:cs typeface="Verdana"/>
              </a:rPr>
              <a:t>niệm</a:t>
            </a:r>
            <a:r>
              <a:rPr sz="3000" spc="-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CC0000"/>
                </a:solidFill>
                <a:latin typeface="Verdana"/>
                <a:cs typeface="Verdana"/>
              </a:rPr>
              <a:t>cơ</a:t>
            </a:r>
            <a:r>
              <a:rPr sz="3000" spc="-1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CC0000"/>
                </a:solidFill>
                <a:latin typeface="Verdana"/>
                <a:cs typeface="Verdana"/>
              </a:rPr>
              <a:t>bản</a:t>
            </a:r>
            <a:endParaRPr sz="3000">
              <a:latin typeface="Verdana"/>
              <a:cs typeface="Verdana"/>
            </a:endParaRPr>
          </a:p>
          <a:p>
            <a:pPr marL="482600" marR="5080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</a:tabLst>
            </a:pPr>
            <a:r>
              <a:rPr sz="3000" spc="-5" dirty="0">
                <a:latin typeface="Verdana"/>
                <a:cs typeface="Verdana"/>
              </a:rPr>
              <a:t>Pixel: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là</a:t>
            </a:r>
            <a:r>
              <a:rPr sz="3000" spc="-1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đơn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vị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cơ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bản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mang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màu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sắc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của ảnh </a:t>
            </a:r>
            <a:r>
              <a:rPr sz="3000" spc="-10" dirty="0">
                <a:latin typeface="Verdana"/>
                <a:cs typeface="Verdana"/>
              </a:rPr>
              <a:t>hiển </a:t>
            </a:r>
            <a:r>
              <a:rPr sz="3000" spc="-5" dirty="0">
                <a:latin typeface="Verdana"/>
                <a:cs typeface="Verdana"/>
              </a:rPr>
              <a:t>thị theo phương thức </a:t>
            </a:r>
            <a:r>
              <a:rPr sz="300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raster</a:t>
            </a:r>
            <a:endParaRPr sz="3000">
              <a:latin typeface="Verdana"/>
              <a:cs typeface="Verdana"/>
            </a:endParaRPr>
          </a:p>
          <a:p>
            <a:pPr marL="482600" marR="172720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</a:tabLst>
            </a:pPr>
            <a:r>
              <a:rPr sz="3000" dirty="0">
                <a:latin typeface="Verdana"/>
                <a:cs typeface="Verdana"/>
              </a:rPr>
              <a:t>Ảnh</a:t>
            </a:r>
            <a:r>
              <a:rPr sz="3000" spc="-1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số: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là</a:t>
            </a:r>
            <a:r>
              <a:rPr sz="3000" spc="-1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ma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trận</a:t>
            </a:r>
            <a:r>
              <a:rPr sz="3000" spc="-1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hai</a:t>
            </a:r>
            <a:r>
              <a:rPr sz="3000" spc="-1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chiều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mà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mỗi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phần tử là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một</a:t>
            </a:r>
            <a:r>
              <a:rPr sz="3000" spc="-5" dirty="0">
                <a:latin typeface="Verdana"/>
                <a:cs typeface="Verdana"/>
              </a:rPr>
              <a:t> pixel</a:t>
            </a:r>
            <a:endParaRPr sz="3000">
              <a:latin typeface="Verdana"/>
              <a:cs typeface="Verdana"/>
            </a:endParaRPr>
          </a:p>
          <a:p>
            <a:pPr marL="482600" marR="122555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</a:tabLst>
            </a:pPr>
            <a:r>
              <a:rPr sz="3000" dirty="0">
                <a:latin typeface="Verdana"/>
                <a:cs typeface="Verdana"/>
              </a:rPr>
              <a:t>Mỗi </a:t>
            </a:r>
            <a:r>
              <a:rPr sz="3000" spc="-5" dirty="0">
                <a:latin typeface="Verdana"/>
                <a:cs typeface="Verdana"/>
              </a:rPr>
              <a:t>pixel </a:t>
            </a:r>
            <a:r>
              <a:rPr sz="3000" dirty="0">
                <a:latin typeface="Verdana"/>
                <a:cs typeface="Verdana"/>
              </a:rPr>
              <a:t>của </a:t>
            </a:r>
            <a:r>
              <a:rPr sz="3000" spc="-5" dirty="0">
                <a:latin typeface="Verdana"/>
                <a:cs typeface="Verdana"/>
              </a:rPr>
              <a:t>ảnh được đặc trưng bởi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tọa độ </a:t>
            </a:r>
            <a:r>
              <a:rPr sz="3000" dirty="0">
                <a:latin typeface="Verdana"/>
                <a:cs typeface="Verdana"/>
              </a:rPr>
              <a:t>và</a:t>
            </a:r>
            <a:r>
              <a:rPr sz="3000" spc="-5" dirty="0">
                <a:latin typeface="Verdana"/>
                <a:cs typeface="Verdana"/>
              </a:rPr>
              <a:t> màu</a:t>
            </a:r>
            <a:r>
              <a:rPr sz="3000" spc="-1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sắc</a:t>
            </a:r>
            <a:r>
              <a:rPr sz="3000" spc="-5" dirty="0">
                <a:latin typeface="Verdana"/>
                <a:cs typeface="Verdana"/>
              </a:rPr>
              <a:t> (x,y,V)</a:t>
            </a:r>
            <a:endParaRPr sz="3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86146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666750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Số hóa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bằng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ảnh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đen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trắng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83588"/>
            <a:ext cx="724090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5080" indent="-470534">
              <a:spcBef>
                <a:spcPts val="95"/>
              </a:spcBef>
              <a:tabLst>
                <a:tab pos="482600" algn="l"/>
              </a:tabLst>
            </a:pPr>
            <a:r>
              <a:rPr sz="2600" spc="-5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2600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Verdana"/>
                <a:cs typeface="Verdana"/>
              </a:rPr>
              <a:t>Khi V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là một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bit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(0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hoặc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1)</a:t>
            </a:r>
            <a:r>
              <a:rPr sz="2600" spc="-5" dirty="0">
                <a:latin typeface="Verdana"/>
                <a:cs typeface="Verdana"/>
              </a:rPr>
              <a:t> thì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ảnh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thuộc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lớp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ảnh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đen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trắng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(BW)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11196" y="2690623"/>
            <a:ext cx="7345680" cy="3301365"/>
            <a:chOff x="1187196" y="2690622"/>
            <a:chExt cx="7345680" cy="3301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7196" y="2690622"/>
              <a:ext cx="3313176" cy="33009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84501" y="3011805"/>
              <a:ext cx="2665095" cy="285750"/>
            </a:xfrm>
            <a:custGeom>
              <a:avLst/>
              <a:gdLst/>
              <a:ahLst/>
              <a:cxnLst/>
              <a:rect l="l" t="t" r="r" b="b"/>
              <a:pathLst>
                <a:path w="2665095" h="285750">
                  <a:moveTo>
                    <a:pt x="76948" y="50810"/>
                  </a:moveTo>
                  <a:lnTo>
                    <a:pt x="74941" y="75832"/>
                  </a:lnTo>
                  <a:lnTo>
                    <a:pt x="2662936" y="285369"/>
                  </a:lnTo>
                  <a:lnTo>
                    <a:pt x="2664968" y="260223"/>
                  </a:lnTo>
                  <a:lnTo>
                    <a:pt x="76948" y="50810"/>
                  </a:lnTo>
                  <a:close/>
                </a:path>
                <a:path w="2665095" h="285750">
                  <a:moveTo>
                    <a:pt x="81025" y="0"/>
                  </a:moveTo>
                  <a:lnTo>
                    <a:pt x="0" y="57150"/>
                  </a:lnTo>
                  <a:lnTo>
                    <a:pt x="70866" y="126619"/>
                  </a:lnTo>
                  <a:lnTo>
                    <a:pt x="74941" y="75832"/>
                  </a:lnTo>
                  <a:lnTo>
                    <a:pt x="62230" y="74803"/>
                  </a:lnTo>
                  <a:lnTo>
                    <a:pt x="64262" y="49784"/>
                  </a:lnTo>
                  <a:lnTo>
                    <a:pt x="77031" y="49784"/>
                  </a:lnTo>
                  <a:lnTo>
                    <a:pt x="81025" y="0"/>
                  </a:lnTo>
                  <a:close/>
                </a:path>
                <a:path w="2665095" h="285750">
                  <a:moveTo>
                    <a:pt x="64262" y="49784"/>
                  </a:moveTo>
                  <a:lnTo>
                    <a:pt x="62230" y="74803"/>
                  </a:lnTo>
                  <a:lnTo>
                    <a:pt x="74941" y="75832"/>
                  </a:lnTo>
                  <a:lnTo>
                    <a:pt x="76948" y="50810"/>
                  </a:lnTo>
                  <a:lnTo>
                    <a:pt x="64262" y="49784"/>
                  </a:lnTo>
                  <a:close/>
                </a:path>
                <a:path w="2665095" h="285750">
                  <a:moveTo>
                    <a:pt x="77031" y="49784"/>
                  </a:moveTo>
                  <a:lnTo>
                    <a:pt x="64262" y="49784"/>
                  </a:lnTo>
                  <a:lnTo>
                    <a:pt x="76948" y="50810"/>
                  </a:lnTo>
                  <a:lnTo>
                    <a:pt x="77031" y="4978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2852" y="2708148"/>
              <a:ext cx="3240024" cy="2363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3482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35876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Số hóa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bằng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ảnh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xám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50061"/>
            <a:ext cx="7922895" cy="9645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82600" marR="5080" indent="-470534">
              <a:lnSpc>
                <a:spcPts val="2380"/>
              </a:lnSpc>
              <a:spcBef>
                <a:spcPts val="395"/>
              </a:spcBef>
              <a:tabLst>
                <a:tab pos="482600" algn="l"/>
              </a:tabLst>
            </a:pPr>
            <a:r>
              <a:rPr sz="22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220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latin typeface="Verdana"/>
                <a:cs typeface="Verdana"/>
              </a:rPr>
              <a:t>Khi V </a:t>
            </a:r>
            <a:r>
              <a:rPr sz="2200" spc="-5" dirty="0">
                <a:latin typeface="Verdana"/>
                <a:cs typeface="Verdana"/>
              </a:rPr>
              <a:t>là </a:t>
            </a:r>
            <a:r>
              <a:rPr sz="2200" dirty="0">
                <a:latin typeface="Verdana"/>
                <a:cs typeface="Verdana"/>
              </a:rPr>
              <a:t>một </a:t>
            </a:r>
            <a:r>
              <a:rPr sz="2200" spc="-5" dirty="0">
                <a:latin typeface="Verdana"/>
                <a:cs typeface="Verdana"/>
              </a:rPr>
              <a:t>giá trị thực (float) (trong khoảng </a:t>
            </a:r>
            <a:r>
              <a:rPr sz="2200" dirty="0">
                <a:latin typeface="Verdana"/>
                <a:cs typeface="Verdana"/>
              </a:rPr>
              <a:t>0 đến 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1) </a:t>
            </a:r>
            <a:r>
              <a:rPr sz="2200" spc="-5" dirty="0">
                <a:latin typeface="Verdana"/>
                <a:cs typeface="Verdana"/>
              </a:rPr>
              <a:t>thì </a:t>
            </a:r>
            <a:r>
              <a:rPr sz="2200" dirty="0">
                <a:latin typeface="Verdana"/>
                <a:cs typeface="Verdana"/>
              </a:rPr>
              <a:t>ảnh </a:t>
            </a:r>
            <a:r>
              <a:rPr sz="2200" spc="-5" dirty="0">
                <a:latin typeface="Verdana"/>
                <a:cs typeface="Verdana"/>
              </a:rPr>
              <a:t>thuộc lớp </a:t>
            </a:r>
            <a:r>
              <a:rPr sz="2200" dirty="0">
                <a:latin typeface="Verdana"/>
                <a:cs typeface="Verdana"/>
              </a:rPr>
              <a:t>ảnh xám </a:t>
            </a:r>
            <a:r>
              <a:rPr sz="2200" spc="-5" dirty="0">
                <a:latin typeface="Verdana"/>
                <a:cs typeface="Verdana"/>
              </a:rPr>
              <a:t>(gray image), trong đó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đặc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trưng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cho </a:t>
            </a:r>
            <a:r>
              <a:rPr sz="2200" spc="-5" dirty="0">
                <a:latin typeface="Verdana"/>
                <a:cs typeface="Verdana"/>
              </a:rPr>
              <a:t>độ </a:t>
            </a:r>
            <a:r>
              <a:rPr sz="2200" dirty="0">
                <a:latin typeface="Verdana"/>
                <a:cs typeface="Verdana"/>
              </a:rPr>
              <a:t>sáng của</a:t>
            </a:r>
            <a:r>
              <a:rPr sz="2200" spc="-5" dirty="0">
                <a:latin typeface="Verdana"/>
                <a:cs typeface="Verdana"/>
              </a:rPr>
              <a:t> pixel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(gray intensity)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1196" y="2924555"/>
            <a:ext cx="7056882" cy="296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14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37908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Số hóa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bằng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ảnh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750061"/>
            <a:ext cx="7735570" cy="9645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482600" marR="5080" indent="-470534">
              <a:lnSpc>
                <a:spcPts val="2380"/>
              </a:lnSpc>
              <a:spcBef>
                <a:spcPts val="395"/>
              </a:spcBef>
              <a:tabLst>
                <a:tab pos="482600" algn="l"/>
              </a:tabLst>
            </a:pPr>
            <a:r>
              <a:rPr sz="22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220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latin typeface="Verdana"/>
                <a:cs typeface="Verdana"/>
              </a:rPr>
              <a:t>Khi V </a:t>
            </a:r>
            <a:r>
              <a:rPr sz="2200" spc="-5" dirty="0">
                <a:latin typeface="Verdana"/>
                <a:cs typeface="Verdana"/>
              </a:rPr>
              <a:t>là </a:t>
            </a:r>
            <a:r>
              <a:rPr sz="2200" dirty="0">
                <a:latin typeface="Verdana"/>
                <a:cs typeface="Verdana"/>
              </a:rPr>
              <a:t>vector </a:t>
            </a:r>
            <a:r>
              <a:rPr sz="2200" spc="-5" dirty="0">
                <a:latin typeface="Verdana"/>
                <a:cs typeface="Verdana"/>
              </a:rPr>
              <a:t>giá trị thực (Vr,Vg,Vb) thì </a:t>
            </a:r>
            <a:r>
              <a:rPr sz="2200" dirty="0">
                <a:latin typeface="Verdana"/>
                <a:cs typeface="Verdana"/>
              </a:rPr>
              <a:t>ảnh </a:t>
            </a:r>
            <a:r>
              <a:rPr sz="2200" spc="-5" dirty="0">
                <a:latin typeface="Verdana"/>
                <a:cs typeface="Verdana"/>
              </a:rPr>
              <a:t>thuộc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lớp </a:t>
            </a:r>
            <a:r>
              <a:rPr sz="2200" dirty="0">
                <a:latin typeface="Verdana"/>
                <a:cs typeface="Verdana"/>
              </a:rPr>
              <a:t>ảnh màu </a:t>
            </a:r>
            <a:r>
              <a:rPr sz="2200" spc="-5" dirty="0">
                <a:latin typeface="Verdana"/>
                <a:cs typeface="Verdana"/>
              </a:rPr>
              <a:t>(true </a:t>
            </a:r>
            <a:r>
              <a:rPr sz="2200" dirty="0">
                <a:latin typeface="Verdana"/>
                <a:cs typeface="Verdana"/>
              </a:rPr>
              <a:t>color </a:t>
            </a:r>
            <a:r>
              <a:rPr sz="2200" spc="-5" dirty="0">
                <a:latin typeface="Verdana"/>
                <a:cs typeface="Verdana"/>
              </a:rPr>
              <a:t>image), trong đó </a:t>
            </a:r>
            <a:r>
              <a:rPr sz="2200" dirty="0">
                <a:latin typeface="Verdana"/>
                <a:cs typeface="Verdana"/>
              </a:rPr>
              <a:t>V </a:t>
            </a:r>
            <a:r>
              <a:rPr sz="2200" spc="-5" dirty="0">
                <a:latin typeface="Verdana"/>
                <a:cs typeface="Verdana"/>
              </a:rPr>
              <a:t>đặc 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trưng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cho </a:t>
            </a:r>
            <a:r>
              <a:rPr sz="2200" spc="-5" dirty="0">
                <a:latin typeface="Verdana"/>
                <a:cs typeface="Verdana"/>
              </a:rPr>
              <a:t>màu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sắc</a:t>
            </a:r>
            <a:r>
              <a:rPr sz="2200" dirty="0">
                <a:latin typeface="Verdana"/>
                <a:cs typeface="Verdana"/>
              </a:rPr>
              <a:t> của </a:t>
            </a:r>
            <a:r>
              <a:rPr sz="2200" spc="-5" dirty="0">
                <a:latin typeface="Verdana"/>
                <a:cs typeface="Verdana"/>
              </a:rPr>
              <a:t>pixel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622" y="2781300"/>
            <a:ext cx="6409182" cy="3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056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203</TotalTime>
  <Words>1529</Words>
  <Application>Microsoft Office PowerPoint</Application>
  <PresentationFormat>Widescreen</PresentationFormat>
  <Paragraphs>141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Constantia</vt:lpstr>
      <vt:lpstr>Corbel</vt:lpstr>
      <vt:lpstr>Symbol</vt:lpstr>
      <vt:lpstr>Times New Roman</vt:lpstr>
      <vt:lpstr>Verdana</vt:lpstr>
      <vt:lpstr>Wingdings</vt:lpstr>
      <vt:lpstr>Parallax</vt:lpstr>
      <vt:lpstr>PowerPoint Presentation</vt:lpstr>
      <vt:lpstr>PowerPoint Presentation</vt:lpstr>
      <vt:lpstr>PowerPoint Presentation</vt:lpstr>
      <vt:lpstr>Con người cảm nhận ánh sáng  thế nào?</vt:lpstr>
      <vt:lpstr>Đặc tính của ánh sáng</vt:lpstr>
      <vt:lpstr>Màu là gì?</vt:lpstr>
      <vt:lpstr>Mô hình màu &amp; Không gian màu</vt:lpstr>
      <vt:lpstr>Mô hình màu &amp; Không gian màu</vt:lpstr>
      <vt:lpstr>Định lý cơ bản về biểu diễn màu</vt:lpstr>
      <vt:lpstr>Không gian màu RGB</vt:lpstr>
      <vt:lpstr>PowerPoint Presentation</vt:lpstr>
      <vt:lpstr>Không gian màu CMYK</vt:lpstr>
      <vt:lpstr>Mô hình màu CMYK</vt:lpstr>
      <vt:lpstr>Chuyển đổi giữa RGB và CMY</vt:lpstr>
      <vt:lpstr>Mô hình màu HSV</vt:lpstr>
      <vt:lpstr>Biểu diễn HSV</vt:lpstr>
      <vt:lpstr>Chuyển đổi giữa RGB và HSV</vt:lpstr>
      <vt:lpstr>Không gian màu YIQ</vt:lpstr>
      <vt:lpstr>Chuyển đổi giữa RGB và YIQ</vt:lpstr>
      <vt:lpstr>Các dạng biểu diễn ảnh</vt:lpstr>
      <vt:lpstr>Số hóa bằng ảnh đen trắng</vt:lpstr>
      <vt:lpstr>Số hóa bằng ảnh xám</vt:lpstr>
      <vt:lpstr>Số hóa bằng ảnh màu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19</cp:revision>
  <dcterms:created xsi:type="dcterms:W3CDTF">2024-02-21T06:49:26Z</dcterms:created>
  <dcterms:modified xsi:type="dcterms:W3CDTF">2024-02-23T14:42:01Z</dcterms:modified>
</cp:coreProperties>
</file>