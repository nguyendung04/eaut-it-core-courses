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7" r:id="rId2"/>
    <p:sldId id="261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D1BEA3-C1B4-4F81-B774-56CF4F6F2B3D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E357F2-8A00-477D-A2A6-A064B5B7C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760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56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706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698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6474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08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61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206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2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617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25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9592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9635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1943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1409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02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46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00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B332451-59EE-4703-9BE2-548560EDBB43}" type="datetimeFigureOut">
              <a:rPr lang="en-US" smtClean="0"/>
              <a:t>23/02/2024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C668D0-FFF1-47C5-8061-FF1B22C34E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5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45390" y="2673921"/>
            <a:ext cx="6773956" cy="1063579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25774" algn="ctr"/>
            <a:r>
              <a:rPr lang="en-US"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KỸ THUẬT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ĐỒ</a:t>
            </a:r>
            <a:r>
              <a:rPr sz="3530" b="1" spc="-4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HỌA</a:t>
            </a:r>
            <a:r>
              <a:rPr sz="3530" b="1" spc="-13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MÁY</a:t>
            </a:r>
            <a:r>
              <a:rPr sz="3530" b="1" spc="-22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 </a:t>
            </a:r>
            <a:r>
              <a:rPr sz="3530" b="1" spc="-18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TÍNH</a:t>
            </a:r>
            <a:endParaRPr sz="3530" b="1" dirty="0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  <a:p>
            <a:pPr algn="ctr">
              <a:spcBef>
                <a:spcPts val="1006"/>
              </a:spcBef>
            </a:pPr>
            <a:r>
              <a:rPr lang="en-US" sz="2471" b="1" dirty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(3TC)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35366" y="4332263"/>
            <a:ext cx="3103735" cy="15586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588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GV: 	</a:t>
            </a:r>
            <a:r>
              <a:rPr lang="en-US" sz="1588" b="1" dirty="0" err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Ngô</a:t>
            </a: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Thùy Giang</a:t>
            </a:r>
          </a:p>
          <a:p>
            <a:pPr>
              <a:lnSpc>
                <a:spcPct val="150000"/>
              </a:lnSpc>
            </a:pP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Khoa: 	Công nghệ thông tin</a:t>
            </a:r>
          </a:p>
          <a:p>
            <a:pPr>
              <a:lnSpc>
                <a:spcPct val="150000"/>
              </a:lnSpc>
            </a:pPr>
            <a:r>
              <a:rPr lang="en-US" sz="1588" b="1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SĐT: 	</a:t>
            </a:r>
            <a:r>
              <a:rPr lang="en-US" sz="1588" b="1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0979.357.190</a:t>
            </a:r>
          </a:p>
          <a:p>
            <a:pPr>
              <a:lnSpc>
                <a:spcPct val="150000"/>
              </a:lnSpc>
            </a:pPr>
            <a:r>
              <a:rPr lang="en-US" sz="1588" b="1" smtClean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Email:giangnt@eaut.edu.vn</a:t>
            </a:r>
            <a:endParaRPr lang="en-US" sz="1588" b="1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428" y="648853"/>
            <a:ext cx="1900925" cy="1900925"/>
          </a:xfrm>
          <a:prstGeom prst="rect">
            <a:avLst/>
          </a:prstGeom>
        </p:spPr>
      </p:pic>
      <p:sp>
        <p:nvSpPr>
          <p:cNvPr id="6" name="object 2"/>
          <p:cNvSpPr txBox="1"/>
          <p:nvPr/>
        </p:nvSpPr>
        <p:spPr>
          <a:xfrm>
            <a:off x="3256226" y="1251791"/>
            <a:ext cx="6773956" cy="381213"/>
          </a:xfrm>
          <a:prstGeom prst="rect">
            <a:avLst/>
          </a:prstGeom>
        </p:spPr>
        <p:txBody>
          <a:bodyPr vert="horz" wrap="square" lIns="0" tIns="11766" rIns="0" bIns="0" rtlCol="0">
            <a:spAutoFit/>
          </a:bodyPr>
          <a:lstStyle/>
          <a:p>
            <a:pPr marL="25774" algn="ctr"/>
            <a:r>
              <a:rPr lang="en-US" sz="2400" b="1" smtClean="0">
                <a:solidFill>
                  <a:schemeClr val="accent1">
                    <a:lumMod val="50000"/>
                  </a:schemeClr>
                </a:solidFill>
                <a:latin typeface="Arial"/>
                <a:cs typeface="Arial"/>
              </a:rPr>
              <a:t>TRƯỜNG ĐẠI HỌC CÔNG NGHỆ ĐÔNG Á</a:t>
            </a:r>
            <a:endParaRPr lang="en-US" sz="2400" b="1">
              <a:solidFill>
                <a:schemeClr val="accent1">
                  <a:lumMod val="5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62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2556162" y="2341706"/>
            <a:ext cx="7252856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smtClean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CHƯƠNG </a:t>
            </a:r>
            <a:r>
              <a:rPr lang="en-US" b="1" smtClean="0">
                <a:solidFill>
                  <a:schemeClr val="accent1">
                    <a:lumMod val="50000"/>
                  </a:schemeClr>
                </a:solidFill>
                <a:latin typeface="Constantia" panose="02030602050306030303" pitchFamily="18" charset="0"/>
              </a:rPr>
              <a:t>V. PHÉP CHIẾU</a:t>
            </a:r>
            <a:endParaRPr lang="en-US" b="1">
              <a:solidFill>
                <a:schemeClr val="accent1">
                  <a:lumMod val="50000"/>
                </a:schemeClr>
              </a:solidFill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449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59940" y="780033"/>
            <a:ext cx="4564380" cy="69596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4400" spc="-5" dirty="0">
                <a:latin typeface="Microsoft Sans Serif"/>
                <a:cs typeface="Microsoft Sans Serif"/>
              </a:rPr>
              <a:t>Quan</a:t>
            </a:r>
            <a:r>
              <a:rPr sz="4400" spc="50" dirty="0">
                <a:latin typeface="Microsoft Sans Serif"/>
                <a:cs typeface="Microsoft Sans Serif"/>
              </a:rPr>
              <a:t> </a:t>
            </a:r>
            <a:r>
              <a:rPr sz="4400" spc="-5" dirty="0">
                <a:latin typeface="Microsoft Sans Serif"/>
                <a:cs typeface="Microsoft Sans Serif"/>
              </a:rPr>
              <a:t>sát</a:t>
            </a:r>
            <a:r>
              <a:rPr sz="4400" spc="30" dirty="0">
                <a:latin typeface="Microsoft Sans Serif"/>
                <a:cs typeface="Microsoft Sans Serif"/>
              </a:rPr>
              <a:t> </a:t>
            </a:r>
            <a:r>
              <a:rPr sz="4400" spc="-5" dirty="0">
                <a:latin typeface="Microsoft Sans Serif"/>
                <a:cs typeface="Microsoft Sans Serif"/>
              </a:rPr>
              <a:t>ba</a:t>
            </a:r>
            <a:r>
              <a:rPr sz="4400" spc="45" dirty="0">
                <a:latin typeface="Microsoft Sans Serif"/>
                <a:cs typeface="Microsoft Sans Serif"/>
              </a:rPr>
              <a:t> </a:t>
            </a:r>
            <a:r>
              <a:rPr sz="4400" spc="-10" dirty="0">
                <a:latin typeface="Microsoft Sans Serif"/>
                <a:cs typeface="Microsoft Sans Serif"/>
              </a:rPr>
              <a:t>chiều</a:t>
            </a:r>
            <a:endParaRPr sz="4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78898" y="6439573"/>
            <a:ext cx="178435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2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9940" y="1917740"/>
            <a:ext cx="7678420" cy="3945311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355600" indent="-342900">
              <a:spcBef>
                <a:spcPts val="78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Quan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sát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2D:</a:t>
            </a:r>
            <a:endParaRPr sz="2800">
              <a:latin typeface="Microsoft Sans Serif"/>
              <a:cs typeface="Microsoft Sans Serif"/>
            </a:endParaRPr>
          </a:p>
          <a:p>
            <a:pPr marL="755650" marR="5080" lvl="1" indent="-285750">
              <a:spcBef>
                <a:spcPts val="585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5565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Chuyển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đổi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các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tọa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độ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2D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trong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mặt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phẳng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thế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45" dirty="0">
                <a:latin typeface="Microsoft Sans Serif"/>
                <a:cs typeface="Microsoft Sans Serif"/>
              </a:rPr>
              <a:t>giới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thực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thành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các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tọa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độ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trong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mặt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phẳng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thiết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bị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66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800" dirty="0">
                <a:latin typeface="Microsoft Sans Serif"/>
                <a:cs typeface="Microsoft Sans Serif"/>
              </a:rPr>
              <a:t>Quan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sát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3D:</a:t>
            </a:r>
            <a:endParaRPr sz="2800">
              <a:latin typeface="Microsoft Sans Serif"/>
              <a:cs typeface="Microsoft Sans Serif"/>
            </a:endParaRPr>
          </a:p>
          <a:p>
            <a:pPr marL="755650" marR="107950" lvl="1" indent="-285750">
              <a:spcBef>
                <a:spcPts val="590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5565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Có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nhiều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80" dirty="0">
                <a:latin typeface="Microsoft Sans Serif"/>
                <a:cs typeface="Microsoft Sans Serif"/>
              </a:rPr>
              <a:t>lựa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chọn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hiển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thị: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quan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sát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0" dirty="0">
                <a:latin typeface="Microsoft Sans Serif"/>
                <a:cs typeface="Microsoft Sans Serif"/>
              </a:rPr>
              <a:t>đáy,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sườn,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trên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hay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từ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bên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trong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đối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60" dirty="0">
                <a:latin typeface="Microsoft Sans Serif"/>
                <a:cs typeface="Microsoft Sans Serif"/>
              </a:rPr>
              <a:t>tượng...</a:t>
            </a:r>
            <a:endParaRPr sz="2400">
              <a:latin typeface="Microsoft Sans Serif"/>
              <a:cs typeface="Microsoft Sans Serif"/>
            </a:endParaRPr>
          </a:p>
          <a:p>
            <a:pPr marL="755650" lvl="1" indent="-285750">
              <a:spcBef>
                <a:spcPts val="575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55650" algn="l"/>
              </a:tabLst>
            </a:pPr>
            <a:r>
              <a:rPr sz="2400" spc="65" dirty="0">
                <a:latin typeface="Microsoft Sans Serif"/>
                <a:cs typeface="Microsoft Sans Serif"/>
              </a:rPr>
              <a:t>Phức</a:t>
            </a:r>
            <a:r>
              <a:rPr sz="2400" dirty="0">
                <a:latin typeface="Microsoft Sans Serif"/>
                <a:cs typeface="Microsoft Sans Serif"/>
              </a:rPr>
              <a:t> tạp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hơn</a:t>
            </a:r>
            <a:endParaRPr sz="2400">
              <a:latin typeface="Microsoft Sans Serif"/>
              <a:cs typeface="Microsoft Sans Serif"/>
            </a:endParaRPr>
          </a:p>
          <a:p>
            <a:pPr marL="755650" marR="106680" lvl="1" indent="-285750">
              <a:spcBef>
                <a:spcPts val="575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55650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Đối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tượng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3D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phải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120" dirty="0">
                <a:latin typeface="Microsoft Sans Serif"/>
                <a:cs typeface="Microsoft Sans Serif"/>
              </a:rPr>
              <a:t>được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mô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tả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trên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mặt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phẳng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dẹt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thiết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5" dirty="0">
                <a:latin typeface="Microsoft Sans Serif"/>
                <a:cs typeface="Microsoft Sans Serif"/>
              </a:rPr>
              <a:t>bị</a:t>
            </a:r>
            <a:endParaRPr sz="24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848251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59940" y="780033"/>
            <a:ext cx="2442210" cy="69596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4400" spc="95" dirty="0">
                <a:latin typeface="Microsoft Sans Serif"/>
                <a:cs typeface="Microsoft Sans Serif"/>
              </a:rPr>
              <a:t>Giới</a:t>
            </a:r>
            <a:r>
              <a:rPr sz="4400" spc="-20" dirty="0">
                <a:latin typeface="Microsoft Sans Serif"/>
                <a:cs typeface="Microsoft Sans Serif"/>
              </a:rPr>
              <a:t> </a:t>
            </a:r>
            <a:r>
              <a:rPr sz="4400" spc="-10" dirty="0">
                <a:latin typeface="Microsoft Sans Serif"/>
                <a:cs typeface="Microsoft Sans Serif"/>
              </a:rPr>
              <a:t>thiệu</a:t>
            </a:r>
            <a:endParaRPr sz="44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78898" y="6439573"/>
            <a:ext cx="178435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3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9941" y="1620012"/>
            <a:ext cx="8044815" cy="4418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42900" indent="-342900" algn="just">
              <a:lnSpc>
                <a:spcPct val="130000"/>
              </a:lnSpc>
              <a:spcBef>
                <a:spcPts val="1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Các họa </a:t>
            </a:r>
            <a:r>
              <a:rPr sz="2400" dirty="0">
                <a:latin typeface="Microsoft Sans Serif"/>
                <a:cs typeface="Microsoft Sans Serif"/>
              </a:rPr>
              <a:t>sỹ, kỹ </a:t>
            </a:r>
            <a:r>
              <a:rPr sz="2400" spc="90" dirty="0">
                <a:latin typeface="Microsoft Sans Serif"/>
                <a:cs typeface="Microsoft Sans Serif"/>
              </a:rPr>
              <a:t>sư, </a:t>
            </a:r>
            <a:r>
              <a:rPr sz="2400" spc="-5" dirty="0">
                <a:latin typeface="Microsoft Sans Serif"/>
                <a:cs typeface="Microsoft Sans Serif"/>
              </a:rPr>
              <a:t>kiến </a:t>
            </a:r>
            <a:r>
              <a:rPr sz="2400" dirty="0">
                <a:latin typeface="Microsoft Sans Serif"/>
                <a:cs typeface="Microsoft Sans Serif"/>
              </a:rPr>
              <a:t>trúc </a:t>
            </a:r>
            <a:r>
              <a:rPr sz="2400" spc="135" dirty="0">
                <a:latin typeface="Microsoft Sans Serif"/>
                <a:cs typeface="Microsoft Sans Serif"/>
              </a:rPr>
              <a:t>sư </a:t>
            </a:r>
            <a:r>
              <a:rPr sz="2400" spc="-15" dirty="0">
                <a:latin typeface="Microsoft Sans Serif"/>
                <a:cs typeface="Microsoft Sans Serif"/>
              </a:rPr>
              <a:t>giải </a:t>
            </a:r>
            <a:r>
              <a:rPr sz="2400" spc="-5" dirty="0">
                <a:latin typeface="Microsoft Sans Serif"/>
                <a:cs typeface="Microsoft Sans Serif"/>
              </a:rPr>
              <a:t>quyết </a:t>
            </a:r>
            <a:r>
              <a:rPr sz="2400" spc="135" dirty="0">
                <a:latin typeface="Microsoft Sans Serif"/>
                <a:cs typeface="Microsoft Sans Serif"/>
              </a:rPr>
              <a:t>sự </a:t>
            </a:r>
            <a:r>
              <a:rPr sz="2400" spc="60" dirty="0">
                <a:latin typeface="Microsoft Sans Serif"/>
                <a:cs typeface="Microsoft Sans Serif"/>
              </a:rPr>
              <a:t>phức </a:t>
            </a:r>
            <a:r>
              <a:rPr sz="2400" dirty="0">
                <a:latin typeface="Microsoft Sans Serif"/>
                <a:cs typeface="Microsoft Sans Serif"/>
              </a:rPr>
              <a:t>tạp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trong </a:t>
            </a:r>
            <a:r>
              <a:rPr sz="2400" spc="-10" dirty="0">
                <a:latin typeface="Microsoft Sans Serif"/>
                <a:cs typeface="Microsoft Sans Serif"/>
              </a:rPr>
              <a:t>biểu diễn </a:t>
            </a:r>
            <a:r>
              <a:rPr sz="2400" dirty="0">
                <a:latin typeface="Microsoft Sans Serif"/>
                <a:cs typeface="Microsoft Sans Serif"/>
              </a:rPr>
              <a:t>một </a:t>
            </a:r>
            <a:r>
              <a:rPr sz="2400" spc="-10" dirty="0">
                <a:latin typeface="Microsoft Sans Serif"/>
                <a:cs typeface="Microsoft Sans Serif"/>
              </a:rPr>
              <a:t>đối </a:t>
            </a:r>
            <a:r>
              <a:rPr sz="2400" spc="100" dirty="0">
                <a:latin typeface="Microsoft Sans Serif"/>
                <a:cs typeface="Microsoft Sans Serif"/>
              </a:rPr>
              <a:t>tượng </a:t>
            </a:r>
            <a:r>
              <a:rPr sz="2400" dirty="0">
                <a:latin typeface="Microsoft Sans Serif"/>
                <a:cs typeface="Microsoft Sans Serif"/>
              </a:rPr>
              <a:t>trong không </a:t>
            </a:r>
            <a:r>
              <a:rPr sz="2400" spc="-10" dirty="0">
                <a:latin typeface="Microsoft Sans Serif"/>
                <a:cs typeface="Microsoft Sans Serif"/>
              </a:rPr>
              <a:t>gian </a:t>
            </a:r>
            <a:r>
              <a:rPr sz="2400" spc="-5" dirty="0">
                <a:latin typeface="Microsoft Sans Serif"/>
                <a:cs typeface="Microsoft Sans Serif"/>
              </a:rPr>
              <a:t>3D </a:t>
            </a:r>
            <a:r>
              <a:rPr sz="2400" spc="-10" dirty="0">
                <a:latin typeface="Microsoft Sans Serif"/>
                <a:cs typeface="Microsoft Sans Serif"/>
              </a:rPr>
              <a:t>lên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một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môi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trường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trung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gian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2D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-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đó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bài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toán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chiếu.</a:t>
            </a:r>
            <a:endParaRPr sz="2400">
              <a:latin typeface="Microsoft Sans Serif"/>
              <a:cs typeface="Microsoft Sans Serif"/>
            </a:endParaRPr>
          </a:p>
          <a:p>
            <a:pPr marL="755650" marR="213995" lvl="1" indent="-285750">
              <a:lnSpc>
                <a:spcPct val="130000"/>
              </a:lnSpc>
              <a:spcBef>
                <a:spcPts val="555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Phép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chiếu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là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phép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chuyển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đổi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40" dirty="0">
                <a:latin typeface="Microsoft Sans Serif"/>
                <a:cs typeface="Microsoft Sans Serif"/>
              </a:rPr>
              <a:t>những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điểm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trong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hệ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tọa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độ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 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chiều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thành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thành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40" dirty="0">
                <a:latin typeface="Microsoft Sans Serif"/>
                <a:cs typeface="Microsoft Sans Serif"/>
              </a:rPr>
              <a:t>những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điểm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trong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hệ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tọa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độ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có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số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chiều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nhỏ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hơn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n.</a:t>
            </a:r>
            <a:endParaRPr sz="2000">
              <a:latin typeface="Microsoft Sans Serif"/>
              <a:cs typeface="Microsoft Sans Serif"/>
            </a:endParaRPr>
          </a:p>
          <a:p>
            <a:pPr marL="755650" marR="5080" lvl="1" indent="-285750">
              <a:lnSpc>
                <a:spcPct val="130000"/>
              </a:lnSpc>
              <a:spcBef>
                <a:spcPts val="48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55" dirty="0">
                <a:latin typeface="Microsoft Sans Serif"/>
                <a:cs typeface="Microsoft Sans Serif"/>
              </a:rPr>
              <a:t>Thực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tế,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sâu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vào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nghiên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cứu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các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đối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tượng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chiều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bằng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cách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chúng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lên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mặt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phẳng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hai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chiều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để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biểu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diễn.</a:t>
            </a:r>
            <a:endParaRPr sz="2000">
              <a:latin typeface="Microsoft Sans Serif"/>
              <a:cs typeface="Microsoft Sans Serif"/>
            </a:endParaRPr>
          </a:p>
          <a:p>
            <a:pPr marL="755650" marR="303530" lvl="1" indent="-285750">
              <a:lnSpc>
                <a:spcPct val="130000"/>
              </a:lnSpc>
              <a:spcBef>
                <a:spcPts val="48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chỉ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u="heavy" spc="3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giới</a:t>
            </a:r>
            <a:r>
              <a:rPr sz="20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hạn</a:t>
            </a:r>
            <a:r>
              <a:rPr sz="2000" u="heavy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6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với</a:t>
            </a:r>
            <a:r>
              <a:rPr sz="2000" u="heavy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các</a:t>
            </a:r>
            <a:r>
              <a:rPr sz="2000" u="heavy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phép</a:t>
            </a:r>
            <a:r>
              <a:rPr sz="2000" u="heavy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chiếu</a:t>
            </a:r>
            <a:r>
              <a:rPr sz="2000" u="heavy" spc="3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1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từ</a:t>
            </a:r>
            <a:r>
              <a:rPr sz="2000" u="heavy" spc="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ba</a:t>
            </a:r>
            <a:r>
              <a:rPr sz="2000" u="heavy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chiều</a:t>
            </a:r>
            <a:r>
              <a:rPr sz="2000" u="heavy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(3D)</a:t>
            </a:r>
            <a:r>
              <a:rPr sz="2000" u="heavy" spc="1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vào</a:t>
            </a:r>
            <a:r>
              <a:rPr sz="2000" u="heavy" spc="2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10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hai</a:t>
            </a:r>
            <a:r>
              <a:rPr sz="2000" u="heavy" spc="2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chiều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uFill>
                  <a:solidFill>
                    <a:srgbClr val="000000"/>
                  </a:solidFill>
                </a:uFill>
                <a:latin typeface="Microsoft Sans Serif"/>
                <a:cs typeface="Microsoft Sans Serif"/>
              </a:rPr>
              <a:t>(2D)</a:t>
            </a:r>
            <a:r>
              <a:rPr sz="2000" spc="-5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4269750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59941" y="780033"/>
            <a:ext cx="5798185" cy="695960"/>
          </a:xfrm>
          <a:prstGeom prst="rect">
            <a:avLst/>
          </a:prstGeom>
        </p:spPr>
        <p:txBody>
          <a:bodyPr vert="horz" wrap="square" lIns="0" tIns="12065" rIns="0" bIns="0" rtlCol="0" anchor="ctr">
            <a:spAutoFit/>
          </a:bodyPr>
          <a:lstStyle/>
          <a:p>
            <a:pPr marL="12700">
              <a:spcBef>
                <a:spcPts val="95"/>
              </a:spcBef>
            </a:pPr>
            <a:r>
              <a:rPr sz="4400" spc="-5" dirty="0">
                <a:latin typeface="Microsoft Sans Serif"/>
                <a:cs typeface="Microsoft Sans Serif"/>
              </a:rPr>
              <a:t>Các</a:t>
            </a:r>
            <a:r>
              <a:rPr sz="4400" spc="35" dirty="0">
                <a:latin typeface="Microsoft Sans Serif"/>
                <a:cs typeface="Microsoft Sans Serif"/>
              </a:rPr>
              <a:t> </a:t>
            </a:r>
            <a:r>
              <a:rPr sz="4400" spc="-5" dirty="0">
                <a:latin typeface="Microsoft Sans Serif"/>
                <a:cs typeface="Microsoft Sans Serif"/>
              </a:rPr>
              <a:t>phép</a:t>
            </a:r>
            <a:r>
              <a:rPr sz="4400" spc="55" dirty="0">
                <a:latin typeface="Microsoft Sans Serif"/>
                <a:cs typeface="Microsoft Sans Serif"/>
              </a:rPr>
              <a:t> </a:t>
            </a:r>
            <a:r>
              <a:rPr sz="4400" spc="-10" dirty="0">
                <a:latin typeface="Microsoft Sans Serif"/>
                <a:cs typeface="Microsoft Sans Serif"/>
              </a:rPr>
              <a:t>chiếu</a:t>
            </a:r>
            <a:r>
              <a:rPr sz="4400" spc="45" dirty="0">
                <a:latin typeface="Microsoft Sans Serif"/>
                <a:cs typeface="Microsoft Sans Serif"/>
              </a:rPr>
              <a:t> </a:t>
            </a:r>
            <a:r>
              <a:rPr sz="4400" spc="215" dirty="0">
                <a:latin typeface="Microsoft Sans Serif"/>
                <a:cs typeface="Microsoft Sans Serif"/>
              </a:rPr>
              <a:t>cơ</a:t>
            </a:r>
            <a:r>
              <a:rPr sz="4400" spc="40" dirty="0">
                <a:latin typeface="Microsoft Sans Serif"/>
                <a:cs typeface="Microsoft Sans Serif"/>
              </a:rPr>
              <a:t> </a:t>
            </a:r>
            <a:r>
              <a:rPr sz="4400" spc="-10" dirty="0">
                <a:latin typeface="Microsoft Sans Serif"/>
                <a:cs typeface="Microsoft Sans Serif"/>
              </a:rPr>
              <a:t>bản</a:t>
            </a:r>
            <a:endParaRPr sz="44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9940" y="1968244"/>
            <a:ext cx="7692390" cy="274193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55600" indent="-342900">
              <a:spcBef>
                <a:spcPts val="375"/>
              </a:spcBef>
              <a:buClr>
                <a:srgbClr val="00007C"/>
              </a:buClr>
              <a:buSzPct val="7391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300" spc="-10" dirty="0">
                <a:latin typeface="Microsoft Sans Serif"/>
                <a:cs typeface="Microsoft Sans Serif"/>
              </a:rPr>
              <a:t>Hai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5" dirty="0">
                <a:latin typeface="Microsoft Sans Serif"/>
                <a:cs typeface="Microsoft Sans Serif"/>
              </a:rPr>
              <a:t>phép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spc="-5" dirty="0">
                <a:latin typeface="Microsoft Sans Serif"/>
                <a:cs typeface="Microsoft Sans Serif"/>
              </a:rPr>
              <a:t>chiếu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đối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90" dirty="0">
                <a:latin typeface="Microsoft Sans Serif"/>
                <a:cs typeface="Microsoft Sans Serif"/>
              </a:rPr>
              <a:t>tượng</a:t>
            </a:r>
            <a:r>
              <a:rPr sz="2300" spc="25" dirty="0">
                <a:latin typeface="Microsoft Sans Serif"/>
                <a:cs typeface="Microsoft Sans Serif"/>
              </a:rPr>
              <a:t> </a:t>
            </a:r>
            <a:r>
              <a:rPr sz="2300" spc="-5" dirty="0">
                <a:latin typeface="Microsoft Sans Serif"/>
                <a:cs typeface="Microsoft Sans Serif"/>
              </a:rPr>
              <a:t>3D</a:t>
            </a:r>
            <a:r>
              <a:rPr sz="2300" spc="25" dirty="0">
                <a:latin typeface="Microsoft Sans Serif"/>
                <a:cs typeface="Microsoft Sans Serif"/>
              </a:rPr>
              <a:t> </a:t>
            </a:r>
            <a:r>
              <a:rPr sz="2300" spc="-5" dirty="0">
                <a:latin typeface="Microsoft Sans Serif"/>
                <a:cs typeface="Microsoft Sans Serif"/>
              </a:rPr>
              <a:t>sang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spc="-5" dirty="0">
                <a:latin typeface="Microsoft Sans Serif"/>
                <a:cs typeface="Microsoft Sans Serif"/>
              </a:rPr>
              <a:t>2D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110" dirty="0">
                <a:latin typeface="Microsoft Sans Serif"/>
                <a:cs typeface="Microsoft Sans Serif"/>
              </a:rPr>
              <a:t>cơ</a:t>
            </a:r>
            <a:r>
              <a:rPr sz="2300" spc="2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bản</a:t>
            </a:r>
            <a:endParaRPr sz="2300">
              <a:latin typeface="Microsoft Sans Serif"/>
              <a:cs typeface="Microsoft Sans Serif"/>
            </a:endParaRPr>
          </a:p>
          <a:p>
            <a:pPr marL="755650" lvl="1" indent="-285750">
              <a:spcBef>
                <a:spcPts val="270"/>
              </a:spcBef>
              <a:buClr>
                <a:srgbClr val="9999CC"/>
              </a:buClr>
              <a:buSzPct val="79545"/>
              <a:buFont typeface="Wingdings"/>
              <a:buChar char=""/>
              <a:tabLst>
                <a:tab pos="755650" algn="l"/>
              </a:tabLst>
            </a:pPr>
            <a:r>
              <a:rPr sz="2200" spc="-10" dirty="0">
                <a:latin typeface="Microsoft Sans Serif"/>
                <a:cs typeface="Microsoft Sans Serif"/>
              </a:rPr>
              <a:t>Chiếu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song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song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(parallel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projection)</a:t>
            </a:r>
            <a:endParaRPr sz="2200">
              <a:latin typeface="Microsoft Sans Serif"/>
              <a:cs typeface="Microsoft Sans Serif"/>
            </a:endParaRPr>
          </a:p>
          <a:p>
            <a:pPr marL="1155700" lvl="2" indent="-228600">
              <a:spcBef>
                <a:spcPts val="22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pc="-10" dirty="0">
                <a:latin typeface="Microsoft Sans Serif"/>
                <a:cs typeface="Microsoft Sans Serif"/>
              </a:rPr>
              <a:t>Chiếu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các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điểm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trêm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đối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tượng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theo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đường</a:t>
            </a:r>
            <a:r>
              <a:rPr dirty="0">
                <a:latin typeface="Microsoft Sans Serif"/>
                <a:cs typeface="Microsoft Sans Serif"/>
              </a:rPr>
              <a:t> song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endParaRPr>
              <a:latin typeface="Microsoft Sans Serif"/>
              <a:cs typeface="Microsoft Sans Serif"/>
            </a:endParaRPr>
          </a:p>
          <a:p>
            <a:pPr marL="1155700" lvl="2" indent="-228600">
              <a:spcBef>
                <a:spcPts val="21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pc="100" dirty="0">
                <a:latin typeface="Microsoft Sans Serif"/>
                <a:cs typeface="Microsoft Sans Serif"/>
              </a:rPr>
              <a:t>Sử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dụng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nhiều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trong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đồ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họa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máy</a:t>
            </a:r>
            <a:r>
              <a:rPr spc="15" dirty="0">
                <a:latin typeface="Microsoft Sans Serif"/>
                <a:cs typeface="Microsoft Sans Serif"/>
              </a:rPr>
              <a:t> tính</a:t>
            </a:r>
            <a:endParaRPr>
              <a:latin typeface="Microsoft Sans Serif"/>
              <a:cs typeface="Microsoft Sans Serif"/>
            </a:endParaRPr>
          </a:p>
          <a:p>
            <a:pPr marL="755650" lvl="1" indent="-285750">
              <a:spcBef>
                <a:spcPts val="254"/>
              </a:spcBef>
              <a:buClr>
                <a:srgbClr val="9999CC"/>
              </a:buClr>
              <a:buSzPct val="79545"/>
              <a:buFont typeface="Wingdings"/>
              <a:buChar char=""/>
              <a:tabLst>
                <a:tab pos="755650" algn="l"/>
              </a:tabLst>
            </a:pPr>
            <a:r>
              <a:rPr sz="2200" spc="-10" dirty="0">
                <a:latin typeface="Microsoft Sans Serif"/>
                <a:cs typeface="Microsoft Sans Serif"/>
              </a:rPr>
              <a:t>Chiếu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phối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cảnh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(perspective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projection)</a:t>
            </a:r>
            <a:endParaRPr sz="2200">
              <a:latin typeface="Microsoft Sans Serif"/>
              <a:cs typeface="Microsoft Sans Serif"/>
            </a:endParaRPr>
          </a:p>
          <a:p>
            <a:pPr marL="1155700" lvl="2" indent="-228600">
              <a:spcBef>
                <a:spcPts val="22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pc="-10" dirty="0">
                <a:latin typeface="Microsoft Sans Serif"/>
                <a:cs typeface="Microsoft Sans Serif"/>
              </a:rPr>
              <a:t>Chiếu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các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điểm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trêm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đối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tượng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theo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đường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hội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tụ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đến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tâm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chiếu</a:t>
            </a:r>
            <a:endParaRPr>
              <a:latin typeface="Microsoft Sans Serif"/>
              <a:cs typeface="Microsoft Sans Serif"/>
            </a:endParaRPr>
          </a:p>
          <a:p>
            <a:pPr marL="1155700" lvl="2" indent="-228600">
              <a:spcBef>
                <a:spcPts val="219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spc="100" dirty="0">
                <a:latin typeface="Microsoft Sans Serif"/>
                <a:cs typeface="Microsoft Sans Serif"/>
              </a:rPr>
              <a:t>Sử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dụng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nhiều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trong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các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trò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40" dirty="0">
                <a:latin typeface="Microsoft Sans Serif"/>
                <a:cs typeface="Microsoft Sans Serif"/>
              </a:rPr>
              <a:t>chơi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(cảm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giác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45" dirty="0">
                <a:latin typeface="Microsoft Sans Serif"/>
                <a:cs typeface="Microsoft Sans Serif"/>
              </a:rPr>
              <a:t>thực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35" dirty="0">
                <a:latin typeface="Microsoft Sans Serif"/>
                <a:cs typeface="Microsoft Sans Serif"/>
              </a:rPr>
              <a:t>hơn)</a:t>
            </a:r>
            <a:endParaRPr>
              <a:latin typeface="Microsoft Sans Serif"/>
              <a:cs typeface="Microsoft Sans Serif"/>
            </a:endParaRPr>
          </a:p>
          <a:p>
            <a:pPr marL="355600" indent="-342900">
              <a:spcBef>
                <a:spcPts val="260"/>
              </a:spcBef>
              <a:buClr>
                <a:srgbClr val="00007C"/>
              </a:buClr>
              <a:buSzPct val="73913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300" spc="-5" dirty="0">
                <a:latin typeface="Microsoft Sans Serif"/>
                <a:cs typeface="Microsoft Sans Serif"/>
              </a:rPr>
              <a:t>Các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biến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thể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spc="-5" dirty="0">
                <a:latin typeface="Microsoft Sans Serif"/>
                <a:cs typeface="Microsoft Sans Serif"/>
              </a:rPr>
              <a:t>của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hai</a:t>
            </a:r>
            <a:r>
              <a:rPr sz="2300" spc="15" dirty="0">
                <a:latin typeface="Microsoft Sans Serif"/>
                <a:cs typeface="Microsoft Sans Serif"/>
              </a:rPr>
              <a:t> </a:t>
            </a:r>
            <a:r>
              <a:rPr sz="2300" spc="-15" dirty="0">
                <a:latin typeface="Microsoft Sans Serif"/>
                <a:cs typeface="Microsoft Sans Serif"/>
              </a:rPr>
              <a:t>loại</a:t>
            </a:r>
            <a:r>
              <a:rPr sz="2300" spc="20" dirty="0">
                <a:latin typeface="Microsoft Sans Serif"/>
                <a:cs typeface="Microsoft Sans Serif"/>
              </a:rPr>
              <a:t> </a:t>
            </a:r>
            <a:r>
              <a:rPr sz="2300" spc="-5" dirty="0">
                <a:latin typeface="Microsoft Sans Serif"/>
                <a:cs typeface="Microsoft Sans Serif"/>
              </a:rPr>
              <a:t>trên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6684" y="4800601"/>
            <a:ext cx="6267220" cy="149016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9978898" y="6439573"/>
            <a:ext cx="178435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4</a:t>
            </a:r>
            <a:endParaRPr sz="120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753285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07540" y="353823"/>
            <a:ext cx="2734310" cy="6356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Phép</a:t>
            </a:r>
            <a:r>
              <a:rPr spc="-10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chiếu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78898" y="6439573"/>
            <a:ext cx="178435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5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7540" y="1212851"/>
            <a:ext cx="8109584" cy="4754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3655" indent="-342900">
              <a:lnSpc>
                <a:spcPct val="110000"/>
              </a:lnSpc>
              <a:spcBef>
                <a:spcPts val="1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Microsoft Sans Serif"/>
                <a:cs typeface="Microsoft Sans Serif"/>
              </a:rPr>
              <a:t>Tác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động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trực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quan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phép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phối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cảnh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tương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tự </a:t>
            </a:r>
            <a:r>
              <a:rPr sz="2400" spc="140" dirty="0">
                <a:latin typeface="Microsoft Sans Serif"/>
                <a:cs typeface="Microsoft Sans Serif"/>
              </a:rPr>
              <a:t> </a:t>
            </a:r>
            <a:r>
              <a:rPr sz="2400" spc="85" dirty="0">
                <a:latin typeface="Microsoft Sans Serif"/>
                <a:cs typeface="Microsoft Sans Serif"/>
              </a:rPr>
              <a:t>như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trong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chụp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ảnh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hệ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thống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thị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giác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con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90" dirty="0">
                <a:latin typeface="Microsoft Sans Serif"/>
                <a:cs typeface="Microsoft Sans Serif"/>
              </a:rPr>
              <a:t>người </a:t>
            </a:r>
            <a:r>
              <a:rPr sz="2400" spc="9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(định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luật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phối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cảnh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xa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gần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-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perspective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foreshortening):</a:t>
            </a:r>
            <a:endParaRPr sz="2400">
              <a:latin typeface="Microsoft Sans Serif"/>
              <a:cs typeface="Microsoft Sans Serif"/>
            </a:endParaRPr>
          </a:p>
          <a:p>
            <a:pPr marL="755650" marR="5080" lvl="1" indent="-285750">
              <a:lnSpc>
                <a:spcPct val="110000"/>
              </a:lnSpc>
              <a:spcBef>
                <a:spcPts val="53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20" dirty="0">
                <a:latin typeface="Microsoft Sans Serif"/>
                <a:cs typeface="Microsoft Sans Serif"/>
              </a:rPr>
              <a:t>Kích </a:t>
            </a:r>
            <a:r>
              <a:rPr sz="2000" spc="80" dirty="0">
                <a:latin typeface="Microsoft Sans Serif"/>
                <a:cs typeface="Microsoft Sans Serif"/>
              </a:rPr>
              <a:t>thước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của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đối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tượng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qua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phép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nghịch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đảo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với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khoảng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cách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110" dirty="0">
                <a:latin typeface="Microsoft Sans Serif"/>
                <a:cs typeface="Microsoft Sans Serif"/>
              </a:rPr>
              <a:t>từ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đối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tượng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tới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tâm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(nếu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mặt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phẳng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chiếu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giữ </a:t>
            </a:r>
            <a:r>
              <a:rPr sz="2000" spc="7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nguyên).</a:t>
            </a:r>
            <a:endParaRPr sz="2000">
              <a:latin typeface="Microsoft Sans Serif"/>
              <a:cs typeface="Microsoft Sans Serif"/>
            </a:endParaRPr>
          </a:p>
          <a:p>
            <a:pPr marL="755650" lvl="1" indent="-285750">
              <a:spcBef>
                <a:spcPts val="72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Có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khuynh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75" dirty="0">
                <a:latin typeface="Microsoft Sans Serif"/>
                <a:cs typeface="Microsoft Sans Serif"/>
              </a:rPr>
              <a:t>hướng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cho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ảnh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trông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thật.</a:t>
            </a:r>
            <a:endParaRPr sz="2000">
              <a:latin typeface="Microsoft Sans Serif"/>
              <a:cs typeface="Microsoft Sans Serif"/>
            </a:endParaRPr>
          </a:p>
          <a:p>
            <a:pPr marL="755650" marR="172720" lvl="1" indent="-285750">
              <a:lnSpc>
                <a:spcPct val="110000"/>
              </a:lnSpc>
              <a:spcBef>
                <a:spcPts val="484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không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dùng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để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biểu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diễn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15" dirty="0">
                <a:latin typeface="Microsoft Sans Serif"/>
                <a:cs typeface="Microsoft Sans Serif"/>
              </a:rPr>
              <a:t>chính </a:t>
            </a:r>
            <a:r>
              <a:rPr sz="2000" spc="-5" dirty="0">
                <a:latin typeface="Microsoft Sans Serif"/>
                <a:cs typeface="Microsoft Sans Serif"/>
              </a:rPr>
              <a:t>xác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một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bề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mặt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hoặc</a:t>
            </a:r>
            <a:r>
              <a:rPr sz="2000" spc="20" dirty="0">
                <a:latin typeface="Microsoft Sans Serif"/>
                <a:cs typeface="Microsoft Sans Serif"/>
              </a:rPr>
              <a:t> kích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thước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của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đối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tượng</a:t>
            </a:r>
            <a:endParaRPr sz="2000">
              <a:latin typeface="Microsoft Sans Serif"/>
              <a:cs typeface="Microsoft Sans Serif"/>
            </a:endParaRPr>
          </a:p>
          <a:p>
            <a:pPr marL="1155700" marR="45720" lvl="2" indent="-228600">
              <a:lnSpc>
                <a:spcPct val="110000"/>
              </a:lnSpc>
              <a:spcBef>
                <a:spcPts val="455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dirty="0">
                <a:latin typeface="Microsoft Sans Serif"/>
                <a:cs typeface="Microsoft Sans Serif"/>
              </a:rPr>
              <a:t>các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góc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90" dirty="0">
                <a:latin typeface="Microsoft Sans Serif"/>
                <a:cs typeface="Microsoft Sans Serif"/>
              </a:rPr>
              <a:t>được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bảo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toàn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chỉ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khi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các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mặt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của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đối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tượng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với </a:t>
            </a:r>
            <a:r>
              <a:rPr spc="-45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mặt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phẳng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chiếu</a:t>
            </a:r>
            <a:endParaRPr>
              <a:latin typeface="Microsoft Sans Serif"/>
              <a:cs typeface="Microsoft Sans Serif"/>
            </a:endParaRPr>
          </a:p>
          <a:p>
            <a:pPr marL="1155700" marR="5080" lvl="2" indent="-228600">
              <a:lnSpc>
                <a:spcPct val="110000"/>
              </a:lnSpc>
              <a:spcBef>
                <a:spcPts val="434"/>
              </a:spcBef>
              <a:buClr>
                <a:srgbClr val="00007C"/>
              </a:buClr>
              <a:buSzPct val="63888"/>
              <a:buFont typeface="Wingdings"/>
              <a:buChar char=""/>
              <a:tabLst>
                <a:tab pos="1155700" algn="l"/>
              </a:tabLst>
            </a:pPr>
            <a:r>
              <a:rPr dirty="0">
                <a:latin typeface="Microsoft Sans Serif"/>
                <a:cs typeface="Microsoft Sans Serif"/>
              </a:rPr>
              <a:t>các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đường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thẳng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khi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qua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phép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chiếu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phối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cảnh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60" dirty="0">
                <a:latin typeface="Microsoft Sans Serif"/>
                <a:cs typeface="Microsoft Sans Serif"/>
              </a:rPr>
              <a:t>thường</a:t>
            </a:r>
            <a:r>
              <a:rPr dirty="0">
                <a:latin typeface="Microsoft Sans Serif"/>
                <a:cs typeface="Microsoft Sans Serif"/>
              </a:rPr>
              <a:t> </a:t>
            </a:r>
            <a:r>
              <a:rPr spc="-15" dirty="0">
                <a:latin typeface="Microsoft Sans Serif"/>
                <a:cs typeface="Microsoft Sans Serif"/>
              </a:rPr>
              <a:t>là </a:t>
            </a:r>
            <a:r>
              <a:rPr spc="-459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không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song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song.</a:t>
            </a:r>
            <a:endParaRPr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2617976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2059941" y="1965706"/>
            <a:ext cx="8011159" cy="2923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04470" indent="-342900">
              <a:lnSpc>
                <a:spcPct val="120000"/>
              </a:lnSpc>
              <a:spcBef>
                <a:spcPts val="1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Microsoft Sans Serif"/>
                <a:cs typeface="Microsoft Sans Serif"/>
              </a:rPr>
              <a:t>Phép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song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song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không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cho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hình </a:t>
            </a:r>
            <a:r>
              <a:rPr sz="2400" spc="-5" dirty="0">
                <a:latin typeface="Microsoft Sans Serif"/>
                <a:cs typeface="Microsoft Sans Serif"/>
              </a:rPr>
              <a:t>ảnh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thật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đối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100" dirty="0">
                <a:latin typeface="Microsoft Sans Serif"/>
                <a:cs typeface="Microsoft Sans Serif"/>
              </a:rPr>
              <a:t>tượng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bởi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55" dirty="0">
                <a:latin typeface="Microsoft Sans Serif"/>
                <a:cs typeface="Microsoft Sans Serif"/>
              </a:rPr>
              <a:t>vì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nó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không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có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định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luật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phối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cảnh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xa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gần.</a:t>
            </a:r>
            <a:endParaRPr sz="2400">
              <a:latin typeface="Microsoft Sans Serif"/>
              <a:cs typeface="Microsoft Sans Serif"/>
            </a:endParaRPr>
          </a:p>
          <a:p>
            <a:pPr marL="755650" lvl="1" indent="-285750">
              <a:spcBef>
                <a:spcPts val="1025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110" dirty="0">
                <a:latin typeface="Microsoft Sans Serif"/>
                <a:cs typeface="Microsoft Sans Serif"/>
              </a:rPr>
              <a:t>Sử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dụng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để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xác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định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25" dirty="0">
                <a:latin typeface="Microsoft Sans Serif"/>
                <a:cs typeface="Microsoft Sans Serif"/>
              </a:rPr>
              <a:t>kích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thước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một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cách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15" dirty="0">
                <a:latin typeface="Microsoft Sans Serif"/>
                <a:cs typeface="Microsoft Sans Serif"/>
              </a:rPr>
              <a:t>chính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xác</a:t>
            </a:r>
            <a:endParaRPr sz="2000">
              <a:latin typeface="Microsoft Sans Serif"/>
              <a:cs typeface="Microsoft Sans Serif"/>
            </a:endParaRPr>
          </a:p>
          <a:p>
            <a:pPr marL="755650" marR="96520" lvl="1" indent="-285750">
              <a:lnSpc>
                <a:spcPct val="120000"/>
              </a:lnSpc>
              <a:spcBef>
                <a:spcPts val="475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Các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đường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thẳng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song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song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khi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qua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phép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vẫn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song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song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với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nhau.</a:t>
            </a:r>
            <a:endParaRPr sz="2000">
              <a:latin typeface="Microsoft Sans Serif"/>
              <a:cs typeface="Microsoft Sans Serif"/>
            </a:endParaRPr>
          </a:p>
          <a:p>
            <a:pPr marL="755650" marR="5080" lvl="1" indent="-285750">
              <a:lnSpc>
                <a:spcPct val="120000"/>
              </a:lnSpc>
              <a:spcBef>
                <a:spcPts val="484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các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góc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được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bảo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toàn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chỉ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khi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các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mặt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của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đối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tượng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song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song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với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mặt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phẳng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chiếu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78898" y="6439573"/>
            <a:ext cx="178435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6</a:t>
            </a:r>
            <a:endParaRPr sz="120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647813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59941" y="582169"/>
            <a:ext cx="5271135" cy="63563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Phép</a:t>
            </a:r>
            <a:r>
              <a:rPr spc="-4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chiếu</a:t>
            </a:r>
            <a:r>
              <a:rPr spc="-3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phối</a:t>
            </a:r>
            <a:r>
              <a:rPr spc="-4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cảnh</a:t>
            </a:r>
            <a:endParaRPr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978898" y="6439573"/>
            <a:ext cx="178435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7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9940" y="1379424"/>
            <a:ext cx="8041640" cy="421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21310" indent="-342900">
              <a:lnSpc>
                <a:spcPct val="143800"/>
              </a:lnSpc>
              <a:spcBef>
                <a:spcPts val="1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Nguyên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tắc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75" dirty="0">
                <a:latin typeface="Microsoft Sans Serif"/>
                <a:cs typeface="Microsoft Sans Serif"/>
              </a:rPr>
              <a:t>người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họa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sỹ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dùng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để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vẽ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phối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cảnh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một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đối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tượng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ba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chiều.</a:t>
            </a:r>
            <a:endParaRPr sz="2000">
              <a:latin typeface="Microsoft Sans Serif"/>
              <a:cs typeface="Microsoft Sans Serif"/>
            </a:endParaRPr>
          </a:p>
          <a:p>
            <a:pPr marL="755650" lvl="1" indent="-285750">
              <a:spcBef>
                <a:spcPts val="123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Mắt</a:t>
            </a:r>
            <a:r>
              <a:rPr sz="2000" spc="-10" dirty="0">
                <a:latin typeface="Microsoft Sans Serif"/>
                <a:cs typeface="Microsoft Sans Serif"/>
              </a:rPr>
              <a:t> là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tâm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endParaRPr sz="2000">
              <a:latin typeface="Microsoft Sans Serif"/>
              <a:cs typeface="Microsoft Sans Serif"/>
            </a:endParaRPr>
          </a:p>
          <a:p>
            <a:pPr marL="755650" marR="5080" lvl="1" indent="-285750">
              <a:lnSpc>
                <a:spcPct val="125000"/>
              </a:lnSpc>
              <a:spcBef>
                <a:spcPts val="48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70" dirty="0">
                <a:latin typeface="Microsoft Sans Serif"/>
                <a:cs typeface="Microsoft Sans Serif"/>
              </a:rPr>
              <a:t>bức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vẽ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hay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mặt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phẳng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50" dirty="0">
                <a:latin typeface="Microsoft Sans Serif"/>
                <a:cs typeface="Microsoft Sans Serif"/>
              </a:rPr>
              <a:t>chứa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70" dirty="0">
                <a:latin typeface="Microsoft Sans Serif"/>
                <a:cs typeface="Microsoft Sans Serif"/>
              </a:rPr>
              <a:t>bức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vẽ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được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gọi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là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mặt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phẳng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quan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sát.</a:t>
            </a:r>
            <a:endParaRPr sz="2000">
              <a:latin typeface="Microsoft Sans Serif"/>
              <a:cs typeface="Microsoft Sans Serif"/>
            </a:endParaRPr>
          </a:p>
          <a:p>
            <a:pPr marL="755650" marR="142875" lvl="1" indent="-285750">
              <a:lnSpc>
                <a:spcPct val="125000"/>
              </a:lnSpc>
              <a:spcBef>
                <a:spcPts val="48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55650" algn="l"/>
              </a:tabLst>
            </a:pPr>
            <a:r>
              <a:rPr sz="2000" spc="-10" dirty="0">
                <a:latin typeface="Microsoft Sans Serif"/>
                <a:cs typeface="Microsoft Sans Serif"/>
              </a:rPr>
              <a:t>Điểm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ảnh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được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xác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định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tại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giao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của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tia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(projector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-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tia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vẽ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110" dirty="0">
                <a:latin typeface="Microsoft Sans Serif"/>
                <a:cs typeface="Microsoft Sans Serif"/>
              </a:rPr>
              <a:t>từ </a:t>
            </a:r>
            <a:r>
              <a:rPr sz="2000" spc="-5" dirty="0">
                <a:latin typeface="Microsoft Sans Serif"/>
                <a:cs typeface="Microsoft Sans Serif"/>
              </a:rPr>
              <a:t>một </a:t>
            </a:r>
            <a:r>
              <a:rPr sz="2000" spc="-10" dirty="0">
                <a:latin typeface="Microsoft Sans Serif"/>
                <a:cs typeface="Microsoft Sans Serif"/>
              </a:rPr>
              <a:t>điểm </a:t>
            </a:r>
            <a:r>
              <a:rPr sz="2000" dirty="0">
                <a:latin typeface="Microsoft Sans Serif"/>
                <a:cs typeface="Microsoft Sans Serif"/>
              </a:rPr>
              <a:t>trên </a:t>
            </a:r>
            <a:r>
              <a:rPr sz="2000" spc="-10" dirty="0">
                <a:latin typeface="Microsoft Sans Serif"/>
                <a:cs typeface="Microsoft Sans Serif"/>
              </a:rPr>
              <a:t>đối </a:t>
            </a:r>
            <a:r>
              <a:rPr sz="2000" spc="80" dirty="0">
                <a:latin typeface="Microsoft Sans Serif"/>
                <a:cs typeface="Microsoft Sans Serif"/>
              </a:rPr>
              <a:t>tượng </a:t>
            </a:r>
            <a:r>
              <a:rPr sz="2000" spc="60" dirty="0">
                <a:latin typeface="Microsoft Sans Serif"/>
                <a:cs typeface="Microsoft Sans Serif"/>
              </a:rPr>
              <a:t>tới </a:t>
            </a:r>
            <a:r>
              <a:rPr sz="2000" spc="-5" dirty="0">
                <a:latin typeface="Microsoft Sans Serif"/>
                <a:cs typeface="Microsoft Sans Serif"/>
              </a:rPr>
              <a:t>tâm chiếu) </a:t>
            </a:r>
            <a:r>
              <a:rPr sz="2000" spc="60" dirty="0">
                <a:latin typeface="Microsoft Sans Serif"/>
                <a:cs typeface="Microsoft Sans Serif"/>
              </a:rPr>
              <a:t>với </a:t>
            </a:r>
            <a:r>
              <a:rPr sz="2000" spc="-5" dirty="0">
                <a:latin typeface="Microsoft Sans Serif"/>
                <a:cs typeface="Microsoft Sans Serif"/>
              </a:rPr>
              <a:t>mặt </a:t>
            </a:r>
            <a:r>
              <a:rPr sz="2000" spc="-10" dirty="0">
                <a:latin typeface="Microsoft Sans Serif"/>
                <a:cs typeface="Microsoft Sans Serif"/>
              </a:rPr>
              <a:t>phẳng quan </a:t>
            </a:r>
            <a:r>
              <a:rPr sz="2000" spc="-5" dirty="0">
                <a:latin typeface="Microsoft Sans Serif"/>
                <a:cs typeface="Microsoft Sans Serif"/>
              </a:rPr>
              <a:t> sát.</a:t>
            </a:r>
            <a:endParaRPr sz="2000">
              <a:latin typeface="Microsoft Sans Serif"/>
              <a:cs typeface="Microsoft Sans Serif"/>
            </a:endParaRPr>
          </a:p>
          <a:p>
            <a:pPr marL="355600" marR="51435" indent="-342900">
              <a:lnSpc>
                <a:spcPct val="125000"/>
              </a:lnSpc>
              <a:spcBef>
                <a:spcPts val="48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Tập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đường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thẳng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//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qua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phép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chiếu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sẽ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giao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nhau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tại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1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điểm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→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điểm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ảo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(vanishing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points)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→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đặc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40" dirty="0">
                <a:latin typeface="Microsoft Sans Serif"/>
                <a:cs typeface="Microsoft Sans Serif"/>
              </a:rPr>
              <a:t>trưng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của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phép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endParaRPr sz="20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156529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9581" y="1138930"/>
            <a:ext cx="8187370" cy="456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589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59941" y="906781"/>
            <a:ext cx="7008495" cy="452755"/>
          </a:xfrm>
          <a:prstGeom prst="rect">
            <a:avLst/>
          </a:prstGeom>
        </p:spPr>
        <p:txBody>
          <a:bodyPr vert="horz" wrap="square" lIns="0" tIns="13335" rIns="0" bIns="0" rtlCol="0" anchor="ctr">
            <a:spAutoFit/>
          </a:bodyPr>
          <a:lstStyle/>
          <a:p>
            <a:pPr marL="12700">
              <a:spcBef>
                <a:spcPts val="105"/>
              </a:spcBef>
            </a:pPr>
            <a:r>
              <a:rPr sz="2800" dirty="0">
                <a:latin typeface="Arial"/>
                <a:cs typeface="Arial"/>
              </a:rPr>
              <a:t>Mô</a:t>
            </a:r>
            <a:r>
              <a:rPr sz="2800" spc="-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tả toán học</a:t>
            </a:r>
            <a:r>
              <a:rPr sz="2800" spc="-5" dirty="0">
                <a:latin typeface="Arial"/>
                <a:cs typeface="Arial"/>
              </a:rPr>
              <a:t> của</a:t>
            </a:r>
            <a:r>
              <a:rPr sz="2800" dirty="0">
                <a:latin typeface="Arial"/>
                <a:cs typeface="Arial"/>
              </a:rPr>
              <a:t> phép </a:t>
            </a:r>
            <a:r>
              <a:rPr sz="2800" spc="-5" dirty="0">
                <a:latin typeface="Arial"/>
                <a:cs typeface="Arial"/>
              </a:rPr>
              <a:t>chiếu</a:t>
            </a:r>
            <a:r>
              <a:rPr sz="2800" spc="-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phối cảnh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77552" y="6439573"/>
            <a:ext cx="279400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9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94840" y="1120339"/>
            <a:ext cx="8395970" cy="5266690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368300" indent="-342900">
              <a:spcBef>
                <a:spcPts val="133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67665" algn="l"/>
                <a:tab pos="368300" algn="l"/>
              </a:tabLst>
            </a:pPr>
            <a:r>
              <a:rPr sz="2400" dirty="0">
                <a:latin typeface="Microsoft Sans Serif"/>
                <a:cs typeface="Microsoft Sans Serif"/>
              </a:rPr>
              <a:t>Xác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định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70" dirty="0">
                <a:latin typeface="Microsoft Sans Serif"/>
                <a:cs typeface="Microsoft Sans Serif"/>
              </a:rPr>
              <a:t>bởi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tâm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chiếu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mặt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phẳng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quan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sát.</a:t>
            </a:r>
            <a:endParaRPr sz="2400">
              <a:latin typeface="Microsoft Sans Serif"/>
              <a:cs typeface="Microsoft Sans Serif"/>
            </a:endParaRPr>
          </a:p>
          <a:p>
            <a:pPr marL="768350" marR="97155" lvl="1" indent="-285750">
              <a:lnSpc>
                <a:spcPct val="120000"/>
              </a:lnSpc>
              <a:spcBef>
                <a:spcPts val="545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683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Mặt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phẳng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quan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sát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được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xác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định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bởi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điểm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20" dirty="0">
                <a:latin typeface="Microsoft Sans Serif"/>
                <a:cs typeface="Microsoft Sans Serif"/>
              </a:rPr>
              <a:t>nhìn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tham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(view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reference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point)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5" dirty="0">
                <a:latin typeface="Microsoft Sans Serif"/>
                <a:cs typeface="Microsoft Sans Serif"/>
              </a:rPr>
              <a:t>R</a:t>
            </a:r>
            <a:r>
              <a:rPr sz="1950" spc="7" baseline="-21367" dirty="0">
                <a:latin typeface="Microsoft Sans Serif"/>
                <a:cs typeface="Microsoft Sans Serif"/>
              </a:rPr>
              <a:t>0</a:t>
            </a:r>
            <a:r>
              <a:rPr sz="1950" spc="307" baseline="-21367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và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pháp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tuyến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của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mặt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phẳng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quan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sát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(view 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plane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normal)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N.</a:t>
            </a:r>
            <a:endParaRPr sz="2000">
              <a:latin typeface="Microsoft Sans Serif"/>
              <a:cs typeface="Microsoft Sans Serif"/>
            </a:endParaRPr>
          </a:p>
          <a:p>
            <a:pPr marL="768350" marR="217170" lvl="1" indent="-285750">
              <a:lnSpc>
                <a:spcPct val="120000"/>
              </a:lnSpc>
              <a:spcBef>
                <a:spcPts val="480"/>
              </a:spcBef>
              <a:buClr>
                <a:srgbClr val="9999CC"/>
              </a:buClr>
              <a:buSzPct val="80000"/>
              <a:buFont typeface="Wingdings"/>
              <a:buChar char=""/>
              <a:tabLst>
                <a:tab pos="76835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P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trên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đối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80" dirty="0">
                <a:latin typeface="Microsoft Sans Serif"/>
                <a:cs typeface="Microsoft Sans Serif"/>
              </a:rPr>
              <a:t>tượng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(object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point)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100" dirty="0">
                <a:latin typeface="Microsoft Sans Serif"/>
                <a:cs typeface="Microsoft Sans Serif"/>
              </a:rPr>
              <a:t>được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xác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định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trong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tọa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độ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thế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35" dirty="0">
                <a:latin typeface="Microsoft Sans Serif"/>
                <a:cs typeface="Microsoft Sans Serif"/>
              </a:rPr>
              <a:t>giới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thực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tại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vị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30" dirty="0">
                <a:latin typeface="Microsoft Sans Serif"/>
                <a:cs typeface="Microsoft Sans Serif"/>
              </a:rPr>
              <a:t>trí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(x,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80" dirty="0">
                <a:latin typeface="Microsoft Sans Serif"/>
                <a:cs typeface="Microsoft Sans Serif"/>
              </a:rPr>
              <a:t>y,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z).</a:t>
            </a:r>
            <a:endParaRPr sz="2000">
              <a:latin typeface="Microsoft Sans Serif"/>
              <a:cs typeface="Microsoft Sans Serif"/>
            </a:endParaRPr>
          </a:p>
          <a:p>
            <a:pPr marL="482600">
              <a:spcBef>
                <a:spcPts val="960"/>
              </a:spcBef>
            </a:pPr>
            <a:r>
              <a:rPr sz="2000" dirty="0">
                <a:latin typeface="Microsoft Sans Serif"/>
                <a:cs typeface="Microsoft Sans Serif"/>
              </a:rPr>
              <a:t>→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xác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định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tọa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độ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điểm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ảnh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P’(x’,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y’,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z’)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(image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point)</a:t>
            </a:r>
            <a:endParaRPr sz="2000">
              <a:latin typeface="Microsoft Sans Serif"/>
              <a:cs typeface="Microsoft Sans Serif"/>
            </a:endParaRPr>
          </a:p>
          <a:p>
            <a:pPr marL="368300" marR="17780" indent="-342900">
              <a:lnSpc>
                <a:spcPct val="120000"/>
              </a:lnSpc>
              <a:spcBef>
                <a:spcPts val="51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67665" algn="l"/>
                <a:tab pos="368300" algn="l"/>
              </a:tabLst>
            </a:pPr>
            <a:r>
              <a:rPr sz="2400" dirty="0">
                <a:latin typeface="Microsoft Sans Serif"/>
                <a:cs typeface="Microsoft Sans Serif"/>
              </a:rPr>
              <a:t>Phép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phối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cảnh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chuẩn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phép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có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mặt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phẳng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quan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sát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60" dirty="0">
                <a:latin typeface="Microsoft Sans Serif"/>
                <a:cs typeface="Microsoft Sans Serif"/>
              </a:rPr>
              <a:t>xy,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tâm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chiếu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tại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C(0,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0,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z</a:t>
            </a:r>
            <a:r>
              <a:rPr sz="2400" baseline="-20833" dirty="0">
                <a:latin typeface="Microsoft Sans Serif"/>
                <a:cs typeface="Microsoft Sans Serif"/>
              </a:rPr>
              <a:t>cp</a:t>
            </a:r>
            <a:r>
              <a:rPr sz="2400" dirty="0">
                <a:latin typeface="Microsoft Sans Serif"/>
                <a:cs typeface="Microsoft Sans Serif"/>
              </a:rPr>
              <a:t>)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theo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chiều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95" dirty="0">
                <a:latin typeface="Microsoft Sans Serif"/>
                <a:cs typeface="Microsoft Sans Serif"/>
              </a:rPr>
              <a:t>dương </a:t>
            </a:r>
            <a:r>
              <a:rPr sz="2400" spc="10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trục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z.</a:t>
            </a:r>
            <a:endParaRPr sz="2400">
              <a:latin typeface="Microsoft Sans Serif"/>
              <a:cs typeface="Microsoft Sans Serif"/>
            </a:endParaRPr>
          </a:p>
          <a:p>
            <a:pPr marL="368300" marR="290195" indent="-342900">
              <a:lnSpc>
                <a:spcPct val="120000"/>
              </a:lnSpc>
              <a:spcBef>
                <a:spcPts val="5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67665" algn="l"/>
                <a:tab pos="3683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Giả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135" dirty="0">
                <a:latin typeface="Microsoft Sans Serif"/>
                <a:cs typeface="Microsoft Sans Serif"/>
              </a:rPr>
              <a:t>sử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</a:t>
            </a:r>
            <a:r>
              <a:rPr sz="2400" spc="-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điểm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trong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không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gian,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P’</a:t>
            </a:r>
            <a:r>
              <a:rPr sz="2400" spc="-6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là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hình </a:t>
            </a:r>
            <a:r>
              <a:rPr sz="2400" spc="-5" dirty="0">
                <a:latin typeface="Microsoft Sans Serif"/>
                <a:cs typeface="Microsoft Sans Serif"/>
              </a:rPr>
              <a:t>chiếu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trên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mặt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chiếu.</a:t>
            </a:r>
            <a:r>
              <a:rPr sz="2400" spc="-10" dirty="0">
                <a:latin typeface="Microsoft Sans Serif"/>
                <a:cs typeface="Microsoft Sans Serif"/>
              </a:rPr>
              <a:t> </a:t>
            </a:r>
            <a:r>
              <a:rPr sz="2400" spc="25" dirty="0">
                <a:latin typeface="Microsoft Sans Serif"/>
                <a:cs typeface="Microsoft Sans Serif"/>
              </a:rPr>
              <a:t>Tính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P’(x’,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y’,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z’)?</a:t>
            </a:r>
            <a:endParaRPr sz="24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42362401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0"/>
            <a:ext cx="285750" cy="5334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059941" y="532781"/>
            <a:ext cx="5782945" cy="112585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55600" indent="-342900">
              <a:spcBef>
                <a:spcPts val="87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Microsoft Sans Serif"/>
                <a:cs typeface="Microsoft Sans Serif"/>
              </a:rPr>
              <a:t>Quan</a:t>
            </a:r>
            <a:r>
              <a:rPr sz="3200" spc="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sát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trục</a:t>
            </a:r>
            <a:r>
              <a:rPr sz="3200" spc="2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y</a:t>
            </a:r>
            <a:r>
              <a:rPr sz="3200" spc="10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về</a:t>
            </a:r>
            <a:r>
              <a:rPr sz="3200" spc="2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gốc</a:t>
            </a:r>
            <a:r>
              <a:rPr sz="3200" spc="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tọa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độ:</a:t>
            </a:r>
            <a:endParaRPr sz="3200">
              <a:latin typeface="Microsoft Sans Serif"/>
              <a:cs typeface="Microsoft Sans Serif"/>
            </a:endParaRPr>
          </a:p>
          <a:p>
            <a:pPr marL="755650" lvl="1" indent="-285750">
              <a:spcBef>
                <a:spcPts val="685"/>
              </a:spcBef>
              <a:buClr>
                <a:srgbClr val="9999CC"/>
              </a:buClr>
              <a:buSzPct val="78571"/>
              <a:buFont typeface="Wingdings"/>
              <a:buChar char=""/>
              <a:tabLst>
                <a:tab pos="755650" algn="l"/>
              </a:tabLst>
            </a:pPr>
            <a:r>
              <a:rPr sz="2800" dirty="0">
                <a:latin typeface="Microsoft Sans Serif"/>
                <a:cs typeface="Microsoft Sans Serif"/>
              </a:rPr>
              <a:t>Xét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hai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tam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giác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đồng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dạng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có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59941" y="3777996"/>
            <a:ext cx="6684009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spcBef>
                <a:spcPts val="9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</a:tabLst>
            </a:pPr>
            <a:r>
              <a:rPr sz="3200" spc="-5" dirty="0">
                <a:latin typeface="Microsoft Sans Serif"/>
                <a:cs typeface="Microsoft Sans Serif"/>
              </a:rPr>
              <a:t>Quan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sát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theo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trục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x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về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gốc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tọa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độ:</a:t>
            </a:r>
            <a:endParaRPr sz="32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212" y="2133600"/>
            <a:ext cx="2476857" cy="9906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24850" y="1876440"/>
            <a:ext cx="1752600" cy="109571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86575" y="4448175"/>
            <a:ext cx="2190750" cy="200025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28518" y="4611812"/>
            <a:ext cx="3753565" cy="108820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905380" y="2257446"/>
            <a:ext cx="2553071" cy="724232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9877552" y="6439573"/>
            <a:ext cx="279400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10</a:t>
            </a:r>
            <a:endParaRPr sz="120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001316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8385" y="762001"/>
            <a:ext cx="7872030" cy="4999957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9877552" y="6439573"/>
            <a:ext cx="279400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11</a:t>
            </a:r>
            <a:endParaRPr sz="120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110246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83740" y="353823"/>
            <a:ext cx="5055870" cy="6356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Microsoft Sans Serif"/>
                <a:cs typeface="Microsoft Sans Serif"/>
              </a:rPr>
              <a:t>Phép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chiếu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endParaRPr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77552" y="6439573"/>
            <a:ext cx="279400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12</a:t>
            </a:r>
            <a:endParaRPr sz="120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29741" y="1063497"/>
            <a:ext cx="8489315" cy="5053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497840" indent="-342900">
              <a:lnSpc>
                <a:spcPct val="120000"/>
              </a:lnSpc>
              <a:spcBef>
                <a:spcPts val="10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pc="70" dirty="0">
                <a:latin typeface="Microsoft Sans Serif"/>
                <a:cs typeface="Microsoft Sans Serif"/>
              </a:rPr>
              <a:t>Người</a:t>
            </a:r>
            <a:r>
              <a:rPr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phác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thảo,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kỹ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100" dirty="0">
                <a:latin typeface="Microsoft Sans Serif"/>
                <a:cs typeface="Microsoft Sans Serif"/>
              </a:rPr>
              <a:t>sư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tạo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ra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các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bản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vẽ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của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một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đối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tượng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bảo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toàn</a:t>
            </a:r>
            <a:r>
              <a:rPr spc="15" dirty="0">
                <a:latin typeface="Microsoft Sans Serif"/>
                <a:cs typeface="Microsoft Sans Serif"/>
              </a:rPr>
              <a:t> hình </a:t>
            </a:r>
            <a:r>
              <a:rPr spc="-459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dạng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và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tỷ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lệ.</a:t>
            </a:r>
            <a:endParaRPr>
              <a:latin typeface="Microsoft Sans Serif"/>
              <a:cs typeface="Microsoft Sans Serif"/>
            </a:endParaRPr>
          </a:p>
          <a:p>
            <a:pPr marL="381000" marR="30480" indent="-342900">
              <a:lnSpc>
                <a:spcPct val="120000"/>
              </a:lnSpc>
              <a:spcBef>
                <a:spcPts val="43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pc="-10" dirty="0">
                <a:latin typeface="Microsoft Sans Serif"/>
                <a:cs typeface="Microsoft Sans Serif"/>
              </a:rPr>
              <a:t>Điểm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ảnh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90" dirty="0">
                <a:latin typeface="Microsoft Sans Serif"/>
                <a:cs typeface="Microsoft Sans Serif"/>
              </a:rPr>
              <a:t>được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xác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định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là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giao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của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mặt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phẳng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quan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sát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spc="55" dirty="0">
                <a:latin typeface="Microsoft Sans Serif"/>
                <a:cs typeface="Microsoft Sans Serif"/>
              </a:rPr>
              <a:t>với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tia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chiếu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vẽ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95" dirty="0">
                <a:latin typeface="Microsoft Sans Serif"/>
                <a:cs typeface="Microsoft Sans Serif"/>
              </a:rPr>
              <a:t>từ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một </a:t>
            </a:r>
            <a:r>
              <a:rPr spc="-46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điểm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trên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đối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spc="75" dirty="0">
                <a:latin typeface="Microsoft Sans Serif"/>
                <a:cs typeface="Microsoft Sans Serif"/>
              </a:rPr>
              <a:t>tượng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và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có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hướng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xác </a:t>
            </a:r>
            <a:r>
              <a:rPr spc="-10" dirty="0">
                <a:latin typeface="Microsoft Sans Serif"/>
                <a:cs typeface="Microsoft Sans Serif"/>
              </a:rPr>
              <a:t>định.</a:t>
            </a:r>
            <a:endParaRPr>
              <a:latin typeface="Microsoft Sans Serif"/>
              <a:cs typeface="Microsoft Sans Serif"/>
            </a:endParaRPr>
          </a:p>
          <a:p>
            <a:pPr marL="781050" lvl="1" indent="-285750">
              <a:spcBef>
                <a:spcPts val="800"/>
              </a:spcBef>
              <a:buClr>
                <a:srgbClr val="9999CC"/>
              </a:buClr>
              <a:buSzPct val="78125"/>
              <a:buFont typeface="Wingdings"/>
              <a:buChar char=""/>
              <a:tabLst>
                <a:tab pos="780415" algn="l"/>
                <a:tab pos="781050" algn="l"/>
              </a:tabLst>
            </a:pPr>
            <a:r>
              <a:rPr sz="1600" spc="65" dirty="0">
                <a:latin typeface="Microsoft Sans Serif"/>
                <a:cs typeface="Microsoft Sans Serif"/>
              </a:rPr>
              <a:t>Hướng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của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phép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chiếu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(direction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of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projection)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xác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định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cho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tất</a:t>
            </a:r>
            <a:r>
              <a:rPr sz="1600" spc="35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cả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các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tia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chiếu.</a:t>
            </a:r>
            <a:endParaRPr sz="1600">
              <a:latin typeface="Microsoft Sans Serif"/>
              <a:cs typeface="Microsoft Sans Serif"/>
            </a:endParaRPr>
          </a:p>
          <a:p>
            <a:pPr marL="1181100" marR="106045" lvl="2" indent="-228600">
              <a:lnSpc>
                <a:spcPct val="120000"/>
              </a:lnSpc>
              <a:spcBef>
                <a:spcPts val="370"/>
              </a:spcBef>
              <a:buClr>
                <a:srgbClr val="00007C"/>
              </a:buClr>
              <a:buSzPct val="64285"/>
              <a:buFont typeface="Wingdings"/>
              <a:buChar char=""/>
              <a:tabLst>
                <a:tab pos="1180465" algn="l"/>
                <a:tab pos="1181100" algn="l"/>
              </a:tabLst>
            </a:pPr>
            <a:r>
              <a:rPr sz="1400" spc="-5" dirty="0">
                <a:latin typeface="Microsoft Sans Serif"/>
                <a:cs typeface="Microsoft Sans Serif"/>
              </a:rPr>
              <a:t>Phép chiếu </a:t>
            </a:r>
            <a:r>
              <a:rPr sz="1400" spc="35" dirty="0">
                <a:latin typeface="Microsoft Sans Serif"/>
                <a:cs typeface="Microsoft Sans Serif"/>
              </a:rPr>
              <a:t>trực </a:t>
            </a:r>
            <a:r>
              <a:rPr sz="1400" spc="-10" dirty="0">
                <a:latin typeface="Microsoft Sans Serif"/>
                <a:cs typeface="Microsoft Sans Serif"/>
              </a:rPr>
              <a:t>giao </a:t>
            </a:r>
            <a:r>
              <a:rPr sz="1400" spc="-5" dirty="0">
                <a:latin typeface="Microsoft Sans Serif"/>
                <a:cs typeface="Microsoft Sans Serif"/>
              </a:rPr>
              <a:t>(orthographic </a:t>
            </a:r>
            <a:r>
              <a:rPr sz="1400" spc="-10" dirty="0">
                <a:latin typeface="Microsoft Sans Serif"/>
                <a:cs typeface="Microsoft Sans Serif"/>
              </a:rPr>
              <a:t>projections) </a:t>
            </a:r>
            <a:r>
              <a:rPr sz="1400" spc="70" dirty="0">
                <a:latin typeface="Microsoft Sans Serif"/>
                <a:cs typeface="Microsoft Sans Serif"/>
              </a:rPr>
              <a:t>được </a:t>
            </a:r>
            <a:r>
              <a:rPr sz="1400" spc="-5" dirty="0">
                <a:latin typeface="Microsoft Sans Serif"/>
                <a:cs typeface="Microsoft Sans Serif"/>
              </a:rPr>
              <a:t>đặc </a:t>
            </a:r>
            <a:r>
              <a:rPr sz="1400" spc="25" dirty="0">
                <a:latin typeface="Microsoft Sans Serif"/>
                <a:cs typeface="Microsoft Sans Serif"/>
              </a:rPr>
              <a:t>trưng </a:t>
            </a:r>
            <a:r>
              <a:rPr sz="1400" spc="35" dirty="0">
                <a:latin typeface="Microsoft Sans Serif"/>
                <a:cs typeface="Microsoft Sans Serif"/>
              </a:rPr>
              <a:t>bởi </a:t>
            </a:r>
            <a:r>
              <a:rPr sz="1400" spc="55" dirty="0">
                <a:latin typeface="Microsoft Sans Serif"/>
                <a:cs typeface="Microsoft Sans Serif"/>
              </a:rPr>
              <a:t>hướng </a:t>
            </a:r>
            <a:r>
              <a:rPr sz="1400" spc="-5" dirty="0">
                <a:latin typeface="Microsoft Sans Serif"/>
                <a:cs typeface="Microsoft Sans Serif"/>
              </a:rPr>
              <a:t>chiếu vuông góc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40" dirty="0">
                <a:latin typeface="Microsoft Sans Serif"/>
                <a:cs typeface="Microsoft Sans Serif"/>
              </a:rPr>
              <a:t>với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mặt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phẳng chiếu.</a:t>
            </a:r>
            <a:endParaRPr sz="1400">
              <a:latin typeface="Microsoft Sans Serif"/>
              <a:cs typeface="Microsoft Sans Serif"/>
            </a:endParaRPr>
          </a:p>
          <a:p>
            <a:pPr marL="1181100" lvl="2" indent="-228600">
              <a:spcBef>
                <a:spcPts val="670"/>
              </a:spcBef>
              <a:buClr>
                <a:srgbClr val="00007C"/>
              </a:buClr>
              <a:buSzPct val="64285"/>
              <a:buFont typeface="Wingdings"/>
              <a:buChar char=""/>
              <a:tabLst>
                <a:tab pos="1180465" algn="l"/>
                <a:tab pos="1181100" algn="l"/>
              </a:tabLst>
            </a:pPr>
            <a:r>
              <a:rPr sz="1400" spc="50" dirty="0">
                <a:latin typeface="Microsoft Sans Serif"/>
                <a:cs typeface="Microsoft Sans Serif"/>
              </a:rPr>
              <a:t>Hướng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chiếu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song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song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40" dirty="0">
                <a:latin typeface="Microsoft Sans Serif"/>
                <a:cs typeface="Microsoft Sans Serif"/>
              </a:rPr>
              <a:t>với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một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trục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10" dirty="0">
                <a:latin typeface="Microsoft Sans Serif"/>
                <a:cs typeface="Microsoft Sans Serif"/>
              </a:rPr>
              <a:t>chính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tạo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ra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phép chiếu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mặt,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bằng,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cạnh.</a:t>
            </a:r>
            <a:endParaRPr sz="1400">
              <a:latin typeface="Microsoft Sans Serif"/>
              <a:cs typeface="Microsoft Sans Serif"/>
            </a:endParaRPr>
          </a:p>
          <a:p>
            <a:pPr marL="1181100" marR="143510" lvl="2" indent="-228600">
              <a:lnSpc>
                <a:spcPct val="120100"/>
              </a:lnSpc>
              <a:spcBef>
                <a:spcPts val="335"/>
              </a:spcBef>
              <a:buClr>
                <a:srgbClr val="00007C"/>
              </a:buClr>
              <a:buSzPct val="64285"/>
              <a:buFont typeface="Wingdings"/>
              <a:buChar char=""/>
              <a:tabLst>
                <a:tab pos="1180465" algn="l"/>
                <a:tab pos="1181100" algn="l"/>
              </a:tabLst>
            </a:pPr>
            <a:r>
              <a:rPr sz="1400" spc="-5" dirty="0">
                <a:latin typeface="Microsoft Sans Serif"/>
                <a:cs typeface="Microsoft Sans Serif"/>
              </a:rPr>
              <a:t>Phép chiếu </a:t>
            </a:r>
            <a:r>
              <a:rPr sz="1400" spc="35" dirty="0">
                <a:latin typeface="Microsoft Sans Serif"/>
                <a:cs typeface="Microsoft Sans Serif"/>
              </a:rPr>
              <a:t>trực </a:t>
            </a:r>
            <a:r>
              <a:rPr sz="1400" spc="50" dirty="0">
                <a:latin typeface="Microsoft Sans Serif"/>
                <a:cs typeface="Microsoft Sans Serif"/>
              </a:rPr>
              <a:t>lượng </a:t>
            </a:r>
            <a:r>
              <a:rPr sz="1400" spc="-5" dirty="0">
                <a:latin typeface="Microsoft Sans Serif"/>
                <a:cs typeface="Microsoft Sans Serif"/>
              </a:rPr>
              <a:t>(axonometric) </a:t>
            </a:r>
            <a:r>
              <a:rPr sz="1400" spc="-10" dirty="0">
                <a:latin typeface="Microsoft Sans Serif"/>
                <a:cs typeface="Microsoft Sans Serif"/>
              </a:rPr>
              <a:t>là </a:t>
            </a:r>
            <a:r>
              <a:rPr sz="1400" spc="-5" dirty="0">
                <a:latin typeface="Microsoft Sans Serif"/>
                <a:cs typeface="Microsoft Sans Serif"/>
              </a:rPr>
              <a:t>phép chiếu vuông góc trong đó </a:t>
            </a:r>
            <a:r>
              <a:rPr sz="1400" spc="55" dirty="0">
                <a:latin typeface="Microsoft Sans Serif"/>
                <a:cs typeface="Microsoft Sans Serif"/>
              </a:rPr>
              <a:t>hướng </a:t>
            </a:r>
            <a:r>
              <a:rPr sz="1400" spc="-5" dirty="0">
                <a:latin typeface="Microsoft Sans Serif"/>
                <a:cs typeface="Microsoft Sans Serif"/>
              </a:rPr>
              <a:t>chiếu không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song song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40" dirty="0">
                <a:latin typeface="Microsoft Sans Serif"/>
                <a:cs typeface="Microsoft Sans Serif"/>
              </a:rPr>
              <a:t>với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bất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kỳ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trục </a:t>
            </a:r>
            <a:r>
              <a:rPr sz="1400" spc="10" dirty="0">
                <a:latin typeface="Microsoft Sans Serif"/>
                <a:cs typeface="Microsoft Sans Serif"/>
              </a:rPr>
              <a:t>chính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nào.</a:t>
            </a:r>
            <a:endParaRPr sz="1400">
              <a:latin typeface="Microsoft Sans Serif"/>
              <a:cs typeface="Microsoft Sans Serif"/>
            </a:endParaRPr>
          </a:p>
          <a:p>
            <a:pPr marL="1181100" marR="317500" lvl="2" indent="-228600">
              <a:lnSpc>
                <a:spcPct val="120000"/>
              </a:lnSpc>
              <a:spcBef>
                <a:spcPts val="335"/>
              </a:spcBef>
              <a:buClr>
                <a:srgbClr val="00007C"/>
              </a:buClr>
              <a:buSzPct val="64285"/>
              <a:buFont typeface="Wingdings"/>
              <a:buChar char=""/>
              <a:tabLst>
                <a:tab pos="1180465" algn="l"/>
                <a:tab pos="1181100" algn="l"/>
              </a:tabLst>
            </a:pPr>
            <a:r>
              <a:rPr sz="1400" spc="-5" dirty="0">
                <a:latin typeface="Microsoft Sans Serif"/>
                <a:cs typeface="Microsoft Sans Serif"/>
              </a:rPr>
              <a:t>Phép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chiếu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song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song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không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vuông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góc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gọi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là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phép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chiếu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song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song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xiên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(olique</a:t>
            </a:r>
            <a:r>
              <a:rPr sz="1400" spc="-5" dirty="0">
                <a:latin typeface="Microsoft Sans Serif"/>
                <a:cs typeface="Microsoft Sans Serif"/>
              </a:rPr>
              <a:t> parallel </a:t>
            </a:r>
            <a:r>
              <a:rPr sz="1400" spc="-35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projections)</a:t>
            </a:r>
            <a:endParaRPr sz="1400">
              <a:latin typeface="Microsoft Sans Serif"/>
              <a:cs typeface="Microsoft Sans Serif"/>
            </a:endParaRPr>
          </a:p>
          <a:p>
            <a:pPr marL="381000" marR="408305" indent="-342900">
              <a:lnSpc>
                <a:spcPct val="120000"/>
              </a:lnSpc>
              <a:spcBef>
                <a:spcPts val="37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dirty="0">
                <a:latin typeface="Microsoft Sans Serif"/>
                <a:cs typeface="Microsoft Sans Serif"/>
              </a:rPr>
              <a:t>Phép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chiếu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(parallel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projective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transformation)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spc="90" dirty="0">
                <a:latin typeface="Microsoft Sans Serif"/>
                <a:cs typeface="Microsoft Sans Serif"/>
              </a:rPr>
              <a:t>được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xác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spc="-10" dirty="0">
                <a:latin typeface="Microsoft Sans Serif"/>
                <a:cs typeface="Microsoft Sans Serif"/>
              </a:rPr>
              <a:t>định</a:t>
            </a:r>
            <a:r>
              <a:rPr spc="25" dirty="0">
                <a:latin typeface="Microsoft Sans Serif"/>
                <a:cs typeface="Microsoft Sans Serif"/>
              </a:rPr>
              <a:t> </a:t>
            </a:r>
            <a:r>
              <a:rPr spc="50" dirty="0">
                <a:latin typeface="Microsoft Sans Serif"/>
                <a:cs typeface="Microsoft Sans Serif"/>
              </a:rPr>
              <a:t>bởi </a:t>
            </a:r>
            <a:r>
              <a:rPr spc="-46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vector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spc="70" dirty="0">
                <a:latin typeface="Microsoft Sans Serif"/>
                <a:cs typeface="Microsoft Sans Serif"/>
              </a:rPr>
              <a:t>hướng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chiếu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và</a:t>
            </a:r>
            <a:r>
              <a:rPr spc="1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mặt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phẳng</a:t>
            </a:r>
            <a:r>
              <a:rPr spc="20" dirty="0">
                <a:latin typeface="Microsoft Sans Serif"/>
                <a:cs typeface="Microsoft Sans Serif"/>
              </a:rPr>
              <a:t> </a:t>
            </a:r>
            <a:r>
              <a:rPr spc="-5" dirty="0">
                <a:latin typeface="Microsoft Sans Serif"/>
                <a:cs typeface="Microsoft Sans Serif"/>
              </a:rPr>
              <a:t>quan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sát.</a:t>
            </a:r>
            <a:endParaRPr>
              <a:latin typeface="Microsoft Sans Serif"/>
              <a:cs typeface="Microsoft Sans Serif"/>
            </a:endParaRPr>
          </a:p>
          <a:p>
            <a:pPr marL="781050" marR="203835" lvl="1" indent="-285750">
              <a:lnSpc>
                <a:spcPct val="120000"/>
              </a:lnSpc>
              <a:spcBef>
                <a:spcPts val="415"/>
              </a:spcBef>
              <a:buClr>
                <a:srgbClr val="9999CC"/>
              </a:buClr>
              <a:buSzPct val="78125"/>
              <a:buFont typeface="Wingdings"/>
              <a:buChar char=""/>
              <a:tabLst>
                <a:tab pos="780415" algn="l"/>
                <a:tab pos="781050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Mặt</a:t>
            </a:r>
            <a:r>
              <a:rPr sz="1600" spc="3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phẳng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quan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sát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80" dirty="0">
                <a:latin typeface="Microsoft Sans Serif"/>
                <a:cs typeface="Microsoft Sans Serif"/>
              </a:rPr>
              <a:t>được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xác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định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bởi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điểm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15" dirty="0">
                <a:latin typeface="Microsoft Sans Serif"/>
                <a:cs typeface="Microsoft Sans Serif"/>
              </a:rPr>
              <a:t>nhìn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tham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chiếu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5" dirty="0">
                <a:latin typeface="Microsoft Sans Serif"/>
                <a:cs typeface="Microsoft Sans Serif"/>
              </a:rPr>
              <a:t>R</a:t>
            </a:r>
            <a:r>
              <a:rPr sz="1575" spc="7" baseline="-21164" dirty="0">
                <a:latin typeface="Microsoft Sans Serif"/>
                <a:cs typeface="Microsoft Sans Serif"/>
              </a:rPr>
              <a:t>0</a:t>
            </a:r>
            <a:r>
              <a:rPr sz="1575" spc="225" baseline="-21164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và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pháp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tuyến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của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mặt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phẳng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quan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sát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N.</a:t>
            </a:r>
            <a:endParaRPr sz="1600">
              <a:latin typeface="Microsoft Sans Serif"/>
              <a:cs typeface="Microsoft Sans Serif"/>
            </a:endParaRPr>
          </a:p>
        </p:txBody>
      </p:sp>
    </p:spTree>
    <p:extLst>
      <p:ext uri="{BB962C8B-B14F-4D97-AF65-F5344CB8AC3E}">
        <p14:creationId xmlns:p14="http://schemas.microsoft.com/office/powerpoint/2010/main" val="3209756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059941" y="811276"/>
            <a:ext cx="3839845" cy="635635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10" dirty="0">
                <a:latin typeface="Microsoft Sans Serif"/>
                <a:cs typeface="Microsoft Sans Serif"/>
              </a:rPr>
              <a:t>Chiếu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r>
              <a:rPr spc="1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song</a:t>
            </a:r>
            <a:endParaRPr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07540" y="1588515"/>
            <a:ext cx="8115300" cy="11226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55600" marR="5080" indent="-342900">
              <a:lnSpc>
                <a:spcPts val="2590"/>
              </a:lnSpc>
              <a:spcBef>
                <a:spcPts val="42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2400" dirty="0">
                <a:latin typeface="Microsoft Sans Serif"/>
                <a:cs typeface="Microsoft Sans Serif"/>
              </a:rPr>
              <a:t>Phép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xiên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(oblique):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40" dirty="0">
                <a:latin typeface="Microsoft Sans Serif"/>
                <a:cs typeface="Microsoft Sans Serif"/>
              </a:rPr>
              <a:t>Tia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không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vuông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góc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75" dirty="0">
                <a:latin typeface="Microsoft Sans Serif"/>
                <a:cs typeface="Microsoft Sans Serif"/>
              </a:rPr>
              <a:t>với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mặt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chiếu</a:t>
            </a:r>
            <a:endParaRPr sz="2400">
              <a:latin typeface="Microsoft Sans Serif"/>
              <a:cs typeface="Microsoft Sans Serif"/>
            </a:endParaRPr>
          </a:p>
          <a:p>
            <a:pPr marL="755650" lvl="1" indent="-285750">
              <a:spcBef>
                <a:spcPts val="254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55650" algn="l"/>
              </a:tabLst>
            </a:pPr>
            <a:r>
              <a:rPr sz="2400" dirty="0">
                <a:latin typeface="Microsoft Sans Serif"/>
                <a:cs typeface="Microsoft Sans Serif"/>
              </a:rPr>
              <a:t>(x,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y):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tọa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độ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65" dirty="0">
                <a:latin typeface="Microsoft Sans Serif"/>
                <a:cs typeface="Microsoft Sans Serif"/>
              </a:rPr>
              <a:t>trực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giao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45569" y="3087652"/>
            <a:ext cx="5458564" cy="3012141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5447" y="2819400"/>
            <a:ext cx="2683636" cy="32004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9877552" y="6439573"/>
            <a:ext cx="279400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13</a:t>
            </a:r>
            <a:endParaRPr sz="120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3616321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2034541" y="1919421"/>
            <a:ext cx="8101965" cy="3931846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381000" indent="-342900">
              <a:spcBef>
                <a:spcPts val="440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80365" algn="l"/>
                <a:tab pos="38100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Khi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Symbol"/>
                <a:cs typeface="Symbol"/>
              </a:rPr>
              <a:t></a:t>
            </a:r>
            <a:r>
              <a:rPr sz="2800" dirty="0">
                <a:latin typeface="Microsoft Sans Serif"/>
                <a:cs typeface="Microsoft Sans Serif"/>
              </a:rPr>
              <a:t>=0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45" dirty="0">
                <a:latin typeface="Microsoft Sans Serif"/>
                <a:cs typeface="Microsoft Sans Serif"/>
              </a:rPr>
              <a:t>thì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L=0: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có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phép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chiếu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80" dirty="0">
                <a:latin typeface="Microsoft Sans Serif"/>
                <a:cs typeface="Microsoft Sans Serif"/>
              </a:rPr>
              <a:t>trực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giao</a:t>
            </a:r>
            <a:endParaRPr sz="2800">
              <a:latin typeface="Microsoft Sans Serif"/>
              <a:cs typeface="Microsoft Sans Serif"/>
            </a:endParaRPr>
          </a:p>
          <a:p>
            <a:pPr marL="781050" lvl="1" indent="-285750">
              <a:spcBef>
                <a:spcPts val="295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8105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L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spc="-5" dirty="0">
                <a:latin typeface="Microsoft Sans Serif"/>
                <a:cs typeface="Microsoft Sans Serif"/>
              </a:rPr>
              <a:t>: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giá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trị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của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L</a:t>
            </a:r>
            <a:r>
              <a:rPr sz="2400" spc="-7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khi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z=1</a:t>
            </a:r>
            <a:endParaRPr sz="2400">
              <a:latin typeface="Microsoft Sans Serif"/>
              <a:cs typeface="Microsoft Sans Serif"/>
            </a:endParaRPr>
          </a:p>
          <a:p>
            <a:pPr marL="781050" lvl="1" indent="-285750">
              <a:spcBef>
                <a:spcPts val="290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8105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Khi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Symbol"/>
                <a:cs typeface="Symbol"/>
              </a:rPr>
              <a:t></a:t>
            </a:r>
            <a:r>
              <a:rPr sz="2400" spc="-5" dirty="0">
                <a:latin typeface="Microsoft Sans Serif"/>
                <a:cs typeface="Microsoft Sans Serif"/>
              </a:rPr>
              <a:t>=45</a:t>
            </a:r>
            <a:r>
              <a:rPr sz="2400" spc="-7" baseline="24305" dirty="0">
                <a:latin typeface="Microsoft Sans Serif"/>
                <a:cs typeface="Microsoft Sans Serif"/>
              </a:rPr>
              <a:t>0</a:t>
            </a:r>
            <a:r>
              <a:rPr sz="2400" spc="352" baseline="2430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hay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spc="-5" dirty="0">
                <a:latin typeface="Microsoft Sans Serif"/>
                <a:cs typeface="Microsoft Sans Serif"/>
              </a:rPr>
              <a:t>=1: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có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phép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xiên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đều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(cavalier)</a:t>
            </a:r>
            <a:endParaRPr sz="2400">
              <a:latin typeface="Microsoft Sans Serif"/>
              <a:cs typeface="Microsoft Sans Serif"/>
            </a:endParaRPr>
          </a:p>
          <a:p>
            <a:pPr marL="1180465" marR="453390" lvl="2" indent="-228600">
              <a:lnSpc>
                <a:spcPts val="2160"/>
              </a:lnSpc>
              <a:spcBef>
                <a:spcPts val="520"/>
              </a:spcBef>
              <a:buClr>
                <a:srgbClr val="00007C"/>
              </a:buClr>
              <a:buSzPct val="65000"/>
              <a:buFont typeface="Wingdings"/>
              <a:buChar char=""/>
              <a:tabLst>
                <a:tab pos="1181100" algn="l"/>
              </a:tabLst>
            </a:pPr>
            <a:r>
              <a:rPr sz="2000" spc="20" dirty="0">
                <a:latin typeface="Microsoft Sans Serif"/>
                <a:cs typeface="Microsoft Sans Serif"/>
              </a:rPr>
              <a:t>Hình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của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đoạn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song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song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hay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vuông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góc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mặt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đều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giữ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nguyên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độ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lớn</a:t>
            </a:r>
            <a:endParaRPr sz="2000">
              <a:latin typeface="Microsoft Sans Serif"/>
              <a:cs typeface="Microsoft Sans Serif"/>
            </a:endParaRPr>
          </a:p>
          <a:p>
            <a:pPr marL="781050" marR="820419" lvl="1" indent="-285750">
              <a:lnSpc>
                <a:spcPts val="2590"/>
              </a:lnSpc>
              <a:spcBef>
                <a:spcPts val="580"/>
              </a:spcBef>
              <a:buClr>
                <a:srgbClr val="9999CC"/>
              </a:buClr>
              <a:buSzPct val="79166"/>
              <a:buFont typeface="Wingdings"/>
              <a:buChar char=""/>
              <a:tabLst>
                <a:tab pos="78105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Khi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Symbol"/>
                <a:cs typeface="Symbol"/>
              </a:rPr>
              <a:t></a:t>
            </a:r>
            <a:r>
              <a:rPr sz="2400" spc="-5" dirty="0">
                <a:latin typeface="Microsoft Sans Serif"/>
                <a:cs typeface="Microsoft Sans Serif"/>
              </a:rPr>
              <a:t>=63.40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hay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</a:t>
            </a:r>
            <a:r>
              <a:rPr sz="2400" spc="-7" baseline="-20833" dirty="0">
                <a:latin typeface="Microsoft Sans Serif"/>
                <a:cs typeface="Microsoft Sans Serif"/>
              </a:rPr>
              <a:t>1</a:t>
            </a:r>
            <a:r>
              <a:rPr sz="2400" spc="-5" dirty="0">
                <a:latin typeface="Microsoft Sans Serif"/>
                <a:cs typeface="Microsoft Sans Serif"/>
              </a:rPr>
              <a:t>=1/2: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có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phép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chiếu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xiên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cân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(cabinet)</a:t>
            </a:r>
            <a:endParaRPr sz="2400">
              <a:latin typeface="Microsoft Sans Serif"/>
              <a:cs typeface="Microsoft Sans Serif"/>
            </a:endParaRPr>
          </a:p>
          <a:p>
            <a:pPr marL="1180465" marR="50800" lvl="2" indent="-228600">
              <a:lnSpc>
                <a:spcPts val="2160"/>
              </a:lnSpc>
              <a:spcBef>
                <a:spcPts val="480"/>
              </a:spcBef>
              <a:buClr>
                <a:srgbClr val="00007C"/>
              </a:buClr>
              <a:buSzPct val="65000"/>
              <a:buFont typeface="Wingdings"/>
              <a:buChar char=""/>
              <a:tabLst>
                <a:tab pos="1181100" algn="l"/>
              </a:tabLst>
            </a:pPr>
            <a:r>
              <a:rPr sz="2000" spc="20" dirty="0">
                <a:latin typeface="Microsoft Sans Serif"/>
                <a:cs typeface="Microsoft Sans Serif"/>
              </a:rPr>
              <a:t>Hình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của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đoạn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vuông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góc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với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mặt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bằng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½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độ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lớn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ban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đầu</a:t>
            </a:r>
            <a:endParaRPr sz="2000">
              <a:latin typeface="Microsoft Sans Serif"/>
              <a:cs typeface="Microsoft Sans Serif"/>
            </a:endParaRPr>
          </a:p>
          <a:p>
            <a:pPr marL="1180465" marR="110489" lvl="2" indent="-228600">
              <a:lnSpc>
                <a:spcPts val="2160"/>
              </a:lnSpc>
              <a:spcBef>
                <a:spcPts val="480"/>
              </a:spcBef>
              <a:buClr>
                <a:srgbClr val="00007C"/>
              </a:buClr>
              <a:buSzPct val="65000"/>
              <a:buFont typeface="Wingdings"/>
              <a:buChar char=""/>
              <a:tabLst>
                <a:tab pos="1181100" algn="l"/>
              </a:tabLst>
            </a:pPr>
            <a:r>
              <a:rPr sz="2000" spc="20" dirty="0">
                <a:latin typeface="Microsoft Sans Serif"/>
                <a:cs typeface="Microsoft Sans Serif"/>
              </a:rPr>
              <a:t>Hình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của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đoạn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song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song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60" dirty="0">
                <a:latin typeface="Microsoft Sans Serif"/>
                <a:cs typeface="Microsoft Sans Serif"/>
              </a:rPr>
              <a:t>với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mặt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chiếu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-&gt;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65" dirty="0">
                <a:latin typeface="Microsoft Sans Serif"/>
                <a:cs typeface="Microsoft Sans Serif"/>
              </a:rPr>
              <a:t>giữ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nguyên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độ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55" dirty="0">
                <a:latin typeface="Microsoft Sans Serif"/>
                <a:cs typeface="Microsoft Sans Serif"/>
              </a:rPr>
              <a:t>lớn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77552" y="6439573"/>
            <a:ext cx="279400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14</a:t>
            </a:r>
            <a:endParaRPr sz="120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083903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/>
          <p:nvPr/>
        </p:nvSpPr>
        <p:spPr>
          <a:xfrm>
            <a:off x="2059941" y="2003806"/>
            <a:ext cx="7807325" cy="1488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spcBef>
                <a:spcPts val="95"/>
              </a:spcBef>
              <a:buClr>
                <a:srgbClr val="00007C"/>
              </a:buClr>
              <a:buSzPct val="75000"/>
              <a:buFont typeface="Wingdings"/>
              <a:buChar char=""/>
              <a:tabLst>
                <a:tab pos="355600" algn="l"/>
                <a:tab pos="1684655" algn="l"/>
              </a:tabLst>
            </a:pPr>
            <a:r>
              <a:rPr sz="3200" spc="-5" dirty="0">
                <a:latin typeface="Microsoft Sans Serif"/>
                <a:cs typeface="Microsoft Sans Serif"/>
              </a:rPr>
              <a:t>Xác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định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ma</a:t>
            </a:r>
            <a:r>
              <a:rPr sz="3200" spc="1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trận</a:t>
            </a:r>
            <a:r>
              <a:rPr sz="3200" spc="4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của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phép</a:t>
            </a:r>
            <a:r>
              <a:rPr sz="3200" spc="2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chiếu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15" dirty="0">
                <a:latin typeface="Microsoft Sans Serif"/>
                <a:cs typeface="Microsoft Sans Serif"/>
              </a:rPr>
              <a:t>đối </a:t>
            </a:r>
            <a:r>
              <a:rPr sz="3200" spc="-10" dirty="0">
                <a:latin typeface="Microsoft Sans Serif"/>
                <a:cs typeface="Microsoft Sans Serif"/>
              </a:rPr>
              <a:t> </a:t>
            </a:r>
            <a:r>
              <a:rPr sz="3200" spc="135" dirty="0">
                <a:latin typeface="Microsoft Sans Serif"/>
                <a:cs typeface="Microsoft Sans Serif"/>
              </a:rPr>
              <a:t>tượng	</a:t>
            </a:r>
            <a:r>
              <a:rPr sz="3200" spc="-5" dirty="0">
                <a:latin typeface="Microsoft Sans Serif"/>
                <a:cs typeface="Microsoft Sans Serif"/>
              </a:rPr>
              <a:t>mặt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phẳng</a:t>
            </a:r>
            <a:r>
              <a:rPr sz="3200" spc="1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Q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15" dirty="0">
                <a:latin typeface="Microsoft Sans Serif"/>
                <a:cs typeface="Microsoft Sans Serif"/>
              </a:rPr>
              <a:t>đi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qua</a:t>
            </a:r>
            <a:r>
              <a:rPr sz="3200" spc="1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gốc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tọa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độ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và </a:t>
            </a:r>
            <a:r>
              <a:rPr sz="3200" spc="-8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có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vector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pháp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tuyến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n=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20" dirty="0">
                <a:latin typeface="Microsoft Sans Serif"/>
                <a:cs typeface="Microsoft Sans Serif"/>
              </a:rPr>
              <a:t>i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+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20" dirty="0">
                <a:latin typeface="Microsoft Sans Serif"/>
                <a:cs typeface="Microsoft Sans Serif"/>
              </a:rPr>
              <a:t>j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+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k</a:t>
            </a:r>
            <a:endParaRPr sz="32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77552" y="6439573"/>
            <a:ext cx="279400" cy="212879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spcBef>
                <a:spcPts val="220"/>
              </a:spcBef>
            </a:pPr>
            <a:r>
              <a:rPr sz="1200" dirty="0">
                <a:latin typeface="Arial Black"/>
                <a:cs typeface="Arial Black"/>
              </a:rPr>
              <a:t>15</a:t>
            </a:r>
            <a:endParaRPr sz="1200">
              <a:latin typeface="Arial Black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42559343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197</TotalTime>
  <Words>1112</Words>
  <Application>Microsoft Office PowerPoint</Application>
  <PresentationFormat>Widescreen</PresentationFormat>
  <Paragraphs>90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Calibri</vt:lpstr>
      <vt:lpstr>Constantia</vt:lpstr>
      <vt:lpstr>Corbel</vt:lpstr>
      <vt:lpstr>Microsoft Sans Serif</vt:lpstr>
      <vt:lpstr>Symbol</vt:lpstr>
      <vt:lpstr>Wingdings</vt:lpstr>
      <vt:lpstr>Parallax</vt:lpstr>
      <vt:lpstr>PowerPoint Presentation</vt:lpstr>
      <vt:lpstr>PowerPoint Presentation</vt:lpstr>
      <vt:lpstr>Quan sát ba chiều</vt:lpstr>
      <vt:lpstr>Giới thiệu</vt:lpstr>
      <vt:lpstr>Các phép chiếu cơ bản</vt:lpstr>
      <vt:lpstr>Phép chiếu</vt:lpstr>
      <vt:lpstr>PowerPoint Presentation</vt:lpstr>
      <vt:lpstr>Phép chiếu phối cảnh</vt:lpstr>
      <vt:lpstr>PowerPoint Presentation</vt:lpstr>
      <vt:lpstr>Mô tả toán học của phép chiếu phối cảnh</vt:lpstr>
      <vt:lpstr>PowerPoint Presentation</vt:lpstr>
      <vt:lpstr>PowerPoint Presentation</vt:lpstr>
      <vt:lpstr>Phép chiếu song song</vt:lpstr>
      <vt:lpstr>Chiếu song song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18</cp:revision>
  <dcterms:created xsi:type="dcterms:W3CDTF">2024-02-21T06:49:26Z</dcterms:created>
  <dcterms:modified xsi:type="dcterms:W3CDTF">2024-02-23T14:33:07Z</dcterms:modified>
</cp:coreProperties>
</file>