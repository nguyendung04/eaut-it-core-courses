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48"/>
  </p:notesMasterIdLst>
  <p:sldIdLst>
    <p:sldId id="257" r:id="rId2"/>
    <p:sldId id="261" r:id="rId3"/>
    <p:sldId id="444" r:id="rId4"/>
    <p:sldId id="440" r:id="rId5"/>
    <p:sldId id="441" r:id="rId6"/>
    <p:sldId id="442" r:id="rId7"/>
    <p:sldId id="443" r:id="rId8"/>
    <p:sldId id="333" r:id="rId9"/>
    <p:sldId id="446" r:id="rId10"/>
    <p:sldId id="447" r:id="rId11"/>
    <p:sldId id="448" r:id="rId12"/>
    <p:sldId id="449" r:id="rId13"/>
    <p:sldId id="450" r:id="rId14"/>
    <p:sldId id="451" r:id="rId15"/>
    <p:sldId id="452" r:id="rId16"/>
    <p:sldId id="453" r:id="rId17"/>
    <p:sldId id="454" r:id="rId18"/>
    <p:sldId id="455" r:id="rId19"/>
    <p:sldId id="457" r:id="rId20"/>
    <p:sldId id="458" r:id="rId21"/>
    <p:sldId id="459" r:id="rId22"/>
    <p:sldId id="460" r:id="rId23"/>
    <p:sldId id="461" r:id="rId24"/>
    <p:sldId id="462" r:id="rId25"/>
    <p:sldId id="463" r:id="rId26"/>
    <p:sldId id="464" r:id="rId27"/>
    <p:sldId id="465" r:id="rId28"/>
    <p:sldId id="466" r:id="rId29"/>
    <p:sldId id="467" r:id="rId30"/>
    <p:sldId id="468" r:id="rId31"/>
    <p:sldId id="469" r:id="rId32"/>
    <p:sldId id="470" r:id="rId33"/>
    <p:sldId id="471" r:id="rId34"/>
    <p:sldId id="472" r:id="rId35"/>
    <p:sldId id="473" r:id="rId36"/>
    <p:sldId id="474" r:id="rId37"/>
    <p:sldId id="475" r:id="rId38"/>
    <p:sldId id="482" r:id="rId39"/>
    <p:sldId id="483" r:id="rId40"/>
    <p:sldId id="484" r:id="rId41"/>
    <p:sldId id="485" r:id="rId42"/>
    <p:sldId id="486" r:id="rId43"/>
    <p:sldId id="487" r:id="rId44"/>
    <p:sldId id="488" r:id="rId45"/>
    <p:sldId id="489" r:id="rId46"/>
    <p:sldId id="49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5580" autoAdjust="0"/>
    <p:restoredTop sz="94660"/>
  </p:normalViewPr>
  <p:slideViewPr>
    <p:cSldViewPr snapToGrid="0">
      <p:cViewPr>
        <p:scale>
          <a:sx n="66" d="100"/>
          <a:sy n="66" d="100"/>
        </p:scale>
        <p:origin x="307"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D1BEA3-C1B4-4F81-B774-56CF4F6F2B3D}" type="datetimeFigureOut">
              <a:rPr lang="en-US" smtClean="0"/>
              <a:t>23/02/2024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E357F2-8A00-477D-A2A6-A064B5B7C693}" type="slidenum">
              <a:rPr lang="en-US" smtClean="0"/>
              <a:t>‹#›</a:t>
            </a:fld>
            <a:endParaRPr lang="en-US"/>
          </a:p>
        </p:txBody>
      </p:sp>
    </p:spTree>
    <p:extLst>
      <p:ext uri="{BB962C8B-B14F-4D97-AF65-F5344CB8AC3E}">
        <p14:creationId xmlns:p14="http://schemas.microsoft.com/office/powerpoint/2010/main" val="1630760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48C208-A8CA-451B-A617-AAF7EEB23970}" type="datetime1">
              <a:rPr lang="en-US" smtClean="0"/>
              <a:t>23/02/2024</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200183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EE01C9C-A7E5-475D-A82B-8F25EA51ED4D}" type="datetime1">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248373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91B79A-A846-4CD3-BE07-F51E079F343C}" type="datetime1">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3926731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5A1AA92-3A27-4044-A846-F0B22DEAA556}" type="datetime1">
              <a:rPr lang="en-US" smtClean="0"/>
              <a:t>23/02/2024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869578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BCF91D6-46FC-4241-A052-368ED6A1E775}" type="datetime1">
              <a:rPr lang="en-US" smtClean="0"/>
              <a:t>23/02/2024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722676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9101821-D8BA-4A33-9127-E646FBBCFD34}" type="datetime1">
              <a:rPr lang="en-US" smtClean="0"/>
              <a:t>23/02/2024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3227895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CE7A59-681B-490F-949F-06E03EB51531}" type="datetime1">
              <a:rPr lang="en-US" smtClean="0"/>
              <a:t>23/02/2024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3150310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92B1920-196B-49B0-84DC-EDB18744D998}" type="datetime1">
              <a:rPr lang="en-US" smtClean="0"/>
              <a:t>23/02/2024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618827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9357103-E9CB-4520-B4BD-6D945AE49AB8}" type="datetime1">
              <a:rPr lang="en-US" smtClean="0"/>
              <a:t>23/02/2024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3838338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CC2751C-5A31-438E-8F8E-D5F39376FE65}" type="datetime1">
              <a:rPr lang="en-US" smtClean="0"/>
              <a:t>23/02/2024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73174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60B03AE-3FD7-43CC-A20C-C840BD270F9A}" type="datetime1">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606355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F1404F9-720C-433F-93FA-DA11CC9BBA02}" type="datetime1">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4188156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D67D743-5AFC-4A6A-8528-6F12E7BE8A5F}" type="datetime1">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897507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E511653-EE83-4B83-963D-42E5EBB0AD17}" type="datetime1">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36736332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C28AEDA-B8F2-4875-B671-7E9BA9C0AFE3}" type="datetime1">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9605302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54E46D-EC3D-4C29-A7B3-B747B6D81963}" type="datetime1">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30561699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9126199-BE4D-4E59-A68B-DE0A96FC2810}" type="datetime1">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440521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45FA6F9-EFE2-4FB9-924B-C34FD8F233ED}" type="datetime1">
              <a:rPr lang="en-US" smtClean="0"/>
              <a:t>23/02/2024</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AC668D0-FFF1-47C5-8061-FF1B22C34E7B}" type="slidenum">
              <a:rPr lang="en-US" smtClean="0"/>
              <a:t>‹#›</a:t>
            </a:fld>
            <a:endParaRPr lang="en-US"/>
          </a:p>
        </p:txBody>
      </p:sp>
    </p:spTree>
    <p:extLst>
      <p:ext uri="{BB962C8B-B14F-4D97-AF65-F5344CB8AC3E}">
        <p14:creationId xmlns:p14="http://schemas.microsoft.com/office/powerpoint/2010/main" val="364831784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45390" y="2673921"/>
            <a:ext cx="6773956" cy="1063579"/>
          </a:xfrm>
          <a:prstGeom prst="rect">
            <a:avLst/>
          </a:prstGeom>
        </p:spPr>
        <p:txBody>
          <a:bodyPr vert="horz" wrap="square" lIns="0" tIns="11766" rIns="0" bIns="0" rtlCol="0">
            <a:spAutoFit/>
          </a:bodyPr>
          <a:lstStyle/>
          <a:p>
            <a:pPr marL="25774" algn="ctr"/>
            <a:r>
              <a:rPr lang="en-US" sz="3530" b="1" dirty="0">
                <a:solidFill>
                  <a:schemeClr val="accent1">
                    <a:lumMod val="50000"/>
                  </a:schemeClr>
                </a:solidFill>
                <a:latin typeface="Arial"/>
                <a:cs typeface="Arial"/>
              </a:rPr>
              <a:t>KỸ THUẬT </a:t>
            </a:r>
            <a:r>
              <a:rPr sz="3530" b="1" dirty="0">
                <a:solidFill>
                  <a:schemeClr val="accent1">
                    <a:lumMod val="50000"/>
                  </a:schemeClr>
                </a:solidFill>
                <a:latin typeface="Arial"/>
                <a:cs typeface="Arial"/>
              </a:rPr>
              <a:t>ĐỒ</a:t>
            </a:r>
            <a:r>
              <a:rPr sz="3530" b="1" spc="-4" dirty="0">
                <a:solidFill>
                  <a:schemeClr val="accent1">
                    <a:lumMod val="50000"/>
                  </a:schemeClr>
                </a:solidFill>
                <a:latin typeface="Arial"/>
                <a:cs typeface="Arial"/>
              </a:rPr>
              <a:t> </a:t>
            </a:r>
            <a:r>
              <a:rPr sz="3530" b="1" dirty="0">
                <a:solidFill>
                  <a:schemeClr val="accent1">
                    <a:lumMod val="50000"/>
                  </a:schemeClr>
                </a:solidFill>
                <a:latin typeface="Arial"/>
                <a:cs typeface="Arial"/>
              </a:rPr>
              <a:t>HỌA</a:t>
            </a:r>
            <a:r>
              <a:rPr sz="3530" b="1" spc="-13" dirty="0">
                <a:solidFill>
                  <a:schemeClr val="accent1">
                    <a:lumMod val="50000"/>
                  </a:schemeClr>
                </a:solidFill>
                <a:latin typeface="Arial"/>
                <a:cs typeface="Arial"/>
              </a:rPr>
              <a:t> </a:t>
            </a:r>
            <a:r>
              <a:rPr sz="3530" b="1" dirty="0">
                <a:solidFill>
                  <a:schemeClr val="accent1">
                    <a:lumMod val="50000"/>
                  </a:schemeClr>
                </a:solidFill>
                <a:latin typeface="Arial"/>
                <a:cs typeface="Arial"/>
              </a:rPr>
              <a:t>MÁY</a:t>
            </a:r>
            <a:r>
              <a:rPr sz="3530" b="1" spc="-22" dirty="0">
                <a:solidFill>
                  <a:schemeClr val="accent1">
                    <a:lumMod val="50000"/>
                  </a:schemeClr>
                </a:solidFill>
                <a:latin typeface="Arial"/>
                <a:cs typeface="Arial"/>
              </a:rPr>
              <a:t> </a:t>
            </a:r>
            <a:r>
              <a:rPr sz="3530" b="1" spc="-18" dirty="0">
                <a:solidFill>
                  <a:schemeClr val="accent1">
                    <a:lumMod val="50000"/>
                  </a:schemeClr>
                </a:solidFill>
                <a:latin typeface="Arial"/>
                <a:cs typeface="Arial"/>
              </a:rPr>
              <a:t>TÍNH</a:t>
            </a:r>
            <a:endParaRPr sz="3530" b="1" dirty="0">
              <a:solidFill>
                <a:schemeClr val="accent1">
                  <a:lumMod val="50000"/>
                </a:schemeClr>
              </a:solidFill>
              <a:latin typeface="Arial"/>
              <a:cs typeface="Arial"/>
            </a:endParaRPr>
          </a:p>
          <a:p>
            <a:pPr algn="ctr">
              <a:spcBef>
                <a:spcPts val="1006"/>
              </a:spcBef>
            </a:pPr>
            <a:r>
              <a:rPr lang="en-US" sz="2471" b="1" dirty="0">
                <a:solidFill>
                  <a:schemeClr val="accent1">
                    <a:lumMod val="50000"/>
                  </a:schemeClr>
                </a:solidFill>
                <a:latin typeface="Arial"/>
                <a:cs typeface="Arial"/>
              </a:rPr>
              <a:t>(3TC)</a:t>
            </a:r>
          </a:p>
        </p:txBody>
      </p:sp>
      <p:sp>
        <p:nvSpPr>
          <p:cNvPr id="9" name="TextBox 8"/>
          <p:cNvSpPr txBox="1"/>
          <p:nvPr/>
        </p:nvSpPr>
        <p:spPr>
          <a:xfrm>
            <a:off x="2135366" y="4332263"/>
            <a:ext cx="3103735" cy="1558632"/>
          </a:xfrm>
          <a:prstGeom prst="rect">
            <a:avLst/>
          </a:prstGeom>
          <a:noFill/>
        </p:spPr>
        <p:txBody>
          <a:bodyPr wrap="none" rtlCol="0">
            <a:spAutoFit/>
          </a:bodyPr>
          <a:lstStyle/>
          <a:p>
            <a:pPr>
              <a:lnSpc>
                <a:spcPct val="150000"/>
              </a:lnSpc>
            </a:pPr>
            <a:r>
              <a:rPr lang="en-US" sz="1588" b="1" dirty="0">
                <a:solidFill>
                  <a:schemeClr val="bg2">
                    <a:lumMod val="10000"/>
                  </a:schemeClr>
                </a:solidFill>
                <a:latin typeface="Arial" panose="020B0604020202020204" pitchFamily="34" charset="0"/>
                <a:cs typeface="Arial" panose="020B0604020202020204" pitchFamily="34" charset="0"/>
              </a:rPr>
              <a:t>GV: 	</a:t>
            </a:r>
            <a:r>
              <a:rPr lang="en-US" sz="1588" b="1" dirty="0" err="1">
                <a:solidFill>
                  <a:schemeClr val="bg2">
                    <a:lumMod val="10000"/>
                  </a:schemeClr>
                </a:solidFill>
                <a:latin typeface="Arial" panose="020B0604020202020204" pitchFamily="34" charset="0"/>
                <a:cs typeface="Arial" panose="020B0604020202020204" pitchFamily="34" charset="0"/>
              </a:rPr>
              <a:t>Ngô</a:t>
            </a:r>
            <a:r>
              <a:rPr lang="en-US" sz="1588" b="1">
                <a:solidFill>
                  <a:schemeClr val="bg2">
                    <a:lumMod val="10000"/>
                  </a:schemeClr>
                </a:solidFill>
                <a:latin typeface="Arial" panose="020B0604020202020204" pitchFamily="34" charset="0"/>
                <a:cs typeface="Arial" panose="020B0604020202020204" pitchFamily="34" charset="0"/>
              </a:rPr>
              <a:t> Thùy Giang</a:t>
            </a:r>
          </a:p>
          <a:p>
            <a:pPr>
              <a:lnSpc>
                <a:spcPct val="150000"/>
              </a:lnSpc>
            </a:pPr>
            <a:r>
              <a:rPr lang="en-US" sz="1588" b="1">
                <a:solidFill>
                  <a:schemeClr val="bg2">
                    <a:lumMod val="10000"/>
                  </a:schemeClr>
                </a:solidFill>
                <a:latin typeface="Arial" panose="020B0604020202020204" pitchFamily="34" charset="0"/>
                <a:cs typeface="Arial" panose="020B0604020202020204" pitchFamily="34" charset="0"/>
              </a:rPr>
              <a:t>Khoa: 	Công nghệ thông tin</a:t>
            </a:r>
          </a:p>
          <a:p>
            <a:pPr>
              <a:lnSpc>
                <a:spcPct val="150000"/>
              </a:lnSpc>
            </a:pPr>
            <a:r>
              <a:rPr lang="en-US" sz="1588" b="1">
                <a:solidFill>
                  <a:schemeClr val="bg2">
                    <a:lumMod val="10000"/>
                  </a:schemeClr>
                </a:solidFill>
                <a:latin typeface="Arial" panose="020B0604020202020204" pitchFamily="34" charset="0"/>
                <a:cs typeface="Arial" panose="020B0604020202020204" pitchFamily="34" charset="0"/>
              </a:rPr>
              <a:t>SĐT: 	</a:t>
            </a:r>
            <a:r>
              <a:rPr lang="en-US" sz="1588" b="1" smtClean="0">
                <a:solidFill>
                  <a:schemeClr val="bg2">
                    <a:lumMod val="10000"/>
                  </a:schemeClr>
                </a:solidFill>
                <a:latin typeface="Arial" panose="020B0604020202020204" pitchFamily="34" charset="0"/>
                <a:cs typeface="Arial" panose="020B0604020202020204" pitchFamily="34" charset="0"/>
              </a:rPr>
              <a:t>0979.357.190</a:t>
            </a:r>
          </a:p>
          <a:p>
            <a:pPr>
              <a:lnSpc>
                <a:spcPct val="150000"/>
              </a:lnSpc>
            </a:pPr>
            <a:r>
              <a:rPr lang="en-US" sz="1588" b="1" smtClean="0">
                <a:solidFill>
                  <a:schemeClr val="bg2">
                    <a:lumMod val="10000"/>
                  </a:schemeClr>
                </a:solidFill>
                <a:latin typeface="Arial" panose="020B0604020202020204" pitchFamily="34" charset="0"/>
                <a:cs typeface="Arial" panose="020B0604020202020204" pitchFamily="34" charset="0"/>
              </a:rPr>
              <a:t>Email:giangnt@eaut.edu.vn</a:t>
            </a:r>
            <a:endParaRPr lang="en-US" sz="1588" b="1">
              <a:solidFill>
                <a:schemeClr val="bg2">
                  <a:lumMod val="10000"/>
                </a:schemeClr>
              </a:solidFill>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8428" y="648853"/>
            <a:ext cx="1900925" cy="1900925"/>
          </a:xfrm>
          <a:prstGeom prst="rect">
            <a:avLst/>
          </a:prstGeom>
        </p:spPr>
      </p:pic>
      <p:sp>
        <p:nvSpPr>
          <p:cNvPr id="6" name="object 2"/>
          <p:cNvSpPr txBox="1"/>
          <p:nvPr/>
        </p:nvSpPr>
        <p:spPr>
          <a:xfrm>
            <a:off x="3256226" y="1251791"/>
            <a:ext cx="6773956" cy="381213"/>
          </a:xfrm>
          <a:prstGeom prst="rect">
            <a:avLst/>
          </a:prstGeom>
        </p:spPr>
        <p:txBody>
          <a:bodyPr vert="horz" wrap="square" lIns="0" tIns="11766" rIns="0" bIns="0" rtlCol="0">
            <a:spAutoFit/>
          </a:bodyPr>
          <a:lstStyle/>
          <a:p>
            <a:pPr marL="25774" algn="ctr"/>
            <a:r>
              <a:rPr lang="en-US" sz="2400" b="1" smtClean="0">
                <a:solidFill>
                  <a:schemeClr val="accent1">
                    <a:lumMod val="50000"/>
                  </a:schemeClr>
                </a:solidFill>
                <a:latin typeface="Arial"/>
                <a:cs typeface="Arial"/>
              </a:rPr>
              <a:t>TRƯỜNG ĐẠI HỌC CÔNG NGHỆ ĐÔNG Á</a:t>
            </a:r>
            <a:endParaRPr lang="en-US" sz="2400" b="1">
              <a:solidFill>
                <a:schemeClr val="accent1">
                  <a:lumMod val="50000"/>
                </a:schemeClr>
              </a:solidFill>
              <a:latin typeface="Arial"/>
              <a:cs typeface="Arial"/>
            </a:endParaRPr>
          </a:p>
        </p:txBody>
      </p:sp>
      <p:sp>
        <p:nvSpPr>
          <p:cNvPr id="4" name="Slide Number Placeholder 3"/>
          <p:cNvSpPr>
            <a:spLocks noGrp="1"/>
          </p:cNvSpPr>
          <p:nvPr>
            <p:ph type="sldNum" sz="quarter" idx="12"/>
          </p:nvPr>
        </p:nvSpPr>
        <p:spPr/>
        <p:txBody>
          <a:bodyPr/>
          <a:lstStyle/>
          <a:p>
            <a:fld id="{EAC668D0-FFF1-47C5-8061-FF1B22C34E7B}" type="slidenum">
              <a:rPr lang="en-US" smtClean="0"/>
              <a:t>1</a:t>
            </a:fld>
            <a:endParaRPr lang="en-US"/>
          </a:p>
        </p:txBody>
      </p:sp>
    </p:spTree>
    <p:extLst>
      <p:ext uri="{BB962C8B-B14F-4D97-AF65-F5344CB8AC3E}">
        <p14:creationId xmlns:p14="http://schemas.microsoft.com/office/powerpoint/2010/main" val="3762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921163" y="2341706"/>
            <a:ext cx="882072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b="1">
              <a:solidFill>
                <a:schemeClr val="accent1">
                  <a:lumMod val="50000"/>
                </a:schemeClr>
              </a:solidFill>
              <a:latin typeface="Constantia" panose="02030602050306030303" pitchFamily="18" charset="0"/>
            </a:endParaRPr>
          </a:p>
        </p:txBody>
      </p:sp>
      <p:sp>
        <p:nvSpPr>
          <p:cNvPr id="4" name="Title 3"/>
          <p:cNvSpPr>
            <a:spLocks noGrp="1"/>
          </p:cNvSpPr>
          <p:nvPr>
            <p:ph type="ctrTitle"/>
          </p:nvPr>
        </p:nvSpPr>
        <p:spPr/>
        <p:txBody>
          <a:bodyPr>
            <a:normAutofit/>
          </a:bodyPr>
          <a:lstStyle/>
          <a:p>
            <a:r>
              <a:rPr lang="en-US" sz="4400" b="1">
                <a:solidFill>
                  <a:schemeClr val="accent1">
                    <a:lumMod val="50000"/>
                  </a:schemeClr>
                </a:solidFill>
                <a:latin typeface="Constantia" panose="02030602050306030303" pitchFamily="18" charset="0"/>
              </a:rPr>
              <a:t>CHƯƠNG II. </a:t>
            </a:r>
            <a:r>
              <a:rPr lang="vi-VN" sz="4400" b="1">
                <a:solidFill>
                  <a:schemeClr val="accent1">
                    <a:lumMod val="50000"/>
                  </a:schemeClr>
                </a:solidFill>
                <a:latin typeface="Constantia" panose="02030602050306030303" pitchFamily="18" charset="0"/>
              </a:rPr>
              <a:t>GIẢI THUẬT XÂY DỰNG C</a:t>
            </a:r>
            <a:r>
              <a:rPr lang="en-US" sz="4400" b="1">
                <a:solidFill>
                  <a:schemeClr val="accent1">
                    <a:lumMod val="50000"/>
                  </a:schemeClr>
                </a:solidFill>
                <a:latin typeface="Constantia" panose="02030602050306030303" pitchFamily="18" charset="0"/>
              </a:rPr>
              <a:t>Á</a:t>
            </a:r>
            <a:r>
              <a:rPr lang="vi-VN" sz="4400" b="1">
                <a:solidFill>
                  <a:schemeClr val="accent1">
                    <a:lumMod val="50000"/>
                  </a:schemeClr>
                </a:solidFill>
                <a:latin typeface="Constantia" panose="02030602050306030303" pitchFamily="18" charset="0"/>
              </a:rPr>
              <a:t>C THỰC THỂ CƠ </a:t>
            </a:r>
            <a:r>
              <a:rPr lang="vi-VN" sz="4400" b="1" smtClean="0">
                <a:solidFill>
                  <a:schemeClr val="accent1">
                    <a:lumMod val="50000"/>
                  </a:schemeClr>
                </a:solidFill>
                <a:latin typeface="Constantia" panose="02030602050306030303" pitchFamily="18" charset="0"/>
              </a:rPr>
              <a:t>SỞ</a:t>
            </a:r>
            <a:endParaRPr lang="en-US" sz="4400"/>
          </a:p>
        </p:txBody>
      </p:sp>
      <p:sp>
        <p:nvSpPr>
          <p:cNvPr id="5" name="Subtitle 4"/>
          <p:cNvSpPr>
            <a:spLocks noGrp="1"/>
          </p:cNvSpPr>
          <p:nvPr>
            <p:ph type="subTitle" idx="1"/>
          </p:nvPr>
        </p:nvSpPr>
        <p:spPr/>
        <p:txBody>
          <a:bodyPr/>
          <a:lstStyle/>
          <a:p>
            <a:endParaRPr lang="en-US"/>
          </a:p>
        </p:txBody>
      </p:sp>
      <p:sp>
        <p:nvSpPr>
          <p:cNvPr id="3" name="Slide Number Placeholder 2"/>
          <p:cNvSpPr>
            <a:spLocks noGrp="1"/>
          </p:cNvSpPr>
          <p:nvPr>
            <p:ph type="sldNum" sz="quarter" idx="12"/>
          </p:nvPr>
        </p:nvSpPr>
        <p:spPr/>
        <p:txBody>
          <a:bodyPr/>
          <a:lstStyle/>
          <a:p>
            <a:fld id="{EAC668D0-FFF1-47C5-8061-FF1B22C34E7B}" type="slidenum">
              <a:rPr lang="en-US" smtClean="0"/>
              <a:t>2</a:t>
            </a:fld>
            <a:endParaRPr lang="en-US"/>
          </a:p>
        </p:txBody>
      </p:sp>
    </p:spTree>
    <p:extLst>
      <p:ext uri="{BB962C8B-B14F-4D97-AF65-F5344CB8AC3E}">
        <p14:creationId xmlns:p14="http://schemas.microsoft.com/office/powerpoint/2010/main" val="2744494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Hệ tọa độ thế giới thực và hệ tọa độ thiết bị</a:t>
            </a:r>
            <a:endParaRPr lang="en-US"/>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EAC668D0-FFF1-47C5-8061-FF1B22C34E7B}" type="slidenum">
              <a:rPr lang="en-US" smtClean="0"/>
              <a:t>3</a:t>
            </a:fld>
            <a:endParaRPr lang="en-US"/>
          </a:p>
        </p:txBody>
      </p:sp>
    </p:spTree>
    <p:extLst>
      <p:ext uri="{BB962C8B-B14F-4D97-AF65-F5344CB8AC3E}">
        <p14:creationId xmlns:p14="http://schemas.microsoft.com/office/powerpoint/2010/main" val="4102816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14DACF7-FE7C-45EE-BD14-CDE308680FEB}" type="slidenum">
              <a:rPr lang="en-US" altLang="en-US"/>
              <a:pPr/>
              <a:t>4</a:t>
            </a:fld>
            <a:endParaRPr lang="en-US" altLang="en-US"/>
          </a:p>
        </p:txBody>
      </p:sp>
      <p:sp>
        <p:nvSpPr>
          <p:cNvPr id="486404" name="Rectangle 4"/>
          <p:cNvSpPr>
            <a:spLocks noGrp="1" noChangeArrowheads="1"/>
          </p:cNvSpPr>
          <p:nvPr>
            <p:ph type="title"/>
          </p:nvPr>
        </p:nvSpPr>
        <p:spPr>
          <a:noFill/>
          <a:ln/>
        </p:spPr>
        <p:txBody>
          <a:bodyPr>
            <a:normAutofit/>
          </a:bodyPr>
          <a:lstStyle/>
          <a:p>
            <a:pPr lvl="1" algn="ctr"/>
            <a:r>
              <a:rPr lang="en-US" altLang="en-US" sz="4000">
                <a:latin typeface="Arial" panose="020B0604020202020204" pitchFamily="34" charset="0"/>
              </a:rPr>
              <a:t>Hệ tọa </a:t>
            </a:r>
            <a:r>
              <a:rPr lang="en-US" altLang="en-US" sz="4000" smtClean="0">
                <a:latin typeface="Arial" panose="020B0604020202020204" pitchFamily="34" charset="0"/>
              </a:rPr>
              <a:t>độ thế giới </a:t>
            </a:r>
            <a:r>
              <a:rPr lang="en-US" altLang="en-US" sz="4000">
                <a:latin typeface="Arial" panose="020B0604020202020204" pitchFamily="34" charset="0"/>
              </a:rPr>
              <a:t>thực</a:t>
            </a:r>
          </a:p>
        </p:txBody>
      </p:sp>
      <p:sp>
        <p:nvSpPr>
          <p:cNvPr id="486405" name="Rectangle 5"/>
          <p:cNvSpPr>
            <a:spLocks noGrp="1" noChangeArrowheads="1"/>
          </p:cNvSpPr>
          <p:nvPr>
            <p:ph type="body" idx="1"/>
          </p:nvPr>
        </p:nvSpPr>
        <p:spPr>
          <a:xfrm>
            <a:off x="1796373" y="1905000"/>
            <a:ext cx="9370979" cy="4953000"/>
          </a:xfrm>
          <a:noFill/>
          <a:ln/>
        </p:spPr>
        <p:txBody>
          <a:bodyPr>
            <a:normAutofit/>
          </a:bodyPr>
          <a:lstStyle/>
          <a:p>
            <a:pPr lvl="2" algn="just"/>
            <a:r>
              <a:rPr lang="en-US" altLang="en-US" sz="2400" smtClean="0">
                <a:latin typeface="Arial" panose="020B0604020202020204" pitchFamily="34" charset="0"/>
              </a:rPr>
              <a:t>Hệ </a:t>
            </a:r>
            <a:r>
              <a:rPr lang="en-US" altLang="en-US" sz="2400">
                <a:latin typeface="Arial" panose="020B0604020202020204" pitchFamily="34" charset="0"/>
              </a:rPr>
              <a:t>tọa độ thế giới thực là hệ tọa độ được dùng mô tả các đối tượng thế giới thực. </a:t>
            </a:r>
          </a:p>
          <a:p>
            <a:pPr lvl="2" algn="just"/>
            <a:r>
              <a:rPr lang="en-US" altLang="en-US" sz="2400">
                <a:latin typeface="Arial" panose="020B0604020202020204" pitchFamily="34" charset="0"/>
              </a:rPr>
              <a:t>Hệ tọa độ thực thường được dùng nhất là hệ tọa độ Descartes. </a:t>
            </a:r>
          </a:p>
          <a:p>
            <a:pPr lvl="2" algn="just"/>
            <a:r>
              <a:rPr lang="en-US" altLang="en-US" sz="2400">
                <a:latin typeface="Arial" panose="020B0604020202020204" pitchFamily="34" charset="0"/>
              </a:rPr>
              <a:t>Một điểm được mô tả bằng một cặp tọa độ (x, y) trong đó x, y </a:t>
            </a:r>
            <a:r>
              <a:rPr lang="en-US" altLang="en-US" sz="2400">
                <a:latin typeface="Arial" panose="020B0604020202020204" pitchFamily="34" charset="0"/>
                <a:sym typeface="Symbol" panose="05050102010706020507" pitchFamily="18" charset="2"/>
              </a:rPr>
              <a:t></a:t>
            </a:r>
            <a:r>
              <a:rPr lang="en-US" altLang="en-US" sz="2400" smtClean="0">
                <a:latin typeface="Arial" panose="020B0604020202020204" pitchFamily="34" charset="0"/>
              </a:rPr>
              <a:t> </a:t>
            </a:r>
            <a:r>
              <a:rPr lang="en-US" altLang="en-US" sz="2400" b="1">
                <a:latin typeface="Arial" panose="020B0604020202020204" pitchFamily="34" charset="0"/>
              </a:rPr>
              <a:t>R</a:t>
            </a:r>
            <a:r>
              <a:rPr lang="en-US" altLang="en-US" sz="2400">
                <a:latin typeface="Arial" panose="020B0604020202020204" pitchFamily="34" charset="0"/>
              </a:rPr>
              <a:t>. Gốc tọa độ là điểm O có tọa độ (0, 0). </a:t>
            </a:r>
          </a:p>
          <a:p>
            <a:pPr lvl="2" algn="just"/>
            <a:r>
              <a:rPr lang="en-US" altLang="en-US" sz="2400">
                <a:latin typeface="Arial" panose="020B0604020202020204" pitchFamily="34" charset="0"/>
              </a:rPr>
              <a:t>Các tọa độ thế giới thực cho phép người dùng sử dụng bất kì một thứ nguyên (dimension) quy ước như foot, cm, mm, km, inch, ... nào và có thể lớn nhỏ tùy ý.</a:t>
            </a:r>
            <a:endParaRPr lang="en-US" altLang="en-US">
              <a:latin typeface="Arial" panose="020B0604020202020204" pitchFamily="34" charset="0"/>
            </a:endParaRPr>
          </a:p>
        </p:txBody>
      </p:sp>
    </p:spTree>
    <p:extLst>
      <p:ext uri="{BB962C8B-B14F-4D97-AF65-F5344CB8AC3E}">
        <p14:creationId xmlns:p14="http://schemas.microsoft.com/office/powerpoint/2010/main" val="30855087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BC67CEDA-9ED0-4344-9A52-88666AB57DF6}" type="slidenum">
              <a:rPr lang="en-US" altLang="en-US"/>
              <a:pPr/>
              <a:t>5</a:t>
            </a:fld>
            <a:endParaRPr lang="en-US" altLang="en-US"/>
          </a:p>
        </p:txBody>
      </p:sp>
      <p:pic>
        <p:nvPicPr>
          <p:cNvPr id="488454" name="Picture 6" descr="hinh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590800"/>
            <a:ext cx="7239000" cy="371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4"/>
          <p:cNvSpPr txBox="1">
            <a:spLocks noChangeArrowheads="1"/>
          </p:cNvSpPr>
          <p:nvPr/>
        </p:nvSpPr>
        <p:spPr>
          <a:xfrm>
            <a:off x="1636711" y="838200"/>
            <a:ext cx="10018713" cy="1752599"/>
          </a:xfrm>
          <a:prstGeom prst="rect">
            <a:avLst/>
          </a:prstGeom>
          <a:noFill/>
          <a:ln/>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lvl="1" algn="ctr"/>
            <a:r>
              <a:rPr lang="en-US" altLang="en-US" sz="4000" kern="0" smtClean="0">
                <a:latin typeface="Arial" panose="020B0604020202020204" pitchFamily="34" charset="0"/>
              </a:rPr>
              <a:t>Hệ tọa độ thế giới thực</a:t>
            </a:r>
            <a:endParaRPr lang="en-US" altLang="en-US" sz="4000" kern="0">
              <a:latin typeface="Arial" panose="020B0604020202020204" pitchFamily="34" charset="0"/>
            </a:endParaRP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418517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530A0A2-187E-47F7-B098-5E4A61419042}" type="slidenum">
              <a:rPr lang="en-US" altLang="en-US"/>
              <a:pPr/>
              <a:t>6</a:t>
            </a:fld>
            <a:endParaRPr lang="en-US" altLang="en-US"/>
          </a:p>
        </p:txBody>
      </p:sp>
      <p:sp>
        <p:nvSpPr>
          <p:cNvPr id="489476" name="Rectangle 4"/>
          <p:cNvSpPr>
            <a:spLocks noGrp="1" noChangeArrowheads="1"/>
          </p:cNvSpPr>
          <p:nvPr>
            <p:ph type="title"/>
          </p:nvPr>
        </p:nvSpPr>
        <p:spPr>
          <a:noFill/>
          <a:ln/>
        </p:spPr>
        <p:txBody>
          <a:bodyPr/>
          <a:lstStyle/>
          <a:p>
            <a:r>
              <a:rPr lang="en-US" altLang="en-US">
                <a:latin typeface="Arial" panose="020B0604020202020204" pitchFamily="34" charset="0"/>
              </a:rPr>
              <a:t>Hệ tọa độ thiết bị</a:t>
            </a:r>
          </a:p>
        </p:txBody>
      </p:sp>
      <p:sp>
        <p:nvSpPr>
          <p:cNvPr id="489477" name="Rectangle 5"/>
          <p:cNvSpPr>
            <a:spLocks noGrp="1" noChangeArrowheads="1"/>
          </p:cNvSpPr>
          <p:nvPr>
            <p:ph type="body" idx="1"/>
          </p:nvPr>
        </p:nvSpPr>
        <p:spPr>
          <a:xfrm>
            <a:off x="1582365" y="2225963"/>
            <a:ext cx="8891671" cy="4953000"/>
          </a:xfrm>
          <a:noFill/>
          <a:ln/>
        </p:spPr>
        <p:txBody>
          <a:bodyPr/>
          <a:lstStyle/>
          <a:p>
            <a:pPr lvl="2" algn="just"/>
            <a:r>
              <a:rPr lang="en-US" altLang="en-US" sz="2400" smtClean="0">
                <a:latin typeface="Arial" panose="020B0604020202020204" pitchFamily="34" charset="0"/>
              </a:rPr>
              <a:t>Hệ </a:t>
            </a:r>
            <a:r>
              <a:rPr lang="en-US" altLang="en-US" sz="2400">
                <a:latin typeface="Arial" panose="020B0604020202020204" pitchFamily="34" charset="0"/>
              </a:rPr>
              <a:t>tọa độ thiết bị là hệ tọa độ được dùng bởi một thiết bị xuất cụ thể nào đó như máy in, màn hình, ... </a:t>
            </a:r>
          </a:p>
          <a:p>
            <a:pPr lvl="2" algn="just"/>
            <a:r>
              <a:rPr lang="en-US" altLang="en-US" sz="2400" smtClean="0">
                <a:latin typeface="Arial" panose="020B0604020202020204" pitchFamily="34" charset="0"/>
              </a:rPr>
              <a:t>Các </a:t>
            </a:r>
            <a:r>
              <a:rPr lang="en-US" altLang="en-US" sz="2400">
                <a:latin typeface="Arial" panose="020B0604020202020204" pitchFamily="34" charset="0"/>
              </a:rPr>
              <a:t>điểm trong các hệ tọa độ thiết bị là rời rạc do tính chất của tập các số tự nhiên. </a:t>
            </a:r>
            <a:endParaRPr lang="en-US" altLang="en-US" sz="2400" smtClean="0">
              <a:latin typeface="Arial" panose="020B0604020202020204" pitchFamily="34" charset="0"/>
            </a:endParaRPr>
          </a:p>
          <a:p>
            <a:pPr lvl="2" algn="just"/>
            <a:r>
              <a:rPr lang="en-US" altLang="en-US" sz="2400" smtClean="0">
                <a:latin typeface="Arial" panose="020B0604020202020204" pitchFamily="34" charset="0"/>
              </a:rPr>
              <a:t>Các tọa độ (x,y) bị giới hạn trong một khoảng nào đó</a:t>
            </a:r>
            <a:endParaRPr lang="en-US" altLang="en-US" sz="2400">
              <a:latin typeface="Arial" panose="020B0604020202020204" pitchFamily="34" charset="0"/>
            </a:endParaRPr>
          </a:p>
          <a:p>
            <a:pPr lvl="2" algn="just"/>
            <a:endParaRPr lang="en-US" altLang="en-US" sz="2400">
              <a:latin typeface="Arial" panose="020B0604020202020204" pitchFamily="34" charset="0"/>
            </a:endParaRPr>
          </a:p>
          <a:p>
            <a:pPr lvl="2" algn="just"/>
            <a:endParaRPr lang="en-US" altLang="en-US" sz="2400">
              <a:latin typeface="Arial" panose="020B0604020202020204" pitchFamily="34" charset="0"/>
            </a:endParaRPr>
          </a:p>
        </p:txBody>
      </p:sp>
    </p:spTree>
    <p:extLst>
      <p:ext uri="{BB962C8B-B14F-4D97-AF65-F5344CB8AC3E}">
        <p14:creationId xmlns:p14="http://schemas.microsoft.com/office/powerpoint/2010/main" val="107588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792716AA-196D-4F3C-9AA3-C11EDE749B07}" type="slidenum">
              <a:rPr lang="en-US" altLang="en-US"/>
              <a:pPr/>
              <a:t>7</a:t>
            </a:fld>
            <a:endParaRPr lang="en-US" altLang="en-US"/>
          </a:p>
        </p:txBody>
      </p:sp>
      <p:sp>
        <p:nvSpPr>
          <p:cNvPr id="490500" name="Rectangle 4"/>
          <p:cNvSpPr>
            <a:spLocks noGrp="1" noChangeArrowheads="1"/>
          </p:cNvSpPr>
          <p:nvPr>
            <p:ph type="title"/>
          </p:nvPr>
        </p:nvSpPr>
        <p:spPr>
          <a:noFill/>
          <a:ln/>
        </p:spPr>
        <p:txBody>
          <a:bodyPr/>
          <a:lstStyle/>
          <a:p>
            <a:r>
              <a:rPr lang="en-US" altLang="en-US">
                <a:latin typeface="Arial" panose="020B0604020202020204" pitchFamily="34" charset="0"/>
              </a:rPr>
              <a:t>Hệ tọa độ thiết bị</a:t>
            </a:r>
          </a:p>
        </p:txBody>
      </p:sp>
      <p:sp>
        <p:nvSpPr>
          <p:cNvPr id="490501" name="Rectangle 5"/>
          <p:cNvSpPr>
            <a:spLocks noGrp="1" noChangeArrowheads="1"/>
          </p:cNvSpPr>
          <p:nvPr>
            <p:ph type="body" idx="1"/>
          </p:nvPr>
        </p:nvSpPr>
        <p:spPr>
          <a:xfrm>
            <a:off x="1477826" y="685800"/>
            <a:ext cx="9384138" cy="4953000"/>
          </a:xfrm>
          <a:noFill/>
          <a:ln/>
        </p:spPr>
        <p:txBody>
          <a:bodyPr/>
          <a:lstStyle/>
          <a:p>
            <a:pPr lvl="2" algn="just"/>
            <a:r>
              <a:rPr lang="en-US" altLang="en-US" sz="2400" smtClean="0">
                <a:latin typeface="Arial" panose="020B0604020202020204" pitchFamily="34" charset="0"/>
                <a:cs typeface="Arial" panose="020B0604020202020204" pitchFamily="34" charset="0"/>
              </a:rPr>
              <a:t>Các </a:t>
            </a:r>
            <a:r>
              <a:rPr lang="en-US" altLang="en-US" sz="2400">
                <a:latin typeface="Arial" panose="020B0604020202020204" pitchFamily="34" charset="0"/>
                <a:cs typeface="Arial" panose="020B0604020202020204" pitchFamily="34" charset="0"/>
              </a:rPr>
              <a:t>tọa độ x, y của hệ tọa độ thiết bị không thể lớn tùy ý mà đều bị giới hạn trong một khoảng nào đó. </a:t>
            </a:r>
          </a:p>
          <a:p>
            <a:pPr lvl="2" algn="just"/>
            <a:r>
              <a:rPr lang="en-US" altLang="en-US" sz="2400">
                <a:latin typeface="Arial" panose="020B0604020202020204" pitchFamily="34" charset="0"/>
                <a:ea typeface="Calibri" panose="020F0502020204030204" pitchFamily="34" charset="0"/>
                <a:cs typeface="Arial" panose="020B0604020202020204" pitchFamily="34" charset="0"/>
              </a:rPr>
              <a:t>Có hai hệ tọa độ là hệ tọa độ theo quy ước bàn tay phải (a) và quy ước bàn tay trái (b)</a:t>
            </a:r>
            <a:r>
              <a:rPr lang="en-US" altLang="en-US">
                <a:latin typeface="Arial" panose="020B0604020202020204" pitchFamily="34" charset="0"/>
                <a:ea typeface="Calibri" panose="020F0502020204030204" pitchFamily="34" charset="0"/>
                <a:cs typeface="Arial" panose="020B0604020202020204" pitchFamily="34" charset="0"/>
              </a:rPr>
              <a:t> </a:t>
            </a:r>
          </a:p>
        </p:txBody>
      </p:sp>
      <p:pic>
        <p:nvPicPr>
          <p:cNvPr id="490502" name="Picture 6" descr="hinh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7771" y="4335462"/>
            <a:ext cx="5715000"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5790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823855" y="1380068"/>
            <a:ext cx="7679168" cy="2616199"/>
          </a:xfrm>
        </p:spPr>
        <p:txBody>
          <a:bodyPr/>
          <a:lstStyle/>
          <a:p>
            <a:r>
              <a:rPr lang="en-US" smtClean="0"/>
              <a:t>Các </a:t>
            </a:r>
            <a:r>
              <a:rPr lang="en-US"/>
              <a:t>thuật toán vẽ đường thẳng</a:t>
            </a:r>
          </a:p>
        </p:txBody>
      </p:sp>
      <p:sp>
        <p:nvSpPr>
          <p:cNvPr id="7" name="Subtitle 6"/>
          <p:cNvSpPr>
            <a:spLocks noGrp="1"/>
          </p:cNvSpPr>
          <p:nvPr>
            <p:ph type="subTitle" idx="1"/>
          </p:nvPr>
        </p:nvSpPr>
        <p:spPr/>
        <p:txBody>
          <a:bodyPr/>
          <a:lstStyle/>
          <a:p>
            <a:endParaRPr lang="en-US"/>
          </a:p>
        </p:txBody>
      </p:sp>
      <p:sp>
        <p:nvSpPr>
          <p:cNvPr id="3" name="Slide Number Placeholder 2"/>
          <p:cNvSpPr>
            <a:spLocks noGrp="1"/>
          </p:cNvSpPr>
          <p:nvPr>
            <p:ph type="sldNum" sz="quarter" idx="12"/>
          </p:nvPr>
        </p:nvSpPr>
        <p:spPr/>
        <p:txBody>
          <a:bodyPr/>
          <a:lstStyle/>
          <a:p>
            <a:fld id="{EAC668D0-FFF1-47C5-8061-FF1B22C34E7B}" type="slidenum">
              <a:rPr lang="en-US" smtClean="0"/>
              <a:t>8</a:t>
            </a:fld>
            <a:endParaRPr lang="en-US"/>
          </a:p>
        </p:txBody>
      </p:sp>
    </p:spTree>
    <p:extLst>
      <p:ext uri="{BB962C8B-B14F-4D97-AF65-F5344CB8AC3E}">
        <p14:creationId xmlns:p14="http://schemas.microsoft.com/office/powerpoint/2010/main" val="3360660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14DACF7-FE7C-45EE-BD14-CDE308680FEB}" type="slidenum">
              <a:rPr lang="en-US" altLang="en-US"/>
              <a:pPr/>
              <a:t>9</a:t>
            </a:fld>
            <a:endParaRPr lang="en-US" altLang="en-US"/>
          </a:p>
        </p:txBody>
      </p:sp>
      <p:sp>
        <p:nvSpPr>
          <p:cNvPr id="486404" name="Rectangle 4"/>
          <p:cNvSpPr>
            <a:spLocks noGrp="1" noChangeArrowheads="1"/>
          </p:cNvSpPr>
          <p:nvPr>
            <p:ph type="title"/>
          </p:nvPr>
        </p:nvSpPr>
        <p:spPr>
          <a:noFill/>
          <a:ln/>
        </p:spPr>
        <p:txBody>
          <a:bodyPr>
            <a:normAutofit/>
          </a:bodyPr>
          <a:lstStyle/>
          <a:p>
            <a:pPr lvl="1" algn="ctr"/>
            <a:r>
              <a:rPr lang="en-US" sz="4000" smtClean="0"/>
              <a:t>Điểm </a:t>
            </a:r>
            <a:r>
              <a:rPr lang="en-US" sz="4000"/>
              <a:t>và đoạn thẳng</a:t>
            </a:r>
            <a:endParaRPr lang="en-US" altLang="en-US" sz="4000">
              <a:latin typeface="Arial" panose="020B0604020202020204" pitchFamily="34" charset="0"/>
            </a:endParaRPr>
          </a:p>
        </p:txBody>
      </p:sp>
      <p:sp>
        <p:nvSpPr>
          <p:cNvPr id="486405" name="Rectangle 5"/>
          <p:cNvSpPr>
            <a:spLocks noGrp="1" noChangeArrowheads="1"/>
          </p:cNvSpPr>
          <p:nvPr>
            <p:ph type="body" idx="1"/>
          </p:nvPr>
        </p:nvSpPr>
        <p:spPr>
          <a:xfrm>
            <a:off x="1722482" y="2438399"/>
            <a:ext cx="9370979" cy="2212109"/>
          </a:xfrm>
          <a:noFill/>
          <a:ln/>
        </p:spPr>
        <p:txBody>
          <a:bodyPr>
            <a:normAutofit fontScale="92500" lnSpcReduction="20000"/>
          </a:bodyPr>
          <a:lstStyle/>
          <a:p>
            <a:pPr marL="0" lvl="2" indent="0" algn="just">
              <a:buNone/>
            </a:pPr>
            <a:r>
              <a:rPr lang="en-US" altLang="en-US" sz="3500" b="1" smtClean="0">
                <a:latin typeface="Arial" panose="020B0604020202020204" pitchFamily="34" charset="0"/>
              </a:rPr>
              <a:t>Điểm</a:t>
            </a:r>
          </a:p>
          <a:p>
            <a:pPr marL="914400" lvl="2" indent="0" algn="just">
              <a:buNone/>
            </a:pPr>
            <a:r>
              <a:rPr lang="en-US" altLang="en-US" sz="3200" smtClean="0">
                <a:latin typeface="Arial" panose="020B0604020202020204" pitchFamily="34" charset="0"/>
              </a:rPr>
              <a:t>Các </a:t>
            </a:r>
            <a:r>
              <a:rPr lang="en-US" altLang="en-US" sz="3200">
                <a:latin typeface="Arial" panose="020B0604020202020204" pitchFamily="34" charset="0"/>
              </a:rPr>
              <a:t>điểm được mô tả </a:t>
            </a:r>
            <a:r>
              <a:rPr lang="en-US" altLang="en-US" sz="3200" smtClean="0">
                <a:latin typeface="Arial" panose="020B0604020202020204" pitchFamily="34" charset="0"/>
              </a:rPr>
              <a:t>bởi:</a:t>
            </a:r>
          </a:p>
          <a:p>
            <a:pPr lvl="2" algn="just"/>
            <a:r>
              <a:rPr lang="en-US" altLang="en-US" sz="3200" smtClean="0">
                <a:latin typeface="Arial" panose="020B0604020202020204" pitchFamily="34" charset="0"/>
              </a:rPr>
              <a:t>Một cặp </a:t>
            </a:r>
            <a:r>
              <a:rPr lang="en-US" altLang="en-US" sz="3200">
                <a:latin typeface="Arial" panose="020B0604020202020204" pitchFamily="34" charset="0"/>
              </a:rPr>
              <a:t>tọa độ (x, y), với x, y </a:t>
            </a:r>
            <a:r>
              <a:rPr lang="en-US" altLang="en-US" sz="3200">
                <a:latin typeface="Arial" panose="020B0604020202020204" pitchFamily="34" charset="0"/>
                <a:sym typeface="Symbol" panose="05050102010706020507" pitchFamily="18" charset="2"/>
              </a:rPr>
              <a:t></a:t>
            </a:r>
            <a:r>
              <a:rPr lang="en-US" altLang="en-US" sz="3200">
                <a:latin typeface="Arial" panose="020B0604020202020204" pitchFamily="34" charset="0"/>
              </a:rPr>
              <a:t> </a:t>
            </a:r>
            <a:r>
              <a:rPr lang="en-US" altLang="en-US" sz="3200" b="1">
                <a:latin typeface="Arial" panose="020B0604020202020204" pitchFamily="34" charset="0"/>
              </a:rPr>
              <a:t>N</a:t>
            </a:r>
            <a:r>
              <a:rPr lang="en-US" altLang="en-US" sz="3200">
                <a:latin typeface="Arial" panose="020B0604020202020204" pitchFamily="34" charset="0"/>
              </a:rPr>
              <a:t>. </a:t>
            </a:r>
          </a:p>
          <a:p>
            <a:pPr lvl="2" algn="just"/>
            <a:r>
              <a:rPr lang="en-US" altLang="en-US" sz="3200" smtClean="0">
                <a:latin typeface="Arial" panose="020B0604020202020204" pitchFamily="34" charset="0"/>
              </a:rPr>
              <a:t>Màu sắc</a:t>
            </a:r>
            <a:endParaRPr lang="en-US" altLang="en-US" sz="3200">
              <a:latin typeface="Arial" panose="020B0604020202020204" pitchFamily="34" charset="0"/>
            </a:endParaRPr>
          </a:p>
        </p:txBody>
      </p:sp>
    </p:spTree>
    <p:extLst>
      <p:ext uri="{BB962C8B-B14F-4D97-AF65-F5344CB8AC3E}">
        <p14:creationId xmlns:p14="http://schemas.microsoft.com/office/powerpoint/2010/main" val="36535338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14DACF7-FE7C-45EE-BD14-CDE308680FEB}" type="slidenum">
              <a:rPr lang="en-US" altLang="en-US"/>
              <a:pPr/>
              <a:t>10</a:t>
            </a:fld>
            <a:endParaRPr lang="en-US" altLang="en-US"/>
          </a:p>
        </p:txBody>
      </p:sp>
      <p:sp>
        <p:nvSpPr>
          <p:cNvPr id="486404" name="Rectangle 4"/>
          <p:cNvSpPr>
            <a:spLocks noGrp="1" noChangeArrowheads="1"/>
          </p:cNvSpPr>
          <p:nvPr>
            <p:ph type="title"/>
          </p:nvPr>
        </p:nvSpPr>
        <p:spPr>
          <a:noFill/>
          <a:ln/>
        </p:spPr>
        <p:txBody>
          <a:bodyPr>
            <a:normAutofit/>
          </a:bodyPr>
          <a:lstStyle/>
          <a:p>
            <a:pPr lvl="1" algn="ctr"/>
            <a:r>
              <a:rPr lang="en-US" sz="4000" smtClean="0"/>
              <a:t>Điểm </a:t>
            </a:r>
            <a:r>
              <a:rPr lang="en-US" sz="4000"/>
              <a:t>và đoạn thẳng</a:t>
            </a:r>
            <a:endParaRPr lang="en-US" altLang="en-US" sz="4000">
              <a:latin typeface="Arial" panose="020B0604020202020204" pitchFamily="34" charset="0"/>
            </a:endParaRPr>
          </a:p>
        </p:txBody>
      </p:sp>
      <mc:AlternateContent xmlns:mc="http://schemas.openxmlformats.org/markup-compatibility/2006" xmlns:a14="http://schemas.microsoft.com/office/drawing/2010/main">
        <mc:Choice Requires="a14">
          <p:sp>
            <p:nvSpPr>
              <p:cNvPr id="486405" name="Rectangle 5"/>
              <p:cNvSpPr>
                <a:spLocks noGrp="1" noChangeArrowheads="1"/>
              </p:cNvSpPr>
              <p:nvPr>
                <p:ph type="body" idx="1"/>
              </p:nvPr>
            </p:nvSpPr>
            <p:spPr>
              <a:xfrm>
                <a:off x="960584" y="3723274"/>
                <a:ext cx="10153326" cy="1316182"/>
              </a:xfrm>
              <a:noFill/>
              <a:ln/>
            </p:spPr>
            <p:txBody>
              <a:bodyPr>
                <a:noAutofit/>
              </a:bodyPr>
              <a:lstStyle/>
              <a:p>
                <a:pPr marL="914400" lvl="2" indent="0" algn="just">
                  <a:buNone/>
                </a:pPr>
                <a:r>
                  <a:rPr lang="en-US" sz="3200" b="1" smtClean="0">
                    <a:latin typeface="Calibri" panose="020F0502020204030204" pitchFamily="34" charset="0"/>
                    <a:ea typeface="Calibri" panose="020F0502020204030204" pitchFamily="34" charset="0"/>
                    <a:cs typeface="Calibri" panose="020F0502020204030204" pitchFamily="34" charset="0"/>
                  </a:rPr>
                  <a:t>Đoạn thẳng</a:t>
                </a:r>
              </a:p>
              <a:p>
                <a:pPr lvl="2" algn="just"/>
                <a:r>
                  <a:rPr lang="en-US" sz="2400" smtClean="0">
                    <a:latin typeface="Calibri" panose="020F0502020204030204" pitchFamily="34" charset="0"/>
                    <a:ea typeface="Calibri" panose="020F0502020204030204" pitchFamily="34" charset="0"/>
                    <a:cs typeface="Calibri" panose="020F0502020204030204" pitchFamily="34" charset="0"/>
                  </a:rPr>
                  <a:t>Một đoạn thẳng được xác định nếu </a:t>
                </a:r>
                <a:r>
                  <a:rPr lang="en-US" sz="2400">
                    <a:latin typeface="Calibri" panose="020F0502020204030204" pitchFamily="34" charset="0"/>
                    <a:ea typeface="Calibri" panose="020F0502020204030204" pitchFamily="34" charset="0"/>
                    <a:cs typeface="Calibri" panose="020F0502020204030204" pitchFamily="34" charset="0"/>
                  </a:rPr>
                  <a:t>biết </a:t>
                </a:r>
                <a:r>
                  <a:rPr lang="en-US" sz="2400" smtClean="0">
                    <a:latin typeface="Calibri" panose="020F0502020204030204" pitchFamily="34" charset="0"/>
                    <a:ea typeface="Calibri" panose="020F0502020204030204" pitchFamily="34" charset="0"/>
                    <a:cs typeface="Calibri" panose="020F0502020204030204" pitchFamily="34" charset="0"/>
                  </a:rPr>
                  <a:t> điểm đầu và điểm cuối của nó</a:t>
                </a:r>
              </a:p>
              <a:p>
                <a:pPr lvl="2" algn="just"/>
                <a:r>
                  <a:rPr lang="en-US" sz="2400">
                    <a:latin typeface="Calibri" panose="020F0502020204030204" pitchFamily="34" charset="0"/>
                    <a:ea typeface="Calibri" panose="020F0502020204030204" pitchFamily="34" charset="0"/>
                    <a:cs typeface="Calibri" panose="020F0502020204030204" pitchFamily="34" charset="0"/>
                  </a:rPr>
                  <a:t>PT đoạn </a:t>
                </a:r>
                <a:r>
                  <a:rPr lang="en-US" sz="2400" smtClean="0">
                    <a:latin typeface="Calibri" panose="020F0502020204030204" pitchFamily="34" charset="0"/>
                    <a:ea typeface="Calibri" panose="020F0502020204030204" pitchFamily="34" charset="0"/>
                    <a:cs typeface="Calibri" panose="020F0502020204030204" pitchFamily="34" charset="0"/>
                  </a:rPr>
                  <a:t>thẳng đi qua 2 điểm (x1,y1), (x2,y2) </a:t>
                </a:r>
                <a:r>
                  <a:rPr lang="en-US" sz="2400">
                    <a:latin typeface="Calibri" panose="020F0502020204030204" pitchFamily="34" charset="0"/>
                    <a:ea typeface="Calibri" panose="020F0502020204030204" pitchFamily="34" charset="0"/>
                    <a:cs typeface="Calibri" panose="020F0502020204030204" pitchFamily="34" charset="0"/>
                  </a:rPr>
                  <a:t>như sau: </a:t>
                </a:r>
                <a:r>
                  <a:rPr lang="en-US" sz="2400" smtClean="0">
                    <a:latin typeface="Calibri" panose="020F0502020204030204" pitchFamily="34" charset="0"/>
                    <a:ea typeface="Calibri" panose="020F0502020204030204" pitchFamily="34" charset="0"/>
                    <a:cs typeface="Calibri" panose="020F0502020204030204" pitchFamily="34" charset="0"/>
                  </a:rPr>
                  <a:t>y=kx+m </a:t>
                </a:r>
              </a:p>
              <a:p>
                <a:pPr marL="1371600" lvl="3" indent="0" algn="just">
                  <a:buNone/>
                </a:pPr>
                <a:r>
                  <a:rPr lang="en-US" altLang="en-US" sz="2000" smtClean="0">
                    <a:latin typeface="Calibri" panose="020F0502020204030204" pitchFamily="34" charset="0"/>
                    <a:ea typeface="Calibri" panose="020F0502020204030204" pitchFamily="34" charset="0"/>
                    <a:cs typeface="Calibri" panose="020F0502020204030204" pitchFamily="34" charset="0"/>
                  </a:rPr>
                  <a:t>Trong đó:	</a:t>
                </a:r>
                <a14:m>
                  <m:oMath xmlns:m="http://schemas.openxmlformats.org/officeDocument/2006/math">
                    <m:r>
                      <a:rPr lang="en-US" altLang="en-US" sz="2400" b="0" i="1" smtClean="0">
                        <a:latin typeface="Cambria Math" panose="02040503050406030204" pitchFamily="18" charset="0"/>
                      </a:rPr>
                      <m:t>𝑘</m:t>
                    </m:r>
                    <m:r>
                      <a:rPr lang="en-US" altLang="en-US" sz="2400" i="1" smtClean="0">
                        <a:latin typeface="Cambria Math" panose="02040503050406030204" pitchFamily="18" charset="0"/>
                      </a:rPr>
                      <m:t>=</m:t>
                    </m:r>
                    <m:f>
                      <m:fPr>
                        <m:ctrlPr>
                          <a:rPr lang="en-US" altLang="en-US" sz="2400" i="1" smtClean="0">
                            <a:latin typeface="Cambria Math" panose="02040503050406030204" pitchFamily="18" charset="0"/>
                          </a:rPr>
                        </m:ctrlPr>
                      </m:fPr>
                      <m:num>
                        <m:r>
                          <a:rPr lang="en-US" altLang="en-US" sz="2400" b="0" i="1" smtClean="0">
                            <a:latin typeface="Cambria Math" panose="02040503050406030204" pitchFamily="18" charset="0"/>
                          </a:rPr>
                          <m:t>𝑦</m:t>
                        </m:r>
                        <m:r>
                          <a:rPr lang="en-US" altLang="en-US" sz="2400" b="0" i="1" smtClean="0">
                            <a:latin typeface="Cambria Math" panose="02040503050406030204" pitchFamily="18" charset="0"/>
                          </a:rPr>
                          <m:t>2−</m:t>
                        </m:r>
                        <m:r>
                          <a:rPr lang="en-US" altLang="en-US" sz="2400" b="0" i="1" smtClean="0">
                            <a:latin typeface="Cambria Math" panose="02040503050406030204" pitchFamily="18" charset="0"/>
                          </a:rPr>
                          <m:t>𝑦</m:t>
                        </m:r>
                        <m:r>
                          <a:rPr lang="en-US" altLang="en-US" sz="2400" b="0" i="1" smtClean="0">
                            <a:latin typeface="Cambria Math" panose="02040503050406030204" pitchFamily="18" charset="0"/>
                          </a:rPr>
                          <m:t>1</m:t>
                        </m:r>
                      </m:num>
                      <m:den>
                        <m:r>
                          <a:rPr lang="en-US" altLang="en-US" sz="2400" b="0" i="1" smtClean="0">
                            <a:latin typeface="Cambria Math" panose="02040503050406030204" pitchFamily="18" charset="0"/>
                          </a:rPr>
                          <m:t>𝑥</m:t>
                        </m:r>
                        <m:r>
                          <a:rPr lang="en-US" altLang="en-US" sz="2400" b="0" i="1" smtClean="0">
                            <a:latin typeface="Cambria Math" panose="02040503050406030204" pitchFamily="18" charset="0"/>
                          </a:rPr>
                          <m:t>2−</m:t>
                        </m:r>
                        <m:r>
                          <a:rPr lang="en-US" altLang="en-US" sz="2400" b="0" i="1" smtClean="0">
                            <a:latin typeface="Cambria Math" panose="02040503050406030204" pitchFamily="18" charset="0"/>
                          </a:rPr>
                          <m:t>𝑥</m:t>
                        </m:r>
                        <m:r>
                          <a:rPr lang="en-US" altLang="en-US" sz="2400" b="0" i="1" smtClean="0">
                            <a:latin typeface="Cambria Math" panose="02040503050406030204" pitchFamily="18" charset="0"/>
                          </a:rPr>
                          <m:t>1</m:t>
                        </m:r>
                      </m:den>
                    </m:f>
                  </m:oMath>
                </a14:m>
                <a:r>
                  <a:rPr lang="en-US" altLang="en-US" sz="2000" smtClean="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r>
                      <a:rPr lang="en-US" altLang="en-US" sz="2000" b="0" i="1" smtClean="0">
                        <a:latin typeface="Cambria Math" panose="02040503050406030204" pitchFamily="18" charset="0"/>
                      </a:rPr>
                      <m:t>𝑚</m:t>
                    </m:r>
                    <m:r>
                      <a:rPr lang="en-US" altLang="en-US" sz="2000" i="1" smtClean="0">
                        <a:latin typeface="Cambria Math" panose="02040503050406030204" pitchFamily="18" charset="0"/>
                      </a:rPr>
                      <m:t>=</m:t>
                    </m:r>
                    <m:r>
                      <a:rPr lang="en-US" altLang="en-US" sz="2000" b="0" i="1" smtClean="0">
                        <a:latin typeface="Cambria Math" panose="02040503050406030204" pitchFamily="18" charset="0"/>
                      </a:rPr>
                      <m:t>𝑦</m:t>
                    </m:r>
                    <m:r>
                      <a:rPr lang="en-US" altLang="en-US" sz="2000" b="0" i="1" smtClean="0">
                        <a:latin typeface="Cambria Math" panose="02040503050406030204" pitchFamily="18" charset="0"/>
                      </a:rPr>
                      <m:t>1−</m:t>
                    </m:r>
                    <m:r>
                      <a:rPr lang="en-US" altLang="en-US" sz="2000" b="0" i="1" smtClean="0">
                        <a:latin typeface="Cambria Math" panose="02040503050406030204" pitchFamily="18" charset="0"/>
                      </a:rPr>
                      <m:t>𝑘𝑥</m:t>
                    </m:r>
                    <m:r>
                      <a:rPr lang="en-US" altLang="en-US" sz="2000" b="0" i="1" smtClean="0">
                        <a:latin typeface="Cambria Math" panose="02040503050406030204" pitchFamily="18" charset="0"/>
                      </a:rPr>
                      <m:t>1</m:t>
                    </m:r>
                  </m:oMath>
                </a14:m>
                <a:r>
                  <a:rPr lang="en-US" altLang="en-US" sz="2000" smtClean="0">
                    <a:latin typeface="Calibri" panose="020F0502020204030204" pitchFamily="34" charset="0"/>
                    <a:ea typeface="Calibri" panose="020F0502020204030204" pitchFamily="34" charset="0"/>
                    <a:cs typeface="Calibri" panose="020F0502020204030204" pitchFamily="34" charset="0"/>
                  </a:rPr>
                  <a:t> </a:t>
                </a:r>
              </a:p>
              <a:p>
                <a:pPr lvl="2" algn="just"/>
                <a:r>
                  <a:rPr lang="en-US" altLang="en-US" sz="2200" smtClean="0">
                    <a:latin typeface="Calibri" panose="020F0502020204030204" pitchFamily="34" charset="0"/>
                    <a:ea typeface="Calibri" panose="020F0502020204030204" pitchFamily="34" charset="0"/>
                    <a:cs typeface="Calibri" panose="020F0502020204030204" pitchFamily="34" charset="0"/>
                  </a:rPr>
                  <a:t>PT tham số: </a:t>
                </a:r>
                <a14:m>
                  <m:oMath xmlns:m="http://schemas.openxmlformats.org/officeDocument/2006/math">
                    <m:d>
                      <m:dPr>
                        <m:begChr m:val="{"/>
                        <m:endChr m:val=""/>
                        <m:ctrlPr>
                          <a:rPr lang="en-US" altLang="en-US" sz="2200" i="1" smtClean="0">
                            <a:latin typeface="Cambria Math" panose="02040503050406030204" pitchFamily="18" charset="0"/>
                          </a:rPr>
                        </m:ctrlPr>
                      </m:dPr>
                      <m:e>
                        <m:eqArr>
                          <m:eqArrPr>
                            <m:ctrlPr>
                              <a:rPr lang="en-US" altLang="en-US" sz="2200" i="1" smtClean="0">
                                <a:latin typeface="Cambria Math" panose="02040503050406030204" pitchFamily="18" charset="0"/>
                              </a:rPr>
                            </m:ctrlPr>
                          </m:eqArrPr>
                          <m:e>
                            <m:r>
                              <a:rPr lang="en-US" altLang="en-US" sz="2200" b="0" i="1" smtClean="0">
                                <a:latin typeface="Cambria Math" panose="02040503050406030204" pitchFamily="18" charset="0"/>
                              </a:rPr>
                              <m:t>𝑥</m:t>
                            </m:r>
                            <m:r>
                              <a:rPr lang="en-US" altLang="en-US" sz="2200" b="0" i="1" smtClean="0">
                                <a:latin typeface="Cambria Math" panose="02040503050406030204" pitchFamily="18" charset="0"/>
                              </a:rPr>
                              <m:t>=</m:t>
                            </m:r>
                            <m:d>
                              <m:dPr>
                                <m:ctrlPr>
                                  <a:rPr lang="en-US" altLang="en-US" sz="2200" b="0" i="1" smtClean="0">
                                    <a:latin typeface="Cambria Math" panose="02040503050406030204" pitchFamily="18" charset="0"/>
                                  </a:rPr>
                                </m:ctrlPr>
                              </m:dPr>
                              <m:e>
                                <m:r>
                                  <a:rPr lang="en-US" altLang="en-US" sz="2200" b="0" i="1" smtClean="0">
                                    <a:latin typeface="Cambria Math" panose="02040503050406030204" pitchFamily="18" charset="0"/>
                                  </a:rPr>
                                  <m:t>1−</m:t>
                                </m:r>
                                <m:r>
                                  <a:rPr lang="en-US" altLang="en-US" sz="2200" b="0" i="1" smtClean="0">
                                    <a:latin typeface="Cambria Math" panose="02040503050406030204" pitchFamily="18" charset="0"/>
                                  </a:rPr>
                                  <m:t>𝑡</m:t>
                                </m:r>
                              </m:e>
                            </m:d>
                            <m:r>
                              <a:rPr lang="en-US" altLang="en-US" sz="2200" b="0" i="1" smtClean="0">
                                <a:latin typeface="Cambria Math" panose="02040503050406030204" pitchFamily="18" charset="0"/>
                              </a:rPr>
                              <m:t>𝑥</m:t>
                            </m:r>
                            <m:r>
                              <a:rPr lang="en-US" altLang="en-US" sz="2200" b="0" i="1" smtClean="0">
                                <a:latin typeface="Cambria Math" panose="02040503050406030204" pitchFamily="18" charset="0"/>
                              </a:rPr>
                              <m:t>1+</m:t>
                            </m:r>
                            <m:r>
                              <a:rPr lang="en-US" altLang="en-US" sz="2200" b="0" i="1" smtClean="0">
                                <a:latin typeface="Cambria Math" panose="02040503050406030204" pitchFamily="18" charset="0"/>
                              </a:rPr>
                              <m:t>𝑡𝑥</m:t>
                            </m:r>
                            <m:r>
                              <a:rPr lang="en-US" altLang="en-US" sz="2200" b="0" i="1" smtClean="0">
                                <a:latin typeface="Cambria Math" panose="02040503050406030204" pitchFamily="18" charset="0"/>
                              </a:rPr>
                              <m:t>2</m:t>
                            </m:r>
                          </m:e>
                          <m:e>
                            <m:r>
                              <a:rPr lang="en-US" altLang="en-US" sz="2200" b="0" i="1" smtClean="0">
                                <a:latin typeface="Cambria Math" panose="02040503050406030204" pitchFamily="18" charset="0"/>
                              </a:rPr>
                              <m:t>𝑦</m:t>
                            </m:r>
                            <m:r>
                              <a:rPr lang="en-US" altLang="en-US" sz="2200" b="0" i="1" smtClean="0">
                                <a:latin typeface="Cambria Math" panose="02040503050406030204" pitchFamily="18" charset="0"/>
                              </a:rPr>
                              <m:t>=</m:t>
                            </m:r>
                            <m:d>
                              <m:dPr>
                                <m:ctrlPr>
                                  <a:rPr lang="en-US" altLang="en-US" sz="2200" b="0" i="1" smtClean="0">
                                    <a:latin typeface="Cambria Math" panose="02040503050406030204" pitchFamily="18" charset="0"/>
                                  </a:rPr>
                                </m:ctrlPr>
                              </m:dPr>
                              <m:e>
                                <m:r>
                                  <a:rPr lang="en-US" altLang="en-US" sz="2200" b="0" i="1" smtClean="0">
                                    <a:latin typeface="Cambria Math" panose="02040503050406030204" pitchFamily="18" charset="0"/>
                                  </a:rPr>
                                  <m:t>1−</m:t>
                                </m:r>
                                <m:r>
                                  <a:rPr lang="en-US" altLang="en-US" sz="2200" b="0" i="1" smtClean="0">
                                    <a:latin typeface="Cambria Math" panose="02040503050406030204" pitchFamily="18" charset="0"/>
                                  </a:rPr>
                                  <m:t>𝑡</m:t>
                                </m:r>
                              </m:e>
                            </m:d>
                            <m:r>
                              <a:rPr lang="en-US" altLang="en-US" sz="2200" b="0" i="1" smtClean="0">
                                <a:latin typeface="Cambria Math" panose="02040503050406030204" pitchFamily="18" charset="0"/>
                              </a:rPr>
                              <m:t>𝑦</m:t>
                            </m:r>
                            <m:r>
                              <a:rPr lang="en-US" altLang="en-US" sz="2200" b="0" i="1" smtClean="0">
                                <a:latin typeface="Cambria Math" panose="02040503050406030204" pitchFamily="18" charset="0"/>
                              </a:rPr>
                              <m:t>1+</m:t>
                            </m:r>
                            <m:r>
                              <a:rPr lang="en-US" altLang="en-US" sz="2200" b="0" i="1" smtClean="0">
                                <a:latin typeface="Cambria Math" panose="02040503050406030204" pitchFamily="18" charset="0"/>
                              </a:rPr>
                              <m:t>𝑡𝑦</m:t>
                            </m:r>
                            <m:r>
                              <a:rPr lang="en-US" altLang="en-US" sz="2200" b="0" i="1" smtClean="0">
                                <a:latin typeface="Cambria Math" panose="02040503050406030204" pitchFamily="18" charset="0"/>
                              </a:rPr>
                              <m:t>2</m:t>
                            </m:r>
                          </m:e>
                        </m:eqArr>
                      </m:e>
                    </m:d>
                  </m:oMath>
                </a14:m>
                <a:endParaRPr lang="en-US" altLang="en-US" sz="2200" smtClean="0">
                  <a:latin typeface="Calibri" panose="020F0502020204030204" pitchFamily="34" charset="0"/>
                  <a:ea typeface="Calibri" panose="020F0502020204030204" pitchFamily="34" charset="0"/>
                  <a:cs typeface="Calibri" panose="020F0502020204030204" pitchFamily="34" charset="0"/>
                </a:endParaRPr>
              </a:p>
              <a:p>
                <a:pPr lvl="3" algn="just"/>
                <a:r>
                  <a:rPr lang="en-US" altLang="en-US" sz="2000" smtClean="0">
                    <a:latin typeface="Calibri" panose="020F0502020204030204" pitchFamily="34" charset="0"/>
                    <a:ea typeface="Calibri" panose="020F0502020204030204" pitchFamily="34" charset="0"/>
                    <a:cs typeface="Calibri" panose="020F0502020204030204" pitchFamily="34" charset="0"/>
                  </a:rPr>
                  <a:t>Nếu t </a:t>
                </a:r>
                <a:r>
                  <a:rPr lang="en-US" altLang="en-US" sz="2000" smtClean="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 [0,1] ta được đoạn thẳng giới hạn bởi 2 điểm </a:t>
                </a:r>
                <a:r>
                  <a:rPr lang="en-US" sz="2000">
                    <a:latin typeface="Calibri" panose="020F0502020204030204" pitchFamily="34" charset="0"/>
                    <a:ea typeface="Calibri" panose="020F0502020204030204" pitchFamily="34" charset="0"/>
                    <a:cs typeface="Calibri" panose="020F0502020204030204" pitchFamily="34" charset="0"/>
                  </a:rPr>
                  <a:t>(x1,y1), (x2,y2) </a:t>
                </a:r>
                <a:endParaRPr lang="en-US" altLang="en-US" sz="2000" smtClean="0">
                  <a:latin typeface="Calibri" panose="020F0502020204030204" pitchFamily="34" charset="0"/>
                  <a:ea typeface="Calibri" panose="020F0502020204030204" pitchFamily="34" charset="0"/>
                  <a:cs typeface="Calibri" panose="020F0502020204030204" pitchFamily="34" charset="0"/>
                </a:endParaRPr>
              </a:p>
              <a:p>
                <a:pPr lvl="3" algn="just"/>
                <a:r>
                  <a:rPr lang="en-US" altLang="en-US" sz="2000">
                    <a:latin typeface="Calibri" panose="020F0502020204030204" pitchFamily="34" charset="0"/>
                    <a:ea typeface="Calibri" panose="020F0502020204030204" pitchFamily="34" charset="0"/>
                    <a:cs typeface="Calibri" panose="020F0502020204030204" pitchFamily="34" charset="0"/>
                  </a:rPr>
                  <a:t>Nếu t </a:t>
                </a:r>
                <a:r>
                  <a:rPr lang="en-US" altLang="en-US" sz="200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 </a:t>
                </a:r>
                <a:r>
                  <a:rPr lang="en-US" altLang="en-US" sz="2000" smtClean="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 ta được đường thẳng</a:t>
                </a:r>
                <a:endParaRPr lang="en-US" altLang="en-US" sz="200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86405" name="Rectangle 5"/>
              <p:cNvSpPr>
                <a:spLocks noGrp="1" noRot="1" noChangeAspect="1" noMove="1" noResize="1" noEditPoints="1" noAdjustHandles="1" noChangeArrowheads="1" noChangeShapeType="1" noTextEdit="1"/>
              </p:cNvSpPr>
              <p:nvPr>
                <p:ph type="body" idx="1"/>
              </p:nvPr>
            </p:nvSpPr>
            <p:spPr>
              <a:xfrm>
                <a:off x="960584" y="3723274"/>
                <a:ext cx="10153326" cy="1316182"/>
              </a:xfrm>
              <a:blipFill>
                <a:blip r:embed="rId2"/>
                <a:stretch>
                  <a:fillRect t="-114352" r="-841" b="-121759"/>
                </a:stretch>
              </a:blipFill>
              <a:ln/>
            </p:spPr>
            <p:txBody>
              <a:bodyPr/>
              <a:lstStyle/>
              <a:p>
                <a:r>
                  <a:rPr lang="en-US">
                    <a:noFill/>
                  </a:rPr>
                  <a:t> </a:t>
                </a:r>
              </a:p>
            </p:txBody>
          </p:sp>
        </mc:Fallback>
      </mc:AlternateContent>
      <p:grpSp>
        <p:nvGrpSpPr>
          <p:cNvPr id="5" name="Group 4"/>
          <p:cNvGrpSpPr/>
          <p:nvPr/>
        </p:nvGrpSpPr>
        <p:grpSpPr>
          <a:xfrm>
            <a:off x="6787010" y="3497161"/>
            <a:ext cx="5635899" cy="2857244"/>
            <a:chOff x="6787010" y="3497161"/>
            <a:chExt cx="5635899" cy="2857244"/>
          </a:xfrm>
        </p:grpSpPr>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7251" y1="53045" x2="37251" y2="53045"/>
                        </a14:backgroundRemoval>
                      </a14:imgEffect>
                    </a14:imgLayer>
                  </a14:imgProps>
                </a:ext>
                <a:ext uri="{28A0092B-C50C-407E-A947-70E740481C1C}">
                  <a14:useLocalDpi xmlns:a14="http://schemas.microsoft.com/office/drawing/2010/main" val="0"/>
                </a:ext>
              </a:extLst>
            </a:blip>
            <a:stretch>
              <a:fillRect/>
            </a:stretch>
          </p:blipFill>
          <p:spPr>
            <a:xfrm>
              <a:off x="6787010" y="3497161"/>
              <a:ext cx="5635899" cy="2857244"/>
            </a:xfrm>
            <a:prstGeom prst="rect">
              <a:avLst/>
            </a:prstGeom>
          </p:spPr>
        </p:pic>
        <p:sp>
          <p:nvSpPr>
            <p:cNvPr id="4" name="TextBox 3"/>
            <p:cNvSpPr txBox="1"/>
            <p:nvPr/>
          </p:nvSpPr>
          <p:spPr>
            <a:xfrm>
              <a:off x="8386618" y="4556451"/>
              <a:ext cx="800347" cy="369332"/>
            </a:xfrm>
            <a:prstGeom prst="rect">
              <a:avLst/>
            </a:prstGeom>
            <a:noFill/>
          </p:spPr>
          <p:txBody>
            <a:bodyPr wrap="none" rtlCol="0">
              <a:spAutoFit/>
            </a:bodyPr>
            <a:lstStyle/>
            <a:p>
              <a:r>
                <a:rPr lang="en-US" smtClean="0"/>
                <a:t>(x1,y1)</a:t>
              </a:r>
              <a:endParaRPr lang="en-US"/>
            </a:p>
          </p:txBody>
        </p:sp>
        <p:sp>
          <p:nvSpPr>
            <p:cNvPr id="8" name="TextBox 7"/>
            <p:cNvSpPr txBox="1"/>
            <p:nvPr/>
          </p:nvSpPr>
          <p:spPr>
            <a:xfrm>
              <a:off x="9721273" y="4070314"/>
              <a:ext cx="829201" cy="369332"/>
            </a:xfrm>
            <a:prstGeom prst="rect">
              <a:avLst/>
            </a:prstGeom>
            <a:noFill/>
          </p:spPr>
          <p:txBody>
            <a:bodyPr wrap="none" rtlCol="0">
              <a:spAutoFit/>
            </a:bodyPr>
            <a:lstStyle/>
            <a:p>
              <a:r>
                <a:rPr lang="en-US" smtClean="0"/>
                <a:t>(x2,y2)</a:t>
              </a:r>
              <a:endParaRPr lang="en-US"/>
            </a:p>
          </p:txBody>
        </p:sp>
        <p:sp>
          <p:nvSpPr>
            <p:cNvPr id="9" name="TextBox 8"/>
            <p:cNvSpPr txBox="1"/>
            <p:nvPr/>
          </p:nvSpPr>
          <p:spPr>
            <a:xfrm>
              <a:off x="8706386" y="5006575"/>
              <a:ext cx="502061" cy="369332"/>
            </a:xfrm>
            <a:prstGeom prst="rect">
              <a:avLst/>
            </a:prstGeom>
            <a:noFill/>
          </p:spPr>
          <p:txBody>
            <a:bodyPr wrap="none" rtlCol="0">
              <a:spAutoFit/>
            </a:bodyPr>
            <a:lstStyle/>
            <a:p>
              <a:r>
                <a:rPr lang="en-US" smtClean="0"/>
                <a:t>t=0</a:t>
              </a:r>
              <a:endParaRPr lang="en-US"/>
            </a:p>
          </p:txBody>
        </p:sp>
        <p:sp>
          <p:nvSpPr>
            <p:cNvPr id="10" name="TextBox 9"/>
            <p:cNvSpPr txBox="1"/>
            <p:nvPr/>
          </p:nvSpPr>
          <p:spPr>
            <a:xfrm>
              <a:off x="9979892" y="4602020"/>
              <a:ext cx="487634" cy="369332"/>
            </a:xfrm>
            <a:prstGeom prst="rect">
              <a:avLst/>
            </a:prstGeom>
            <a:noFill/>
          </p:spPr>
          <p:txBody>
            <a:bodyPr wrap="none" rtlCol="0">
              <a:spAutoFit/>
            </a:bodyPr>
            <a:lstStyle/>
            <a:p>
              <a:r>
                <a:rPr lang="en-US" smtClean="0"/>
                <a:t>t=1</a:t>
              </a:r>
              <a:endParaRPr lang="en-US"/>
            </a:p>
          </p:txBody>
        </p:sp>
        <p:sp>
          <p:nvSpPr>
            <p:cNvPr id="11" name="TextBox 10"/>
            <p:cNvSpPr txBox="1"/>
            <p:nvPr/>
          </p:nvSpPr>
          <p:spPr>
            <a:xfrm>
              <a:off x="10855767" y="4312814"/>
              <a:ext cx="487634" cy="369332"/>
            </a:xfrm>
            <a:prstGeom prst="rect">
              <a:avLst/>
            </a:prstGeom>
            <a:noFill/>
          </p:spPr>
          <p:txBody>
            <a:bodyPr wrap="none" rtlCol="0">
              <a:spAutoFit/>
            </a:bodyPr>
            <a:lstStyle/>
            <a:p>
              <a:r>
                <a:rPr lang="en-US" smtClean="0"/>
                <a:t>t&gt;1</a:t>
              </a:r>
              <a:endParaRPr lang="en-US"/>
            </a:p>
          </p:txBody>
        </p:sp>
        <p:sp>
          <p:nvSpPr>
            <p:cNvPr id="12" name="TextBox 11"/>
            <p:cNvSpPr txBox="1"/>
            <p:nvPr/>
          </p:nvSpPr>
          <p:spPr>
            <a:xfrm>
              <a:off x="7974021" y="5209146"/>
              <a:ext cx="502061" cy="369332"/>
            </a:xfrm>
            <a:prstGeom prst="rect">
              <a:avLst/>
            </a:prstGeom>
            <a:noFill/>
          </p:spPr>
          <p:txBody>
            <a:bodyPr wrap="none" rtlCol="0">
              <a:spAutoFit/>
            </a:bodyPr>
            <a:lstStyle/>
            <a:p>
              <a:r>
                <a:rPr lang="en-US" smtClean="0"/>
                <a:t>t&lt;0</a:t>
              </a:r>
              <a:endParaRPr lang="en-US"/>
            </a:p>
          </p:txBody>
        </p:sp>
      </p:grpSp>
    </p:spTree>
    <p:extLst>
      <p:ext uri="{BB962C8B-B14F-4D97-AF65-F5344CB8AC3E}">
        <p14:creationId xmlns:p14="http://schemas.microsoft.com/office/powerpoint/2010/main" val="41164228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6675" y="-50323"/>
            <a:ext cx="10018713" cy="1752599"/>
          </a:xfrm>
        </p:spPr>
        <p:txBody>
          <a:bodyPr/>
          <a:lstStyle/>
          <a:p>
            <a:r>
              <a:rPr lang="en-US" smtClean="0"/>
              <a:t>Giải thuật làm tròn</a:t>
            </a:r>
            <a:endParaRPr lang="en-US"/>
          </a:p>
        </p:txBody>
      </p:sp>
      <p:sp>
        <p:nvSpPr>
          <p:cNvPr id="4" name="Slide Number Placeholder 3"/>
          <p:cNvSpPr>
            <a:spLocks noGrp="1"/>
          </p:cNvSpPr>
          <p:nvPr>
            <p:ph type="sldNum" sz="quarter" idx="12"/>
          </p:nvPr>
        </p:nvSpPr>
        <p:spPr/>
        <p:txBody>
          <a:bodyPr/>
          <a:lstStyle/>
          <a:p>
            <a:fld id="{EAC668D0-FFF1-47C5-8061-FF1B22C34E7B}" type="slidenum">
              <a:rPr lang="en-US" smtClean="0"/>
              <a:t>11</a:t>
            </a:fld>
            <a:endParaRPr lang="en-US"/>
          </a:p>
        </p:txBody>
      </p:sp>
      <p:grpSp>
        <p:nvGrpSpPr>
          <p:cNvPr id="5" name="Group 4"/>
          <p:cNvGrpSpPr>
            <a:grpSpLocks/>
          </p:cNvGrpSpPr>
          <p:nvPr/>
        </p:nvGrpSpPr>
        <p:grpSpPr>
          <a:xfrm>
            <a:off x="7788218" y="2032000"/>
            <a:ext cx="3714805" cy="2440440"/>
            <a:chOff x="19050" y="0"/>
            <a:chExt cx="3556000" cy="2539365"/>
          </a:xfrm>
        </p:grpSpPr>
        <p:sp>
          <p:nvSpPr>
            <p:cNvPr id="6" name="Graphic 84"/>
            <p:cNvSpPr/>
            <p:nvPr/>
          </p:nvSpPr>
          <p:spPr>
            <a:xfrm>
              <a:off x="19050" y="509016"/>
              <a:ext cx="3556000" cy="1270"/>
            </a:xfrm>
            <a:custGeom>
              <a:avLst/>
              <a:gdLst/>
              <a:ahLst/>
              <a:cxnLst/>
              <a:rect l="l" t="t" r="r" b="b"/>
              <a:pathLst>
                <a:path w="3556000">
                  <a:moveTo>
                    <a:pt x="3555492" y="0"/>
                  </a:moveTo>
                  <a:lnTo>
                    <a:pt x="1065276" y="0"/>
                  </a:lnTo>
                  <a:lnTo>
                    <a:pt x="0" y="0"/>
                  </a:lnTo>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7" name="Graphic 85"/>
            <p:cNvSpPr/>
            <p:nvPr/>
          </p:nvSpPr>
          <p:spPr>
            <a:xfrm>
              <a:off x="19050" y="1016508"/>
              <a:ext cx="3556000" cy="1270"/>
            </a:xfrm>
            <a:custGeom>
              <a:avLst/>
              <a:gdLst/>
              <a:ahLst/>
              <a:cxnLst/>
              <a:rect l="l" t="t" r="r" b="b"/>
              <a:pathLst>
                <a:path w="3556000">
                  <a:moveTo>
                    <a:pt x="3555492" y="0"/>
                  </a:moveTo>
                  <a:lnTo>
                    <a:pt x="1065276" y="0"/>
                  </a:lnTo>
                  <a:lnTo>
                    <a:pt x="0" y="0"/>
                  </a:lnTo>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8" name="Graphic 86"/>
            <p:cNvSpPr/>
            <p:nvPr/>
          </p:nvSpPr>
          <p:spPr>
            <a:xfrm>
              <a:off x="19050" y="1524000"/>
              <a:ext cx="3556000" cy="1270"/>
            </a:xfrm>
            <a:custGeom>
              <a:avLst/>
              <a:gdLst/>
              <a:ahLst/>
              <a:cxnLst/>
              <a:rect l="l" t="t" r="r" b="b"/>
              <a:pathLst>
                <a:path w="3556000">
                  <a:moveTo>
                    <a:pt x="3555492" y="0"/>
                  </a:moveTo>
                  <a:lnTo>
                    <a:pt x="1065276" y="0"/>
                  </a:lnTo>
                  <a:lnTo>
                    <a:pt x="0" y="0"/>
                  </a:lnTo>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9" name="Graphic 87"/>
            <p:cNvSpPr/>
            <p:nvPr/>
          </p:nvSpPr>
          <p:spPr>
            <a:xfrm>
              <a:off x="19050" y="2031492"/>
              <a:ext cx="3556000" cy="1270"/>
            </a:xfrm>
            <a:custGeom>
              <a:avLst/>
              <a:gdLst/>
              <a:ahLst/>
              <a:cxnLst/>
              <a:rect l="l" t="t" r="r" b="b"/>
              <a:pathLst>
                <a:path w="3556000">
                  <a:moveTo>
                    <a:pt x="3555492" y="0"/>
                  </a:moveTo>
                  <a:lnTo>
                    <a:pt x="1065276" y="0"/>
                  </a:lnTo>
                  <a:lnTo>
                    <a:pt x="0" y="0"/>
                  </a:lnTo>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10" name="Graphic 88"/>
            <p:cNvSpPr/>
            <p:nvPr/>
          </p:nvSpPr>
          <p:spPr>
            <a:xfrm>
              <a:off x="19050" y="509016"/>
              <a:ext cx="3556000" cy="1522730"/>
            </a:xfrm>
            <a:custGeom>
              <a:avLst/>
              <a:gdLst/>
              <a:ahLst/>
              <a:cxnLst/>
              <a:rect l="l" t="t" r="r" b="b"/>
              <a:pathLst>
                <a:path w="3556000" h="1522730">
                  <a:moveTo>
                    <a:pt x="3555492" y="0"/>
                  </a:moveTo>
                  <a:lnTo>
                    <a:pt x="0" y="1522475"/>
                  </a:lnTo>
                </a:path>
              </a:pathLst>
            </a:custGeom>
            <a:ln w="38100">
              <a:solidFill>
                <a:srgbClr val="000000"/>
              </a:solidFill>
              <a:prstDash val="solid"/>
            </a:ln>
          </p:spPr>
          <p:txBody>
            <a:bodyPr wrap="square" lIns="0" tIns="0" rIns="0" bIns="0" rtlCol="0">
              <a:prstTxWarp prst="textNoShape">
                <a:avLst/>
              </a:prstTxWarp>
              <a:noAutofit/>
            </a:bodyPr>
            <a:lstStyle/>
            <a:p>
              <a:endParaRPr lang="en-US"/>
            </a:p>
          </p:txBody>
        </p:sp>
        <p:sp>
          <p:nvSpPr>
            <p:cNvPr id="11" name="Graphic 89"/>
            <p:cNvSpPr/>
            <p:nvPr/>
          </p:nvSpPr>
          <p:spPr>
            <a:xfrm>
              <a:off x="528066" y="0"/>
              <a:ext cx="1270" cy="2539365"/>
            </a:xfrm>
            <a:custGeom>
              <a:avLst/>
              <a:gdLst/>
              <a:ahLst/>
              <a:cxnLst/>
              <a:rect l="l" t="t" r="r" b="b"/>
              <a:pathLst>
                <a:path h="2539365">
                  <a:moveTo>
                    <a:pt x="0" y="0"/>
                  </a:moveTo>
                  <a:lnTo>
                    <a:pt x="0" y="1778508"/>
                  </a:lnTo>
                  <a:lnTo>
                    <a:pt x="0" y="2538984"/>
                  </a:lnTo>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12" name="Graphic 90"/>
            <p:cNvSpPr/>
            <p:nvPr/>
          </p:nvSpPr>
          <p:spPr>
            <a:xfrm>
              <a:off x="1035558" y="0"/>
              <a:ext cx="1270" cy="2539365"/>
            </a:xfrm>
            <a:custGeom>
              <a:avLst/>
              <a:gdLst/>
              <a:ahLst/>
              <a:cxnLst/>
              <a:rect l="l" t="t" r="r" b="b"/>
              <a:pathLst>
                <a:path h="2539365">
                  <a:moveTo>
                    <a:pt x="0" y="0"/>
                  </a:moveTo>
                  <a:lnTo>
                    <a:pt x="0" y="1778508"/>
                  </a:lnTo>
                  <a:lnTo>
                    <a:pt x="0" y="2538984"/>
                  </a:lnTo>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13" name="Graphic 91"/>
            <p:cNvSpPr/>
            <p:nvPr/>
          </p:nvSpPr>
          <p:spPr>
            <a:xfrm>
              <a:off x="1543050" y="0"/>
              <a:ext cx="1270" cy="2539365"/>
            </a:xfrm>
            <a:custGeom>
              <a:avLst/>
              <a:gdLst/>
              <a:ahLst/>
              <a:cxnLst/>
              <a:rect l="l" t="t" r="r" b="b"/>
              <a:pathLst>
                <a:path h="2539365">
                  <a:moveTo>
                    <a:pt x="0" y="0"/>
                  </a:moveTo>
                  <a:lnTo>
                    <a:pt x="0" y="1778508"/>
                  </a:lnTo>
                  <a:lnTo>
                    <a:pt x="0" y="2538984"/>
                  </a:lnTo>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14" name="Graphic 92"/>
            <p:cNvSpPr/>
            <p:nvPr/>
          </p:nvSpPr>
          <p:spPr>
            <a:xfrm>
              <a:off x="2049017" y="0"/>
              <a:ext cx="1270" cy="2539365"/>
            </a:xfrm>
            <a:custGeom>
              <a:avLst/>
              <a:gdLst/>
              <a:ahLst/>
              <a:cxnLst/>
              <a:rect l="l" t="t" r="r" b="b"/>
              <a:pathLst>
                <a:path h="2539365">
                  <a:moveTo>
                    <a:pt x="0" y="0"/>
                  </a:moveTo>
                  <a:lnTo>
                    <a:pt x="0" y="1778508"/>
                  </a:lnTo>
                  <a:lnTo>
                    <a:pt x="0" y="2538984"/>
                  </a:lnTo>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15" name="Graphic 93"/>
            <p:cNvSpPr/>
            <p:nvPr/>
          </p:nvSpPr>
          <p:spPr>
            <a:xfrm>
              <a:off x="2556510" y="0"/>
              <a:ext cx="1270" cy="2539365"/>
            </a:xfrm>
            <a:custGeom>
              <a:avLst/>
              <a:gdLst/>
              <a:ahLst/>
              <a:cxnLst/>
              <a:rect l="l" t="t" r="r" b="b"/>
              <a:pathLst>
                <a:path h="2539365">
                  <a:moveTo>
                    <a:pt x="0" y="0"/>
                  </a:moveTo>
                  <a:lnTo>
                    <a:pt x="0" y="1778508"/>
                  </a:lnTo>
                  <a:lnTo>
                    <a:pt x="0" y="2538984"/>
                  </a:lnTo>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16" name="Graphic 94"/>
            <p:cNvSpPr/>
            <p:nvPr/>
          </p:nvSpPr>
          <p:spPr>
            <a:xfrm>
              <a:off x="3067050" y="0"/>
              <a:ext cx="1270" cy="2539365"/>
            </a:xfrm>
            <a:custGeom>
              <a:avLst/>
              <a:gdLst/>
              <a:ahLst/>
              <a:cxnLst/>
              <a:rect l="l" t="t" r="r" b="b"/>
              <a:pathLst>
                <a:path h="2539365">
                  <a:moveTo>
                    <a:pt x="0" y="0"/>
                  </a:moveTo>
                  <a:lnTo>
                    <a:pt x="0" y="1778508"/>
                  </a:lnTo>
                  <a:lnTo>
                    <a:pt x="0" y="2538984"/>
                  </a:lnTo>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pic>
          <p:nvPicPr>
            <p:cNvPr id="17" name="Image 95"/>
            <p:cNvPicPr/>
            <p:nvPr/>
          </p:nvPicPr>
          <p:blipFill>
            <a:blip r:embed="rId2" cstate="print"/>
            <a:stretch>
              <a:fillRect/>
            </a:stretch>
          </p:blipFill>
          <p:spPr>
            <a:xfrm>
              <a:off x="401574" y="382524"/>
              <a:ext cx="252984" cy="251460"/>
            </a:xfrm>
            <a:prstGeom prst="rect">
              <a:avLst/>
            </a:prstGeom>
          </p:spPr>
        </p:pic>
        <p:sp>
          <p:nvSpPr>
            <p:cNvPr id="18" name="Graphic 96"/>
            <p:cNvSpPr/>
            <p:nvPr/>
          </p:nvSpPr>
          <p:spPr>
            <a:xfrm>
              <a:off x="401574" y="382524"/>
              <a:ext cx="253365" cy="251460"/>
            </a:xfrm>
            <a:custGeom>
              <a:avLst/>
              <a:gdLst/>
              <a:ahLst/>
              <a:cxnLst/>
              <a:rect l="l" t="t" r="r" b="b"/>
              <a:pathLst>
                <a:path w="253365" h="251460">
                  <a:moveTo>
                    <a:pt x="0" y="126492"/>
                  </a:moveTo>
                  <a:lnTo>
                    <a:pt x="12192" y="67056"/>
                  </a:lnTo>
                  <a:lnTo>
                    <a:pt x="53340" y="21336"/>
                  </a:lnTo>
                  <a:lnTo>
                    <a:pt x="109728" y="0"/>
                  </a:lnTo>
                  <a:lnTo>
                    <a:pt x="141731" y="0"/>
                  </a:lnTo>
                  <a:lnTo>
                    <a:pt x="196596" y="21336"/>
                  </a:lnTo>
                  <a:lnTo>
                    <a:pt x="237744" y="67056"/>
                  </a:lnTo>
                  <a:lnTo>
                    <a:pt x="252984" y="126492"/>
                  </a:lnTo>
                  <a:lnTo>
                    <a:pt x="248412" y="156972"/>
                  </a:lnTo>
                  <a:lnTo>
                    <a:pt x="220980" y="210312"/>
                  </a:lnTo>
                  <a:lnTo>
                    <a:pt x="170687" y="245363"/>
                  </a:lnTo>
                  <a:lnTo>
                    <a:pt x="141731" y="251460"/>
                  </a:lnTo>
                  <a:lnTo>
                    <a:pt x="109728" y="251460"/>
                  </a:lnTo>
                  <a:lnTo>
                    <a:pt x="53340" y="230124"/>
                  </a:lnTo>
                  <a:lnTo>
                    <a:pt x="12192" y="184404"/>
                  </a:lnTo>
                  <a:lnTo>
                    <a:pt x="0" y="126492"/>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19" name="Graphic 97"/>
            <p:cNvSpPr/>
            <p:nvPr/>
          </p:nvSpPr>
          <p:spPr>
            <a:xfrm>
              <a:off x="907541" y="382524"/>
              <a:ext cx="254635" cy="251460"/>
            </a:xfrm>
            <a:custGeom>
              <a:avLst/>
              <a:gdLst/>
              <a:ahLst/>
              <a:cxnLst/>
              <a:rect l="l" t="t" r="r" b="b"/>
              <a:pathLst>
                <a:path w="254635" h="251460">
                  <a:moveTo>
                    <a:pt x="143256" y="0"/>
                  </a:moveTo>
                  <a:lnTo>
                    <a:pt x="112775" y="0"/>
                  </a:lnTo>
                  <a:lnTo>
                    <a:pt x="82295" y="6096"/>
                  </a:lnTo>
                  <a:lnTo>
                    <a:pt x="33528" y="41148"/>
                  </a:lnTo>
                  <a:lnTo>
                    <a:pt x="3048" y="94487"/>
                  </a:lnTo>
                  <a:lnTo>
                    <a:pt x="0" y="126492"/>
                  </a:lnTo>
                  <a:lnTo>
                    <a:pt x="3048" y="156972"/>
                  </a:lnTo>
                  <a:lnTo>
                    <a:pt x="33528" y="210312"/>
                  </a:lnTo>
                  <a:lnTo>
                    <a:pt x="82295" y="245363"/>
                  </a:lnTo>
                  <a:lnTo>
                    <a:pt x="112775" y="251460"/>
                  </a:lnTo>
                  <a:lnTo>
                    <a:pt x="143256" y="251460"/>
                  </a:lnTo>
                  <a:lnTo>
                    <a:pt x="198119" y="230124"/>
                  </a:lnTo>
                  <a:lnTo>
                    <a:pt x="239268" y="184404"/>
                  </a:lnTo>
                  <a:lnTo>
                    <a:pt x="254507" y="126492"/>
                  </a:lnTo>
                  <a:lnTo>
                    <a:pt x="249936" y="94487"/>
                  </a:lnTo>
                  <a:lnTo>
                    <a:pt x="222504" y="41148"/>
                  </a:lnTo>
                  <a:lnTo>
                    <a:pt x="172212" y="6096"/>
                  </a:lnTo>
                  <a:lnTo>
                    <a:pt x="143256"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20" name="Graphic 98"/>
            <p:cNvSpPr/>
            <p:nvPr/>
          </p:nvSpPr>
          <p:spPr>
            <a:xfrm>
              <a:off x="907541" y="382524"/>
              <a:ext cx="254635" cy="251460"/>
            </a:xfrm>
            <a:custGeom>
              <a:avLst/>
              <a:gdLst/>
              <a:ahLst/>
              <a:cxnLst/>
              <a:rect l="l" t="t" r="r" b="b"/>
              <a:pathLst>
                <a:path w="254635" h="251460">
                  <a:moveTo>
                    <a:pt x="0" y="126492"/>
                  </a:moveTo>
                  <a:lnTo>
                    <a:pt x="15240" y="67056"/>
                  </a:lnTo>
                  <a:lnTo>
                    <a:pt x="54863" y="21336"/>
                  </a:lnTo>
                  <a:lnTo>
                    <a:pt x="112775" y="0"/>
                  </a:lnTo>
                  <a:lnTo>
                    <a:pt x="143256" y="0"/>
                  </a:lnTo>
                  <a:lnTo>
                    <a:pt x="198119" y="21336"/>
                  </a:lnTo>
                  <a:lnTo>
                    <a:pt x="239268" y="67056"/>
                  </a:lnTo>
                  <a:lnTo>
                    <a:pt x="254507" y="126492"/>
                  </a:lnTo>
                  <a:lnTo>
                    <a:pt x="249936" y="156972"/>
                  </a:lnTo>
                  <a:lnTo>
                    <a:pt x="222504" y="210312"/>
                  </a:lnTo>
                  <a:lnTo>
                    <a:pt x="172212" y="245363"/>
                  </a:lnTo>
                  <a:lnTo>
                    <a:pt x="143256" y="251460"/>
                  </a:lnTo>
                  <a:lnTo>
                    <a:pt x="112775" y="251460"/>
                  </a:lnTo>
                  <a:lnTo>
                    <a:pt x="54863" y="230124"/>
                  </a:lnTo>
                  <a:lnTo>
                    <a:pt x="15240" y="184404"/>
                  </a:lnTo>
                  <a:lnTo>
                    <a:pt x="0" y="126492"/>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21" name="Graphic 99"/>
            <p:cNvSpPr/>
            <p:nvPr/>
          </p:nvSpPr>
          <p:spPr>
            <a:xfrm>
              <a:off x="1415033" y="382524"/>
              <a:ext cx="254635" cy="251460"/>
            </a:xfrm>
            <a:custGeom>
              <a:avLst/>
              <a:gdLst/>
              <a:ahLst/>
              <a:cxnLst/>
              <a:rect l="l" t="t" r="r" b="b"/>
              <a:pathLst>
                <a:path w="254635" h="251460">
                  <a:moveTo>
                    <a:pt x="141731" y="0"/>
                  </a:moveTo>
                  <a:lnTo>
                    <a:pt x="112775" y="0"/>
                  </a:lnTo>
                  <a:lnTo>
                    <a:pt x="82296" y="6096"/>
                  </a:lnTo>
                  <a:lnTo>
                    <a:pt x="33527" y="41148"/>
                  </a:lnTo>
                  <a:lnTo>
                    <a:pt x="4572" y="94487"/>
                  </a:lnTo>
                  <a:lnTo>
                    <a:pt x="0" y="126492"/>
                  </a:lnTo>
                  <a:lnTo>
                    <a:pt x="4572" y="156972"/>
                  </a:lnTo>
                  <a:lnTo>
                    <a:pt x="33527" y="210312"/>
                  </a:lnTo>
                  <a:lnTo>
                    <a:pt x="82296" y="245363"/>
                  </a:lnTo>
                  <a:lnTo>
                    <a:pt x="112775" y="251460"/>
                  </a:lnTo>
                  <a:lnTo>
                    <a:pt x="141731" y="251460"/>
                  </a:lnTo>
                  <a:lnTo>
                    <a:pt x="201167" y="230124"/>
                  </a:lnTo>
                  <a:lnTo>
                    <a:pt x="239267" y="184404"/>
                  </a:lnTo>
                  <a:lnTo>
                    <a:pt x="254508" y="126492"/>
                  </a:lnTo>
                  <a:lnTo>
                    <a:pt x="249936" y="94487"/>
                  </a:lnTo>
                  <a:lnTo>
                    <a:pt x="222503" y="41148"/>
                  </a:lnTo>
                  <a:lnTo>
                    <a:pt x="172212" y="6096"/>
                  </a:lnTo>
                  <a:lnTo>
                    <a:pt x="141731"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22" name="Graphic 100"/>
            <p:cNvSpPr/>
            <p:nvPr/>
          </p:nvSpPr>
          <p:spPr>
            <a:xfrm>
              <a:off x="1415033" y="382524"/>
              <a:ext cx="254635" cy="251460"/>
            </a:xfrm>
            <a:custGeom>
              <a:avLst/>
              <a:gdLst/>
              <a:ahLst/>
              <a:cxnLst/>
              <a:rect l="l" t="t" r="r" b="b"/>
              <a:pathLst>
                <a:path w="254635" h="251460">
                  <a:moveTo>
                    <a:pt x="0" y="126492"/>
                  </a:moveTo>
                  <a:lnTo>
                    <a:pt x="15239" y="67056"/>
                  </a:lnTo>
                  <a:lnTo>
                    <a:pt x="54863" y="21336"/>
                  </a:lnTo>
                  <a:lnTo>
                    <a:pt x="112775" y="0"/>
                  </a:lnTo>
                  <a:lnTo>
                    <a:pt x="141731" y="0"/>
                  </a:lnTo>
                  <a:lnTo>
                    <a:pt x="201167" y="21336"/>
                  </a:lnTo>
                  <a:lnTo>
                    <a:pt x="239267" y="67056"/>
                  </a:lnTo>
                  <a:lnTo>
                    <a:pt x="254508" y="126492"/>
                  </a:lnTo>
                  <a:lnTo>
                    <a:pt x="249936" y="156972"/>
                  </a:lnTo>
                  <a:lnTo>
                    <a:pt x="222503" y="210312"/>
                  </a:lnTo>
                  <a:lnTo>
                    <a:pt x="172212" y="245363"/>
                  </a:lnTo>
                  <a:lnTo>
                    <a:pt x="141731" y="251460"/>
                  </a:lnTo>
                  <a:lnTo>
                    <a:pt x="112775" y="251460"/>
                  </a:lnTo>
                  <a:lnTo>
                    <a:pt x="54863" y="230124"/>
                  </a:lnTo>
                  <a:lnTo>
                    <a:pt x="15239" y="184404"/>
                  </a:lnTo>
                  <a:lnTo>
                    <a:pt x="0" y="126492"/>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23" name="Graphic 101"/>
            <p:cNvSpPr/>
            <p:nvPr/>
          </p:nvSpPr>
          <p:spPr>
            <a:xfrm>
              <a:off x="1922526" y="382524"/>
              <a:ext cx="254635" cy="251460"/>
            </a:xfrm>
            <a:custGeom>
              <a:avLst/>
              <a:gdLst/>
              <a:ahLst/>
              <a:cxnLst/>
              <a:rect l="l" t="t" r="r" b="b"/>
              <a:pathLst>
                <a:path w="254635" h="251460">
                  <a:moveTo>
                    <a:pt x="141732" y="0"/>
                  </a:moveTo>
                  <a:lnTo>
                    <a:pt x="112775" y="0"/>
                  </a:lnTo>
                  <a:lnTo>
                    <a:pt x="82296" y="6096"/>
                  </a:lnTo>
                  <a:lnTo>
                    <a:pt x="32004" y="41148"/>
                  </a:lnTo>
                  <a:lnTo>
                    <a:pt x="4572" y="94487"/>
                  </a:lnTo>
                  <a:lnTo>
                    <a:pt x="0" y="126492"/>
                  </a:lnTo>
                  <a:lnTo>
                    <a:pt x="4572" y="156972"/>
                  </a:lnTo>
                  <a:lnTo>
                    <a:pt x="32004" y="210312"/>
                  </a:lnTo>
                  <a:lnTo>
                    <a:pt x="82296" y="245363"/>
                  </a:lnTo>
                  <a:lnTo>
                    <a:pt x="112775" y="251460"/>
                  </a:lnTo>
                  <a:lnTo>
                    <a:pt x="141732" y="251460"/>
                  </a:lnTo>
                  <a:lnTo>
                    <a:pt x="199644" y="230124"/>
                  </a:lnTo>
                  <a:lnTo>
                    <a:pt x="240792" y="184404"/>
                  </a:lnTo>
                  <a:lnTo>
                    <a:pt x="254508" y="126492"/>
                  </a:lnTo>
                  <a:lnTo>
                    <a:pt x="251460" y="94487"/>
                  </a:lnTo>
                  <a:lnTo>
                    <a:pt x="222504" y="41148"/>
                  </a:lnTo>
                  <a:lnTo>
                    <a:pt x="172212" y="6096"/>
                  </a:lnTo>
                  <a:lnTo>
                    <a:pt x="141732"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24" name="Graphic 102"/>
            <p:cNvSpPr/>
            <p:nvPr/>
          </p:nvSpPr>
          <p:spPr>
            <a:xfrm>
              <a:off x="1922526" y="382524"/>
              <a:ext cx="254635" cy="251460"/>
            </a:xfrm>
            <a:custGeom>
              <a:avLst/>
              <a:gdLst/>
              <a:ahLst/>
              <a:cxnLst/>
              <a:rect l="l" t="t" r="r" b="b"/>
              <a:pathLst>
                <a:path w="254635" h="251460">
                  <a:moveTo>
                    <a:pt x="0" y="126492"/>
                  </a:moveTo>
                  <a:lnTo>
                    <a:pt x="15239" y="67056"/>
                  </a:lnTo>
                  <a:lnTo>
                    <a:pt x="56387" y="21336"/>
                  </a:lnTo>
                  <a:lnTo>
                    <a:pt x="112775" y="0"/>
                  </a:lnTo>
                  <a:lnTo>
                    <a:pt x="141732" y="0"/>
                  </a:lnTo>
                  <a:lnTo>
                    <a:pt x="199644" y="21336"/>
                  </a:lnTo>
                  <a:lnTo>
                    <a:pt x="240792" y="67056"/>
                  </a:lnTo>
                  <a:lnTo>
                    <a:pt x="254508" y="126492"/>
                  </a:lnTo>
                  <a:lnTo>
                    <a:pt x="251460" y="156972"/>
                  </a:lnTo>
                  <a:lnTo>
                    <a:pt x="222504" y="210312"/>
                  </a:lnTo>
                  <a:lnTo>
                    <a:pt x="172212" y="245363"/>
                  </a:lnTo>
                  <a:lnTo>
                    <a:pt x="141732" y="251460"/>
                  </a:lnTo>
                  <a:lnTo>
                    <a:pt x="112775" y="251460"/>
                  </a:lnTo>
                  <a:lnTo>
                    <a:pt x="56387" y="230124"/>
                  </a:lnTo>
                  <a:lnTo>
                    <a:pt x="15239" y="184404"/>
                  </a:lnTo>
                  <a:lnTo>
                    <a:pt x="0" y="126492"/>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25" name="Graphic 103"/>
            <p:cNvSpPr/>
            <p:nvPr/>
          </p:nvSpPr>
          <p:spPr>
            <a:xfrm>
              <a:off x="2430017" y="382524"/>
              <a:ext cx="256540" cy="251460"/>
            </a:xfrm>
            <a:custGeom>
              <a:avLst/>
              <a:gdLst/>
              <a:ahLst/>
              <a:cxnLst/>
              <a:rect l="l" t="t" r="r" b="b"/>
              <a:pathLst>
                <a:path w="256540" h="251460">
                  <a:moveTo>
                    <a:pt x="144779" y="0"/>
                  </a:moveTo>
                  <a:lnTo>
                    <a:pt x="111251" y="0"/>
                  </a:lnTo>
                  <a:lnTo>
                    <a:pt x="83819" y="6096"/>
                  </a:lnTo>
                  <a:lnTo>
                    <a:pt x="32003" y="41148"/>
                  </a:lnTo>
                  <a:lnTo>
                    <a:pt x="4571" y="94487"/>
                  </a:lnTo>
                  <a:lnTo>
                    <a:pt x="0" y="126492"/>
                  </a:lnTo>
                  <a:lnTo>
                    <a:pt x="4571" y="156972"/>
                  </a:lnTo>
                  <a:lnTo>
                    <a:pt x="32003" y="210312"/>
                  </a:lnTo>
                  <a:lnTo>
                    <a:pt x="83819" y="245363"/>
                  </a:lnTo>
                  <a:lnTo>
                    <a:pt x="111251" y="251460"/>
                  </a:lnTo>
                  <a:lnTo>
                    <a:pt x="144779" y="251460"/>
                  </a:lnTo>
                  <a:lnTo>
                    <a:pt x="199643" y="230124"/>
                  </a:lnTo>
                  <a:lnTo>
                    <a:pt x="240791" y="184404"/>
                  </a:lnTo>
                  <a:lnTo>
                    <a:pt x="256031" y="126492"/>
                  </a:lnTo>
                  <a:lnTo>
                    <a:pt x="251459" y="94487"/>
                  </a:lnTo>
                  <a:lnTo>
                    <a:pt x="224027" y="41148"/>
                  </a:lnTo>
                  <a:lnTo>
                    <a:pt x="172212" y="6096"/>
                  </a:lnTo>
                  <a:lnTo>
                    <a:pt x="144779"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26" name="Graphic 104"/>
            <p:cNvSpPr/>
            <p:nvPr/>
          </p:nvSpPr>
          <p:spPr>
            <a:xfrm>
              <a:off x="2430017" y="382524"/>
              <a:ext cx="256540" cy="251460"/>
            </a:xfrm>
            <a:custGeom>
              <a:avLst/>
              <a:gdLst/>
              <a:ahLst/>
              <a:cxnLst/>
              <a:rect l="l" t="t" r="r" b="b"/>
              <a:pathLst>
                <a:path w="256540" h="251460">
                  <a:moveTo>
                    <a:pt x="0" y="126492"/>
                  </a:moveTo>
                  <a:lnTo>
                    <a:pt x="15239" y="67056"/>
                  </a:lnTo>
                  <a:lnTo>
                    <a:pt x="56387" y="21336"/>
                  </a:lnTo>
                  <a:lnTo>
                    <a:pt x="111251" y="0"/>
                  </a:lnTo>
                  <a:lnTo>
                    <a:pt x="144779" y="0"/>
                  </a:lnTo>
                  <a:lnTo>
                    <a:pt x="199643" y="21336"/>
                  </a:lnTo>
                  <a:lnTo>
                    <a:pt x="240791" y="67056"/>
                  </a:lnTo>
                  <a:lnTo>
                    <a:pt x="256031" y="126492"/>
                  </a:lnTo>
                  <a:lnTo>
                    <a:pt x="251459" y="156972"/>
                  </a:lnTo>
                  <a:lnTo>
                    <a:pt x="224027" y="210312"/>
                  </a:lnTo>
                  <a:lnTo>
                    <a:pt x="172212" y="245363"/>
                  </a:lnTo>
                  <a:lnTo>
                    <a:pt x="144779" y="251460"/>
                  </a:lnTo>
                  <a:lnTo>
                    <a:pt x="111251" y="251460"/>
                  </a:lnTo>
                  <a:lnTo>
                    <a:pt x="56387" y="230124"/>
                  </a:lnTo>
                  <a:lnTo>
                    <a:pt x="15239" y="184404"/>
                  </a:lnTo>
                  <a:lnTo>
                    <a:pt x="0" y="126492"/>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27" name="Graphic 105"/>
            <p:cNvSpPr/>
            <p:nvPr/>
          </p:nvSpPr>
          <p:spPr>
            <a:xfrm>
              <a:off x="2939033" y="382524"/>
              <a:ext cx="254635" cy="251460"/>
            </a:xfrm>
            <a:custGeom>
              <a:avLst/>
              <a:gdLst/>
              <a:ahLst/>
              <a:cxnLst/>
              <a:rect l="l" t="t" r="r" b="b"/>
              <a:pathLst>
                <a:path w="254635" h="251460">
                  <a:moveTo>
                    <a:pt x="143255" y="0"/>
                  </a:moveTo>
                  <a:lnTo>
                    <a:pt x="112775" y="0"/>
                  </a:lnTo>
                  <a:lnTo>
                    <a:pt x="82296" y="6096"/>
                  </a:lnTo>
                  <a:lnTo>
                    <a:pt x="30479" y="41148"/>
                  </a:lnTo>
                  <a:lnTo>
                    <a:pt x="3048" y="94487"/>
                  </a:lnTo>
                  <a:lnTo>
                    <a:pt x="0" y="126492"/>
                  </a:lnTo>
                  <a:lnTo>
                    <a:pt x="3048" y="156972"/>
                  </a:lnTo>
                  <a:lnTo>
                    <a:pt x="30479" y="210312"/>
                  </a:lnTo>
                  <a:lnTo>
                    <a:pt x="82296" y="245363"/>
                  </a:lnTo>
                  <a:lnTo>
                    <a:pt x="112775" y="251460"/>
                  </a:lnTo>
                  <a:lnTo>
                    <a:pt x="143255" y="251460"/>
                  </a:lnTo>
                  <a:lnTo>
                    <a:pt x="198120" y="230124"/>
                  </a:lnTo>
                  <a:lnTo>
                    <a:pt x="239267" y="184404"/>
                  </a:lnTo>
                  <a:lnTo>
                    <a:pt x="254508" y="126492"/>
                  </a:lnTo>
                  <a:lnTo>
                    <a:pt x="249936" y="94487"/>
                  </a:lnTo>
                  <a:lnTo>
                    <a:pt x="222503" y="41148"/>
                  </a:lnTo>
                  <a:lnTo>
                    <a:pt x="172212" y="6096"/>
                  </a:lnTo>
                  <a:lnTo>
                    <a:pt x="143255"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28" name="Graphic 106"/>
            <p:cNvSpPr/>
            <p:nvPr/>
          </p:nvSpPr>
          <p:spPr>
            <a:xfrm>
              <a:off x="2939033" y="382524"/>
              <a:ext cx="254635" cy="251460"/>
            </a:xfrm>
            <a:custGeom>
              <a:avLst/>
              <a:gdLst/>
              <a:ahLst/>
              <a:cxnLst/>
              <a:rect l="l" t="t" r="r" b="b"/>
              <a:pathLst>
                <a:path w="254635" h="251460">
                  <a:moveTo>
                    <a:pt x="0" y="126492"/>
                  </a:moveTo>
                  <a:lnTo>
                    <a:pt x="13715" y="67056"/>
                  </a:lnTo>
                  <a:lnTo>
                    <a:pt x="54863" y="21336"/>
                  </a:lnTo>
                  <a:lnTo>
                    <a:pt x="112775" y="0"/>
                  </a:lnTo>
                  <a:lnTo>
                    <a:pt x="143255" y="0"/>
                  </a:lnTo>
                  <a:lnTo>
                    <a:pt x="198120" y="21336"/>
                  </a:lnTo>
                  <a:lnTo>
                    <a:pt x="239267" y="67056"/>
                  </a:lnTo>
                  <a:lnTo>
                    <a:pt x="254508" y="126492"/>
                  </a:lnTo>
                  <a:lnTo>
                    <a:pt x="249936" y="156972"/>
                  </a:lnTo>
                  <a:lnTo>
                    <a:pt x="222503" y="210312"/>
                  </a:lnTo>
                  <a:lnTo>
                    <a:pt x="172212" y="245363"/>
                  </a:lnTo>
                  <a:lnTo>
                    <a:pt x="143255" y="251460"/>
                  </a:lnTo>
                  <a:lnTo>
                    <a:pt x="112775" y="251460"/>
                  </a:lnTo>
                  <a:lnTo>
                    <a:pt x="54863" y="230124"/>
                  </a:lnTo>
                  <a:lnTo>
                    <a:pt x="13715" y="184404"/>
                  </a:lnTo>
                  <a:lnTo>
                    <a:pt x="0" y="126492"/>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pic>
          <p:nvPicPr>
            <p:cNvPr id="29" name="Image 107"/>
            <p:cNvPicPr/>
            <p:nvPr/>
          </p:nvPicPr>
          <p:blipFill>
            <a:blip r:embed="rId3" cstate="print"/>
            <a:stretch>
              <a:fillRect/>
            </a:stretch>
          </p:blipFill>
          <p:spPr>
            <a:xfrm>
              <a:off x="401574" y="1906523"/>
              <a:ext cx="252984" cy="251459"/>
            </a:xfrm>
            <a:prstGeom prst="rect">
              <a:avLst/>
            </a:prstGeom>
          </p:spPr>
        </p:pic>
        <p:sp>
          <p:nvSpPr>
            <p:cNvPr id="30" name="Graphic 108"/>
            <p:cNvSpPr/>
            <p:nvPr/>
          </p:nvSpPr>
          <p:spPr>
            <a:xfrm>
              <a:off x="401574" y="1906523"/>
              <a:ext cx="253365" cy="251460"/>
            </a:xfrm>
            <a:custGeom>
              <a:avLst/>
              <a:gdLst/>
              <a:ahLst/>
              <a:cxnLst/>
              <a:rect l="l" t="t" r="r" b="b"/>
              <a:pathLst>
                <a:path w="253365" h="251460">
                  <a:moveTo>
                    <a:pt x="0" y="124968"/>
                  </a:moveTo>
                  <a:lnTo>
                    <a:pt x="12192" y="67056"/>
                  </a:lnTo>
                  <a:lnTo>
                    <a:pt x="53340" y="21336"/>
                  </a:lnTo>
                  <a:lnTo>
                    <a:pt x="109728" y="0"/>
                  </a:lnTo>
                  <a:lnTo>
                    <a:pt x="141731" y="0"/>
                  </a:lnTo>
                  <a:lnTo>
                    <a:pt x="196596" y="21336"/>
                  </a:lnTo>
                  <a:lnTo>
                    <a:pt x="237744" y="67056"/>
                  </a:lnTo>
                  <a:lnTo>
                    <a:pt x="252984" y="124968"/>
                  </a:lnTo>
                  <a:lnTo>
                    <a:pt x="248412" y="155448"/>
                  </a:lnTo>
                  <a:lnTo>
                    <a:pt x="220980" y="208787"/>
                  </a:lnTo>
                  <a:lnTo>
                    <a:pt x="170687" y="243840"/>
                  </a:lnTo>
                  <a:lnTo>
                    <a:pt x="141731" y="251459"/>
                  </a:lnTo>
                  <a:lnTo>
                    <a:pt x="109728" y="251459"/>
                  </a:lnTo>
                  <a:lnTo>
                    <a:pt x="53340" y="230124"/>
                  </a:lnTo>
                  <a:lnTo>
                    <a:pt x="12192" y="185928"/>
                  </a:lnTo>
                  <a:lnTo>
                    <a:pt x="0" y="124968"/>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31" name="Graphic 109"/>
            <p:cNvSpPr/>
            <p:nvPr/>
          </p:nvSpPr>
          <p:spPr>
            <a:xfrm>
              <a:off x="907541" y="1906523"/>
              <a:ext cx="254635" cy="251460"/>
            </a:xfrm>
            <a:custGeom>
              <a:avLst/>
              <a:gdLst/>
              <a:ahLst/>
              <a:cxnLst/>
              <a:rect l="l" t="t" r="r" b="b"/>
              <a:pathLst>
                <a:path w="254635" h="251460">
                  <a:moveTo>
                    <a:pt x="143256" y="0"/>
                  </a:moveTo>
                  <a:lnTo>
                    <a:pt x="112775" y="0"/>
                  </a:lnTo>
                  <a:lnTo>
                    <a:pt x="82295" y="6095"/>
                  </a:lnTo>
                  <a:lnTo>
                    <a:pt x="33528" y="41148"/>
                  </a:lnTo>
                  <a:lnTo>
                    <a:pt x="3048" y="94487"/>
                  </a:lnTo>
                  <a:lnTo>
                    <a:pt x="0" y="124968"/>
                  </a:lnTo>
                  <a:lnTo>
                    <a:pt x="3048" y="155448"/>
                  </a:lnTo>
                  <a:lnTo>
                    <a:pt x="33528" y="208787"/>
                  </a:lnTo>
                  <a:lnTo>
                    <a:pt x="82295" y="243840"/>
                  </a:lnTo>
                  <a:lnTo>
                    <a:pt x="112775" y="251459"/>
                  </a:lnTo>
                  <a:lnTo>
                    <a:pt x="143256" y="251459"/>
                  </a:lnTo>
                  <a:lnTo>
                    <a:pt x="198119" y="230124"/>
                  </a:lnTo>
                  <a:lnTo>
                    <a:pt x="239268" y="185928"/>
                  </a:lnTo>
                  <a:lnTo>
                    <a:pt x="254507" y="124968"/>
                  </a:lnTo>
                  <a:lnTo>
                    <a:pt x="249936" y="94487"/>
                  </a:lnTo>
                  <a:lnTo>
                    <a:pt x="222504" y="41148"/>
                  </a:lnTo>
                  <a:lnTo>
                    <a:pt x="172212" y="6095"/>
                  </a:lnTo>
                  <a:lnTo>
                    <a:pt x="143256"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32" name="Graphic 110"/>
            <p:cNvSpPr/>
            <p:nvPr/>
          </p:nvSpPr>
          <p:spPr>
            <a:xfrm>
              <a:off x="907541" y="1906523"/>
              <a:ext cx="254635" cy="251460"/>
            </a:xfrm>
            <a:custGeom>
              <a:avLst/>
              <a:gdLst/>
              <a:ahLst/>
              <a:cxnLst/>
              <a:rect l="l" t="t" r="r" b="b"/>
              <a:pathLst>
                <a:path w="254635" h="251460">
                  <a:moveTo>
                    <a:pt x="0" y="124968"/>
                  </a:moveTo>
                  <a:lnTo>
                    <a:pt x="15240" y="67056"/>
                  </a:lnTo>
                  <a:lnTo>
                    <a:pt x="54863" y="21336"/>
                  </a:lnTo>
                  <a:lnTo>
                    <a:pt x="112775" y="0"/>
                  </a:lnTo>
                  <a:lnTo>
                    <a:pt x="143256" y="0"/>
                  </a:lnTo>
                  <a:lnTo>
                    <a:pt x="198119" y="21336"/>
                  </a:lnTo>
                  <a:lnTo>
                    <a:pt x="239268" y="67056"/>
                  </a:lnTo>
                  <a:lnTo>
                    <a:pt x="254507" y="124968"/>
                  </a:lnTo>
                  <a:lnTo>
                    <a:pt x="249936" y="155448"/>
                  </a:lnTo>
                  <a:lnTo>
                    <a:pt x="222504" y="208787"/>
                  </a:lnTo>
                  <a:lnTo>
                    <a:pt x="172212" y="243840"/>
                  </a:lnTo>
                  <a:lnTo>
                    <a:pt x="143256" y="251459"/>
                  </a:lnTo>
                  <a:lnTo>
                    <a:pt x="112775" y="251459"/>
                  </a:lnTo>
                  <a:lnTo>
                    <a:pt x="54863" y="230124"/>
                  </a:lnTo>
                  <a:lnTo>
                    <a:pt x="15240" y="185928"/>
                  </a:lnTo>
                  <a:lnTo>
                    <a:pt x="0" y="124968"/>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33" name="Graphic 111"/>
            <p:cNvSpPr/>
            <p:nvPr/>
          </p:nvSpPr>
          <p:spPr>
            <a:xfrm>
              <a:off x="1415033" y="1906523"/>
              <a:ext cx="254635" cy="251460"/>
            </a:xfrm>
            <a:custGeom>
              <a:avLst/>
              <a:gdLst/>
              <a:ahLst/>
              <a:cxnLst/>
              <a:rect l="l" t="t" r="r" b="b"/>
              <a:pathLst>
                <a:path w="254635" h="251460">
                  <a:moveTo>
                    <a:pt x="141731" y="0"/>
                  </a:moveTo>
                  <a:lnTo>
                    <a:pt x="112775" y="0"/>
                  </a:lnTo>
                  <a:lnTo>
                    <a:pt x="82296" y="6095"/>
                  </a:lnTo>
                  <a:lnTo>
                    <a:pt x="33527" y="41148"/>
                  </a:lnTo>
                  <a:lnTo>
                    <a:pt x="4572" y="94487"/>
                  </a:lnTo>
                  <a:lnTo>
                    <a:pt x="0" y="124968"/>
                  </a:lnTo>
                  <a:lnTo>
                    <a:pt x="4572" y="155448"/>
                  </a:lnTo>
                  <a:lnTo>
                    <a:pt x="33527" y="208787"/>
                  </a:lnTo>
                  <a:lnTo>
                    <a:pt x="82296" y="243840"/>
                  </a:lnTo>
                  <a:lnTo>
                    <a:pt x="112775" y="251459"/>
                  </a:lnTo>
                  <a:lnTo>
                    <a:pt x="141731" y="251459"/>
                  </a:lnTo>
                  <a:lnTo>
                    <a:pt x="201167" y="230124"/>
                  </a:lnTo>
                  <a:lnTo>
                    <a:pt x="239267" y="185928"/>
                  </a:lnTo>
                  <a:lnTo>
                    <a:pt x="254508" y="124968"/>
                  </a:lnTo>
                  <a:lnTo>
                    <a:pt x="249936" y="94487"/>
                  </a:lnTo>
                  <a:lnTo>
                    <a:pt x="222503" y="41148"/>
                  </a:lnTo>
                  <a:lnTo>
                    <a:pt x="172212" y="6095"/>
                  </a:lnTo>
                  <a:lnTo>
                    <a:pt x="141731"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34" name="Graphic 112"/>
            <p:cNvSpPr/>
            <p:nvPr/>
          </p:nvSpPr>
          <p:spPr>
            <a:xfrm>
              <a:off x="1415033" y="1906523"/>
              <a:ext cx="254635" cy="251460"/>
            </a:xfrm>
            <a:custGeom>
              <a:avLst/>
              <a:gdLst/>
              <a:ahLst/>
              <a:cxnLst/>
              <a:rect l="l" t="t" r="r" b="b"/>
              <a:pathLst>
                <a:path w="254635" h="251460">
                  <a:moveTo>
                    <a:pt x="0" y="124968"/>
                  </a:moveTo>
                  <a:lnTo>
                    <a:pt x="15239" y="67056"/>
                  </a:lnTo>
                  <a:lnTo>
                    <a:pt x="54863" y="21336"/>
                  </a:lnTo>
                  <a:lnTo>
                    <a:pt x="112775" y="0"/>
                  </a:lnTo>
                  <a:lnTo>
                    <a:pt x="141731" y="0"/>
                  </a:lnTo>
                  <a:lnTo>
                    <a:pt x="201167" y="21336"/>
                  </a:lnTo>
                  <a:lnTo>
                    <a:pt x="239267" y="67056"/>
                  </a:lnTo>
                  <a:lnTo>
                    <a:pt x="254508" y="124968"/>
                  </a:lnTo>
                  <a:lnTo>
                    <a:pt x="249936" y="155448"/>
                  </a:lnTo>
                  <a:lnTo>
                    <a:pt x="222503" y="208787"/>
                  </a:lnTo>
                  <a:lnTo>
                    <a:pt x="172212" y="243840"/>
                  </a:lnTo>
                  <a:lnTo>
                    <a:pt x="141731" y="251459"/>
                  </a:lnTo>
                  <a:lnTo>
                    <a:pt x="112775" y="251459"/>
                  </a:lnTo>
                  <a:lnTo>
                    <a:pt x="54863" y="230124"/>
                  </a:lnTo>
                  <a:lnTo>
                    <a:pt x="15239" y="185928"/>
                  </a:lnTo>
                  <a:lnTo>
                    <a:pt x="0" y="124968"/>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35" name="Graphic 113"/>
            <p:cNvSpPr/>
            <p:nvPr/>
          </p:nvSpPr>
          <p:spPr>
            <a:xfrm>
              <a:off x="1922526" y="1906523"/>
              <a:ext cx="254635" cy="251460"/>
            </a:xfrm>
            <a:custGeom>
              <a:avLst/>
              <a:gdLst/>
              <a:ahLst/>
              <a:cxnLst/>
              <a:rect l="l" t="t" r="r" b="b"/>
              <a:pathLst>
                <a:path w="254635" h="251460">
                  <a:moveTo>
                    <a:pt x="141732" y="0"/>
                  </a:moveTo>
                  <a:lnTo>
                    <a:pt x="112775" y="0"/>
                  </a:lnTo>
                  <a:lnTo>
                    <a:pt x="82296" y="6095"/>
                  </a:lnTo>
                  <a:lnTo>
                    <a:pt x="32004" y="41148"/>
                  </a:lnTo>
                  <a:lnTo>
                    <a:pt x="4572" y="94487"/>
                  </a:lnTo>
                  <a:lnTo>
                    <a:pt x="0" y="124968"/>
                  </a:lnTo>
                  <a:lnTo>
                    <a:pt x="4572" y="155448"/>
                  </a:lnTo>
                  <a:lnTo>
                    <a:pt x="32004" y="208787"/>
                  </a:lnTo>
                  <a:lnTo>
                    <a:pt x="82296" y="243840"/>
                  </a:lnTo>
                  <a:lnTo>
                    <a:pt x="112775" y="251459"/>
                  </a:lnTo>
                  <a:lnTo>
                    <a:pt x="141732" y="251459"/>
                  </a:lnTo>
                  <a:lnTo>
                    <a:pt x="199644" y="230124"/>
                  </a:lnTo>
                  <a:lnTo>
                    <a:pt x="240792" y="185928"/>
                  </a:lnTo>
                  <a:lnTo>
                    <a:pt x="254508" y="124968"/>
                  </a:lnTo>
                  <a:lnTo>
                    <a:pt x="251460" y="94487"/>
                  </a:lnTo>
                  <a:lnTo>
                    <a:pt x="222504" y="41148"/>
                  </a:lnTo>
                  <a:lnTo>
                    <a:pt x="172212" y="6095"/>
                  </a:lnTo>
                  <a:lnTo>
                    <a:pt x="141732"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36" name="Graphic 114"/>
            <p:cNvSpPr/>
            <p:nvPr/>
          </p:nvSpPr>
          <p:spPr>
            <a:xfrm>
              <a:off x="1922526" y="1906523"/>
              <a:ext cx="254635" cy="251460"/>
            </a:xfrm>
            <a:custGeom>
              <a:avLst/>
              <a:gdLst/>
              <a:ahLst/>
              <a:cxnLst/>
              <a:rect l="l" t="t" r="r" b="b"/>
              <a:pathLst>
                <a:path w="254635" h="251460">
                  <a:moveTo>
                    <a:pt x="0" y="124968"/>
                  </a:moveTo>
                  <a:lnTo>
                    <a:pt x="15239" y="67056"/>
                  </a:lnTo>
                  <a:lnTo>
                    <a:pt x="56387" y="21336"/>
                  </a:lnTo>
                  <a:lnTo>
                    <a:pt x="112775" y="0"/>
                  </a:lnTo>
                  <a:lnTo>
                    <a:pt x="141732" y="0"/>
                  </a:lnTo>
                  <a:lnTo>
                    <a:pt x="199644" y="21336"/>
                  </a:lnTo>
                  <a:lnTo>
                    <a:pt x="240792" y="67056"/>
                  </a:lnTo>
                  <a:lnTo>
                    <a:pt x="254508" y="124968"/>
                  </a:lnTo>
                  <a:lnTo>
                    <a:pt x="251460" y="155448"/>
                  </a:lnTo>
                  <a:lnTo>
                    <a:pt x="222504" y="208787"/>
                  </a:lnTo>
                  <a:lnTo>
                    <a:pt x="172212" y="243840"/>
                  </a:lnTo>
                  <a:lnTo>
                    <a:pt x="141732" y="251459"/>
                  </a:lnTo>
                  <a:lnTo>
                    <a:pt x="112775" y="251459"/>
                  </a:lnTo>
                  <a:lnTo>
                    <a:pt x="56387" y="230124"/>
                  </a:lnTo>
                  <a:lnTo>
                    <a:pt x="15239" y="185928"/>
                  </a:lnTo>
                  <a:lnTo>
                    <a:pt x="0" y="124968"/>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37" name="Graphic 115"/>
            <p:cNvSpPr/>
            <p:nvPr/>
          </p:nvSpPr>
          <p:spPr>
            <a:xfrm>
              <a:off x="2430017" y="1906523"/>
              <a:ext cx="256540" cy="251460"/>
            </a:xfrm>
            <a:custGeom>
              <a:avLst/>
              <a:gdLst/>
              <a:ahLst/>
              <a:cxnLst/>
              <a:rect l="l" t="t" r="r" b="b"/>
              <a:pathLst>
                <a:path w="256540" h="251460">
                  <a:moveTo>
                    <a:pt x="144779" y="0"/>
                  </a:moveTo>
                  <a:lnTo>
                    <a:pt x="111251" y="0"/>
                  </a:lnTo>
                  <a:lnTo>
                    <a:pt x="83819" y="6095"/>
                  </a:lnTo>
                  <a:lnTo>
                    <a:pt x="32003" y="41148"/>
                  </a:lnTo>
                  <a:lnTo>
                    <a:pt x="4571" y="94487"/>
                  </a:lnTo>
                  <a:lnTo>
                    <a:pt x="0" y="124968"/>
                  </a:lnTo>
                  <a:lnTo>
                    <a:pt x="4571" y="155448"/>
                  </a:lnTo>
                  <a:lnTo>
                    <a:pt x="32003" y="208787"/>
                  </a:lnTo>
                  <a:lnTo>
                    <a:pt x="83819" y="243840"/>
                  </a:lnTo>
                  <a:lnTo>
                    <a:pt x="111251" y="251459"/>
                  </a:lnTo>
                  <a:lnTo>
                    <a:pt x="144779" y="251459"/>
                  </a:lnTo>
                  <a:lnTo>
                    <a:pt x="199643" y="230124"/>
                  </a:lnTo>
                  <a:lnTo>
                    <a:pt x="240791" y="185928"/>
                  </a:lnTo>
                  <a:lnTo>
                    <a:pt x="256031" y="124968"/>
                  </a:lnTo>
                  <a:lnTo>
                    <a:pt x="251459" y="94487"/>
                  </a:lnTo>
                  <a:lnTo>
                    <a:pt x="224027" y="41148"/>
                  </a:lnTo>
                  <a:lnTo>
                    <a:pt x="172212" y="6095"/>
                  </a:lnTo>
                  <a:lnTo>
                    <a:pt x="144779"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38" name="Graphic 116"/>
            <p:cNvSpPr/>
            <p:nvPr/>
          </p:nvSpPr>
          <p:spPr>
            <a:xfrm>
              <a:off x="2430017" y="1906523"/>
              <a:ext cx="256540" cy="251460"/>
            </a:xfrm>
            <a:custGeom>
              <a:avLst/>
              <a:gdLst/>
              <a:ahLst/>
              <a:cxnLst/>
              <a:rect l="l" t="t" r="r" b="b"/>
              <a:pathLst>
                <a:path w="256540" h="251460">
                  <a:moveTo>
                    <a:pt x="0" y="124968"/>
                  </a:moveTo>
                  <a:lnTo>
                    <a:pt x="15239" y="67056"/>
                  </a:lnTo>
                  <a:lnTo>
                    <a:pt x="56387" y="21336"/>
                  </a:lnTo>
                  <a:lnTo>
                    <a:pt x="111251" y="0"/>
                  </a:lnTo>
                  <a:lnTo>
                    <a:pt x="144779" y="0"/>
                  </a:lnTo>
                  <a:lnTo>
                    <a:pt x="199643" y="21336"/>
                  </a:lnTo>
                  <a:lnTo>
                    <a:pt x="240791" y="67056"/>
                  </a:lnTo>
                  <a:lnTo>
                    <a:pt x="256031" y="124968"/>
                  </a:lnTo>
                  <a:lnTo>
                    <a:pt x="251459" y="155448"/>
                  </a:lnTo>
                  <a:lnTo>
                    <a:pt x="224027" y="208787"/>
                  </a:lnTo>
                  <a:lnTo>
                    <a:pt x="172212" y="243840"/>
                  </a:lnTo>
                  <a:lnTo>
                    <a:pt x="144779" y="251459"/>
                  </a:lnTo>
                  <a:lnTo>
                    <a:pt x="111251" y="251459"/>
                  </a:lnTo>
                  <a:lnTo>
                    <a:pt x="56387" y="230124"/>
                  </a:lnTo>
                  <a:lnTo>
                    <a:pt x="15239" y="185928"/>
                  </a:lnTo>
                  <a:lnTo>
                    <a:pt x="0" y="124968"/>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39" name="Graphic 117"/>
            <p:cNvSpPr/>
            <p:nvPr/>
          </p:nvSpPr>
          <p:spPr>
            <a:xfrm>
              <a:off x="2939033" y="1906523"/>
              <a:ext cx="254635" cy="251460"/>
            </a:xfrm>
            <a:custGeom>
              <a:avLst/>
              <a:gdLst/>
              <a:ahLst/>
              <a:cxnLst/>
              <a:rect l="l" t="t" r="r" b="b"/>
              <a:pathLst>
                <a:path w="254635" h="251460">
                  <a:moveTo>
                    <a:pt x="143255" y="0"/>
                  </a:moveTo>
                  <a:lnTo>
                    <a:pt x="112775" y="0"/>
                  </a:lnTo>
                  <a:lnTo>
                    <a:pt x="82296" y="6095"/>
                  </a:lnTo>
                  <a:lnTo>
                    <a:pt x="30479" y="41148"/>
                  </a:lnTo>
                  <a:lnTo>
                    <a:pt x="3048" y="94487"/>
                  </a:lnTo>
                  <a:lnTo>
                    <a:pt x="0" y="124968"/>
                  </a:lnTo>
                  <a:lnTo>
                    <a:pt x="3048" y="155448"/>
                  </a:lnTo>
                  <a:lnTo>
                    <a:pt x="30479" y="208787"/>
                  </a:lnTo>
                  <a:lnTo>
                    <a:pt x="82296" y="243840"/>
                  </a:lnTo>
                  <a:lnTo>
                    <a:pt x="112775" y="251459"/>
                  </a:lnTo>
                  <a:lnTo>
                    <a:pt x="143255" y="251459"/>
                  </a:lnTo>
                  <a:lnTo>
                    <a:pt x="198120" y="230124"/>
                  </a:lnTo>
                  <a:lnTo>
                    <a:pt x="239267" y="185928"/>
                  </a:lnTo>
                  <a:lnTo>
                    <a:pt x="254508" y="124968"/>
                  </a:lnTo>
                  <a:lnTo>
                    <a:pt x="249936" y="94487"/>
                  </a:lnTo>
                  <a:lnTo>
                    <a:pt x="222503" y="41148"/>
                  </a:lnTo>
                  <a:lnTo>
                    <a:pt x="172212" y="6095"/>
                  </a:lnTo>
                  <a:lnTo>
                    <a:pt x="143255"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40" name="Graphic 118"/>
            <p:cNvSpPr/>
            <p:nvPr/>
          </p:nvSpPr>
          <p:spPr>
            <a:xfrm>
              <a:off x="2939033" y="1906523"/>
              <a:ext cx="254635" cy="251460"/>
            </a:xfrm>
            <a:custGeom>
              <a:avLst/>
              <a:gdLst/>
              <a:ahLst/>
              <a:cxnLst/>
              <a:rect l="l" t="t" r="r" b="b"/>
              <a:pathLst>
                <a:path w="254635" h="251460">
                  <a:moveTo>
                    <a:pt x="0" y="124968"/>
                  </a:moveTo>
                  <a:lnTo>
                    <a:pt x="13715" y="67056"/>
                  </a:lnTo>
                  <a:lnTo>
                    <a:pt x="54863" y="21336"/>
                  </a:lnTo>
                  <a:lnTo>
                    <a:pt x="112775" y="0"/>
                  </a:lnTo>
                  <a:lnTo>
                    <a:pt x="143255" y="0"/>
                  </a:lnTo>
                  <a:lnTo>
                    <a:pt x="198120" y="21336"/>
                  </a:lnTo>
                  <a:lnTo>
                    <a:pt x="239267" y="67056"/>
                  </a:lnTo>
                  <a:lnTo>
                    <a:pt x="254508" y="124968"/>
                  </a:lnTo>
                  <a:lnTo>
                    <a:pt x="249936" y="155448"/>
                  </a:lnTo>
                  <a:lnTo>
                    <a:pt x="222503" y="208787"/>
                  </a:lnTo>
                  <a:lnTo>
                    <a:pt x="172212" y="243840"/>
                  </a:lnTo>
                  <a:lnTo>
                    <a:pt x="143255" y="251459"/>
                  </a:lnTo>
                  <a:lnTo>
                    <a:pt x="112775" y="251459"/>
                  </a:lnTo>
                  <a:lnTo>
                    <a:pt x="54863" y="230124"/>
                  </a:lnTo>
                  <a:lnTo>
                    <a:pt x="13715" y="185928"/>
                  </a:lnTo>
                  <a:lnTo>
                    <a:pt x="0" y="124968"/>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pic>
          <p:nvPicPr>
            <p:cNvPr id="41" name="Image 119"/>
            <p:cNvPicPr/>
            <p:nvPr/>
          </p:nvPicPr>
          <p:blipFill>
            <a:blip r:embed="rId4" cstate="print"/>
            <a:stretch>
              <a:fillRect/>
            </a:stretch>
          </p:blipFill>
          <p:spPr>
            <a:xfrm>
              <a:off x="401574" y="1397508"/>
              <a:ext cx="252984" cy="252984"/>
            </a:xfrm>
            <a:prstGeom prst="rect">
              <a:avLst/>
            </a:prstGeom>
          </p:spPr>
        </p:pic>
        <p:sp>
          <p:nvSpPr>
            <p:cNvPr id="42" name="Graphic 120"/>
            <p:cNvSpPr/>
            <p:nvPr/>
          </p:nvSpPr>
          <p:spPr>
            <a:xfrm>
              <a:off x="401574" y="1397508"/>
              <a:ext cx="253365" cy="253365"/>
            </a:xfrm>
            <a:custGeom>
              <a:avLst/>
              <a:gdLst/>
              <a:ahLst/>
              <a:cxnLst/>
              <a:rect l="l" t="t" r="r" b="b"/>
              <a:pathLst>
                <a:path w="253365" h="253365">
                  <a:moveTo>
                    <a:pt x="0" y="126492"/>
                  </a:moveTo>
                  <a:lnTo>
                    <a:pt x="12192" y="68580"/>
                  </a:lnTo>
                  <a:lnTo>
                    <a:pt x="53340" y="21336"/>
                  </a:lnTo>
                  <a:lnTo>
                    <a:pt x="109728" y="0"/>
                  </a:lnTo>
                  <a:lnTo>
                    <a:pt x="141731" y="0"/>
                  </a:lnTo>
                  <a:lnTo>
                    <a:pt x="196596" y="21336"/>
                  </a:lnTo>
                  <a:lnTo>
                    <a:pt x="237744" y="68580"/>
                  </a:lnTo>
                  <a:lnTo>
                    <a:pt x="252984" y="126492"/>
                  </a:lnTo>
                  <a:lnTo>
                    <a:pt x="248412" y="156972"/>
                  </a:lnTo>
                  <a:lnTo>
                    <a:pt x="220980" y="210312"/>
                  </a:lnTo>
                  <a:lnTo>
                    <a:pt x="170687" y="245364"/>
                  </a:lnTo>
                  <a:lnTo>
                    <a:pt x="141731" y="252984"/>
                  </a:lnTo>
                  <a:lnTo>
                    <a:pt x="109728" y="252984"/>
                  </a:lnTo>
                  <a:lnTo>
                    <a:pt x="53340" y="231648"/>
                  </a:lnTo>
                  <a:lnTo>
                    <a:pt x="12192" y="184404"/>
                  </a:lnTo>
                  <a:lnTo>
                    <a:pt x="0" y="126492"/>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43" name="Graphic 121"/>
            <p:cNvSpPr/>
            <p:nvPr/>
          </p:nvSpPr>
          <p:spPr>
            <a:xfrm>
              <a:off x="1922526" y="1397508"/>
              <a:ext cx="254635" cy="253365"/>
            </a:xfrm>
            <a:custGeom>
              <a:avLst/>
              <a:gdLst/>
              <a:ahLst/>
              <a:cxnLst/>
              <a:rect l="l" t="t" r="r" b="b"/>
              <a:pathLst>
                <a:path w="254635" h="253365">
                  <a:moveTo>
                    <a:pt x="141732" y="0"/>
                  </a:moveTo>
                  <a:lnTo>
                    <a:pt x="112775" y="0"/>
                  </a:lnTo>
                  <a:lnTo>
                    <a:pt x="82296" y="7620"/>
                  </a:lnTo>
                  <a:lnTo>
                    <a:pt x="32004" y="42672"/>
                  </a:lnTo>
                  <a:lnTo>
                    <a:pt x="4572" y="96012"/>
                  </a:lnTo>
                  <a:lnTo>
                    <a:pt x="0" y="126492"/>
                  </a:lnTo>
                  <a:lnTo>
                    <a:pt x="4572" y="156972"/>
                  </a:lnTo>
                  <a:lnTo>
                    <a:pt x="32004" y="210312"/>
                  </a:lnTo>
                  <a:lnTo>
                    <a:pt x="82296" y="245364"/>
                  </a:lnTo>
                  <a:lnTo>
                    <a:pt x="112775" y="252984"/>
                  </a:lnTo>
                  <a:lnTo>
                    <a:pt x="141732" y="252984"/>
                  </a:lnTo>
                  <a:lnTo>
                    <a:pt x="199644" y="231648"/>
                  </a:lnTo>
                  <a:lnTo>
                    <a:pt x="240792" y="184404"/>
                  </a:lnTo>
                  <a:lnTo>
                    <a:pt x="254508" y="126492"/>
                  </a:lnTo>
                  <a:lnTo>
                    <a:pt x="251460" y="96012"/>
                  </a:lnTo>
                  <a:lnTo>
                    <a:pt x="222504" y="42672"/>
                  </a:lnTo>
                  <a:lnTo>
                    <a:pt x="172212" y="7620"/>
                  </a:lnTo>
                  <a:lnTo>
                    <a:pt x="141732"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44" name="Graphic 122"/>
            <p:cNvSpPr/>
            <p:nvPr/>
          </p:nvSpPr>
          <p:spPr>
            <a:xfrm>
              <a:off x="1922526" y="1397508"/>
              <a:ext cx="254635" cy="253365"/>
            </a:xfrm>
            <a:custGeom>
              <a:avLst/>
              <a:gdLst/>
              <a:ahLst/>
              <a:cxnLst/>
              <a:rect l="l" t="t" r="r" b="b"/>
              <a:pathLst>
                <a:path w="254635" h="253365">
                  <a:moveTo>
                    <a:pt x="0" y="126492"/>
                  </a:moveTo>
                  <a:lnTo>
                    <a:pt x="15239" y="68580"/>
                  </a:lnTo>
                  <a:lnTo>
                    <a:pt x="56387" y="21336"/>
                  </a:lnTo>
                  <a:lnTo>
                    <a:pt x="112775" y="0"/>
                  </a:lnTo>
                  <a:lnTo>
                    <a:pt x="141732" y="0"/>
                  </a:lnTo>
                  <a:lnTo>
                    <a:pt x="199644" y="21336"/>
                  </a:lnTo>
                  <a:lnTo>
                    <a:pt x="240792" y="68580"/>
                  </a:lnTo>
                  <a:lnTo>
                    <a:pt x="254508" y="126492"/>
                  </a:lnTo>
                  <a:lnTo>
                    <a:pt x="251460" y="156972"/>
                  </a:lnTo>
                  <a:lnTo>
                    <a:pt x="222504" y="210312"/>
                  </a:lnTo>
                  <a:lnTo>
                    <a:pt x="172212" y="245364"/>
                  </a:lnTo>
                  <a:lnTo>
                    <a:pt x="141732" y="252984"/>
                  </a:lnTo>
                  <a:lnTo>
                    <a:pt x="112775" y="252984"/>
                  </a:lnTo>
                  <a:lnTo>
                    <a:pt x="56387" y="231648"/>
                  </a:lnTo>
                  <a:lnTo>
                    <a:pt x="15239" y="184404"/>
                  </a:lnTo>
                  <a:lnTo>
                    <a:pt x="0" y="126492"/>
                  </a:lnTo>
                  <a:close/>
                </a:path>
              </a:pathLst>
            </a:custGeom>
            <a:ln w="12191">
              <a:solidFill>
                <a:srgbClr val="000000"/>
              </a:solidFill>
              <a:prstDash val="solid"/>
            </a:ln>
          </p:spPr>
          <p:txBody>
            <a:bodyPr wrap="square" lIns="0" tIns="0" rIns="0" bIns="0" rtlCol="0">
              <a:prstTxWarp prst="textNoShape">
                <a:avLst/>
              </a:prstTxWarp>
              <a:noAutofit/>
            </a:bodyPr>
            <a:lstStyle/>
            <a:p>
              <a:endParaRPr lang="en-US"/>
            </a:p>
          </p:txBody>
        </p:sp>
        <p:sp>
          <p:nvSpPr>
            <p:cNvPr id="45" name="Graphic 123"/>
            <p:cNvSpPr/>
            <p:nvPr/>
          </p:nvSpPr>
          <p:spPr>
            <a:xfrm>
              <a:off x="2430017" y="1397508"/>
              <a:ext cx="256540" cy="253365"/>
            </a:xfrm>
            <a:custGeom>
              <a:avLst/>
              <a:gdLst/>
              <a:ahLst/>
              <a:cxnLst/>
              <a:rect l="l" t="t" r="r" b="b"/>
              <a:pathLst>
                <a:path w="256540" h="253365">
                  <a:moveTo>
                    <a:pt x="144779" y="0"/>
                  </a:moveTo>
                  <a:lnTo>
                    <a:pt x="111251" y="0"/>
                  </a:lnTo>
                  <a:lnTo>
                    <a:pt x="83819" y="7620"/>
                  </a:lnTo>
                  <a:lnTo>
                    <a:pt x="32003" y="42672"/>
                  </a:lnTo>
                  <a:lnTo>
                    <a:pt x="4571" y="96012"/>
                  </a:lnTo>
                  <a:lnTo>
                    <a:pt x="0" y="126492"/>
                  </a:lnTo>
                  <a:lnTo>
                    <a:pt x="4571" y="156972"/>
                  </a:lnTo>
                  <a:lnTo>
                    <a:pt x="32003" y="210312"/>
                  </a:lnTo>
                  <a:lnTo>
                    <a:pt x="83819" y="245364"/>
                  </a:lnTo>
                  <a:lnTo>
                    <a:pt x="111251" y="252984"/>
                  </a:lnTo>
                  <a:lnTo>
                    <a:pt x="144779" y="252984"/>
                  </a:lnTo>
                  <a:lnTo>
                    <a:pt x="199643" y="231648"/>
                  </a:lnTo>
                  <a:lnTo>
                    <a:pt x="240791" y="184404"/>
                  </a:lnTo>
                  <a:lnTo>
                    <a:pt x="256031" y="126492"/>
                  </a:lnTo>
                  <a:lnTo>
                    <a:pt x="251459" y="96012"/>
                  </a:lnTo>
                  <a:lnTo>
                    <a:pt x="224027" y="42672"/>
                  </a:lnTo>
                  <a:lnTo>
                    <a:pt x="172212" y="7620"/>
                  </a:lnTo>
                  <a:lnTo>
                    <a:pt x="144779"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46" name="Graphic 124"/>
            <p:cNvSpPr/>
            <p:nvPr/>
          </p:nvSpPr>
          <p:spPr>
            <a:xfrm>
              <a:off x="2430017" y="1397508"/>
              <a:ext cx="256540" cy="253365"/>
            </a:xfrm>
            <a:custGeom>
              <a:avLst/>
              <a:gdLst/>
              <a:ahLst/>
              <a:cxnLst/>
              <a:rect l="l" t="t" r="r" b="b"/>
              <a:pathLst>
                <a:path w="256540" h="253365">
                  <a:moveTo>
                    <a:pt x="0" y="126492"/>
                  </a:moveTo>
                  <a:lnTo>
                    <a:pt x="15239" y="68580"/>
                  </a:lnTo>
                  <a:lnTo>
                    <a:pt x="56387" y="21336"/>
                  </a:lnTo>
                  <a:lnTo>
                    <a:pt x="111251" y="0"/>
                  </a:lnTo>
                  <a:lnTo>
                    <a:pt x="144779" y="0"/>
                  </a:lnTo>
                  <a:lnTo>
                    <a:pt x="199643" y="21336"/>
                  </a:lnTo>
                  <a:lnTo>
                    <a:pt x="240791" y="68580"/>
                  </a:lnTo>
                  <a:lnTo>
                    <a:pt x="256031" y="126492"/>
                  </a:lnTo>
                  <a:lnTo>
                    <a:pt x="251459" y="156972"/>
                  </a:lnTo>
                  <a:lnTo>
                    <a:pt x="224027" y="210312"/>
                  </a:lnTo>
                  <a:lnTo>
                    <a:pt x="172212" y="245364"/>
                  </a:lnTo>
                  <a:lnTo>
                    <a:pt x="144779" y="252984"/>
                  </a:lnTo>
                  <a:lnTo>
                    <a:pt x="111251" y="252984"/>
                  </a:lnTo>
                  <a:lnTo>
                    <a:pt x="56387" y="231648"/>
                  </a:lnTo>
                  <a:lnTo>
                    <a:pt x="15239" y="184404"/>
                  </a:lnTo>
                  <a:lnTo>
                    <a:pt x="0" y="126492"/>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47" name="Graphic 125"/>
            <p:cNvSpPr/>
            <p:nvPr/>
          </p:nvSpPr>
          <p:spPr>
            <a:xfrm>
              <a:off x="2939033" y="1397508"/>
              <a:ext cx="254635" cy="253365"/>
            </a:xfrm>
            <a:custGeom>
              <a:avLst/>
              <a:gdLst/>
              <a:ahLst/>
              <a:cxnLst/>
              <a:rect l="l" t="t" r="r" b="b"/>
              <a:pathLst>
                <a:path w="254635" h="253365">
                  <a:moveTo>
                    <a:pt x="143255" y="0"/>
                  </a:moveTo>
                  <a:lnTo>
                    <a:pt x="112775" y="0"/>
                  </a:lnTo>
                  <a:lnTo>
                    <a:pt x="82296" y="7620"/>
                  </a:lnTo>
                  <a:lnTo>
                    <a:pt x="30479" y="42672"/>
                  </a:lnTo>
                  <a:lnTo>
                    <a:pt x="3048" y="96012"/>
                  </a:lnTo>
                  <a:lnTo>
                    <a:pt x="0" y="126492"/>
                  </a:lnTo>
                  <a:lnTo>
                    <a:pt x="3048" y="156972"/>
                  </a:lnTo>
                  <a:lnTo>
                    <a:pt x="30479" y="210312"/>
                  </a:lnTo>
                  <a:lnTo>
                    <a:pt x="82296" y="245364"/>
                  </a:lnTo>
                  <a:lnTo>
                    <a:pt x="112775" y="252984"/>
                  </a:lnTo>
                  <a:lnTo>
                    <a:pt x="143255" y="252984"/>
                  </a:lnTo>
                  <a:lnTo>
                    <a:pt x="198120" y="231648"/>
                  </a:lnTo>
                  <a:lnTo>
                    <a:pt x="239267" y="184404"/>
                  </a:lnTo>
                  <a:lnTo>
                    <a:pt x="254508" y="126492"/>
                  </a:lnTo>
                  <a:lnTo>
                    <a:pt x="249936" y="96012"/>
                  </a:lnTo>
                  <a:lnTo>
                    <a:pt x="222503" y="42672"/>
                  </a:lnTo>
                  <a:lnTo>
                    <a:pt x="172212" y="7620"/>
                  </a:lnTo>
                  <a:lnTo>
                    <a:pt x="143255"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48" name="Graphic 126"/>
            <p:cNvSpPr/>
            <p:nvPr/>
          </p:nvSpPr>
          <p:spPr>
            <a:xfrm>
              <a:off x="2939033" y="1397508"/>
              <a:ext cx="254635" cy="253365"/>
            </a:xfrm>
            <a:custGeom>
              <a:avLst/>
              <a:gdLst/>
              <a:ahLst/>
              <a:cxnLst/>
              <a:rect l="l" t="t" r="r" b="b"/>
              <a:pathLst>
                <a:path w="254635" h="253365">
                  <a:moveTo>
                    <a:pt x="0" y="126492"/>
                  </a:moveTo>
                  <a:lnTo>
                    <a:pt x="13715" y="68580"/>
                  </a:lnTo>
                  <a:lnTo>
                    <a:pt x="54863" y="21336"/>
                  </a:lnTo>
                  <a:lnTo>
                    <a:pt x="112775" y="0"/>
                  </a:lnTo>
                  <a:lnTo>
                    <a:pt x="143255" y="0"/>
                  </a:lnTo>
                  <a:lnTo>
                    <a:pt x="198120" y="21336"/>
                  </a:lnTo>
                  <a:lnTo>
                    <a:pt x="239267" y="68580"/>
                  </a:lnTo>
                  <a:lnTo>
                    <a:pt x="254508" y="126492"/>
                  </a:lnTo>
                  <a:lnTo>
                    <a:pt x="249936" y="156972"/>
                  </a:lnTo>
                  <a:lnTo>
                    <a:pt x="222503" y="210312"/>
                  </a:lnTo>
                  <a:lnTo>
                    <a:pt x="172212" y="245364"/>
                  </a:lnTo>
                  <a:lnTo>
                    <a:pt x="143255" y="252984"/>
                  </a:lnTo>
                  <a:lnTo>
                    <a:pt x="112775" y="252984"/>
                  </a:lnTo>
                  <a:lnTo>
                    <a:pt x="54863" y="231648"/>
                  </a:lnTo>
                  <a:lnTo>
                    <a:pt x="13715" y="184404"/>
                  </a:lnTo>
                  <a:lnTo>
                    <a:pt x="0" y="126492"/>
                  </a:lnTo>
                  <a:close/>
                </a:path>
              </a:pathLst>
            </a:custGeom>
            <a:ln w="12191">
              <a:solidFill>
                <a:srgbClr val="000000"/>
              </a:solidFill>
              <a:prstDash val="solid"/>
            </a:ln>
          </p:spPr>
          <p:txBody>
            <a:bodyPr wrap="square" lIns="0" tIns="0" rIns="0" bIns="0" rtlCol="0">
              <a:prstTxWarp prst="textNoShape">
                <a:avLst/>
              </a:prstTxWarp>
              <a:noAutofit/>
            </a:bodyPr>
            <a:lstStyle/>
            <a:p>
              <a:endParaRPr lang="en-US"/>
            </a:p>
          </p:txBody>
        </p:sp>
        <p:pic>
          <p:nvPicPr>
            <p:cNvPr id="49" name="Image 127"/>
            <p:cNvPicPr/>
            <p:nvPr/>
          </p:nvPicPr>
          <p:blipFill>
            <a:blip r:embed="rId5" cstate="print"/>
            <a:stretch>
              <a:fillRect/>
            </a:stretch>
          </p:blipFill>
          <p:spPr>
            <a:xfrm>
              <a:off x="401574" y="890016"/>
              <a:ext cx="252984" cy="251459"/>
            </a:xfrm>
            <a:prstGeom prst="rect">
              <a:avLst/>
            </a:prstGeom>
          </p:spPr>
        </p:pic>
        <p:sp>
          <p:nvSpPr>
            <p:cNvPr id="50" name="Graphic 128"/>
            <p:cNvSpPr/>
            <p:nvPr/>
          </p:nvSpPr>
          <p:spPr>
            <a:xfrm>
              <a:off x="401574" y="890016"/>
              <a:ext cx="253365" cy="251460"/>
            </a:xfrm>
            <a:custGeom>
              <a:avLst/>
              <a:gdLst/>
              <a:ahLst/>
              <a:cxnLst/>
              <a:rect l="l" t="t" r="r" b="b"/>
              <a:pathLst>
                <a:path w="253365" h="251460">
                  <a:moveTo>
                    <a:pt x="0" y="126491"/>
                  </a:moveTo>
                  <a:lnTo>
                    <a:pt x="12192" y="67055"/>
                  </a:lnTo>
                  <a:lnTo>
                    <a:pt x="53340" y="21335"/>
                  </a:lnTo>
                  <a:lnTo>
                    <a:pt x="109728" y="0"/>
                  </a:lnTo>
                  <a:lnTo>
                    <a:pt x="141731" y="0"/>
                  </a:lnTo>
                  <a:lnTo>
                    <a:pt x="196596" y="21335"/>
                  </a:lnTo>
                  <a:lnTo>
                    <a:pt x="237744" y="67055"/>
                  </a:lnTo>
                  <a:lnTo>
                    <a:pt x="252984" y="126491"/>
                  </a:lnTo>
                  <a:lnTo>
                    <a:pt x="248412" y="156971"/>
                  </a:lnTo>
                  <a:lnTo>
                    <a:pt x="220980" y="210311"/>
                  </a:lnTo>
                  <a:lnTo>
                    <a:pt x="170687" y="245363"/>
                  </a:lnTo>
                  <a:lnTo>
                    <a:pt x="141731" y="251459"/>
                  </a:lnTo>
                  <a:lnTo>
                    <a:pt x="109728" y="251459"/>
                  </a:lnTo>
                  <a:lnTo>
                    <a:pt x="53340" y="230123"/>
                  </a:lnTo>
                  <a:lnTo>
                    <a:pt x="12192" y="184403"/>
                  </a:lnTo>
                  <a:lnTo>
                    <a:pt x="0" y="126491"/>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51" name="Graphic 129"/>
            <p:cNvSpPr/>
            <p:nvPr/>
          </p:nvSpPr>
          <p:spPr>
            <a:xfrm>
              <a:off x="907541" y="890016"/>
              <a:ext cx="254635" cy="251460"/>
            </a:xfrm>
            <a:custGeom>
              <a:avLst/>
              <a:gdLst/>
              <a:ahLst/>
              <a:cxnLst/>
              <a:rect l="l" t="t" r="r" b="b"/>
              <a:pathLst>
                <a:path w="254635" h="251460">
                  <a:moveTo>
                    <a:pt x="143256" y="0"/>
                  </a:moveTo>
                  <a:lnTo>
                    <a:pt x="112775" y="0"/>
                  </a:lnTo>
                  <a:lnTo>
                    <a:pt x="82295" y="7619"/>
                  </a:lnTo>
                  <a:lnTo>
                    <a:pt x="33528" y="42671"/>
                  </a:lnTo>
                  <a:lnTo>
                    <a:pt x="3048" y="96011"/>
                  </a:lnTo>
                  <a:lnTo>
                    <a:pt x="0" y="126491"/>
                  </a:lnTo>
                  <a:lnTo>
                    <a:pt x="3048" y="156971"/>
                  </a:lnTo>
                  <a:lnTo>
                    <a:pt x="33528" y="210311"/>
                  </a:lnTo>
                  <a:lnTo>
                    <a:pt x="82295" y="245363"/>
                  </a:lnTo>
                  <a:lnTo>
                    <a:pt x="112775" y="251459"/>
                  </a:lnTo>
                  <a:lnTo>
                    <a:pt x="143256" y="251459"/>
                  </a:lnTo>
                  <a:lnTo>
                    <a:pt x="198119" y="230123"/>
                  </a:lnTo>
                  <a:lnTo>
                    <a:pt x="239268" y="184403"/>
                  </a:lnTo>
                  <a:lnTo>
                    <a:pt x="254507" y="126491"/>
                  </a:lnTo>
                  <a:lnTo>
                    <a:pt x="249936" y="96011"/>
                  </a:lnTo>
                  <a:lnTo>
                    <a:pt x="222504" y="42671"/>
                  </a:lnTo>
                  <a:lnTo>
                    <a:pt x="172212" y="7619"/>
                  </a:lnTo>
                  <a:lnTo>
                    <a:pt x="143256"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52" name="Graphic 130"/>
            <p:cNvSpPr/>
            <p:nvPr/>
          </p:nvSpPr>
          <p:spPr>
            <a:xfrm>
              <a:off x="907541" y="890016"/>
              <a:ext cx="254635" cy="251460"/>
            </a:xfrm>
            <a:custGeom>
              <a:avLst/>
              <a:gdLst/>
              <a:ahLst/>
              <a:cxnLst/>
              <a:rect l="l" t="t" r="r" b="b"/>
              <a:pathLst>
                <a:path w="254635" h="251460">
                  <a:moveTo>
                    <a:pt x="0" y="126491"/>
                  </a:moveTo>
                  <a:lnTo>
                    <a:pt x="15240" y="67055"/>
                  </a:lnTo>
                  <a:lnTo>
                    <a:pt x="54863" y="21335"/>
                  </a:lnTo>
                  <a:lnTo>
                    <a:pt x="112775" y="0"/>
                  </a:lnTo>
                  <a:lnTo>
                    <a:pt x="143256" y="0"/>
                  </a:lnTo>
                  <a:lnTo>
                    <a:pt x="198119" y="21335"/>
                  </a:lnTo>
                  <a:lnTo>
                    <a:pt x="239268" y="67055"/>
                  </a:lnTo>
                  <a:lnTo>
                    <a:pt x="254507" y="126491"/>
                  </a:lnTo>
                  <a:lnTo>
                    <a:pt x="249936" y="156971"/>
                  </a:lnTo>
                  <a:lnTo>
                    <a:pt x="222504" y="210311"/>
                  </a:lnTo>
                  <a:lnTo>
                    <a:pt x="172212" y="245363"/>
                  </a:lnTo>
                  <a:lnTo>
                    <a:pt x="143256" y="251459"/>
                  </a:lnTo>
                  <a:lnTo>
                    <a:pt x="112775" y="251459"/>
                  </a:lnTo>
                  <a:lnTo>
                    <a:pt x="54863" y="230123"/>
                  </a:lnTo>
                  <a:lnTo>
                    <a:pt x="15240" y="184403"/>
                  </a:lnTo>
                  <a:lnTo>
                    <a:pt x="0" y="126491"/>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53" name="Graphic 131"/>
            <p:cNvSpPr/>
            <p:nvPr/>
          </p:nvSpPr>
          <p:spPr>
            <a:xfrm>
              <a:off x="1415033" y="890016"/>
              <a:ext cx="254635" cy="251460"/>
            </a:xfrm>
            <a:custGeom>
              <a:avLst/>
              <a:gdLst/>
              <a:ahLst/>
              <a:cxnLst/>
              <a:rect l="l" t="t" r="r" b="b"/>
              <a:pathLst>
                <a:path w="254635" h="251460">
                  <a:moveTo>
                    <a:pt x="141731" y="0"/>
                  </a:moveTo>
                  <a:lnTo>
                    <a:pt x="112775" y="0"/>
                  </a:lnTo>
                  <a:lnTo>
                    <a:pt x="82296" y="7619"/>
                  </a:lnTo>
                  <a:lnTo>
                    <a:pt x="33527" y="42671"/>
                  </a:lnTo>
                  <a:lnTo>
                    <a:pt x="4572" y="96011"/>
                  </a:lnTo>
                  <a:lnTo>
                    <a:pt x="0" y="126491"/>
                  </a:lnTo>
                  <a:lnTo>
                    <a:pt x="4572" y="156971"/>
                  </a:lnTo>
                  <a:lnTo>
                    <a:pt x="33527" y="210311"/>
                  </a:lnTo>
                  <a:lnTo>
                    <a:pt x="82296" y="245363"/>
                  </a:lnTo>
                  <a:lnTo>
                    <a:pt x="112775" y="251459"/>
                  </a:lnTo>
                  <a:lnTo>
                    <a:pt x="141731" y="251459"/>
                  </a:lnTo>
                  <a:lnTo>
                    <a:pt x="201167" y="230123"/>
                  </a:lnTo>
                  <a:lnTo>
                    <a:pt x="239267" y="184403"/>
                  </a:lnTo>
                  <a:lnTo>
                    <a:pt x="254508" y="126491"/>
                  </a:lnTo>
                  <a:lnTo>
                    <a:pt x="249936" y="96011"/>
                  </a:lnTo>
                  <a:lnTo>
                    <a:pt x="222503" y="42671"/>
                  </a:lnTo>
                  <a:lnTo>
                    <a:pt x="172212" y="7619"/>
                  </a:lnTo>
                  <a:lnTo>
                    <a:pt x="141731"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54" name="Graphic 132"/>
            <p:cNvSpPr/>
            <p:nvPr/>
          </p:nvSpPr>
          <p:spPr>
            <a:xfrm>
              <a:off x="1415033" y="890016"/>
              <a:ext cx="254635" cy="251460"/>
            </a:xfrm>
            <a:custGeom>
              <a:avLst/>
              <a:gdLst/>
              <a:ahLst/>
              <a:cxnLst/>
              <a:rect l="l" t="t" r="r" b="b"/>
              <a:pathLst>
                <a:path w="254635" h="251460">
                  <a:moveTo>
                    <a:pt x="0" y="126491"/>
                  </a:moveTo>
                  <a:lnTo>
                    <a:pt x="15239" y="67055"/>
                  </a:lnTo>
                  <a:lnTo>
                    <a:pt x="54863" y="21335"/>
                  </a:lnTo>
                  <a:lnTo>
                    <a:pt x="112775" y="0"/>
                  </a:lnTo>
                  <a:lnTo>
                    <a:pt x="141731" y="0"/>
                  </a:lnTo>
                  <a:lnTo>
                    <a:pt x="201167" y="21335"/>
                  </a:lnTo>
                  <a:lnTo>
                    <a:pt x="239267" y="67055"/>
                  </a:lnTo>
                  <a:lnTo>
                    <a:pt x="254508" y="126491"/>
                  </a:lnTo>
                  <a:lnTo>
                    <a:pt x="249936" y="156971"/>
                  </a:lnTo>
                  <a:lnTo>
                    <a:pt x="222503" y="210311"/>
                  </a:lnTo>
                  <a:lnTo>
                    <a:pt x="172212" y="245363"/>
                  </a:lnTo>
                  <a:lnTo>
                    <a:pt x="141731" y="251459"/>
                  </a:lnTo>
                  <a:lnTo>
                    <a:pt x="112775" y="251459"/>
                  </a:lnTo>
                  <a:lnTo>
                    <a:pt x="54863" y="230123"/>
                  </a:lnTo>
                  <a:lnTo>
                    <a:pt x="15239" y="184403"/>
                  </a:lnTo>
                  <a:lnTo>
                    <a:pt x="0" y="126491"/>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55" name="Graphic 133"/>
            <p:cNvSpPr/>
            <p:nvPr/>
          </p:nvSpPr>
          <p:spPr>
            <a:xfrm>
              <a:off x="2939033" y="890016"/>
              <a:ext cx="254635" cy="251460"/>
            </a:xfrm>
            <a:custGeom>
              <a:avLst/>
              <a:gdLst/>
              <a:ahLst/>
              <a:cxnLst/>
              <a:rect l="l" t="t" r="r" b="b"/>
              <a:pathLst>
                <a:path w="254635" h="251460">
                  <a:moveTo>
                    <a:pt x="143255" y="0"/>
                  </a:moveTo>
                  <a:lnTo>
                    <a:pt x="112775" y="0"/>
                  </a:lnTo>
                  <a:lnTo>
                    <a:pt x="82296" y="7619"/>
                  </a:lnTo>
                  <a:lnTo>
                    <a:pt x="30479" y="42671"/>
                  </a:lnTo>
                  <a:lnTo>
                    <a:pt x="3048" y="96011"/>
                  </a:lnTo>
                  <a:lnTo>
                    <a:pt x="0" y="126491"/>
                  </a:lnTo>
                  <a:lnTo>
                    <a:pt x="3048" y="156971"/>
                  </a:lnTo>
                  <a:lnTo>
                    <a:pt x="30479" y="210311"/>
                  </a:lnTo>
                  <a:lnTo>
                    <a:pt x="82296" y="245363"/>
                  </a:lnTo>
                  <a:lnTo>
                    <a:pt x="112775" y="251459"/>
                  </a:lnTo>
                  <a:lnTo>
                    <a:pt x="143255" y="251459"/>
                  </a:lnTo>
                  <a:lnTo>
                    <a:pt x="198120" y="230123"/>
                  </a:lnTo>
                  <a:lnTo>
                    <a:pt x="239267" y="184403"/>
                  </a:lnTo>
                  <a:lnTo>
                    <a:pt x="254508" y="126491"/>
                  </a:lnTo>
                  <a:lnTo>
                    <a:pt x="249936" y="96011"/>
                  </a:lnTo>
                  <a:lnTo>
                    <a:pt x="222503" y="42671"/>
                  </a:lnTo>
                  <a:lnTo>
                    <a:pt x="172212" y="7619"/>
                  </a:lnTo>
                  <a:lnTo>
                    <a:pt x="143255" y="0"/>
                  </a:lnTo>
                  <a:close/>
                </a:path>
              </a:pathLst>
            </a:custGeom>
            <a:solidFill>
              <a:srgbClr val="FFFFFF"/>
            </a:solidFill>
          </p:spPr>
          <p:txBody>
            <a:bodyPr wrap="square" lIns="0" tIns="0" rIns="0" bIns="0" rtlCol="0">
              <a:prstTxWarp prst="textNoShape">
                <a:avLst/>
              </a:prstTxWarp>
              <a:noAutofit/>
            </a:bodyPr>
            <a:lstStyle/>
            <a:p>
              <a:endParaRPr lang="en-US"/>
            </a:p>
          </p:txBody>
        </p:sp>
        <p:sp>
          <p:nvSpPr>
            <p:cNvPr id="56" name="Graphic 134"/>
            <p:cNvSpPr/>
            <p:nvPr/>
          </p:nvSpPr>
          <p:spPr>
            <a:xfrm>
              <a:off x="2939033" y="890016"/>
              <a:ext cx="254635" cy="251460"/>
            </a:xfrm>
            <a:custGeom>
              <a:avLst/>
              <a:gdLst/>
              <a:ahLst/>
              <a:cxnLst/>
              <a:rect l="l" t="t" r="r" b="b"/>
              <a:pathLst>
                <a:path w="254635" h="251460">
                  <a:moveTo>
                    <a:pt x="0" y="126491"/>
                  </a:moveTo>
                  <a:lnTo>
                    <a:pt x="13715" y="67055"/>
                  </a:lnTo>
                  <a:lnTo>
                    <a:pt x="54863" y="21335"/>
                  </a:lnTo>
                  <a:lnTo>
                    <a:pt x="112775" y="0"/>
                  </a:lnTo>
                  <a:lnTo>
                    <a:pt x="143255" y="0"/>
                  </a:lnTo>
                  <a:lnTo>
                    <a:pt x="198120" y="21335"/>
                  </a:lnTo>
                  <a:lnTo>
                    <a:pt x="239267" y="67055"/>
                  </a:lnTo>
                  <a:lnTo>
                    <a:pt x="254508" y="126491"/>
                  </a:lnTo>
                  <a:lnTo>
                    <a:pt x="249936" y="156971"/>
                  </a:lnTo>
                  <a:lnTo>
                    <a:pt x="222503" y="210311"/>
                  </a:lnTo>
                  <a:lnTo>
                    <a:pt x="172212" y="245363"/>
                  </a:lnTo>
                  <a:lnTo>
                    <a:pt x="143255" y="251459"/>
                  </a:lnTo>
                  <a:lnTo>
                    <a:pt x="112775" y="251459"/>
                  </a:lnTo>
                  <a:lnTo>
                    <a:pt x="54863" y="230123"/>
                  </a:lnTo>
                  <a:lnTo>
                    <a:pt x="13715" y="184403"/>
                  </a:lnTo>
                  <a:lnTo>
                    <a:pt x="0" y="126491"/>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57" name="Graphic 135"/>
            <p:cNvSpPr/>
            <p:nvPr/>
          </p:nvSpPr>
          <p:spPr>
            <a:xfrm>
              <a:off x="907541" y="1397508"/>
              <a:ext cx="254635" cy="253365"/>
            </a:xfrm>
            <a:custGeom>
              <a:avLst/>
              <a:gdLst/>
              <a:ahLst/>
              <a:cxnLst/>
              <a:rect l="l" t="t" r="r" b="b"/>
              <a:pathLst>
                <a:path w="254635" h="253365">
                  <a:moveTo>
                    <a:pt x="143256" y="0"/>
                  </a:moveTo>
                  <a:lnTo>
                    <a:pt x="112775" y="0"/>
                  </a:lnTo>
                  <a:lnTo>
                    <a:pt x="82295" y="7620"/>
                  </a:lnTo>
                  <a:lnTo>
                    <a:pt x="33528" y="42672"/>
                  </a:lnTo>
                  <a:lnTo>
                    <a:pt x="3048" y="96012"/>
                  </a:lnTo>
                  <a:lnTo>
                    <a:pt x="0" y="126492"/>
                  </a:lnTo>
                  <a:lnTo>
                    <a:pt x="3048" y="156972"/>
                  </a:lnTo>
                  <a:lnTo>
                    <a:pt x="33528" y="210312"/>
                  </a:lnTo>
                  <a:lnTo>
                    <a:pt x="82295" y="245364"/>
                  </a:lnTo>
                  <a:lnTo>
                    <a:pt x="112775" y="252984"/>
                  </a:lnTo>
                  <a:lnTo>
                    <a:pt x="143256" y="252984"/>
                  </a:lnTo>
                  <a:lnTo>
                    <a:pt x="198119" y="231648"/>
                  </a:lnTo>
                  <a:lnTo>
                    <a:pt x="239268" y="184404"/>
                  </a:lnTo>
                  <a:lnTo>
                    <a:pt x="254507" y="126492"/>
                  </a:lnTo>
                  <a:lnTo>
                    <a:pt x="249936" y="96012"/>
                  </a:lnTo>
                  <a:lnTo>
                    <a:pt x="222504" y="42672"/>
                  </a:lnTo>
                  <a:lnTo>
                    <a:pt x="172212" y="7620"/>
                  </a:lnTo>
                  <a:lnTo>
                    <a:pt x="143256" y="0"/>
                  </a:lnTo>
                  <a:close/>
                </a:path>
              </a:pathLst>
            </a:custGeom>
            <a:solidFill>
              <a:srgbClr val="000000"/>
            </a:solidFill>
          </p:spPr>
          <p:txBody>
            <a:bodyPr wrap="square" lIns="0" tIns="0" rIns="0" bIns="0" rtlCol="0">
              <a:prstTxWarp prst="textNoShape">
                <a:avLst/>
              </a:prstTxWarp>
              <a:noAutofit/>
            </a:bodyPr>
            <a:lstStyle/>
            <a:p>
              <a:endParaRPr lang="en-US"/>
            </a:p>
          </p:txBody>
        </p:sp>
        <p:sp>
          <p:nvSpPr>
            <p:cNvPr id="58" name="Graphic 136"/>
            <p:cNvSpPr/>
            <p:nvPr/>
          </p:nvSpPr>
          <p:spPr>
            <a:xfrm>
              <a:off x="907541" y="1397508"/>
              <a:ext cx="254635" cy="253365"/>
            </a:xfrm>
            <a:custGeom>
              <a:avLst/>
              <a:gdLst/>
              <a:ahLst/>
              <a:cxnLst/>
              <a:rect l="l" t="t" r="r" b="b"/>
              <a:pathLst>
                <a:path w="254635" h="253365">
                  <a:moveTo>
                    <a:pt x="0" y="126492"/>
                  </a:moveTo>
                  <a:lnTo>
                    <a:pt x="15240" y="68580"/>
                  </a:lnTo>
                  <a:lnTo>
                    <a:pt x="54863" y="21336"/>
                  </a:lnTo>
                  <a:lnTo>
                    <a:pt x="112775" y="0"/>
                  </a:lnTo>
                  <a:lnTo>
                    <a:pt x="143256" y="0"/>
                  </a:lnTo>
                  <a:lnTo>
                    <a:pt x="198119" y="21336"/>
                  </a:lnTo>
                  <a:lnTo>
                    <a:pt x="239268" y="68580"/>
                  </a:lnTo>
                  <a:lnTo>
                    <a:pt x="254507" y="126492"/>
                  </a:lnTo>
                  <a:lnTo>
                    <a:pt x="249936" y="156972"/>
                  </a:lnTo>
                  <a:lnTo>
                    <a:pt x="222504" y="210312"/>
                  </a:lnTo>
                  <a:lnTo>
                    <a:pt x="172212" y="245364"/>
                  </a:lnTo>
                  <a:lnTo>
                    <a:pt x="143256" y="252984"/>
                  </a:lnTo>
                  <a:lnTo>
                    <a:pt x="112775" y="252984"/>
                  </a:lnTo>
                  <a:lnTo>
                    <a:pt x="54863" y="231648"/>
                  </a:lnTo>
                  <a:lnTo>
                    <a:pt x="15240" y="184404"/>
                  </a:lnTo>
                  <a:lnTo>
                    <a:pt x="0" y="126492"/>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59" name="Graphic 137"/>
            <p:cNvSpPr/>
            <p:nvPr/>
          </p:nvSpPr>
          <p:spPr>
            <a:xfrm>
              <a:off x="1415033" y="1397508"/>
              <a:ext cx="254635" cy="253365"/>
            </a:xfrm>
            <a:custGeom>
              <a:avLst/>
              <a:gdLst/>
              <a:ahLst/>
              <a:cxnLst/>
              <a:rect l="l" t="t" r="r" b="b"/>
              <a:pathLst>
                <a:path w="254635" h="253365">
                  <a:moveTo>
                    <a:pt x="141731" y="0"/>
                  </a:moveTo>
                  <a:lnTo>
                    <a:pt x="112775" y="0"/>
                  </a:lnTo>
                  <a:lnTo>
                    <a:pt x="82296" y="7620"/>
                  </a:lnTo>
                  <a:lnTo>
                    <a:pt x="33527" y="42672"/>
                  </a:lnTo>
                  <a:lnTo>
                    <a:pt x="4572" y="96012"/>
                  </a:lnTo>
                  <a:lnTo>
                    <a:pt x="0" y="126492"/>
                  </a:lnTo>
                  <a:lnTo>
                    <a:pt x="4572" y="156972"/>
                  </a:lnTo>
                  <a:lnTo>
                    <a:pt x="33527" y="210312"/>
                  </a:lnTo>
                  <a:lnTo>
                    <a:pt x="82296" y="245364"/>
                  </a:lnTo>
                  <a:lnTo>
                    <a:pt x="112775" y="252984"/>
                  </a:lnTo>
                  <a:lnTo>
                    <a:pt x="141731" y="252984"/>
                  </a:lnTo>
                  <a:lnTo>
                    <a:pt x="201167" y="231648"/>
                  </a:lnTo>
                  <a:lnTo>
                    <a:pt x="239267" y="184404"/>
                  </a:lnTo>
                  <a:lnTo>
                    <a:pt x="254508" y="126492"/>
                  </a:lnTo>
                  <a:lnTo>
                    <a:pt x="249936" y="96012"/>
                  </a:lnTo>
                  <a:lnTo>
                    <a:pt x="222503" y="42672"/>
                  </a:lnTo>
                  <a:lnTo>
                    <a:pt x="172212" y="7620"/>
                  </a:lnTo>
                  <a:lnTo>
                    <a:pt x="141731" y="0"/>
                  </a:lnTo>
                  <a:close/>
                </a:path>
              </a:pathLst>
            </a:custGeom>
            <a:solidFill>
              <a:srgbClr val="000000"/>
            </a:solidFill>
          </p:spPr>
          <p:txBody>
            <a:bodyPr wrap="square" lIns="0" tIns="0" rIns="0" bIns="0" rtlCol="0">
              <a:prstTxWarp prst="textNoShape">
                <a:avLst/>
              </a:prstTxWarp>
              <a:noAutofit/>
            </a:bodyPr>
            <a:lstStyle/>
            <a:p>
              <a:endParaRPr lang="en-US"/>
            </a:p>
          </p:txBody>
        </p:sp>
        <p:sp>
          <p:nvSpPr>
            <p:cNvPr id="60" name="Graphic 138"/>
            <p:cNvSpPr/>
            <p:nvPr/>
          </p:nvSpPr>
          <p:spPr>
            <a:xfrm>
              <a:off x="1415033" y="1397508"/>
              <a:ext cx="254635" cy="253365"/>
            </a:xfrm>
            <a:custGeom>
              <a:avLst/>
              <a:gdLst/>
              <a:ahLst/>
              <a:cxnLst/>
              <a:rect l="l" t="t" r="r" b="b"/>
              <a:pathLst>
                <a:path w="254635" h="253365">
                  <a:moveTo>
                    <a:pt x="0" y="126492"/>
                  </a:moveTo>
                  <a:lnTo>
                    <a:pt x="15239" y="68580"/>
                  </a:lnTo>
                  <a:lnTo>
                    <a:pt x="54863" y="21336"/>
                  </a:lnTo>
                  <a:lnTo>
                    <a:pt x="112775" y="0"/>
                  </a:lnTo>
                  <a:lnTo>
                    <a:pt x="141731" y="0"/>
                  </a:lnTo>
                  <a:lnTo>
                    <a:pt x="201167" y="21336"/>
                  </a:lnTo>
                  <a:lnTo>
                    <a:pt x="239267" y="68580"/>
                  </a:lnTo>
                  <a:lnTo>
                    <a:pt x="254508" y="126492"/>
                  </a:lnTo>
                  <a:lnTo>
                    <a:pt x="249936" y="156972"/>
                  </a:lnTo>
                  <a:lnTo>
                    <a:pt x="222503" y="210312"/>
                  </a:lnTo>
                  <a:lnTo>
                    <a:pt x="172212" y="245364"/>
                  </a:lnTo>
                  <a:lnTo>
                    <a:pt x="141731" y="252984"/>
                  </a:lnTo>
                  <a:lnTo>
                    <a:pt x="112775" y="252984"/>
                  </a:lnTo>
                  <a:lnTo>
                    <a:pt x="54863" y="231648"/>
                  </a:lnTo>
                  <a:lnTo>
                    <a:pt x="15239" y="184404"/>
                  </a:lnTo>
                  <a:lnTo>
                    <a:pt x="0" y="126492"/>
                  </a:lnTo>
                  <a:close/>
                </a:path>
              </a:pathLst>
            </a:custGeom>
            <a:ln w="12191">
              <a:solidFill>
                <a:srgbClr val="000000"/>
              </a:solidFill>
              <a:prstDash val="solid"/>
            </a:ln>
          </p:spPr>
          <p:txBody>
            <a:bodyPr wrap="square" lIns="0" tIns="0" rIns="0" bIns="0" rtlCol="0">
              <a:prstTxWarp prst="textNoShape">
                <a:avLst/>
              </a:prstTxWarp>
              <a:noAutofit/>
            </a:bodyPr>
            <a:lstStyle/>
            <a:p>
              <a:endParaRPr lang="en-US"/>
            </a:p>
          </p:txBody>
        </p:sp>
        <p:sp>
          <p:nvSpPr>
            <p:cNvPr id="61" name="Graphic 139"/>
            <p:cNvSpPr/>
            <p:nvPr/>
          </p:nvSpPr>
          <p:spPr>
            <a:xfrm>
              <a:off x="1922526" y="890016"/>
              <a:ext cx="254635" cy="251460"/>
            </a:xfrm>
            <a:custGeom>
              <a:avLst/>
              <a:gdLst/>
              <a:ahLst/>
              <a:cxnLst/>
              <a:rect l="l" t="t" r="r" b="b"/>
              <a:pathLst>
                <a:path w="254635" h="251460">
                  <a:moveTo>
                    <a:pt x="141732" y="0"/>
                  </a:moveTo>
                  <a:lnTo>
                    <a:pt x="112775" y="0"/>
                  </a:lnTo>
                  <a:lnTo>
                    <a:pt x="82296" y="7619"/>
                  </a:lnTo>
                  <a:lnTo>
                    <a:pt x="32004" y="42671"/>
                  </a:lnTo>
                  <a:lnTo>
                    <a:pt x="4572" y="96011"/>
                  </a:lnTo>
                  <a:lnTo>
                    <a:pt x="0" y="126491"/>
                  </a:lnTo>
                  <a:lnTo>
                    <a:pt x="4572" y="156971"/>
                  </a:lnTo>
                  <a:lnTo>
                    <a:pt x="32004" y="210311"/>
                  </a:lnTo>
                  <a:lnTo>
                    <a:pt x="82296" y="245363"/>
                  </a:lnTo>
                  <a:lnTo>
                    <a:pt x="112775" y="251459"/>
                  </a:lnTo>
                  <a:lnTo>
                    <a:pt x="141732" y="251459"/>
                  </a:lnTo>
                  <a:lnTo>
                    <a:pt x="199644" y="230123"/>
                  </a:lnTo>
                  <a:lnTo>
                    <a:pt x="240792" y="184403"/>
                  </a:lnTo>
                  <a:lnTo>
                    <a:pt x="254508" y="126491"/>
                  </a:lnTo>
                  <a:lnTo>
                    <a:pt x="251460" y="96011"/>
                  </a:lnTo>
                  <a:lnTo>
                    <a:pt x="222504" y="42671"/>
                  </a:lnTo>
                  <a:lnTo>
                    <a:pt x="172212" y="7619"/>
                  </a:lnTo>
                  <a:lnTo>
                    <a:pt x="141732" y="0"/>
                  </a:lnTo>
                  <a:close/>
                </a:path>
              </a:pathLst>
            </a:custGeom>
            <a:solidFill>
              <a:srgbClr val="000000"/>
            </a:solidFill>
          </p:spPr>
          <p:txBody>
            <a:bodyPr wrap="square" lIns="0" tIns="0" rIns="0" bIns="0" rtlCol="0">
              <a:prstTxWarp prst="textNoShape">
                <a:avLst/>
              </a:prstTxWarp>
              <a:noAutofit/>
            </a:bodyPr>
            <a:lstStyle/>
            <a:p>
              <a:endParaRPr lang="en-US"/>
            </a:p>
          </p:txBody>
        </p:sp>
        <p:sp>
          <p:nvSpPr>
            <p:cNvPr id="62" name="Graphic 140"/>
            <p:cNvSpPr/>
            <p:nvPr/>
          </p:nvSpPr>
          <p:spPr>
            <a:xfrm>
              <a:off x="1922526" y="890016"/>
              <a:ext cx="254635" cy="251460"/>
            </a:xfrm>
            <a:custGeom>
              <a:avLst/>
              <a:gdLst/>
              <a:ahLst/>
              <a:cxnLst/>
              <a:rect l="l" t="t" r="r" b="b"/>
              <a:pathLst>
                <a:path w="254635" h="251460">
                  <a:moveTo>
                    <a:pt x="0" y="126491"/>
                  </a:moveTo>
                  <a:lnTo>
                    <a:pt x="15239" y="67055"/>
                  </a:lnTo>
                  <a:lnTo>
                    <a:pt x="56387" y="21335"/>
                  </a:lnTo>
                  <a:lnTo>
                    <a:pt x="112775" y="0"/>
                  </a:lnTo>
                  <a:lnTo>
                    <a:pt x="141732" y="0"/>
                  </a:lnTo>
                  <a:lnTo>
                    <a:pt x="199644" y="21335"/>
                  </a:lnTo>
                  <a:lnTo>
                    <a:pt x="240792" y="67055"/>
                  </a:lnTo>
                  <a:lnTo>
                    <a:pt x="254508" y="126491"/>
                  </a:lnTo>
                  <a:lnTo>
                    <a:pt x="251460" y="156971"/>
                  </a:lnTo>
                  <a:lnTo>
                    <a:pt x="222504" y="210311"/>
                  </a:lnTo>
                  <a:lnTo>
                    <a:pt x="172212" y="245363"/>
                  </a:lnTo>
                  <a:lnTo>
                    <a:pt x="141732" y="251459"/>
                  </a:lnTo>
                  <a:lnTo>
                    <a:pt x="112775" y="251459"/>
                  </a:lnTo>
                  <a:lnTo>
                    <a:pt x="56387" y="230123"/>
                  </a:lnTo>
                  <a:lnTo>
                    <a:pt x="15239" y="184403"/>
                  </a:lnTo>
                  <a:lnTo>
                    <a:pt x="0" y="126491"/>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sp>
          <p:nvSpPr>
            <p:cNvPr id="63" name="Graphic 141"/>
            <p:cNvSpPr/>
            <p:nvPr/>
          </p:nvSpPr>
          <p:spPr>
            <a:xfrm>
              <a:off x="2430017" y="890016"/>
              <a:ext cx="256540" cy="251460"/>
            </a:xfrm>
            <a:custGeom>
              <a:avLst/>
              <a:gdLst/>
              <a:ahLst/>
              <a:cxnLst/>
              <a:rect l="l" t="t" r="r" b="b"/>
              <a:pathLst>
                <a:path w="256540" h="251460">
                  <a:moveTo>
                    <a:pt x="144779" y="0"/>
                  </a:moveTo>
                  <a:lnTo>
                    <a:pt x="111251" y="0"/>
                  </a:lnTo>
                  <a:lnTo>
                    <a:pt x="83819" y="7619"/>
                  </a:lnTo>
                  <a:lnTo>
                    <a:pt x="32003" y="42671"/>
                  </a:lnTo>
                  <a:lnTo>
                    <a:pt x="4571" y="96011"/>
                  </a:lnTo>
                  <a:lnTo>
                    <a:pt x="0" y="126491"/>
                  </a:lnTo>
                  <a:lnTo>
                    <a:pt x="4571" y="156971"/>
                  </a:lnTo>
                  <a:lnTo>
                    <a:pt x="32003" y="210311"/>
                  </a:lnTo>
                  <a:lnTo>
                    <a:pt x="83819" y="245363"/>
                  </a:lnTo>
                  <a:lnTo>
                    <a:pt x="111251" y="251459"/>
                  </a:lnTo>
                  <a:lnTo>
                    <a:pt x="144779" y="251459"/>
                  </a:lnTo>
                  <a:lnTo>
                    <a:pt x="199643" y="230123"/>
                  </a:lnTo>
                  <a:lnTo>
                    <a:pt x="240791" y="184403"/>
                  </a:lnTo>
                  <a:lnTo>
                    <a:pt x="256031" y="126491"/>
                  </a:lnTo>
                  <a:lnTo>
                    <a:pt x="251459" y="96011"/>
                  </a:lnTo>
                  <a:lnTo>
                    <a:pt x="224027" y="42671"/>
                  </a:lnTo>
                  <a:lnTo>
                    <a:pt x="172212" y="7619"/>
                  </a:lnTo>
                  <a:lnTo>
                    <a:pt x="144779" y="0"/>
                  </a:lnTo>
                  <a:close/>
                </a:path>
              </a:pathLst>
            </a:custGeom>
            <a:solidFill>
              <a:srgbClr val="000000"/>
            </a:solidFill>
          </p:spPr>
          <p:txBody>
            <a:bodyPr wrap="square" lIns="0" tIns="0" rIns="0" bIns="0" rtlCol="0">
              <a:prstTxWarp prst="textNoShape">
                <a:avLst/>
              </a:prstTxWarp>
              <a:noAutofit/>
            </a:bodyPr>
            <a:lstStyle/>
            <a:p>
              <a:endParaRPr lang="en-US"/>
            </a:p>
          </p:txBody>
        </p:sp>
        <p:sp>
          <p:nvSpPr>
            <p:cNvPr id="64" name="Graphic 142"/>
            <p:cNvSpPr/>
            <p:nvPr/>
          </p:nvSpPr>
          <p:spPr>
            <a:xfrm>
              <a:off x="2430017" y="890016"/>
              <a:ext cx="256540" cy="251460"/>
            </a:xfrm>
            <a:custGeom>
              <a:avLst/>
              <a:gdLst/>
              <a:ahLst/>
              <a:cxnLst/>
              <a:rect l="l" t="t" r="r" b="b"/>
              <a:pathLst>
                <a:path w="256540" h="251460">
                  <a:moveTo>
                    <a:pt x="0" y="126491"/>
                  </a:moveTo>
                  <a:lnTo>
                    <a:pt x="15239" y="67055"/>
                  </a:lnTo>
                  <a:lnTo>
                    <a:pt x="56387" y="21335"/>
                  </a:lnTo>
                  <a:lnTo>
                    <a:pt x="111251" y="0"/>
                  </a:lnTo>
                  <a:lnTo>
                    <a:pt x="144779" y="0"/>
                  </a:lnTo>
                  <a:lnTo>
                    <a:pt x="199643" y="21335"/>
                  </a:lnTo>
                  <a:lnTo>
                    <a:pt x="240791" y="67055"/>
                  </a:lnTo>
                  <a:lnTo>
                    <a:pt x="256031" y="126491"/>
                  </a:lnTo>
                  <a:lnTo>
                    <a:pt x="251459" y="156971"/>
                  </a:lnTo>
                  <a:lnTo>
                    <a:pt x="224027" y="210311"/>
                  </a:lnTo>
                  <a:lnTo>
                    <a:pt x="172212" y="245363"/>
                  </a:lnTo>
                  <a:lnTo>
                    <a:pt x="144779" y="251459"/>
                  </a:lnTo>
                  <a:lnTo>
                    <a:pt x="111251" y="251459"/>
                  </a:lnTo>
                  <a:lnTo>
                    <a:pt x="56387" y="230123"/>
                  </a:lnTo>
                  <a:lnTo>
                    <a:pt x="15239" y="184403"/>
                  </a:lnTo>
                  <a:lnTo>
                    <a:pt x="0" y="126491"/>
                  </a:lnTo>
                  <a:close/>
                </a:path>
              </a:pathLst>
            </a:custGeom>
            <a:ln w="12192">
              <a:solidFill>
                <a:srgbClr val="000000"/>
              </a:solidFill>
              <a:prstDash val="solid"/>
            </a:ln>
          </p:spPr>
          <p:txBody>
            <a:bodyPr wrap="square" lIns="0" tIns="0" rIns="0" bIns="0" rtlCol="0">
              <a:prstTxWarp prst="textNoShape">
                <a:avLst/>
              </a:prstTxWarp>
              <a:noAutofit/>
            </a:bodyPr>
            <a:lstStyle/>
            <a:p>
              <a:endParaRPr lang="en-US"/>
            </a:p>
          </p:txBody>
        </p:sp>
      </p:grpSp>
      <p:sp>
        <p:nvSpPr>
          <p:cNvPr id="65" name="Rectangle 64"/>
          <p:cNvSpPr/>
          <p:nvPr/>
        </p:nvSpPr>
        <p:spPr>
          <a:xfrm>
            <a:off x="1559331" y="1445195"/>
            <a:ext cx="6084346" cy="5078313"/>
          </a:xfrm>
          <a:prstGeom prst="rect">
            <a:avLst/>
          </a:prstGeom>
        </p:spPr>
        <p:txBody>
          <a:bodyPr wrap="square">
            <a:spAutoFit/>
          </a:bodyPr>
          <a:lstStyle/>
          <a:p>
            <a:pPr marL="285750" indent="-285750">
              <a:buClr>
                <a:schemeClr val="accent1">
                  <a:lumMod val="75000"/>
                </a:schemeClr>
              </a:buClr>
              <a:buSzPct val="200000"/>
              <a:buFont typeface="Arial" panose="020B0604020202020204" pitchFamily="34" charset="0"/>
              <a:buChar char="•"/>
            </a:pPr>
            <a:r>
              <a:rPr lang="en-US">
                <a:latin typeface="VNI-Aptima" pitchFamily="2" charset="0"/>
                <a:cs typeface="Times New Roman" panose="02020603050405020304" pitchFamily="18" charset="0"/>
              </a:rPr>
              <a:t>Ñoái töôïng ñöôïc moâ taû trong heä toïa ñoä thöïc laø </a:t>
            </a:r>
            <a:r>
              <a:rPr lang="en-US" smtClean="0">
                <a:latin typeface="VNI-Aptima" pitchFamily="2" charset="0"/>
                <a:cs typeface="Times New Roman" panose="02020603050405020304" pitchFamily="18" charset="0"/>
              </a:rPr>
              <a:t>ñoái töôïng </a:t>
            </a:r>
            <a:r>
              <a:rPr lang="en-US">
                <a:latin typeface="VNI-Aptima" pitchFamily="2" charset="0"/>
                <a:cs typeface="Times New Roman" panose="02020603050405020304" pitchFamily="18" charset="0"/>
              </a:rPr>
              <a:t>lieân tuïc, coøn ñoái töôïng trong heä toïa ñoä thieát </a:t>
            </a:r>
            <a:r>
              <a:rPr lang="en-US" smtClean="0">
                <a:latin typeface="VNI-Aptima" pitchFamily="2" charset="0"/>
                <a:cs typeface="Times New Roman" panose="02020603050405020304" pitchFamily="18" charset="0"/>
              </a:rPr>
              <a:t>bò laø </a:t>
            </a:r>
            <a:r>
              <a:rPr lang="en-US">
                <a:latin typeface="VNI-Aptima" pitchFamily="2" charset="0"/>
                <a:cs typeface="Times New Roman" panose="02020603050405020304" pitchFamily="18" charset="0"/>
              </a:rPr>
              <a:t>ñoái töôïng rôøi raïc.</a:t>
            </a:r>
          </a:p>
          <a:p>
            <a:pPr marL="285750" indent="-285750">
              <a:buClr>
                <a:schemeClr val="accent1">
                  <a:lumMod val="75000"/>
                </a:schemeClr>
              </a:buClr>
              <a:buSzPct val="200000"/>
              <a:buFont typeface="Arial" panose="020B0604020202020204" pitchFamily="34" charset="0"/>
              <a:buChar char="•"/>
            </a:pPr>
            <a:r>
              <a:rPr lang="en-US" smtClean="0">
                <a:latin typeface="VNI-Aptima" pitchFamily="2" charset="0"/>
                <a:cs typeface="Times New Roman" panose="02020603050405020304" pitchFamily="18" charset="0"/>
              </a:rPr>
              <a:t>Baûn </a:t>
            </a:r>
            <a:r>
              <a:rPr lang="en-US">
                <a:latin typeface="VNI-Aptima" pitchFamily="2" charset="0"/>
                <a:cs typeface="Times New Roman" panose="02020603050405020304" pitchFamily="18" charset="0"/>
              </a:rPr>
              <a:t>chaát cuûa quaù trình chuyeån ñoåi naøy chính laø </a:t>
            </a:r>
            <a:r>
              <a:rPr lang="en-US" smtClean="0">
                <a:latin typeface="VNI-Aptima" pitchFamily="2" charset="0"/>
                <a:cs typeface="Times New Roman" panose="02020603050405020304" pitchFamily="18" charset="0"/>
              </a:rPr>
              <a:t>söï rôøi </a:t>
            </a:r>
            <a:r>
              <a:rPr lang="en-US">
                <a:latin typeface="VNI-Aptima" pitchFamily="2" charset="0"/>
                <a:cs typeface="Times New Roman" panose="02020603050405020304" pitchFamily="18" charset="0"/>
              </a:rPr>
              <a:t>raïc hoùa vaø nguyeân hoùa caùc ñoái töôïng sao cho </a:t>
            </a:r>
            <a:r>
              <a:rPr lang="en-US" smtClean="0">
                <a:latin typeface="VNI-Aptima" pitchFamily="2" charset="0"/>
                <a:cs typeface="Times New Roman" panose="02020603050405020304" pitchFamily="18" charset="0"/>
              </a:rPr>
              <a:t>coù theå </a:t>
            </a:r>
            <a:r>
              <a:rPr lang="en-US">
                <a:latin typeface="VNI-Aptima" pitchFamily="2" charset="0"/>
                <a:cs typeface="Times New Roman" panose="02020603050405020304" pitchFamily="18" charset="0"/>
              </a:rPr>
              <a:t>xaùc ñònh caùc ñieåm nguyeân xaáp xæ ñoái töôïng </a:t>
            </a:r>
            <a:r>
              <a:rPr lang="en-US" smtClean="0">
                <a:latin typeface="VNI-Aptima" pitchFamily="2" charset="0"/>
                <a:cs typeface="Times New Roman" panose="02020603050405020304" pitchFamily="18" charset="0"/>
              </a:rPr>
              <a:t>một caùch </a:t>
            </a:r>
            <a:r>
              <a:rPr lang="en-US">
                <a:latin typeface="VNI-Aptima" pitchFamily="2" charset="0"/>
                <a:cs typeface="Times New Roman" panose="02020603050405020304" pitchFamily="18" charset="0"/>
              </a:rPr>
              <a:t>toát nhaát, thöïc nhaát.</a:t>
            </a:r>
          </a:p>
          <a:p>
            <a:pPr marL="285750" indent="-285750">
              <a:buClr>
                <a:schemeClr val="accent1">
                  <a:lumMod val="75000"/>
                </a:schemeClr>
              </a:buClr>
              <a:buSzPct val="200000"/>
              <a:buFont typeface="Arial" panose="020B0604020202020204" pitchFamily="34" charset="0"/>
              <a:buChar char="•"/>
            </a:pPr>
            <a:r>
              <a:rPr lang="en-US" smtClean="0">
                <a:latin typeface="VNI-Aptima" pitchFamily="2" charset="0"/>
                <a:cs typeface="Times New Roman" panose="02020603050405020304" pitchFamily="18" charset="0"/>
              </a:rPr>
              <a:t>Nghóa </a:t>
            </a:r>
            <a:r>
              <a:rPr lang="en-US">
                <a:latin typeface="VNI-Aptima" pitchFamily="2" charset="0"/>
                <a:cs typeface="Times New Roman" panose="02020603050405020304" pitchFamily="18" charset="0"/>
              </a:rPr>
              <a:t>laø ñoái töôïng hieån thò baèng löôùi nguyeân </a:t>
            </a:r>
            <a:r>
              <a:rPr lang="en-US" smtClean="0">
                <a:latin typeface="VNI-Aptima" pitchFamily="2" charset="0"/>
                <a:cs typeface="Times New Roman" panose="02020603050405020304" pitchFamily="18" charset="0"/>
              </a:rPr>
              <a:t>treân thieát </a:t>
            </a:r>
            <a:r>
              <a:rPr lang="en-US">
                <a:latin typeface="VNI-Aptima" pitchFamily="2" charset="0"/>
                <a:cs typeface="Times New Roman" panose="02020603050405020304" pitchFamily="18" charset="0"/>
              </a:rPr>
              <a:t>bò hieån thò phaûi coù hình daïng töông töï nhö </a:t>
            </a:r>
            <a:r>
              <a:rPr lang="en-US" smtClean="0">
                <a:latin typeface="VNI-Aptima" pitchFamily="2" charset="0"/>
                <a:cs typeface="Times New Roman" panose="02020603050405020304" pitchFamily="18" charset="0"/>
              </a:rPr>
              <a:t>ñoái töôïng </a:t>
            </a:r>
            <a:r>
              <a:rPr lang="en-US">
                <a:latin typeface="VNI-Aptima" pitchFamily="2" charset="0"/>
                <a:cs typeface="Times New Roman" panose="02020603050405020304" pitchFamily="18" charset="0"/>
              </a:rPr>
              <a:t>trong löôùi toïa ñoä thöïc vaø “coù veû” lieân tuïc, </a:t>
            </a:r>
            <a:r>
              <a:rPr lang="en-US" smtClean="0">
                <a:latin typeface="VNI-Aptima" pitchFamily="2" charset="0"/>
                <a:cs typeface="Times New Roman" panose="02020603050405020304" pitchFamily="18" charset="0"/>
              </a:rPr>
              <a:t>lieàn neùt</a:t>
            </a:r>
            <a:r>
              <a:rPr lang="en-US">
                <a:latin typeface="VNI-Aptima" pitchFamily="2" charset="0"/>
                <a:cs typeface="Times New Roman" panose="02020603050405020304" pitchFamily="18" charset="0"/>
              </a:rPr>
              <a:t>. Söï lieân tuïc treân </a:t>
            </a:r>
            <a:r>
              <a:rPr lang="en-US" smtClean="0">
                <a:latin typeface="VNI-Aptima" pitchFamily="2" charset="0"/>
                <a:cs typeface="Times New Roman" panose="02020603050405020304" pitchFamily="18" charset="0"/>
              </a:rPr>
              <a:t>löôùi nguyeân </a:t>
            </a:r>
            <a:r>
              <a:rPr lang="en-US">
                <a:latin typeface="VNI-Aptima" pitchFamily="2" charset="0"/>
                <a:cs typeface="Times New Roman" panose="02020603050405020304" pitchFamily="18" charset="0"/>
              </a:rPr>
              <a:t>cuûa thieát bò hieån </a:t>
            </a:r>
            <a:r>
              <a:rPr lang="en-US" smtClean="0">
                <a:latin typeface="VNI-Aptima" pitchFamily="2" charset="0"/>
                <a:cs typeface="Times New Roman" panose="02020603050405020304" pitchFamily="18" charset="0"/>
              </a:rPr>
              <a:t>thò coù </a:t>
            </a:r>
            <a:r>
              <a:rPr lang="en-US">
                <a:latin typeface="VNI-Aptima" pitchFamily="2" charset="0"/>
                <a:cs typeface="Times New Roman" panose="02020603050405020304" pitchFamily="18" charset="0"/>
              </a:rPr>
              <a:t>ñöôïc do maét ngöôøi khoâng theå phaân bieät ñöôïc </a:t>
            </a:r>
            <a:r>
              <a:rPr lang="en-US" smtClean="0">
                <a:latin typeface="VNI-Aptima" pitchFamily="2" charset="0"/>
                <a:cs typeface="Times New Roman" panose="02020603050405020304" pitchFamily="18" charset="0"/>
              </a:rPr>
              <a:t>hai ñieåm </a:t>
            </a:r>
            <a:r>
              <a:rPr lang="en-US">
                <a:latin typeface="VNI-Aptima" pitchFamily="2" charset="0"/>
                <a:cs typeface="Times New Roman" panose="02020603050405020304" pitchFamily="18" charset="0"/>
              </a:rPr>
              <a:t>quaù gaàn nhau.</a:t>
            </a:r>
          </a:p>
          <a:p>
            <a:pPr marL="285750" indent="-285750">
              <a:buClr>
                <a:schemeClr val="accent1">
                  <a:lumMod val="75000"/>
                </a:schemeClr>
              </a:buClr>
              <a:buSzPct val="200000"/>
              <a:buFont typeface="Arial" panose="020B0604020202020204" pitchFamily="34" charset="0"/>
              <a:buChar char="•"/>
            </a:pPr>
            <a:r>
              <a:rPr lang="en-US" smtClean="0">
                <a:latin typeface="VNI-Aptima" pitchFamily="2" charset="0"/>
                <a:cs typeface="Times New Roman" panose="02020603050405020304" pitchFamily="18" charset="0"/>
              </a:rPr>
              <a:t>Do </a:t>
            </a:r>
            <a:r>
              <a:rPr lang="en-US">
                <a:latin typeface="VNI-Aptima" pitchFamily="2" charset="0"/>
                <a:cs typeface="Times New Roman" panose="02020603050405020304" pitchFamily="18" charset="0"/>
              </a:rPr>
              <a:t>caùc ñoái töôïng ñoà hoïa cô sôû laø thaønh phaàn </a:t>
            </a:r>
            <a:r>
              <a:rPr lang="en-US" smtClean="0">
                <a:latin typeface="VNI-Aptima" pitchFamily="2" charset="0"/>
                <a:cs typeface="Times New Roman" panose="02020603050405020304" pitchFamily="18" charset="0"/>
              </a:rPr>
              <a:t>chính caáu </a:t>
            </a:r>
            <a:r>
              <a:rPr lang="en-US">
                <a:latin typeface="VNI-Aptima" pitchFamily="2" charset="0"/>
                <a:cs typeface="Times New Roman" panose="02020603050405020304" pitchFamily="18" charset="0"/>
              </a:rPr>
              <a:t>truùc caùc ñoái töôïng phöùc taïp neân caùc thuaät </a:t>
            </a:r>
            <a:r>
              <a:rPr lang="en-US" smtClean="0">
                <a:latin typeface="VNI-Aptima" pitchFamily="2" charset="0"/>
                <a:cs typeface="Times New Roman" panose="02020603050405020304" pitchFamily="18" charset="0"/>
              </a:rPr>
              <a:t>toaùn hieån </a:t>
            </a:r>
            <a:r>
              <a:rPr lang="en-US">
                <a:latin typeface="VNI-Aptima" pitchFamily="2" charset="0"/>
                <a:cs typeface="Times New Roman" panose="02020603050405020304" pitchFamily="18" charset="0"/>
              </a:rPr>
              <a:t>thò chuùng caàn phaûi ñöôïc toái öu hoùa veà maët </a:t>
            </a:r>
            <a:r>
              <a:rPr lang="en-US" smtClean="0">
                <a:latin typeface="VNI-Aptima" pitchFamily="2" charset="0"/>
                <a:cs typeface="Times New Roman" panose="02020603050405020304" pitchFamily="18" charset="0"/>
              </a:rPr>
              <a:t>toác </a:t>
            </a:r>
            <a:r>
              <a:rPr lang="en-US">
                <a:latin typeface="VNI-Aptima" pitchFamily="2" charset="0"/>
                <a:cs typeface="Times New Roman" panose="02020603050405020304" pitchFamily="18" charset="0"/>
              </a:rPr>
              <a:t>ñoä, ñaây chính laø ñieåm maáu </a:t>
            </a:r>
            <a:r>
              <a:rPr lang="en-US" smtClean="0">
                <a:latin typeface="VNI-Aptima" pitchFamily="2" charset="0"/>
                <a:cs typeface="Times New Roman" panose="02020603050405020304" pitchFamily="18" charset="0"/>
              </a:rPr>
              <a:t>choát cho </a:t>
            </a:r>
            <a:r>
              <a:rPr lang="en-US">
                <a:latin typeface="VNI-Aptima" pitchFamily="2" charset="0"/>
                <a:cs typeface="Times New Roman" panose="02020603050405020304" pitchFamily="18" charset="0"/>
              </a:rPr>
              <a:t>vieäc ra ñôøi </a:t>
            </a:r>
            <a:r>
              <a:rPr lang="en-US" smtClean="0">
                <a:latin typeface="VNI-Aptima" pitchFamily="2" charset="0"/>
                <a:cs typeface="Times New Roman" panose="02020603050405020304" pitchFamily="18" charset="0"/>
              </a:rPr>
              <a:t>caùc thuaät </a:t>
            </a:r>
            <a:r>
              <a:rPr lang="en-US">
                <a:latin typeface="VNI-Aptima" pitchFamily="2" charset="0"/>
                <a:cs typeface="Times New Roman" panose="02020603050405020304" pitchFamily="18" charset="0"/>
              </a:rPr>
              <a:t>toaùn khaùc nhau.</a:t>
            </a:r>
          </a:p>
        </p:txBody>
      </p:sp>
    </p:spTree>
    <p:extLst>
      <p:ext uri="{BB962C8B-B14F-4D97-AF65-F5344CB8AC3E}">
        <p14:creationId xmlns:p14="http://schemas.microsoft.com/office/powerpoint/2010/main" val="3537744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Giải thuật làm tròn</a:t>
            </a:r>
            <a:endParaRPr lang="en-US"/>
          </a:p>
        </p:txBody>
      </p:sp>
      <p:sp>
        <p:nvSpPr>
          <p:cNvPr id="8" name="Text Placeholder 7"/>
          <p:cNvSpPr>
            <a:spLocks noGrp="1"/>
          </p:cNvSpPr>
          <p:nvPr>
            <p:ph type="body" idx="1"/>
          </p:nvPr>
        </p:nvSpPr>
        <p:spPr/>
        <p:txBody>
          <a:bodyPr/>
          <a:lstStyle/>
          <a:p>
            <a:r>
              <a:rPr lang="en-US" smtClean="0"/>
              <a:t>Nguyên lý:</a:t>
            </a:r>
            <a:endParaRPr lang="en-US"/>
          </a:p>
        </p:txBody>
      </p:sp>
      <mc:AlternateContent xmlns:mc="http://schemas.openxmlformats.org/markup-compatibility/2006" xmlns:a14="http://schemas.microsoft.com/office/drawing/2010/main">
        <mc:Choice Requires="a14">
          <p:sp>
            <p:nvSpPr>
              <p:cNvPr id="9" name="Content Placeholder 8"/>
              <p:cNvSpPr>
                <a:spLocks noGrp="1"/>
              </p:cNvSpPr>
              <p:nvPr>
                <p:ph sz="half" idx="2"/>
              </p:nvPr>
            </p:nvSpPr>
            <p:spPr/>
            <p:txBody>
              <a:bodyPr>
                <a:normAutofit/>
              </a:bodyPr>
              <a:lstStyle/>
              <a:p>
                <a:pPr marL="0" lvl="0" indent="0" defTabSz="914400" eaLnBrk="0" fontAlgn="base" hangingPunct="0">
                  <a:spcBef>
                    <a:spcPct val="0"/>
                  </a:spcBef>
                  <a:spcAft>
                    <a:spcPct val="0"/>
                  </a:spcAft>
                  <a:buClrTx/>
                  <a:buSzTx/>
                  <a:buNone/>
                </a:pPr>
                <a:r>
                  <a:rPr lang="en-US" altLang="en-US" smtClean="0">
                    <a:latin typeface="Arial" panose="020B0604020202020204" pitchFamily="34" charset="0"/>
                    <a:ea typeface="Times New Roman" panose="02020603050405020304" pitchFamily="18" charset="0"/>
                  </a:rPr>
                  <a:t>Cho một </a:t>
                </a:r>
                <a:r>
                  <a:rPr lang="en-US" altLang="en-US">
                    <a:latin typeface="Arial" panose="020B0604020202020204" pitchFamily="34" charset="0"/>
                    <a:ea typeface="Times New Roman" panose="02020603050405020304" pitchFamily="18" charset="0"/>
                  </a:rPr>
                  <a:t>thành phần toạ độ x hay y biến đổi theo từng đơn vị và tính độ nguyên còn lại sao cho gần với toạ độ thực nhất.</a:t>
                </a:r>
                <a:endParaRPr lang="en-US" altLang="en-US">
                  <a:latin typeface="Arial" panose="020B0604020202020204" pitchFamily="34" charset="0"/>
                </a:endParaRPr>
              </a:p>
              <a:p>
                <a:pPr marL="0" lvl="0" indent="360363" defTabSz="914400" eaLnBrk="0" fontAlgn="base" hangingPunct="0">
                  <a:spcBef>
                    <a:spcPct val="0"/>
                  </a:spcBef>
                  <a:spcAft>
                    <a:spcPct val="0"/>
                  </a:spcAft>
                  <a:buClrTx/>
                  <a:buSzTx/>
                  <a:buNone/>
                </a:pPr>
                <a:r>
                  <a:rPr lang="en-US" altLang="en-US">
                    <a:latin typeface="Arial" panose="020B0604020202020204" pitchFamily="34" charset="0"/>
                    <a:ea typeface="Times New Roman" panose="02020603050405020304" pitchFamily="18" charset="0"/>
                  </a:rPr>
                  <a:t>Ta có: </a:t>
                </a:r>
                <a14:m>
                  <m:oMath xmlns:m="http://schemas.openxmlformats.org/officeDocument/2006/math">
                    <m:r>
                      <a:rPr lang="en-US" altLang="en-US" i="1">
                        <a:latin typeface="Cambria Math" panose="02040503050406030204" pitchFamily="18" charset="0"/>
                        <a:ea typeface="Times New Roman" panose="02020603050405020304" pitchFamily="18" charset="0"/>
                      </a:rPr>
                      <m:t>𝑦</m:t>
                    </m:r>
                    <m:r>
                      <a:rPr lang="en-US" altLang="en-US" i="1">
                        <a:latin typeface="Cambria Math" panose="02040503050406030204" pitchFamily="18" charset="0"/>
                        <a:ea typeface="Times New Roman" panose="02020603050405020304" pitchFamily="18" charset="0"/>
                      </a:rPr>
                      <m:t>=</m:t>
                    </m:r>
                    <m:f>
                      <m:fPr>
                        <m:ctrlPr>
                          <a:rPr lang="en-US" altLang="en-US" i="1">
                            <a:latin typeface="Cambria Math" panose="02040503050406030204" pitchFamily="18" charset="0"/>
                          </a:rPr>
                        </m:ctrlPr>
                      </m:fPr>
                      <m:num>
                        <m:r>
                          <a:rPr lang="en-US" altLang="en-US" i="1">
                            <a:latin typeface="Cambria Math" panose="02040503050406030204" pitchFamily="18" charset="0"/>
                          </a:rPr>
                          <m:t>𝑦</m:t>
                        </m:r>
                        <m:r>
                          <a:rPr lang="en-US" altLang="en-US" i="1">
                            <a:latin typeface="Cambria Math" panose="02040503050406030204" pitchFamily="18" charset="0"/>
                          </a:rPr>
                          <m:t>2−</m:t>
                        </m:r>
                        <m:r>
                          <a:rPr lang="en-US" altLang="en-US" i="1">
                            <a:latin typeface="Cambria Math" panose="02040503050406030204" pitchFamily="18" charset="0"/>
                          </a:rPr>
                          <m:t>𝑦</m:t>
                        </m:r>
                        <m:r>
                          <a:rPr lang="en-US" altLang="en-US" i="1">
                            <a:latin typeface="Cambria Math" panose="02040503050406030204" pitchFamily="18" charset="0"/>
                          </a:rPr>
                          <m:t>1</m:t>
                        </m:r>
                      </m:num>
                      <m:den>
                        <m:r>
                          <a:rPr lang="en-US" altLang="en-US" i="1">
                            <a:latin typeface="Cambria Math" panose="02040503050406030204" pitchFamily="18" charset="0"/>
                          </a:rPr>
                          <m:t>𝑥</m:t>
                        </m:r>
                        <m:r>
                          <a:rPr lang="en-US" altLang="en-US" i="1">
                            <a:latin typeface="Cambria Math" panose="02040503050406030204" pitchFamily="18" charset="0"/>
                          </a:rPr>
                          <m:t>2−</m:t>
                        </m:r>
                        <m:r>
                          <a:rPr lang="en-US" altLang="en-US" i="1">
                            <a:latin typeface="Cambria Math" panose="02040503050406030204" pitchFamily="18" charset="0"/>
                          </a:rPr>
                          <m:t>𝑥</m:t>
                        </m:r>
                        <m:r>
                          <a:rPr lang="en-US" altLang="en-US" i="1">
                            <a:latin typeface="Cambria Math" panose="02040503050406030204" pitchFamily="18" charset="0"/>
                          </a:rPr>
                          <m:t>1</m:t>
                        </m:r>
                      </m:den>
                    </m:f>
                    <m:d>
                      <m:dPr>
                        <m:ctrlPr>
                          <a:rPr lang="en-US" altLang="en-US" i="1">
                            <a:latin typeface="Cambria Math" panose="02040503050406030204" pitchFamily="18" charset="0"/>
                          </a:rPr>
                        </m:ctrlPr>
                      </m:dPr>
                      <m:e>
                        <m:r>
                          <a:rPr lang="en-US" altLang="en-US" i="1">
                            <a:latin typeface="Cambria Math" panose="02040503050406030204" pitchFamily="18" charset="0"/>
                            <a:ea typeface="Times New Roman" panose="02020603050405020304" pitchFamily="18" charset="0"/>
                          </a:rPr>
                          <m:t>𝑥</m:t>
                        </m:r>
                        <m:r>
                          <a:rPr lang="en-US" altLang="en-US" i="1">
                            <a:latin typeface="Cambria Math" panose="02040503050406030204" pitchFamily="18" charset="0"/>
                            <a:ea typeface="Times New Roman" panose="02020603050405020304" pitchFamily="18" charset="0"/>
                          </a:rPr>
                          <m:t>−</m:t>
                        </m:r>
                        <m:r>
                          <a:rPr lang="en-US" altLang="en-US" i="1">
                            <a:latin typeface="Cambria Math" panose="02040503050406030204" pitchFamily="18" charset="0"/>
                            <a:ea typeface="Times New Roman" panose="02020603050405020304" pitchFamily="18" charset="0"/>
                          </a:rPr>
                          <m:t>𝑥</m:t>
                        </m:r>
                        <m:r>
                          <a:rPr lang="en-US" altLang="en-US" i="1">
                            <a:latin typeface="Cambria Math" panose="02040503050406030204" pitchFamily="18" charset="0"/>
                            <a:ea typeface="Times New Roman" panose="02020603050405020304" pitchFamily="18" charset="0"/>
                          </a:rPr>
                          <m:t>1</m:t>
                        </m:r>
                      </m:e>
                    </m:d>
                    <m:r>
                      <a:rPr lang="en-US" altLang="en-US" i="1">
                        <a:latin typeface="Cambria Math" panose="02040503050406030204" pitchFamily="18" charset="0"/>
                        <a:ea typeface="Times New Roman" panose="02020603050405020304" pitchFamily="18" charset="0"/>
                      </a:rPr>
                      <m:t>−</m:t>
                    </m:r>
                    <m:r>
                      <a:rPr lang="en-US" altLang="en-US" i="1">
                        <a:latin typeface="Cambria Math" panose="02040503050406030204" pitchFamily="18" charset="0"/>
                        <a:ea typeface="Times New Roman" panose="02020603050405020304" pitchFamily="18" charset="0"/>
                      </a:rPr>
                      <m:t>𝑦</m:t>
                    </m:r>
                    <m:r>
                      <a:rPr lang="en-US" altLang="en-US" i="1">
                        <a:latin typeface="Cambria Math" panose="02040503050406030204" pitchFamily="18" charset="0"/>
                        <a:ea typeface="Times New Roman" panose="02020603050405020304" pitchFamily="18" charset="0"/>
                      </a:rPr>
                      <m:t>1</m:t>
                    </m:r>
                  </m:oMath>
                </a14:m>
                <a:endParaRPr lang="en-US" altLang="en-US">
                  <a:latin typeface="Arial" panose="020B0604020202020204" pitchFamily="34" charset="0"/>
                  <a:ea typeface="Times New Roman" panose="02020603050405020304" pitchFamily="18" charset="0"/>
                </a:endParaRPr>
              </a:p>
              <a:p>
                <a:pPr marL="0" lvl="0" indent="360363" defTabSz="914400" eaLnBrk="0" fontAlgn="base" hangingPunct="0">
                  <a:spcBef>
                    <a:spcPct val="0"/>
                  </a:spcBef>
                  <a:spcAft>
                    <a:spcPct val="0"/>
                  </a:spcAft>
                  <a:buClrTx/>
                  <a:buSzTx/>
                  <a:buNone/>
                </a:pPr>
                <a:endParaRPr lang="en-US" altLang="en-US">
                  <a:latin typeface="Arial" panose="020B0604020202020204" pitchFamily="34" charset="0"/>
                  <a:ea typeface="Times New Roman" panose="02020603050405020304" pitchFamily="18" charset="0"/>
                </a:endParaRPr>
              </a:p>
              <a:p>
                <a:pPr marL="0" lvl="0" indent="360363" defTabSz="914400" eaLnBrk="0" fontAlgn="base" hangingPunct="0">
                  <a:spcBef>
                    <a:spcPct val="0"/>
                  </a:spcBef>
                  <a:spcAft>
                    <a:spcPct val="0"/>
                  </a:spcAft>
                  <a:buClrTx/>
                  <a:buSzTx/>
                  <a:buNone/>
                </a:pPr>
                <a:r>
                  <a:rPr lang="en-US" altLang="en-US">
                    <a:latin typeface="Arial" panose="020B0604020202020204" pitchFamily="34" charset="0"/>
                    <a:ea typeface="Times New Roman" panose="02020603050405020304" pitchFamily="18" charset="0"/>
                  </a:rPr>
                  <a:t>Cho x thay đổi tìm y, trong bài này cho x1 thay đổi tiến tới x2 ta chọn đơn vị nhỏ nhất của màn hình</a:t>
                </a:r>
                <a:r>
                  <a:rPr lang="en-US" altLang="en-US">
                    <a:latin typeface="Arial" panose="020B0604020202020204" pitchFamily="34" charset="0"/>
                    <a:ea typeface="Arial" panose="020B0604020202020204" pitchFamily="34" charset="0"/>
                  </a:rPr>
                  <a:t> Δ</a:t>
                </a:r>
                <a:r>
                  <a:rPr lang="en-US" altLang="en-US">
                    <a:latin typeface="Arial" panose="020B0604020202020204" pitchFamily="34" charset="0"/>
                    <a:ea typeface="Times New Roman" panose="02020603050405020304" pitchFamily="18" charset="0"/>
                  </a:rPr>
                  <a:t>x=1.</a:t>
                </a:r>
                <a:endParaRPr lang="en-US" altLang="en-US" sz="1100">
                  <a:latin typeface="Arial" panose="020B0604020202020204" pitchFamily="34" charset="0"/>
                </a:endParaRPr>
              </a:p>
              <a:p>
                <a:endParaRPr lang="en-US"/>
              </a:p>
            </p:txBody>
          </p:sp>
        </mc:Choice>
        <mc:Fallback xmlns="">
          <p:sp>
            <p:nvSpPr>
              <p:cNvPr id="9" name="Content Placeholder 8"/>
              <p:cNvSpPr>
                <a:spLocks noGrp="1" noRot="1" noChangeAspect="1" noMove="1" noResize="1" noEditPoints="1" noAdjustHandles="1" noChangeArrowheads="1" noChangeShapeType="1" noTextEdit="1"/>
              </p:cNvSpPr>
              <p:nvPr>
                <p:ph sz="half" idx="2"/>
              </p:nvPr>
            </p:nvSpPr>
            <p:spPr>
              <a:blipFill>
                <a:blip r:embed="rId2"/>
                <a:stretch>
                  <a:fillRect l="-996" t="-1241" r="-2366" b="-1737"/>
                </a:stretch>
              </a:blipFill>
            </p:spPr>
            <p:txBody>
              <a:bodyPr/>
              <a:lstStyle/>
              <a:p>
                <a:r>
                  <a:rPr lang="en-US">
                    <a:noFill/>
                  </a:rPr>
                  <a:t> </a:t>
                </a:r>
              </a:p>
            </p:txBody>
          </p:sp>
        </mc:Fallback>
      </mc:AlternateContent>
      <p:sp>
        <p:nvSpPr>
          <p:cNvPr id="10" name="Text Placeholder 9"/>
          <p:cNvSpPr>
            <a:spLocks noGrp="1"/>
          </p:cNvSpPr>
          <p:nvPr>
            <p:ph type="body" sz="quarter" idx="3"/>
          </p:nvPr>
        </p:nvSpPr>
        <p:spPr/>
        <p:txBody>
          <a:bodyPr/>
          <a:lstStyle/>
          <a:p>
            <a:r>
              <a:rPr lang="en-US" smtClean="0"/>
              <a:t>Giải thuật:</a:t>
            </a:r>
            <a:endParaRPr lang="en-US"/>
          </a:p>
        </p:txBody>
      </p:sp>
      <p:sp>
        <p:nvSpPr>
          <p:cNvPr id="11" name="Content Placeholder 10"/>
          <p:cNvSpPr>
            <a:spLocks noGrp="1"/>
          </p:cNvSpPr>
          <p:nvPr>
            <p:ph sz="quarter" idx="4"/>
          </p:nvPr>
        </p:nvSpPr>
        <p:spPr>
          <a:xfrm>
            <a:off x="5439266" y="3335336"/>
            <a:ext cx="6063757" cy="3522663"/>
          </a:xfrm>
        </p:spPr>
        <p:txBody>
          <a:bodyPr>
            <a:normAutofit/>
          </a:bodyPr>
          <a:lstStyle/>
          <a:p>
            <a:pPr lvl="3" indent="0" eaLnBrk="0" fontAlgn="base" hangingPunct="0">
              <a:spcBef>
                <a:spcPct val="0"/>
              </a:spcBef>
              <a:spcAft>
                <a:spcPct val="0"/>
              </a:spcAft>
              <a:buNone/>
              <a:tabLst>
                <a:tab pos="2146300" algn="l"/>
                <a:tab pos="2451100" algn="l"/>
              </a:tabLst>
            </a:pPr>
            <a:r>
              <a:rPr lang="en-US" altLang="en-US" sz="1800" smtClean="0">
                <a:latin typeface="Arial" panose="020B0604020202020204" pitchFamily="34" charset="0"/>
                <a:ea typeface="Tahoma" panose="020B0604030504040204" pitchFamily="34" charset="0"/>
              </a:rPr>
              <a:t>void </a:t>
            </a:r>
            <a:r>
              <a:rPr lang="en-US" altLang="en-US" sz="1800">
                <a:latin typeface="Arial" panose="020B0604020202020204" pitchFamily="34" charset="0"/>
                <a:ea typeface="Tahoma" panose="020B0604030504040204" pitchFamily="34" charset="0"/>
              </a:rPr>
              <a:t>dline(int x1,int y1, int x2,int y2, int color)</a:t>
            </a:r>
            <a:endParaRPr lang="en-US" altLang="en-US" sz="1600">
              <a:latin typeface="Arial" panose="020B0604020202020204" pitchFamily="34" charset="0"/>
            </a:endParaRPr>
          </a:p>
          <a:p>
            <a:pPr lvl="3" indent="0" eaLnBrk="0" fontAlgn="base" hangingPunct="0">
              <a:spcBef>
                <a:spcPct val="0"/>
              </a:spcBef>
              <a:spcAft>
                <a:spcPct val="0"/>
              </a:spcAft>
              <a:buNone/>
              <a:tabLst>
                <a:tab pos="2146300" algn="l"/>
                <a:tab pos="2451100" algn="l"/>
              </a:tabLst>
            </a:pPr>
            <a:r>
              <a:rPr lang="en-US" altLang="en-US" sz="1800">
                <a:latin typeface="Arial" panose="020B0604020202020204" pitchFamily="34" charset="0"/>
                <a:ea typeface="Tahoma" panose="020B0604030504040204" pitchFamily="34" charset="0"/>
              </a:rPr>
              <a:t>{</a:t>
            </a:r>
            <a:endParaRPr lang="en-US" altLang="en-US" sz="1600">
              <a:latin typeface="Arial" panose="020B0604020202020204" pitchFamily="34" charset="0"/>
            </a:endParaRPr>
          </a:p>
          <a:p>
            <a:pPr lvl="3" indent="0" eaLnBrk="0" fontAlgn="base" hangingPunct="0">
              <a:spcBef>
                <a:spcPct val="0"/>
              </a:spcBef>
              <a:spcAft>
                <a:spcPct val="0"/>
              </a:spcAft>
              <a:buNone/>
              <a:tabLst>
                <a:tab pos="2146300" algn="l"/>
                <a:tab pos="2451100" algn="l"/>
              </a:tabLst>
            </a:pPr>
            <a:r>
              <a:rPr lang="en-US" altLang="en-US" sz="1800" smtClean="0">
                <a:latin typeface="Arial" panose="020B0604020202020204" pitchFamily="34" charset="0"/>
                <a:ea typeface="Tahoma" panose="020B0604030504040204" pitchFamily="34" charset="0"/>
              </a:rPr>
              <a:t>	float </a:t>
            </a:r>
            <a:r>
              <a:rPr lang="en-US" altLang="en-US" sz="1800">
                <a:latin typeface="Arial" panose="020B0604020202020204" pitchFamily="34" charset="0"/>
                <a:ea typeface="Tahoma" panose="020B0604030504040204" pitchFamily="34" charset="0"/>
              </a:rPr>
              <a:t>y;</a:t>
            </a:r>
            <a:endParaRPr lang="en-US" altLang="en-US" sz="1600">
              <a:latin typeface="Arial" panose="020B0604020202020204" pitchFamily="34" charset="0"/>
            </a:endParaRPr>
          </a:p>
          <a:p>
            <a:pPr lvl="3" indent="0" eaLnBrk="0" fontAlgn="base" hangingPunct="0">
              <a:spcBef>
                <a:spcPct val="0"/>
              </a:spcBef>
              <a:spcAft>
                <a:spcPct val="0"/>
              </a:spcAft>
              <a:buNone/>
              <a:tabLst>
                <a:tab pos="2146300" algn="l"/>
                <a:tab pos="2451100" algn="l"/>
              </a:tabLst>
            </a:pPr>
            <a:r>
              <a:rPr lang="en-US" altLang="en-US" sz="1800" smtClean="0">
                <a:latin typeface="Arial" panose="020B0604020202020204" pitchFamily="34" charset="0"/>
                <a:ea typeface="Tahoma" panose="020B0604030504040204" pitchFamily="34" charset="0"/>
              </a:rPr>
              <a:t>	int </a:t>
            </a:r>
            <a:r>
              <a:rPr lang="en-US" altLang="en-US" sz="1800">
                <a:latin typeface="Arial" panose="020B0604020202020204" pitchFamily="34" charset="0"/>
                <a:ea typeface="Tahoma" panose="020B0604030504040204" pitchFamily="34" charset="0"/>
              </a:rPr>
              <a:t>x;</a:t>
            </a:r>
            <a:endParaRPr lang="en-US" altLang="en-US" sz="1600">
              <a:latin typeface="Arial" panose="020B0604020202020204" pitchFamily="34" charset="0"/>
            </a:endParaRPr>
          </a:p>
          <a:p>
            <a:pPr lvl="3" indent="0" eaLnBrk="0" fontAlgn="base" hangingPunct="0">
              <a:spcBef>
                <a:spcPct val="0"/>
              </a:spcBef>
              <a:spcAft>
                <a:spcPct val="0"/>
              </a:spcAft>
              <a:buNone/>
              <a:tabLst>
                <a:tab pos="2146300" algn="l"/>
                <a:tab pos="2451100" algn="l"/>
              </a:tabLst>
            </a:pPr>
            <a:r>
              <a:rPr lang="en-US" altLang="en-US" sz="1800" smtClean="0">
                <a:latin typeface="Arial" panose="020B0604020202020204" pitchFamily="34" charset="0"/>
                <a:ea typeface="Tahoma" panose="020B0604030504040204" pitchFamily="34" charset="0"/>
              </a:rPr>
              <a:t>	for </a:t>
            </a:r>
            <a:r>
              <a:rPr lang="en-US" altLang="en-US" sz="1800">
                <a:latin typeface="Arial" panose="020B0604020202020204" pitchFamily="34" charset="0"/>
                <a:ea typeface="Tahoma" panose="020B0604030504040204" pitchFamily="34" charset="0"/>
              </a:rPr>
              <a:t>(x=x1; x&lt;=x2; x++)</a:t>
            </a:r>
            <a:endParaRPr lang="en-US" altLang="en-US" sz="1600">
              <a:latin typeface="Arial" panose="020B0604020202020204" pitchFamily="34" charset="0"/>
            </a:endParaRPr>
          </a:p>
          <a:p>
            <a:pPr lvl="3" indent="0" eaLnBrk="0" fontAlgn="base" hangingPunct="0">
              <a:spcBef>
                <a:spcPct val="0"/>
              </a:spcBef>
              <a:spcAft>
                <a:spcPct val="0"/>
              </a:spcAft>
              <a:buNone/>
              <a:tabLst>
                <a:tab pos="2146300" algn="l"/>
                <a:tab pos="2451100" algn="l"/>
              </a:tabLst>
            </a:pPr>
            <a:r>
              <a:rPr lang="en-US" altLang="en-US" sz="1800" smtClean="0">
                <a:latin typeface="Arial" panose="020B0604020202020204" pitchFamily="34" charset="0"/>
                <a:ea typeface="Tahoma" panose="020B0604030504040204" pitchFamily="34" charset="0"/>
              </a:rPr>
              <a:t>	{</a:t>
            </a:r>
            <a:endParaRPr lang="en-US" altLang="en-US" sz="1600">
              <a:latin typeface="Arial" panose="020B0604020202020204" pitchFamily="34" charset="0"/>
            </a:endParaRPr>
          </a:p>
          <a:p>
            <a:pPr lvl="3" indent="0" eaLnBrk="0" fontAlgn="base" hangingPunct="0">
              <a:spcBef>
                <a:spcPct val="0"/>
              </a:spcBef>
              <a:spcAft>
                <a:spcPct val="0"/>
              </a:spcAft>
              <a:buNone/>
              <a:tabLst>
                <a:tab pos="2146300" algn="l"/>
                <a:tab pos="2451100" algn="l"/>
              </a:tabLst>
            </a:pPr>
            <a:r>
              <a:rPr lang="en-US" altLang="en-US" sz="1800" smtClean="0">
                <a:latin typeface="Arial" panose="020B0604020202020204" pitchFamily="34" charset="0"/>
                <a:ea typeface="Tahoma" panose="020B0604030504040204" pitchFamily="34" charset="0"/>
              </a:rPr>
              <a:t>		y </a:t>
            </a:r>
            <a:r>
              <a:rPr lang="en-US" altLang="en-US" sz="1800">
                <a:latin typeface="Arial" panose="020B0604020202020204" pitchFamily="34" charset="0"/>
                <a:ea typeface="Tahoma" panose="020B0604030504040204" pitchFamily="34" charset="0"/>
              </a:rPr>
              <a:t>= y1 + (x-x1)*(y2-y1)/(x2-x1) ;</a:t>
            </a:r>
            <a:endParaRPr lang="en-US" altLang="en-US" sz="1600">
              <a:latin typeface="Arial" panose="020B0604020202020204" pitchFamily="34" charset="0"/>
            </a:endParaRPr>
          </a:p>
          <a:p>
            <a:pPr lvl="3" indent="0" eaLnBrk="0" fontAlgn="base" hangingPunct="0">
              <a:spcBef>
                <a:spcPct val="0"/>
              </a:spcBef>
              <a:spcAft>
                <a:spcPct val="0"/>
              </a:spcAft>
              <a:buNone/>
              <a:tabLst>
                <a:tab pos="2146300" algn="l"/>
                <a:tab pos="2451100" algn="l"/>
              </a:tabLst>
            </a:pPr>
            <a:r>
              <a:rPr lang="en-US" altLang="en-US" sz="1800" smtClean="0">
                <a:latin typeface="Arial" panose="020B0604020202020204" pitchFamily="34" charset="0"/>
                <a:ea typeface="Tahoma" panose="020B0604030504040204" pitchFamily="34" charset="0"/>
              </a:rPr>
              <a:t>		putpixel(x</a:t>
            </a:r>
            <a:r>
              <a:rPr lang="en-US" altLang="en-US" sz="1800">
                <a:latin typeface="Arial" panose="020B0604020202020204" pitchFamily="34" charset="0"/>
                <a:ea typeface="Tahoma" panose="020B0604030504040204" pitchFamily="34" charset="0"/>
              </a:rPr>
              <a:t>, Round(y), color );</a:t>
            </a:r>
            <a:endParaRPr lang="en-US" altLang="en-US" sz="1600">
              <a:latin typeface="Arial" panose="020B0604020202020204" pitchFamily="34" charset="0"/>
            </a:endParaRPr>
          </a:p>
          <a:p>
            <a:pPr lvl="3" indent="0" eaLnBrk="0" fontAlgn="base" hangingPunct="0">
              <a:spcBef>
                <a:spcPct val="0"/>
              </a:spcBef>
              <a:spcAft>
                <a:spcPct val="0"/>
              </a:spcAft>
              <a:buNone/>
              <a:tabLst>
                <a:tab pos="2146300" algn="l"/>
                <a:tab pos="2451100" algn="l"/>
              </a:tabLst>
            </a:pPr>
            <a:r>
              <a:rPr lang="en-US" altLang="en-US" sz="1800" smtClean="0">
                <a:latin typeface="Arial" panose="020B0604020202020204" pitchFamily="34" charset="0"/>
                <a:ea typeface="Tahoma" panose="020B0604030504040204" pitchFamily="34" charset="0"/>
              </a:rPr>
              <a:t>	}</a:t>
            </a:r>
            <a:endParaRPr lang="en-US" altLang="en-US" sz="1600">
              <a:latin typeface="Arial" panose="020B0604020202020204" pitchFamily="34" charset="0"/>
            </a:endParaRPr>
          </a:p>
          <a:p>
            <a:pPr lvl="3" indent="0" eaLnBrk="0" fontAlgn="base" hangingPunct="0">
              <a:spcBef>
                <a:spcPct val="0"/>
              </a:spcBef>
              <a:spcAft>
                <a:spcPct val="0"/>
              </a:spcAft>
              <a:buNone/>
              <a:tabLst>
                <a:tab pos="2146300" algn="l"/>
                <a:tab pos="2451100" algn="l"/>
              </a:tabLst>
            </a:pPr>
            <a:r>
              <a:rPr lang="en-US" altLang="en-US" sz="1800">
                <a:latin typeface="Arial" panose="020B0604020202020204" pitchFamily="34" charset="0"/>
                <a:ea typeface="Tahoma" panose="020B0604030504040204" pitchFamily="34" charset="0"/>
              </a:rPr>
              <a:t>}</a:t>
            </a:r>
            <a:endParaRPr lang="en-US" altLang="en-US" sz="4400">
              <a:latin typeface="Arial" panose="020B0604020202020204" pitchFamily="34" charset="0"/>
            </a:endParaRPr>
          </a:p>
          <a:p>
            <a:endParaRPr lang="en-US"/>
          </a:p>
        </p:txBody>
      </p:sp>
      <p:sp>
        <p:nvSpPr>
          <p:cNvPr id="4" name="Slide Number Placeholder 3"/>
          <p:cNvSpPr>
            <a:spLocks noGrp="1"/>
          </p:cNvSpPr>
          <p:nvPr>
            <p:ph type="sldNum" sz="quarter" idx="12"/>
          </p:nvPr>
        </p:nvSpPr>
        <p:spPr/>
        <p:txBody>
          <a:bodyPr/>
          <a:lstStyle/>
          <a:p>
            <a:fld id="{EAC668D0-FFF1-47C5-8061-FF1B22C34E7B}" type="slidenum">
              <a:rPr lang="en-US" smtClean="0"/>
              <a:t>12</a:t>
            </a:fld>
            <a:endParaRPr lang="en-US"/>
          </a:p>
        </p:txBody>
      </p:sp>
      <p:sp>
        <p:nvSpPr>
          <p:cNvPr id="5" name="Rectangle 2"/>
          <p:cNvSpPr>
            <a:spLocks noChangeArrowheads="1"/>
          </p:cNvSpPr>
          <p:nvPr/>
        </p:nvSpPr>
        <p:spPr bwMode="auto">
          <a:xfrm>
            <a:off x="3526646" y="1535706"/>
            <a:ext cx="502346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60363"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smtClean="0">
              <a:ln>
                <a:noFill/>
              </a:ln>
              <a:solidFill>
                <a:schemeClr val="tx1"/>
              </a:solidFill>
              <a:effectLst/>
              <a:latin typeface="Arial" panose="020B0604020202020204" pitchFamily="34" charset="0"/>
            </a:endParaRPr>
          </a:p>
          <a:p>
            <a:pPr marL="0" marR="0" lvl="0" indent="360363"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64917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Giải thuật làm tròn</a:t>
            </a:r>
          </a:p>
        </p:txBody>
      </p:sp>
      <p:sp>
        <p:nvSpPr>
          <p:cNvPr id="6" name="Content Placeholder 5"/>
          <p:cNvSpPr>
            <a:spLocks noGrp="1"/>
          </p:cNvSpPr>
          <p:nvPr>
            <p:ph sz="quarter" idx="4"/>
          </p:nvPr>
        </p:nvSpPr>
        <p:spPr>
          <a:xfrm>
            <a:off x="1773382" y="2179782"/>
            <a:ext cx="9729641" cy="3611417"/>
          </a:xfrm>
        </p:spPr>
        <p:txBody>
          <a:bodyPr>
            <a:normAutofit/>
          </a:bodyPr>
          <a:lstStyle/>
          <a:p>
            <a:r>
              <a:rPr lang="en-US" sz="3200" smtClean="0"/>
              <a:t>Nhận xét:</a:t>
            </a:r>
          </a:p>
          <a:p>
            <a:pPr lvl="1"/>
            <a:r>
              <a:rPr lang="en-US" sz="2800" smtClean="0"/>
              <a:t>Thao tác với số thực</a:t>
            </a:r>
          </a:p>
          <a:p>
            <a:pPr lvl="1"/>
            <a:r>
              <a:rPr lang="en-US" sz="2800" smtClean="0"/>
              <a:t>Sử dụng phép tính nhân chia số thực</a:t>
            </a:r>
          </a:p>
          <a:p>
            <a:pPr lvl="1"/>
            <a:r>
              <a:rPr lang="en-US" sz="2800" smtClean="0"/>
              <a:t>Sử dụng hàm làm tròn</a:t>
            </a:r>
          </a:p>
          <a:p>
            <a:pPr marL="457200" lvl="1" indent="0">
              <a:buNone/>
            </a:pPr>
            <a:r>
              <a:rPr lang="en-US" sz="2800" smtClean="0">
                <a:sym typeface="Wingdings" panose="05000000000000000000" pitchFamily="2" charset="2"/>
              </a:rPr>
              <a:t> Tốn bộ nhớ, chạy chậm</a:t>
            </a:r>
            <a:endParaRPr lang="en-US" sz="2800"/>
          </a:p>
        </p:txBody>
      </p:sp>
      <p:sp>
        <p:nvSpPr>
          <p:cNvPr id="7" name="Slide Number Placeholder 6"/>
          <p:cNvSpPr>
            <a:spLocks noGrp="1"/>
          </p:cNvSpPr>
          <p:nvPr>
            <p:ph type="sldNum" sz="quarter" idx="12"/>
          </p:nvPr>
        </p:nvSpPr>
        <p:spPr/>
        <p:txBody>
          <a:bodyPr/>
          <a:lstStyle/>
          <a:p>
            <a:fld id="{EAC668D0-FFF1-47C5-8061-FF1B22C34E7B}" type="slidenum">
              <a:rPr lang="en-US" smtClean="0"/>
              <a:t>13</a:t>
            </a:fld>
            <a:endParaRPr lang="en-US"/>
          </a:p>
        </p:txBody>
      </p:sp>
    </p:spTree>
    <p:extLst>
      <p:ext uri="{BB962C8B-B14F-4D97-AF65-F5344CB8AC3E}">
        <p14:creationId xmlns:p14="http://schemas.microsoft.com/office/powerpoint/2010/main" val="3672565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normAutofit/>
          </a:bodyPr>
          <a:lstStyle/>
          <a:p>
            <a:r>
              <a:rPr lang="en-US" b="1" smtClean="0"/>
              <a:t>Thuật toán DDA </a:t>
            </a:r>
            <a:br>
              <a:rPr lang="en-US" b="1" smtClean="0"/>
            </a:br>
            <a:r>
              <a:rPr lang="en-US" b="1" smtClean="0"/>
              <a:t>(Digital Differential Analizer)</a:t>
            </a:r>
            <a:endParaRPr lang="en-US"/>
          </a:p>
        </p:txBody>
      </p:sp>
      <p:sp>
        <p:nvSpPr>
          <p:cNvPr id="8" name="Content Placeholder 7"/>
          <p:cNvSpPr>
            <a:spLocks noGrp="1"/>
          </p:cNvSpPr>
          <p:nvPr>
            <p:ph idx="1"/>
          </p:nvPr>
        </p:nvSpPr>
        <p:spPr>
          <a:xfrm>
            <a:off x="1368136" y="2008526"/>
            <a:ext cx="6597902" cy="3038554"/>
          </a:xfrm>
        </p:spPr>
        <p:txBody>
          <a:bodyPr>
            <a:normAutofit/>
          </a:bodyPr>
          <a:lstStyle/>
          <a:p>
            <a:pPr marL="0" indent="0">
              <a:buNone/>
            </a:pPr>
            <a:r>
              <a:rPr lang="en-US" smtClean="0">
                <a:latin typeface="Arial (Body)"/>
              </a:rPr>
              <a:t>Cho </a:t>
            </a:r>
            <a:r>
              <a:rPr lang="vi-VN" smtClean="0">
                <a:latin typeface="Arial (Body)"/>
              </a:rPr>
              <a:t>PT </a:t>
            </a:r>
            <a:r>
              <a:rPr lang="vi-VN">
                <a:latin typeface="Arial (Body)"/>
              </a:rPr>
              <a:t>đoạn thẳng đi qua 2 điểm (x1,y1), (x2,y2) như sau: y=kx+m </a:t>
            </a:r>
          </a:p>
          <a:p>
            <a:pPr marL="0" indent="0">
              <a:buNone/>
            </a:pPr>
            <a:r>
              <a:rPr lang="vi-VN">
                <a:latin typeface="Arial (Body)"/>
              </a:rPr>
              <a:t>Trong đó:	𝑘=(𝑦2−𝑦1)/(𝑥2−𝑥1)  ; 𝑚=𝑦1−𝑘𝑥1 </a:t>
            </a:r>
          </a:p>
          <a:p>
            <a:endParaRPr lang="en-US">
              <a:latin typeface="Arial (Body)"/>
            </a:endParaRPr>
          </a:p>
        </p:txBody>
      </p:sp>
      <p:sp>
        <p:nvSpPr>
          <p:cNvPr id="7" name="Slide Number Placeholder 6"/>
          <p:cNvSpPr>
            <a:spLocks noGrp="1"/>
          </p:cNvSpPr>
          <p:nvPr>
            <p:ph type="sldNum" sz="quarter" idx="12"/>
          </p:nvPr>
        </p:nvSpPr>
        <p:spPr/>
        <p:txBody>
          <a:bodyPr/>
          <a:lstStyle/>
          <a:p>
            <a:fld id="{EAC668D0-FFF1-47C5-8061-FF1B22C34E7B}" type="slidenum">
              <a:rPr lang="en-US" smtClean="0"/>
              <a:t>14</a:t>
            </a:fld>
            <a:endParaRPr lang="en-US"/>
          </a:p>
        </p:txBody>
      </p:sp>
      <p:grpSp>
        <p:nvGrpSpPr>
          <p:cNvPr id="29" name="Group 28"/>
          <p:cNvGrpSpPr/>
          <p:nvPr/>
        </p:nvGrpSpPr>
        <p:grpSpPr>
          <a:xfrm>
            <a:off x="8248072" y="2244436"/>
            <a:ext cx="3264078" cy="2764059"/>
            <a:chOff x="8248072" y="2244436"/>
            <a:chExt cx="3264078" cy="2764059"/>
          </a:xfrm>
        </p:grpSpPr>
        <p:grpSp>
          <p:nvGrpSpPr>
            <p:cNvPr id="9" name="Group 8"/>
            <p:cNvGrpSpPr>
              <a:grpSpLocks/>
            </p:cNvGrpSpPr>
            <p:nvPr/>
          </p:nvGrpSpPr>
          <p:grpSpPr>
            <a:xfrm>
              <a:off x="8248072" y="2244436"/>
              <a:ext cx="2926425" cy="2764059"/>
              <a:chOff x="11429" y="0"/>
              <a:chExt cx="2176780" cy="2176780"/>
            </a:xfrm>
          </p:grpSpPr>
          <p:sp>
            <p:nvSpPr>
              <p:cNvPr id="10" name="Graphic 42"/>
              <p:cNvSpPr/>
              <p:nvPr/>
            </p:nvSpPr>
            <p:spPr>
              <a:xfrm>
                <a:off x="1643633" y="0"/>
                <a:ext cx="1270" cy="2176780"/>
              </a:xfrm>
              <a:custGeom>
                <a:avLst/>
                <a:gdLst/>
                <a:ahLst/>
                <a:cxnLst/>
                <a:rect l="l" t="t" r="r" b="b"/>
                <a:pathLst>
                  <a:path h="2176780">
                    <a:moveTo>
                      <a:pt x="0" y="0"/>
                    </a:moveTo>
                    <a:lnTo>
                      <a:pt x="0" y="2176272"/>
                    </a:lnTo>
                  </a:path>
                </a:pathLst>
              </a:custGeom>
              <a:ln w="13716">
                <a:solidFill>
                  <a:srgbClr val="000000"/>
                </a:solidFill>
                <a:prstDash val="solid"/>
              </a:ln>
            </p:spPr>
            <p:txBody>
              <a:bodyPr wrap="square" lIns="0" tIns="0" rIns="0" bIns="0" rtlCol="0">
                <a:prstTxWarp prst="textNoShape">
                  <a:avLst/>
                </a:prstTxWarp>
                <a:noAutofit/>
              </a:bodyPr>
              <a:lstStyle/>
              <a:p>
                <a:endParaRPr lang="en-US"/>
              </a:p>
            </p:txBody>
          </p:sp>
          <p:sp>
            <p:nvSpPr>
              <p:cNvPr id="11" name="Graphic 43"/>
              <p:cNvSpPr/>
              <p:nvPr/>
            </p:nvSpPr>
            <p:spPr>
              <a:xfrm>
                <a:off x="11429" y="1632204"/>
                <a:ext cx="2176780" cy="1270"/>
              </a:xfrm>
              <a:custGeom>
                <a:avLst/>
                <a:gdLst/>
                <a:ahLst/>
                <a:cxnLst/>
                <a:rect l="l" t="t" r="r" b="b"/>
                <a:pathLst>
                  <a:path w="2176780">
                    <a:moveTo>
                      <a:pt x="2176272" y="0"/>
                    </a:moveTo>
                    <a:lnTo>
                      <a:pt x="0" y="0"/>
                    </a:lnTo>
                  </a:path>
                </a:pathLst>
              </a:custGeom>
              <a:ln w="13716">
                <a:solidFill>
                  <a:srgbClr val="000000"/>
                </a:solidFill>
                <a:prstDash val="solid"/>
              </a:ln>
            </p:spPr>
            <p:txBody>
              <a:bodyPr wrap="square" lIns="0" tIns="0" rIns="0" bIns="0" rtlCol="0">
                <a:prstTxWarp prst="textNoShape">
                  <a:avLst/>
                </a:prstTxWarp>
                <a:noAutofit/>
              </a:bodyPr>
              <a:lstStyle/>
              <a:p>
                <a:endParaRPr lang="en-US"/>
              </a:p>
            </p:txBody>
          </p:sp>
          <p:sp>
            <p:nvSpPr>
              <p:cNvPr id="12" name="Graphic 44"/>
              <p:cNvSpPr/>
              <p:nvPr/>
            </p:nvSpPr>
            <p:spPr>
              <a:xfrm>
                <a:off x="11429" y="545591"/>
                <a:ext cx="2176780" cy="1270"/>
              </a:xfrm>
              <a:custGeom>
                <a:avLst/>
                <a:gdLst/>
                <a:ahLst/>
                <a:cxnLst/>
                <a:rect l="l" t="t" r="r" b="b"/>
                <a:pathLst>
                  <a:path w="2176780">
                    <a:moveTo>
                      <a:pt x="2176272" y="0"/>
                    </a:moveTo>
                    <a:lnTo>
                      <a:pt x="0" y="0"/>
                    </a:lnTo>
                  </a:path>
                </a:pathLst>
              </a:custGeom>
              <a:ln w="13716">
                <a:solidFill>
                  <a:srgbClr val="000000"/>
                </a:solidFill>
                <a:prstDash val="solid"/>
              </a:ln>
            </p:spPr>
            <p:txBody>
              <a:bodyPr wrap="square" lIns="0" tIns="0" rIns="0" bIns="0" rtlCol="0">
                <a:prstTxWarp prst="textNoShape">
                  <a:avLst/>
                </a:prstTxWarp>
                <a:noAutofit/>
              </a:bodyPr>
              <a:lstStyle/>
              <a:p>
                <a:endParaRPr lang="en-US"/>
              </a:p>
            </p:txBody>
          </p:sp>
          <p:sp>
            <p:nvSpPr>
              <p:cNvPr id="13" name="Graphic 45"/>
              <p:cNvSpPr/>
              <p:nvPr/>
            </p:nvSpPr>
            <p:spPr>
              <a:xfrm>
                <a:off x="11429" y="1089660"/>
                <a:ext cx="2176780" cy="1270"/>
              </a:xfrm>
              <a:custGeom>
                <a:avLst/>
                <a:gdLst/>
                <a:ahLst/>
                <a:cxnLst/>
                <a:rect l="l" t="t" r="r" b="b"/>
                <a:pathLst>
                  <a:path w="2176780">
                    <a:moveTo>
                      <a:pt x="2176272" y="0"/>
                    </a:moveTo>
                    <a:lnTo>
                      <a:pt x="0" y="0"/>
                    </a:lnTo>
                  </a:path>
                </a:pathLst>
              </a:custGeom>
              <a:ln w="13716">
                <a:solidFill>
                  <a:srgbClr val="000000"/>
                </a:solidFill>
                <a:prstDash val="solid"/>
              </a:ln>
            </p:spPr>
            <p:txBody>
              <a:bodyPr wrap="square" lIns="0" tIns="0" rIns="0" bIns="0" rtlCol="0">
                <a:prstTxWarp prst="textNoShape">
                  <a:avLst/>
                </a:prstTxWarp>
                <a:noAutofit/>
              </a:bodyPr>
              <a:lstStyle/>
              <a:p>
                <a:endParaRPr lang="en-US"/>
              </a:p>
            </p:txBody>
          </p:sp>
          <p:sp>
            <p:nvSpPr>
              <p:cNvPr id="17" name="Graphic 49"/>
              <p:cNvSpPr/>
              <p:nvPr/>
            </p:nvSpPr>
            <p:spPr>
              <a:xfrm>
                <a:off x="1579610" y="477450"/>
                <a:ext cx="145207" cy="144190"/>
              </a:xfrm>
              <a:custGeom>
                <a:avLst/>
                <a:gdLst/>
                <a:ahLst/>
                <a:cxnLst/>
                <a:rect l="l" t="t" r="r" b="b"/>
                <a:pathLst>
                  <a:path w="271780" h="269875">
                    <a:moveTo>
                      <a:pt x="0" y="135636"/>
                    </a:moveTo>
                    <a:lnTo>
                      <a:pt x="16764" y="71628"/>
                    </a:lnTo>
                    <a:lnTo>
                      <a:pt x="57912" y="22860"/>
                    </a:lnTo>
                    <a:lnTo>
                      <a:pt x="120396" y="0"/>
                    </a:lnTo>
                    <a:lnTo>
                      <a:pt x="152400" y="0"/>
                    </a:lnTo>
                    <a:lnTo>
                      <a:pt x="214884" y="22860"/>
                    </a:lnTo>
                    <a:lnTo>
                      <a:pt x="256032" y="71628"/>
                    </a:lnTo>
                    <a:lnTo>
                      <a:pt x="271272" y="135636"/>
                    </a:lnTo>
                    <a:lnTo>
                      <a:pt x="266700" y="167640"/>
                    </a:lnTo>
                    <a:lnTo>
                      <a:pt x="237744" y="225552"/>
                    </a:lnTo>
                    <a:lnTo>
                      <a:pt x="184404" y="262128"/>
                    </a:lnTo>
                    <a:lnTo>
                      <a:pt x="152400" y="269748"/>
                    </a:lnTo>
                    <a:lnTo>
                      <a:pt x="120396" y="269748"/>
                    </a:lnTo>
                    <a:lnTo>
                      <a:pt x="57912" y="245364"/>
                    </a:lnTo>
                    <a:lnTo>
                      <a:pt x="16764" y="198120"/>
                    </a:lnTo>
                    <a:lnTo>
                      <a:pt x="0" y="135636"/>
                    </a:lnTo>
                    <a:close/>
                  </a:path>
                </a:pathLst>
              </a:custGeom>
              <a:solidFill>
                <a:schemeClr val="tx1"/>
              </a:solidFill>
              <a:ln w="13716">
                <a:solidFill>
                  <a:srgbClr val="000000"/>
                </a:solidFill>
                <a:prstDash val="solid"/>
              </a:ln>
            </p:spPr>
            <p:txBody>
              <a:bodyPr wrap="square" lIns="0" tIns="0" rIns="0" bIns="0" rtlCol="0">
                <a:prstTxWarp prst="textNoShape">
                  <a:avLst/>
                </a:prstTxWarp>
                <a:noAutofit/>
              </a:bodyPr>
              <a:lstStyle/>
              <a:p>
                <a:endParaRPr lang="en-US"/>
              </a:p>
            </p:txBody>
          </p:sp>
          <p:sp>
            <p:nvSpPr>
              <p:cNvPr id="18" name="Graphic 50"/>
              <p:cNvSpPr/>
              <p:nvPr/>
            </p:nvSpPr>
            <p:spPr>
              <a:xfrm>
                <a:off x="1101089" y="0"/>
                <a:ext cx="1270" cy="2176780"/>
              </a:xfrm>
              <a:custGeom>
                <a:avLst/>
                <a:gdLst/>
                <a:ahLst/>
                <a:cxnLst/>
                <a:rect l="l" t="t" r="r" b="b"/>
                <a:pathLst>
                  <a:path h="2176780">
                    <a:moveTo>
                      <a:pt x="0" y="0"/>
                    </a:moveTo>
                    <a:lnTo>
                      <a:pt x="0" y="2176272"/>
                    </a:lnTo>
                  </a:path>
                </a:pathLst>
              </a:custGeom>
              <a:ln w="13716">
                <a:solidFill>
                  <a:srgbClr val="000000"/>
                </a:solidFill>
                <a:prstDash val="solid"/>
              </a:ln>
            </p:spPr>
            <p:txBody>
              <a:bodyPr wrap="square" lIns="0" tIns="0" rIns="0" bIns="0" rtlCol="0">
                <a:prstTxWarp prst="textNoShape">
                  <a:avLst/>
                </a:prstTxWarp>
                <a:noAutofit/>
              </a:bodyPr>
              <a:lstStyle/>
              <a:p>
                <a:endParaRPr lang="en-US"/>
              </a:p>
            </p:txBody>
          </p:sp>
          <p:sp>
            <p:nvSpPr>
              <p:cNvPr id="19" name="Graphic 51"/>
              <p:cNvSpPr/>
              <p:nvPr/>
            </p:nvSpPr>
            <p:spPr>
              <a:xfrm>
                <a:off x="557022" y="0"/>
                <a:ext cx="1270" cy="2176780"/>
              </a:xfrm>
              <a:custGeom>
                <a:avLst/>
                <a:gdLst/>
                <a:ahLst/>
                <a:cxnLst/>
                <a:rect l="l" t="t" r="r" b="b"/>
                <a:pathLst>
                  <a:path h="2176780">
                    <a:moveTo>
                      <a:pt x="0" y="0"/>
                    </a:moveTo>
                    <a:lnTo>
                      <a:pt x="0" y="2176272"/>
                    </a:lnTo>
                  </a:path>
                </a:pathLst>
              </a:custGeom>
              <a:ln w="13716">
                <a:solidFill>
                  <a:srgbClr val="000000"/>
                </a:solidFill>
                <a:prstDash val="solid"/>
              </a:ln>
            </p:spPr>
            <p:txBody>
              <a:bodyPr wrap="square" lIns="0" tIns="0" rIns="0" bIns="0" rtlCol="0">
                <a:prstTxWarp prst="textNoShape">
                  <a:avLst/>
                </a:prstTxWarp>
                <a:noAutofit/>
              </a:bodyPr>
              <a:lstStyle/>
              <a:p>
                <a:endParaRPr lang="en-US"/>
              </a:p>
            </p:txBody>
          </p:sp>
          <p:sp>
            <p:nvSpPr>
              <p:cNvPr id="21" name="Graphic 53"/>
              <p:cNvSpPr/>
              <p:nvPr/>
            </p:nvSpPr>
            <p:spPr>
              <a:xfrm>
                <a:off x="1018890" y="1010690"/>
                <a:ext cx="152794" cy="151017"/>
              </a:xfrm>
              <a:custGeom>
                <a:avLst/>
                <a:gdLst/>
                <a:ahLst/>
                <a:cxnLst/>
                <a:rect l="l" t="t" r="r" b="b"/>
                <a:pathLst>
                  <a:path w="273050" h="269875">
                    <a:moveTo>
                      <a:pt x="0" y="137160"/>
                    </a:moveTo>
                    <a:lnTo>
                      <a:pt x="16763" y="71627"/>
                    </a:lnTo>
                    <a:lnTo>
                      <a:pt x="57912" y="22860"/>
                    </a:lnTo>
                    <a:lnTo>
                      <a:pt x="120396" y="0"/>
                    </a:lnTo>
                    <a:lnTo>
                      <a:pt x="152400" y="0"/>
                    </a:lnTo>
                    <a:lnTo>
                      <a:pt x="211836" y="22860"/>
                    </a:lnTo>
                    <a:lnTo>
                      <a:pt x="256032" y="71627"/>
                    </a:lnTo>
                    <a:lnTo>
                      <a:pt x="272796" y="137160"/>
                    </a:lnTo>
                    <a:lnTo>
                      <a:pt x="268224" y="169163"/>
                    </a:lnTo>
                    <a:lnTo>
                      <a:pt x="237744" y="225551"/>
                    </a:lnTo>
                    <a:lnTo>
                      <a:pt x="184403" y="263651"/>
                    </a:lnTo>
                    <a:lnTo>
                      <a:pt x="152400" y="269748"/>
                    </a:lnTo>
                    <a:lnTo>
                      <a:pt x="120396" y="269748"/>
                    </a:lnTo>
                    <a:lnTo>
                      <a:pt x="57912" y="246887"/>
                    </a:lnTo>
                    <a:lnTo>
                      <a:pt x="16763" y="198120"/>
                    </a:lnTo>
                    <a:lnTo>
                      <a:pt x="0" y="137160"/>
                    </a:lnTo>
                    <a:close/>
                  </a:path>
                </a:pathLst>
              </a:custGeom>
              <a:solidFill>
                <a:schemeClr val="tx1"/>
              </a:solidFill>
              <a:ln w="13716">
                <a:solidFill>
                  <a:srgbClr val="000000"/>
                </a:solidFill>
                <a:prstDash val="solid"/>
              </a:ln>
            </p:spPr>
            <p:txBody>
              <a:bodyPr wrap="square" lIns="0" tIns="0" rIns="0" bIns="0" rtlCol="0">
                <a:prstTxWarp prst="textNoShape">
                  <a:avLst/>
                </a:prstTxWarp>
                <a:noAutofit/>
              </a:bodyPr>
              <a:lstStyle/>
              <a:p>
                <a:endParaRPr lang="en-US"/>
              </a:p>
            </p:txBody>
          </p:sp>
          <p:sp>
            <p:nvSpPr>
              <p:cNvPr id="22" name="Graphic 54"/>
              <p:cNvSpPr/>
              <p:nvPr/>
            </p:nvSpPr>
            <p:spPr>
              <a:xfrm>
                <a:off x="11429" y="653795"/>
                <a:ext cx="2176780" cy="599440"/>
              </a:xfrm>
              <a:custGeom>
                <a:avLst/>
                <a:gdLst/>
                <a:ahLst/>
                <a:cxnLst/>
                <a:rect l="l" t="t" r="r" b="b"/>
                <a:pathLst>
                  <a:path w="2176780" h="599440">
                    <a:moveTo>
                      <a:pt x="0" y="598931"/>
                    </a:moveTo>
                    <a:lnTo>
                      <a:pt x="2176272" y="0"/>
                    </a:lnTo>
                  </a:path>
                </a:pathLst>
              </a:custGeom>
              <a:ln w="22860">
                <a:solidFill>
                  <a:srgbClr val="000000"/>
                </a:solidFill>
                <a:prstDash val="solid"/>
              </a:ln>
            </p:spPr>
            <p:txBody>
              <a:bodyPr wrap="square" lIns="0" tIns="0" rIns="0" bIns="0" rtlCol="0">
                <a:prstTxWarp prst="textNoShape">
                  <a:avLst/>
                </a:prstTxWarp>
                <a:noAutofit/>
              </a:bodyPr>
              <a:lstStyle/>
              <a:p>
                <a:endParaRPr lang="en-US"/>
              </a:p>
            </p:txBody>
          </p:sp>
          <p:sp>
            <p:nvSpPr>
              <p:cNvPr id="26" name="Graphic 49"/>
              <p:cNvSpPr/>
              <p:nvPr/>
            </p:nvSpPr>
            <p:spPr>
              <a:xfrm>
                <a:off x="1579863" y="1012631"/>
                <a:ext cx="145207" cy="144190"/>
              </a:xfrm>
              <a:custGeom>
                <a:avLst/>
                <a:gdLst/>
                <a:ahLst/>
                <a:cxnLst/>
                <a:rect l="l" t="t" r="r" b="b"/>
                <a:pathLst>
                  <a:path w="271780" h="269875">
                    <a:moveTo>
                      <a:pt x="0" y="135636"/>
                    </a:moveTo>
                    <a:lnTo>
                      <a:pt x="16764" y="71628"/>
                    </a:lnTo>
                    <a:lnTo>
                      <a:pt x="57912" y="22860"/>
                    </a:lnTo>
                    <a:lnTo>
                      <a:pt x="120396" y="0"/>
                    </a:lnTo>
                    <a:lnTo>
                      <a:pt x="152400" y="0"/>
                    </a:lnTo>
                    <a:lnTo>
                      <a:pt x="214884" y="22860"/>
                    </a:lnTo>
                    <a:lnTo>
                      <a:pt x="256032" y="71628"/>
                    </a:lnTo>
                    <a:lnTo>
                      <a:pt x="271272" y="135636"/>
                    </a:lnTo>
                    <a:lnTo>
                      <a:pt x="266700" y="167640"/>
                    </a:lnTo>
                    <a:lnTo>
                      <a:pt x="237744" y="225552"/>
                    </a:lnTo>
                    <a:lnTo>
                      <a:pt x="184404" y="262128"/>
                    </a:lnTo>
                    <a:lnTo>
                      <a:pt x="152400" y="269748"/>
                    </a:lnTo>
                    <a:lnTo>
                      <a:pt x="120396" y="269748"/>
                    </a:lnTo>
                    <a:lnTo>
                      <a:pt x="57912" y="245364"/>
                    </a:lnTo>
                    <a:lnTo>
                      <a:pt x="16764" y="198120"/>
                    </a:lnTo>
                    <a:lnTo>
                      <a:pt x="0" y="135636"/>
                    </a:lnTo>
                    <a:close/>
                  </a:path>
                </a:pathLst>
              </a:custGeom>
              <a:ln w="13716">
                <a:solidFill>
                  <a:srgbClr val="000000"/>
                </a:solidFill>
                <a:prstDash val="solid"/>
              </a:ln>
            </p:spPr>
            <p:txBody>
              <a:bodyPr wrap="square" lIns="0" tIns="0" rIns="0" bIns="0" rtlCol="0">
                <a:prstTxWarp prst="textNoShape">
                  <a:avLst/>
                </a:prstTxWarp>
                <a:noAutofit/>
              </a:bodyPr>
              <a:lstStyle/>
              <a:p>
                <a:endParaRPr lang="en-US"/>
              </a:p>
            </p:txBody>
          </p:sp>
          <p:sp>
            <p:nvSpPr>
              <p:cNvPr id="27" name="Graphic 49"/>
              <p:cNvSpPr/>
              <p:nvPr/>
            </p:nvSpPr>
            <p:spPr>
              <a:xfrm>
                <a:off x="1613501" y="747576"/>
                <a:ext cx="90958" cy="90321"/>
              </a:xfrm>
              <a:custGeom>
                <a:avLst/>
                <a:gdLst/>
                <a:ahLst/>
                <a:cxnLst/>
                <a:rect l="l" t="t" r="r" b="b"/>
                <a:pathLst>
                  <a:path w="271780" h="269875">
                    <a:moveTo>
                      <a:pt x="0" y="135636"/>
                    </a:moveTo>
                    <a:lnTo>
                      <a:pt x="16764" y="71628"/>
                    </a:lnTo>
                    <a:lnTo>
                      <a:pt x="57912" y="22860"/>
                    </a:lnTo>
                    <a:lnTo>
                      <a:pt x="120396" y="0"/>
                    </a:lnTo>
                    <a:lnTo>
                      <a:pt x="152400" y="0"/>
                    </a:lnTo>
                    <a:lnTo>
                      <a:pt x="214884" y="22860"/>
                    </a:lnTo>
                    <a:lnTo>
                      <a:pt x="256032" y="71628"/>
                    </a:lnTo>
                    <a:lnTo>
                      <a:pt x="271272" y="135636"/>
                    </a:lnTo>
                    <a:lnTo>
                      <a:pt x="266700" y="167640"/>
                    </a:lnTo>
                    <a:lnTo>
                      <a:pt x="237744" y="225552"/>
                    </a:lnTo>
                    <a:lnTo>
                      <a:pt x="184404" y="262128"/>
                    </a:lnTo>
                    <a:lnTo>
                      <a:pt x="152400" y="269748"/>
                    </a:lnTo>
                    <a:lnTo>
                      <a:pt x="120396" y="269748"/>
                    </a:lnTo>
                    <a:lnTo>
                      <a:pt x="57912" y="245364"/>
                    </a:lnTo>
                    <a:lnTo>
                      <a:pt x="16764" y="198120"/>
                    </a:lnTo>
                    <a:lnTo>
                      <a:pt x="0" y="135636"/>
                    </a:lnTo>
                    <a:close/>
                  </a:path>
                </a:pathLst>
              </a:custGeom>
              <a:solidFill>
                <a:schemeClr val="tx1"/>
              </a:solidFill>
              <a:ln w="13716">
                <a:solidFill>
                  <a:srgbClr val="000000"/>
                </a:solidFill>
                <a:prstDash val="solid"/>
              </a:ln>
            </p:spPr>
            <p:txBody>
              <a:bodyPr wrap="square" lIns="0" tIns="0" rIns="0" bIns="0" rtlCol="0">
                <a:prstTxWarp prst="textNoShape">
                  <a:avLst/>
                </a:prstTxWarp>
                <a:noAutofit/>
              </a:bodyPr>
              <a:lstStyle/>
              <a:p>
                <a:endParaRPr lang="en-US"/>
              </a:p>
            </p:txBody>
          </p:sp>
        </p:grpSp>
        <p:sp>
          <p:nvSpPr>
            <p:cNvPr id="23" name="TextBox 22"/>
            <p:cNvSpPr txBox="1"/>
            <p:nvPr/>
          </p:nvSpPr>
          <p:spPr>
            <a:xfrm>
              <a:off x="9895682" y="2443376"/>
              <a:ext cx="1616468" cy="369332"/>
            </a:xfrm>
            <a:prstGeom prst="rect">
              <a:avLst/>
            </a:prstGeom>
            <a:noFill/>
          </p:spPr>
          <p:txBody>
            <a:bodyPr wrap="none" rtlCol="0">
              <a:spAutoFit/>
            </a:bodyPr>
            <a:lstStyle/>
            <a:p>
              <a:r>
                <a:rPr lang="en-US" smtClean="0"/>
                <a:t>(x</a:t>
              </a:r>
              <a:r>
                <a:rPr lang="en-US" baseline="-25000" smtClean="0"/>
                <a:t>i</a:t>
              </a:r>
              <a:r>
                <a:rPr lang="en-US" smtClean="0"/>
                <a:t>+1,Round(y))</a:t>
              </a:r>
              <a:endParaRPr lang="en-US"/>
            </a:p>
          </p:txBody>
        </p:sp>
        <p:sp>
          <p:nvSpPr>
            <p:cNvPr id="24" name="TextBox 23"/>
            <p:cNvSpPr txBox="1"/>
            <p:nvPr/>
          </p:nvSpPr>
          <p:spPr>
            <a:xfrm>
              <a:off x="10484595" y="3116454"/>
              <a:ext cx="850041" cy="369332"/>
            </a:xfrm>
            <a:prstGeom prst="rect">
              <a:avLst/>
            </a:prstGeom>
            <a:noFill/>
          </p:spPr>
          <p:txBody>
            <a:bodyPr wrap="none" rtlCol="0">
              <a:spAutoFit/>
            </a:bodyPr>
            <a:lstStyle/>
            <a:p>
              <a:r>
                <a:rPr lang="en-US" smtClean="0"/>
                <a:t>(x</a:t>
              </a:r>
              <a:r>
                <a:rPr lang="en-US" baseline="-25000" smtClean="0"/>
                <a:t>i</a:t>
              </a:r>
              <a:r>
                <a:rPr lang="en-US" smtClean="0"/>
                <a:t>+1,y)</a:t>
              </a:r>
              <a:endParaRPr lang="en-US"/>
            </a:p>
          </p:txBody>
        </p:sp>
        <p:sp>
          <p:nvSpPr>
            <p:cNvPr id="28" name="TextBox 27"/>
            <p:cNvSpPr txBox="1"/>
            <p:nvPr/>
          </p:nvSpPr>
          <p:spPr>
            <a:xfrm>
              <a:off x="9318989" y="3737266"/>
              <a:ext cx="662489" cy="369332"/>
            </a:xfrm>
            <a:prstGeom prst="rect">
              <a:avLst/>
            </a:prstGeom>
            <a:noFill/>
          </p:spPr>
          <p:txBody>
            <a:bodyPr wrap="none" rtlCol="0">
              <a:spAutoFit/>
            </a:bodyPr>
            <a:lstStyle/>
            <a:p>
              <a:r>
                <a:rPr lang="en-US" smtClean="0"/>
                <a:t>(x</a:t>
              </a:r>
              <a:r>
                <a:rPr lang="en-US" baseline="-25000" smtClean="0"/>
                <a:t>i</a:t>
              </a:r>
              <a:r>
                <a:rPr lang="en-US" smtClean="0"/>
                <a:t>,y</a:t>
              </a:r>
              <a:r>
                <a:rPr lang="en-US" baseline="-25000" smtClean="0"/>
                <a:t>i</a:t>
              </a:r>
              <a:r>
                <a:rPr lang="en-US" smtClean="0"/>
                <a:t>)</a:t>
              </a:r>
              <a:endParaRPr lang="en-US"/>
            </a:p>
          </p:txBody>
        </p:sp>
      </p:grpSp>
    </p:spTree>
    <p:extLst>
      <p:ext uri="{BB962C8B-B14F-4D97-AF65-F5344CB8AC3E}">
        <p14:creationId xmlns:p14="http://schemas.microsoft.com/office/powerpoint/2010/main" val="75127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normAutofit/>
          </a:bodyPr>
          <a:lstStyle/>
          <a:p>
            <a:r>
              <a:rPr lang="en-US" b="1" smtClean="0"/>
              <a:t>Thuật toán DDA </a:t>
            </a:r>
            <a:br>
              <a:rPr lang="en-US" b="1" smtClean="0"/>
            </a:br>
            <a:r>
              <a:rPr lang="en-US" b="1" smtClean="0"/>
              <a:t>(Digital Differential Analizer)</a:t>
            </a:r>
            <a:endParaRPr lang="en-US"/>
          </a:p>
        </p:txBody>
      </p:sp>
      <p:sp>
        <p:nvSpPr>
          <p:cNvPr id="8" name="Content Placeholder 7"/>
          <p:cNvSpPr>
            <a:spLocks noGrp="1"/>
          </p:cNvSpPr>
          <p:nvPr>
            <p:ph idx="1"/>
          </p:nvPr>
        </p:nvSpPr>
        <p:spPr>
          <a:xfrm>
            <a:off x="1542395" y="2710489"/>
            <a:ext cx="6597902" cy="3038554"/>
          </a:xfrm>
        </p:spPr>
        <p:txBody>
          <a:bodyPr>
            <a:normAutofit fontScale="92500" lnSpcReduction="10000"/>
          </a:bodyPr>
          <a:lstStyle/>
          <a:p>
            <a:pPr marL="0" indent="0">
              <a:buNone/>
            </a:pPr>
            <a:r>
              <a:rPr lang="en-US" smtClean="0">
                <a:latin typeface="Arial (Body)"/>
              </a:rPr>
              <a:t>Giả sử vẽ được (x</a:t>
            </a:r>
            <a:r>
              <a:rPr lang="en-US" baseline="-25000" smtClean="0">
                <a:latin typeface="Arial (Body)"/>
              </a:rPr>
              <a:t>i</a:t>
            </a:r>
            <a:r>
              <a:rPr lang="en-US" smtClean="0">
                <a:latin typeface="Arial (Body)"/>
              </a:rPr>
              <a:t>,y</a:t>
            </a:r>
            <a:r>
              <a:rPr lang="en-US" baseline="-25000" smtClean="0">
                <a:latin typeface="Arial (Body)"/>
              </a:rPr>
              <a:t>i</a:t>
            </a:r>
            <a:r>
              <a:rPr lang="en-US" smtClean="0">
                <a:latin typeface="Arial (Body)"/>
              </a:rPr>
              <a:t>)</a:t>
            </a:r>
          </a:p>
          <a:p>
            <a:pPr marL="0" indent="0">
              <a:buNone/>
            </a:pPr>
            <a:r>
              <a:rPr lang="en-US" smtClean="0">
                <a:latin typeface="Arial (Body)"/>
              </a:rPr>
              <a:t>Tiếp theo, chọn y</a:t>
            </a:r>
            <a:r>
              <a:rPr lang="en-US" baseline="-25000" smtClean="0">
                <a:latin typeface="Arial (Body)"/>
              </a:rPr>
              <a:t>i+1</a:t>
            </a:r>
            <a:r>
              <a:rPr lang="en-US" smtClean="0">
                <a:latin typeface="Arial (Body)"/>
              </a:rPr>
              <a:t> là </a:t>
            </a:r>
            <a:r>
              <a:rPr lang="en-US">
                <a:latin typeface="Arial (Body)"/>
              </a:rPr>
              <a:t>y</a:t>
            </a:r>
            <a:r>
              <a:rPr lang="en-US" baseline="-25000">
                <a:latin typeface="Arial (Body)"/>
              </a:rPr>
              <a:t>i</a:t>
            </a:r>
            <a:r>
              <a:rPr lang="en-US" smtClean="0">
                <a:latin typeface="Arial (Body)"/>
              </a:rPr>
              <a:t> hay y</a:t>
            </a:r>
            <a:r>
              <a:rPr lang="en-US" baseline="-25000" smtClean="0">
                <a:latin typeface="Arial (Body)"/>
              </a:rPr>
              <a:t>i+1</a:t>
            </a:r>
            <a:r>
              <a:rPr lang="en-US" smtClean="0">
                <a:latin typeface="Arial (Body)"/>
              </a:rPr>
              <a:t>=Round(y) phụ thuộc vào phương trình của đường thẳng</a:t>
            </a:r>
          </a:p>
          <a:p>
            <a:pPr marL="0" indent="0">
              <a:buNone/>
            </a:pPr>
            <a:r>
              <a:rPr lang="en-US" smtClean="0">
                <a:latin typeface="Arial (Body)"/>
              </a:rPr>
              <a:t>Thay x</a:t>
            </a:r>
            <a:r>
              <a:rPr lang="en-US" baseline="-25000" smtClean="0">
                <a:latin typeface="Arial (Body)"/>
              </a:rPr>
              <a:t>i</a:t>
            </a:r>
            <a:r>
              <a:rPr lang="en-US" smtClean="0">
                <a:latin typeface="Arial (Body)"/>
              </a:rPr>
              <a:t>+1 vào phương trình đường thẳng:</a:t>
            </a:r>
          </a:p>
          <a:p>
            <a:pPr marL="0" indent="0">
              <a:buNone/>
            </a:pPr>
            <a:r>
              <a:rPr lang="en-US" smtClean="0">
                <a:latin typeface="Arial (Body)"/>
              </a:rPr>
              <a:t>y</a:t>
            </a:r>
            <a:r>
              <a:rPr lang="en-US" baseline="-25000" smtClean="0">
                <a:latin typeface="Arial (Body)"/>
              </a:rPr>
              <a:t>i+1</a:t>
            </a:r>
            <a:r>
              <a:rPr lang="en-US" smtClean="0">
                <a:latin typeface="Arial (Body)"/>
              </a:rPr>
              <a:t>=k(x</a:t>
            </a:r>
            <a:r>
              <a:rPr lang="en-US" baseline="-25000" smtClean="0">
                <a:latin typeface="Arial (Body)"/>
              </a:rPr>
              <a:t>i</a:t>
            </a:r>
            <a:r>
              <a:rPr lang="en-US" smtClean="0">
                <a:latin typeface="Arial (Body)"/>
              </a:rPr>
              <a:t>+1)+m</a:t>
            </a:r>
          </a:p>
          <a:p>
            <a:pPr marL="0" indent="0">
              <a:buNone/>
            </a:pPr>
            <a:r>
              <a:rPr lang="en-US" smtClean="0">
                <a:latin typeface="Arial (Body)"/>
              </a:rPr>
              <a:t>y</a:t>
            </a:r>
            <a:r>
              <a:rPr lang="en-US" baseline="-25000" smtClean="0">
                <a:latin typeface="Arial (Body)"/>
              </a:rPr>
              <a:t>i+1</a:t>
            </a:r>
            <a:r>
              <a:rPr lang="en-US" smtClean="0">
                <a:latin typeface="Arial (Body)"/>
              </a:rPr>
              <a:t>=kx</a:t>
            </a:r>
            <a:r>
              <a:rPr lang="en-US" baseline="-25000" smtClean="0">
                <a:latin typeface="Arial (Body)"/>
              </a:rPr>
              <a:t>i</a:t>
            </a:r>
            <a:r>
              <a:rPr lang="en-US" smtClean="0">
                <a:latin typeface="Arial (Body)"/>
              </a:rPr>
              <a:t>+m+k</a:t>
            </a:r>
          </a:p>
          <a:p>
            <a:pPr marL="0" indent="0">
              <a:buNone/>
            </a:pPr>
            <a:r>
              <a:rPr lang="en-US" smtClean="0">
                <a:latin typeface="Arial (Body)"/>
              </a:rPr>
              <a:t>y</a:t>
            </a:r>
            <a:r>
              <a:rPr lang="en-US" baseline="-25000" smtClean="0">
                <a:latin typeface="Arial (Body)"/>
              </a:rPr>
              <a:t>i+1</a:t>
            </a:r>
            <a:r>
              <a:rPr lang="en-US" smtClean="0">
                <a:latin typeface="Arial (Body)"/>
              </a:rPr>
              <a:t>=y</a:t>
            </a:r>
            <a:r>
              <a:rPr lang="en-US" baseline="-25000" smtClean="0">
                <a:latin typeface="Arial (Body)"/>
              </a:rPr>
              <a:t>i</a:t>
            </a:r>
            <a:r>
              <a:rPr lang="en-US" smtClean="0">
                <a:latin typeface="Arial (Body)"/>
              </a:rPr>
              <a:t>+k</a:t>
            </a:r>
          </a:p>
          <a:p>
            <a:pPr marL="0" indent="0">
              <a:buNone/>
            </a:pPr>
            <a:endParaRPr lang="vi-VN">
              <a:latin typeface="Arial (Body)"/>
            </a:endParaRPr>
          </a:p>
          <a:p>
            <a:endParaRPr lang="en-US">
              <a:latin typeface="Arial (Body)"/>
            </a:endParaRPr>
          </a:p>
        </p:txBody>
      </p:sp>
      <p:sp>
        <p:nvSpPr>
          <p:cNvPr id="7" name="Slide Number Placeholder 6"/>
          <p:cNvSpPr>
            <a:spLocks noGrp="1"/>
          </p:cNvSpPr>
          <p:nvPr>
            <p:ph type="sldNum" sz="quarter" idx="12"/>
          </p:nvPr>
        </p:nvSpPr>
        <p:spPr/>
        <p:txBody>
          <a:bodyPr/>
          <a:lstStyle/>
          <a:p>
            <a:fld id="{EAC668D0-FFF1-47C5-8061-FF1B22C34E7B}" type="slidenum">
              <a:rPr lang="en-US" smtClean="0"/>
              <a:t>15</a:t>
            </a:fld>
            <a:endParaRPr lang="en-US"/>
          </a:p>
        </p:txBody>
      </p:sp>
      <p:grpSp>
        <p:nvGrpSpPr>
          <p:cNvPr id="3" name="Group 2"/>
          <p:cNvGrpSpPr/>
          <p:nvPr/>
        </p:nvGrpSpPr>
        <p:grpSpPr>
          <a:xfrm>
            <a:off x="7963361" y="2318327"/>
            <a:ext cx="3264078" cy="2764059"/>
            <a:chOff x="8248072" y="2244436"/>
            <a:chExt cx="3264078" cy="2764059"/>
          </a:xfrm>
        </p:grpSpPr>
        <p:grpSp>
          <p:nvGrpSpPr>
            <p:cNvPr id="9" name="Group 8"/>
            <p:cNvGrpSpPr>
              <a:grpSpLocks/>
            </p:cNvGrpSpPr>
            <p:nvPr/>
          </p:nvGrpSpPr>
          <p:grpSpPr>
            <a:xfrm>
              <a:off x="8248072" y="2244436"/>
              <a:ext cx="2926425" cy="2764059"/>
              <a:chOff x="11429" y="0"/>
              <a:chExt cx="2176780" cy="2176780"/>
            </a:xfrm>
          </p:grpSpPr>
          <p:sp>
            <p:nvSpPr>
              <p:cNvPr id="10" name="Graphic 42"/>
              <p:cNvSpPr/>
              <p:nvPr/>
            </p:nvSpPr>
            <p:spPr>
              <a:xfrm>
                <a:off x="1643633" y="0"/>
                <a:ext cx="1270" cy="2176780"/>
              </a:xfrm>
              <a:custGeom>
                <a:avLst/>
                <a:gdLst/>
                <a:ahLst/>
                <a:cxnLst/>
                <a:rect l="l" t="t" r="r" b="b"/>
                <a:pathLst>
                  <a:path h="2176780">
                    <a:moveTo>
                      <a:pt x="0" y="0"/>
                    </a:moveTo>
                    <a:lnTo>
                      <a:pt x="0" y="2176272"/>
                    </a:lnTo>
                  </a:path>
                </a:pathLst>
              </a:custGeom>
              <a:ln w="13716">
                <a:solidFill>
                  <a:srgbClr val="000000"/>
                </a:solidFill>
                <a:prstDash val="solid"/>
              </a:ln>
            </p:spPr>
            <p:txBody>
              <a:bodyPr wrap="square" lIns="0" tIns="0" rIns="0" bIns="0" rtlCol="0">
                <a:prstTxWarp prst="textNoShape">
                  <a:avLst/>
                </a:prstTxWarp>
                <a:noAutofit/>
              </a:bodyPr>
              <a:lstStyle/>
              <a:p>
                <a:endParaRPr lang="en-US"/>
              </a:p>
            </p:txBody>
          </p:sp>
          <p:sp>
            <p:nvSpPr>
              <p:cNvPr id="11" name="Graphic 43"/>
              <p:cNvSpPr/>
              <p:nvPr/>
            </p:nvSpPr>
            <p:spPr>
              <a:xfrm>
                <a:off x="11429" y="1632204"/>
                <a:ext cx="2176780" cy="1270"/>
              </a:xfrm>
              <a:custGeom>
                <a:avLst/>
                <a:gdLst/>
                <a:ahLst/>
                <a:cxnLst/>
                <a:rect l="l" t="t" r="r" b="b"/>
                <a:pathLst>
                  <a:path w="2176780">
                    <a:moveTo>
                      <a:pt x="2176272" y="0"/>
                    </a:moveTo>
                    <a:lnTo>
                      <a:pt x="0" y="0"/>
                    </a:lnTo>
                  </a:path>
                </a:pathLst>
              </a:custGeom>
              <a:ln w="13716">
                <a:solidFill>
                  <a:srgbClr val="000000"/>
                </a:solidFill>
                <a:prstDash val="solid"/>
              </a:ln>
            </p:spPr>
            <p:txBody>
              <a:bodyPr wrap="square" lIns="0" tIns="0" rIns="0" bIns="0" rtlCol="0">
                <a:prstTxWarp prst="textNoShape">
                  <a:avLst/>
                </a:prstTxWarp>
                <a:noAutofit/>
              </a:bodyPr>
              <a:lstStyle/>
              <a:p>
                <a:endParaRPr lang="en-US"/>
              </a:p>
            </p:txBody>
          </p:sp>
          <p:sp>
            <p:nvSpPr>
              <p:cNvPr id="12" name="Graphic 44"/>
              <p:cNvSpPr/>
              <p:nvPr/>
            </p:nvSpPr>
            <p:spPr>
              <a:xfrm>
                <a:off x="11429" y="545591"/>
                <a:ext cx="2176780" cy="1270"/>
              </a:xfrm>
              <a:custGeom>
                <a:avLst/>
                <a:gdLst/>
                <a:ahLst/>
                <a:cxnLst/>
                <a:rect l="l" t="t" r="r" b="b"/>
                <a:pathLst>
                  <a:path w="2176780">
                    <a:moveTo>
                      <a:pt x="2176272" y="0"/>
                    </a:moveTo>
                    <a:lnTo>
                      <a:pt x="0" y="0"/>
                    </a:lnTo>
                  </a:path>
                </a:pathLst>
              </a:custGeom>
              <a:ln w="13716">
                <a:solidFill>
                  <a:srgbClr val="000000"/>
                </a:solidFill>
                <a:prstDash val="solid"/>
              </a:ln>
            </p:spPr>
            <p:txBody>
              <a:bodyPr wrap="square" lIns="0" tIns="0" rIns="0" bIns="0" rtlCol="0">
                <a:prstTxWarp prst="textNoShape">
                  <a:avLst/>
                </a:prstTxWarp>
                <a:noAutofit/>
              </a:bodyPr>
              <a:lstStyle/>
              <a:p>
                <a:endParaRPr lang="en-US"/>
              </a:p>
            </p:txBody>
          </p:sp>
          <p:sp>
            <p:nvSpPr>
              <p:cNvPr id="13" name="Graphic 45"/>
              <p:cNvSpPr/>
              <p:nvPr/>
            </p:nvSpPr>
            <p:spPr>
              <a:xfrm>
                <a:off x="11429" y="1089660"/>
                <a:ext cx="2176780" cy="1270"/>
              </a:xfrm>
              <a:custGeom>
                <a:avLst/>
                <a:gdLst/>
                <a:ahLst/>
                <a:cxnLst/>
                <a:rect l="l" t="t" r="r" b="b"/>
                <a:pathLst>
                  <a:path w="2176780">
                    <a:moveTo>
                      <a:pt x="2176272" y="0"/>
                    </a:moveTo>
                    <a:lnTo>
                      <a:pt x="0" y="0"/>
                    </a:lnTo>
                  </a:path>
                </a:pathLst>
              </a:custGeom>
              <a:ln w="13716">
                <a:solidFill>
                  <a:srgbClr val="000000"/>
                </a:solidFill>
                <a:prstDash val="solid"/>
              </a:ln>
            </p:spPr>
            <p:txBody>
              <a:bodyPr wrap="square" lIns="0" tIns="0" rIns="0" bIns="0" rtlCol="0">
                <a:prstTxWarp prst="textNoShape">
                  <a:avLst/>
                </a:prstTxWarp>
                <a:noAutofit/>
              </a:bodyPr>
              <a:lstStyle/>
              <a:p>
                <a:endParaRPr lang="en-US"/>
              </a:p>
            </p:txBody>
          </p:sp>
          <p:sp>
            <p:nvSpPr>
              <p:cNvPr id="17" name="Graphic 49"/>
              <p:cNvSpPr/>
              <p:nvPr/>
            </p:nvSpPr>
            <p:spPr>
              <a:xfrm>
                <a:off x="1579610" y="477450"/>
                <a:ext cx="145207" cy="144190"/>
              </a:xfrm>
              <a:custGeom>
                <a:avLst/>
                <a:gdLst/>
                <a:ahLst/>
                <a:cxnLst/>
                <a:rect l="l" t="t" r="r" b="b"/>
                <a:pathLst>
                  <a:path w="271780" h="269875">
                    <a:moveTo>
                      <a:pt x="0" y="135636"/>
                    </a:moveTo>
                    <a:lnTo>
                      <a:pt x="16764" y="71628"/>
                    </a:lnTo>
                    <a:lnTo>
                      <a:pt x="57912" y="22860"/>
                    </a:lnTo>
                    <a:lnTo>
                      <a:pt x="120396" y="0"/>
                    </a:lnTo>
                    <a:lnTo>
                      <a:pt x="152400" y="0"/>
                    </a:lnTo>
                    <a:lnTo>
                      <a:pt x="214884" y="22860"/>
                    </a:lnTo>
                    <a:lnTo>
                      <a:pt x="256032" y="71628"/>
                    </a:lnTo>
                    <a:lnTo>
                      <a:pt x="271272" y="135636"/>
                    </a:lnTo>
                    <a:lnTo>
                      <a:pt x="266700" y="167640"/>
                    </a:lnTo>
                    <a:lnTo>
                      <a:pt x="237744" y="225552"/>
                    </a:lnTo>
                    <a:lnTo>
                      <a:pt x="184404" y="262128"/>
                    </a:lnTo>
                    <a:lnTo>
                      <a:pt x="152400" y="269748"/>
                    </a:lnTo>
                    <a:lnTo>
                      <a:pt x="120396" y="269748"/>
                    </a:lnTo>
                    <a:lnTo>
                      <a:pt x="57912" y="245364"/>
                    </a:lnTo>
                    <a:lnTo>
                      <a:pt x="16764" y="198120"/>
                    </a:lnTo>
                    <a:lnTo>
                      <a:pt x="0" y="135636"/>
                    </a:lnTo>
                    <a:close/>
                  </a:path>
                </a:pathLst>
              </a:custGeom>
              <a:solidFill>
                <a:schemeClr val="tx1"/>
              </a:solidFill>
              <a:ln w="13716">
                <a:solidFill>
                  <a:srgbClr val="000000"/>
                </a:solidFill>
                <a:prstDash val="solid"/>
              </a:ln>
            </p:spPr>
            <p:txBody>
              <a:bodyPr wrap="square" lIns="0" tIns="0" rIns="0" bIns="0" rtlCol="0">
                <a:prstTxWarp prst="textNoShape">
                  <a:avLst/>
                </a:prstTxWarp>
                <a:noAutofit/>
              </a:bodyPr>
              <a:lstStyle/>
              <a:p>
                <a:endParaRPr lang="en-US"/>
              </a:p>
            </p:txBody>
          </p:sp>
          <p:sp>
            <p:nvSpPr>
              <p:cNvPr id="18" name="Graphic 50"/>
              <p:cNvSpPr/>
              <p:nvPr/>
            </p:nvSpPr>
            <p:spPr>
              <a:xfrm>
                <a:off x="1101089" y="0"/>
                <a:ext cx="1270" cy="2176780"/>
              </a:xfrm>
              <a:custGeom>
                <a:avLst/>
                <a:gdLst/>
                <a:ahLst/>
                <a:cxnLst/>
                <a:rect l="l" t="t" r="r" b="b"/>
                <a:pathLst>
                  <a:path h="2176780">
                    <a:moveTo>
                      <a:pt x="0" y="0"/>
                    </a:moveTo>
                    <a:lnTo>
                      <a:pt x="0" y="2176272"/>
                    </a:lnTo>
                  </a:path>
                </a:pathLst>
              </a:custGeom>
              <a:ln w="13716">
                <a:solidFill>
                  <a:srgbClr val="000000"/>
                </a:solidFill>
                <a:prstDash val="solid"/>
              </a:ln>
            </p:spPr>
            <p:txBody>
              <a:bodyPr wrap="square" lIns="0" tIns="0" rIns="0" bIns="0" rtlCol="0">
                <a:prstTxWarp prst="textNoShape">
                  <a:avLst/>
                </a:prstTxWarp>
                <a:noAutofit/>
              </a:bodyPr>
              <a:lstStyle/>
              <a:p>
                <a:endParaRPr lang="en-US"/>
              </a:p>
            </p:txBody>
          </p:sp>
          <p:sp>
            <p:nvSpPr>
              <p:cNvPr id="19" name="Graphic 51"/>
              <p:cNvSpPr/>
              <p:nvPr/>
            </p:nvSpPr>
            <p:spPr>
              <a:xfrm>
                <a:off x="557022" y="0"/>
                <a:ext cx="1270" cy="2176780"/>
              </a:xfrm>
              <a:custGeom>
                <a:avLst/>
                <a:gdLst/>
                <a:ahLst/>
                <a:cxnLst/>
                <a:rect l="l" t="t" r="r" b="b"/>
                <a:pathLst>
                  <a:path h="2176780">
                    <a:moveTo>
                      <a:pt x="0" y="0"/>
                    </a:moveTo>
                    <a:lnTo>
                      <a:pt x="0" y="2176272"/>
                    </a:lnTo>
                  </a:path>
                </a:pathLst>
              </a:custGeom>
              <a:ln w="13716">
                <a:solidFill>
                  <a:srgbClr val="000000"/>
                </a:solidFill>
                <a:prstDash val="solid"/>
              </a:ln>
            </p:spPr>
            <p:txBody>
              <a:bodyPr wrap="square" lIns="0" tIns="0" rIns="0" bIns="0" rtlCol="0">
                <a:prstTxWarp prst="textNoShape">
                  <a:avLst/>
                </a:prstTxWarp>
                <a:noAutofit/>
              </a:bodyPr>
              <a:lstStyle/>
              <a:p>
                <a:endParaRPr lang="en-US"/>
              </a:p>
            </p:txBody>
          </p:sp>
          <p:sp>
            <p:nvSpPr>
              <p:cNvPr id="21" name="Graphic 53"/>
              <p:cNvSpPr/>
              <p:nvPr/>
            </p:nvSpPr>
            <p:spPr>
              <a:xfrm>
                <a:off x="1018890" y="1010690"/>
                <a:ext cx="152794" cy="151017"/>
              </a:xfrm>
              <a:custGeom>
                <a:avLst/>
                <a:gdLst/>
                <a:ahLst/>
                <a:cxnLst/>
                <a:rect l="l" t="t" r="r" b="b"/>
                <a:pathLst>
                  <a:path w="273050" h="269875">
                    <a:moveTo>
                      <a:pt x="0" y="137160"/>
                    </a:moveTo>
                    <a:lnTo>
                      <a:pt x="16763" y="71627"/>
                    </a:lnTo>
                    <a:lnTo>
                      <a:pt x="57912" y="22860"/>
                    </a:lnTo>
                    <a:lnTo>
                      <a:pt x="120396" y="0"/>
                    </a:lnTo>
                    <a:lnTo>
                      <a:pt x="152400" y="0"/>
                    </a:lnTo>
                    <a:lnTo>
                      <a:pt x="211836" y="22860"/>
                    </a:lnTo>
                    <a:lnTo>
                      <a:pt x="256032" y="71627"/>
                    </a:lnTo>
                    <a:lnTo>
                      <a:pt x="272796" y="137160"/>
                    </a:lnTo>
                    <a:lnTo>
                      <a:pt x="268224" y="169163"/>
                    </a:lnTo>
                    <a:lnTo>
                      <a:pt x="237744" y="225551"/>
                    </a:lnTo>
                    <a:lnTo>
                      <a:pt x="184403" y="263651"/>
                    </a:lnTo>
                    <a:lnTo>
                      <a:pt x="152400" y="269748"/>
                    </a:lnTo>
                    <a:lnTo>
                      <a:pt x="120396" y="269748"/>
                    </a:lnTo>
                    <a:lnTo>
                      <a:pt x="57912" y="246887"/>
                    </a:lnTo>
                    <a:lnTo>
                      <a:pt x="16763" y="198120"/>
                    </a:lnTo>
                    <a:lnTo>
                      <a:pt x="0" y="137160"/>
                    </a:lnTo>
                    <a:close/>
                  </a:path>
                </a:pathLst>
              </a:custGeom>
              <a:solidFill>
                <a:schemeClr val="tx1"/>
              </a:solidFill>
              <a:ln w="13716">
                <a:solidFill>
                  <a:srgbClr val="000000"/>
                </a:solidFill>
                <a:prstDash val="solid"/>
              </a:ln>
            </p:spPr>
            <p:txBody>
              <a:bodyPr wrap="square" lIns="0" tIns="0" rIns="0" bIns="0" rtlCol="0">
                <a:prstTxWarp prst="textNoShape">
                  <a:avLst/>
                </a:prstTxWarp>
                <a:noAutofit/>
              </a:bodyPr>
              <a:lstStyle/>
              <a:p>
                <a:endParaRPr lang="en-US"/>
              </a:p>
            </p:txBody>
          </p:sp>
          <p:sp>
            <p:nvSpPr>
              <p:cNvPr id="22" name="Graphic 54"/>
              <p:cNvSpPr/>
              <p:nvPr/>
            </p:nvSpPr>
            <p:spPr>
              <a:xfrm>
                <a:off x="11429" y="653795"/>
                <a:ext cx="2176780" cy="599440"/>
              </a:xfrm>
              <a:custGeom>
                <a:avLst/>
                <a:gdLst/>
                <a:ahLst/>
                <a:cxnLst/>
                <a:rect l="l" t="t" r="r" b="b"/>
                <a:pathLst>
                  <a:path w="2176780" h="599440">
                    <a:moveTo>
                      <a:pt x="0" y="598931"/>
                    </a:moveTo>
                    <a:lnTo>
                      <a:pt x="2176272" y="0"/>
                    </a:lnTo>
                  </a:path>
                </a:pathLst>
              </a:custGeom>
              <a:ln w="22860">
                <a:solidFill>
                  <a:srgbClr val="000000"/>
                </a:solidFill>
                <a:prstDash val="solid"/>
              </a:ln>
            </p:spPr>
            <p:txBody>
              <a:bodyPr wrap="square" lIns="0" tIns="0" rIns="0" bIns="0" rtlCol="0">
                <a:prstTxWarp prst="textNoShape">
                  <a:avLst/>
                </a:prstTxWarp>
                <a:noAutofit/>
              </a:bodyPr>
              <a:lstStyle/>
              <a:p>
                <a:endParaRPr lang="en-US"/>
              </a:p>
            </p:txBody>
          </p:sp>
          <p:sp>
            <p:nvSpPr>
              <p:cNvPr id="26" name="Graphic 49"/>
              <p:cNvSpPr/>
              <p:nvPr/>
            </p:nvSpPr>
            <p:spPr>
              <a:xfrm>
                <a:off x="1579863" y="1012631"/>
                <a:ext cx="145207" cy="144190"/>
              </a:xfrm>
              <a:custGeom>
                <a:avLst/>
                <a:gdLst/>
                <a:ahLst/>
                <a:cxnLst/>
                <a:rect l="l" t="t" r="r" b="b"/>
                <a:pathLst>
                  <a:path w="271780" h="269875">
                    <a:moveTo>
                      <a:pt x="0" y="135636"/>
                    </a:moveTo>
                    <a:lnTo>
                      <a:pt x="16764" y="71628"/>
                    </a:lnTo>
                    <a:lnTo>
                      <a:pt x="57912" y="22860"/>
                    </a:lnTo>
                    <a:lnTo>
                      <a:pt x="120396" y="0"/>
                    </a:lnTo>
                    <a:lnTo>
                      <a:pt x="152400" y="0"/>
                    </a:lnTo>
                    <a:lnTo>
                      <a:pt x="214884" y="22860"/>
                    </a:lnTo>
                    <a:lnTo>
                      <a:pt x="256032" y="71628"/>
                    </a:lnTo>
                    <a:lnTo>
                      <a:pt x="271272" y="135636"/>
                    </a:lnTo>
                    <a:lnTo>
                      <a:pt x="266700" y="167640"/>
                    </a:lnTo>
                    <a:lnTo>
                      <a:pt x="237744" y="225552"/>
                    </a:lnTo>
                    <a:lnTo>
                      <a:pt x="184404" y="262128"/>
                    </a:lnTo>
                    <a:lnTo>
                      <a:pt x="152400" y="269748"/>
                    </a:lnTo>
                    <a:lnTo>
                      <a:pt x="120396" y="269748"/>
                    </a:lnTo>
                    <a:lnTo>
                      <a:pt x="57912" y="245364"/>
                    </a:lnTo>
                    <a:lnTo>
                      <a:pt x="16764" y="198120"/>
                    </a:lnTo>
                    <a:lnTo>
                      <a:pt x="0" y="135636"/>
                    </a:lnTo>
                    <a:close/>
                  </a:path>
                </a:pathLst>
              </a:custGeom>
              <a:ln w="13716">
                <a:solidFill>
                  <a:srgbClr val="000000"/>
                </a:solidFill>
                <a:prstDash val="solid"/>
              </a:ln>
            </p:spPr>
            <p:txBody>
              <a:bodyPr wrap="square" lIns="0" tIns="0" rIns="0" bIns="0" rtlCol="0">
                <a:prstTxWarp prst="textNoShape">
                  <a:avLst/>
                </a:prstTxWarp>
                <a:noAutofit/>
              </a:bodyPr>
              <a:lstStyle/>
              <a:p>
                <a:endParaRPr lang="en-US"/>
              </a:p>
            </p:txBody>
          </p:sp>
          <p:sp>
            <p:nvSpPr>
              <p:cNvPr id="27" name="Graphic 49"/>
              <p:cNvSpPr/>
              <p:nvPr/>
            </p:nvSpPr>
            <p:spPr>
              <a:xfrm>
                <a:off x="1613501" y="747576"/>
                <a:ext cx="90958" cy="90321"/>
              </a:xfrm>
              <a:custGeom>
                <a:avLst/>
                <a:gdLst/>
                <a:ahLst/>
                <a:cxnLst/>
                <a:rect l="l" t="t" r="r" b="b"/>
                <a:pathLst>
                  <a:path w="271780" h="269875">
                    <a:moveTo>
                      <a:pt x="0" y="135636"/>
                    </a:moveTo>
                    <a:lnTo>
                      <a:pt x="16764" y="71628"/>
                    </a:lnTo>
                    <a:lnTo>
                      <a:pt x="57912" y="22860"/>
                    </a:lnTo>
                    <a:lnTo>
                      <a:pt x="120396" y="0"/>
                    </a:lnTo>
                    <a:lnTo>
                      <a:pt x="152400" y="0"/>
                    </a:lnTo>
                    <a:lnTo>
                      <a:pt x="214884" y="22860"/>
                    </a:lnTo>
                    <a:lnTo>
                      <a:pt x="256032" y="71628"/>
                    </a:lnTo>
                    <a:lnTo>
                      <a:pt x="271272" y="135636"/>
                    </a:lnTo>
                    <a:lnTo>
                      <a:pt x="266700" y="167640"/>
                    </a:lnTo>
                    <a:lnTo>
                      <a:pt x="237744" y="225552"/>
                    </a:lnTo>
                    <a:lnTo>
                      <a:pt x="184404" y="262128"/>
                    </a:lnTo>
                    <a:lnTo>
                      <a:pt x="152400" y="269748"/>
                    </a:lnTo>
                    <a:lnTo>
                      <a:pt x="120396" y="269748"/>
                    </a:lnTo>
                    <a:lnTo>
                      <a:pt x="57912" y="245364"/>
                    </a:lnTo>
                    <a:lnTo>
                      <a:pt x="16764" y="198120"/>
                    </a:lnTo>
                    <a:lnTo>
                      <a:pt x="0" y="135636"/>
                    </a:lnTo>
                    <a:close/>
                  </a:path>
                </a:pathLst>
              </a:custGeom>
              <a:solidFill>
                <a:schemeClr val="tx1"/>
              </a:solidFill>
              <a:ln w="13716">
                <a:solidFill>
                  <a:srgbClr val="000000"/>
                </a:solidFill>
                <a:prstDash val="solid"/>
              </a:ln>
            </p:spPr>
            <p:txBody>
              <a:bodyPr wrap="square" lIns="0" tIns="0" rIns="0" bIns="0" rtlCol="0">
                <a:prstTxWarp prst="textNoShape">
                  <a:avLst/>
                </a:prstTxWarp>
                <a:noAutofit/>
              </a:bodyPr>
              <a:lstStyle/>
              <a:p>
                <a:endParaRPr lang="en-US"/>
              </a:p>
            </p:txBody>
          </p:sp>
        </p:grpSp>
        <p:sp>
          <p:nvSpPr>
            <p:cNvPr id="23" name="TextBox 22"/>
            <p:cNvSpPr txBox="1"/>
            <p:nvPr/>
          </p:nvSpPr>
          <p:spPr>
            <a:xfrm>
              <a:off x="9895682" y="2443376"/>
              <a:ext cx="1616468" cy="369332"/>
            </a:xfrm>
            <a:prstGeom prst="rect">
              <a:avLst/>
            </a:prstGeom>
            <a:noFill/>
          </p:spPr>
          <p:txBody>
            <a:bodyPr wrap="none" rtlCol="0">
              <a:spAutoFit/>
            </a:bodyPr>
            <a:lstStyle/>
            <a:p>
              <a:r>
                <a:rPr lang="en-US" smtClean="0"/>
                <a:t>(x</a:t>
              </a:r>
              <a:r>
                <a:rPr lang="en-US" baseline="-25000" smtClean="0"/>
                <a:t>i</a:t>
              </a:r>
              <a:r>
                <a:rPr lang="en-US" smtClean="0"/>
                <a:t>+1,Round(y))</a:t>
              </a:r>
              <a:endParaRPr lang="en-US"/>
            </a:p>
          </p:txBody>
        </p:sp>
        <p:sp>
          <p:nvSpPr>
            <p:cNvPr id="24" name="TextBox 23"/>
            <p:cNvSpPr txBox="1"/>
            <p:nvPr/>
          </p:nvSpPr>
          <p:spPr>
            <a:xfrm>
              <a:off x="10484595" y="3116454"/>
              <a:ext cx="850041" cy="369332"/>
            </a:xfrm>
            <a:prstGeom prst="rect">
              <a:avLst/>
            </a:prstGeom>
            <a:noFill/>
          </p:spPr>
          <p:txBody>
            <a:bodyPr wrap="none" rtlCol="0">
              <a:spAutoFit/>
            </a:bodyPr>
            <a:lstStyle/>
            <a:p>
              <a:r>
                <a:rPr lang="en-US" smtClean="0"/>
                <a:t>(x</a:t>
              </a:r>
              <a:r>
                <a:rPr lang="en-US" baseline="-25000" smtClean="0"/>
                <a:t>i</a:t>
              </a:r>
              <a:r>
                <a:rPr lang="en-US" smtClean="0"/>
                <a:t>+1,y)</a:t>
              </a:r>
              <a:endParaRPr lang="en-US"/>
            </a:p>
          </p:txBody>
        </p:sp>
        <p:sp>
          <p:nvSpPr>
            <p:cNvPr id="28" name="TextBox 27"/>
            <p:cNvSpPr txBox="1"/>
            <p:nvPr/>
          </p:nvSpPr>
          <p:spPr>
            <a:xfrm>
              <a:off x="9318989" y="3737266"/>
              <a:ext cx="662489" cy="369332"/>
            </a:xfrm>
            <a:prstGeom prst="rect">
              <a:avLst/>
            </a:prstGeom>
            <a:noFill/>
          </p:spPr>
          <p:txBody>
            <a:bodyPr wrap="none" rtlCol="0">
              <a:spAutoFit/>
            </a:bodyPr>
            <a:lstStyle/>
            <a:p>
              <a:r>
                <a:rPr lang="en-US" smtClean="0"/>
                <a:t>(x</a:t>
              </a:r>
              <a:r>
                <a:rPr lang="en-US" baseline="-25000" smtClean="0"/>
                <a:t>i</a:t>
              </a:r>
              <a:r>
                <a:rPr lang="en-US" smtClean="0"/>
                <a:t>,y</a:t>
              </a:r>
              <a:r>
                <a:rPr lang="en-US" baseline="-25000" smtClean="0"/>
                <a:t>i</a:t>
              </a:r>
              <a:r>
                <a:rPr lang="en-US" smtClean="0"/>
                <a:t>)</a:t>
              </a:r>
              <a:endParaRPr lang="en-US"/>
            </a:p>
          </p:txBody>
        </p:sp>
      </p:grpSp>
    </p:spTree>
    <p:extLst>
      <p:ext uri="{BB962C8B-B14F-4D97-AF65-F5344CB8AC3E}">
        <p14:creationId xmlns:p14="http://schemas.microsoft.com/office/powerpoint/2010/main" val="626325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normAutofit/>
          </a:bodyPr>
          <a:lstStyle/>
          <a:p>
            <a:r>
              <a:rPr lang="en-US" b="1" smtClean="0"/>
              <a:t>Thuật toán DDA </a:t>
            </a:r>
            <a:br>
              <a:rPr lang="en-US" b="1" smtClean="0"/>
            </a:br>
            <a:r>
              <a:rPr lang="en-US" b="1" smtClean="0"/>
              <a:t>(Digital Differential Analizer)</a:t>
            </a:r>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16</a:t>
            </a:fld>
            <a:endParaRPr lang="en-US"/>
          </a:p>
        </p:txBody>
      </p:sp>
      <p:sp>
        <p:nvSpPr>
          <p:cNvPr id="3" name="Content Placeholder 2"/>
          <p:cNvSpPr>
            <a:spLocks noGrp="1"/>
          </p:cNvSpPr>
          <p:nvPr>
            <p:ph idx="1"/>
          </p:nvPr>
        </p:nvSpPr>
        <p:spPr>
          <a:xfrm>
            <a:off x="1332641" y="1763996"/>
            <a:ext cx="10018713" cy="964990"/>
          </a:xfrm>
        </p:spPr>
        <p:txBody>
          <a:bodyPr/>
          <a:lstStyle/>
          <a:p>
            <a:pPr marL="0" indent="0">
              <a:buNone/>
            </a:pPr>
            <a:r>
              <a:rPr lang="en-US" smtClean="0"/>
              <a:t>Lưu đồ thuật toán</a:t>
            </a:r>
            <a:endParaRPr lang="en-US"/>
          </a:p>
        </p:txBody>
      </p:sp>
      <p:grpSp>
        <p:nvGrpSpPr>
          <p:cNvPr id="25" name="Group 24"/>
          <p:cNvGrpSpPr>
            <a:grpSpLocks/>
          </p:cNvGrpSpPr>
          <p:nvPr/>
        </p:nvGrpSpPr>
        <p:grpSpPr>
          <a:xfrm>
            <a:off x="4757846" y="2026017"/>
            <a:ext cx="4156317" cy="4539673"/>
            <a:chOff x="2286" y="0"/>
            <a:chExt cx="3971671" cy="8253221"/>
          </a:xfrm>
        </p:grpSpPr>
        <p:sp>
          <p:nvSpPr>
            <p:cNvPr id="29" name="Graphic 77"/>
            <p:cNvSpPr/>
            <p:nvPr/>
          </p:nvSpPr>
          <p:spPr>
            <a:xfrm>
              <a:off x="1223010" y="2286"/>
              <a:ext cx="1529080" cy="612775"/>
            </a:xfrm>
            <a:custGeom>
              <a:avLst/>
              <a:gdLst/>
              <a:ahLst/>
              <a:cxnLst/>
              <a:rect l="l" t="t" r="r" b="b"/>
              <a:pathLst>
                <a:path w="1529080" h="612775">
                  <a:moveTo>
                    <a:pt x="307848" y="612648"/>
                  </a:moveTo>
                  <a:lnTo>
                    <a:pt x="1223772" y="612648"/>
                  </a:lnTo>
                  <a:lnTo>
                    <a:pt x="1275588" y="608076"/>
                  </a:lnTo>
                  <a:lnTo>
                    <a:pt x="1327403" y="592835"/>
                  </a:lnTo>
                  <a:lnTo>
                    <a:pt x="1376172" y="571500"/>
                  </a:lnTo>
                  <a:lnTo>
                    <a:pt x="1420368" y="541020"/>
                  </a:lnTo>
                  <a:lnTo>
                    <a:pt x="1456944" y="501396"/>
                  </a:lnTo>
                  <a:lnTo>
                    <a:pt x="1487424" y="460248"/>
                  </a:lnTo>
                  <a:lnTo>
                    <a:pt x="1510284" y="411479"/>
                  </a:lnTo>
                  <a:lnTo>
                    <a:pt x="1524000" y="359663"/>
                  </a:lnTo>
                  <a:lnTo>
                    <a:pt x="1528572" y="304800"/>
                  </a:lnTo>
                  <a:lnTo>
                    <a:pt x="1524000" y="252983"/>
                  </a:lnTo>
                  <a:lnTo>
                    <a:pt x="1510284" y="202691"/>
                  </a:lnTo>
                  <a:lnTo>
                    <a:pt x="1487424" y="152400"/>
                  </a:lnTo>
                  <a:lnTo>
                    <a:pt x="1456944" y="111251"/>
                  </a:lnTo>
                  <a:lnTo>
                    <a:pt x="1420368" y="73151"/>
                  </a:lnTo>
                  <a:lnTo>
                    <a:pt x="1376172" y="41148"/>
                  </a:lnTo>
                  <a:lnTo>
                    <a:pt x="1327403" y="18287"/>
                  </a:lnTo>
                  <a:lnTo>
                    <a:pt x="1275588" y="4572"/>
                  </a:lnTo>
                  <a:lnTo>
                    <a:pt x="1223772" y="0"/>
                  </a:lnTo>
                  <a:lnTo>
                    <a:pt x="307848" y="0"/>
                  </a:lnTo>
                  <a:lnTo>
                    <a:pt x="252984" y="4572"/>
                  </a:lnTo>
                  <a:lnTo>
                    <a:pt x="201168" y="18287"/>
                  </a:lnTo>
                  <a:lnTo>
                    <a:pt x="155448" y="41148"/>
                  </a:lnTo>
                  <a:lnTo>
                    <a:pt x="111251" y="73151"/>
                  </a:lnTo>
                  <a:lnTo>
                    <a:pt x="73152" y="111251"/>
                  </a:lnTo>
                  <a:lnTo>
                    <a:pt x="41148" y="152400"/>
                  </a:lnTo>
                  <a:lnTo>
                    <a:pt x="21336" y="202691"/>
                  </a:lnTo>
                  <a:lnTo>
                    <a:pt x="4572" y="252983"/>
                  </a:lnTo>
                  <a:lnTo>
                    <a:pt x="0" y="304800"/>
                  </a:lnTo>
                  <a:lnTo>
                    <a:pt x="4572" y="359663"/>
                  </a:lnTo>
                  <a:lnTo>
                    <a:pt x="21336" y="411479"/>
                  </a:lnTo>
                  <a:lnTo>
                    <a:pt x="41148" y="460248"/>
                  </a:lnTo>
                  <a:lnTo>
                    <a:pt x="73152" y="501396"/>
                  </a:lnTo>
                  <a:lnTo>
                    <a:pt x="111251" y="541020"/>
                  </a:lnTo>
                  <a:lnTo>
                    <a:pt x="155448" y="571500"/>
                  </a:lnTo>
                  <a:lnTo>
                    <a:pt x="201168" y="592835"/>
                  </a:lnTo>
                  <a:lnTo>
                    <a:pt x="252984" y="608076"/>
                  </a:lnTo>
                  <a:lnTo>
                    <a:pt x="307848" y="612648"/>
                  </a:lnTo>
                  <a:close/>
                </a:path>
              </a:pathLst>
            </a:custGeom>
            <a:ln w="4572">
              <a:solidFill>
                <a:srgbClr val="000000"/>
              </a:solidFill>
              <a:prstDash val="solid"/>
            </a:ln>
          </p:spPr>
          <p:txBody>
            <a:bodyPr wrap="square" lIns="0" tIns="0" rIns="0" bIns="0" rtlCol="0">
              <a:prstTxWarp prst="textNoShape">
                <a:avLst/>
              </a:prstTxWarp>
              <a:noAutofit/>
            </a:bodyPr>
            <a:lstStyle/>
            <a:p>
              <a:endParaRPr lang="en-US"/>
            </a:p>
          </p:txBody>
        </p:sp>
        <p:sp>
          <p:nvSpPr>
            <p:cNvPr id="30" name="Graphic 78"/>
            <p:cNvSpPr/>
            <p:nvPr/>
          </p:nvSpPr>
          <p:spPr>
            <a:xfrm>
              <a:off x="1989582" y="614933"/>
              <a:ext cx="1270" cy="489584"/>
            </a:xfrm>
            <a:custGeom>
              <a:avLst/>
              <a:gdLst/>
              <a:ahLst/>
              <a:cxnLst/>
              <a:rect l="l" t="t" r="r" b="b"/>
              <a:pathLst>
                <a:path h="489584">
                  <a:moveTo>
                    <a:pt x="0" y="0"/>
                  </a:moveTo>
                  <a:lnTo>
                    <a:pt x="0" y="489203"/>
                  </a:lnTo>
                </a:path>
              </a:pathLst>
            </a:custGeom>
            <a:ln w="15240">
              <a:solidFill>
                <a:srgbClr val="000000"/>
              </a:solidFill>
              <a:prstDash val="solid"/>
            </a:ln>
          </p:spPr>
          <p:txBody>
            <a:bodyPr wrap="square" lIns="0" tIns="0" rIns="0" bIns="0" rtlCol="0">
              <a:prstTxWarp prst="textNoShape">
                <a:avLst/>
              </a:prstTxWarp>
              <a:noAutofit/>
            </a:bodyPr>
            <a:lstStyle/>
            <a:p>
              <a:endParaRPr lang="en-US"/>
            </a:p>
          </p:txBody>
        </p:sp>
        <p:pic>
          <p:nvPicPr>
            <p:cNvPr id="31" name="Image 79"/>
            <p:cNvPicPr/>
            <p:nvPr/>
          </p:nvPicPr>
          <p:blipFill>
            <a:blip r:embed="rId2" cstate="print"/>
            <a:stretch>
              <a:fillRect/>
            </a:stretch>
          </p:blipFill>
          <p:spPr>
            <a:xfrm>
              <a:off x="1911857" y="1078230"/>
              <a:ext cx="153924" cy="155448"/>
            </a:xfrm>
            <a:prstGeom prst="rect">
              <a:avLst/>
            </a:prstGeom>
          </p:spPr>
        </p:pic>
        <p:sp>
          <p:nvSpPr>
            <p:cNvPr id="32" name="Graphic 80"/>
            <p:cNvSpPr/>
            <p:nvPr/>
          </p:nvSpPr>
          <p:spPr>
            <a:xfrm>
              <a:off x="1989582" y="2446782"/>
              <a:ext cx="1270" cy="489584"/>
            </a:xfrm>
            <a:custGeom>
              <a:avLst/>
              <a:gdLst/>
              <a:ahLst/>
              <a:cxnLst/>
              <a:rect l="l" t="t" r="r" b="b"/>
              <a:pathLst>
                <a:path h="489584">
                  <a:moveTo>
                    <a:pt x="0" y="0"/>
                  </a:moveTo>
                  <a:lnTo>
                    <a:pt x="0" y="489203"/>
                  </a:lnTo>
                </a:path>
              </a:pathLst>
            </a:custGeom>
            <a:ln w="15240">
              <a:solidFill>
                <a:srgbClr val="000000"/>
              </a:solidFill>
              <a:prstDash val="solid"/>
            </a:ln>
          </p:spPr>
          <p:txBody>
            <a:bodyPr wrap="square" lIns="0" tIns="0" rIns="0" bIns="0" rtlCol="0">
              <a:prstTxWarp prst="textNoShape">
                <a:avLst/>
              </a:prstTxWarp>
              <a:noAutofit/>
            </a:bodyPr>
            <a:lstStyle/>
            <a:p>
              <a:endParaRPr lang="en-US"/>
            </a:p>
          </p:txBody>
        </p:sp>
        <p:pic>
          <p:nvPicPr>
            <p:cNvPr id="33" name="Image 81"/>
            <p:cNvPicPr/>
            <p:nvPr/>
          </p:nvPicPr>
          <p:blipFill>
            <a:blip r:embed="rId3" cstate="print"/>
            <a:stretch>
              <a:fillRect/>
            </a:stretch>
          </p:blipFill>
          <p:spPr>
            <a:xfrm>
              <a:off x="1911857" y="2910077"/>
              <a:ext cx="153924" cy="155448"/>
            </a:xfrm>
            <a:prstGeom prst="rect">
              <a:avLst/>
            </a:prstGeom>
          </p:spPr>
        </p:pic>
        <p:sp>
          <p:nvSpPr>
            <p:cNvPr id="34" name="Graphic 82"/>
            <p:cNvSpPr/>
            <p:nvPr/>
          </p:nvSpPr>
          <p:spPr>
            <a:xfrm>
              <a:off x="1223010" y="3057905"/>
              <a:ext cx="1529080" cy="919480"/>
            </a:xfrm>
            <a:custGeom>
              <a:avLst/>
              <a:gdLst/>
              <a:ahLst/>
              <a:cxnLst/>
              <a:rect l="l" t="t" r="r" b="b"/>
              <a:pathLst>
                <a:path w="1529080" h="919480">
                  <a:moveTo>
                    <a:pt x="0" y="460248"/>
                  </a:moveTo>
                  <a:lnTo>
                    <a:pt x="766572" y="0"/>
                  </a:lnTo>
                  <a:lnTo>
                    <a:pt x="1528572" y="460248"/>
                  </a:lnTo>
                  <a:lnTo>
                    <a:pt x="766572" y="918972"/>
                  </a:lnTo>
                  <a:lnTo>
                    <a:pt x="0" y="460248"/>
                  </a:lnTo>
                  <a:close/>
                </a:path>
              </a:pathLst>
            </a:custGeom>
            <a:ln w="4572">
              <a:solidFill>
                <a:srgbClr val="000000"/>
              </a:solidFill>
              <a:prstDash val="solid"/>
            </a:ln>
          </p:spPr>
          <p:txBody>
            <a:bodyPr wrap="square" lIns="0" tIns="0" rIns="0" bIns="0" rtlCol="0">
              <a:prstTxWarp prst="textNoShape">
                <a:avLst/>
              </a:prstTxWarp>
              <a:noAutofit/>
            </a:bodyPr>
            <a:lstStyle/>
            <a:p>
              <a:endParaRPr lang="en-US"/>
            </a:p>
          </p:txBody>
        </p:sp>
        <p:sp>
          <p:nvSpPr>
            <p:cNvPr id="35" name="Graphic 83"/>
            <p:cNvSpPr/>
            <p:nvPr/>
          </p:nvSpPr>
          <p:spPr>
            <a:xfrm>
              <a:off x="1989582" y="3976878"/>
              <a:ext cx="1270" cy="812800"/>
            </a:xfrm>
            <a:custGeom>
              <a:avLst/>
              <a:gdLst/>
              <a:ahLst/>
              <a:cxnLst/>
              <a:rect l="l" t="t" r="r" b="b"/>
              <a:pathLst>
                <a:path h="812800">
                  <a:moveTo>
                    <a:pt x="0" y="0"/>
                  </a:moveTo>
                  <a:lnTo>
                    <a:pt x="0" y="338327"/>
                  </a:lnTo>
                </a:path>
                <a:path h="812800">
                  <a:moveTo>
                    <a:pt x="0" y="576072"/>
                  </a:moveTo>
                  <a:lnTo>
                    <a:pt x="0" y="812291"/>
                  </a:lnTo>
                </a:path>
              </a:pathLst>
            </a:custGeom>
            <a:ln w="4572">
              <a:solidFill>
                <a:srgbClr val="000000"/>
              </a:solidFill>
              <a:prstDash val="solid"/>
            </a:ln>
          </p:spPr>
          <p:txBody>
            <a:bodyPr wrap="square" lIns="0" tIns="0" rIns="0" bIns="0" rtlCol="0">
              <a:prstTxWarp prst="textNoShape">
                <a:avLst/>
              </a:prstTxWarp>
              <a:noAutofit/>
            </a:bodyPr>
            <a:lstStyle/>
            <a:p>
              <a:endParaRPr lang="en-US"/>
            </a:p>
          </p:txBody>
        </p:sp>
        <p:pic>
          <p:nvPicPr>
            <p:cNvPr id="36" name="Image 84"/>
            <p:cNvPicPr/>
            <p:nvPr/>
          </p:nvPicPr>
          <p:blipFill>
            <a:blip r:embed="rId4" cstate="print"/>
            <a:stretch>
              <a:fillRect/>
            </a:stretch>
          </p:blipFill>
          <p:spPr>
            <a:xfrm>
              <a:off x="1926335" y="4771644"/>
              <a:ext cx="124968" cy="123444"/>
            </a:xfrm>
            <a:prstGeom prst="rect">
              <a:avLst/>
            </a:prstGeom>
          </p:spPr>
        </p:pic>
        <p:sp>
          <p:nvSpPr>
            <p:cNvPr id="37" name="Graphic 85"/>
            <p:cNvSpPr/>
            <p:nvPr/>
          </p:nvSpPr>
          <p:spPr>
            <a:xfrm>
              <a:off x="2751582" y="3518153"/>
              <a:ext cx="1222375" cy="1270"/>
            </a:xfrm>
            <a:custGeom>
              <a:avLst/>
              <a:gdLst/>
              <a:ahLst/>
              <a:cxnLst/>
              <a:rect l="l" t="t" r="r" b="b"/>
              <a:pathLst>
                <a:path w="1222375">
                  <a:moveTo>
                    <a:pt x="737615" y="0"/>
                  </a:moveTo>
                  <a:lnTo>
                    <a:pt x="1222248" y="0"/>
                  </a:lnTo>
                </a:path>
                <a:path w="1222375">
                  <a:moveTo>
                    <a:pt x="0" y="0"/>
                  </a:moveTo>
                  <a:lnTo>
                    <a:pt x="486155" y="0"/>
                  </a:lnTo>
                </a:path>
              </a:pathLst>
            </a:custGeom>
            <a:ln w="4572">
              <a:solidFill>
                <a:srgbClr val="000000"/>
              </a:solidFill>
              <a:prstDash val="solid"/>
            </a:ln>
          </p:spPr>
          <p:txBody>
            <a:bodyPr wrap="square" lIns="0" tIns="0" rIns="0" bIns="0" rtlCol="0">
              <a:prstTxWarp prst="textNoShape">
                <a:avLst/>
              </a:prstTxWarp>
              <a:noAutofit/>
            </a:bodyPr>
            <a:lstStyle/>
            <a:p>
              <a:endParaRPr lang="en-US"/>
            </a:p>
          </p:txBody>
        </p:sp>
        <p:sp>
          <p:nvSpPr>
            <p:cNvPr id="38" name="Graphic 86"/>
            <p:cNvSpPr/>
            <p:nvPr/>
          </p:nvSpPr>
          <p:spPr>
            <a:xfrm>
              <a:off x="2286" y="3518153"/>
              <a:ext cx="3360420" cy="2903220"/>
            </a:xfrm>
            <a:custGeom>
              <a:avLst/>
              <a:gdLst/>
              <a:ahLst/>
              <a:cxnLst/>
              <a:rect l="l" t="t" r="r" b="b"/>
              <a:pathLst>
                <a:path w="3360420" h="2903220">
                  <a:moveTo>
                    <a:pt x="609600" y="2290572"/>
                  </a:moveTo>
                  <a:lnTo>
                    <a:pt x="3360420" y="2290572"/>
                  </a:lnTo>
                  <a:lnTo>
                    <a:pt x="3360420" y="1374648"/>
                  </a:lnTo>
                  <a:lnTo>
                    <a:pt x="609600" y="1374648"/>
                  </a:lnTo>
                  <a:lnTo>
                    <a:pt x="609600" y="2290572"/>
                  </a:lnTo>
                  <a:close/>
                </a:path>
                <a:path w="3360420" h="2903220">
                  <a:moveTo>
                    <a:pt x="1117092" y="0"/>
                  </a:moveTo>
                  <a:lnTo>
                    <a:pt x="0" y="0"/>
                  </a:lnTo>
                  <a:lnTo>
                    <a:pt x="0" y="2903220"/>
                  </a:lnTo>
                  <a:lnTo>
                    <a:pt x="1987296" y="2903220"/>
                  </a:lnTo>
                </a:path>
              </a:pathLst>
            </a:custGeom>
            <a:ln w="4572">
              <a:solidFill>
                <a:srgbClr val="000000"/>
              </a:solidFill>
              <a:prstDash val="solid"/>
            </a:ln>
          </p:spPr>
          <p:txBody>
            <a:bodyPr wrap="square" lIns="0" tIns="0" rIns="0" bIns="0" rtlCol="0">
              <a:prstTxWarp prst="textNoShape">
                <a:avLst/>
              </a:prstTxWarp>
              <a:noAutofit/>
            </a:bodyPr>
            <a:lstStyle/>
            <a:p>
              <a:endParaRPr lang="en-US"/>
            </a:p>
          </p:txBody>
        </p:sp>
        <p:pic>
          <p:nvPicPr>
            <p:cNvPr id="39" name="Image 87"/>
            <p:cNvPicPr/>
            <p:nvPr/>
          </p:nvPicPr>
          <p:blipFill>
            <a:blip r:embed="rId5" cstate="print"/>
            <a:stretch>
              <a:fillRect/>
            </a:stretch>
          </p:blipFill>
          <p:spPr>
            <a:xfrm>
              <a:off x="1101852" y="3456432"/>
              <a:ext cx="123443" cy="123444"/>
            </a:xfrm>
            <a:prstGeom prst="rect">
              <a:avLst/>
            </a:prstGeom>
          </p:spPr>
        </p:pic>
        <p:sp>
          <p:nvSpPr>
            <p:cNvPr id="40" name="Graphic 88"/>
            <p:cNvSpPr/>
            <p:nvPr/>
          </p:nvSpPr>
          <p:spPr>
            <a:xfrm>
              <a:off x="1989582" y="5808726"/>
              <a:ext cx="1270" cy="612775"/>
            </a:xfrm>
            <a:custGeom>
              <a:avLst/>
              <a:gdLst/>
              <a:ahLst/>
              <a:cxnLst/>
              <a:rect l="l" t="t" r="r" b="b"/>
              <a:pathLst>
                <a:path h="612775">
                  <a:moveTo>
                    <a:pt x="0" y="0"/>
                  </a:moveTo>
                  <a:lnTo>
                    <a:pt x="0" y="612647"/>
                  </a:lnTo>
                </a:path>
              </a:pathLst>
            </a:custGeom>
            <a:ln w="15240">
              <a:solidFill>
                <a:srgbClr val="000000"/>
              </a:solidFill>
              <a:prstDash val="solid"/>
            </a:ln>
          </p:spPr>
          <p:txBody>
            <a:bodyPr wrap="square" lIns="0" tIns="0" rIns="0" bIns="0" rtlCol="0">
              <a:prstTxWarp prst="textNoShape">
                <a:avLst/>
              </a:prstTxWarp>
              <a:noAutofit/>
            </a:bodyPr>
            <a:lstStyle/>
            <a:p>
              <a:endParaRPr lang="en-US"/>
            </a:p>
          </p:txBody>
        </p:sp>
        <p:sp>
          <p:nvSpPr>
            <p:cNvPr id="41" name="Graphic 89"/>
            <p:cNvSpPr/>
            <p:nvPr/>
          </p:nvSpPr>
          <p:spPr>
            <a:xfrm>
              <a:off x="2020061" y="3518153"/>
              <a:ext cx="1953895" cy="3514725"/>
            </a:xfrm>
            <a:custGeom>
              <a:avLst/>
              <a:gdLst/>
              <a:ahLst/>
              <a:cxnLst/>
              <a:rect l="l" t="t" r="r" b="b"/>
              <a:pathLst>
                <a:path w="1953895" h="3514725">
                  <a:moveTo>
                    <a:pt x="1953768" y="0"/>
                  </a:moveTo>
                  <a:lnTo>
                    <a:pt x="1953768" y="1757172"/>
                  </a:lnTo>
                  <a:lnTo>
                    <a:pt x="1953768" y="3514344"/>
                  </a:lnTo>
                  <a:lnTo>
                    <a:pt x="0" y="3514344"/>
                  </a:lnTo>
                </a:path>
              </a:pathLst>
            </a:custGeom>
            <a:ln w="4572">
              <a:solidFill>
                <a:srgbClr val="000000"/>
              </a:solidFill>
              <a:prstDash val="solid"/>
            </a:ln>
          </p:spPr>
          <p:txBody>
            <a:bodyPr wrap="square" lIns="0" tIns="0" rIns="0" bIns="0" rtlCol="0">
              <a:prstTxWarp prst="textNoShape">
                <a:avLst/>
              </a:prstTxWarp>
              <a:noAutofit/>
            </a:bodyPr>
            <a:lstStyle/>
            <a:p>
              <a:endParaRPr lang="en-US"/>
            </a:p>
          </p:txBody>
        </p:sp>
        <p:sp>
          <p:nvSpPr>
            <p:cNvPr id="42" name="Graphic 90"/>
            <p:cNvSpPr/>
            <p:nvPr/>
          </p:nvSpPr>
          <p:spPr>
            <a:xfrm>
              <a:off x="2020061" y="7032497"/>
              <a:ext cx="1270" cy="489584"/>
            </a:xfrm>
            <a:custGeom>
              <a:avLst/>
              <a:gdLst/>
              <a:ahLst/>
              <a:cxnLst/>
              <a:rect l="l" t="t" r="r" b="b"/>
              <a:pathLst>
                <a:path h="489584">
                  <a:moveTo>
                    <a:pt x="0" y="0"/>
                  </a:moveTo>
                  <a:lnTo>
                    <a:pt x="0" y="489204"/>
                  </a:lnTo>
                </a:path>
              </a:pathLst>
            </a:custGeom>
            <a:ln w="15240">
              <a:solidFill>
                <a:srgbClr val="000000"/>
              </a:solidFill>
              <a:prstDash val="solid"/>
            </a:ln>
          </p:spPr>
          <p:txBody>
            <a:bodyPr wrap="square" lIns="0" tIns="0" rIns="0" bIns="0" rtlCol="0">
              <a:prstTxWarp prst="textNoShape">
                <a:avLst/>
              </a:prstTxWarp>
              <a:noAutofit/>
            </a:bodyPr>
            <a:lstStyle/>
            <a:p>
              <a:endParaRPr lang="en-US"/>
            </a:p>
          </p:txBody>
        </p:sp>
        <p:pic>
          <p:nvPicPr>
            <p:cNvPr id="43" name="Image 91"/>
            <p:cNvPicPr/>
            <p:nvPr/>
          </p:nvPicPr>
          <p:blipFill>
            <a:blip r:embed="rId6" cstate="print"/>
            <a:stretch>
              <a:fillRect/>
            </a:stretch>
          </p:blipFill>
          <p:spPr>
            <a:xfrm>
              <a:off x="1942338" y="7495793"/>
              <a:ext cx="155448" cy="155447"/>
            </a:xfrm>
            <a:prstGeom prst="rect">
              <a:avLst/>
            </a:prstGeom>
          </p:spPr>
        </p:pic>
        <p:sp>
          <p:nvSpPr>
            <p:cNvPr id="44" name="Graphic 92"/>
            <p:cNvSpPr/>
            <p:nvPr/>
          </p:nvSpPr>
          <p:spPr>
            <a:xfrm>
              <a:off x="1223010" y="7643621"/>
              <a:ext cx="1529080" cy="609600"/>
            </a:xfrm>
            <a:custGeom>
              <a:avLst/>
              <a:gdLst/>
              <a:ahLst/>
              <a:cxnLst/>
              <a:rect l="l" t="t" r="r" b="b"/>
              <a:pathLst>
                <a:path w="1529080" h="609600">
                  <a:moveTo>
                    <a:pt x="307848" y="609600"/>
                  </a:moveTo>
                  <a:lnTo>
                    <a:pt x="1223772" y="609600"/>
                  </a:lnTo>
                  <a:lnTo>
                    <a:pt x="1275588" y="608076"/>
                  </a:lnTo>
                  <a:lnTo>
                    <a:pt x="1327403" y="591312"/>
                  </a:lnTo>
                  <a:lnTo>
                    <a:pt x="1376172" y="571500"/>
                  </a:lnTo>
                  <a:lnTo>
                    <a:pt x="1420368" y="539496"/>
                  </a:lnTo>
                  <a:lnTo>
                    <a:pt x="1456944" y="501396"/>
                  </a:lnTo>
                  <a:lnTo>
                    <a:pt x="1487424" y="457200"/>
                  </a:lnTo>
                  <a:lnTo>
                    <a:pt x="1510284" y="411480"/>
                  </a:lnTo>
                  <a:lnTo>
                    <a:pt x="1524000" y="359664"/>
                  </a:lnTo>
                  <a:lnTo>
                    <a:pt x="1528572" y="304800"/>
                  </a:lnTo>
                  <a:lnTo>
                    <a:pt x="1524000" y="252984"/>
                  </a:lnTo>
                  <a:lnTo>
                    <a:pt x="1510284" y="201168"/>
                  </a:lnTo>
                  <a:lnTo>
                    <a:pt x="1487424" y="152400"/>
                  </a:lnTo>
                  <a:lnTo>
                    <a:pt x="1456944" y="108204"/>
                  </a:lnTo>
                  <a:lnTo>
                    <a:pt x="1420368" y="71628"/>
                  </a:lnTo>
                  <a:lnTo>
                    <a:pt x="1376172" y="41148"/>
                  </a:lnTo>
                  <a:lnTo>
                    <a:pt x="1327403" y="16764"/>
                  </a:lnTo>
                  <a:lnTo>
                    <a:pt x="1275588" y="4572"/>
                  </a:lnTo>
                  <a:lnTo>
                    <a:pt x="1223772" y="0"/>
                  </a:lnTo>
                  <a:lnTo>
                    <a:pt x="307848" y="0"/>
                  </a:lnTo>
                  <a:lnTo>
                    <a:pt x="252984" y="4572"/>
                  </a:lnTo>
                  <a:lnTo>
                    <a:pt x="201168" y="16764"/>
                  </a:lnTo>
                  <a:lnTo>
                    <a:pt x="155448" y="41148"/>
                  </a:lnTo>
                  <a:lnTo>
                    <a:pt x="111251" y="71628"/>
                  </a:lnTo>
                  <a:lnTo>
                    <a:pt x="73152" y="108204"/>
                  </a:lnTo>
                  <a:lnTo>
                    <a:pt x="41148" y="152400"/>
                  </a:lnTo>
                  <a:lnTo>
                    <a:pt x="21336" y="201168"/>
                  </a:lnTo>
                  <a:lnTo>
                    <a:pt x="4572" y="252984"/>
                  </a:lnTo>
                  <a:lnTo>
                    <a:pt x="0" y="304800"/>
                  </a:lnTo>
                  <a:lnTo>
                    <a:pt x="4572" y="359664"/>
                  </a:lnTo>
                  <a:lnTo>
                    <a:pt x="21336" y="411480"/>
                  </a:lnTo>
                  <a:lnTo>
                    <a:pt x="41148" y="457200"/>
                  </a:lnTo>
                  <a:lnTo>
                    <a:pt x="73152" y="501396"/>
                  </a:lnTo>
                  <a:lnTo>
                    <a:pt x="111251" y="539496"/>
                  </a:lnTo>
                  <a:lnTo>
                    <a:pt x="155448" y="571500"/>
                  </a:lnTo>
                  <a:lnTo>
                    <a:pt x="201168" y="591312"/>
                  </a:lnTo>
                  <a:lnTo>
                    <a:pt x="252984" y="608076"/>
                  </a:lnTo>
                  <a:lnTo>
                    <a:pt x="307848" y="609600"/>
                  </a:lnTo>
                  <a:close/>
                </a:path>
              </a:pathLst>
            </a:custGeom>
            <a:ln w="4572">
              <a:solidFill>
                <a:srgbClr val="000000"/>
              </a:solidFill>
              <a:prstDash val="solid"/>
            </a:ln>
          </p:spPr>
          <p:txBody>
            <a:bodyPr wrap="square" lIns="0" tIns="0" rIns="0" bIns="0" rtlCol="0">
              <a:prstTxWarp prst="textNoShape">
                <a:avLst/>
              </a:prstTxWarp>
              <a:noAutofit/>
            </a:bodyPr>
            <a:lstStyle/>
            <a:p>
              <a:endParaRPr lang="en-US"/>
            </a:p>
          </p:txBody>
        </p:sp>
        <p:sp>
          <p:nvSpPr>
            <p:cNvPr id="45" name="Textbox 93"/>
            <p:cNvSpPr txBox="1"/>
            <p:nvPr/>
          </p:nvSpPr>
          <p:spPr>
            <a:xfrm>
              <a:off x="611886" y="1226059"/>
              <a:ext cx="2750820" cy="1517239"/>
            </a:xfrm>
            <a:prstGeom prst="rect">
              <a:avLst/>
            </a:prstGeom>
            <a:ln w="4572">
              <a:solidFill>
                <a:srgbClr val="000000"/>
              </a:solidFill>
              <a:prstDash val="solid"/>
            </a:ln>
          </p:spPr>
          <p:txBody>
            <a:bodyPr wrap="square" lIns="0" tIns="0" rIns="0" bIns="0" rtlCol="0">
              <a:noAutofit/>
            </a:bodyPr>
            <a:lstStyle/>
            <a:p>
              <a:pPr marL="347980" marR="1437640">
                <a:lnSpc>
                  <a:spcPct val="103000"/>
                </a:lnSpc>
                <a:spcBef>
                  <a:spcPts val="655"/>
                </a:spcBef>
                <a:spcAft>
                  <a:spcPts val="0"/>
                </a:spcAft>
              </a:pPr>
              <a:r>
                <a:rPr lang="vi-VN" sz="1700" spc="-10">
                  <a:effectLst/>
                  <a:latin typeface="Arial" panose="020B0604020202020204" pitchFamily="34" charset="0"/>
                  <a:ea typeface="Palatino Linotype" panose="02040502050505030304" pitchFamily="18" charset="0"/>
                  <a:cs typeface="Palatino Linotype" panose="02040502050505030304" pitchFamily="18" charset="0"/>
                </a:rPr>
                <a:t>m=Dy/Dx; x=x1; y=y1;</a:t>
              </a:r>
              <a:endParaRPr lang="en-US" sz="1100">
                <a:effectLst/>
                <a:latin typeface="Palatino Linotype" panose="02040502050505030304" pitchFamily="18" charset="0"/>
                <a:ea typeface="Palatino Linotype" panose="02040502050505030304" pitchFamily="18" charset="0"/>
                <a:cs typeface="Palatino Linotype" panose="02040502050505030304" pitchFamily="18" charset="0"/>
              </a:endParaRPr>
            </a:p>
            <a:p>
              <a:pPr marL="347980">
                <a:spcBef>
                  <a:spcPts val="10"/>
                </a:spcBef>
                <a:spcAft>
                  <a:spcPts val="0"/>
                </a:spcAft>
              </a:pPr>
              <a:r>
                <a:rPr lang="vi-VN" sz="1700">
                  <a:effectLst/>
                  <a:latin typeface="Arial" panose="020B0604020202020204" pitchFamily="34" charset="0"/>
                  <a:ea typeface="Palatino Linotype" panose="02040502050505030304" pitchFamily="18" charset="0"/>
                  <a:cs typeface="Palatino Linotype" panose="02040502050505030304" pitchFamily="18" charset="0"/>
                </a:rPr>
                <a:t>putpixel(x,</a:t>
              </a:r>
              <a:r>
                <a:rPr lang="vi-VN" sz="1700" spc="-40">
                  <a:effectLst/>
                  <a:latin typeface="Arial" panose="020B0604020202020204" pitchFamily="34" charset="0"/>
                  <a:ea typeface="Palatino Linotype" panose="02040502050505030304" pitchFamily="18" charset="0"/>
                  <a:cs typeface="Palatino Linotype" panose="02040502050505030304" pitchFamily="18" charset="0"/>
                </a:rPr>
                <a:t> </a:t>
              </a:r>
              <a:r>
                <a:rPr lang="vi-VN" sz="1700">
                  <a:effectLst/>
                  <a:latin typeface="Arial" panose="020B0604020202020204" pitchFamily="34" charset="0"/>
                  <a:ea typeface="Palatino Linotype" panose="02040502050505030304" pitchFamily="18" charset="0"/>
                  <a:cs typeface="Palatino Linotype" panose="02040502050505030304" pitchFamily="18" charset="0"/>
                </a:rPr>
                <a:t>Round(y),</a:t>
              </a:r>
              <a:r>
                <a:rPr lang="vi-VN" sz="1700" spc="-40">
                  <a:effectLst/>
                  <a:latin typeface="Arial" panose="020B0604020202020204" pitchFamily="34" charset="0"/>
                  <a:ea typeface="Palatino Linotype" panose="02040502050505030304" pitchFamily="18" charset="0"/>
                  <a:cs typeface="Palatino Linotype" panose="02040502050505030304" pitchFamily="18" charset="0"/>
                </a:rPr>
                <a:t> </a:t>
              </a:r>
              <a:r>
                <a:rPr lang="vi-VN" sz="1700" spc="-25">
                  <a:effectLst/>
                  <a:latin typeface="Arial" panose="020B0604020202020204" pitchFamily="34" charset="0"/>
                  <a:ea typeface="Palatino Linotype" panose="02040502050505030304" pitchFamily="18" charset="0"/>
                  <a:cs typeface="Palatino Linotype" panose="02040502050505030304" pitchFamily="18" charset="0"/>
                </a:rPr>
                <a:t>c);</a:t>
              </a:r>
              <a:endParaRPr lang="en-US" sz="110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46" name="Textbox 94"/>
            <p:cNvSpPr txBox="1"/>
            <p:nvPr/>
          </p:nvSpPr>
          <p:spPr>
            <a:xfrm>
              <a:off x="1220724" y="0"/>
              <a:ext cx="1533525" cy="1233805"/>
            </a:xfrm>
            <a:prstGeom prst="rect">
              <a:avLst/>
            </a:prstGeom>
          </p:spPr>
          <p:txBody>
            <a:bodyPr wrap="square" lIns="0" tIns="0" rIns="0" bIns="0" rtlCol="0">
              <a:noAutofit/>
            </a:bodyPr>
            <a:lstStyle/>
            <a:p>
              <a:pPr marL="494030">
                <a:spcBef>
                  <a:spcPts val="1340"/>
                </a:spcBef>
                <a:spcAft>
                  <a:spcPts val="0"/>
                </a:spcAft>
              </a:pPr>
              <a:r>
                <a:rPr lang="vi-VN" sz="1700" spc="-10">
                  <a:effectLst/>
                  <a:latin typeface="Arial" panose="020B0604020202020204" pitchFamily="34" charset="0"/>
                  <a:ea typeface="Palatino Linotype" panose="02040502050505030304" pitchFamily="18" charset="0"/>
                  <a:cs typeface="Palatino Linotype" panose="02040502050505030304" pitchFamily="18" charset="0"/>
                </a:rPr>
                <a:t>Begin</a:t>
              </a:r>
              <a:endParaRPr lang="en-US" sz="110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47" name="Textbox 95"/>
            <p:cNvSpPr txBox="1"/>
            <p:nvPr/>
          </p:nvSpPr>
          <p:spPr>
            <a:xfrm>
              <a:off x="1757933" y="3389275"/>
              <a:ext cx="476250" cy="240029"/>
            </a:xfrm>
            <a:prstGeom prst="rect">
              <a:avLst/>
            </a:prstGeom>
          </p:spPr>
          <p:txBody>
            <a:bodyPr wrap="square" lIns="0" tIns="0" rIns="0" bIns="0" rtlCol="0">
              <a:noAutofit/>
            </a:bodyPr>
            <a:lstStyle/>
            <a:p>
              <a:pPr>
                <a:lnSpc>
                  <a:spcPts val="1890"/>
                </a:lnSpc>
                <a:spcAft>
                  <a:spcPts val="0"/>
                </a:spcAft>
              </a:pPr>
              <a:r>
                <a:rPr lang="vi-VN" sz="1700" spc="-20">
                  <a:effectLst/>
                  <a:latin typeface="Arial" panose="020B0604020202020204" pitchFamily="34" charset="0"/>
                  <a:ea typeface="Palatino Linotype" panose="02040502050505030304" pitchFamily="18" charset="0"/>
                  <a:cs typeface="Palatino Linotype" panose="02040502050505030304" pitchFamily="18" charset="0"/>
                </a:rPr>
                <a:t>x&lt;x2</a:t>
              </a:r>
              <a:endParaRPr lang="en-US" sz="110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48" name="Textbox 96"/>
            <p:cNvSpPr txBox="1"/>
            <p:nvPr/>
          </p:nvSpPr>
          <p:spPr>
            <a:xfrm>
              <a:off x="3254502" y="3413036"/>
              <a:ext cx="240029" cy="193675"/>
            </a:xfrm>
            <a:prstGeom prst="rect">
              <a:avLst/>
            </a:prstGeom>
          </p:spPr>
          <p:txBody>
            <a:bodyPr wrap="square" lIns="0" tIns="0" rIns="0" bIns="0" rtlCol="0">
              <a:noAutofit/>
            </a:bodyPr>
            <a:lstStyle/>
            <a:p>
              <a:pPr>
                <a:lnSpc>
                  <a:spcPts val="1520"/>
                </a:lnSpc>
                <a:spcAft>
                  <a:spcPts val="0"/>
                </a:spcAft>
              </a:pPr>
              <a:r>
                <a:rPr lang="vi-VN" sz="1350" spc="-25">
                  <a:effectLst/>
                  <a:latin typeface="Arial" panose="020B0604020202020204" pitchFamily="34" charset="0"/>
                  <a:ea typeface="Palatino Linotype" panose="02040502050505030304" pitchFamily="18" charset="0"/>
                  <a:cs typeface="Palatino Linotype" panose="02040502050505030304" pitchFamily="18" charset="0"/>
                </a:rPr>
                <a:t>No</a:t>
              </a:r>
              <a:endParaRPr lang="en-US" sz="110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49" name="Textbox 97"/>
            <p:cNvSpPr txBox="1"/>
            <p:nvPr/>
          </p:nvSpPr>
          <p:spPr>
            <a:xfrm>
              <a:off x="1838705" y="4328960"/>
              <a:ext cx="316230" cy="193675"/>
            </a:xfrm>
            <a:prstGeom prst="rect">
              <a:avLst/>
            </a:prstGeom>
          </p:spPr>
          <p:txBody>
            <a:bodyPr wrap="square" lIns="0" tIns="0" rIns="0" bIns="0" rtlCol="0">
              <a:noAutofit/>
            </a:bodyPr>
            <a:lstStyle/>
            <a:p>
              <a:pPr>
                <a:lnSpc>
                  <a:spcPts val="1520"/>
                </a:lnSpc>
                <a:spcAft>
                  <a:spcPts val="0"/>
                </a:spcAft>
              </a:pPr>
              <a:r>
                <a:rPr lang="vi-VN" sz="1350" spc="-25">
                  <a:effectLst/>
                  <a:latin typeface="Arial" panose="020B0604020202020204" pitchFamily="34" charset="0"/>
                  <a:ea typeface="Palatino Linotype" panose="02040502050505030304" pitchFamily="18" charset="0"/>
                  <a:cs typeface="Palatino Linotype" panose="02040502050505030304" pitchFamily="18" charset="0"/>
                </a:rPr>
                <a:t>Yes</a:t>
              </a:r>
              <a:endParaRPr lang="en-US" sz="110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50" name="Textbox 98"/>
            <p:cNvSpPr txBox="1"/>
            <p:nvPr/>
          </p:nvSpPr>
          <p:spPr>
            <a:xfrm>
              <a:off x="1797557" y="7818019"/>
              <a:ext cx="398780" cy="240029"/>
            </a:xfrm>
            <a:prstGeom prst="rect">
              <a:avLst/>
            </a:prstGeom>
          </p:spPr>
          <p:txBody>
            <a:bodyPr wrap="square" lIns="0" tIns="0" rIns="0" bIns="0" rtlCol="0">
              <a:noAutofit/>
            </a:bodyPr>
            <a:lstStyle/>
            <a:p>
              <a:pPr>
                <a:lnSpc>
                  <a:spcPts val="1890"/>
                </a:lnSpc>
                <a:spcAft>
                  <a:spcPts val="0"/>
                </a:spcAft>
              </a:pPr>
              <a:r>
                <a:rPr lang="vi-VN" sz="1700" spc="-25">
                  <a:effectLst/>
                  <a:latin typeface="Arial" panose="020B0604020202020204" pitchFamily="34" charset="0"/>
                  <a:ea typeface="Palatino Linotype" panose="02040502050505030304" pitchFamily="18" charset="0"/>
                  <a:cs typeface="Palatino Linotype" panose="02040502050505030304" pitchFamily="18" charset="0"/>
                </a:rPr>
                <a:t>End</a:t>
              </a:r>
              <a:endParaRPr lang="en-US" sz="110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51" name="Textbox 99"/>
            <p:cNvSpPr txBox="1"/>
            <p:nvPr/>
          </p:nvSpPr>
          <p:spPr>
            <a:xfrm>
              <a:off x="614172" y="4895088"/>
              <a:ext cx="2746375" cy="911860"/>
            </a:xfrm>
            <a:prstGeom prst="rect">
              <a:avLst/>
            </a:prstGeom>
          </p:spPr>
          <p:txBody>
            <a:bodyPr wrap="square" lIns="0" tIns="0" rIns="0" bIns="0" rtlCol="0">
              <a:noAutofit/>
            </a:bodyPr>
            <a:lstStyle/>
            <a:p>
              <a:pPr marL="347980" marR="1069975">
                <a:lnSpc>
                  <a:spcPct val="103000"/>
                </a:lnSpc>
                <a:spcBef>
                  <a:spcPts val="460"/>
                </a:spcBef>
                <a:spcAft>
                  <a:spcPts val="0"/>
                </a:spcAft>
              </a:pPr>
              <a:r>
                <a:rPr lang="vi-VN" sz="1700" spc="-10">
                  <a:effectLst/>
                  <a:latin typeface="Arial" panose="020B0604020202020204" pitchFamily="34" charset="0"/>
                  <a:ea typeface="Palatino Linotype" panose="02040502050505030304" pitchFamily="18" charset="0"/>
                  <a:cs typeface="Palatino Linotype" panose="02040502050505030304" pitchFamily="18" charset="0"/>
                </a:rPr>
                <a:t>x=x+1; y=y+m;</a:t>
              </a:r>
              <a:endParaRPr lang="en-US" sz="1100">
                <a:effectLst/>
                <a:latin typeface="Palatino Linotype" panose="02040502050505030304" pitchFamily="18" charset="0"/>
                <a:ea typeface="Palatino Linotype" panose="02040502050505030304" pitchFamily="18" charset="0"/>
                <a:cs typeface="Palatino Linotype" panose="02040502050505030304" pitchFamily="18" charset="0"/>
              </a:endParaRPr>
            </a:p>
            <a:p>
              <a:pPr marL="347980">
                <a:spcBef>
                  <a:spcPts val="15"/>
                </a:spcBef>
                <a:spcAft>
                  <a:spcPts val="0"/>
                </a:spcAft>
              </a:pPr>
              <a:r>
                <a:rPr lang="vi-VN" sz="1700">
                  <a:effectLst/>
                  <a:latin typeface="Arial" panose="020B0604020202020204" pitchFamily="34" charset="0"/>
                  <a:ea typeface="Palatino Linotype" panose="02040502050505030304" pitchFamily="18" charset="0"/>
                  <a:cs typeface="Palatino Linotype" panose="02040502050505030304" pitchFamily="18" charset="0"/>
                </a:rPr>
                <a:t>putpixel(x,</a:t>
              </a:r>
              <a:r>
                <a:rPr lang="vi-VN" sz="1700" spc="-45">
                  <a:effectLst/>
                  <a:latin typeface="Arial" panose="020B0604020202020204" pitchFamily="34" charset="0"/>
                  <a:ea typeface="Palatino Linotype" panose="02040502050505030304" pitchFamily="18" charset="0"/>
                  <a:cs typeface="Palatino Linotype" panose="02040502050505030304" pitchFamily="18" charset="0"/>
                </a:rPr>
                <a:t> </a:t>
              </a:r>
              <a:r>
                <a:rPr lang="vi-VN" sz="1700" spc="-10">
                  <a:effectLst/>
                  <a:latin typeface="Arial" panose="020B0604020202020204" pitchFamily="34" charset="0"/>
                  <a:ea typeface="Palatino Linotype" panose="02040502050505030304" pitchFamily="18" charset="0"/>
                  <a:cs typeface="Palatino Linotype" panose="02040502050505030304" pitchFamily="18" charset="0"/>
                </a:rPr>
                <a:t>Round(y),c);</a:t>
              </a:r>
              <a:endParaRPr lang="en-US" sz="110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grpSp>
    </p:spTree>
    <p:extLst>
      <p:ext uri="{BB962C8B-B14F-4D97-AF65-F5344CB8AC3E}">
        <p14:creationId xmlns:p14="http://schemas.microsoft.com/office/powerpoint/2010/main" val="198963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normAutofit/>
          </a:bodyPr>
          <a:lstStyle/>
          <a:p>
            <a:r>
              <a:rPr lang="en-US" b="1" smtClean="0"/>
              <a:t>Thuật toán DDA </a:t>
            </a:r>
            <a:br>
              <a:rPr lang="en-US" b="1" smtClean="0"/>
            </a:br>
            <a:r>
              <a:rPr lang="en-US" b="1" smtClean="0"/>
              <a:t>(Digital Differential Analizer)</a:t>
            </a:r>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17</a:t>
            </a:fld>
            <a:endParaRPr lang="en-US"/>
          </a:p>
        </p:txBody>
      </p:sp>
      <p:sp>
        <p:nvSpPr>
          <p:cNvPr id="3" name="Content Placeholder 2"/>
          <p:cNvSpPr>
            <a:spLocks noGrp="1"/>
          </p:cNvSpPr>
          <p:nvPr>
            <p:ph idx="1"/>
          </p:nvPr>
        </p:nvSpPr>
        <p:spPr>
          <a:xfrm>
            <a:off x="1870497" y="3423889"/>
            <a:ext cx="9081359" cy="964990"/>
          </a:xfrm>
        </p:spPr>
        <p:txBody>
          <a:bodyPr>
            <a:noAutofit/>
          </a:bodyPr>
          <a:lstStyle/>
          <a:p>
            <a:pPr marL="0" indent="0">
              <a:buNone/>
            </a:pPr>
            <a:r>
              <a:rPr lang="en-US" b="1" smtClean="0">
                <a:latin typeface="Arial (Body)"/>
              </a:rPr>
              <a:t>Nhận xét:</a:t>
            </a:r>
          </a:p>
          <a:p>
            <a:r>
              <a:rPr lang="en-US" smtClean="0">
                <a:latin typeface="Arial (Body)"/>
              </a:rPr>
              <a:t>Cải thiện tốc độ: Sử dụng công thức: y</a:t>
            </a:r>
            <a:r>
              <a:rPr lang="en-US" baseline="-25000" smtClean="0">
                <a:latin typeface="Arial (Body)"/>
              </a:rPr>
              <a:t>i+1</a:t>
            </a:r>
            <a:r>
              <a:rPr lang="en-US" smtClean="0">
                <a:latin typeface="Arial (Body)"/>
              </a:rPr>
              <a:t>=y</a:t>
            </a:r>
            <a:r>
              <a:rPr lang="en-US" baseline="-25000" smtClean="0">
                <a:latin typeface="Arial (Body)"/>
              </a:rPr>
              <a:t>i</a:t>
            </a:r>
            <a:r>
              <a:rPr lang="en-US" smtClean="0">
                <a:latin typeface="Arial (Body)"/>
              </a:rPr>
              <a:t>+k thay cho y=kx+m, tránh phép nhân số thực</a:t>
            </a:r>
          </a:p>
          <a:p>
            <a:r>
              <a:rPr lang="en-US" smtClean="0">
                <a:latin typeface="Arial (Body)"/>
              </a:rPr>
              <a:t>Sai số tích lũy do việc cộng số thực m vào y, điểm vẽ chệch hướng với đường thẳng thực khi đường thẳng dài</a:t>
            </a:r>
          </a:p>
          <a:p>
            <a:r>
              <a:rPr lang="en-US" smtClean="0">
                <a:latin typeface="Arial (Body)"/>
              </a:rPr>
              <a:t>Tốc độ vẫn chậm (sử dụng cộng số thực, làm tròn)</a:t>
            </a:r>
            <a:endParaRPr lang="en-US">
              <a:latin typeface="Arial (Body)"/>
            </a:endParaRPr>
          </a:p>
        </p:txBody>
      </p:sp>
    </p:spTree>
    <p:extLst>
      <p:ext uri="{BB962C8B-B14F-4D97-AF65-F5344CB8AC3E}">
        <p14:creationId xmlns:p14="http://schemas.microsoft.com/office/powerpoint/2010/main" val="1291683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normAutofit/>
          </a:bodyPr>
          <a:lstStyle/>
          <a:p>
            <a:r>
              <a:rPr lang="en-US" b="1" smtClean="0"/>
              <a:t>Giải thuật Bresenham</a:t>
            </a:r>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18</a:t>
            </a:fld>
            <a:endParaRPr lang="en-US"/>
          </a:p>
        </p:txBody>
      </p:sp>
      <p:sp>
        <p:nvSpPr>
          <p:cNvPr id="3" name="Content Placeholder 2"/>
          <p:cNvSpPr>
            <a:spLocks noGrp="1"/>
          </p:cNvSpPr>
          <p:nvPr>
            <p:ph idx="1"/>
          </p:nvPr>
        </p:nvSpPr>
        <p:spPr>
          <a:xfrm>
            <a:off x="1484310" y="1056640"/>
            <a:ext cx="9081359" cy="4175519"/>
          </a:xfrm>
        </p:spPr>
        <p:txBody>
          <a:bodyPr>
            <a:noAutofit/>
          </a:bodyPr>
          <a:lstStyle/>
          <a:p>
            <a:pPr marL="0" indent="0">
              <a:buNone/>
            </a:pPr>
            <a:r>
              <a:rPr lang="en-US" sz="2800">
                <a:latin typeface="Arial (Body)"/>
              </a:rPr>
              <a:t>Cho </a:t>
            </a:r>
            <a:r>
              <a:rPr lang="vi-VN" sz="2800">
                <a:latin typeface="Arial (Body)"/>
              </a:rPr>
              <a:t>PT </a:t>
            </a:r>
            <a:r>
              <a:rPr lang="en-US" sz="2800" smtClean="0">
                <a:latin typeface="Arial (Body)"/>
              </a:rPr>
              <a:t>đường</a:t>
            </a:r>
            <a:r>
              <a:rPr lang="vi-VN" sz="2800" smtClean="0">
                <a:latin typeface="Arial (Body)"/>
              </a:rPr>
              <a:t> </a:t>
            </a:r>
            <a:r>
              <a:rPr lang="vi-VN" sz="2800">
                <a:latin typeface="Arial (Body)"/>
              </a:rPr>
              <a:t>thẳng </a:t>
            </a:r>
            <a:r>
              <a:rPr lang="vi-VN" sz="2800" smtClean="0">
                <a:latin typeface="Arial (Body)"/>
              </a:rPr>
              <a:t>như </a:t>
            </a:r>
            <a:r>
              <a:rPr lang="vi-VN" sz="2800">
                <a:latin typeface="Arial (Body)"/>
              </a:rPr>
              <a:t>sau: </a:t>
            </a:r>
            <a:r>
              <a:rPr lang="vi-VN" sz="2800" smtClean="0">
                <a:latin typeface="Arial (Body)"/>
              </a:rPr>
              <a:t>y=kx+m</a:t>
            </a:r>
            <a:endParaRPr lang="en-US" sz="2800" smtClean="0">
              <a:latin typeface="Arial (Body)"/>
            </a:endParaRPr>
          </a:p>
          <a:p>
            <a:pPr marL="457200" lvl="1" indent="0">
              <a:buNone/>
            </a:pPr>
            <a:r>
              <a:rPr lang="en-US" sz="2400" smtClean="0">
                <a:latin typeface="Arial (Body)"/>
              </a:rPr>
              <a:t>dx=x2-x1</a:t>
            </a:r>
          </a:p>
          <a:p>
            <a:pPr marL="457200" lvl="1" indent="0">
              <a:buNone/>
            </a:pPr>
            <a:r>
              <a:rPr lang="en-US" sz="2400" smtClean="0">
                <a:latin typeface="Arial (Body)"/>
              </a:rPr>
              <a:t>dy=y2-y1</a:t>
            </a:r>
          </a:p>
          <a:p>
            <a:pPr marL="457200" lvl="1" indent="0">
              <a:buNone/>
            </a:pPr>
            <a:r>
              <a:rPr lang="en-US" sz="2400" smtClean="0">
                <a:latin typeface="Arial (Body)"/>
              </a:rPr>
              <a:t>k=dy/dx</a:t>
            </a:r>
          </a:p>
          <a:p>
            <a:pPr marL="457200" lvl="1" indent="0">
              <a:buNone/>
            </a:pPr>
            <a:r>
              <a:rPr lang="en-US" sz="2400" smtClean="0">
                <a:latin typeface="Arial (Body)"/>
              </a:rPr>
              <a:t>m=y1-kx1</a:t>
            </a:r>
            <a:endParaRPr lang="vi-VN" sz="2400">
              <a:latin typeface="Arial (Body)"/>
            </a:endParaRPr>
          </a:p>
        </p:txBody>
      </p:sp>
    </p:spTree>
    <p:extLst>
      <p:ext uri="{BB962C8B-B14F-4D97-AF65-F5344CB8AC3E}">
        <p14:creationId xmlns:p14="http://schemas.microsoft.com/office/powerpoint/2010/main" val="1095999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normAutofit/>
          </a:bodyPr>
          <a:lstStyle/>
          <a:p>
            <a:r>
              <a:rPr lang="en-US" b="1" smtClean="0"/>
              <a:t>Giải thuật Bresenham</a:t>
            </a:r>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19</a:t>
            </a:fld>
            <a:endParaRPr lang="en-US"/>
          </a:p>
        </p:txBody>
      </p:sp>
      <p:sp>
        <p:nvSpPr>
          <p:cNvPr id="3" name="Content Placeholder 2"/>
          <p:cNvSpPr>
            <a:spLocks noGrp="1"/>
          </p:cNvSpPr>
          <p:nvPr>
            <p:ph idx="1"/>
          </p:nvPr>
        </p:nvSpPr>
        <p:spPr>
          <a:xfrm>
            <a:off x="1484310" y="1056640"/>
            <a:ext cx="9081359" cy="4175519"/>
          </a:xfrm>
        </p:spPr>
        <p:txBody>
          <a:bodyPr>
            <a:noAutofit/>
          </a:bodyPr>
          <a:lstStyle/>
          <a:p>
            <a:pPr marL="0" indent="0">
              <a:buNone/>
            </a:pPr>
            <a:r>
              <a:rPr lang="en-US" sz="2800" smtClean="0">
                <a:latin typeface="Arial (Body)"/>
              </a:rPr>
              <a:t>Xét 0&lt;k&lt;1</a:t>
            </a:r>
          </a:p>
          <a:p>
            <a:pPr marL="0" indent="0">
              <a:buNone/>
            </a:pPr>
            <a:r>
              <a:rPr lang="en-US" sz="2800" smtClean="0">
                <a:latin typeface="Arial (Body)"/>
              </a:rPr>
              <a:t>Giả sử vẽ được (x</a:t>
            </a:r>
            <a:r>
              <a:rPr lang="en-US" sz="2800" baseline="-25000" smtClean="0">
                <a:latin typeface="Arial (Body)"/>
              </a:rPr>
              <a:t>i</a:t>
            </a:r>
            <a:r>
              <a:rPr lang="en-US" sz="2800" smtClean="0">
                <a:latin typeface="Arial (Body)"/>
              </a:rPr>
              <a:t>,y</a:t>
            </a:r>
            <a:r>
              <a:rPr lang="en-US" sz="2800" baseline="-25000" smtClean="0">
                <a:latin typeface="Arial (Body)"/>
              </a:rPr>
              <a:t>i</a:t>
            </a:r>
            <a:r>
              <a:rPr lang="en-US" sz="2800" smtClean="0">
                <a:latin typeface="Arial (Body)"/>
              </a:rPr>
              <a:t>)</a:t>
            </a:r>
          </a:p>
          <a:p>
            <a:pPr marL="0" indent="0">
              <a:buNone/>
            </a:pPr>
            <a:r>
              <a:rPr lang="en-US" sz="2800" smtClean="0">
                <a:latin typeface="Arial (Body)"/>
              </a:rPr>
              <a:t>Điểm tiếp theo chọn như thế nào?</a:t>
            </a:r>
            <a:endParaRPr lang="vi-VN" sz="2400">
              <a:latin typeface="Arial (Body)"/>
            </a:endParaRPr>
          </a:p>
        </p:txBody>
      </p:sp>
      <p:sp>
        <p:nvSpPr>
          <p:cNvPr id="6" name="Graphic 101"/>
          <p:cNvSpPr/>
          <p:nvPr/>
        </p:nvSpPr>
        <p:spPr>
          <a:xfrm>
            <a:off x="108153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8" name="Graphic 102"/>
          <p:cNvSpPr/>
          <p:nvPr/>
        </p:nvSpPr>
        <p:spPr>
          <a:xfrm>
            <a:off x="7992344" y="2743834"/>
            <a:ext cx="3528815" cy="2202012"/>
          </a:xfrm>
          <a:custGeom>
            <a:avLst/>
            <a:gdLst/>
            <a:ahLst/>
            <a:cxnLst/>
            <a:rect l="l" t="t" r="r" b="b"/>
            <a:pathLst>
              <a:path w="2638425" h="1582420">
                <a:moveTo>
                  <a:pt x="2638044" y="1581912"/>
                </a:moveTo>
                <a:lnTo>
                  <a:pt x="0" y="1581912"/>
                </a:lnTo>
              </a:path>
              <a:path w="2638425" h="1582420">
                <a:moveTo>
                  <a:pt x="2638044" y="0"/>
                </a:moveTo>
                <a:lnTo>
                  <a:pt x="0" y="0"/>
                </a:lnTo>
              </a:path>
              <a:path w="2638425" h="1582420">
                <a:moveTo>
                  <a:pt x="2638044" y="790955"/>
                </a:moveTo>
                <a:lnTo>
                  <a:pt x="0" y="790955"/>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9" name="Graphic 103"/>
          <p:cNvSpPr/>
          <p:nvPr/>
        </p:nvSpPr>
        <p:spPr>
          <a:xfrm>
            <a:off x="975547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10" name="Graphic 104"/>
          <p:cNvSpPr/>
          <p:nvPr/>
        </p:nvSpPr>
        <p:spPr>
          <a:xfrm>
            <a:off x="86975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1" name="Image 105"/>
          <p:cNvPicPr/>
          <p:nvPr/>
        </p:nvPicPr>
        <p:blipFill>
          <a:blip r:embed="rId2" cstate="print"/>
          <a:stretch>
            <a:fillRect/>
          </a:stretch>
        </p:blipFill>
        <p:spPr>
          <a:xfrm>
            <a:off x="8547782" y="4791389"/>
            <a:ext cx="299631" cy="309623"/>
          </a:xfrm>
          <a:prstGeom prst="rect">
            <a:avLst/>
          </a:prstGeom>
        </p:spPr>
      </p:pic>
      <p:sp>
        <p:nvSpPr>
          <p:cNvPr id="12" name="Graphic 106"/>
          <p:cNvSpPr/>
          <p:nvPr/>
        </p:nvSpPr>
        <p:spPr>
          <a:xfrm>
            <a:off x="7992344" y="3698157"/>
            <a:ext cx="3528815" cy="1247688"/>
          </a:xfrm>
          <a:custGeom>
            <a:avLst/>
            <a:gdLst/>
            <a:ahLst/>
            <a:cxnLst/>
            <a:rect l="l" t="t" r="r" b="b"/>
            <a:pathLst>
              <a:path w="2638425" h="896619">
                <a:moveTo>
                  <a:pt x="0" y="896112"/>
                </a:moveTo>
                <a:lnTo>
                  <a:pt x="2638044" y="0"/>
                </a:lnTo>
              </a:path>
            </a:pathLst>
          </a:custGeom>
          <a:ln w="22860">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3" name="Image 107"/>
          <p:cNvPicPr/>
          <p:nvPr/>
        </p:nvPicPr>
        <p:blipFill>
          <a:blip r:embed="rId3" cstate="print"/>
          <a:stretch>
            <a:fillRect/>
          </a:stretch>
        </p:blipFill>
        <p:spPr>
          <a:xfrm>
            <a:off x="9677005" y="4240002"/>
            <a:ext cx="158988" cy="165414"/>
          </a:xfrm>
          <a:prstGeom prst="rect">
            <a:avLst/>
          </a:prstGeom>
        </p:spPr>
      </p:pic>
      <p:sp>
        <p:nvSpPr>
          <p:cNvPr id="14" name="Graphic 108"/>
          <p:cNvSpPr/>
          <p:nvPr/>
        </p:nvSpPr>
        <p:spPr>
          <a:xfrm>
            <a:off x="9262210" y="3698157"/>
            <a:ext cx="302348" cy="439165"/>
          </a:xfrm>
          <a:custGeom>
            <a:avLst/>
            <a:gdLst/>
            <a:ahLst/>
            <a:cxnLst/>
            <a:rect l="l" t="t" r="r" b="b"/>
            <a:pathLst>
              <a:path w="226060" h="315595">
                <a:moveTo>
                  <a:pt x="0" y="0"/>
                </a:moveTo>
                <a:lnTo>
                  <a:pt x="225551" y="315468"/>
                </a:lnTo>
              </a:path>
            </a:pathLst>
          </a:custGeom>
          <a:ln w="4572">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5" name="Image 109"/>
          <p:cNvPicPr/>
          <p:nvPr/>
        </p:nvPicPr>
        <p:blipFill>
          <a:blip r:embed="rId4" cstate="print"/>
          <a:stretch>
            <a:fillRect/>
          </a:stretch>
        </p:blipFill>
        <p:spPr>
          <a:xfrm>
            <a:off x="9509863" y="4091552"/>
            <a:ext cx="108030" cy="123000"/>
          </a:xfrm>
          <a:prstGeom prst="rect">
            <a:avLst/>
          </a:prstGeom>
        </p:spPr>
      </p:pic>
      <p:pic>
        <p:nvPicPr>
          <p:cNvPr id="16" name="Image 110"/>
          <p:cNvPicPr/>
          <p:nvPr/>
        </p:nvPicPr>
        <p:blipFill>
          <a:blip r:embed="rId5" cstate="print"/>
          <a:stretch>
            <a:fillRect/>
          </a:stretch>
        </p:blipFill>
        <p:spPr>
          <a:xfrm>
            <a:off x="9605662" y="3688615"/>
            <a:ext cx="299631" cy="311744"/>
          </a:xfrm>
          <a:prstGeom prst="rect">
            <a:avLst/>
          </a:prstGeom>
        </p:spPr>
      </p:pic>
      <p:pic>
        <p:nvPicPr>
          <p:cNvPr id="17" name="Image 111"/>
          <p:cNvPicPr/>
          <p:nvPr/>
        </p:nvPicPr>
        <p:blipFill>
          <a:blip r:embed="rId6" cstate="print"/>
          <a:stretch>
            <a:fillRect/>
          </a:stretch>
        </p:blipFill>
        <p:spPr>
          <a:xfrm>
            <a:off x="9605662" y="4791389"/>
            <a:ext cx="299631" cy="309623"/>
          </a:xfrm>
          <a:prstGeom prst="rect">
            <a:avLst/>
          </a:prstGeom>
        </p:spPr>
      </p:pic>
      <p:sp>
        <p:nvSpPr>
          <p:cNvPr id="27" name="Textbox 121"/>
          <p:cNvSpPr txBox="1"/>
          <p:nvPr/>
        </p:nvSpPr>
        <p:spPr>
          <a:xfrm>
            <a:off x="8828050" y="3388167"/>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(x</a:t>
            </a:r>
            <a:r>
              <a:rPr kumimoji="0" lang="vi-VN" sz="1050"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r>
              <a:rPr kumimoji="0" lang="vi-VN" b="0" i="0" u="none" strike="noStrike" kern="0" cap="none" spc="1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 </a:t>
            </a: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28" name="Textbox 122"/>
          <p:cNvSpPr txBox="1"/>
          <p:nvPr/>
        </p:nvSpPr>
        <p:spPr>
          <a:xfrm>
            <a:off x="9711317" y="3792721"/>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P</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0" name="Textbox 124"/>
          <p:cNvSpPr txBox="1"/>
          <p:nvPr/>
        </p:nvSpPr>
        <p:spPr>
          <a:xfrm>
            <a:off x="9711317" y="4883109"/>
            <a:ext cx="151687" cy="170328"/>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S</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1" name="Textbox 121"/>
          <p:cNvSpPr txBox="1"/>
          <p:nvPr/>
        </p:nvSpPr>
        <p:spPr>
          <a:xfrm>
            <a:off x="7396480" y="3599330"/>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vi-VN" sz="1050"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2" name="Textbox 121"/>
          <p:cNvSpPr txBox="1"/>
          <p:nvPr/>
        </p:nvSpPr>
        <p:spPr>
          <a:xfrm>
            <a:off x="7469859" y="4112576"/>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3" name="Textbox 121"/>
          <p:cNvSpPr txBox="1"/>
          <p:nvPr/>
        </p:nvSpPr>
        <p:spPr>
          <a:xfrm>
            <a:off x="7459177" y="4747559"/>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4" name="Textbox 121"/>
          <p:cNvSpPr txBox="1"/>
          <p:nvPr/>
        </p:nvSpPr>
        <p:spPr>
          <a:xfrm>
            <a:off x="8734098" y="5059737"/>
            <a:ext cx="358470"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5" name="Textbox 121"/>
          <p:cNvSpPr txBox="1"/>
          <p:nvPr/>
        </p:nvSpPr>
        <p:spPr>
          <a:xfrm>
            <a:off x="9816559" y="5062222"/>
            <a:ext cx="467012"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smtClea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en-US" b="0" i="0" u="none" strike="noStrike" kern="0" cap="none" spc="0" normalizeH="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6" name="Textbox 122"/>
          <p:cNvSpPr txBox="1"/>
          <p:nvPr/>
        </p:nvSpPr>
        <p:spPr>
          <a:xfrm>
            <a:off x="9911749" y="4401492"/>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lang="en-US" sz="1400" b="1" kern="0" spc="-5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R</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cxnSp>
        <p:nvCxnSpPr>
          <p:cNvPr id="39" name="Straight Connector 38"/>
          <p:cNvCxnSpPr/>
          <p:nvPr/>
        </p:nvCxnSpPr>
        <p:spPr>
          <a:xfrm>
            <a:off x="7992344" y="4295312"/>
            <a:ext cx="3528815"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12524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normAutofit/>
          </a:bodyPr>
          <a:lstStyle/>
          <a:p>
            <a:r>
              <a:rPr lang="en-US" b="1" smtClean="0"/>
              <a:t>Giải thuật Bresenham</a:t>
            </a:r>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20</a:t>
            </a:fld>
            <a:endParaRPr lang="en-US"/>
          </a:p>
        </p:txBody>
      </p:sp>
      <p:sp>
        <p:nvSpPr>
          <p:cNvPr id="3" name="Content Placeholder 2"/>
          <p:cNvSpPr>
            <a:spLocks noGrp="1"/>
          </p:cNvSpPr>
          <p:nvPr>
            <p:ph idx="1"/>
          </p:nvPr>
        </p:nvSpPr>
        <p:spPr>
          <a:xfrm>
            <a:off x="1387168" y="2087095"/>
            <a:ext cx="5803972" cy="2955598"/>
          </a:xfrm>
        </p:spPr>
        <p:txBody>
          <a:bodyPr>
            <a:noAutofit/>
          </a:bodyPr>
          <a:lstStyle/>
          <a:p>
            <a:pPr marL="0" indent="0">
              <a:buNone/>
            </a:pPr>
            <a:r>
              <a:rPr lang="en-US" sz="2800" smtClean="0">
                <a:latin typeface="Arial (Body)"/>
              </a:rPr>
              <a:t>Điểm chọn tiếp theo không thể là R(x</a:t>
            </a:r>
            <a:r>
              <a:rPr lang="en-US" sz="2800" baseline="-25000" smtClean="0">
                <a:latin typeface="Arial (Body)"/>
              </a:rPr>
              <a:t>i</a:t>
            </a:r>
            <a:r>
              <a:rPr lang="en-US" sz="2800" smtClean="0">
                <a:latin typeface="Arial (Body)"/>
              </a:rPr>
              <a:t>+1,y)</a:t>
            </a:r>
          </a:p>
          <a:p>
            <a:pPr marL="0" indent="0">
              <a:buNone/>
            </a:pPr>
            <a:r>
              <a:rPr lang="en-US" sz="2800" smtClean="0">
                <a:latin typeface="Arial (Body)"/>
              </a:rPr>
              <a:t>Chỉ có thể chọn S</a:t>
            </a:r>
            <a:r>
              <a:rPr lang="en-US" smtClean="0">
                <a:latin typeface="Arial (Body)"/>
              </a:rPr>
              <a:t>(x</a:t>
            </a:r>
            <a:r>
              <a:rPr lang="en-US" baseline="-25000" smtClean="0">
                <a:latin typeface="Arial (Body)"/>
              </a:rPr>
              <a:t>i</a:t>
            </a:r>
            <a:r>
              <a:rPr lang="en-US" smtClean="0">
                <a:latin typeface="Arial (Body)"/>
              </a:rPr>
              <a:t>+1,y</a:t>
            </a:r>
            <a:r>
              <a:rPr lang="en-US" baseline="-25000" smtClean="0">
                <a:latin typeface="Arial (Body)"/>
              </a:rPr>
              <a:t>i</a:t>
            </a:r>
            <a:r>
              <a:rPr lang="en-US" smtClean="0">
                <a:latin typeface="Arial (Body)"/>
              </a:rPr>
              <a:t>) hoặc</a:t>
            </a:r>
            <a:r>
              <a:rPr lang="en-US">
                <a:latin typeface="Arial (Body)"/>
              </a:rPr>
              <a:t> </a:t>
            </a:r>
            <a:r>
              <a:rPr lang="en-US" smtClean="0">
                <a:latin typeface="Arial (Body)"/>
              </a:rPr>
              <a:t>P(x</a:t>
            </a:r>
            <a:r>
              <a:rPr lang="en-US" baseline="-25000" smtClean="0">
                <a:latin typeface="Arial (Body)"/>
              </a:rPr>
              <a:t>i</a:t>
            </a:r>
            <a:r>
              <a:rPr lang="en-US" smtClean="0">
                <a:latin typeface="Arial (Body)"/>
              </a:rPr>
              <a:t>+1,y</a:t>
            </a:r>
            <a:r>
              <a:rPr lang="en-US" baseline="-25000" smtClean="0">
                <a:latin typeface="Arial (Body)"/>
              </a:rPr>
              <a:t>i</a:t>
            </a:r>
            <a:r>
              <a:rPr lang="en-US" smtClean="0">
                <a:latin typeface="Arial (Body)"/>
              </a:rPr>
              <a:t>+1)</a:t>
            </a:r>
          </a:p>
          <a:p>
            <a:pPr marL="0" indent="0">
              <a:buNone/>
            </a:pPr>
            <a:r>
              <a:rPr lang="en-US" smtClean="0">
                <a:latin typeface="Arial (Body)"/>
              </a:rPr>
              <a:t>Đặt d1=RS,d2=RP</a:t>
            </a:r>
          </a:p>
          <a:p>
            <a:pPr marL="0" indent="0">
              <a:buNone/>
            </a:pPr>
            <a:r>
              <a:rPr lang="en-US">
                <a:latin typeface="Arial (Body)"/>
              </a:rPr>
              <a:t>	</a:t>
            </a:r>
            <a:r>
              <a:rPr lang="en-US" smtClean="0">
                <a:latin typeface="Arial (Body)"/>
              </a:rPr>
              <a:t>	</a:t>
            </a:r>
            <a:endParaRPr lang="vi-VN" sz="2400">
              <a:latin typeface="Arial (Body)"/>
            </a:endParaRPr>
          </a:p>
        </p:txBody>
      </p:sp>
      <p:grpSp>
        <p:nvGrpSpPr>
          <p:cNvPr id="4" name="Group 3"/>
          <p:cNvGrpSpPr/>
          <p:nvPr/>
        </p:nvGrpSpPr>
        <p:grpSpPr>
          <a:xfrm>
            <a:off x="7396480" y="2007946"/>
            <a:ext cx="4257679" cy="3671494"/>
            <a:chOff x="7396480" y="2007946"/>
            <a:chExt cx="4257679" cy="3671494"/>
          </a:xfrm>
        </p:grpSpPr>
        <p:sp>
          <p:nvSpPr>
            <p:cNvPr id="6" name="Graphic 101"/>
            <p:cNvSpPr/>
            <p:nvPr/>
          </p:nvSpPr>
          <p:spPr>
            <a:xfrm>
              <a:off x="108153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8" name="Graphic 102"/>
            <p:cNvSpPr/>
            <p:nvPr/>
          </p:nvSpPr>
          <p:spPr>
            <a:xfrm>
              <a:off x="7992344" y="2743834"/>
              <a:ext cx="3528815" cy="2202012"/>
            </a:xfrm>
            <a:custGeom>
              <a:avLst/>
              <a:gdLst/>
              <a:ahLst/>
              <a:cxnLst/>
              <a:rect l="l" t="t" r="r" b="b"/>
              <a:pathLst>
                <a:path w="2638425" h="1582420">
                  <a:moveTo>
                    <a:pt x="2638044" y="1581912"/>
                  </a:moveTo>
                  <a:lnTo>
                    <a:pt x="0" y="1581912"/>
                  </a:lnTo>
                </a:path>
                <a:path w="2638425" h="1582420">
                  <a:moveTo>
                    <a:pt x="2638044" y="0"/>
                  </a:moveTo>
                  <a:lnTo>
                    <a:pt x="0" y="0"/>
                  </a:lnTo>
                </a:path>
                <a:path w="2638425" h="1582420">
                  <a:moveTo>
                    <a:pt x="2638044" y="790955"/>
                  </a:moveTo>
                  <a:lnTo>
                    <a:pt x="0" y="790955"/>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9" name="Graphic 103"/>
            <p:cNvSpPr/>
            <p:nvPr/>
          </p:nvSpPr>
          <p:spPr>
            <a:xfrm>
              <a:off x="975547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10" name="Graphic 104"/>
            <p:cNvSpPr/>
            <p:nvPr/>
          </p:nvSpPr>
          <p:spPr>
            <a:xfrm>
              <a:off x="86975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1" name="Image 105"/>
            <p:cNvPicPr/>
            <p:nvPr/>
          </p:nvPicPr>
          <p:blipFill>
            <a:blip r:embed="rId2" cstate="print"/>
            <a:stretch>
              <a:fillRect/>
            </a:stretch>
          </p:blipFill>
          <p:spPr>
            <a:xfrm>
              <a:off x="8547782" y="4791389"/>
              <a:ext cx="299631" cy="309623"/>
            </a:xfrm>
            <a:prstGeom prst="rect">
              <a:avLst/>
            </a:prstGeom>
          </p:spPr>
        </p:pic>
        <p:sp>
          <p:nvSpPr>
            <p:cNvPr id="12" name="Graphic 106"/>
            <p:cNvSpPr/>
            <p:nvPr/>
          </p:nvSpPr>
          <p:spPr>
            <a:xfrm>
              <a:off x="7992344" y="3698157"/>
              <a:ext cx="3528815" cy="1247688"/>
            </a:xfrm>
            <a:custGeom>
              <a:avLst/>
              <a:gdLst/>
              <a:ahLst/>
              <a:cxnLst/>
              <a:rect l="l" t="t" r="r" b="b"/>
              <a:pathLst>
                <a:path w="2638425" h="896619">
                  <a:moveTo>
                    <a:pt x="0" y="896112"/>
                  </a:moveTo>
                  <a:lnTo>
                    <a:pt x="2638044" y="0"/>
                  </a:lnTo>
                </a:path>
              </a:pathLst>
            </a:custGeom>
            <a:ln w="22860">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3" name="Image 107"/>
            <p:cNvPicPr/>
            <p:nvPr/>
          </p:nvPicPr>
          <p:blipFill>
            <a:blip r:embed="rId3" cstate="print"/>
            <a:stretch>
              <a:fillRect/>
            </a:stretch>
          </p:blipFill>
          <p:spPr>
            <a:xfrm>
              <a:off x="9677005" y="4240002"/>
              <a:ext cx="158988" cy="165414"/>
            </a:xfrm>
            <a:prstGeom prst="rect">
              <a:avLst/>
            </a:prstGeom>
          </p:spPr>
        </p:pic>
        <p:sp>
          <p:nvSpPr>
            <p:cNvPr id="14" name="Graphic 108"/>
            <p:cNvSpPr/>
            <p:nvPr/>
          </p:nvSpPr>
          <p:spPr>
            <a:xfrm>
              <a:off x="9262210" y="3698157"/>
              <a:ext cx="302348" cy="439165"/>
            </a:xfrm>
            <a:custGeom>
              <a:avLst/>
              <a:gdLst/>
              <a:ahLst/>
              <a:cxnLst/>
              <a:rect l="l" t="t" r="r" b="b"/>
              <a:pathLst>
                <a:path w="226060" h="315595">
                  <a:moveTo>
                    <a:pt x="0" y="0"/>
                  </a:moveTo>
                  <a:lnTo>
                    <a:pt x="225551" y="315468"/>
                  </a:lnTo>
                </a:path>
              </a:pathLst>
            </a:custGeom>
            <a:ln w="4572">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5" name="Image 109"/>
            <p:cNvPicPr/>
            <p:nvPr/>
          </p:nvPicPr>
          <p:blipFill>
            <a:blip r:embed="rId4" cstate="print"/>
            <a:stretch>
              <a:fillRect/>
            </a:stretch>
          </p:blipFill>
          <p:spPr>
            <a:xfrm>
              <a:off x="9509863" y="4091552"/>
              <a:ext cx="108030" cy="123000"/>
            </a:xfrm>
            <a:prstGeom prst="rect">
              <a:avLst/>
            </a:prstGeom>
          </p:spPr>
        </p:pic>
        <p:pic>
          <p:nvPicPr>
            <p:cNvPr id="16" name="Image 110"/>
            <p:cNvPicPr/>
            <p:nvPr/>
          </p:nvPicPr>
          <p:blipFill>
            <a:blip r:embed="rId5" cstate="print"/>
            <a:stretch>
              <a:fillRect/>
            </a:stretch>
          </p:blipFill>
          <p:spPr>
            <a:xfrm>
              <a:off x="9605662" y="3688615"/>
              <a:ext cx="299631" cy="311744"/>
            </a:xfrm>
            <a:prstGeom prst="rect">
              <a:avLst/>
            </a:prstGeom>
          </p:spPr>
        </p:pic>
        <p:pic>
          <p:nvPicPr>
            <p:cNvPr id="17" name="Image 111"/>
            <p:cNvPicPr/>
            <p:nvPr/>
          </p:nvPicPr>
          <p:blipFill>
            <a:blip r:embed="rId6" cstate="print"/>
            <a:stretch>
              <a:fillRect/>
            </a:stretch>
          </p:blipFill>
          <p:spPr>
            <a:xfrm>
              <a:off x="9605662" y="4791389"/>
              <a:ext cx="299631" cy="309623"/>
            </a:xfrm>
            <a:prstGeom prst="rect">
              <a:avLst/>
            </a:prstGeom>
          </p:spPr>
        </p:pic>
        <p:sp>
          <p:nvSpPr>
            <p:cNvPr id="18" name="Graphic 112"/>
            <p:cNvSpPr/>
            <p:nvPr/>
          </p:nvSpPr>
          <p:spPr>
            <a:xfrm>
              <a:off x="7992344" y="4321649"/>
              <a:ext cx="3461721" cy="479813"/>
            </a:xfrm>
            <a:custGeom>
              <a:avLst/>
              <a:gdLst/>
              <a:ahLst/>
              <a:cxnLst/>
              <a:rect l="l" t="t" r="r" b="b"/>
              <a:pathLst>
                <a:path w="2588260" h="344805">
                  <a:moveTo>
                    <a:pt x="0" y="0"/>
                  </a:moveTo>
                  <a:lnTo>
                    <a:pt x="13716" y="0"/>
                  </a:lnTo>
                </a:path>
                <a:path w="2588260" h="344805">
                  <a:moveTo>
                    <a:pt x="80772" y="0"/>
                  </a:moveTo>
                  <a:lnTo>
                    <a:pt x="92963" y="0"/>
                  </a:lnTo>
                </a:path>
                <a:path w="2588260" h="344805">
                  <a:moveTo>
                    <a:pt x="160019" y="0"/>
                  </a:moveTo>
                  <a:lnTo>
                    <a:pt x="173736" y="0"/>
                  </a:lnTo>
                </a:path>
                <a:path w="2588260" h="344805">
                  <a:moveTo>
                    <a:pt x="240792" y="0"/>
                  </a:moveTo>
                  <a:lnTo>
                    <a:pt x="254508" y="0"/>
                  </a:lnTo>
                </a:path>
                <a:path w="2588260" h="344805">
                  <a:moveTo>
                    <a:pt x="321563" y="0"/>
                  </a:moveTo>
                  <a:lnTo>
                    <a:pt x="335280" y="0"/>
                  </a:lnTo>
                </a:path>
                <a:path w="2588260" h="344805">
                  <a:moveTo>
                    <a:pt x="402336" y="0"/>
                  </a:moveTo>
                  <a:lnTo>
                    <a:pt x="414528" y="0"/>
                  </a:lnTo>
                </a:path>
                <a:path w="2588260" h="344805">
                  <a:moveTo>
                    <a:pt x="481584" y="0"/>
                  </a:moveTo>
                  <a:lnTo>
                    <a:pt x="495300" y="0"/>
                  </a:lnTo>
                </a:path>
                <a:path w="2588260" h="344805">
                  <a:moveTo>
                    <a:pt x="562356" y="0"/>
                  </a:moveTo>
                  <a:lnTo>
                    <a:pt x="576072" y="0"/>
                  </a:lnTo>
                </a:path>
                <a:path w="2588260" h="344805">
                  <a:moveTo>
                    <a:pt x="643127" y="0"/>
                  </a:moveTo>
                  <a:lnTo>
                    <a:pt x="656844" y="0"/>
                  </a:lnTo>
                </a:path>
                <a:path w="2588260" h="344805">
                  <a:moveTo>
                    <a:pt x="723900" y="0"/>
                  </a:moveTo>
                  <a:lnTo>
                    <a:pt x="737615" y="0"/>
                  </a:lnTo>
                </a:path>
                <a:path w="2588260" h="344805">
                  <a:moveTo>
                    <a:pt x="804672" y="0"/>
                  </a:moveTo>
                  <a:lnTo>
                    <a:pt x="816863" y="0"/>
                  </a:lnTo>
                </a:path>
                <a:path w="2588260" h="344805">
                  <a:moveTo>
                    <a:pt x="883920" y="0"/>
                  </a:moveTo>
                  <a:lnTo>
                    <a:pt x="897636" y="0"/>
                  </a:lnTo>
                </a:path>
                <a:path w="2588260" h="344805">
                  <a:moveTo>
                    <a:pt x="964691" y="0"/>
                  </a:moveTo>
                  <a:lnTo>
                    <a:pt x="978408" y="0"/>
                  </a:lnTo>
                </a:path>
                <a:path w="2588260" h="344805">
                  <a:moveTo>
                    <a:pt x="1045463" y="0"/>
                  </a:moveTo>
                  <a:lnTo>
                    <a:pt x="1059180" y="0"/>
                  </a:lnTo>
                </a:path>
                <a:path w="2588260" h="344805">
                  <a:moveTo>
                    <a:pt x="1126236" y="0"/>
                  </a:moveTo>
                  <a:lnTo>
                    <a:pt x="1138427" y="0"/>
                  </a:lnTo>
                </a:path>
                <a:path w="2588260" h="344805">
                  <a:moveTo>
                    <a:pt x="1205484" y="0"/>
                  </a:moveTo>
                  <a:lnTo>
                    <a:pt x="1219200" y="0"/>
                  </a:lnTo>
                </a:path>
                <a:path w="2588260" h="344805">
                  <a:moveTo>
                    <a:pt x="1286256" y="0"/>
                  </a:moveTo>
                  <a:lnTo>
                    <a:pt x="1299972" y="0"/>
                  </a:lnTo>
                </a:path>
                <a:path w="2588260" h="344805">
                  <a:moveTo>
                    <a:pt x="1367027" y="0"/>
                  </a:moveTo>
                  <a:lnTo>
                    <a:pt x="1380744" y="0"/>
                  </a:lnTo>
                </a:path>
                <a:path w="2588260" h="344805">
                  <a:moveTo>
                    <a:pt x="1447800" y="0"/>
                  </a:moveTo>
                  <a:lnTo>
                    <a:pt x="1461515" y="0"/>
                  </a:lnTo>
                </a:path>
                <a:path w="2588260" h="344805">
                  <a:moveTo>
                    <a:pt x="1528572" y="0"/>
                  </a:moveTo>
                  <a:lnTo>
                    <a:pt x="1540764" y="0"/>
                  </a:lnTo>
                </a:path>
                <a:path w="2588260" h="344805">
                  <a:moveTo>
                    <a:pt x="1607820" y="0"/>
                  </a:moveTo>
                  <a:lnTo>
                    <a:pt x="1621536" y="0"/>
                  </a:lnTo>
                </a:path>
                <a:path w="2588260" h="344805">
                  <a:moveTo>
                    <a:pt x="1688591" y="0"/>
                  </a:moveTo>
                  <a:lnTo>
                    <a:pt x="1702308" y="0"/>
                  </a:lnTo>
                </a:path>
                <a:path w="2588260" h="344805">
                  <a:moveTo>
                    <a:pt x="1769364" y="0"/>
                  </a:moveTo>
                  <a:lnTo>
                    <a:pt x="1783080" y="0"/>
                  </a:lnTo>
                </a:path>
                <a:path w="2588260" h="344805">
                  <a:moveTo>
                    <a:pt x="1850136" y="0"/>
                  </a:moveTo>
                  <a:lnTo>
                    <a:pt x="1863852" y="0"/>
                  </a:lnTo>
                </a:path>
                <a:path w="2588260" h="344805">
                  <a:moveTo>
                    <a:pt x="1929384" y="0"/>
                  </a:moveTo>
                  <a:lnTo>
                    <a:pt x="1943100" y="0"/>
                  </a:lnTo>
                </a:path>
                <a:path w="2588260" h="344805">
                  <a:moveTo>
                    <a:pt x="2010156" y="0"/>
                  </a:moveTo>
                  <a:lnTo>
                    <a:pt x="2023872" y="0"/>
                  </a:lnTo>
                </a:path>
                <a:path w="2588260" h="344805">
                  <a:moveTo>
                    <a:pt x="2090927" y="0"/>
                  </a:moveTo>
                  <a:lnTo>
                    <a:pt x="2104644" y="0"/>
                  </a:lnTo>
                </a:path>
                <a:path w="2588260" h="344805">
                  <a:moveTo>
                    <a:pt x="2171700" y="0"/>
                  </a:moveTo>
                  <a:lnTo>
                    <a:pt x="2185416" y="0"/>
                  </a:lnTo>
                </a:path>
                <a:path w="2588260" h="344805">
                  <a:moveTo>
                    <a:pt x="2252472" y="0"/>
                  </a:moveTo>
                  <a:lnTo>
                    <a:pt x="2264664" y="0"/>
                  </a:lnTo>
                </a:path>
                <a:path w="2588260" h="344805">
                  <a:moveTo>
                    <a:pt x="2331720" y="0"/>
                  </a:moveTo>
                  <a:lnTo>
                    <a:pt x="2345436" y="0"/>
                  </a:lnTo>
                </a:path>
                <a:path w="2588260" h="344805">
                  <a:moveTo>
                    <a:pt x="2412491" y="0"/>
                  </a:moveTo>
                  <a:lnTo>
                    <a:pt x="2426208" y="0"/>
                  </a:lnTo>
                </a:path>
                <a:path w="2588260" h="344805">
                  <a:moveTo>
                    <a:pt x="2493264" y="0"/>
                  </a:moveTo>
                  <a:lnTo>
                    <a:pt x="2506980" y="0"/>
                  </a:lnTo>
                </a:path>
                <a:path w="2588260" h="344805">
                  <a:moveTo>
                    <a:pt x="2574036" y="0"/>
                  </a:moveTo>
                  <a:lnTo>
                    <a:pt x="2587752" y="0"/>
                  </a:lnTo>
                </a:path>
                <a:path w="2588260" h="344805">
                  <a:moveTo>
                    <a:pt x="2374391" y="106680"/>
                  </a:moveTo>
                  <a:lnTo>
                    <a:pt x="2374391" y="34442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19" name="Graphic 113"/>
            <p:cNvSpPr/>
            <p:nvPr/>
          </p:nvSpPr>
          <p:spPr>
            <a:xfrm>
              <a:off x="11088529" y="4321649"/>
              <a:ext cx="161366" cy="167890"/>
            </a:xfrm>
            <a:custGeom>
              <a:avLst/>
              <a:gdLst/>
              <a:ahLst/>
              <a:cxnLst/>
              <a:rect l="l" t="t" r="r" b="b"/>
              <a:pathLst>
                <a:path w="120650" h="120650">
                  <a:moveTo>
                    <a:pt x="59435" y="0"/>
                  </a:moveTo>
                  <a:lnTo>
                    <a:pt x="0" y="120396"/>
                  </a:lnTo>
                  <a:lnTo>
                    <a:pt x="120395" y="120396"/>
                  </a:lnTo>
                  <a:lnTo>
                    <a:pt x="5943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0" name="Graphic 114"/>
            <p:cNvSpPr/>
            <p:nvPr/>
          </p:nvSpPr>
          <p:spPr>
            <a:xfrm>
              <a:off x="11088529" y="4321649"/>
              <a:ext cx="161366" cy="167890"/>
            </a:xfrm>
            <a:custGeom>
              <a:avLst/>
              <a:gdLst/>
              <a:ahLst/>
              <a:cxnLst/>
              <a:rect l="l" t="t" r="r" b="b"/>
              <a:pathLst>
                <a:path w="120650" h="120650">
                  <a:moveTo>
                    <a:pt x="0" y="120396"/>
                  </a:moveTo>
                  <a:lnTo>
                    <a:pt x="59435" y="0"/>
                  </a:lnTo>
                  <a:lnTo>
                    <a:pt x="120395" y="120396"/>
                  </a:lnTo>
                  <a:lnTo>
                    <a:pt x="0" y="120396"/>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1" name="Graphic 115"/>
            <p:cNvSpPr/>
            <p:nvPr/>
          </p:nvSpPr>
          <p:spPr>
            <a:xfrm>
              <a:off x="11088529" y="4777604"/>
              <a:ext cx="161366" cy="167890"/>
            </a:xfrm>
            <a:custGeom>
              <a:avLst/>
              <a:gdLst/>
              <a:ahLst/>
              <a:cxnLst/>
              <a:rect l="l" t="t" r="r" b="b"/>
              <a:pathLst>
                <a:path w="120650" h="120650">
                  <a:moveTo>
                    <a:pt x="120395" y="0"/>
                  </a:moveTo>
                  <a:lnTo>
                    <a:pt x="0" y="0"/>
                  </a:lnTo>
                  <a:lnTo>
                    <a:pt x="59435" y="120396"/>
                  </a:lnTo>
                  <a:lnTo>
                    <a:pt x="12039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2" name="Graphic 116"/>
            <p:cNvSpPr/>
            <p:nvPr/>
          </p:nvSpPr>
          <p:spPr>
            <a:xfrm>
              <a:off x="11088529" y="3990816"/>
              <a:ext cx="161366" cy="954323"/>
            </a:xfrm>
            <a:custGeom>
              <a:avLst/>
              <a:gdLst/>
              <a:ahLst/>
              <a:cxnLst/>
              <a:rect l="l" t="t" r="r" b="b"/>
              <a:pathLst>
                <a:path w="120650" h="685800">
                  <a:moveTo>
                    <a:pt x="120395" y="565403"/>
                  </a:moveTo>
                  <a:lnTo>
                    <a:pt x="59435" y="685800"/>
                  </a:lnTo>
                  <a:lnTo>
                    <a:pt x="0" y="565403"/>
                  </a:lnTo>
                  <a:lnTo>
                    <a:pt x="120395" y="565403"/>
                  </a:lnTo>
                  <a:close/>
                </a:path>
                <a:path w="120650" h="685800">
                  <a:moveTo>
                    <a:pt x="59435" y="0"/>
                  </a:moveTo>
                  <a:lnTo>
                    <a:pt x="59435" y="132587"/>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3" name="Graphic 117"/>
            <p:cNvSpPr/>
            <p:nvPr/>
          </p:nvSpPr>
          <p:spPr>
            <a:xfrm>
              <a:off x="11088529" y="3844487"/>
              <a:ext cx="161366" cy="169657"/>
            </a:xfrm>
            <a:custGeom>
              <a:avLst/>
              <a:gdLst/>
              <a:ahLst/>
              <a:cxnLst/>
              <a:rect l="l" t="t" r="r" b="b"/>
              <a:pathLst>
                <a:path w="120650" h="121920">
                  <a:moveTo>
                    <a:pt x="59435" y="0"/>
                  </a:moveTo>
                  <a:lnTo>
                    <a:pt x="0" y="121920"/>
                  </a:lnTo>
                  <a:lnTo>
                    <a:pt x="120395" y="121920"/>
                  </a:lnTo>
                  <a:lnTo>
                    <a:pt x="5943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4" name="Graphic 118"/>
            <p:cNvSpPr/>
            <p:nvPr/>
          </p:nvSpPr>
          <p:spPr>
            <a:xfrm>
              <a:off x="11088529" y="3844487"/>
              <a:ext cx="161366" cy="169657"/>
            </a:xfrm>
            <a:custGeom>
              <a:avLst/>
              <a:gdLst/>
              <a:ahLst/>
              <a:cxnLst/>
              <a:rect l="l" t="t" r="r" b="b"/>
              <a:pathLst>
                <a:path w="120650" h="121920">
                  <a:moveTo>
                    <a:pt x="0" y="121920"/>
                  </a:moveTo>
                  <a:lnTo>
                    <a:pt x="59435" y="0"/>
                  </a:lnTo>
                  <a:lnTo>
                    <a:pt x="120395" y="121920"/>
                  </a:lnTo>
                  <a:lnTo>
                    <a:pt x="0" y="121920"/>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5" name="Graphic 119"/>
            <p:cNvSpPr/>
            <p:nvPr/>
          </p:nvSpPr>
          <p:spPr>
            <a:xfrm>
              <a:off x="11088529" y="4154113"/>
              <a:ext cx="161366" cy="167890"/>
            </a:xfrm>
            <a:custGeom>
              <a:avLst/>
              <a:gdLst/>
              <a:ahLst/>
              <a:cxnLst/>
              <a:rect l="l" t="t" r="r" b="b"/>
              <a:pathLst>
                <a:path w="120650" h="120650">
                  <a:moveTo>
                    <a:pt x="120395" y="0"/>
                  </a:moveTo>
                  <a:lnTo>
                    <a:pt x="0" y="0"/>
                  </a:lnTo>
                  <a:lnTo>
                    <a:pt x="59435" y="120395"/>
                  </a:lnTo>
                  <a:lnTo>
                    <a:pt x="12039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6" name="Graphic 120"/>
            <p:cNvSpPr/>
            <p:nvPr/>
          </p:nvSpPr>
          <p:spPr>
            <a:xfrm>
              <a:off x="11088529" y="4154113"/>
              <a:ext cx="161366" cy="167890"/>
            </a:xfrm>
            <a:custGeom>
              <a:avLst/>
              <a:gdLst/>
              <a:ahLst/>
              <a:cxnLst/>
              <a:rect l="l" t="t" r="r" b="b"/>
              <a:pathLst>
                <a:path w="120650" h="120650">
                  <a:moveTo>
                    <a:pt x="120395" y="0"/>
                  </a:moveTo>
                  <a:lnTo>
                    <a:pt x="59435" y="120395"/>
                  </a:lnTo>
                  <a:lnTo>
                    <a:pt x="0" y="0"/>
                  </a:lnTo>
                  <a:lnTo>
                    <a:pt x="120395" y="0"/>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7" name="Textbox 121"/>
            <p:cNvSpPr txBox="1"/>
            <p:nvPr/>
          </p:nvSpPr>
          <p:spPr>
            <a:xfrm>
              <a:off x="8828050" y="3388167"/>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(x</a:t>
              </a:r>
              <a:r>
                <a:rPr kumimoji="0" lang="vi-VN" sz="1050"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r>
                <a:rPr kumimoji="0" lang="vi-VN" b="0" i="0" u="none" strike="noStrike" kern="0" cap="none" spc="1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 </a:t>
              </a: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28" name="Textbox 122"/>
            <p:cNvSpPr txBox="1"/>
            <p:nvPr/>
          </p:nvSpPr>
          <p:spPr>
            <a:xfrm>
              <a:off x="9711317" y="3792721"/>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P</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29" name="Textbox 123"/>
            <p:cNvSpPr txBox="1"/>
            <p:nvPr/>
          </p:nvSpPr>
          <p:spPr>
            <a:xfrm>
              <a:off x="11404467" y="3909865"/>
              <a:ext cx="249692" cy="945487"/>
            </a:xfrm>
            <a:prstGeom prst="rect">
              <a:avLst/>
            </a:prstGeom>
          </p:spPr>
          <p:txBody>
            <a:bodyPr wrap="square" lIns="0" tIns="0" rIns="0" bIns="0" rtlCol="0">
              <a:noAutofit/>
            </a:bodyPr>
            <a:lstStyle/>
            <a:p>
              <a:pPr marL="0" marR="0" lvl="0" indent="0" defTabSz="914400" eaLnBrk="1" fontAlgn="auto" latinLnBrk="0" hangingPunct="1">
                <a:lnSpc>
                  <a:spcPct val="96000"/>
                </a:lnSpc>
                <a:spcBef>
                  <a:spcPts val="0"/>
                </a:spcBef>
                <a:spcAft>
                  <a:spcPts val="0"/>
                </a:spcAft>
                <a:buClrTx/>
                <a:buSzTx/>
                <a:buFontTx/>
                <a:buNone/>
                <a:tabLst/>
                <a:defRPr/>
              </a:pP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d</a:t>
              </a:r>
              <a:r>
                <a:rPr kumimoji="0" lang="vi-VN" sz="1050"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2</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a:p>
              <a:pPr marL="0" marR="0" lvl="0" indent="0" defTabSz="914400" eaLnBrk="1" fontAlgn="auto" latinLnBrk="0" hangingPunct="1">
                <a:lnSpc>
                  <a:spcPct val="100000"/>
                </a:lnSpc>
                <a:spcBef>
                  <a:spcPts val="180"/>
                </a:spcBef>
                <a:spcAft>
                  <a:spcPts val="0"/>
                </a:spcAft>
                <a:buClrTx/>
                <a:buSzTx/>
                <a:buFontTx/>
                <a:buNone/>
                <a:tabLst/>
                <a:defRPr/>
              </a:pPr>
              <a:r>
                <a:rPr kumimoji="0" lang="vi-VN" sz="1050"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 </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d</a:t>
              </a:r>
              <a:r>
                <a:rPr kumimoji="0" lang="vi-VN" sz="1050"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0" name="Textbox 124"/>
            <p:cNvSpPr txBox="1"/>
            <p:nvPr/>
          </p:nvSpPr>
          <p:spPr>
            <a:xfrm>
              <a:off x="9711317" y="4883109"/>
              <a:ext cx="151687" cy="170328"/>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S</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1" name="Textbox 121"/>
            <p:cNvSpPr txBox="1"/>
            <p:nvPr/>
          </p:nvSpPr>
          <p:spPr>
            <a:xfrm>
              <a:off x="7396480" y="3599330"/>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vi-VN" sz="1050"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2" name="Textbox 121"/>
            <p:cNvSpPr txBox="1"/>
            <p:nvPr/>
          </p:nvSpPr>
          <p:spPr>
            <a:xfrm>
              <a:off x="7469859" y="4112576"/>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3" name="Textbox 121"/>
            <p:cNvSpPr txBox="1"/>
            <p:nvPr/>
          </p:nvSpPr>
          <p:spPr>
            <a:xfrm>
              <a:off x="7459177" y="4747559"/>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4" name="Textbox 121"/>
            <p:cNvSpPr txBox="1"/>
            <p:nvPr/>
          </p:nvSpPr>
          <p:spPr>
            <a:xfrm>
              <a:off x="8734098" y="5059737"/>
              <a:ext cx="358470"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5" name="Textbox 121"/>
            <p:cNvSpPr txBox="1"/>
            <p:nvPr/>
          </p:nvSpPr>
          <p:spPr>
            <a:xfrm>
              <a:off x="9816559" y="5062222"/>
              <a:ext cx="467012"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smtClea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en-US" b="0" i="0" u="none" strike="noStrike" kern="0" cap="none" spc="0" normalizeH="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6" name="Textbox 122"/>
            <p:cNvSpPr txBox="1"/>
            <p:nvPr/>
          </p:nvSpPr>
          <p:spPr>
            <a:xfrm>
              <a:off x="9911749" y="4401492"/>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lang="en-US" sz="1400" b="1" kern="0" spc="-5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R</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grpSp>
    </p:spTree>
    <p:extLst>
      <p:ext uri="{BB962C8B-B14F-4D97-AF65-F5344CB8AC3E}">
        <p14:creationId xmlns:p14="http://schemas.microsoft.com/office/powerpoint/2010/main" val="1150812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normAutofit/>
          </a:bodyPr>
          <a:lstStyle/>
          <a:p>
            <a:r>
              <a:rPr lang="en-US" b="1" smtClean="0"/>
              <a:t>Giải thuật Bresenham</a:t>
            </a:r>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21</a:t>
            </a:fld>
            <a:endParaRPr lang="en-US"/>
          </a:p>
        </p:txBody>
      </p:sp>
      <p:sp>
        <p:nvSpPr>
          <p:cNvPr id="3" name="Content Placeholder 2"/>
          <p:cNvSpPr>
            <a:spLocks noGrp="1"/>
          </p:cNvSpPr>
          <p:nvPr>
            <p:ph idx="1"/>
          </p:nvPr>
        </p:nvSpPr>
        <p:spPr>
          <a:xfrm>
            <a:off x="1387168" y="2087095"/>
            <a:ext cx="5803972" cy="2955598"/>
          </a:xfrm>
        </p:spPr>
        <p:txBody>
          <a:bodyPr>
            <a:noAutofit/>
          </a:bodyPr>
          <a:lstStyle/>
          <a:p>
            <a:pPr marL="0" indent="0">
              <a:buNone/>
            </a:pPr>
            <a:r>
              <a:rPr lang="en-US" smtClean="0">
                <a:latin typeface="Arial (Body)"/>
              </a:rPr>
              <a:t>Ý tưởng:</a:t>
            </a:r>
          </a:p>
          <a:p>
            <a:pPr marL="0" indent="0">
              <a:buNone/>
            </a:pPr>
            <a:r>
              <a:rPr lang="en-US" smtClean="0">
                <a:latin typeface="Arial (Body)"/>
              </a:rPr>
              <a:t>Tăng x1, xác định điểm ảnh tiếp theo bằng cách so sánh d1 và d2</a:t>
            </a:r>
          </a:p>
          <a:p>
            <a:pPr marL="0" indent="0">
              <a:buNone/>
            </a:pPr>
            <a:r>
              <a:rPr lang="en-US" smtClean="0">
                <a:latin typeface="Arial (Body)"/>
              </a:rPr>
              <a:t>Nếu d1&lt;d2 thì điểm tiếp theo là S</a:t>
            </a:r>
          </a:p>
          <a:p>
            <a:pPr marL="0" indent="0">
              <a:buNone/>
            </a:pPr>
            <a:r>
              <a:rPr lang="en-US" smtClean="0">
                <a:latin typeface="Arial (Body)"/>
              </a:rPr>
              <a:t>Nếu d1&gt;d2 thì điểm tiếp theo là P</a:t>
            </a:r>
            <a:r>
              <a:rPr lang="en-US">
                <a:latin typeface="Arial (Body)"/>
              </a:rPr>
              <a:t>	</a:t>
            </a:r>
            <a:r>
              <a:rPr lang="en-US" smtClean="0">
                <a:latin typeface="Arial (Body)"/>
              </a:rPr>
              <a:t>	</a:t>
            </a:r>
            <a:endParaRPr lang="vi-VN" sz="2400">
              <a:latin typeface="Arial (Body)"/>
            </a:endParaRPr>
          </a:p>
        </p:txBody>
      </p:sp>
      <p:grpSp>
        <p:nvGrpSpPr>
          <p:cNvPr id="4" name="Group 3"/>
          <p:cNvGrpSpPr/>
          <p:nvPr/>
        </p:nvGrpSpPr>
        <p:grpSpPr>
          <a:xfrm>
            <a:off x="7396480" y="2007946"/>
            <a:ext cx="4257679" cy="3671494"/>
            <a:chOff x="7396480" y="2007946"/>
            <a:chExt cx="4257679" cy="3671494"/>
          </a:xfrm>
        </p:grpSpPr>
        <p:sp>
          <p:nvSpPr>
            <p:cNvPr id="6" name="Graphic 101"/>
            <p:cNvSpPr/>
            <p:nvPr/>
          </p:nvSpPr>
          <p:spPr>
            <a:xfrm>
              <a:off x="108153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8" name="Graphic 102"/>
            <p:cNvSpPr/>
            <p:nvPr/>
          </p:nvSpPr>
          <p:spPr>
            <a:xfrm>
              <a:off x="7992344" y="2743834"/>
              <a:ext cx="3528815" cy="2202012"/>
            </a:xfrm>
            <a:custGeom>
              <a:avLst/>
              <a:gdLst/>
              <a:ahLst/>
              <a:cxnLst/>
              <a:rect l="l" t="t" r="r" b="b"/>
              <a:pathLst>
                <a:path w="2638425" h="1582420">
                  <a:moveTo>
                    <a:pt x="2638044" y="1581912"/>
                  </a:moveTo>
                  <a:lnTo>
                    <a:pt x="0" y="1581912"/>
                  </a:lnTo>
                </a:path>
                <a:path w="2638425" h="1582420">
                  <a:moveTo>
                    <a:pt x="2638044" y="0"/>
                  </a:moveTo>
                  <a:lnTo>
                    <a:pt x="0" y="0"/>
                  </a:lnTo>
                </a:path>
                <a:path w="2638425" h="1582420">
                  <a:moveTo>
                    <a:pt x="2638044" y="790955"/>
                  </a:moveTo>
                  <a:lnTo>
                    <a:pt x="0" y="790955"/>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9" name="Graphic 103"/>
            <p:cNvSpPr/>
            <p:nvPr/>
          </p:nvSpPr>
          <p:spPr>
            <a:xfrm>
              <a:off x="975547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10" name="Graphic 104"/>
            <p:cNvSpPr/>
            <p:nvPr/>
          </p:nvSpPr>
          <p:spPr>
            <a:xfrm>
              <a:off x="86975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1" name="Image 105"/>
            <p:cNvPicPr/>
            <p:nvPr/>
          </p:nvPicPr>
          <p:blipFill>
            <a:blip r:embed="rId2" cstate="print"/>
            <a:stretch>
              <a:fillRect/>
            </a:stretch>
          </p:blipFill>
          <p:spPr>
            <a:xfrm>
              <a:off x="8547782" y="4791389"/>
              <a:ext cx="299631" cy="309623"/>
            </a:xfrm>
            <a:prstGeom prst="rect">
              <a:avLst/>
            </a:prstGeom>
          </p:spPr>
        </p:pic>
        <p:sp>
          <p:nvSpPr>
            <p:cNvPr id="12" name="Graphic 106"/>
            <p:cNvSpPr/>
            <p:nvPr/>
          </p:nvSpPr>
          <p:spPr>
            <a:xfrm>
              <a:off x="7992344" y="3698157"/>
              <a:ext cx="3528815" cy="1247688"/>
            </a:xfrm>
            <a:custGeom>
              <a:avLst/>
              <a:gdLst/>
              <a:ahLst/>
              <a:cxnLst/>
              <a:rect l="l" t="t" r="r" b="b"/>
              <a:pathLst>
                <a:path w="2638425" h="896619">
                  <a:moveTo>
                    <a:pt x="0" y="896112"/>
                  </a:moveTo>
                  <a:lnTo>
                    <a:pt x="2638044" y="0"/>
                  </a:lnTo>
                </a:path>
              </a:pathLst>
            </a:custGeom>
            <a:ln w="22860">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3" name="Image 107"/>
            <p:cNvPicPr/>
            <p:nvPr/>
          </p:nvPicPr>
          <p:blipFill>
            <a:blip r:embed="rId3" cstate="print"/>
            <a:stretch>
              <a:fillRect/>
            </a:stretch>
          </p:blipFill>
          <p:spPr>
            <a:xfrm>
              <a:off x="9677005" y="4240002"/>
              <a:ext cx="158988" cy="165414"/>
            </a:xfrm>
            <a:prstGeom prst="rect">
              <a:avLst/>
            </a:prstGeom>
          </p:spPr>
        </p:pic>
        <p:sp>
          <p:nvSpPr>
            <p:cNvPr id="14" name="Graphic 108"/>
            <p:cNvSpPr/>
            <p:nvPr/>
          </p:nvSpPr>
          <p:spPr>
            <a:xfrm>
              <a:off x="9262210" y="3698157"/>
              <a:ext cx="302348" cy="439165"/>
            </a:xfrm>
            <a:custGeom>
              <a:avLst/>
              <a:gdLst/>
              <a:ahLst/>
              <a:cxnLst/>
              <a:rect l="l" t="t" r="r" b="b"/>
              <a:pathLst>
                <a:path w="226060" h="315595">
                  <a:moveTo>
                    <a:pt x="0" y="0"/>
                  </a:moveTo>
                  <a:lnTo>
                    <a:pt x="225551" y="315468"/>
                  </a:lnTo>
                </a:path>
              </a:pathLst>
            </a:custGeom>
            <a:ln w="4572">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5" name="Image 109"/>
            <p:cNvPicPr/>
            <p:nvPr/>
          </p:nvPicPr>
          <p:blipFill>
            <a:blip r:embed="rId4" cstate="print"/>
            <a:stretch>
              <a:fillRect/>
            </a:stretch>
          </p:blipFill>
          <p:spPr>
            <a:xfrm>
              <a:off x="9509863" y="4091552"/>
              <a:ext cx="108030" cy="123000"/>
            </a:xfrm>
            <a:prstGeom prst="rect">
              <a:avLst/>
            </a:prstGeom>
          </p:spPr>
        </p:pic>
        <p:pic>
          <p:nvPicPr>
            <p:cNvPr id="16" name="Image 110"/>
            <p:cNvPicPr/>
            <p:nvPr/>
          </p:nvPicPr>
          <p:blipFill>
            <a:blip r:embed="rId5" cstate="print"/>
            <a:stretch>
              <a:fillRect/>
            </a:stretch>
          </p:blipFill>
          <p:spPr>
            <a:xfrm>
              <a:off x="9605662" y="3688615"/>
              <a:ext cx="299631" cy="311744"/>
            </a:xfrm>
            <a:prstGeom prst="rect">
              <a:avLst/>
            </a:prstGeom>
          </p:spPr>
        </p:pic>
        <p:pic>
          <p:nvPicPr>
            <p:cNvPr id="17" name="Image 111"/>
            <p:cNvPicPr/>
            <p:nvPr/>
          </p:nvPicPr>
          <p:blipFill>
            <a:blip r:embed="rId6" cstate="print"/>
            <a:stretch>
              <a:fillRect/>
            </a:stretch>
          </p:blipFill>
          <p:spPr>
            <a:xfrm>
              <a:off x="9605662" y="4791389"/>
              <a:ext cx="299631" cy="309623"/>
            </a:xfrm>
            <a:prstGeom prst="rect">
              <a:avLst/>
            </a:prstGeom>
          </p:spPr>
        </p:pic>
        <p:sp>
          <p:nvSpPr>
            <p:cNvPr id="18" name="Graphic 112"/>
            <p:cNvSpPr/>
            <p:nvPr/>
          </p:nvSpPr>
          <p:spPr>
            <a:xfrm>
              <a:off x="7992344" y="4321649"/>
              <a:ext cx="3461721" cy="479813"/>
            </a:xfrm>
            <a:custGeom>
              <a:avLst/>
              <a:gdLst/>
              <a:ahLst/>
              <a:cxnLst/>
              <a:rect l="l" t="t" r="r" b="b"/>
              <a:pathLst>
                <a:path w="2588260" h="344805">
                  <a:moveTo>
                    <a:pt x="0" y="0"/>
                  </a:moveTo>
                  <a:lnTo>
                    <a:pt x="13716" y="0"/>
                  </a:lnTo>
                </a:path>
                <a:path w="2588260" h="344805">
                  <a:moveTo>
                    <a:pt x="80772" y="0"/>
                  </a:moveTo>
                  <a:lnTo>
                    <a:pt x="92963" y="0"/>
                  </a:lnTo>
                </a:path>
                <a:path w="2588260" h="344805">
                  <a:moveTo>
                    <a:pt x="160019" y="0"/>
                  </a:moveTo>
                  <a:lnTo>
                    <a:pt x="173736" y="0"/>
                  </a:lnTo>
                </a:path>
                <a:path w="2588260" h="344805">
                  <a:moveTo>
                    <a:pt x="240792" y="0"/>
                  </a:moveTo>
                  <a:lnTo>
                    <a:pt x="254508" y="0"/>
                  </a:lnTo>
                </a:path>
                <a:path w="2588260" h="344805">
                  <a:moveTo>
                    <a:pt x="321563" y="0"/>
                  </a:moveTo>
                  <a:lnTo>
                    <a:pt x="335280" y="0"/>
                  </a:lnTo>
                </a:path>
                <a:path w="2588260" h="344805">
                  <a:moveTo>
                    <a:pt x="402336" y="0"/>
                  </a:moveTo>
                  <a:lnTo>
                    <a:pt x="414528" y="0"/>
                  </a:lnTo>
                </a:path>
                <a:path w="2588260" h="344805">
                  <a:moveTo>
                    <a:pt x="481584" y="0"/>
                  </a:moveTo>
                  <a:lnTo>
                    <a:pt x="495300" y="0"/>
                  </a:lnTo>
                </a:path>
                <a:path w="2588260" h="344805">
                  <a:moveTo>
                    <a:pt x="562356" y="0"/>
                  </a:moveTo>
                  <a:lnTo>
                    <a:pt x="576072" y="0"/>
                  </a:lnTo>
                </a:path>
                <a:path w="2588260" h="344805">
                  <a:moveTo>
                    <a:pt x="643127" y="0"/>
                  </a:moveTo>
                  <a:lnTo>
                    <a:pt x="656844" y="0"/>
                  </a:lnTo>
                </a:path>
                <a:path w="2588260" h="344805">
                  <a:moveTo>
                    <a:pt x="723900" y="0"/>
                  </a:moveTo>
                  <a:lnTo>
                    <a:pt x="737615" y="0"/>
                  </a:lnTo>
                </a:path>
                <a:path w="2588260" h="344805">
                  <a:moveTo>
                    <a:pt x="804672" y="0"/>
                  </a:moveTo>
                  <a:lnTo>
                    <a:pt x="816863" y="0"/>
                  </a:lnTo>
                </a:path>
                <a:path w="2588260" h="344805">
                  <a:moveTo>
                    <a:pt x="883920" y="0"/>
                  </a:moveTo>
                  <a:lnTo>
                    <a:pt x="897636" y="0"/>
                  </a:lnTo>
                </a:path>
                <a:path w="2588260" h="344805">
                  <a:moveTo>
                    <a:pt x="964691" y="0"/>
                  </a:moveTo>
                  <a:lnTo>
                    <a:pt x="978408" y="0"/>
                  </a:lnTo>
                </a:path>
                <a:path w="2588260" h="344805">
                  <a:moveTo>
                    <a:pt x="1045463" y="0"/>
                  </a:moveTo>
                  <a:lnTo>
                    <a:pt x="1059180" y="0"/>
                  </a:lnTo>
                </a:path>
                <a:path w="2588260" h="344805">
                  <a:moveTo>
                    <a:pt x="1126236" y="0"/>
                  </a:moveTo>
                  <a:lnTo>
                    <a:pt x="1138427" y="0"/>
                  </a:lnTo>
                </a:path>
                <a:path w="2588260" h="344805">
                  <a:moveTo>
                    <a:pt x="1205484" y="0"/>
                  </a:moveTo>
                  <a:lnTo>
                    <a:pt x="1219200" y="0"/>
                  </a:lnTo>
                </a:path>
                <a:path w="2588260" h="344805">
                  <a:moveTo>
                    <a:pt x="1286256" y="0"/>
                  </a:moveTo>
                  <a:lnTo>
                    <a:pt x="1299972" y="0"/>
                  </a:lnTo>
                </a:path>
                <a:path w="2588260" h="344805">
                  <a:moveTo>
                    <a:pt x="1367027" y="0"/>
                  </a:moveTo>
                  <a:lnTo>
                    <a:pt x="1380744" y="0"/>
                  </a:lnTo>
                </a:path>
                <a:path w="2588260" h="344805">
                  <a:moveTo>
                    <a:pt x="1447800" y="0"/>
                  </a:moveTo>
                  <a:lnTo>
                    <a:pt x="1461515" y="0"/>
                  </a:lnTo>
                </a:path>
                <a:path w="2588260" h="344805">
                  <a:moveTo>
                    <a:pt x="1528572" y="0"/>
                  </a:moveTo>
                  <a:lnTo>
                    <a:pt x="1540764" y="0"/>
                  </a:lnTo>
                </a:path>
                <a:path w="2588260" h="344805">
                  <a:moveTo>
                    <a:pt x="1607820" y="0"/>
                  </a:moveTo>
                  <a:lnTo>
                    <a:pt x="1621536" y="0"/>
                  </a:lnTo>
                </a:path>
                <a:path w="2588260" h="344805">
                  <a:moveTo>
                    <a:pt x="1688591" y="0"/>
                  </a:moveTo>
                  <a:lnTo>
                    <a:pt x="1702308" y="0"/>
                  </a:lnTo>
                </a:path>
                <a:path w="2588260" h="344805">
                  <a:moveTo>
                    <a:pt x="1769364" y="0"/>
                  </a:moveTo>
                  <a:lnTo>
                    <a:pt x="1783080" y="0"/>
                  </a:lnTo>
                </a:path>
                <a:path w="2588260" h="344805">
                  <a:moveTo>
                    <a:pt x="1850136" y="0"/>
                  </a:moveTo>
                  <a:lnTo>
                    <a:pt x="1863852" y="0"/>
                  </a:lnTo>
                </a:path>
                <a:path w="2588260" h="344805">
                  <a:moveTo>
                    <a:pt x="1929384" y="0"/>
                  </a:moveTo>
                  <a:lnTo>
                    <a:pt x="1943100" y="0"/>
                  </a:lnTo>
                </a:path>
                <a:path w="2588260" h="344805">
                  <a:moveTo>
                    <a:pt x="2010156" y="0"/>
                  </a:moveTo>
                  <a:lnTo>
                    <a:pt x="2023872" y="0"/>
                  </a:lnTo>
                </a:path>
                <a:path w="2588260" h="344805">
                  <a:moveTo>
                    <a:pt x="2090927" y="0"/>
                  </a:moveTo>
                  <a:lnTo>
                    <a:pt x="2104644" y="0"/>
                  </a:lnTo>
                </a:path>
                <a:path w="2588260" h="344805">
                  <a:moveTo>
                    <a:pt x="2171700" y="0"/>
                  </a:moveTo>
                  <a:lnTo>
                    <a:pt x="2185416" y="0"/>
                  </a:lnTo>
                </a:path>
                <a:path w="2588260" h="344805">
                  <a:moveTo>
                    <a:pt x="2252472" y="0"/>
                  </a:moveTo>
                  <a:lnTo>
                    <a:pt x="2264664" y="0"/>
                  </a:lnTo>
                </a:path>
                <a:path w="2588260" h="344805">
                  <a:moveTo>
                    <a:pt x="2331720" y="0"/>
                  </a:moveTo>
                  <a:lnTo>
                    <a:pt x="2345436" y="0"/>
                  </a:lnTo>
                </a:path>
                <a:path w="2588260" h="344805">
                  <a:moveTo>
                    <a:pt x="2412491" y="0"/>
                  </a:moveTo>
                  <a:lnTo>
                    <a:pt x="2426208" y="0"/>
                  </a:lnTo>
                </a:path>
                <a:path w="2588260" h="344805">
                  <a:moveTo>
                    <a:pt x="2493264" y="0"/>
                  </a:moveTo>
                  <a:lnTo>
                    <a:pt x="2506980" y="0"/>
                  </a:lnTo>
                </a:path>
                <a:path w="2588260" h="344805">
                  <a:moveTo>
                    <a:pt x="2574036" y="0"/>
                  </a:moveTo>
                  <a:lnTo>
                    <a:pt x="2587752" y="0"/>
                  </a:lnTo>
                </a:path>
                <a:path w="2588260" h="344805">
                  <a:moveTo>
                    <a:pt x="2374391" y="106680"/>
                  </a:moveTo>
                  <a:lnTo>
                    <a:pt x="2374391" y="34442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19" name="Graphic 113"/>
            <p:cNvSpPr/>
            <p:nvPr/>
          </p:nvSpPr>
          <p:spPr>
            <a:xfrm>
              <a:off x="11088529" y="4321649"/>
              <a:ext cx="161366" cy="167890"/>
            </a:xfrm>
            <a:custGeom>
              <a:avLst/>
              <a:gdLst/>
              <a:ahLst/>
              <a:cxnLst/>
              <a:rect l="l" t="t" r="r" b="b"/>
              <a:pathLst>
                <a:path w="120650" h="120650">
                  <a:moveTo>
                    <a:pt x="59435" y="0"/>
                  </a:moveTo>
                  <a:lnTo>
                    <a:pt x="0" y="120396"/>
                  </a:lnTo>
                  <a:lnTo>
                    <a:pt x="120395" y="120396"/>
                  </a:lnTo>
                  <a:lnTo>
                    <a:pt x="5943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0" name="Graphic 114"/>
            <p:cNvSpPr/>
            <p:nvPr/>
          </p:nvSpPr>
          <p:spPr>
            <a:xfrm>
              <a:off x="11088529" y="4321649"/>
              <a:ext cx="161366" cy="167890"/>
            </a:xfrm>
            <a:custGeom>
              <a:avLst/>
              <a:gdLst/>
              <a:ahLst/>
              <a:cxnLst/>
              <a:rect l="l" t="t" r="r" b="b"/>
              <a:pathLst>
                <a:path w="120650" h="120650">
                  <a:moveTo>
                    <a:pt x="0" y="120396"/>
                  </a:moveTo>
                  <a:lnTo>
                    <a:pt x="59435" y="0"/>
                  </a:lnTo>
                  <a:lnTo>
                    <a:pt x="120395" y="120396"/>
                  </a:lnTo>
                  <a:lnTo>
                    <a:pt x="0" y="120396"/>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1" name="Graphic 115"/>
            <p:cNvSpPr/>
            <p:nvPr/>
          </p:nvSpPr>
          <p:spPr>
            <a:xfrm>
              <a:off x="11088529" y="4777604"/>
              <a:ext cx="161366" cy="167890"/>
            </a:xfrm>
            <a:custGeom>
              <a:avLst/>
              <a:gdLst/>
              <a:ahLst/>
              <a:cxnLst/>
              <a:rect l="l" t="t" r="r" b="b"/>
              <a:pathLst>
                <a:path w="120650" h="120650">
                  <a:moveTo>
                    <a:pt x="120395" y="0"/>
                  </a:moveTo>
                  <a:lnTo>
                    <a:pt x="0" y="0"/>
                  </a:lnTo>
                  <a:lnTo>
                    <a:pt x="59435" y="120396"/>
                  </a:lnTo>
                  <a:lnTo>
                    <a:pt x="12039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2" name="Graphic 116"/>
            <p:cNvSpPr/>
            <p:nvPr/>
          </p:nvSpPr>
          <p:spPr>
            <a:xfrm>
              <a:off x="11088529" y="3990816"/>
              <a:ext cx="161366" cy="954323"/>
            </a:xfrm>
            <a:custGeom>
              <a:avLst/>
              <a:gdLst/>
              <a:ahLst/>
              <a:cxnLst/>
              <a:rect l="l" t="t" r="r" b="b"/>
              <a:pathLst>
                <a:path w="120650" h="685800">
                  <a:moveTo>
                    <a:pt x="120395" y="565403"/>
                  </a:moveTo>
                  <a:lnTo>
                    <a:pt x="59435" y="685800"/>
                  </a:lnTo>
                  <a:lnTo>
                    <a:pt x="0" y="565403"/>
                  </a:lnTo>
                  <a:lnTo>
                    <a:pt x="120395" y="565403"/>
                  </a:lnTo>
                  <a:close/>
                </a:path>
                <a:path w="120650" h="685800">
                  <a:moveTo>
                    <a:pt x="59435" y="0"/>
                  </a:moveTo>
                  <a:lnTo>
                    <a:pt x="59435" y="132587"/>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3" name="Graphic 117"/>
            <p:cNvSpPr/>
            <p:nvPr/>
          </p:nvSpPr>
          <p:spPr>
            <a:xfrm>
              <a:off x="11088529" y="3844487"/>
              <a:ext cx="161366" cy="169657"/>
            </a:xfrm>
            <a:custGeom>
              <a:avLst/>
              <a:gdLst/>
              <a:ahLst/>
              <a:cxnLst/>
              <a:rect l="l" t="t" r="r" b="b"/>
              <a:pathLst>
                <a:path w="120650" h="121920">
                  <a:moveTo>
                    <a:pt x="59435" y="0"/>
                  </a:moveTo>
                  <a:lnTo>
                    <a:pt x="0" y="121920"/>
                  </a:lnTo>
                  <a:lnTo>
                    <a:pt x="120395" y="121920"/>
                  </a:lnTo>
                  <a:lnTo>
                    <a:pt x="5943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4" name="Graphic 118"/>
            <p:cNvSpPr/>
            <p:nvPr/>
          </p:nvSpPr>
          <p:spPr>
            <a:xfrm>
              <a:off x="11088529" y="3844487"/>
              <a:ext cx="161366" cy="169657"/>
            </a:xfrm>
            <a:custGeom>
              <a:avLst/>
              <a:gdLst/>
              <a:ahLst/>
              <a:cxnLst/>
              <a:rect l="l" t="t" r="r" b="b"/>
              <a:pathLst>
                <a:path w="120650" h="121920">
                  <a:moveTo>
                    <a:pt x="0" y="121920"/>
                  </a:moveTo>
                  <a:lnTo>
                    <a:pt x="59435" y="0"/>
                  </a:lnTo>
                  <a:lnTo>
                    <a:pt x="120395" y="121920"/>
                  </a:lnTo>
                  <a:lnTo>
                    <a:pt x="0" y="121920"/>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5" name="Graphic 119"/>
            <p:cNvSpPr/>
            <p:nvPr/>
          </p:nvSpPr>
          <p:spPr>
            <a:xfrm>
              <a:off x="11088529" y="4154113"/>
              <a:ext cx="161366" cy="167890"/>
            </a:xfrm>
            <a:custGeom>
              <a:avLst/>
              <a:gdLst/>
              <a:ahLst/>
              <a:cxnLst/>
              <a:rect l="l" t="t" r="r" b="b"/>
              <a:pathLst>
                <a:path w="120650" h="120650">
                  <a:moveTo>
                    <a:pt x="120395" y="0"/>
                  </a:moveTo>
                  <a:lnTo>
                    <a:pt x="0" y="0"/>
                  </a:lnTo>
                  <a:lnTo>
                    <a:pt x="59435" y="120395"/>
                  </a:lnTo>
                  <a:lnTo>
                    <a:pt x="12039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6" name="Graphic 120"/>
            <p:cNvSpPr/>
            <p:nvPr/>
          </p:nvSpPr>
          <p:spPr>
            <a:xfrm>
              <a:off x="11088529" y="4154113"/>
              <a:ext cx="161366" cy="167890"/>
            </a:xfrm>
            <a:custGeom>
              <a:avLst/>
              <a:gdLst/>
              <a:ahLst/>
              <a:cxnLst/>
              <a:rect l="l" t="t" r="r" b="b"/>
              <a:pathLst>
                <a:path w="120650" h="120650">
                  <a:moveTo>
                    <a:pt x="120395" y="0"/>
                  </a:moveTo>
                  <a:lnTo>
                    <a:pt x="59435" y="120395"/>
                  </a:lnTo>
                  <a:lnTo>
                    <a:pt x="0" y="0"/>
                  </a:lnTo>
                  <a:lnTo>
                    <a:pt x="120395" y="0"/>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7" name="Textbox 121"/>
            <p:cNvSpPr txBox="1"/>
            <p:nvPr/>
          </p:nvSpPr>
          <p:spPr>
            <a:xfrm>
              <a:off x="8828050" y="3388167"/>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(x</a:t>
              </a:r>
              <a:r>
                <a:rPr kumimoji="0" lang="vi-VN" sz="1050"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r>
                <a:rPr kumimoji="0" lang="vi-VN" b="0" i="0" u="none" strike="noStrike" kern="0" cap="none" spc="1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 </a:t>
              </a: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28" name="Textbox 122"/>
            <p:cNvSpPr txBox="1"/>
            <p:nvPr/>
          </p:nvSpPr>
          <p:spPr>
            <a:xfrm>
              <a:off x="9711317" y="3792721"/>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P</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29" name="Textbox 123"/>
            <p:cNvSpPr txBox="1"/>
            <p:nvPr/>
          </p:nvSpPr>
          <p:spPr>
            <a:xfrm>
              <a:off x="11404467" y="3909865"/>
              <a:ext cx="249692" cy="945487"/>
            </a:xfrm>
            <a:prstGeom prst="rect">
              <a:avLst/>
            </a:prstGeom>
          </p:spPr>
          <p:txBody>
            <a:bodyPr wrap="square" lIns="0" tIns="0" rIns="0" bIns="0" rtlCol="0">
              <a:noAutofit/>
            </a:bodyPr>
            <a:lstStyle/>
            <a:p>
              <a:pPr marL="0" marR="0" lvl="0" indent="0" defTabSz="914400" eaLnBrk="1" fontAlgn="auto" latinLnBrk="0" hangingPunct="1">
                <a:lnSpc>
                  <a:spcPct val="96000"/>
                </a:lnSpc>
                <a:spcBef>
                  <a:spcPts val="0"/>
                </a:spcBef>
                <a:spcAft>
                  <a:spcPts val="0"/>
                </a:spcAft>
                <a:buClrTx/>
                <a:buSzTx/>
                <a:buFontTx/>
                <a:buNone/>
                <a:tabLst/>
                <a:defRPr/>
              </a:pP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d</a:t>
              </a:r>
              <a:r>
                <a:rPr kumimoji="0" lang="vi-VN" sz="1050"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2</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a:p>
              <a:pPr marL="0" marR="0" lvl="0" indent="0" defTabSz="914400" eaLnBrk="1" fontAlgn="auto" latinLnBrk="0" hangingPunct="1">
                <a:lnSpc>
                  <a:spcPct val="100000"/>
                </a:lnSpc>
                <a:spcBef>
                  <a:spcPts val="180"/>
                </a:spcBef>
                <a:spcAft>
                  <a:spcPts val="0"/>
                </a:spcAft>
                <a:buClrTx/>
                <a:buSzTx/>
                <a:buFontTx/>
                <a:buNone/>
                <a:tabLst/>
                <a:defRPr/>
              </a:pPr>
              <a:r>
                <a:rPr kumimoji="0" lang="vi-VN" sz="1050"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 </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d</a:t>
              </a:r>
              <a:r>
                <a:rPr kumimoji="0" lang="vi-VN" sz="1050"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0" name="Textbox 124"/>
            <p:cNvSpPr txBox="1"/>
            <p:nvPr/>
          </p:nvSpPr>
          <p:spPr>
            <a:xfrm>
              <a:off x="9711317" y="4883109"/>
              <a:ext cx="151687" cy="170328"/>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S</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1" name="Textbox 121"/>
            <p:cNvSpPr txBox="1"/>
            <p:nvPr/>
          </p:nvSpPr>
          <p:spPr>
            <a:xfrm>
              <a:off x="7396480" y="3599330"/>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vi-VN" sz="1050"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2" name="Textbox 121"/>
            <p:cNvSpPr txBox="1"/>
            <p:nvPr/>
          </p:nvSpPr>
          <p:spPr>
            <a:xfrm>
              <a:off x="7469859" y="4112576"/>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3" name="Textbox 121"/>
            <p:cNvSpPr txBox="1"/>
            <p:nvPr/>
          </p:nvSpPr>
          <p:spPr>
            <a:xfrm>
              <a:off x="7459177" y="4747559"/>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4" name="Textbox 121"/>
            <p:cNvSpPr txBox="1"/>
            <p:nvPr/>
          </p:nvSpPr>
          <p:spPr>
            <a:xfrm>
              <a:off x="8734098" y="5059737"/>
              <a:ext cx="358470"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5" name="Textbox 121"/>
            <p:cNvSpPr txBox="1"/>
            <p:nvPr/>
          </p:nvSpPr>
          <p:spPr>
            <a:xfrm>
              <a:off x="9816559" y="5062222"/>
              <a:ext cx="467012"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smtClea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en-US" b="0" i="0" u="none" strike="noStrike" kern="0" cap="none" spc="0" normalizeH="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6" name="Textbox 122"/>
            <p:cNvSpPr txBox="1"/>
            <p:nvPr/>
          </p:nvSpPr>
          <p:spPr>
            <a:xfrm>
              <a:off x="9911749" y="4401492"/>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lang="en-US" sz="1400" b="1" kern="0" spc="-5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R</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grpSp>
    </p:spTree>
    <p:extLst>
      <p:ext uri="{BB962C8B-B14F-4D97-AF65-F5344CB8AC3E}">
        <p14:creationId xmlns:p14="http://schemas.microsoft.com/office/powerpoint/2010/main" val="3381596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normAutofit/>
          </a:bodyPr>
          <a:lstStyle/>
          <a:p>
            <a:r>
              <a:rPr lang="en-US" b="1" smtClean="0"/>
              <a:t>Giải thuật Bresenham</a:t>
            </a:r>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22</a:t>
            </a:fld>
            <a:endParaRPr lang="en-US"/>
          </a:p>
        </p:txBody>
      </p:sp>
      <p:sp>
        <p:nvSpPr>
          <p:cNvPr id="3" name="Content Placeholder 2"/>
          <p:cNvSpPr>
            <a:spLocks noGrp="1"/>
          </p:cNvSpPr>
          <p:nvPr>
            <p:ph idx="1"/>
          </p:nvPr>
        </p:nvSpPr>
        <p:spPr>
          <a:xfrm>
            <a:off x="1387168" y="2087095"/>
            <a:ext cx="5803972" cy="2955598"/>
          </a:xfrm>
        </p:spPr>
        <p:txBody>
          <a:bodyPr>
            <a:noAutofit/>
          </a:bodyPr>
          <a:lstStyle/>
          <a:p>
            <a:pPr marL="0" indent="0">
              <a:buNone/>
            </a:pPr>
            <a:r>
              <a:rPr lang="en-US" smtClean="0">
                <a:latin typeface="Arial (Body)"/>
              </a:rPr>
              <a:t>Tính d1:</a:t>
            </a:r>
          </a:p>
          <a:p>
            <a:pPr marL="0" indent="0">
              <a:buNone/>
            </a:pPr>
            <a:r>
              <a:rPr lang="en-US" smtClean="0">
                <a:latin typeface="Arial (Body)"/>
              </a:rPr>
              <a:t>d1=y(</a:t>
            </a:r>
            <a:r>
              <a:rPr lang="en-US" baseline="-25000" smtClean="0">
                <a:latin typeface="Arial (Body)"/>
              </a:rPr>
              <a:t>xi+1</a:t>
            </a:r>
            <a:r>
              <a:rPr lang="en-US" smtClean="0">
                <a:latin typeface="Arial (Body)"/>
              </a:rPr>
              <a:t>)-y</a:t>
            </a:r>
            <a:r>
              <a:rPr lang="en-US" baseline="-25000" smtClean="0">
                <a:latin typeface="Arial (Body)"/>
              </a:rPr>
              <a:t>i</a:t>
            </a:r>
          </a:p>
          <a:p>
            <a:pPr marL="0" indent="0">
              <a:buNone/>
            </a:pPr>
            <a:r>
              <a:rPr lang="en-US" smtClean="0">
                <a:latin typeface="Arial (Body)"/>
              </a:rPr>
              <a:t>d1=k(x</a:t>
            </a:r>
            <a:r>
              <a:rPr lang="en-US" baseline="-25000" smtClean="0">
                <a:latin typeface="Arial (Body)"/>
              </a:rPr>
              <a:t>i</a:t>
            </a:r>
            <a:r>
              <a:rPr lang="en-US" smtClean="0">
                <a:latin typeface="Arial (Body)"/>
              </a:rPr>
              <a:t>+1)+m-y</a:t>
            </a:r>
            <a:r>
              <a:rPr lang="en-US" baseline="-25000" smtClean="0">
                <a:latin typeface="Arial (Body)"/>
              </a:rPr>
              <a:t>i</a:t>
            </a:r>
          </a:p>
          <a:p>
            <a:pPr marL="0" indent="0">
              <a:buNone/>
            </a:pPr>
            <a:r>
              <a:rPr lang="en-US" smtClean="0">
                <a:latin typeface="Arial (Body)"/>
              </a:rPr>
              <a:t>Tính d2:</a:t>
            </a:r>
            <a:endParaRPr lang="en-US">
              <a:latin typeface="Arial (Body)"/>
            </a:endParaRPr>
          </a:p>
          <a:p>
            <a:pPr marL="0" indent="0">
              <a:buNone/>
            </a:pPr>
            <a:r>
              <a:rPr lang="en-US" smtClean="0">
                <a:latin typeface="Arial (Body)"/>
              </a:rPr>
              <a:t>d2=y</a:t>
            </a:r>
            <a:r>
              <a:rPr lang="en-US" baseline="-25000" smtClean="0">
                <a:latin typeface="Arial (Body)"/>
              </a:rPr>
              <a:t>i</a:t>
            </a:r>
            <a:r>
              <a:rPr lang="en-US" smtClean="0">
                <a:latin typeface="Arial (Body)"/>
              </a:rPr>
              <a:t>+1-y(</a:t>
            </a:r>
            <a:r>
              <a:rPr lang="en-US" baseline="-25000" smtClean="0">
                <a:latin typeface="Arial (Body)"/>
              </a:rPr>
              <a:t>xi+1</a:t>
            </a:r>
            <a:r>
              <a:rPr lang="en-US" smtClean="0">
                <a:latin typeface="Arial (Body)"/>
              </a:rPr>
              <a:t>)-m</a:t>
            </a:r>
          </a:p>
          <a:p>
            <a:pPr marL="0" indent="0">
              <a:buNone/>
            </a:pPr>
            <a:r>
              <a:rPr lang="en-US" smtClean="0">
                <a:latin typeface="Arial (Body)"/>
              </a:rPr>
              <a:t>d2=y</a:t>
            </a:r>
            <a:r>
              <a:rPr lang="en-US" baseline="-25000" smtClean="0">
                <a:latin typeface="Arial (Body)"/>
              </a:rPr>
              <a:t>i</a:t>
            </a:r>
            <a:r>
              <a:rPr lang="en-US" smtClean="0">
                <a:latin typeface="Arial (Body)"/>
              </a:rPr>
              <a:t>+1-k(x</a:t>
            </a:r>
            <a:r>
              <a:rPr lang="en-US" baseline="-25000" smtClean="0">
                <a:latin typeface="Arial (Body)"/>
              </a:rPr>
              <a:t>i</a:t>
            </a:r>
            <a:r>
              <a:rPr lang="en-US" smtClean="0">
                <a:latin typeface="Arial (Body)"/>
              </a:rPr>
              <a:t>+1)-m</a:t>
            </a:r>
          </a:p>
        </p:txBody>
      </p:sp>
      <p:grpSp>
        <p:nvGrpSpPr>
          <p:cNvPr id="4" name="Group 3"/>
          <p:cNvGrpSpPr/>
          <p:nvPr/>
        </p:nvGrpSpPr>
        <p:grpSpPr>
          <a:xfrm>
            <a:off x="7396480" y="2007946"/>
            <a:ext cx="4257679" cy="3671494"/>
            <a:chOff x="7396480" y="2007946"/>
            <a:chExt cx="4257679" cy="3671494"/>
          </a:xfrm>
        </p:grpSpPr>
        <p:sp>
          <p:nvSpPr>
            <p:cNvPr id="6" name="Graphic 101"/>
            <p:cNvSpPr/>
            <p:nvPr/>
          </p:nvSpPr>
          <p:spPr>
            <a:xfrm>
              <a:off x="108153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8" name="Graphic 102"/>
            <p:cNvSpPr/>
            <p:nvPr/>
          </p:nvSpPr>
          <p:spPr>
            <a:xfrm>
              <a:off x="7992344" y="2743834"/>
              <a:ext cx="3528815" cy="2202012"/>
            </a:xfrm>
            <a:custGeom>
              <a:avLst/>
              <a:gdLst/>
              <a:ahLst/>
              <a:cxnLst/>
              <a:rect l="l" t="t" r="r" b="b"/>
              <a:pathLst>
                <a:path w="2638425" h="1582420">
                  <a:moveTo>
                    <a:pt x="2638044" y="1581912"/>
                  </a:moveTo>
                  <a:lnTo>
                    <a:pt x="0" y="1581912"/>
                  </a:lnTo>
                </a:path>
                <a:path w="2638425" h="1582420">
                  <a:moveTo>
                    <a:pt x="2638044" y="0"/>
                  </a:moveTo>
                  <a:lnTo>
                    <a:pt x="0" y="0"/>
                  </a:lnTo>
                </a:path>
                <a:path w="2638425" h="1582420">
                  <a:moveTo>
                    <a:pt x="2638044" y="790955"/>
                  </a:moveTo>
                  <a:lnTo>
                    <a:pt x="0" y="790955"/>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9" name="Graphic 103"/>
            <p:cNvSpPr/>
            <p:nvPr/>
          </p:nvSpPr>
          <p:spPr>
            <a:xfrm>
              <a:off x="975547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10" name="Graphic 104"/>
            <p:cNvSpPr/>
            <p:nvPr/>
          </p:nvSpPr>
          <p:spPr>
            <a:xfrm>
              <a:off x="86975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1" name="Image 105"/>
            <p:cNvPicPr/>
            <p:nvPr/>
          </p:nvPicPr>
          <p:blipFill>
            <a:blip r:embed="rId2" cstate="print"/>
            <a:stretch>
              <a:fillRect/>
            </a:stretch>
          </p:blipFill>
          <p:spPr>
            <a:xfrm>
              <a:off x="8547782" y="4791389"/>
              <a:ext cx="299631" cy="309623"/>
            </a:xfrm>
            <a:prstGeom prst="rect">
              <a:avLst/>
            </a:prstGeom>
          </p:spPr>
        </p:pic>
        <p:sp>
          <p:nvSpPr>
            <p:cNvPr id="12" name="Graphic 106"/>
            <p:cNvSpPr/>
            <p:nvPr/>
          </p:nvSpPr>
          <p:spPr>
            <a:xfrm>
              <a:off x="7992344" y="3698157"/>
              <a:ext cx="3528815" cy="1247688"/>
            </a:xfrm>
            <a:custGeom>
              <a:avLst/>
              <a:gdLst/>
              <a:ahLst/>
              <a:cxnLst/>
              <a:rect l="l" t="t" r="r" b="b"/>
              <a:pathLst>
                <a:path w="2638425" h="896619">
                  <a:moveTo>
                    <a:pt x="0" y="896112"/>
                  </a:moveTo>
                  <a:lnTo>
                    <a:pt x="2638044" y="0"/>
                  </a:lnTo>
                </a:path>
              </a:pathLst>
            </a:custGeom>
            <a:ln w="22860">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3" name="Image 107"/>
            <p:cNvPicPr/>
            <p:nvPr/>
          </p:nvPicPr>
          <p:blipFill>
            <a:blip r:embed="rId3" cstate="print"/>
            <a:stretch>
              <a:fillRect/>
            </a:stretch>
          </p:blipFill>
          <p:spPr>
            <a:xfrm>
              <a:off x="9677005" y="4240002"/>
              <a:ext cx="158988" cy="165414"/>
            </a:xfrm>
            <a:prstGeom prst="rect">
              <a:avLst/>
            </a:prstGeom>
          </p:spPr>
        </p:pic>
        <p:sp>
          <p:nvSpPr>
            <p:cNvPr id="14" name="Graphic 108"/>
            <p:cNvSpPr/>
            <p:nvPr/>
          </p:nvSpPr>
          <p:spPr>
            <a:xfrm>
              <a:off x="9262210" y="3698157"/>
              <a:ext cx="302348" cy="439165"/>
            </a:xfrm>
            <a:custGeom>
              <a:avLst/>
              <a:gdLst/>
              <a:ahLst/>
              <a:cxnLst/>
              <a:rect l="l" t="t" r="r" b="b"/>
              <a:pathLst>
                <a:path w="226060" h="315595">
                  <a:moveTo>
                    <a:pt x="0" y="0"/>
                  </a:moveTo>
                  <a:lnTo>
                    <a:pt x="225551" y="315468"/>
                  </a:lnTo>
                </a:path>
              </a:pathLst>
            </a:custGeom>
            <a:ln w="4572">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5" name="Image 109"/>
            <p:cNvPicPr/>
            <p:nvPr/>
          </p:nvPicPr>
          <p:blipFill>
            <a:blip r:embed="rId4" cstate="print"/>
            <a:stretch>
              <a:fillRect/>
            </a:stretch>
          </p:blipFill>
          <p:spPr>
            <a:xfrm>
              <a:off x="9509863" y="4091552"/>
              <a:ext cx="108030" cy="123000"/>
            </a:xfrm>
            <a:prstGeom prst="rect">
              <a:avLst/>
            </a:prstGeom>
          </p:spPr>
        </p:pic>
        <p:pic>
          <p:nvPicPr>
            <p:cNvPr id="16" name="Image 110"/>
            <p:cNvPicPr/>
            <p:nvPr/>
          </p:nvPicPr>
          <p:blipFill>
            <a:blip r:embed="rId5" cstate="print"/>
            <a:stretch>
              <a:fillRect/>
            </a:stretch>
          </p:blipFill>
          <p:spPr>
            <a:xfrm>
              <a:off x="9605662" y="3688615"/>
              <a:ext cx="299631" cy="311744"/>
            </a:xfrm>
            <a:prstGeom prst="rect">
              <a:avLst/>
            </a:prstGeom>
          </p:spPr>
        </p:pic>
        <p:pic>
          <p:nvPicPr>
            <p:cNvPr id="17" name="Image 111"/>
            <p:cNvPicPr/>
            <p:nvPr/>
          </p:nvPicPr>
          <p:blipFill>
            <a:blip r:embed="rId6" cstate="print"/>
            <a:stretch>
              <a:fillRect/>
            </a:stretch>
          </p:blipFill>
          <p:spPr>
            <a:xfrm>
              <a:off x="9605662" y="4791389"/>
              <a:ext cx="299631" cy="309623"/>
            </a:xfrm>
            <a:prstGeom prst="rect">
              <a:avLst/>
            </a:prstGeom>
          </p:spPr>
        </p:pic>
        <p:sp>
          <p:nvSpPr>
            <p:cNvPr id="18" name="Graphic 112"/>
            <p:cNvSpPr/>
            <p:nvPr/>
          </p:nvSpPr>
          <p:spPr>
            <a:xfrm>
              <a:off x="7992344" y="4321649"/>
              <a:ext cx="3461721" cy="479813"/>
            </a:xfrm>
            <a:custGeom>
              <a:avLst/>
              <a:gdLst/>
              <a:ahLst/>
              <a:cxnLst/>
              <a:rect l="l" t="t" r="r" b="b"/>
              <a:pathLst>
                <a:path w="2588260" h="344805">
                  <a:moveTo>
                    <a:pt x="0" y="0"/>
                  </a:moveTo>
                  <a:lnTo>
                    <a:pt x="13716" y="0"/>
                  </a:lnTo>
                </a:path>
                <a:path w="2588260" h="344805">
                  <a:moveTo>
                    <a:pt x="80772" y="0"/>
                  </a:moveTo>
                  <a:lnTo>
                    <a:pt x="92963" y="0"/>
                  </a:lnTo>
                </a:path>
                <a:path w="2588260" h="344805">
                  <a:moveTo>
                    <a:pt x="160019" y="0"/>
                  </a:moveTo>
                  <a:lnTo>
                    <a:pt x="173736" y="0"/>
                  </a:lnTo>
                </a:path>
                <a:path w="2588260" h="344805">
                  <a:moveTo>
                    <a:pt x="240792" y="0"/>
                  </a:moveTo>
                  <a:lnTo>
                    <a:pt x="254508" y="0"/>
                  </a:lnTo>
                </a:path>
                <a:path w="2588260" h="344805">
                  <a:moveTo>
                    <a:pt x="321563" y="0"/>
                  </a:moveTo>
                  <a:lnTo>
                    <a:pt x="335280" y="0"/>
                  </a:lnTo>
                </a:path>
                <a:path w="2588260" h="344805">
                  <a:moveTo>
                    <a:pt x="402336" y="0"/>
                  </a:moveTo>
                  <a:lnTo>
                    <a:pt x="414528" y="0"/>
                  </a:lnTo>
                </a:path>
                <a:path w="2588260" h="344805">
                  <a:moveTo>
                    <a:pt x="481584" y="0"/>
                  </a:moveTo>
                  <a:lnTo>
                    <a:pt x="495300" y="0"/>
                  </a:lnTo>
                </a:path>
                <a:path w="2588260" h="344805">
                  <a:moveTo>
                    <a:pt x="562356" y="0"/>
                  </a:moveTo>
                  <a:lnTo>
                    <a:pt x="576072" y="0"/>
                  </a:lnTo>
                </a:path>
                <a:path w="2588260" h="344805">
                  <a:moveTo>
                    <a:pt x="643127" y="0"/>
                  </a:moveTo>
                  <a:lnTo>
                    <a:pt x="656844" y="0"/>
                  </a:lnTo>
                </a:path>
                <a:path w="2588260" h="344805">
                  <a:moveTo>
                    <a:pt x="723900" y="0"/>
                  </a:moveTo>
                  <a:lnTo>
                    <a:pt x="737615" y="0"/>
                  </a:lnTo>
                </a:path>
                <a:path w="2588260" h="344805">
                  <a:moveTo>
                    <a:pt x="804672" y="0"/>
                  </a:moveTo>
                  <a:lnTo>
                    <a:pt x="816863" y="0"/>
                  </a:lnTo>
                </a:path>
                <a:path w="2588260" h="344805">
                  <a:moveTo>
                    <a:pt x="883920" y="0"/>
                  </a:moveTo>
                  <a:lnTo>
                    <a:pt x="897636" y="0"/>
                  </a:lnTo>
                </a:path>
                <a:path w="2588260" h="344805">
                  <a:moveTo>
                    <a:pt x="964691" y="0"/>
                  </a:moveTo>
                  <a:lnTo>
                    <a:pt x="978408" y="0"/>
                  </a:lnTo>
                </a:path>
                <a:path w="2588260" h="344805">
                  <a:moveTo>
                    <a:pt x="1045463" y="0"/>
                  </a:moveTo>
                  <a:lnTo>
                    <a:pt x="1059180" y="0"/>
                  </a:lnTo>
                </a:path>
                <a:path w="2588260" h="344805">
                  <a:moveTo>
                    <a:pt x="1126236" y="0"/>
                  </a:moveTo>
                  <a:lnTo>
                    <a:pt x="1138427" y="0"/>
                  </a:lnTo>
                </a:path>
                <a:path w="2588260" h="344805">
                  <a:moveTo>
                    <a:pt x="1205484" y="0"/>
                  </a:moveTo>
                  <a:lnTo>
                    <a:pt x="1219200" y="0"/>
                  </a:lnTo>
                </a:path>
                <a:path w="2588260" h="344805">
                  <a:moveTo>
                    <a:pt x="1286256" y="0"/>
                  </a:moveTo>
                  <a:lnTo>
                    <a:pt x="1299972" y="0"/>
                  </a:lnTo>
                </a:path>
                <a:path w="2588260" h="344805">
                  <a:moveTo>
                    <a:pt x="1367027" y="0"/>
                  </a:moveTo>
                  <a:lnTo>
                    <a:pt x="1380744" y="0"/>
                  </a:lnTo>
                </a:path>
                <a:path w="2588260" h="344805">
                  <a:moveTo>
                    <a:pt x="1447800" y="0"/>
                  </a:moveTo>
                  <a:lnTo>
                    <a:pt x="1461515" y="0"/>
                  </a:lnTo>
                </a:path>
                <a:path w="2588260" h="344805">
                  <a:moveTo>
                    <a:pt x="1528572" y="0"/>
                  </a:moveTo>
                  <a:lnTo>
                    <a:pt x="1540764" y="0"/>
                  </a:lnTo>
                </a:path>
                <a:path w="2588260" h="344805">
                  <a:moveTo>
                    <a:pt x="1607820" y="0"/>
                  </a:moveTo>
                  <a:lnTo>
                    <a:pt x="1621536" y="0"/>
                  </a:lnTo>
                </a:path>
                <a:path w="2588260" h="344805">
                  <a:moveTo>
                    <a:pt x="1688591" y="0"/>
                  </a:moveTo>
                  <a:lnTo>
                    <a:pt x="1702308" y="0"/>
                  </a:lnTo>
                </a:path>
                <a:path w="2588260" h="344805">
                  <a:moveTo>
                    <a:pt x="1769364" y="0"/>
                  </a:moveTo>
                  <a:lnTo>
                    <a:pt x="1783080" y="0"/>
                  </a:lnTo>
                </a:path>
                <a:path w="2588260" h="344805">
                  <a:moveTo>
                    <a:pt x="1850136" y="0"/>
                  </a:moveTo>
                  <a:lnTo>
                    <a:pt x="1863852" y="0"/>
                  </a:lnTo>
                </a:path>
                <a:path w="2588260" h="344805">
                  <a:moveTo>
                    <a:pt x="1929384" y="0"/>
                  </a:moveTo>
                  <a:lnTo>
                    <a:pt x="1943100" y="0"/>
                  </a:lnTo>
                </a:path>
                <a:path w="2588260" h="344805">
                  <a:moveTo>
                    <a:pt x="2010156" y="0"/>
                  </a:moveTo>
                  <a:lnTo>
                    <a:pt x="2023872" y="0"/>
                  </a:lnTo>
                </a:path>
                <a:path w="2588260" h="344805">
                  <a:moveTo>
                    <a:pt x="2090927" y="0"/>
                  </a:moveTo>
                  <a:lnTo>
                    <a:pt x="2104644" y="0"/>
                  </a:lnTo>
                </a:path>
                <a:path w="2588260" h="344805">
                  <a:moveTo>
                    <a:pt x="2171700" y="0"/>
                  </a:moveTo>
                  <a:lnTo>
                    <a:pt x="2185416" y="0"/>
                  </a:lnTo>
                </a:path>
                <a:path w="2588260" h="344805">
                  <a:moveTo>
                    <a:pt x="2252472" y="0"/>
                  </a:moveTo>
                  <a:lnTo>
                    <a:pt x="2264664" y="0"/>
                  </a:lnTo>
                </a:path>
                <a:path w="2588260" h="344805">
                  <a:moveTo>
                    <a:pt x="2331720" y="0"/>
                  </a:moveTo>
                  <a:lnTo>
                    <a:pt x="2345436" y="0"/>
                  </a:lnTo>
                </a:path>
                <a:path w="2588260" h="344805">
                  <a:moveTo>
                    <a:pt x="2412491" y="0"/>
                  </a:moveTo>
                  <a:lnTo>
                    <a:pt x="2426208" y="0"/>
                  </a:lnTo>
                </a:path>
                <a:path w="2588260" h="344805">
                  <a:moveTo>
                    <a:pt x="2493264" y="0"/>
                  </a:moveTo>
                  <a:lnTo>
                    <a:pt x="2506980" y="0"/>
                  </a:lnTo>
                </a:path>
                <a:path w="2588260" h="344805">
                  <a:moveTo>
                    <a:pt x="2574036" y="0"/>
                  </a:moveTo>
                  <a:lnTo>
                    <a:pt x="2587752" y="0"/>
                  </a:lnTo>
                </a:path>
                <a:path w="2588260" h="344805">
                  <a:moveTo>
                    <a:pt x="2374391" y="106680"/>
                  </a:moveTo>
                  <a:lnTo>
                    <a:pt x="2374391" y="34442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19" name="Graphic 113"/>
            <p:cNvSpPr/>
            <p:nvPr/>
          </p:nvSpPr>
          <p:spPr>
            <a:xfrm>
              <a:off x="11088529" y="4321649"/>
              <a:ext cx="161366" cy="167890"/>
            </a:xfrm>
            <a:custGeom>
              <a:avLst/>
              <a:gdLst/>
              <a:ahLst/>
              <a:cxnLst/>
              <a:rect l="l" t="t" r="r" b="b"/>
              <a:pathLst>
                <a:path w="120650" h="120650">
                  <a:moveTo>
                    <a:pt x="59435" y="0"/>
                  </a:moveTo>
                  <a:lnTo>
                    <a:pt x="0" y="120396"/>
                  </a:lnTo>
                  <a:lnTo>
                    <a:pt x="120395" y="120396"/>
                  </a:lnTo>
                  <a:lnTo>
                    <a:pt x="5943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0" name="Graphic 114"/>
            <p:cNvSpPr/>
            <p:nvPr/>
          </p:nvSpPr>
          <p:spPr>
            <a:xfrm>
              <a:off x="11088529" y="4321649"/>
              <a:ext cx="161366" cy="167890"/>
            </a:xfrm>
            <a:custGeom>
              <a:avLst/>
              <a:gdLst/>
              <a:ahLst/>
              <a:cxnLst/>
              <a:rect l="l" t="t" r="r" b="b"/>
              <a:pathLst>
                <a:path w="120650" h="120650">
                  <a:moveTo>
                    <a:pt x="0" y="120396"/>
                  </a:moveTo>
                  <a:lnTo>
                    <a:pt x="59435" y="0"/>
                  </a:lnTo>
                  <a:lnTo>
                    <a:pt x="120395" y="120396"/>
                  </a:lnTo>
                  <a:lnTo>
                    <a:pt x="0" y="120396"/>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1" name="Graphic 115"/>
            <p:cNvSpPr/>
            <p:nvPr/>
          </p:nvSpPr>
          <p:spPr>
            <a:xfrm>
              <a:off x="11088529" y="4777604"/>
              <a:ext cx="161366" cy="167890"/>
            </a:xfrm>
            <a:custGeom>
              <a:avLst/>
              <a:gdLst/>
              <a:ahLst/>
              <a:cxnLst/>
              <a:rect l="l" t="t" r="r" b="b"/>
              <a:pathLst>
                <a:path w="120650" h="120650">
                  <a:moveTo>
                    <a:pt x="120395" y="0"/>
                  </a:moveTo>
                  <a:lnTo>
                    <a:pt x="0" y="0"/>
                  </a:lnTo>
                  <a:lnTo>
                    <a:pt x="59435" y="120396"/>
                  </a:lnTo>
                  <a:lnTo>
                    <a:pt x="12039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2" name="Graphic 116"/>
            <p:cNvSpPr/>
            <p:nvPr/>
          </p:nvSpPr>
          <p:spPr>
            <a:xfrm>
              <a:off x="11088529" y="3990816"/>
              <a:ext cx="161366" cy="954323"/>
            </a:xfrm>
            <a:custGeom>
              <a:avLst/>
              <a:gdLst/>
              <a:ahLst/>
              <a:cxnLst/>
              <a:rect l="l" t="t" r="r" b="b"/>
              <a:pathLst>
                <a:path w="120650" h="685800">
                  <a:moveTo>
                    <a:pt x="120395" y="565403"/>
                  </a:moveTo>
                  <a:lnTo>
                    <a:pt x="59435" y="685800"/>
                  </a:lnTo>
                  <a:lnTo>
                    <a:pt x="0" y="565403"/>
                  </a:lnTo>
                  <a:lnTo>
                    <a:pt x="120395" y="565403"/>
                  </a:lnTo>
                  <a:close/>
                </a:path>
                <a:path w="120650" h="685800">
                  <a:moveTo>
                    <a:pt x="59435" y="0"/>
                  </a:moveTo>
                  <a:lnTo>
                    <a:pt x="59435" y="132587"/>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3" name="Graphic 117"/>
            <p:cNvSpPr/>
            <p:nvPr/>
          </p:nvSpPr>
          <p:spPr>
            <a:xfrm>
              <a:off x="11088529" y="3844487"/>
              <a:ext cx="161366" cy="169657"/>
            </a:xfrm>
            <a:custGeom>
              <a:avLst/>
              <a:gdLst/>
              <a:ahLst/>
              <a:cxnLst/>
              <a:rect l="l" t="t" r="r" b="b"/>
              <a:pathLst>
                <a:path w="120650" h="121920">
                  <a:moveTo>
                    <a:pt x="59435" y="0"/>
                  </a:moveTo>
                  <a:lnTo>
                    <a:pt x="0" y="121920"/>
                  </a:lnTo>
                  <a:lnTo>
                    <a:pt x="120395" y="121920"/>
                  </a:lnTo>
                  <a:lnTo>
                    <a:pt x="5943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4" name="Graphic 118"/>
            <p:cNvSpPr/>
            <p:nvPr/>
          </p:nvSpPr>
          <p:spPr>
            <a:xfrm>
              <a:off x="11088529" y="3844487"/>
              <a:ext cx="161366" cy="169657"/>
            </a:xfrm>
            <a:custGeom>
              <a:avLst/>
              <a:gdLst/>
              <a:ahLst/>
              <a:cxnLst/>
              <a:rect l="l" t="t" r="r" b="b"/>
              <a:pathLst>
                <a:path w="120650" h="121920">
                  <a:moveTo>
                    <a:pt x="0" y="121920"/>
                  </a:moveTo>
                  <a:lnTo>
                    <a:pt x="59435" y="0"/>
                  </a:lnTo>
                  <a:lnTo>
                    <a:pt x="120395" y="121920"/>
                  </a:lnTo>
                  <a:lnTo>
                    <a:pt x="0" y="121920"/>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5" name="Graphic 119"/>
            <p:cNvSpPr/>
            <p:nvPr/>
          </p:nvSpPr>
          <p:spPr>
            <a:xfrm>
              <a:off x="11088529" y="4154113"/>
              <a:ext cx="161366" cy="167890"/>
            </a:xfrm>
            <a:custGeom>
              <a:avLst/>
              <a:gdLst/>
              <a:ahLst/>
              <a:cxnLst/>
              <a:rect l="l" t="t" r="r" b="b"/>
              <a:pathLst>
                <a:path w="120650" h="120650">
                  <a:moveTo>
                    <a:pt x="120395" y="0"/>
                  </a:moveTo>
                  <a:lnTo>
                    <a:pt x="0" y="0"/>
                  </a:lnTo>
                  <a:lnTo>
                    <a:pt x="59435" y="120395"/>
                  </a:lnTo>
                  <a:lnTo>
                    <a:pt x="12039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6" name="Graphic 120"/>
            <p:cNvSpPr/>
            <p:nvPr/>
          </p:nvSpPr>
          <p:spPr>
            <a:xfrm>
              <a:off x="11088529" y="4154113"/>
              <a:ext cx="161366" cy="167890"/>
            </a:xfrm>
            <a:custGeom>
              <a:avLst/>
              <a:gdLst/>
              <a:ahLst/>
              <a:cxnLst/>
              <a:rect l="l" t="t" r="r" b="b"/>
              <a:pathLst>
                <a:path w="120650" h="120650">
                  <a:moveTo>
                    <a:pt x="120395" y="0"/>
                  </a:moveTo>
                  <a:lnTo>
                    <a:pt x="59435" y="120395"/>
                  </a:lnTo>
                  <a:lnTo>
                    <a:pt x="0" y="0"/>
                  </a:lnTo>
                  <a:lnTo>
                    <a:pt x="120395" y="0"/>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7" name="Textbox 121"/>
            <p:cNvSpPr txBox="1"/>
            <p:nvPr/>
          </p:nvSpPr>
          <p:spPr>
            <a:xfrm>
              <a:off x="8828050" y="3388167"/>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(x</a:t>
              </a:r>
              <a:r>
                <a:rPr kumimoji="0" lang="vi-VN" sz="1050"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r>
                <a:rPr kumimoji="0" lang="vi-VN" b="0" i="0" u="none" strike="noStrike" kern="0" cap="none" spc="1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 </a:t>
              </a: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28" name="Textbox 122"/>
            <p:cNvSpPr txBox="1"/>
            <p:nvPr/>
          </p:nvSpPr>
          <p:spPr>
            <a:xfrm>
              <a:off x="9711317" y="3792721"/>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P</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29" name="Textbox 123"/>
            <p:cNvSpPr txBox="1"/>
            <p:nvPr/>
          </p:nvSpPr>
          <p:spPr>
            <a:xfrm>
              <a:off x="11404467" y="3909865"/>
              <a:ext cx="249692" cy="945487"/>
            </a:xfrm>
            <a:prstGeom prst="rect">
              <a:avLst/>
            </a:prstGeom>
          </p:spPr>
          <p:txBody>
            <a:bodyPr wrap="square" lIns="0" tIns="0" rIns="0" bIns="0" rtlCol="0">
              <a:noAutofit/>
            </a:bodyPr>
            <a:lstStyle/>
            <a:p>
              <a:pPr marL="0" marR="0" lvl="0" indent="0" defTabSz="914400" eaLnBrk="1" fontAlgn="auto" latinLnBrk="0" hangingPunct="1">
                <a:lnSpc>
                  <a:spcPct val="96000"/>
                </a:lnSpc>
                <a:spcBef>
                  <a:spcPts val="0"/>
                </a:spcBef>
                <a:spcAft>
                  <a:spcPts val="0"/>
                </a:spcAft>
                <a:buClrTx/>
                <a:buSzTx/>
                <a:buFontTx/>
                <a:buNone/>
                <a:tabLst/>
                <a:defRPr/>
              </a:pP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d</a:t>
              </a:r>
              <a:r>
                <a:rPr kumimoji="0" lang="vi-VN" sz="1050"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2</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a:p>
              <a:pPr marL="0" marR="0" lvl="0" indent="0" defTabSz="914400" eaLnBrk="1" fontAlgn="auto" latinLnBrk="0" hangingPunct="1">
                <a:lnSpc>
                  <a:spcPct val="100000"/>
                </a:lnSpc>
                <a:spcBef>
                  <a:spcPts val="180"/>
                </a:spcBef>
                <a:spcAft>
                  <a:spcPts val="0"/>
                </a:spcAft>
                <a:buClrTx/>
                <a:buSzTx/>
                <a:buFontTx/>
                <a:buNone/>
                <a:tabLst/>
                <a:defRPr/>
              </a:pPr>
              <a:r>
                <a:rPr kumimoji="0" lang="vi-VN" sz="1050"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 </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d</a:t>
              </a:r>
              <a:r>
                <a:rPr kumimoji="0" lang="vi-VN" sz="1050"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0" name="Textbox 124"/>
            <p:cNvSpPr txBox="1"/>
            <p:nvPr/>
          </p:nvSpPr>
          <p:spPr>
            <a:xfrm>
              <a:off x="9711317" y="4883109"/>
              <a:ext cx="151687" cy="170328"/>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S</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1" name="Textbox 121"/>
            <p:cNvSpPr txBox="1"/>
            <p:nvPr/>
          </p:nvSpPr>
          <p:spPr>
            <a:xfrm>
              <a:off x="7396480" y="3599330"/>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vi-VN" sz="1050"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2" name="Textbox 121"/>
            <p:cNvSpPr txBox="1"/>
            <p:nvPr/>
          </p:nvSpPr>
          <p:spPr>
            <a:xfrm>
              <a:off x="7469859" y="4112576"/>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3" name="Textbox 121"/>
            <p:cNvSpPr txBox="1"/>
            <p:nvPr/>
          </p:nvSpPr>
          <p:spPr>
            <a:xfrm>
              <a:off x="7459177" y="4747559"/>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4" name="Textbox 121"/>
            <p:cNvSpPr txBox="1"/>
            <p:nvPr/>
          </p:nvSpPr>
          <p:spPr>
            <a:xfrm>
              <a:off x="8734098" y="5059737"/>
              <a:ext cx="358470"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5" name="Textbox 121"/>
            <p:cNvSpPr txBox="1"/>
            <p:nvPr/>
          </p:nvSpPr>
          <p:spPr>
            <a:xfrm>
              <a:off x="9816559" y="5062222"/>
              <a:ext cx="467012"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smtClea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en-US" b="0" i="0" u="none" strike="noStrike" kern="0" cap="none" spc="0" normalizeH="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6" name="Textbox 122"/>
            <p:cNvSpPr txBox="1"/>
            <p:nvPr/>
          </p:nvSpPr>
          <p:spPr>
            <a:xfrm>
              <a:off x="9911749" y="4401492"/>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lang="en-US" sz="1400" b="1" kern="0" spc="-5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R</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grpSp>
    </p:spTree>
    <p:extLst>
      <p:ext uri="{BB962C8B-B14F-4D97-AF65-F5344CB8AC3E}">
        <p14:creationId xmlns:p14="http://schemas.microsoft.com/office/powerpoint/2010/main" val="29494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normAutofit/>
          </a:bodyPr>
          <a:lstStyle/>
          <a:p>
            <a:r>
              <a:rPr lang="en-US" b="1" smtClean="0"/>
              <a:t>Giải thuật Bresenham</a:t>
            </a:r>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23</a:t>
            </a:fld>
            <a:endParaRPr lang="en-US"/>
          </a:p>
        </p:txBody>
      </p:sp>
      <p:sp>
        <p:nvSpPr>
          <p:cNvPr id="3" name="Content Placeholder 2"/>
          <p:cNvSpPr>
            <a:spLocks noGrp="1"/>
          </p:cNvSpPr>
          <p:nvPr>
            <p:ph idx="1"/>
          </p:nvPr>
        </p:nvSpPr>
        <p:spPr>
          <a:xfrm>
            <a:off x="1387168" y="2087095"/>
            <a:ext cx="5803972" cy="2955598"/>
          </a:xfrm>
        </p:spPr>
        <p:txBody>
          <a:bodyPr>
            <a:noAutofit/>
          </a:bodyPr>
          <a:lstStyle/>
          <a:p>
            <a:pPr marL="0" indent="0">
              <a:buNone/>
            </a:pPr>
            <a:r>
              <a:rPr lang="en-US" smtClean="0">
                <a:latin typeface="Arial (Body)"/>
              </a:rPr>
              <a:t>Đặt P</a:t>
            </a:r>
            <a:r>
              <a:rPr lang="en-US" baseline="-25000" smtClean="0">
                <a:latin typeface="Arial (Body)"/>
              </a:rPr>
              <a:t>i</a:t>
            </a:r>
            <a:r>
              <a:rPr lang="en-US" smtClean="0">
                <a:latin typeface="Arial (Body)"/>
              </a:rPr>
              <a:t>=dx(d1-d2) </a:t>
            </a:r>
          </a:p>
          <a:p>
            <a:pPr marL="0" indent="0">
              <a:buNone/>
            </a:pPr>
            <a:r>
              <a:rPr lang="en-US" smtClean="0">
                <a:latin typeface="Arial (Body)"/>
              </a:rPr>
              <a:t>P</a:t>
            </a:r>
            <a:r>
              <a:rPr lang="en-US" baseline="-25000" smtClean="0">
                <a:latin typeface="Arial (Body)"/>
              </a:rPr>
              <a:t>i</a:t>
            </a:r>
            <a:r>
              <a:rPr lang="en-US" smtClean="0">
                <a:latin typeface="Arial (Body)"/>
              </a:rPr>
              <a:t>=dx((k(x</a:t>
            </a:r>
            <a:r>
              <a:rPr lang="en-US" baseline="-25000" smtClean="0">
                <a:latin typeface="Arial (Body)"/>
              </a:rPr>
              <a:t>i</a:t>
            </a:r>
            <a:r>
              <a:rPr lang="en-US" smtClean="0">
                <a:latin typeface="Arial (Body)"/>
              </a:rPr>
              <a:t>+1)+m-y</a:t>
            </a:r>
            <a:r>
              <a:rPr lang="en-US" baseline="-25000" smtClean="0">
                <a:latin typeface="Arial (Body)"/>
              </a:rPr>
              <a:t>i</a:t>
            </a:r>
            <a:r>
              <a:rPr lang="en-US" smtClean="0">
                <a:latin typeface="Arial (Body)"/>
              </a:rPr>
              <a:t>)-(y</a:t>
            </a:r>
            <a:r>
              <a:rPr lang="en-US" baseline="-25000" smtClean="0">
                <a:latin typeface="Arial (Body)"/>
              </a:rPr>
              <a:t>i</a:t>
            </a:r>
            <a:r>
              <a:rPr lang="en-US" smtClean="0">
                <a:latin typeface="Arial (Body)"/>
              </a:rPr>
              <a:t>+k(x</a:t>
            </a:r>
            <a:r>
              <a:rPr lang="en-US" baseline="-25000" smtClean="0">
                <a:latin typeface="Arial (Body)"/>
              </a:rPr>
              <a:t>i</a:t>
            </a:r>
            <a:r>
              <a:rPr lang="en-US" smtClean="0">
                <a:latin typeface="Arial (Body)"/>
              </a:rPr>
              <a:t>+1)-m))</a:t>
            </a:r>
          </a:p>
          <a:p>
            <a:pPr marL="0" indent="0">
              <a:buNone/>
            </a:pPr>
            <a:r>
              <a:rPr lang="en-US" smtClean="0">
                <a:latin typeface="Arial (Body)"/>
              </a:rPr>
              <a:t>P</a:t>
            </a:r>
            <a:r>
              <a:rPr lang="en-US" baseline="-25000" smtClean="0">
                <a:latin typeface="Arial (Body)"/>
              </a:rPr>
              <a:t>i</a:t>
            </a:r>
            <a:r>
              <a:rPr lang="en-US" smtClean="0">
                <a:latin typeface="Arial (Body)"/>
              </a:rPr>
              <a:t>=dx(2(k(x</a:t>
            </a:r>
            <a:r>
              <a:rPr lang="en-US" baseline="-25000" smtClean="0">
                <a:latin typeface="Arial (Body)"/>
              </a:rPr>
              <a:t>i</a:t>
            </a:r>
            <a:r>
              <a:rPr lang="en-US" smtClean="0">
                <a:latin typeface="Arial (Body)"/>
              </a:rPr>
              <a:t>+1)+m)-2y</a:t>
            </a:r>
            <a:r>
              <a:rPr lang="en-US" baseline="-25000" smtClean="0">
                <a:latin typeface="Arial (Body)"/>
              </a:rPr>
              <a:t>i</a:t>
            </a:r>
            <a:r>
              <a:rPr lang="en-US" smtClean="0">
                <a:latin typeface="Arial (Body)"/>
              </a:rPr>
              <a:t>+1) (*)</a:t>
            </a:r>
          </a:p>
          <a:p>
            <a:pPr marL="0" indent="0">
              <a:buNone/>
            </a:pPr>
            <a:r>
              <a:rPr lang="en-US" smtClean="0">
                <a:latin typeface="Arial (Body)"/>
              </a:rPr>
              <a:t>thay k=dy/dx vào PT (*)</a:t>
            </a:r>
          </a:p>
          <a:p>
            <a:pPr marL="0" indent="0">
              <a:buNone/>
            </a:pPr>
            <a:r>
              <a:rPr lang="en-US" smtClean="0">
                <a:latin typeface="Arial (Body)"/>
              </a:rPr>
              <a:t>P</a:t>
            </a:r>
            <a:r>
              <a:rPr lang="en-US" baseline="-25000" smtClean="0">
                <a:latin typeface="Arial (Body)"/>
              </a:rPr>
              <a:t>i</a:t>
            </a:r>
            <a:r>
              <a:rPr lang="en-US" smtClean="0">
                <a:latin typeface="Arial (Body)"/>
              </a:rPr>
              <a:t>=2dyx</a:t>
            </a:r>
            <a:r>
              <a:rPr lang="en-US" baseline="-25000" smtClean="0">
                <a:latin typeface="Arial (Body)"/>
              </a:rPr>
              <a:t>i</a:t>
            </a:r>
            <a:r>
              <a:rPr lang="en-US" smtClean="0">
                <a:latin typeface="Arial (Body)"/>
              </a:rPr>
              <a:t>-2dxy</a:t>
            </a:r>
            <a:r>
              <a:rPr lang="en-US" baseline="-25000" smtClean="0">
                <a:latin typeface="Arial (Body)"/>
              </a:rPr>
              <a:t>i</a:t>
            </a:r>
            <a:r>
              <a:rPr lang="en-US" smtClean="0">
                <a:latin typeface="Arial (Body)"/>
              </a:rPr>
              <a:t>+2dy+(2m-1)dx</a:t>
            </a:r>
          </a:p>
          <a:p>
            <a:pPr marL="0" indent="0">
              <a:buNone/>
            </a:pPr>
            <a:r>
              <a:rPr lang="en-US" b="1" smtClean="0">
                <a:solidFill>
                  <a:srgbClr val="FF0000"/>
                </a:solidFill>
                <a:latin typeface="Arial (Body)"/>
              </a:rPr>
              <a:t>P</a:t>
            </a:r>
            <a:r>
              <a:rPr lang="en-US" b="1" baseline="-25000" smtClean="0">
                <a:solidFill>
                  <a:srgbClr val="FF0000"/>
                </a:solidFill>
                <a:latin typeface="Arial (Body)"/>
              </a:rPr>
              <a:t>i</a:t>
            </a:r>
            <a:r>
              <a:rPr lang="en-US" b="1" smtClean="0">
                <a:solidFill>
                  <a:srgbClr val="FF0000"/>
                </a:solidFill>
                <a:latin typeface="Arial (Body)"/>
              </a:rPr>
              <a:t>=2dyx</a:t>
            </a:r>
            <a:r>
              <a:rPr lang="en-US" b="1" baseline="-25000" smtClean="0">
                <a:solidFill>
                  <a:srgbClr val="FF0000"/>
                </a:solidFill>
                <a:latin typeface="Arial (Body)"/>
              </a:rPr>
              <a:t>i</a:t>
            </a:r>
            <a:r>
              <a:rPr lang="en-US" b="1" smtClean="0">
                <a:solidFill>
                  <a:srgbClr val="FF0000"/>
                </a:solidFill>
                <a:latin typeface="Arial (Body)"/>
              </a:rPr>
              <a:t>-2dxy</a:t>
            </a:r>
            <a:r>
              <a:rPr lang="en-US" b="1" baseline="-25000" smtClean="0">
                <a:solidFill>
                  <a:srgbClr val="FF0000"/>
                </a:solidFill>
                <a:latin typeface="Arial (Body)"/>
              </a:rPr>
              <a:t>i</a:t>
            </a:r>
            <a:r>
              <a:rPr lang="en-US" b="1" smtClean="0">
                <a:solidFill>
                  <a:srgbClr val="FF0000"/>
                </a:solidFill>
                <a:latin typeface="Arial (Body)"/>
              </a:rPr>
              <a:t>+c</a:t>
            </a:r>
            <a:r>
              <a:rPr lang="en-US" smtClean="0">
                <a:latin typeface="Arial (Body)"/>
              </a:rPr>
              <a:t> với c=</a:t>
            </a:r>
            <a:r>
              <a:rPr lang="en-US">
                <a:latin typeface="Arial (Body)"/>
              </a:rPr>
              <a:t>2dyx</a:t>
            </a:r>
            <a:r>
              <a:rPr lang="en-US" baseline="-25000">
                <a:latin typeface="Arial (Body)"/>
              </a:rPr>
              <a:t>i</a:t>
            </a:r>
            <a:r>
              <a:rPr lang="en-US">
                <a:latin typeface="Arial (Body)"/>
              </a:rPr>
              <a:t>-2dxy</a:t>
            </a:r>
            <a:r>
              <a:rPr lang="en-US" baseline="-25000">
                <a:latin typeface="Arial (Body)"/>
              </a:rPr>
              <a:t>i</a:t>
            </a:r>
            <a:r>
              <a:rPr lang="en-US">
                <a:latin typeface="Arial (Body)"/>
              </a:rPr>
              <a:t>+2dy</a:t>
            </a:r>
            <a:endParaRPr lang="en-US" smtClean="0">
              <a:latin typeface="Arial (Body)"/>
            </a:endParaRPr>
          </a:p>
          <a:p>
            <a:pPr marL="0" indent="0">
              <a:buNone/>
            </a:pPr>
            <a:endParaRPr lang="en-US" smtClean="0">
              <a:latin typeface="Arial (Body)"/>
            </a:endParaRPr>
          </a:p>
        </p:txBody>
      </p:sp>
      <p:grpSp>
        <p:nvGrpSpPr>
          <p:cNvPr id="4" name="Group 3"/>
          <p:cNvGrpSpPr/>
          <p:nvPr/>
        </p:nvGrpSpPr>
        <p:grpSpPr>
          <a:xfrm>
            <a:off x="7396480" y="2007946"/>
            <a:ext cx="4257679" cy="3671494"/>
            <a:chOff x="7396480" y="2007946"/>
            <a:chExt cx="4257679" cy="3671494"/>
          </a:xfrm>
        </p:grpSpPr>
        <p:sp>
          <p:nvSpPr>
            <p:cNvPr id="6" name="Graphic 101"/>
            <p:cNvSpPr/>
            <p:nvPr/>
          </p:nvSpPr>
          <p:spPr>
            <a:xfrm>
              <a:off x="108153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8" name="Graphic 102"/>
            <p:cNvSpPr/>
            <p:nvPr/>
          </p:nvSpPr>
          <p:spPr>
            <a:xfrm>
              <a:off x="7992344" y="2743834"/>
              <a:ext cx="3528815" cy="2202012"/>
            </a:xfrm>
            <a:custGeom>
              <a:avLst/>
              <a:gdLst/>
              <a:ahLst/>
              <a:cxnLst/>
              <a:rect l="l" t="t" r="r" b="b"/>
              <a:pathLst>
                <a:path w="2638425" h="1582420">
                  <a:moveTo>
                    <a:pt x="2638044" y="1581912"/>
                  </a:moveTo>
                  <a:lnTo>
                    <a:pt x="0" y="1581912"/>
                  </a:lnTo>
                </a:path>
                <a:path w="2638425" h="1582420">
                  <a:moveTo>
                    <a:pt x="2638044" y="0"/>
                  </a:moveTo>
                  <a:lnTo>
                    <a:pt x="0" y="0"/>
                  </a:lnTo>
                </a:path>
                <a:path w="2638425" h="1582420">
                  <a:moveTo>
                    <a:pt x="2638044" y="790955"/>
                  </a:moveTo>
                  <a:lnTo>
                    <a:pt x="0" y="790955"/>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9" name="Graphic 103"/>
            <p:cNvSpPr/>
            <p:nvPr/>
          </p:nvSpPr>
          <p:spPr>
            <a:xfrm>
              <a:off x="975547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10" name="Graphic 104"/>
            <p:cNvSpPr/>
            <p:nvPr/>
          </p:nvSpPr>
          <p:spPr>
            <a:xfrm>
              <a:off x="86975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1" name="Image 105"/>
            <p:cNvPicPr/>
            <p:nvPr/>
          </p:nvPicPr>
          <p:blipFill>
            <a:blip r:embed="rId2" cstate="print"/>
            <a:stretch>
              <a:fillRect/>
            </a:stretch>
          </p:blipFill>
          <p:spPr>
            <a:xfrm>
              <a:off x="8547782" y="4791389"/>
              <a:ext cx="299631" cy="309623"/>
            </a:xfrm>
            <a:prstGeom prst="rect">
              <a:avLst/>
            </a:prstGeom>
          </p:spPr>
        </p:pic>
        <p:sp>
          <p:nvSpPr>
            <p:cNvPr id="12" name="Graphic 106"/>
            <p:cNvSpPr/>
            <p:nvPr/>
          </p:nvSpPr>
          <p:spPr>
            <a:xfrm>
              <a:off x="7992344" y="3698157"/>
              <a:ext cx="3528815" cy="1247688"/>
            </a:xfrm>
            <a:custGeom>
              <a:avLst/>
              <a:gdLst/>
              <a:ahLst/>
              <a:cxnLst/>
              <a:rect l="l" t="t" r="r" b="b"/>
              <a:pathLst>
                <a:path w="2638425" h="896619">
                  <a:moveTo>
                    <a:pt x="0" y="896112"/>
                  </a:moveTo>
                  <a:lnTo>
                    <a:pt x="2638044" y="0"/>
                  </a:lnTo>
                </a:path>
              </a:pathLst>
            </a:custGeom>
            <a:ln w="22860">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3" name="Image 107"/>
            <p:cNvPicPr/>
            <p:nvPr/>
          </p:nvPicPr>
          <p:blipFill>
            <a:blip r:embed="rId3" cstate="print"/>
            <a:stretch>
              <a:fillRect/>
            </a:stretch>
          </p:blipFill>
          <p:spPr>
            <a:xfrm>
              <a:off x="9677005" y="4240002"/>
              <a:ext cx="158988" cy="165414"/>
            </a:xfrm>
            <a:prstGeom prst="rect">
              <a:avLst/>
            </a:prstGeom>
          </p:spPr>
        </p:pic>
        <p:sp>
          <p:nvSpPr>
            <p:cNvPr id="14" name="Graphic 108"/>
            <p:cNvSpPr/>
            <p:nvPr/>
          </p:nvSpPr>
          <p:spPr>
            <a:xfrm>
              <a:off x="9262210" y="3698157"/>
              <a:ext cx="302348" cy="439165"/>
            </a:xfrm>
            <a:custGeom>
              <a:avLst/>
              <a:gdLst/>
              <a:ahLst/>
              <a:cxnLst/>
              <a:rect l="l" t="t" r="r" b="b"/>
              <a:pathLst>
                <a:path w="226060" h="315595">
                  <a:moveTo>
                    <a:pt x="0" y="0"/>
                  </a:moveTo>
                  <a:lnTo>
                    <a:pt x="225551" y="315468"/>
                  </a:lnTo>
                </a:path>
              </a:pathLst>
            </a:custGeom>
            <a:ln w="4572">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5" name="Image 109"/>
            <p:cNvPicPr/>
            <p:nvPr/>
          </p:nvPicPr>
          <p:blipFill>
            <a:blip r:embed="rId4" cstate="print"/>
            <a:stretch>
              <a:fillRect/>
            </a:stretch>
          </p:blipFill>
          <p:spPr>
            <a:xfrm>
              <a:off x="9509863" y="4091552"/>
              <a:ext cx="108030" cy="123000"/>
            </a:xfrm>
            <a:prstGeom prst="rect">
              <a:avLst/>
            </a:prstGeom>
          </p:spPr>
        </p:pic>
        <p:pic>
          <p:nvPicPr>
            <p:cNvPr id="16" name="Image 110"/>
            <p:cNvPicPr/>
            <p:nvPr/>
          </p:nvPicPr>
          <p:blipFill>
            <a:blip r:embed="rId5" cstate="print"/>
            <a:stretch>
              <a:fillRect/>
            </a:stretch>
          </p:blipFill>
          <p:spPr>
            <a:xfrm>
              <a:off x="9605662" y="3688615"/>
              <a:ext cx="299631" cy="311744"/>
            </a:xfrm>
            <a:prstGeom prst="rect">
              <a:avLst/>
            </a:prstGeom>
          </p:spPr>
        </p:pic>
        <p:pic>
          <p:nvPicPr>
            <p:cNvPr id="17" name="Image 111"/>
            <p:cNvPicPr/>
            <p:nvPr/>
          </p:nvPicPr>
          <p:blipFill>
            <a:blip r:embed="rId6" cstate="print"/>
            <a:stretch>
              <a:fillRect/>
            </a:stretch>
          </p:blipFill>
          <p:spPr>
            <a:xfrm>
              <a:off x="9605662" y="4791389"/>
              <a:ext cx="299631" cy="309623"/>
            </a:xfrm>
            <a:prstGeom prst="rect">
              <a:avLst/>
            </a:prstGeom>
          </p:spPr>
        </p:pic>
        <p:sp>
          <p:nvSpPr>
            <p:cNvPr id="18" name="Graphic 112"/>
            <p:cNvSpPr/>
            <p:nvPr/>
          </p:nvSpPr>
          <p:spPr>
            <a:xfrm>
              <a:off x="7992344" y="4321649"/>
              <a:ext cx="3461721" cy="479813"/>
            </a:xfrm>
            <a:custGeom>
              <a:avLst/>
              <a:gdLst/>
              <a:ahLst/>
              <a:cxnLst/>
              <a:rect l="l" t="t" r="r" b="b"/>
              <a:pathLst>
                <a:path w="2588260" h="344805">
                  <a:moveTo>
                    <a:pt x="0" y="0"/>
                  </a:moveTo>
                  <a:lnTo>
                    <a:pt x="13716" y="0"/>
                  </a:lnTo>
                </a:path>
                <a:path w="2588260" h="344805">
                  <a:moveTo>
                    <a:pt x="80772" y="0"/>
                  </a:moveTo>
                  <a:lnTo>
                    <a:pt x="92963" y="0"/>
                  </a:lnTo>
                </a:path>
                <a:path w="2588260" h="344805">
                  <a:moveTo>
                    <a:pt x="160019" y="0"/>
                  </a:moveTo>
                  <a:lnTo>
                    <a:pt x="173736" y="0"/>
                  </a:lnTo>
                </a:path>
                <a:path w="2588260" h="344805">
                  <a:moveTo>
                    <a:pt x="240792" y="0"/>
                  </a:moveTo>
                  <a:lnTo>
                    <a:pt x="254508" y="0"/>
                  </a:lnTo>
                </a:path>
                <a:path w="2588260" h="344805">
                  <a:moveTo>
                    <a:pt x="321563" y="0"/>
                  </a:moveTo>
                  <a:lnTo>
                    <a:pt x="335280" y="0"/>
                  </a:lnTo>
                </a:path>
                <a:path w="2588260" h="344805">
                  <a:moveTo>
                    <a:pt x="402336" y="0"/>
                  </a:moveTo>
                  <a:lnTo>
                    <a:pt x="414528" y="0"/>
                  </a:lnTo>
                </a:path>
                <a:path w="2588260" h="344805">
                  <a:moveTo>
                    <a:pt x="481584" y="0"/>
                  </a:moveTo>
                  <a:lnTo>
                    <a:pt x="495300" y="0"/>
                  </a:lnTo>
                </a:path>
                <a:path w="2588260" h="344805">
                  <a:moveTo>
                    <a:pt x="562356" y="0"/>
                  </a:moveTo>
                  <a:lnTo>
                    <a:pt x="576072" y="0"/>
                  </a:lnTo>
                </a:path>
                <a:path w="2588260" h="344805">
                  <a:moveTo>
                    <a:pt x="643127" y="0"/>
                  </a:moveTo>
                  <a:lnTo>
                    <a:pt x="656844" y="0"/>
                  </a:lnTo>
                </a:path>
                <a:path w="2588260" h="344805">
                  <a:moveTo>
                    <a:pt x="723900" y="0"/>
                  </a:moveTo>
                  <a:lnTo>
                    <a:pt x="737615" y="0"/>
                  </a:lnTo>
                </a:path>
                <a:path w="2588260" h="344805">
                  <a:moveTo>
                    <a:pt x="804672" y="0"/>
                  </a:moveTo>
                  <a:lnTo>
                    <a:pt x="816863" y="0"/>
                  </a:lnTo>
                </a:path>
                <a:path w="2588260" h="344805">
                  <a:moveTo>
                    <a:pt x="883920" y="0"/>
                  </a:moveTo>
                  <a:lnTo>
                    <a:pt x="897636" y="0"/>
                  </a:lnTo>
                </a:path>
                <a:path w="2588260" h="344805">
                  <a:moveTo>
                    <a:pt x="964691" y="0"/>
                  </a:moveTo>
                  <a:lnTo>
                    <a:pt x="978408" y="0"/>
                  </a:lnTo>
                </a:path>
                <a:path w="2588260" h="344805">
                  <a:moveTo>
                    <a:pt x="1045463" y="0"/>
                  </a:moveTo>
                  <a:lnTo>
                    <a:pt x="1059180" y="0"/>
                  </a:lnTo>
                </a:path>
                <a:path w="2588260" h="344805">
                  <a:moveTo>
                    <a:pt x="1126236" y="0"/>
                  </a:moveTo>
                  <a:lnTo>
                    <a:pt x="1138427" y="0"/>
                  </a:lnTo>
                </a:path>
                <a:path w="2588260" h="344805">
                  <a:moveTo>
                    <a:pt x="1205484" y="0"/>
                  </a:moveTo>
                  <a:lnTo>
                    <a:pt x="1219200" y="0"/>
                  </a:lnTo>
                </a:path>
                <a:path w="2588260" h="344805">
                  <a:moveTo>
                    <a:pt x="1286256" y="0"/>
                  </a:moveTo>
                  <a:lnTo>
                    <a:pt x="1299972" y="0"/>
                  </a:lnTo>
                </a:path>
                <a:path w="2588260" h="344805">
                  <a:moveTo>
                    <a:pt x="1367027" y="0"/>
                  </a:moveTo>
                  <a:lnTo>
                    <a:pt x="1380744" y="0"/>
                  </a:lnTo>
                </a:path>
                <a:path w="2588260" h="344805">
                  <a:moveTo>
                    <a:pt x="1447800" y="0"/>
                  </a:moveTo>
                  <a:lnTo>
                    <a:pt x="1461515" y="0"/>
                  </a:lnTo>
                </a:path>
                <a:path w="2588260" h="344805">
                  <a:moveTo>
                    <a:pt x="1528572" y="0"/>
                  </a:moveTo>
                  <a:lnTo>
                    <a:pt x="1540764" y="0"/>
                  </a:lnTo>
                </a:path>
                <a:path w="2588260" h="344805">
                  <a:moveTo>
                    <a:pt x="1607820" y="0"/>
                  </a:moveTo>
                  <a:lnTo>
                    <a:pt x="1621536" y="0"/>
                  </a:lnTo>
                </a:path>
                <a:path w="2588260" h="344805">
                  <a:moveTo>
                    <a:pt x="1688591" y="0"/>
                  </a:moveTo>
                  <a:lnTo>
                    <a:pt x="1702308" y="0"/>
                  </a:lnTo>
                </a:path>
                <a:path w="2588260" h="344805">
                  <a:moveTo>
                    <a:pt x="1769364" y="0"/>
                  </a:moveTo>
                  <a:lnTo>
                    <a:pt x="1783080" y="0"/>
                  </a:lnTo>
                </a:path>
                <a:path w="2588260" h="344805">
                  <a:moveTo>
                    <a:pt x="1850136" y="0"/>
                  </a:moveTo>
                  <a:lnTo>
                    <a:pt x="1863852" y="0"/>
                  </a:lnTo>
                </a:path>
                <a:path w="2588260" h="344805">
                  <a:moveTo>
                    <a:pt x="1929384" y="0"/>
                  </a:moveTo>
                  <a:lnTo>
                    <a:pt x="1943100" y="0"/>
                  </a:lnTo>
                </a:path>
                <a:path w="2588260" h="344805">
                  <a:moveTo>
                    <a:pt x="2010156" y="0"/>
                  </a:moveTo>
                  <a:lnTo>
                    <a:pt x="2023872" y="0"/>
                  </a:lnTo>
                </a:path>
                <a:path w="2588260" h="344805">
                  <a:moveTo>
                    <a:pt x="2090927" y="0"/>
                  </a:moveTo>
                  <a:lnTo>
                    <a:pt x="2104644" y="0"/>
                  </a:lnTo>
                </a:path>
                <a:path w="2588260" h="344805">
                  <a:moveTo>
                    <a:pt x="2171700" y="0"/>
                  </a:moveTo>
                  <a:lnTo>
                    <a:pt x="2185416" y="0"/>
                  </a:lnTo>
                </a:path>
                <a:path w="2588260" h="344805">
                  <a:moveTo>
                    <a:pt x="2252472" y="0"/>
                  </a:moveTo>
                  <a:lnTo>
                    <a:pt x="2264664" y="0"/>
                  </a:lnTo>
                </a:path>
                <a:path w="2588260" h="344805">
                  <a:moveTo>
                    <a:pt x="2331720" y="0"/>
                  </a:moveTo>
                  <a:lnTo>
                    <a:pt x="2345436" y="0"/>
                  </a:lnTo>
                </a:path>
                <a:path w="2588260" h="344805">
                  <a:moveTo>
                    <a:pt x="2412491" y="0"/>
                  </a:moveTo>
                  <a:lnTo>
                    <a:pt x="2426208" y="0"/>
                  </a:lnTo>
                </a:path>
                <a:path w="2588260" h="344805">
                  <a:moveTo>
                    <a:pt x="2493264" y="0"/>
                  </a:moveTo>
                  <a:lnTo>
                    <a:pt x="2506980" y="0"/>
                  </a:lnTo>
                </a:path>
                <a:path w="2588260" h="344805">
                  <a:moveTo>
                    <a:pt x="2574036" y="0"/>
                  </a:moveTo>
                  <a:lnTo>
                    <a:pt x="2587752" y="0"/>
                  </a:lnTo>
                </a:path>
                <a:path w="2588260" h="344805">
                  <a:moveTo>
                    <a:pt x="2374391" y="106680"/>
                  </a:moveTo>
                  <a:lnTo>
                    <a:pt x="2374391" y="34442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19" name="Graphic 113"/>
            <p:cNvSpPr/>
            <p:nvPr/>
          </p:nvSpPr>
          <p:spPr>
            <a:xfrm>
              <a:off x="11088529" y="4321649"/>
              <a:ext cx="161366" cy="167890"/>
            </a:xfrm>
            <a:custGeom>
              <a:avLst/>
              <a:gdLst/>
              <a:ahLst/>
              <a:cxnLst/>
              <a:rect l="l" t="t" r="r" b="b"/>
              <a:pathLst>
                <a:path w="120650" h="120650">
                  <a:moveTo>
                    <a:pt x="59435" y="0"/>
                  </a:moveTo>
                  <a:lnTo>
                    <a:pt x="0" y="120396"/>
                  </a:lnTo>
                  <a:lnTo>
                    <a:pt x="120395" y="120396"/>
                  </a:lnTo>
                  <a:lnTo>
                    <a:pt x="5943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0" name="Graphic 114"/>
            <p:cNvSpPr/>
            <p:nvPr/>
          </p:nvSpPr>
          <p:spPr>
            <a:xfrm>
              <a:off x="11088529" y="4321649"/>
              <a:ext cx="161366" cy="167890"/>
            </a:xfrm>
            <a:custGeom>
              <a:avLst/>
              <a:gdLst/>
              <a:ahLst/>
              <a:cxnLst/>
              <a:rect l="l" t="t" r="r" b="b"/>
              <a:pathLst>
                <a:path w="120650" h="120650">
                  <a:moveTo>
                    <a:pt x="0" y="120396"/>
                  </a:moveTo>
                  <a:lnTo>
                    <a:pt x="59435" y="0"/>
                  </a:lnTo>
                  <a:lnTo>
                    <a:pt x="120395" y="120396"/>
                  </a:lnTo>
                  <a:lnTo>
                    <a:pt x="0" y="120396"/>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1" name="Graphic 115"/>
            <p:cNvSpPr/>
            <p:nvPr/>
          </p:nvSpPr>
          <p:spPr>
            <a:xfrm>
              <a:off x="11088529" y="4777604"/>
              <a:ext cx="161366" cy="167890"/>
            </a:xfrm>
            <a:custGeom>
              <a:avLst/>
              <a:gdLst/>
              <a:ahLst/>
              <a:cxnLst/>
              <a:rect l="l" t="t" r="r" b="b"/>
              <a:pathLst>
                <a:path w="120650" h="120650">
                  <a:moveTo>
                    <a:pt x="120395" y="0"/>
                  </a:moveTo>
                  <a:lnTo>
                    <a:pt x="0" y="0"/>
                  </a:lnTo>
                  <a:lnTo>
                    <a:pt x="59435" y="120396"/>
                  </a:lnTo>
                  <a:lnTo>
                    <a:pt x="12039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2" name="Graphic 116"/>
            <p:cNvSpPr/>
            <p:nvPr/>
          </p:nvSpPr>
          <p:spPr>
            <a:xfrm>
              <a:off x="11088529" y="3990816"/>
              <a:ext cx="161366" cy="954323"/>
            </a:xfrm>
            <a:custGeom>
              <a:avLst/>
              <a:gdLst/>
              <a:ahLst/>
              <a:cxnLst/>
              <a:rect l="l" t="t" r="r" b="b"/>
              <a:pathLst>
                <a:path w="120650" h="685800">
                  <a:moveTo>
                    <a:pt x="120395" y="565403"/>
                  </a:moveTo>
                  <a:lnTo>
                    <a:pt x="59435" y="685800"/>
                  </a:lnTo>
                  <a:lnTo>
                    <a:pt x="0" y="565403"/>
                  </a:lnTo>
                  <a:lnTo>
                    <a:pt x="120395" y="565403"/>
                  </a:lnTo>
                  <a:close/>
                </a:path>
                <a:path w="120650" h="685800">
                  <a:moveTo>
                    <a:pt x="59435" y="0"/>
                  </a:moveTo>
                  <a:lnTo>
                    <a:pt x="59435" y="132587"/>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3" name="Graphic 117"/>
            <p:cNvSpPr/>
            <p:nvPr/>
          </p:nvSpPr>
          <p:spPr>
            <a:xfrm>
              <a:off x="11088529" y="3844487"/>
              <a:ext cx="161366" cy="169657"/>
            </a:xfrm>
            <a:custGeom>
              <a:avLst/>
              <a:gdLst/>
              <a:ahLst/>
              <a:cxnLst/>
              <a:rect l="l" t="t" r="r" b="b"/>
              <a:pathLst>
                <a:path w="120650" h="121920">
                  <a:moveTo>
                    <a:pt x="59435" y="0"/>
                  </a:moveTo>
                  <a:lnTo>
                    <a:pt x="0" y="121920"/>
                  </a:lnTo>
                  <a:lnTo>
                    <a:pt x="120395" y="121920"/>
                  </a:lnTo>
                  <a:lnTo>
                    <a:pt x="5943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4" name="Graphic 118"/>
            <p:cNvSpPr/>
            <p:nvPr/>
          </p:nvSpPr>
          <p:spPr>
            <a:xfrm>
              <a:off x="11088529" y="3844487"/>
              <a:ext cx="161366" cy="169657"/>
            </a:xfrm>
            <a:custGeom>
              <a:avLst/>
              <a:gdLst/>
              <a:ahLst/>
              <a:cxnLst/>
              <a:rect l="l" t="t" r="r" b="b"/>
              <a:pathLst>
                <a:path w="120650" h="121920">
                  <a:moveTo>
                    <a:pt x="0" y="121920"/>
                  </a:moveTo>
                  <a:lnTo>
                    <a:pt x="59435" y="0"/>
                  </a:lnTo>
                  <a:lnTo>
                    <a:pt x="120395" y="121920"/>
                  </a:lnTo>
                  <a:lnTo>
                    <a:pt x="0" y="121920"/>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5" name="Graphic 119"/>
            <p:cNvSpPr/>
            <p:nvPr/>
          </p:nvSpPr>
          <p:spPr>
            <a:xfrm>
              <a:off x="11088529" y="4154113"/>
              <a:ext cx="161366" cy="167890"/>
            </a:xfrm>
            <a:custGeom>
              <a:avLst/>
              <a:gdLst/>
              <a:ahLst/>
              <a:cxnLst/>
              <a:rect l="l" t="t" r="r" b="b"/>
              <a:pathLst>
                <a:path w="120650" h="120650">
                  <a:moveTo>
                    <a:pt x="120395" y="0"/>
                  </a:moveTo>
                  <a:lnTo>
                    <a:pt x="0" y="0"/>
                  </a:lnTo>
                  <a:lnTo>
                    <a:pt x="59435" y="120395"/>
                  </a:lnTo>
                  <a:lnTo>
                    <a:pt x="12039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6" name="Graphic 120"/>
            <p:cNvSpPr/>
            <p:nvPr/>
          </p:nvSpPr>
          <p:spPr>
            <a:xfrm>
              <a:off x="11088529" y="4154113"/>
              <a:ext cx="161366" cy="167890"/>
            </a:xfrm>
            <a:custGeom>
              <a:avLst/>
              <a:gdLst/>
              <a:ahLst/>
              <a:cxnLst/>
              <a:rect l="l" t="t" r="r" b="b"/>
              <a:pathLst>
                <a:path w="120650" h="120650">
                  <a:moveTo>
                    <a:pt x="120395" y="0"/>
                  </a:moveTo>
                  <a:lnTo>
                    <a:pt x="59435" y="120395"/>
                  </a:lnTo>
                  <a:lnTo>
                    <a:pt x="0" y="0"/>
                  </a:lnTo>
                  <a:lnTo>
                    <a:pt x="120395" y="0"/>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7" name="Textbox 121"/>
            <p:cNvSpPr txBox="1"/>
            <p:nvPr/>
          </p:nvSpPr>
          <p:spPr>
            <a:xfrm>
              <a:off x="8828050" y="3388167"/>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(x</a:t>
              </a:r>
              <a:r>
                <a:rPr kumimoji="0" lang="vi-VN" sz="1050"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r>
                <a:rPr kumimoji="0" lang="vi-VN" b="0" i="0" u="none" strike="noStrike" kern="0" cap="none" spc="1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 </a:t>
              </a: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28" name="Textbox 122"/>
            <p:cNvSpPr txBox="1"/>
            <p:nvPr/>
          </p:nvSpPr>
          <p:spPr>
            <a:xfrm>
              <a:off x="9711317" y="3792721"/>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P</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29" name="Textbox 123"/>
            <p:cNvSpPr txBox="1"/>
            <p:nvPr/>
          </p:nvSpPr>
          <p:spPr>
            <a:xfrm>
              <a:off x="11404467" y="3909865"/>
              <a:ext cx="249692" cy="945487"/>
            </a:xfrm>
            <a:prstGeom prst="rect">
              <a:avLst/>
            </a:prstGeom>
          </p:spPr>
          <p:txBody>
            <a:bodyPr wrap="square" lIns="0" tIns="0" rIns="0" bIns="0" rtlCol="0">
              <a:noAutofit/>
            </a:bodyPr>
            <a:lstStyle/>
            <a:p>
              <a:pPr marL="0" marR="0" lvl="0" indent="0" defTabSz="914400" eaLnBrk="1" fontAlgn="auto" latinLnBrk="0" hangingPunct="1">
                <a:lnSpc>
                  <a:spcPct val="96000"/>
                </a:lnSpc>
                <a:spcBef>
                  <a:spcPts val="0"/>
                </a:spcBef>
                <a:spcAft>
                  <a:spcPts val="0"/>
                </a:spcAft>
                <a:buClrTx/>
                <a:buSzTx/>
                <a:buFontTx/>
                <a:buNone/>
                <a:tabLst/>
                <a:defRPr/>
              </a:pP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d</a:t>
              </a:r>
              <a:r>
                <a:rPr kumimoji="0" lang="vi-VN" sz="1050"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2</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a:p>
              <a:pPr marL="0" marR="0" lvl="0" indent="0" defTabSz="914400" eaLnBrk="1" fontAlgn="auto" latinLnBrk="0" hangingPunct="1">
                <a:lnSpc>
                  <a:spcPct val="100000"/>
                </a:lnSpc>
                <a:spcBef>
                  <a:spcPts val="180"/>
                </a:spcBef>
                <a:spcAft>
                  <a:spcPts val="0"/>
                </a:spcAft>
                <a:buClrTx/>
                <a:buSzTx/>
                <a:buFontTx/>
                <a:buNone/>
                <a:tabLst/>
                <a:defRPr/>
              </a:pPr>
              <a:r>
                <a:rPr kumimoji="0" lang="vi-VN" sz="1050"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 </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d</a:t>
              </a:r>
              <a:r>
                <a:rPr kumimoji="0" lang="vi-VN" sz="1050"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0" name="Textbox 124"/>
            <p:cNvSpPr txBox="1"/>
            <p:nvPr/>
          </p:nvSpPr>
          <p:spPr>
            <a:xfrm>
              <a:off x="9711317" y="4883109"/>
              <a:ext cx="151687" cy="170328"/>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S</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1" name="Textbox 121"/>
            <p:cNvSpPr txBox="1"/>
            <p:nvPr/>
          </p:nvSpPr>
          <p:spPr>
            <a:xfrm>
              <a:off x="7396480" y="3599330"/>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vi-VN" sz="1050"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2" name="Textbox 121"/>
            <p:cNvSpPr txBox="1"/>
            <p:nvPr/>
          </p:nvSpPr>
          <p:spPr>
            <a:xfrm>
              <a:off x="7469859" y="4112576"/>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3" name="Textbox 121"/>
            <p:cNvSpPr txBox="1"/>
            <p:nvPr/>
          </p:nvSpPr>
          <p:spPr>
            <a:xfrm>
              <a:off x="7459177" y="4747559"/>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4" name="Textbox 121"/>
            <p:cNvSpPr txBox="1"/>
            <p:nvPr/>
          </p:nvSpPr>
          <p:spPr>
            <a:xfrm>
              <a:off x="8734098" y="5059737"/>
              <a:ext cx="358470"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5" name="Textbox 121"/>
            <p:cNvSpPr txBox="1"/>
            <p:nvPr/>
          </p:nvSpPr>
          <p:spPr>
            <a:xfrm>
              <a:off x="9816559" y="5062222"/>
              <a:ext cx="467012"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smtClea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en-US" b="0" i="0" u="none" strike="noStrike" kern="0" cap="none" spc="0" normalizeH="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6" name="Textbox 122"/>
            <p:cNvSpPr txBox="1"/>
            <p:nvPr/>
          </p:nvSpPr>
          <p:spPr>
            <a:xfrm>
              <a:off x="9911749" y="4401492"/>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lang="en-US" sz="1400" b="1" kern="0" spc="-5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R</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grpSp>
    </p:spTree>
    <p:extLst>
      <p:ext uri="{BB962C8B-B14F-4D97-AF65-F5344CB8AC3E}">
        <p14:creationId xmlns:p14="http://schemas.microsoft.com/office/powerpoint/2010/main" val="2888211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normAutofit/>
          </a:bodyPr>
          <a:lstStyle/>
          <a:p>
            <a:r>
              <a:rPr lang="en-US" b="1" smtClean="0"/>
              <a:t>Giải thuật Bresenham</a:t>
            </a:r>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24</a:t>
            </a:fld>
            <a:endParaRPr lang="en-US"/>
          </a:p>
        </p:txBody>
      </p:sp>
      <p:sp>
        <p:nvSpPr>
          <p:cNvPr id="3" name="Content Placeholder 2"/>
          <p:cNvSpPr>
            <a:spLocks noGrp="1"/>
          </p:cNvSpPr>
          <p:nvPr>
            <p:ph idx="1"/>
          </p:nvPr>
        </p:nvSpPr>
        <p:spPr>
          <a:xfrm>
            <a:off x="1321432" y="2723842"/>
            <a:ext cx="6592096" cy="2955598"/>
          </a:xfrm>
        </p:spPr>
        <p:txBody>
          <a:bodyPr>
            <a:noAutofit/>
          </a:bodyPr>
          <a:lstStyle/>
          <a:p>
            <a:pPr marL="0" indent="0">
              <a:buNone/>
            </a:pPr>
            <a:r>
              <a:rPr lang="en-US" smtClean="0">
                <a:latin typeface="Arial (Body)"/>
              </a:rPr>
              <a:t>Sau khi chọn được điểm tiếp theo, phải tính được tọa độ của nó:</a:t>
            </a:r>
          </a:p>
          <a:p>
            <a:pPr marL="0" indent="0">
              <a:buNone/>
            </a:pPr>
            <a:r>
              <a:rPr lang="en-US" smtClean="0">
                <a:latin typeface="Arial (Body)"/>
              </a:rPr>
              <a:t>tính P</a:t>
            </a:r>
            <a:r>
              <a:rPr lang="en-US" baseline="-25000" smtClean="0">
                <a:latin typeface="Arial (Body)"/>
              </a:rPr>
              <a:t>i+1:</a:t>
            </a:r>
          </a:p>
          <a:p>
            <a:pPr marL="0" indent="0">
              <a:buNone/>
            </a:pPr>
            <a:r>
              <a:rPr lang="en-US" smtClean="0">
                <a:latin typeface="Arial (Body)"/>
              </a:rPr>
              <a:t>P</a:t>
            </a:r>
            <a:r>
              <a:rPr lang="en-US" baseline="-25000" smtClean="0">
                <a:latin typeface="Arial (Body)"/>
              </a:rPr>
              <a:t>i+1</a:t>
            </a:r>
            <a:r>
              <a:rPr lang="en-US" smtClean="0">
                <a:latin typeface="Arial (Body)"/>
              </a:rPr>
              <a:t>=2dyx</a:t>
            </a:r>
            <a:r>
              <a:rPr lang="en-US" baseline="-25000" smtClean="0">
                <a:latin typeface="Arial (Body)"/>
              </a:rPr>
              <a:t>i+1</a:t>
            </a:r>
            <a:r>
              <a:rPr lang="en-US" smtClean="0">
                <a:latin typeface="Arial (Body)"/>
              </a:rPr>
              <a:t>-2dxy</a:t>
            </a:r>
            <a:r>
              <a:rPr lang="en-US" baseline="-25000" smtClean="0">
                <a:latin typeface="Arial (Body)"/>
              </a:rPr>
              <a:t>i+1</a:t>
            </a:r>
            <a:r>
              <a:rPr lang="en-US" smtClean="0">
                <a:latin typeface="Arial (Body)"/>
              </a:rPr>
              <a:t>+c</a:t>
            </a:r>
          </a:p>
          <a:p>
            <a:pPr marL="0" indent="0">
              <a:buNone/>
            </a:pPr>
            <a:r>
              <a:rPr lang="en-US" smtClean="0">
                <a:latin typeface="Arial (Body)"/>
              </a:rPr>
              <a:t>P</a:t>
            </a:r>
            <a:r>
              <a:rPr lang="en-US" baseline="-25000" smtClean="0">
                <a:latin typeface="Arial (Body)"/>
              </a:rPr>
              <a:t>i+1</a:t>
            </a:r>
            <a:r>
              <a:rPr lang="en-US" smtClean="0">
                <a:latin typeface="Arial (Body)"/>
              </a:rPr>
              <a:t>=2dy(x</a:t>
            </a:r>
            <a:r>
              <a:rPr lang="en-US" baseline="-25000" smtClean="0">
                <a:latin typeface="Arial (Body)"/>
              </a:rPr>
              <a:t>i</a:t>
            </a:r>
            <a:r>
              <a:rPr lang="en-US" smtClean="0">
                <a:latin typeface="Arial (Body)"/>
              </a:rPr>
              <a:t>+1)-2dxy</a:t>
            </a:r>
            <a:r>
              <a:rPr lang="en-US" baseline="-25000" smtClean="0">
                <a:latin typeface="Arial (Body)"/>
              </a:rPr>
              <a:t>i+1</a:t>
            </a:r>
            <a:r>
              <a:rPr lang="en-US" smtClean="0">
                <a:latin typeface="Arial (Body)"/>
              </a:rPr>
              <a:t>+c</a:t>
            </a:r>
          </a:p>
          <a:p>
            <a:pPr marL="0" indent="0">
              <a:buNone/>
            </a:pPr>
            <a:r>
              <a:rPr lang="en-US" smtClean="0">
                <a:solidFill>
                  <a:schemeClr val="accent2">
                    <a:lumMod val="50000"/>
                  </a:schemeClr>
                </a:solidFill>
                <a:latin typeface="Arial (Body)"/>
              </a:rPr>
              <a:t>Xét mối liên hệ giữa P</a:t>
            </a:r>
            <a:r>
              <a:rPr lang="en-US" baseline="-25000" smtClean="0">
                <a:solidFill>
                  <a:schemeClr val="accent2">
                    <a:lumMod val="50000"/>
                  </a:schemeClr>
                </a:solidFill>
                <a:latin typeface="Arial (Body)"/>
              </a:rPr>
              <a:t>i+1</a:t>
            </a:r>
            <a:r>
              <a:rPr lang="en-US" smtClean="0">
                <a:solidFill>
                  <a:schemeClr val="accent2">
                    <a:lumMod val="50000"/>
                  </a:schemeClr>
                </a:solidFill>
                <a:latin typeface="Arial (Body)"/>
              </a:rPr>
              <a:t> và P</a:t>
            </a:r>
            <a:r>
              <a:rPr lang="en-US" baseline="-25000" smtClean="0">
                <a:solidFill>
                  <a:schemeClr val="accent2">
                    <a:lumMod val="50000"/>
                  </a:schemeClr>
                </a:solidFill>
                <a:latin typeface="Arial (Body)"/>
              </a:rPr>
              <a:t>i</a:t>
            </a:r>
          </a:p>
          <a:p>
            <a:pPr marL="0" indent="0">
              <a:buNone/>
            </a:pPr>
            <a:r>
              <a:rPr lang="en-US" smtClean="0">
                <a:latin typeface="Arial (Body)"/>
              </a:rPr>
              <a:t>P</a:t>
            </a:r>
            <a:r>
              <a:rPr lang="en-US" baseline="-25000" smtClean="0">
                <a:latin typeface="Arial (Body)"/>
              </a:rPr>
              <a:t>i+1</a:t>
            </a:r>
            <a:r>
              <a:rPr lang="en-US" smtClean="0">
                <a:latin typeface="Arial (Body)"/>
              </a:rPr>
              <a:t>-P</a:t>
            </a:r>
            <a:r>
              <a:rPr lang="en-US" baseline="-25000" smtClean="0">
                <a:latin typeface="Arial (Body)"/>
              </a:rPr>
              <a:t>i</a:t>
            </a:r>
            <a:r>
              <a:rPr lang="en-US" smtClean="0">
                <a:latin typeface="Arial (Body)"/>
              </a:rPr>
              <a:t>=(2dy(x</a:t>
            </a:r>
            <a:r>
              <a:rPr lang="en-US" baseline="-25000" smtClean="0">
                <a:latin typeface="Arial (Body)"/>
              </a:rPr>
              <a:t>i</a:t>
            </a:r>
            <a:r>
              <a:rPr lang="en-US" smtClean="0">
                <a:latin typeface="Arial (Body)"/>
              </a:rPr>
              <a:t>+1)-2dxy</a:t>
            </a:r>
            <a:r>
              <a:rPr lang="en-US" baseline="-25000" smtClean="0">
                <a:latin typeface="Arial (Body)"/>
              </a:rPr>
              <a:t>i+1</a:t>
            </a:r>
            <a:r>
              <a:rPr lang="en-US" smtClean="0">
                <a:latin typeface="Arial (Body)"/>
              </a:rPr>
              <a:t>+c-(2dyx</a:t>
            </a:r>
            <a:r>
              <a:rPr lang="en-US" baseline="-25000" smtClean="0">
                <a:latin typeface="Arial (Body)"/>
              </a:rPr>
              <a:t>i</a:t>
            </a:r>
            <a:r>
              <a:rPr lang="en-US" smtClean="0">
                <a:latin typeface="Arial (Body)"/>
              </a:rPr>
              <a:t>-2dxy</a:t>
            </a:r>
            <a:r>
              <a:rPr lang="en-US" baseline="-25000" smtClean="0">
                <a:latin typeface="Arial (Body)"/>
              </a:rPr>
              <a:t>i+1</a:t>
            </a:r>
            <a:r>
              <a:rPr lang="en-US" smtClean="0">
                <a:latin typeface="Arial (Body)"/>
              </a:rPr>
              <a:t>+c)</a:t>
            </a:r>
          </a:p>
          <a:p>
            <a:pPr marL="0" indent="0">
              <a:buNone/>
            </a:pPr>
            <a:r>
              <a:rPr lang="en-US" smtClean="0">
                <a:latin typeface="Arial (Body)"/>
              </a:rPr>
              <a:t>P</a:t>
            </a:r>
            <a:r>
              <a:rPr lang="en-US" baseline="-25000" smtClean="0">
                <a:latin typeface="Arial (Body)"/>
              </a:rPr>
              <a:t>i+1</a:t>
            </a:r>
            <a:r>
              <a:rPr lang="en-US" smtClean="0">
                <a:latin typeface="Arial (Body)"/>
              </a:rPr>
              <a:t>-P</a:t>
            </a:r>
            <a:r>
              <a:rPr lang="en-US" baseline="-25000" smtClean="0">
                <a:latin typeface="Arial (Body)"/>
              </a:rPr>
              <a:t>i</a:t>
            </a:r>
            <a:r>
              <a:rPr lang="en-US" smtClean="0">
                <a:latin typeface="Arial (Body)"/>
              </a:rPr>
              <a:t>=2dyx</a:t>
            </a:r>
            <a:r>
              <a:rPr lang="en-US" baseline="-25000" smtClean="0">
                <a:latin typeface="Arial (Body)"/>
              </a:rPr>
              <a:t>i</a:t>
            </a:r>
            <a:r>
              <a:rPr lang="en-US" smtClean="0">
                <a:latin typeface="Arial (Body)"/>
              </a:rPr>
              <a:t>+2dy-2dxy</a:t>
            </a:r>
            <a:r>
              <a:rPr lang="en-US" baseline="-25000" smtClean="0">
                <a:latin typeface="Arial (Body)"/>
              </a:rPr>
              <a:t>i+1</a:t>
            </a:r>
            <a:r>
              <a:rPr lang="en-US" smtClean="0">
                <a:latin typeface="Arial (Body)"/>
              </a:rPr>
              <a:t>+c-2dyx</a:t>
            </a:r>
            <a:r>
              <a:rPr lang="en-US" baseline="-25000" smtClean="0">
                <a:latin typeface="Arial (Body)"/>
              </a:rPr>
              <a:t>i</a:t>
            </a:r>
            <a:r>
              <a:rPr lang="en-US" smtClean="0">
                <a:latin typeface="Arial (Body)"/>
              </a:rPr>
              <a:t>+2dxy</a:t>
            </a:r>
            <a:r>
              <a:rPr lang="en-US" baseline="-25000" smtClean="0">
                <a:latin typeface="Arial (Body)"/>
              </a:rPr>
              <a:t>i</a:t>
            </a:r>
            <a:r>
              <a:rPr lang="en-US" smtClean="0">
                <a:latin typeface="Arial (Body)"/>
              </a:rPr>
              <a:t>+c</a:t>
            </a:r>
          </a:p>
          <a:p>
            <a:pPr marL="0" indent="0">
              <a:buNone/>
            </a:pPr>
            <a:r>
              <a:rPr lang="en-US" smtClean="0">
                <a:latin typeface="Arial (Body)"/>
              </a:rPr>
              <a:t>P</a:t>
            </a:r>
            <a:r>
              <a:rPr lang="en-US" baseline="-25000" smtClean="0">
                <a:latin typeface="Arial (Body)"/>
              </a:rPr>
              <a:t>i+1</a:t>
            </a:r>
            <a:r>
              <a:rPr lang="en-US" smtClean="0">
                <a:latin typeface="Arial (Body)"/>
              </a:rPr>
              <a:t>-P</a:t>
            </a:r>
            <a:r>
              <a:rPr lang="en-US" baseline="-25000" smtClean="0">
                <a:latin typeface="Arial (Body)"/>
              </a:rPr>
              <a:t>i</a:t>
            </a:r>
            <a:r>
              <a:rPr lang="en-US" smtClean="0">
                <a:latin typeface="Arial (Body)"/>
              </a:rPr>
              <a:t>=2dy-2dx(y</a:t>
            </a:r>
            <a:r>
              <a:rPr lang="en-US" baseline="-25000" smtClean="0">
                <a:latin typeface="Arial (Body)"/>
              </a:rPr>
              <a:t>i+1</a:t>
            </a:r>
            <a:r>
              <a:rPr lang="en-US" smtClean="0">
                <a:latin typeface="Arial (Body)"/>
              </a:rPr>
              <a:t>-y</a:t>
            </a:r>
            <a:r>
              <a:rPr lang="en-US" baseline="-25000" smtClean="0">
                <a:latin typeface="Arial (Body)"/>
              </a:rPr>
              <a:t>i</a:t>
            </a:r>
            <a:r>
              <a:rPr lang="en-US" smtClean="0">
                <a:latin typeface="Arial (Body)"/>
              </a:rPr>
              <a:t>)</a:t>
            </a:r>
            <a:endParaRPr lang="en-US">
              <a:solidFill>
                <a:schemeClr val="accent2">
                  <a:lumMod val="50000"/>
                </a:schemeClr>
              </a:solidFill>
              <a:latin typeface="Arial (Body)"/>
            </a:endParaRPr>
          </a:p>
          <a:p>
            <a:pPr marL="0" indent="0">
              <a:buNone/>
            </a:pPr>
            <a:endParaRPr lang="en-US" smtClean="0">
              <a:latin typeface="Arial (Body)"/>
            </a:endParaRPr>
          </a:p>
          <a:p>
            <a:pPr marL="0" indent="0">
              <a:buNone/>
            </a:pPr>
            <a:endParaRPr lang="en-US" smtClean="0">
              <a:latin typeface="Arial (Body)"/>
            </a:endParaRPr>
          </a:p>
        </p:txBody>
      </p:sp>
      <p:grpSp>
        <p:nvGrpSpPr>
          <p:cNvPr id="4" name="Group 3"/>
          <p:cNvGrpSpPr/>
          <p:nvPr/>
        </p:nvGrpSpPr>
        <p:grpSpPr>
          <a:xfrm>
            <a:off x="7721600" y="2007946"/>
            <a:ext cx="4257679" cy="3671494"/>
            <a:chOff x="7396480" y="2007946"/>
            <a:chExt cx="4257679" cy="3671494"/>
          </a:xfrm>
        </p:grpSpPr>
        <p:sp>
          <p:nvSpPr>
            <p:cNvPr id="6" name="Graphic 101"/>
            <p:cNvSpPr/>
            <p:nvPr/>
          </p:nvSpPr>
          <p:spPr>
            <a:xfrm>
              <a:off x="108153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8" name="Graphic 102"/>
            <p:cNvSpPr/>
            <p:nvPr/>
          </p:nvSpPr>
          <p:spPr>
            <a:xfrm>
              <a:off x="7992344" y="2743834"/>
              <a:ext cx="3528815" cy="2202012"/>
            </a:xfrm>
            <a:custGeom>
              <a:avLst/>
              <a:gdLst/>
              <a:ahLst/>
              <a:cxnLst/>
              <a:rect l="l" t="t" r="r" b="b"/>
              <a:pathLst>
                <a:path w="2638425" h="1582420">
                  <a:moveTo>
                    <a:pt x="2638044" y="1581912"/>
                  </a:moveTo>
                  <a:lnTo>
                    <a:pt x="0" y="1581912"/>
                  </a:lnTo>
                </a:path>
                <a:path w="2638425" h="1582420">
                  <a:moveTo>
                    <a:pt x="2638044" y="0"/>
                  </a:moveTo>
                  <a:lnTo>
                    <a:pt x="0" y="0"/>
                  </a:lnTo>
                </a:path>
                <a:path w="2638425" h="1582420">
                  <a:moveTo>
                    <a:pt x="2638044" y="790955"/>
                  </a:moveTo>
                  <a:lnTo>
                    <a:pt x="0" y="790955"/>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9" name="Graphic 103"/>
            <p:cNvSpPr/>
            <p:nvPr/>
          </p:nvSpPr>
          <p:spPr>
            <a:xfrm>
              <a:off x="975547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10" name="Graphic 104"/>
            <p:cNvSpPr/>
            <p:nvPr/>
          </p:nvSpPr>
          <p:spPr>
            <a:xfrm>
              <a:off x="86975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1" name="Image 105"/>
            <p:cNvPicPr/>
            <p:nvPr/>
          </p:nvPicPr>
          <p:blipFill>
            <a:blip r:embed="rId2" cstate="print"/>
            <a:stretch>
              <a:fillRect/>
            </a:stretch>
          </p:blipFill>
          <p:spPr>
            <a:xfrm>
              <a:off x="8547782" y="4791389"/>
              <a:ext cx="299631" cy="309623"/>
            </a:xfrm>
            <a:prstGeom prst="rect">
              <a:avLst/>
            </a:prstGeom>
          </p:spPr>
        </p:pic>
        <p:sp>
          <p:nvSpPr>
            <p:cNvPr id="12" name="Graphic 106"/>
            <p:cNvSpPr/>
            <p:nvPr/>
          </p:nvSpPr>
          <p:spPr>
            <a:xfrm>
              <a:off x="7992344" y="3698157"/>
              <a:ext cx="3528815" cy="1247688"/>
            </a:xfrm>
            <a:custGeom>
              <a:avLst/>
              <a:gdLst/>
              <a:ahLst/>
              <a:cxnLst/>
              <a:rect l="l" t="t" r="r" b="b"/>
              <a:pathLst>
                <a:path w="2638425" h="896619">
                  <a:moveTo>
                    <a:pt x="0" y="896112"/>
                  </a:moveTo>
                  <a:lnTo>
                    <a:pt x="2638044" y="0"/>
                  </a:lnTo>
                </a:path>
              </a:pathLst>
            </a:custGeom>
            <a:ln w="22860">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3" name="Image 107"/>
            <p:cNvPicPr/>
            <p:nvPr/>
          </p:nvPicPr>
          <p:blipFill>
            <a:blip r:embed="rId3" cstate="print"/>
            <a:stretch>
              <a:fillRect/>
            </a:stretch>
          </p:blipFill>
          <p:spPr>
            <a:xfrm>
              <a:off x="9677005" y="4240002"/>
              <a:ext cx="158988" cy="165414"/>
            </a:xfrm>
            <a:prstGeom prst="rect">
              <a:avLst/>
            </a:prstGeom>
          </p:spPr>
        </p:pic>
        <p:sp>
          <p:nvSpPr>
            <p:cNvPr id="14" name="Graphic 108"/>
            <p:cNvSpPr/>
            <p:nvPr/>
          </p:nvSpPr>
          <p:spPr>
            <a:xfrm>
              <a:off x="9262210" y="3698157"/>
              <a:ext cx="302348" cy="439165"/>
            </a:xfrm>
            <a:custGeom>
              <a:avLst/>
              <a:gdLst/>
              <a:ahLst/>
              <a:cxnLst/>
              <a:rect l="l" t="t" r="r" b="b"/>
              <a:pathLst>
                <a:path w="226060" h="315595">
                  <a:moveTo>
                    <a:pt x="0" y="0"/>
                  </a:moveTo>
                  <a:lnTo>
                    <a:pt x="225551" y="315468"/>
                  </a:lnTo>
                </a:path>
              </a:pathLst>
            </a:custGeom>
            <a:ln w="4572">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5" name="Image 109"/>
            <p:cNvPicPr/>
            <p:nvPr/>
          </p:nvPicPr>
          <p:blipFill>
            <a:blip r:embed="rId4" cstate="print"/>
            <a:stretch>
              <a:fillRect/>
            </a:stretch>
          </p:blipFill>
          <p:spPr>
            <a:xfrm>
              <a:off x="9509863" y="4091552"/>
              <a:ext cx="108030" cy="123000"/>
            </a:xfrm>
            <a:prstGeom prst="rect">
              <a:avLst/>
            </a:prstGeom>
          </p:spPr>
        </p:pic>
        <p:pic>
          <p:nvPicPr>
            <p:cNvPr id="16" name="Image 110"/>
            <p:cNvPicPr/>
            <p:nvPr/>
          </p:nvPicPr>
          <p:blipFill>
            <a:blip r:embed="rId5" cstate="print"/>
            <a:stretch>
              <a:fillRect/>
            </a:stretch>
          </p:blipFill>
          <p:spPr>
            <a:xfrm>
              <a:off x="9605662" y="3688615"/>
              <a:ext cx="299631" cy="311744"/>
            </a:xfrm>
            <a:prstGeom prst="rect">
              <a:avLst/>
            </a:prstGeom>
          </p:spPr>
        </p:pic>
        <p:pic>
          <p:nvPicPr>
            <p:cNvPr id="17" name="Image 111"/>
            <p:cNvPicPr/>
            <p:nvPr/>
          </p:nvPicPr>
          <p:blipFill>
            <a:blip r:embed="rId6" cstate="print"/>
            <a:stretch>
              <a:fillRect/>
            </a:stretch>
          </p:blipFill>
          <p:spPr>
            <a:xfrm>
              <a:off x="9605662" y="4791389"/>
              <a:ext cx="299631" cy="309623"/>
            </a:xfrm>
            <a:prstGeom prst="rect">
              <a:avLst/>
            </a:prstGeom>
          </p:spPr>
        </p:pic>
        <p:sp>
          <p:nvSpPr>
            <p:cNvPr id="18" name="Graphic 112"/>
            <p:cNvSpPr/>
            <p:nvPr/>
          </p:nvSpPr>
          <p:spPr>
            <a:xfrm>
              <a:off x="7992344" y="4321649"/>
              <a:ext cx="3461721" cy="479813"/>
            </a:xfrm>
            <a:custGeom>
              <a:avLst/>
              <a:gdLst/>
              <a:ahLst/>
              <a:cxnLst/>
              <a:rect l="l" t="t" r="r" b="b"/>
              <a:pathLst>
                <a:path w="2588260" h="344805">
                  <a:moveTo>
                    <a:pt x="0" y="0"/>
                  </a:moveTo>
                  <a:lnTo>
                    <a:pt x="13716" y="0"/>
                  </a:lnTo>
                </a:path>
                <a:path w="2588260" h="344805">
                  <a:moveTo>
                    <a:pt x="80772" y="0"/>
                  </a:moveTo>
                  <a:lnTo>
                    <a:pt x="92963" y="0"/>
                  </a:lnTo>
                </a:path>
                <a:path w="2588260" h="344805">
                  <a:moveTo>
                    <a:pt x="160019" y="0"/>
                  </a:moveTo>
                  <a:lnTo>
                    <a:pt x="173736" y="0"/>
                  </a:lnTo>
                </a:path>
                <a:path w="2588260" h="344805">
                  <a:moveTo>
                    <a:pt x="240792" y="0"/>
                  </a:moveTo>
                  <a:lnTo>
                    <a:pt x="254508" y="0"/>
                  </a:lnTo>
                </a:path>
                <a:path w="2588260" h="344805">
                  <a:moveTo>
                    <a:pt x="321563" y="0"/>
                  </a:moveTo>
                  <a:lnTo>
                    <a:pt x="335280" y="0"/>
                  </a:lnTo>
                </a:path>
                <a:path w="2588260" h="344805">
                  <a:moveTo>
                    <a:pt x="402336" y="0"/>
                  </a:moveTo>
                  <a:lnTo>
                    <a:pt x="414528" y="0"/>
                  </a:lnTo>
                </a:path>
                <a:path w="2588260" h="344805">
                  <a:moveTo>
                    <a:pt x="481584" y="0"/>
                  </a:moveTo>
                  <a:lnTo>
                    <a:pt x="495300" y="0"/>
                  </a:lnTo>
                </a:path>
                <a:path w="2588260" h="344805">
                  <a:moveTo>
                    <a:pt x="562356" y="0"/>
                  </a:moveTo>
                  <a:lnTo>
                    <a:pt x="576072" y="0"/>
                  </a:lnTo>
                </a:path>
                <a:path w="2588260" h="344805">
                  <a:moveTo>
                    <a:pt x="643127" y="0"/>
                  </a:moveTo>
                  <a:lnTo>
                    <a:pt x="656844" y="0"/>
                  </a:lnTo>
                </a:path>
                <a:path w="2588260" h="344805">
                  <a:moveTo>
                    <a:pt x="723900" y="0"/>
                  </a:moveTo>
                  <a:lnTo>
                    <a:pt x="737615" y="0"/>
                  </a:lnTo>
                </a:path>
                <a:path w="2588260" h="344805">
                  <a:moveTo>
                    <a:pt x="804672" y="0"/>
                  </a:moveTo>
                  <a:lnTo>
                    <a:pt x="816863" y="0"/>
                  </a:lnTo>
                </a:path>
                <a:path w="2588260" h="344805">
                  <a:moveTo>
                    <a:pt x="883920" y="0"/>
                  </a:moveTo>
                  <a:lnTo>
                    <a:pt x="897636" y="0"/>
                  </a:lnTo>
                </a:path>
                <a:path w="2588260" h="344805">
                  <a:moveTo>
                    <a:pt x="964691" y="0"/>
                  </a:moveTo>
                  <a:lnTo>
                    <a:pt x="978408" y="0"/>
                  </a:lnTo>
                </a:path>
                <a:path w="2588260" h="344805">
                  <a:moveTo>
                    <a:pt x="1045463" y="0"/>
                  </a:moveTo>
                  <a:lnTo>
                    <a:pt x="1059180" y="0"/>
                  </a:lnTo>
                </a:path>
                <a:path w="2588260" h="344805">
                  <a:moveTo>
                    <a:pt x="1126236" y="0"/>
                  </a:moveTo>
                  <a:lnTo>
                    <a:pt x="1138427" y="0"/>
                  </a:lnTo>
                </a:path>
                <a:path w="2588260" h="344805">
                  <a:moveTo>
                    <a:pt x="1205484" y="0"/>
                  </a:moveTo>
                  <a:lnTo>
                    <a:pt x="1219200" y="0"/>
                  </a:lnTo>
                </a:path>
                <a:path w="2588260" h="344805">
                  <a:moveTo>
                    <a:pt x="1286256" y="0"/>
                  </a:moveTo>
                  <a:lnTo>
                    <a:pt x="1299972" y="0"/>
                  </a:lnTo>
                </a:path>
                <a:path w="2588260" h="344805">
                  <a:moveTo>
                    <a:pt x="1367027" y="0"/>
                  </a:moveTo>
                  <a:lnTo>
                    <a:pt x="1380744" y="0"/>
                  </a:lnTo>
                </a:path>
                <a:path w="2588260" h="344805">
                  <a:moveTo>
                    <a:pt x="1447800" y="0"/>
                  </a:moveTo>
                  <a:lnTo>
                    <a:pt x="1461515" y="0"/>
                  </a:lnTo>
                </a:path>
                <a:path w="2588260" h="344805">
                  <a:moveTo>
                    <a:pt x="1528572" y="0"/>
                  </a:moveTo>
                  <a:lnTo>
                    <a:pt x="1540764" y="0"/>
                  </a:lnTo>
                </a:path>
                <a:path w="2588260" h="344805">
                  <a:moveTo>
                    <a:pt x="1607820" y="0"/>
                  </a:moveTo>
                  <a:lnTo>
                    <a:pt x="1621536" y="0"/>
                  </a:lnTo>
                </a:path>
                <a:path w="2588260" h="344805">
                  <a:moveTo>
                    <a:pt x="1688591" y="0"/>
                  </a:moveTo>
                  <a:lnTo>
                    <a:pt x="1702308" y="0"/>
                  </a:lnTo>
                </a:path>
                <a:path w="2588260" h="344805">
                  <a:moveTo>
                    <a:pt x="1769364" y="0"/>
                  </a:moveTo>
                  <a:lnTo>
                    <a:pt x="1783080" y="0"/>
                  </a:lnTo>
                </a:path>
                <a:path w="2588260" h="344805">
                  <a:moveTo>
                    <a:pt x="1850136" y="0"/>
                  </a:moveTo>
                  <a:lnTo>
                    <a:pt x="1863852" y="0"/>
                  </a:lnTo>
                </a:path>
                <a:path w="2588260" h="344805">
                  <a:moveTo>
                    <a:pt x="1929384" y="0"/>
                  </a:moveTo>
                  <a:lnTo>
                    <a:pt x="1943100" y="0"/>
                  </a:lnTo>
                </a:path>
                <a:path w="2588260" h="344805">
                  <a:moveTo>
                    <a:pt x="2010156" y="0"/>
                  </a:moveTo>
                  <a:lnTo>
                    <a:pt x="2023872" y="0"/>
                  </a:lnTo>
                </a:path>
                <a:path w="2588260" h="344805">
                  <a:moveTo>
                    <a:pt x="2090927" y="0"/>
                  </a:moveTo>
                  <a:lnTo>
                    <a:pt x="2104644" y="0"/>
                  </a:lnTo>
                </a:path>
                <a:path w="2588260" h="344805">
                  <a:moveTo>
                    <a:pt x="2171700" y="0"/>
                  </a:moveTo>
                  <a:lnTo>
                    <a:pt x="2185416" y="0"/>
                  </a:lnTo>
                </a:path>
                <a:path w="2588260" h="344805">
                  <a:moveTo>
                    <a:pt x="2252472" y="0"/>
                  </a:moveTo>
                  <a:lnTo>
                    <a:pt x="2264664" y="0"/>
                  </a:lnTo>
                </a:path>
                <a:path w="2588260" h="344805">
                  <a:moveTo>
                    <a:pt x="2331720" y="0"/>
                  </a:moveTo>
                  <a:lnTo>
                    <a:pt x="2345436" y="0"/>
                  </a:lnTo>
                </a:path>
                <a:path w="2588260" h="344805">
                  <a:moveTo>
                    <a:pt x="2412491" y="0"/>
                  </a:moveTo>
                  <a:lnTo>
                    <a:pt x="2426208" y="0"/>
                  </a:lnTo>
                </a:path>
                <a:path w="2588260" h="344805">
                  <a:moveTo>
                    <a:pt x="2493264" y="0"/>
                  </a:moveTo>
                  <a:lnTo>
                    <a:pt x="2506980" y="0"/>
                  </a:lnTo>
                </a:path>
                <a:path w="2588260" h="344805">
                  <a:moveTo>
                    <a:pt x="2574036" y="0"/>
                  </a:moveTo>
                  <a:lnTo>
                    <a:pt x="2587752" y="0"/>
                  </a:lnTo>
                </a:path>
                <a:path w="2588260" h="344805">
                  <a:moveTo>
                    <a:pt x="2374391" y="106680"/>
                  </a:moveTo>
                  <a:lnTo>
                    <a:pt x="2374391" y="34442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19" name="Graphic 113"/>
            <p:cNvSpPr/>
            <p:nvPr/>
          </p:nvSpPr>
          <p:spPr>
            <a:xfrm>
              <a:off x="11088529" y="4321649"/>
              <a:ext cx="161366" cy="167890"/>
            </a:xfrm>
            <a:custGeom>
              <a:avLst/>
              <a:gdLst/>
              <a:ahLst/>
              <a:cxnLst/>
              <a:rect l="l" t="t" r="r" b="b"/>
              <a:pathLst>
                <a:path w="120650" h="120650">
                  <a:moveTo>
                    <a:pt x="59435" y="0"/>
                  </a:moveTo>
                  <a:lnTo>
                    <a:pt x="0" y="120396"/>
                  </a:lnTo>
                  <a:lnTo>
                    <a:pt x="120395" y="120396"/>
                  </a:lnTo>
                  <a:lnTo>
                    <a:pt x="5943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0" name="Graphic 114"/>
            <p:cNvSpPr/>
            <p:nvPr/>
          </p:nvSpPr>
          <p:spPr>
            <a:xfrm>
              <a:off x="11088529" y="4321649"/>
              <a:ext cx="161366" cy="167890"/>
            </a:xfrm>
            <a:custGeom>
              <a:avLst/>
              <a:gdLst/>
              <a:ahLst/>
              <a:cxnLst/>
              <a:rect l="l" t="t" r="r" b="b"/>
              <a:pathLst>
                <a:path w="120650" h="120650">
                  <a:moveTo>
                    <a:pt x="0" y="120396"/>
                  </a:moveTo>
                  <a:lnTo>
                    <a:pt x="59435" y="0"/>
                  </a:lnTo>
                  <a:lnTo>
                    <a:pt x="120395" y="120396"/>
                  </a:lnTo>
                  <a:lnTo>
                    <a:pt x="0" y="120396"/>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1" name="Graphic 115"/>
            <p:cNvSpPr/>
            <p:nvPr/>
          </p:nvSpPr>
          <p:spPr>
            <a:xfrm>
              <a:off x="11088529" y="4777604"/>
              <a:ext cx="161366" cy="167890"/>
            </a:xfrm>
            <a:custGeom>
              <a:avLst/>
              <a:gdLst/>
              <a:ahLst/>
              <a:cxnLst/>
              <a:rect l="l" t="t" r="r" b="b"/>
              <a:pathLst>
                <a:path w="120650" h="120650">
                  <a:moveTo>
                    <a:pt x="120395" y="0"/>
                  </a:moveTo>
                  <a:lnTo>
                    <a:pt x="0" y="0"/>
                  </a:lnTo>
                  <a:lnTo>
                    <a:pt x="59435" y="120396"/>
                  </a:lnTo>
                  <a:lnTo>
                    <a:pt x="12039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2" name="Graphic 116"/>
            <p:cNvSpPr/>
            <p:nvPr/>
          </p:nvSpPr>
          <p:spPr>
            <a:xfrm>
              <a:off x="11088529" y="3990816"/>
              <a:ext cx="161366" cy="954323"/>
            </a:xfrm>
            <a:custGeom>
              <a:avLst/>
              <a:gdLst/>
              <a:ahLst/>
              <a:cxnLst/>
              <a:rect l="l" t="t" r="r" b="b"/>
              <a:pathLst>
                <a:path w="120650" h="685800">
                  <a:moveTo>
                    <a:pt x="120395" y="565403"/>
                  </a:moveTo>
                  <a:lnTo>
                    <a:pt x="59435" y="685800"/>
                  </a:lnTo>
                  <a:lnTo>
                    <a:pt x="0" y="565403"/>
                  </a:lnTo>
                  <a:lnTo>
                    <a:pt x="120395" y="565403"/>
                  </a:lnTo>
                  <a:close/>
                </a:path>
                <a:path w="120650" h="685800">
                  <a:moveTo>
                    <a:pt x="59435" y="0"/>
                  </a:moveTo>
                  <a:lnTo>
                    <a:pt x="59435" y="132587"/>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3" name="Graphic 117"/>
            <p:cNvSpPr/>
            <p:nvPr/>
          </p:nvSpPr>
          <p:spPr>
            <a:xfrm>
              <a:off x="11088529" y="3844487"/>
              <a:ext cx="161366" cy="169657"/>
            </a:xfrm>
            <a:custGeom>
              <a:avLst/>
              <a:gdLst/>
              <a:ahLst/>
              <a:cxnLst/>
              <a:rect l="l" t="t" r="r" b="b"/>
              <a:pathLst>
                <a:path w="120650" h="121920">
                  <a:moveTo>
                    <a:pt x="59435" y="0"/>
                  </a:moveTo>
                  <a:lnTo>
                    <a:pt x="0" y="121920"/>
                  </a:lnTo>
                  <a:lnTo>
                    <a:pt x="120395" y="121920"/>
                  </a:lnTo>
                  <a:lnTo>
                    <a:pt x="5943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4" name="Graphic 118"/>
            <p:cNvSpPr/>
            <p:nvPr/>
          </p:nvSpPr>
          <p:spPr>
            <a:xfrm>
              <a:off x="11088529" y="3844487"/>
              <a:ext cx="161366" cy="169657"/>
            </a:xfrm>
            <a:custGeom>
              <a:avLst/>
              <a:gdLst/>
              <a:ahLst/>
              <a:cxnLst/>
              <a:rect l="l" t="t" r="r" b="b"/>
              <a:pathLst>
                <a:path w="120650" h="121920">
                  <a:moveTo>
                    <a:pt x="0" y="121920"/>
                  </a:moveTo>
                  <a:lnTo>
                    <a:pt x="59435" y="0"/>
                  </a:lnTo>
                  <a:lnTo>
                    <a:pt x="120395" y="121920"/>
                  </a:lnTo>
                  <a:lnTo>
                    <a:pt x="0" y="121920"/>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5" name="Graphic 119"/>
            <p:cNvSpPr/>
            <p:nvPr/>
          </p:nvSpPr>
          <p:spPr>
            <a:xfrm>
              <a:off x="11088529" y="4154113"/>
              <a:ext cx="161366" cy="167890"/>
            </a:xfrm>
            <a:custGeom>
              <a:avLst/>
              <a:gdLst/>
              <a:ahLst/>
              <a:cxnLst/>
              <a:rect l="l" t="t" r="r" b="b"/>
              <a:pathLst>
                <a:path w="120650" h="120650">
                  <a:moveTo>
                    <a:pt x="120395" y="0"/>
                  </a:moveTo>
                  <a:lnTo>
                    <a:pt x="0" y="0"/>
                  </a:lnTo>
                  <a:lnTo>
                    <a:pt x="59435" y="120395"/>
                  </a:lnTo>
                  <a:lnTo>
                    <a:pt x="12039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6" name="Graphic 120"/>
            <p:cNvSpPr/>
            <p:nvPr/>
          </p:nvSpPr>
          <p:spPr>
            <a:xfrm>
              <a:off x="11088529" y="4154113"/>
              <a:ext cx="161366" cy="167890"/>
            </a:xfrm>
            <a:custGeom>
              <a:avLst/>
              <a:gdLst/>
              <a:ahLst/>
              <a:cxnLst/>
              <a:rect l="l" t="t" r="r" b="b"/>
              <a:pathLst>
                <a:path w="120650" h="120650">
                  <a:moveTo>
                    <a:pt x="120395" y="0"/>
                  </a:moveTo>
                  <a:lnTo>
                    <a:pt x="59435" y="120395"/>
                  </a:lnTo>
                  <a:lnTo>
                    <a:pt x="0" y="0"/>
                  </a:lnTo>
                  <a:lnTo>
                    <a:pt x="120395" y="0"/>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7" name="Textbox 121"/>
            <p:cNvSpPr txBox="1"/>
            <p:nvPr/>
          </p:nvSpPr>
          <p:spPr>
            <a:xfrm>
              <a:off x="8828050" y="3388167"/>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(x</a:t>
              </a:r>
              <a:r>
                <a:rPr kumimoji="0" lang="vi-VN" sz="1050"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r>
                <a:rPr kumimoji="0" lang="vi-VN" b="0" i="0" u="none" strike="noStrike" kern="0" cap="none" spc="1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 </a:t>
              </a: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28" name="Textbox 122"/>
            <p:cNvSpPr txBox="1"/>
            <p:nvPr/>
          </p:nvSpPr>
          <p:spPr>
            <a:xfrm>
              <a:off x="9711317" y="3792721"/>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P</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29" name="Textbox 123"/>
            <p:cNvSpPr txBox="1"/>
            <p:nvPr/>
          </p:nvSpPr>
          <p:spPr>
            <a:xfrm>
              <a:off x="11404467" y="3909865"/>
              <a:ext cx="249692" cy="945487"/>
            </a:xfrm>
            <a:prstGeom prst="rect">
              <a:avLst/>
            </a:prstGeom>
          </p:spPr>
          <p:txBody>
            <a:bodyPr wrap="square" lIns="0" tIns="0" rIns="0" bIns="0" rtlCol="0">
              <a:noAutofit/>
            </a:bodyPr>
            <a:lstStyle/>
            <a:p>
              <a:pPr marL="0" marR="0" lvl="0" indent="0" defTabSz="914400" eaLnBrk="1" fontAlgn="auto" latinLnBrk="0" hangingPunct="1">
                <a:lnSpc>
                  <a:spcPct val="96000"/>
                </a:lnSpc>
                <a:spcBef>
                  <a:spcPts val="0"/>
                </a:spcBef>
                <a:spcAft>
                  <a:spcPts val="0"/>
                </a:spcAft>
                <a:buClrTx/>
                <a:buSzTx/>
                <a:buFontTx/>
                <a:buNone/>
                <a:tabLst/>
                <a:defRPr/>
              </a:pP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d</a:t>
              </a:r>
              <a:r>
                <a:rPr kumimoji="0" lang="vi-VN" sz="1050"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2</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a:p>
              <a:pPr marL="0" marR="0" lvl="0" indent="0" defTabSz="914400" eaLnBrk="1" fontAlgn="auto" latinLnBrk="0" hangingPunct="1">
                <a:lnSpc>
                  <a:spcPct val="100000"/>
                </a:lnSpc>
                <a:spcBef>
                  <a:spcPts val="180"/>
                </a:spcBef>
                <a:spcAft>
                  <a:spcPts val="0"/>
                </a:spcAft>
                <a:buClrTx/>
                <a:buSzTx/>
                <a:buFontTx/>
                <a:buNone/>
                <a:tabLst/>
                <a:defRPr/>
              </a:pPr>
              <a:r>
                <a:rPr kumimoji="0" lang="vi-VN" sz="1050"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 </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d</a:t>
              </a:r>
              <a:r>
                <a:rPr kumimoji="0" lang="vi-VN" sz="1050"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0" name="Textbox 124"/>
            <p:cNvSpPr txBox="1"/>
            <p:nvPr/>
          </p:nvSpPr>
          <p:spPr>
            <a:xfrm>
              <a:off x="9711317" y="4883109"/>
              <a:ext cx="151687" cy="170328"/>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S</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1" name="Textbox 121"/>
            <p:cNvSpPr txBox="1"/>
            <p:nvPr/>
          </p:nvSpPr>
          <p:spPr>
            <a:xfrm>
              <a:off x="7396480" y="3599330"/>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vi-VN" sz="1050"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2" name="Textbox 121"/>
            <p:cNvSpPr txBox="1"/>
            <p:nvPr/>
          </p:nvSpPr>
          <p:spPr>
            <a:xfrm>
              <a:off x="7469859" y="4112576"/>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3" name="Textbox 121"/>
            <p:cNvSpPr txBox="1"/>
            <p:nvPr/>
          </p:nvSpPr>
          <p:spPr>
            <a:xfrm>
              <a:off x="7459177" y="4747559"/>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4" name="Textbox 121"/>
            <p:cNvSpPr txBox="1"/>
            <p:nvPr/>
          </p:nvSpPr>
          <p:spPr>
            <a:xfrm>
              <a:off x="8734098" y="5059737"/>
              <a:ext cx="358470"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5" name="Textbox 121"/>
            <p:cNvSpPr txBox="1"/>
            <p:nvPr/>
          </p:nvSpPr>
          <p:spPr>
            <a:xfrm>
              <a:off x="9816559" y="5062222"/>
              <a:ext cx="467012"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smtClea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en-US" b="0" i="0" u="none" strike="noStrike" kern="0" cap="none" spc="0" normalizeH="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6" name="Textbox 122"/>
            <p:cNvSpPr txBox="1"/>
            <p:nvPr/>
          </p:nvSpPr>
          <p:spPr>
            <a:xfrm>
              <a:off x="9911749" y="4401492"/>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lang="en-US" sz="1400" b="1" kern="0" spc="-5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R</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grpSp>
    </p:spTree>
    <p:extLst>
      <p:ext uri="{BB962C8B-B14F-4D97-AF65-F5344CB8AC3E}">
        <p14:creationId xmlns:p14="http://schemas.microsoft.com/office/powerpoint/2010/main" val="29386489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normAutofit/>
          </a:bodyPr>
          <a:lstStyle/>
          <a:p>
            <a:r>
              <a:rPr lang="en-US" b="1" smtClean="0"/>
              <a:t>Giải thuật Bresenham</a:t>
            </a:r>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25</a:t>
            </a:fld>
            <a:endParaRPr lang="en-US"/>
          </a:p>
        </p:txBody>
      </p:sp>
      <p:sp>
        <p:nvSpPr>
          <p:cNvPr id="3" name="Content Placeholder 2"/>
          <p:cNvSpPr>
            <a:spLocks noGrp="1"/>
          </p:cNvSpPr>
          <p:nvPr>
            <p:ph idx="1"/>
          </p:nvPr>
        </p:nvSpPr>
        <p:spPr>
          <a:xfrm>
            <a:off x="2377287" y="3626488"/>
            <a:ext cx="6592096" cy="2955598"/>
          </a:xfrm>
        </p:spPr>
        <p:txBody>
          <a:bodyPr>
            <a:noAutofit/>
          </a:bodyPr>
          <a:lstStyle/>
          <a:p>
            <a:r>
              <a:rPr lang="en-US" smtClean="0">
                <a:latin typeface="Arial (Body)"/>
              </a:rPr>
              <a:t>Nếu d1-d2&lt;0 thì y</a:t>
            </a:r>
            <a:r>
              <a:rPr lang="en-US" baseline="-25000" smtClean="0">
                <a:latin typeface="Arial (Body)"/>
              </a:rPr>
              <a:t>i+1</a:t>
            </a:r>
            <a:r>
              <a:rPr lang="en-US" smtClean="0">
                <a:latin typeface="Arial (Body)"/>
              </a:rPr>
              <a:t>=y</a:t>
            </a:r>
            <a:r>
              <a:rPr lang="en-US" baseline="-25000" smtClean="0">
                <a:latin typeface="Arial (Body)"/>
              </a:rPr>
              <a:t>i </a:t>
            </a:r>
            <a:r>
              <a:rPr lang="en-US" smtClean="0">
                <a:latin typeface="Arial (Body)"/>
              </a:rPr>
              <a:t>(chọn S)</a:t>
            </a:r>
            <a:endParaRPr lang="en-US" baseline="-25000" smtClean="0">
              <a:latin typeface="Arial (Body)"/>
            </a:endParaRPr>
          </a:p>
          <a:p>
            <a:pPr marL="457200" lvl="1" indent="0">
              <a:buNone/>
            </a:pPr>
            <a:r>
              <a:rPr lang="en-US" smtClean="0">
                <a:latin typeface="Arial (Body)"/>
              </a:rPr>
              <a:t>P</a:t>
            </a:r>
            <a:r>
              <a:rPr lang="en-US" baseline="-25000" smtClean="0">
                <a:latin typeface="Arial (Body)"/>
              </a:rPr>
              <a:t>i+1</a:t>
            </a:r>
            <a:r>
              <a:rPr lang="en-US" smtClean="0">
                <a:latin typeface="Arial (Body)"/>
              </a:rPr>
              <a:t>-P</a:t>
            </a:r>
            <a:r>
              <a:rPr lang="en-US" baseline="-25000" smtClean="0">
                <a:latin typeface="Arial (Body)"/>
              </a:rPr>
              <a:t>i</a:t>
            </a:r>
            <a:r>
              <a:rPr lang="en-US" smtClean="0">
                <a:latin typeface="Arial (Body)"/>
              </a:rPr>
              <a:t>=2dy-2dx(y</a:t>
            </a:r>
            <a:r>
              <a:rPr lang="en-US" baseline="-25000" smtClean="0">
                <a:latin typeface="Arial (Body)"/>
              </a:rPr>
              <a:t>i</a:t>
            </a:r>
            <a:r>
              <a:rPr lang="en-US" smtClean="0">
                <a:latin typeface="Arial (Body)"/>
              </a:rPr>
              <a:t>-y</a:t>
            </a:r>
            <a:r>
              <a:rPr lang="en-US" baseline="-25000" smtClean="0">
                <a:latin typeface="Arial (Body)"/>
              </a:rPr>
              <a:t>i</a:t>
            </a:r>
            <a:r>
              <a:rPr lang="en-US" smtClean="0">
                <a:latin typeface="Arial (Body)"/>
              </a:rPr>
              <a:t>)</a:t>
            </a:r>
          </a:p>
          <a:p>
            <a:pPr marL="457200" lvl="1" indent="0">
              <a:buNone/>
            </a:pPr>
            <a:r>
              <a:rPr lang="en-US" smtClean="0">
                <a:latin typeface="Arial (Body)"/>
              </a:rPr>
              <a:t>P</a:t>
            </a:r>
            <a:r>
              <a:rPr lang="en-US" baseline="-25000" smtClean="0">
                <a:latin typeface="Arial (Body)"/>
              </a:rPr>
              <a:t>i+1</a:t>
            </a:r>
            <a:r>
              <a:rPr lang="en-US" smtClean="0">
                <a:latin typeface="Arial (Body)"/>
              </a:rPr>
              <a:t>-P</a:t>
            </a:r>
            <a:r>
              <a:rPr lang="en-US" baseline="-25000" smtClean="0">
                <a:latin typeface="Arial (Body)"/>
              </a:rPr>
              <a:t>i</a:t>
            </a:r>
            <a:r>
              <a:rPr lang="en-US" smtClean="0">
                <a:latin typeface="Arial (Body)"/>
              </a:rPr>
              <a:t>=2dy</a:t>
            </a:r>
          </a:p>
          <a:p>
            <a:pPr marL="457200" lvl="1" indent="0">
              <a:buNone/>
            </a:pPr>
            <a:r>
              <a:rPr lang="en-US" smtClean="0">
                <a:latin typeface="Arial (Body)"/>
              </a:rPr>
              <a:t>P</a:t>
            </a:r>
            <a:r>
              <a:rPr lang="en-US" baseline="-25000" smtClean="0">
                <a:latin typeface="Arial (Body)"/>
              </a:rPr>
              <a:t>i+1</a:t>
            </a:r>
            <a:r>
              <a:rPr lang="en-US" smtClean="0">
                <a:latin typeface="Arial (Body)"/>
              </a:rPr>
              <a:t>=P</a:t>
            </a:r>
            <a:r>
              <a:rPr lang="en-US" baseline="-25000" smtClean="0">
                <a:latin typeface="Arial (Body)"/>
              </a:rPr>
              <a:t>i</a:t>
            </a:r>
            <a:r>
              <a:rPr lang="en-US" smtClean="0">
                <a:latin typeface="Arial (Body)"/>
              </a:rPr>
              <a:t>+2dy</a:t>
            </a:r>
          </a:p>
          <a:p>
            <a:r>
              <a:rPr lang="en-US">
                <a:latin typeface="Arial (Body)"/>
              </a:rPr>
              <a:t>Nếu </a:t>
            </a:r>
            <a:r>
              <a:rPr lang="en-US" smtClean="0">
                <a:latin typeface="Arial (Body)"/>
              </a:rPr>
              <a:t>d1-d2&gt;0 </a:t>
            </a:r>
            <a:r>
              <a:rPr lang="en-US">
                <a:latin typeface="Arial (Body)"/>
              </a:rPr>
              <a:t>thì </a:t>
            </a:r>
            <a:r>
              <a:rPr lang="en-US" smtClean="0">
                <a:latin typeface="Arial (Body)"/>
              </a:rPr>
              <a:t>y</a:t>
            </a:r>
            <a:r>
              <a:rPr lang="en-US" baseline="-25000" smtClean="0">
                <a:latin typeface="Arial (Body)"/>
              </a:rPr>
              <a:t>i+1</a:t>
            </a:r>
            <a:r>
              <a:rPr lang="en-US" smtClean="0">
                <a:latin typeface="Arial (Body)"/>
              </a:rPr>
              <a:t>=y</a:t>
            </a:r>
            <a:r>
              <a:rPr lang="en-US" baseline="-25000" smtClean="0">
                <a:latin typeface="Arial (Body)"/>
              </a:rPr>
              <a:t>i</a:t>
            </a:r>
            <a:r>
              <a:rPr lang="en-US" smtClean="0">
                <a:latin typeface="Arial (Body)"/>
              </a:rPr>
              <a:t>+1</a:t>
            </a:r>
            <a:r>
              <a:rPr lang="en-US" baseline="-25000" smtClean="0">
                <a:latin typeface="Arial (Body)"/>
              </a:rPr>
              <a:t> </a:t>
            </a:r>
            <a:r>
              <a:rPr lang="en-US">
                <a:latin typeface="Arial (Body)"/>
              </a:rPr>
              <a:t>(chọn </a:t>
            </a:r>
            <a:r>
              <a:rPr lang="en-US" smtClean="0">
                <a:latin typeface="Arial (Body)"/>
              </a:rPr>
              <a:t>P)</a:t>
            </a:r>
            <a:endParaRPr lang="en-US" baseline="-25000">
              <a:latin typeface="Arial (Body)"/>
            </a:endParaRPr>
          </a:p>
          <a:p>
            <a:pPr marL="457200" lvl="1" indent="0">
              <a:buNone/>
            </a:pPr>
            <a:r>
              <a:rPr lang="en-US" smtClean="0">
                <a:latin typeface="Arial (Body)"/>
              </a:rPr>
              <a:t>Pi+1-Pi=2dy-2dx(yi+1-yi</a:t>
            </a:r>
            <a:r>
              <a:rPr lang="en-US">
                <a:latin typeface="Arial (Body)"/>
              </a:rPr>
              <a:t>)</a:t>
            </a:r>
          </a:p>
          <a:p>
            <a:pPr marL="457200" lvl="1" indent="0">
              <a:buNone/>
            </a:pPr>
            <a:r>
              <a:rPr lang="en-US" smtClean="0">
                <a:latin typeface="Arial (Body)"/>
              </a:rPr>
              <a:t>P</a:t>
            </a:r>
            <a:r>
              <a:rPr lang="en-US" baseline="-25000" smtClean="0">
                <a:latin typeface="Arial (Body)"/>
              </a:rPr>
              <a:t>i+1</a:t>
            </a:r>
            <a:r>
              <a:rPr lang="en-US" smtClean="0">
                <a:latin typeface="Arial (Body)"/>
              </a:rPr>
              <a:t>-P</a:t>
            </a:r>
            <a:r>
              <a:rPr lang="en-US" baseline="-25000" smtClean="0">
                <a:latin typeface="Arial (Body)"/>
              </a:rPr>
              <a:t>i</a:t>
            </a:r>
            <a:r>
              <a:rPr lang="en-US" smtClean="0">
                <a:latin typeface="Arial (Body)"/>
              </a:rPr>
              <a:t>=2dy-2dx</a:t>
            </a:r>
          </a:p>
          <a:p>
            <a:pPr marL="457200" lvl="1" indent="0">
              <a:buNone/>
            </a:pPr>
            <a:r>
              <a:rPr lang="en-US" smtClean="0">
                <a:latin typeface="Arial (Body)"/>
              </a:rPr>
              <a:t>P</a:t>
            </a:r>
            <a:r>
              <a:rPr lang="en-US" baseline="-25000" smtClean="0">
                <a:latin typeface="Arial (Body)"/>
              </a:rPr>
              <a:t>i+1</a:t>
            </a:r>
            <a:r>
              <a:rPr lang="en-US" smtClean="0">
                <a:latin typeface="Arial (Body)"/>
              </a:rPr>
              <a:t>-P</a:t>
            </a:r>
            <a:r>
              <a:rPr lang="en-US" baseline="-25000" smtClean="0">
                <a:latin typeface="Arial (Body)"/>
              </a:rPr>
              <a:t>i</a:t>
            </a:r>
            <a:r>
              <a:rPr lang="en-US" smtClean="0">
                <a:latin typeface="Arial (Body)"/>
              </a:rPr>
              <a:t>=2(dy-dx)</a:t>
            </a:r>
            <a:endParaRPr lang="en-US">
              <a:latin typeface="Arial (Body)"/>
            </a:endParaRPr>
          </a:p>
          <a:p>
            <a:pPr marL="457200" lvl="1" indent="0">
              <a:buNone/>
            </a:pPr>
            <a:r>
              <a:rPr lang="en-US" smtClean="0">
                <a:latin typeface="Arial (Body)"/>
              </a:rPr>
              <a:t>P</a:t>
            </a:r>
            <a:r>
              <a:rPr lang="en-US" baseline="-25000" smtClean="0">
                <a:latin typeface="Arial (Body)"/>
              </a:rPr>
              <a:t>i+1</a:t>
            </a:r>
            <a:r>
              <a:rPr lang="en-US" smtClean="0">
                <a:latin typeface="Arial (Body)"/>
              </a:rPr>
              <a:t>=P</a:t>
            </a:r>
            <a:r>
              <a:rPr lang="en-US" baseline="-25000" smtClean="0">
                <a:latin typeface="Arial (Body)"/>
              </a:rPr>
              <a:t>i</a:t>
            </a:r>
            <a:r>
              <a:rPr lang="en-US" smtClean="0">
                <a:latin typeface="Arial (Body)"/>
              </a:rPr>
              <a:t>+2(dy-dx</a:t>
            </a:r>
            <a:r>
              <a:rPr lang="en-US">
                <a:latin typeface="Arial (Body)"/>
              </a:rPr>
              <a:t>)</a:t>
            </a:r>
          </a:p>
          <a:p>
            <a:pPr marL="0" indent="0">
              <a:buNone/>
            </a:pPr>
            <a:endParaRPr lang="en-US">
              <a:latin typeface="Arial (Body)"/>
            </a:endParaRPr>
          </a:p>
          <a:p>
            <a:pPr marL="0" indent="0">
              <a:buNone/>
            </a:pPr>
            <a:endParaRPr lang="en-US">
              <a:solidFill>
                <a:schemeClr val="accent2">
                  <a:lumMod val="50000"/>
                </a:schemeClr>
              </a:solidFill>
              <a:latin typeface="Arial (Body)"/>
            </a:endParaRPr>
          </a:p>
          <a:p>
            <a:pPr marL="0" indent="0">
              <a:buNone/>
            </a:pPr>
            <a:endParaRPr lang="en-US" smtClean="0">
              <a:latin typeface="Arial (Body)"/>
            </a:endParaRPr>
          </a:p>
          <a:p>
            <a:pPr marL="0" indent="0">
              <a:buNone/>
            </a:pPr>
            <a:endParaRPr lang="en-US" smtClean="0">
              <a:latin typeface="Arial (Body)"/>
            </a:endParaRPr>
          </a:p>
        </p:txBody>
      </p:sp>
      <p:grpSp>
        <p:nvGrpSpPr>
          <p:cNvPr id="4" name="Group 3"/>
          <p:cNvGrpSpPr/>
          <p:nvPr/>
        </p:nvGrpSpPr>
        <p:grpSpPr>
          <a:xfrm>
            <a:off x="7721600" y="2007946"/>
            <a:ext cx="4257679" cy="3671494"/>
            <a:chOff x="7396480" y="2007946"/>
            <a:chExt cx="4257679" cy="3671494"/>
          </a:xfrm>
        </p:grpSpPr>
        <p:sp>
          <p:nvSpPr>
            <p:cNvPr id="6" name="Graphic 101"/>
            <p:cNvSpPr/>
            <p:nvPr/>
          </p:nvSpPr>
          <p:spPr>
            <a:xfrm>
              <a:off x="108153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8" name="Graphic 102"/>
            <p:cNvSpPr/>
            <p:nvPr/>
          </p:nvSpPr>
          <p:spPr>
            <a:xfrm>
              <a:off x="7992344" y="2743834"/>
              <a:ext cx="3528815" cy="2202012"/>
            </a:xfrm>
            <a:custGeom>
              <a:avLst/>
              <a:gdLst/>
              <a:ahLst/>
              <a:cxnLst/>
              <a:rect l="l" t="t" r="r" b="b"/>
              <a:pathLst>
                <a:path w="2638425" h="1582420">
                  <a:moveTo>
                    <a:pt x="2638044" y="1581912"/>
                  </a:moveTo>
                  <a:lnTo>
                    <a:pt x="0" y="1581912"/>
                  </a:lnTo>
                </a:path>
                <a:path w="2638425" h="1582420">
                  <a:moveTo>
                    <a:pt x="2638044" y="0"/>
                  </a:moveTo>
                  <a:lnTo>
                    <a:pt x="0" y="0"/>
                  </a:lnTo>
                </a:path>
                <a:path w="2638425" h="1582420">
                  <a:moveTo>
                    <a:pt x="2638044" y="790955"/>
                  </a:moveTo>
                  <a:lnTo>
                    <a:pt x="0" y="790955"/>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9" name="Graphic 103"/>
            <p:cNvSpPr/>
            <p:nvPr/>
          </p:nvSpPr>
          <p:spPr>
            <a:xfrm>
              <a:off x="975547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10" name="Graphic 104"/>
            <p:cNvSpPr/>
            <p:nvPr/>
          </p:nvSpPr>
          <p:spPr>
            <a:xfrm>
              <a:off x="86975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1" name="Image 105"/>
            <p:cNvPicPr/>
            <p:nvPr/>
          </p:nvPicPr>
          <p:blipFill>
            <a:blip r:embed="rId2" cstate="print"/>
            <a:stretch>
              <a:fillRect/>
            </a:stretch>
          </p:blipFill>
          <p:spPr>
            <a:xfrm>
              <a:off x="8547782" y="4791389"/>
              <a:ext cx="299631" cy="309623"/>
            </a:xfrm>
            <a:prstGeom prst="rect">
              <a:avLst/>
            </a:prstGeom>
          </p:spPr>
        </p:pic>
        <p:sp>
          <p:nvSpPr>
            <p:cNvPr id="12" name="Graphic 106"/>
            <p:cNvSpPr/>
            <p:nvPr/>
          </p:nvSpPr>
          <p:spPr>
            <a:xfrm>
              <a:off x="7992344" y="3698157"/>
              <a:ext cx="3528815" cy="1247688"/>
            </a:xfrm>
            <a:custGeom>
              <a:avLst/>
              <a:gdLst/>
              <a:ahLst/>
              <a:cxnLst/>
              <a:rect l="l" t="t" r="r" b="b"/>
              <a:pathLst>
                <a:path w="2638425" h="896619">
                  <a:moveTo>
                    <a:pt x="0" y="896112"/>
                  </a:moveTo>
                  <a:lnTo>
                    <a:pt x="2638044" y="0"/>
                  </a:lnTo>
                </a:path>
              </a:pathLst>
            </a:custGeom>
            <a:ln w="22860">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3" name="Image 107"/>
            <p:cNvPicPr/>
            <p:nvPr/>
          </p:nvPicPr>
          <p:blipFill>
            <a:blip r:embed="rId3" cstate="print"/>
            <a:stretch>
              <a:fillRect/>
            </a:stretch>
          </p:blipFill>
          <p:spPr>
            <a:xfrm>
              <a:off x="9677005" y="4240002"/>
              <a:ext cx="158988" cy="165414"/>
            </a:xfrm>
            <a:prstGeom prst="rect">
              <a:avLst/>
            </a:prstGeom>
          </p:spPr>
        </p:pic>
        <p:sp>
          <p:nvSpPr>
            <p:cNvPr id="14" name="Graphic 108"/>
            <p:cNvSpPr/>
            <p:nvPr/>
          </p:nvSpPr>
          <p:spPr>
            <a:xfrm>
              <a:off x="9262210" y="3698157"/>
              <a:ext cx="302348" cy="439165"/>
            </a:xfrm>
            <a:custGeom>
              <a:avLst/>
              <a:gdLst/>
              <a:ahLst/>
              <a:cxnLst/>
              <a:rect l="l" t="t" r="r" b="b"/>
              <a:pathLst>
                <a:path w="226060" h="315595">
                  <a:moveTo>
                    <a:pt x="0" y="0"/>
                  </a:moveTo>
                  <a:lnTo>
                    <a:pt x="225551" y="315468"/>
                  </a:lnTo>
                </a:path>
              </a:pathLst>
            </a:custGeom>
            <a:ln w="4572">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5" name="Image 109"/>
            <p:cNvPicPr/>
            <p:nvPr/>
          </p:nvPicPr>
          <p:blipFill>
            <a:blip r:embed="rId4" cstate="print"/>
            <a:stretch>
              <a:fillRect/>
            </a:stretch>
          </p:blipFill>
          <p:spPr>
            <a:xfrm>
              <a:off x="9509863" y="4091552"/>
              <a:ext cx="108030" cy="123000"/>
            </a:xfrm>
            <a:prstGeom prst="rect">
              <a:avLst/>
            </a:prstGeom>
          </p:spPr>
        </p:pic>
        <p:pic>
          <p:nvPicPr>
            <p:cNvPr id="16" name="Image 110"/>
            <p:cNvPicPr/>
            <p:nvPr/>
          </p:nvPicPr>
          <p:blipFill>
            <a:blip r:embed="rId5" cstate="print"/>
            <a:stretch>
              <a:fillRect/>
            </a:stretch>
          </p:blipFill>
          <p:spPr>
            <a:xfrm>
              <a:off x="9605662" y="3688615"/>
              <a:ext cx="299631" cy="311744"/>
            </a:xfrm>
            <a:prstGeom prst="rect">
              <a:avLst/>
            </a:prstGeom>
          </p:spPr>
        </p:pic>
        <p:pic>
          <p:nvPicPr>
            <p:cNvPr id="17" name="Image 111"/>
            <p:cNvPicPr/>
            <p:nvPr/>
          </p:nvPicPr>
          <p:blipFill>
            <a:blip r:embed="rId6" cstate="print"/>
            <a:stretch>
              <a:fillRect/>
            </a:stretch>
          </p:blipFill>
          <p:spPr>
            <a:xfrm>
              <a:off x="9605662" y="4791389"/>
              <a:ext cx="299631" cy="309623"/>
            </a:xfrm>
            <a:prstGeom prst="rect">
              <a:avLst/>
            </a:prstGeom>
          </p:spPr>
        </p:pic>
        <p:sp>
          <p:nvSpPr>
            <p:cNvPr id="18" name="Graphic 112"/>
            <p:cNvSpPr/>
            <p:nvPr/>
          </p:nvSpPr>
          <p:spPr>
            <a:xfrm>
              <a:off x="7992344" y="4321649"/>
              <a:ext cx="3461721" cy="479813"/>
            </a:xfrm>
            <a:custGeom>
              <a:avLst/>
              <a:gdLst/>
              <a:ahLst/>
              <a:cxnLst/>
              <a:rect l="l" t="t" r="r" b="b"/>
              <a:pathLst>
                <a:path w="2588260" h="344805">
                  <a:moveTo>
                    <a:pt x="0" y="0"/>
                  </a:moveTo>
                  <a:lnTo>
                    <a:pt x="13716" y="0"/>
                  </a:lnTo>
                </a:path>
                <a:path w="2588260" h="344805">
                  <a:moveTo>
                    <a:pt x="80772" y="0"/>
                  </a:moveTo>
                  <a:lnTo>
                    <a:pt x="92963" y="0"/>
                  </a:lnTo>
                </a:path>
                <a:path w="2588260" h="344805">
                  <a:moveTo>
                    <a:pt x="160019" y="0"/>
                  </a:moveTo>
                  <a:lnTo>
                    <a:pt x="173736" y="0"/>
                  </a:lnTo>
                </a:path>
                <a:path w="2588260" h="344805">
                  <a:moveTo>
                    <a:pt x="240792" y="0"/>
                  </a:moveTo>
                  <a:lnTo>
                    <a:pt x="254508" y="0"/>
                  </a:lnTo>
                </a:path>
                <a:path w="2588260" h="344805">
                  <a:moveTo>
                    <a:pt x="321563" y="0"/>
                  </a:moveTo>
                  <a:lnTo>
                    <a:pt x="335280" y="0"/>
                  </a:lnTo>
                </a:path>
                <a:path w="2588260" h="344805">
                  <a:moveTo>
                    <a:pt x="402336" y="0"/>
                  </a:moveTo>
                  <a:lnTo>
                    <a:pt x="414528" y="0"/>
                  </a:lnTo>
                </a:path>
                <a:path w="2588260" h="344805">
                  <a:moveTo>
                    <a:pt x="481584" y="0"/>
                  </a:moveTo>
                  <a:lnTo>
                    <a:pt x="495300" y="0"/>
                  </a:lnTo>
                </a:path>
                <a:path w="2588260" h="344805">
                  <a:moveTo>
                    <a:pt x="562356" y="0"/>
                  </a:moveTo>
                  <a:lnTo>
                    <a:pt x="576072" y="0"/>
                  </a:lnTo>
                </a:path>
                <a:path w="2588260" h="344805">
                  <a:moveTo>
                    <a:pt x="643127" y="0"/>
                  </a:moveTo>
                  <a:lnTo>
                    <a:pt x="656844" y="0"/>
                  </a:lnTo>
                </a:path>
                <a:path w="2588260" h="344805">
                  <a:moveTo>
                    <a:pt x="723900" y="0"/>
                  </a:moveTo>
                  <a:lnTo>
                    <a:pt x="737615" y="0"/>
                  </a:lnTo>
                </a:path>
                <a:path w="2588260" h="344805">
                  <a:moveTo>
                    <a:pt x="804672" y="0"/>
                  </a:moveTo>
                  <a:lnTo>
                    <a:pt x="816863" y="0"/>
                  </a:lnTo>
                </a:path>
                <a:path w="2588260" h="344805">
                  <a:moveTo>
                    <a:pt x="883920" y="0"/>
                  </a:moveTo>
                  <a:lnTo>
                    <a:pt x="897636" y="0"/>
                  </a:lnTo>
                </a:path>
                <a:path w="2588260" h="344805">
                  <a:moveTo>
                    <a:pt x="964691" y="0"/>
                  </a:moveTo>
                  <a:lnTo>
                    <a:pt x="978408" y="0"/>
                  </a:lnTo>
                </a:path>
                <a:path w="2588260" h="344805">
                  <a:moveTo>
                    <a:pt x="1045463" y="0"/>
                  </a:moveTo>
                  <a:lnTo>
                    <a:pt x="1059180" y="0"/>
                  </a:lnTo>
                </a:path>
                <a:path w="2588260" h="344805">
                  <a:moveTo>
                    <a:pt x="1126236" y="0"/>
                  </a:moveTo>
                  <a:lnTo>
                    <a:pt x="1138427" y="0"/>
                  </a:lnTo>
                </a:path>
                <a:path w="2588260" h="344805">
                  <a:moveTo>
                    <a:pt x="1205484" y="0"/>
                  </a:moveTo>
                  <a:lnTo>
                    <a:pt x="1219200" y="0"/>
                  </a:lnTo>
                </a:path>
                <a:path w="2588260" h="344805">
                  <a:moveTo>
                    <a:pt x="1286256" y="0"/>
                  </a:moveTo>
                  <a:lnTo>
                    <a:pt x="1299972" y="0"/>
                  </a:lnTo>
                </a:path>
                <a:path w="2588260" h="344805">
                  <a:moveTo>
                    <a:pt x="1367027" y="0"/>
                  </a:moveTo>
                  <a:lnTo>
                    <a:pt x="1380744" y="0"/>
                  </a:lnTo>
                </a:path>
                <a:path w="2588260" h="344805">
                  <a:moveTo>
                    <a:pt x="1447800" y="0"/>
                  </a:moveTo>
                  <a:lnTo>
                    <a:pt x="1461515" y="0"/>
                  </a:lnTo>
                </a:path>
                <a:path w="2588260" h="344805">
                  <a:moveTo>
                    <a:pt x="1528572" y="0"/>
                  </a:moveTo>
                  <a:lnTo>
                    <a:pt x="1540764" y="0"/>
                  </a:lnTo>
                </a:path>
                <a:path w="2588260" h="344805">
                  <a:moveTo>
                    <a:pt x="1607820" y="0"/>
                  </a:moveTo>
                  <a:lnTo>
                    <a:pt x="1621536" y="0"/>
                  </a:lnTo>
                </a:path>
                <a:path w="2588260" h="344805">
                  <a:moveTo>
                    <a:pt x="1688591" y="0"/>
                  </a:moveTo>
                  <a:lnTo>
                    <a:pt x="1702308" y="0"/>
                  </a:lnTo>
                </a:path>
                <a:path w="2588260" h="344805">
                  <a:moveTo>
                    <a:pt x="1769364" y="0"/>
                  </a:moveTo>
                  <a:lnTo>
                    <a:pt x="1783080" y="0"/>
                  </a:lnTo>
                </a:path>
                <a:path w="2588260" h="344805">
                  <a:moveTo>
                    <a:pt x="1850136" y="0"/>
                  </a:moveTo>
                  <a:lnTo>
                    <a:pt x="1863852" y="0"/>
                  </a:lnTo>
                </a:path>
                <a:path w="2588260" h="344805">
                  <a:moveTo>
                    <a:pt x="1929384" y="0"/>
                  </a:moveTo>
                  <a:lnTo>
                    <a:pt x="1943100" y="0"/>
                  </a:lnTo>
                </a:path>
                <a:path w="2588260" h="344805">
                  <a:moveTo>
                    <a:pt x="2010156" y="0"/>
                  </a:moveTo>
                  <a:lnTo>
                    <a:pt x="2023872" y="0"/>
                  </a:lnTo>
                </a:path>
                <a:path w="2588260" h="344805">
                  <a:moveTo>
                    <a:pt x="2090927" y="0"/>
                  </a:moveTo>
                  <a:lnTo>
                    <a:pt x="2104644" y="0"/>
                  </a:lnTo>
                </a:path>
                <a:path w="2588260" h="344805">
                  <a:moveTo>
                    <a:pt x="2171700" y="0"/>
                  </a:moveTo>
                  <a:lnTo>
                    <a:pt x="2185416" y="0"/>
                  </a:lnTo>
                </a:path>
                <a:path w="2588260" h="344805">
                  <a:moveTo>
                    <a:pt x="2252472" y="0"/>
                  </a:moveTo>
                  <a:lnTo>
                    <a:pt x="2264664" y="0"/>
                  </a:lnTo>
                </a:path>
                <a:path w="2588260" h="344805">
                  <a:moveTo>
                    <a:pt x="2331720" y="0"/>
                  </a:moveTo>
                  <a:lnTo>
                    <a:pt x="2345436" y="0"/>
                  </a:lnTo>
                </a:path>
                <a:path w="2588260" h="344805">
                  <a:moveTo>
                    <a:pt x="2412491" y="0"/>
                  </a:moveTo>
                  <a:lnTo>
                    <a:pt x="2426208" y="0"/>
                  </a:lnTo>
                </a:path>
                <a:path w="2588260" h="344805">
                  <a:moveTo>
                    <a:pt x="2493264" y="0"/>
                  </a:moveTo>
                  <a:lnTo>
                    <a:pt x="2506980" y="0"/>
                  </a:lnTo>
                </a:path>
                <a:path w="2588260" h="344805">
                  <a:moveTo>
                    <a:pt x="2574036" y="0"/>
                  </a:moveTo>
                  <a:lnTo>
                    <a:pt x="2587752" y="0"/>
                  </a:lnTo>
                </a:path>
                <a:path w="2588260" h="344805">
                  <a:moveTo>
                    <a:pt x="2374391" y="106680"/>
                  </a:moveTo>
                  <a:lnTo>
                    <a:pt x="2374391" y="34442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19" name="Graphic 113"/>
            <p:cNvSpPr/>
            <p:nvPr/>
          </p:nvSpPr>
          <p:spPr>
            <a:xfrm>
              <a:off x="11088529" y="4321649"/>
              <a:ext cx="161366" cy="167890"/>
            </a:xfrm>
            <a:custGeom>
              <a:avLst/>
              <a:gdLst/>
              <a:ahLst/>
              <a:cxnLst/>
              <a:rect l="l" t="t" r="r" b="b"/>
              <a:pathLst>
                <a:path w="120650" h="120650">
                  <a:moveTo>
                    <a:pt x="59435" y="0"/>
                  </a:moveTo>
                  <a:lnTo>
                    <a:pt x="0" y="120396"/>
                  </a:lnTo>
                  <a:lnTo>
                    <a:pt x="120395" y="120396"/>
                  </a:lnTo>
                  <a:lnTo>
                    <a:pt x="5943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0" name="Graphic 114"/>
            <p:cNvSpPr/>
            <p:nvPr/>
          </p:nvSpPr>
          <p:spPr>
            <a:xfrm>
              <a:off x="11088529" y="4321649"/>
              <a:ext cx="161366" cy="167890"/>
            </a:xfrm>
            <a:custGeom>
              <a:avLst/>
              <a:gdLst/>
              <a:ahLst/>
              <a:cxnLst/>
              <a:rect l="l" t="t" r="r" b="b"/>
              <a:pathLst>
                <a:path w="120650" h="120650">
                  <a:moveTo>
                    <a:pt x="0" y="120396"/>
                  </a:moveTo>
                  <a:lnTo>
                    <a:pt x="59435" y="0"/>
                  </a:lnTo>
                  <a:lnTo>
                    <a:pt x="120395" y="120396"/>
                  </a:lnTo>
                  <a:lnTo>
                    <a:pt x="0" y="120396"/>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1" name="Graphic 115"/>
            <p:cNvSpPr/>
            <p:nvPr/>
          </p:nvSpPr>
          <p:spPr>
            <a:xfrm>
              <a:off x="11088529" y="4777604"/>
              <a:ext cx="161366" cy="167890"/>
            </a:xfrm>
            <a:custGeom>
              <a:avLst/>
              <a:gdLst/>
              <a:ahLst/>
              <a:cxnLst/>
              <a:rect l="l" t="t" r="r" b="b"/>
              <a:pathLst>
                <a:path w="120650" h="120650">
                  <a:moveTo>
                    <a:pt x="120395" y="0"/>
                  </a:moveTo>
                  <a:lnTo>
                    <a:pt x="0" y="0"/>
                  </a:lnTo>
                  <a:lnTo>
                    <a:pt x="59435" y="120396"/>
                  </a:lnTo>
                  <a:lnTo>
                    <a:pt x="12039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2" name="Graphic 116"/>
            <p:cNvSpPr/>
            <p:nvPr/>
          </p:nvSpPr>
          <p:spPr>
            <a:xfrm>
              <a:off x="11088529" y="3990816"/>
              <a:ext cx="161366" cy="954323"/>
            </a:xfrm>
            <a:custGeom>
              <a:avLst/>
              <a:gdLst/>
              <a:ahLst/>
              <a:cxnLst/>
              <a:rect l="l" t="t" r="r" b="b"/>
              <a:pathLst>
                <a:path w="120650" h="685800">
                  <a:moveTo>
                    <a:pt x="120395" y="565403"/>
                  </a:moveTo>
                  <a:lnTo>
                    <a:pt x="59435" y="685800"/>
                  </a:lnTo>
                  <a:lnTo>
                    <a:pt x="0" y="565403"/>
                  </a:lnTo>
                  <a:lnTo>
                    <a:pt x="120395" y="565403"/>
                  </a:lnTo>
                  <a:close/>
                </a:path>
                <a:path w="120650" h="685800">
                  <a:moveTo>
                    <a:pt x="59435" y="0"/>
                  </a:moveTo>
                  <a:lnTo>
                    <a:pt x="59435" y="132587"/>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3" name="Graphic 117"/>
            <p:cNvSpPr/>
            <p:nvPr/>
          </p:nvSpPr>
          <p:spPr>
            <a:xfrm>
              <a:off x="11088529" y="3844487"/>
              <a:ext cx="161366" cy="169657"/>
            </a:xfrm>
            <a:custGeom>
              <a:avLst/>
              <a:gdLst/>
              <a:ahLst/>
              <a:cxnLst/>
              <a:rect l="l" t="t" r="r" b="b"/>
              <a:pathLst>
                <a:path w="120650" h="121920">
                  <a:moveTo>
                    <a:pt x="59435" y="0"/>
                  </a:moveTo>
                  <a:lnTo>
                    <a:pt x="0" y="121920"/>
                  </a:lnTo>
                  <a:lnTo>
                    <a:pt x="120395" y="121920"/>
                  </a:lnTo>
                  <a:lnTo>
                    <a:pt x="5943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4" name="Graphic 118"/>
            <p:cNvSpPr/>
            <p:nvPr/>
          </p:nvSpPr>
          <p:spPr>
            <a:xfrm>
              <a:off x="11088529" y="3844487"/>
              <a:ext cx="161366" cy="169657"/>
            </a:xfrm>
            <a:custGeom>
              <a:avLst/>
              <a:gdLst/>
              <a:ahLst/>
              <a:cxnLst/>
              <a:rect l="l" t="t" r="r" b="b"/>
              <a:pathLst>
                <a:path w="120650" h="121920">
                  <a:moveTo>
                    <a:pt x="0" y="121920"/>
                  </a:moveTo>
                  <a:lnTo>
                    <a:pt x="59435" y="0"/>
                  </a:lnTo>
                  <a:lnTo>
                    <a:pt x="120395" y="121920"/>
                  </a:lnTo>
                  <a:lnTo>
                    <a:pt x="0" y="121920"/>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5" name="Graphic 119"/>
            <p:cNvSpPr/>
            <p:nvPr/>
          </p:nvSpPr>
          <p:spPr>
            <a:xfrm>
              <a:off x="11088529" y="4154113"/>
              <a:ext cx="161366" cy="167890"/>
            </a:xfrm>
            <a:custGeom>
              <a:avLst/>
              <a:gdLst/>
              <a:ahLst/>
              <a:cxnLst/>
              <a:rect l="l" t="t" r="r" b="b"/>
              <a:pathLst>
                <a:path w="120650" h="120650">
                  <a:moveTo>
                    <a:pt x="120395" y="0"/>
                  </a:moveTo>
                  <a:lnTo>
                    <a:pt x="0" y="0"/>
                  </a:lnTo>
                  <a:lnTo>
                    <a:pt x="59435" y="120395"/>
                  </a:lnTo>
                  <a:lnTo>
                    <a:pt x="12039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6" name="Graphic 120"/>
            <p:cNvSpPr/>
            <p:nvPr/>
          </p:nvSpPr>
          <p:spPr>
            <a:xfrm>
              <a:off x="11088529" y="4154113"/>
              <a:ext cx="161366" cy="167890"/>
            </a:xfrm>
            <a:custGeom>
              <a:avLst/>
              <a:gdLst/>
              <a:ahLst/>
              <a:cxnLst/>
              <a:rect l="l" t="t" r="r" b="b"/>
              <a:pathLst>
                <a:path w="120650" h="120650">
                  <a:moveTo>
                    <a:pt x="120395" y="0"/>
                  </a:moveTo>
                  <a:lnTo>
                    <a:pt x="59435" y="120395"/>
                  </a:lnTo>
                  <a:lnTo>
                    <a:pt x="0" y="0"/>
                  </a:lnTo>
                  <a:lnTo>
                    <a:pt x="120395" y="0"/>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7" name="Textbox 121"/>
            <p:cNvSpPr txBox="1"/>
            <p:nvPr/>
          </p:nvSpPr>
          <p:spPr>
            <a:xfrm>
              <a:off x="8828050" y="3388167"/>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(x</a:t>
              </a:r>
              <a:r>
                <a:rPr kumimoji="0" lang="vi-VN" sz="1050"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r>
                <a:rPr kumimoji="0" lang="vi-VN" b="0" i="0" u="none" strike="noStrike" kern="0" cap="none" spc="1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 </a:t>
              </a: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28" name="Textbox 122"/>
            <p:cNvSpPr txBox="1"/>
            <p:nvPr/>
          </p:nvSpPr>
          <p:spPr>
            <a:xfrm>
              <a:off x="9711317" y="3792721"/>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P</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29" name="Textbox 123"/>
            <p:cNvSpPr txBox="1"/>
            <p:nvPr/>
          </p:nvSpPr>
          <p:spPr>
            <a:xfrm>
              <a:off x="11404467" y="3909865"/>
              <a:ext cx="249692" cy="945487"/>
            </a:xfrm>
            <a:prstGeom prst="rect">
              <a:avLst/>
            </a:prstGeom>
          </p:spPr>
          <p:txBody>
            <a:bodyPr wrap="square" lIns="0" tIns="0" rIns="0" bIns="0" rtlCol="0">
              <a:noAutofit/>
            </a:bodyPr>
            <a:lstStyle/>
            <a:p>
              <a:pPr marL="0" marR="0" lvl="0" indent="0" defTabSz="914400" eaLnBrk="1" fontAlgn="auto" latinLnBrk="0" hangingPunct="1">
                <a:lnSpc>
                  <a:spcPct val="96000"/>
                </a:lnSpc>
                <a:spcBef>
                  <a:spcPts val="0"/>
                </a:spcBef>
                <a:spcAft>
                  <a:spcPts val="0"/>
                </a:spcAft>
                <a:buClrTx/>
                <a:buSzTx/>
                <a:buFontTx/>
                <a:buNone/>
                <a:tabLst/>
                <a:defRPr/>
              </a:pP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d</a:t>
              </a:r>
              <a:r>
                <a:rPr kumimoji="0" lang="vi-VN" sz="1050"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2</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a:p>
              <a:pPr marL="0" marR="0" lvl="0" indent="0" defTabSz="914400" eaLnBrk="1" fontAlgn="auto" latinLnBrk="0" hangingPunct="1">
                <a:lnSpc>
                  <a:spcPct val="100000"/>
                </a:lnSpc>
                <a:spcBef>
                  <a:spcPts val="180"/>
                </a:spcBef>
                <a:spcAft>
                  <a:spcPts val="0"/>
                </a:spcAft>
                <a:buClrTx/>
                <a:buSzTx/>
                <a:buFontTx/>
                <a:buNone/>
                <a:tabLst/>
                <a:defRPr/>
              </a:pPr>
              <a:r>
                <a:rPr kumimoji="0" lang="vi-VN" sz="1050"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 </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d</a:t>
              </a:r>
              <a:r>
                <a:rPr kumimoji="0" lang="vi-VN" sz="1050"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0" name="Textbox 124"/>
            <p:cNvSpPr txBox="1"/>
            <p:nvPr/>
          </p:nvSpPr>
          <p:spPr>
            <a:xfrm>
              <a:off x="9711317" y="4883109"/>
              <a:ext cx="151687" cy="170328"/>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S</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1" name="Textbox 121"/>
            <p:cNvSpPr txBox="1"/>
            <p:nvPr/>
          </p:nvSpPr>
          <p:spPr>
            <a:xfrm>
              <a:off x="7396480" y="3599330"/>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vi-VN" sz="1050"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2" name="Textbox 121"/>
            <p:cNvSpPr txBox="1"/>
            <p:nvPr/>
          </p:nvSpPr>
          <p:spPr>
            <a:xfrm>
              <a:off x="7469859" y="4112576"/>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3" name="Textbox 121"/>
            <p:cNvSpPr txBox="1"/>
            <p:nvPr/>
          </p:nvSpPr>
          <p:spPr>
            <a:xfrm>
              <a:off x="7459177" y="4747559"/>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4" name="Textbox 121"/>
            <p:cNvSpPr txBox="1"/>
            <p:nvPr/>
          </p:nvSpPr>
          <p:spPr>
            <a:xfrm>
              <a:off x="8734098" y="5059737"/>
              <a:ext cx="358470"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5" name="Textbox 121"/>
            <p:cNvSpPr txBox="1"/>
            <p:nvPr/>
          </p:nvSpPr>
          <p:spPr>
            <a:xfrm>
              <a:off x="9816559" y="5062222"/>
              <a:ext cx="467012"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smtClea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en-US" b="0" i="0" u="none" strike="noStrike" kern="0" cap="none" spc="0" normalizeH="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6" name="Textbox 122"/>
            <p:cNvSpPr txBox="1"/>
            <p:nvPr/>
          </p:nvSpPr>
          <p:spPr>
            <a:xfrm>
              <a:off x="9911749" y="4401492"/>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lang="en-US" sz="1400" b="1" kern="0" spc="-5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R</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grpSp>
    </p:spTree>
    <p:extLst>
      <p:ext uri="{BB962C8B-B14F-4D97-AF65-F5344CB8AC3E}">
        <p14:creationId xmlns:p14="http://schemas.microsoft.com/office/powerpoint/2010/main" val="1686846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normAutofit/>
          </a:bodyPr>
          <a:lstStyle/>
          <a:p>
            <a:r>
              <a:rPr lang="en-US" b="1" smtClean="0"/>
              <a:t>Giải thuật Bresenham</a:t>
            </a:r>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26</a:t>
            </a:fld>
            <a:endParaRPr lang="en-US"/>
          </a:p>
        </p:txBody>
      </p:sp>
      <p:sp>
        <p:nvSpPr>
          <p:cNvPr id="3" name="Content Placeholder 2"/>
          <p:cNvSpPr>
            <a:spLocks noGrp="1"/>
          </p:cNvSpPr>
          <p:nvPr>
            <p:ph idx="1"/>
          </p:nvPr>
        </p:nvSpPr>
        <p:spPr>
          <a:xfrm>
            <a:off x="1898795" y="4633566"/>
            <a:ext cx="6592096" cy="2955598"/>
          </a:xfrm>
        </p:spPr>
        <p:txBody>
          <a:bodyPr>
            <a:noAutofit/>
          </a:bodyPr>
          <a:lstStyle/>
          <a:p>
            <a:r>
              <a:rPr lang="en-US" smtClean="0">
                <a:latin typeface="Calibri" panose="020F0502020204030204" pitchFamily="34" charset="0"/>
                <a:ea typeface="Calibri" panose="020F0502020204030204" pitchFamily="34" charset="0"/>
                <a:cs typeface="Calibri" panose="020F0502020204030204" pitchFamily="34" charset="0"/>
              </a:rPr>
              <a:t>Tính P1: thay điểm (x</a:t>
            </a:r>
            <a:r>
              <a:rPr lang="en-US" baseline="-25000" smtClean="0">
                <a:latin typeface="Calibri" panose="020F0502020204030204" pitchFamily="34" charset="0"/>
                <a:ea typeface="Calibri" panose="020F0502020204030204" pitchFamily="34" charset="0"/>
                <a:cs typeface="Calibri" panose="020F0502020204030204" pitchFamily="34" charset="0"/>
              </a:rPr>
              <a:t>1</a:t>
            </a:r>
            <a:r>
              <a:rPr lang="en-US" smtClean="0">
                <a:latin typeface="Calibri" panose="020F0502020204030204" pitchFamily="34" charset="0"/>
                <a:ea typeface="Calibri" panose="020F0502020204030204" pitchFamily="34" charset="0"/>
                <a:cs typeface="Calibri" panose="020F0502020204030204" pitchFamily="34" charset="0"/>
              </a:rPr>
              <a:t>,y</a:t>
            </a:r>
            <a:r>
              <a:rPr lang="en-US" baseline="-25000" smtClean="0">
                <a:latin typeface="Calibri" panose="020F0502020204030204" pitchFamily="34" charset="0"/>
                <a:ea typeface="Calibri" panose="020F0502020204030204" pitchFamily="34" charset="0"/>
                <a:cs typeface="Calibri" panose="020F0502020204030204" pitchFamily="34" charset="0"/>
              </a:rPr>
              <a:t>1</a:t>
            </a:r>
            <a:r>
              <a:rPr lang="en-US" smtClean="0">
                <a:latin typeface="Calibri" panose="020F0502020204030204" pitchFamily="34" charset="0"/>
                <a:ea typeface="Calibri" panose="020F0502020204030204" pitchFamily="34" charset="0"/>
                <a:cs typeface="Calibri" panose="020F0502020204030204" pitchFamily="34" charset="0"/>
              </a:rPr>
              <a:t>) vào P</a:t>
            </a:r>
            <a:r>
              <a:rPr lang="en-US" baseline="-25000" smtClean="0">
                <a:latin typeface="Calibri" panose="020F0502020204030204" pitchFamily="34" charset="0"/>
                <a:ea typeface="Calibri" panose="020F0502020204030204" pitchFamily="34" charset="0"/>
                <a:cs typeface="Calibri" panose="020F0502020204030204" pitchFamily="34" charset="0"/>
              </a:rPr>
              <a:t>1</a:t>
            </a:r>
          </a:p>
          <a:p>
            <a:pPr marL="0" indent="0">
              <a:buNone/>
            </a:pPr>
            <a:r>
              <a:rPr lang="en-US" smtClean="0">
                <a:latin typeface="Calibri" panose="020F0502020204030204" pitchFamily="34" charset="0"/>
                <a:ea typeface="Calibri" panose="020F0502020204030204" pitchFamily="34" charset="0"/>
                <a:cs typeface="Calibri" panose="020F0502020204030204" pitchFamily="34" charset="0"/>
              </a:rPr>
              <a:t>P</a:t>
            </a:r>
            <a:r>
              <a:rPr lang="en-US" baseline="-25000" smtClean="0">
                <a:latin typeface="Calibri" panose="020F0502020204030204" pitchFamily="34" charset="0"/>
                <a:ea typeface="Calibri" panose="020F0502020204030204" pitchFamily="34" charset="0"/>
                <a:cs typeface="Calibri" panose="020F0502020204030204" pitchFamily="34" charset="0"/>
              </a:rPr>
              <a:t>1</a:t>
            </a:r>
            <a:r>
              <a:rPr lang="en-US" smtClean="0">
                <a:latin typeface="Calibri" panose="020F0502020204030204" pitchFamily="34" charset="0"/>
                <a:ea typeface="Calibri" panose="020F0502020204030204" pitchFamily="34" charset="0"/>
                <a:cs typeface="Calibri" panose="020F0502020204030204" pitchFamily="34" charset="0"/>
              </a:rPr>
              <a:t>=2dyx</a:t>
            </a:r>
            <a:r>
              <a:rPr lang="en-US" baseline="-25000" smtClean="0">
                <a:latin typeface="Calibri" panose="020F0502020204030204" pitchFamily="34" charset="0"/>
                <a:ea typeface="Calibri" panose="020F0502020204030204" pitchFamily="34" charset="0"/>
                <a:cs typeface="Calibri" panose="020F0502020204030204" pitchFamily="34" charset="0"/>
              </a:rPr>
              <a:t>1</a:t>
            </a:r>
            <a:r>
              <a:rPr lang="en-US" smtClean="0">
                <a:latin typeface="Calibri" panose="020F0502020204030204" pitchFamily="34" charset="0"/>
                <a:ea typeface="Calibri" panose="020F0502020204030204" pitchFamily="34" charset="0"/>
                <a:cs typeface="Calibri" panose="020F0502020204030204" pitchFamily="34" charset="0"/>
              </a:rPr>
              <a:t>-2dxy</a:t>
            </a:r>
            <a:r>
              <a:rPr lang="en-US" baseline="-25000" smtClean="0">
                <a:latin typeface="Calibri" panose="020F0502020204030204" pitchFamily="34" charset="0"/>
                <a:ea typeface="Calibri" panose="020F0502020204030204" pitchFamily="34" charset="0"/>
                <a:cs typeface="Calibri" panose="020F0502020204030204" pitchFamily="34" charset="0"/>
              </a:rPr>
              <a:t>1</a:t>
            </a:r>
            <a:r>
              <a:rPr lang="en-US" smtClean="0">
                <a:latin typeface="Calibri" panose="020F0502020204030204" pitchFamily="34" charset="0"/>
                <a:ea typeface="Calibri" panose="020F0502020204030204" pitchFamily="34" charset="0"/>
                <a:cs typeface="Calibri" panose="020F0502020204030204" pitchFamily="34" charset="0"/>
              </a:rPr>
              <a:t>+c</a:t>
            </a:r>
          </a:p>
          <a:p>
            <a:pPr marL="0" indent="0">
              <a:buNone/>
            </a:pPr>
            <a:r>
              <a:rPr lang="en-US" smtClean="0">
                <a:latin typeface="Calibri" panose="020F0502020204030204" pitchFamily="34" charset="0"/>
                <a:ea typeface="Calibri" panose="020F0502020204030204" pitchFamily="34" charset="0"/>
                <a:cs typeface="Calibri" panose="020F0502020204030204" pitchFamily="34" charset="0"/>
              </a:rPr>
              <a:t>Với c =2dy+(2m-1)dx</a:t>
            </a:r>
          </a:p>
          <a:p>
            <a:pPr marL="0" indent="0">
              <a:buNone/>
            </a:pPr>
            <a:r>
              <a:rPr lang="en-US" smtClean="0">
                <a:latin typeface="Calibri" panose="020F0502020204030204" pitchFamily="34" charset="0"/>
                <a:ea typeface="Calibri" panose="020F0502020204030204" pitchFamily="34" charset="0"/>
                <a:cs typeface="Calibri" panose="020F0502020204030204" pitchFamily="34" charset="0"/>
              </a:rPr>
              <a:t>m=y</a:t>
            </a:r>
            <a:r>
              <a:rPr lang="en-US" baseline="-25000" smtClean="0">
                <a:latin typeface="Calibri" panose="020F0502020204030204" pitchFamily="34" charset="0"/>
                <a:ea typeface="Calibri" panose="020F0502020204030204" pitchFamily="34" charset="0"/>
                <a:cs typeface="Calibri" panose="020F0502020204030204" pitchFamily="34" charset="0"/>
              </a:rPr>
              <a:t>1</a:t>
            </a:r>
            <a:r>
              <a:rPr lang="en-US" smtClean="0">
                <a:latin typeface="Calibri" panose="020F0502020204030204" pitchFamily="34" charset="0"/>
                <a:ea typeface="Calibri" panose="020F0502020204030204" pitchFamily="34" charset="0"/>
                <a:cs typeface="Calibri" panose="020F0502020204030204" pitchFamily="34" charset="0"/>
              </a:rPr>
              <a:t>-kx</a:t>
            </a:r>
            <a:r>
              <a:rPr lang="en-US" baseline="-25000" smtClean="0">
                <a:latin typeface="Calibri" panose="020F0502020204030204" pitchFamily="34" charset="0"/>
                <a:ea typeface="Calibri" panose="020F0502020204030204" pitchFamily="34" charset="0"/>
                <a:cs typeface="Calibri" panose="020F0502020204030204" pitchFamily="34" charset="0"/>
              </a:rPr>
              <a:t>1</a:t>
            </a:r>
            <a:r>
              <a:rPr lang="en-US" smtClean="0">
                <a:latin typeface="Calibri" panose="020F0502020204030204" pitchFamily="34" charset="0"/>
                <a:ea typeface="Calibri" panose="020F0502020204030204" pitchFamily="34" charset="0"/>
                <a:cs typeface="Calibri" panose="020F0502020204030204" pitchFamily="34" charset="0"/>
              </a:rPr>
              <a:t> , k=dy/dx</a:t>
            </a:r>
          </a:p>
          <a:p>
            <a:pPr marL="0" indent="0">
              <a:buNone/>
            </a:pPr>
            <a:r>
              <a:rPr lang="en-US" smtClean="0">
                <a:latin typeface="Calibri" panose="020F0502020204030204" pitchFamily="34" charset="0"/>
                <a:ea typeface="Calibri" panose="020F0502020204030204" pitchFamily="34" charset="0"/>
                <a:cs typeface="Calibri" panose="020F0502020204030204" pitchFamily="34" charset="0"/>
              </a:rPr>
              <a:t>P1=2dyx1-2dxy1+2dy+(2(y</a:t>
            </a:r>
            <a:r>
              <a:rPr lang="en-US" baseline="-25000" smtClean="0">
                <a:latin typeface="Calibri" panose="020F0502020204030204" pitchFamily="34" charset="0"/>
                <a:ea typeface="Calibri" panose="020F0502020204030204" pitchFamily="34" charset="0"/>
                <a:cs typeface="Calibri" panose="020F0502020204030204" pitchFamily="34" charset="0"/>
              </a:rPr>
              <a:t>1</a:t>
            </a:r>
            <a:r>
              <a:rPr lang="en-US" smtClean="0">
                <a:latin typeface="Calibri" panose="020F0502020204030204" pitchFamily="34" charset="0"/>
                <a:ea typeface="Calibri" panose="020F0502020204030204" pitchFamily="34" charset="0"/>
                <a:cs typeface="Calibri" panose="020F0502020204030204" pitchFamily="34" charset="0"/>
              </a:rPr>
              <a:t>-x</a:t>
            </a:r>
            <a:r>
              <a:rPr lang="en-US" baseline="-25000" smtClean="0">
                <a:latin typeface="Calibri" panose="020F0502020204030204" pitchFamily="34" charset="0"/>
                <a:ea typeface="Calibri" panose="020F0502020204030204" pitchFamily="34" charset="0"/>
                <a:cs typeface="Calibri" panose="020F0502020204030204" pitchFamily="34" charset="0"/>
              </a:rPr>
              <a:t>1</a:t>
            </a:r>
            <a:r>
              <a:rPr lang="en-US" smtClean="0">
                <a:latin typeface="Calibri" panose="020F0502020204030204" pitchFamily="34" charset="0"/>
                <a:ea typeface="Calibri" panose="020F0502020204030204" pitchFamily="34" charset="0"/>
                <a:cs typeface="Calibri" panose="020F0502020204030204" pitchFamily="34" charset="0"/>
              </a:rPr>
              <a:t>dy/dx)-1)dx</a:t>
            </a:r>
          </a:p>
          <a:p>
            <a:pPr marL="0" indent="0">
              <a:buNone/>
            </a:pPr>
            <a:r>
              <a:rPr lang="en-US">
                <a:latin typeface="Calibri" panose="020F0502020204030204" pitchFamily="34" charset="0"/>
                <a:ea typeface="Calibri" panose="020F0502020204030204" pitchFamily="34" charset="0"/>
                <a:cs typeface="Calibri" panose="020F0502020204030204" pitchFamily="34" charset="0"/>
              </a:rPr>
              <a:t>P1=2dyx1-2dxy1+2dy+(</a:t>
            </a:r>
            <a:r>
              <a:rPr lang="en-US" smtClean="0">
                <a:latin typeface="Calibri" panose="020F0502020204030204" pitchFamily="34" charset="0"/>
                <a:ea typeface="Calibri" panose="020F0502020204030204" pitchFamily="34" charset="0"/>
                <a:cs typeface="Calibri" panose="020F0502020204030204" pitchFamily="34" charset="0"/>
              </a:rPr>
              <a:t>2dx(y</a:t>
            </a:r>
            <a:r>
              <a:rPr lang="en-US" baseline="-25000" smtClean="0">
                <a:latin typeface="Calibri" panose="020F0502020204030204" pitchFamily="34" charset="0"/>
                <a:ea typeface="Calibri" panose="020F0502020204030204" pitchFamily="34" charset="0"/>
                <a:cs typeface="Calibri" panose="020F0502020204030204" pitchFamily="34" charset="0"/>
              </a:rPr>
              <a:t>1</a:t>
            </a:r>
            <a:r>
              <a:rPr lang="en-US" smtClean="0">
                <a:latin typeface="Calibri" panose="020F0502020204030204" pitchFamily="34" charset="0"/>
                <a:ea typeface="Calibri" panose="020F0502020204030204" pitchFamily="34" charset="0"/>
                <a:cs typeface="Calibri" panose="020F0502020204030204" pitchFamily="34" charset="0"/>
              </a:rPr>
              <a:t>-x</a:t>
            </a:r>
            <a:r>
              <a:rPr lang="en-US" baseline="-25000" smtClean="0">
                <a:latin typeface="Calibri" panose="020F0502020204030204" pitchFamily="34" charset="0"/>
                <a:ea typeface="Calibri" panose="020F0502020204030204" pitchFamily="34" charset="0"/>
                <a:cs typeface="Calibri" panose="020F0502020204030204" pitchFamily="34" charset="0"/>
              </a:rPr>
              <a:t>1</a:t>
            </a:r>
            <a:r>
              <a:rPr lang="en-US" smtClean="0">
                <a:latin typeface="Calibri" panose="020F0502020204030204" pitchFamily="34" charset="0"/>
                <a:ea typeface="Calibri" panose="020F0502020204030204" pitchFamily="34" charset="0"/>
                <a:cs typeface="Calibri" panose="020F0502020204030204" pitchFamily="34" charset="0"/>
              </a:rPr>
              <a:t>dy/dx)-dx)</a:t>
            </a:r>
          </a:p>
          <a:p>
            <a:pPr marL="0" indent="0">
              <a:buNone/>
            </a:pPr>
            <a:r>
              <a:rPr lang="en-US">
                <a:latin typeface="Calibri" panose="020F0502020204030204" pitchFamily="34" charset="0"/>
                <a:ea typeface="Calibri" panose="020F0502020204030204" pitchFamily="34" charset="0"/>
                <a:cs typeface="Calibri" panose="020F0502020204030204" pitchFamily="34" charset="0"/>
              </a:rPr>
              <a:t>P1=2dyx1-2dxy1+2dy+(</a:t>
            </a:r>
            <a:r>
              <a:rPr lang="en-US" smtClean="0">
                <a:latin typeface="Calibri" panose="020F0502020204030204" pitchFamily="34" charset="0"/>
                <a:ea typeface="Calibri" panose="020F0502020204030204" pitchFamily="34" charset="0"/>
                <a:cs typeface="Calibri" panose="020F0502020204030204" pitchFamily="34" charset="0"/>
              </a:rPr>
              <a:t>2dxy</a:t>
            </a:r>
            <a:r>
              <a:rPr lang="en-US" baseline="-25000" smtClean="0">
                <a:latin typeface="Calibri" panose="020F0502020204030204" pitchFamily="34" charset="0"/>
                <a:ea typeface="Calibri" panose="020F0502020204030204" pitchFamily="34" charset="0"/>
                <a:cs typeface="Calibri" panose="020F0502020204030204" pitchFamily="34" charset="0"/>
              </a:rPr>
              <a:t>1</a:t>
            </a:r>
            <a:r>
              <a:rPr lang="en-US" smtClean="0">
                <a:latin typeface="Calibri" panose="020F0502020204030204" pitchFamily="34" charset="0"/>
                <a:ea typeface="Calibri" panose="020F0502020204030204" pitchFamily="34" charset="0"/>
                <a:cs typeface="Calibri" panose="020F0502020204030204" pitchFamily="34" charset="0"/>
              </a:rPr>
              <a:t>-2dy</a:t>
            </a:r>
            <a:r>
              <a:rPr lang="en-US">
                <a:latin typeface="Calibri" panose="020F0502020204030204" pitchFamily="34" charset="0"/>
                <a:ea typeface="Calibri" panose="020F0502020204030204" pitchFamily="34" charset="0"/>
                <a:cs typeface="Calibri" panose="020F0502020204030204" pitchFamily="34" charset="0"/>
              </a:rPr>
              <a:t>x</a:t>
            </a:r>
            <a:r>
              <a:rPr lang="en-US" baseline="-25000">
                <a:latin typeface="Calibri" panose="020F0502020204030204" pitchFamily="34" charset="0"/>
                <a:ea typeface="Calibri" panose="020F0502020204030204" pitchFamily="34" charset="0"/>
                <a:cs typeface="Calibri" panose="020F0502020204030204" pitchFamily="34" charset="0"/>
              </a:rPr>
              <a:t>1</a:t>
            </a:r>
            <a:r>
              <a:rPr lang="en-US" smtClean="0">
                <a:latin typeface="Calibri" panose="020F0502020204030204" pitchFamily="34" charset="0"/>
                <a:ea typeface="Calibri" panose="020F0502020204030204" pitchFamily="34" charset="0"/>
                <a:cs typeface="Calibri" panose="020F0502020204030204" pitchFamily="34" charset="0"/>
              </a:rPr>
              <a:t>-dx)</a:t>
            </a:r>
          </a:p>
          <a:p>
            <a:pPr marL="0" indent="0">
              <a:buNone/>
            </a:pPr>
            <a:r>
              <a:rPr lang="en-US" smtClean="0">
                <a:latin typeface="Calibri" panose="020F0502020204030204" pitchFamily="34" charset="0"/>
                <a:ea typeface="Calibri" panose="020F0502020204030204" pitchFamily="34" charset="0"/>
                <a:cs typeface="Calibri" panose="020F0502020204030204" pitchFamily="34" charset="0"/>
              </a:rPr>
              <a:t>P1=2dyx1-2dxy1+2dy+2dxy</a:t>
            </a:r>
            <a:r>
              <a:rPr lang="en-US" baseline="-25000" smtClean="0">
                <a:latin typeface="Calibri" panose="020F0502020204030204" pitchFamily="34" charset="0"/>
                <a:ea typeface="Calibri" panose="020F0502020204030204" pitchFamily="34" charset="0"/>
                <a:cs typeface="Calibri" panose="020F0502020204030204" pitchFamily="34" charset="0"/>
              </a:rPr>
              <a:t>1</a:t>
            </a:r>
            <a:r>
              <a:rPr lang="en-US" smtClean="0">
                <a:latin typeface="Calibri" panose="020F0502020204030204" pitchFamily="34" charset="0"/>
                <a:ea typeface="Calibri" panose="020F0502020204030204" pitchFamily="34" charset="0"/>
                <a:cs typeface="Calibri" panose="020F0502020204030204" pitchFamily="34" charset="0"/>
              </a:rPr>
              <a:t>-2dyx</a:t>
            </a:r>
            <a:r>
              <a:rPr lang="en-US" baseline="-25000" smtClean="0">
                <a:latin typeface="Calibri" panose="020F0502020204030204" pitchFamily="34" charset="0"/>
                <a:ea typeface="Calibri" panose="020F0502020204030204" pitchFamily="34" charset="0"/>
                <a:cs typeface="Calibri" panose="020F0502020204030204" pitchFamily="34" charset="0"/>
              </a:rPr>
              <a:t>1</a:t>
            </a:r>
            <a:r>
              <a:rPr lang="en-US" smtClean="0">
                <a:latin typeface="Calibri" panose="020F0502020204030204" pitchFamily="34" charset="0"/>
                <a:ea typeface="Calibri" panose="020F0502020204030204" pitchFamily="34" charset="0"/>
                <a:cs typeface="Calibri" panose="020F0502020204030204" pitchFamily="34" charset="0"/>
              </a:rPr>
              <a:t>-dx</a:t>
            </a:r>
          </a:p>
          <a:p>
            <a:pPr marL="0" indent="0">
              <a:buNone/>
            </a:pPr>
            <a:r>
              <a:rPr lang="en-US" smtClean="0">
                <a:latin typeface="Calibri" panose="020F0502020204030204" pitchFamily="34" charset="0"/>
                <a:ea typeface="Calibri" panose="020F0502020204030204" pitchFamily="34" charset="0"/>
                <a:cs typeface="Calibri" panose="020F0502020204030204" pitchFamily="34" charset="0"/>
              </a:rPr>
              <a:t>P1=2dy-dx</a:t>
            </a:r>
            <a:endParaRPr lang="en-US">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a:solidFill>
                <a:schemeClr val="accent2">
                  <a:lumMod val="50000"/>
                </a:schemeClr>
              </a:solidFill>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mtClean="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mtClean="0">
              <a:latin typeface="Calibri" panose="020F0502020204030204" pitchFamily="34" charset="0"/>
              <a:ea typeface="Calibri" panose="020F0502020204030204" pitchFamily="34" charset="0"/>
              <a:cs typeface="Calibri" panose="020F0502020204030204" pitchFamily="34" charset="0"/>
            </a:endParaRPr>
          </a:p>
        </p:txBody>
      </p:sp>
      <p:grpSp>
        <p:nvGrpSpPr>
          <p:cNvPr id="4" name="Group 3"/>
          <p:cNvGrpSpPr/>
          <p:nvPr/>
        </p:nvGrpSpPr>
        <p:grpSpPr>
          <a:xfrm>
            <a:off x="7721600" y="2007946"/>
            <a:ext cx="4257679" cy="3671494"/>
            <a:chOff x="7396480" y="2007946"/>
            <a:chExt cx="4257679" cy="3671494"/>
          </a:xfrm>
        </p:grpSpPr>
        <p:sp>
          <p:nvSpPr>
            <p:cNvPr id="6" name="Graphic 101"/>
            <p:cNvSpPr/>
            <p:nvPr/>
          </p:nvSpPr>
          <p:spPr>
            <a:xfrm>
              <a:off x="108153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8" name="Graphic 102"/>
            <p:cNvSpPr/>
            <p:nvPr/>
          </p:nvSpPr>
          <p:spPr>
            <a:xfrm>
              <a:off x="7992344" y="2743834"/>
              <a:ext cx="3528815" cy="2202012"/>
            </a:xfrm>
            <a:custGeom>
              <a:avLst/>
              <a:gdLst/>
              <a:ahLst/>
              <a:cxnLst/>
              <a:rect l="l" t="t" r="r" b="b"/>
              <a:pathLst>
                <a:path w="2638425" h="1582420">
                  <a:moveTo>
                    <a:pt x="2638044" y="1581912"/>
                  </a:moveTo>
                  <a:lnTo>
                    <a:pt x="0" y="1581912"/>
                  </a:lnTo>
                </a:path>
                <a:path w="2638425" h="1582420">
                  <a:moveTo>
                    <a:pt x="2638044" y="0"/>
                  </a:moveTo>
                  <a:lnTo>
                    <a:pt x="0" y="0"/>
                  </a:lnTo>
                </a:path>
                <a:path w="2638425" h="1582420">
                  <a:moveTo>
                    <a:pt x="2638044" y="790955"/>
                  </a:moveTo>
                  <a:lnTo>
                    <a:pt x="0" y="790955"/>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9" name="Graphic 103"/>
            <p:cNvSpPr/>
            <p:nvPr/>
          </p:nvSpPr>
          <p:spPr>
            <a:xfrm>
              <a:off x="975547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10" name="Graphic 104"/>
            <p:cNvSpPr/>
            <p:nvPr/>
          </p:nvSpPr>
          <p:spPr>
            <a:xfrm>
              <a:off x="8697598" y="2007946"/>
              <a:ext cx="1699" cy="3671494"/>
            </a:xfrm>
            <a:custGeom>
              <a:avLst/>
              <a:gdLst/>
              <a:ahLst/>
              <a:cxnLst/>
              <a:rect l="l" t="t" r="r" b="b"/>
              <a:pathLst>
                <a:path h="2638425">
                  <a:moveTo>
                    <a:pt x="0" y="0"/>
                  </a:moveTo>
                  <a:lnTo>
                    <a:pt x="0" y="263804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1" name="Image 105"/>
            <p:cNvPicPr/>
            <p:nvPr/>
          </p:nvPicPr>
          <p:blipFill>
            <a:blip r:embed="rId2" cstate="print"/>
            <a:stretch>
              <a:fillRect/>
            </a:stretch>
          </p:blipFill>
          <p:spPr>
            <a:xfrm>
              <a:off x="8547782" y="4791389"/>
              <a:ext cx="299631" cy="309623"/>
            </a:xfrm>
            <a:prstGeom prst="rect">
              <a:avLst/>
            </a:prstGeom>
          </p:spPr>
        </p:pic>
        <p:sp>
          <p:nvSpPr>
            <p:cNvPr id="12" name="Graphic 106"/>
            <p:cNvSpPr/>
            <p:nvPr/>
          </p:nvSpPr>
          <p:spPr>
            <a:xfrm>
              <a:off x="7992344" y="3698157"/>
              <a:ext cx="3528815" cy="1247688"/>
            </a:xfrm>
            <a:custGeom>
              <a:avLst/>
              <a:gdLst/>
              <a:ahLst/>
              <a:cxnLst/>
              <a:rect l="l" t="t" r="r" b="b"/>
              <a:pathLst>
                <a:path w="2638425" h="896619">
                  <a:moveTo>
                    <a:pt x="0" y="896112"/>
                  </a:moveTo>
                  <a:lnTo>
                    <a:pt x="2638044" y="0"/>
                  </a:lnTo>
                </a:path>
              </a:pathLst>
            </a:custGeom>
            <a:ln w="22860">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3" name="Image 107"/>
            <p:cNvPicPr/>
            <p:nvPr/>
          </p:nvPicPr>
          <p:blipFill>
            <a:blip r:embed="rId3" cstate="print"/>
            <a:stretch>
              <a:fillRect/>
            </a:stretch>
          </p:blipFill>
          <p:spPr>
            <a:xfrm>
              <a:off x="9677005" y="4240002"/>
              <a:ext cx="158988" cy="165414"/>
            </a:xfrm>
            <a:prstGeom prst="rect">
              <a:avLst/>
            </a:prstGeom>
          </p:spPr>
        </p:pic>
        <p:sp>
          <p:nvSpPr>
            <p:cNvPr id="14" name="Graphic 108"/>
            <p:cNvSpPr/>
            <p:nvPr/>
          </p:nvSpPr>
          <p:spPr>
            <a:xfrm>
              <a:off x="9262210" y="3698157"/>
              <a:ext cx="302348" cy="439165"/>
            </a:xfrm>
            <a:custGeom>
              <a:avLst/>
              <a:gdLst/>
              <a:ahLst/>
              <a:cxnLst/>
              <a:rect l="l" t="t" r="r" b="b"/>
              <a:pathLst>
                <a:path w="226060" h="315595">
                  <a:moveTo>
                    <a:pt x="0" y="0"/>
                  </a:moveTo>
                  <a:lnTo>
                    <a:pt x="225551" y="315468"/>
                  </a:lnTo>
                </a:path>
              </a:pathLst>
            </a:custGeom>
            <a:ln w="4572">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pic>
          <p:nvPicPr>
            <p:cNvPr id="15" name="Image 109"/>
            <p:cNvPicPr/>
            <p:nvPr/>
          </p:nvPicPr>
          <p:blipFill>
            <a:blip r:embed="rId4" cstate="print"/>
            <a:stretch>
              <a:fillRect/>
            </a:stretch>
          </p:blipFill>
          <p:spPr>
            <a:xfrm>
              <a:off x="9509863" y="4091552"/>
              <a:ext cx="108030" cy="123000"/>
            </a:xfrm>
            <a:prstGeom prst="rect">
              <a:avLst/>
            </a:prstGeom>
          </p:spPr>
        </p:pic>
        <p:pic>
          <p:nvPicPr>
            <p:cNvPr id="16" name="Image 110"/>
            <p:cNvPicPr/>
            <p:nvPr/>
          </p:nvPicPr>
          <p:blipFill>
            <a:blip r:embed="rId5" cstate="print"/>
            <a:stretch>
              <a:fillRect/>
            </a:stretch>
          </p:blipFill>
          <p:spPr>
            <a:xfrm>
              <a:off x="9605662" y="3688615"/>
              <a:ext cx="299631" cy="311744"/>
            </a:xfrm>
            <a:prstGeom prst="rect">
              <a:avLst/>
            </a:prstGeom>
          </p:spPr>
        </p:pic>
        <p:pic>
          <p:nvPicPr>
            <p:cNvPr id="17" name="Image 111"/>
            <p:cNvPicPr/>
            <p:nvPr/>
          </p:nvPicPr>
          <p:blipFill>
            <a:blip r:embed="rId6" cstate="print"/>
            <a:stretch>
              <a:fillRect/>
            </a:stretch>
          </p:blipFill>
          <p:spPr>
            <a:xfrm>
              <a:off x="9605662" y="4791389"/>
              <a:ext cx="299631" cy="309623"/>
            </a:xfrm>
            <a:prstGeom prst="rect">
              <a:avLst/>
            </a:prstGeom>
          </p:spPr>
        </p:pic>
        <p:sp>
          <p:nvSpPr>
            <p:cNvPr id="18" name="Graphic 112"/>
            <p:cNvSpPr/>
            <p:nvPr/>
          </p:nvSpPr>
          <p:spPr>
            <a:xfrm>
              <a:off x="7992344" y="4321649"/>
              <a:ext cx="3461721" cy="479813"/>
            </a:xfrm>
            <a:custGeom>
              <a:avLst/>
              <a:gdLst/>
              <a:ahLst/>
              <a:cxnLst/>
              <a:rect l="l" t="t" r="r" b="b"/>
              <a:pathLst>
                <a:path w="2588260" h="344805">
                  <a:moveTo>
                    <a:pt x="0" y="0"/>
                  </a:moveTo>
                  <a:lnTo>
                    <a:pt x="13716" y="0"/>
                  </a:lnTo>
                </a:path>
                <a:path w="2588260" h="344805">
                  <a:moveTo>
                    <a:pt x="80772" y="0"/>
                  </a:moveTo>
                  <a:lnTo>
                    <a:pt x="92963" y="0"/>
                  </a:lnTo>
                </a:path>
                <a:path w="2588260" h="344805">
                  <a:moveTo>
                    <a:pt x="160019" y="0"/>
                  </a:moveTo>
                  <a:lnTo>
                    <a:pt x="173736" y="0"/>
                  </a:lnTo>
                </a:path>
                <a:path w="2588260" h="344805">
                  <a:moveTo>
                    <a:pt x="240792" y="0"/>
                  </a:moveTo>
                  <a:lnTo>
                    <a:pt x="254508" y="0"/>
                  </a:lnTo>
                </a:path>
                <a:path w="2588260" h="344805">
                  <a:moveTo>
                    <a:pt x="321563" y="0"/>
                  </a:moveTo>
                  <a:lnTo>
                    <a:pt x="335280" y="0"/>
                  </a:lnTo>
                </a:path>
                <a:path w="2588260" h="344805">
                  <a:moveTo>
                    <a:pt x="402336" y="0"/>
                  </a:moveTo>
                  <a:lnTo>
                    <a:pt x="414528" y="0"/>
                  </a:lnTo>
                </a:path>
                <a:path w="2588260" h="344805">
                  <a:moveTo>
                    <a:pt x="481584" y="0"/>
                  </a:moveTo>
                  <a:lnTo>
                    <a:pt x="495300" y="0"/>
                  </a:lnTo>
                </a:path>
                <a:path w="2588260" h="344805">
                  <a:moveTo>
                    <a:pt x="562356" y="0"/>
                  </a:moveTo>
                  <a:lnTo>
                    <a:pt x="576072" y="0"/>
                  </a:lnTo>
                </a:path>
                <a:path w="2588260" h="344805">
                  <a:moveTo>
                    <a:pt x="643127" y="0"/>
                  </a:moveTo>
                  <a:lnTo>
                    <a:pt x="656844" y="0"/>
                  </a:lnTo>
                </a:path>
                <a:path w="2588260" h="344805">
                  <a:moveTo>
                    <a:pt x="723900" y="0"/>
                  </a:moveTo>
                  <a:lnTo>
                    <a:pt x="737615" y="0"/>
                  </a:lnTo>
                </a:path>
                <a:path w="2588260" h="344805">
                  <a:moveTo>
                    <a:pt x="804672" y="0"/>
                  </a:moveTo>
                  <a:lnTo>
                    <a:pt x="816863" y="0"/>
                  </a:lnTo>
                </a:path>
                <a:path w="2588260" h="344805">
                  <a:moveTo>
                    <a:pt x="883920" y="0"/>
                  </a:moveTo>
                  <a:lnTo>
                    <a:pt x="897636" y="0"/>
                  </a:lnTo>
                </a:path>
                <a:path w="2588260" h="344805">
                  <a:moveTo>
                    <a:pt x="964691" y="0"/>
                  </a:moveTo>
                  <a:lnTo>
                    <a:pt x="978408" y="0"/>
                  </a:lnTo>
                </a:path>
                <a:path w="2588260" h="344805">
                  <a:moveTo>
                    <a:pt x="1045463" y="0"/>
                  </a:moveTo>
                  <a:lnTo>
                    <a:pt x="1059180" y="0"/>
                  </a:lnTo>
                </a:path>
                <a:path w="2588260" h="344805">
                  <a:moveTo>
                    <a:pt x="1126236" y="0"/>
                  </a:moveTo>
                  <a:lnTo>
                    <a:pt x="1138427" y="0"/>
                  </a:lnTo>
                </a:path>
                <a:path w="2588260" h="344805">
                  <a:moveTo>
                    <a:pt x="1205484" y="0"/>
                  </a:moveTo>
                  <a:lnTo>
                    <a:pt x="1219200" y="0"/>
                  </a:lnTo>
                </a:path>
                <a:path w="2588260" h="344805">
                  <a:moveTo>
                    <a:pt x="1286256" y="0"/>
                  </a:moveTo>
                  <a:lnTo>
                    <a:pt x="1299972" y="0"/>
                  </a:lnTo>
                </a:path>
                <a:path w="2588260" h="344805">
                  <a:moveTo>
                    <a:pt x="1367027" y="0"/>
                  </a:moveTo>
                  <a:lnTo>
                    <a:pt x="1380744" y="0"/>
                  </a:lnTo>
                </a:path>
                <a:path w="2588260" h="344805">
                  <a:moveTo>
                    <a:pt x="1447800" y="0"/>
                  </a:moveTo>
                  <a:lnTo>
                    <a:pt x="1461515" y="0"/>
                  </a:lnTo>
                </a:path>
                <a:path w="2588260" h="344805">
                  <a:moveTo>
                    <a:pt x="1528572" y="0"/>
                  </a:moveTo>
                  <a:lnTo>
                    <a:pt x="1540764" y="0"/>
                  </a:lnTo>
                </a:path>
                <a:path w="2588260" h="344805">
                  <a:moveTo>
                    <a:pt x="1607820" y="0"/>
                  </a:moveTo>
                  <a:lnTo>
                    <a:pt x="1621536" y="0"/>
                  </a:lnTo>
                </a:path>
                <a:path w="2588260" h="344805">
                  <a:moveTo>
                    <a:pt x="1688591" y="0"/>
                  </a:moveTo>
                  <a:lnTo>
                    <a:pt x="1702308" y="0"/>
                  </a:lnTo>
                </a:path>
                <a:path w="2588260" h="344805">
                  <a:moveTo>
                    <a:pt x="1769364" y="0"/>
                  </a:moveTo>
                  <a:lnTo>
                    <a:pt x="1783080" y="0"/>
                  </a:lnTo>
                </a:path>
                <a:path w="2588260" h="344805">
                  <a:moveTo>
                    <a:pt x="1850136" y="0"/>
                  </a:moveTo>
                  <a:lnTo>
                    <a:pt x="1863852" y="0"/>
                  </a:lnTo>
                </a:path>
                <a:path w="2588260" h="344805">
                  <a:moveTo>
                    <a:pt x="1929384" y="0"/>
                  </a:moveTo>
                  <a:lnTo>
                    <a:pt x="1943100" y="0"/>
                  </a:lnTo>
                </a:path>
                <a:path w="2588260" h="344805">
                  <a:moveTo>
                    <a:pt x="2010156" y="0"/>
                  </a:moveTo>
                  <a:lnTo>
                    <a:pt x="2023872" y="0"/>
                  </a:lnTo>
                </a:path>
                <a:path w="2588260" h="344805">
                  <a:moveTo>
                    <a:pt x="2090927" y="0"/>
                  </a:moveTo>
                  <a:lnTo>
                    <a:pt x="2104644" y="0"/>
                  </a:lnTo>
                </a:path>
                <a:path w="2588260" h="344805">
                  <a:moveTo>
                    <a:pt x="2171700" y="0"/>
                  </a:moveTo>
                  <a:lnTo>
                    <a:pt x="2185416" y="0"/>
                  </a:lnTo>
                </a:path>
                <a:path w="2588260" h="344805">
                  <a:moveTo>
                    <a:pt x="2252472" y="0"/>
                  </a:moveTo>
                  <a:lnTo>
                    <a:pt x="2264664" y="0"/>
                  </a:lnTo>
                </a:path>
                <a:path w="2588260" h="344805">
                  <a:moveTo>
                    <a:pt x="2331720" y="0"/>
                  </a:moveTo>
                  <a:lnTo>
                    <a:pt x="2345436" y="0"/>
                  </a:lnTo>
                </a:path>
                <a:path w="2588260" h="344805">
                  <a:moveTo>
                    <a:pt x="2412491" y="0"/>
                  </a:moveTo>
                  <a:lnTo>
                    <a:pt x="2426208" y="0"/>
                  </a:lnTo>
                </a:path>
                <a:path w="2588260" h="344805">
                  <a:moveTo>
                    <a:pt x="2493264" y="0"/>
                  </a:moveTo>
                  <a:lnTo>
                    <a:pt x="2506980" y="0"/>
                  </a:lnTo>
                </a:path>
                <a:path w="2588260" h="344805">
                  <a:moveTo>
                    <a:pt x="2574036" y="0"/>
                  </a:moveTo>
                  <a:lnTo>
                    <a:pt x="2587752" y="0"/>
                  </a:lnTo>
                </a:path>
                <a:path w="2588260" h="344805">
                  <a:moveTo>
                    <a:pt x="2374391" y="106680"/>
                  </a:moveTo>
                  <a:lnTo>
                    <a:pt x="2374391" y="344424"/>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19" name="Graphic 113"/>
            <p:cNvSpPr/>
            <p:nvPr/>
          </p:nvSpPr>
          <p:spPr>
            <a:xfrm>
              <a:off x="11088529" y="4321649"/>
              <a:ext cx="161366" cy="167890"/>
            </a:xfrm>
            <a:custGeom>
              <a:avLst/>
              <a:gdLst/>
              <a:ahLst/>
              <a:cxnLst/>
              <a:rect l="l" t="t" r="r" b="b"/>
              <a:pathLst>
                <a:path w="120650" h="120650">
                  <a:moveTo>
                    <a:pt x="59435" y="0"/>
                  </a:moveTo>
                  <a:lnTo>
                    <a:pt x="0" y="120396"/>
                  </a:lnTo>
                  <a:lnTo>
                    <a:pt x="120395" y="120396"/>
                  </a:lnTo>
                  <a:lnTo>
                    <a:pt x="5943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0" name="Graphic 114"/>
            <p:cNvSpPr/>
            <p:nvPr/>
          </p:nvSpPr>
          <p:spPr>
            <a:xfrm>
              <a:off x="11088529" y="4321649"/>
              <a:ext cx="161366" cy="167890"/>
            </a:xfrm>
            <a:custGeom>
              <a:avLst/>
              <a:gdLst/>
              <a:ahLst/>
              <a:cxnLst/>
              <a:rect l="l" t="t" r="r" b="b"/>
              <a:pathLst>
                <a:path w="120650" h="120650">
                  <a:moveTo>
                    <a:pt x="0" y="120396"/>
                  </a:moveTo>
                  <a:lnTo>
                    <a:pt x="59435" y="0"/>
                  </a:lnTo>
                  <a:lnTo>
                    <a:pt x="120395" y="120396"/>
                  </a:lnTo>
                  <a:lnTo>
                    <a:pt x="0" y="120396"/>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1" name="Graphic 115"/>
            <p:cNvSpPr/>
            <p:nvPr/>
          </p:nvSpPr>
          <p:spPr>
            <a:xfrm>
              <a:off x="11088529" y="4777604"/>
              <a:ext cx="161366" cy="167890"/>
            </a:xfrm>
            <a:custGeom>
              <a:avLst/>
              <a:gdLst/>
              <a:ahLst/>
              <a:cxnLst/>
              <a:rect l="l" t="t" r="r" b="b"/>
              <a:pathLst>
                <a:path w="120650" h="120650">
                  <a:moveTo>
                    <a:pt x="120395" y="0"/>
                  </a:moveTo>
                  <a:lnTo>
                    <a:pt x="0" y="0"/>
                  </a:lnTo>
                  <a:lnTo>
                    <a:pt x="59435" y="120396"/>
                  </a:lnTo>
                  <a:lnTo>
                    <a:pt x="12039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2" name="Graphic 116"/>
            <p:cNvSpPr/>
            <p:nvPr/>
          </p:nvSpPr>
          <p:spPr>
            <a:xfrm>
              <a:off x="11088529" y="3990816"/>
              <a:ext cx="161366" cy="954323"/>
            </a:xfrm>
            <a:custGeom>
              <a:avLst/>
              <a:gdLst/>
              <a:ahLst/>
              <a:cxnLst/>
              <a:rect l="l" t="t" r="r" b="b"/>
              <a:pathLst>
                <a:path w="120650" h="685800">
                  <a:moveTo>
                    <a:pt x="120395" y="565403"/>
                  </a:moveTo>
                  <a:lnTo>
                    <a:pt x="59435" y="685800"/>
                  </a:lnTo>
                  <a:lnTo>
                    <a:pt x="0" y="565403"/>
                  </a:lnTo>
                  <a:lnTo>
                    <a:pt x="120395" y="565403"/>
                  </a:lnTo>
                  <a:close/>
                </a:path>
                <a:path w="120650" h="685800">
                  <a:moveTo>
                    <a:pt x="59435" y="0"/>
                  </a:moveTo>
                  <a:lnTo>
                    <a:pt x="59435" y="132587"/>
                  </a:lnTo>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3" name="Graphic 117"/>
            <p:cNvSpPr/>
            <p:nvPr/>
          </p:nvSpPr>
          <p:spPr>
            <a:xfrm>
              <a:off x="11088529" y="3844487"/>
              <a:ext cx="161366" cy="169657"/>
            </a:xfrm>
            <a:custGeom>
              <a:avLst/>
              <a:gdLst/>
              <a:ahLst/>
              <a:cxnLst/>
              <a:rect l="l" t="t" r="r" b="b"/>
              <a:pathLst>
                <a:path w="120650" h="121920">
                  <a:moveTo>
                    <a:pt x="59435" y="0"/>
                  </a:moveTo>
                  <a:lnTo>
                    <a:pt x="0" y="121920"/>
                  </a:lnTo>
                  <a:lnTo>
                    <a:pt x="120395" y="121920"/>
                  </a:lnTo>
                  <a:lnTo>
                    <a:pt x="5943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4" name="Graphic 118"/>
            <p:cNvSpPr/>
            <p:nvPr/>
          </p:nvSpPr>
          <p:spPr>
            <a:xfrm>
              <a:off x="11088529" y="3844487"/>
              <a:ext cx="161366" cy="169657"/>
            </a:xfrm>
            <a:custGeom>
              <a:avLst/>
              <a:gdLst/>
              <a:ahLst/>
              <a:cxnLst/>
              <a:rect l="l" t="t" r="r" b="b"/>
              <a:pathLst>
                <a:path w="120650" h="121920">
                  <a:moveTo>
                    <a:pt x="0" y="121920"/>
                  </a:moveTo>
                  <a:lnTo>
                    <a:pt x="59435" y="0"/>
                  </a:lnTo>
                  <a:lnTo>
                    <a:pt x="120395" y="121920"/>
                  </a:lnTo>
                  <a:lnTo>
                    <a:pt x="0" y="121920"/>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5" name="Graphic 119"/>
            <p:cNvSpPr/>
            <p:nvPr/>
          </p:nvSpPr>
          <p:spPr>
            <a:xfrm>
              <a:off x="11088529" y="4154113"/>
              <a:ext cx="161366" cy="167890"/>
            </a:xfrm>
            <a:custGeom>
              <a:avLst/>
              <a:gdLst/>
              <a:ahLst/>
              <a:cxnLst/>
              <a:rect l="l" t="t" r="r" b="b"/>
              <a:pathLst>
                <a:path w="120650" h="120650">
                  <a:moveTo>
                    <a:pt x="120395" y="0"/>
                  </a:moveTo>
                  <a:lnTo>
                    <a:pt x="0" y="0"/>
                  </a:lnTo>
                  <a:lnTo>
                    <a:pt x="59435" y="120395"/>
                  </a:lnTo>
                  <a:lnTo>
                    <a:pt x="120395" y="0"/>
                  </a:lnTo>
                  <a:close/>
                </a:path>
              </a:pathLst>
            </a:custGeom>
            <a:solidFill>
              <a:srgbClr val="000000"/>
            </a:solidFill>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6" name="Graphic 120"/>
            <p:cNvSpPr/>
            <p:nvPr/>
          </p:nvSpPr>
          <p:spPr>
            <a:xfrm>
              <a:off x="11088529" y="4154113"/>
              <a:ext cx="161366" cy="167890"/>
            </a:xfrm>
            <a:custGeom>
              <a:avLst/>
              <a:gdLst/>
              <a:ahLst/>
              <a:cxnLst/>
              <a:rect l="l" t="t" r="r" b="b"/>
              <a:pathLst>
                <a:path w="120650" h="120650">
                  <a:moveTo>
                    <a:pt x="120395" y="0"/>
                  </a:moveTo>
                  <a:lnTo>
                    <a:pt x="59435" y="120395"/>
                  </a:lnTo>
                  <a:lnTo>
                    <a:pt x="0" y="0"/>
                  </a:lnTo>
                  <a:lnTo>
                    <a:pt x="120395" y="0"/>
                  </a:lnTo>
                  <a:close/>
                </a:path>
              </a:pathLst>
            </a:custGeom>
            <a:ln w="13716">
              <a:solidFill>
                <a:srgbClr val="000000"/>
              </a:solidFill>
              <a:prstDash val="solid"/>
            </a:ln>
          </p:spPr>
          <p:txBody>
            <a:bodyPr wrap="square" lIns="0" tIns="0" rIns="0" bIns="0" rtlCol="0">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endParaRPr>
            </a:p>
          </p:txBody>
        </p:sp>
        <p:sp>
          <p:nvSpPr>
            <p:cNvPr id="27" name="Textbox 121"/>
            <p:cNvSpPr txBox="1"/>
            <p:nvPr/>
          </p:nvSpPr>
          <p:spPr>
            <a:xfrm>
              <a:off x="8828050" y="3388167"/>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(x</a:t>
              </a:r>
              <a:r>
                <a:rPr kumimoji="0" lang="vi-VN" sz="1050"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r>
                <a:rPr kumimoji="0" lang="vi-VN" b="0" i="0" u="none" strike="noStrike" kern="0" cap="none" spc="1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 </a:t>
              </a: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28" name="Textbox 122"/>
            <p:cNvSpPr txBox="1"/>
            <p:nvPr/>
          </p:nvSpPr>
          <p:spPr>
            <a:xfrm>
              <a:off x="9711317" y="3792721"/>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P</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29" name="Textbox 123"/>
            <p:cNvSpPr txBox="1"/>
            <p:nvPr/>
          </p:nvSpPr>
          <p:spPr>
            <a:xfrm>
              <a:off x="11404467" y="3909865"/>
              <a:ext cx="249692" cy="945487"/>
            </a:xfrm>
            <a:prstGeom prst="rect">
              <a:avLst/>
            </a:prstGeom>
          </p:spPr>
          <p:txBody>
            <a:bodyPr wrap="square" lIns="0" tIns="0" rIns="0" bIns="0" rtlCol="0">
              <a:noAutofit/>
            </a:bodyPr>
            <a:lstStyle/>
            <a:p>
              <a:pPr marL="0" marR="0" lvl="0" indent="0" defTabSz="914400" eaLnBrk="1" fontAlgn="auto" latinLnBrk="0" hangingPunct="1">
                <a:lnSpc>
                  <a:spcPct val="96000"/>
                </a:lnSpc>
                <a:spcBef>
                  <a:spcPts val="0"/>
                </a:spcBef>
                <a:spcAft>
                  <a:spcPts val="0"/>
                </a:spcAft>
                <a:buClrTx/>
                <a:buSzTx/>
                <a:buFontTx/>
                <a:buNone/>
                <a:tabLst/>
                <a:defRPr/>
              </a:pP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d</a:t>
              </a:r>
              <a:r>
                <a:rPr kumimoji="0" lang="vi-VN" sz="1050"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2</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a:p>
              <a:pPr marL="0" marR="0" lvl="0" indent="0" defTabSz="914400" eaLnBrk="1" fontAlgn="auto" latinLnBrk="0" hangingPunct="1">
                <a:lnSpc>
                  <a:spcPct val="100000"/>
                </a:lnSpc>
                <a:spcBef>
                  <a:spcPts val="180"/>
                </a:spcBef>
                <a:spcAft>
                  <a:spcPts val="0"/>
                </a:spcAft>
                <a:buClrTx/>
                <a:buSzTx/>
                <a:buFontTx/>
                <a:buNone/>
                <a:tabLst/>
                <a:defRPr/>
              </a:pPr>
              <a:r>
                <a:rPr kumimoji="0" lang="vi-VN" sz="1050" b="0" i="0" u="none" strike="noStrike" kern="0" cap="none" spc="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 </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vi-VN"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d</a:t>
              </a:r>
              <a:r>
                <a:rPr kumimoji="0" lang="vi-VN" sz="1050" b="0" i="0" u="none" strike="noStrike" kern="0" cap="none" spc="-25"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0" name="Textbox 124"/>
            <p:cNvSpPr txBox="1"/>
            <p:nvPr/>
          </p:nvSpPr>
          <p:spPr>
            <a:xfrm>
              <a:off x="9711317" y="4883109"/>
              <a:ext cx="151687" cy="170328"/>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kumimoji="0" lang="vi-VN" sz="1400" b="1" i="0" u="none" strike="noStrike" kern="0" cap="none" spc="-50" normalizeH="0" baseline="0" noProof="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S</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1" name="Textbox 121"/>
            <p:cNvSpPr txBox="1"/>
            <p:nvPr/>
          </p:nvSpPr>
          <p:spPr>
            <a:xfrm>
              <a:off x="7396480" y="3599330"/>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vi-VN" sz="1050"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vi-VN"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2" name="Textbox 121"/>
            <p:cNvSpPr txBox="1"/>
            <p:nvPr/>
          </p:nvSpPr>
          <p:spPr>
            <a:xfrm>
              <a:off x="7469859" y="4112576"/>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3" name="Textbox 121"/>
            <p:cNvSpPr txBox="1"/>
            <p:nvPr/>
          </p:nvSpPr>
          <p:spPr>
            <a:xfrm>
              <a:off x="7459177" y="4747559"/>
              <a:ext cx="883265" cy="35345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kumimoji="0" lang="en-US" b="0" i="0" u="none" strike="noStrike" kern="0" cap="none" spc="0" normalizeH="0" baseline="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y</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4" name="Textbox 121"/>
            <p:cNvSpPr txBox="1"/>
            <p:nvPr/>
          </p:nvSpPr>
          <p:spPr>
            <a:xfrm>
              <a:off x="8734098" y="5059737"/>
              <a:ext cx="358470"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5" name="Textbox 121"/>
            <p:cNvSpPr txBox="1"/>
            <p:nvPr/>
          </p:nvSpPr>
          <p:spPr>
            <a:xfrm>
              <a:off x="9816559" y="5062222"/>
              <a:ext cx="467012" cy="387224"/>
            </a:xfrm>
            <a:prstGeom prst="rect">
              <a:avLst/>
            </a:prstGeom>
          </p:spPr>
          <p:txBody>
            <a:bodyPr wrap="square" lIns="0" tIns="0" rIns="0" bIns="0" rtlCol="0">
              <a:noAutofit/>
            </a:bodyPr>
            <a:lstStyle/>
            <a:p>
              <a:pPr marL="0" marR="0" lvl="0" indent="0" defTabSz="914400" eaLnBrk="1" fontAlgn="auto" latinLnBrk="0" hangingPunct="1">
                <a:lnSpc>
                  <a:spcPts val="1975"/>
                </a:lnSpc>
                <a:spcBef>
                  <a:spcPts val="0"/>
                </a:spcBef>
                <a:spcAft>
                  <a:spcPts val="0"/>
                </a:spcAft>
                <a:buClrTx/>
                <a:buSzTx/>
                <a:buFontTx/>
                <a:buNone/>
                <a:tabLst/>
                <a:defRPr/>
              </a:pPr>
              <a:r>
                <a:rPr lang="en-US" kern="0" smtClean="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x</a:t>
              </a:r>
              <a:r>
                <a:rPr kumimoji="0" lang="en-US" b="0" i="0" u="none" strike="noStrike" kern="0" cap="none" spc="0" normalizeH="0" baseline="-2500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i</a:t>
              </a:r>
              <a:r>
                <a:rPr kumimoji="0" lang="en-US" b="0" i="0" u="none" strike="noStrike" kern="0" cap="none" spc="0" normalizeH="0" noProof="0" smtClean="0">
                  <a:ln>
                    <a:noFill/>
                  </a:ln>
                  <a:solidFill>
                    <a:sysClr val="windowText" lastClr="000000"/>
                  </a:solidFill>
                  <a:effectLst/>
                  <a:uLnTx/>
                  <a:uFillTx/>
                  <a:latin typeface="Arial" panose="020B0604020202020204" pitchFamily="34" charset="0"/>
                  <a:ea typeface="Palatino Linotype" panose="02040502050505030304" pitchFamily="18" charset="0"/>
                  <a:cs typeface="Palatino Linotype" panose="02040502050505030304" pitchFamily="18" charset="0"/>
                </a:rPr>
                <a:t>+1</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6" name="Textbox 122"/>
            <p:cNvSpPr txBox="1"/>
            <p:nvPr/>
          </p:nvSpPr>
          <p:spPr>
            <a:xfrm>
              <a:off x="9911749" y="4401492"/>
              <a:ext cx="151687" cy="160063"/>
            </a:xfrm>
            <a:prstGeom prst="rect">
              <a:avLst/>
            </a:prstGeom>
          </p:spPr>
          <p:txBody>
            <a:bodyPr wrap="square" lIns="0" tIns="0" rIns="0" bIns="0" rtlCol="0">
              <a:noAutofit/>
            </a:bodyPr>
            <a:lstStyle/>
            <a:p>
              <a:pPr marL="0" marR="0" lvl="0" indent="0" defTabSz="914400" eaLnBrk="1" fontAlgn="auto" latinLnBrk="0" hangingPunct="1">
                <a:lnSpc>
                  <a:spcPts val="1310"/>
                </a:lnSpc>
                <a:spcBef>
                  <a:spcPts val="0"/>
                </a:spcBef>
                <a:spcAft>
                  <a:spcPts val="0"/>
                </a:spcAft>
                <a:buClrTx/>
                <a:buSzTx/>
                <a:buFontTx/>
                <a:buNone/>
                <a:tabLst/>
                <a:defRPr/>
              </a:pPr>
              <a:r>
                <a:rPr lang="en-US" sz="1400" b="1" kern="0" spc="-50">
                  <a:solidFill>
                    <a:sysClr val="windowText" lastClr="000000"/>
                  </a:solidFill>
                  <a:latin typeface="Arial" panose="020B0604020202020204" pitchFamily="34" charset="0"/>
                  <a:ea typeface="Palatino Linotype" panose="02040502050505030304" pitchFamily="18" charset="0"/>
                  <a:cs typeface="Palatino Linotype" panose="02040502050505030304" pitchFamily="18" charset="0"/>
                </a:rPr>
                <a:t>R</a:t>
              </a:r>
              <a:endParaRPr kumimoji="0" lang="en-US" sz="1400" b="0" i="0" u="none" strike="noStrike" kern="0" cap="none" spc="0" normalizeH="0" baseline="0" noProof="0">
                <a:ln>
                  <a:noFill/>
                </a:ln>
                <a:solidFill>
                  <a:sysClr val="windowText" lastClr="000000"/>
                </a:solidFill>
                <a:effectLst/>
                <a:uLnTx/>
                <a:uFillTx/>
                <a:latin typeface="Palatino Linotype" panose="02040502050505030304" pitchFamily="18" charset="0"/>
                <a:ea typeface="Palatino Linotype" panose="02040502050505030304" pitchFamily="18" charset="0"/>
                <a:cs typeface="Palatino Linotype" panose="02040502050505030304" pitchFamily="18" charset="0"/>
              </a:endParaRPr>
            </a:p>
          </p:txBody>
        </p:sp>
      </p:grpSp>
    </p:spTree>
    <p:extLst>
      <p:ext uri="{BB962C8B-B14F-4D97-AF65-F5344CB8AC3E}">
        <p14:creationId xmlns:p14="http://schemas.microsoft.com/office/powerpoint/2010/main" val="3450258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normAutofit/>
          </a:bodyPr>
          <a:lstStyle/>
          <a:p>
            <a:r>
              <a:rPr lang="en-US" b="1" smtClean="0"/>
              <a:t>Giải thuật Bresenham</a:t>
            </a:r>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27</a:t>
            </a:fld>
            <a:endParaRPr lang="en-US"/>
          </a:p>
        </p:txBody>
      </p:sp>
      <p:sp>
        <p:nvSpPr>
          <p:cNvPr id="77" name="Textbox 166"/>
          <p:cNvSpPr txBox="1"/>
          <p:nvPr/>
        </p:nvSpPr>
        <p:spPr>
          <a:xfrm>
            <a:off x="4174114" y="1076960"/>
            <a:ext cx="2298293" cy="778140"/>
          </a:xfrm>
          <a:prstGeom prst="rect">
            <a:avLst/>
          </a:prstGeom>
        </p:spPr>
        <p:txBody>
          <a:bodyPr wrap="square" lIns="0" tIns="0" rIns="0" bIns="0" rtlCol="0">
            <a:noAutofit/>
          </a:bodyPr>
          <a:lstStyle/>
          <a:p>
            <a:pPr marL="340995">
              <a:spcBef>
                <a:spcPts val="925"/>
              </a:spcBef>
              <a:spcAft>
                <a:spcPts val="0"/>
              </a:spcAft>
            </a:pPr>
            <a:endParaRPr lang="en-US" sz="110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grpSp>
        <p:nvGrpSpPr>
          <p:cNvPr id="80" name="Group 79"/>
          <p:cNvGrpSpPr>
            <a:grpSpLocks/>
          </p:cNvGrpSpPr>
          <p:nvPr/>
        </p:nvGrpSpPr>
        <p:grpSpPr>
          <a:xfrm>
            <a:off x="8361680" y="679933"/>
            <a:ext cx="3141343" cy="6066307"/>
            <a:chOff x="1523" y="0"/>
            <a:chExt cx="3532887" cy="8184388"/>
          </a:xfrm>
        </p:grpSpPr>
        <p:sp>
          <p:nvSpPr>
            <p:cNvPr id="81" name="Graphic 127"/>
            <p:cNvSpPr/>
            <p:nvPr/>
          </p:nvSpPr>
          <p:spPr>
            <a:xfrm>
              <a:off x="737616" y="1523"/>
              <a:ext cx="1071880" cy="429895"/>
            </a:xfrm>
            <a:custGeom>
              <a:avLst/>
              <a:gdLst/>
              <a:ahLst/>
              <a:cxnLst/>
              <a:rect l="l" t="t" r="r" b="b"/>
              <a:pathLst>
                <a:path w="1071880" h="429895">
                  <a:moveTo>
                    <a:pt x="211836" y="429768"/>
                  </a:moveTo>
                  <a:lnTo>
                    <a:pt x="856487" y="429768"/>
                  </a:lnTo>
                  <a:lnTo>
                    <a:pt x="911352" y="422148"/>
                  </a:lnTo>
                  <a:lnTo>
                    <a:pt x="958595" y="403859"/>
                  </a:lnTo>
                  <a:lnTo>
                    <a:pt x="1002792" y="374903"/>
                  </a:lnTo>
                  <a:lnTo>
                    <a:pt x="1034795" y="335279"/>
                  </a:lnTo>
                  <a:lnTo>
                    <a:pt x="1060704" y="291083"/>
                  </a:lnTo>
                  <a:lnTo>
                    <a:pt x="1071371" y="240792"/>
                  </a:lnTo>
                  <a:lnTo>
                    <a:pt x="1071371" y="188975"/>
                  </a:lnTo>
                  <a:lnTo>
                    <a:pt x="1060704" y="138683"/>
                  </a:lnTo>
                  <a:lnTo>
                    <a:pt x="1034795" y="91440"/>
                  </a:lnTo>
                  <a:lnTo>
                    <a:pt x="1002792" y="54864"/>
                  </a:lnTo>
                  <a:lnTo>
                    <a:pt x="958595" y="21335"/>
                  </a:lnTo>
                  <a:lnTo>
                    <a:pt x="911352" y="3048"/>
                  </a:lnTo>
                  <a:lnTo>
                    <a:pt x="856487" y="0"/>
                  </a:lnTo>
                  <a:lnTo>
                    <a:pt x="211836" y="0"/>
                  </a:lnTo>
                  <a:lnTo>
                    <a:pt x="160019" y="3048"/>
                  </a:lnTo>
                  <a:lnTo>
                    <a:pt x="112775" y="21335"/>
                  </a:lnTo>
                  <a:lnTo>
                    <a:pt x="70104" y="54864"/>
                  </a:lnTo>
                  <a:lnTo>
                    <a:pt x="36575" y="91440"/>
                  </a:lnTo>
                  <a:lnTo>
                    <a:pt x="10668" y="138683"/>
                  </a:lnTo>
                  <a:lnTo>
                    <a:pt x="0" y="188975"/>
                  </a:lnTo>
                  <a:lnTo>
                    <a:pt x="0" y="240792"/>
                  </a:lnTo>
                  <a:lnTo>
                    <a:pt x="10668" y="291083"/>
                  </a:lnTo>
                  <a:lnTo>
                    <a:pt x="36575" y="335279"/>
                  </a:lnTo>
                  <a:lnTo>
                    <a:pt x="70104" y="374903"/>
                  </a:lnTo>
                  <a:lnTo>
                    <a:pt x="112775" y="403859"/>
                  </a:lnTo>
                  <a:lnTo>
                    <a:pt x="160019" y="422148"/>
                  </a:lnTo>
                  <a:lnTo>
                    <a:pt x="211836" y="429768"/>
                  </a:lnTo>
                  <a:close/>
                </a:path>
              </a:pathLst>
            </a:custGeom>
            <a:ln w="3048">
              <a:solidFill>
                <a:srgbClr val="000000"/>
              </a:solidFill>
              <a:prstDash val="solid"/>
            </a:ln>
          </p:spPr>
          <p:txBody>
            <a:bodyPr wrap="square" lIns="0" tIns="0" rIns="0" bIns="0" rtlCol="0">
              <a:prstTxWarp prst="textNoShape">
                <a:avLst/>
              </a:prstTxWarp>
              <a:noAutofit/>
            </a:bodyPr>
            <a:lstStyle/>
            <a:p>
              <a:endParaRPr lang="en-US" sz="1600"/>
            </a:p>
          </p:txBody>
        </p:sp>
        <p:sp>
          <p:nvSpPr>
            <p:cNvPr id="82" name="Graphic 128"/>
            <p:cNvSpPr/>
            <p:nvPr/>
          </p:nvSpPr>
          <p:spPr>
            <a:xfrm>
              <a:off x="1274063" y="431291"/>
              <a:ext cx="1270" cy="342900"/>
            </a:xfrm>
            <a:custGeom>
              <a:avLst/>
              <a:gdLst/>
              <a:ahLst/>
              <a:cxnLst/>
              <a:rect l="l" t="t" r="r" b="b"/>
              <a:pathLst>
                <a:path h="342900">
                  <a:moveTo>
                    <a:pt x="0" y="0"/>
                  </a:moveTo>
                  <a:lnTo>
                    <a:pt x="0" y="342900"/>
                  </a:lnTo>
                </a:path>
              </a:pathLst>
            </a:custGeom>
            <a:ln w="10668">
              <a:solidFill>
                <a:srgbClr val="000000"/>
              </a:solidFill>
              <a:prstDash val="solid"/>
            </a:ln>
          </p:spPr>
          <p:txBody>
            <a:bodyPr wrap="square" lIns="0" tIns="0" rIns="0" bIns="0" rtlCol="0">
              <a:prstTxWarp prst="textNoShape">
                <a:avLst/>
              </a:prstTxWarp>
              <a:noAutofit/>
            </a:bodyPr>
            <a:lstStyle/>
            <a:p>
              <a:endParaRPr lang="en-US" sz="1600"/>
            </a:p>
          </p:txBody>
        </p:sp>
        <p:pic>
          <p:nvPicPr>
            <p:cNvPr id="83" name="Image 129"/>
            <p:cNvPicPr/>
            <p:nvPr/>
          </p:nvPicPr>
          <p:blipFill>
            <a:blip r:embed="rId2" cstate="print"/>
            <a:stretch>
              <a:fillRect/>
            </a:stretch>
          </p:blipFill>
          <p:spPr>
            <a:xfrm>
              <a:off x="1216913" y="758190"/>
              <a:ext cx="109728" cy="108203"/>
            </a:xfrm>
            <a:prstGeom prst="rect">
              <a:avLst/>
            </a:prstGeom>
          </p:spPr>
        </p:pic>
        <p:sp>
          <p:nvSpPr>
            <p:cNvPr id="84" name="Graphic 130"/>
            <p:cNvSpPr/>
            <p:nvPr/>
          </p:nvSpPr>
          <p:spPr>
            <a:xfrm>
              <a:off x="1274063" y="2151888"/>
              <a:ext cx="1270" cy="347980"/>
            </a:xfrm>
            <a:custGeom>
              <a:avLst/>
              <a:gdLst/>
              <a:ahLst/>
              <a:cxnLst/>
              <a:rect l="l" t="t" r="r" b="b"/>
              <a:pathLst>
                <a:path h="347980">
                  <a:moveTo>
                    <a:pt x="0" y="0"/>
                  </a:moveTo>
                  <a:lnTo>
                    <a:pt x="0" y="347471"/>
                  </a:lnTo>
                </a:path>
              </a:pathLst>
            </a:custGeom>
            <a:ln w="10668">
              <a:solidFill>
                <a:srgbClr val="000000"/>
              </a:solidFill>
              <a:prstDash val="solid"/>
            </a:ln>
          </p:spPr>
          <p:txBody>
            <a:bodyPr wrap="square" lIns="0" tIns="0" rIns="0" bIns="0" rtlCol="0">
              <a:prstTxWarp prst="textNoShape">
                <a:avLst/>
              </a:prstTxWarp>
              <a:noAutofit/>
            </a:bodyPr>
            <a:lstStyle/>
            <a:p>
              <a:endParaRPr lang="en-US" sz="1600"/>
            </a:p>
          </p:txBody>
        </p:sp>
        <p:pic>
          <p:nvPicPr>
            <p:cNvPr id="85" name="Image 131"/>
            <p:cNvPicPr/>
            <p:nvPr/>
          </p:nvPicPr>
          <p:blipFill>
            <a:blip r:embed="rId3" cstate="print"/>
            <a:stretch>
              <a:fillRect/>
            </a:stretch>
          </p:blipFill>
          <p:spPr>
            <a:xfrm>
              <a:off x="1216913" y="2478785"/>
              <a:ext cx="109728" cy="109727"/>
            </a:xfrm>
            <a:prstGeom prst="rect">
              <a:avLst/>
            </a:prstGeom>
          </p:spPr>
        </p:pic>
        <p:sp>
          <p:nvSpPr>
            <p:cNvPr id="86" name="Graphic 132"/>
            <p:cNvSpPr/>
            <p:nvPr/>
          </p:nvSpPr>
          <p:spPr>
            <a:xfrm>
              <a:off x="734568" y="2583179"/>
              <a:ext cx="1074420" cy="649605"/>
            </a:xfrm>
            <a:custGeom>
              <a:avLst/>
              <a:gdLst/>
              <a:ahLst/>
              <a:cxnLst/>
              <a:rect l="l" t="t" r="r" b="b"/>
              <a:pathLst>
                <a:path w="1074420" h="649605">
                  <a:moveTo>
                    <a:pt x="0" y="324612"/>
                  </a:moveTo>
                  <a:lnTo>
                    <a:pt x="539495" y="0"/>
                  </a:lnTo>
                  <a:lnTo>
                    <a:pt x="1074420" y="324612"/>
                  </a:lnTo>
                  <a:lnTo>
                    <a:pt x="539495" y="649224"/>
                  </a:lnTo>
                  <a:lnTo>
                    <a:pt x="0" y="324612"/>
                  </a:lnTo>
                  <a:close/>
                </a:path>
              </a:pathLst>
            </a:custGeom>
            <a:ln w="3048">
              <a:solidFill>
                <a:srgbClr val="000000"/>
              </a:solidFill>
              <a:prstDash val="solid"/>
            </a:ln>
          </p:spPr>
          <p:txBody>
            <a:bodyPr wrap="square" lIns="0" tIns="0" rIns="0" bIns="0" rtlCol="0">
              <a:prstTxWarp prst="textNoShape">
                <a:avLst/>
              </a:prstTxWarp>
              <a:noAutofit/>
            </a:bodyPr>
            <a:lstStyle/>
            <a:p>
              <a:endParaRPr lang="en-US" sz="1600"/>
            </a:p>
          </p:txBody>
        </p:sp>
        <p:sp>
          <p:nvSpPr>
            <p:cNvPr id="87" name="Graphic 133"/>
            <p:cNvSpPr/>
            <p:nvPr/>
          </p:nvSpPr>
          <p:spPr>
            <a:xfrm>
              <a:off x="1274063" y="3232404"/>
              <a:ext cx="1270" cy="353695"/>
            </a:xfrm>
            <a:custGeom>
              <a:avLst/>
              <a:gdLst/>
              <a:ahLst/>
              <a:cxnLst/>
              <a:rect l="l" t="t" r="r" b="b"/>
              <a:pathLst>
                <a:path h="353695">
                  <a:moveTo>
                    <a:pt x="0" y="298704"/>
                  </a:moveTo>
                  <a:lnTo>
                    <a:pt x="0" y="353568"/>
                  </a:lnTo>
                </a:path>
                <a:path h="353695">
                  <a:moveTo>
                    <a:pt x="0" y="0"/>
                  </a:moveTo>
                  <a:lnTo>
                    <a:pt x="0" y="131063"/>
                  </a:lnTo>
                </a:path>
              </a:pathLst>
            </a:custGeom>
            <a:ln w="3048">
              <a:solidFill>
                <a:srgbClr val="000000"/>
              </a:solidFill>
              <a:prstDash val="solid"/>
            </a:ln>
          </p:spPr>
          <p:txBody>
            <a:bodyPr wrap="square" lIns="0" tIns="0" rIns="0" bIns="0" rtlCol="0">
              <a:prstTxWarp prst="textNoShape">
                <a:avLst/>
              </a:prstTxWarp>
              <a:noAutofit/>
            </a:bodyPr>
            <a:lstStyle/>
            <a:p>
              <a:endParaRPr lang="en-US" sz="1600"/>
            </a:p>
          </p:txBody>
        </p:sp>
        <p:pic>
          <p:nvPicPr>
            <p:cNvPr id="88" name="Image 134"/>
            <p:cNvPicPr/>
            <p:nvPr/>
          </p:nvPicPr>
          <p:blipFill>
            <a:blip r:embed="rId4" cstate="print"/>
            <a:stretch>
              <a:fillRect/>
            </a:stretch>
          </p:blipFill>
          <p:spPr>
            <a:xfrm>
              <a:off x="1228344" y="3576828"/>
              <a:ext cx="86867" cy="86868"/>
            </a:xfrm>
            <a:prstGeom prst="rect">
              <a:avLst/>
            </a:prstGeom>
          </p:spPr>
        </p:pic>
        <p:sp>
          <p:nvSpPr>
            <p:cNvPr id="89" name="Graphic 135"/>
            <p:cNvSpPr/>
            <p:nvPr/>
          </p:nvSpPr>
          <p:spPr>
            <a:xfrm>
              <a:off x="1808988" y="2907792"/>
              <a:ext cx="1508760" cy="1270"/>
            </a:xfrm>
            <a:custGeom>
              <a:avLst/>
              <a:gdLst/>
              <a:ahLst/>
              <a:cxnLst/>
              <a:rect l="l" t="t" r="r" b="b"/>
              <a:pathLst>
                <a:path w="1508760">
                  <a:moveTo>
                    <a:pt x="842772" y="0"/>
                  </a:moveTo>
                  <a:lnTo>
                    <a:pt x="1508760" y="0"/>
                  </a:lnTo>
                </a:path>
                <a:path w="1508760">
                  <a:moveTo>
                    <a:pt x="0" y="0"/>
                  </a:moveTo>
                  <a:lnTo>
                    <a:pt x="670560" y="0"/>
                  </a:lnTo>
                </a:path>
              </a:pathLst>
            </a:custGeom>
            <a:ln w="3048">
              <a:solidFill>
                <a:srgbClr val="000000"/>
              </a:solidFill>
              <a:prstDash val="solid"/>
            </a:ln>
          </p:spPr>
          <p:txBody>
            <a:bodyPr wrap="square" lIns="0" tIns="0" rIns="0" bIns="0" rtlCol="0">
              <a:prstTxWarp prst="textNoShape">
                <a:avLst/>
              </a:prstTxWarp>
              <a:noAutofit/>
            </a:bodyPr>
            <a:lstStyle/>
            <a:p>
              <a:endParaRPr lang="en-US" sz="1600"/>
            </a:p>
          </p:txBody>
        </p:sp>
        <p:sp>
          <p:nvSpPr>
            <p:cNvPr id="90" name="Graphic 136"/>
            <p:cNvSpPr/>
            <p:nvPr/>
          </p:nvSpPr>
          <p:spPr>
            <a:xfrm>
              <a:off x="734568" y="3662171"/>
              <a:ext cx="1074420" cy="645160"/>
            </a:xfrm>
            <a:custGeom>
              <a:avLst/>
              <a:gdLst/>
              <a:ahLst/>
              <a:cxnLst/>
              <a:rect l="l" t="t" r="r" b="b"/>
              <a:pathLst>
                <a:path w="1074420" h="645160">
                  <a:moveTo>
                    <a:pt x="0" y="320039"/>
                  </a:moveTo>
                  <a:lnTo>
                    <a:pt x="539495" y="0"/>
                  </a:lnTo>
                  <a:lnTo>
                    <a:pt x="1074420" y="320039"/>
                  </a:lnTo>
                  <a:lnTo>
                    <a:pt x="539495" y="644651"/>
                  </a:lnTo>
                  <a:lnTo>
                    <a:pt x="0" y="320039"/>
                  </a:lnTo>
                  <a:close/>
                </a:path>
              </a:pathLst>
            </a:custGeom>
            <a:ln w="3048">
              <a:solidFill>
                <a:srgbClr val="000000"/>
              </a:solidFill>
              <a:prstDash val="solid"/>
            </a:ln>
          </p:spPr>
          <p:txBody>
            <a:bodyPr wrap="square" lIns="0" tIns="0" rIns="0" bIns="0" rtlCol="0">
              <a:prstTxWarp prst="textNoShape">
                <a:avLst/>
              </a:prstTxWarp>
              <a:noAutofit/>
            </a:bodyPr>
            <a:lstStyle/>
            <a:p>
              <a:endParaRPr lang="en-US" sz="1600"/>
            </a:p>
          </p:txBody>
        </p:sp>
        <p:sp>
          <p:nvSpPr>
            <p:cNvPr id="91" name="Graphic 137"/>
            <p:cNvSpPr/>
            <p:nvPr/>
          </p:nvSpPr>
          <p:spPr>
            <a:xfrm>
              <a:off x="1274063" y="4306823"/>
              <a:ext cx="1270" cy="358140"/>
            </a:xfrm>
            <a:custGeom>
              <a:avLst/>
              <a:gdLst/>
              <a:ahLst/>
              <a:cxnLst/>
              <a:rect l="l" t="t" r="r" b="b"/>
              <a:pathLst>
                <a:path h="358140">
                  <a:moveTo>
                    <a:pt x="0" y="300227"/>
                  </a:moveTo>
                  <a:lnTo>
                    <a:pt x="0" y="358139"/>
                  </a:lnTo>
                </a:path>
                <a:path h="358140">
                  <a:moveTo>
                    <a:pt x="0" y="0"/>
                  </a:moveTo>
                  <a:lnTo>
                    <a:pt x="0" y="132587"/>
                  </a:lnTo>
                </a:path>
              </a:pathLst>
            </a:custGeom>
            <a:ln w="3048">
              <a:solidFill>
                <a:srgbClr val="000000"/>
              </a:solidFill>
              <a:prstDash val="solid"/>
            </a:ln>
          </p:spPr>
          <p:txBody>
            <a:bodyPr wrap="square" lIns="0" tIns="0" rIns="0" bIns="0" rtlCol="0">
              <a:prstTxWarp prst="textNoShape">
                <a:avLst/>
              </a:prstTxWarp>
              <a:noAutofit/>
            </a:bodyPr>
            <a:lstStyle/>
            <a:p>
              <a:endParaRPr lang="en-US" sz="1600"/>
            </a:p>
          </p:txBody>
        </p:sp>
        <p:pic>
          <p:nvPicPr>
            <p:cNvPr id="92" name="Image 138"/>
            <p:cNvPicPr/>
            <p:nvPr/>
          </p:nvPicPr>
          <p:blipFill>
            <a:blip r:embed="rId4" cstate="print"/>
            <a:stretch>
              <a:fillRect/>
            </a:stretch>
          </p:blipFill>
          <p:spPr>
            <a:xfrm>
              <a:off x="1228344" y="4652771"/>
              <a:ext cx="86867" cy="86867"/>
            </a:xfrm>
            <a:prstGeom prst="rect">
              <a:avLst/>
            </a:prstGeom>
          </p:spPr>
        </p:pic>
        <p:sp>
          <p:nvSpPr>
            <p:cNvPr id="93" name="Graphic 139"/>
            <p:cNvSpPr/>
            <p:nvPr/>
          </p:nvSpPr>
          <p:spPr>
            <a:xfrm>
              <a:off x="734568" y="4738115"/>
              <a:ext cx="1074420" cy="429895"/>
            </a:xfrm>
            <a:custGeom>
              <a:avLst/>
              <a:gdLst/>
              <a:ahLst/>
              <a:cxnLst/>
              <a:rect l="l" t="t" r="r" b="b"/>
              <a:pathLst>
                <a:path w="1074420" h="429895">
                  <a:moveTo>
                    <a:pt x="0" y="429768"/>
                  </a:moveTo>
                  <a:lnTo>
                    <a:pt x="1074420" y="429768"/>
                  </a:lnTo>
                  <a:lnTo>
                    <a:pt x="1074420" y="0"/>
                  </a:lnTo>
                  <a:lnTo>
                    <a:pt x="0" y="0"/>
                  </a:lnTo>
                  <a:lnTo>
                    <a:pt x="0" y="429768"/>
                  </a:lnTo>
                  <a:close/>
                </a:path>
              </a:pathLst>
            </a:custGeom>
            <a:ln w="3048">
              <a:solidFill>
                <a:srgbClr val="000000"/>
              </a:solidFill>
              <a:prstDash val="solid"/>
            </a:ln>
          </p:spPr>
          <p:txBody>
            <a:bodyPr wrap="square" lIns="0" tIns="0" rIns="0" bIns="0" rtlCol="0">
              <a:prstTxWarp prst="textNoShape">
                <a:avLst/>
              </a:prstTxWarp>
              <a:noAutofit/>
            </a:bodyPr>
            <a:lstStyle/>
            <a:p>
              <a:endParaRPr lang="en-US" sz="1600"/>
            </a:p>
          </p:txBody>
        </p:sp>
        <p:sp>
          <p:nvSpPr>
            <p:cNvPr id="94" name="Graphic 140"/>
            <p:cNvSpPr/>
            <p:nvPr/>
          </p:nvSpPr>
          <p:spPr>
            <a:xfrm>
              <a:off x="1808988" y="3982211"/>
              <a:ext cx="649605" cy="1270"/>
            </a:xfrm>
            <a:custGeom>
              <a:avLst/>
              <a:gdLst/>
              <a:ahLst/>
              <a:cxnLst/>
              <a:rect l="l" t="t" r="r" b="b"/>
              <a:pathLst>
                <a:path w="649605">
                  <a:moveTo>
                    <a:pt x="0" y="0"/>
                  </a:moveTo>
                  <a:lnTo>
                    <a:pt x="240792" y="0"/>
                  </a:lnTo>
                </a:path>
                <a:path w="649605">
                  <a:moveTo>
                    <a:pt x="413004" y="0"/>
                  </a:moveTo>
                  <a:lnTo>
                    <a:pt x="649224" y="0"/>
                  </a:lnTo>
                </a:path>
              </a:pathLst>
            </a:custGeom>
            <a:ln w="3048">
              <a:solidFill>
                <a:srgbClr val="000000"/>
              </a:solidFill>
              <a:prstDash val="solid"/>
            </a:ln>
          </p:spPr>
          <p:txBody>
            <a:bodyPr wrap="square" lIns="0" tIns="0" rIns="0" bIns="0" rtlCol="0">
              <a:prstTxWarp prst="textNoShape">
                <a:avLst/>
              </a:prstTxWarp>
              <a:noAutofit/>
            </a:bodyPr>
            <a:lstStyle/>
            <a:p>
              <a:endParaRPr lang="en-US" sz="1600"/>
            </a:p>
          </p:txBody>
        </p:sp>
        <p:sp>
          <p:nvSpPr>
            <p:cNvPr id="95" name="Graphic 141"/>
            <p:cNvSpPr/>
            <p:nvPr/>
          </p:nvSpPr>
          <p:spPr>
            <a:xfrm>
              <a:off x="2458211" y="3982211"/>
              <a:ext cx="1270" cy="1313815"/>
            </a:xfrm>
            <a:custGeom>
              <a:avLst/>
              <a:gdLst/>
              <a:ahLst/>
              <a:cxnLst/>
              <a:rect l="l" t="t" r="r" b="b"/>
              <a:pathLst>
                <a:path h="1313815">
                  <a:moveTo>
                    <a:pt x="0" y="0"/>
                  </a:moveTo>
                  <a:lnTo>
                    <a:pt x="0" y="1313688"/>
                  </a:lnTo>
                </a:path>
              </a:pathLst>
            </a:custGeom>
            <a:ln w="10668">
              <a:solidFill>
                <a:srgbClr val="000000"/>
              </a:solidFill>
              <a:prstDash val="solid"/>
            </a:ln>
          </p:spPr>
          <p:txBody>
            <a:bodyPr wrap="square" lIns="0" tIns="0" rIns="0" bIns="0" rtlCol="0">
              <a:prstTxWarp prst="textNoShape">
                <a:avLst/>
              </a:prstTxWarp>
              <a:noAutofit/>
            </a:bodyPr>
            <a:lstStyle/>
            <a:p>
              <a:endParaRPr lang="en-US" sz="1600"/>
            </a:p>
          </p:txBody>
        </p:sp>
        <p:pic>
          <p:nvPicPr>
            <p:cNvPr id="96" name="Image 142"/>
            <p:cNvPicPr/>
            <p:nvPr/>
          </p:nvPicPr>
          <p:blipFill>
            <a:blip r:embed="rId5" cstate="print"/>
            <a:stretch>
              <a:fillRect/>
            </a:stretch>
          </p:blipFill>
          <p:spPr>
            <a:xfrm>
              <a:off x="2402585" y="5279897"/>
              <a:ext cx="108204" cy="108203"/>
            </a:xfrm>
            <a:prstGeom prst="rect">
              <a:avLst/>
            </a:prstGeom>
          </p:spPr>
        </p:pic>
        <p:sp>
          <p:nvSpPr>
            <p:cNvPr id="97" name="Graphic 143"/>
            <p:cNvSpPr/>
            <p:nvPr/>
          </p:nvSpPr>
          <p:spPr>
            <a:xfrm>
              <a:off x="1357883" y="5814059"/>
              <a:ext cx="1100455" cy="429895"/>
            </a:xfrm>
            <a:custGeom>
              <a:avLst/>
              <a:gdLst/>
              <a:ahLst/>
              <a:cxnLst/>
              <a:rect l="l" t="t" r="r" b="b"/>
              <a:pathLst>
                <a:path w="1100455" h="429895">
                  <a:moveTo>
                    <a:pt x="1100327" y="0"/>
                  </a:moveTo>
                  <a:lnTo>
                    <a:pt x="1100327" y="429768"/>
                  </a:lnTo>
                </a:path>
                <a:path w="1100455" h="429895">
                  <a:moveTo>
                    <a:pt x="1100327" y="429768"/>
                  </a:moveTo>
                  <a:lnTo>
                    <a:pt x="0" y="429768"/>
                  </a:lnTo>
                </a:path>
              </a:pathLst>
            </a:custGeom>
            <a:ln w="10668">
              <a:solidFill>
                <a:srgbClr val="000000"/>
              </a:solidFill>
              <a:prstDash val="solid"/>
            </a:ln>
          </p:spPr>
          <p:txBody>
            <a:bodyPr wrap="square" lIns="0" tIns="0" rIns="0" bIns="0" rtlCol="0">
              <a:prstTxWarp prst="textNoShape">
                <a:avLst/>
              </a:prstTxWarp>
              <a:noAutofit/>
            </a:bodyPr>
            <a:lstStyle/>
            <a:p>
              <a:endParaRPr lang="en-US" sz="1600"/>
            </a:p>
          </p:txBody>
        </p:sp>
        <p:pic>
          <p:nvPicPr>
            <p:cNvPr id="98" name="Image 144"/>
            <p:cNvPicPr/>
            <p:nvPr/>
          </p:nvPicPr>
          <p:blipFill>
            <a:blip r:embed="rId6" cstate="print"/>
            <a:stretch>
              <a:fillRect/>
            </a:stretch>
          </p:blipFill>
          <p:spPr>
            <a:xfrm>
              <a:off x="1268730" y="6191250"/>
              <a:ext cx="108204" cy="108203"/>
            </a:xfrm>
            <a:prstGeom prst="rect">
              <a:avLst/>
            </a:prstGeom>
          </p:spPr>
        </p:pic>
        <p:sp>
          <p:nvSpPr>
            <p:cNvPr id="99" name="Graphic 145"/>
            <p:cNvSpPr/>
            <p:nvPr/>
          </p:nvSpPr>
          <p:spPr>
            <a:xfrm>
              <a:off x="1274063" y="5167884"/>
              <a:ext cx="1270" cy="1207135"/>
            </a:xfrm>
            <a:custGeom>
              <a:avLst/>
              <a:gdLst/>
              <a:ahLst/>
              <a:cxnLst/>
              <a:rect l="l" t="t" r="r" b="b"/>
              <a:pathLst>
                <a:path h="1207135">
                  <a:moveTo>
                    <a:pt x="0" y="0"/>
                  </a:moveTo>
                  <a:lnTo>
                    <a:pt x="0" y="1207007"/>
                  </a:lnTo>
                </a:path>
              </a:pathLst>
            </a:custGeom>
            <a:ln w="10668">
              <a:solidFill>
                <a:srgbClr val="000000"/>
              </a:solidFill>
              <a:prstDash val="solid"/>
            </a:ln>
          </p:spPr>
          <p:txBody>
            <a:bodyPr wrap="square" lIns="0" tIns="0" rIns="0" bIns="0" rtlCol="0">
              <a:prstTxWarp prst="textNoShape">
                <a:avLst/>
              </a:prstTxWarp>
              <a:noAutofit/>
            </a:bodyPr>
            <a:lstStyle/>
            <a:p>
              <a:endParaRPr lang="en-US" sz="1600"/>
            </a:p>
          </p:txBody>
        </p:sp>
        <p:pic>
          <p:nvPicPr>
            <p:cNvPr id="100" name="Image 146"/>
            <p:cNvPicPr/>
            <p:nvPr/>
          </p:nvPicPr>
          <p:blipFill>
            <a:blip r:embed="rId7" cstate="print"/>
            <a:stretch>
              <a:fillRect/>
            </a:stretch>
          </p:blipFill>
          <p:spPr>
            <a:xfrm>
              <a:off x="1216913" y="6354317"/>
              <a:ext cx="109728" cy="109727"/>
            </a:xfrm>
            <a:prstGeom prst="rect">
              <a:avLst/>
            </a:prstGeom>
          </p:spPr>
        </p:pic>
        <p:sp>
          <p:nvSpPr>
            <p:cNvPr id="101" name="Graphic 147"/>
            <p:cNvSpPr/>
            <p:nvPr/>
          </p:nvSpPr>
          <p:spPr>
            <a:xfrm>
              <a:off x="627887" y="6458711"/>
              <a:ext cx="1290955" cy="429895"/>
            </a:xfrm>
            <a:custGeom>
              <a:avLst/>
              <a:gdLst/>
              <a:ahLst/>
              <a:cxnLst/>
              <a:rect l="l" t="t" r="r" b="b"/>
              <a:pathLst>
                <a:path w="1290955" h="429895">
                  <a:moveTo>
                    <a:pt x="0" y="429768"/>
                  </a:moveTo>
                  <a:lnTo>
                    <a:pt x="1290827" y="429768"/>
                  </a:lnTo>
                  <a:lnTo>
                    <a:pt x="1290827" y="0"/>
                  </a:lnTo>
                  <a:lnTo>
                    <a:pt x="0" y="0"/>
                  </a:lnTo>
                  <a:lnTo>
                    <a:pt x="0" y="429768"/>
                  </a:lnTo>
                  <a:close/>
                </a:path>
              </a:pathLst>
            </a:custGeom>
            <a:ln w="3048">
              <a:solidFill>
                <a:srgbClr val="000000"/>
              </a:solidFill>
              <a:prstDash val="solid"/>
            </a:ln>
          </p:spPr>
          <p:txBody>
            <a:bodyPr wrap="square" lIns="0" tIns="0" rIns="0" bIns="0" rtlCol="0">
              <a:prstTxWarp prst="textNoShape">
                <a:avLst/>
              </a:prstTxWarp>
              <a:noAutofit/>
            </a:bodyPr>
            <a:lstStyle/>
            <a:p>
              <a:endParaRPr lang="en-US" sz="1600"/>
            </a:p>
          </p:txBody>
        </p:sp>
        <p:sp>
          <p:nvSpPr>
            <p:cNvPr id="102" name="Graphic 148"/>
            <p:cNvSpPr/>
            <p:nvPr/>
          </p:nvSpPr>
          <p:spPr>
            <a:xfrm>
              <a:off x="1274063" y="6888480"/>
              <a:ext cx="1270" cy="219710"/>
            </a:xfrm>
            <a:custGeom>
              <a:avLst/>
              <a:gdLst/>
              <a:ahLst/>
              <a:cxnLst/>
              <a:rect l="l" t="t" r="r" b="b"/>
              <a:pathLst>
                <a:path h="219710">
                  <a:moveTo>
                    <a:pt x="0" y="0"/>
                  </a:moveTo>
                  <a:lnTo>
                    <a:pt x="0" y="219456"/>
                  </a:lnTo>
                </a:path>
              </a:pathLst>
            </a:custGeom>
            <a:ln w="10668">
              <a:solidFill>
                <a:srgbClr val="000000"/>
              </a:solidFill>
              <a:prstDash val="solid"/>
            </a:ln>
          </p:spPr>
          <p:txBody>
            <a:bodyPr wrap="square" lIns="0" tIns="0" rIns="0" bIns="0" rtlCol="0">
              <a:prstTxWarp prst="textNoShape">
                <a:avLst/>
              </a:prstTxWarp>
              <a:noAutofit/>
            </a:bodyPr>
            <a:lstStyle/>
            <a:p>
              <a:endParaRPr lang="en-US" sz="1600"/>
            </a:p>
          </p:txBody>
        </p:sp>
        <p:sp>
          <p:nvSpPr>
            <p:cNvPr id="103" name="Graphic 149"/>
            <p:cNvSpPr/>
            <p:nvPr/>
          </p:nvSpPr>
          <p:spPr>
            <a:xfrm>
              <a:off x="1523" y="2374392"/>
              <a:ext cx="1272540" cy="4733925"/>
            </a:xfrm>
            <a:custGeom>
              <a:avLst/>
              <a:gdLst/>
              <a:ahLst/>
              <a:cxnLst/>
              <a:rect l="l" t="t" r="r" b="b"/>
              <a:pathLst>
                <a:path w="1272540" h="4733925">
                  <a:moveTo>
                    <a:pt x="1272539" y="4733544"/>
                  </a:moveTo>
                  <a:lnTo>
                    <a:pt x="0" y="4733544"/>
                  </a:lnTo>
                  <a:lnTo>
                    <a:pt x="0" y="0"/>
                  </a:lnTo>
                  <a:lnTo>
                    <a:pt x="1217676" y="0"/>
                  </a:lnTo>
                </a:path>
              </a:pathLst>
            </a:custGeom>
            <a:ln w="3048">
              <a:solidFill>
                <a:srgbClr val="000000"/>
              </a:solidFill>
              <a:prstDash val="solid"/>
            </a:ln>
          </p:spPr>
          <p:txBody>
            <a:bodyPr wrap="square" lIns="0" tIns="0" rIns="0" bIns="0" rtlCol="0">
              <a:prstTxWarp prst="textNoShape">
                <a:avLst/>
              </a:prstTxWarp>
              <a:noAutofit/>
            </a:bodyPr>
            <a:lstStyle/>
            <a:p>
              <a:endParaRPr lang="en-US" sz="1600"/>
            </a:p>
          </p:txBody>
        </p:sp>
        <p:pic>
          <p:nvPicPr>
            <p:cNvPr id="104" name="Image 150"/>
            <p:cNvPicPr/>
            <p:nvPr/>
          </p:nvPicPr>
          <p:blipFill>
            <a:blip r:embed="rId8" cstate="print"/>
            <a:stretch>
              <a:fillRect/>
            </a:stretch>
          </p:blipFill>
          <p:spPr>
            <a:xfrm>
              <a:off x="1207008" y="2333244"/>
              <a:ext cx="86867" cy="86868"/>
            </a:xfrm>
            <a:prstGeom prst="rect">
              <a:avLst/>
            </a:prstGeom>
          </p:spPr>
        </p:pic>
        <p:sp>
          <p:nvSpPr>
            <p:cNvPr id="105" name="Graphic 151"/>
            <p:cNvSpPr/>
            <p:nvPr/>
          </p:nvSpPr>
          <p:spPr>
            <a:xfrm>
              <a:off x="1295400" y="2907792"/>
              <a:ext cx="2239010" cy="4415155"/>
            </a:xfrm>
            <a:custGeom>
              <a:avLst/>
              <a:gdLst/>
              <a:ahLst/>
              <a:cxnLst/>
              <a:rect l="l" t="t" r="r" b="b"/>
              <a:pathLst>
                <a:path w="2239010" h="4415155">
                  <a:moveTo>
                    <a:pt x="2022348" y="0"/>
                  </a:moveTo>
                  <a:lnTo>
                    <a:pt x="2238756" y="0"/>
                  </a:lnTo>
                  <a:lnTo>
                    <a:pt x="2238756" y="4415028"/>
                  </a:lnTo>
                  <a:lnTo>
                    <a:pt x="0" y="4415028"/>
                  </a:lnTo>
                </a:path>
              </a:pathLst>
            </a:custGeom>
            <a:ln w="3048">
              <a:solidFill>
                <a:srgbClr val="000000"/>
              </a:solidFill>
              <a:prstDash val="solid"/>
            </a:ln>
          </p:spPr>
          <p:txBody>
            <a:bodyPr wrap="square" lIns="0" tIns="0" rIns="0" bIns="0" rtlCol="0">
              <a:prstTxWarp prst="textNoShape">
                <a:avLst/>
              </a:prstTxWarp>
              <a:noAutofit/>
            </a:bodyPr>
            <a:lstStyle/>
            <a:p>
              <a:endParaRPr lang="en-US" sz="1600"/>
            </a:p>
          </p:txBody>
        </p:sp>
        <p:sp>
          <p:nvSpPr>
            <p:cNvPr id="106" name="Graphic 152"/>
            <p:cNvSpPr/>
            <p:nvPr/>
          </p:nvSpPr>
          <p:spPr>
            <a:xfrm>
              <a:off x="1295400" y="7322819"/>
              <a:ext cx="1270" cy="342900"/>
            </a:xfrm>
            <a:custGeom>
              <a:avLst/>
              <a:gdLst/>
              <a:ahLst/>
              <a:cxnLst/>
              <a:rect l="l" t="t" r="r" b="b"/>
              <a:pathLst>
                <a:path h="342900">
                  <a:moveTo>
                    <a:pt x="0" y="0"/>
                  </a:moveTo>
                  <a:lnTo>
                    <a:pt x="0" y="342899"/>
                  </a:lnTo>
                </a:path>
              </a:pathLst>
            </a:custGeom>
            <a:ln w="10668">
              <a:solidFill>
                <a:srgbClr val="000000"/>
              </a:solidFill>
              <a:prstDash val="solid"/>
            </a:ln>
          </p:spPr>
          <p:txBody>
            <a:bodyPr wrap="square" lIns="0" tIns="0" rIns="0" bIns="0" rtlCol="0">
              <a:prstTxWarp prst="textNoShape">
                <a:avLst/>
              </a:prstTxWarp>
              <a:noAutofit/>
            </a:bodyPr>
            <a:lstStyle/>
            <a:p>
              <a:endParaRPr lang="en-US" sz="1600"/>
            </a:p>
          </p:txBody>
        </p:sp>
        <p:pic>
          <p:nvPicPr>
            <p:cNvPr id="107" name="Image 153"/>
            <p:cNvPicPr/>
            <p:nvPr/>
          </p:nvPicPr>
          <p:blipFill>
            <a:blip r:embed="rId9" cstate="print"/>
            <a:stretch>
              <a:fillRect/>
            </a:stretch>
          </p:blipFill>
          <p:spPr>
            <a:xfrm>
              <a:off x="1239774" y="7649718"/>
              <a:ext cx="108204" cy="108203"/>
            </a:xfrm>
            <a:prstGeom prst="rect">
              <a:avLst/>
            </a:prstGeom>
          </p:spPr>
        </p:pic>
        <p:sp>
          <p:nvSpPr>
            <p:cNvPr id="108" name="Graphic 154"/>
            <p:cNvSpPr/>
            <p:nvPr/>
          </p:nvSpPr>
          <p:spPr>
            <a:xfrm>
              <a:off x="737616" y="7752588"/>
              <a:ext cx="1071880" cy="431800"/>
            </a:xfrm>
            <a:custGeom>
              <a:avLst/>
              <a:gdLst/>
              <a:ahLst/>
              <a:cxnLst/>
              <a:rect l="l" t="t" r="r" b="b"/>
              <a:pathLst>
                <a:path w="1071880" h="431800">
                  <a:moveTo>
                    <a:pt x="211836" y="431291"/>
                  </a:moveTo>
                  <a:lnTo>
                    <a:pt x="856487" y="431291"/>
                  </a:lnTo>
                  <a:lnTo>
                    <a:pt x="911352" y="423671"/>
                  </a:lnTo>
                  <a:lnTo>
                    <a:pt x="958595" y="405383"/>
                  </a:lnTo>
                  <a:lnTo>
                    <a:pt x="1002792" y="376427"/>
                  </a:lnTo>
                  <a:lnTo>
                    <a:pt x="1034795" y="335279"/>
                  </a:lnTo>
                  <a:lnTo>
                    <a:pt x="1060704" y="292607"/>
                  </a:lnTo>
                  <a:lnTo>
                    <a:pt x="1071371" y="240791"/>
                  </a:lnTo>
                  <a:lnTo>
                    <a:pt x="1071371" y="190499"/>
                  </a:lnTo>
                  <a:lnTo>
                    <a:pt x="1060704" y="138683"/>
                  </a:lnTo>
                  <a:lnTo>
                    <a:pt x="1034795" y="91439"/>
                  </a:lnTo>
                  <a:lnTo>
                    <a:pt x="1002792" y="54863"/>
                  </a:lnTo>
                  <a:lnTo>
                    <a:pt x="958595" y="22859"/>
                  </a:lnTo>
                  <a:lnTo>
                    <a:pt x="911352" y="4571"/>
                  </a:lnTo>
                  <a:lnTo>
                    <a:pt x="856487" y="0"/>
                  </a:lnTo>
                  <a:lnTo>
                    <a:pt x="211836" y="0"/>
                  </a:lnTo>
                  <a:lnTo>
                    <a:pt x="160019" y="4571"/>
                  </a:lnTo>
                  <a:lnTo>
                    <a:pt x="112775" y="22859"/>
                  </a:lnTo>
                  <a:lnTo>
                    <a:pt x="70104" y="54863"/>
                  </a:lnTo>
                  <a:lnTo>
                    <a:pt x="36575" y="91439"/>
                  </a:lnTo>
                  <a:lnTo>
                    <a:pt x="10668" y="138683"/>
                  </a:lnTo>
                  <a:lnTo>
                    <a:pt x="0" y="190499"/>
                  </a:lnTo>
                  <a:lnTo>
                    <a:pt x="0" y="240791"/>
                  </a:lnTo>
                  <a:lnTo>
                    <a:pt x="10668" y="292607"/>
                  </a:lnTo>
                  <a:lnTo>
                    <a:pt x="36575" y="335279"/>
                  </a:lnTo>
                  <a:lnTo>
                    <a:pt x="70104" y="376427"/>
                  </a:lnTo>
                  <a:lnTo>
                    <a:pt x="112775" y="405383"/>
                  </a:lnTo>
                  <a:lnTo>
                    <a:pt x="160019" y="423671"/>
                  </a:lnTo>
                  <a:lnTo>
                    <a:pt x="211836" y="431291"/>
                  </a:lnTo>
                  <a:close/>
                </a:path>
              </a:pathLst>
            </a:custGeom>
            <a:ln w="3048">
              <a:solidFill>
                <a:srgbClr val="000000"/>
              </a:solidFill>
              <a:prstDash val="solid"/>
            </a:ln>
          </p:spPr>
          <p:txBody>
            <a:bodyPr wrap="square" lIns="0" tIns="0" rIns="0" bIns="0" rtlCol="0">
              <a:prstTxWarp prst="textNoShape">
                <a:avLst/>
              </a:prstTxWarp>
              <a:noAutofit/>
            </a:bodyPr>
            <a:lstStyle/>
            <a:p>
              <a:endParaRPr lang="en-US" sz="1600"/>
            </a:p>
          </p:txBody>
        </p:sp>
        <p:sp>
          <p:nvSpPr>
            <p:cNvPr id="109" name="Textbox 155"/>
            <p:cNvSpPr txBox="1"/>
            <p:nvPr/>
          </p:nvSpPr>
          <p:spPr>
            <a:xfrm>
              <a:off x="1171955" y="4449355"/>
              <a:ext cx="224790" cy="134620"/>
            </a:xfrm>
            <a:prstGeom prst="rect">
              <a:avLst/>
            </a:prstGeom>
          </p:spPr>
          <p:txBody>
            <a:bodyPr wrap="square" lIns="0" tIns="0" rIns="0" bIns="0" rtlCol="0">
              <a:noAutofit/>
            </a:bodyPr>
            <a:lstStyle/>
            <a:p>
              <a:pPr>
                <a:lnSpc>
                  <a:spcPts val="1060"/>
                </a:lnSpc>
                <a:spcAft>
                  <a:spcPts val="0"/>
                </a:spcAft>
              </a:pPr>
              <a:r>
                <a:rPr lang="vi-VN" sz="900" spc="-25">
                  <a:effectLst/>
                  <a:latin typeface="Arial" panose="020B0604020202020204" pitchFamily="34" charset="0"/>
                  <a:ea typeface="Palatino Linotype" panose="02040502050505030304" pitchFamily="18" charset="0"/>
                  <a:cs typeface="Palatino Linotype" panose="02040502050505030304" pitchFamily="18" charset="0"/>
                </a:rPr>
                <a:t>Yes</a:t>
              </a:r>
              <a:endParaRPr lang="en-US" sz="105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110" name="Textbox 156"/>
            <p:cNvSpPr txBox="1"/>
            <p:nvPr/>
          </p:nvSpPr>
          <p:spPr>
            <a:xfrm>
              <a:off x="736091" y="4739640"/>
              <a:ext cx="1071880" cy="426720"/>
            </a:xfrm>
            <a:prstGeom prst="rect">
              <a:avLst/>
            </a:prstGeom>
          </p:spPr>
          <p:txBody>
            <a:bodyPr wrap="square" lIns="0" tIns="0" rIns="0" bIns="0" rtlCol="0">
              <a:noAutofit/>
            </a:bodyPr>
            <a:lstStyle/>
            <a:p>
              <a:pPr marL="100330">
                <a:spcBef>
                  <a:spcPts val="900"/>
                </a:spcBef>
                <a:spcAft>
                  <a:spcPts val="0"/>
                </a:spcAft>
              </a:pPr>
              <a:r>
                <a:rPr lang="vi-VN" sz="1100" spc="-10">
                  <a:effectLst/>
                  <a:latin typeface="Arial" panose="020B0604020202020204" pitchFamily="34" charset="0"/>
                  <a:ea typeface="Palatino Linotype" panose="02040502050505030304" pitchFamily="18" charset="0"/>
                  <a:cs typeface="Palatino Linotype" panose="02040502050505030304" pitchFamily="18" charset="0"/>
                </a:rPr>
                <a:t>p=p+Const1;</a:t>
              </a:r>
              <a:endParaRPr lang="en-US" sz="105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111" name="Textbox 157"/>
            <p:cNvSpPr txBox="1"/>
            <p:nvPr/>
          </p:nvSpPr>
          <p:spPr>
            <a:xfrm>
              <a:off x="873251" y="6490763"/>
              <a:ext cx="1187196" cy="481535"/>
            </a:xfrm>
            <a:prstGeom prst="rect">
              <a:avLst/>
            </a:prstGeom>
          </p:spPr>
          <p:txBody>
            <a:bodyPr wrap="square" lIns="0" tIns="0" rIns="0" bIns="0" rtlCol="0">
              <a:noAutofit/>
            </a:bodyPr>
            <a:lstStyle/>
            <a:p>
              <a:pPr marR="11430">
                <a:lnSpc>
                  <a:spcPct val="103000"/>
                </a:lnSpc>
                <a:spcAft>
                  <a:spcPts val="0"/>
                </a:spcAft>
              </a:pPr>
              <a:r>
                <a:rPr lang="vi-VN" sz="1100" spc="-10">
                  <a:effectLst/>
                  <a:latin typeface="Arial" panose="020B0604020202020204" pitchFamily="34" charset="0"/>
                  <a:ea typeface="Palatino Linotype" panose="02040502050505030304" pitchFamily="18" charset="0"/>
                  <a:cs typeface="Palatino Linotype" panose="02040502050505030304" pitchFamily="18" charset="0"/>
                </a:rPr>
                <a:t>x=x+1; putpixel(x,y,c);</a:t>
              </a:r>
              <a:endParaRPr lang="en-US" sz="105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112" name="Textbox 158"/>
            <p:cNvSpPr txBox="1"/>
            <p:nvPr/>
          </p:nvSpPr>
          <p:spPr>
            <a:xfrm>
              <a:off x="1138427" y="7873031"/>
              <a:ext cx="290195" cy="171450"/>
            </a:xfrm>
            <a:prstGeom prst="rect">
              <a:avLst/>
            </a:prstGeom>
          </p:spPr>
          <p:txBody>
            <a:bodyPr wrap="square" lIns="0" tIns="0" rIns="0" bIns="0" rtlCol="0">
              <a:noAutofit/>
            </a:bodyPr>
            <a:lstStyle/>
            <a:p>
              <a:pPr>
                <a:lnSpc>
                  <a:spcPts val="1345"/>
                </a:lnSpc>
                <a:spcAft>
                  <a:spcPts val="0"/>
                </a:spcAft>
              </a:pPr>
              <a:r>
                <a:rPr lang="vi-VN" sz="1100" spc="-25">
                  <a:effectLst/>
                  <a:latin typeface="Arial" panose="020B0604020202020204" pitchFamily="34" charset="0"/>
                  <a:ea typeface="Palatino Linotype" panose="02040502050505030304" pitchFamily="18" charset="0"/>
                  <a:cs typeface="Palatino Linotype" panose="02040502050505030304" pitchFamily="18" charset="0"/>
                </a:rPr>
                <a:t>End</a:t>
              </a:r>
              <a:endParaRPr lang="en-US" sz="105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113" name="Textbox 159"/>
            <p:cNvSpPr txBox="1"/>
            <p:nvPr/>
          </p:nvSpPr>
          <p:spPr>
            <a:xfrm>
              <a:off x="1808987" y="5390006"/>
              <a:ext cx="1403343" cy="424559"/>
            </a:xfrm>
            <a:prstGeom prst="rect">
              <a:avLst/>
            </a:prstGeom>
            <a:ln w="3048">
              <a:solidFill>
                <a:srgbClr val="000000"/>
              </a:solidFill>
              <a:prstDash val="solid"/>
            </a:ln>
          </p:spPr>
          <p:txBody>
            <a:bodyPr wrap="square" lIns="0" tIns="0" rIns="0" bIns="0" rtlCol="0">
              <a:noAutofit/>
            </a:bodyPr>
            <a:lstStyle/>
            <a:p>
              <a:pPr marL="243205" marR="152400">
                <a:lnSpc>
                  <a:spcPct val="102000"/>
                </a:lnSpc>
                <a:spcBef>
                  <a:spcPts val="215"/>
                </a:spcBef>
                <a:spcAft>
                  <a:spcPts val="0"/>
                </a:spcAft>
              </a:pPr>
              <a:r>
                <a:rPr lang="vi-VN" sz="1100" spc="-10" smtClean="0">
                  <a:effectLst/>
                  <a:latin typeface="Arial" panose="020B0604020202020204" pitchFamily="34" charset="0"/>
                  <a:ea typeface="Palatino Linotype" panose="02040502050505030304" pitchFamily="18" charset="0"/>
                  <a:cs typeface="Palatino Linotype" panose="02040502050505030304" pitchFamily="18" charset="0"/>
                </a:rPr>
                <a:t>p=p+Const</a:t>
              </a:r>
              <a:r>
                <a:rPr lang="en-US" sz="1100" spc="-10" smtClean="0">
                  <a:effectLst/>
                  <a:latin typeface="Arial" panose="020B0604020202020204" pitchFamily="34" charset="0"/>
                  <a:ea typeface="Palatino Linotype" panose="02040502050505030304" pitchFamily="18" charset="0"/>
                  <a:cs typeface="Palatino Linotype" panose="02040502050505030304" pitchFamily="18" charset="0"/>
                </a:rPr>
                <a:t>2</a:t>
              </a:r>
              <a:r>
                <a:rPr lang="vi-VN" sz="1100" spc="-10" smtClean="0">
                  <a:effectLst/>
                  <a:latin typeface="Arial" panose="020B0604020202020204" pitchFamily="34" charset="0"/>
                  <a:ea typeface="Palatino Linotype" panose="02040502050505030304" pitchFamily="18" charset="0"/>
                  <a:cs typeface="Palatino Linotype" panose="02040502050505030304" pitchFamily="18" charset="0"/>
                </a:rPr>
                <a:t>; </a:t>
              </a:r>
              <a:r>
                <a:rPr lang="vi-VN" sz="1100" spc="-10">
                  <a:effectLst/>
                  <a:latin typeface="Arial" panose="020B0604020202020204" pitchFamily="34" charset="0"/>
                  <a:ea typeface="Palatino Linotype" panose="02040502050505030304" pitchFamily="18" charset="0"/>
                  <a:cs typeface="Palatino Linotype" panose="02040502050505030304" pitchFamily="18" charset="0"/>
                </a:rPr>
                <a:t>y=y+1</a:t>
              </a:r>
              <a:endParaRPr lang="en-US" sz="105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114" name="Textbox 160"/>
            <p:cNvSpPr txBox="1"/>
            <p:nvPr/>
          </p:nvSpPr>
          <p:spPr>
            <a:xfrm>
              <a:off x="1523" y="861060"/>
              <a:ext cx="2822312" cy="1303019"/>
            </a:xfrm>
            <a:prstGeom prst="rect">
              <a:avLst/>
            </a:prstGeom>
            <a:ln w="3048">
              <a:solidFill>
                <a:srgbClr val="000000"/>
              </a:solidFill>
              <a:prstDash val="solid"/>
            </a:ln>
          </p:spPr>
          <p:txBody>
            <a:bodyPr wrap="square" lIns="0" tIns="0" rIns="0" bIns="0" rtlCol="0">
              <a:noAutofit/>
            </a:bodyPr>
            <a:lstStyle/>
            <a:p>
              <a:pPr marL="241935" marR="440690">
                <a:lnSpc>
                  <a:spcPct val="103000"/>
                </a:lnSpc>
                <a:spcAft>
                  <a:spcPts val="0"/>
                </a:spcAft>
              </a:pPr>
              <a:r>
                <a:rPr lang="vi-VN" sz="1200" spc="-10">
                  <a:effectLst/>
                  <a:latin typeface="Arial" panose="020B0604020202020204" pitchFamily="34" charset="0"/>
                  <a:ea typeface="Palatino Linotype" panose="02040502050505030304" pitchFamily="18" charset="0"/>
                  <a:cs typeface="Palatino Linotype" panose="02040502050505030304" pitchFamily="18" charset="0"/>
                </a:rPr>
                <a:t>p=2Dy-Dx; </a:t>
              </a:r>
              <a:endParaRPr lang="en-US" sz="1200" spc="-10" smtClean="0">
                <a:effectLst/>
                <a:latin typeface="Arial" panose="020B0604020202020204" pitchFamily="34" charset="0"/>
                <a:ea typeface="Palatino Linotype" panose="02040502050505030304" pitchFamily="18" charset="0"/>
                <a:cs typeface="Palatino Linotype" panose="02040502050505030304" pitchFamily="18" charset="0"/>
              </a:endParaRPr>
            </a:p>
            <a:p>
              <a:pPr marL="241935" marR="440690">
                <a:lnSpc>
                  <a:spcPct val="103000"/>
                </a:lnSpc>
                <a:spcAft>
                  <a:spcPts val="0"/>
                </a:spcAft>
              </a:pPr>
              <a:r>
                <a:rPr lang="vi-VN" sz="1200" spc="-10" smtClean="0">
                  <a:effectLst/>
                  <a:latin typeface="Arial" panose="020B0604020202020204" pitchFamily="34" charset="0"/>
                  <a:ea typeface="Palatino Linotype" panose="02040502050505030304" pitchFamily="18" charset="0"/>
                  <a:cs typeface="Palatino Linotype" panose="02040502050505030304" pitchFamily="18" charset="0"/>
                </a:rPr>
                <a:t>Const1=2Dy</a:t>
              </a:r>
              <a:r>
                <a:rPr lang="vi-VN" sz="1200" spc="-10">
                  <a:effectLst/>
                  <a:latin typeface="Arial" panose="020B0604020202020204" pitchFamily="34" charset="0"/>
                  <a:ea typeface="Palatino Linotype" panose="02040502050505030304" pitchFamily="18" charset="0"/>
                  <a:cs typeface="Palatino Linotype" panose="02040502050505030304" pitchFamily="18" charset="0"/>
                </a:rPr>
                <a:t>; Const2=2(Dy-Dx); </a:t>
              </a:r>
              <a:endParaRPr lang="en-US" sz="1200" spc="-10" smtClean="0">
                <a:effectLst/>
                <a:latin typeface="Arial" panose="020B0604020202020204" pitchFamily="34" charset="0"/>
                <a:ea typeface="Palatino Linotype" panose="02040502050505030304" pitchFamily="18" charset="0"/>
                <a:cs typeface="Palatino Linotype" panose="02040502050505030304" pitchFamily="18" charset="0"/>
              </a:endParaRPr>
            </a:p>
            <a:p>
              <a:pPr marL="241935" marR="440690">
                <a:lnSpc>
                  <a:spcPct val="103000"/>
                </a:lnSpc>
                <a:spcAft>
                  <a:spcPts val="0"/>
                </a:spcAft>
              </a:pPr>
              <a:r>
                <a:rPr lang="vi-VN" sz="1200" spc="-10" smtClean="0">
                  <a:effectLst/>
                  <a:latin typeface="Arial" panose="020B0604020202020204" pitchFamily="34" charset="0"/>
                  <a:ea typeface="Palatino Linotype" panose="02040502050505030304" pitchFamily="18" charset="0"/>
                  <a:cs typeface="Palatino Linotype" panose="02040502050505030304" pitchFamily="18" charset="0"/>
                </a:rPr>
                <a:t>x=x1</a:t>
              </a:r>
              <a:r>
                <a:rPr lang="vi-VN" sz="1200" spc="-10">
                  <a:effectLst/>
                  <a:latin typeface="Arial" panose="020B0604020202020204" pitchFamily="34" charset="0"/>
                  <a:ea typeface="Palatino Linotype" panose="02040502050505030304" pitchFamily="18" charset="0"/>
                  <a:cs typeface="Palatino Linotype" panose="02040502050505030304" pitchFamily="18" charset="0"/>
                </a:rPr>
                <a:t>;</a:t>
              </a:r>
              <a:endParaRPr lang="en-US" sz="1100">
                <a:effectLst/>
                <a:latin typeface="Palatino Linotype" panose="02040502050505030304" pitchFamily="18" charset="0"/>
                <a:ea typeface="Palatino Linotype" panose="02040502050505030304" pitchFamily="18" charset="0"/>
                <a:cs typeface="Palatino Linotype" panose="02040502050505030304" pitchFamily="18" charset="0"/>
              </a:endParaRPr>
            </a:p>
            <a:p>
              <a:pPr marL="241935" marR="603250">
                <a:lnSpc>
                  <a:spcPct val="103000"/>
                </a:lnSpc>
                <a:spcAft>
                  <a:spcPts val="0"/>
                </a:spcAft>
              </a:pPr>
              <a:r>
                <a:rPr lang="vi-VN" sz="1200" spc="-10">
                  <a:effectLst/>
                  <a:latin typeface="Arial" panose="020B0604020202020204" pitchFamily="34" charset="0"/>
                  <a:ea typeface="Palatino Linotype" panose="02040502050505030304" pitchFamily="18" charset="0"/>
                  <a:cs typeface="Palatino Linotype" panose="02040502050505030304" pitchFamily="18" charset="0"/>
                </a:rPr>
                <a:t>y=y1;</a:t>
              </a:r>
              <a:r>
                <a:rPr lang="vi-VN" sz="1200" spc="200">
                  <a:effectLst/>
                  <a:latin typeface="Arial" panose="020B0604020202020204" pitchFamily="34" charset="0"/>
                  <a:ea typeface="Palatino Linotype" panose="02040502050505030304" pitchFamily="18" charset="0"/>
                  <a:cs typeface="Palatino Linotype" panose="02040502050505030304" pitchFamily="18" charset="0"/>
                </a:rPr>
                <a:t> </a:t>
              </a:r>
              <a:r>
                <a:rPr lang="vi-VN" sz="1200">
                  <a:effectLst/>
                  <a:latin typeface="Arial" panose="020B0604020202020204" pitchFamily="34" charset="0"/>
                  <a:ea typeface="Palatino Linotype" panose="02040502050505030304" pitchFamily="18" charset="0"/>
                  <a:cs typeface="Palatino Linotype" panose="02040502050505030304" pitchFamily="18" charset="0"/>
                </a:rPr>
                <a:t>putpixel(x,</a:t>
              </a:r>
              <a:r>
                <a:rPr lang="vi-VN" sz="1200" spc="-10">
                  <a:effectLst/>
                  <a:latin typeface="Arial" panose="020B0604020202020204" pitchFamily="34" charset="0"/>
                  <a:ea typeface="Palatino Linotype" panose="02040502050505030304" pitchFamily="18" charset="0"/>
                  <a:cs typeface="Palatino Linotype" panose="02040502050505030304" pitchFamily="18" charset="0"/>
                </a:rPr>
                <a:t> </a:t>
              </a:r>
              <a:r>
                <a:rPr lang="vi-VN" sz="1200">
                  <a:effectLst/>
                  <a:latin typeface="Arial" panose="020B0604020202020204" pitchFamily="34" charset="0"/>
                  <a:ea typeface="Palatino Linotype" panose="02040502050505030304" pitchFamily="18" charset="0"/>
                  <a:cs typeface="Palatino Linotype" panose="02040502050505030304" pitchFamily="18" charset="0"/>
                </a:rPr>
                <a:t>y,</a:t>
              </a:r>
              <a:r>
                <a:rPr lang="vi-VN" sz="1200" spc="-10">
                  <a:effectLst/>
                  <a:latin typeface="Arial" panose="020B0604020202020204" pitchFamily="34" charset="0"/>
                  <a:ea typeface="Palatino Linotype" panose="02040502050505030304" pitchFamily="18" charset="0"/>
                  <a:cs typeface="Palatino Linotype" panose="02040502050505030304" pitchFamily="18" charset="0"/>
                </a:rPr>
                <a:t> </a:t>
              </a:r>
              <a:r>
                <a:rPr lang="vi-VN" sz="1200">
                  <a:effectLst/>
                  <a:latin typeface="Arial" panose="020B0604020202020204" pitchFamily="34" charset="0"/>
                  <a:ea typeface="Palatino Linotype" panose="02040502050505030304" pitchFamily="18" charset="0"/>
                  <a:cs typeface="Palatino Linotype" panose="02040502050505030304" pitchFamily="18" charset="0"/>
                </a:rPr>
                <a:t>c);</a:t>
              </a:r>
              <a:endParaRPr lang="en-US" sz="110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115" name="Textbox 161"/>
            <p:cNvSpPr txBox="1"/>
            <p:nvPr/>
          </p:nvSpPr>
          <p:spPr>
            <a:xfrm>
              <a:off x="2060448" y="3909859"/>
              <a:ext cx="172720" cy="134620"/>
            </a:xfrm>
            <a:prstGeom prst="rect">
              <a:avLst/>
            </a:prstGeom>
          </p:spPr>
          <p:txBody>
            <a:bodyPr wrap="square" lIns="0" tIns="0" rIns="0" bIns="0" rtlCol="0">
              <a:noAutofit/>
            </a:bodyPr>
            <a:lstStyle/>
            <a:p>
              <a:pPr>
                <a:lnSpc>
                  <a:spcPts val="1060"/>
                </a:lnSpc>
                <a:spcAft>
                  <a:spcPts val="0"/>
                </a:spcAft>
              </a:pPr>
              <a:r>
                <a:rPr lang="vi-VN" sz="900" spc="-25">
                  <a:effectLst/>
                  <a:latin typeface="Arial" panose="020B0604020202020204" pitchFamily="34" charset="0"/>
                  <a:ea typeface="Palatino Linotype" panose="02040502050505030304" pitchFamily="18" charset="0"/>
                  <a:cs typeface="Palatino Linotype" panose="02040502050505030304" pitchFamily="18" charset="0"/>
                </a:rPr>
                <a:t>No</a:t>
              </a:r>
              <a:endParaRPr lang="en-US" sz="105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116" name="Textbox 162"/>
            <p:cNvSpPr txBox="1"/>
            <p:nvPr/>
          </p:nvSpPr>
          <p:spPr>
            <a:xfrm>
              <a:off x="1143000" y="3892343"/>
              <a:ext cx="278130" cy="171450"/>
            </a:xfrm>
            <a:prstGeom prst="rect">
              <a:avLst/>
            </a:prstGeom>
          </p:spPr>
          <p:txBody>
            <a:bodyPr wrap="square" lIns="0" tIns="0" rIns="0" bIns="0" rtlCol="0">
              <a:noAutofit/>
            </a:bodyPr>
            <a:lstStyle/>
            <a:p>
              <a:pPr>
                <a:lnSpc>
                  <a:spcPts val="1345"/>
                </a:lnSpc>
                <a:spcAft>
                  <a:spcPts val="0"/>
                </a:spcAft>
              </a:pPr>
              <a:r>
                <a:rPr lang="vi-VN" sz="1100" spc="-25">
                  <a:effectLst/>
                  <a:latin typeface="Arial" panose="020B0604020202020204" pitchFamily="34" charset="0"/>
                  <a:ea typeface="Palatino Linotype" panose="02040502050505030304" pitchFamily="18" charset="0"/>
                  <a:cs typeface="Palatino Linotype" panose="02040502050505030304" pitchFamily="18" charset="0"/>
                </a:rPr>
                <a:t>p&lt;0</a:t>
              </a:r>
              <a:endParaRPr lang="en-US" sz="105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117" name="Textbox 163"/>
            <p:cNvSpPr txBox="1"/>
            <p:nvPr/>
          </p:nvSpPr>
          <p:spPr>
            <a:xfrm>
              <a:off x="1171955" y="3374935"/>
              <a:ext cx="224790" cy="134620"/>
            </a:xfrm>
            <a:prstGeom prst="rect">
              <a:avLst/>
            </a:prstGeom>
          </p:spPr>
          <p:txBody>
            <a:bodyPr wrap="square" lIns="0" tIns="0" rIns="0" bIns="0" rtlCol="0">
              <a:noAutofit/>
            </a:bodyPr>
            <a:lstStyle/>
            <a:p>
              <a:pPr>
                <a:lnSpc>
                  <a:spcPts val="1060"/>
                </a:lnSpc>
                <a:spcAft>
                  <a:spcPts val="0"/>
                </a:spcAft>
              </a:pPr>
              <a:r>
                <a:rPr lang="vi-VN" sz="900" spc="-25">
                  <a:effectLst/>
                  <a:latin typeface="Arial" panose="020B0604020202020204" pitchFamily="34" charset="0"/>
                  <a:ea typeface="Palatino Linotype" panose="02040502050505030304" pitchFamily="18" charset="0"/>
                  <a:cs typeface="Palatino Linotype" panose="02040502050505030304" pitchFamily="18" charset="0"/>
                </a:rPr>
                <a:t>Yes</a:t>
              </a:r>
              <a:endParaRPr lang="en-US" sz="105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118" name="Textbox 164"/>
            <p:cNvSpPr txBox="1"/>
            <p:nvPr/>
          </p:nvSpPr>
          <p:spPr>
            <a:xfrm>
              <a:off x="2491739" y="2835439"/>
              <a:ext cx="172720" cy="134620"/>
            </a:xfrm>
            <a:prstGeom prst="rect">
              <a:avLst/>
            </a:prstGeom>
          </p:spPr>
          <p:txBody>
            <a:bodyPr wrap="square" lIns="0" tIns="0" rIns="0" bIns="0" rtlCol="0">
              <a:noAutofit/>
            </a:bodyPr>
            <a:lstStyle/>
            <a:p>
              <a:pPr>
                <a:lnSpc>
                  <a:spcPts val="1060"/>
                </a:lnSpc>
                <a:spcAft>
                  <a:spcPts val="0"/>
                </a:spcAft>
              </a:pPr>
              <a:r>
                <a:rPr lang="vi-VN" sz="900" spc="-25">
                  <a:effectLst/>
                  <a:latin typeface="Arial" panose="020B0604020202020204" pitchFamily="34" charset="0"/>
                  <a:ea typeface="Palatino Linotype" panose="02040502050505030304" pitchFamily="18" charset="0"/>
                  <a:cs typeface="Palatino Linotype" panose="02040502050505030304" pitchFamily="18" charset="0"/>
                </a:rPr>
                <a:t>No</a:t>
              </a:r>
              <a:endParaRPr lang="en-US" sz="105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119" name="Textbox 165"/>
            <p:cNvSpPr txBox="1"/>
            <p:nvPr/>
          </p:nvSpPr>
          <p:spPr>
            <a:xfrm>
              <a:off x="1106424" y="2811827"/>
              <a:ext cx="346710" cy="171450"/>
            </a:xfrm>
            <a:prstGeom prst="rect">
              <a:avLst/>
            </a:prstGeom>
          </p:spPr>
          <p:txBody>
            <a:bodyPr wrap="square" lIns="0" tIns="0" rIns="0" bIns="0" rtlCol="0">
              <a:noAutofit/>
            </a:bodyPr>
            <a:lstStyle/>
            <a:p>
              <a:pPr>
                <a:lnSpc>
                  <a:spcPts val="1345"/>
                </a:lnSpc>
                <a:spcAft>
                  <a:spcPts val="0"/>
                </a:spcAft>
              </a:pPr>
              <a:r>
                <a:rPr lang="vi-VN" sz="1100" spc="-20">
                  <a:effectLst/>
                  <a:latin typeface="Arial" panose="020B0604020202020204" pitchFamily="34" charset="0"/>
                  <a:ea typeface="Palatino Linotype" panose="02040502050505030304" pitchFamily="18" charset="0"/>
                  <a:cs typeface="Palatino Linotype" panose="02040502050505030304" pitchFamily="18" charset="0"/>
                </a:rPr>
                <a:t>x&lt;x2</a:t>
              </a:r>
              <a:endParaRPr lang="en-US" sz="105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120" name="Textbox 166"/>
            <p:cNvSpPr txBox="1"/>
            <p:nvPr/>
          </p:nvSpPr>
          <p:spPr>
            <a:xfrm>
              <a:off x="736091" y="0"/>
              <a:ext cx="1074420" cy="866775"/>
            </a:xfrm>
            <a:prstGeom prst="rect">
              <a:avLst/>
            </a:prstGeom>
          </p:spPr>
          <p:txBody>
            <a:bodyPr wrap="square" lIns="0" tIns="0" rIns="0" bIns="0" rtlCol="0">
              <a:noAutofit/>
            </a:bodyPr>
            <a:lstStyle/>
            <a:p>
              <a:pPr marL="340995">
                <a:spcBef>
                  <a:spcPts val="925"/>
                </a:spcBef>
                <a:spcAft>
                  <a:spcPts val="0"/>
                </a:spcAft>
              </a:pPr>
              <a:r>
                <a:rPr lang="vi-VN" sz="1100" spc="-10">
                  <a:effectLst/>
                  <a:latin typeface="Arial" panose="020B0604020202020204" pitchFamily="34" charset="0"/>
                  <a:ea typeface="Palatino Linotype" panose="02040502050505030304" pitchFamily="18" charset="0"/>
                  <a:cs typeface="Palatino Linotype" panose="02040502050505030304" pitchFamily="18" charset="0"/>
                </a:rPr>
                <a:t>Begin</a:t>
              </a:r>
              <a:endParaRPr lang="en-US" sz="105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grpSp>
      <p:graphicFrame>
        <p:nvGraphicFramePr>
          <p:cNvPr id="121" name="Table 120"/>
          <p:cNvGraphicFramePr>
            <a:graphicFrameLocks noGrp="1"/>
          </p:cNvGraphicFramePr>
          <p:nvPr>
            <p:extLst>
              <p:ext uri="{D42A27DB-BD31-4B8C-83A1-F6EECF244321}">
                <p14:modId xmlns:p14="http://schemas.microsoft.com/office/powerpoint/2010/main" val="2702348904"/>
              </p:ext>
            </p:extLst>
          </p:nvPr>
        </p:nvGraphicFramePr>
        <p:xfrm>
          <a:off x="3411731" y="3868742"/>
          <a:ext cx="3395727" cy="2800350"/>
        </p:xfrm>
        <a:graphic>
          <a:graphicData uri="http://schemas.openxmlformats.org/drawingml/2006/table">
            <a:tbl>
              <a:tblPr firstRow="1" firstCol="1" lastRow="1" lastCol="1" bandRow="1" bandCol="1">
                <a:tableStyleId>{5C22544A-7EE6-4342-B048-85BDC9FD1C3A}</a:tableStyleId>
              </a:tblPr>
              <a:tblGrid>
                <a:gridCol w="676152">
                  <a:extLst>
                    <a:ext uri="{9D8B030D-6E8A-4147-A177-3AD203B41FA5}">
                      <a16:colId xmlns:a16="http://schemas.microsoft.com/office/drawing/2014/main" val="4077210320"/>
                    </a:ext>
                  </a:extLst>
                </a:gridCol>
                <a:gridCol w="904712">
                  <a:extLst>
                    <a:ext uri="{9D8B030D-6E8A-4147-A177-3AD203B41FA5}">
                      <a16:colId xmlns:a16="http://schemas.microsoft.com/office/drawing/2014/main" val="1395338277"/>
                    </a:ext>
                  </a:extLst>
                </a:gridCol>
                <a:gridCol w="867298">
                  <a:extLst>
                    <a:ext uri="{9D8B030D-6E8A-4147-A177-3AD203B41FA5}">
                      <a16:colId xmlns:a16="http://schemas.microsoft.com/office/drawing/2014/main" val="3486496061"/>
                    </a:ext>
                  </a:extLst>
                </a:gridCol>
                <a:gridCol w="947565">
                  <a:extLst>
                    <a:ext uri="{9D8B030D-6E8A-4147-A177-3AD203B41FA5}">
                      <a16:colId xmlns:a16="http://schemas.microsoft.com/office/drawing/2014/main" val="1759321522"/>
                    </a:ext>
                  </a:extLst>
                </a:gridCol>
              </a:tblGrid>
              <a:tr h="232410">
                <a:tc>
                  <a:txBody>
                    <a:bodyPr/>
                    <a:lstStyle/>
                    <a:p>
                      <a:pPr marL="2540" marR="635" algn="ctr">
                        <a:lnSpc>
                          <a:spcPts val="1735"/>
                        </a:lnSpc>
                        <a:spcAft>
                          <a:spcPts val="0"/>
                        </a:spcAft>
                      </a:pPr>
                      <a:r>
                        <a:rPr lang="vi-VN" sz="1600" spc="-50">
                          <a:effectLst>
                            <a:outerShdw blurRad="50800" dist="38100" algn="tr" rotWithShape="0">
                              <a:prstClr val="black">
                                <a:alpha val="40000"/>
                              </a:prstClr>
                            </a:outerShdw>
                          </a:effectLst>
                        </a:rPr>
                        <a:t>i</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5080" marR="635" algn="ctr">
                        <a:lnSpc>
                          <a:spcPts val="1735"/>
                        </a:lnSpc>
                        <a:spcAft>
                          <a:spcPts val="0"/>
                        </a:spcAft>
                      </a:pPr>
                      <a:r>
                        <a:rPr lang="vi-VN" sz="1600" spc="-25">
                          <a:effectLst>
                            <a:outerShdw blurRad="50800" dist="38100" algn="tr" rotWithShape="0">
                              <a:prstClr val="black">
                                <a:alpha val="40000"/>
                              </a:prstClr>
                            </a:outerShdw>
                          </a:effectLst>
                        </a:rPr>
                        <a:t>x</a:t>
                      </a:r>
                      <a:r>
                        <a:rPr lang="vi-VN" sz="1600" spc="-25" baseline="-25000">
                          <a:effectLst>
                            <a:outerShdw blurRad="50800" dist="38100" algn="tr" rotWithShape="0">
                              <a:prstClr val="black">
                                <a:alpha val="40000"/>
                              </a:prstClr>
                            </a:outerShdw>
                          </a:effectLst>
                        </a:rPr>
                        <a:t>i</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6350" marR="2540" algn="ctr">
                        <a:lnSpc>
                          <a:spcPts val="1735"/>
                        </a:lnSpc>
                        <a:spcAft>
                          <a:spcPts val="0"/>
                        </a:spcAft>
                      </a:pPr>
                      <a:r>
                        <a:rPr lang="vi-VN" sz="1600" spc="-25">
                          <a:effectLst>
                            <a:outerShdw blurRad="50800" dist="38100" algn="tr" rotWithShape="0">
                              <a:prstClr val="black">
                                <a:alpha val="40000"/>
                              </a:prstClr>
                            </a:outerShdw>
                          </a:effectLst>
                        </a:rPr>
                        <a:t>y</a:t>
                      </a:r>
                      <a:r>
                        <a:rPr lang="vi-VN" sz="1600" spc="-25" baseline="-25000">
                          <a:effectLst>
                            <a:outerShdw blurRad="50800" dist="38100" algn="tr" rotWithShape="0">
                              <a:prstClr val="black">
                                <a:alpha val="40000"/>
                              </a:prstClr>
                            </a:outerShdw>
                          </a:effectLst>
                        </a:rPr>
                        <a:t>i</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4445" marR="1905" algn="ctr">
                        <a:lnSpc>
                          <a:spcPts val="1735"/>
                        </a:lnSpc>
                        <a:spcAft>
                          <a:spcPts val="0"/>
                        </a:spcAft>
                      </a:pPr>
                      <a:r>
                        <a:rPr lang="vi-VN" sz="1600" spc="-25">
                          <a:effectLst>
                            <a:outerShdw blurRad="50800" dist="38100" algn="tr" rotWithShape="0">
                              <a:prstClr val="black">
                                <a:alpha val="40000"/>
                              </a:prstClr>
                            </a:outerShdw>
                          </a:effectLst>
                        </a:rPr>
                        <a:t>p</a:t>
                      </a:r>
                      <a:r>
                        <a:rPr lang="vi-VN" sz="1600" spc="-25" baseline="-25000">
                          <a:effectLst>
                            <a:outerShdw blurRad="50800" dist="38100" algn="tr" rotWithShape="0">
                              <a:prstClr val="black">
                                <a:alpha val="40000"/>
                              </a:prstClr>
                            </a:outerShdw>
                          </a:effectLst>
                        </a:rPr>
                        <a:t>i</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2648202744"/>
                  </a:ext>
                </a:extLst>
              </a:tr>
              <a:tr h="234315">
                <a:tc>
                  <a:txBody>
                    <a:bodyPr/>
                    <a:lstStyle/>
                    <a:p>
                      <a:pPr marL="2540" algn="ctr">
                        <a:lnSpc>
                          <a:spcPts val="1745"/>
                        </a:lnSpc>
                        <a:spcAft>
                          <a:spcPts val="0"/>
                        </a:spcAft>
                      </a:pPr>
                      <a:r>
                        <a:rPr lang="vi-VN" sz="1600" spc="-50">
                          <a:effectLst>
                            <a:outerShdw blurRad="50800" dist="38100" algn="tr" rotWithShape="0">
                              <a:prstClr val="black">
                                <a:alpha val="40000"/>
                              </a:prstClr>
                            </a:outerShdw>
                          </a:effectLst>
                        </a:rPr>
                        <a:t>0</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5080" algn="ctr">
                        <a:lnSpc>
                          <a:spcPts val="1745"/>
                        </a:lnSpc>
                        <a:spcAft>
                          <a:spcPts val="0"/>
                        </a:spcAft>
                      </a:pPr>
                      <a:r>
                        <a:rPr lang="vi-VN" sz="1600" spc="-25">
                          <a:effectLst>
                            <a:outerShdw blurRad="50800" dist="38100" algn="tr" rotWithShape="0">
                              <a:prstClr val="black">
                                <a:alpha val="40000"/>
                              </a:prstClr>
                            </a:outerShdw>
                          </a:effectLst>
                        </a:rPr>
                        <a:t>12</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6350" marR="3810" algn="ctr">
                        <a:lnSpc>
                          <a:spcPts val="1745"/>
                        </a:lnSpc>
                        <a:spcAft>
                          <a:spcPts val="0"/>
                        </a:spcAft>
                      </a:pPr>
                      <a:r>
                        <a:rPr lang="vi-VN" sz="1600" spc="-25">
                          <a:effectLst>
                            <a:outerShdw blurRad="50800" dist="38100" algn="tr" rotWithShape="0">
                              <a:prstClr val="black">
                                <a:alpha val="40000"/>
                              </a:prstClr>
                            </a:outerShdw>
                          </a:effectLst>
                        </a:rPr>
                        <a:t>20</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4445" marR="1270" algn="ctr">
                        <a:lnSpc>
                          <a:spcPts val="1745"/>
                        </a:lnSpc>
                        <a:spcAft>
                          <a:spcPts val="0"/>
                        </a:spcAft>
                      </a:pPr>
                      <a:r>
                        <a:rPr lang="vi-VN" sz="1600" spc="-50">
                          <a:effectLst>
                            <a:outerShdw blurRad="50800" dist="38100" algn="tr" rotWithShape="0">
                              <a:prstClr val="black">
                                <a:alpha val="40000"/>
                              </a:prstClr>
                            </a:outerShdw>
                          </a:effectLst>
                        </a:rPr>
                        <a:t>4</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2754795318"/>
                  </a:ext>
                </a:extLst>
              </a:tr>
              <a:tr h="232410">
                <a:tc>
                  <a:txBody>
                    <a:bodyPr/>
                    <a:lstStyle/>
                    <a:p>
                      <a:pPr marL="2540" algn="ctr">
                        <a:lnSpc>
                          <a:spcPts val="1735"/>
                        </a:lnSpc>
                        <a:spcAft>
                          <a:spcPts val="0"/>
                        </a:spcAft>
                      </a:pPr>
                      <a:r>
                        <a:rPr lang="vi-VN" sz="1600" spc="-50">
                          <a:effectLst>
                            <a:outerShdw blurRad="50800" dist="38100" algn="tr" rotWithShape="0">
                              <a:prstClr val="black">
                                <a:alpha val="40000"/>
                              </a:prstClr>
                            </a:outerShdw>
                          </a:effectLst>
                        </a:rPr>
                        <a:t>1</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5080" algn="ctr">
                        <a:lnSpc>
                          <a:spcPts val="1735"/>
                        </a:lnSpc>
                        <a:spcAft>
                          <a:spcPts val="0"/>
                        </a:spcAft>
                      </a:pPr>
                      <a:r>
                        <a:rPr lang="vi-VN" sz="1600" spc="-25">
                          <a:effectLst>
                            <a:outerShdw blurRad="50800" dist="38100" algn="tr" rotWithShape="0">
                              <a:prstClr val="black">
                                <a:alpha val="40000"/>
                              </a:prstClr>
                            </a:outerShdw>
                          </a:effectLst>
                        </a:rPr>
                        <a:t>13</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6350" marR="3810" algn="ctr">
                        <a:lnSpc>
                          <a:spcPts val="1735"/>
                        </a:lnSpc>
                        <a:spcAft>
                          <a:spcPts val="0"/>
                        </a:spcAft>
                      </a:pPr>
                      <a:r>
                        <a:rPr lang="vi-VN" sz="1600" spc="-25">
                          <a:effectLst>
                            <a:outerShdw blurRad="50800" dist="38100" algn="tr" rotWithShape="0">
                              <a:prstClr val="black">
                                <a:alpha val="40000"/>
                              </a:prstClr>
                            </a:outerShdw>
                          </a:effectLst>
                        </a:rPr>
                        <a:t>21</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4445" marR="1270" algn="ctr">
                        <a:lnSpc>
                          <a:spcPts val="1735"/>
                        </a:lnSpc>
                        <a:spcAft>
                          <a:spcPts val="0"/>
                        </a:spcAft>
                      </a:pPr>
                      <a:r>
                        <a:rPr lang="vi-VN" sz="1600" spc="-20">
                          <a:effectLst>
                            <a:outerShdw blurRad="50800" dist="38100" algn="tr" rotWithShape="0">
                              <a:prstClr val="black">
                                <a:alpha val="40000"/>
                              </a:prstClr>
                            </a:outerShdw>
                          </a:effectLst>
                        </a:rPr>
                        <a:t>-</a:t>
                      </a:r>
                      <a:r>
                        <a:rPr lang="vi-VN" sz="1600" spc="-50">
                          <a:effectLst>
                            <a:outerShdw blurRad="50800" dist="38100" algn="tr" rotWithShape="0">
                              <a:prstClr val="black">
                                <a:alpha val="40000"/>
                              </a:prstClr>
                            </a:outerShdw>
                          </a:effectLst>
                        </a:rPr>
                        <a:t>2</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240382708"/>
                  </a:ext>
                </a:extLst>
              </a:tr>
              <a:tr h="234315">
                <a:tc>
                  <a:txBody>
                    <a:bodyPr/>
                    <a:lstStyle/>
                    <a:p>
                      <a:pPr marL="2540" algn="ctr">
                        <a:lnSpc>
                          <a:spcPts val="1745"/>
                        </a:lnSpc>
                        <a:spcAft>
                          <a:spcPts val="0"/>
                        </a:spcAft>
                      </a:pPr>
                      <a:r>
                        <a:rPr lang="vi-VN" sz="1600" spc="-50">
                          <a:effectLst>
                            <a:outerShdw blurRad="50800" dist="38100" algn="tr" rotWithShape="0">
                              <a:prstClr val="black">
                                <a:alpha val="40000"/>
                              </a:prstClr>
                            </a:outerShdw>
                          </a:effectLst>
                        </a:rPr>
                        <a:t>2</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5080" algn="ctr">
                        <a:lnSpc>
                          <a:spcPts val="1745"/>
                        </a:lnSpc>
                        <a:spcAft>
                          <a:spcPts val="0"/>
                        </a:spcAft>
                      </a:pPr>
                      <a:r>
                        <a:rPr lang="vi-VN" sz="1600" spc="-25">
                          <a:effectLst>
                            <a:outerShdw blurRad="50800" dist="38100" algn="tr" rotWithShape="0">
                              <a:prstClr val="black">
                                <a:alpha val="40000"/>
                              </a:prstClr>
                            </a:outerShdw>
                          </a:effectLst>
                        </a:rPr>
                        <a:t>14</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6350" marR="3810" algn="ctr">
                        <a:lnSpc>
                          <a:spcPts val="1745"/>
                        </a:lnSpc>
                        <a:spcAft>
                          <a:spcPts val="0"/>
                        </a:spcAft>
                      </a:pPr>
                      <a:r>
                        <a:rPr lang="vi-VN" sz="1600" spc="-25">
                          <a:effectLst>
                            <a:outerShdw blurRad="50800" dist="38100" algn="tr" rotWithShape="0">
                              <a:prstClr val="black">
                                <a:alpha val="40000"/>
                              </a:prstClr>
                            </a:outerShdw>
                          </a:effectLst>
                        </a:rPr>
                        <a:t>21</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4445" marR="1270" algn="ctr">
                        <a:lnSpc>
                          <a:spcPts val="1745"/>
                        </a:lnSpc>
                        <a:spcAft>
                          <a:spcPts val="0"/>
                        </a:spcAft>
                      </a:pPr>
                      <a:r>
                        <a:rPr lang="vi-VN" sz="1600" spc="-25">
                          <a:effectLst>
                            <a:outerShdw blurRad="50800" dist="38100" algn="tr" rotWithShape="0">
                              <a:prstClr val="black">
                                <a:alpha val="40000"/>
                              </a:prstClr>
                            </a:outerShdw>
                          </a:effectLst>
                        </a:rPr>
                        <a:t>12</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2674446883"/>
                  </a:ext>
                </a:extLst>
              </a:tr>
              <a:tr h="232410">
                <a:tc>
                  <a:txBody>
                    <a:bodyPr/>
                    <a:lstStyle/>
                    <a:p>
                      <a:pPr marL="2540" algn="ctr">
                        <a:lnSpc>
                          <a:spcPts val="1735"/>
                        </a:lnSpc>
                        <a:spcAft>
                          <a:spcPts val="0"/>
                        </a:spcAft>
                      </a:pPr>
                      <a:r>
                        <a:rPr lang="vi-VN" sz="1600" spc="-50">
                          <a:effectLst>
                            <a:outerShdw blurRad="50800" dist="38100" algn="tr" rotWithShape="0">
                              <a:prstClr val="black">
                                <a:alpha val="40000"/>
                              </a:prstClr>
                            </a:outerShdw>
                          </a:effectLst>
                        </a:rPr>
                        <a:t>3</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5080" algn="ctr">
                        <a:lnSpc>
                          <a:spcPts val="1735"/>
                        </a:lnSpc>
                        <a:spcAft>
                          <a:spcPts val="0"/>
                        </a:spcAft>
                      </a:pPr>
                      <a:r>
                        <a:rPr lang="vi-VN" sz="1600" spc="-25">
                          <a:effectLst>
                            <a:outerShdw blurRad="50800" dist="38100" algn="tr" rotWithShape="0">
                              <a:prstClr val="black">
                                <a:alpha val="40000"/>
                              </a:prstClr>
                            </a:outerShdw>
                          </a:effectLst>
                        </a:rPr>
                        <a:t>15</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6350" marR="3810" algn="ctr">
                        <a:lnSpc>
                          <a:spcPts val="1735"/>
                        </a:lnSpc>
                        <a:spcAft>
                          <a:spcPts val="0"/>
                        </a:spcAft>
                      </a:pPr>
                      <a:r>
                        <a:rPr lang="vi-VN" sz="1600" spc="-25">
                          <a:effectLst>
                            <a:outerShdw blurRad="50800" dist="38100" algn="tr" rotWithShape="0">
                              <a:prstClr val="black">
                                <a:alpha val="40000"/>
                              </a:prstClr>
                            </a:outerShdw>
                          </a:effectLst>
                        </a:rPr>
                        <a:t>22</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4445" marR="1270" algn="ctr">
                        <a:lnSpc>
                          <a:spcPts val="1735"/>
                        </a:lnSpc>
                        <a:spcAft>
                          <a:spcPts val="0"/>
                        </a:spcAft>
                      </a:pPr>
                      <a:r>
                        <a:rPr lang="vi-VN" sz="1600" spc="-50">
                          <a:effectLst>
                            <a:outerShdw blurRad="50800" dist="38100" algn="tr" rotWithShape="0">
                              <a:prstClr val="black">
                                <a:alpha val="40000"/>
                              </a:prstClr>
                            </a:outerShdw>
                          </a:effectLst>
                        </a:rPr>
                        <a:t>6</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789749470"/>
                  </a:ext>
                </a:extLst>
              </a:tr>
              <a:tr h="232410">
                <a:tc>
                  <a:txBody>
                    <a:bodyPr/>
                    <a:lstStyle/>
                    <a:p>
                      <a:pPr marL="2540" algn="ctr">
                        <a:lnSpc>
                          <a:spcPts val="1735"/>
                        </a:lnSpc>
                        <a:spcAft>
                          <a:spcPts val="0"/>
                        </a:spcAft>
                      </a:pPr>
                      <a:r>
                        <a:rPr lang="vi-VN" sz="1600" spc="-50">
                          <a:effectLst>
                            <a:outerShdw blurRad="50800" dist="38100" algn="tr" rotWithShape="0">
                              <a:prstClr val="black">
                                <a:alpha val="40000"/>
                              </a:prstClr>
                            </a:outerShdw>
                          </a:effectLst>
                        </a:rPr>
                        <a:t>4</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5080" algn="ctr">
                        <a:lnSpc>
                          <a:spcPts val="1735"/>
                        </a:lnSpc>
                        <a:spcAft>
                          <a:spcPts val="0"/>
                        </a:spcAft>
                      </a:pPr>
                      <a:r>
                        <a:rPr lang="vi-VN" sz="1600" spc="-25">
                          <a:effectLst>
                            <a:outerShdw blurRad="50800" dist="38100" algn="tr" rotWithShape="0">
                              <a:prstClr val="black">
                                <a:alpha val="40000"/>
                              </a:prstClr>
                            </a:outerShdw>
                          </a:effectLst>
                        </a:rPr>
                        <a:t>16</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6350" marR="3810" algn="ctr">
                        <a:lnSpc>
                          <a:spcPts val="1735"/>
                        </a:lnSpc>
                        <a:spcAft>
                          <a:spcPts val="0"/>
                        </a:spcAft>
                      </a:pPr>
                      <a:r>
                        <a:rPr lang="vi-VN" sz="1600" spc="-25">
                          <a:effectLst>
                            <a:outerShdw blurRad="50800" dist="38100" algn="tr" rotWithShape="0">
                              <a:prstClr val="black">
                                <a:alpha val="40000"/>
                              </a:prstClr>
                            </a:outerShdw>
                          </a:effectLst>
                        </a:rPr>
                        <a:t>23</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4445" marR="1270" algn="ctr">
                        <a:lnSpc>
                          <a:spcPts val="1735"/>
                        </a:lnSpc>
                        <a:spcAft>
                          <a:spcPts val="0"/>
                        </a:spcAft>
                      </a:pPr>
                      <a:r>
                        <a:rPr lang="vi-VN" sz="1600" spc="-50">
                          <a:effectLst>
                            <a:outerShdw blurRad="50800" dist="38100" algn="tr" rotWithShape="0">
                              <a:prstClr val="black">
                                <a:alpha val="40000"/>
                              </a:prstClr>
                            </a:outerShdw>
                          </a:effectLst>
                        </a:rPr>
                        <a:t>0</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1446283300"/>
                  </a:ext>
                </a:extLst>
              </a:tr>
              <a:tr h="234315">
                <a:tc>
                  <a:txBody>
                    <a:bodyPr/>
                    <a:lstStyle/>
                    <a:p>
                      <a:pPr marL="2540" algn="ctr">
                        <a:lnSpc>
                          <a:spcPts val="1745"/>
                        </a:lnSpc>
                        <a:spcAft>
                          <a:spcPts val="0"/>
                        </a:spcAft>
                      </a:pPr>
                      <a:r>
                        <a:rPr lang="vi-VN" sz="1600" spc="-50">
                          <a:effectLst>
                            <a:outerShdw blurRad="50800" dist="38100" algn="tr" rotWithShape="0">
                              <a:prstClr val="black">
                                <a:alpha val="40000"/>
                              </a:prstClr>
                            </a:outerShdw>
                          </a:effectLst>
                        </a:rPr>
                        <a:t>5</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5080" algn="ctr">
                        <a:lnSpc>
                          <a:spcPts val="1745"/>
                        </a:lnSpc>
                        <a:spcAft>
                          <a:spcPts val="0"/>
                        </a:spcAft>
                      </a:pPr>
                      <a:r>
                        <a:rPr lang="vi-VN" sz="1600" spc="-25">
                          <a:effectLst>
                            <a:outerShdw blurRad="50800" dist="38100" algn="tr" rotWithShape="0">
                              <a:prstClr val="black">
                                <a:alpha val="40000"/>
                              </a:prstClr>
                            </a:outerShdw>
                          </a:effectLst>
                        </a:rPr>
                        <a:t>17</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6350" marR="3810" algn="ctr">
                        <a:lnSpc>
                          <a:spcPts val="1745"/>
                        </a:lnSpc>
                        <a:spcAft>
                          <a:spcPts val="0"/>
                        </a:spcAft>
                      </a:pPr>
                      <a:r>
                        <a:rPr lang="vi-VN" sz="1600" spc="-25">
                          <a:effectLst>
                            <a:outerShdw blurRad="50800" dist="38100" algn="tr" rotWithShape="0">
                              <a:prstClr val="black">
                                <a:alpha val="40000"/>
                              </a:prstClr>
                            </a:outerShdw>
                          </a:effectLst>
                        </a:rPr>
                        <a:t>24</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4445" marR="1270" algn="ctr">
                        <a:lnSpc>
                          <a:spcPts val="1745"/>
                        </a:lnSpc>
                        <a:spcAft>
                          <a:spcPts val="0"/>
                        </a:spcAft>
                      </a:pPr>
                      <a:r>
                        <a:rPr lang="vi-VN" sz="1600" spc="-20">
                          <a:effectLst>
                            <a:outerShdw blurRad="50800" dist="38100" algn="tr" rotWithShape="0">
                              <a:prstClr val="black">
                                <a:alpha val="40000"/>
                              </a:prstClr>
                            </a:outerShdw>
                          </a:effectLst>
                        </a:rPr>
                        <a:t>-</a:t>
                      </a:r>
                      <a:r>
                        <a:rPr lang="vi-VN" sz="1600" spc="-50">
                          <a:effectLst>
                            <a:outerShdw blurRad="50800" dist="38100" algn="tr" rotWithShape="0">
                              <a:prstClr val="black">
                                <a:alpha val="40000"/>
                              </a:prstClr>
                            </a:outerShdw>
                          </a:effectLst>
                        </a:rPr>
                        <a:t>6</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833114240"/>
                  </a:ext>
                </a:extLst>
              </a:tr>
              <a:tr h="232410">
                <a:tc>
                  <a:txBody>
                    <a:bodyPr/>
                    <a:lstStyle/>
                    <a:p>
                      <a:pPr marL="2540" algn="ctr">
                        <a:lnSpc>
                          <a:spcPts val="1735"/>
                        </a:lnSpc>
                        <a:spcAft>
                          <a:spcPts val="0"/>
                        </a:spcAft>
                      </a:pPr>
                      <a:r>
                        <a:rPr lang="vi-VN" sz="1600" spc="-50">
                          <a:effectLst>
                            <a:outerShdw blurRad="50800" dist="38100" algn="tr" rotWithShape="0">
                              <a:prstClr val="black">
                                <a:alpha val="40000"/>
                              </a:prstClr>
                            </a:outerShdw>
                          </a:effectLst>
                        </a:rPr>
                        <a:t>6</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5080" algn="ctr">
                        <a:lnSpc>
                          <a:spcPts val="1735"/>
                        </a:lnSpc>
                        <a:spcAft>
                          <a:spcPts val="0"/>
                        </a:spcAft>
                      </a:pPr>
                      <a:r>
                        <a:rPr lang="vi-VN" sz="1600" spc="-25">
                          <a:effectLst>
                            <a:outerShdw blurRad="50800" dist="38100" algn="tr" rotWithShape="0">
                              <a:prstClr val="black">
                                <a:alpha val="40000"/>
                              </a:prstClr>
                            </a:outerShdw>
                          </a:effectLst>
                        </a:rPr>
                        <a:t>18</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6350" marR="3810" algn="ctr">
                        <a:lnSpc>
                          <a:spcPts val="1735"/>
                        </a:lnSpc>
                        <a:spcAft>
                          <a:spcPts val="0"/>
                        </a:spcAft>
                      </a:pPr>
                      <a:r>
                        <a:rPr lang="vi-VN" sz="1600" spc="-25">
                          <a:effectLst>
                            <a:outerShdw blurRad="50800" dist="38100" algn="tr" rotWithShape="0">
                              <a:prstClr val="black">
                                <a:alpha val="40000"/>
                              </a:prstClr>
                            </a:outerShdw>
                          </a:effectLst>
                        </a:rPr>
                        <a:t>24</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4445" marR="1270" algn="ctr">
                        <a:lnSpc>
                          <a:spcPts val="1735"/>
                        </a:lnSpc>
                        <a:spcAft>
                          <a:spcPts val="0"/>
                        </a:spcAft>
                      </a:pPr>
                      <a:r>
                        <a:rPr lang="vi-VN" sz="1600" spc="-50">
                          <a:effectLst>
                            <a:outerShdw blurRad="50800" dist="38100" algn="tr" rotWithShape="0">
                              <a:prstClr val="black">
                                <a:alpha val="40000"/>
                              </a:prstClr>
                            </a:outerShdw>
                          </a:effectLst>
                        </a:rPr>
                        <a:t>8</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2199840218"/>
                  </a:ext>
                </a:extLst>
              </a:tr>
              <a:tr h="234315">
                <a:tc>
                  <a:txBody>
                    <a:bodyPr/>
                    <a:lstStyle/>
                    <a:p>
                      <a:pPr marL="2540" algn="ctr">
                        <a:lnSpc>
                          <a:spcPts val="1745"/>
                        </a:lnSpc>
                        <a:spcAft>
                          <a:spcPts val="0"/>
                        </a:spcAft>
                      </a:pPr>
                      <a:r>
                        <a:rPr lang="vi-VN" sz="1600" spc="-50">
                          <a:effectLst>
                            <a:outerShdw blurRad="50800" dist="38100" algn="tr" rotWithShape="0">
                              <a:prstClr val="black">
                                <a:alpha val="40000"/>
                              </a:prstClr>
                            </a:outerShdw>
                          </a:effectLst>
                        </a:rPr>
                        <a:t>7</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5080" algn="ctr">
                        <a:lnSpc>
                          <a:spcPts val="1745"/>
                        </a:lnSpc>
                        <a:spcAft>
                          <a:spcPts val="0"/>
                        </a:spcAft>
                      </a:pPr>
                      <a:r>
                        <a:rPr lang="vi-VN" sz="1600" spc="-25">
                          <a:effectLst>
                            <a:outerShdw blurRad="50800" dist="38100" algn="tr" rotWithShape="0">
                              <a:prstClr val="black">
                                <a:alpha val="40000"/>
                              </a:prstClr>
                            </a:outerShdw>
                          </a:effectLst>
                        </a:rPr>
                        <a:t>19</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6350" marR="3810" algn="ctr">
                        <a:lnSpc>
                          <a:spcPts val="1745"/>
                        </a:lnSpc>
                        <a:spcAft>
                          <a:spcPts val="0"/>
                        </a:spcAft>
                      </a:pPr>
                      <a:r>
                        <a:rPr lang="vi-VN" sz="1600" spc="-25">
                          <a:effectLst>
                            <a:outerShdw blurRad="50800" dist="38100" algn="tr" rotWithShape="0">
                              <a:prstClr val="black">
                                <a:alpha val="40000"/>
                              </a:prstClr>
                            </a:outerShdw>
                          </a:effectLst>
                        </a:rPr>
                        <a:t>25</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4445" marR="1270" algn="ctr">
                        <a:lnSpc>
                          <a:spcPts val="1745"/>
                        </a:lnSpc>
                        <a:spcAft>
                          <a:spcPts val="0"/>
                        </a:spcAft>
                      </a:pPr>
                      <a:r>
                        <a:rPr lang="vi-VN" sz="1600" spc="-50">
                          <a:effectLst>
                            <a:outerShdw blurRad="50800" dist="38100" algn="tr" rotWithShape="0">
                              <a:prstClr val="black">
                                <a:alpha val="40000"/>
                              </a:prstClr>
                            </a:outerShdw>
                          </a:effectLst>
                        </a:rPr>
                        <a:t>2</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412176821"/>
                  </a:ext>
                </a:extLst>
              </a:tr>
              <a:tr h="232410">
                <a:tc>
                  <a:txBody>
                    <a:bodyPr/>
                    <a:lstStyle/>
                    <a:p>
                      <a:pPr marL="2540" algn="ctr">
                        <a:lnSpc>
                          <a:spcPts val="1735"/>
                        </a:lnSpc>
                        <a:spcAft>
                          <a:spcPts val="0"/>
                        </a:spcAft>
                      </a:pPr>
                      <a:r>
                        <a:rPr lang="vi-VN" sz="1600" spc="-50">
                          <a:effectLst>
                            <a:outerShdw blurRad="50800" dist="38100" algn="tr" rotWithShape="0">
                              <a:prstClr val="black">
                                <a:alpha val="40000"/>
                              </a:prstClr>
                            </a:outerShdw>
                          </a:effectLst>
                        </a:rPr>
                        <a:t>8</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5080" algn="ctr">
                        <a:lnSpc>
                          <a:spcPts val="1735"/>
                        </a:lnSpc>
                        <a:spcAft>
                          <a:spcPts val="0"/>
                        </a:spcAft>
                      </a:pPr>
                      <a:r>
                        <a:rPr lang="vi-VN" sz="1600" spc="-25">
                          <a:effectLst>
                            <a:outerShdw blurRad="50800" dist="38100" algn="tr" rotWithShape="0">
                              <a:prstClr val="black">
                                <a:alpha val="40000"/>
                              </a:prstClr>
                            </a:outerShdw>
                          </a:effectLst>
                        </a:rPr>
                        <a:t>20</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6350" marR="3810" algn="ctr">
                        <a:lnSpc>
                          <a:spcPts val="1735"/>
                        </a:lnSpc>
                        <a:spcAft>
                          <a:spcPts val="0"/>
                        </a:spcAft>
                      </a:pPr>
                      <a:r>
                        <a:rPr lang="vi-VN" sz="1600" spc="-25">
                          <a:effectLst>
                            <a:outerShdw blurRad="50800" dist="38100" algn="tr" rotWithShape="0">
                              <a:prstClr val="black">
                                <a:alpha val="40000"/>
                              </a:prstClr>
                            </a:outerShdw>
                          </a:effectLst>
                        </a:rPr>
                        <a:t>26</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4445" marR="1270" algn="ctr">
                        <a:lnSpc>
                          <a:spcPts val="1735"/>
                        </a:lnSpc>
                        <a:spcAft>
                          <a:spcPts val="0"/>
                        </a:spcAft>
                      </a:pPr>
                      <a:r>
                        <a:rPr lang="vi-VN" sz="1600" spc="-20">
                          <a:effectLst>
                            <a:outerShdw blurRad="50800" dist="38100" algn="tr" rotWithShape="0">
                              <a:prstClr val="black">
                                <a:alpha val="40000"/>
                              </a:prstClr>
                            </a:outerShdw>
                          </a:effectLst>
                        </a:rPr>
                        <a:t>-</a:t>
                      </a:r>
                      <a:r>
                        <a:rPr lang="vi-VN" sz="1600" spc="-50">
                          <a:effectLst>
                            <a:outerShdw blurRad="50800" dist="38100" algn="tr" rotWithShape="0">
                              <a:prstClr val="black">
                                <a:alpha val="40000"/>
                              </a:prstClr>
                            </a:outerShdw>
                          </a:effectLst>
                        </a:rPr>
                        <a:t>4</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1357785316"/>
                  </a:ext>
                </a:extLst>
              </a:tr>
              <a:tr h="234315">
                <a:tc>
                  <a:txBody>
                    <a:bodyPr/>
                    <a:lstStyle/>
                    <a:p>
                      <a:pPr marL="2540" algn="ctr">
                        <a:lnSpc>
                          <a:spcPts val="1745"/>
                        </a:lnSpc>
                        <a:spcAft>
                          <a:spcPts val="0"/>
                        </a:spcAft>
                      </a:pPr>
                      <a:r>
                        <a:rPr lang="vi-VN" sz="1600" spc="-50">
                          <a:effectLst>
                            <a:outerShdw blurRad="50800" dist="38100" algn="tr" rotWithShape="0">
                              <a:prstClr val="black">
                                <a:alpha val="40000"/>
                              </a:prstClr>
                            </a:outerShdw>
                          </a:effectLst>
                        </a:rPr>
                        <a:t>9</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5080" algn="ctr">
                        <a:lnSpc>
                          <a:spcPts val="1745"/>
                        </a:lnSpc>
                        <a:spcAft>
                          <a:spcPts val="0"/>
                        </a:spcAft>
                      </a:pPr>
                      <a:r>
                        <a:rPr lang="vi-VN" sz="1600" spc="-25">
                          <a:effectLst>
                            <a:outerShdw blurRad="50800" dist="38100" algn="tr" rotWithShape="0">
                              <a:prstClr val="black">
                                <a:alpha val="40000"/>
                              </a:prstClr>
                            </a:outerShdw>
                          </a:effectLst>
                        </a:rPr>
                        <a:t>21</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6350" marR="3810" algn="ctr">
                        <a:lnSpc>
                          <a:spcPts val="1745"/>
                        </a:lnSpc>
                        <a:spcAft>
                          <a:spcPts val="0"/>
                        </a:spcAft>
                      </a:pPr>
                      <a:r>
                        <a:rPr lang="vi-VN" sz="1600" spc="-25">
                          <a:effectLst>
                            <a:outerShdw blurRad="50800" dist="38100" algn="tr" rotWithShape="0">
                              <a:prstClr val="black">
                                <a:alpha val="40000"/>
                              </a:prstClr>
                            </a:outerShdw>
                          </a:effectLst>
                        </a:rPr>
                        <a:t>26</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4445" marR="1270" algn="ctr">
                        <a:lnSpc>
                          <a:spcPts val="1745"/>
                        </a:lnSpc>
                        <a:spcAft>
                          <a:spcPts val="0"/>
                        </a:spcAft>
                      </a:pPr>
                      <a:r>
                        <a:rPr lang="vi-VN" sz="1600" spc="-25">
                          <a:effectLst>
                            <a:outerShdw blurRad="50800" dist="38100" algn="tr" rotWithShape="0">
                              <a:prstClr val="black">
                                <a:alpha val="40000"/>
                              </a:prstClr>
                            </a:outerShdw>
                          </a:effectLst>
                        </a:rPr>
                        <a:t>10</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1515976518"/>
                  </a:ext>
                </a:extLst>
              </a:tr>
              <a:tr h="234315">
                <a:tc>
                  <a:txBody>
                    <a:bodyPr/>
                    <a:lstStyle/>
                    <a:p>
                      <a:pPr marL="2540" algn="ctr">
                        <a:lnSpc>
                          <a:spcPts val="1745"/>
                        </a:lnSpc>
                        <a:spcAft>
                          <a:spcPts val="0"/>
                        </a:spcAft>
                      </a:pPr>
                      <a:r>
                        <a:rPr lang="vi-VN" sz="1600" spc="-25">
                          <a:effectLst>
                            <a:outerShdw blurRad="50800" dist="38100" algn="tr" rotWithShape="0">
                              <a:prstClr val="black">
                                <a:alpha val="40000"/>
                              </a:prstClr>
                            </a:outerShdw>
                          </a:effectLst>
                        </a:rPr>
                        <a:t>10</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5080" algn="ctr">
                        <a:lnSpc>
                          <a:spcPts val="1745"/>
                        </a:lnSpc>
                        <a:spcAft>
                          <a:spcPts val="0"/>
                        </a:spcAft>
                      </a:pPr>
                      <a:r>
                        <a:rPr lang="vi-VN" sz="1600" spc="-25">
                          <a:effectLst>
                            <a:outerShdw blurRad="50800" dist="38100" algn="tr" rotWithShape="0">
                              <a:prstClr val="black">
                                <a:alpha val="40000"/>
                              </a:prstClr>
                            </a:outerShdw>
                          </a:effectLst>
                        </a:rPr>
                        <a:t>22</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6350" marR="3810" algn="ctr">
                        <a:lnSpc>
                          <a:spcPts val="1745"/>
                        </a:lnSpc>
                        <a:spcAft>
                          <a:spcPts val="0"/>
                        </a:spcAft>
                      </a:pPr>
                      <a:r>
                        <a:rPr lang="vi-VN" sz="1600" spc="-25">
                          <a:effectLst>
                            <a:outerShdw blurRad="50800" dist="38100" algn="tr" rotWithShape="0">
                              <a:prstClr val="black">
                                <a:alpha val="40000"/>
                              </a:prstClr>
                            </a:outerShdw>
                          </a:effectLst>
                        </a:rPr>
                        <a:t>27</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tc>
                  <a:txBody>
                    <a:bodyPr/>
                    <a:lstStyle/>
                    <a:p>
                      <a:pPr marL="4445" marR="1270" algn="ctr">
                        <a:lnSpc>
                          <a:spcPts val="1745"/>
                        </a:lnSpc>
                        <a:spcAft>
                          <a:spcPts val="0"/>
                        </a:spcAft>
                      </a:pPr>
                      <a:r>
                        <a:rPr lang="vi-VN" sz="1600" spc="-50">
                          <a:effectLst>
                            <a:outerShdw blurRad="50800" dist="38100" algn="tr" rotWithShape="0">
                              <a:prstClr val="black">
                                <a:alpha val="40000"/>
                              </a:prstClr>
                            </a:outerShdw>
                          </a:effectLst>
                        </a:rPr>
                        <a:t>4</a:t>
                      </a:r>
                      <a:endParaRPr lang="en-US"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227254307"/>
                  </a:ext>
                </a:extLst>
              </a:tr>
            </a:tbl>
          </a:graphicData>
        </a:graphic>
      </p:graphicFrame>
      <p:sp>
        <p:nvSpPr>
          <p:cNvPr id="122" name="Rectangle 1"/>
          <p:cNvSpPr>
            <a:spLocks noChangeArrowheads="1"/>
          </p:cNvSpPr>
          <p:nvPr/>
        </p:nvSpPr>
        <p:spPr bwMode="auto">
          <a:xfrm>
            <a:off x="1667509" y="1684170"/>
            <a:ext cx="6218531"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27100" algn="l"/>
              </a:tabLst>
              <a:defRPr>
                <a:solidFill>
                  <a:schemeClr val="tx1"/>
                </a:solidFill>
                <a:latin typeface="Arial" panose="020B0604020202020204" pitchFamily="34" charset="0"/>
              </a:defRPr>
            </a:lvl1pPr>
            <a:lvl2pPr eaLnBrk="0" fontAlgn="base" hangingPunct="0">
              <a:spcBef>
                <a:spcPct val="0"/>
              </a:spcBef>
              <a:spcAft>
                <a:spcPct val="0"/>
              </a:spcAft>
              <a:tabLst>
                <a:tab pos="927100" algn="l"/>
              </a:tabLst>
              <a:defRPr>
                <a:solidFill>
                  <a:schemeClr val="tx1"/>
                </a:solidFill>
                <a:latin typeface="Arial" panose="020B0604020202020204" pitchFamily="34" charset="0"/>
              </a:defRPr>
            </a:lvl2pPr>
            <a:lvl3pPr eaLnBrk="0" fontAlgn="base" hangingPunct="0">
              <a:spcBef>
                <a:spcPct val="0"/>
              </a:spcBef>
              <a:spcAft>
                <a:spcPct val="0"/>
              </a:spcAft>
              <a:tabLst>
                <a:tab pos="927100" algn="l"/>
              </a:tabLst>
              <a:defRPr>
                <a:solidFill>
                  <a:schemeClr val="tx1"/>
                </a:solidFill>
                <a:latin typeface="Arial" panose="020B0604020202020204" pitchFamily="34" charset="0"/>
              </a:defRPr>
            </a:lvl3pPr>
            <a:lvl4pPr eaLnBrk="0" fontAlgn="base" hangingPunct="0">
              <a:spcBef>
                <a:spcPct val="0"/>
              </a:spcBef>
              <a:spcAft>
                <a:spcPct val="0"/>
              </a:spcAft>
              <a:tabLst>
                <a:tab pos="927100" algn="l"/>
              </a:tabLst>
              <a:defRPr>
                <a:solidFill>
                  <a:schemeClr val="tx1"/>
                </a:solidFill>
                <a:latin typeface="Arial" panose="020B0604020202020204" pitchFamily="34" charset="0"/>
              </a:defRPr>
            </a:lvl4pPr>
            <a:lvl5pPr eaLnBrk="0" fontAlgn="base" hangingPunct="0">
              <a:spcBef>
                <a:spcPct val="0"/>
              </a:spcBef>
              <a:spcAft>
                <a:spcPct val="0"/>
              </a:spcAft>
              <a:tabLst>
                <a:tab pos="927100" algn="l"/>
              </a:tabLst>
              <a:defRPr>
                <a:solidFill>
                  <a:schemeClr val="tx1"/>
                </a:solidFill>
                <a:latin typeface="Arial" panose="020B0604020202020204" pitchFamily="34" charset="0"/>
              </a:defRPr>
            </a:lvl5pPr>
            <a:lvl6pPr eaLnBrk="0" fontAlgn="base" hangingPunct="0">
              <a:spcBef>
                <a:spcPct val="0"/>
              </a:spcBef>
              <a:spcAft>
                <a:spcPct val="0"/>
              </a:spcAft>
              <a:tabLst>
                <a:tab pos="927100" algn="l"/>
              </a:tabLst>
              <a:defRPr>
                <a:solidFill>
                  <a:schemeClr val="tx1"/>
                </a:solidFill>
                <a:latin typeface="Arial" panose="020B0604020202020204" pitchFamily="34" charset="0"/>
              </a:defRPr>
            </a:lvl6pPr>
            <a:lvl7pPr eaLnBrk="0" fontAlgn="base" hangingPunct="0">
              <a:spcBef>
                <a:spcPct val="0"/>
              </a:spcBef>
              <a:spcAft>
                <a:spcPct val="0"/>
              </a:spcAft>
              <a:tabLst>
                <a:tab pos="927100" algn="l"/>
              </a:tabLst>
              <a:defRPr>
                <a:solidFill>
                  <a:schemeClr val="tx1"/>
                </a:solidFill>
                <a:latin typeface="Arial" panose="020B0604020202020204" pitchFamily="34" charset="0"/>
              </a:defRPr>
            </a:lvl7pPr>
            <a:lvl8pPr eaLnBrk="0" fontAlgn="base" hangingPunct="0">
              <a:spcBef>
                <a:spcPct val="0"/>
              </a:spcBef>
              <a:spcAft>
                <a:spcPct val="0"/>
              </a:spcAft>
              <a:tabLst>
                <a:tab pos="927100" algn="l"/>
              </a:tabLst>
              <a:defRPr>
                <a:solidFill>
                  <a:schemeClr val="tx1"/>
                </a:solidFill>
                <a:latin typeface="Arial" panose="020B0604020202020204" pitchFamily="34" charset="0"/>
              </a:defRPr>
            </a:lvl8pPr>
            <a:lvl9pPr eaLnBrk="0" fontAlgn="base" hangingPunct="0">
              <a:spcBef>
                <a:spcPct val="0"/>
              </a:spcBef>
              <a:spcAft>
                <a:spcPct val="0"/>
              </a:spcAft>
              <a:tabLst>
                <a:tab pos="927100" algn="l"/>
              </a:tabLst>
              <a:defRPr>
                <a:solidFill>
                  <a:schemeClr val="tx1"/>
                </a:solidFill>
                <a:latin typeface="Arial" panose="020B0604020202020204" pitchFamily="34" charset="0"/>
              </a:defRPr>
            </a:lvl9pPr>
          </a:lstStyle>
          <a:p>
            <a:pPr marL="457200" marR="0" lvl="1" indent="0" algn="l" defTabSz="914400" rtl="0" eaLnBrk="0" fontAlgn="base" latinLnBrk="0" hangingPunct="0">
              <a:lnSpc>
                <a:spcPct val="100000"/>
              </a:lnSpc>
              <a:spcBef>
                <a:spcPct val="0"/>
              </a:spcBef>
              <a:spcAft>
                <a:spcPct val="0"/>
              </a:spcAft>
              <a:buClrTx/>
              <a:buSzTx/>
              <a:tabLst>
                <a:tab pos="927100" algn="l"/>
              </a:tabLst>
            </a:pPr>
            <a:r>
              <a:rPr lang="en-US" altLang="en-US" sz="2800" b="1" smtClean="0">
                <a:ea typeface="Palatino Linotype" panose="02040502050505030304" pitchFamily="18" charset="0"/>
                <a:cs typeface="Palatino Linotype" panose="02040502050505030304" pitchFamily="18" charset="0"/>
              </a:rPr>
              <a:t>Ví dụ</a:t>
            </a:r>
            <a:r>
              <a:rPr kumimoji="0" lang="vi-VN" altLang="en-US" sz="2800" b="1" i="0" u="none" strike="noStrike" cap="none" normalizeH="0" baseline="0" smtClean="0">
                <a:ln>
                  <a:noFill/>
                </a:ln>
                <a:solidFill>
                  <a:schemeClr val="tx1"/>
                </a:solidFill>
                <a:effectLst/>
                <a:ea typeface="Palatino Linotype" panose="02040502050505030304" pitchFamily="18" charset="0"/>
                <a:cs typeface="Palatino Linotype" panose="02040502050505030304" pitchFamily="18" charset="0"/>
              </a:rPr>
              <a:t> : Cho A(12, 20) </a:t>
            </a:r>
            <a:r>
              <a:rPr lang="en-US" altLang="en-US" sz="2800" b="1" smtClean="0">
                <a:ea typeface="Palatino Linotype" panose="02040502050505030304" pitchFamily="18" charset="0"/>
                <a:cs typeface="Palatino Linotype" panose="02040502050505030304" pitchFamily="18" charset="0"/>
              </a:rPr>
              <a:t>và</a:t>
            </a:r>
            <a:r>
              <a:rPr kumimoji="0" lang="vi-VN" altLang="en-US" sz="2800" b="1" i="0" u="none" strike="noStrike" cap="none" normalizeH="0" baseline="0" smtClean="0">
                <a:ln>
                  <a:noFill/>
                </a:ln>
                <a:solidFill>
                  <a:schemeClr val="tx1"/>
                </a:solidFill>
                <a:effectLst/>
                <a:ea typeface="Palatino Linotype" panose="02040502050505030304" pitchFamily="18" charset="0"/>
                <a:cs typeface="Palatino Linotype" panose="02040502050505030304" pitchFamily="18" charset="0"/>
              </a:rPr>
              <a:t> B(22, 27)</a:t>
            </a:r>
            <a:endParaRPr kumimoji="0" lang="en-US" altLang="en-US" sz="1100" b="1" i="0" u="none" strike="noStrike" cap="none" normalizeH="0" baseline="0" smtClean="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tabLst>
                <a:tab pos="927100" algn="l"/>
              </a:tabLst>
            </a:pPr>
            <a:r>
              <a:rPr kumimoji="0" lang="vi-VN" altLang="en-US" sz="2400" b="0" i="0" u="none" strike="noStrike" cap="none" normalizeH="0" baseline="0" smtClean="0">
                <a:ln>
                  <a:noFill/>
                </a:ln>
                <a:solidFill>
                  <a:schemeClr val="tx1"/>
                </a:solidFill>
                <a:effectLst/>
                <a:ea typeface="Palatino Linotype" panose="02040502050505030304" pitchFamily="18" charset="0"/>
                <a:cs typeface="Palatino Linotype" panose="02040502050505030304" pitchFamily="18" charset="0"/>
              </a:rPr>
              <a:t>Ta </a:t>
            </a:r>
            <a:r>
              <a:rPr lang="en-US" altLang="en-US" sz="2400" smtClean="0">
                <a:ea typeface="Palatino Linotype" panose="02040502050505030304" pitchFamily="18" charset="0"/>
                <a:cs typeface="Palatino Linotype" panose="02040502050505030304" pitchFamily="18" charset="0"/>
              </a:rPr>
              <a:t>có:</a:t>
            </a:r>
            <a:endParaRPr kumimoji="0" lang="en-US" altLang="en-US" sz="1050" b="0" i="0" u="none" strike="noStrike" cap="none" normalizeH="0" baseline="0" smtClean="0">
              <a:ln>
                <a:noFill/>
              </a:ln>
              <a:solidFill>
                <a:schemeClr val="tx1"/>
              </a:solidFill>
              <a:effectLst/>
              <a:latin typeface="Arial" panose="020B0604020202020204" pitchFamily="34" charset="0"/>
            </a:endParaRPr>
          </a:p>
          <a:p>
            <a:pPr marR="0" lvl="2" indent="233363" algn="l" defTabSz="914400" rtl="0" eaLnBrk="0" fontAlgn="base" latinLnBrk="0" hangingPunct="0">
              <a:lnSpc>
                <a:spcPct val="100000"/>
              </a:lnSpc>
              <a:spcBef>
                <a:spcPct val="0"/>
              </a:spcBef>
              <a:spcAft>
                <a:spcPct val="0"/>
              </a:spcAft>
              <a:buClr>
                <a:schemeClr val="accent1">
                  <a:lumMod val="75000"/>
                </a:schemeClr>
              </a:buClr>
              <a:buSzTx/>
              <a:buFont typeface="Symbol" panose="05050102010706020507" pitchFamily="18" charset="2"/>
              <a:buChar char=""/>
              <a:tabLst>
                <a:tab pos="1087438" algn="l"/>
              </a:tabLst>
            </a:pPr>
            <a:r>
              <a:rPr kumimoji="0" lang="vi-VN" altLang="en-US" sz="2000" b="0" i="0" u="none" strike="noStrike" cap="none" normalizeH="0" baseline="0" smtClean="0">
                <a:ln>
                  <a:noFill/>
                </a:ln>
                <a:solidFill>
                  <a:schemeClr val="tx1"/>
                </a:solidFill>
                <a:effectLst/>
                <a:latin typeface="Arial" panose="020B0604020202020204" pitchFamily="34" charset="0"/>
                <a:ea typeface="Palatino Linotype" panose="02040502050505030304" pitchFamily="18" charset="0"/>
                <a:cs typeface="Palatino Linotype" panose="02040502050505030304" pitchFamily="18" charset="0"/>
              </a:rPr>
              <a:t>Dx = 22-12 = 10, Dy=27-20=7</a:t>
            </a:r>
            <a:endParaRPr kumimoji="0" lang="en-US" altLang="en-US" sz="1050" b="0" i="0" u="none" strike="noStrike" cap="none" normalizeH="0" baseline="0" smtClean="0">
              <a:ln>
                <a:noFill/>
              </a:ln>
              <a:solidFill>
                <a:schemeClr val="tx1"/>
              </a:solidFill>
              <a:effectLst/>
              <a:latin typeface="Arial" panose="020B0604020202020204" pitchFamily="34" charset="0"/>
            </a:endParaRPr>
          </a:p>
          <a:p>
            <a:pPr marR="0" lvl="2" indent="233363" algn="l" defTabSz="914400" rtl="0" eaLnBrk="0" fontAlgn="base" latinLnBrk="0" hangingPunct="0">
              <a:lnSpc>
                <a:spcPct val="100000"/>
              </a:lnSpc>
              <a:spcBef>
                <a:spcPct val="0"/>
              </a:spcBef>
              <a:spcAft>
                <a:spcPct val="0"/>
              </a:spcAft>
              <a:buClr>
                <a:schemeClr val="accent1">
                  <a:lumMod val="75000"/>
                </a:schemeClr>
              </a:buClr>
              <a:buSzTx/>
              <a:buFont typeface="Symbol" panose="05050102010706020507" pitchFamily="18" charset="2"/>
              <a:buChar char=""/>
              <a:tabLst>
                <a:tab pos="1087438" algn="l"/>
              </a:tabLst>
            </a:pPr>
            <a:r>
              <a:rPr kumimoji="0" lang="vi-VN" altLang="en-US" sz="2000" b="0" i="0" u="none" strike="noStrike" cap="none" normalizeH="0" baseline="0" smtClean="0">
                <a:ln>
                  <a:noFill/>
                </a:ln>
                <a:solidFill>
                  <a:schemeClr val="tx1"/>
                </a:solidFill>
                <a:effectLst/>
                <a:latin typeface="Arial" panose="020B0604020202020204" pitchFamily="34" charset="0"/>
                <a:ea typeface="Palatino Linotype" panose="02040502050505030304" pitchFamily="18" charset="0"/>
                <a:cs typeface="Palatino Linotype" panose="02040502050505030304" pitchFamily="18" charset="0"/>
              </a:rPr>
              <a:t>Const1 = 2Dy = 14, Const2 = 2(Dy – Dx) = -6</a:t>
            </a:r>
            <a:endParaRPr kumimoji="0" lang="en-US" altLang="en-US" sz="1050" b="0" i="0" u="none" strike="noStrike" cap="none" normalizeH="0" baseline="0" smtClean="0">
              <a:ln>
                <a:noFill/>
              </a:ln>
              <a:solidFill>
                <a:schemeClr val="tx1"/>
              </a:solidFill>
              <a:effectLst/>
              <a:latin typeface="Arial" panose="020B0604020202020204" pitchFamily="34" charset="0"/>
            </a:endParaRPr>
          </a:p>
          <a:p>
            <a:pPr marR="0" lvl="2" indent="233363" algn="l" defTabSz="914400" rtl="0" eaLnBrk="0" fontAlgn="base" latinLnBrk="0" hangingPunct="0">
              <a:lnSpc>
                <a:spcPct val="100000"/>
              </a:lnSpc>
              <a:spcBef>
                <a:spcPct val="0"/>
              </a:spcBef>
              <a:spcAft>
                <a:spcPct val="0"/>
              </a:spcAft>
              <a:buClr>
                <a:schemeClr val="accent1">
                  <a:lumMod val="75000"/>
                </a:schemeClr>
              </a:buClr>
              <a:buSzTx/>
              <a:buFont typeface="Symbol" panose="05050102010706020507" pitchFamily="18" charset="2"/>
              <a:buChar char=""/>
              <a:tabLst>
                <a:tab pos="1087438" algn="l"/>
              </a:tabLst>
            </a:pPr>
            <a:r>
              <a:rPr kumimoji="0" lang="vi-VN" altLang="en-US" sz="2000" b="0" i="0" u="none" strike="noStrike" cap="none" normalizeH="0" baseline="0" smtClean="0">
                <a:ln>
                  <a:noFill/>
                </a:ln>
                <a:solidFill>
                  <a:schemeClr val="tx1"/>
                </a:solidFill>
                <a:effectLst/>
                <a:latin typeface="Arial" panose="020B0604020202020204" pitchFamily="34" charset="0"/>
                <a:ea typeface="Palatino Linotype" panose="02040502050505030304" pitchFamily="18" charset="0"/>
                <a:cs typeface="Palatino Linotype" panose="02040502050505030304" pitchFamily="18" charset="0"/>
              </a:rPr>
              <a:t>p</a:t>
            </a:r>
            <a:r>
              <a:rPr kumimoji="0" lang="vi-VN" altLang="en-US" sz="2000" b="0" i="0" u="none" strike="noStrike" cap="none" normalizeH="0" baseline="-30000" smtClean="0">
                <a:ln>
                  <a:noFill/>
                </a:ln>
                <a:solidFill>
                  <a:schemeClr val="tx1"/>
                </a:solidFill>
                <a:effectLst/>
                <a:latin typeface="Arial" panose="020B0604020202020204" pitchFamily="34" charset="0"/>
                <a:ea typeface="Palatino Linotype" panose="02040502050505030304" pitchFamily="18" charset="0"/>
                <a:cs typeface="Palatino Linotype" panose="02040502050505030304" pitchFamily="18" charset="0"/>
              </a:rPr>
              <a:t>0</a:t>
            </a:r>
            <a:r>
              <a:rPr kumimoji="0" lang="vi-VN" altLang="en-US" sz="2000" b="0" i="0" u="none" strike="noStrike" cap="none" normalizeH="0" baseline="0" smtClean="0">
                <a:ln>
                  <a:noFill/>
                </a:ln>
                <a:solidFill>
                  <a:schemeClr val="tx1"/>
                </a:solidFill>
                <a:effectLst/>
                <a:latin typeface="Arial" panose="020B0604020202020204" pitchFamily="34" charset="0"/>
                <a:ea typeface="Palatino Linotype" panose="02040502050505030304" pitchFamily="18" charset="0"/>
                <a:cs typeface="Palatino Linotype" panose="02040502050505030304" pitchFamily="18" charset="0"/>
              </a:rPr>
              <a:t> = 2Dy – Dx = 14-10 = 4</a:t>
            </a:r>
            <a:endParaRPr kumimoji="0" lang="en-US" altLang="en-US" sz="105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927100" algn="l"/>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50176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normAutofit/>
          </a:bodyPr>
          <a:lstStyle/>
          <a:p>
            <a:r>
              <a:rPr lang="en-US" b="1" smtClean="0"/>
              <a:t>Giải thuật Bresenham</a:t>
            </a:r>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28</a:t>
            </a:fld>
            <a:endParaRPr lang="en-US"/>
          </a:p>
        </p:txBody>
      </p:sp>
      <p:sp>
        <p:nvSpPr>
          <p:cNvPr id="3" name="Content Placeholder 2"/>
          <p:cNvSpPr>
            <a:spLocks noGrp="1"/>
          </p:cNvSpPr>
          <p:nvPr>
            <p:ph idx="1"/>
          </p:nvPr>
        </p:nvSpPr>
        <p:spPr>
          <a:xfrm>
            <a:off x="1767586" y="4227903"/>
            <a:ext cx="6592096" cy="2955598"/>
          </a:xfrm>
        </p:spPr>
        <p:txBody>
          <a:bodyPr>
            <a:noAutofit/>
          </a:bodyPr>
          <a:lstStyle/>
          <a:p>
            <a:r>
              <a:rPr lang="en-US" sz="2800" smtClean="0">
                <a:latin typeface="Calibri" panose="020F0502020204030204" pitchFamily="34" charset="0"/>
                <a:ea typeface="Calibri" panose="020F0502020204030204" pitchFamily="34" charset="0"/>
                <a:cs typeface="Calibri" panose="020F0502020204030204" pitchFamily="34" charset="0"/>
              </a:rPr>
              <a:t>Nhận xét:</a:t>
            </a:r>
          </a:p>
          <a:p>
            <a:pPr lvl="1"/>
            <a:r>
              <a:rPr lang="en-US" sz="2400" smtClean="0">
                <a:latin typeface="Calibri" panose="020F0502020204030204" pitchFamily="34" charset="0"/>
                <a:ea typeface="Calibri" panose="020F0502020204030204" pitchFamily="34" charset="0"/>
                <a:cs typeface="Calibri" panose="020F0502020204030204" pitchFamily="34" charset="0"/>
              </a:rPr>
              <a:t>Cải thiện tốc độ (do sử dụng số nguyên, phép cộng, dịch bit)</a:t>
            </a:r>
          </a:p>
          <a:p>
            <a:pPr lvl="1"/>
            <a:r>
              <a:rPr lang="en-US" sz="2400" smtClean="0">
                <a:latin typeface="Calibri" panose="020F0502020204030204" pitchFamily="34" charset="0"/>
                <a:ea typeface="Calibri" panose="020F0502020204030204" pitchFamily="34" charset="0"/>
                <a:cs typeface="Calibri" panose="020F0502020204030204" pitchFamily="34" charset="0"/>
              </a:rPr>
              <a:t>Kết quả tương tự thuật toán DDA</a:t>
            </a:r>
          </a:p>
          <a:p>
            <a:pPr lvl="1"/>
            <a:endParaRPr lang="en-US" sz="240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80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80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80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80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80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800">
              <a:solidFill>
                <a:schemeClr val="accent2">
                  <a:lumMod val="50000"/>
                </a:schemeClr>
              </a:solidFill>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800" smtClean="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800" smtClean="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53232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823855" y="1380068"/>
            <a:ext cx="7679168" cy="2616199"/>
          </a:xfrm>
        </p:spPr>
        <p:txBody>
          <a:bodyPr/>
          <a:lstStyle/>
          <a:p>
            <a:r>
              <a:rPr lang="en-US"/>
              <a:t>T</a:t>
            </a:r>
            <a:r>
              <a:rPr lang="en-US" smtClean="0"/>
              <a:t>huật </a:t>
            </a:r>
            <a:r>
              <a:rPr lang="en-US"/>
              <a:t>toán vẽ </a:t>
            </a:r>
            <a:r>
              <a:rPr lang="en-US" smtClean="0"/>
              <a:t/>
            </a:r>
            <a:br>
              <a:rPr lang="en-US" smtClean="0"/>
            </a:br>
            <a:r>
              <a:rPr lang="en-US" smtClean="0"/>
              <a:t>đường </a:t>
            </a:r>
            <a:r>
              <a:rPr lang="en-US" smtClean="0"/>
              <a:t>tròn</a:t>
            </a:r>
            <a:endParaRPr lang="en-US"/>
          </a:p>
        </p:txBody>
      </p:sp>
      <p:sp>
        <p:nvSpPr>
          <p:cNvPr id="7" name="Subtitle 6"/>
          <p:cNvSpPr>
            <a:spLocks noGrp="1"/>
          </p:cNvSpPr>
          <p:nvPr>
            <p:ph type="subTitle" idx="1"/>
          </p:nvPr>
        </p:nvSpPr>
        <p:spPr/>
        <p:txBody>
          <a:bodyPr/>
          <a:lstStyle/>
          <a:p>
            <a:endParaRPr lang="en-US"/>
          </a:p>
        </p:txBody>
      </p:sp>
      <p:sp>
        <p:nvSpPr>
          <p:cNvPr id="3" name="Slide Number Placeholder 2"/>
          <p:cNvSpPr>
            <a:spLocks noGrp="1"/>
          </p:cNvSpPr>
          <p:nvPr>
            <p:ph type="sldNum" sz="quarter" idx="12"/>
          </p:nvPr>
        </p:nvSpPr>
        <p:spPr/>
        <p:txBody>
          <a:bodyPr/>
          <a:lstStyle/>
          <a:p>
            <a:fld id="{EAC668D0-FFF1-47C5-8061-FF1B22C34E7B}" type="slidenum">
              <a:rPr lang="en-US" smtClean="0"/>
              <a:t>29</a:t>
            </a:fld>
            <a:endParaRPr lang="en-US"/>
          </a:p>
        </p:txBody>
      </p:sp>
    </p:spTree>
    <p:extLst>
      <p:ext uri="{BB962C8B-B14F-4D97-AF65-F5344CB8AC3E}">
        <p14:creationId xmlns:p14="http://schemas.microsoft.com/office/powerpoint/2010/main" val="3549496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4978" y="148616"/>
            <a:ext cx="10018713" cy="1752599"/>
          </a:xfrm>
        </p:spPr>
        <p:txBody>
          <a:bodyPr/>
          <a:lstStyle/>
          <a:p>
            <a:r>
              <a:rPr lang="en-US" smtClean="0"/>
              <a:t>Thuật toán Midpoint</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584978" y="2528546"/>
                <a:ext cx="6491290" cy="3124201"/>
              </a:xfrm>
            </p:spPr>
            <p:txBody>
              <a:bodyPr>
                <a:noAutofit/>
              </a:bodyPr>
              <a:lstStyle/>
              <a:p>
                <a:r>
                  <a:rPr lang="en-US" smtClean="0">
                    <a:latin typeface="Arial" panose="020B0604020202020204" pitchFamily="34" charset="0"/>
                    <a:cs typeface="Arial" panose="020B0604020202020204" pitchFamily="34" charset="0"/>
                  </a:rPr>
                  <a:t>Do tính chất đối xứng của đường tròn nên ta chỉ cần vẽ cung bằng 1/8 đường tròn, sau đó lấy đối xứng ta sẽ được một đường tròn.</a:t>
                </a:r>
              </a:p>
              <a:p>
                <a:r>
                  <a:rPr lang="en-US" smtClean="0">
                    <a:latin typeface="Arial" panose="020B0604020202020204" pitchFamily="34" charset="0"/>
                    <a:cs typeface="Arial" panose="020B0604020202020204" pitchFamily="34" charset="0"/>
                  </a:rPr>
                  <a:t>Cung 1/8 được mô tả như sau:</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cs typeface="Arial" panose="020B0604020202020204" pitchFamily="34" charset="0"/>
                            </a:rPr>
                          </m:ctrlPr>
                        </m:dPr>
                        <m:e>
                          <m:eqArr>
                            <m:eqArrPr>
                              <m:ctrlPr>
                                <a:rPr lang="en-US" i="1" smtClean="0">
                                  <a:latin typeface="Cambria Math" panose="02040503050406030204" pitchFamily="18" charset="0"/>
                                  <a:cs typeface="Arial" panose="020B0604020202020204" pitchFamily="34" charset="0"/>
                                </a:rPr>
                              </m:ctrlPr>
                            </m:eqArrPr>
                            <m:e>
                              <m:r>
                                <a:rPr lang="en-US" b="0" i="1" smtClean="0">
                                  <a:latin typeface="Cambria Math" panose="02040503050406030204" pitchFamily="18" charset="0"/>
                                  <a:cs typeface="Arial" panose="020B0604020202020204" pitchFamily="34" charset="0"/>
                                </a:rPr>
                                <m:t>0</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𝑥</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𝑅</m:t>
                              </m:r>
                              <m:f>
                                <m:fPr>
                                  <m:ctrlPr>
                                    <a:rPr lang="en-US" i="1">
                                      <a:latin typeface="Cambria Math" panose="02040503050406030204" pitchFamily="18" charset="0"/>
                                    </a:rPr>
                                  </m:ctrlPr>
                                </m:fPr>
                                <m:num>
                                  <m:rad>
                                    <m:radPr>
                                      <m:degHide m:val="on"/>
                                      <m:ctrlPr>
                                        <a:rPr lang="en-US" i="1">
                                          <a:latin typeface="Cambria Math" panose="02040503050406030204" pitchFamily="18" charset="0"/>
                                        </a:rPr>
                                      </m:ctrlPr>
                                    </m:radPr>
                                    <m:deg/>
                                    <m:e>
                                      <m:r>
                                        <a:rPr lang="en-US" i="1">
                                          <a:latin typeface="Cambria Math" panose="02040503050406030204" pitchFamily="18" charset="0"/>
                                        </a:rPr>
                                        <m:t>2</m:t>
                                      </m:r>
                                    </m:e>
                                  </m:rad>
                                </m:num>
                                <m:den>
                                  <m:r>
                                    <a:rPr lang="en-US" b="0" i="1" smtClean="0">
                                      <a:latin typeface="Cambria Math" panose="02040503050406030204" pitchFamily="18" charset="0"/>
                                    </a:rPr>
                                    <m:t>2</m:t>
                                  </m:r>
                                </m:den>
                              </m:f>
                            </m:e>
                            <m:e>
                              <m:r>
                                <a:rPr lang="en-US" i="1">
                                  <a:latin typeface="Cambria Math" panose="02040503050406030204" pitchFamily="18" charset="0"/>
                                  <a:ea typeface="Cambria Math" panose="02040503050406030204" pitchFamily="18" charset="0"/>
                                  <a:cs typeface="Arial" panose="020B0604020202020204" pitchFamily="34" charset="0"/>
                                </a:rPr>
                                <m:t>𝑅</m:t>
                              </m:r>
                              <m:f>
                                <m:fPr>
                                  <m:ctrlPr>
                                    <a:rPr lang="en-US" i="1">
                                      <a:latin typeface="Cambria Math" panose="02040503050406030204" pitchFamily="18" charset="0"/>
                                    </a:rPr>
                                  </m:ctrlPr>
                                </m:fPr>
                                <m:num>
                                  <m:rad>
                                    <m:radPr>
                                      <m:degHide m:val="on"/>
                                      <m:ctrlPr>
                                        <a:rPr lang="en-US" i="1">
                                          <a:latin typeface="Cambria Math" panose="02040503050406030204" pitchFamily="18" charset="0"/>
                                        </a:rPr>
                                      </m:ctrlPr>
                                    </m:radPr>
                                    <m:deg/>
                                    <m:e>
                                      <m:r>
                                        <a:rPr lang="en-US" i="1">
                                          <a:latin typeface="Cambria Math" panose="02040503050406030204" pitchFamily="18" charset="0"/>
                                        </a:rPr>
                                        <m:t>2</m:t>
                                      </m:r>
                                    </m:e>
                                  </m:rad>
                                </m:num>
                                <m:den>
                                  <m:r>
                                    <a:rPr lang="en-US" i="1">
                                      <a:latin typeface="Cambria Math" panose="02040503050406030204" pitchFamily="18" charset="0"/>
                                    </a:rPr>
                                    <m:t>2</m:t>
                                  </m:r>
                                </m:den>
                              </m:f>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𝑅</m:t>
                              </m:r>
                            </m:e>
                          </m:eqArr>
                        </m:e>
                      </m:d>
                    </m:oMath>
                  </m:oMathPara>
                </a14:m>
                <a:endParaRPr lang="en-US" smtClean="0">
                  <a:latin typeface="Arial" panose="020B0604020202020204" pitchFamily="34" charset="0"/>
                  <a:cs typeface="Arial" panose="020B0604020202020204" pitchFamily="34" charset="0"/>
                </a:endParaRPr>
              </a:p>
              <a:p>
                <a:pPr marL="0" indent="0">
                  <a:buNone/>
                </a:pPr>
                <a:r>
                  <a:rPr lang="es-ES" smtClean="0">
                    <a:latin typeface="Arial" panose="020B0604020202020204" pitchFamily="34" charset="0"/>
                    <a:cs typeface="Arial" panose="020B0604020202020204" pitchFamily="34" charset="0"/>
                  </a:rPr>
                  <a:t>Nếu có (x</a:t>
                </a:r>
                <a:r>
                  <a:rPr lang="es-ES">
                    <a:latin typeface="Arial" panose="020B0604020202020204" pitchFamily="34" charset="0"/>
                    <a:cs typeface="Arial" panose="020B0604020202020204" pitchFamily="34" charset="0"/>
                  </a:rPr>
                  <a:t>, y) ∈ (C</a:t>
                </a:r>
                <a:r>
                  <a:rPr lang="es-ES" baseline="30000">
                    <a:latin typeface="Arial" panose="020B0604020202020204" pitchFamily="34" charset="0"/>
                    <a:cs typeface="Arial" panose="020B0604020202020204" pitchFamily="34" charset="0"/>
                  </a:rPr>
                  <a:t>1/8</a:t>
                </a:r>
                <a:r>
                  <a:rPr lang="es-ES">
                    <a:latin typeface="Arial" panose="020B0604020202020204" pitchFamily="34" charset="0"/>
                    <a:cs typeface="Arial" panose="020B0604020202020204" pitchFamily="34" charset="0"/>
                  </a:rPr>
                  <a:t>) </a:t>
                </a:r>
                <a:r>
                  <a:rPr lang="es-ES">
                    <a:latin typeface="Arial" panose="020B0604020202020204" pitchFamily="34" charset="0"/>
                    <a:cs typeface="Arial" panose="020B0604020202020204" pitchFamily="34" charset="0"/>
                  </a:rPr>
                  <a:t>thì </a:t>
                </a:r>
                <a:r>
                  <a:rPr lang="es-ES" smtClean="0">
                    <a:latin typeface="Arial" panose="020B0604020202020204" pitchFamily="34" charset="0"/>
                    <a:cs typeface="Arial" panose="020B0604020202020204" pitchFamily="34" charset="0"/>
                  </a:rPr>
                  <a:t>các điểm: </a:t>
                </a:r>
                <a:r>
                  <a:rPr lang="es-ES">
                    <a:latin typeface="Arial" panose="020B0604020202020204" pitchFamily="34" charset="0"/>
                    <a:cs typeface="Arial" panose="020B0604020202020204" pitchFamily="34" charset="0"/>
                  </a:rPr>
                  <a:t>(y, x), </a:t>
                </a:r>
                <a:r>
                  <a:rPr lang="es-ES">
                    <a:latin typeface="Arial" panose="020B0604020202020204" pitchFamily="34" charset="0"/>
                    <a:cs typeface="Arial" panose="020B0604020202020204" pitchFamily="34" charset="0"/>
                  </a:rPr>
                  <a:t>(</a:t>
                </a:r>
                <a:r>
                  <a:rPr lang="es-ES" smtClean="0">
                    <a:latin typeface="Arial" panose="020B0604020202020204" pitchFamily="34" charset="0"/>
                    <a:cs typeface="Arial" panose="020B0604020202020204" pitchFamily="34" charset="0"/>
                  </a:rPr>
                  <a:t>y, x</a:t>
                </a:r>
                <a:r>
                  <a:rPr lang="es-ES">
                    <a:latin typeface="Arial" panose="020B0604020202020204" pitchFamily="34" charset="0"/>
                    <a:cs typeface="Arial" panose="020B0604020202020204" pitchFamily="34" charset="0"/>
                  </a:rPr>
                  <a:t>), (x,-y), (-x,-y), (-y,-x), (-y,x), (-x,y</a:t>
                </a:r>
                <a:r>
                  <a:rPr lang="es-ES">
                    <a:latin typeface="Arial" panose="020B0604020202020204" pitchFamily="34" charset="0"/>
                    <a:cs typeface="Arial" panose="020B0604020202020204" pitchFamily="34" charset="0"/>
                  </a:rPr>
                  <a:t>) </a:t>
                </a:r>
                <a:r>
                  <a:rPr lang="es-ES" smtClean="0">
                    <a:latin typeface="Arial" panose="020B0604020202020204" pitchFamily="34" charset="0"/>
                    <a:cs typeface="Arial" panose="020B0604020202020204" pitchFamily="34" charset="0"/>
                  </a:rPr>
                  <a:t>sẽ thuộc (C</a:t>
                </a:r>
                <a:r>
                  <a:rPr lang="es-ES">
                    <a:latin typeface="Arial" panose="020B0604020202020204" pitchFamily="34" charset="0"/>
                    <a:cs typeface="Arial" panose="020B0604020202020204" pitchFamily="34" charset="0"/>
                  </a:rPr>
                  <a:t>).</a:t>
                </a:r>
                <a:endParaRPr lang="en-US">
                  <a:latin typeface="Arial" panose="020B0604020202020204" pitchFamily="34" charset="0"/>
                  <a:cs typeface="Arial" panose="020B0604020202020204" pitchFamily="34"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584978" y="2528546"/>
                <a:ext cx="6491290" cy="3124201"/>
              </a:xfrm>
              <a:blipFill>
                <a:blip r:embed="rId2"/>
                <a:stretch>
                  <a:fillRect l="-2347" t="-25000" r="-2441" b="-2382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AC668D0-FFF1-47C5-8061-FF1B22C34E7B}" type="slidenum">
              <a:rPr lang="en-US" smtClean="0"/>
              <a:t>30</a:t>
            </a:fld>
            <a:endParaRPr lang="en-US"/>
          </a:p>
        </p:txBody>
      </p:sp>
      <p:grpSp>
        <p:nvGrpSpPr>
          <p:cNvPr id="49" name="Group 48"/>
          <p:cNvGrpSpPr/>
          <p:nvPr/>
        </p:nvGrpSpPr>
        <p:grpSpPr>
          <a:xfrm>
            <a:off x="7933425" y="2445382"/>
            <a:ext cx="3530566" cy="2842575"/>
            <a:chOff x="7933425" y="2445382"/>
            <a:chExt cx="3530566" cy="2842575"/>
          </a:xfrm>
        </p:grpSpPr>
        <p:sp>
          <p:nvSpPr>
            <p:cNvPr id="6" name="Freeform 3"/>
            <p:cNvSpPr>
              <a:spLocks/>
            </p:cNvSpPr>
            <p:nvPr/>
          </p:nvSpPr>
          <p:spPr bwMode="auto">
            <a:xfrm>
              <a:off x="9668205" y="2557739"/>
              <a:ext cx="0" cy="2707366"/>
            </a:xfrm>
            <a:custGeom>
              <a:avLst/>
              <a:gdLst>
                <a:gd name="T0" fmla="+- 0 -1167 -1167"/>
                <a:gd name="T1" fmla="*/ -1167 h 4265"/>
                <a:gd name="T2" fmla="+- 0 3098 -1167"/>
                <a:gd name="T3" fmla="*/ 3098 h 4265"/>
              </a:gdLst>
              <a:ahLst/>
              <a:cxnLst>
                <a:cxn ang="0">
                  <a:pos x="0" y="T1"/>
                </a:cxn>
                <a:cxn ang="0">
                  <a:pos x="0" y="T3"/>
                </a:cxn>
              </a:cxnLst>
              <a:rect l="0" t="0" r="r" b="b"/>
              <a:pathLst>
                <a:path h="4265">
                  <a:moveTo>
                    <a:pt x="0" y="0"/>
                  </a:moveTo>
                  <a:lnTo>
                    <a:pt x="0" y="4265"/>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Freeform 4"/>
            <p:cNvSpPr>
              <a:spLocks/>
            </p:cNvSpPr>
            <p:nvPr/>
          </p:nvSpPr>
          <p:spPr bwMode="auto">
            <a:xfrm>
              <a:off x="9604084" y="2445382"/>
              <a:ext cx="128241" cy="129497"/>
            </a:xfrm>
            <a:custGeom>
              <a:avLst/>
              <a:gdLst>
                <a:gd name="T0" fmla="+- 0 5993 5993"/>
                <a:gd name="T1" fmla="*/ T0 w 202"/>
                <a:gd name="T2" fmla="+- 0 -1140 -1344"/>
                <a:gd name="T3" fmla="*/ -1140 h 204"/>
                <a:gd name="T4" fmla="+- 0 6194 5993"/>
                <a:gd name="T5" fmla="*/ T4 w 202"/>
                <a:gd name="T6" fmla="+- 0 -1140 -1344"/>
                <a:gd name="T7" fmla="*/ -1140 h 204"/>
                <a:gd name="T8" fmla="+- 0 6094 5993"/>
                <a:gd name="T9" fmla="*/ T8 w 202"/>
                <a:gd name="T10" fmla="+- 0 -1344 -1344"/>
                <a:gd name="T11" fmla="*/ -1344 h 204"/>
                <a:gd name="T12" fmla="+- 0 5993 5993"/>
                <a:gd name="T13" fmla="*/ T12 w 202"/>
                <a:gd name="T14" fmla="+- 0 -1140 -1344"/>
                <a:gd name="T15" fmla="*/ -1140 h 204"/>
              </a:gdLst>
              <a:ahLst/>
              <a:cxnLst>
                <a:cxn ang="0">
                  <a:pos x="T1" y="T3"/>
                </a:cxn>
                <a:cxn ang="0">
                  <a:pos x="T5" y="T7"/>
                </a:cxn>
                <a:cxn ang="0">
                  <a:pos x="T9" y="T11"/>
                </a:cxn>
                <a:cxn ang="0">
                  <a:pos x="T13" y="T15"/>
                </a:cxn>
              </a:cxnLst>
              <a:rect l="0" t="0" r="r" b="b"/>
              <a:pathLst>
                <a:path w="202" h="204">
                  <a:moveTo>
                    <a:pt x="0" y="204"/>
                  </a:moveTo>
                  <a:lnTo>
                    <a:pt x="201" y="204"/>
                  </a:lnTo>
                  <a:lnTo>
                    <a:pt x="101" y="0"/>
                  </a:lnTo>
                  <a:lnTo>
                    <a:pt x="0" y="2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5"/>
            <p:cNvSpPr>
              <a:spLocks/>
            </p:cNvSpPr>
            <p:nvPr/>
          </p:nvSpPr>
          <p:spPr bwMode="auto">
            <a:xfrm>
              <a:off x="9604084" y="2445382"/>
              <a:ext cx="128241" cy="129497"/>
            </a:xfrm>
            <a:custGeom>
              <a:avLst/>
              <a:gdLst>
                <a:gd name="T0" fmla="+- 0 5993 5993"/>
                <a:gd name="T1" fmla="*/ T0 w 202"/>
                <a:gd name="T2" fmla="+- 0 -1140 -1344"/>
                <a:gd name="T3" fmla="*/ -1140 h 204"/>
                <a:gd name="T4" fmla="+- 0 6094 5993"/>
                <a:gd name="T5" fmla="*/ T4 w 202"/>
                <a:gd name="T6" fmla="+- 0 -1344 -1344"/>
                <a:gd name="T7" fmla="*/ -1344 h 204"/>
                <a:gd name="T8" fmla="+- 0 6194 5993"/>
                <a:gd name="T9" fmla="*/ T8 w 202"/>
                <a:gd name="T10" fmla="+- 0 -1140 -1344"/>
                <a:gd name="T11" fmla="*/ -1140 h 204"/>
                <a:gd name="T12" fmla="+- 0 5993 5993"/>
                <a:gd name="T13" fmla="*/ T12 w 202"/>
                <a:gd name="T14" fmla="+- 0 -1140 -1344"/>
                <a:gd name="T15" fmla="*/ -1140 h 204"/>
              </a:gdLst>
              <a:ahLst/>
              <a:cxnLst>
                <a:cxn ang="0">
                  <a:pos x="T1" y="T3"/>
                </a:cxn>
                <a:cxn ang="0">
                  <a:pos x="T5" y="T7"/>
                </a:cxn>
                <a:cxn ang="0">
                  <a:pos x="T9" y="T11"/>
                </a:cxn>
                <a:cxn ang="0">
                  <a:pos x="T13" y="T15"/>
                </a:cxn>
              </a:cxnLst>
              <a:rect l="0" t="0" r="r" b="b"/>
              <a:pathLst>
                <a:path w="202" h="204">
                  <a:moveTo>
                    <a:pt x="0" y="204"/>
                  </a:moveTo>
                  <a:lnTo>
                    <a:pt x="101" y="0"/>
                  </a:lnTo>
                  <a:lnTo>
                    <a:pt x="201" y="204"/>
                  </a:lnTo>
                  <a:lnTo>
                    <a:pt x="0" y="204"/>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Freeform 6"/>
            <p:cNvSpPr>
              <a:spLocks/>
            </p:cNvSpPr>
            <p:nvPr/>
          </p:nvSpPr>
          <p:spPr bwMode="auto">
            <a:xfrm>
              <a:off x="8313418" y="3912374"/>
              <a:ext cx="2708938" cy="0"/>
            </a:xfrm>
            <a:custGeom>
              <a:avLst/>
              <a:gdLst>
                <a:gd name="T0" fmla="+- 0 3960 3960"/>
                <a:gd name="T1" fmla="*/ T0 w 4267"/>
                <a:gd name="T2" fmla="+- 0 8227 3960"/>
                <a:gd name="T3" fmla="*/ T2 w 4267"/>
              </a:gdLst>
              <a:ahLst/>
              <a:cxnLst>
                <a:cxn ang="0">
                  <a:pos x="T1" y="0"/>
                </a:cxn>
                <a:cxn ang="0">
                  <a:pos x="T3" y="0"/>
                </a:cxn>
              </a:cxnLst>
              <a:rect l="0" t="0" r="r" b="b"/>
              <a:pathLst>
                <a:path w="4267">
                  <a:moveTo>
                    <a:pt x="0" y="0"/>
                  </a:moveTo>
                  <a:lnTo>
                    <a:pt x="426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Freeform 7"/>
            <p:cNvSpPr>
              <a:spLocks/>
            </p:cNvSpPr>
            <p:nvPr/>
          </p:nvSpPr>
          <p:spPr bwMode="auto">
            <a:xfrm>
              <a:off x="11005850" y="3846991"/>
              <a:ext cx="129511" cy="129497"/>
            </a:xfrm>
            <a:custGeom>
              <a:avLst/>
              <a:gdLst>
                <a:gd name="T0" fmla="+- 0 8201 8201"/>
                <a:gd name="T1" fmla="*/ T0 w 204"/>
                <a:gd name="T2" fmla="+- 0 864 864"/>
                <a:gd name="T3" fmla="*/ 864 h 204"/>
                <a:gd name="T4" fmla="+- 0 8201 8201"/>
                <a:gd name="T5" fmla="*/ T4 w 204"/>
                <a:gd name="T6" fmla="+- 0 1068 864"/>
                <a:gd name="T7" fmla="*/ 1068 h 204"/>
                <a:gd name="T8" fmla="+- 0 8405 8201"/>
                <a:gd name="T9" fmla="*/ T8 w 204"/>
                <a:gd name="T10" fmla="+- 0 967 864"/>
                <a:gd name="T11" fmla="*/ 967 h 204"/>
                <a:gd name="T12" fmla="+- 0 8201 8201"/>
                <a:gd name="T13" fmla="*/ T12 w 204"/>
                <a:gd name="T14" fmla="+- 0 864 864"/>
                <a:gd name="T15" fmla="*/ 864 h 204"/>
              </a:gdLst>
              <a:ahLst/>
              <a:cxnLst>
                <a:cxn ang="0">
                  <a:pos x="T1" y="T3"/>
                </a:cxn>
                <a:cxn ang="0">
                  <a:pos x="T5" y="T7"/>
                </a:cxn>
                <a:cxn ang="0">
                  <a:pos x="T9" y="T11"/>
                </a:cxn>
                <a:cxn ang="0">
                  <a:pos x="T13" y="T15"/>
                </a:cxn>
              </a:cxnLst>
              <a:rect l="0" t="0" r="r" b="b"/>
              <a:pathLst>
                <a:path w="204" h="204">
                  <a:moveTo>
                    <a:pt x="0" y="0"/>
                  </a:moveTo>
                  <a:lnTo>
                    <a:pt x="0" y="204"/>
                  </a:lnTo>
                  <a:lnTo>
                    <a:pt x="204" y="10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8"/>
            <p:cNvSpPr>
              <a:spLocks/>
            </p:cNvSpPr>
            <p:nvPr/>
          </p:nvSpPr>
          <p:spPr bwMode="auto">
            <a:xfrm>
              <a:off x="11005850" y="3846991"/>
              <a:ext cx="129511" cy="129497"/>
            </a:xfrm>
            <a:custGeom>
              <a:avLst/>
              <a:gdLst>
                <a:gd name="T0" fmla="+- 0 8201 8201"/>
                <a:gd name="T1" fmla="*/ T0 w 204"/>
                <a:gd name="T2" fmla="+- 0 864 864"/>
                <a:gd name="T3" fmla="*/ 864 h 204"/>
                <a:gd name="T4" fmla="+- 0 8405 8201"/>
                <a:gd name="T5" fmla="*/ T4 w 204"/>
                <a:gd name="T6" fmla="+- 0 967 864"/>
                <a:gd name="T7" fmla="*/ 967 h 204"/>
                <a:gd name="T8" fmla="+- 0 8201 8201"/>
                <a:gd name="T9" fmla="*/ T8 w 204"/>
                <a:gd name="T10" fmla="+- 0 1068 864"/>
                <a:gd name="T11" fmla="*/ 1068 h 204"/>
                <a:gd name="T12" fmla="+- 0 8201 8201"/>
                <a:gd name="T13" fmla="*/ T12 w 204"/>
                <a:gd name="T14" fmla="+- 0 864 864"/>
                <a:gd name="T15" fmla="*/ 864 h 204"/>
              </a:gdLst>
              <a:ahLst/>
              <a:cxnLst>
                <a:cxn ang="0">
                  <a:pos x="T1" y="T3"/>
                </a:cxn>
                <a:cxn ang="0">
                  <a:pos x="T5" y="T7"/>
                </a:cxn>
                <a:cxn ang="0">
                  <a:pos x="T9" y="T11"/>
                </a:cxn>
                <a:cxn ang="0">
                  <a:pos x="T13" y="T15"/>
                </a:cxn>
              </a:cxnLst>
              <a:rect l="0" t="0" r="r" b="b"/>
              <a:pathLst>
                <a:path w="204" h="204">
                  <a:moveTo>
                    <a:pt x="0" y="0"/>
                  </a:moveTo>
                  <a:lnTo>
                    <a:pt x="204" y="103"/>
                  </a:lnTo>
                  <a:lnTo>
                    <a:pt x="0" y="204"/>
                  </a:lnTo>
                  <a:lnTo>
                    <a:pt x="0" y="0"/>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Freeform 9"/>
            <p:cNvSpPr>
              <a:spLocks/>
            </p:cNvSpPr>
            <p:nvPr/>
          </p:nvSpPr>
          <p:spPr bwMode="auto">
            <a:xfrm>
              <a:off x="8540697" y="2784993"/>
              <a:ext cx="2258189" cy="2253493"/>
            </a:xfrm>
            <a:custGeom>
              <a:avLst/>
              <a:gdLst>
                <a:gd name="T0" fmla="+- 0 4325 4318"/>
                <a:gd name="T1" fmla="*/ T0 w 3557"/>
                <a:gd name="T2" fmla="+- 0 804 -809"/>
                <a:gd name="T3" fmla="*/ 804 h 3550"/>
                <a:gd name="T4" fmla="+- 0 4382 4318"/>
                <a:gd name="T5" fmla="*/ T4 w 3557"/>
                <a:gd name="T6" fmla="+- 0 492 -809"/>
                <a:gd name="T7" fmla="*/ 492 h 3550"/>
                <a:gd name="T8" fmla="+- 0 4495 4318"/>
                <a:gd name="T9" fmla="*/ T8 w 3557"/>
                <a:gd name="T10" fmla="+- 0 194 -809"/>
                <a:gd name="T11" fmla="*/ 194 h 3550"/>
                <a:gd name="T12" fmla="+- 0 4656 4318"/>
                <a:gd name="T13" fmla="*/ T12 w 3557"/>
                <a:gd name="T14" fmla="+- 0 -79 -809"/>
                <a:gd name="T15" fmla="*/ -79 h 3550"/>
                <a:gd name="T16" fmla="+- 0 4867 4318"/>
                <a:gd name="T17" fmla="*/ T16 w 3557"/>
                <a:gd name="T18" fmla="+- 0 -319 -809"/>
                <a:gd name="T19" fmla="*/ -319 h 3550"/>
                <a:gd name="T20" fmla="+- 0 5114 4318"/>
                <a:gd name="T21" fmla="*/ T20 w 3557"/>
                <a:gd name="T22" fmla="+- 0 -519 -809"/>
                <a:gd name="T23" fmla="*/ -519 h 3550"/>
                <a:gd name="T24" fmla="+- 0 5398 4318"/>
                <a:gd name="T25" fmla="*/ T24 w 3557"/>
                <a:gd name="T26" fmla="+- 0 -670 -809"/>
                <a:gd name="T27" fmla="*/ -670 h 3550"/>
                <a:gd name="T28" fmla="+- 0 5698 4318"/>
                <a:gd name="T29" fmla="*/ T28 w 3557"/>
                <a:gd name="T30" fmla="+- 0 -768 -809"/>
                <a:gd name="T31" fmla="*/ -768 h 3550"/>
                <a:gd name="T32" fmla="+- 0 6014 4318"/>
                <a:gd name="T33" fmla="*/ T32 w 3557"/>
                <a:gd name="T34" fmla="+- 0 -809 -809"/>
                <a:gd name="T35" fmla="*/ -809 h 3550"/>
                <a:gd name="T36" fmla="+- 0 6334 4318"/>
                <a:gd name="T37" fmla="*/ T36 w 3557"/>
                <a:gd name="T38" fmla="+- 0 -795 -809"/>
                <a:gd name="T39" fmla="*/ -795 h 3550"/>
                <a:gd name="T40" fmla="+- 0 6643 4318"/>
                <a:gd name="T41" fmla="*/ T40 w 3557"/>
                <a:gd name="T42" fmla="+- 0 -727 -809"/>
                <a:gd name="T43" fmla="*/ -727 h 3550"/>
                <a:gd name="T44" fmla="+- 0 6936 4318"/>
                <a:gd name="T45" fmla="*/ T44 w 3557"/>
                <a:gd name="T46" fmla="+- 0 -598 -809"/>
                <a:gd name="T47" fmla="*/ -598 h 3550"/>
                <a:gd name="T48" fmla="+- 0 7205 4318"/>
                <a:gd name="T49" fmla="*/ T48 w 3557"/>
                <a:gd name="T50" fmla="+- 0 -425 -809"/>
                <a:gd name="T51" fmla="*/ -425 h 3550"/>
                <a:gd name="T52" fmla="+- 0 7433 4318"/>
                <a:gd name="T53" fmla="*/ T52 w 3557"/>
                <a:gd name="T54" fmla="+- 0 -204 -809"/>
                <a:gd name="T55" fmla="*/ -204 h 3550"/>
                <a:gd name="T56" fmla="+- 0 7622 4318"/>
                <a:gd name="T57" fmla="*/ T56 w 3557"/>
                <a:gd name="T58" fmla="+- 0 53 -809"/>
                <a:gd name="T59" fmla="*/ 53 h 3550"/>
                <a:gd name="T60" fmla="+- 0 7762 4318"/>
                <a:gd name="T61" fmla="*/ T60 w 3557"/>
                <a:gd name="T62" fmla="+- 0 341 -809"/>
                <a:gd name="T63" fmla="*/ 341 h 3550"/>
                <a:gd name="T64" fmla="+- 0 7843 4318"/>
                <a:gd name="T65" fmla="*/ T64 w 3557"/>
                <a:gd name="T66" fmla="+- 0 645 -809"/>
                <a:gd name="T67" fmla="*/ 645 h 3550"/>
                <a:gd name="T68" fmla="+- 0 7874 4318"/>
                <a:gd name="T69" fmla="*/ T68 w 3557"/>
                <a:gd name="T70" fmla="+- 0 967 -809"/>
                <a:gd name="T71" fmla="*/ 967 h 3550"/>
                <a:gd name="T72" fmla="+- 0 7843 4318"/>
                <a:gd name="T73" fmla="*/ T72 w 3557"/>
                <a:gd name="T74" fmla="+- 0 1281 -809"/>
                <a:gd name="T75" fmla="*/ 1281 h 3550"/>
                <a:gd name="T76" fmla="+- 0 7762 4318"/>
                <a:gd name="T77" fmla="*/ T76 w 3557"/>
                <a:gd name="T78" fmla="+- 0 1591 -809"/>
                <a:gd name="T79" fmla="*/ 1591 h 3550"/>
                <a:gd name="T80" fmla="+- 0 7622 4318"/>
                <a:gd name="T81" fmla="*/ T80 w 3557"/>
                <a:gd name="T82" fmla="+- 0 1877 -809"/>
                <a:gd name="T83" fmla="*/ 1877 h 3550"/>
                <a:gd name="T84" fmla="+- 0 7433 4318"/>
                <a:gd name="T85" fmla="*/ T84 w 3557"/>
                <a:gd name="T86" fmla="+- 0 2136 -809"/>
                <a:gd name="T87" fmla="*/ 2136 h 3550"/>
                <a:gd name="T88" fmla="+- 0 7205 4318"/>
                <a:gd name="T89" fmla="*/ T88 w 3557"/>
                <a:gd name="T90" fmla="+- 0 2354 -809"/>
                <a:gd name="T91" fmla="*/ 2354 h 3550"/>
                <a:gd name="T92" fmla="+- 0 6936 4318"/>
                <a:gd name="T93" fmla="*/ T92 w 3557"/>
                <a:gd name="T94" fmla="+- 0 2532 -809"/>
                <a:gd name="T95" fmla="*/ 2532 h 3550"/>
                <a:gd name="T96" fmla="+- 0 6643 4318"/>
                <a:gd name="T97" fmla="*/ T96 w 3557"/>
                <a:gd name="T98" fmla="+- 0 2654 -809"/>
                <a:gd name="T99" fmla="*/ 2654 h 3550"/>
                <a:gd name="T100" fmla="+- 0 6334 4318"/>
                <a:gd name="T101" fmla="*/ T100 w 3557"/>
                <a:gd name="T102" fmla="+- 0 2726 -809"/>
                <a:gd name="T103" fmla="*/ 2726 h 3550"/>
                <a:gd name="T104" fmla="+- 0 6014 4318"/>
                <a:gd name="T105" fmla="*/ T104 w 3557"/>
                <a:gd name="T106" fmla="+- 0 2741 -809"/>
                <a:gd name="T107" fmla="*/ 2741 h 3550"/>
                <a:gd name="T108" fmla="+- 0 5698 4318"/>
                <a:gd name="T109" fmla="*/ T108 w 3557"/>
                <a:gd name="T110" fmla="+- 0 2697 -809"/>
                <a:gd name="T111" fmla="*/ 2697 h 3550"/>
                <a:gd name="T112" fmla="+- 0 5398 4318"/>
                <a:gd name="T113" fmla="*/ T112 w 3557"/>
                <a:gd name="T114" fmla="+- 0 2599 -809"/>
                <a:gd name="T115" fmla="*/ 2599 h 3550"/>
                <a:gd name="T116" fmla="+- 0 5114 4318"/>
                <a:gd name="T117" fmla="*/ T116 w 3557"/>
                <a:gd name="T118" fmla="+- 0 2448 -809"/>
                <a:gd name="T119" fmla="*/ 2448 h 3550"/>
                <a:gd name="T120" fmla="+- 0 4867 4318"/>
                <a:gd name="T121" fmla="*/ T120 w 3557"/>
                <a:gd name="T122" fmla="+- 0 2249 -809"/>
                <a:gd name="T123" fmla="*/ 2249 h 3550"/>
                <a:gd name="T124" fmla="+- 0 4656 4318"/>
                <a:gd name="T125" fmla="*/ T124 w 3557"/>
                <a:gd name="T126" fmla="+- 0 2009 -809"/>
                <a:gd name="T127" fmla="*/ 2009 h 3550"/>
                <a:gd name="T128" fmla="+- 0 4495 4318"/>
                <a:gd name="T129" fmla="*/ T128 w 3557"/>
                <a:gd name="T130" fmla="+- 0 1737 -809"/>
                <a:gd name="T131" fmla="*/ 1737 h 3550"/>
                <a:gd name="T132" fmla="+- 0 4382 4318"/>
                <a:gd name="T133" fmla="*/ T132 w 3557"/>
                <a:gd name="T134" fmla="+- 0 1437 -809"/>
                <a:gd name="T135" fmla="*/ 1437 h 3550"/>
                <a:gd name="T136" fmla="+- 0 4325 4318"/>
                <a:gd name="T137" fmla="*/ T136 w 3557"/>
                <a:gd name="T138" fmla="+- 0 1123 -809"/>
                <a:gd name="T139" fmla="*/ 1123 h 355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Lst>
              <a:rect l="0" t="0" r="r" b="b"/>
              <a:pathLst>
                <a:path w="3557" h="3550">
                  <a:moveTo>
                    <a:pt x="0" y="1776"/>
                  </a:moveTo>
                  <a:lnTo>
                    <a:pt x="7" y="1613"/>
                  </a:lnTo>
                  <a:lnTo>
                    <a:pt x="26" y="1454"/>
                  </a:lnTo>
                  <a:lnTo>
                    <a:pt x="64" y="1301"/>
                  </a:lnTo>
                  <a:lnTo>
                    <a:pt x="112" y="1150"/>
                  </a:lnTo>
                  <a:lnTo>
                    <a:pt x="177" y="1003"/>
                  </a:lnTo>
                  <a:lnTo>
                    <a:pt x="252" y="862"/>
                  </a:lnTo>
                  <a:lnTo>
                    <a:pt x="338" y="730"/>
                  </a:lnTo>
                  <a:lnTo>
                    <a:pt x="436" y="605"/>
                  </a:lnTo>
                  <a:lnTo>
                    <a:pt x="549" y="490"/>
                  </a:lnTo>
                  <a:lnTo>
                    <a:pt x="669" y="384"/>
                  </a:lnTo>
                  <a:lnTo>
                    <a:pt x="796" y="290"/>
                  </a:lnTo>
                  <a:lnTo>
                    <a:pt x="933" y="211"/>
                  </a:lnTo>
                  <a:lnTo>
                    <a:pt x="1080" y="139"/>
                  </a:lnTo>
                  <a:lnTo>
                    <a:pt x="1226" y="82"/>
                  </a:lnTo>
                  <a:lnTo>
                    <a:pt x="1380" y="41"/>
                  </a:lnTo>
                  <a:lnTo>
                    <a:pt x="1538" y="14"/>
                  </a:lnTo>
                  <a:lnTo>
                    <a:pt x="1696" y="0"/>
                  </a:lnTo>
                  <a:lnTo>
                    <a:pt x="1855" y="0"/>
                  </a:lnTo>
                  <a:lnTo>
                    <a:pt x="2016" y="14"/>
                  </a:lnTo>
                  <a:lnTo>
                    <a:pt x="2172" y="41"/>
                  </a:lnTo>
                  <a:lnTo>
                    <a:pt x="2325" y="82"/>
                  </a:lnTo>
                  <a:lnTo>
                    <a:pt x="2476" y="139"/>
                  </a:lnTo>
                  <a:lnTo>
                    <a:pt x="2618" y="211"/>
                  </a:lnTo>
                  <a:lnTo>
                    <a:pt x="2757" y="290"/>
                  </a:lnTo>
                  <a:lnTo>
                    <a:pt x="2887" y="384"/>
                  </a:lnTo>
                  <a:lnTo>
                    <a:pt x="3007" y="490"/>
                  </a:lnTo>
                  <a:lnTo>
                    <a:pt x="3115" y="605"/>
                  </a:lnTo>
                  <a:lnTo>
                    <a:pt x="3213" y="730"/>
                  </a:lnTo>
                  <a:lnTo>
                    <a:pt x="3304" y="862"/>
                  </a:lnTo>
                  <a:lnTo>
                    <a:pt x="3379" y="1003"/>
                  </a:lnTo>
                  <a:lnTo>
                    <a:pt x="3444" y="1150"/>
                  </a:lnTo>
                  <a:lnTo>
                    <a:pt x="3492" y="1301"/>
                  </a:lnTo>
                  <a:lnTo>
                    <a:pt x="3525" y="1454"/>
                  </a:lnTo>
                  <a:lnTo>
                    <a:pt x="3547" y="1613"/>
                  </a:lnTo>
                  <a:lnTo>
                    <a:pt x="3556" y="1776"/>
                  </a:lnTo>
                  <a:lnTo>
                    <a:pt x="3547" y="1932"/>
                  </a:lnTo>
                  <a:lnTo>
                    <a:pt x="3525" y="2090"/>
                  </a:lnTo>
                  <a:lnTo>
                    <a:pt x="3492" y="2246"/>
                  </a:lnTo>
                  <a:lnTo>
                    <a:pt x="3444" y="2400"/>
                  </a:lnTo>
                  <a:lnTo>
                    <a:pt x="3379" y="2546"/>
                  </a:lnTo>
                  <a:lnTo>
                    <a:pt x="3304" y="2686"/>
                  </a:lnTo>
                  <a:lnTo>
                    <a:pt x="3213" y="2818"/>
                  </a:lnTo>
                  <a:lnTo>
                    <a:pt x="3115" y="2945"/>
                  </a:lnTo>
                  <a:lnTo>
                    <a:pt x="3007" y="3058"/>
                  </a:lnTo>
                  <a:lnTo>
                    <a:pt x="2887" y="3163"/>
                  </a:lnTo>
                  <a:lnTo>
                    <a:pt x="2757" y="3257"/>
                  </a:lnTo>
                  <a:lnTo>
                    <a:pt x="2618" y="3341"/>
                  </a:lnTo>
                  <a:lnTo>
                    <a:pt x="2476" y="3408"/>
                  </a:lnTo>
                  <a:lnTo>
                    <a:pt x="2325" y="3463"/>
                  </a:lnTo>
                  <a:lnTo>
                    <a:pt x="2172" y="3506"/>
                  </a:lnTo>
                  <a:lnTo>
                    <a:pt x="2016" y="3535"/>
                  </a:lnTo>
                  <a:lnTo>
                    <a:pt x="1855" y="3550"/>
                  </a:lnTo>
                  <a:lnTo>
                    <a:pt x="1696" y="3550"/>
                  </a:lnTo>
                  <a:lnTo>
                    <a:pt x="1538" y="3535"/>
                  </a:lnTo>
                  <a:lnTo>
                    <a:pt x="1380" y="3506"/>
                  </a:lnTo>
                  <a:lnTo>
                    <a:pt x="1226" y="3463"/>
                  </a:lnTo>
                  <a:lnTo>
                    <a:pt x="1080" y="3408"/>
                  </a:lnTo>
                  <a:lnTo>
                    <a:pt x="933" y="3341"/>
                  </a:lnTo>
                  <a:lnTo>
                    <a:pt x="796" y="3257"/>
                  </a:lnTo>
                  <a:lnTo>
                    <a:pt x="669" y="3163"/>
                  </a:lnTo>
                  <a:lnTo>
                    <a:pt x="549" y="3058"/>
                  </a:lnTo>
                  <a:lnTo>
                    <a:pt x="436" y="2945"/>
                  </a:lnTo>
                  <a:lnTo>
                    <a:pt x="338" y="2818"/>
                  </a:lnTo>
                  <a:lnTo>
                    <a:pt x="252" y="2686"/>
                  </a:lnTo>
                  <a:lnTo>
                    <a:pt x="177" y="2546"/>
                  </a:lnTo>
                  <a:lnTo>
                    <a:pt x="112" y="2400"/>
                  </a:lnTo>
                  <a:lnTo>
                    <a:pt x="64" y="2246"/>
                  </a:lnTo>
                  <a:lnTo>
                    <a:pt x="26" y="2090"/>
                  </a:lnTo>
                  <a:lnTo>
                    <a:pt x="7" y="1932"/>
                  </a:lnTo>
                  <a:lnTo>
                    <a:pt x="0" y="1776"/>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Freeform 10"/>
            <p:cNvSpPr>
              <a:spLocks/>
            </p:cNvSpPr>
            <p:nvPr/>
          </p:nvSpPr>
          <p:spPr bwMode="auto">
            <a:xfrm>
              <a:off x="9668205" y="3121430"/>
              <a:ext cx="791033" cy="790944"/>
            </a:xfrm>
            <a:custGeom>
              <a:avLst/>
              <a:gdLst>
                <a:gd name="T0" fmla="+- 0 6094 6094"/>
                <a:gd name="T1" fmla="*/ T0 w 1246"/>
                <a:gd name="T2" fmla="+- 0 967 -279"/>
                <a:gd name="T3" fmla="*/ 967 h 1246"/>
                <a:gd name="T4" fmla="+- 0 7339 6094"/>
                <a:gd name="T5" fmla="*/ T4 w 1246"/>
                <a:gd name="T6" fmla="+- 0 -279 -279"/>
                <a:gd name="T7" fmla="*/ -279 h 1246"/>
              </a:gdLst>
              <a:ahLst/>
              <a:cxnLst>
                <a:cxn ang="0">
                  <a:pos x="T1" y="T3"/>
                </a:cxn>
                <a:cxn ang="0">
                  <a:pos x="T5" y="T7"/>
                </a:cxn>
              </a:cxnLst>
              <a:rect l="0" t="0" r="r" b="b"/>
              <a:pathLst>
                <a:path w="1246" h="1246">
                  <a:moveTo>
                    <a:pt x="0" y="1246"/>
                  </a:moveTo>
                  <a:lnTo>
                    <a:pt x="1245"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11"/>
            <p:cNvSpPr>
              <a:spLocks/>
            </p:cNvSpPr>
            <p:nvPr/>
          </p:nvSpPr>
          <p:spPr bwMode="auto">
            <a:xfrm>
              <a:off x="10458603" y="3796843"/>
              <a:ext cx="0" cy="227254"/>
            </a:xfrm>
            <a:custGeom>
              <a:avLst/>
              <a:gdLst>
                <a:gd name="T0" fmla="+- 0 785 785"/>
                <a:gd name="T1" fmla="*/ 785 h 358"/>
                <a:gd name="T2" fmla="+- 0 1142 785"/>
                <a:gd name="T3" fmla="*/ 1142 h 358"/>
              </a:gdLst>
              <a:ahLst/>
              <a:cxnLst>
                <a:cxn ang="0">
                  <a:pos x="0" y="T1"/>
                </a:cxn>
                <a:cxn ang="0">
                  <a:pos x="0" y="T3"/>
                </a:cxn>
              </a:cxnLst>
              <a:rect l="0" t="0" r="r" b="b"/>
              <a:pathLst>
                <a:path h="358">
                  <a:moveTo>
                    <a:pt x="0" y="0"/>
                  </a:moveTo>
                  <a:lnTo>
                    <a:pt x="0" y="357"/>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12"/>
            <p:cNvSpPr>
              <a:spLocks/>
            </p:cNvSpPr>
            <p:nvPr/>
          </p:nvSpPr>
          <p:spPr bwMode="auto">
            <a:xfrm>
              <a:off x="9668205" y="2781819"/>
              <a:ext cx="791033" cy="1130555"/>
            </a:xfrm>
            <a:custGeom>
              <a:avLst/>
              <a:gdLst>
                <a:gd name="T0" fmla="+- 0 7339 6094"/>
                <a:gd name="T1" fmla="*/ T0 w 1246"/>
                <a:gd name="T2" fmla="+- 0 -279 -814"/>
                <a:gd name="T3" fmla="*/ -279 h 1781"/>
                <a:gd name="T4" fmla="+- 0 6094 6094"/>
                <a:gd name="T5" fmla="*/ T4 w 1246"/>
                <a:gd name="T6" fmla="+- 0 967 -814"/>
                <a:gd name="T7" fmla="*/ 967 h 1781"/>
                <a:gd name="T8" fmla="+- 0 6094 6094"/>
                <a:gd name="T9" fmla="*/ T8 w 1246"/>
                <a:gd name="T10" fmla="+- 0 -814 -814"/>
                <a:gd name="T11" fmla="*/ -814 h 1781"/>
              </a:gdLst>
              <a:ahLst/>
              <a:cxnLst>
                <a:cxn ang="0">
                  <a:pos x="T1" y="T3"/>
                </a:cxn>
                <a:cxn ang="0">
                  <a:pos x="T5" y="T7"/>
                </a:cxn>
                <a:cxn ang="0">
                  <a:pos x="T9" y="T11"/>
                </a:cxn>
              </a:cxnLst>
              <a:rect l="0" t="0" r="r" b="b"/>
              <a:pathLst>
                <a:path w="1246" h="1781">
                  <a:moveTo>
                    <a:pt x="1245" y="535"/>
                  </a:moveTo>
                  <a:lnTo>
                    <a:pt x="0" y="1781"/>
                  </a:lnTo>
                  <a:lnTo>
                    <a:pt x="0"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13"/>
            <p:cNvSpPr>
              <a:spLocks/>
            </p:cNvSpPr>
            <p:nvPr/>
          </p:nvSpPr>
          <p:spPr bwMode="auto">
            <a:xfrm>
              <a:off x="9668205" y="2781819"/>
              <a:ext cx="791033" cy="1130555"/>
            </a:xfrm>
            <a:custGeom>
              <a:avLst/>
              <a:gdLst>
                <a:gd name="T0" fmla="+- 0 6094 6094"/>
                <a:gd name="T1" fmla="*/ T0 w 1246"/>
                <a:gd name="T2" fmla="+- 0 -814 -814"/>
                <a:gd name="T3" fmla="*/ -814 h 1781"/>
                <a:gd name="T4" fmla="+- 0 6094 6094"/>
                <a:gd name="T5" fmla="*/ T4 w 1246"/>
                <a:gd name="T6" fmla="+- 0 967 -814"/>
                <a:gd name="T7" fmla="*/ 967 h 1781"/>
                <a:gd name="T8" fmla="+- 0 7339 6094"/>
                <a:gd name="T9" fmla="*/ T8 w 1246"/>
                <a:gd name="T10" fmla="+- 0 -279 -814"/>
                <a:gd name="T11" fmla="*/ -279 h 1781"/>
                <a:gd name="T12" fmla="+- 0 7260 6094"/>
                <a:gd name="T13" fmla="*/ T12 w 1246"/>
                <a:gd name="T14" fmla="+- 0 -370 -814"/>
                <a:gd name="T15" fmla="*/ -370 h 1781"/>
                <a:gd name="T16" fmla="+- 0 7169 6094"/>
                <a:gd name="T17" fmla="*/ T16 w 1246"/>
                <a:gd name="T18" fmla="+- 0 -449 -814"/>
                <a:gd name="T19" fmla="*/ -449 h 1781"/>
                <a:gd name="T20" fmla="+- 0 7073 6094"/>
                <a:gd name="T21" fmla="*/ T20 w 1246"/>
                <a:gd name="T22" fmla="+- 0 -523 -814"/>
                <a:gd name="T23" fmla="*/ -523 h 1781"/>
                <a:gd name="T24" fmla="+- 0 6970 6094"/>
                <a:gd name="T25" fmla="*/ T24 w 1246"/>
                <a:gd name="T26" fmla="+- 0 -583 -814"/>
                <a:gd name="T27" fmla="*/ -583 h 1781"/>
                <a:gd name="T28" fmla="+- 0 6857 6094"/>
                <a:gd name="T29" fmla="*/ T28 w 1246"/>
                <a:gd name="T30" fmla="+- 0 -631 -814"/>
                <a:gd name="T31" fmla="*/ -631 h 1781"/>
                <a:gd name="T32" fmla="+- 0 6715 6094"/>
                <a:gd name="T33" fmla="*/ T32 w 1246"/>
                <a:gd name="T34" fmla="+- 0 -696 -814"/>
                <a:gd name="T35" fmla="*/ -696 h 1781"/>
                <a:gd name="T36" fmla="+- 0 6564 6094"/>
                <a:gd name="T37" fmla="*/ T36 w 1246"/>
                <a:gd name="T38" fmla="+- 0 -749 -814"/>
                <a:gd name="T39" fmla="*/ -749 h 1781"/>
                <a:gd name="T40" fmla="+- 0 6410 6094"/>
                <a:gd name="T41" fmla="*/ T40 w 1246"/>
                <a:gd name="T42" fmla="+- 0 -783 -814"/>
                <a:gd name="T43" fmla="*/ -783 h 1781"/>
                <a:gd name="T44" fmla="+- 0 6252 6094"/>
                <a:gd name="T45" fmla="*/ T44 w 1246"/>
                <a:gd name="T46" fmla="+- 0 -807 -814"/>
                <a:gd name="T47" fmla="*/ -807 h 1781"/>
                <a:gd name="T48" fmla="+- 0 6094 6094"/>
                <a:gd name="T49" fmla="*/ T48 w 1246"/>
                <a:gd name="T50" fmla="+- 0 -814 -814"/>
                <a:gd name="T51" fmla="*/ -814 h 178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1246" h="1781">
                  <a:moveTo>
                    <a:pt x="0" y="0"/>
                  </a:moveTo>
                  <a:lnTo>
                    <a:pt x="0" y="1781"/>
                  </a:lnTo>
                  <a:lnTo>
                    <a:pt x="1245" y="535"/>
                  </a:lnTo>
                  <a:lnTo>
                    <a:pt x="1166" y="444"/>
                  </a:lnTo>
                  <a:lnTo>
                    <a:pt x="1075" y="365"/>
                  </a:lnTo>
                  <a:lnTo>
                    <a:pt x="979" y="291"/>
                  </a:lnTo>
                  <a:lnTo>
                    <a:pt x="876" y="231"/>
                  </a:lnTo>
                  <a:lnTo>
                    <a:pt x="763" y="183"/>
                  </a:lnTo>
                  <a:lnTo>
                    <a:pt x="621" y="118"/>
                  </a:lnTo>
                  <a:lnTo>
                    <a:pt x="470" y="65"/>
                  </a:lnTo>
                  <a:lnTo>
                    <a:pt x="316" y="31"/>
                  </a:lnTo>
                  <a:lnTo>
                    <a:pt x="158" y="7"/>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4"/>
            <p:cNvSpPr>
              <a:spLocks/>
            </p:cNvSpPr>
            <p:nvPr/>
          </p:nvSpPr>
          <p:spPr bwMode="auto">
            <a:xfrm>
              <a:off x="9668205" y="2781819"/>
              <a:ext cx="791033" cy="1130555"/>
            </a:xfrm>
            <a:custGeom>
              <a:avLst/>
              <a:gdLst>
                <a:gd name="T0" fmla="+- 0 6094 6094"/>
                <a:gd name="T1" fmla="*/ T0 w 1246"/>
                <a:gd name="T2" fmla="+- 0 -814 -814"/>
                <a:gd name="T3" fmla="*/ -814 h 1781"/>
                <a:gd name="T4" fmla="+- 0 6094 6094"/>
                <a:gd name="T5" fmla="*/ T4 w 1246"/>
                <a:gd name="T6" fmla="+- 0 967 -814"/>
                <a:gd name="T7" fmla="*/ 967 h 1781"/>
                <a:gd name="T8" fmla="+- 0 7339 6094"/>
                <a:gd name="T9" fmla="*/ T8 w 1246"/>
                <a:gd name="T10" fmla="+- 0 -279 -814"/>
                <a:gd name="T11" fmla="*/ -279 h 1781"/>
                <a:gd name="T12" fmla="+- 0 7260 6094"/>
                <a:gd name="T13" fmla="*/ T12 w 1246"/>
                <a:gd name="T14" fmla="+- 0 -370 -814"/>
                <a:gd name="T15" fmla="*/ -370 h 1781"/>
                <a:gd name="T16" fmla="+- 0 7169 6094"/>
                <a:gd name="T17" fmla="*/ T16 w 1246"/>
                <a:gd name="T18" fmla="+- 0 -449 -814"/>
                <a:gd name="T19" fmla="*/ -449 h 1781"/>
                <a:gd name="T20" fmla="+- 0 7073 6094"/>
                <a:gd name="T21" fmla="*/ T20 w 1246"/>
                <a:gd name="T22" fmla="+- 0 -523 -814"/>
                <a:gd name="T23" fmla="*/ -523 h 1781"/>
                <a:gd name="T24" fmla="+- 0 6970 6094"/>
                <a:gd name="T25" fmla="*/ T24 w 1246"/>
                <a:gd name="T26" fmla="+- 0 -583 -814"/>
                <a:gd name="T27" fmla="*/ -583 h 1781"/>
                <a:gd name="T28" fmla="+- 0 6857 6094"/>
                <a:gd name="T29" fmla="*/ T28 w 1246"/>
                <a:gd name="T30" fmla="+- 0 -631 -814"/>
                <a:gd name="T31" fmla="*/ -631 h 1781"/>
                <a:gd name="T32" fmla="+- 0 6715 6094"/>
                <a:gd name="T33" fmla="*/ T32 w 1246"/>
                <a:gd name="T34" fmla="+- 0 -696 -814"/>
                <a:gd name="T35" fmla="*/ -696 h 1781"/>
                <a:gd name="T36" fmla="+- 0 6564 6094"/>
                <a:gd name="T37" fmla="*/ T36 w 1246"/>
                <a:gd name="T38" fmla="+- 0 -749 -814"/>
                <a:gd name="T39" fmla="*/ -749 h 1781"/>
                <a:gd name="T40" fmla="+- 0 6410 6094"/>
                <a:gd name="T41" fmla="*/ T40 w 1246"/>
                <a:gd name="T42" fmla="+- 0 -783 -814"/>
                <a:gd name="T43" fmla="*/ -783 h 1781"/>
                <a:gd name="T44" fmla="+- 0 6252 6094"/>
                <a:gd name="T45" fmla="*/ T44 w 1246"/>
                <a:gd name="T46" fmla="+- 0 -807 -814"/>
                <a:gd name="T47" fmla="*/ -807 h 1781"/>
                <a:gd name="T48" fmla="+- 0 6094 6094"/>
                <a:gd name="T49" fmla="*/ T48 w 1246"/>
                <a:gd name="T50" fmla="+- 0 -814 -814"/>
                <a:gd name="T51" fmla="*/ -814 h 178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1246" h="1781">
                  <a:moveTo>
                    <a:pt x="0" y="0"/>
                  </a:moveTo>
                  <a:lnTo>
                    <a:pt x="0" y="1781"/>
                  </a:lnTo>
                  <a:lnTo>
                    <a:pt x="1245" y="535"/>
                  </a:lnTo>
                  <a:lnTo>
                    <a:pt x="1166" y="444"/>
                  </a:lnTo>
                  <a:lnTo>
                    <a:pt x="1075" y="365"/>
                  </a:lnTo>
                  <a:lnTo>
                    <a:pt x="979" y="291"/>
                  </a:lnTo>
                  <a:lnTo>
                    <a:pt x="876" y="231"/>
                  </a:lnTo>
                  <a:lnTo>
                    <a:pt x="763" y="183"/>
                  </a:lnTo>
                  <a:lnTo>
                    <a:pt x="621" y="118"/>
                  </a:lnTo>
                  <a:lnTo>
                    <a:pt x="470" y="65"/>
                  </a:lnTo>
                  <a:lnTo>
                    <a:pt x="316" y="31"/>
                  </a:lnTo>
                  <a:lnTo>
                    <a:pt x="158" y="7"/>
                  </a:lnTo>
                  <a:lnTo>
                    <a:pt x="0" y="0"/>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20"/>
            <p:cNvSpPr>
              <a:spLocks/>
            </p:cNvSpPr>
            <p:nvPr/>
          </p:nvSpPr>
          <p:spPr bwMode="auto">
            <a:xfrm>
              <a:off x="10064356" y="2839585"/>
              <a:ext cx="113005" cy="112992"/>
            </a:xfrm>
            <a:custGeom>
              <a:avLst/>
              <a:gdLst>
                <a:gd name="T0" fmla="+- 0 6718 6718"/>
                <a:gd name="T1" fmla="*/ T0 w 178"/>
                <a:gd name="T2" fmla="+- 0 -631 -723"/>
                <a:gd name="T3" fmla="*/ -631 h 178"/>
                <a:gd name="T4" fmla="+- 0 6722 6718"/>
                <a:gd name="T5" fmla="*/ T4 w 178"/>
                <a:gd name="T6" fmla="+- 0 -598 -723"/>
                <a:gd name="T7" fmla="*/ -598 h 178"/>
                <a:gd name="T8" fmla="+- 0 6744 6718"/>
                <a:gd name="T9" fmla="*/ T8 w 178"/>
                <a:gd name="T10" fmla="+- 0 -571 -723"/>
                <a:gd name="T11" fmla="*/ -571 h 178"/>
                <a:gd name="T12" fmla="+- 0 6770 6718"/>
                <a:gd name="T13" fmla="*/ T12 w 178"/>
                <a:gd name="T14" fmla="+- 0 -555 -723"/>
                <a:gd name="T15" fmla="*/ -555 h 178"/>
                <a:gd name="T16" fmla="+- 0 6804 6718"/>
                <a:gd name="T17" fmla="*/ T16 w 178"/>
                <a:gd name="T18" fmla="+- 0 -545 -723"/>
                <a:gd name="T19" fmla="*/ -545 h 178"/>
                <a:gd name="T20" fmla="+- 0 6838 6718"/>
                <a:gd name="T21" fmla="*/ T20 w 178"/>
                <a:gd name="T22" fmla="+- 0 -555 -723"/>
                <a:gd name="T23" fmla="*/ -555 h 178"/>
                <a:gd name="T24" fmla="+- 0 6869 6718"/>
                <a:gd name="T25" fmla="*/ T24 w 178"/>
                <a:gd name="T26" fmla="+- 0 -571 -723"/>
                <a:gd name="T27" fmla="*/ -571 h 178"/>
                <a:gd name="T28" fmla="+- 0 6888 6718"/>
                <a:gd name="T29" fmla="*/ T28 w 178"/>
                <a:gd name="T30" fmla="+- 0 -598 -723"/>
                <a:gd name="T31" fmla="*/ -598 h 178"/>
                <a:gd name="T32" fmla="+- 0 6895 6718"/>
                <a:gd name="T33" fmla="*/ T32 w 178"/>
                <a:gd name="T34" fmla="+- 0 -631 -723"/>
                <a:gd name="T35" fmla="*/ -631 h 178"/>
                <a:gd name="T36" fmla="+- 0 6888 6718"/>
                <a:gd name="T37" fmla="*/ T36 w 178"/>
                <a:gd name="T38" fmla="+- 0 -670 -723"/>
                <a:gd name="T39" fmla="*/ -670 h 178"/>
                <a:gd name="T40" fmla="+- 0 6869 6718"/>
                <a:gd name="T41" fmla="*/ T40 w 178"/>
                <a:gd name="T42" fmla="+- 0 -696 -723"/>
                <a:gd name="T43" fmla="*/ -696 h 178"/>
                <a:gd name="T44" fmla="+- 0 6838 6718"/>
                <a:gd name="T45" fmla="*/ T44 w 178"/>
                <a:gd name="T46" fmla="+- 0 -715 -723"/>
                <a:gd name="T47" fmla="*/ -715 h 178"/>
                <a:gd name="T48" fmla="+- 0 6804 6718"/>
                <a:gd name="T49" fmla="*/ T48 w 178"/>
                <a:gd name="T50" fmla="+- 0 -723 -723"/>
                <a:gd name="T51" fmla="*/ -723 h 178"/>
                <a:gd name="T52" fmla="+- 0 6770 6718"/>
                <a:gd name="T53" fmla="*/ T52 w 178"/>
                <a:gd name="T54" fmla="+- 0 -715 -723"/>
                <a:gd name="T55" fmla="*/ -715 h 178"/>
                <a:gd name="T56" fmla="+- 0 6744 6718"/>
                <a:gd name="T57" fmla="*/ T56 w 178"/>
                <a:gd name="T58" fmla="+- 0 -696 -723"/>
                <a:gd name="T59" fmla="*/ -696 h 178"/>
                <a:gd name="T60" fmla="+- 0 6722 6718"/>
                <a:gd name="T61" fmla="*/ T60 w 178"/>
                <a:gd name="T62" fmla="+- 0 -670 -723"/>
                <a:gd name="T63" fmla="*/ -670 h 178"/>
                <a:gd name="T64" fmla="+- 0 6718 6718"/>
                <a:gd name="T65" fmla="*/ T64 w 178"/>
                <a:gd name="T66" fmla="+- 0 -631 -723"/>
                <a:gd name="T67" fmla="*/ -631 h 17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78" h="178">
                  <a:moveTo>
                    <a:pt x="0" y="92"/>
                  </a:moveTo>
                  <a:lnTo>
                    <a:pt x="4" y="125"/>
                  </a:lnTo>
                  <a:lnTo>
                    <a:pt x="26" y="152"/>
                  </a:lnTo>
                  <a:lnTo>
                    <a:pt x="52" y="168"/>
                  </a:lnTo>
                  <a:lnTo>
                    <a:pt x="86" y="178"/>
                  </a:lnTo>
                  <a:lnTo>
                    <a:pt x="120" y="168"/>
                  </a:lnTo>
                  <a:lnTo>
                    <a:pt x="151" y="152"/>
                  </a:lnTo>
                  <a:lnTo>
                    <a:pt x="170" y="125"/>
                  </a:lnTo>
                  <a:lnTo>
                    <a:pt x="177" y="92"/>
                  </a:lnTo>
                  <a:lnTo>
                    <a:pt x="170" y="53"/>
                  </a:lnTo>
                  <a:lnTo>
                    <a:pt x="151" y="27"/>
                  </a:lnTo>
                  <a:lnTo>
                    <a:pt x="120" y="8"/>
                  </a:lnTo>
                  <a:lnTo>
                    <a:pt x="86" y="0"/>
                  </a:lnTo>
                  <a:lnTo>
                    <a:pt x="52" y="8"/>
                  </a:lnTo>
                  <a:lnTo>
                    <a:pt x="26" y="27"/>
                  </a:lnTo>
                  <a:lnTo>
                    <a:pt x="4" y="53"/>
                  </a:lnTo>
                  <a:lnTo>
                    <a:pt x="0" y="9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1"/>
            <p:cNvSpPr>
              <a:spLocks/>
            </p:cNvSpPr>
            <p:nvPr/>
          </p:nvSpPr>
          <p:spPr bwMode="auto">
            <a:xfrm>
              <a:off x="10064356" y="2839585"/>
              <a:ext cx="113005" cy="112992"/>
            </a:xfrm>
            <a:custGeom>
              <a:avLst/>
              <a:gdLst>
                <a:gd name="T0" fmla="+- 0 6718 6718"/>
                <a:gd name="T1" fmla="*/ T0 w 178"/>
                <a:gd name="T2" fmla="+- 0 -631 -723"/>
                <a:gd name="T3" fmla="*/ -631 h 178"/>
                <a:gd name="T4" fmla="+- 0 6722 6718"/>
                <a:gd name="T5" fmla="*/ T4 w 178"/>
                <a:gd name="T6" fmla="+- 0 -670 -723"/>
                <a:gd name="T7" fmla="*/ -670 h 178"/>
                <a:gd name="T8" fmla="+- 0 6744 6718"/>
                <a:gd name="T9" fmla="*/ T8 w 178"/>
                <a:gd name="T10" fmla="+- 0 -696 -723"/>
                <a:gd name="T11" fmla="*/ -696 h 178"/>
                <a:gd name="T12" fmla="+- 0 6770 6718"/>
                <a:gd name="T13" fmla="*/ T12 w 178"/>
                <a:gd name="T14" fmla="+- 0 -715 -723"/>
                <a:gd name="T15" fmla="*/ -715 h 178"/>
                <a:gd name="T16" fmla="+- 0 6804 6718"/>
                <a:gd name="T17" fmla="*/ T16 w 178"/>
                <a:gd name="T18" fmla="+- 0 -723 -723"/>
                <a:gd name="T19" fmla="*/ -723 h 178"/>
                <a:gd name="T20" fmla="+- 0 6838 6718"/>
                <a:gd name="T21" fmla="*/ T20 w 178"/>
                <a:gd name="T22" fmla="+- 0 -715 -723"/>
                <a:gd name="T23" fmla="*/ -715 h 178"/>
                <a:gd name="T24" fmla="+- 0 6869 6718"/>
                <a:gd name="T25" fmla="*/ T24 w 178"/>
                <a:gd name="T26" fmla="+- 0 -696 -723"/>
                <a:gd name="T27" fmla="*/ -696 h 178"/>
                <a:gd name="T28" fmla="+- 0 6888 6718"/>
                <a:gd name="T29" fmla="*/ T28 w 178"/>
                <a:gd name="T30" fmla="+- 0 -670 -723"/>
                <a:gd name="T31" fmla="*/ -670 h 178"/>
                <a:gd name="T32" fmla="+- 0 6895 6718"/>
                <a:gd name="T33" fmla="*/ T32 w 178"/>
                <a:gd name="T34" fmla="+- 0 -631 -723"/>
                <a:gd name="T35" fmla="*/ -631 h 178"/>
                <a:gd name="T36" fmla="+- 0 6888 6718"/>
                <a:gd name="T37" fmla="*/ T36 w 178"/>
                <a:gd name="T38" fmla="+- 0 -598 -723"/>
                <a:gd name="T39" fmla="*/ -598 h 178"/>
                <a:gd name="T40" fmla="+- 0 6869 6718"/>
                <a:gd name="T41" fmla="*/ T40 w 178"/>
                <a:gd name="T42" fmla="+- 0 -571 -723"/>
                <a:gd name="T43" fmla="*/ -571 h 178"/>
                <a:gd name="T44" fmla="+- 0 6838 6718"/>
                <a:gd name="T45" fmla="*/ T44 w 178"/>
                <a:gd name="T46" fmla="+- 0 -555 -723"/>
                <a:gd name="T47" fmla="*/ -555 h 178"/>
                <a:gd name="T48" fmla="+- 0 6804 6718"/>
                <a:gd name="T49" fmla="*/ T48 w 178"/>
                <a:gd name="T50" fmla="+- 0 -545 -723"/>
                <a:gd name="T51" fmla="*/ -545 h 178"/>
                <a:gd name="T52" fmla="+- 0 6770 6718"/>
                <a:gd name="T53" fmla="*/ T52 w 178"/>
                <a:gd name="T54" fmla="+- 0 -555 -723"/>
                <a:gd name="T55" fmla="*/ -555 h 178"/>
                <a:gd name="T56" fmla="+- 0 6744 6718"/>
                <a:gd name="T57" fmla="*/ T56 w 178"/>
                <a:gd name="T58" fmla="+- 0 -571 -723"/>
                <a:gd name="T59" fmla="*/ -571 h 178"/>
                <a:gd name="T60" fmla="+- 0 6722 6718"/>
                <a:gd name="T61" fmla="*/ T60 w 178"/>
                <a:gd name="T62" fmla="+- 0 -598 -723"/>
                <a:gd name="T63" fmla="*/ -598 h 178"/>
                <a:gd name="T64" fmla="+- 0 6718 6718"/>
                <a:gd name="T65" fmla="*/ T64 w 178"/>
                <a:gd name="T66" fmla="+- 0 -631 -723"/>
                <a:gd name="T67" fmla="*/ -631 h 17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78" h="178">
                  <a:moveTo>
                    <a:pt x="0" y="92"/>
                  </a:moveTo>
                  <a:lnTo>
                    <a:pt x="4" y="53"/>
                  </a:lnTo>
                  <a:lnTo>
                    <a:pt x="26" y="27"/>
                  </a:lnTo>
                  <a:lnTo>
                    <a:pt x="52" y="8"/>
                  </a:lnTo>
                  <a:lnTo>
                    <a:pt x="86" y="0"/>
                  </a:lnTo>
                  <a:lnTo>
                    <a:pt x="120" y="8"/>
                  </a:lnTo>
                  <a:lnTo>
                    <a:pt x="151" y="27"/>
                  </a:lnTo>
                  <a:lnTo>
                    <a:pt x="170" y="53"/>
                  </a:lnTo>
                  <a:lnTo>
                    <a:pt x="177" y="92"/>
                  </a:lnTo>
                  <a:lnTo>
                    <a:pt x="170" y="125"/>
                  </a:lnTo>
                  <a:lnTo>
                    <a:pt x="151" y="152"/>
                  </a:lnTo>
                  <a:lnTo>
                    <a:pt x="120" y="168"/>
                  </a:lnTo>
                  <a:lnTo>
                    <a:pt x="86" y="178"/>
                  </a:lnTo>
                  <a:lnTo>
                    <a:pt x="52" y="168"/>
                  </a:lnTo>
                  <a:lnTo>
                    <a:pt x="26" y="152"/>
                  </a:lnTo>
                  <a:lnTo>
                    <a:pt x="4" y="125"/>
                  </a:lnTo>
                  <a:lnTo>
                    <a:pt x="0" y="92"/>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22"/>
            <p:cNvSpPr>
              <a:spLocks/>
            </p:cNvSpPr>
            <p:nvPr/>
          </p:nvSpPr>
          <p:spPr bwMode="auto">
            <a:xfrm>
              <a:off x="9162223" y="2839585"/>
              <a:ext cx="111100" cy="112992"/>
            </a:xfrm>
            <a:custGeom>
              <a:avLst/>
              <a:gdLst>
                <a:gd name="T0" fmla="+- 0 5297 5297"/>
                <a:gd name="T1" fmla="*/ T0 w 175"/>
                <a:gd name="T2" fmla="+- 0 -631 -723"/>
                <a:gd name="T3" fmla="*/ -631 h 178"/>
                <a:gd name="T4" fmla="+- 0 5299 5297"/>
                <a:gd name="T5" fmla="*/ T4 w 175"/>
                <a:gd name="T6" fmla="+- 0 -598 -723"/>
                <a:gd name="T7" fmla="*/ -598 h 178"/>
                <a:gd name="T8" fmla="+- 0 5323 5297"/>
                <a:gd name="T9" fmla="*/ T8 w 175"/>
                <a:gd name="T10" fmla="+- 0 -571 -723"/>
                <a:gd name="T11" fmla="*/ -571 h 178"/>
                <a:gd name="T12" fmla="+- 0 5350 5297"/>
                <a:gd name="T13" fmla="*/ T12 w 175"/>
                <a:gd name="T14" fmla="+- 0 -555 -723"/>
                <a:gd name="T15" fmla="*/ -555 h 178"/>
                <a:gd name="T16" fmla="+- 0 5383 5297"/>
                <a:gd name="T17" fmla="*/ T16 w 175"/>
                <a:gd name="T18" fmla="+- 0 -545 -723"/>
                <a:gd name="T19" fmla="*/ -545 h 178"/>
                <a:gd name="T20" fmla="+- 0 5417 5297"/>
                <a:gd name="T21" fmla="*/ T20 w 175"/>
                <a:gd name="T22" fmla="+- 0 -555 -723"/>
                <a:gd name="T23" fmla="*/ -555 h 178"/>
                <a:gd name="T24" fmla="+- 0 5446 5297"/>
                <a:gd name="T25" fmla="*/ T24 w 175"/>
                <a:gd name="T26" fmla="+- 0 -571 -723"/>
                <a:gd name="T27" fmla="*/ -571 h 178"/>
                <a:gd name="T28" fmla="+- 0 5465 5297"/>
                <a:gd name="T29" fmla="*/ T28 w 175"/>
                <a:gd name="T30" fmla="+- 0 -598 -723"/>
                <a:gd name="T31" fmla="*/ -598 h 178"/>
                <a:gd name="T32" fmla="+- 0 5472 5297"/>
                <a:gd name="T33" fmla="*/ T32 w 175"/>
                <a:gd name="T34" fmla="+- 0 -631 -723"/>
                <a:gd name="T35" fmla="*/ -631 h 178"/>
                <a:gd name="T36" fmla="+- 0 5465 5297"/>
                <a:gd name="T37" fmla="*/ T36 w 175"/>
                <a:gd name="T38" fmla="+- 0 -670 -723"/>
                <a:gd name="T39" fmla="*/ -670 h 178"/>
                <a:gd name="T40" fmla="+- 0 5446 5297"/>
                <a:gd name="T41" fmla="*/ T40 w 175"/>
                <a:gd name="T42" fmla="+- 0 -696 -723"/>
                <a:gd name="T43" fmla="*/ -696 h 178"/>
                <a:gd name="T44" fmla="+- 0 5417 5297"/>
                <a:gd name="T45" fmla="*/ T44 w 175"/>
                <a:gd name="T46" fmla="+- 0 -715 -723"/>
                <a:gd name="T47" fmla="*/ -715 h 178"/>
                <a:gd name="T48" fmla="+- 0 5383 5297"/>
                <a:gd name="T49" fmla="*/ T48 w 175"/>
                <a:gd name="T50" fmla="+- 0 -723 -723"/>
                <a:gd name="T51" fmla="*/ -723 h 178"/>
                <a:gd name="T52" fmla="+- 0 5350 5297"/>
                <a:gd name="T53" fmla="*/ T52 w 175"/>
                <a:gd name="T54" fmla="+- 0 -715 -723"/>
                <a:gd name="T55" fmla="*/ -715 h 178"/>
                <a:gd name="T56" fmla="+- 0 5323 5297"/>
                <a:gd name="T57" fmla="*/ T56 w 175"/>
                <a:gd name="T58" fmla="+- 0 -696 -723"/>
                <a:gd name="T59" fmla="*/ -696 h 178"/>
                <a:gd name="T60" fmla="+- 0 5299 5297"/>
                <a:gd name="T61" fmla="*/ T60 w 175"/>
                <a:gd name="T62" fmla="+- 0 -670 -723"/>
                <a:gd name="T63" fmla="*/ -670 h 178"/>
                <a:gd name="T64" fmla="+- 0 5297 5297"/>
                <a:gd name="T65" fmla="*/ T64 w 175"/>
                <a:gd name="T66" fmla="+- 0 -631 -723"/>
                <a:gd name="T67" fmla="*/ -631 h 17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75" h="178">
                  <a:moveTo>
                    <a:pt x="0" y="92"/>
                  </a:moveTo>
                  <a:lnTo>
                    <a:pt x="2" y="125"/>
                  </a:lnTo>
                  <a:lnTo>
                    <a:pt x="26" y="152"/>
                  </a:lnTo>
                  <a:lnTo>
                    <a:pt x="53" y="168"/>
                  </a:lnTo>
                  <a:lnTo>
                    <a:pt x="86" y="178"/>
                  </a:lnTo>
                  <a:lnTo>
                    <a:pt x="120" y="168"/>
                  </a:lnTo>
                  <a:lnTo>
                    <a:pt x="149" y="152"/>
                  </a:lnTo>
                  <a:lnTo>
                    <a:pt x="168" y="125"/>
                  </a:lnTo>
                  <a:lnTo>
                    <a:pt x="175" y="92"/>
                  </a:lnTo>
                  <a:lnTo>
                    <a:pt x="168" y="53"/>
                  </a:lnTo>
                  <a:lnTo>
                    <a:pt x="149" y="27"/>
                  </a:lnTo>
                  <a:lnTo>
                    <a:pt x="120" y="8"/>
                  </a:lnTo>
                  <a:lnTo>
                    <a:pt x="86" y="0"/>
                  </a:lnTo>
                  <a:lnTo>
                    <a:pt x="53" y="8"/>
                  </a:lnTo>
                  <a:lnTo>
                    <a:pt x="26" y="27"/>
                  </a:lnTo>
                  <a:lnTo>
                    <a:pt x="2" y="53"/>
                  </a:lnTo>
                  <a:lnTo>
                    <a:pt x="0" y="9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3"/>
            <p:cNvSpPr>
              <a:spLocks/>
            </p:cNvSpPr>
            <p:nvPr/>
          </p:nvSpPr>
          <p:spPr bwMode="auto">
            <a:xfrm>
              <a:off x="9162223" y="2839585"/>
              <a:ext cx="111100" cy="112992"/>
            </a:xfrm>
            <a:custGeom>
              <a:avLst/>
              <a:gdLst>
                <a:gd name="T0" fmla="+- 0 5297 5297"/>
                <a:gd name="T1" fmla="*/ T0 w 175"/>
                <a:gd name="T2" fmla="+- 0 -631 -723"/>
                <a:gd name="T3" fmla="*/ -631 h 178"/>
                <a:gd name="T4" fmla="+- 0 5299 5297"/>
                <a:gd name="T5" fmla="*/ T4 w 175"/>
                <a:gd name="T6" fmla="+- 0 -670 -723"/>
                <a:gd name="T7" fmla="*/ -670 h 178"/>
                <a:gd name="T8" fmla="+- 0 5323 5297"/>
                <a:gd name="T9" fmla="*/ T8 w 175"/>
                <a:gd name="T10" fmla="+- 0 -696 -723"/>
                <a:gd name="T11" fmla="*/ -696 h 178"/>
                <a:gd name="T12" fmla="+- 0 5350 5297"/>
                <a:gd name="T13" fmla="*/ T12 w 175"/>
                <a:gd name="T14" fmla="+- 0 -715 -723"/>
                <a:gd name="T15" fmla="*/ -715 h 178"/>
                <a:gd name="T16" fmla="+- 0 5383 5297"/>
                <a:gd name="T17" fmla="*/ T16 w 175"/>
                <a:gd name="T18" fmla="+- 0 -723 -723"/>
                <a:gd name="T19" fmla="*/ -723 h 178"/>
                <a:gd name="T20" fmla="+- 0 5417 5297"/>
                <a:gd name="T21" fmla="*/ T20 w 175"/>
                <a:gd name="T22" fmla="+- 0 -715 -723"/>
                <a:gd name="T23" fmla="*/ -715 h 178"/>
                <a:gd name="T24" fmla="+- 0 5446 5297"/>
                <a:gd name="T25" fmla="*/ T24 w 175"/>
                <a:gd name="T26" fmla="+- 0 -696 -723"/>
                <a:gd name="T27" fmla="*/ -696 h 178"/>
                <a:gd name="T28" fmla="+- 0 5465 5297"/>
                <a:gd name="T29" fmla="*/ T28 w 175"/>
                <a:gd name="T30" fmla="+- 0 -670 -723"/>
                <a:gd name="T31" fmla="*/ -670 h 178"/>
                <a:gd name="T32" fmla="+- 0 5472 5297"/>
                <a:gd name="T33" fmla="*/ T32 w 175"/>
                <a:gd name="T34" fmla="+- 0 -631 -723"/>
                <a:gd name="T35" fmla="*/ -631 h 178"/>
                <a:gd name="T36" fmla="+- 0 5465 5297"/>
                <a:gd name="T37" fmla="*/ T36 w 175"/>
                <a:gd name="T38" fmla="+- 0 -598 -723"/>
                <a:gd name="T39" fmla="*/ -598 h 178"/>
                <a:gd name="T40" fmla="+- 0 5446 5297"/>
                <a:gd name="T41" fmla="*/ T40 w 175"/>
                <a:gd name="T42" fmla="+- 0 -571 -723"/>
                <a:gd name="T43" fmla="*/ -571 h 178"/>
                <a:gd name="T44" fmla="+- 0 5417 5297"/>
                <a:gd name="T45" fmla="*/ T44 w 175"/>
                <a:gd name="T46" fmla="+- 0 -555 -723"/>
                <a:gd name="T47" fmla="*/ -555 h 178"/>
                <a:gd name="T48" fmla="+- 0 5383 5297"/>
                <a:gd name="T49" fmla="*/ T48 w 175"/>
                <a:gd name="T50" fmla="+- 0 -545 -723"/>
                <a:gd name="T51" fmla="*/ -545 h 178"/>
                <a:gd name="T52" fmla="+- 0 5350 5297"/>
                <a:gd name="T53" fmla="*/ T52 w 175"/>
                <a:gd name="T54" fmla="+- 0 -555 -723"/>
                <a:gd name="T55" fmla="*/ -555 h 178"/>
                <a:gd name="T56" fmla="+- 0 5323 5297"/>
                <a:gd name="T57" fmla="*/ T56 w 175"/>
                <a:gd name="T58" fmla="+- 0 -571 -723"/>
                <a:gd name="T59" fmla="*/ -571 h 178"/>
                <a:gd name="T60" fmla="+- 0 5299 5297"/>
                <a:gd name="T61" fmla="*/ T60 w 175"/>
                <a:gd name="T62" fmla="+- 0 -598 -723"/>
                <a:gd name="T63" fmla="*/ -598 h 178"/>
                <a:gd name="T64" fmla="+- 0 5297 5297"/>
                <a:gd name="T65" fmla="*/ T64 w 175"/>
                <a:gd name="T66" fmla="+- 0 -631 -723"/>
                <a:gd name="T67" fmla="*/ -631 h 17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75" h="178">
                  <a:moveTo>
                    <a:pt x="0" y="92"/>
                  </a:moveTo>
                  <a:lnTo>
                    <a:pt x="2" y="53"/>
                  </a:lnTo>
                  <a:lnTo>
                    <a:pt x="26" y="27"/>
                  </a:lnTo>
                  <a:lnTo>
                    <a:pt x="53" y="8"/>
                  </a:lnTo>
                  <a:lnTo>
                    <a:pt x="86" y="0"/>
                  </a:lnTo>
                  <a:lnTo>
                    <a:pt x="120" y="8"/>
                  </a:lnTo>
                  <a:lnTo>
                    <a:pt x="149" y="27"/>
                  </a:lnTo>
                  <a:lnTo>
                    <a:pt x="168" y="53"/>
                  </a:lnTo>
                  <a:lnTo>
                    <a:pt x="175" y="92"/>
                  </a:lnTo>
                  <a:lnTo>
                    <a:pt x="168" y="125"/>
                  </a:lnTo>
                  <a:lnTo>
                    <a:pt x="149" y="152"/>
                  </a:lnTo>
                  <a:lnTo>
                    <a:pt x="120" y="168"/>
                  </a:lnTo>
                  <a:lnTo>
                    <a:pt x="86" y="178"/>
                  </a:lnTo>
                  <a:lnTo>
                    <a:pt x="53" y="168"/>
                  </a:lnTo>
                  <a:lnTo>
                    <a:pt x="26" y="152"/>
                  </a:lnTo>
                  <a:lnTo>
                    <a:pt x="2" y="125"/>
                  </a:lnTo>
                  <a:lnTo>
                    <a:pt x="0" y="92"/>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24"/>
            <p:cNvSpPr>
              <a:spLocks/>
            </p:cNvSpPr>
            <p:nvPr/>
          </p:nvSpPr>
          <p:spPr bwMode="auto">
            <a:xfrm>
              <a:off x="10628110" y="3403275"/>
              <a:ext cx="113005" cy="111088"/>
            </a:xfrm>
            <a:custGeom>
              <a:avLst/>
              <a:gdLst>
                <a:gd name="T0" fmla="+- 0 7606 7606"/>
                <a:gd name="T1" fmla="*/ T0 w 178"/>
                <a:gd name="T2" fmla="+- 0 254 165"/>
                <a:gd name="T3" fmla="*/ 254 h 175"/>
                <a:gd name="T4" fmla="+- 0 7613 7606"/>
                <a:gd name="T5" fmla="*/ T4 w 178"/>
                <a:gd name="T6" fmla="+- 0 290 165"/>
                <a:gd name="T7" fmla="*/ 290 h 175"/>
                <a:gd name="T8" fmla="+- 0 7632 7606"/>
                <a:gd name="T9" fmla="*/ T8 w 178"/>
                <a:gd name="T10" fmla="+- 0 314 165"/>
                <a:gd name="T11" fmla="*/ 314 h 175"/>
                <a:gd name="T12" fmla="+- 0 7658 7606"/>
                <a:gd name="T13" fmla="*/ T12 w 178"/>
                <a:gd name="T14" fmla="+- 0 338 165"/>
                <a:gd name="T15" fmla="*/ 338 h 175"/>
                <a:gd name="T16" fmla="+- 0 7692 7606"/>
                <a:gd name="T17" fmla="*/ T16 w 178"/>
                <a:gd name="T18" fmla="+- 0 341 165"/>
                <a:gd name="T19" fmla="*/ 341 h 175"/>
                <a:gd name="T20" fmla="+- 0 7730 7606"/>
                <a:gd name="T21" fmla="*/ T20 w 178"/>
                <a:gd name="T22" fmla="+- 0 338 165"/>
                <a:gd name="T23" fmla="*/ 338 h 175"/>
                <a:gd name="T24" fmla="+- 0 7757 7606"/>
                <a:gd name="T25" fmla="*/ T24 w 178"/>
                <a:gd name="T26" fmla="+- 0 314 165"/>
                <a:gd name="T27" fmla="*/ 314 h 175"/>
                <a:gd name="T28" fmla="+- 0 7776 7606"/>
                <a:gd name="T29" fmla="*/ T28 w 178"/>
                <a:gd name="T30" fmla="+- 0 290 165"/>
                <a:gd name="T31" fmla="*/ 290 h 175"/>
                <a:gd name="T32" fmla="+- 0 7783 7606"/>
                <a:gd name="T33" fmla="*/ T32 w 178"/>
                <a:gd name="T34" fmla="+- 0 254 165"/>
                <a:gd name="T35" fmla="*/ 254 h 175"/>
                <a:gd name="T36" fmla="+- 0 7776 7606"/>
                <a:gd name="T37" fmla="*/ T36 w 178"/>
                <a:gd name="T38" fmla="+- 0 221 165"/>
                <a:gd name="T39" fmla="*/ 221 h 175"/>
                <a:gd name="T40" fmla="+- 0 7757 7606"/>
                <a:gd name="T41" fmla="*/ T40 w 178"/>
                <a:gd name="T42" fmla="+- 0 192 165"/>
                <a:gd name="T43" fmla="*/ 192 h 175"/>
                <a:gd name="T44" fmla="+- 0 7730 7606"/>
                <a:gd name="T45" fmla="*/ T44 w 178"/>
                <a:gd name="T46" fmla="+- 0 173 165"/>
                <a:gd name="T47" fmla="*/ 173 h 175"/>
                <a:gd name="T48" fmla="+- 0 7692 7606"/>
                <a:gd name="T49" fmla="*/ T48 w 178"/>
                <a:gd name="T50" fmla="+- 0 165 165"/>
                <a:gd name="T51" fmla="*/ 165 h 175"/>
                <a:gd name="T52" fmla="+- 0 7658 7606"/>
                <a:gd name="T53" fmla="*/ T52 w 178"/>
                <a:gd name="T54" fmla="+- 0 173 165"/>
                <a:gd name="T55" fmla="*/ 173 h 175"/>
                <a:gd name="T56" fmla="+- 0 7632 7606"/>
                <a:gd name="T57" fmla="*/ T56 w 178"/>
                <a:gd name="T58" fmla="+- 0 192 165"/>
                <a:gd name="T59" fmla="*/ 192 h 175"/>
                <a:gd name="T60" fmla="+- 0 7613 7606"/>
                <a:gd name="T61" fmla="*/ T60 w 178"/>
                <a:gd name="T62" fmla="+- 0 221 165"/>
                <a:gd name="T63" fmla="*/ 221 h 175"/>
                <a:gd name="T64" fmla="+- 0 7606 7606"/>
                <a:gd name="T65" fmla="*/ T64 w 178"/>
                <a:gd name="T66" fmla="+- 0 254 165"/>
                <a:gd name="T67" fmla="*/ 254 h 17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78" h="175">
                  <a:moveTo>
                    <a:pt x="0" y="89"/>
                  </a:moveTo>
                  <a:lnTo>
                    <a:pt x="7" y="125"/>
                  </a:lnTo>
                  <a:lnTo>
                    <a:pt x="26" y="149"/>
                  </a:lnTo>
                  <a:lnTo>
                    <a:pt x="52" y="173"/>
                  </a:lnTo>
                  <a:lnTo>
                    <a:pt x="86" y="176"/>
                  </a:lnTo>
                  <a:lnTo>
                    <a:pt x="124" y="173"/>
                  </a:lnTo>
                  <a:lnTo>
                    <a:pt x="151" y="149"/>
                  </a:lnTo>
                  <a:lnTo>
                    <a:pt x="170" y="125"/>
                  </a:lnTo>
                  <a:lnTo>
                    <a:pt x="177" y="89"/>
                  </a:lnTo>
                  <a:lnTo>
                    <a:pt x="170" y="56"/>
                  </a:lnTo>
                  <a:lnTo>
                    <a:pt x="151" y="27"/>
                  </a:lnTo>
                  <a:lnTo>
                    <a:pt x="124" y="8"/>
                  </a:lnTo>
                  <a:lnTo>
                    <a:pt x="86" y="0"/>
                  </a:lnTo>
                  <a:lnTo>
                    <a:pt x="52" y="8"/>
                  </a:lnTo>
                  <a:lnTo>
                    <a:pt x="26" y="27"/>
                  </a:lnTo>
                  <a:lnTo>
                    <a:pt x="7" y="56"/>
                  </a:lnTo>
                  <a:lnTo>
                    <a:pt x="0" y="8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5"/>
            <p:cNvSpPr>
              <a:spLocks/>
            </p:cNvSpPr>
            <p:nvPr/>
          </p:nvSpPr>
          <p:spPr bwMode="auto">
            <a:xfrm>
              <a:off x="10628110" y="3403275"/>
              <a:ext cx="113005" cy="111088"/>
            </a:xfrm>
            <a:custGeom>
              <a:avLst/>
              <a:gdLst>
                <a:gd name="T0" fmla="+- 0 7606 7606"/>
                <a:gd name="T1" fmla="*/ T0 w 178"/>
                <a:gd name="T2" fmla="+- 0 254 165"/>
                <a:gd name="T3" fmla="*/ 254 h 175"/>
                <a:gd name="T4" fmla="+- 0 7613 7606"/>
                <a:gd name="T5" fmla="*/ T4 w 178"/>
                <a:gd name="T6" fmla="+- 0 221 165"/>
                <a:gd name="T7" fmla="*/ 221 h 175"/>
                <a:gd name="T8" fmla="+- 0 7632 7606"/>
                <a:gd name="T9" fmla="*/ T8 w 178"/>
                <a:gd name="T10" fmla="+- 0 192 165"/>
                <a:gd name="T11" fmla="*/ 192 h 175"/>
                <a:gd name="T12" fmla="+- 0 7658 7606"/>
                <a:gd name="T13" fmla="*/ T12 w 178"/>
                <a:gd name="T14" fmla="+- 0 173 165"/>
                <a:gd name="T15" fmla="*/ 173 h 175"/>
                <a:gd name="T16" fmla="+- 0 7692 7606"/>
                <a:gd name="T17" fmla="*/ T16 w 178"/>
                <a:gd name="T18" fmla="+- 0 165 165"/>
                <a:gd name="T19" fmla="*/ 165 h 175"/>
                <a:gd name="T20" fmla="+- 0 7730 7606"/>
                <a:gd name="T21" fmla="*/ T20 w 178"/>
                <a:gd name="T22" fmla="+- 0 173 165"/>
                <a:gd name="T23" fmla="*/ 173 h 175"/>
                <a:gd name="T24" fmla="+- 0 7757 7606"/>
                <a:gd name="T25" fmla="*/ T24 w 178"/>
                <a:gd name="T26" fmla="+- 0 192 165"/>
                <a:gd name="T27" fmla="*/ 192 h 175"/>
                <a:gd name="T28" fmla="+- 0 7776 7606"/>
                <a:gd name="T29" fmla="*/ T28 w 178"/>
                <a:gd name="T30" fmla="+- 0 221 165"/>
                <a:gd name="T31" fmla="*/ 221 h 175"/>
                <a:gd name="T32" fmla="+- 0 7783 7606"/>
                <a:gd name="T33" fmla="*/ T32 w 178"/>
                <a:gd name="T34" fmla="+- 0 254 165"/>
                <a:gd name="T35" fmla="*/ 254 h 175"/>
                <a:gd name="T36" fmla="+- 0 7776 7606"/>
                <a:gd name="T37" fmla="*/ T36 w 178"/>
                <a:gd name="T38" fmla="+- 0 290 165"/>
                <a:gd name="T39" fmla="*/ 290 h 175"/>
                <a:gd name="T40" fmla="+- 0 7757 7606"/>
                <a:gd name="T41" fmla="*/ T40 w 178"/>
                <a:gd name="T42" fmla="+- 0 314 165"/>
                <a:gd name="T43" fmla="*/ 314 h 175"/>
                <a:gd name="T44" fmla="+- 0 7730 7606"/>
                <a:gd name="T45" fmla="*/ T44 w 178"/>
                <a:gd name="T46" fmla="+- 0 338 165"/>
                <a:gd name="T47" fmla="*/ 338 h 175"/>
                <a:gd name="T48" fmla="+- 0 7692 7606"/>
                <a:gd name="T49" fmla="*/ T48 w 178"/>
                <a:gd name="T50" fmla="+- 0 341 165"/>
                <a:gd name="T51" fmla="*/ 341 h 175"/>
                <a:gd name="T52" fmla="+- 0 7658 7606"/>
                <a:gd name="T53" fmla="*/ T52 w 178"/>
                <a:gd name="T54" fmla="+- 0 338 165"/>
                <a:gd name="T55" fmla="*/ 338 h 175"/>
                <a:gd name="T56" fmla="+- 0 7632 7606"/>
                <a:gd name="T57" fmla="*/ T56 w 178"/>
                <a:gd name="T58" fmla="+- 0 314 165"/>
                <a:gd name="T59" fmla="*/ 314 h 175"/>
                <a:gd name="T60" fmla="+- 0 7613 7606"/>
                <a:gd name="T61" fmla="*/ T60 w 178"/>
                <a:gd name="T62" fmla="+- 0 290 165"/>
                <a:gd name="T63" fmla="*/ 290 h 175"/>
                <a:gd name="T64" fmla="+- 0 7606 7606"/>
                <a:gd name="T65" fmla="*/ T64 w 178"/>
                <a:gd name="T66" fmla="+- 0 254 165"/>
                <a:gd name="T67" fmla="*/ 254 h 17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78" h="175">
                  <a:moveTo>
                    <a:pt x="0" y="89"/>
                  </a:moveTo>
                  <a:lnTo>
                    <a:pt x="7" y="56"/>
                  </a:lnTo>
                  <a:lnTo>
                    <a:pt x="26" y="27"/>
                  </a:lnTo>
                  <a:lnTo>
                    <a:pt x="52" y="8"/>
                  </a:lnTo>
                  <a:lnTo>
                    <a:pt x="86" y="0"/>
                  </a:lnTo>
                  <a:lnTo>
                    <a:pt x="124" y="8"/>
                  </a:lnTo>
                  <a:lnTo>
                    <a:pt x="151" y="27"/>
                  </a:lnTo>
                  <a:lnTo>
                    <a:pt x="170" y="56"/>
                  </a:lnTo>
                  <a:lnTo>
                    <a:pt x="177" y="89"/>
                  </a:lnTo>
                  <a:lnTo>
                    <a:pt x="170" y="125"/>
                  </a:lnTo>
                  <a:lnTo>
                    <a:pt x="151" y="149"/>
                  </a:lnTo>
                  <a:lnTo>
                    <a:pt x="124" y="173"/>
                  </a:lnTo>
                  <a:lnTo>
                    <a:pt x="86" y="176"/>
                  </a:lnTo>
                  <a:lnTo>
                    <a:pt x="52" y="173"/>
                  </a:lnTo>
                  <a:lnTo>
                    <a:pt x="26" y="149"/>
                  </a:lnTo>
                  <a:lnTo>
                    <a:pt x="7" y="125"/>
                  </a:lnTo>
                  <a:lnTo>
                    <a:pt x="0" y="89"/>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6"/>
            <p:cNvSpPr>
              <a:spLocks/>
            </p:cNvSpPr>
            <p:nvPr/>
          </p:nvSpPr>
          <p:spPr bwMode="auto">
            <a:xfrm>
              <a:off x="8595295" y="3403275"/>
              <a:ext cx="114274" cy="111088"/>
            </a:xfrm>
            <a:custGeom>
              <a:avLst/>
              <a:gdLst>
                <a:gd name="T0" fmla="+- 0 4404 4404"/>
                <a:gd name="T1" fmla="*/ T0 w 180"/>
                <a:gd name="T2" fmla="+- 0 254 165"/>
                <a:gd name="T3" fmla="*/ 254 h 175"/>
                <a:gd name="T4" fmla="+- 0 4411 4404"/>
                <a:gd name="T5" fmla="*/ T4 w 180"/>
                <a:gd name="T6" fmla="+- 0 290 165"/>
                <a:gd name="T7" fmla="*/ 290 h 175"/>
                <a:gd name="T8" fmla="+- 0 4430 4404"/>
                <a:gd name="T9" fmla="*/ T8 w 180"/>
                <a:gd name="T10" fmla="+- 0 314 165"/>
                <a:gd name="T11" fmla="*/ 314 h 175"/>
                <a:gd name="T12" fmla="+- 0 4462 4404"/>
                <a:gd name="T13" fmla="*/ T12 w 180"/>
                <a:gd name="T14" fmla="+- 0 338 165"/>
                <a:gd name="T15" fmla="*/ 338 h 175"/>
                <a:gd name="T16" fmla="+- 0 4495 4404"/>
                <a:gd name="T17" fmla="*/ T16 w 180"/>
                <a:gd name="T18" fmla="+- 0 341 165"/>
                <a:gd name="T19" fmla="*/ 341 h 175"/>
                <a:gd name="T20" fmla="+- 0 4529 4404"/>
                <a:gd name="T21" fmla="*/ T20 w 180"/>
                <a:gd name="T22" fmla="+- 0 338 165"/>
                <a:gd name="T23" fmla="*/ 338 h 175"/>
                <a:gd name="T24" fmla="+- 0 4558 4404"/>
                <a:gd name="T25" fmla="*/ T24 w 180"/>
                <a:gd name="T26" fmla="+- 0 314 165"/>
                <a:gd name="T27" fmla="*/ 314 h 175"/>
                <a:gd name="T28" fmla="+- 0 4577 4404"/>
                <a:gd name="T29" fmla="*/ T28 w 180"/>
                <a:gd name="T30" fmla="+- 0 290 165"/>
                <a:gd name="T31" fmla="*/ 290 h 175"/>
                <a:gd name="T32" fmla="+- 0 4584 4404"/>
                <a:gd name="T33" fmla="*/ T32 w 180"/>
                <a:gd name="T34" fmla="+- 0 254 165"/>
                <a:gd name="T35" fmla="*/ 254 h 175"/>
                <a:gd name="T36" fmla="+- 0 4577 4404"/>
                <a:gd name="T37" fmla="*/ T36 w 180"/>
                <a:gd name="T38" fmla="+- 0 221 165"/>
                <a:gd name="T39" fmla="*/ 221 h 175"/>
                <a:gd name="T40" fmla="+- 0 4558 4404"/>
                <a:gd name="T41" fmla="*/ T40 w 180"/>
                <a:gd name="T42" fmla="+- 0 192 165"/>
                <a:gd name="T43" fmla="*/ 192 h 175"/>
                <a:gd name="T44" fmla="+- 0 4529 4404"/>
                <a:gd name="T45" fmla="*/ T44 w 180"/>
                <a:gd name="T46" fmla="+- 0 173 165"/>
                <a:gd name="T47" fmla="*/ 173 h 175"/>
                <a:gd name="T48" fmla="+- 0 4495 4404"/>
                <a:gd name="T49" fmla="*/ T48 w 180"/>
                <a:gd name="T50" fmla="+- 0 165 165"/>
                <a:gd name="T51" fmla="*/ 165 h 175"/>
                <a:gd name="T52" fmla="+- 0 4462 4404"/>
                <a:gd name="T53" fmla="*/ T52 w 180"/>
                <a:gd name="T54" fmla="+- 0 173 165"/>
                <a:gd name="T55" fmla="*/ 173 h 175"/>
                <a:gd name="T56" fmla="+- 0 4430 4404"/>
                <a:gd name="T57" fmla="*/ T56 w 180"/>
                <a:gd name="T58" fmla="+- 0 192 165"/>
                <a:gd name="T59" fmla="*/ 192 h 175"/>
                <a:gd name="T60" fmla="+- 0 4411 4404"/>
                <a:gd name="T61" fmla="*/ T60 w 180"/>
                <a:gd name="T62" fmla="+- 0 221 165"/>
                <a:gd name="T63" fmla="*/ 221 h 175"/>
                <a:gd name="T64" fmla="+- 0 4404 4404"/>
                <a:gd name="T65" fmla="*/ T64 w 180"/>
                <a:gd name="T66" fmla="+- 0 254 165"/>
                <a:gd name="T67" fmla="*/ 254 h 17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80" h="175">
                  <a:moveTo>
                    <a:pt x="0" y="89"/>
                  </a:moveTo>
                  <a:lnTo>
                    <a:pt x="7" y="125"/>
                  </a:lnTo>
                  <a:lnTo>
                    <a:pt x="26" y="149"/>
                  </a:lnTo>
                  <a:lnTo>
                    <a:pt x="58" y="173"/>
                  </a:lnTo>
                  <a:lnTo>
                    <a:pt x="91" y="176"/>
                  </a:lnTo>
                  <a:lnTo>
                    <a:pt x="125" y="173"/>
                  </a:lnTo>
                  <a:lnTo>
                    <a:pt x="154" y="149"/>
                  </a:lnTo>
                  <a:lnTo>
                    <a:pt x="173" y="125"/>
                  </a:lnTo>
                  <a:lnTo>
                    <a:pt x="180" y="89"/>
                  </a:lnTo>
                  <a:lnTo>
                    <a:pt x="173" y="56"/>
                  </a:lnTo>
                  <a:lnTo>
                    <a:pt x="154" y="27"/>
                  </a:lnTo>
                  <a:lnTo>
                    <a:pt x="125" y="8"/>
                  </a:lnTo>
                  <a:lnTo>
                    <a:pt x="91" y="0"/>
                  </a:lnTo>
                  <a:lnTo>
                    <a:pt x="58" y="8"/>
                  </a:lnTo>
                  <a:lnTo>
                    <a:pt x="26" y="27"/>
                  </a:lnTo>
                  <a:lnTo>
                    <a:pt x="7" y="56"/>
                  </a:lnTo>
                  <a:lnTo>
                    <a:pt x="0" y="8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7"/>
            <p:cNvSpPr>
              <a:spLocks/>
            </p:cNvSpPr>
            <p:nvPr/>
          </p:nvSpPr>
          <p:spPr bwMode="auto">
            <a:xfrm>
              <a:off x="8595295" y="3403275"/>
              <a:ext cx="114274" cy="111088"/>
            </a:xfrm>
            <a:custGeom>
              <a:avLst/>
              <a:gdLst>
                <a:gd name="T0" fmla="+- 0 4404 4404"/>
                <a:gd name="T1" fmla="*/ T0 w 180"/>
                <a:gd name="T2" fmla="+- 0 254 165"/>
                <a:gd name="T3" fmla="*/ 254 h 175"/>
                <a:gd name="T4" fmla="+- 0 4411 4404"/>
                <a:gd name="T5" fmla="*/ T4 w 180"/>
                <a:gd name="T6" fmla="+- 0 221 165"/>
                <a:gd name="T7" fmla="*/ 221 h 175"/>
                <a:gd name="T8" fmla="+- 0 4430 4404"/>
                <a:gd name="T9" fmla="*/ T8 w 180"/>
                <a:gd name="T10" fmla="+- 0 192 165"/>
                <a:gd name="T11" fmla="*/ 192 h 175"/>
                <a:gd name="T12" fmla="+- 0 4462 4404"/>
                <a:gd name="T13" fmla="*/ T12 w 180"/>
                <a:gd name="T14" fmla="+- 0 173 165"/>
                <a:gd name="T15" fmla="*/ 173 h 175"/>
                <a:gd name="T16" fmla="+- 0 4495 4404"/>
                <a:gd name="T17" fmla="*/ T16 w 180"/>
                <a:gd name="T18" fmla="+- 0 165 165"/>
                <a:gd name="T19" fmla="*/ 165 h 175"/>
                <a:gd name="T20" fmla="+- 0 4529 4404"/>
                <a:gd name="T21" fmla="*/ T20 w 180"/>
                <a:gd name="T22" fmla="+- 0 173 165"/>
                <a:gd name="T23" fmla="*/ 173 h 175"/>
                <a:gd name="T24" fmla="+- 0 4558 4404"/>
                <a:gd name="T25" fmla="*/ T24 w 180"/>
                <a:gd name="T26" fmla="+- 0 192 165"/>
                <a:gd name="T27" fmla="*/ 192 h 175"/>
                <a:gd name="T28" fmla="+- 0 4577 4404"/>
                <a:gd name="T29" fmla="*/ T28 w 180"/>
                <a:gd name="T30" fmla="+- 0 221 165"/>
                <a:gd name="T31" fmla="*/ 221 h 175"/>
                <a:gd name="T32" fmla="+- 0 4584 4404"/>
                <a:gd name="T33" fmla="*/ T32 w 180"/>
                <a:gd name="T34" fmla="+- 0 254 165"/>
                <a:gd name="T35" fmla="*/ 254 h 175"/>
                <a:gd name="T36" fmla="+- 0 4577 4404"/>
                <a:gd name="T37" fmla="*/ T36 w 180"/>
                <a:gd name="T38" fmla="+- 0 290 165"/>
                <a:gd name="T39" fmla="*/ 290 h 175"/>
                <a:gd name="T40" fmla="+- 0 4558 4404"/>
                <a:gd name="T41" fmla="*/ T40 w 180"/>
                <a:gd name="T42" fmla="+- 0 314 165"/>
                <a:gd name="T43" fmla="*/ 314 h 175"/>
                <a:gd name="T44" fmla="+- 0 4529 4404"/>
                <a:gd name="T45" fmla="*/ T44 w 180"/>
                <a:gd name="T46" fmla="+- 0 338 165"/>
                <a:gd name="T47" fmla="*/ 338 h 175"/>
                <a:gd name="T48" fmla="+- 0 4495 4404"/>
                <a:gd name="T49" fmla="*/ T48 w 180"/>
                <a:gd name="T50" fmla="+- 0 341 165"/>
                <a:gd name="T51" fmla="*/ 341 h 175"/>
                <a:gd name="T52" fmla="+- 0 4462 4404"/>
                <a:gd name="T53" fmla="*/ T52 w 180"/>
                <a:gd name="T54" fmla="+- 0 338 165"/>
                <a:gd name="T55" fmla="*/ 338 h 175"/>
                <a:gd name="T56" fmla="+- 0 4430 4404"/>
                <a:gd name="T57" fmla="*/ T56 w 180"/>
                <a:gd name="T58" fmla="+- 0 314 165"/>
                <a:gd name="T59" fmla="*/ 314 h 175"/>
                <a:gd name="T60" fmla="+- 0 4411 4404"/>
                <a:gd name="T61" fmla="*/ T60 w 180"/>
                <a:gd name="T62" fmla="+- 0 290 165"/>
                <a:gd name="T63" fmla="*/ 290 h 175"/>
                <a:gd name="T64" fmla="+- 0 4404 4404"/>
                <a:gd name="T65" fmla="*/ T64 w 180"/>
                <a:gd name="T66" fmla="+- 0 254 165"/>
                <a:gd name="T67" fmla="*/ 254 h 17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80" h="175">
                  <a:moveTo>
                    <a:pt x="0" y="89"/>
                  </a:moveTo>
                  <a:lnTo>
                    <a:pt x="7" y="56"/>
                  </a:lnTo>
                  <a:lnTo>
                    <a:pt x="26" y="27"/>
                  </a:lnTo>
                  <a:lnTo>
                    <a:pt x="58" y="8"/>
                  </a:lnTo>
                  <a:lnTo>
                    <a:pt x="91" y="0"/>
                  </a:lnTo>
                  <a:lnTo>
                    <a:pt x="125" y="8"/>
                  </a:lnTo>
                  <a:lnTo>
                    <a:pt x="154" y="27"/>
                  </a:lnTo>
                  <a:lnTo>
                    <a:pt x="173" y="56"/>
                  </a:lnTo>
                  <a:lnTo>
                    <a:pt x="180" y="89"/>
                  </a:lnTo>
                  <a:lnTo>
                    <a:pt x="173" y="125"/>
                  </a:lnTo>
                  <a:lnTo>
                    <a:pt x="154" y="149"/>
                  </a:lnTo>
                  <a:lnTo>
                    <a:pt x="125" y="173"/>
                  </a:lnTo>
                  <a:lnTo>
                    <a:pt x="91" y="176"/>
                  </a:lnTo>
                  <a:lnTo>
                    <a:pt x="58" y="173"/>
                  </a:lnTo>
                  <a:lnTo>
                    <a:pt x="26" y="149"/>
                  </a:lnTo>
                  <a:lnTo>
                    <a:pt x="7" y="125"/>
                  </a:lnTo>
                  <a:lnTo>
                    <a:pt x="0" y="89"/>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8"/>
            <p:cNvSpPr>
              <a:spLocks/>
            </p:cNvSpPr>
            <p:nvPr/>
          </p:nvSpPr>
          <p:spPr bwMode="auto">
            <a:xfrm>
              <a:off x="8595295" y="4305307"/>
              <a:ext cx="114274" cy="112992"/>
            </a:xfrm>
            <a:custGeom>
              <a:avLst/>
              <a:gdLst>
                <a:gd name="T0" fmla="+- 0 4404 4404"/>
                <a:gd name="T1" fmla="*/ T0 w 180"/>
                <a:gd name="T2" fmla="+- 0 1677 1586"/>
                <a:gd name="T3" fmla="*/ 1677 h 178"/>
                <a:gd name="T4" fmla="+- 0 4411 4404"/>
                <a:gd name="T5" fmla="*/ T4 w 180"/>
                <a:gd name="T6" fmla="+- 0 1711 1586"/>
                <a:gd name="T7" fmla="*/ 1711 h 178"/>
                <a:gd name="T8" fmla="+- 0 4430 4404"/>
                <a:gd name="T9" fmla="*/ T8 w 180"/>
                <a:gd name="T10" fmla="+- 0 1737 1586"/>
                <a:gd name="T11" fmla="*/ 1737 h 178"/>
                <a:gd name="T12" fmla="+- 0 4462 4404"/>
                <a:gd name="T13" fmla="*/ T12 w 180"/>
                <a:gd name="T14" fmla="+- 0 1759 1586"/>
                <a:gd name="T15" fmla="*/ 1759 h 178"/>
                <a:gd name="T16" fmla="+- 0 4495 4404"/>
                <a:gd name="T17" fmla="*/ T16 w 180"/>
                <a:gd name="T18" fmla="+- 0 1764 1586"/>
                <a:gd name="T19" fmla="*/ 1764 h 178"/>
                <a:gd name="T20" fmla="+- 0 4529 4404"/>
                <a:gd name="T21" fmla="*/ T20 w 180"/>
                <a:gd name="T22" fmla="+- 0 1759 1586"/>
                <a:gd name="T23" fmla="*/ 1759 h 178"/>
                <a:gd name="T24" fmla="+- 0 4558 4404"/>
                <a:gd name="T25" fmla="*/ T24 w 180"/>
                <a:gd name="T26" fmla="+- 0 1737 1586"/>
                <a:gd name="T27" fmla="*/ 1737 h 178"/>
                <a:gd name="T28" fmla="+- 0 4577 4404"/>
                <a:gd name="T29" fmla="*/ T28 w 180"/>
                <a:gd name="T30" fmla="+- 0 1711 1586"/>
                <a:gd name="T31" fmla="*/ 1711 h 178"/>
                <a:gd name="T32" fmla="+- 0 4584 4404"/>
                <a:gd name="T33" fmla="*/ T32 w 180"/>
                <a:gd name="T34" fmla="+- 0 1677 1586"/>
                <a:gd name="T35" fmla="*/ 1677 h 178"/>
                <a:gd name="T36" fmla="+- 0 4577 4404"/>
                <a:gd name="T37" fmla="*/ T36 w 180"/>
                <a:gd name="T38" fmla="+- 0 1644 1586"/>
                <a:gd name="T39" fmla="*/ 1644 h 178"/>
                <a:gd name="T40" fmla="+- 0 4558 4404"/>
                <a:gd name="T41" fmla="*/ T40 w 180"/>
                <a:gd name="T42" fmla="+- 0 1613 1586"/>
                <a:gd name="T43" fmla="*/ 1613 h 178"/>
                <a:gd name="T44" fmla="+- 0 4529 4404"/>
                <a:gd name="T45" fmla="*/ T44 w 180"/>
                <a:gd name="T46" fmla="+- 0 1593 1586"/>
                <a:gd name="T47" fmla="*/ 1593 h 178"/>
                <a:gd name="T48" fmla="+- 0 4495 4404"/>
                <a:gd name="T49" fmla="*/ T48 w 180"/>
                <a:gd name="T50" fmla="+- 0 1586 1586"/>
                <a:gd name="T51" fmla="*/ 1586 h 178"/>
                <a:gd name="T52" fmla="+- 0 4462 4404"/>
                <a:gd name="T53" fmla="*/ T52 w 180"/>
                <a:gd name="T54" fmla="+- 0 1593 1586"/>
                <a:gd name="T55" fmla="*/ 1593 h 178"/>
                <a:gd name="T56" fmla="+- 0 4430 4404"/>
                <a:gd name="T57" fmla="*/ T56 w 180"/>
                <a:gd name="T58" fmla="+- 0 1613 1586"/>
                <a:gd name="T59" fmla="*/ 1613 h 178"/>
                <a:gd name="T60" fmla="+- 0 4411 4404"/>
                <a:gd name="T61" fmla="*/ T60 w 180"/>
                <a:gd name="T62" fmla="+- 0 1644 1586"/>
                <a:gd name="T63" fmla="*/ 1644 h 178"/>
                <a:gd name="T64" fmla="+- 0 4404 4404"/>
                <a:gd name="T65" fmla="*/ T64 w 180"/>
                <a:gd name="T66" fmla="+- 0 1677 1586"/>
                <a:gd name="T67" fmla="*/ 1677 h 17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80" h="178">
                  <a:moveTo>
                    <a:pt x="0" y="91"/>
                  </a:moveTo>
                  <a:lnTo>
                    <a:pt x="7" y="125"/>
                  </a:lnTo>
                  <a:lnTo>
                    <a:pt x="26" y="151"/>
                  </a:lnTo>
                  <a:lnTo>
                    <a:pt x="58" y="173"/>
                  </a:lnTo>
                  <a:lnTo>
                    <a:pt x="91" y="178"/>
                  </a:lnTo>
                  <a:lnTo>
                    <a:pt x="125" y="173"/>
                  </a:lnTo>
                  <a:lnTo>
                    <a:pt x="154" y="151"/>
                  </a:lnTo>
                  <a:lnTo>
                    <a:pt x="173" y="125"/>
                  </a:lnTo>
                  <a:lnTo>
                    <a:pt x="180" y="91"/>
                  </a:lnTo>
                  <a:lnTo>
                    <a:pt x="173" y="58"/>
                  </a:lnTo>
                  <a:lnTo>
                    <a:pt x="154" y="27"/>
                  </a:lnTo>
                  <a:lnTo>
                    <a:pt x="125" y="7"/>
                  </a:lnTo>
                  <a:lnTo>
                    <a:pt x="91" y="0"/>
                  </a:lnTo>
                  <a:lnTo>
                    <a:pt x="58" y="7"/>
                  </a:lnTo>
                  <a:lnTo>
                    <a:pt x="26" y="27"/>
                  </a:lnTo>
                  <a:lnTo>
                    <a:pt x="7" y="58"/>
                  </a:lnTo>
                  <a:lnTo>
                    <a:pt x="0"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9"/>
            <p:cNvSpPr>
              <a:spLocks/>
            </p:cNvSpPr>
            <p:nvPr/>
          </p:nvSpPr>
          <p:spPr bwMode="auto">
            <a:xfrm>
              <a:off x="8595295" y="4305307"/>
              <a:ext cx="114274" cy="112992"/>
            </a:xfrm>
            <a:custGeom>
              <a:avLst/>
              <a:gdLst>
                <a:gd name="T0" fmla="+- 0 4404 4404"/>
                <a:gd name="T1" fmla="*/ T0 w 180"/>
                <a:gd name="T2" fmla="+- 0 1677 1586"/>
                <a:gd name="T3" fmla="*/ 1677 h 178"/>
                <a:gd name="T4" fmla="+- 0 4411 4404"/>
                <a:gd name="T5" fmla="*/ T4 w 180"/>
                <a:gd name="T6" fmla="+- 0 1644 1586"/>
                <a:gd name="T7" fmla="*/ 1644 h 178"/>
                <a:gd name="T8" fmla="+- 0 4430 4404"/>
                <a:gd name="T9" fmla="*/ T8 w 180"/>
                <a:gd name="T10" fmla="+- 0 1613 1586"/>
                <a:gd name="T11" fmla="*/ 1613 h 178"/>
                <a:gd name="T12" fmla="+- 0 4462 4404"/>
                <a:gd name="T13" fmla="*/ T12 w 180"/>
                <a:gd name="T14" fmla="+- 0 1593 1586"/>
                <a:gd name="T15" fmla="*/ 1593 h 178"/>
                <a:gd name="T16" fmla="+- 0 4495 4404"/>
                <a:gd name="T17" fmla="*/ T16 w 180"/>
                <a:gd name="T18" fmla="+- 0 1586 1586"/>
                <a:gd name="T19" fmla="*/ 1586 h 178"/>
                <a:gd name="T20" fmla="+- 0 4529 4404"/>
                <a:gd name="T21" fmla="*/ T20 w 180"/>
                <a:gd name="T22" fmla="+- 0 1593 1586"/>
                <a:gd name="T23" fmla="*/ 1593 h 178"/>
                <a:gd name="T24" fmla="+- 0 4558 4404"/>
                <a:gd name="T25" fmla="*/ T24 w 180"/>
                <a:gd name="T26" fmla="+- 0 1613 1586"/>
                <a:gd name="T27" fmla="*/ 1613 h 178"/>
                <a:gd name="T28" fmla="+- 0 4577 4404"/>
                <a:gd name="T29" fmla="*/ T28 w 180"/>
                <a:gd name="T30" fmla="+- 0 1644 1586"/>
                <a:gd name="T31" fmla="*/ 1644 h 178"/>
                <a:gd name="T32" fmla="+- 0 4584 4404"/>
                <a:gd name="T33" fmla="*/ T32 w 180"/>
                <a:gd name="T34" fmla="+- 0 1677 1586"/>
                <a:gd name="T35" fmla="*/ 1677 h 178"/>
                <a:gd name="T36" fmla="+- 0 4577 4404"/>
                <a:gd name="T37" fmla="*/ T36 w 180"/>
                <a:gd name="T38" fmla="+- 0 1711 1586"/>
                <a:gd name="T39" fmla="*/ 1711 h 178"/>
                <a:gd name="T40" fmla="+- 0 4558 4404"/>
                <a:gd name="T41" fmla="*/ T40 w 180"/>
                <a:gd name="T42" fmla="+- 0 1737 1586"/>
                <a:gd name="T43" fmla="*/ 1737 h 178"/>
                <a:gd name="T44" fmla="+- 0 4529 4404"/>
                <a:gd name="T45" fmla="*/ T44 w 180"/>
                <a:gd name="T46" fmla="+- 0 1759 1586"/>
                <a:gd name="T47" fmla="*/ 1759 h 178"/>
                <a:gd name="T48" fmla="+- 0 4495 4404"/>
                <a:gd name="T49" fmla="*/ T48 w 180"/>
                <a:gd name="T50" fmla="+- 0 1764 1586"/>
                <a:gd name="T51" fmla="*/ 1764 h 178"/>
                <a:gd name="T52" fmla="+- 0 4462 4404"/>
                <a:gd name="T53" fmla="*/ T52 w 180"/>
                <a:gd name="T54" fmla="+- 0 1759 1586"/>
                <a:gd name="T55" fmla="*/ 1759 h 178"/>
                <a:gd name="T56" fmla="+- 0 4430 4404"/>
                <a:gd name="T57" fmla="*/ T56 w 180"/>
                <a:gd name="T58" fmla="+- 0 1737 1586"/>
                <a:gd name="T59" fmla="*/ 1737 h 178"/>
                <a:gd name="T60" fmla="+- 0 4411 4404"/>
                <a:gd name="T61" fmla="*/ T60 w 180"/>
                <a:gd name="T62" fmla="+- 0 1711 1586"/>
                <a:gd name="T63" fmla="*/ 1711 h 178"/>
                <a:gd name="T64" fmla="+- 0 4404 4404"/>
                <a:gd name="T65" fmla="*/ T64 w 180"/>
                <a:gd name="T66" fmla="+- 0 1677 1586"/>
                <a:gd name="T67" fmla="*/ 1677 h 17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80" h="178">
                  <a:moveTo>
                    <a:pt x="0" y="91"/>
                  </a:moveTo>
                  <a:lnTo>
                    <a:pt x="7" y="58"/>
                  </a:lnTo>
                  <a:lnTo>
                    <a:pt x="26" y="27"/>
                  </a:lnTo>
                  <a:lnTo>
                    <a:pt x="58" y="7"/>
                  </a:lnTo>
                  <a:lnTo>
                    <a:pt x="91" y="0"/>
                  </a:lnTo>
                  <a:lnTo>
                    <a:pt x="125" y="7"/>
                  </a:lnTo>
                  <a:lnTo>
                    <a:pt x="154" y="27"/>
                  </a:lnTo>
                  <a:lnTo>
                    <a:pt x="173" y="58"/>
                  </a:lnTo>
                  <a:lnTo>
                    <a:pt x="180" y="91"/>
                  </a:lnTo>
                  <a:lnTo>
                    <a:pt x="173" y="125"/>
                  </a:lnTo>
                  <a:lnTo>
                    <a:pt x="154" y="151"/>
                  </a:lnTo>
                  <a:lnTo>
                    <a:pt x="125" y="173"/>
                  </a:lnTo>
                  <a:lnTo>
                    <a:pt x="91" y="178"/>
                  </a:lnTo>
                  <a:lnTo>
                    <a:pt x="58" y="173"/>
                  </a:lnTo>
                  <a:lnTo>
                    <a:pt x="26" y="151"/>
                  </a:lnTo>
                  <a:lnTo>
                    <a:pt x="7" y="125"/>
                  </a:lnTo>
                  <a:lnTo>
                    <a:pt x="0" y="91"/>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30"/>
            <p:cNvSpPr>
              <a:spLocks/>
            </p:cNvSpPr>
            <p:nvPr/>
          </p:nvSpPr>
          <p:spPr bwMode="auto">
            <a:xfrm>
              <a:off x="10628110" y="4305307"/>
              <a:ext cx="113005" cy="112992"/>
            </a:xfrm>
            <a:custGeom>
              <a:avLst/>
              <a:gdLst>
                <a:gd name="T0" fmla="+- 0 7606 7606"/>
                <a:gd name="T1" fmla="*/ T0 w 178"/>
                <a:gd name="T2" fmla="+- 0 1677 1586"/>
                <a:gd name="T3" fmla="*/ 1677 h 178"/>
                <a:gd name="T4" fmla="+- 0 7613 7606"/>
                <a:gd name="T5" fmla="*/ T4 w 178"/>
                <a:gd name="T6" fmla="+- 0 1711 1586"/>
                <a:gd name="T7" fmla="*/ 1711 h 178"/>
                <a:gd name="T8" fmla="+- 0 7632 7606"/>
                <a:gd name="T9" fmla="*/ T8 w 178"/>
                <a:gd name="T10" fmla="+- 0 1737 1586"/>
                <a:gd name="T11" fmla="*/ 1737 h 178"/>
                <a:gd name="T12" fmla="+- 0 7658 7606"/>
                <a:gd name="T13" fmla="*/ T12 w 178"/>
                <a:gd name="T14" fmla="+- 0 1759 1586"/>
                <a:gd name="T15" fmla="*/ 1759 h 178"/>
                <a:gd name="T16" fmla="+- 0 7692 7606"/>
                <a:gd name="T17" fmla="*/ T16 w 178"/>
                <a:gd name="T18" fmla="+- 0 1764 1586"/>
                <a:gd name="T19" fmla="*/ 1764 h 178"/>
                <a:gd name="T20" fmla="+- 0 7730 7606"/>
                <a:gd name="T21" fmla="*/ T20 w 178"/>
                <a:gd name="T22" fmla="+- 0 1759 1586"/>
                <a:gd name="T23" fmla="*/ 1759 h 178"/>
                <a:gd name="T24" fmla="+- 0 7757 7606"/>
                <a:gd name="T25" fmla="*/ T24 w 178"/>
                <a:gd name="T26" fmla="+- 0 1737 1586"/>
                <a:gd name="T27" fmla="*/ 1737 h 178"/>
                <a:gd name="T28" fmla="+- 0 7776 7606"/>
                <a:gd name="T29" fmla="*/ T28 w 178"/>
                <a:gd name="T30" fmla="+- 0 1711 1586"/>
                <a:gd name="T31" fmla="*/ 1711 h 178"/>
                <a:gd name="T32" fmla="+- 0 7783 7606"/>
                <a:gd name="T33" fmla="*/ T32 w 178"/>
                <a:gd name="T34" fmla="+- 0 1677 1586"/>
                <a:gd name="T35" fmla="*/ 1677 h 178"/>
                <a:gd name="T36" fmla="+- 0 7776 7606"/>
                <a:gd name="T37" fmla="*/ T36 w 178"/>
                <a:gd name="T38" fmla="+- 0 1644 1586"/>
                <a:gd name="T39" fmla="*/ 1644 h 178"/>
                <a:gd name="T40" fmla="+- 0 7757 7606"/>
                <a:gd name="T41" fmla="*/ T40 w 178"/>
                <a:gd name="T42" fmla="+- 0 1613 1586"/>
                <a:gd name="T43" fmla="*/ 1613 h 178"/>
                <a:gd name="T44" fmla="+- 0 7730 7606"/>
                <a:gd name="T45" fmla="*/ T44 w 178"/>
                <a:gd name="T46" fmla="+- 0 1593 1586"/>
                <a:gd name="T47" fmla="*/ 1593 h 178"/>
                <a:gd name="T48" fmla="+- 0 7692 7606"/>
                <a:gd name="T49" fmla="*/ T48 w 178"/>
                <a:gd name="T50" fmla="+- 0 1586 1586"/>
                <a:gd name="T51" fmla="*/ 1586 h 178"/>
                <a:gd name="T52" fmla="+- 0 7658 7606"/>
                <a:gd name="T53" fmla="*/ T52 w 178"/>
                <a:gd name="T54" fmla="+- 0 1593 1586"/>
                <a:gd name="T55" fmla="*/ 1593 h 178"/>
                <a:gd name="T56" fmla="+- 0 7632 7606"/>
                <a:gd name="T57" fmla="*/ T56 w 178"/>
                <a:gd name="T58" fmla="+- 0 1613 1586"/>
                <a:gd name="T59" fmla="*/ 1613 h 178"/>
                <a:gd name="T60" fmla="+- 0 7613 7606"/>
                <a:gd name="T61" fmla="*/ T60 w 178"/>
                <a:gd name="T62" fmla="+- 0 1644 1586"/>
                <a:gd name="T63" fmla="*/ 1644 h 178"/>
                <a:gd name="T64" fmla="+- 0 7606 7606"/>
                <a:gd name="T65" fmla="*/ T64 w 178"/>
                <a:gd name="T66" fmla="+- 0 1677 1586"/>
                <a:gd name="T67" fmla="*/ 1677 h 17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78" h="178">
                  <a:moveTo>
                    <a:pt x="0" y="91"/>
                  </a:moveTo>
                  <a:lnTo>
                    <a:pt x="7" y="125"/>
                  </a:lnTo>
                  <a:lnTo>
                    <a:pt x="26" y="151"/>
                  </a:lnTo>
                  <a:lnTo>
                    <a:pt x="52" y="173"/>
                  </a:lnTo>
                  <a:lnTo>
                    <a:pt x="86" y="178"/>
                  </a:lnTo>
                  <a:lnTo>
                    <a:pt x="124" y="173"/>
                  </a:lnTo>
                  <a:lnTo>
                    <a:pt x="151" y="151"/>
                  </a:lnTo>
                  <a:lnTo>
                    <a:pt x="170" y="125"/>
                  </a:lnTo>
                  <a:lnTo>
                    <a:pt x="177" y="91"/>
                  </a:lnTo>
                  <a:lnTo>
                    <a:pt x="170" y="58"/>
                  </a:lnTo>
                  <a:lnTo>
                    <a:pt x="151" y="27"/>
                  </a:lnTo>
                  <a:lnTo>
                    <a:pt x="124" y="7"/>
                  </a:lnTo>
                  <a:lnTo>
                    <a:pt x="86" y="0"/>
                  </a:lnTo>
                  <a:lnTo>
                    <a:pt x="52" y="7"/>
                  </a:lnTo>
                  <a:lnTo>
                    <a:pt x="26" y="27"/>
                  </a:lnTo>
                  <a:lnTo>
                    <a:pt x="7" y="58"/>
                  </a:lnTo>
                  <a:lnTo>
                    <a:pt x="0"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31"/>
            <p:cNvSpPr>
              <a:spLocks/>
            </p:cNvSpPr>
            <p:nvPr/>
          </p:nvSpPr>
          <p:spPr bwMode="auto">
            <a:xfrm>
              <a:off x="10628110" y="4305307"/>
              <a:ext cx="113005" cy="112992"/>
            </a:xfrm>
            <a:custGeom>
              <a:avLst/>
              <a:gdLst>
                <a:gd name="T0" fmla="+- 0 7606 7606"/>
                <a:gd name="T1" fmla="*/ T0 w 178"/>
                <a:gd name="T2" fmla="+- 0 1677 1586"/>
                <a:gd name="T3" fmla="*/ 1677 h 178"/>
                <a:gd name="T4" fmla="+- 0 7613 7606"/>
                <a:gd name="T5" fmla="*/ T4 w 178"/>
                <a:gd name="T6" fmla="+- 0 1644 1586"/>
                <a:gd name="T7" fmla="*/ 1644 h 178"/>
                <a:gd name="T8" fmla="+- 0 7632 7606"/>
                <a:gd name="T9" fmla="*/ T8 w 178"/>
                <a:gd name="T10" fmla="+- 0 1613 1586"/>
                <a:gd name="T11" fmla="*/ 1613 h 178"/>
                <a:gd name="T12" fmla="+- 0 7658 7606"/>
                <a:gd name="T13" fmla="*/ T12 w 178"/>
                <a:gd name="T14" fmla="+- 0 1593 1586"/>
                <a:gd name="T15" fmla="*/ 1593 h 178"/>
                <a:gd name="T16" fmla="+- 0 7692 7606"/>
                <a:gd name="T17" fmla="*/ T16 w 178"/>
                <a:gd name="T18" fmla="+- 0 1586 1586"/>
                <a:gd name="T19" fmla="*/ 1586 h 178"/>
                <a:gd name="T20" fmla="+- 0 7730 7606"/>
                <a:gd name="T21" fmla="*/ T20 w 178"/>
                <a:gd name="T22" fmla="+- 0 1593 1586"/>
                <a:gd name="T23" fmla="*/ 1593 h 178"/>
                <a:gd name="T24" fmla="+- 0 7757 7606"/>
                <a:gd name="T25" fmla="*/ T24 w 178"/>
                <a:gd name="T26" fmla="+- 0 1613 1586"/>
                <a:gd name="T27" fmla="*/ 1613 h 178"/>
                <a:gd name="T28" fmla="+- 0 7776 7606"/>
                <a:gd name="T29" fmla="*/ T28 w 178"/>
                <a:gd name="T30" fmla="+- 0 1644 1586"/>
                <a:gd name="T31" fmla="*/ 1644 h 178"/>
                <a:gd name="T32" fmla="+- 0 7783 7606"/>
                <a:gd name="T33" fmla="*/ T32 w 178"/>
                <a:gd name="T34" fmla="+- 0 1677 1586"/>
                <a:gd name="T35" fmla="*/ 1677 h 178"/>
                <a:gd name="T36" fmla="+- 0 7776 7606"/>
                <a:gd name="T37" fmla="*/ T36 w 178"/>
                <a:gd name="T38" fmla="+- 0 1711 1586"/>
                <a:gd name="T39" fmla="*/ 1711 h 178"/>
                <a:gd name="T40" fmla="+- 0 7757 7606"/>
                <a:gd name="T41" fmla="*/ T40 w 178"/>
                <a:gd name="T42" fmla="+- 0 1737 1586"/>
                <a:gd name="T43" fmla="*/ 1737 h 178"/>
                <a:gd name="T44" fmla="+- 0 7730 7606"/>
                <a:gd name="T45" fmla="*/ T44 w 178"/>
                <a:gd name="T46" fmla="+- 0 1759 1586"/>
                <a:gd name="T47" fmla="*/ 1759 h 178"/>
                <a:gd name="T48" fmla="+- 0 7692 7606"/>
                <a:gd name="T49" fmla="*/ T48 w 178"/>
                <a:gd name="T50" fmla="+- 0 1764 1586"/>
                <a:gd name="T51" fmla="*/ 1764 h 178"/>
                <a:gd name="T52" fmla="+- 0 7658 7606"/>
                <a:gd name="T53" fmla="*/ T52 w 178"/>
                <a:gd name="T54" fmla="+- 0 1759 1586"/>
                <a:gd name="T55" fmla="*/ 1759 h 178"/>
                <a:gd name="T56" fmla="+- 0 7632 7606"/>
                <a:gd name="T57" fmla="*/ T56 w 178"/>
                <a:gd name="T58" fmla="+- 0 1737 1586"/>
                <a:gd name="T59" fmla="*/ 1737 h 178"/>
                <a:gd name="T60" fmla="+- 0 7613 7606"/>
                <a:gd name="T61" fmla="*/ T60 w 178"/>
                <a:gd name="T62" fmla="+- 0 1711 1586"/>
                <a:gd name="T63" fmla="*/ 1711 h 178"/>
                <a:gd name="T64" fmla="+- 0 7606 7606"/>
                <a:gd name="T65" fmla="*/ T64 w 178"/>
                <a:gd name="T66" fmla="+- 0 1677 1586"/>
                <a:gd name="T67" fmla="*/ 1677 h 17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78" h="178">
                  <a:moveTo>
                    <a:pt x="0" y="91"/>
                  </a:moveTo>
                  <a:lnTo>
                    <a:pt x="7" y="58"/>
                  </a:lnTo>
                  <a:lnTo>
                    <a:pt x="26" y="27"/>
                  </a:lnTo>
                  <a:lnTo>
                    <a:pt x="52" y="7"/>
                  </a:lnTo>
                  <a:lnTo>
                    <a:pt x="86" y="0"/>
                  </a:lnTo>
                  <a:lnTo>
                    <a:pt x="124" y="7"/>
                  </a:lnTo>
                  <a:lnTo>
                    <a:pt x="151" y="27"/>
                  </a:lnTo>
                  <a:lnTo>
                    <a:pt x="170" y="58"/>
                  </a:lnTo>
                  <a:lnTo>
                    <a:pt x="177" y="91"/>
                  </a:lnTo>
                  <a:lnTo>
                    <a:pt x="170" y="125"/>
                  </a:lnTo>
                  <a:lnTo>
                    <a:pt x="151" y="151"/>
                  </a:lnTo>
                  <a:lnTo>
                    <a:pt x="124" y="173"/>
                  </a:lnTo>
                  <a:lnTo>
                    <a:pt x="86" y="178"/>
                  </a:lnTo>
                  <a:lnTo>
                    <a:pt x="52" y="173"/>
                  </a:lnTo>
                  <a:lnTo>
                    <a:pt x="26" y="151"/>
                  </a:lnTo>
                  <a:lnTo>
                    <a:pt x="7" y="125"/>
                  </a:lnTo>
                  <a:lnTo>
                    <a:pt x="0" y="91"/>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32"/>
            <p:cNvSpPr>
              <a:spLocks/>
            </p:cNvSpPr>
            <p:nvPr/>
          </p:nvSpPr>
          <p:spPr bwMode="auto">
            <a:xfrm>
              <a:off x="10064356" y="4868998"/>
              <a:ext cx="113005" cy="114262"/>
            </a:xfrm>
            <a:custGeom>
              <a:avLst/>
              <a:gdLst>
                <a:gd name="T0" fmla="+- 0 6718 6718"/>
                <a:gd name="T1" fmla="*/ T0 w 178"/>
                <a:gd name="T2" fmla="+- 0 2565 2474"/>
                <a:gd name="T3" fmla="*/ 2565 h 180"/>
                <a:gd name="T4" fmla="+- 0 6722 6718"/>
                <a:gd name="T5" fmla="*/ T4 w 178"/>
                <a:gd name="T6" fmla="+- 0 2599 2474"/>
                <a:gd name="T7" fmla="*/ 2599 h 180"/>
                <a:gd name="T8" fmla="+- 0 6744 6718"/>
                <a:gd name="T9" fmla="*/ T8 w 178"/>
                <a:gd name="T10" fmla="+- 0 2628 2474"/>
                <a:gd name="T11" fmla="*/ 2628 h 180"/>
                <a:gd name="T12" fmla="+- 0 6770 6718"/>
                <a:gd name="T13" fmla="*/ T12 w 178"/>
                <a:gd name="T14" fmla="+- 0 2647 2474"/>
                <a:gd name="T15" fmla="*/ 2647 h 180"/>
                <a:gd name="T16" fmla="+- 0 6804 6718"/>
                <a:gd name="T17" fmla="*/ T16 w 178"/>
                <a:gd name="T18" fmla="+- 0 2654 2474"/>
                <a:gd name="T19" fmla="*/ 2654 h 180"/>
                <a:gd name="T20" fmla="+- 0 6838 6718"/>
                <a:gd name="T21" fmla="*/ T20 w 178"/>
                <a:gd name="T22" fmla="+- 0 2647 2474"/>
                <a:gd name="T23" fmla="*/ 2647 h 180"/>
                <a:gd name="T24" fmla="+- 0 6869 6718"/>
                <a:gd name="T25" fmla="*/ T24 w 178"/>
                <a:gd name="T26" fmla="+- 0 2628 2474"/>
                <a:gd name="T27" fmla="*/ 2628 h 180"/>
                <a:gd name="T28" fmla="+- 0 6888 6718"/>
                <a:gd name="T29" fmla="*/ T28 w 178"/>
                <a:gd name="T30" fmla="+- 0 2599 2474"/>
                <a:gd name="T31" fmla="*/ 2599 h 180"/>
                <a:gd name="T32" fmla="+- 0 6895 6718"/>
                <a:gd name="T33" fmla="*/ T32 w 178"/>
                <a:gd name="T34" fmla="+- 0 2565 2474"/>
                <a:gd name="T35" fmla="*/ 2565 h 180"/>
                <a:gd name="T36" fmla="+- 0 6888 6718"/>
                <a:gd name="T37" fmla="*/ T36 w 178"/>
                <a:gd name="T38" fmla="+- 0 2532 2474"/>
                <a:gd name="T39" fmla="*/ 2532 h 180"/>
                <a:gd name="T40" fmla="+- 0 6869 6718"/>
                <a:gd name="T41" fmla="*/ T40 w 178"/>
                <a:gd name="T42" fmla="+- 0 2501 2474"/>
                <a:gd name="T43" fmla="*/ 2501 h 180"/>
                <a:gd name="T44" fmla="+- 0 6838 6718"/>
                <a:gd name="T45" fmla="*/ T44 w 178"/>
                <a:gd name="T46" fmla="+- 0 2481 2474"/>
                <a:gd name="T47" fmla="*/ 2481 h 180"/>
                <a:gd name="T48" fmla="+- 0 6804 6718"/>
                <a:gd name="T49" fmla="*/ T48 w 178"/>
                <a:gd name="T50" fmla="+- 0 2474 2474"/>
                <a:gd name="T51" fmla="*/ 2474 h 180"/>
                <a:gd name="T52" fmla="+- 0 6770 6718"/>
                <a:gd name="T53" fmla="*/ T52 w 178"/>
                <a:gd name="T54" fmla="+- 0 2481 2474"/>
                <a:gd name="T55" fmla="*/ 2481 h 180"/>
                <a:gd name="T56" fmla="+- 0 6744 6718"/>
                <a:gd name="T57" fmla="*/ T56 w 178"/>
                <a:gd name="T58" fmla="+- 0 2501 2474"/>
                <a:gd name="T59" fmla="*/ 2501 h 180"/>
                <a:gd name="T60" fmla="+- 0 6722 6718"/>
                <a:gd name="T61" fmla="*/ T60 w 178"/>
                <a:gd name="T62" fmla="+- 0 2532 2474"/>
                <a:gd name="T63" fmla="*/ 2532 h 180"/>
                <a:gd name="T64" fmla="+- 0 6718 6718"/>
                <a:gd name="T65" fmla="*/ T64 w 178"/>
                <a:gd name="T66" fmla="+- 0 2565 2474"/>
                <a:gd name="T67" fmla="*/ 2565 h 18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78" h="180">
                  <a:moveTo>
                    <a:pt x="0" y="91"/>
                  </a:moveTo>
                  <a:lnTo>
                    <a:pt x="4" y="125"/>
                  </a:lnTo>
                  <a:lnTo>
                    <a:pt x="26" y="154"/>
                  </a:lnTo>
                  <a:lnTo>
                    <a:pt x="52" y="173"/>
                  </a:lnTo>
                  <a:lnTo>
                    <a:pt x="86" y="180"/>
                  </a:lnTo>
                  <a:lnTo>
                    <a:pt x="120" y="173"/>
                  </a:lnTo>
                  <a:lnTo>
                    <a:pt x="151" y="154"/>
                  </a:lnTo>
                  <a:lnTo>
                    <a:pt x="170" y="125"/>
                  </a:lnTo>
                  <a:lnTo>
                    <a:pt x="177" y="91"/>
                  </a:lnTo>
                  <a:lnTo>
                    <a:pt x="170" y="58"/>
                  </a:lnTo>
                  <a:lnTo>
                    <a:pt x="151" y="27"/>
                  </a:lnTo>
                  <a:lnTo>
                    <a:pt x="120" y="7"/>
                  </a:lnTo>
                  <a:lnTo>
                    <a:pt x="86" y="0"/>
                  </a:lnTo>
                  <a:lnTo>
                    <a:pt x="52" y="7"/>
                  </a:lnTo>
                  <a:lnTo>
                    <a:pt x="26" y="27"/>
                  </a:lnTo>
                  <a:lnTo>
                    <a:pt x="4" y="58"/>
                  </a:lnTo>
                  <a:lnTo>
                    <a:pt x="0"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33"/>
            <p:cNvSpPr>
              <a:spLocks/>
            </p:cNvSpPr>
            <p:nvPr/>
          </p:nvSpPr>
          <p:spPr bwMode="auto">
            <a:xfrm>
              <a:off x="10064356" y="4868998"/>
              <a:ext cx="113005" cy="114262"/>
            </a:xfrm>
            <a:custGeom>
              <a:avLst/>
              <a:gdLst>
                <a:gd name="T0" fmla="+- 0 6718 6718"/>
                <a:gd name="T1" fmla="*/ T0 w 178"/>
                <a:gd name="T2" fmla="+- 0 2565 2474"/>
                <a:gd name="T3" fmla="*/ 2565 h 180"/>
                <a:gd name="T4" fmla="+- 0 6722 6718"/>
                <a:gd name="T5" fmla="*/ T4 w 178"/>
                <a:gd name="T6" fmla="+- 0 2532 2474"/>
                <a:gd name="T7" fmla="*/ 2532 h 180"/>
                <a:gd name="T8" fmla="+- 0 6744 6718"/>
                <a:gd name="T9" fmla="*/ T8 w 178"/>
                <a:gd name="T10" fmla="+- 0 2501 2474"/>
                <a:gd name="T11" fmla="*/ 2501 h 180"/>
                <a:gd name="T12" fmla="+- 0 6770 6718"/>
                <a:gd name="T13" fmla="*/ T12 w 178"/>
                <a:gd name="T14" fmla="+- 0 2481 2474"/>
                <a:gd name="T15" fmla="*/ 2481 h 180"/>
                <a:gd name="T16" fmla="+- 0 6804 6718"/>
                <a:gd name="T17" fmla="*/ T16 w 178"/>
                <a:gd name="T18" fmla="+- 0 2474 2474"/>
                <a:gd name="T19" fmla="*/ 2474 h 180"/>
                <a:gd name="T20" fmla="+- 0 6838 6718"/>
                <a:gd name="T21" fmla="*/ T20 w 178"/>
                <a:gd name="T22" fmla="+- 0 2481 2474"/>
                <a:gd name="T23" fmla="*/ 2481 h 180"/>
                <a:gd name="T24" fmla="+- 0 6869 6718"/>
                <a:gd name="T25" fmla="*/ T24 w 178"/>
                <a:gd name="T26" fmla="+- 0 2501 2474"/>
                <a:gd name="T27" fmla="*/ 2501 h 180"/>
                <a:gd name="T28" fmla="+- 0 6888 6718"/>
                <a:gd name="T29" fmla="*/ T28 w 178"/>
                <a:gd name="T30" fmla="+- 0 2532 2474"/>
                <a:gd name="T31" fmla="*/ 2532 h 180"/>
                <a:gd name="T32" fmla="+- 0 6895 6718"/>
                <a:gd name="T33" fmla="*/ T32 w 178"/>
                <a:gd name="T34" fmla="+- 0 2565 2474"/>
                <a:gd name="T35" fmla="*/ 2565 h 180"/>
                <a:gd name="T36" fmla="+- 0 6888 6718"/>
                <a:gd name="T37" fmla="*/ T36 w 178"/>
                <a:gd name="T38" fmla="+- 0 2599 2474"/>
                <a:gd name="T39" fmla="*/ 2599 h 180"/>
                <a:gd name="T40" fmla="+- 0 6869 6718"/>
                <a:gd name="T41" fmla="*/ T40 w 178"/>
                <a:gd name="T42" fmla="+- 0 2628 2474"/>
                <a:gd name="T43" fmla="*/ 2628 h 180"/>
                <a:gd name="T44" fmla="+- 0 6838 6718"/>
                <a:gd name="T45" fmla="*/ T44 w 178"/>
                <a:gd name="T46" fmla="+- 0 2647 2474"/>
                <a:gd name="T47" fmla="*/ 2647 h 180"/>
                <a:gd name="T48" fmla="+- 0 6804 6718"/>
                <a:gd name="T49" fmla="*/ T48 w 178"/>
                <a:gd name="T50" fmla="+- 0 2654 2474"/>
                <a:gd name="T51" fmla="*/ 2654 h 180"/>
                <a:gd name="T52" fmla="+- 0 6770 6718"/>
                <a:gd name="T53" fmla="*/ T52 w 178"/>
                <a:gd name="T54" fmla="+- 0 2647 2474"/>
                <a:gd name="T55" fmla="*/ 2647 h 180"/>
                <a:gd name="T56" fmla="+- 0 6744 6718"/>
                <a:gd name="T57" fmla="*/ T56 w 178"/>
                <a:gd name="T58" fmla="+- 0 2628 2474"/>
                <a:gd name="T59" fmla="*/ 2628 h 180"/>
                <a:gd name="T60" fmla="+- 0 6722 6718"/>
                <a:gd name="T61" fmla="*/ T60 w 178"/>
                <a:gd name="T62" fmla="+- 0 2599 2474"/>
                <a:gd name="T63" fmla="*/ 2599 h 180"/>
                <a:gd name="T64" fmla="+- 0 6718 6718"/>
                <a:gd name="T65" fmla="*/ T64 w 178"/>
                <a:gd name="T66" fmla="+- 0 2565 2474"/>
                <a:gd name="T67" fmla="*/ 2565 h 18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78" h="180">
                  <a:moveTo>
                    <a:pt x="0" y="91"/>
                  </a:moveTo>
                  <a:lnTo>
                    <a:pt x="4" y="58"/>
                  </a:lnTo>
                  <a:lnTo>
                    <a:pt x="26" y="27"/>
                  </a:lnTo>
                  <a:lnTo>
                    <a:pt x="52" y="7"/>
                  </a:lnTo>
                  <a:lnTo>
                    <a:pt x="86" y="0"/>
                  </a:lnTo>
                  <a:lnTo>
                    <a:pt x="120" y="7"/>
                  </a:lnTo>
                  <a:lnTo>
                    <a:pt x="151" y="27"/>
                  </a:lnTo>
                  <a:lnTo>
                    <a:pt x="170" y="58"/>
                  </a:lnTo>
                  <a:lnTo>
                    <a:pt x="177" y="91"/>
                  </a:lnTo>
                  <a:lnTo>
                    <a:pt x="170" y="125"/>
                  </a:lnTo>
                  <a:lnTo>
                    <a:pt x="151" y="154"/>
                  </a:lnTo>
                  <a:lnTo>
                    <a:pt x="120" y="173"/>
                  </a:lnTo>
                  <a:lnTo>
                    <a:pt x="86" y="180"/>
                  </a:lnTo>
                  <a:lnTo>
                    <a:pt x="52" y="173"/>
                  </a:lnTo>
                  <a:lnTo>
                    <a:pt x="26" y="154"/>
                  </a:lnTo>
                  <a:lnTo>
                    <a:pt x="4" y="125"/>
                  </a:lnTo>
                  <a:lnTo>
                    <a:pt x="0" y="91"/>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Freeform 34"/>
            <p:cNvSpPr>
              <a:spLocks/>
            </p:cNvSpPr>
            <p:nvPr/>
          </p:nvSpPr>
          <p:spPr bwMode="auto">
            <a:xfrm>
              <a:off x="9162223" y="4868998"/>
              <a:ext cx="111100" cy="114262"/>
            </a:xfrm>
            <a:custGeom>
              <a:avLst/>
              <a:gdLst>
                <a:gd name="T0" fmla="+- 0 5297 5297"/>
                <a:gd name="T1" fmla="*/ T0 w 175"/>
                <a:gd name="T2" fmla="+- 0 2565 2474"/>
                <a:gd name="T3" fmla="*/ 2565 h 180"/>
                <a:gd name="T4" fmla="+- 0 5299 5297"/>
                <a:gd name="T5" fmla="*/ T4 w 175"/>
                <a:gd name="T6" fmla="+- 0 2599 2474"/>
                <a:gd name="T7" fmla="*/ 2599 h 180"/>
                <a:gd name="T8" fmla="+- 0 5323 5297"/>
                <a:gd name="T9" fmla="*/ T8 w 175"/>
                <a:gd name="T10" fmla="+- 0 2628 2474"/>
                <a:gd name="T11" fmla="*/ 2628 h 180"/>
                <a:gd name="T12" fmla="+- 0 5350 5297"/>
                <a:gd name="T13" fmla="*/ T12 w 175"/>
                <a:gd name="T14" fmla="+- 0 2647 2474"/>
                <a:gd name="T15" fmla="*/ 2647 h 180"/>
                <a:gd name="T16" fmla="+- 0 5383 5297"/>
                <a:gd name="T17" fmla="*/ T16 w 175"/>
                <a:gd name="T18" fmla="+- 0 2654 2474"/>
                <a:gd name="T19" fmla="*/ 2654 h 180"/>
                <a:gd name="T20" fmla="+- 0 5417 5297"/>
                <a:gd name="T21" fmla="*/ T20 w 175"/>
                <a:gd name="T22" fmla="+- 0 2647 2474"/>
                <a:gd name="T23" fmla="*/ 2647 h 180"/>
                <a:gd name="T24" fmla="+- 0 5446 5297"/>
                <a:gd name="T25" fmla="*/ T24 w 175"/>
                <a:gd name="T26" fmla="+- 0 2628 2474"/>
                <a:gd name="T27" fmla="*/ 2628 h 180"/>
                <a:gd name="T28" fmla="+- 0 5465 5297"/>
                <a:gd name="T29" fmla="*/ T28 w 175"/>
                <a:gd name="T30" fmla="+- 0 2599 2474"/>
                <a:gd name="T31" fmla="*/ 2599 h 180"/>
                <a:gd name="T32" fmla="+- 0 5472 5297"/>
                <a:gd name="T33" fmla="*/ T32 w 175"/>
                <a:gd name="T34" fmla="+- 0 2565 2474"/>
                <a:gd name="T35" fmla="*/ 2565 h 180"/>
                <a:gd name="T36" fmla="+- 0 5465 5297"/>
                <a:gd name="T37" fmla="*/ T36 w 175"/>
                <a:gd name="T38" fmla="+- 0 2532 2474"/>
                <a:gd name="T39" fmla="*/ 2532 h 180"/>
                <a:gd name="T40" fmla="+- 0 5446 5297"/>
                <a:gd name="T41" fmla="*/ T40 w 175"/>
                <a:gd name="T42" fmla="+- 0 2501 2474"/>
                <a:gd name="T43" fmla="*/ 2501 h 180"/>
                <a:gd name="T44" fmla="+- 0 5417 5297"/>
                <a:gd name="T45" fmla="*/ T44 w 175"/>
                <a:gd name="T46" fmla="+- 0 2481 2474"/>
                <a:gd name="T47" fmla="*/ 2481 h 180"/>
                <a:gd name="T48" fmla="+- 0 5383 5297"/>
                <a:gd name="T49" fmla="*/ T48 w 175"/>
                <a:gd name="T50" fmla="+- 0 2474 2474"/>
                <a:gd name="T51" fmla="*/ 2474 h 180"/>
                <a:gd name="T52" fmla="+- 0 5350 5297"/>
                <a:gd name="T53" fmla="*/ T52 w 175"/>
                <a:gd name="T54" fmla="+- 0 2481 2474"/>
                <a:gd name="T55" fmla="*/ 2481 h 180"/>
                <a:gd name="T56" fmla="+- 0 5323 5297"/>
                <a:gd name="T57" fmla="*/ T56 w 175"/>
                <a:gd name="T58" fmla="+- 0 2501 2474"/>
                <a:gd name="T59" fmla="*/ 2501 h 180"/>
                <a:gd name="T60" fmla="+- 0 5299 5297"/>
                <a:gd name="T61" fmla="*/ T60 w 175"/>
                <a:gd name="T62" fmla="+- 0 2532 2474"/>
                <a:gd name="T63" fmla="*/ 2532 h 180"/>
                <a:gd name="T64" fmla="+- 0 5297 5297"/>
                <a:gd name="T65" fmla="*/ T64 w 175"/>
                <a:gd name="T66" fmla="+- 0 2565 2474"/>
                <a:gd name="T67" fmla="*/ 2565 h 18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75" h="180">
                  <a:moveTo>
                    <a:pt x="0" y="91"/>
                  </a:moveTo>
                  <a:lnTo>
                    <a:pt x="2" y="125"/>
                  </a:lnTo>
                  <a:lnTo>
                    <a:pt x="26" y="154"/>
                  </a:lnTo>
                  <a:lnTo>
                    <a:pt x="53" y="173"/>
                  </a:lnTo>
                  <a:lnTo>
                    <a:pt x="86" y="180"/>
                  </a:lnTo>
                  <a:lnTo>
                    <a:pt x="120" y="173"/>
                  </a:lnTo>
                  <a:lnTo>
                    <a:pt x="149" y="154"/>
                  </a:lnTo>
                  <a:lnTo>
                    <a:pt x="168" y="125"/>
                  </a:lnTo>
                  <a:lnTo>
                    <a:pt x="175" y="91"/>
                  </a:lnTo>
                  <a:lnTo>
                    <a:pt x="168" y="58"/>
                  </a:lnTo>
                  <a:lnTo>
                    <a:pt x="149" y="27"/>
                  </a:lnTo>
                  <a:lnTo>
                    <a:pt x="120" y="7"/>
                  </a:lnTo>
                  <a:lnTo>
                    <a:pt x="86" y="0"/>
                  </a:lnTo>
                  <a:lnTo>
                    <a:pt x="53" y="7"/>
                  </a:lnTo>
                  <a:lnTo>
                    <a:pt x="26" y="27"/>
                  </a:lnTo>
                  <a:lnTo>
                    <a:pt x="2" y="58"/>
                  </a:lnTo>
                  <a:lnTo>
                    <a:pt x="0"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35"/>
            <p:cNvSpPr>
              <a:spLocks/>
            </p:cNvSpPr>
            <p:nvPr/>
          </p:nvSpPr>
          <p:spPr bwMode="auto">
            <a:xfrm>
              <a:off x="9162223" y="4868998"/>
              <a:ext cx="111100" cy="114262"/>
            </a:xfrm>
            <a:custGeom>
              <a:avLst/>
              <a:gdLst>
                <a:gd name="T0" fmla="+- 0 5297 5297"/>
                <a:gd name="T1" fmla="*/ T0 w 175"/>
                <a:gd name="T2" fmla="+- 0 2565 2474"/>
                <a:gd name="T3" fmla="*/ 2565 h 180"/>
                <a:gd name="T4" fmla="+- 0 5299 5297"/>
                <a:gd name="T5" fmla="*/ T4 w 175"/>
                <a:gd name="T6" fmla="+- 0 2532 2474"/>
                <a:gd name="T7" fmla="*/ 2532 h 180"/>
                <a:gd name="T8" fmla="+- 0 5323 5297"/>
                <a:gd name="T9" fmla="*/ T8 w 175"/>
                <a:gd name="T10" fmla="+- 0 2501 2474"/>
                <a:gd name="T11" fmla="*/ 2501 h 180"/>
                <a:gd name="T12" fmla="+- 0 5350 5297"/>
                <a:gd name="T13" fmla="*/ T12 w 175"/>
                <a:gd name="T14" fmla="+- 0 2481 2474"/>
                <a:gd name="T15" fmla="*/ 2481 h 180"/>
                <a:gd name="T16" fmla="+- 0 5383 5297"/>
                <a:gd name="T17" fmla="*/ T16 w 175"/>
                <a:gd name="T18" fmla="+- 0 2474 2474"/>
                <a:gd name="T19" fmla="*/ 2474 h 180"/>
                <a:gd name="T20" fmla="+- 0 5417 5297"/>
                <a:gd name="T21" fmla="*/ T20 w 175"/>
                <a:gd name="T22" fmla="+- 0 2481 2474"/>
                <a:gd name="T23" fmla="*/ 2481 h 180"/>
                <a:gd name="T24" fmla="+- 0 5446 5297"/>
                <a:gd name="T25" fmla="*/ T24 w 175"/>
                <a:gd name="T26" fmla="+- 0 2501 2474"/>
                <a:gd name="T27" fmla="*/ 2501 h 180"/>
                <a:gd name="T28" fmla="+- 0 5465 5297"/>
                <a:gd name="T29" fmla="*/ T28 w 175"/>
                <a:gd name="T30" fmla="+- 0 2532 2474"/>
                <a:gd name="T31" fmla="*/ 2532 h 180"/>
                <a:gd name="T32" fmla="+- 0 5472 5297"/>
                <a:gd name="T33" fmla="*/ T32 w 175"/>
                <a:gd name="T34" fmla="+- 0 2565 2474"/>
                <a:gd name="T35" fmla="*/ 2565 h 180"/>
                <a:gd name="T36" fmla="+- 0 5465 5297"/>
                <a:gd name="T37" fmla="*/ T36 w 175"/>
                <a:gd name="T38" fmla="+- 0 2599 2474"/>
                <a:gd name="T39" fmla="*/ 2599 h 180"/>
                <a:gd name="T40" fmla="+- 0 5446 5297"/>
                <a:gd name="T41" fmla="*/ T40 w 175"/>
                <a:gd name="T42" fmla="+- 0 2628 2474"/>
                <a:gd name="T43" fmla="*/ 2628 h 180"/>
                <a:gd name="T44" fmla="+- 0 5417 5297"/>
                <a:gd name="T45" fmla="*/ T44 w 175"/>
                <a:gd name="T46" fmla="+- 0 2647 2474"/>
                <a:gd name="T47" fmla="*/ 2647 h 180"/>
                <a:gd name="T48" fmla="+- 0 5383 5297"/>
                <a:gd name="T49" fmla="*/ T48 w 175"/>
                <a:gd name="T50" fmla="+- 0 2654 2474"/>
                <a:gd name="T51" fmla="*/ 2654 h 180"/>
                <a:gd name="T52" fmla="+- 0 5350 5297"/>
                <a:gd name="T53" fmla="*/ T52 w 175"/>
                <a:gd name="T54" fmla="+- 0 2647 2474"/>
                <a:gd name="T55" fmla="*/ 2647 h 180"/>
                <a:gd name="T56" fmla="+- 0 5323 5297"/>
                <a:gd name="T57" fmla="*/ T56 w 175"/>
                <a:gd name="T58" fmla="+- 0 2628 2474"/>
                <a:gd name="T59" fmla="*/ 2628 h 180"/>
                <a:gd name="T60" fmla="+- 0 5299 5297"/>
                <a:gd name="T61" fmla="*/ T60 w 175"/>
                <a:gd name="T62" fmla="+- 0 2599 2474"/>
                <a:gd name="T63" fmla="*/ 2599 h 180"/>
                <a:gd name="T64" fmla="+- 0 5297 5297"/>
                <a:gd name="T65" fmla="*/ T64 w 175"/>
                <a:gd name="T66" fmla="+- 0 2565 2474"/>
                <a:gd name="T67" fmla="*/ 2565 h 18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75" h="180">
                  <a:moveTo>
                    <a:pt x="0" y="91"/>
                  </a:moveTo>
                  <a:lnTo>
                    <a:pt x="2" y="58"/>
                  </a:lnTo>
                  <a:lnTo>
                    <a:pt x="26" y="27"/>
                  </a:lnTo>
                  <a:lnTo>
                    <a:pt x="53" y="7"/>
                  </a:lnTo>
                  <a:lnTo>
                    <a:pt x="86" y="0"/>
                  </a:lnTo>
                  <a:lnTo>
                    <a:pt x="120" y="7"/>
                  </a:lnTo>
                  <a:lnTo>
                    <a:pt x="149" y="27"/>
                  </a:lnTo>
                  <a:lnTo>
                    <a:pt x="168" y="58"/>
                  </a:lnTo>
                  <a:lnTo>
                    <a:pt x="175" y="91"/>
                  </a:lnTo>
                  <a:lnTo>
                    <a:pt x="168" y="125"/>
                  </a:lnTo>
                  <a:lnTo>
                    <a:pt x="149" y="154"/>
                  </a:lnTo>
                  <a:lnTo>
                    <a:pt x="120" y="173"/>
                  </a:lnTo>
                  <a:lnTo>
                    <a:pt x="86" y="180"/>
                  </a:lnTo>
                  <a:lnTo>
                    <a:pt x="53" y="173"/>
                  </a:lnTo>
                  <a:lnTo>
                    <a:pt x="26" y="154"/>
                  </a:lnTo>
                  <a:lnTo>
                    <a:pt x="2" y="125"/>
                  </a:lnTo>
                  <a:lnTo>
                    <a:pt x="0" y="91"/>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TextBox 38"/>
            <p:cNvSpPr txBox="1"/>
            <p:nvPr/>
          </p:nvSpPr>
          <p:spPr>
            <a:xfrm>
              <a:off x="8572789" y="2528546"/>
              <a:ext cx="668901" cy="369332"/>
            </a:xfrm>
            <a:prstGeom prst="rect">
              <a:avLst/>
            </a:prstGeom>
            <a:noFill/>
          </p:spPr>
          <p:txBody>
            <a:bodyPr wrap="none" rtlCol="0">
              <a:spAutoFit/>
            </a:bodyPr>
            <a:lstStyle/>
            <a:p>
              <a:r>
                <a:rPr lang="en-US" smtClean="0"/>
                <a:t>(-x,y)</a:t>
              </a:r>
              <a:endParaRPr lang="en-US"/>
            </a:p>
          </p:txBody>
        </p:sp>
        <p:sp>
          <p:nvSpPr>
            <p:cNvPr id="40" name="TextBox 39"/>
            <p:cNvSpPr txBox="1"/>
            <p:nvPr/>
          </p:nvSpPr>
          <p:spPr>
            <a:xfrm>
              <a:off x="10126813" y="2510130"/>
              <a:ext cx="591957" cy="369332"/>
            </a:xfrm>
            <a:prstGeom prst="rect">
              <a:avLst/>
            </a:prstGeom>
            <a:noFill/>
          </p:spPr>
          <p:txBody>
            <a:bodyPr wrap="none" rtlCol="0">
              <a:spAutoFit/>
            </a:bodyPr>
            <a:lstStyle/>
            <a:p>
              <a:r>
                <a:rPr lang="en-US" smtClean="0"/>
                <a:t>(x,y)</a:t>
              </a:r>
              <a:endParaRPr lang="en-US"/>
            </a:p>
          </p:txBody>
        </p:sp>
        <p:sp>
          <p:nvSpPr>
            <p:cNvPr id="41" name="TextBox 40"/>
            <p:cNvSpPr txBox="1"/>
            <p:nvPr/>
          </p:nvSpPr>
          <p:spPr>
            <a:xfrm>
              <a:off x="10839382" y="3196448"/>
              <a:ext cx="591957" cy="369332"/>
            </a:xfrm>
            <a:prstGeom prst="rect">
              <a:avLst/>
            </a:prstGeom>
            <a:noFill/>
          </p:spPr>
          <p:txBody>
            <a:bodyPr wrap="none" rtlCol="0">
              <a:spAutoFit/>
            </a:bodyPr>
            <a:lstStyle/>
            <a:p>
              <a:r>
                <a:rPr lang="en-US" smtClean="0"/>
                <a:t>(y,x)</a:t>
              </a:r>
              <a:endParaRPr lang="en-US"/>
            </a:p>
          </p:txBody>
        </p:sp>
        <p:sp>
          <p:nvSpPr>
            <p:cNvPr id="42" name="TextBox 41"/>
            <p:cNvSpPr txBox="1"/>
            <p:nvPr/>
          </p:nvSpPr>
          <p:spPr>
            <a:xfrm>
              <a:off x="7983090" y="3196448"/>
              <a:ext cx="668901" cy="369332"/>
            </a:xfrm>
            <a:prstGeom prst="rect">
              <a:avLst/>
            </a:prstGeom>
            <a:noFill/>
          </p:spPr>
          <p:txBody>
            <a:bodyPr wrap="none" rtlCol="0">
              <a:spAutoFit/>
            </a:bodyPr>
            <a:lstStyle/>
            <a:p>
              <a:r>
                <a:rPr lang="en-US" smtClean="0"/>
                <a:t>(-y,x)</a:t>
              </a:r>
              <a:endParaRPr lang="en-US"/>
            </a:p>
          </p:txBody>
        </p:sp>
        <p:sp>
          <p:nvSpPr>
            <p:cNvPr id="43" name="TextBox 42"/>
            <p:cNvSpPr txBox="1"/>
            <p:nvPr/>
          </p:nvSpPr>
          <p:spPr>
            <a:xfrm>
              <a:off x="10795090" y="4170211"/>
              <a:ext cx="668901" cy="369332"/>
            </a:xfrm>
            <a:prstGeom prst="rect">
              <a:avLst/>
            </a:prstGeom>
            <a:noFill/>
          </p:spPr>
          <p:txBody>
            <a:bodyPr wrap="none" rtlCol="0">
              <a:spAutoFit/>
            </a:bodyPr>
            <a:lstStyle/>
            <a:p>
              <a:r>
                <a:rPr lang="en-US" smtClean="0"/>
                <a:t>(y,-x)</a:t>
              </a:r>
              <a:endParaRPr lang="en-US"/>
            </a:p>
          </p:txBody>
        </p:sp>
        <p:sp>
          <p:nvSpPr>
            <p:cNvPr id="44" name="TextBox 43"/>
            <p:cNvSpPr txBox="1"/>
            <p:nvPr/>
          </p:nvSpPr>
          <p:spPr>
            <a:xfrm>
              <a:off x="7933425" y="4181165"/>
              <a:ext cx="745845" cy="369332"/>
            </a:xfrm>
            <a:prstGeom prst="rect">
              <a:avLst/>
            </a:prstGeom>
            <a:noFill/>
          </p:spPr>
          <p:txBody>
            <a:bodyPr wrap="none" rtlCol="0">
              <a:spAutoFit/>
            </a:bodyPr>
            <a:lstStyle/>
            <a:p>
              <a:r>
                <a:rPr lang="en-US" smtClean="0"/>
                <a:t>(-y,-x)</a:t>
              </a:r>
              <a:endParaRPr lang="en-US"/>
            </a:p>
          </p:txBody>
        </p:sp>
        <p:sp>
          <p:nvSpPr>
            <p:cNvPr id="45" name="TextBox 44"/>
            <p:cNvSpPr txBox="1"/>
            <p:nvPr/>
          </p:nvSpPr>
          <p:spPr>
            <a:xfrm>
              <a:off x="8507806" y="4898995"/>
              <a:ext cx="753732" cy="369332"/>
            </a:xfrm>
            <a:prstGeom prst="rect">
              <a:avLst/>
            </a:prstGeom>
            <a:noFill/>
          </p:spPr>
          <p:txBody>
            <a:bodyPr wrap="none" rtlCol="0">
              <a:spAutoFit/>
            </a:bodyPr>
            <a:lstStyle/>
            <a:p>
              <a:r>
                <a:rPr lang="en-US" smtClean="0"/>
                <a:t>(-x,-y)</a:t>
              </a:r>
              <a:endParaRPr lang="en-US"/>
            </a:p>
          </p:txBody>
        </p:sp>
        <p:sp>
          <p:nvSpPr>
            <p:cNvPr id="46" name="TextBox 45"/>
            <p:cNvSpPr txBox="1"/>
            <p:nvPr/>
          </p:nvSpPr>
          <p:spPr>
            <a:xfrm>
              <a:off x="8506554" y="4899728"/>
              <a:ext cx="753732" cy="369332"/>
            </a:xfrm>
            <a:prstGeom prst="rect">
              <a:avLst/>
            </a:prstGeom>
            <a:noFill/>
          </p:spPr>
          <p:txBody>
            <a:bodyPr wrap="none" rtlCol="0">
              <a:spAutoFit/>
            </a:bodyPr>
            <a:lstStyle/>
            <a:p>
              <a:r>
                <a:rPr lang="en-US" smtClean="0"/>
                <a:t>(-x,-y)</a:t>
              </a:r>
              <a:endParaRPr lang="en-US"/>
            </a:p>
          </p:txBody>
        </p:sp>
        <p:sp>
          <p:nvSpPr>
            <p:cNvPr id="47" name="TextBox 46"/>
            <p:cNvSpPr txBox="1"/>
            <p:nvPr/>
          </p:nvSpPr>
          <p:spPr>
            <a:xfrm>
              <a:off x="10120858" y="4918625"/>
              <a:ext cx="676788" cy="369332"/>
            </a:xfrm>
            <a:prstGeom prst="rect">
              <a:avLst/>
            </a:prstGeom>
            <a:noFill/>
          </p:spPr>
          <p:txBody>
            <a:bodyPr wrap="none" rtlCol="0">
              <a:spAutoFit/>
            </a:bodyPr>
            <a:lstStyle/>
            <a:p>
              <a:r>
                <a:rPr lang="en-US" smtClean="0"/>
                <a:t>(x,-y)</a:t>
              </a:r>
              <a:endParaRPr lang="en-US"/>
            </a:p>
          </p:txBody>
        </p:sp>
        <mc:AlternateContent xmlns:mc="http://schemas.openxmlformats.org/markup-compatibility/2006">
          <mc:Choice xmlns:a14="http://schemas.microsoft.com/office/drawing/2010/main" Requires="a14">
            <p:sp>
              <p:nvSpPr>
                <p:cNvPr id="48" name="TextBox 47"/>
                <p:cNvSpPr txBox="1"/>
                <p:nvPr/>
              </p:nvSpPr>
              <p:spPr>
                <a:xfrm>
                  <a:off x="10202148" y="3938064"/>
                  <a:ext cx="326307" cy="57041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𝑅</m:t>
                            </m:r>
                          </m:num>
                          <m:den>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2</m:t>
                                </m:r>
                              </m:e>
                            </m:rad>
                          </m:den>
                        </m:f>
                      </m:oMath>
                    </m:oMathPara>
                  </a14:m>
                  <a:endParaRPr lang="en-US"/>
                </a:p>
              </p:txBody>
            </p:sp>
          </mc:Choice>
          <mc:Fallback>
            <p:sp>
              <p:nvSpPr>
                <p:cNvPr id="48" name="TextBox 47"/>
                <p:cNvSpPr txBox="1">
                  <a:spLocks noRot="1" noChangeAspect="1" noMove="1" noResize="1" noEditPoints="1" noAdjustHandles="1" noChangeArrowheads="1" noChangeShapeType="1" noTextEdit="1"/>
                </p:cNvSpPr>
                <p:nvPr/>
              </p:nvSpPr>
              <p:spPr>
                <a:xfrm>
                  <a:off x="10202148" y="3938064"/>
                  <a:ext cx="326307" cy="570413"/>
                </a:xfrm>
                <a:prstGeom prst="rect">
                  <a:avLst/>
                </a:prstGeom>
                <a:blipFill>
                  <a:blip r:embed="rId3"/>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093091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4978" y="148616"/>
            <a:ext cx="10018713" cy="1752599"/>
          </a:xfrm>
        </p:spPr>
        <p:txBody>
          <a:bodyPr/>
          <a:lstStyle/>
          <a:p>
            <a:r>
              <a:rPr lang="en-US" smtClean="0"/>
              <a:t>Thuật toán Midpoint</a:t>
            </a:r>
            <a:endParaRPr lang="en-US"/>
          </a:p>
        </p:txBody>
      </p:sp>
      <p:sp>
        <p:nvSpPr>
          <p:cNvPr id="3" name="Content Placeholder 2"/>
          <p:cNvSpPr>
            <a:spLocks noGrp="1"/>
          </p:cNvSpPr>
          <p:nvPr>
            <p:ph idx="1"/>
          </p:nvPr>
        </p:nvSpPr>
        <p:spPr>
          <a:xfrm>
            <a:off x="1584978" y="2528546"/>
            <a:ext cx="5435538" cy="3124201"/>
          </a:xfrm>
        </p:spPr>
        <p:txBody>
          <a:bodyPr>
            <a:noAutofit/>
          </a:bodyPr>
          <a:lstStyle/>
          <a:p>
            <a:r>
              <a:rPr lang="en-US" smtClean="0">
                <a:latin typeface="Arial" panose="020B0604020202020204" pitchFamily="34" charset="0"/>
                <a:cs typeface="Arial" panose="020B0604020202020204" pitchFamily="34" charset="0"/>
              </a:rPr>
              <a:t>Giả sử đã vẽ được điểm (x</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,y</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a:t>
            </a:r>
          </a:p>
          <a:p>
            <a:r>
              <a:rPr lang="en-US" smtClean="0">
                <a:latin typeface="Arial" panose="020B0604020202020204" pitchFamily="34" charset="0"/>
                <a:cs typeface="Arial" panose="020B0604020202020204" pitchFamily="34" charset="0"/>
              </a:rPr>
              <a:t>Vấn đề: Phải chọn điểm tiếp theo là E hay SE </a:t>
            </a:r>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EAC668D0-FFF1-47C5-8061-FF1B22C34E7B}" type="slidenum">
              <a:rPr lang="en-US" smtClean="0"/>
              <a:t>31</a:t>
            </a:fld>
            <a:endParaRPr lang="en-US"/>
          </a:p>
        </p:txBody>
      </p:sp>
      <p:grpSp>
        <p:nvGrpSpPr>
          <p:cNvPr id="83" name="Group 82"/>
          <p:cNvGrpSpPr/>
          <p:nvPr/>
        </p:nvGrpSpPr>
        <p:grpSpPr>
          <a:xfrm>
            <a:off x="7805196" y="2545383"/>
            <a:ext cx="2821444" cy="2748277"/>
            <a:chOff x="7805196" y="2545383"/>
            <a:chExt cx="2821444" cy="2748277"/>
          </a:xfrm>
        </p:grpSpPr>
        <p:grpSp>
          <p:nvGrpSpPr>
            <p:cNvPr id="18" name="Group 1"/>
            <p:cNvGrpSpPr>
              <a:grpSpLocks/>
            </p:cNvGrpSpPr>
            <p:nvPr/>
          </p:nvGrpSpPr>
          <p:grpSpPr bwMode="auto">
            <a:xfrm>
              <a:off x="7805196" y="2545383"/>
              <a:ext cx="2747014" cy="2748277"/>
              <a:chOff x="4188" y="-2014"/>
              <a:chExt cx="4327" cy="4327"/>
            </a:xfrm>
          </p:grpSpPr>
          <p:sp>
            <p:nvSpPr>
              <p:cNvPr id="19" name="Freeform 29"/>
              <p:cNvSpPr>
                <a:spLocks/>
              </p:cNvSpPr>
              <p:nvPr/>
            </p:nvSpPr>
            <p:spPr bwMode="auto">
              <a:xfrm>
                <a:off x="5052" y="-2014"/>
                <a:ext cx="0" cy="1711"/>
              </a:xfrm>
              <a:custGeom>
                <a:avLst/>
                <a:gdLst>
                  <a:gd name="T0" fmla="+- 0 -2014 -2014"/>
                  <a:gd name="T1" fmla="*/ -2014 h 1711"/>
                  <a:gd name="T2" fmla="+- 0 -303 -2014"/>
                  <a:gd name="T3" fmla="*/ -303 h 1711"/>
                </a:gdLst>
                <a:ahLst/>
                <a:cxnLst>
                  <a:cxn ang="0">
                    <a:pos x="0" y="T1"/>
                  </a:cxn>
                  <a:cxn ang="0">
                    <a:pos x="0" y="T3"/>
                  </a:cxn>
                </a:cxnLst>
                <a:rect l="0" t="0" r="r" b="b"/>
                <a:pathLst>
                  <a:path h="1711">
                    <a:moveTo>
                      <a:pt x="0" y="0"/>
                    </a:moveTo>
                    <a:lnTo>
                      <a:pt x="0" y="1711"/>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28"/>
              <p:cNvSpPr>
                <a:spLocks/>
              </p:cNvSpPr>
              <p:nvPr/>
            </p:nvSpPr>
            <p:spPr bwMode="auto">
              <a:xfrm>
                <a:off x="4188" y="-1145"/>
                <a:ext cx="4327" cy="0"/>
              </a:xfrm>
              <a:custGeom>
                <a:avLst/>
                <a:gdLst>
                  <a:gd name="T0" fmla="+- 0 4188 4188"/>
                  <a:gd name="T1" fmla="*/ T0 w 4327"/>
                  <a:gd name="T2" fmla="+- 0 8515 4188"/>
                  <a:gd name="T3" fmla="*/ T2 w 4327"/>
                </a:gdLst>
                <a:ahLst/>
                <a:cxnLst>
                  <a:cxn ang="0">
                    <a:pos x="T1" y="0"/>
                  </a:cxn>
                  <a:cxn ang="0">
                    <a:pos x="T3" y="0"/>
                  </a:cxn>
                </a:cxnLst>
                <a:rect l="0" t="0" r="r" b="b"/>
                <a:pathLst>
                  <a:path w="4327">
                    <a:moveTo>
                      <a:pt x="0" y="0"/>
                    </a:moveTo>
                    <a:lnTo>
                      <a:pt x="432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27"/>
              <p:cNvSpPr>
                <a:spLocks/>
              </p:cNvSpPr>
              <p:nvPr/>
            </p:nvSpPr>
            <p:spPr bwMode="auto">
              <a:xfrm flipH="1">
                <a:off x="4992" y="-562"/>
                <a:ext cx="72" cy="2875"/>
              </a:xfrm>
              <a:custGeom>
                <a:avLst/>
                <a:gdLst>
                  <a:gd name="T0" fmla="+- 0 33 33"/>
                  <a:gd name="T1" fmla="*/ 33 h 2280"/>
                  <a:gd name="T2" fmla="+- 0 2313 33"/>
                  <a:gd name="T3" fmla="*/ 2313 h 2280"/>
                </a:gdLst>
                <a:ahLst/>
                <a:cxnLst>
                  <a:cxn ang="0">
                    <a:pos x="0" y="T1"/>
                  </a:cxn>
                  <a:cxn ang="0">
                    <a:pos x="0" y="T3"/>
                  </a:cxn>
                </a:cxnLst>
                <a:rect l="0" t="0" r="r" b="b"/>
                <a:pathLst>
                  <a:path h="2280">
                    <a:moveTo>
                      <a:pt x="0" y="0"/>
                    </a:moveTo>
                    <a:lnTo>
                      <a:pt x="0" y="228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26"/>
              <p:cNvSpPr>
                <a:spLocks/>
              </p:cNvSpPr>
              <p:nvPr/>
            </p:nvSpPr>
            <p:spPr bwMode="auto">
              <a:xfrm>
                <a:off x="4188" y="151"/>
                <a:ext cx="4327" cy="0"/>
              </a:xfrm>
              <a:custGeom>
                <a:avLst/>
                <a:gdLst>
                  <a:gd name="T0" fmla="+- 0 4188 4188"/>
                  <a:gd name="T1" fmla="*/ T0 w 4327"/>
                  <a:gd name="T2" fmla="+- 0 8515 4188"/>
                  <a:gd name="T3" fmla="*/ T2 w 4327"/>
                </a:gdLst>
                <a:ahLst/>
                <a:cxnLst>
                  <a:cxn ang="0">
                    <a:pos x="T1" y="0"/>
                  </a:cxn>
                  <a:cxn ang="0">
                    <a:pos x="T3" y="0"/>
                  </a:cxn>
                </a:cxnLst>
                <a:rect l="0" t="0" r="r" b="b"/>
                <a:pathLst>
                  <a:path w="4327">
                    <a:moveTo>
                      <a:pt x="0" y="0"/>
                    </a:moveTo>
                    <a:lnTo>
                      <a:pt x="432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25"/>
              <p:cNvSpPr>
                <a:spLocks/>
              </p:cNvSpPr>
              <p:nvPr/>
            </p:nvSpPr>
            <p:spPr bwMode="auto">
              <a:xfrm>
                <a:off x="6350" y="-2014"/>
                <a:ext cx="0" cy="4327"/>
              </a:xfrm>
              <a:custGeom>
                <a:avLst/>
                <a:gdLst>
                  <a:gd name="T0" fmla="+- 0 -2014 -2014"/>
                  <a:gd name="T1" fmla="*/ -2014 h 4327"/>
                  <a:gd name="T2" fmla="+- 0 2313 -2014"/>
                  <a:gd name="T3" fmla="*/ 2313 h 4327"/>
                </a:gdLst>
                <a:ahLst/>
                <a:cxnLst>
                  <a:cxn ang="0">
                    <a:pos x="0" y="T1"/>
                  </a:cxn>
                  <a:cxn ang="0">
                    <a:pos x="0" y="T3"/>
                  </a:cxn>
                </a:cxnLst>
                <a:rect l="0" t="0" r="r" b="b"/>
                <a:pathLst>
                  <a:path h="4327">
                    <a:moveTo>
                      <a:pt x="0" y="0"/>
                    </a:moveTo>
                    <a:lnTo>
                      <a:pt x="0" y="4327"/>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24"/>
              <p:cNvSpPr>
                <a:spLocks/>
              </p:cNvSpPr>
              <p:nvPr/>
            </p:nvSpPr>
            <p:spPr bwMode="auto">
              <a:xfrm>
                <a:off x="4188" y="1447"/>
                <a:ext cx="4327" cy="0"/>
              </a:xfrm>
              <a:custGeom>
                <a:avLst/>
                <a:gdLst>
                  <a:gd name="T0" fmla="+- 0 4188 4188"/>
                  <a:gd name="T1" fmla="*/ T0 w 4327"/>
                  <a:gd name="T2" fmla="+- 0 8515 4188"/>
                  <a:gd name="T3" fmla="*/ T2 w 4327"/>
                </a:gdLst>
                <a:ahLst/>
                <a:cxnLst>
                  <a:cxn ang="0">
                    <a:pos x="T1" y="0"/>
                  </a:cxn>
                  <a:cxn ang="0">
                    <a:pos x="T3" y="0"/>
                  </a:cxn>
                </a:cxnLst>
                <a:rect l="0" t="0" r="r" b="b"/>
                <a:pathLst>
                  <a:path w="4327">
                    <a:moveTo>
                      <a:pt x="0" y="0"/>
                    </a:moveTo>
                    <a:lnTo>
                      <a:pt x="432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23"/>
              <p:cNvSpPr>
                <a:spLocks/>
              </p:cNvSpPr>
              <p:nvPr/>
            </p:nvSpPr>
            <p:spPr bwMode="auto">
              <a:xfrm>
                <a:off x="7651" y="-1198"/>
                <a:ext cx="0" cy="3511"/>
              </a:xfrm>
              <a:custGeom>
                <a:avLst/>
                <a:gdLst>
                  <a:gd name="T0" fmla="+- 0 -1198 -1198"/>
                  <a:gd name="T1" fmla="*/ -1198 h 3511"/>
                  <a:gd name="T2" fmla="+- 0 2313 -1198"/>
                  <a:gd name="T3" fmla="*/ 2313 h 3511"/>
                </a:gdLst>
                <a:ahLst/>
                <a:cxnLst>
                  <a:cxn ang="0">
                    <a:pos x="0" y="T1"/>
                  </a:cxn>
                  <a:cxn ang="0">
                    <a:pos x="0" y="T3"/>
                  </a:cxn>
                </a:cxnLst>
                <a:rect l="0" t="0" r="r" b="b"/>
                <a:pathLst>
                  <a:path h="3511">
                    <a:moveTo>
                      <a:pt x="0" y="0"/>
                    </a:moveTo>
                    <a:lnTo>
                      <a:pt x="0" y="3511"/>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Freeform 22"/>
              <p:cNvSpPr>
                <a:spLocks/>
              </p:cNvSpPr>
              <p:nvPr/>
            </p:nvSpPr>
            <p:spPr bwMode="auto">
              <a:xfrm>
                <a:off x="4882" y="-1318"/>
                <a:ext cx="343" cy="341"/>
              </a:xfrm>
              <a:custGeom>
                <a:avLst/>
                <a:gdLst>
                  <a:gd name="T0" fmla="+- 0 4882 4882"/>
                  <a:gd name="T1" fmla="*/ T0 w 343"/>
                  <a:gd name="T2" fmla="+- 0 -1145 -1318"/>
                  <a:gd name="T3" fmla="*/ -1145 h 341"/>
                  <a:gd name="T4" fmla="+- 0 4889 4882"/>
                  <a:gd name="T5" fmla="*/ T4 w 343"/>
                  <a:gd name="T6" fmla="+- 0 -1097 -1318"/>
                  <a:gd name="T7" fmla="*/ -1097 h 341"/>
                  <a:gd name="T8" fmla="+- 0 4906 4882"/>
                  <a:gd name="T9" fmla="*/ T8 w 343"/>
                  <a:gd name="T10" fmla="+- 0 -1054 -1318"/>
                  <a:gd name="T11" fmla="*/ -1054 h 341"/>
                  <a:gd name="T12" fmla="+- 0 4939 4882"/>
                  <a:gd name="T13" fmla="*/ T12 w 343"/>
                  <a:gd name="T14" fmla="+- 0 -1018 -1318"/>
                  <a:gd name="T15" fmla="*/ -1018 h 341"/>
                  <a:gd name="T16" fmla="+- 0 4980 4882"/>
                  <a:gd name="T17" fmla="*/ T16 w 343"/>
                  <a:gd name="T18" fmla="+- 0 -989 -1318"/>
                  <a:gd name="T19" fmla="*/ -989 h 341"/>
                  <a:gd name="T20" fmla="+- 0 5028 4882"/>
                  <a:gd name="T21" fmla="*/ T20 w 343"/>
                  <a:gd name="T22" fmla="+- 0 -977 -1318"/>
                  <a:gd name="T23" fmla="*/ -977 h 341"/>
                  <a:gd name="T24" fmla="+- 0 5078 4882"/>
                  <a:gd name="T25" fmla="*/ T24 w 343"/>
                  <a:gd name="T26" fmla="+- 0 -977 -1318"/>
                  <a:gd name="T27" fmla="*/ -977 h 341"/>
                  <a:gd name="T28" fmla="+- 0 5122 4882"/>
                  <a:gd name="T29" fmla="*/ T28 w 343"/>
                  <a:gd name="T30" fmla="+- 0 -989 -1318"/>
                  <a:gd name="T31" fmla="*/ -989 h 341"/>
                  <a:gd name="T32" fmla="+- 0 5167 4882"/>
                  <a:gd name="T33" fmla="*/ T32 w 343"/>
                  <a:gd name="T34" fmla="+- 0 -1018 -1318"/>
                  <a:gd name="T35" fmla="*/ -1018 h 341"/>
                  <a:gd name="T36" fmla="+- 0 5198 4882"/>
                  <a:gd name="T37" fmla="*/ T36 w 343"/>
                  <a:gd name="T38" fmla="+- 0 -1054 -1318"/>
                  <a:gd name="T39" fmla="*/ -1054 h 341"/>
                  <a:gd name="T40" fmla="+- 0 5218 4882"/>
                  <a:gd name="T41" fmla="*/ T40 w 343"/>
                  <a:gd name="T42" fmla="+- 0 -1097 -1318"/>
                  <a:gd name="T43" fmla="*/ -1097 h 341"/>
                  <a:gd name="T44" fmla="+- 0 5225 4882"/>
                  <a:gd name="T45" fmla="*/ T44 w 343"/>
                  <a:gd name="T46" fmla="+- 0 -1145 -1318"/>
                  <a:gd name="T47" fmla="*/ -1145 h 341"/>
                  <a:gd name="T48" fmla="+- 0 5218 4882"/>
                  <a:gd name="T49" fmla="*/ T48 w 343"/>
                  <a:gd name="T50" fmla="+- 0 -1198 -1318"/>
                  <a:gd name="T51" fmla="*/ -1198 h 341"/>
                  <a:gd name="T52" fmla="+- 0 5198 4882"/>
                  <a:gd name="T53" fmla="*/ T52 w 343"/>
                  <a:gd name="T54" fmla="+- 0 -1241 -1318"/>
                  <a:gd name="T55" fmla="*/ -1241 h 341"/>
                  <a:gd name="T56" fmla="+- 0 5167 4882"/>
                  <a:gd name="T57" fmla="*/ T56 w 343"/>
                  <a:gd name="T58" fmla="+- 0 -1277 -1318"/>
                  <a:gd name="T59" fmla="*/ -1277 h 341"/>
                  <a:gd name="T60" fmla="+- 0 5122 4882"/>
                  <a:gd name="T61" fmla="*/ T60 w 343"/>
                  <a:gd name="T62" fmla="+- 0 -1304 -1318"/>
                  <a:gd name="T63" fmla="*/ -1304 h 341"/>
                  <a:gd name="T64" fmla="+- 0 5078 4882"/>
                  <a:gd name="T65" fmla="*/ T64 w 343"/>
                  <a:gd name="T66" fmla="+- 0 -1318 -1318"/>
                  <a:gd name="T67" fmla="*/ -1318 h 341"/>
                  <a:gd name="T68" fmla="+- 0 5028 4882"/>
                  <a:gd name="T69" fmla="*/ T68 w 343"/>
                  <a:gd name="T70" fmla="+- 0 -1318 -1318"/>
                  <a:gd name="T71" fmla="*/ -1318 h 341"/>
                  <a:gd name="T72" fmla="+- 0 4980 4882"/>
                  <a:gd name="T73" fmla="*/ T72 w 343"/>
                  <a:gd name="T74" fmla="+- 0 -1304 -1318"/>
                  <a:gd name="T75" fmla="*/ -1304 h 341"/>
                  <a:gd name="T76" fmla="+- 0 4939 4882"/>
                  <a:gd name="T77" fmla="*/ T76 w 343"/>
                  <a:gd name="T78" fmla="+- 0 -1277 -1318"/>
                  <a:gd name="T79" fmla="*/ -1277 h 341"/>
                  <a:gd name="T80" fmla="+- 0 4906 4882"/>
                  <a:gd name="T81" fmla="*/ T80 w 343"/>
                  <a:gd name="T82" fmla="+- 0 -1241 -1318"/>
                  <a:gd name="T83" fmla="*/ -1241 h 341"/>
                  <a:gd name="T84" fmla="+- 0 4889 4882"/>
                  <a:gd name="T85" fmla="*/ T84 w 343"/>
                  <a:gd name="T86" fmla="+- 0 -1198 -1318"/>
                  <a:gd name="T87" fmla="*/ -1198 h 341"/>
                  <a:gd name="T88" fmla="+- 0 4882 4882"/>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221"/>
                    </a:lnTo>
                    <a:lnTo>
                      <a:pt x="24" y="264"/>
                    </a:lnTo>
                    <a:lnTo>
                      <a:pt x="57" y="300"/>
                    </a:lnTo>
                    <a:lnTo>
                      <a:pt x="98" y="329"/>
                    </a:lnTo>
                    <a:lnTo>
                      <a:pt x="146" y="341"/>
                    </a:lnTo>
                    <a:lnTo>
                      <a:pt x="196" y="341"/>
                    </a:lnTo>
                    <a:lnTo>
                      <a:pt x="240" y="329"/>
                    </a:lnTo>
                    <a:lnTo>
                      <a:pt x="285" y="300"/>
                    </a:lnTo>
                    <a:lnTo>
                      <a:pt x="316" y="264"/>
                    </a:lnTo>
                    <a:lnTo>
                      <a:pt x="336" y="221"/>
                    </a:lnTo>
                    <a:lnTo>
                      <a:pt x="343" y="173"/>
                    </a:lnTo>
                    <a:lnTo>
                      <a:pt x="336" y="120"/>
                    </a:lnTo>
                    <a:lnTo>
                      <a:pt x="316" y="77"/>
                    </a:lnTo>
                    <a:lnTo>
                      <a:pt x="285" y="41"/>
                    </a:lnTo>
                    <a:lnTo>
                      <a:pt x="240" y="14"/>
                    </a:lnTo>
                    <a:lnTo>
                      <a:pt x="196" y="0"/>
                    </a:lnTo>
                    <a:lnTo>
                      <a:pt x="146" y="0"/>
                    </a:lnTo>
                    <a:lnTo>
                      <a:pt x="98" y="14"/>
                    </a:lnTo>
                    <a:lnTo>
                      <a:pt x="57" y="41"/>
                    </a:lnTo>
                    <a:lnTo>
                      <a:pt x="24" y="77"/>
                    </a:lnTo>
                    <a:lnTo>
                      <a:pt x="7" y="120"/>
                    </a:lnTo>
                    <a:lnTo>
                      <a:pt x="0"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p:cNvSpPr>
              <p:nvPr/>
            </p:nvSpPr>
            <p:spPr bwMode="auto">
              <a:xfrm>
                <a:off x="4882" y="-1318"/>
                <a:ext cx="343" cy="341"/>
              </a:xfrm>
              <a:custGeom>
                <a:avLst/>
                <a:gdLst>
                  <a:gd name="T0" fmla="+- 0 4882 4882"/>
                  <a:gd name="T1" fmla="*/ T0 w 343"/>
                  <a:gd name="T2" fmla="+- 0 -1145 -1318"/>
                  <a:gd name="T3" fmla="*/ -1145 h 341"/>
                  <a:gd name="T4" fmla="+- 0 4889 4882"/>
                  <a:gd name="T5" fmla="*/ T4 w 343"/>
                  <a:gd name="T6" fmla="+- 0 -1198 -1318"/>
                  <a:gd name="T7" fmla="*/ -1198 h 341"/>
                  <a:gd name="T8" fmla="+- 0 4906 4882"/>
                  <a:gd name="T9" fmla="*/ T8 w 343"/>
                  <a:gd name="T10" fmla="+- 0 -1241 -1318"/>
                  <a:gd name="T11" fmla="*/ -1241 h 341"/>
                  <a:gd name="T12" fmla="+- 0 4939 4882"/>
                  <a:gd name="T13" fmla="*/ T12 w 343"/>
                  <a:gd name="T14" fmla="+- 0 -1277 -1318"/>
                  <a:gd name="T15" fmla="*/ -1277 h 341"/>
                  <a:gd name="T16" fmla="+- 0 4980 4882"/>
                  <a:gd name="T17" fmla="*/ T16 w 343"/>
                  <a:gd name="T18" fmla="+- 0 -1304 -1318"/>
                  <a:gd name="T19" fmla="*/ -1304 h 341"/>
                  <a:gd name="T20" fmla="+- 0 5028 4882"/>
                  <a:gd name="T21" fmla="*/ T20 w 343"/>
                  <a:gd name="T22" fmla="+- 0 -1318 -1318"/>
                  <a:gd name="T23" fmla="*/ -1318 h 341"/>
                  <a:gd name="T24" fmla="+- 0 5078 4882"/>
                  <a:gd name="T25" fmla="*/ T24 w 343"/>
                  <a:gd name="T26" fmla="+- 0 -1318 -1318"/>
                  <a:gd name="T27" fmla="*/ -1318 h 341"/>
                  <a:gd name="T28" fmla="+- 0 5122 4882"/>
                  <a:gd name="T29" fmla="*/ T28 w 343"/>
                  <a:gd name="T30" fmla="+- 0 -1304 -1318"/>
                  <a:gd name="T31" fmla="*/ -1304 h 341"/>
                  <a:gd name="T32" fmla="+- 0 5167 4882"/>
                  <a:gd name="T33" fmla="*/ T32 w 343"/>
                  <a:gd name="T34" fmla="+- 0 -1277 -1318"/>
                  <a:gd name="T35" fmla="*/ -1277 h 341"/>
                  <a:gd name="T36" fmla="+- 0 5198 4882"/>
                  <a:gd name="T37" fmla="*/ T36 w 343"/>
                  <a:gd name="T38" fmla="+- 0 -1241 -1318"/>
                  <a:gd name="T39" fmla="*/ -1241 h 341"/>
                  <a:gd name="T40" fmla="+- 0 5218 4882"/>
                  <a:gd name="T41" fmla="*/ T40 w 343"/>
                  <a:gd name="T42" fmla="+- 0 -1198 -1318"/>
                  <a:gd name="T43" fmla="*/ -1198 h 341"/>
                  <a:gd name="T44" fmla="+- 0 5225 4882"/>
                  <a:gd name="T45" fmla="*/ T44 w 343"/>
                  <a:gd name="T46" fmla="+- 0 -1145 -1318"/>
                  <a:gd name="T47" fmla="*/ -1145 h 341"/>
                  <a:gd name="T48" fmla="+- 0 5218 4882"/>
                  <a:gd name="T49" fmla="*/ T48 w 343"/>
                  <a:gd name="T50" fmla="+- 0 -1097 -1318"/>
                  <a:gd name="T51" fmla="*/ -1097 h 341"/>
                  <a:gd name="T52" fmla="+- 0 5198 4882"/>
                  <a:gd name="T53" fmla="*/ T52 w 343"/>
                  <a:gd name="T54" fmla="+- 0 -1054 -1318"/>
                  <a:gd name="T55" fmla="*/ -1054 h 341"/>
                  <a:gd name="T56" fmla="+- 0 5167 4882"/>
                  <a:gd name="T57" fmla="*/ T56 w 343"/>
                  <a:gd name="T58" fmla="+- 0 -1018 -1318"/>
                  <a:gd name="T59" fmla="*/ -1018 h 341"/>
                  <a:gd name="T60" fmla="+- 0 5122 4882"/>
                  <a:gd name="T61" fmla="*/ T60 w 343"/>
                  <a:gd name="T62" fmla="+- 0 -989 -1318"/>
                  <a:gd name="T63" fmla="*/ -989 h 341"/>
                  <a:gd name="T64" fmla="+- 0 5078 4882"/>
                  <a:gd name="T65" fmla="*/ T64 w 343"/>
                  <a:gd name="T66" fmla="+- 0 -977 -1318"/>
                  <a:gd name="T67" fmla="*/ -977 h 341"/>
                  <a:gd name="T68" fmla="+- 0 5028 4882"/>
                  <a:gd name="T69" fmla="*/ T68 w 343"/>
                  <a:gd name="T70" fmla="+- 0 -977 -1318"/>
                  <a:gd name="T71" fmla="*/ -977 h 341"/>
                  <a:gd name="T72" fmla="+- 0 4980 4882"/>
                  <a:gd name="T73" fmla="*/ T72 w 343"/>
                  <a:gd name="T74" fmla="+- 0 -989 -1318"/>
                  <a:gd name="T75" fmla="*/ -989 h 341"/>
                  <a:gd name="T76" fmla="+- 0 4939 4882"/>
                  <a:gd name="T77" fmla="*/ T76 w 343"/>
                  <a:gd name="T78" fmla="+- 0 -1018 -1318"/>
                  <a:gd name="T79" fmla="*/ -1018 h 341"/>
                  <a:gd name="T80" fmla="+- 0 4906 4882"/>
                  <a:gd name="T81" fmla="*/ T80 w 343"/>
                  <a:gd name="T82" fmla="+- 0 -1054 -1318"/>
                  <a:gd name="T83" fmla="*/ -1054 h 341"/>
                  <a:gd name="T84" fmla="+- 0 4889 4882"/>
                  <a:gd name="T85" fmla="*/ T84 w 343"/>
                  <a:gd name="T86" fmla="+- 0 -1097 -1318"/>
                  <a:gd name="T87" fmla="*/ -1097 h 341"/>
                  <a:gd name="T88" fmla="+- 0 4882 4882"/>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120"/>
                    </a:lnTo>
                    <a:lnTo>
                      <a:pt x="24" y="77"/>
                    </a:lnTo>
                    <a:lnTo>
                      <a:pt x="57" y="41"/>
                    </a:lnTo>
                    <a:lnTo>
                      <a:pt x="98" y="14"/>
                    </a:lnTo>
                    <a:lnTo>
                      <a:pt x="146" y="0"/>
                    </a:lnTo>
                    <a:lnTo>
                      <a:pt x="196" y="0"/>
                    </a:lnTo>
                    <a:lnTo>
                      <a:pt x="240" y="14"/>
                    </a:lnTo>
                    <a:lnTo>
                      <a:pt x="285" y="41"/>
                    </a:lnTo>
                    <a:lnTo>
                      <a:pt x="316" y="77"/>
                    </a:lnTo>
                    <a:lnTo>
                      <a:pt x="336" y="120"/>
                    </a:lnTo>
                    <a:lnTo>
                      <a:pt x="343" y="173"/>
                    </a:lnTo>
                    <a:lnTo>
                      <a:pt x="336" y="221"/>
                    </a:lnTo>
                    <a:lnTo>
                      <a:pt x="316" y="264"/>
                    </a:lnTo>
                    <a:lnTo>
                      <a:pt x="285" y="300"/>
                    </a:lnTo>
                    <a:lnTo>
                      <a:pt x="240" y="329"/>
                    </a:lnTo>
                    <a:lnTo>
                      <a:pt x="196" y="341"/>
                    </a:lnTo>
                    <a:lnTo>
                      <a:pt x="146" y="341"/>
                    </a:lnTo>
                    <a:lnTo>
                      <a:pt x="98" y="329"/>
                    </a:lnTo>
                    <a:lnTo>
                      <a:pt x="57" y="300"/>
                    </a:lnTo>
                    <a:lnTo>
                      <a:pt x="24" y="264"/>
                    </a:lnTo>
                    <a:lnTo>
                      <a:pt x="7" y="221"/>
                    </a:lnTo>
                    <a:lnTo>
                      <a:pt x="0" y="173"/>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Freeform 20"/>
              <p:cNvSpPr>
                <a:spLocks/>
              </p:cNvSpPr>
              <p:nvPr/>
            </p:nvSpPr>
            <p:spPr bwMode="auto">
              <a:xfrm>
                <a:off x="6178" y="-1318"/>
                <a:ext cx="343" cy="341"/>
              </a:xfrm>
              <a:custGeom>
                <a:avLst/>
                <a:gdLst>
                  <a:gd name="T0" fmla="+- 0 6178 6178"/>
                  <a:gd name="T1" fmla="*/ T0 w 343"/>
                  <a:gd name="T2" fmla="+- 0 -1145 -1318"/>
                  <a:gd name="T3" fmla="*/ -1145 h 341"/>
                  <a:gd name="T4" fmla="+- 0 6185 6178"/>
                  <a:gd name="T5" fmla="*/ T4 w 343"/>
                  <a:gd name="T6" fmla="+- 0 -1097 -1318"/>
                  <a:gd name="T7" fmla="*/ -1097 h 341"/>
                  <a:gd name="T8" fmla="+- 0 6204 6178"/>
                  <a:gd name="T9" fmla="*/ T8 w 343"/>
                  <a:gd name="T10" fmla="+- 0 -1054 -1318"/>
                  <a:gd name="T11" fmla="*/ -1054 h 341"/>
                  <a:gd name="T12" fmla="+- 0 6235 6178"/>
                  <a:gd name="T13" fmla="*/ T12 w 343"/>
                  <a:gd name="T14" fmla="+- 0 -1018 -1318"/>
                  <a:gd name="T15" fmla="*/ -1018 h 341"/>
                  <a:gd name="T16" fmla="+- 0 6281 6178"/>
                  <a:gd name="T17" fmla="*/ T16 w 343"/>
                  <a:gd name="T18" fmla="+- 0 -989 -1318"/>
                  <a:gd name="T19" fmla="*/ -989 h 341"/>
                  <a:gd name="T20" fmla="+- 0 6324 6178"/>
                  <a:gd name="T21" fmla="*/ T20 w 343"/>
                  <a:gd name="T22" fmla="+- 0 -977 -1318"/>
                  <a:gd name="T23" fmla="*/ -977 h 341"/>
                  <a:gd name="T24" fmla="+- 0 6374 6178"/>
                  <a:gd name="T25" fmla="*/ T24 w 343"/>
                  <a:gd name="T26" fmla="+- 0 -977 -1318"/>
                  <a:gd name="T27" fmla="*/ -977 h 341"/>
                  <a:gd name="T28" fmla="+- 0 6422 6178"/>
                  <a:gd name="T29" fmla="*/ T28 w 343"/>
                  <a:gd name="T30" fmla="+- 0 -989 -1318"/>
                  <a:gd name="T31" fmla="*/ -989 h 341"/>
                  <a:gd name="T32" fmla="+- 0 6463 6178"/>
                  <a:gd name="T33" fmla="*/ T32 w 343"/>
                  <a:gd name="T34" fmla="+- 0 -1018 -1318"/>
                  <a:gd name="T35" fmla="*/ -1018 h 341"/>
                  <a:gd name="T36" fmla="+- 0 6497 6178"/>
                  <a:gd name="T37" fmla="*/ T36 w 343"/>
                  <a:gd name="T38" fmla="+- 0 -1054 -1318"/>
                  <a:gd name="T39" fmla="*/ -1054 h 341"/>
                  <a:gd name="T40" fmla="+- 0 6518 6178"/>
                  <a:gd name="T41" fmla="*/ T40 w 343"/>
                  <a:gd name="T42" fmla="+- 0 -1097 -1318"/>
                  <a:gd name="T43" fmla="*/ -1097 h 341"/>
                  <a:gd name="T44" fmla="+- 0 6521 6178"/>
                  <a:gd name="T45" fmla="*/ T44 w 343"/>
                  <a:gd name="T46" fmla="+- 0 -1145 -1318"/>
                  <a:gd name="T47" fmla="*/ -1145 h 341"/>
                  <a:gd name="T48" fmla="+- 0 6518 6178"/>
                  <a:gd name="T49" fmla="*/ T48 w 343"/>
                  <a:gd name="T50" fmla="+- 0 -1198 -1318"/>
                  <a:gd name="T51" fmla="*/ -1198 h 341"/>
                  <a:gd name="T52" fmla="+- 0 6497 6178"/>
                  <a:gd name="T53" fmla="*/ T52 w 343"/>
                  <a:gd name="T54" fmla="+- 0 -1241 -1318"/>
                  <a:gd name="T55" fmla="*/ -1241 h 341"/>
                  <a:gd name="T56" fmla="+- 0 6463 6178"/>
                  <a:gd name="T57" fmla="*/ T56 w 343"/>
                  <a:gd name="T58" fmla="+- 0 -1277 -1318"/>
                  <a:gd name="T59" fmla="*/ -1277 h 341"/>
                  <a:gd name="T60" fmla="+- 0 6422 6178"/>
                  <a:gd name="T61" fmla="*/ T60 w 343"/>
                  <a:gd name="T62" fmla="+- 0 -1304 -1318"/>
                  <a:gd name="T63" fmla="*/ -1304 h 341"/>
                  <a:gd name="T64" fmla="+- 0 6374 6178"/>
                  <a:gd name="T65" fmla="*/ T64 w 343"/>
                  <a:gd name="T66" fmla="+- 0 -1318 -1318"/>
                  <a:gd name="T67" fmla="*/ -1318 h 341"/>
                  <a:gd name="T68" fmla="+- 0 6324 6178"/>
                  <a:gd name="T69" fmla="*/ T68 w 343"/>
                  <a:gd name="T70" fmla="+- 0 -1318 -1318"/>
                  <a:gd name="T71" fmla="*/ -1318 h 341"/>
                  <a:gd name="T72" fmla="+- 0 6281 6178"/>
                  <a:gd name="T73" fmla="*/ T72 w 343"/>
                  <a:gd name="T74" fmla="+- 0 -1304 -1318"/>
                  <a:gd name="T75" fmla="*/ -1304 h 341"/>
                  <a:gd name="T76" fmla="+- 0 6235 6178"/>
                  <a:gd name="T77" fmla="*/ T76 w 343"/>
                  <a:gd name="T78" fmla="+- 0 -1277 -1318"/>
                  <a:gd name="T79" fmla="*/ -1277 h 341"/>
                  <a:gd name="T80" fmla="+- 0 6204 6178"/>
                  <a:gd name="T81" fmla="*/ T80 w 343"/>
                  <a:gd name="T82" fmla="+- 0 -1241 -1318"/>
                  <a:gd name="T83" fmla="*/ -1241 h 341"/>
                  <a:gd name="T84" fmla="+- 0 6185 6178"/>
                  <a:gd name="T85" fmla="*/ T84 w 343"/>
                  <a:gd name="T86" fmla="+- 0 -1198 -1318"/>
                  <a:gd name="T87" fmla="*/ -1198 h 341"/>
                  <a:gd name="T88" fmla="+- 0 6178 6178"/>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221"/>
                    </a:lnTo>
                    <a:lnTo>
                      <a:pt x="26" y="264"/>
                    </a:lnTo>
                    <a:lnTo>
                      <a:pt x="57" y="300"/>
                    </a:lnTo>
                    <a:lnTo>
                      <a:pt x="103" y="329"/>
                    </a:lnTo>
                    <a:lnTo>
                      <a:pt x="146" y="341"/>
                    </a:lnTo>
                    <a:lnTo>
                      <a:pt x="196" y="341"/>
                    </a:lnTo>
                    <a:lnTo>
                      <a:pt x="244" y="329"/>
                    </a:lnTo>
                    <a:lnTo>
                      <a:pt x="285" y="300"/>
                    </a:lnTo>
                    <a:lnTo>
                      <a:pt x="319" y="264"/>
                    </a:lnTo>
                    <a:lnTo>
                      <a:pt x="340" y="221"/>
                    </a:lnTo>
                    <a:lnTo>
                      <a:pt x="343" y="173"/>
                    </a:lnTo>
                    <a:lnTo>
                      <a:pt x="340" y="120"/>
                    </a:lnTo>
                    <a:lnTo>
                      <a:pt x="319" y="77"/>
                    </a:lnTo>
                    <a:lnTo>
                      <a:pt x="285" y="41"/>
                    </a:lnTo>
                    <a:lnTo>
                      <a:pt x="244" y="14"/>
                    </a:lnTo>
                    <a:lnTo>
                      <a:pt x="196" y="0"/>
                    </a:lnTo>
                    <a:lnTo>
                      <a:pt x="146" y="0"/>
                    </a:lnTo>
                    <a:lnTo>
                      <a:pt x="103" y="14"/>
                    </a:lnTo>
                    <a:lnTo>
                      <a:pt x="57" y="41"/>
                    </a:lnTo>
                    <a:lnTo>
                      <a:pt x="26" y="77"/>
                    </a:lnTo>
                    <a:lnTo>
                      <a:pt x="7" y="120"/>
                    </a:lnTo>
                    <a:lnTo>
                      <a:pt x="0" y="1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19"/>
              <p:cNvSpPr>
                <a:spLocks/>
              </p:cNvSpPr>
              <p:nvPr/>
            </p:nvSpPr>
            <p:spPr bwMode="auto">
              <a:xfrm>
                <a:off x="6178" y="-1318"/>
                <a:ext cx="343" cy="341"/>
              </a:xfrm>
              <a:custGeom>
                <a:avLst/>
                <a:gdLst>
                  <a:gd name="T0" fmla="+- 0 6178 6178"/>
                  <a:gd name="T1" fmla="*/ T0 w 343"/>
                  <a:gd name="T2" fmla="+- 0 -1145 -1318"/>
                  <a:gd name="T3" fmla="*/ -1145 h 341"/>
                  <a:gd name="T4" fmla="+- 0 6185 6178"/>
                  <a:gd name="T5" fmla="*/ T4 w 343"/>
                  <a:gd name="T6" fmla="+- 0 -1198 -1318"/>
                  <a:gd name="T7" fmla="*/ -1198 h 341"/>
                  <a:gd name="T8" fmla="+- 0 6204 6178"/>
                  <a:gd name="T9" fmla="*/ T8 w 343"/>
                  <a:gd name="T10" fmla="+- 0 -1241 -1318"/>
                  <a:gd name="T11" fmla="*/ -1241 h 341"/>
                  <a:gd name="T12" fmla="+- 0 6235 6178"/>
                  <a:gd name="T13" fmla="*/ T12 w 343"/>
                  <a:gd name="T14" fmla="+- 0 -1277 -1318"/>
                  <a:gd name="T15" fmla="*/ -1277 h 341"/>
                  <a:gd name="T16" fmla="+- 0 6281 6178"/>
                  <a:gd name="T17" fmla="*/ T16 w 343"/>
                  <a:gd name="T18" fmla="+- 0 -1304 -1318"/>
                  <a:gd name="T19" fmla="*/ -1304 h 341"/>
                  <a:gd name="T20" fmla="+- 0 6324 6178"/>
                  <a:gd name="T21" fmla="*/ T20 w 343"/>
                  <a:gd name="T22" fmla="+- 0 -1318 -1318"/>
                  <a:gd name="T23" fmla="*/ -1318 h 341"/>
                  <a:gd name="T24" fmla="+- 0 6374 6178"/>
                  <a:gd name="T25" fmla="*/ T24 w 343"/>
                  <a:gd name="T26" fmla="+- 0 -1318 -1318"/>
                  <a:gd name="T27" fmla="*/ -1318 h 341"/>
                  <a:gd name="T28" fmla="+- 0 6422 6178"/>
                  <a:gd name="T29" fmla="*/ T28 w 343"/>
                  <a:gd name="T30" fmla="+- 0 -1304 -1318"/>
                  <a:gd name="T31" fmla="*/ -1304 h 341"/>
                  <a:gd name="T32" fmla="+- 0 6463 6178"/>
                  <a:gd name="T33" fmla="*/ T32 w 343"/>
                  <a:gd name="T34" fmla="+- 0 -1277 -1318"/>
                  <a:gd name="T35" fmla="*/ -1277 h 341"/>
                  <a:gd name="T36" fmla="+- 0 6497 6178"/>
                  <a:gd name="T37" fmla="*/ T36 w 343"/>
                  <a:gd name="T38" fmla="+- 0 -1241 -1318"/>
                  <a:gd name="T39" fmla="*/ -1241 h 341"/>
                  <a:gd name="T40" fmla="+- 0 6518 6178"/>
                  <a:gd name="T41" fmla="*/ T40 w 343"/>
                  <a:gd name="T42" fmla="+- 0 -1198 -1318"/>
                  <a:gd name="T43" fmla="*/ -1198 h 341"/>
                  <a:gd name="T44" fmla="+- 0 6521 6178"/>
                  <a:gd name="T45" fmla="*/ T44 w 343"/>
                  <a:gd name="T46" fmla="+- 0 -1145 -1318"/>
                  <a:gd name="T47" fmla="*/ -1145 h 341"/>
                  <a:gd name="T48" fmla="+- 0 6518 6178"/>
                  <a:gd name="T49" fmla="*/ T48 w 343"/>
                  <a:gd name="T50" fmla="+- 0 -1097 -1318"/>
                  <a:gd name="T51" fmla="*/ -1097 h 341"/>
                  <a:gd name="T52" fmla="+- 0 6497 6178"/>
                  <a:gd name="T53" fmla="*/ T52 w 343"/>
                  <a:gd name="T54" fmla="+- 0 -1054 -1318"/>
                  <a:gd name="T55" fmla="*/ -1054 h 341"/>
                  <a:gd name="T56" fmla="+- 0 6463 6178"/>
                  <a:gd name="T57" fmla="*/ T56 w 343"/>
                  <a:gd name="T58" fmla="+- 0 -1018 -1318"/>
                  <a:gd name="T59" fmla="*/ -1018 h 341"/>
                  <a:gd name="T60" fmla="+- 0 6422 6178"/>
                  <a:gd name="T61" fmla="*/ T60 w 343"/>
                  <a:gd name="T62" fmla="+- 0 -989 -1318"/>
                  <a:gd name="T63" fmla="*/ -989 h 341"/>
                  <a:gd name="T64" fmla="+- 0 6374 6178"/>
                  <a:gd name="T65" fmla="*/ T64 w 343"/>
                  <a:gd name="T66" fmla="+- 0 -977 -1318"/>
                  <a:gd name="T67" fmla="*/ -977 h 341"/>
                  <a:gd name="T68" fmla="+- 0 6324 6178"/>
                  <a:gd name="T69" fmla="*/ T68 w 343"/>
                  <a:gd name="T70" fmla="+- 0 -977 -1318"/>
                  <a:gd name="T71" fmla="*/ -977 h 341"/>
                  <a:gd name="T72" fmla="+- 0 6281 6178"/>
                  <a:gd name="T73" fmla="*/ T72 w 343"/>
                  <a:gd name="T74" fmla="+- 0 -989 -1318"/>
                  <a:gd name="T75" fmla="*/ -989 h 341"/>
                  <a:gd name="T76" fmla="+- 0 6235 6178"/>
                  <a:gd name="T77" fmla="*/ T76 w 343"/>
                  <a:gd name="T78" fmla="+- 0 -1018 -1318"/>
                  <a:gd name="T79" fmla="*/ -1018 h 341"/>
                  <a:gd name="T80" fmla="+- 0 6204 6178"/>
                  <a:gd name="T81" fmla="*/ T80 w 343"/>
                  <a:gd name="T82" fmla="+- 0 -1054 -1318"/>
                  <a:gd name="T83" fmla="*/ -1054 h 341"/>
                  <a:gd name="T84" fmla="+- 0 6185 6178"/>
                  <a:gd name="T85" fmla="*/ T84 w 343"/>
                  <a:gd name="T86" fmla="+- 0 -1097 -1318"/>
                  <a:gd name="T87" fmla="*/ -1097 h 341"/>
                  <a:gd name="T88" fmla="+- 0 6178 6178"/>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120"/>
                    </a:lnTo>
                    <a:lnTo>
                      <a:pt x="26" y="77"/>
                    </a:lnTo>
                    <a:lnTo>
                      <a:pt x="57" y="41"/>
                    </a:lnTo>
                    <a:lnTo>
                      <a:pt x="103" y="14"/>
                    </a:lnTo>
                    <a:lnTo>
                      <a:pt x="146" y="0"/>
                    </a:lnTo>
                    <a:lnTo>
                      <a:pt x="196" y="0"/>
                    </a:lnTo>
                    <a:lnTo>
                      <a:pt x="244" y="14"/>
                    </a:lnTo>
                    <a:lnTo>
                      <a:pt x="285" y="41"/>
                    </a:lnTo>
                    <a:lnTo>
                      <a:pt x="319" y="77"/>
                    </a:lnTo>
                    <a:lnTo>
                      <a:pt x="340" y="120"/>
                    </a:lnTo>
                    <a:lnTo>
                      <a:pt x="343" y="173"/>
                    </a:lnTo>
                    <a:lnTo>
                      <a:pt x="340" y="221"/>
                    </a:lnTo>
                    <a:lnTo>
                      <a:pt x="319" y="264"/>
                    </a:lnTo>
                    <a:lnTo>
                      <a:pt x="285" y="300"/>
                    </a:lnTo>
                    <a:lnTo>
                      <a:pt x="244" y="329"/>
                    </a:lnTo>
                    <a:lnTo>
                      <a:pt x="196" y="341"/>
                    </a:lnTo>
                    <a:lnTo>
                      <a:pt x="146" y="341"/>
                    </a:lnTo>
                    <a:lnTo>
                      <a:pt x="103" y="329"/>
                    </a:lnTo>
                    <a:lnTo>
                      <a:pt x="57" y="300"/>
                    </a:lnTo>
                    <a:lnTo>
                      <a:pt x="26" y="264"/>
                    </a:lnTo>
                    <a:lnTo>
                      <a:pt x="7" y="221"/>
                    </a:lnTo>
                    <a:lnTo>
                      <a:pt x="0" y="173"/>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18"/>
              <p:cNvSpPr>
                <a:spLocks/>
              </p:cNvSpPr>
              <p:nvPr/>
            </p:nvSpPr>
            <p:spPr bwMode="auto">
              <a:xfrm>
                <a:off x="6178" y="-22"/>
                <a:ext cx="343" cy="346"/>
              </a:xfrm>
              <a:custGeom>
                <a:avLst/>
                <a:gdLst>
                  <a:gd name="T0" fmla="+- 0 6178 6178"/>
                  <a:gd name="T1" fmla="*/ T0 w 343"/>
                  <a:gd name="T2" fmla="+- 0 151 -22"/>
                  <a:gd name="T3" fmla="*/ 151 h 346"/>
                  <a:gd name="T4" fmla="+- 0 6185 6178"/>
                  <a:gd name="T5" fmla="*/ T4 w 343"/>
                  <a:gd name="T6" fmla="+- 0 199 -22"/>
                  <a:gd name="T7" fmla="*/ 199 h 346"/>
                  <a:gd name="T8" fmla="+- 0 6204 6178"/>
                  <a:gd name="T9" fmla="*/ T8 w 343"/>
                  <a:gd name="T10" fmla="+- 0 242 -22"/>
                  <a:gd name="T11" fmla="*/ 242 h 346"/>
                  <a:gd name="T12" fmla="+- 0 6235 6178"/>
                  <a:gd name="T13" fmla="*/ T12 w 343"/>
                  <a:gd name="T14" fmla="+- 0 283 -22"/>
                  <a:gd name="T15" fmla="*/ 283 h 346"/>
                  <a:gd name="T16" fmla="+- 0 6281 6178"/>
                  <a:gd name="T17" fmla="*/ T16 w 343"/>
                  <a:gd name="T18" fmla="+- 0 309 -22"/>
                  <a:gd name="T19" fmla="*/ 309 h 346"/>
                  <a:gd name="T20" fmla="+- 0 6324 6178"/>
                  <a:gd name="T21" fmla="*/ T20 w 343"/>
                  <a:gd name="T22" fmla="+- 0 324 -22"/>
                  <a:gd name="T23" fmla="*/ 324 h 346"/>
                  <a:gd name="T24" fmla="+- 0 6374 6178"/>
                  <a:gd name="T25" fmla="*/ T24 w 343"/>
                  <a:gd name="T26" fmla="+- 0 324 -22"/>
                  <a:gd name="T27" fmla="*/ 324 h 346"/>
                  <a:gd name="T28" fmla="+- 0 6422 6178"/>
                  <a:gd name="T29" fmla="*/ T28 w 343"/>
                  <a:gd name="T30" fmla="+- 0 309 -22"/>
                  <a:gd name="T31" fmla="*/ 309 h 346"/>
                  <a:gd name="T32" fmla="+- 0 6463 6178"/>
                  <a:gd name="T33" fmla="*/ T32 w 343"/>
                  <a:gd name="T34" fmla="+- 0 283 -22"/>
                  <a:gd name="T35" fmla="*/ 283 h 346"/>
                  <a:gd name="T36" fmla="+- 0 6497 6178"/>
                  <a:gd name="T37" fmla="*/ T36 w 343"/>
                  <a:gd name="T38" fmla="+- 0 242 -22"/>
                  <a:gd name="T39" fmla="*/ 242 h 346"/>
                  <a:gd name="T40" fmla="+- 0 6518 6178"/>
                  <a:gd name="T41" fmla="*/ T40 w 343"/>
                  <a:gd name="T42" fmla="+- 0 199 -22"/>
                  <a:gd name="T43" fmla="*/ 199 h 346"/>
                  <a:gd name="T44" fmla="+- 0 6521 6178"/>
                  <a:gd name="T45" fmla="*/ T44 w 343"/>
                  <a:gd name="T46" fmla="+- 0 151 -22"/>
                  <a:gd name="T47" fmla="*/ 151 h 346"/>
                  <a:gd name="T48" fmla="+- 0 6518 6178"/>
                  <a:gd name="T49" fmla="*/ T48 w 343"/>
                  <a:gd name="T50" fmla="+- 0 103 -22"/>
                  <a:gd name="T51" fmla="*/ 103 h 346"/>
                  <a:gd name="T52" fmla="+- 0 6497 6178"/>
                  <a:gd name="T53" fmla="*/ T52 w 343"/>
                  <a:gd name="T54" fmla="+- 0 55 -22"/>
                  <a:gd name="T55" fmla="*/ 55 h 346"/>
                  <a:gd name="T56" fmla="+- 0 6463 6178"/>
                  <a:gd name="T57" fmla="*/ T56 w 343"/>
                  <a:gd name="T58" fmla="+- 0 19 -22"/>
                  <a:gd name="T59" fmla="*/ 19 h 346"/>
                  <a:gd name="T60" fmla="+- 0 6422 6178"/>
                  <a:gd name="T61" fmla="*/ T60 w 343"/>
                  <a:gd name="T62" fmla="+- 0 -5 -22"/>
                  <a:gd name="T63" fmla="*/ -5 h 346"/>
                  <a:gd name="T64" fmla="+- 0 6374 6178"/>
                  <a:gd name="T65" fmla="*/ T64 w 343"/>
                  <a:gd name="T66" fmla="+- 0 -22 -22"/>
                  <a:gd name="T67" fmla="*/ -22 h 346"/>
                  <a:gd name="T68" fmla="+- 0 6324 6178"/>
                  <a:gd name="T69" fmla="*/ T68 w 343"/>
                  <a:gd name="T70" fmla="+- 0 -22 -22"/>
                  <a:gd name="T71" fmla="*/ -22 h 346"/>
                  <a:gd name="T72" fmla="+- 0 6281 6178"/>
                  <a:gd name="T73" fmla="*/ T72 w 343"/>
                  <a:gd name="T74" fmla="+- 0 -5 -22"/>
                  <a:gd name="T75" fmla="*/ -5 h 346"/>
                  <a:gd name="T76" fmla="+- 0 6235 6178"/>
                  <a:gd name="T77" fmla="*/ T76 w 343"/>
                  <a:gd name="T78" fmla="+- 0 19 -22"/>
                  <a:gd name="T79" fmla="*/ 19 h 346"/>
                  <a:gd name="T80" fmla="+- 0 6204 6178"/>
                  <a:gd name="T81" fmla="*/ T80 w 343"/>
                  <a:gd name="T82" fmla="+- 0 55 -22"/>
                  <a:gd name="T83" fmla="*/ 55 h 346"/>
                  <a:gd name="T84" fmla="+- 0 6185 6178"/>
                  <a:gd name="T85" fmla="*/ T84 w 343"/>
                  <a:gd name="T86" fmla="+- 0 103 -22"/>
                  <a:gd name="T87" fmla="*/ 103 h 346"/>
                  <a:gd name="T88" fmla="+- 0 6178 6178"/>
                  <a:gd name="T89" fmla="*/ T88 w 343"/>
                  <a:gd name="T90" fmla="+- 0 151 -22"/>
                  <a:gd name="T91" fmla="*/ 151 h 34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6">
                    <a:moveTo>
                      <a:pt x="0" y="173"/>
                    </a:moveTo>
                    <a:lnTo>
                      <a:pt x="7" y="221"/>
                    </a:lnTo>
                    <a:lnTo>
                      <a:pt x="26" y="264"/>
                    </a:lnTo>
                    <a:lnTo>
                      <a:pt x="57" y="305"/>
                    </a:lnTo>
                    <a:lnTo>
                      <a:pt x="103" y="331"/>
                    </a:lnTo>
                    <a:lnTo>
                      <a:pt x="146" y="346"/>
                    </a:lnTo>
                    <a:lnTo>
                      <a:pt x="196" y="346"/>
                    </a:lnTo>
                    <a:lnTo>
                      <a:pt x="244" y="331"/>
                    </a:lnTo>
                    <a:lnTo>
                      <a:pt x="285" y="305"/>
                    </a:lnTo>
                    <a:lnTo>
                      <a:pt x="319" y="264"/>
                    </a:lnTo>
                    <a:lnTo>
                      <a:pt x="340" y="221"/>
                    </a:lnTo>
                    <a:lnTo>
                      <a:pt x="343" y="173"/>
                    </a:lnTo>
                    <a:lnTo>
                      <a:pt x="340" y="125"/>
                    </a:lnTo>
                    <a:lnTo>
                      <a:pt x="319" y="77"/>
                    </a:lnTo>
                    <a:lnTo>
                      <a:pt x="285" y="41"/>
                    </a:lnTo>
                    <a:lnTo>
                      <a:pt x="244" y="17"/>
                    </a:lnTo>
                    <a:lnTo>
                      <a:pt x="196" y="0"/>
                    </a:lnTo>
                    <a:lnTo>
                      <a:pt x="146" y="0"/>
                    </a:lnTo>
                    <a:lnTo>
                      <a:pt x="103" y="17"/>
                    </a:lnTo>
                    <a:lnTo>
                      <a:pt x="57" y="41"/>
                    </a:lnTo>
                    <a:lnTo>
                      <a:pt x="26" y="77"/>
                    </a:lnTo>
                    <a:lnTo>
                      <a:pt x="7" y="125"/>
                    </a:lnTo>
                    <a:lnTo>
                      <a:pt x="0" y="1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17"/>
              <p:cNvSpPr>
                <a:spLocks/>
              </p:cNvSpPr>
              <p:nvPr/>
            </p:nvSpPr>
            <p:spPr bwMode="auto">
              <a:xfrm>
                <a:off x="6178" y="-22"/>
                <a:ext cx="343" cy="346"/>
              </a:xfrm>
              <a:custGeom>
                <a:avLst/>
                <a:gdLst>
                  <a:gd name="T0" fmla="+- 0 6178 6178"/>
                  <a:gd name="T1" fmla="*/ T0 w 343"/>
                  <a:gd name="T2" fmla="+- 0 151 -22"/>
                  <a:gd name="T3" fmla="*/ 151 h 346"/>
                  <a:gd name="T4" fmla="+- 0 6185 6178"/>
                  <a:gd name="T5" fmla="*/ T4 w 343"/>
                  <a:gd name="T6" fmla="+- 0 103 -22"/>
                  <a:gd name="T7" fmla="*/ 103 h 346"/>
                  <a:gd name="T8" fmla="+- 0 6204 6178"/>
                  <a:gd name="T9" fmla="*/ T8 w 343"/>
                  <a:gd name="T10" fmla="+- 0 55 -22"/>
                  <a:gd name="T11" fmla="*/ 55 h 346"/>
                  <a:gd name="T12" fmla="+- 0 6235 6178"/>
                  <a:gd name="T13" fmla="*/ T12 w 343"/>
                  <a:gd name="T14" fmla="+- 0 19 -22"/>
                  <a:gd name="T15" fmla="*/ 19 h 346"/>
                  <a:gd name="T16" fmla="+- 0 6281 6178"/>
                  <a:gd name="T17" fmla="*/ T16 w 343"/>
                  <a:gd name="T18" fmla="+- 0 -5 -22"/>
                  <a:gd name="T19" fmla="*/ -5 h 346"/>
                  <a:gd name="T20" fmla="+- 0 6324 6178"/>
                  <a:gd name="T21" fmla="*/ T20 w 343"/>
                  <a:gd name="T22" fmla="+- 0 -22 -22"/>
                  <a:gd name="T23" fmla="*/ -22 h 346"/>
                  <a:gd name="T24" fmla="+- 0 6374 6178"/>
                  <a:gd name="T25" fmla="*/ T24 w 343"/>
                  <a:gd name="T26" fmla="+- 0 -22 -22"/>
                  <a:gd name="T27" fmla="*/ -22 h 346"/>
                  <a:gd name="T28" fmla="+- 0 6422 6178"/>
                  <a:gd name="T29" fmla="*/ T28 w 343"/>
                  <a:gd name="T30" fmla="+- 0 -5 -22"/>
                  <a:gd name="T31" fmla="*/ -5 h 346"/>
                  <a:gd name="T32" fmla="+- 0 6463 6178"/>
                  <a:gd name="T33" fmla="*/ T32 w 343"/>
                  <a:gd name="T34" fmla="+- 0 19 -22"/>
                  <a:gd name="T35" fmla="*/ 19 h 346"/>
                  <a:gd name="T36" fmla="+- 0 6497 6178"/>
                  <a:gd name="T37" fmla="*/ T36 w 343"/>
                  <a:gd name="T38" fmla="+- 0 55 -22"/>
                  <a:gd name="T39" fmla="*/ 55 h 346"/>
                  <a:gd name="T40" fmla="+- 0 6518 6178"/>
                  <a:gd name="T41" fmla="*/ T40 w 343"/>
                  <a:gd name="T42" fmla="+- 0 103 -22"/>
                  <a:gd name="T43" fmla="*/ 103 h 346"/>
                  <a:gd name="T44" fmla="+- 0 6521 6178"/>
                  <a:gd name="T45" fmla="*/ T44 w 343"/>
                  <a:gd name="T46" fmla="+- 0 151 -22"/>
                  <a:gd name="T47" fmla="*/ 151 h 346"/>
                  <a:gd name="T48" fmla="+- 0 6518 6178"/>
                  <a:gd name="T49" fmla="*/ T48 w 343"/>
                  <a:gd name="T50" fmla="+- 0 199 -22"/>
                  <a:gd name="T51" fmla="*/ 199 h 346"/>
                  <a:gd name="T52" fmla="+- 0 6497 6178"/>
                  <a:gd name="T53" fmla="*/ T52 w 343"/>
                  <a:gd name="T54" fmla="+- 0 242 -22"/>
                  <a:gd name="T55" fmla="*/ 242 h 346"/>
                  <a:gd name="T56" fmla="+- 0 6463 6178"/>
                  <a:gd name="T57" fmla="*/ T56 w 343"/>
                  <a:gd name="T58" fmla="+- 0 283 -22"/>
                  <a:gd name="T59" fmla="*/ 283 h 346"/>
                  <a:gd name="T60" fmla="+- 0 6422 6178"/>
                  <a:gd name="T61" fmla="*/ T60 w 343"/>
                  <a:gd name="T62" fmla="+- 0 309 -22"/>
                  <a:gd name="T63" fmla="*/ 309 h 346"/>
                  <a:gd name="T64" fmla="+- 0 6374 6178"/>
                  <a:gd name="T65" fmla="*/ T64 w 343"/>
                  <a:gd name="T66" fmla="+- 0 324 -22"/>
                  <a:gd name="T67" fmla="*/ 324 h 346"/>
                  <a:gd name="T68" fmla="+- 0 6324 6178"/>
                  <a:gd name="T69" fmla="*/ T68 w 343"/>
                  <a:gd name="T70" fmla="+- 0 324 -22"/>
                  <a:gd name="T71" fmla="*/ 324 h 346"/>
                  <a:gd name="T72" fmla="+- 0 6281 6178"/>
                  <a:gd name="T73" fmla="*/ T72 w 343"/>
                  <a:gd name="T74" fmla="+- 0 309 -22"/>
                  <a:gd name="T75" fmla="*/ 309 h 346"/>
                  <a:gd name="T76" fmla="+- 0 6235 6178"/>
                  <a:gd name="T77" fmla="*/ T76 w 343"/>
                  <a:gd name="T78" fmla="+- 0 283 -22"/>
                  <a:gd name="T79" fmla="*/ 283 h 346"/>
                  <a:gd name="T80" fmla="+- 0 6204 6178"/>
                  <a:gd name="T81" fmla="*/ T80 w 343"/>
                  <a:gd name="T82" fmla="+- 0 242 -22"/>
                  <a:gd name="T83" fmla="*/ 242 h 346"/>
                  <a:gd name="T84" fmla="+- 0 6185 6178"/>
                  <a:gd name="T85" fmla="*/ T84 w 343"/>
                  <a:gd name="T86" fmla="+- 0 199 -22"/>
                  <a:gd name="T87" fmla="*/ 199 h 346"/>
                  <a:gd name="T88" fmla="+- 0 6178 6178"/>
                  <a:gd name="T89" fmla="*/ T88 w 343"/>
                  <a:gd name="T90" fmla="+- 0 151 -22"/>
                  <a:gd name="T91" fmla="*/ 151 h 34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6">
                    <a:moveTo>
                      <a:pt x="0" y="173"/>
                    </a:moveTo>
                    <a:lnTo>
                      <a:pt x="7" y="125"/>
                    </a:lnTo>
                    <a:lnTo>
                      <a:pt x="26" y="77"/>
                    </a:lnTo>
                    <a:lnTo>
                      <a:pt x="57" y="41"/>
                    </a:lnTo>
                    <a:lnTo>
                      <a:pt x="103" y="17"/>
                    </a:lnTo>
                    <a:lnTo>
                      <a:pt x="146" y="0"/>
                    </a:lnTo>
                    <a:lnTo>
                      <a:pt x="196" y="0"/>
                    </a:lnTo>
                    <a:lnTo>
                      <a:pt x="244" y="17"/>
                    </a:lnTo>
                    <a:lnTo>
                      <a:pt x="285" y="41"/>
                    </a:lnTo>
                    <a:lnTo>
                      <a:pt x="319" y="77"/>
                    </a:lnTo>
                    <a:lnTo>
                      <a:pt x="340" y="125"/>
                    </a:lnTo>
                    <a:lnTo>
                      <a:pt x="343" y="173"/>
                    </a:lnTo>
                    <a:lnTo>
                      <a:pt x="340" y="221"/>
                    </a:lnTo>
                    <a:lnTo>
                      <a:pt x="319" y="264"/>
                    </a:lnTo>
                    <a:lnTo>
                      <a:pt x="285" y="305"/>
                    </a:lnTo>
                    <a:lnTo>
                      <a:pt x="244" y="331"/>
                    </a:lnTo>
                    <a:lnTo>
                      <a:pt x="196" y="346"/>
                    </a:lnTo>
                    <a:lnTo>
                      <a:pt x="146" y="346"/>
                    </a:lnTo>
                    <a:lnTo>
                      <a:pt x="103" y="331"/>
                    </a:lnTo>
                    <a:lnTo>
                      <a:pt x="57" y="305"/>
                    </a:lnTo>
                    <a:lnTo>
                      <a:pt x="26" y="264"/>
                    </a:lnTo>
                    <a:lnTo>
                      <a:pt x="7" y="221"/>
                    </a:lnTo>
                    <a:lnTo>
                      <a:pt x="0" y="173"/>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Freeform 16"/>
              <p:cNvSpPr>
                <a:spLocks/>
              </p:cNvSpPr>
              <p:nvPr/>
            </p:nvSpPr>
            <p:spPr bwMode="auto">
              <a:xfrm>
                <a:off x="6134" y="-497"/>
                <a:ext cx="432" cy="0"/>
              </a:xfrm>
              <a:custGeom>
                <a:avLst/>
                <a:gdLst>
                  <a:gd name="T0" fmla="+- 0 6134 6134"/>
                  <a:gd name="T1" fmla="*/ T0 w 432"/>
                  <a:gd name="T2" fmla="+- 0 6566 6134"/>
                  <a:gd name="T3" fmla="*/ T2 w 432"/>
                </a:gdLst>
                <a:ahLst/>
                <a:cxnLst>
                  <a:cxn ang="0">
                    <a:pos x="T1" y="0"/>
                  </a:cxn>
                  <a:cxn ang="0">
                    <a:pos x="T3" y="0"/>
                  </a:cxn>
                </a:cxnLst>
                <a:rect l="0" t="0" r="r" b="b"/>
                <a:pathLst>
                  <a:path w="432">
                    <a:moveTo>
                      <a:pt x="0" y="0"/>
                    </a:moveTo>
                    <a:lnTo>
                      <a:pt x="432"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Freeform 15"/>
              <p:cNvSpPr>
                <a:spLocks/>
              </p:cNvSpPr>
              <p:nvPr/>
            </p:nvSpPr>
            <p:spPr bwMode="auto">
              <a:xfrm>
                <a:off x="4620" y="-984"/>
                <a:ext cx="3895" cy="3125"/>
              </a:xfrm>
              <a:custGeom>
                <a:avLst/>
                <a:gdLst>
                  <a:gd name="T0" fmla="+- 0 4620 4620"/>
                  <a:gd name="T1" fmla="*/ T0 w 3895"/>
                  <a:gd name="T2" fmla="+- 0 -972 -984"/>
                  <a:gd name="T3" fmla="*/ -972 h 3125"/>
                  <a:gd name="T4" fmla="+- 0 4848 4620"/>
                  <a:gd name="T5" fmla="*/ T4 w 3895"/>
                  <a:gd name="T6" fmla="+- 0 -984 -984"/>
                  <a:gd name="T7" fmla="*/ -984 h 3125"/>
                  <a:gd name="T8" fmla="+- 0 5078 4620"/>
                  <a:gd name="T9" fmla="*/ T8 w 3895"/>
                  <a:gd name="T10" fmla="+- 0 -984 -984"/>
                  <a:gd name="T11" fmla="*/ -984 h 3125"/>
                  <a:gd name="T12" fmla="+- 0 5306 4620"/>
                  <a:gd name="T13" fmla="*/ T12 w 3895"/>
                  <a:gd name="T14" fmla="+- 0 -970 -984"/>
                  <a:gd name="T15" fmla="*/ -970 h 3125"/>
                  <a:gd name="T16" fmla="+- 0 5530 4620"/>
                  <a:gd name="T17" fmla="*/ T16 w 3895"/>
                  <a:gd name="T18" fmla="+- 0 -944 -984"/>
                  <a:gd name="T19" fmla="*/ -944 h 3125"/>
                  <a:gd name="T20" fmla="+- 0 5753 4620"/>
                  <a:gd name="T21" fmla="*/ T20 w 3895"/>
                  <a:gd name="T22" fmla="+- 0 -903 -984"/>
                  <a:gd name="T23" fmla="*/ -903 h 3125"/>
                  <a:gd name="T24" fmla="+- 0 5971 4620"/>
                  <a:gd name="T25" fmla="*/ T24 w 3895"/>
                  <a:gd name="T26" fmla="+- 0 -852 -984"/>
                  <a:gd name="T27" fmla="*/ -852 h 3125"/>
                  <a:gd name="T28" fmla="+- 0 6185 4620"/>
                  <a:gd name="T29" fmla="*/ T28 w 3895"/>
                  <a:gd name="T30" fmla="+- 0 -790 -984"/>
                  <a:gd name="T31" fmla="*/ -790 h 3125"/>
                  <a:gd name="T32" fmla="+- 0 6394 4620"/>
                  <a:gd name="T33" fmla="*/ T32 w 3895"/>
                  <a:gd name="T34" fmla="+- 0 -718 -984"/>
                  <a:gd name="T35" fmla="*/ -718 h 3125"/>
                  <a:gd name="T36" fmla="+- 0 6595 4620"/>
                  <a:gd name="T37" fmla="*/ T36 w 3895"/>
                  <a:gd name="T38" fmla="+- 0 -629 -984"/>
                  <a:gd name="T39" fmla="*/ -629 h 3125"/>
                  <a:gd name="T40" fmla="+- 0 6792 4620"/>
                  <a:gd name="T41" fmla="*/ T40 w 3895"/>
                  <a:gd name="T42" fmla="+- 0 -533 -984"/>
                  <a:gd name="T43" fmla="*/ -533 h 3125"/>
                  <a:gd name="T44" fmla="+- 0 6979 4620"/>
                  <a:gd name="T45" fmla="*/ T44 w 3895"/>
                  <a:gd name="T46" fmla="+- 0 -423 -984"/>
                  <a:gd name="T47" fmla="*/ -423 h 3125"/>
                  <a:gd name="T48" fmla="+- 0 7159 4620"/>
                  <a:gd name="T49" fmla="*/ T48 w 3895"/>
                  <a:gd name="T50" fmla="+- 0 -308 -984"/>
                  <a:gd name="T51" fmla="*/ -308 h 3125"/>
                  <a:gd name="T52" fmla="+- 0 7332 4620"/>
                  <a:gd name="T53" fmla="*/ T52 w 3895"/>
                  <a:gd name="T54" fmla="+- 0 -178 -984"/>
                  <a:gd name="T55" fmla="*/ -178 h 3125"/>
                  <a:gd name="T56" fmla="+- 0 7493 4620"/>
                  <a:gd name="T57" fmla="*/ T56 w 3895"/>
                  <a:gd name="T58" fmla="+- 0 -39 -984"/>
                  <a:gd name="T59" fmla="*/ -39 h 3125"/>
                  <a:gd name="T60" fmla="+- 0 7644 4620"/>
                  <a:gd name="T61" fmla="*/ T60 w 3895"/>
                  <a:gd name="T62" fmla="+- 0 108 -984"/>
                  <a:gd name="T63" fmla="*/ 108 h 3125"/>
                  <a:gd name="T64" fmla="+- 0 7786 4620"/>
                  <a:gd name="T65" fmla="*/ T64 w 3895"/>
                  <a:gd name="T66" fmla="+- 0 261 -984"/>
                  <a:gd name="T67" fmla="*/ 261 h 3125"/>
                  <a:gd name="T68" fmla="+- 0 7915 4620"/>
                  <a:gd name="T69" fmla="*/ T68 w 3895"/>
                  <a:gd name="T70" fmla="+- 0 427 -984"/>
                  <a:gd name="T71" fmla="*/ 427 h 3125"/>
                  <a:gd name="T72" fmla="+- 0 8030 4620"/>
                  <a:gd name="T73" fmla="*/ T72 w 3895"/>
                  <a:gd name="T74" fmla="+- 0 595 -984"/>
                  <a:gd name="T75" fmla="*/ 595 h 3125"/>
                  <a:gd name="T76" fmla="+- 0 8138 4620"/>
                  <a:gd name="T77" fmla="*/ T76 w 3895"/>
                  <a:gd name="T78" fmla="+- 0 775 -984"/>
                  <a:gd name="T79" fmla="*/ 775 h 3125"/>
                  <a:gd name="T80" fmla="+- 0 8232 4620"/>
                  <a:gd name="T81" fmla="*/ T80 w 3895"/>
                  <a:gd name="T82" fmla="+- 0 957 -984"/>
                  <a:gd name="T83" fmla="*/ 957 h 3125"/>
                  <a:gd name="T84" fmla="+- 0 8314 4620"/>
                  <a:gd name="T85" fmla="*/ T84 w 3895"/>
                  <a:gd name="T86" fmla="+- 0 1144 -984"/>
                  <a:gd name="T87" fmla="*/ 1144 h 3125"/>
                  <a:gd name="T88" fmla="+- 0 8378 4620"/>
                  <a:gd name="T89" fmla="*/ T88 w 3895"/>
                  <a:gd name="T90" fmla="+- 0 1339 -984"/>
                  <a:gd name="T91" fmla="*/ 1339 h 3125"/>
                  <a:gd name="T92" fmla="+- 0 8434 4620"/>
                  <a:gd name="T93" fmla="*/ T92 w 3895"/>
                  <a:gd name="T94" fmla="+- 0 1533 -984"/>
                  <a:gd name="T95" fmla="*/ 1533 h 3125"/>
                  <a:gd name="T96" fmla="+- 0 8474 4620"/>
                  <a:gd name="T97" fmla="*/ T96 w 3895"/>
                  <a:gd name="T98" fmla="+- 0 1735 -984"/>
                  <a:gd name="T99" fmla="*/ 1735 h 3125"/>
                  <a:gd name="T100" fmla="+- 0 8501 4620"/>
                  <a:gd name="T101" fmla="*/ T100 w 3895"/>
                  <a:gd name="T102" fmla="+- 0 1934 -984"/>
                  <a:gd name="T103" fmla="*/ 1934 h 3125"/>
                  <a:gd name="T104" fmla="+- 0 8515 4620"/>
                  <a:gd name="T105" fmla="*/ T104 w 3895"/>
                  <a:gd name="T106" fmla="+- 0 2140 -984"/>
                  <a:gd name="T107" fmla="*/ 2140 h 312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Lst>
                <a:rect l="0" t="0" r="r" b="b"/>
                <a:pathLst>
                  <a:path w="3895" h="3125">
                    <a:moveTo>
                      <a:pt x="0" y="12"/>
                    </a:moveTo>
                    <a:lnTo>
                      <a:pt x="228" y="0"/>
                    </a:lnTo>
                    <a:lnTo>
                      <a:pt x="458" y="0"/>
                    </a:lnTo>
                    <a:lnTo>
                      <a:pt x="686" y="14"/>
                    </a:lnTo>
                    <a:lnTo>
                      <a:pt x="910" y="40"/>
                    </a:lnTo>
                    <a:lnTo>
                      <a:pt x="1133" y="81"/>
                    </a:lnTo>
                    <a:lnTo>
                      <a:pt x="1351" y="132"/>
                    </a:lnTo>
                    <a:lnTo>
                      <a:pt x="1565" y="194"/>
                    </a:lnTo>
                    <a:lnTo>
                      <a:pt x="1774" y="266"/>
                    </a:lnTo>
                    <a:lnTo>
                      <a:pt x="1975" y="355"/>
                    </a:lnTo>
                    <a:lnTo>
                      <a:pt x="2172" y="451"/>
                    </a:lnTo>
                    <a:lnTo>
                      <a:pt x="2359" y="561"/>
                    </a:lnTo>
                    <a:lnTo>
                      <a:pt x="2539" y="676"/>
                    </a:lnTo>
                    <a:lnTo>
                      <a:pt x="2712" y="806"/>
                    </a:lnTo>
                    <a:lnTo>
                      <a:pt x="2873" y="945"/>
                    </a:lnTo>
                    <a:lnTo>
                      <a:pt x="3024" y="1092"/>
                    </a:lnTo>
                    <a:lnTo>
                      <a:pt x="3166" y="1245"/>
                    </a:lnTo>
                    <a:lnTo>
                      <a:pt x="3295" y="1411"/>
                    </a:lnTo>
                    <a:lnTo>
                      <a:pt x="3410" y="1579"/>
                    </a:lnTo>
                    <a:lnTo>
                      <a:pt x="3518" y="1759"/>
                    </a:lnTo>
                    <a:lnTo>
                      <a:pt x="3612" y="1941"/>
                    </a:lnTo>
                    <a:lnTo>
                      <a:pt x="3694" y="2128"/>
                    </a:lnTo>
                    <a:lnTo>
                      <a:pt x="3758" y="2323"/>
                    </a:lnTo>
                    <a:lnTo>
                      <a:pt x="3814" y="2517"/>
                    </a:lnTo>
                    <a:lnTo>
                      <a:pt x="3854" y="2719"/>
                    </a:lnTo>
                    <a:lnTo>
                      <a:pt x="3881" y="2918"/>
                    </a:lnTo>
                    <a:lnTo>
                      <a:pt x="3895" y="3124"/>
                    </a:lnTo>
                  </a:path>
                </a:pathLst>
              </a:custGeom>
              <a:noFill/>
              <a:ln w="2286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Freeform 10"/>
              <p:cNvSpPr>
                <a:spLocks/>
              </p:cNvSpPr>
              <p:nvPr/>
            </p:nvSpPr>
            <p:spPr bwMode="auto">
              <a:xfrm>
                <a:off x="6283" y="-562"/>
                <a:ext cx="132" cy="127"/>
              </a:xfrm>
              <a:custGeom>
                <a:avLst/>
                <a:gdLst>
                  <a:gd name="T0" fmla="+- 0 6283 6283"/>
                  <a:gd name="T1" fmla="*/ T0 w 132"/>
                  <a:gd name="T2" fmla="+- 0 -497 -562"/>
                  <a:gd name="T3" fmla="*/ -497 h 127"/>
                  <a:gd name="T4" fmla="+- 0 6290 6283"/>
                  <a:gd name="T5" fmla="*/ T4 w 132"/>
                  <a:gd name="T6" fmla="+- 0 -471 -562"/>
                  <a:gd name="T7" fmla="*/ -471 h 127"/>
                  <a:gd name="T8" fmla="+- 0 6310 6283"/>
                  <a:gd name="T9" fmla="*/ T8 w 132"/>
                  <a:gd name="T10" fmla="+- 0 -447 -562"/>
                  <a:gd name="T11" fmla="*/ -447 h 127"/>
                  <a:gd name="T12" fmla="+- 0 6336 6283"/>
                  <a:gd name="T13" fmla="*/ T12 w 132"/>
                  <a:gd name="T14" fmla="+- 0 -435 -562"/>
                  <a:gd name="T15" fmla="*/ -435 h 127"/>
                  <a:gd name="T16" fmla="+- 0 6365 6283"/>
                  <a:gd name="T17" fmla="*/ T16 w 132"/>
                  <a:gd name="T18" fmla="+- 0 -435 -562"/>
                  <a:gd name="T19" fmla="*/ -435 h 127"/>
                  <a:gd name="T20" fmla="+- 0 6389 6283"/>
                  <a:gd name="T21" fmla="*/ T20 w 132"/>
                  <a:gd name="T22" fmla="+- 0 -447 -562"/>
                  <a:gd name="T23" fmla="*/ -447 h 127"/>
                  <a:gd name="T24" fmla="+- 0 6408 6283"/>
                  <a:gd name="T25" fmla="*/ T24 w 132"/>
                  <a:gd name="T26" fmla="+- 0 -471 -562"/>
                  <a:gd name="T27" fmla="*/ -471 h 127"/>
                  <a:gd name="T28" fmla="+- 0 6415 6283"/>
                  <a:gd name="T29" fmla="*/ T28 w 132"/>
                  <a:gd name="T30" fmla="+- 0 -497 -562"/>
                  <a:gd name="T31" fmla="*/ -497 h 127"/>
                  <a:gd name="T32" fmla="+- 0 6408 6283"/>
                  <a:gd name="T33" fmla="*/ T32 w 132"/>
                  <a:gd name="T34" fmla="+- 0 -526 -562"/>
                  <a:gd name="T35" fmla="*/ -526 h 127"/>
                  <a:gd name="T36" fmla="+- 0 6389 6283"/>
                  <a:gd name="T37" fmla="*/ T36 w 132"/>
                  <a:gd name="T38" fmla="+- 0 -548 -562"/>
                  <a:gd name="T39" fmla="*/ -548 h 127"/>
                  <a:gd name="T40" fmla="+- 0 6365 6283"/>
                  <a:gd name="T41" fmla="*/ T40 w 132"/>
                  <a:gd name="T42" fmla="+- 0 -562 -562"/>
                  <a:gd name="T43" fmla="*/ -562 h 127"/>
                  <a:gd name="T44" fmla="+- 0 6336 6283"/>
                  <a:gd name="T45" fmla="*/ T44 w 132"/>
                  <a:gd name="T46" fmla="+- 0 -562 -562"/>
                  <a:gd name="T47" fmla="*/ -562 h 127"/>
                  <a:gd name="T48" fmla="+- 0 6310 6283"/>
                  <a:gd name="T49" fmla="*/ T48 w 132"/>
                  <a:gd name="T50" fmla="+- 0 -548 -562"/>
                  <a:gd name="T51" fmla="*/ -548 h 127"/>
                  <a:gd name="T52" fmla="+- 0 6290 6283"/>
                  <a:gd name="T53" fmla="*/ T52 w 132"/>
                  <a:gd name="T54" fmla="+- 0 -526 -562"/>
                  <a:gd name="T55" fmla="*/ -526 h 127"/>
                  <a:gd name="T56" fmla="+- 0 6283 6283"/>
                  <a:gd name="T57" fmla="*/ T56 w 132"/>
                  <a:gd name="T58" fmla="+- 0 -497 -562"/>
                  <a:gd name="T59" fmla="*/ -497 h 12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27">
                    <a:moveTo>
                      <a:pt x="0" y="65"/>
                    </a:moveTo>
                    <a:lnTo>
                      <a:pt x="7" y="91"/>
                    </a:lnTo>
                    <a:lnTo>
                      <a:pt x="27" y="115"/>
                    </a:lnTo>
                    <a:lnTo>
                      <a:pt x="53" y="127"/>
                    </a:lnTo>
                    <a:lnTo>
                      <a:pt x="82" y="127"/>
                    </a:lnTo>
                    <a:lnTo>
                      <a:pt x="106" y="115"/>
                    </a:lnTo>
                    <a:lnTo>
                      <a:pt x="125" y="91"/>
                    </a:lnTo>
                    <a:lnTo>
                      <a:pt x="132" y="65"/>
                    </a:lnTo>
                    <a:lnTo>
                      <a:pt x="125" y="36"/>
                    </a:lnTo>
                    <a:lnTo>
                      <a:pt x="106" y="14"/>
                    </a:lnTo>
                    <a:lnTo>
                      <a:pt x="82" y="0"/>
                    </a:lnTo>
                    <a:lnTo>
                      <a:pt x="53" y="0"/>
                    </a:lnTo>
                    <a:lnTo>
                      <a:pt x="27" y="14"/>
                    </a:lnTo>
                    <a:lnTo>
                      <a:pt x="7" y="36"/>
                    </a:lnTo>
                    <a:lnTo>
                      <a:pt x="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9"/>
              <p:cNvSpPr>
                <a:spLocks/>
              </p:cNvSpPr>
              <p:nvPr/>
            </p:nvSpPr>
            <p:spPr bwMode="auto">
              <a:xfrm>
                <a:off x="6283" y="-562"/>
                <a:ext cx="132" cy="127"/>
              </a:xfrm>
              <a:custGeom>
                <a:avLst/>
                <a:gdLst>
                  <a:gd name="T0" fmla="+- 0 6283 6283"/>
                  <a:gd name="T1" fmla="*/ T0 w 132"/>
                  <a:gd name="T2" fmla="+- 0 -497 -562"/>
                  <a:gd name="T3" fmla="*/ -497 h 127"/>
                  <a:gd name="T4" fmla="+- 0 6290 6283"/>
                  <a:gd name="T5" fmla="*/ T4 w 132"/>
                  <a:gd name="T6" fmla="+- 0 -526 -562"/>
                  <a:gd name="T7" fmla="*/ -526 h 127"/>
                  <a:gd name="T8" fmla="+- 0 6310 6283"/>
                  <a:gd name="T9" fmla="*/ T8 w 132"/>
                  <a:gd name="T10" fmla="+- 0 -548 -562"/>
                  <a:gd name="T11" fmla="*/ -548 h 127"/>
                  <a:gd name="T12" fmla="+- 0 6336 6283"/>
                  <a:gd name="T13" fmla="*/ T12 w 132"/>
                  <a:gd name="T14" fmla="+- 0 -562 -562"/>
                  <a:gd name="T15" fmla="*/ -562 h 127"/>
                  <a:gd name="T16" fmla="+- 0 6365 6283"/>
                  <a:gd name="T17" fmla="*/ T16 w 132"/>
                  <a:gd name="T18" fmla="+- 0 -562 -562"/>
                  <a:gd name="T19" fmla="*/ -562 h 127"/>
                  <a:gd name="T20" fmla="+- 0 6389 6283"/>
                  <a:gd name="T21" fmla="*/ T20 w 132"/>
                  <a:gd name="T22" fmla="+- 0 -548 -562"/>
                  <a:gd name="T23" fmla="*/ -548 h 127"/>
                  <a:gd name="T24" fmla="+- 0 6408 6283"/>
                  <a:gd name="T25" fmla="*/ T24 w 132"/>
                  <a:gd name="T26" fmla="+- 0 -526 -562"/>
                  <a:gd name="T27" fmla="*/ -526 h 127"/>
                  <a:gd name="T28" fmla="+- 0 6415 6283"/>
                  <a:gd name="T29" fmla="*/ T28 w 132"/>
                  <a:gd name="T30" fmla="+- 0 -497 -562"/>
                  <a:gd name="T31" fmla="*/ -497 h 127"/>
                  <a:gd name="T32" fmla="+- 0 6408 6283"/>
                  <a:gd name="T33" fmla="*/ T32 w 132"/>
                  <a:gd name="T34" fmla="+- 0 -471 -562"/>
                  <a:gd name="T35" fmla="*/ -471 h 127"/>
                  <a:gd name="T36" fmla="+- 0 6389 6283"/>
                  <a:gd name="T37" fmla="*/ T36 w 132"/>
                  <a:gd name="T38" fmla="+- 0 -447 -562"/>
                  <a:gd name="T39" fmla="*/ -447 h 127"/>
                  <a:gd name="T40" fmla="+- 0 6365 6283"/>
                  <a:gd name="T41" fmla="*/ T40 w 132"/>
                  <a:gd name="T42" fmla="+- 0 -435 -562"/>
                  <a:gd name="T43" fmla="*/ -435 h 127"/>
                  <a:gd name="T44" fmla="+- 0 6336 6283"/>
                  <a:gd name="T45" fmla="*/ T44 w 132"/>
                  <a:gd name="T46" fmla="+- 0 -435 -562"/>
                  <a:gd name="T47" fmla="*/ -435 h 127"/>
                  <a:gd name="T48" fmla="+- 0 6310 6283"/>
                  <a:gd name="T49" fmla="*/ T48 w 132"/>
                  <a:gd name="T50" fmla="+- 0 -447 -562"/>
                  <a:gd name="T51" fmla="*/ -447 h 127"/>
                  <a:gd name="T52" fmla="+- 0 6290 6283"/>
                  <a:gd name="T53" fmla="*/ T52 w 132"/>
                  <a:gd name="T54" fmla="+- 0 -471 -562"/>
                  <a:gd name="T55" fmla="*/ -471 h 127"/>
                  <a:gd name="T56" fmla="+- 0 6283 6283"/>
                  <a:gd name="T57" fmla="*/ T56 w 132"/>
                  <a:gd name="T58" fmla="+- 0 -497 -562"/>
                  <a:gd name="T59" fmla="*/ -497 h 12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27">
                    <a:moveTo>
                      <a:pt x="0" y="65"/>
                    </a:moveTo>
                    <a:lnTo>
                      <a:pt x="7" y="36"/>
                    </a:lnTo>
                    <a:lnTo>
                      <a:pt x="27" y="14"/>
                    </a:lnTo>
                    <a:lnTo>
                      <a:pt x="53" y="0"/>
                    </a:lnTo>
                    <a:lnTo>
                      <a:pt x="82" y="0"/>
                    </a:lnTo>
                    <a:lnTo>
                      <a:pt x="106" y="14"/>
                    </a:lnTo>
                    <a:lnTo>
                      <a:pt x="125" y="36"/>
                    </a:lnTo>
                    <a:lnTo>
                      <a:pt x="132" y="65"/>
                    </a:lnTo>
                    <a:lnTo>
                      <a:pt x="125" y="91"/>
                    </a:lnTo>
                    <a:lnTo>
                      <a:pt x="106" y="115"/>
                    </a:lnTo>
                    <a:lnTo>
                      <a:pt x="82" y="127"/>
                    </a:lnTo>
                    <a:lnTo>
                      <a:pt x="53" y="127"/>
                    </a:lnTo>
                    <a:lnTo>
                      <a:pt x="27" y="115"/>
                    </a:lnTo>
                    <a:lnTo>
                      <a:pt x="7" y="91"/>
                    </a:lnTo>
                    <a:lnTo>
                      <a:pt x="0" y="65"/>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Freeform 5"/>
              <p:cNvSpPr>
                <a:spLocks/>
              </p:cNvSpPr>
              <p:nvPr/>
            </p:nvSpPr>
            <p:spPr bwMode="auto">
              <a:xfrm>
                <a:off x="7651" y="-2014"/>
                <a:ext cx="141" cy="816"/>
              </a:xfrm>
              <a:custGeom>
                <a:avLst/>
                <a:gdLst>
                  <a:gd name="T0" fmla="+- 0 -2014 -2014"/>
                  <a:gd name="T1" fmla="*/ -2014 h 305"/>
                  <a:gd name="T2" fmla="+- 0 -1709 -2014"/>
                  <a:gd name="T3" fmla="*/ -1709 h 305"/>
                </a:gdLst>
                <a:ahLst/>
                <a:cxnLst>
                  <a:cxn ang="0">
                    <a:pos x="0" y="T1"/>
                  </a:cxn>
                  <a:cxn ang="0">
                    <a:pos x="0" y="T3"/>
                  </a:cxn>
                </a:cxnLst>
                <a:rect l="0" t="0" r="r" b="b"/>
                <a:pathLst>
                  <a:path h="305">
                    <a:moveTo>
                      <a:pt x="0" y="0"/>
                    </a:moveTo>
                    <a:lnTo>
                      <a:pt x="0" y="305"/>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2" name="Freeform 3"/>
              <p:cNvSpPr>
                <a:spLocks/>
              </p:cNvSpPr>
              <p:nvPr/>
            </p:nvSpPr>
            <p:spPr bwMode="auto">
              <a:xfrm>
                <a:off x="6283" y="-780"/>
                <a:ext cx="132" cy="130"/>
              </a:xfrm>
              <a:custGeom>
                <a:avLst/>
                <a:gdLst>
                  <a:gd name="T0" fmla="+- 0 6283 6283"/>
                  <a:gd name="T1" fmla="*/ T0 w 132"/>
                  <a:gd name="T2" fmla="+- 0 -713 -780"/>
                  <a:gd name="T3" fmla="*/ -713 h 130"/>
                  <a:gd name="T4" fmla="+- 0 6290 6283"/>
                  <a:gd name="T5" fmla="*/ T4 w 132"/>
                  <a:gd name="T6" fmla="+- 0 -687 -780"/>
                  <a:gd name="T7" fmla="*/ -687 h 130"/>
                  <a:gd name="T8" fmla="+- 0 6310 6283"/>
                  <a:gd name="T9" fmla="*/ T8 w 132"/>
                  <a:gd name="T10" fmla="+- 0 -663 -780"/>
                  <a:gd name="T11" fmla="*/ -663 h 130"/>
                  <a:gd name="T12" fmla="+- 0 6336 6283"/>
                  <a:gd name="T13" fmla="*/ T12 w 132"/>
                  <a:gd name="T14" fmla="+- 0 -651 -780"/>
                  <a:gd name="T15" fmla="*/ -651 h 130"/>
                  <a:gd name="T16" fmla="+- 0 6365 6283"/>
                  <a:gd name="T17" fmla="*/ T16 w 132"/>
                  <a:gd name="T18" fmla="+- 0 -651 -780"/>
                  <a:gd name="T19" fmla="*/ -651 h 130"/>
                  <a:gd name="T20" fmla="+- 0 6389 6283"/>
                  <a:gd name="T21" fmla="*/ T20 w 132"/>
                  <a:gd name="T22" fmla="+- 0 -663 -780"/>
                  <a:gd name="T23" fmla="*/ -663 h 130"/>
                  <a:gd name="T24" fmla="+- 0 6408 6283"/>
                  <a:gd name="T25" fmla="*/ T24 w 132"/>
                  <a:gd name="T26" fmla="+- 0 -687 -780"/>
                  <a:gd name="T27" fmla="*/ -687 h 130"/>
                  <a:gd name="T28" fmla="+- 0 6415 6283"/>
                  <a:gd name="T29" fmla="*/ T28 w 132"/>
                  <a:gd name="T30" fmla="+- 0 -713 -780"/>
                  <a:gd name="T31" fmla="*/ -713 h 130"/>
                  <a:gd name="T32" fmla="+- 0 6408 6283"/>
                  <a:gd name="T33" fmla="*/ T32 w 132"/>
                  <a:gd name="T34" fmla="+- 0 -742 -780"/>
                  <a:gd name="T35" fmla="*/ -742 h 130"/>
                  <a:gd name="T36" fmla="+- 0 6389 6283"/>
                  <a:gd name="T37" fmla="*/ T36 w 132"/>
                  <a:gd name="T38" fmla="+- 0 -764 -780"/>
                  <a:gd name="T39" fmla="*/ -764 h 130"/>
                  <a:gd name="T40" fmla="+- 0 6365 6283"/>
                  <a:gd name="T41" fmla="*/ T40 w 132"/>
                  <a:gd name="T42" fmla="+- 0 -780 -780"/>
                  <a:gd name="T43" fmla="*/ -780 h 130"/>
                  <a:gd name="T44" fmla="+- 0 6336 6283"/>
                  <a:gd name="T45" fmla="*/ T44 w 132"/>
                  <a:gd name="T46" fmla="+- 0 -780 -780"/>
                  <a:gd name="T47" fmla="*/ -780 h 130"/>
                  <a:gd name="T48" fmla="+- 0 6310 6283"/>
                  <a:gd name="T49" fmla="*/ T48 w 132"/>
                  <a:gd name="T50" fmla="+- 0 -764 -780"/>
                  <a:gd name="T51" fmla="*/ -764 h 130"/>
                  <a:gd name="T52" fmla="+- 0 6290 6283"/>
                  <a:gd name="T53" fmla="*/ T52 w 132"/>
                  <a:gd name="T54" fmla="+- 0 -742 -780"/>
                  <a:gd name="T55" fmla="*/ -742 h 130"/>
                  <a:gd name="T56" fmla="+- 0 6283 6283"/>
                  <a:gd name="T57" fmla="*/ T56 w 132"/>
                  <a:gd name="T58" fmla="+- 0 -713 -780"/>
                  <a:gd name="T59" fmla="*/ -713 h 13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30">
                    <a:moveTo>
                      <a:pt x="0" y="67"/>
                    </a:moveTo>
                    <a:lnTo>
                      <a:pt x="7" y="93"/>
                    </a:lnTo>
                    <a:lnTo>
                      <a:pt x="27" y="117"/>
                    </a:lnTo>
                    <a:lnTo>
                      <a:pt x="53" y="129"/>
                    </a:lnTo>
                    <a:lnTo>
                      <a:pt x="82" y="129"/>
                    </a:lnTo>
                    <a:lnTo>
                      <a:pt x="106" y="117"/>
                    </a:lnTo>
                    <a:lnTo>
                      <a:pt x="125" y="93"/>
                    </a:lnTo>
                    <a:lnTo>
                      <a:pt x="132" y="67"/>
                    </a:lnTo>
                    <a:lnTo>
                      <a:pt x="125" y="38"/>
                    </a:lnTo>
                    <a:lnTo>
                      <a:pt x="106" y="16"/>
                    </a:lnTo>
                    <a:lnTo>
                      <a:pt x="82" y="0"/>
                    </a:lnTo>
                    <a:lnTo>
                      <a:pt x="53" y="0"/>
                    </a:lnTo>
                    <a:lnTo>
                      <a:pt x="27" y="16"/>
                    </a:lnTo>
                    <a:lnTo>
                      <a:pt x="7" y="38"/>
                    </a:lnTo>
                    <a:lnTo>
                      <a:pt x="0"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
              <p:cNvSpPr>
                <a:spLocks/>
              </p:cNvSpPr>
              <p:nvPr/>
            </p:nvSpPr>
            <p:spPr bwMode="auto">
              <a:xfrm>
                <a:off x="6283" y="-780"/>
                <a:ext cx="132" cy="130"/>
              </a:xfrm>
              <a:custGeom>
                <a:avLst/>
                <a:gdLst>
                  <a:gd name="T0" fmla="+- 0 6283 6283"/>
                  <a:gd name="T1" fmla="*/ T0 w 132"/>
                  <a:gd name="T2" fmla="+- 0 -713 -780"/>
                  <a:gd name="T3" fmla="*/ -713 h 130"/>
                  <a:gd name="T4" fmla="+- 0 6290 6283"/>
                  <a:gd name="T5" fmla="*/ T4 w 132"/>
                  <a:gd name="T6" fmla="+- 0 -742 -780"/>
                  <a:gd name="T7" fmla="*/ -742 h 130"/>
                  <a:gd name="T8" fmla="+- 0 6310 6283"/>
                  <a:gd name="T9" fmla="*/ T8 w 132"/>
                  <a:gd name="T10" fmla="+- 0 -764 -780"/>
                  <a:gd name="T11" fmla="*/ -764 h 130"/>
                  <a:gd name="T12" fmla="+- 0 6336 6283"/>
                  <a:gd name="T13" fmla="*/ T12 w 132"/>
                  <a:gd name="T14" fmla="+- 0 -780 -780"/>
                  <a:gd name="T15" fmla="*/ -780 h 130"/>
                  <a:gd name="T16" fmla="+- 0 6365 6283"/>
                  <a:gd name="T17" fmla="*/ T16 w 132"/>
                  <a:gd name="T18" fmla="+- 0 -780 -780"/>
                  <a:gd name="T19" fmla="*/ -780 h 130"/>
                  <a:gd name="T20" fmla="+- 0 6389 6283"/>
                  <a:gd name="T21" fmla="*/ T20 w 132"/>
                  <a:gd name="T22" fmla="+- 0 -764 -780"/>
                  <a:gd name="T23" fmla="*/ -764 h 130"/>
                  <a:gd name="T24" fmla="+- 0 6408 6283"/>
                  <a:gd name="T25" fmla="*/ T24 w 132"/>
                  <a:gd name="T26" fmla="+- 0 -742 -780"/>
                  <a:gd name="T27" fmla="*/ -742 h 130"/>
                  <a:gd name="T28" fmla="+- 0 6415 6283"/>
                  <a:gd name="T29" fmla="*/ T28 w 132"/>
                  <a:gd name="T30" fmla="+- 0 -713 -780"/>
                  <a:gd name="T31" fmla="*/ -713 h 130"/>
                  <a:gd name="T32" fmla="+- 0 6408 6283"/>
                  <a:gd name="T33" fmla="*/ T32 w 132"/>
                  <a:gd name="T34" fmla="+- 0 -687 -780"/>
                  <a:gd name="T35" fmla="*/ -687 h 130"/>
                  <a:gd name="T36" fmla="+- 0 6389 6283"/>
                  <a:gd name="T37" fmla="*/ T36 w 132"/>
                  <a:gd name="T38" fmla="+- 0 -663 -780"/>
                  <a:gd name="T39" fmla="*/ -663 h 130"/>
                  <a:gd name="T40" fmla="+- 0 6365 6283"/>
                  <a:gd name="T41" fmla="*/ T40 w 132"/>
                  <a:gd name="T42" fmla="+- 0 -651 -780"/>
                  <a:gd name="T43" fmla="*/ -651 h 130"/>
                  <a:gd name="T44" fmla="+- 0 6336 6283"/>
                  <a:gd name="T45" fmla="*/ T44 w 132"/>
                  <a:gd name="T46" fmla="+- 0 -651 -780"/>
                  <a:gd name="T47" fmla="*/ -651 h 130"/>
                  <a:gd name="T48" fmla="+- 0 6310 6283"/>
                  <a:gd name="T49" fmla="*/ T48 w 132"/>
                  <a:gd name="T50" fmla="+- 0 -663 -780"/>
                  <a:gd name="T51" fmla="*/ -663 h 130"/>
                  <a:gd name="T52" fmla="+- 0 6290 6283"/>
                  <a:gd name="T53" fmla="*/ T52 w 132"/>
                  <a:gd name="T54" fmla="+- 0 -687 -780"/>
                  <a:gd name="T55" fmla="*/ -687 h 130"/>
                  <a:gd name="T56" fmla="+- 0 6283 6283"/>
                  <a:gd name="T57" fmla="*/ T56 w 132"/>
                  <a:gd name="T58" fmla="+- 0 -713 -780"/>
                  <a:gd name="T59" fmla="*/ -713 h 13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30">
                    <a:moveTo>
                      <a:pt x="0" y="67"/>
                    </a:moveTo>
                    <a:lnTo>
                      <a:pt x="7" y="38"/>
                    </a:lnTo>
                    <a:lnTo>
                      <a:pt x="27" y="16"/>
                    </a:lnTo>
                    <a:lnTo>
                      <a:pt x="53" y="0"/>
                    </a:lnTo>
                    <a:lnTo>
                      <a:pt x="82" y="0"/>
                    </a:lnTo>
                    <a:lnTo>
                      <a:pt x="106" y="16"/>
                    </a:lnTo>
                    <a:lnTo>
                      <a:pt x="125" y="38"/>
                    </a:lnTo>
                    <a:lnTo>
                      <a:pt x="132" y="67"/>
                    </a:lnTo>
                    <a:lnTo>
                      <a:pt x="125" y="93"/>
                    </a:lnTo>
                    <a:lnTo>
                      <a:pt x="106" y="117"/>
                    </a:lnTo>
                    <a:lnTo>
                      <a:pt x="82" y="129"/>
                    </a:lnTo>
                    <a:lnTo>
                      <a:pt x="53" y="129"/>
                    </a:lnTo>
                    <a:lnTo>
                      <a:pt x="27" y="117"/>
                    </a:lnTo>
                    <a:lnTo>
                      <a:pt x="7" y="93"/>
                    </a:lnTo>
                    <a:lnTo>
                      <a:pt x="0" y="67"/>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p:cNvSpPr>
                <a:spLocks/>
              </p:cNvSpPr>
              <p:nvPr/>
            </p:nvSpPr>
            <p:spPr bwMode="auto">
              <a:xfrm>
                <a:off x="7454" y="816"/>
                <a:ext cx="432" cy="0"/>
              </a:xfrm>
              <a:custGeom>
                <a:avLst/>
                <a:gdLst>
                  <a:gd name="T0" fmla="+- 0 6134 6134"/>
                  <a:gd name="T1" fmla="*/ T0 w 432"/>
                  <a:gd name="T2" fmla="+- 0 6566 6134"/>
                  <a:gd name="T3" fmla="*/ T2 w 432"/>
                </a:gdLst>
                <a:ahLst/>
                <a:cxnLst>
                  <a:cxn ang="0">
                    <a:pos x="T1" y="0"/>
                  </a:cxn>
                  <a:cxn ang="0">
                    <a:pos x="T3" y="0"/>
                  </a:cxn>
                </a:cxnLst>
                <a:rect l="0" t="0" r="r" b="b"/>
                <a:pathLst>
                  <a:path w="432">
                    <a:moveTo>
                      <a:pt x="0" y="0"/>
                    </a:moveTo>
                    <a:lnTo>
                      <a:pt x="432"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16"/>
              <p:cNvSpPr>
                <a:spLocks/>
              </p:cNvSpPr>
              <p:nvPr/>
            </p:nvSpPr>
            <p:spPr bwMode="auto">
              <a:xfrm>
                <a:off x="7461" y="-498"/>
                <a:ext cx="432" cy="0"/>
              </a:xfrm>
              <a:custGeom>
                <a:avLst/>
                <a:gdLst>
                  <a:gd name="T0" fmla="+- 0 6134 6134"/>
                  <a:gd name="T1" fmla="*/ T0 w 432"/>
                  <a:gd name="T2" fmla="+- 0 6566 6134"/>
                  <a:gd name="T3" fmla="*/ T2 w 432"/>
                </a:gdLst>
                <a:ahLst/>
                <a:cxnLst>
                  <a:cxn ang="0">
                    <a:pos x="T1" y="0"/>
                  </a:cxn>
                  <a:cxn ang="0">
                    <a:pos x="T3" y="0"/>
                  </a:cxn>
                </a:cxnLst>
                <a:rect l="0" t="0" r="r" b="b"/>
                <a:pathLst>
                  <a:path w="432">
                    <a:moveTo>
                      <a:pt x="0" y="0"/>
                    </a:moveTo>
                    <a:lnTo>
                      <a:pt x="432"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75" name="TextBox 74"/>
            <p:cNvSpPr txBox="1"/>
            <p:nvPr/>
          </p:nvSpPr>
          <p:spPr>
            <a:xfrm>
              <a:off x="7805196" y="2545383"/>
              <a:ext cx="926857" cy="369332"/>
            </a:xfrm>
            <a:prstGeom prst="rect">
              <a:avLst/>
            </a:prstGeom>
            <a:noFill/>
          </p:spPr>
          <p:txBody>
            <a:bodyPr wrap="none" rtlCol="0">
              <a:spAutoFit/>
            </a:bodyPr>
            <a:lstStyle/>
            <a:p>
              <a:r>
                <a:rPr lang="en-US" smtClean="0"/>
                <a:t>P(</a:t>
              </a:r>
              <a:r>
                <a:rPr lang="en-US" smtClean="0">
                  <a:latin typeface="Arial" panose="020B0604020202020204" pitchFamily="34" charset="0"/>
                  <a:cs typeface="Arial" panose="020B0604020202020204" pitchFamily="34" charset="0"/>
                </a:rPr>
                <a:t>x</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,y</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a:t>
              </a:r>
              <a:endParaRPr lang="en-US"/>
            </a:p>
          </p:txBody>
        </p:sp>
        <p:sp>
          <p:nvSpPr>
            <p:cNvPr id="76" name="TextBox 75"/>
            <p:cNvSpPr txBox="1"/>
            <p:nvPr/>
          </p:nvSpPr>
          <p:spPr>
            <a:xfrm>
              <a:off x="9159227" y="2643998"/>
              <a:ext cx="311304" cy="369332"/>
            </a:xfrm>
            <a:prstGeom prst="rect">
              <a:avLst/>
            </a:prstGeom>
            <a:noFill/>
          </p:spPr>
          <p:txBody>
            <a:bodyPr wrap="none" rtlCol="0">
              <a:spAutoFit/>
            </a:bodyPr>
            <a:lstStyle/>
            <a:p>
              <a:r>
                <a:rPr lang="en-US"/>
                <a:t>E</a:t>
              </a:r>
            </a:p>
          </p:txBody>
        </p:sp>
        <p:sp>
          <p:nvSpPr>
            <p:cNvPr id="77" name="TextBox 76"/>
            <p:cNvSpPr txBox="1"/>
            <p:nvPr/>
          </p:nvSpPr>
          <p:spPr>
            <a:xfrm>
              <a:off x="9192332" y="3986348"/>
              <a:ext cx="437940" cy="369332"/>
            </a:xfrm>
            <a:prstGeom prst="rect">
              <a:avLst/>
            </a:prstGeom>
            <a:noFill/>
          </p:spPr>
          <p:txBody>
            <a:bodyPr wrap="none" rtlCol="0">
              <a:spAutoFit/>
            </a:bodyPr>
            <a:lstStyle/>
            <a:p>
              <a:r>
                <a:rPr lang="en-US" smtClean="0"/>
                <a:t>SE</a:t>
              </a:r>
              <a:endParaRPr lang="en-US"/>
            </a:p>
          </p:txBody>
        </p:sp>
        <p:sp>
          <p:nvSpPr>
            <p:cNvPr id="78" name="TextBox 77"/>
            <p:cNvSpPr txBox="1"/>
            <p:nvPr/>
          </p:nvSpPr>
          <p:spPr>
            <a:xfrm>
              <a:off x="8755553" y="3363613"/>
              <a:ext cx="373820" cy="369332"/>
            </a:xfrm>
            <a:prstGeom prst="rect">
              <a:avLst/>
            </a:prstGeom>
            <a:noFill/>
          </p:spPr>
          <p:txBody>
            <a:bodyPr wrap="none" rtlCol="0">
              <a:spAutoFit/>
            </a:bodyPr>
            <a:lstStyle/>
            <a:p>
              <a:r>
                <a:rPr lang="en-US" smtClean="0"/>
                <a:t>M</a:t>
              </a:r>
              <a:endParaRPr lang="en-US"/>
            </a:p>
          </p:txBody>
        </p:sp>
        <p:sp>
          <p:nvSpPr>
            <p:cNvPr id="81" name="TextBox 80"/>
            <p:cNvSpPr txBox="1"/>
            <p:nvPr/>
          </p:nvSpPr>
          <p:spPr>
            <a:xfrm>
              <a:off x="10167860" y="3285181"/>
              <a:ext cx="458780" cy="369332"/>
            </a:xfrm>
            <a:prstGeom prst="rect">
              <a:avLst/>
            </a:prstGeom>
            <a:noFill/>
          </p:spPr>
          <p:txBody>
            <a:bodyPr wrap="none" rtlCol="0">
              <a:spAutoFit/>
            </a:bodyPr>
            <a:lstStyle/>
            <a:p>
              <a:r>
                <a:rPr lang="en-US" smtClean="0"/>
                <a:t>M</a:t>
              </a:r>
              <a:r>
                <a:rPr lang="en-US" baseline="-25000" smtClean="0"/>
                <a:t>E</a:t>
              </a:r>
              <a:endParaRPr lang="en-US"/>
            </a:p>
          </p:txBody>
        </p:sp>
        <p:sp>
          <p:nvSpPr>
            <p:cNvPr id="82" name="TextBox 81"/>
            <p:cNvSpPr txBox="1"/>
            <p:nvPr/>
          </p:nvSpPr>
          <p:spPr>
            <a:xfrm>
              <a:off x="9960712" y="4272034"/>
              <a:ext cx="543739" cy="369332"/>
            </a:xfrm>
            <a:prstGeom prst="rect">
              <a:avLst/>
            </a:prstGeom>
            <a:noFill/>
          </p:spPr>
          <p:txBody>
            <a:bodyPr wrap="none" rtlCol="0">
              <a:spAutoFit/>
            </a:bodyPr>
            <a:lstStyle/>
            <a:p>
              <a:r>
                <a:rPr lang="en-US" smtClean="0"/>
                <a:t>M</a:t>
              </a:r>
              <a:r>
                <a:rPr lang="en-US" baseline="-25000" smtClean="0"/>
                <a:t>SE</a:t>
              </a:r>
              <a:endParaRPr lang="en-US"/>
            </a:p>
          </p:txBody>
        </p:sp>
      </p:grpSp>
    </p:spTree>
    <p:extLst>
      <p:ext uri="{BB962C8B-B14F-4D97-AF65-F5344CB8AC3E}">
        <p14:creationId xmlns:p14="http://schemas.microsoft.com/office/powerpoint/2010/main" val="4535394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4978" y="148616"/>
            <a:ext cx="10018713" cy="1752599"/>
          </a:xfrm>
        </p:spPr>
        <p:txBody>
          <a:bodyPr/>
          <a:lstStyle/>
          <a:p>
            <a:r>
              <a:rPr lang="en-US" smtClean="0"/>
              <a:t>Thuật toán Midpoint</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584977" y="2528546"/>
                <a:ext cx="6205639" cy="3124201"/>
              </a:xfrm>
            </p:spPr>
            <p:txBody>
              <a:bodyPr>
                <a:noAutofit/>
              </a:bodyPr>
              <a:lstStyle/>
              <a:p>
                <a:r>
                  <a:rPr lang="en-US" smtClean="0">
                    <a:latin typeface="Arial" panose="020B0604020202020204" pitchFamily="34" charset="0"/>
                    <a:cs typeface="Arial" panose="020B0604020202020204" pitchFamily="34" charset="0"/>
                  </a:rPr>
                  <a:t>Phương trình đường tròn</a:t>
                </a:r>
              </a:p>
              <a:p>
                <a:pPr marL="0" indent="0">
                  <a:buNone/>
                </a:pPr>
                <a:r>
                  <a:rPr lang="en-US" smtClean="0">
                    <a:latin typeface="Arial" panose="020B0604020202020204" pitchFamily="34" charset="0"/>
                    <a:cs typeface="Arial" panose="020B0604020202020204" pitchFamily="34" charset="0"/>
                  </a:rPr>
                  <a:t>F(x,y)=x</a:t>
                </a:r>
                <a:r>
                  <a:rPr lang="en-US" baseline="30000" smtClean="0">
                    <a:latin typeface="Arial" panose="020B0604020202020204" pitchFamily="34" charset="0"/>
                    <a:cs typeface="Arial" panose="020B0604020202020204" pitchFamily="34" charset="0"/>
                  </a:rPr>
                  <a:t>2</a:t>
                </a:r>
                <a:r>
                  <a:rPr lang="en-US" smtClean="0">
                    <a:latin typeface="Arial" panose="020B0604020202020204" pitchFamily="34" charset="0"/>
                    <a:cs typeface="Arial" panose="020B0604020202020204" pitchFamily="34" charset="0"/>
                  </a:rPr>
                  <a:t> + y</a:t>
                </a:r>
                <a:r>
                  <a:rPr lang="en-US" baseline="30000" smtClean="0">
                    <a:latin typeface="Arial" panose="020B0604020202020204" pitchFamily="34" charset="0"/>
                    <a:cs typeface="Arial" panose="020B0604020202020204" pitchFamily="34" charset="0"/>
                  </a:rPr>
                  <a:t>2</a:t>
                </a:r>
                <a:r>
                  <a:rPr lang="en-US" smtClean="0">
                    <a:latin typeface="Arial" panose="020B0604020202020204" pitchFamily="34" charset="0"/>
                    <a:cs typeface="Arial" panose="020B0604020202020204" pitchFamily="34" charset="0"/>
                  </a:rPr>
                  <a:t> – R</a:t>
                </a:r>
                <a:r>
                  <a:rPr lang="en-US" baseline="30000" smtClean="0">
                    <a:latin typeface="Arial" panose="020B0604020202020204" pitchFamily="34" charset="0"/>
                    <a:cs typeface="Arial" panose="020B0604020202020204" pitchFamily="34" charset="0"/>
                  </a:rPr>
                  <a:t>2</a:t>
                </a:r>
                <a:endParaRPr lang="en-US" smtClean="0">
                  <a:latin typeface="Arial" panose="020B0604020202020204" pitchFamily="34" charset="0"/>
                  <a:cs typeface="Arial" panose="020B0604020202020204" pitchFamily="34" charset="0"/>
                </a:endParaRPr>
              </a:p>
              <a:p>
                <a:pPr marL="0" indent="0">
                  <a:buNone/>
                </a:pPr>
                <a:r>
                  <a:rPr lang="en-US" smtClean="0">
                    <a:latin typeface="Arial" panose="020B0604020202020204" pitchFamily="34" charset="0"/>
                    <a:cs typeface="Arial" panose="020B0604020202020204" pitchFamily="34" charset="0"/>
                  </a:rPr>
                  <a:t>Cơ sở toán học</a:t>
                </a:r>
              </a:p>
              <a:p>
                <a:pPr marL="0" indent="0">
                  <a:buNone/>
                </a:pPr>
                <a:r>
                  <a:rPr lang="en-US" smtClean="0">
                    <a:latin typeface="Arial" panose="020B0604020202020204" pitchFamily="34" charset="0"/>
                    <a:cs typeface="Arial" panose="020B0604020202020204" pitchFamily="34" charset="0"/>
                  </a:rPr>
                  <a:t>F(x,y)</a:t>
                </a:r>
                <a14:m>
                  <m:oMath xmlns:m="http://schemas.openxmlformats.org/officeDocument/2006/math">
                    <m:d>
                      <m:dPr>
                        <m:begChr m:val="{"/>
                        <m:endChr m:val=""/>
                        <m:ctrlPr>
                          <a:rPr lang="en-US" i="1" smtClean="0">
                            <a:latin typeface="Cambria Math" panose="02040503050406030204" pitchFamily="18" charset="0"/>
                            <a:cs typeface="Arial" panose="020B0604020202020204" pitchFamily="34" charset="0"/>
                          </a:rPr>
                        </m:ctrlPr>
                      </m:dPr>
                      <m:e>
                        <m:eqArr>
                          <m:eqArrPr>
                            <m:ctrlPr>
                              <a:rPr lang="en-US" i="1" smtClean="0">
                                <a:latin typeface="Cambria Math" panose="02040503050406030204" pitchFamily="18" charset="0"/>
                                <a:cs typeface="Arial" panose="020B0604020202020204" pitchFamily="34" charset="0"/>
                              </a:rPr>
                            </m:ctrlPr>
                          </m:eqArrPr>
                          <m:e>
                            <m:r>
                              <a:rPr lang="en-US" b="0" i="1" smtClean="0">
                                <a:latin typeface="Cambria Math" panose="02040503050406030204" pitchFamily="18" charset="0"/>
                                <a:cs typeface="Arial" panose="020B0604020202020204" pitchFamily="34" charset="0"/>
                              </a:rPr>
                              <m:t>&lt;0 </m:t>
                            </m:r>
                            <m:r>
                              <a:rPr lang="en-US" b="0" i="1" smtClean="0">
                                <a:latin typeface="Cambria Math" panose="02040503050406030204" pitchFamily="18" charset="0"/>
                                <a:cs typeface="Arial" panose="020B0604020202020204" pitchFamily="34" charset="0"/>
                              </a:rPr>
                              <m:t>𝑛</m:t>
                            </m:r>
                            <m:r>
                              <a:rPr lang="en-US" b="0" i="1" smtClean="0">
                                <a:latin typeface="Cambria Math" panose="02040503050406030204" pitchFamily="18" charset="0"/>
                                <a:cs typeface="Arial" panose="020B0604020202020204" pitchFamily="34" charset="0"/>
                              </a:rPr>
                              <m:t>ế</m:t>
                            </m:r>
                            <m:r>
                              <a:rPr lang="en-US" b="0" i="1" smtClean="0">
                                <a:latin typeface="Cambria Math" panose="02040503050406030204" pitchFamily="18" charset="0"/>
                                <a:cs typeface="Arial" panose="020B0604020202020204" pitchFamily="34" charset="0"/>
                              </a:rPr>
                              <m:t>𝑢</m:t>
                            </m:r>
                            <m:r>
                              <a:rPr lang="en-US" b="0" i="1" smtClean="0">
                                <a:latin typeface="Cambria Math" panose="02040503050406030204" pitchFamily="18" charset="0"/>
                                <a:cs typeface="Arial" panose="020B0604020202020204" pitchFamily="34" charset="0"/>
                              </a:rPr>
                              <m:t> </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𝑥</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𝑦</m:t>
                                </m:r>
                              </m:e>
                            </m:d>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𝑛</m:t>
                            </m:r>
                            <m:r>
                              <a:rPr lang="en-US" b="0" i="1" smtClean="0">
                                <a:latin typeface="Cambria Math" panose="02040503050406030204" pitchFamily="18" charset="0"/>
                                <a:cs typeface="Arial" panose="020B0604020202020204" pitchFamily="34" charset="0"/>
                              </a:rPr>
                              <m:t>ằ</m:t>
                            </m:r>
                            <m:r>
                              <a:rPr lang="en-US" b="0" i="1" smtClean="0">
                                <a:latin typeface="Cambria Math" panose="02040503050406030204" pitchFamily="18" charset="0"/>
                                <a:cs typeface="Arial" panose="020B0604020202020204" pitchFamily="34" charset="0"/>
                              </a:rPr>
                              <m:t>𝑚</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𝑡𝑟𝑜𝑛𝑔</m:t>
                            </m:r>
                            <m:r>
                              <a:rPr lang="en-US" b="0" i="1" smtClean="0">
                                <a:latin typeface="Cambria Math" panose="02040503050406030204" pitchFamily="18" charset="0"/>
                                <a:cs typeface="Arial" panose="020B0604020202020204" pitchFamily="34" charset="0"/>
                              </a:rPr>
                              <m:t> đườ</m:t>
                            </m:r>
                            <m:r>
                              <a:rPr lang="en-US" b="0" i="1" smtClean="0">
                                <a:latin typeface="Cambria Math" panose="02040503050406030204" pitchFamily="18" charset="0"/>
                                <a:cs typeface="Arial" panose="020B0604020202020204" pitchFamily="34" charset="0"/>
                              </a:rPr>
                              <m:t>𝑛𝑔</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𝑡𝑟</m:t>
                            </m:r>
                            <m:r>
                              <a:rPr lang="en-US" b="0" i="1" smtClean="0">
                                <a:latin typeface="Cambria Math" panose="02040503050406030204" pitchFamily="18" charset="0"/>
                                <a:cs typeface="Arial" panose="020B0604020202020204" pitchFamily="34" charset="0"/>
                              </a:rPr>
                              <m:t>ò</m:t>
                            </m:r>
                            <m:r>
                              <a:rPr lang="en-US" b="0" i="1" smtClean="0">
                                <a:latin typeface="Cambria Math" panose="02040503050406030204" pitchFamily="18" charset="0"/>
                                <a:cs typeface="Arial" panose="020B0604020202020204" pitchFamily="34" charset="0"/>
                              </a:rPr>
                              <m:t>𝑛</m:t>
                            </m:r>
                          </m:e>
                          <m:e>
                            <m:r>
                              <a:rPr lang="en-US" b="0" i="1" smtClean="0">
                                <a:latin typeface="Cambria Math" panose="02040503050406030204" pitchFamily="18" charset="0"/>
                                <a:cs typeface="Arial" panose="020B0604020202020204" pitchFamily="34" charset="0"/>
                              </a:rPr>
                              <m:t>=0 </m:t>
                            </m:r>
                            <m:r>
                              <a:rPr lang="en-US" b="0" i="1" smtClean="0">
                                <a:latin typeface="Cambria Math" panose="02040503050406030204" pitchFamily="18" charset="0"/>
                                <a:cs typeface="Arial" panose="020B0604020202020204" pitchFamily="34" charset="0"/>
                              </a:rPr>
                              <m:t>𝑛</m:t>
                            </m:r>
                            <m:r>
                              <a:rPr lang="en-US" b="0" i="1" smtClean="0">
                                <a:latin typeface="Cambria Math" panose="02040503050406030204" pitchFamily="18" charset="0"/>
                                <a:cs typeface="Arial" panose="020B0604020202020204" pitchFamily="34" charset="0"/>
                              </a:rPr>
                              <m:t>ế</m:t>
                            </m:r>
                            <m:r>
                              <a:rPr lang="en-US" b="0" i="1" smtClean="0">
                                <a:latin typeface="Cambria Math" panose="02040503050406030204" pitchFamily="18" charset="0"/>
                                <a:cs typeface="Arial" panose="020B0604020202020204" pitchFamily="34" charset="0"/>
                              </a:rPr>
                              <m:t>𝑢</m:t>
                            </m:r>
                            <m:r>
                              <a:rPr lang="en-US" b="0" i="1" smtClean="0">
                                <a:latin typeface="Cambria Math" panose="02040503050406030204" pitchFamily="18" charset="0"/>
                                <a:cs typeface="Arial" panose="020B0604020202020204" pitchFamily="34" charset="0"/>
                              </a:rPr>
                              <m:t> </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𝑥</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𝑦</m:t>
                                </m:r>
                              </m:e>
                            </m:d>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𝑡h𝑢</m:t>
                            </m:r>
                            <m:r>
                              <a:rPr lang="en-US" b="0" i="1" smtClean="0">
                                <a:latin typeface="Cambria Math" panose="02040503050406030204" pitchFamily="18" charset="0"/>
                                <a:cs typeface="Arial" panose="020B0604020202020204" pitchFamily="34" charset="0"/>
                              </a:rPr>
                              <m:t>ộ</m:t>
                            </m:r>
                            <m:r>
                              <a:rPr lang="en-US" b="0" i="1" smtClean="0">
                                <a:latin typeface="Cambria Math" panose="02040503050406030204" pitchFamily="18" charset="0"/>
                                <a:cs typeface="Arial" panose="020B0604020202020204" pitchFamily="34" charset="0"/>
                              </a:rPr>
                              <m:t>𝑐</m:t>
                            </m:r>
                            <m:r>
                              <a:rPr lang="en-US" b="0" i="1" smtClean="0">
                                <a:latin typeface="Cambria Math" panose="02040503050406030204" pitchFamily="18" charset="0"/>
                                <a:cs typeface="Arial" panose="020B0604020202020204" pitchFamily="34" charset="0"/>
                              </a:rPr>
                              <m:t> đườ</m:t>
                            </m:r>
                            <m:r>
                              <a:rPr lang="en-US" b="0" i="1" smtClean="0">
                                <a:latin typeface="Cambria Math" panose="02040503050406030204" pitchFamily="18" charset="0"/>
                                <a:cs typeface="Arial" panose="020B0604020202020204" pitchFamily="34" charset="0"/>
                              </a:rPr>
                              <m:t>𝑛𝑔</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𝑡𝑟</m:t>
                            </m:r>
                            <m:r>
                              <a:rPr lang="en-US" b="0" i="1" smtClean="0">
                                <a:latin typeface="Cambria Math" panose="02040503050406030204" pitchFamily="18" charset="0"/>
                                <a:cs typeface="Arial" panose="020B0604020202020204" pitchFamily="34" charset="0"/>
                              </a:rPr>
                              <m:t>ò</m:t>
                            </m:r>
                            <m:r>
                              <a:rPr lang="en-US" b="0" i="1" smtClean="0">
                                <a:latin typeface="Cambria Math" panose="02040503050406030204" pitchFamily="18" charset="0"/>
                                <a:cs typeface="Arial" panose="020B0604020202020204" pitchFamily="34" charset="0"/>
                              </a:rPr>
                              <m:t>𝑛</m:t>
                            </m:r>
                            <m:r>
                              <a:rPr lang="en-US" b="0" i="1" smtClean="0">
                                <a:latin typeface="Cambria Math" panose="02040503050406030204" pitchFamily="18" charset="0"/>
                                <a:cs typeface="Arial" panose="020B0604020202020204" pitchFamily="34" charset="0"/>
                              </a:rPr>
                              <m:t>         </m:t>
                            </m:r>
                          </m:e>
                          <m:e>
                            <m:r>
                              <a:rPr lang="en-US" b="0" i="1" smtClean="0">
                                <a:latin typeface="Cambria Math" panose="02040503050406030204" pitchFamily="18" charset="0"/>
                                <a:cs typeface="Arial" panose="020B0604020202020204" pitchFamily="34" charset="0"/>
                              </a:rPr>
                              <m:t>&gt;0 </m:t>
                            </m:r>
                            <m:r>
                              <a:rPr lang="en-US" b="0" i="1" smtClean="0">
                                <a:latin typeface="Cambria Math" panose="02040503050406030204" pitchFamily="18" charset="0"/>
                                <a:cs typeface="Arial" panose="020B0604020202020204" pitchFamily="34" charset="0"/>
                              </a:rPr>
                              <m:t>𝑛</m:t>
                            </m:r>
                            <m:r>
                              <a:rPr lang="en-US" b="0" i="1" smtClean="0">
                                <a:latin typeface="Cambria Math" panose="02040503050406030204" pitchFamily="18" charset="0"/>
                                <a:cs typeface="Arial" panose="020B0604020202020204" pitchFamily="34" charset="0"/>
                              </a:rPr>
                              <m:t>ế</m:t>
                            </m:r>
                            <m:r>
                              <a:rPr lang="en-US" b="0" i="1" smtClean="0">
                                <a:latin typeface="Cambria Math" panose="02040503050406030204" pitchFamily="18" charset="0"/>
                                <a:cs typeface="Arial" panose="020B0604020202020204" pitchFamily="34" charset="0"/>
                              </a:rPr>
                              <m:t>𝑢</m:t>
                            </m:r>
                            <m:r>
                              <a:rPr lang="en-US" b="0" i="1" smtClean="0">
                                <a:latin typeface="Cambria Math" panose="02040503050406030204" pitchFamily="18" charset="0"/>
                                <a:cs typeface="Arial" panose="020B0604020202020204" pitchFamily="34" charset="0"/>
                              </a:rPr>
                              <m:t> </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𝑥</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𝑦</m:t>
                                </m:r>
                              </m:e>
                            </m:d>
                            <m:r>
                              <a:rPr lang="en-US" b="0" i="1" smtClean="0">
                                <a:latin typeface="Cambria Math" panose="02040503050406030204" pitchFamily="18" charset="0"/>
                                <a:cs typeface="Arial" panose="020B0604020202020204" pitchFamily="34" charset="0"/>
                              </a:rPr>
                              <m:t>𝑛</m:t>
                            </m:r>
                            <m:r>
                              <a:rPr lang="en-US" b="0" i="1" smtClean="0">
                                <a:latin typeface="Cambria Math" panose="02040503050406030204" pitchFamily="18" charset="0"/>
                                <a:cs typeface="Arial" panose="020B0604020202020204" pitchFamily="34" charset="0"/>
                              </a:rPr>
                              <m:t>ằ</m:t>
                            </m:r>
                            <m:r>
                              <a:rPr lang="en-US" b="0" i="1" smtClean="0">
                                <a:latin typeface="Cambria Math" panose="02040503050406030204" pitchFamily="18" charset="0"/>
                                <a:cs typeface="Arial" panose="020B0604020202020204" pitchFamily="34" charset="0"/>
                              </a:rPr>
                              <m:t>𝑚</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𝑛𝑔𝑜</m:t>
                            </m:r>
                            <m:r>
                              <a:rPr lang="en-US" b="0" i="1" smtClean="0">
                                <a:latin typeface="Cambria Math" panose="02040503050406030204" pitchFamily="18" charset="0"/>
                                <a:cs typeface="Arial" panose="020B0604020202020204" pitchFamily="34" charset="0"/>
                              </a:rPr>
                              <m:t>à</m:t>
                            </m:r>
                            <m:r>
                              <a:rPr lang="en-US" b="0" i="1" smtClean="0">
                                <a:latin typeface="Cambria Math" panose="02040503050406030204" pitchFamily="18" charset="0"/>
                                <a:cs typeface="Arial" panose="020B0604020202020204" pitchFamily="34" charset="0"/>
                              </a:rPr>
                              <m:t>𝑖</m:t>
                            </m:r>
                            <m:r>
                              <a:rPr lang="en-US" b="0" i="1" smtClean="0">
                                <a:latin typeface="Cambria Math" panose="02040503050406030204" pitchFamily="18" charset="0"/>
                                <a:cs typeface="Arial" panose="020B0604020202020204" pitchFamily="34" charset="0"/>
                              </a:rPr>
                              <m:t> đườ</m:t>
                            </m:r>
                            <m:r>
                              <a:rPr lang="en-US" b="0" i="1" smtClean="0">
                                <a:latin typeface="Cambria Math" panose="02040503050406030204" pitchFamily="18" charset="0"/>
                                <a:cs typeface="Arial" panose="020B0604020202020204" pitchFamily="34" charset="0"/>
                              </a:rPr>
                              <m:t>𝑛𝑔</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𝑡𝑟</m:t>
                            </m:r>
                            <m:r>
                              <a:rPr lang="en-US" b="0" i="1" smtClean="0">
                                <a:latin typeface="Cambria Math" panose="02040503050406030204" pitchFamily="18" charset="0"/>
                                <a:cs typeface="Arial" panose="020B0604020202020204" pitchFamily="34" charset="0"/>
                              </a:rPr>
                              <m:t>ò</m:t>
                            </m:r>
                            <m:r>
                              <a:rPr lang="en-US" b="0" i="1" smtClean="0">
                                <a:latin typeface="Cambria Math" panose="02040503050406030204" pitchFamily="18" charset="0"/>
                                <a:cs typeface="Arial" panose="020B0604020202020204" pitchFamily="34" charset="0"/>
                              </a:rPr>
                              <m:t>𝑛</m:t>
                            </m:r>
                          </m:e>
                        </m:eqArr>
                      </m:e>
                    </m:d>
                  </m:oMath>
                </a14:m>
                <a:endParaRPr lang="en-US">
                  <a:latin typeface="Arial" panose="020B0604020202020204" pitchFamily="34" charset="0"/>
                  <a:cs typeface="Arial" panose="020B0604020202020204" pitchFamily="34"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584977" y="2528546"/>
                <a:ext cx="6205639" cy="3124201"/>
              </a:xfrm>
              <a:blipFill>
                <a:blip r:embed="rId2"/>
                <a:stretch>
                  <a:fillRect l="-2456" t="-683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AC668D0-FFF1-47C5-8061-FF1B22C34E7B}" type="slidenum">
              <a:rPr lang="en-US" smtClean="0"/>
              <a:t>32</a:t>
            </a:fld>
            <a:endParaRPr lang="en-US"/>
          </a:p>
        </p:txBody>
      </p:sp>
      <p:grpSp>
        <p:nvGrpSpPr>
          <p:cNvPr id="83" name="Group 82"/>
          <p:cNvGrpSpPr/>
          <p:nvPr/>
        </p:nvGrpSpPr>
        <p:grpSpPr>
          <a:xfrm>
            <a:off x="7805196" y="2545383"/>
            <a:ext cx="2821444" cy="2748277"/>
            <a:chOff x="7805196" y="2545383"/>
            <a:chExt cx="2821444" cy="2748277"/>
          </a:xfrm>
        </p:grpSpPr>
        <p:grpSp>
          <p:nvGrpSpPr>
            <p:cNvPr id="18" name="Group 1"/>
            <p:cNvGrpSpPr>
              <a:grpSpLocks/>
            </p:cNvGrpSpPr>
            <p:nvPr/>
          </p:nvGrpSpPr>
          <p:grpSpPr bwMode="auto">
            <a:xfrm>
              <a:off x="7805196" y="2545383"/>
              <a:ext cx="2747014" cy="2748277"/>
              <a:chOff x="4188" y="-2014"/>
              <a:chExt cx="4327" cy="4327"/>
            </a:xfrm>
          </p:grpSpPr>
          <p:sp>
            <p:nvSpPr>
              <p:cNvPr id="19" name="Freeform 29"/>
              <p:cNvSpPr>
                <a:spLocks/>
              </p:cNvSpPr>
              <p:nvPr/>
            </p:nvSpPr>
            <p:spPr bwMode="auto">
              <a:xfrm>
                <a:off x="5052" y="-2014"/>
                <a:ext cx="0" cy="1711"/>
              </a:xfrm>
              <a:custGeom>
                <a:avLst/>
                <a:gdLst>
                  <a:gd name="T0" fmla="+- 0 -2014 -2014"/>
                  <a:gd name="T1" fmla="*/ -2014 h 1711"/>
                  <a:gd name="T2" fmla="+- 0 -303 -2014"/>
                  <a:gd name="T3" fmla="*/ -303 h 1711"/>
                </a:gdLst>
                <a:ahLst/>
                <a:cxnLst>
                  <a:cxn ang="0">
                    <a:pos x="0" y="T1"/>
                  </a:cxn>
                  <a:cxn ang="0">
                    <a:pos x="0" y="T3"/>
                  </a:cxn>
                </a:cxnLst>
                <a:rect l="0" t="0" r="r" b="b"/>
                <a:pathLst>
                  <a:path h="1711">
                    <a:moveTo>
                      <a:pt x="0" y="0"/>
                    </a:moveTo>
                    <a:lnTo>
                      <a:pt x="0" y="1711"/>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28"/>
              <p:cNvSpPr>
                <a:spLocks/>
              </p:cNvSpPr>
              <p:nvPr/>
            </p:nvSpPr>
            <p:spPr bwMode="auto">
              <a:xfrm>
                <a:off x="4188" y="-1145"/>
                <a:ext cx="4327" cy="0"/>
              </a:xfrm>
              <a:custGeom>
                <a:avLst/>
                <a:gdLst>
                  <a:gd name="T0" fmla="+- 0 4188 4188"/>
                  <a:gd name="T1" fmla="*/ T0 w 4327"/>
                  <a:gd name="T2" fmla="+- 0 8515 4188"/>
                  <a:gd name="T3" fmla="*/ T2 w 4327"/>
                </a:gdLst>
                <a:ahLst/>
                <a:cxnLst>
                  <a:cxn ang="0">
                    <a:pos x="T1" y="0"/>
                  </a:cxn>
                  <a:cxn ang="0">
                    <a:pos x="T3" y="0"/>
                  </a:cxn>
                </a:cxnLst>
                <a:rect l="0" t="0" r="r" b="b"/>
                <a:pathLst>
                  <a:path w="4327">
                    <a:moveTo>
                      <a:pt x="0" y="0"/>
                    </a:moveTo>
                    <a:lnTo>
                      <a:pt x="432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27"/>
              <p:cNvSpPr>
                <a:spLocks/>
              </p:cNvSpPr>
              <p:nvPr/>
            </p:nvSpPr>
            <p:spPr bwMode="auto">
              <a:xfrm flipH="1">
                <a:off x="4992" y="-562"/>
                <a:ext cx="72" cy="2875"/>
              </a:xfrm>
              <a:custGeom>
                <a:avLst/>
                <a:gdLst>
                  <a:gd name="T0" fmla="+- 0 33 33"/>
                  <a:gd name="T1" fmla="*/ 33 h 2280"/>
                  <a:gd name="T2" fmla="+- 0 2313 33"/>
                  <a:gd name="T3" fmla="*/ 2313 h 2280"/>
                </a:gdLst>
                <a:ahLst/>
                <a:cxnLst>
                  <a:cxn ang="0">
                    <a:pos x="0" y="T1"/>
                  </a:cxn>
                  <a:cxn ang="0">
                    <a:pos x="0" y="T3"/>
                  </a:cxn>
                </a:cxnLst>
                <a:rect l="0" t="0" r="r" b="b"/>
                <a:pathLst>
                  <a:path h="2280">
                    <a:moveTo>
                      <a:pt x="0" y="0"/>
                    </a:moveTo>
                    <a:lnTo>
                      <a:pt x="0" y="228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26"/>
              <p:cNvSpPr>
                <a:spLocks/>
              </p:cNvSpPr>
              <p:nvPr/>
            </p:nvSpPr>
            <p:spPr bwMode="auto">
              <a:xfrm>
                <a:off x="4188" y="151"/>
                <a:ext cx="4327" cy="0"/>
              </a:xfrm>
              <a:custGeom>
                <a:avLst/>
                <a:gdLst>
                  <a:gd name="T0" fmla="+- 0 4188 4188"/>
                  <a:gd name="T1" fmla="*/ T0 w 4327"/>
                  <a:gd name="T2" fmla="+- 0 8515 4188"/>
                  <a:gd name="T3" fmla="*/ T2 w 4327"/>
                </a:gdLst>
                <a:ahLst/>
                <a:cxnLst>
                  <a:cxn ang="0">
                    <a:pos x="T1" y="0"/>
                  </a:cxn>
                  <a:cxn ang="0">
                    <a:pos x="T3" y="0"/>
                  </a:cxn>
                </a:cxnLst>
                <a:rect l="0" t="0" r="r" b="b"/>
                <a:pathLst>
                  <a:path w="4327">
                    <a:moveTo>
                      <a:pt x="0" y="0"/>
                    </a:moveTo>
                    <a:lnTo>
                      <a:pt x="432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25"/>
              <p:cNvSpPr>
                <a:spLocks/>
              </p:cNvSpPr>
              <p:nvPr/>
            </p:nvSpPr>
            <p:spPr bwMode="auto">
              <a:xfrm>
                <a:off x="6350" y="-2014"/>
                <a:ext cx="0" cy="4327"/>
              </a:xfrm>
              <a:custGeom>
                <a:avLst/>
                <a:gdLst>
                  <a:gd name="T0" fmla="+- 0 -2014 -2014"/>
                  <a:gd name="T1" fmla="*/ -2014 h 4327"/>
                  <a:gd name="T2" fmla="+- 0 2313 -2014"/>
                  <a:gd name="T3" fmla="*/ 2313 h 4327"/>
                </a:gdLst>
                <a:ahLst/>
                <a:cxnLst>
                  <a:cxn ang="0">
                    <a:pos x="0" y="T1"/>
                  </a:cxn>
                  <a:cxn ang="0">
                    <a:pos x="0" y="T3"/>
                  </a:cxn>
                </a:cxnLst>
                <a:rect l="0" t="0" r="r" b="b"/>
                <a:pathLst>
                  <a:path h="4327">
                    <a:moveTo>
                      <a:pt x="0" y="0"/>
                    </a:moveTo>
                    <a:lnTo>
                      <a:pt x="0" y="4327"/>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24"/>
              <p:cNvSpPr>
                <a:spLocks/>
              </p:cNvSpPr>
              <p:nvPr/>
            </p:nvSpPr>
            <p:spPr bwMode="auto">
              <a:xfrm>
                <a:off x="4188" y="1447"/>
                <a:ext cx="4327" cy="0"/>
              </a:xfrm>
              <a:custGeom>
                <a:avLst/>
                <a:gdLst>
                  <a:gd name="T0" fmla="+- 0 4188 4188"/>
                  <a:gd name="T1" fmla="*/ T0 w 4327"/>
                  <a:gd name="T2" fmla="+- 0 8515 4188"/>
                  <a:gd name="T3" fmla="*/ T2 w 4327"/>
                </a:gdLst>
                <a:ahLst/>
                <a:cxnLst>
                  <a:cxn ang="0">
                    <a:pos x="T1" y="0"/>
                  </a:cxn>
                  <a:cxn ang="0">
                    <a:pos x="T3" y="0"/>
                  </a:cxn>
                </a:cxnLst>
                <a:rect l="0" t="0" r="r" b="b"/>
                <a:pathLst>
                  <a:path w="4327">
                    <a:moveTo>
                      <a:pt x="0" y="0"/>
                    </a:moveTo>
                    <a:lnTo>
                      <a:pt x="432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23"/>
              <p:cNvSpPr>
                <a:spLocks/>
              </p:cNvSpPr>
              <p:nvPr/>
            </p:nvSpPr>
            <p:spPr bwMode="auto">
              <a:xfrm>
                <a:off x="7651" y="-1198"/>
                <a:ext cx="0" cy="3511"/>
              </a:xfrm>
              <a:custGeom>
                <a:avLst/>
                <a:gdLst>
                  <a:gd name="T0" fmla="+- 0 -1198 -1198"/>
                  <a:gd name="T1" fmla="*/ -1198 h 3511"/>
                  <a:gd name="T2" fmla="+- 0 2313 -1198"/>
                  <a:gd name="T3" fmla="*/ 2313 h 3511"/>
                </a:gdLst>
                <a:ahLst/>
                <a:cxnLst>
                  <a:cxn ang="0">
                    <a:pos x="0" y="T1"/>
                  </a:cxn>
                  <a:cxn ang="0">
                    <a:pos x="0" y="T3"/>
                  </a:cxn>
                </a:cxnLst>
                <a:rect l="0" t="0" r="r" b="b"/>
                <a:pathLst>
                  <a:path h="3511">
                    <a:moveTo>
                      <a:pt x="0" y="0"/>
                    </a:moveTo>
                    <a:lnTo>
                      <a:pt x="0" y="3511"/>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Freeform 22"/>
              <p:cNvSpPr>
                <a:spLocks/>
              </p:cNvSpPr>
              <p:nvPr/>
            </p:nvSpPr>
            <p:spPr bwMode="auto">
              <a:xfrm>
                <a:off x="4882" y="-1318"/>
                <a:ext cx="343" cy="341"/>
              </a:xfrm>
              <a:custGeom>
                <a:avLst/>
                <a:gdLst>
                  <a:gd name="T0" fmla="+- 0 4882 4882"/>
                  <a:gd name="T1" fmla="*/ T0 w 343"/>
                  <a:gd name="T2" fmla="+- 0 -1145 -1318"/>
                  <a:gd name="T3" fmla="*/ -1145 h 341"/>
                  <a:gd name="T4" fmla="+- 0 4889 4882"/>
                  <a:gd name="T5" fmla="*/ T4 w 343"/>
                  <a:gd name="T6" fmla="+- 0 -1097 -1318"/>
                  <a:gd name="T7" fmla="*/ -1097 h 341"/>
                  <a:gd name="T8" fmla="+- 0 4906 4882"/>
                  <a:gd name="T9" fmla="*/ T8 w 343"/>
                  <a:gd name="T10" fmla="+- 0 -1054 -1318"/>
                  <a:gd name="T11" fmla="*/ -1054 h 341"/>
                  <a:gd name="T12" fmla="+- 0 4939 4882"/>
                  <a:gd name="T13" fmla="*/ T12 w 343"/>
                  <a:gd name="T14" fmla="+- 0 -1018 -1318"/>
                  <a:gd name="T15" fmla="*/ -1018 h 341"/>
                  <a:gd name="T16" fmla="+- 0 4980 4882"/>
                  <a:gd name="T17" fmla="*/ T16 w 343"/>
                  <a:gd name="T18" fmla="+- 0 -989 -1318"/>
                  <a:gd name="T19" fmla="*/ -989 h 341"/>
                  <a:gd name="T20" fmla="+- 0 5028 4882"/>
                  <a:gd name="T21" fmla="*/ T20 w 343"/>
                  <a:gd name="T22" fmla="+- 0 -977 -1318"/>
                  <a:gd name="T23" fmla="*/ -977 h 341"/>
                  <a:gd name="T24" fmla="+- 0 5078 4882"/>
                  <a:gd name="T25" fmla="*/ T24 w 343"/>
                  <a:gd name="T26" fmla="+- 0 -977 -1318"/>
                  <a:gd name="T27" fmla="*/ -977 h 341"/>
                  <a:gd name="T28" fmla="+- 0 5122 4882"/>
                  <a:gd name="T29" fmla="*/ T28 w 343"/>
                  <a:gd name="T30" fmla="+- 0 -989 -1318"/>
                  <a:gd name="T31" fmla="*/ -989 h 341"/>
                  <a:gd name="T32" fmla="+- 0 5167 4882"/>
                  <a:gd name="T33" fmla="*/ T32 w 343"/>
                  <a:gd name="T34" fmla="+- 0 -1018 -1318"/>
                  <a:gd name="T35" fmla="*/ -1018 h 341"/>
                  <a:gd name="T36" fmla="+- 0 5198 4882"/>
                  <a:gd name="T37" fmla="*/ T36 w 343"/>
                  <a:gd name="T38" fmla="+- 0 -1054 -1318"/>
                  <a:gd name="T39" fmla="*/ -1054 h 341"/>
                  <a:gd name="T40" fmla="+- 0 5218 4882"/>
                  <a:gd name="T41" fmla="*/ T40 w 343"/>
                  <a:gd name="T42" fmla="+- 0 -1097 -1318"/>
                  <a:gd name="T43" fmla="*/ -1097 h 341"/>
                  <a:gd name="T44" fmla="+- 0 5225 4882"/>
                  <a:gd name="T45" fmla="*/ T44 w 343"/>
                  <a:gd name="T46" fmla="+- 0 -1145 -1318"/>
                  <a:gd name="T47" fmla="*/ -1145 h 341"/>
                  <a:gd name="T48" fmla="+- 0 5218 4882"/>
                  <a:gd name="T49" fmla="*/ T48 w 343"/>
                  <a:gd name="T50" fmla="+- 0 -1198 -1318"/>
                  <a:gd name="T51" fmla="*/ -1198 h 341"/>
                  <a:gd name="T52" fmla="+- 0 5198 4882"/>
                  <a:gd name="T53" fmla="*/ T52 w 343"/>
                  <a:gd name="T54" fmla="+- 0 -1241 -1318"/>
                  <a:gd name="T55" fmla="*/ -1241 h 341"/>
                  <a:gd name="T56" fmla="+- 0 5167 4882"/>
                  <a:gd name="T57" fmla="*/ T56 w 343"/>
                  <a:gd name="T58" fmla="+- 0 -1277 -1318"/>
                  <a:gd name="T59" fmla="*/ -1277 h 341"/>
                  <a:gd name="T60" fmla="+- 0 5122 4882"/>
                  <a:gd name="T61" fmla="*/ T60 w 343"/>
                  <a:gd name="T62" fmla="+- 0 -1304 -1318"/>
                  <a:gd name="T63" fmla="*/ -1304 h 341"/>
                  <a:gd name="T64" fmla="+- 0 5078 4882"/>
                  <a:gd name="T65" fmla="*/ T64 w 343"/>
                  <a:gd name="T66" fmla="+- 0 -1318 -1318"/>
                  <a:gd name="T67" fmla="*/ -1318 h 341"/>
                  <a:gd name="T68" fmla="+- 0 5028 4882"/>
                  <a:gd name="T69" fmla="*/ T68 w 343"/>
                  <a:gd name="T70" fmla="+- 0 -1318 -1318"/>
                  <a:gd name="T71" fmla="*/ -1318 h 341"/>
                  <a:gd name="T72" fmla="+- 0 4980 4882"/>
                  <a:gd name="T73" fmla="*/ T72 w 343"/>
                  <a:gd name="T74" fmla="+- 0 -1304 -1318"/>
                  <a:gd name="T75" fmla="*/ -1304 h 341"/>
                  <a:gd name="T76" fmla="+- 0 4939 4882"/>
                  <a:gd name="T77" fmla="*/ T76 w 343"/>
                  <a:gd name="T78" fmla="+- 0 -1277 -1318"/>
                  <a:gd name="T79" fmla="*/ -1277 h 341"/>
                  <a:gd name="T80" fmla="+- 0 4906 4882"/>
                  <a:gd name="T81" fmla="*/ T80 w 343"/>
                  <a:gd name="T82" fmla="+- 0 -1241 -1318"/>
                  <a:gd name="T83" fmla="*/ -1241 h 341"/>
                  <a:gd name="T84" fmla="+- 0 4889 4882"/>
                  <a:gd name="T85" fmla="*/ T84 w 343"/>
                  <a:gd name="T86" fmla="+- 0 -1198 -1318"/>
                  <a:gd name="T87" fmla="*/ -1198 h 341"/>
                  <a:gd name="T88" fmla="+- 0 4882 4882"/>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221"/>
                    </a:lnTo>
                    <a:lnTo>
                      <a:pt x="24" y="264"/>
                    </a:lnTo>
                    <a:lnTo>
                      <a:pt x="57" y="300"/>
                    </a:lnTo>
                    <a:lnTo>
                      <a:pt x="98" y="329"/>
                    </a:lnTo>
                    <a:lnTo>
                      <a:pt x="146" y="341"/>
                    </a:lnTo>
                    <a:lnTo>
                      <a:pt x="196" y="341"/>
                    </a:lnTo>
                    <a:lnTo>
                      <a:pt x="240" y="329"/>
                    </a:lnTo>
                    <a:lnTo>
                      <a:pt x="285" y="300"/>
                    </a:lnTo>
                    <a:lnTo>
                      <a:pt x="316" y="264"/>
                    </a:lnTo>
                    <a:lnTo>
                      <a:pt x="336" y="221"/>
                    </a:lnTo>
                    <a:lnTo>
                      <a:pt x="343" y="173"/>
                    </a:lnTo>
                    <a:lnTo>
                      <a:pt x="336" y="120"/>
                    </a:lnTo>
                    <a:lnTo>
                      <a:pt x="316" y="77"/>
                    </a:lnTo>
                    <a:lnTo>
                      <a:pt x="285" y="41"/>
                    </a:lnTo>
                    <a:lnTo>
                      <a:pt x="240" y="14"/>
                    </a:lnTo>
                    <a:lnTo>
                      <a:pt x="196" y="0"/>
                    </a:lnTo>
                    <a:lnTo>
                      <a:pt x="146" y="0"/>
                    </a:lnTo>
                    <a:lnTo>
                      <a:pt x="98" y="14"/>
                    </a:lnTo>
                    <a:lnTo>
                      <a:pt x="57" y="41"/>
                    </a:lnTo>
                    <a:lnTo>
                      <a:pt x="24" y="77"/>
                    </a:lnTo>
                    <a:lnTo>
                      <a:pt x="7" y="120"/>
                    </a:lnTo>
                    <a:lnTo>
                      <a:pt x="0"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p:cNvSpPr>
              <p:nvPr/>
            </p:nvSpPr>
            <p:spPr bwMode="auto">
              <a:xfrm>
                <a:off x="4882" y="-1318"/>
                <a:ext cx="343" cy="341"/>
              </a:xfrm>
              <a:custGeom>
                <a:avLst/>
                <a:gdLst>
                  <a:gd name="T0" fmla="+- 0 4882 4882"/>
                  <a:gd name="T1" fmla="*/ T0 w 343"/>
                  <a:gd name="T2" fmla="+- 0 -1145 -1318"/>
                  <a:gd name="T3" fmla="*/ -1145 h 341"/>
                  <a:gd name="T4" fmla="+- 0 4889 4882"/>
                  <a:gd name="T5" fmla="*/ T4 w 343"/>
                  <a:gd name="T6" fmla="+- 0 -1198 -1318"/>
                  <a:gd name="T7" fmla="*/ -1198 h 341"/>
                  <a:gd name="T8" fmla="+- 0 4906 4882"/>
                  <a:gd name="T9" fmla="*/ T8 w 343"/>
                  <a:gd name="T10" fmla="+- 0 -1241 -1318"/>
                  <a:gd name="T11" fmla="*/ -1241 h 341"/>
                  <a:gd name="T12" fmla="+- 0 4939 4882"/>
                  <a:gd name="T13" fmla="*/ T12 w 343"/>
                  <a:gd name="T14" fmla="+- 0 -1277 -1318"/>
                  <a:gd name="T15" fmla="*/ -1277 h 341"/>
                  <a:gd name="T16" fmla="+- 0 4980 4882"/>
                  <a:gd name="T17" fmla="*/ T16 w 343"/>
                  <a:gd name="T18" fmla="+- 0 -1304 -1318"/>
                  <a:gd name="T19" fmla="*/ -1304 h 341"/>
                  <a:gd name="T20" fmla="+- 0 5028 4882"/>
                  <a:gd name="T21" fmla="*/ T20 w 343"/>
                  <a:gd name="T22" fmla="+- 0 -1318 -1318"/>
                  <a:gd name="T23" fmla="*/ -1318 h 341"/>
                  <a:gd name="T24" fmla="+- 0 5078 4882"/>
                  <a:gd name="T25" fmla="*/ T24 w 343"/>
                  <a:gd name="T26" fmla="+- 0 -1318 -1318"/>
                  <a:gd name="T27" fmla="*/ -1318 h 341"/>
                  <a:gd name="T28" fmla="+- 0 5122 4882"/>
                  <a:gd name="T29" fmla="*/ T28 w 343"/>
                  <a:gd name="T30" fmla="+- 0 -1304 -1318"/>
                  <a:gd name="T31" fmla="*/ -1304 h 341"/>
                  <a:gd name="T32" fmla="+- 0 5167 4882"/>
                  <a:gd name="T33" fmla="*/ T32 w 343"/>
                  <a:gd name="T34" fmla="+- 0 -1277 -1318"/>
                  <a:gd name="T35" fmla="*/ -1277 h 341"/>
                  <a:gd name="T36" fmla="+- 0 5198 4882"/>
                  <a:gd name="T37" fmla="*/ T36 w 343"/>
                  <a:gd name="T38" fmla="+- 0 -1241 -1318"/>
                  <a:gd name="T39" fmla="*/ -1241 h 341"/>
                  <a:gd name="T40" fmla="+- 0 5218 4882"/>
                  <a:gd name="T41" fmla="*/ T40 w 343"/>
                  <a:gd name="T42" fmla="+- 0 -1198 -1318"/>
                  <a:gd name="T43" fmla="*/ -1198 h 341"/>
                  <a:gd name="T44" fmla="+- 0 5225 4882"/>
                  <a:gd name="T45" fmla="*/ T44 w 343"/>
                  <a:gd name="T46" fmla="+- 0 -1145 -1318"/>
                  <a:gd name="T47" fmla="*/ -1145 h 341"/>
                  <a:gd name="T48" fmla="+- 0 5218 4882"/>
                  <a:gd name="T49" fmla="*/ T48 w 343"/>
                  <a:gd name="T50" fmla="+- 0 -1097 -1318"/>
                  <a:gd name="T51" fmla="*/ -1097 h 341"/>
                  <a:gd name="T52" fmla="+- 0 5198 4882"/>
                  <a:gd name="T53" fmla="*/ T52 w 343"/>
                  <a:gd name="T54" fmla="+- 0 -1054 -1318"/>
                  <a:gd name="T55" fmla="*/ -1054 h 341"/>
                  <a:gd name="T56" fmla="+- 0 5167 4882"/>
                  <a:gd name="T57" fmla="*/ T56 w 343"/>
                  <a:gd name="T58" fmla="+- 0 -1018 -1318"/>
                  <a:gd name="T59" fmla="*/ -1018 h 341"/>
                  <a:gd name="T60" fmla="+- 0 5122 4882"/>
                  <a:gd name="T61" fmla="*/ T60 w 343"/>
                  <a:gd name="T62" fmla="+- 0 -989 -1318"/>
                  <a:gd name="T63" fmla="*/ -989 h 341"/>
                  <a:gd name="T64" fmla="+- 0 5078 4882"/>
                  <a:gd name="T65" fmla="*/ T64 w 343"/>
                  <a:gd name="T66" fmla="+- 0 -977 -1318"/>
                  <a:gd name="T67" fmla="*/ -977 h 341"/>
                  <a:gd name="T68" fmla="+- 0 5028 4882"/>
                  <a:gd name="T69" fmla="*/ T68 w 343"/>
                  <a:gd name="T70" fmla="+- 0 -977 -1318"/>
                  <a:gd name="T71" fmla="*/ -977 h 341"/>
                  <a:gd name="T72" fmla="+- 0 4980 4882"/>
                  <a:gd name="T73" fmla="*/ T72 w 343"/>
                  <a:gd name="T74" fmla="+- 0 -989 -1318"/>
                  <a:gd name="T75" fmla="*/ -989 h 341"/>
                  <a:gd name="T76" fmla="+- 0 4939 4882"/>
                  <a:gd name="T77" fmla="*/ T76 w 343"/>
                  <a:gd name="T78" fmla="+- 0 -1018 -1318"/>
                  <a:gd name="T79" fmla="*/ -1018 h 341"/>
                  <a:gd name="T80" fmla="+- 0 4906 4882"/>
                  <a:gd name="T81" fmla="*/ T80 w 343"/>
                  <a:gd name="T82" fmla="+- 0 -1054 -1318"/>
                  <a:gd name="T83" fmla="*/ -1054 h 341"/>
                  <a:gd name="T84" fmla="+- 0 4889 4882"/>
                  <a:gd name="T85" fmla="*/ T84 w 343"/>
                  <a:gd name="T86" fmla="+- 0 -1097 -1318"/>
                  <a:gd name="T87" fmla="*/ -1097 h 341"/>
                  <a:gd name="T88" fmla="+- 0 4882 4882"/>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120"/>
                    </a:lnTo>
                    <a:lnTo>
                      <a:pt x="24" y="77"/>
                    </a:lnTo>
                    <a:lnTo>
                      <a:pt x="57" y="41"/>
                    </a:lnTo>
                    <a:lnTo>
                      <a:pt x="98" y="14"/>
                    </a:lnTo>
                    <a:lnTo>
                      <a:pt x="146" y="0"/>
                    </a:lnTo>
                    <a:lnTo>
                      <a:pt x="196" y="0"/>
                    </a:lnTo>
                    <a:lnTo>
                      <a:pt x="240" y="14"/>
                    </a:lnTo>
                    <a:lnTo>
                      <a:pt x="285" y="41"/>
                    </a:lnTo>
                    <a:lnTo>
                      <a:pt x="316" y="77"/>
                    </a:lnTo>
                    <a:lnTo>
                      <a:pt x="336" y="120"/>
                    </a:lnTo>
                    <a:lnTo>
                      <a:pt x="343" y="173"/>
                    </a:lnTo>
                    <a:lnTo>
                      <a:pt x="336" y="221"/>
                    </a:lnTo>
                    <a:lnTo>
                      <a:pt x="316" y="264"/>
                    </a:lnTo>
                    <a:lnTo>
                      <a:pt x="285" y="300"/>
                    </a:lnTo>
                    <a:lnTo>
                      <a:pt x="240" y="329"/>
                    </a:lnTo>
                    <a:lnTo>
                      <a:pt x="196" y="341"/>
                    </a:lnTo>
                    <a:lnTo>
                      <a:pt x="146" y="341"/>
                    </a:lnTo>
                    <a:lnTo>
                      <a:pt x="98" y="329"/>
                    </a:lnTo>
                    <a:lnTo>
                      <a:pt x="57" y="300"/>
                    </a:lnTo>
                    <a:lnTo>
                      <a:pt x="24" y="264"/>
                    </a:lnTo>
                    <a:lnTo>
                      <a:pt x="7" y="221"/>
                    </a:lnTo>
                    <a:lnTo>
                      <a:pt x="0" y="173"/>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Freeform 20"/>
              <p:cNvSpPr>
                <a:spLocks/>
              </p:cNvSpPr>
              <p:nvPr/>
            </p:nvSpPr>
            <p:spPr bwMode="auto">
              <a:xfrm>
                <a:off x="6178" y="-1318"/>
                <a:ext cx="343" cy="341"/>
              </a:xfrm>
              <a:custGeom>
                <a:avLst/>
                <a:gdLst>
                  <a:gd name="T0" fmla="+- 0 6178 6178"/>
                  <a:gd name="T1" fmla="*/ T0 w 343"/>
                  <a:gd name="T2" fmla="+- 0 -1145 -1318"/>
                  <a:gd name="T3" fmla="*/ -1145 h 341"/>
                  <a:gd name="T4" fmla="+- 0 6185 6178"/>
                  <a:gd name="T5" fmla="*/ T4 w 343"/>
                  <a:gd name="T6" fmla="+- 0 -1097 -1318"/>
                  <a:gd name="T7" fmla="*/ -1097 h 341"/>
                  <a:gd name="T8" fmla="+- 0 6204 6178"/>
                  <a:gd name="T9" fmla="*/ T8 w 343"/>
                  <a:gd name="T10" fmla="+- 0 -1054 -1318"/>
                  <a:gd name="T11" fmla="*/ -1054 h 341"/>
                  <a:gd name="T12" fmla="+- 0 6235 6178"/>
                  <a:gd name="T13" fmla="*/ T12 w 343"/>
                  <a:gd name="T14" fmla="+- 0 -1018 -1318"/>
                  <a:gd name="T15" fmla="*/ -1018 h 341"/>
                  <a:gd name="T16" fmla="+- 0 6281 6178"/>
                  <a:gd name="T17" fmla="*/ T16 w 343"/>
                  <a:gd name="T18" fmla="+- 0 -989 -1318"/>
                  <a:gd name="T19" fmla="*/ -989 h 341"/>
                  <a:gd name="T20" fmla="+- 0 6324 6178"/>
                  <a:gd name="T21" fmla="*/ T20 w 343"/>
                  <a:gd name="T22" fmla="+- 0 -977 -1318"/>
                  <a:gd name="T23" fmla="*/ -977 h 341"/>
                  <a:gd name="T24" fmla="+- 0 6374 6178"/>
                  <a:gd name="T25" fmla="*/ T24 w 343"/>
                  <a:gd name="T26" fmla="+- 0 -977 -1318"/>
                  <a:gd name="T27" fmla="*/ -977 h 341"/>
                  <a:gd name="T28" fmla="+- 0 6422 6178"/>
                  <a:gd name="T29" fmla="*/ T28 w 343"/>
                  <a:gd name="T30" fmla="+- 0 -989 -1318"/>
                  <a:gd name="T31" fmla="*/ -989 h 341"/>
                  <a:gd name="T32" fmla="+- 0 6463 6178"/>
                  <a:gd name="T33" fmla="*/ T32 w 343"/>
                  <a:gd name="T34" fmla="+- 0 -1018 -1318"/>
                  <a:gd name="T35" fmla="*/ -1018 h 341"/>
                  <a:gd name="T36" fmla="+- 0 6497 6178"/>
                  <a:gd name="T37" fmla="*/ T36 w 343"/>
                  <a:gd name="T38" fmla="+- 0 -1054 -1318"/>
                  <a:gd name="T39" fmla="*/ -1054 h 341"/>
                  <a:gd name="T40" fmla="+- 0 6518 6178"/>
                  <a:gd name="T41" fmla="*/ T40 w 343"/>
                  <a:gd name="T42" fmla="+- 0 -1097 -1318"/>
                  <a:gd name="T43" fmla="*/ -1097 h 341"/>
                  <a:gd name="T44" fmla="+- 0 6521 6178"/>
                  <a:gd name="T45" fmla="*/ T44 w 343"/>
                  <a:gd name="T46" fmla="+- 0 -1145 -1318"/>
                  <a:gd name="T47" fmla="*/ -1145 h 341"/>
                  <a:gd name="T48" fmla="+- 0 6518 6178"/>
                  <a:gd name="T49" fmla="*/ T48 w 343"/>
                  <a:gd name="T50" fmla="+- 0 -1198 -1318"/>
                  <a:gd name="T51" fmla="*/ -1198 h 341"/>
                  <a:gd name="T52" fmla="+- 0 6497 6178"/>
                  <a:gd name="T53" fmla="*/ T52 w 343"/>
                  <a:gd name="T54" fmla="+- 0 -1241 -1318"/>
                  <a:gd name="T55" fmla="*/ -1241 h 341"/>
                  <a:gd name="T56" fmla="+- 0 6463 6178"/>
                  <a:gd name="T57" fmla="*/ T56 w 343"/>
                  <a:gd name="T58" fmla="+- 0 -1277 -1318"/>
                  <a:gd name="T59" fmla="*/ -1277 h 341"/>
                  <a:gd name="T60" fmla="+- 0 6422 6178"/>
                  <a:gd name="T61" fmla="*/ T60 w 343"/>
                  <a:gd name="T62" fmla="+- 0 -1304 -1318"/>
                  <a:gd name="T63" fmla="*/ -1304 h 341"/>
                  <a:gd name="T64" fmla="+- 0 6374 6178"/>
                  <a:gd name="T65" fmla="*/ T64 w 343"/>
                  <a:gd name="T66" fmla="+- 0 -1318 -1318"/>
                  <a:gd name="T67" fmla="*/ -1318 h 341"/>
                  <a:gd name="T68" fmla="+- 0 6324 6178"/>
                  <a:gd name="T69" fmla="*/ T68 w 343"/>
                  <a:gd name="T70" fmla="+- 0 -1318 -1318"/>
                  <a:gd name="T71" fmla="*/ -1318 h 341"/>
                  <a:gd name="T72" fmla="+- 0 6281 6178"/>
                  <a:gd name="T73" fmla="*/ T72 w 343"/>
                  <a:gd name="T74" fmla="+- 0 -1304 -1318"/>
                  <a:gd name="T75" fmla="*/ -1304 h 341"/>
                  <a:gd name="T76" fmla="+- 0 6235 6178"/>
                  <a:gd name="T77" fmla="*/ T76 w 343"/>
                  <a:gd name="T78" fmla="+- 0 -1277 -1318"/>
                  <a:gd name="T79" fmla="*/ -1277 h 341"/>
                  <a:gd name="T80" fmla="+- 0 6204 6178"/>
                  <a:gd name="T81" fmla="*/ T80 w 343"/>
                  <a:gd name="T82" fmla="+- 0 -1241 -1318"/>
                  <a:gd name="T83" fmla="*/ -1241 h 341"/>
                  <a:gd name="T84" fmla="+- 0 6185 6178"/>
                  <a:gd name="T85" fmla="*/ T84 w 343"/>
                  <a:gd name="T86" fmla="+- 0 -1198 -1318"/>
                  <a:gd name="T87" fmla="*/ -1198 h 341"/>
                  <a:gd name="T88" fmla="+- 0 6178 6178"/>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221"/>
                    </a:lnTo>
                    <a:lnTo>
                      <a:pt x="26" y="264"/>
                    </a:lnTo>
                    <a:lnTo>
                      <a:pt x="57" y="300"/>
                    </a:lnTo>
                    <a:lnTo>
                      <a:pt x="103" y="329"/>
                    </a:lnTo>
                    <a:lnTo>
                      <a:pt x="146" y="341"/>
                    </a:lnTo>
                    <a:lnTo>
                      <a:pt x="196" y="341"/>
                    </a:lnTo>
                    <a:lnTo>
                      <a:pt x="244" y="329"/>
                    </a:lnTo>
                    <a:lnTo>
                      <a:pt x="285" y="300"/>
                    </a:lnTo>
                    <a:lnTo>
                      <a:pt x="319" y="264"/>
                    </a:lnTo>
                    <a:lnTo>
                      <a:pt x="340" y="221"/>
                    </a:lnTo>
                    <a:lnTo>
                      <a:pt x="343" y="173"/>
                    </a:lnTo>
                    <a:lnTo>
                      <a:pt x="340" y="120"/>
                    </a:lnTo>
                    <a:lnTo>
                      <a:pt x="319" y="77"/>
                    </a:lnTo>
                    <a:lnTo>
                      <a:pt x="285" y="41"/>
                    </a:lnTo>
                    <a:lnTo>
                      <a:pt x="244" y="14"/>
                    </a:lnTo>
                    <a:lnTo>
                      <a:pt x="196" y="0"/>
                    </a:lnTo>
                    <a:lnTo>
                      <a:pt x="146" y="0"/>
                    </a:lnTo>
                    <a:lnTo>
                      <a:pt x="103" y="14"/>
                    </a:lnTo>
                    <a:lnTo>
                      <a:pt x="57" y="41"/>
                    </a:lnTo>
                    <a:lnTo>
                      <a:pt x="26" y="77"/>
                    </a:lnTo>
                    <a:lnTo>
                      <a:pt x="7" y="120"/>
                    </a:lnTo>
                    <a:lnTo>
                      <a:pt x="0" y="1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19"/>
              <p:cNvSpPr>
                <a:spLocks/>
              </p:cNvSpPr>
              <p:nvPr/>
            </p:nvSpPr>
            <p:spPr bwMode="auto">
              <a:xfrm>
                <a:off x="6178" y="-1318"/>
                <a:ext cx="343" cy="341"/>
              </a:xfrm>
              <a:custGeom>
                <a:avLst/>
                <a:gdLst>
                  <a:gd name="T0" fmla="+- 0 6178 6178"/>
                  <a:gd name="T1" fmla="*/ T0 w 343"/>
                  <a:gd name="T2" fmla="+- 0 -1145 -1318"/>
                  <a:gd name="T3" fmla="*/ -1145 h 341"/>
                  <a:gd name="T4" fmla="+- 0 6185 6178"/>
                  <a:gd name="T5" fmla="*/ T4 w 343"/>
                  <a:gd name="T6" fmla="+- 0 -1198 -1318"/>
                  <a:gd name="T7" fmla="*/ -1198 h 341"/>
                  <a:gd name="T8" fmla="+- 0 6204 6178"/>
                  <a:gd name="T9" fmla="*/ T8 w 343"/>
                  <a:gd name="T10" fmla="+- 0 -1241 -1318"/>
                  <a:gd name="T11" fmla="*/ -1241 h 341"/>
                  <a:gd name="T12" fmla="+- 0 6235 6178"/>
                  <a:gd name="T13" fmla="*/ T12 w 343"/>
                  <a:gd name="T14" fmla="+- 0 -1277 -1318"/>
                  <a:gd name="T15" fmla="*/ -1277 h 341"/>
                  <a:gd name="T16" fmla="+- 0 6281 6178"/>
                  <a:gd name="T17" fmla="*/ T16 w 343"/>
                  <a:gd name="T18" fmla="+- 0 -1304 -1318"/>
                  <a:gd name="T19" fmla="*/ -1304 h 341"/>
                  <a:gd name="T20" fmla="+- 0 6324 6178"/>
                  <a:gd name="T21" fmla="*/ T20 w 343"/>
                  <a:gd name="T22" fmla="+- 0 -1318 -1318"/>
                  <a:gd name="T23" fmla="*/ -1318 h 341"/>
                  <a:gd name="T24" fmla="+- 0 6374 6178"/>
                  <a:gd name="T25" fmla="*/ T24 w 343"/>
                  <a:gd name="T26" fmla="+- 0 -1318 -1318"/>
                  <a:gd name="T27" fmla="*/ -1318 h 341"/>
                  <a:gd name="T28" fmla="+- 0 6422 6178"/>
                  <a:gd name="T29" fmla="*/ T28 w 343"/>
                  <a:gd name="T30" fmla="+- 0 -1304 -1318"/>
                  <a:gd name="T31" fmla="*/ -1304 h 341"/>
                  <a:gd name="T32" fmla="+- 0 6463 6178"/>
                  <a:gd name="T33" fmla="*/ T32 w 343"/>
                  <a:gd name="T34" fmla="+- 0 -1277 -1318"/>
                  <a:gd name="T35" fmla="*/ -1277 h 341"/>
                  <a:gd name="T36" fmla="+- 0 6497 6178"/>
                  <a:gd name="T37" fmla="*/ T36 w 343"/>
                  <a:gd name="T38" fmla="+- 0 -1241 -1318"/>
                  <a:gd name="T39" fmla="*/ -1241 h 341"/>
                  <a:gd name="T40" fmla="+- 0 6518 6178"/>
                  <a:gd name="T41" fmla="*/ T40 w 343"/>
                  <a:gd name="T42" fmla="+- 0 -1198 -1318"/>
                  <a:gd name="T43" fmla="*/ -1198 h 341"/>
                  <a:gd name="T44" fmla="+- 0 6521 6178"/>
                  <a:gd name="T45" fmla="*/ T44 w 343"/>
                  <a:gd name="T46" fmla="+- 0 -1145 -1318"/>
                  <a:gd name="T47" fmla="*/ -1145 h 341"/>
                  <a:gd name="T48" fmla="+- 0 6518 6178"/>
                  <a:gd name="T49" fmla="*/ T48 w 343"/>
                  <a:gd name="T50" fmla="+- 0 -1097 -1318"/>
                  <a:gd name="T51" fmla="*/ -1097 h 341"/>
                  <a:gd name="T52" fmla="+- 0 6497 6178"/>
                  <a:gd name="T53" fmla="*/ T52 w 343"/>
                  <a:gd name="T54" fmla="+- 0 -1054 -1318"/>
                  <a:gd name="T55" fmla="*/ -1054 h 341"/>
                  <a:gd name="T56" fmla="+- 0 6463 6178"/>
                  <a:gd name="T57" fmla="*/ T56 w 343"/>
                  <a:gd name="T58" fmla="+- 0 -1018 -1318"/>
                  <a:gd name="T59" fmla="*/ -1018 h 341"/>
                  <a:gd name="T60" fmla="+- 0 6422 6178"/>
                  <a:gd name="T61" fmla="*/ T60 w 343"/>
                  <a:gd name="T62" fmla="+- 0 -989 -1318"/>
                  <a:gd name="T63" fmla="*/ -989 h 341"/>
                  <a:gd name="T64" fmla="+- 0 6374 6178"/>
                  <a:gd name="T65" fmla="*/ T64 w 343"/>
                  <a:gd name="T66" fmla="+- 0 -977 -1318"/>
                  <a:gd name="T67" fmla="*/ -977 h 341"/>
                  <a:gd name="T68" fmla="+- 0 6324 6178"/>
                  <a:gd name="T69" fmla="*/ T68 w 343"/>
                  <a:gd name="T70" fmla="+- 0 -977 -1318"/>
                  <a:gd name="T71" fmla="*/ -977 h 341"/>
                  <a:gd name="T72" fmla="+- 0 6281 6178"/>
                  <a:gd name="T73" fmla="*/ T72 w 343"/>
                  <a:gd name="T74" fmla="+- 0 -989 -1318"/>
                  <a:gd name="T75" fmla="*/ -989 h 341"/>
                  <a:gd name="T76" fmla="+- 0 6235 6178"/>
                  <a:gd name="T77" fmla="*/ T76 w 343"/>
                  <a:gd name="T78" fmla="+- 0 -1018 -1318"/>
                  <a:gd name="T79" fmla="*/ -1018 h 341"/>
                  <a:gd name="T80" fmla="+- 0 6204 6178"/>
                  <a:gd name="T81" fmla="*/ T80 w 343"/>
                  <a:gd name="T82" fmla="+- 0 -1054 -1318"/>
                  <a:gd name="T83" fmla="*/ -1054 h 341"/>
                  <a:gd name="T84" fmla="+- 0 6185 6178"/>
                  <a:gd name="T85" fmla="*/ T84 w 343"/>
                  <a:gd name="T86" fmla="+- 0 -1097 -1318"/>
                  <a:gd name="T87" fmla="*/ -1097 h 341"/>
                  <a:gd name="T88" fmla="+- 0 6178 6178"/>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120"/>
                    </a:lnTo>
                    <a:lnTo>
                      <a:pt x="26" y="77"/>
                    </a:lnTo>
                    <a:lnTo>
                      <a:pt x="57" y="41"/>
                    </a:lnTo>
                    <a:lnTo>
                      <a:pt x="103" y="14"/>
                    </a:lnTo>
                    <a:lnTo>
                      <a:pt x="146" y="0"/>
                    </a:lnTo>
                    <a:lnTo>
                      <a:pt x="196" y="0"/>
                    </a:lnTo>
                    <a:lnTo>
                      <a:pt x="244" y="14"/>
                    </a:lnTo>
                    <a:lnTo>
                      <a:pt x="285" y="41"/>
                    </a:lnTo>
                    <a:lnTo>
                      <a:pt x="319" y="77"/>
                    </a:lnTo>
                    <a:lnTo>
                      <a:pt x="340" y="120"/>
                    </a:lnTo>
                    <a:lnTo>
                      <a:pt x="343" y="173"/>
                    </a:lnTo>
                    <a:lnTo>
                      <a:pt x="340" y="221"/>
                    </a:lnTo>
                    <a:lnTo>
                      <a:pt x="319" y="264"/>
                    </a:lnTo>
                    <a:lnTo>
                      <a:pt x="285" y="300"/>
                    </a:lnTo>
                    <a:lnTo>
                      <a:pt x="244" y="329"/>
                    </a:lnTo>
                    <a:lnTo>
                      <a:pt x="196" y="341"/>
                    </a:lnTo>
                    <a:lnTo>
                      <a:pt x="146" y="341"/>
                    </a:lnTo>
                    <a:lnTo>
                      <a:pt x="103" y="329"/>
                    </a:lnTo>
                    <a:lnTo>
                      <a:pt x="57" y="300"/>
                    </a:lnTo>
                    <a:lnTo>
                      <a:pt x="26" y="264"/>
                    </a:lnTo>
                    <a:lnTo>
                      <a:pt x="7" y="221"/>
                    </a:lnTo>
                    <a:lnTo>
                      <a:pt x="0" y="173"/>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18"/>
              <p:cNvSpPr>
                <a:spLocks/>
              </p:cNvSpPr>
              <p:nvPr/>
            </p:nvSpPr>
            <p:spPr bwMode="auto">
              <a:xfrm>
                <a:off x="6178" y="-22"/>
                <a:ext cx="343" cy="346"/>
              </a:xfrm>
              <a:custGeom>
                <a:avLst/>
                <a:gdLst>
                  <a:gd name="T0" fmla="+- 0 6178 6178"/>
                  <a:gd name="T1" fmla="*/ T0 w 343"/>
                  <a:gd name="T2" fmla="+- 0 151 -22"/>
                  <a:gd name="T3" fmla="*/ 151 h 346"/>
                  <a:gd name="T4" fmla="+- 0 6185 6178"/>
                  <a:gd name="T5" fmla="*/ T4 w 343"/>
                  <a:gd name="T6" fmla="+- 0 199 -22"/>
                  <a:gd name="T7" fmla="*/ 199 h 346"/>
                  <a:gd name="T8" fmla="+- 0 6204 6178"/>
                  <a:gd name="T9" fmla="*/ T8 w 343"/>
                  <a:gd name="T10" fmla="+- 0 242 -22"/>
                  <a:gd name="T11" fmla="*/ 242 h 346"/>
                  <a:gd name="T12" fmla="+- 0 6235 6178"/>
                  <a:gd name="T13" fmla="*/ T12 w 343"/>
                  <a:gd name="T14" fmla="+- 0 283 -22"/>
                  <a:gd name="T15" fmla="*/ 283 h 346"/>
                  <a:gd name="T16" fmla="+- 0 6281 6178"/>
                  <a:gd name="T17" fmla="*/ T16 w 343"/>
                  <a:gd name="T18" fmla="+- 0 309 -22"/>
                  <a:gd name="T19" fmla="*/ 309 h 346"/>
                  <a:gd name="T20" fmla="+- 0 6324 6178"/>
                  <a:gd name="T21" fmla="*/ T20 w 343"/>
                  <a:gd name="T22" fmla="+- 0 324 -22"/>
                  <a:gd name="T23" fmla="*/ 324 h 346"/>
                  <a:gd name="T24" fmla="+- 0 6374 6178"/>
                  <a:gd name="T25" fmla="*/ T24 w 343"/>
                  <a:gd name="T26" fmla="+- 0 324 -22"/>
                  <a:gd name="T27" fmla="*/ 324 h 346"/>
                  <a:gd name="T28" fmla="+- 0 6422 6178"/>
                  <a:gd name="T29" fmla="*/ T28 w 343"/>
                  <a:gd name="T30" fmla="+- 0 309 -22"/>
                  <a:gd name="T31" fmla="*/ 309 h 346"/>
                  <a:gd name="T32" fmla="+- 0 6463 6178"/>
                  <a:gd name="T33" fmla="*/ T32 w 343"/>
                  <a:gd name="T34" fmla="+- 0 283 -22"/>
                  <a:gd name="T35" fmla="*/ 283 h 346"/>
                  <a:gd name="T36" fmla="+- 0 6497 6178"/>
                  <a:gd name="T37" fmla="*/ T36 w 343"/>
                  <a:gd name="T38" fmla="+- 0 242 -22"/>
                  <a:gd name="T39" fmla="*/ 242 h 346"/>
                  <a:gd name="T40" fmla="+- 0 6518 6178"/>
                  <a:gd name="T41" fmla="*/ T40 w 343"/>
                  <a:gd name="T42" fmla="+- 0 199 -22"/>
                  <a:gd name="T43" fmla="*/ 199 h 346"/>
                  <a:gd name="T44" fmla="+- 0 6521 6178"/>
                  <a:gd name="T45" fmla="*/ T44 w 343"/>
                  <a:gd name="T46" fmla="+- 0 151 -22"/>
                  <a:gd name="T47" fmla="*/ 151 h 346"/>
                  <a:gd name="T48" fmla="+- 0 6518 6178"/>
                  <a:gd name="T49" fmla="*/ T48 w 343"/>
                  <a:gd name="T50" fmla="+- 0 103 -22"/>
                  <a:gd name="T51" fmla="*/ 103 h 346"/>
                  <a:gd name="T52" fmla="+- 0 6497 6178"/>
                  <a:gd name="T53" fmla="*/ T52 w 343"/>
                  <a:gd name="T54" fmla="+- 0 55 -22"/>
                  <a:gd name="T55" fmla="*/ 55 h 346"/>
                  <a:gd name="T56" fmla="+- 0 6463 6178"/>
                  <a:gd name="T57" fmla="*/ T56 w 343"/>
                  <a:gd name="T58" fmla="+- 0 19 -22"/>
                  <a:gd name="T59" fmla="*/ 19 h 346"/>
                  <a:gd name="T60" fmla="+- 0 6422 6178"/>
                  <a:gd name="T61" fmla="*/ T60 w 343"/>
                  <a:gd name="T62" fmla="+- 0 -5 -22"/>
                  <a:gd name="T63" fmla="*/ -5 h 346"/>
                  <a:gd name="T64" fmla="+- 0 6374 6178"/>
                  <a:gd name="T65" fmla="*/ T64 w 343"/>
                  <a:gd name="T66" fmla="+- 0 -22 -22"/>
                  <a:gd name="T67" fmla="*/ -22 h 346"/>
                  <a:gd name="T68" fmla="+- 0 6324 6178"/>
                  <a:gd name="T69" fmla="*/ T68 w 343"/>
                  <a:gd name="T70" fmla="+- 0 -22 -22"/>
                  <a:gd name="T71" fmla="*/ -22 h 346"/>
                  <a:gd name="T72" fmla="+- 0 6281 6178"/>
                  <a:gd name="T73" fmla="*/ T72 w 343"/>
                  <a:gd name="T74" fmla="+- 0 -5 -22"/>
                  <a:gd name="T75" fmla="*/ -5 h 346"/>
                  <a:gd name="T76" fmla="+- 0 6235 6178"/>
                  <a:gd name="T77" fmla="*/ T76 w 343"/>
                  <a:gd name="T78" fmla="+- 0 19 -22"/>
                  <a:gd name="T79" fmla="*/ 19 h 346"/>
                  <a:gd name="T80" fmla="+- 0 6204 6178"/>
                  <a:gd name="T81" fmla="*/ T80 w 343"/>
                  <a:gd name="T82" fmla="+- 0 55 -22"/>
                  <a:gd name="T83" fmla="*/ 55 h 346"/>
                  <a:gd name="T84" fmla="+- 0 6185 6178"/>
                  <a:gd name="T85" fmla="*/ T84 w 343"/>
                  <a:gd name="T86" fmla="+- 0 103 -22"/>
                  <a:gd name="T87" fmla="*/ 103 h 346"/>
                  <a:gd name="T88" fmla="+- 0 6178 6178"/>
                  <a:gd name="T89" fmla="*/ T88 w 343"/>
                  <a:gd name="T90" fmla="+- 0 151 -22"/>
                  <a:gd name="T91" fmla="*/ 151 h 34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6">
                    <a:moveTo>
                      <a:pt x="0" y="173"/>
                    </a:moveTo>
                    <a:lnTo>
                      <a:pt x="7" y="221"/>
                    </a:lnTo>
                    <a:lnTo>
                      <a:pt x="26" y="264"/>
                    </a:lnTo>
                    <a:lnTo>
                      <a:pt x="57" y="305"/>
                    </a:lnTo>
                    <a:lnTo>
                      <a:pt x="103" y="331"/>
                    </a:lnTo>
                    <a:lnTo>
                      <a:pt x="146" y="346"/>
                    </a:lnTo>
                    <a:lnTo>
                      <a:pt x="196" y="346"/>
                    </a:lnTo>
                    <a:lnTo>
                      <a:pt x="244" y="331"/>
                    </a:lnTo>
                    <a:lnTo>
                      <a:pt x="285" y="305"/>
                    </a:lnTo>
                    <a:lnTo>
                      <a:pt x="319" y="264"/>
                    </a:lnTo>
                    <a:lnTo>
                      <a:pt x="340" y="221"/>
                    </a:lnTo>
                    <a:lnTo>
                      <a:pt x="343" y="173"/>
                    </a:lnTo>
                    <a:lnTo>
                      <a:pt x="340" y="125"/>
                    </a:lnTo>
                    <a:lnTo>
                      <a:pt x="319" y="77"/>
                    </a:lnTo>
                    <a:lnTo>
                      <a:pt x="285" y="41"/>
                    </a:lnTo>
                    <a:lnTo>
                      <a:pt x="244" y="17"/>
                    </a:lnTo>
                    <a:lnTo>
                      <a:pt x="196" y="0"/>
                    </a:lnTo>
                    <a:lnTo>
                      <a:pt x="146" y="0"/>
                    </a:lnTo>
                    <a:lnTo>
                      <a:pt x="103" y="17"/>
                    </a:lnTo>
                    <a:lnTo>
                      <a:pt x="57" y="41"/>
                    </a:lnTo>
                    <a:lnTo>
                      <a:pt x="26" y="77"/>
                    </a:lnTo>
                    <a:lnTo>
                      <a:pt x="7" y="125"/>
                    </a:lnTo>
                    <a:lnTo>
                      <a:pt x="0" y="1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17"/>
              <p:cNvSpPr>
                <a:spLocks/>
              </p:cNvSpPr>
              <p:nvPr/>
            </p:nvSpPr>
            <p:spPr bwMode="auto">
              <a:xfrm>
                <a:off x="6178" y="-22"/>
                <a:ext cx="343" cy="346"/>
              </a:xfrm>
              <a:custGeom>
                <a:avLst/>
                <a:gdLst>
                  <a:gd name="T0" fmla="+- 0 6178 6178"/>
                  <a:gd name="T1" fmla="*/ T0 w 343"/>
                  <a:gd name="T2" fmla="+- 0 151 -22"/>
                  <a:gd name="T3" fmla="*/ 151 h 346"/>
                  <a:gd name="T4" fmla="+- 0 6185 6178"/>
                  <a:gd name="T5" fmla="*/ T4 w 343"/>
                  <a:gd name="T6" fmla="+- 0 103 -22"/>
                  <a:gd name="T7" fmla="*/ 103 h 346"/>
                  <a:gd name="T8" fmla="+- 0 6204 6178"/>
                  <a:gd name="T9" fmla="*/ T8 w 343"/>
                  <a:gd name="T10" fmla="+- 0 55 -22"/>
                  <a:gd name="T11" fmla="*/ 55 h 346"/>
                  <a:gd name="T12" fmla="+- 0 6235 6178"/>
                  <a:gd name="T13" fmla="*/ T12 w 343"/>
                  <a:gd name="T14" fmla="+- 0 19 -22"/>
                  <a:gd name="T15" fmla="*/ 19 h 346"/>
                  <a:gd name="T16" fmla="+- 0 6281 6178"/>
                  <a:gd name="T17" fmla="*/ T16 w 343"/>
                  <a:gd name="T18" fmla="+- 0 -5 -22"/>
                  <a:gd name="T19" fmla="*/ -5 h 346"/>
                  <a:gd name="T20" fmla="+- 0 6324 6178"/>
                  <a:gd name="T21" fmla="*/ T20 w 343"/>
                  <a:gd name="T22" fmla="+- 0 -22 -22"/>
                  <a:gd name="T23" fmla="*/ -22 h 346"/>
                  <a:gd name="T24" fmla="+- 0 6374 6178"/>
                  <a:gd name="T25" fmla="*/ T24 w 343"/>
                  <a:gd name="T26" fmla="+- 0 -22 -22"/>
                  <a:gd name="T27" fmla="*/ -22 h 346"/>
                  <a:gd name="T28" fmla="+- 0 6422 6178"/>
                  <a:gd name="T29" fmla="*/ T28 w 343"/>
                  <a:gd name="T30" fmla="+- 0 -5 -22"/>
                  <a:gd name="T31" fmla="*/ -5 h 346"/>
                  <a:gd name="T32" fmla="+- 0 6463 6178"/>
                  <a:gd name="T33" fmla="*/ T32 w 343"/>
                  <a:gd name="T34" fmla="+- 0 19 -22"/>
                  <a:gd name="T35" fmla="*/ 19 h 346"/>
                  <a:gd name="T36" fmla="+- 0 6497 6178"/>
                  <a:gd name="T37" fmla="*/ T36 w 343"/>
                  <a:gd name="T38" fmla="+- 0 55 -22"/>
                  <a:gd name="T39" fmla="*/ 55 h 346"/>
                  <a:gd name="T40" fmla="+- 0 6518 6178"/>
                  <a:gd name="T41" fmla="*/ T40 w 343"/>
                  <a:gd name="T42" fmla="+- 0 103 -22"/>
                  <a:gd name="T43" fmla="*/ 103 h 346"/>
                  <a:gd name="T44" fmla="+- 0 6521 6178"/>
                  <a:gd name="T45" fmla="*/ T44 w 343"/>
                  <a:gd name="T46" fmla="+- 0 151 -22"/>
                  <a:gd name="T47" fmla="*/ 151 h 346"/>
                  <a:gd name="T48" fmla="+- 0 6518 6178"/>
                  <a:gd name="T49" fmla="*/ T48 w 343"/>
                  <a:gd name="T50" fmla="+- 0 199 -22"/>
                  <a:gd name="T51" fmla="*/ 199 h 346"/>
                  <a:gd name="T52" fmla="+- 0 6497 6178"/>
                  <a:gd name="T53" fmla="*/ T52 w 343"/>
                  <a:gd name="T54" fmla="+- 0 242 -22"/>
                  <a:gd name="T55" fmla="*/ 242 h 346"/>
                  <a:gd name="T56" fmla="+- 0 6463 6178"/>
                  <a:gd name="T57" fmla="*/ T56 w 343"/>
                  <a:gd name="T58" fmla="+- 0 283 -22"/>
                  <a:gd name="T59" fmla="*/ 283 h 346"/>
                  <a:gd name="T60" fmla="+- 0 6422 6178"/>
                  <a:gd name="T61" fmla="*/ T60 w 343"/>
                  <a:gd name="T62" fmla="+- 0 309 -22"/>
                  <a:gd name="T63" fmla="*/ 309 h 346"/>
                  <a:gd name="T64" fmla="+- 0 6374 6178"/>
                  <a:gd name="T65" fmla="*/ T64 w 343"/>
                  <a:gd name="T66" fmla="+- 0 324 -22"/>
                  <a:gd name="T67" fmla="*/ 324 h 346"/>
                  <a:gd name="T68" fmla="+- 0 6324 6178"/>
                  <a:gd name="T69" fmla="*/ T68 w 343"/>
                  <a:gd name="T70" fmla="+- 0 324 -22"/>
                  <a:gd name="T71" fmla="*/ 324 h 346"/>
                  <a:gd name="T72" fmla="+- 0 6281 6178"/>
                  <a:gd name="T73" fmla="*/ T72 w 343"/>
                  <a:gd name="T74" fmla="+- 0 309 -22"/>
                  <a:gd name="T75" fmla="*/ 309 h 346"/>
                  <a:gd name="T76" fmla="+- 0 6235 6178"/>
                  <a:gd name="T77" fmla="*/ T76 w 343"/>
                  <a:gd name="T78" fmla="+- 0 283 -22"/>
                  <a:gd name="T79" fmla="*/ 283 h 346"/>
                  <a:gd name="T80" fmla="+- 0 6204 6178"/>
                  <a:gd name="T81" fmla="*/ T80 w 343"/>
                  <a:gd name="T82" fmla="+- 0 242 -22"/>
                  <a:gd name="T83" fmla="*/ 242 h 346"/>
                  <a:gd name="T84" fmla="+- 0 6185 6178"/>
                  <a:gd name="T85" fmla="*/ T84 w 343"/>
                  <a:gd name="T86" fmla="+- 0 199 -22"/>
                  <a:gd name="T87" fmla="*/ 199 h 346"/>
                  <a:gd name="T88" fmla="+- 0 6178 6178"/>
                  <a:gd name="T89" fmla="*/ T88 w 343"/>
                  <a:gd name="T90" fmla="+- 0 151 -22"/>
                  <a:gd name="T91" fmla="*/ 151 h 34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6">
                    <a:moveTo>
                      <a:pt x="0" y="173"/>
                    </a:moveTo>
                    <a:lnTo>
                      <a:pt x="7" y="125"/>
                    </a:lnTo>
                    <a:lnTo>
                      <a:pt x="26" y="77"/>
                    </a:lnTo>
                    <a:lnTo>
                      <a:pt x="57" y="41"/>
                    </a:lnTo>
                    <a:lnTo>
                      <a:pt x="103" y="17"/>
                    </a:lnTo>
                    <a:lnTo>
                      <a:pt x="146" y="0"/>
                    </a:lnTo>
                    <a:lnTo>
                      <a:pt x="196" y="0"/>
                    </a:lnTo>
                    <a:lnTo>
                      <a:pt x="244" y="17"/>
                    </a:lnTo>
                    <a:lnTo>
                      <a:pt x="285" y="41"/>
                    </a:lnTo>
                    <a:lnTo>
                      <a:pt x="319" y="77"/>
                    </a:lnTo>
                    <a:lnTo>
                      <a:pt x="340" y="125"/>
                    </a:lnTo>
                    <a:lnTo>
                      <a:pt x="343" y="173"/>
                    </a:lnTo>
                    <a:lnTo>
                      <a:pt x="340" y="221"/>
                    </a:lnTo>
                    <a:lnTo>
                      <a:pt x="319" y="264"/>
                    </a:lnTo>
                    <a:lnTo>
                      <a:pt x="285" y="305"/>
                    </a:lnTo>
                    <a:lnTo>
                      <a:pt x="244" y="331"/>
                    </a:lnTo>
                    <a:lnTo>
                      <a:pt x="196" y="346"/>
                    </a:lnTo>
                    <a:lnTo>
                      <a:pt x="146" y="346"/>
                    </a:lnTo>
                    <a:lnTo>
                      <a:pt x="103" y="331"/>
                    </a:lnTo>
                    <a:lnTo>
                      <a:pt x="57" y="305"/>
                    </a:lnTo>
                    <a:lnTo>
                      <a:pt x="26" y="264"/>
                    </a:lnTo>
                    <a:lnTo>
                      <a:pt x="7" y="221"/>
                    </a:lnTo>
                    <a:lnTo>
                      <a:pt x="0" y="173"/>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Freeform 16"/>
              <p:cNvSpPr>
                <a:spLocks/>
              </p:cNvSpPr>
              <p:nvPr/>
            </p:nvSpPr>
            <p:spPr bwMode="auto">
              <a:xfrm>
                <a:off x="6134" y="-497"/>
                <a:ext cx="432" cy="0"/>
              </a:xfrm>
              <a:custGeom>
                <a:avLst/>
                <a:gdLst>
                  <a:gd name="T0" fmla="+- 0 6134 6134"/>
                  <a:gd name="T1" fmla="*/ T0 w 432"/>
                  <a:gd name="T2" fmla="+- 0 6566 6134"/>
                  <a:gd name="T3" fmla="*/ T2 w 432"/>
                </a:gdLst>
                <a:ahLst/>
                <a:cxnLst>
                  <a:cxn ang="0">
                    <a:pos x="T1" y="0"/>
                  </a:cxn>
                  <a:cxn ang="0">
                    <a:pos x="T3" y="0"/>
                  </a:cxn>
                </a:cxnLst>
                <a:rect l="0" t="0" r="r" b="b"/>
                <a:pathLst>
                  <a:path w="432">
                    <a:moveTo>
                      <a:pt x="0" y="0"/>
                    </a:moveTo>
                    <a:lnTo>
                      <a:pt x="432"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Freeform 15"/>
              <p:cNvSpPr>
                <a:spLocks/>
              </p:cNvSpPr>
              <p:nvPr/>
            </p:nvSpPr>
            <p:spPr bwMode="auto">
              <a:xfrm>
                <a:off x="4620" y="-984"/>
                <a:ext cx="3895" cy="3125"/>
              </a:xfrm>
              <a:custGeom>
                <a:avLst/>
                <a:gdLst>
                  <a:gd name="T0" fmla="+- 0 4620 4620"/>
                  <a:gd name="T1" fmla="*/ T0 w 3895"/>
                  <a:gd name="T2" fmla="+- 0 -972 -984"/>
                  <a:gd name="T3" fmla="*/ -972 h 3125"/>
                  <a:gd name="T4" fmla="+- 0 4848 4620"/>
                  <a:gd name="T5" fmla="*/ T4 w 3895"/>
                  <a:gd name="T6" fmla="+- 0 -984 -984"/>
                  <a:gd name="T7" fmla="*/ -984 h 3125"/>
                  <a:gd name="T8" fmla="+- 0 5078 4620"/>
                  <a:gd name="T9" fmla="*/ T8 w 3895"/>
                  <a:gd name="T10" fmla="+- 0 -984 -984"/>
                  <a:gd name="T11" fmla="*/ -984 h 3125"/>
                  <a:gd name="T12" fmla="+- 0 5306 4620"/>
                  <a:gd name="T13" fmla="*/ T12 w 3895"/>
                  <a:gd name="T14" fmla="+- 0 -970 -984"/>
                  <a:gd name="T15" fmla="*/ -970 h 3125"/>
                  <a:gd name="T16" fmla="+- 0 5530 4620"/>
                  <a:gd name="T17" fmla="*/ T16 w 3895"/>
                  <a:gd name="T18" fmla="+- 0 -944 -984"/>
                  <a:gd name="T19" fmla="*/ -944 h 3125"/>
                  <a:gd name="T20" fmla="+- 0 5753 4620"/>
                  <a:gd name="T21" fmla="*/ T20 w 3895"/>
                  <a:gd name="T22" fmla="+- 0 -903 -984"/>
                  <a:gd name="T23" fmla="*/ -903 h 3125"/>
                  <a:gd name="T24" fmla="+- 0 5971 4620"/>
                  <a:gd name="T25" fmla="*/ T24 w 3895"/>
                  <a:gd name="T26" fmla="+- 0 -852 -984"/>
                  <a:gd name="T27" fmla="*/ -852 h 3125"/>
                  <a:gd name="T28" fmla="+- 0 6185 4620"/>
                  <a:gd name="T29" fmla="*/ T28 w 3895"/>
                  <a:gd name="T30" fmla="+- 0 -790 -984"/>
                  <a:gd name="T31" fmla="*/ -790 h 3125"/>
                  <a:gd name="T32" fmla="+- 0 6394 4620"/>
                  <a:gd name="T33" fmla="*/ T32 w 3895"/>
                  <a:gd name="T34" fmla="+- 0 -718 -984"/>
                  <a:gd name="T35" fmla="*/ -718 h 3125"/>
                  <a:gd name="T36" fmla="+- 0 6595 4620"/>
                  <a:gd name="T37" fmla="*/ T36 w 3895"/>
                  <a:gd name="T38" fmla="+- 0 -629 -984"/>
                  <a:gd name="T39" fmla="*/ -629 h 3125"/>
                  <a:gd name="T40" fmla="+- 0 6792 4620"/>
                  <a:gd name="T41" fmla="*/ T40 w 3895"/>
                  <a:gd name="T42" fmla="+- 0 -533 -984"/>
                  <a:gd name="T43" fmla="*/ -533 h 3125"/>
                  <a:gd name="T44" fmla="+- 0 6979 4620"/>
                  <a:gd name="T45" fmla="*/ T44 w 3895"/>
                  <a:gd name="T46" fmla="+- 0 -423 -984"/>
                  <a:gd name="T47" fmla="*/ -423 h 3125"/>
                  <a:gd name="T48" fmla="+- 0 7159 4620"/>
                  <a:gd name="T49" fmla="*/ T48 w 3895"/>
                  <a:gd name="T50" fmla="+- 0 -308 -984"/>
                  <a:gd name="T51" fmla="*/ -308 h 3125"/>
                  <a:gd name="T52" fmla="+- 0 7332 4620"/>
                  <a:gd name="T53" fmla="*/ T52 w 3895"/>
                  <a:gd name="T54" fmla="+- 0 -178 -984"/>
                  <a:gd name="T55" fmla="*/ -178 h 3125"/>
                  <a:gd name="T56" fmla="+- 0 7493 4620"/>
                  <a:gd name="T57" fmla="*/ T56 w 3895"/>
                  <a:gd name="T58" fmla="+- 0 -39 -984"/>
                  <a:gd name="T59" fmla="*/ -39 h 3125"/>
                  <a:gd name="T60" fmla="+- 0 7644 4620"/>
                  <a:gd name="T61" fmla="*/ T60 w 3895"/>
                  <a:gd name="T62" fmla="+- 0 108 -984"/>
                  <a:gd name="T63" fmla="*/ 108 h 3125"/>
                  <a:gd name="T64" fmla="+- 0 7786 4620"/>
                  <a:gd name="T65" fmla="*/ T64 w 3895"/>
                  <a:gd name="T66" fmla="+- 0 261 -984"/>
                  <a:gd name="T67" fmla="*/ 261 h 3125"/>
                  <a:gd name="T68" fmla="+- 0 7915 4620"/>
                  <a:gd name="T69" fmla="*/ T68 w 3895"/>
                  <a:gd name="T70" fmla="+- 0 427 -984"/>
                  <a:gd name="T71" fmla="*/ 427 h 3125"/>
                  <a:gd name="T72" fmla="+- 0 8030 4620"/>
                  <a:gd name="T73" fmla="*/ T72 w 3895"/>
                  <a:gd name="T74" fmla="+- 0 595 -984"/>
                  <a:gd name="T75" fmla="*/ 595 h 3125"/>
                  <a:gd name="T76" fmla="+- 0 8138 4620"/>
                  <a:gd name="T77" fmla="*/ T76 w 3895"/>
                  <a:gd name="T78" fmla="+- 0 775 -984"/>
                  <a:gd name="T79" fmla="*/ 775 h 3125"/>
                  <a:gd name="T80" fmla="+- 0 8232 4620"/>
                  <a:gd name="T81" fmla="*/ T80 w 3895"/>
                  <a:gd name="T82" fmla="+- 0 957 -984"/>
                  <a:gd name="T83" fmla="*/ 957 h 3125"/>
                  <a:gd name="T84" fmla="+- 0 8314 4620"/>
                  <a:gd name="T85" fmla="*/ T84 w 3895"/>
                  <a:gd name="T86" fmla="+- 0 1144 -984"/>
                  <a:gd name="T87" fmla="*/ 1144 h 3125"/>
                  <a:gd name="T88" fmla="+- 0 8378 4620"/>
                  <a:gd name="T89" fmla="*/ T88 w 3895"/>
                  <a:gd name="T90" fmla="+- 0 1339 -984"/>
                  <a:gd name="T91" fmla="*/ 1339 h 3125"/>
                  <a:gd name="T92" fmla="+- 0 8434 4620"/>
                  <a:gd name="T93" fmla="*/ T92 w 3895"/>
                  <a:gd name="T94" fmla="+- 0 1533 -984"/>
                  <a:gd name="T95" fmla="*/ 1533 h 3125"/>
                  <a:gd name="T96" fmla="+- 0 8474 4620"/>
                  <a:gd name="T97" fmla="*/ T96 w 3895"/>
                  <a:gd name="T98" fmla="+- 0 1735 -984"/>
                  <a:gd name="T99" fmla="*/ 1735 h 3125"/>
                  <a:gd name="T100" fmla="+- 0 8501 4620"/>
                  <a:gd name="T101" fmla="*/ T100 w 3895"/>
                  <a:gd name="T102" fmla="+- 0 1934 -984"/>
                  <a:gd name="T103" fmla="*/ 1934 h 3125"/>
                  <a:gd name="T104" fmla="+- 0 8515 4620"/>
                  <a:gd name="T105" fmla="*/ T104 w 3895"/>
                  <a:gd name="T106" fmla="+- 0 2140 -984"/>
                  <a:gd name="T107" fmla="*/ 2140 h 312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Lst>
                <a:rect l="0" t="0" r="r" b="b"/>
                <a:pathLst>
                  <a:path w="3895" h="3125">
                    <a:moveTo>
                      <a:pt x="0" y="12"/>
                    </a:moveTo>
                    <a:lnTo>
                      <a:pt x="228" y="0"/>
                    </a:lnTo>
                    <a:lnTo>
                      <a:pt x="458" y="0"/>
                    </a:lnTo>
                    <a:lnTo>
                      <a:pt x="686" y="14"/>
                    </a:lnTo>
                    <a:lnTo>
                      <a:pt x="910" y="40"/>
                    </a:lnTo>
                    <a:lnTo>
                      <a:pt x="1133" y="81"/>
                    </a:lnTo>
                    <a:lnTo>
                      <a:pt x="1351" y="132"/>
                    </a:lnTo>
                    <a:lnTo>
                      <a:pt x="1565" y="194"/>
                    </a:lnTo>
                    <a:lnTo>
                      <a:pt x="1774" y="266"/>
                    </a:lnTo>
                    <a:lnTo>
                      <a:pt x="1975" y="355"/>
                    </a:lnTo>
                    <a:lnTo>
                      <a:pt x="2172" y="451"/>
                    </a:lnTo>
                    <a:lnTo>
                      <a:pt x="2359" y="561"/>
                    </a:lnTo>
                    <a:lnTo>
                      <a:pt x="2539" y="676"/>
                    </a:lnTo>
                    <a:lnTo>
                      <a:pt x="2712" y="806"/>
                    </a:lnTo>
                    <a:lnTo>
                      <a:pt x="2873" y="945"/>
                    </a:lnTo>
                    <a:lnTo>
                      <a:pt x="3024" y="1092"/>
                    </a:lnTo>
                    <a:lnTo>
                      <a:pt x="3166" y="1245"/>
                    </a:lnTo>
                    <a:lnTo>
                      <a:pt x="3295" y="1411"/>
                    </a:lnTo>
                    <a:lnTo>
                      <a:pt x="3410" y="1579"/>
                    </a:lnTo>
                    <a:lnTo>
                      <a:pt x="3518" y="1759"/>
                    </a:lnTo>
                    <a:lnTo>
                      <a:pt x="3612" y="1941"/>
                    </a:lnTo>
                    <a:lnTo>
                      <a:pt x="3694" y="2128"/>
                    </a:lnTo>
                    <a:lnTo>
                      <a:pt x="3758" y="2323"/>
                    </a:lnTo>
                    <a:lnTo>
                      <a:pt x="3814" y="2517"/>
                    </a:lnTo>
                    <a:lnTo>
                      <a:pt x="3854" y="2719"/>
                    </a:lnTo>
                    <a:lnTo>
                      <a:pt x="3881" y="2918"/>
                    </a:lnTo>
                    <a:lnTo>
                      <a:pt x="3895" y="3124"/>
                    </a:lnTo>
                  </a:path>
                </a:pathLst>
              </a:custGeom>
              <a:noFill/>
              <a:ln w="2286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Freeform 10"/>
              <p:cNvSpPr>
                <a:spLocks/>
              </p:cNvSpPr>
              <p:nvPr/>
            </p:nvSpPr>
            <p:spPr bwMode="auto">
              <a:xfrm>
                <a:off x="6283" y="-562"/>
                <a:ext cx="132" cy="127"/>
              </a:xfrm>
              <a:custGeom>
                <a:avLst/>
                <a:gdLst>
                  <a:gd name="T0" fmla="+- 0 6283 6283"/>
                  <a:gd name="T1" fmla="*/ T0 w 132"/>
                  <a:gd name="T2" fmla="+- 0 -497 -562"/>
                  <a:gd name="T3" fmla="*/ -497 h 127"/>
                  <a:gd name="T4" fmla="+- 0 6290 6283"/>
                  <a:gd name="T5" fmla="*/ T4 w 132"/>
                  <a:gd name="T6" fmla="+- 0 -471 -562"/>
                  <a:gd name="T7" fmla="*/ -471 h 127"/>
                  <a:gd name="T8" fmla="+- 0 6310 6283"/>
                  <a:gd name="T9" fmla="*/ T8 w 132"/>
                  <a:gd name="T10" fmla="+- 0 -447 -562"/>
                  <a:gd name="T11" fmla="*/ -447 h 127"/>
                  <a:gd name="T12" fmla="+- 0 6336 6283"/>
                  <a:gd name="T13" fmla="*/ T12 w 132"/>
                  <a:gd name="T14" fmla="+- 0 -435 -562"/>
                  <a:gd name="T15" fmla="*/ -435 h 127"/>
                  <a:gd name="T16" fmla="+- 0 6365 6283"/>
                  <a:gd name="T17" fmla="*/ T16 w 132"/>
                  <a:gd name="T18" fmla="+- 0 -435 -562"/>
                  <a:gd name="T19" fmla="*/ -435 h 127"/>
                  <a:gd name="T20" fmla="+- 0 6389 6283"/>
                  <a:gd name="T21" fmla="*/ T20 w 132"/>
                  <a:gd name="T22" fmla="+- 0 -447 -562"/>
                  <a:gd name="T23" fmla="*/ -447 h 127"/>
                  <a:gd name="T24" fmla="+- 0 6408 6283"/>
                  <a:gd name="T25" fmla="*/ T24 w 132"/>
                  <a:gd name="T26" fmla="+- 0 -471 -562"/>
                  <a:gd name="T27" fmla="*/ -471 h 127"/>
                  <a:gd name="T28" fmla="+- 0 6415 6283"/>
                  <a:gd name="T29" fmla="*/ T28 w 132"/>
                  <a:gd name="T30" fmla="+- 0 -497 -562"/>
                  <a:gd name="T31" fmla="*/ -497 h 127"/>
                  <a:gd name="T32" fmla="+- 0 6408 6283"/>
                  <a:gd name="T33" fmla="*/ T32 w 132"/>
                  <a:gd name="T34" fmla="+- 0 -526 -562"/>
                  <a:gd name="T35" fmla="*/ -526 h 127"/>
                  <a:gd name="T36" fmla="+- 0 6389 6283"/>
                  <a:gd name="T37" fmla="*/ T36 w 132"/>
                  <a:gd name="T38" fmla="+- 0 -548 -562"/>
                  <a:gd name="T39" fmla="*/ -548 h 127"/>
                  <a:gd name="T40" fmla="+- 0 6365 6283"/>
                  <a:gd name="T41" fmla="*/ T40 w 132"/>
                  <a:gd name="T42" fmla="+- 0 -562 -562"/>
                  <a:gd name="T43" fmla="*/ -562 h 127"/>
                  <a:gd name="T44" fmla="+- 0 6336 6283"/>
                  <a:gd name="T45" fmla="*/ T44 w 132"/>
                  <a:gd name="T46" fmla="+- 0 -562 -562"/>
                  <a:gd name="T47" fmla="*/ -562 h 127"/>
                  <a:gd name="T48" fmla="+- 0 6310 6283"/>
                  <a:gd name="T49" fmla="*/ T48 w 132"/>
                  <a:gd name="T50" fmla="+- 0 -548 -562"/>
                  <a:gd name="T51" fmla="*/ -548 h 127"/>
                  <a:gd name="T52" fmla="+- 0 6290 6283"/>
                  <a:gd name="T53" fmla="*/ T52 w 132"/>
                  <a:gd name="T54" fmla="+- 0 -526 -562"/>
                  <a:gd name="T55" fmla="*/ -526 h 127"/>
                  <a:gd name="T56" fmla="+- 0 6283 6283"/>
                  <a:gd name="T57" fmla="*/ T56 w 132"/>
                  <a:gd name="T58" fmla="+- 0 -497 -562"/>
                  <a:gd name="T59" fmla="*/ -497 h 12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27">
                    <a:moveTo>
                      <a:pt x="0" y="65"/>
                    </a:moveTo>
                    <a:lnTo>
                      <a:pt x="7" y="91"/>
                    </a:lnTo>
                    <a:lnTo>
                      <a:pt x="27" y="115"/>
                    </a:lnTo>
                    <a:lnTo>
                      <a:pt x="53" y="127"/>
                    </a:lnTo>
                    <a:lnTo>
                      <a:pt x="82" y="127"/>
                    </a:lnTo>
                    <a:lnTo>
                      <a:pt x="106" y="115"/>
                    </a:lnTo>
                    <a:lnTo>
                      <a:pt x="125" y="91"/>
                    </a:lnTo>
                    <a:lnTo>
                      <a:pt x="132" y="65"/>
                    </a:lnTo>
                    <a:lnTo>
                      <a:pt x="125" y="36"/>
                    </a:lnTo>
                    <a:lnTo>
                      <a:pt x="106" y="14"/>
                    </a:lnTo>
                    <a:lnTo>
                      <a:pt x="82" y="0"/>
                    </a:lnTo>
                    <a:lnTo>
                      <a:pt x="53" y="0"/>
                    </a:lnTo>
                    <a:lnTo>
                      <a:pt x="27" y="14"/>
                    </a:lnTo>
                    <a:lnTo>
                      <a:pt x="7" y="36"/>
                    </a:lnTo>
                    <a:lnTo>
                      <a:pt x="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9"/>
              <p:cNvSpPr>
                <a:spLocks/>
              </p:cNvSpPr>
              <p:nvPr/>
            </p:nvSpPr>
            <p:spPr bwMode="auto">
              <a:xfrm>
                <a:off x="6283" y="-562"/>
                <a:ext cx="132" cy="127"/>
              </a:xfrm>
              <a:custGeom>
                <a:avLst/>
                <a:gdLst>
                  <a:gd name="T0" fmla="+- 0 6283 6283"/>
                  <a:gd name="T1" fmla="*/ T0 w 132"/>
                  <a:gd name="T2" fmla="+- 0 -497 -562"/>
                  <a:gd name="T3" fmla="*/ -497 h 127"/>
                  <a:gd name="T4" fmla="+- 0 6290 6283"/>
                  <a:gd name="T5" fmla="*/ T4 w 132"/>
                  <a:gd name="T6" fmla="+- 0 -526 -562"/>
                  <a:gd name="T7" fmla="*/ -526 h 127"/>
                  <a:gd name="T8" fmla="+- 0 6310 6283"/>
                  <a:gd name="T9" fmla="*/ T8 w 132"/>
                  <a:gd name="T10" fmla="+- 0 -548 -562"/>
                  <a:gd name="T11" fmla="*/ -548 h 127"/>
                  <a:gd name="T12" fmla="+- 0 6336 6283"/>
                  <a:gd name="T13" fmla="*/ T12 w 132"/>
                  <a:gd name="T14" fmla="+- 0 -562 -562"/>
                  <a:gd name="T15" fmla="*/ -562 h 127"/>
                  <a:gd name="T16" fmla="+- 0 6365 6283"/>
                  <a:gd name="T17" fmla="*/ T16 w 132"/>
                  <a:gd name="T18" fmla="+- 0 -562 -562"/>
                  <a:gd name="T19" fmla="*/ -562 h 127"/>
                  <a:gd name="T20" fmla="+- 0 6389 6283"/>
                  <a:gd name="T21" fmla="*/ T20 w 132"/>
                  <a:gd name="T22" fmla="+- 0 -548 -562"/>
                  <a:gd name="T23" fmla="*/ -548 h 127"/>
                  <a:gd name="T24" fmla="+- 0 6408 6283"/>
                  <a:gd name="T25" fmla="*/ T24 w 132"/>
                  <a:gd name="T26" fmla="+- 0 -526 -562"/>
                  <a:gd name="T27" fmla="*/ -526 h 127"/>
                  <a:gd name="T28" fmla="+- 0 6415 6283"/>
                  <a:gd name="T29" fmla="*/ T28 w 132"/>
                  <a:gd name="T30" fmla="+- 0 -497 -562"/>
                  <a:gd name="T31" fmla="*/ -497 h 127"/>
                  <a:gd name="T32" fmla="+- 0 6408 6283"/>
                  <a:gd name="T33" fmla="*/ T32 w 132"/>
                  <a:gd name="T34" fmla="+- 0 -471 -562"/>
                  <a:gd name="T35" fmla="*/ -471 h 127"/>
                  <a:gd name="T36" fmla="+- 0 6389 6283"/>
                  <a:gd name="T37" fmla="*/ T36 w 132"/>
                  <a:gd name="T38" fmla="+- 0 -447 -562"/>
                  <a:gd name="T39" fmla="*/ -447 h 127"/>
                  <a:gd name="T40" fmla="+- 0 6365 6283"/>
                  <a:gd name="T41" fmla="*/ T40 w 132"/>
                  <a:gd name="T42" fmla="+- 0 -435 -562"/>
                  <a:gd name="T43" fmla="*/ -435 h 127"/>
                  <a:gd name="T44" fmla="+- 0 6336 6283"/>
                  <a:gd name="T45" fmla="*/ T44 w 132"/>
                  <a:gd name="T46" fmla="+- 0 -435 -562"/>
                  <a:gd name="T47" fmla="*/ -435 h 127"/>
                  <a:gd name="T48" fmla="+- 0 6310 6283"/>
                  <a:gd name="T49" fmla="*/ T48 w 132"/>
                  <a:gd name="T50" fmla="+- 0 -447 -562"/>
                  <a:gd name="T51" fmla="*/ -447 h 127"/>
                  <a:gd name="T52" fmla="+- 0 6290 6283"/>
                  <a:gd name="T53" fmla="*/ T52 w 132"/>
                  <a:gd name="T54" fmla="+- 0 -471 -562"/>
                  <a:gd name="T55" fmla="*/ -471 h 127"/>
                  <a:gd name="T56" fmla="+- 0 6283 6283"/>
                  <a:gd name="T57" fmla="*/ T56 w 132"/>
                  <a:gd name="T58" fmla="+- 0 -497 -562"/>
                  <a:gd name="T59" fmla="*/ -497 h 12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27">
                    <a:moveTo>
                      <a:pt x="0" y="65"/>
                    </a:moveTo>
                    <a:lnTo>
                      <a:pt x="7" y="36"/>
                    </a:lnTo>
                    <a:lnTo>
                      <a:pt x="27" y="14"/>
                    </a:lnTo>
                    <a:lnTo>
                      <a:pt x="53" y="0"/>
                    </a:lnTo>
                    <a:lnTo>
                      <a:pt x="82" y="0"/>
                    </a:lnTo>
                    <a:lnTo>
                      <a:pt x="106" y="14"/>
                    </a:lnTo>
                    <a:lnTo>
                      <a:pt x="125" y="36"/>
                    </a:lnTo>
                    <a:lnTo>
                      <a:pt x="132" y="65"/>
                    </a:lnTo>
                    <a:lnTo>
                      <a:pt x="125" y="91"/>
                    </a:lnTo>
                    <a:lnTo>
                      <a:pt x="106" y="115"/>
                    </a:lnTo>
                    <a:lnTo>
                      <a:pt x="82" y="127"/>
                    </a:lnTo>
                    <a:lnTo>
                      <a:pt x="53" y="127"/>
                    </a:lnTo>
                    <a:lnTo>
                      <a:pt x="27" y="115"/>
                    </a:lnTo>
                    <a:lnTo>
                      <a:pt x="7" y="91"/>
                    </a:lnTo>
                    <a:lnTo>
                      <a:pt x="0" y="65"/>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Freeform 5"/>
              <p:cNvSpPr>
                <a:spLocks/>
              </p:cNvSpPr>
              <p:nvPr/>
            </p:nvSpPr>
            <p:spPr bwMode="auto">
              <a:xfrm>
                <a:off x="7651" y="-2014"/>
                <a:ext cx="141" cy="816"/>
              </a:xfrm>
              <a:custGeom>
                <a:avLst/>
                <a:gdLst>
                  <a:gd name="T0" fmla="+- 0 -2014 -2014"/>
                  <a:gd name="T1" fmla="*/ -2014 h 305"/>
                  <a:gd name="T2" fmla="+- 0 -1709 -2014"/>
                  <a:gd name="T3" fmla="*/ -1709 h 305"/>
                </a:gdLst>
                <a:ahLst/>
                <a:cxnLst>
                  <a:cxn ang="0">
                    <a:pos x="0" y="T1"/>
                  </a:cxn>
                  <a:cxn ang="0">
                    <a:pos x="0" y="T3"/>
                  </a:cxn>
                </a:cxnLst>
                <a:rect l="0" t="0" r="r" b="b"/>
                <a:pathLst>
                  <a:path h="305">
                    <a:moveTo>
                      <a:pt x="0" y="0"/>
                    </a:moveTo>
                    <a:lnTo>
                      <a:pt x="0" y="305"/>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2" name="Freeform 3"/>
              <p:cNvSpPr>
                <a:spLocks/>
              </p:cNvSpPr>
              <p:nvPr/>
            </p:nvSpPr>
            <p:spPr bwMode="auto">
              <a:xfrm>
                <a:off x="6283" y="-780"/>
                <a:ext cx="132" cy="130"/>
              </a:xfrm>
              <a:custGeom>
                <a:avLst/>
                <a:gdLst>
                  <a:gd name="T0" fmla="+- 0 6283 6283"/>
                  <a:gd name="T1" fmla="*/ T0 w 132"/>
                  <a:gd name="T2" fmla="+- 0 -713 -780"/>
                  <a:gd name="T3" fmla="*/ -713 h 130"/>
                  <a:gd name="T4" fmla="+- 0 6290 6283"/>
                  <a:gd name="T5" fmla="*/ T4 w 132"/>
                  <a:gd name="T6" fmla="+- 0 -687 -780"/>
                  <a:gd name="T7" fmla="*/ -687 h 130"/>
                  <a:gd name="T8" fmla="+- 0 6310 6283"/>
                  <a:gd name="T9" fmla="*/ T8 w 132"/>
                  <a:gd name="T10" fmla="+- 0 -663 -780"/>
                  <a:gd name="T11" fmla="*/ -663 h 130"/>
                  <a:gd name="T12" fmla="+- 0 6336 6283"/>
                  <a:gd name="T13" fmla="*/ T12 w 132"/>
                  <a:gd name="T14" fmla="+- 0 -651 -780"/>
                  <a:gd name="T15" fmla="*/ -651 h 130"/>
                  <a:gd name="T16" fmla="+- 0 6365 6283"/>
                  <a:gd name="T17" fmla="*/ T16 w 132"/>
                  <a:gd name="T18" fmla="+- 0 -651 -780"/>
                  <a:gd name="T19" fmla="*/ -651 h 130"/>
                  <a:gd name="T20" fmla="+- 0 6389 6283"/>
                  <a:gd name="T21" fmla="*/ T20 w 132"/>
                  <a:gd name="T22" fmla="+- 0 -663 -780"/>
                  <a:gd name="T23" fmla="*/ -663 h 130"/>
                  <a:gd name="T24" fmla="+- 0 6408 6283"/>
                  <a:gd name="T25" fmla="*/ T24 w 132"/>
                  <a:gd name="T26" fmla="+- 0 -687 -780"/>
                  <a:gd name="T27" fmla="*/ -687 h 130"/>
                  <a:gd name="T28" fmla="+- 0 6415 6283"/>
                  <a:gd name="T29" fmla="*/ T28 w 132"/>
                  <a:gd name="T30" fmla="+- 0 -713 -780"/>
                  <a:gd name="T31" fmla="*/ -713 h 130"/>
                  <a:gd name="T32" fmla="+- 0 6408 6283"/>
                  <a:gd name="T33" fmla="*/ T32 w 132"/>
                  <a:gd name="T34" fmla="+- 0 -742 -780"/>
                  <a:gd name="T35" fmla="*/ -742 h 130"/>
                  <a:gd name="T36" fmla="+- 0 6389 6283"/>
                  <a:gd name="T37" fmla="*/ T36 w 132"/>
                  <a:gd name="T38" fmla="+- 0 -764 -780"/>
                  <a:gd name="T39" fmla="*/ -764 h 130"/>
                  <a:gd name="T40" fmla="+- 0 6365 6283"/>
                  <a:gd name="T41" fmla="*/ T40 w 132"/>
                  <a:gd name="T42" fmla="+- 0 -780 -780"/>
                  <a:gd name="T43" fmla="*/ -780 h 130"/>
                  <a:gd name="T44" fmla="+- 0 6336 6283"/>
                  <a:gd name="T45" fmla="*/ T44 w 132"/>
                  <a:gd name="T46" fmla="+- 0 -780 -780"/>
                  <a:gd name="T47" fmla="*/ -780 h 130"/>
                  <a:gd name="T48" fmla="+- 0 6310 6283"/>
                  <a:gd name="T49" fmla="*/ T48 w 132"/>
                  <a:gd name="T50" fmla="+- 0 -764 -780"/>
                  <a:gd name="T51" fmla="*/ -764 h 130"/>
                  <a:gd name="T52" fmla="+- 0 6290 6283"/>
                  <a:gd name="T53" fmla="*/ T52 w 132"/>
                  <a:gd name="T54" fmla="+- 0 -742 -780"/>
                  <a:gd name="T55" fmla="*/ -742 h 130"/>
                  <a:gd name="T56" fmla="+- 0 6283 6283"/>
                  <a:gd name="T57" fmla="*/ T56 w 132"/>
                  <a:gd name="T58" fmla="+- 0 -713 -780"/>
                  <a:gd name="T59" fmla="*/ -713 h 13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30">
                    <a:moveTo>
                      <a:pt x="0" y="67"/>
                    </a:moveTo>
                    <a:lnTo>
                      <a:pt x="7" y="93"/>
                    </a:lnTo>
                    <a:lnTo>
                      <a:pt x="27" y="117"/>
                    </a:lnTo>
                    <a:lnTo>
                      <a:pt x="53" y="129"/>
                    </a:lnTo>
                    <a:lnTo>
                      <a:pt x="82" y="129"/>
                    </a:lnTo>
                    <a:lnTo>
                      <a:pt x="106" y="117"/>
                    </a:lnTo>
                    <a:lnTo>
                      <a:pt x="125" y="93"/>
                    </a:lnTo>
                    <a:lnTo>
                      <a:pt x="132" y="67"/>
                    </a:lnTo>
                    <a:lnTo>
                      <a:pt x="125" y="38"/>
                    </a:lnTo>
                    <a:lnTo>
                      <a:pt x="106" y="16"/>
                    </a:lnTo>
                    <a:lnTo>
                      <a:pt x="82" y="0"/>
                    </a:lnTo>
                    <a:lnTo>
                      <a:pt x="53" y="0"/>
                    </a:lnTo>
                    <a:lnTo>
                      <a:pt x="27" y="16"/>
                    </a:lnTo>
                    <a:lnTo>
                      <a:pt x="7" y="38"/>
                    </a:lnTo>
                    <a:lnTo>
                      <a:pt x="0"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
              <p:cNvSpPr>
                <a:spLocks/>
              </p:cNvSpPr>
              <p:nvPr/>
            </p:nvSpPr>
            <p:spPr bwMode="auto">
              <a:xfrm>
                <a:off x="6283" y="-780"/>
                <a:ext cx="132" cy="130"/>
              </a:xfrm>
              <a:custGeom>
                <a:avLst/>
                <a:gdLst>
                  <a:gd name="T0" fmla="+- 0 6283 6283"/>
                  <a:gd name="T1" fmla="*/ T0 w 132"/>
                  <a:gd name="T2" fmla="+- 0 -713 -780"/>
                  <a:gd name="T3" fmla="*/ -713 h 130"/>
                  <a:gd name="T4" fmla="+- 0 6290 6283"/>
                  <a:gd name="T5" fmla="*/ T4 w 132"/>
                  <a:gd name="T6" fmla="+- 0 -742 -780"/>
                  <a:gd name="T7" fmla="*/ -742 h 130"/>
                  <a:gd name="T8" fmla="+- 0 6310 6283"/>
                  <a:gd name="T9" fmla="*/ T8 w 132"/>
                  <a:gd name="T10" fmla="+- 0 -764 -780"/>
                  <a:gd name="T11" fmla="*/ -764 h 130"/>
                  <a:gd name="T12" fmla="+- 0 6336 6283"/>
                  <a:gd name="T13" fmla="*/ T12 w 132"/>
                  <a:gd name="T14" fmla="+- 0 -780 -780"/>
                  <a:gd name="T15" fmla="*/ -780 h 130"/>
                  <a:gd name="T16" fmla="+- 0 6365 6283"/>
                  <a:gd name="T17" fmla="*/ T16 w 132"/>
                  <a:gd name="T18" fmla="+- 0 -780 -780"/>
                  <a:gd name="T19" fmla="*/ -780 h 130"/>
                  <a:gd name="T20" fmla="+- 0 6389 6283"/>
                  <a:gd name="T21" fmla="*/ T20 w 132"/>
                  <a:gd name="T22" fmla="+- 0 -764 -780"/>
                  <a:gd name="T23" fmla="*/ -764 h 130"/>
                  <a:gd name="T24" fmla="+- 0 6408 6283"/>
                  <a:gd name="T25" fmla="*/ T24 w 132"/>
                  <a:gd name="T26" fmla="+- 0 -742 -780"/>
                  <a:gd name="T27" fmla="*/ -742 h 130"/>
                  <a:gd name="T28" fmla="+- 0 6415 6283"/>
                  <a:gd name="T29" fmla="*/ T28 w 132"/>
                  <a:gd name="T30" fmla="+- 0 -713 -780"/>
                  <a:gd name="T31" fmla="*/ -713 h 130"/>
                  <a:gd name="T32" fmla="+- 0 6408 6283"/>
                  <a:gd name="T33" fmla="*/ T32 w 132"/>
                  <a:gd name="T34" fmla="+- 0 -687 -780"/>
                  <a:gd name="T35" fmla="*/ -687 h 130"/>
                  <a:gd name="T36" fmla="+- 0 6389 6283"/>
                  <a:gd name="T37" fmla="*/ T36 w 132"/>
                  <a:gd name="T38" fmla="+- 0 -663 -780"/>
                  <a:gd name="T39" fmla="*/ -663 h 130"/>
                  <a:gd name="T40" fmla="+- 0 6365 6283"/>
                  <a:gd name="T41" fmla="*/ T40 w 132"/>
                  <a:gd name="T42" fmla="+- 0 -651 -780"/>
                  <a:gd name="T43" fmla="*/ -651 h 130"/>
                  <a:gd name="T44" fmla="+- 0 6336 6283"/>
                  <a:gd name="T45" fmla="*/ T44 w 132"/>
                  <a:gd name="T46" fmla="+- 0 -651 -780"/>
                  <a:gd name="T47" fmla="*/ -651 h 130"/>
                  <a:gd name="T48" fmla="+- 0 6310 6283"/>
                  <a:gd name="T49" fmla="*/ T48 w 132"/>
                  <a:gd name="T50" fmla="+- 0 -663 -780"/>
                  <a:gd name="T51" fmla="*/ -663 h 130"/>
                  <a:gd name="T52" fmla="+- 0 6290 6283"/>
                  <a:gd name="T53" fmla="*/ T52 w 132"/>
                  <a:gd name="T54" fmla="+- 0 -687 -780"/>
                  <a:gd name="T55" fmla="*/ -687 h 130"/>
                  <a:gd name="T56" fmla="+- 0 6283 6283"/>
                  <a:gd name="T57" fmla="*/ T56 w 132"/>
                  <a:gd name="T58" fmla="+- 0 -713 -780"/>
                  <a:gd name="T59" fmla="*/ -713 h 13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30">
                    <a:moveTo>
                      <a:pt x="0" y="67"/>
                    </a:moveTo>
                    <a:lnTo>
                      <a:pt x="7" y="38"/>
                    </a:lnTo>
                    <a:lnTo>
                      <a:pt x="27" y="16"/>
                    </a:lnTo>
                    <a:lnTo>
                      <a:pt x="53" y="0"/>
                    </a:lnTo>
                    <a:lnTo>
                      <a:pt x="82" y="0"/>
                    </a:lnTo>
                    <a:lnTo>
                      <a:pt x="106" y="16"/>
                    </a:lnTo>
                    <a:lnTo>
                      <a:pt x="125" y="38"/>
                    </a:lnTo>
                    <a:lnTo>
                      <a:pt x="132" y="67"/>
                    </a:lnTo>
                    <a:lnTo>
                      <a:pt x="125" y="93"/>
                    </a:lnTo>
                    <a:lnTo>
                      <a:pt x="106" y="117"/>
                    </a:lnTo>
                    <a:lnTo>
                      <a:pt x="82" y="129"/>
                    </a:lnTo>
                    <a:lnTo>
                      <a:pt x="53" y="129"/>
                    </a:lnTo>
                    <a:lnTo>
                      <a:pt x="27" y="117"/>
                    </a:lnTo>
                    <a:lnTo>
                      <a:pt x="7" y="93"/>
                    </a:lnTo>
                    <a:lnTo>
                      <a:pt x="0" y="67"/>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p:cNvSpPr>
                <a:spLocks/>
              </p:cNvSpPr>
              <p:nvPr/>
            </p:nvSpPr>
            <p:spPr bwMode="auto">
              <a:xfrm>
                <a:off x="7454" y="816"/>
                <a:ext cx="432" cy="0"/>
              </a:xfrm>
              <a:custGeom>
                <a:avLst/>
                <a:gdLst>
                  <a:gd name="T0" fmla="+- 0 6134 6134"/>
                  <a:gd name="T1" fmla="*/ T0 w 432"/>
                  <a:gd name="T2" fmla="+- 0 6566 6134"/>
                  <a:gd name="T3" fmla="*/ T2 w 432"/>
                </a:gdLst>
                <a:ahLst/>
                <a:cxnLst>
                  <a:cxn ang="0">
                    <a:pos x="T1" y="0"/>
                  </a:cxn>
                  <a:cxn ang="0">
                    <a:pos x="T3" y="0"/>
                  </a:cxn>
                </a:cxnLst>
                <a:rect l="0" t="0" r="r" b="b"/>
                <a:pathLst>
                  <a:path w="432">
                    <a:moveTo>
                      <a:pt x="0" y="0"/>
                    </a:moveTo>
                    <a:lnTo>
                      <a:pt x="432"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16"/>
              <p:cNvSpPr>
                <a:spLocks/>
              </p:cNvSpPr>
              <p:nvPr/>
            </p:nvSpPr>
            <p:spPr bwMode="auto">
              <a:xfrm>
                <a:off x="7461" y="-498"/>
                <a:ext cx="432" cy="0"/>
              </a:xfrm>
              <a:custGeom>
                <a:avLst/>
                <a:gdLst>
                  <a:gd name="T0" fmla="+- 0 6134 6134"/>
                  <a:gd name="T1" fmla="*/ T0 w 432"/>
                  <a:gd name="T2" fmla="+- 0 6566 6134"/>
                  <a:gd name="T3" fmla="*/ T2 w 432"/>
                </a:gdLst>
                <a:ahLst/>
                <a:cxnLst>
                  <a:cxn ang="0">
                    <a:pos x="T1" y="0"/>
                  </a:cxn>
                  <a:cxn ang="0">
                    <a:pos x="T3" y="0"/>
                  </a:cxn>
                </a:cxnLst>
                <a:rect l="0" t="0" r="r" b="b"/>
                <a:pathLst>
                  <a:path w="432">
                    <a:moveTo>
                      <a:pt x="0" y="0"/>
                    </a:moveTo>
                    <a:lnTo>
                      <a:pt x="432"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75" name="TextBox 74"/>
            <p:cNvSpPr txBox="1"/>
            <p:nvPr/>
          </p:nvSpPr>
          <p:spPr>
            <a:xfrm>
              <a:off x="7805196" y="2545383"/>
              <a:ext cx="926857" cy="369332"/>
            </a:xfrm>
            <a:prstGeom prst="rect">
              <a:avLst/>
            </a:prstGeom>
            <a:noFill/>
          </p:spPr>
          <p:txBody>
            <a:bodyPr wrap="none" rtlCol="0">
              <a:spAutoFit/>
            </a:bodyPr>
            <a:lstStyle/>
            <a:p>
              <a:r>
                <a:rPr lang="en-US" smtClean="0"/>
                <a:t>P(</a:t>
              </a:r>
              <a:r>
                <a:rPr lang="en-US" smtClean="0">
                  <a:latin typeface="Arial" panose="020B0604020202020204" pitchFamily="34" charset="0"/>
                  <a:cs typeface="Arial" panose="020B0604020202020204" pitchFamily="34" charset="0"/>
                </a:rPr>
                <a:t>x</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,y</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a:t>
              </a:r>
              <a:endParaRPr lang="en-US"/>
            </a:p>
          </p:txBody>
        </p:sp>
        <p:sp>
          <p:nvSpPr>
            <p:cNvPr id="76" name="TextBox 75"/>
            <p:cNvSpPr txBox="1"/>
            <p:nvPr/>
          </p:nvSpPr>
          <p:spPr>
            <a:xfrm>
              <a:off x="9159227" y="2643998"/>
              <a:ext cx="311304" cy="369332"/>
            </a:xfrm>
            <a:prstGeom prst="rect">
              <a:avLst/>
            </a:prstGeom>
            <a:noFill/>
          </p:spPr>
          <p:txBody>
            <a:bodyPr wrap="none" rtlCol="0">
              <a:spAutoFit/>
            </a:bodyPr>
            <a:lstStyle/>
            <a:p>
              <a:r>
                <a:rPr lang="en-US"/>
                <a:t>E</a:t>
              </a:r>
            </a:p>
          </p:txBody>
        </p:sp>
        <p:sp>
          <p:nvSpPr>
            <p:cNvPr id="77" name="TextBox 76"/>
            <p:cNvSpPr txBox="1"/>
            <p:nvPr/>
          </p:nvSpPr>
          <p:spPr>
            <a:xfrm>
              <a:off x="9192332" y="3986348"/>
              <a:ext cx="437940" cy="369332"/>
            </a:xfrm>
            <a:prstGeom prst="rect">
              <a:avLst/>
            </a:prstGeom>
            <a:noFill/>
          </p:spPr>
          <p:txBody>
            <a:bodyPr wrap="none" rtlCol="0">
              <a:spAutoFit/>
            </a:bodyPr>
            <a:lstStyle/>
            <a:p>
              <a:r>
                <a:rPr lang="en-US" smtClean="0"/>
                <a:t>SE</a:t>
              </a:r>
              <a:endParaRPr lang="en-US"/>
            </a:p>
          </p:txBody>
        </p:sp>
        <p:sp>
          <p:nvSpPr>
            <p:cNvPr id="78" name="TextBox 77"/>
            <p:cNvSpPr txBox="1"/>
            <p:nvPr/>
          </p:nvSpPr>
          <p:spPr>
            <a:xfrm>
              <a:off x="8755553" y="3363613"/>
              <a:ext cx="373820" cy="369332"/>
            </a:xfrm>
            <a:prstGeom prst="rect">
              <a:avLst/>
            </a:prstGeom>
            <a:noFill/>
          </p:spPr>
          <p:txBody>
            <a:bodyPr wrap="none" rtlCol="0">
              <a:spAutoFit/>
            </a:bodyPr>
            <a:lstStyle/>
            <a:p>
              <a:r>
                <a:rPr lang="en-US" smtClean="0"/>
                <a:t>M</a:t>
              </a:r>
              <a:endParaRPr lang="en-US"/>
            </a:p>
          </p:txBody>
        </p:sp>
        <p:sp>
          <p:nvSpPr>
            <p:cNvPr id="81" name="TextBox 80"/>
            <p:cNvSpPr txBox="1"/>
            <p:nvPr/>
          </p:nvSpPr>
          <p:spPr>
            <a:xfrm>
              <a:off x="10167860" y="3285181"/>
              <a:ext cx="458780" cy="369332"/>
            </a:xfrm>
            <a:prstGeom prst="rect">
              <a:avLst/>
            </a:prstGeom>
            <a:noFill/>
          </p:spPr>
          <p:txBody>
            <a:bodyPr wrap="none" rtlCol="0">
              <a:spAutoFit/>
            </a:bodyPr>
            <a:lstStyle/>
            <a:p>
              <a:r>
                <a:rPr lang="en-US" smtClean="0"/>
                <a:t>M</a:t>
              </a:r>
              <a:r>
                <a:rPr lang="en-US" baseline="-25000" smtClean="0"/>
                <a:t>E</a:t>
              </a:r>
              <a:endParaRPr lang="en-US"/>
            </a:p>
          </p:txBody>
        </p:sp>
        <p:sp>
          <p:nvSpPr>
            <p:cNvPr id="82" name="TextBox 81"/>
            <p:cNvSpPr txBox="1"/>
            <p:nvPr/>
          </p:nvSpPr>
          <p:spPr>
            <a:xfrm>
              <a:off x="9960712" y="4272034"/>
              <a:ext cx="543739" cy="369332"/>
            </a:xfrm>
            <a:prstGeom prst="rect">
              <a:avLst/>
            </a:prstGeom>
            <a:noFill/>
          </p:spPr>
          <p:txBody>
            <a:bodyPr wrap="none" rtlCol="0">
              <a:spAutoFit/>
            </a:bodyPr>
            <a:lstStyle/>
            <a:p>
              <a:r>
                <a:rPr lang="en-US" smtClean="0"/>
                <a:t>M</a:t>
              </a:r>
              <a:r>
                <a:rPr lang="en-US" baseline="-25000" smtClean="0"/>
                <a:t>SE</a:t>
              </a:r>
              <a:endParaRPr lang="en-US"/>
            </a:p>
          </p:txBody>
        </p:sp>
      </p:grpSp>
    </p:spTree>
    <p:extLst>
      <p:ext uri="{BB962C8B-B14F-4D97-AF65-F5344CB8AC3E}">
        <p14:creationId xmlns:p14="http://schemas.microsoft.com/office/powerpoint/2010/main" val="1376416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4978" y="148616"/>
            <a:ext cx="10018713" cy="1752599"/>
          </a:xfrm>
        </p:spPr>
        <p:txBody>
          <a:bodyPr/>
          <a:lstStyle/>
          <a:p>
            <a:r>
              <a:rPr lang="en-US" smtClean="0"/>
              <a:t>Thuật toán Midpoint</a:t>
            </a:r>
            <a:endParaRPr lang="en-US"/>
          </a:p>
        </p:txBody>
      </p:sp>
      <p:sp>
        <p:nvSpPr>
          <p:cNvPr id="3" name="Content Placeholder 2"/>
          <p:cNvSpPr>
            <a:spLocks noGrp="1"/>
          </p:cNvSpPr>
          <p:nvPr>
            <p:ph idx="1"/>
          </p:nvPr>
        </p:nvSpPr>
        <p:spPr>
          <a:xfrm>
            <a:off x="1584977" y="2528546"/>
            <a:ext cx="6205639" cy="3124201"/>
          </a:xfrm>
        </p:spPr>
        <p:txBody>
          <a:bodyPr>
            <a:noAutofit/>
          </a:bodyPr>
          <a:lstStyle/>
          <a:p>
            <a:r>
              <a:rPr lang="en-US" smtClean="0">
                <a:latin typeface="Arial" panose="020B0604020202020204" pitchFamily="34" charset="0"/>
                <a:cs typeface="Arial" panose="020B0604020202020204" pitchFamily="34" charset="0"/>
              </a:rPr>
              <a:t>Đặt P</a:t>
            </a:r>
            <a:r>
              <a:rPr lang="en-US" baseline="-25000" smtClean="0">
                <a:latin typeface="Arial" panose="020B0604020202020204" pitchFamily="34" charset="0"/>
                <a:cs typeface="Arial" panose="020B0604020202020204" pitchFamily="34" charset="0"/>
              </a:rPr>
              <a:t>old</a:t>
            </a:r>
            <a:r>
              <a:rPr lang="en-US" smtClean="0">
                <a:latin typeface="Arial" panose="020B0604020202020204" pitchFamily="34" charset="0"/>
                <a:cs typeface="Arial" panose="020B0604020202020204" pitchFamily="34" charset="0"/>
              </a:rPr>
              <a:t>=F(M)</a:t>
            </a:r>
          </a:p>
          <a:p>
            <a:pPr lvl="1"/>
            <a:r>
              <a:rPr lang="en-US" smtClean="0">
                <a:latin typeface="Arial" panose="020B0604020202020204" pitchFamily="34" charset="0"/>
                <a:cs typeface="Arial" panose="020B0604020202020204" pitchFamily="34" charset="0"/>
              </a:rPr>
              <a:t>P</a:t>
            </a:r>
            <a:r>
              <a:rPr lang="en-US" baseline="-25000" smtClean="0">
                <a:latin typeface="Arial" panose="020B0604020202020204" pitchFamily="34" charset="0"/>
                <a:cs typeface="Arial" panose="020B0604020202020204" pitchFamily="34" charset="0"/>
              </a:rPr>
              <a:t>old</a:t>
            </a:r>
            <a:r>
              <a:rPr lang="en-US" smtClean="0">
                <a:latin typeface="Arial" panose="020B0604020202020204" pitchFamily="34" charset="0"/>
                <a:cs typeface="Arial" panose="020B0604020202020204" pitchFamily="34" charset="0"/>
              </a:rPr>
              <a:t>=(x</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+1)</a:t>
            </a:r>
            <a:r>
              <a:rPr lang="en-US" baseline="30000" smtClean="0">
                <a:latin typeface="Arial" panose="020B0604020202020204" pitchFamily="34" charset="0"/>
                <a:cs typeface="Arial" panose="020B0604020202020204" pitchFamily="34" charset="0"/>
              </a:rPr>
              <a:t>2</a:t>
            </a:r>
            <a:r>
              <a:rPr lang="en-US" smtClean="0">
                <a:latin typeface="Arial" panose="020B0604020202020204" pitchFamily="34" charset="0"/>
                <a:cs typeface="Arial" panose="020B0604020202020204" pitchFamily="34" charset="0"/>
              </a:rPr>
              <a:t> + (y</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-1/2)</a:t>
            </a:r>
            <a:r>
              <a:rPr lang="en-US" baseline="30000" smtClean="0">
                <a:latin typeface="Arial" panose="020B0604020202020204" pitchFamily="34" charset="0"/>
                <a:cs typeface="Arial" panose="020B0604020202020204" pitchFamily="34" charset="0"/>
              </a:rPr>
              <a:t>2</a:t>
            </a:r>
            <a:r>
              <a:rPr lang="en-US" smtClean="0">
                <a:latin typeface="Arial" panose="020B0604020202020204" pitchFamily="34" charset="0"/>
                <a:cs typeface="Arial" panose="020B0604020202020204" pitchFamily="34" charset="0"/>
              </a:rPr>
              <a:t> – R</a:t>
            </a:r>
            <a:r>
              <a:rPr lang="en-US" baseline="30000" smtClean="0">
                <a:latin typeface="Arial" panose="020B0604020202020204" pitchFamily="34" charset="0"/>
                <a:cs typeface="Arial" panose="020B0604020202020204" pitchFamily="34" charset="0"/>
              </a:rPr>
              <a:t>2</a:t>
            </a:r>
          </a:p>
          <a:p>
            <a:r>
              <a:rPr lang="en-US" smtClean="0">
                <a:latin typeface="Arial" panose="020B0604020202020204" pitchFamily="34" charset="0"/>
                <a:cs typeface="Arial" panose="020B0604020202020204" pitchFamily="34" charset="0"/>
              </a:rPr>
              <a:t>Nếu chọn E, M</a:t>
            </a:r>
            <a:r>
              <a:rPr lang="en-US" baseline="-25000" smtClean="0">
                <a:latin typeface="Arial" panose="020B0604020202020204" pitchFamily="34" charset="0"/>
                <a:cs typeface="Arial" panose="020B0604020202020204" pitchFamily="34" charset="0"/>
              </a:rPr>
              <a:t>newE</a:t>
            </a:r>
            <a:r>
              <a:rPr lang="en-US" smtClean="0">
                <a:latin typeface="Arial" panose="020B0604020202020204" pitchFamily="34" charset="0"/>
                <a:cs typeface="Arial" panose="020B0604020202020204" pitchFamily="34" charset="0"/>
              </a:rPr>
              <a:t>(x</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+2,y</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-1/2)</a:t>
            </a:r>
          </a:p>
          <a:p>
            <a:pPr lvl="1"/>
            <a:r>
              <a:rPr lang="en-US" smtClean="0">
                <a:latin typeface="Arial" panose="020B0604020202020204" pitchFamily="34" charset="0"/>
                <a:cs typeface="Arial" panose="020B0604020202020204" pitchFamily="34" charset="0"/>
              </a:rPr>
              <a:t>P</a:t>
            </a:r>
            <a:r>
              <a:rPr lang="en-US" baseline="-25000" smtClean="0">
                <a:latin typeface="Arial" panose="020B0604020202020204" pitchFamily="34" charset="0"/>
                <a:cs typeface="Arial" panose="020B0604020202020204" pitchFamily="34" charset="0"/>
              </a:rPr>
              <a:t>newE</a:t>
            </a:r>
            <a:r>
              <a:rPr lang="en-US" smtClean="0">
                <a:latin typeface="Arial" panose="020B0604020202020204" pitchFamily="34" charset="0"/>
                <a:cs typeface="Arial" panose="020B0604020202020204" pitchFamily="34" charset="0"/>
              </a:rPr>
              <a:t>=(x</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+2)</a:t>
            </a:r>
            <a:r>
              <a:rPr lang="en-US" baseline="30000" smtClean="0">
                <a:latin typeface="Arial" panose="020B0604020202020204" pitchFamily="34" charset="0"/>
                <a:cs typeface="Arial" panose="020B0604020202020204" pitchFamily="34" charset="0"/>
              </a:rPr>
              <a:t>2</a:t>
            </a:r>
            <a:r>
              <a:rPr lang="en-US" smtClean="0">
                <a:latin typeface="Arial" panose="020B0604020202020204" pitchFamily="34" charset="0"/>
                <a:cs typeface="Arial" panose="020B0604020202020204" pitchFamily="34" charset="0"/>
              </a:rPr>
              <a:t> + (y</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-1/2)</a:t>
            </a:r>
            <a:r>
              <a:rPr lang="en-US" baseline="30000" smtClean="0">
                <a:latin typeface="Arial" panose="020B0604020202020204" pitchFamily="34" charset="0"/>
                <a:cs typeface="Arial" panose="020B0604020202020204" pitchFamily="34" charset="0"/>
              </a:rPr>
              <a:t>2</a:t>
            </a:r>
            <a:r>
              <a:rPr lang="en-US">
                <a:latin typeface="Arial" panose="020B0604020202020204" pitchFamily="34" charset="0"/>
                <a:cs typeface="Arial" panose="020B0604020202020204" pitchFamily="34" charset="0"/>
              </a:rPr>
              <a:t> </a:t>
            </a:r>
            <a:r>
              <a:rPr lang="en-US" smtClean="0">
                <a:latin typeface="Arial" panose="020B0604020202020204" pitchFamily="34" charset="0"/>
                <a:cs typeface="Arial" panose="020B0604020202020204" pitchFamily="34" charset="0"/>
              </a:rPr>
              <a:t>– R</a:t>
            </a:r>
            <a:r>
              <a:rPr lang="en-US" baseline="30000" smtClean="0">
                <a:latin typeface="Arial" panose="020B0604020202020204" pitchFamily="34" charset="0"/>
                <a:cs typeface="Arial" panose="020B0604020202020204" pitchFamily="34" charset="0"/>
              </a:rPr>
              <a:t>2</a:t>
            </a:r>
          </a:p>
          <a:p>
            <a:pPr lvl="1"/>
            <a:r>
              <a:rPr lang="en-US" smtClean="0">
                <a:latin typeface="Arial" panose="020B0604020202020204" pitchFamily="34" charset="0"/>
                <a:cs typeface="Arial" panose="020B0604020202020204" pitchFamily="34" charset="0"/>
              </a:rPr>
              <a:t>P</a:t>
            </a:r>
            <a:r>
              <a:rPr lang="en-US" baseline="-25000" smtClean="0">
                <a:latin typeface="Arial" panose="020B0604020202020204" pitchFamily="34" charset="0"/>
                <a:cs typeface="Arial" panose="020B0604020202020204" pitchFamily="34" charset="0"/>
              </a:rPr>
              <a:t>newE</a:t>
            </a:r>
            <a:r>
              <a:rPr lang="en-US" smtClean="0">
                <a:latin typeface="Arial" panose="020B0604020202020204" pitchFamily="34" charset="0"/>
                <a:cs typeface="Arial" panose="020B0604020202020204" pitchFamily="34" charset="0"/>
              </a:rPr>
              <a:t>=</a:t>
            </a:r>
            <a:r>
              <a:rPr lang="en-US">
                <a:latin typeface="Arial" panose="020B0604020202020204" pitchFamily="34" charset="0"/>
                <a:cs typeface="Arial" panose="020B0604020202020204" pitchFamily="34" charset="0"/>
              </a:rPr>
              <a:t> </a:t>
            </a:r>
            <a:r>
              <a:rPr lang="en-US" smtClean="0">
                <a:latin typeface="Arial" panose="020B0604020202020204" pitchFamily="34" charset="0"/>
                <a:cs typeface="Arial" panose="020B0604020202020204" pitchFamily="34" charset="0"/>
              </a:rPr>
              <a:t>P</a:t>
            </a:r>
            <a:r>
              <a:rPr lang="en-US" baseline="-25000" smtClean="0">
                <a:latin typeface="Arial" panose="020B0604020202020204" pitchFamily="34" charset="0"/>
                <a:cs typeface="Arial" panose="020B0604020202020204" pitchFamily="34" charset="0"/>
              </a:rPr>
              <a:t>old </a:t>
            </a:r>
            <a:r>
              <a:rPr lang="en-US" smtClean="0">
                <a:latin typeface="Arial" panose="020B0604020202020204" pitchFamily="34" charset="0"/>
                <a:cs typeface="Arial" panose="020B0604020202020204" pitchFamily="34" charset="0"/>
              </a:rPr>
              <a:t>+ 2x</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 + 3</a:t>
            </a:r>
          </a:p>
          <a:p>
            <a:r>
              <a:rPr lang="en-US">
                <a:latin typeface="Arial" panose="020B0604020202020204" pitchFamily="34" charset="0"/>
                <a:cs typeface="Arial" panose="020B0604020202020204" pitchFamily="34" charset="0"/>
              </a:rPr>
              <a:t>Nếu </a:t>
            </a:r>
            <a:r>
              <a:rPr lang="en-US">
                <a:latin typeface="Arial" panose="020B0604020202020204" pitchFamily="34" charset="0"/>
                <a:cs typeface="Arial" panose="020B0604020202020204" pitchFamily="34" charset="0"/>
              </a:rPr>
              <a:t>chọn </a:t>
            </a:r>
            <a:r>
              <a:rPr lang="en-US" smtClean="0">
                <a:latin typeface="Arial" panose="020B0604020202020204" pitchFamily="34" charset="0"/>
                <a:cs typeface="Arial" panose="020B0604020202020204" pitchFamily="34" charset="0"/>
              </a:rPr>
              <a:t>SE</a:t>
            </a:r>
            <a:r>
              <a:rPr lang="en-US">
                <a:latin typeface="Arial" panose="020B0604020202020204" pitchFamily="34" charset="0"/>
                <a:cs typeface="Arial" panose="020B0604020202020204" pitchFamily="34" charset="0"/>
              </a:rPr>
              <a:t>, </a:t>
            </a:r>
            <a:r>
              <a:rPr lang="en-US" smtClean="0">
                <a:latin typeface="Arial" panose="020B0604020202020204" pitchFamily="34" charset="0"/>
                <a:cs typeface="Arial" panose="020B0604020202020204" pitchFamily="34" charset="0"/>
              </a:rPr>
              <a:t>M</a:t>
            </a:r>
            <a:r>
              <a:rPr lang="en-US" baseline="-25000" smtClean="0">
                <a:latin typeface="Arial" panose="020B0604020202020204" pitchFamily="34" charset="0"/>
                <a:cs typeface="Arial" panose="020B0604020202020204" pitchFamily="34" charset="0"/>
              </a:rPr>
              <a:t>newSE</a:t>
            </a:r>
            <a:r>
              <a:rPr lang="en-US" smtClean="0">
                <a:latin typeface="Arial" panose="020B0604020202020204" pitchFamily="34" charset="0"/>
                <a:cs typeface="Arial" panose="020B0604020202020204" pitchFamily="34" charset="0"/>
              </a:rPr>
              <a:t>(x</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+2,y</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-3/2</a:t>
            </a:r>
            <a:r>
              <a:rPr lang="en-US">
                <a:latin typeface="Arial" panose="020B0604020202020204" pitchFamily="34" charset="0"/>
                <a:cs typeface="Arial" panose="020B0604020202020204" pitchFamily="34" charset="0"/>
              </a:rPr>
              <a:t>)</a:t>
            </a:r>
          </a:p>
          <a:p>
            <a:pPr lvl="1"/>
            <a:r>
              <a:rPr lang="en-US">
                <a:latin typeface="Arial" panose="020B0604020202020204" pitchFamily="34" charset="0"/>
                <a:cs typeface="Arial" panose="020B0604020202020204" pitchFamily="34" charset="0"/>
              </a:rPr>
              <a:t>P</a:t>
            </a:r>
            <a:r>
              <a:rPr lang="en-US" baseline="-25000">
                <a:latin typeface="Arial" panose="020B0604020202020204" pitchFamily="34" charset="0"/>
                <a:cs typeface="Arial" panose="020B0604020202020204" pitchFamily="34" charset="0"/>
              </a:rPr>
              <a:t>newE</a:t>
            </a:r>
            <a:r>
              <a:rPr lang="en-US">
                <a:latin typeface="Arial" panose="020B0604020202020204" pitchFamily="34" charset="0"/>
                <a:cs typeface="Arial" panose="020B0604020202020204" pitchFamily="34" charset="0"/>
              </a:rPr>
              <a:t>=(x</a:t>
            </a:r>
            <a:r>
              <a:rPr lang="en-US" baseline="-25000">
                <a:latin typeface="Arial" panose="020B0604020202020204" pitchFamily="34" charset="0"/>
                <a:cs typeface="Arial" panose="020B0604020202020204" pitchFamily="34" charset="0"/>
              </a:rPr>
              <a:t>p</a:t>
            </a:r>
            <a:r>
              <a:rPr lang="en-US">
                <a:latin typeface="Arial" panose="020B0604020202020204" pitchFamily="34" charset="0"/>
                <a:cs typeface="Arial" panose="020B0604020202020204" pitchFamily="34" charset="0"/>
              </a:rPr>
              <a:t>+2)</a:t>
            </a:r>
            <a:r>
              <a:rPr lang="en-US" baseline="30000">
                <a:latin typeface="Arial" panose="020B0604020202020204" pitchFamily="34" charset="0"/>
                <a:cs typeface="Arial" panose="020B0604020202020204" pitchFamily="34" charset="0"/>
              </a:rPr>
              <a:t>2</a:t>
            </a:r>
            <a:r>
              <a:rPr lang="en-US">
                <a:latin typeface="Arial" panose="020B0604020202020204" pitchFamily="34" charset="0"/>
                <a:cs typeface="Arial" panose="020B0604020202020204" pitchFamily="34" charset="0"/>
              </a:rPr>
              <a:t> + </a:t>
            </a:r>
            <a:r>
              <a:rPr lang="en-US">
                <a:latin typeface="Arial" panose="020B0604020202020204" pitchFamily="34" charset="0"/>
                <a:cs typeface="Arial" panose="020B0604020202020204" pitchFamily="34" charset="0"/>
              </a:rPr>
              <a:t>(</a:t>
            </a:r>
            <a:r>
              <a:rPr lang="en-US" smtClean="0">
                <a:latin typeface="Arial" panose="020B0604020202020204" pitchFamily="34" charset="0"/>
                <a:cs typeface="Arial" panose="020B0604020202020204" pitchFamily="34" charset="0"/>
              </a:rPr>
              <a:t>y</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-3/2)</a:t>
            </a:r>
            <a:r>
              <a:rPr lang="en-US" baseline="30000" smtClean="0">
                <a:latin typeface="Arial" panose="020B0604020202020204" pitchFamily="34" charset="0"/>
                <a:cs typeface="Arial" panose="020B0604020202020204" pitchFamily="34" charset="0"/>
              </a:rPr>
              <a:t>2</a:t>
            </a:r>
            <a:r>
              <a:rPr lang="en-US" smtClean="0">
                <a:latin typeface="Arial" panose="020B0604020202020204" pitchFamily="34" charset="0"/>
                <a:cs typeface="Arial" panose="020B0604020202020204" pitchFamily="34" charset="0"/>
              </a:rPr>
              <a:t> </a:t>
            </a:r>
            <a:r>
              <a:rPr lang="en-US">
                <a:latin typeface="Arial" panose="020B0604020202020204" pitchFamily="34" charset="0"/>
                <a:cs typeface="Arial" panose="020B0604020202020204" pitchFamily="34" charset="0"/>
              </a:rPr>
              <a:t>– R</a:t>
            </a:r>
            <a:r>
              <a:rPr lang="en-US" baseline="30000">
                <a:latin typeface="Arial" panose="020B0604020202020204" pitchFamily="34" charset="0"/>
                <a:cs typeface="Arial" panose="020B0604020202020204" pitchFamily="34" charset="0"/>
              </a:rPr>
              <a:t>2</a:t>
            </a:r>
          </a:p>
          <a:p>
            <a:pPr lvl="1"/>
            <a:r>
              <a:rPr lang="en-US">
                <a:latin typeface="Arial" panose="020B0604020202020204" pitchFamily="34" charset="0"/>
                <a:cs typeface="Arial" panose="020B0604020202020204" pitchFamily="34" charset="0"/>
              </a:rPr>
              <a:t>P</a:t>
            </a:r>
            <a:r>
              <a:rPr lang="en-US" baseline="-25000">
                <a:latin typeface="Arial" panose="020B0604020202020204" pitchFamily="34" charset="0"/>
                <a:cs typeface="Arial" panose="020B0604020202020204" pitchFamily="34" charset="0"/>
              </a:rPr>
              <a:t>newE</a:t>
            </a:r>
            <a:r>
              <a:rPr lang="en-US">
                <a:latin typeface="Arial" panose="020B0604020202020204" pitchFamily="34" charset="0"/>
                <a:cs typeface="Arial" panose="020B0604020202020204" pitchFamily="34" charset="0"/>
              </a:rPr>
              <a:t>= P</a:t>
            </a:r>
            <a:r>
              <a:rPr lang="en-US" baseline="-25000">
                <a:latin typeface="Arial" panose="020B0604020202020204" pitchFamily="34" charset="0"/>
                <a:cs typeface="Arial" panose="020B0604020202020204" pitchFamily="34" charset="0"/>
              </a:rPr>
              <a:t>old </a:t>
            </a:r>
            <a:r>
              <a:rPr lang="en-US">
                <a:latin typeface="Arial" panose="020B0604020202020204" pitchFamily="34" charset="0"/>
                <a:cs typeface="Arial" panose="020B0604020202020204" pitchFamily="34" charset="0"/>
              </a:rPr>
              <a:t>+ </a:t>
            </a:r>
            <a:r>
              <a:rPr lang="en-US" smtClean="0">
                <a:latin typeface="Arial" panose="020B0604020202020204" pitchFamily="34" charset="0"/>
                <a:cs typeface="Arial" panose="020B0604020202020204" pitchFamily="34" charset="0"/>
              </a:rPr>
              <a:t>2(x</a:t>
            </a:r>
            <a:r>
              <a:rPr lang="en-US" baseline="-25000" smtClean="0">
                <a:latin typeface="Arial" panose="020B0604020202020204" pitchFamily="34" charset="0"/>
                <a:cs typeface="Arial" panose="020B0604020202020204" pitchFamily="34" charset="0"/>
              </a:rPr>
              <a:t>p </a:t>
            </a:r>
            <a:r>
              <a:rPr lang="en-US" smtClean="0">
                <a:latin typeface="Arial" panose="020B0604020202020204" pitchFamily="34" charset="0"/>
                <a:cs typeface="Arial" panose="020B0604020202020204" pitchFamily="34" charset="0"/>
              </a:rPr>
              <a:t>- y</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 </a:t>
            </a:r>
            <a:r>
              <a:rPr lang="en-US">
                <a:latin typeface="Arial" panose="020B0604020202020204" pitchFamily="34" charset="0"/>
                <a:cs typeface="Arial" panose="020B0604020202020204" pitchFamily="34" charset="0"/>
              </a:rPr>
              <a:t>+ </a:t>
            </a:r>
            <a:r>
              <a:rPr lang="en-US" smtClean="0">
                <a:latin typeface="Arial" panose="020B0604020202020204" pitchFamily="34" charset="0"/>
                <a:cs typeface="Arial" panose="020B0604020202020204" pitchFamily="34" charset="0"/>
              </a:rPr>
              <a:t>5</a:t>
            </a: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EAC668D0-FFF1-47C5-8061-FF1B22C34E7B}" type="slidenum">
              <a:rPr lang="en-US" smtClean="0"/>
              <a:t>33</a:t>
            </a:fld>
            <a:endParaRPr lang="en-US"/>
          </a:p>
        </p:txBody>
      </p:sp>
      <p:grpSp>
        <p:nvGrpSpPr>
          <p:cNvPr id="83" name="Group 82"/>
          <p:cNvGrpSpPr/>
          <p:nvPr/>
        </p:nvGrpSpPr>
        <p:grpSpPr>
          <a:xfrm>
            <a:off x="7805196" y="2545383"/>
            <a:ext cx="2821444" cy="2748277"/>
            <a:chOff x="7805196" y="2545383"/>
            <a:chExt cx="2821444" cy="2748277"/>
          </a:xfrm>
        </p:grpSpPr>
        <p:grpSp>
          <p:nvGrpSpPr>
            <p:cNvPr id="18" name="Group 1"/>
            <p:cNvGrpSpPr>
              <a:grpSpLocks/>
            </p:cNvGrpSpPr>
            <p:nvPr/>
          </p:nvGrpSpPr>
          <p:grpSpPr bwMode="auto">
            <a:xfrm>
              <a:off x="7805196" y="2545383"/>
              <a:ext cx="2747014" cy="2748277"/>
              <a:chOff x="4188" y="-2014"/>
              <a:chExt cx="4327" cy="4327"/>
            </a:xfrm>
          </p:grpSpPr>
          <p:sp>
            <p:nvSpPr>
              <p:cNvPr id="19" name="Freeform 29"/>
              <p:cNvSpPr>
                <a:spLocks/>
              </p:cNvSpPr>
              <p:nvPr/>
            </p:nvSpPr>
            <p:spPr bwMode="auto">
              <a:xfrm>
                <a:off x="5052" y="-2014"/>
                <a:ext cx="0" cy="1711"/>
              </a:xfrm>
              <a:custGeom>
                <a:avLst/>
                <a:gdLst>
                  <a:gd name="T0" fmla="+- 0 -2014 -2014"/>
                  <a:gd name="T1" fmla="*/ -2014 h 1711"/>
                  <a:gd name="T2" fmla="+- 0 -303 -2014"/>
                  <a:gd name="T3" fmla="*/ -303 h 1711"/>
                </a:gdLst>
                <a:ahLst/>
                <a:cxnLst>
                  <a:cxn ang="0">
                    <a:pos x="0" y="T1"/>
                  </a:cxn>
                  <a:cxn ang="0">
                    <a:pos x="0" y="T3"/>
                  </a:cxn>
                </a:cxnLst>
                <a:rect l="0" t="0" r="r" b="b"/>
                <a:pathLst>
                  <a:path h="1711">
                    <a:moveTo>
                      <a:pt x="0" y="0"/>
                    </a:moveTo>
                    <a:lnTo>
                      <a:pt x="0" y="1711"/>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28"/>
              <p:cNvSpPr>
                <a:spLocks/>
              </p:cNvSpPr>
              <p:nvPr/>
            </p:nvSpPr>
            <p:spPr bwMode="auto">
              <a:xfrm>
                <a:off x="4188" y="-1145"/>
                <a:ext cx="4327" cy="0"/>
              </a:xfrm>
              <a:custGeom>
                <a:avLst/>
                <a:gdLst>
                  <a:gd name="T0" fmla="+- 0 4188 4188"/>
                  <a:gd name="T1" fmla="*/ T0 w 4327"/>
                  <a:gd name="T2" fmla="+- 0 8515 4188"/>
                  <a:gd name="T3" fmla="*/ T2 w 4327"/>
                </a:gdLst>
                <a:ahLst/>
                <a:cxnLst>
                  <a:cxn ang="0">
                    <a:pos x="T1" y="0"/>
                  </a:cxn>
                  <a:cxn ang="0">
                    <a:pos x="T3" y="0"/>
                  </a:cxn>
                </a:cxnLst>
                <a:rect l="0" t="0" r="r" b="b"/>
                <a:pathLst>
                  <a:path w="4327">
                    <a:moveTo>
                      <a:pt x="0" y="0"/>
                    </a:moveTo>
                    <a:lnTo>
                      <a:pt x="432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27"/>
              <p:cNvSpPr>
                <a:spLocks/>
              </p:cNvSpPr>
              <p:nvPr/>
            </p:nvSpPr>
            <p:spPr bwMode="auto">
              <a:xfrm flipH="1">
                <a:off x="4992" y="-562"/>
                <a:ext cx="72" cy="2875"/>
              </a:xfrm>
              <a:custGeom>
                <a:avLst/>
                <a:gdLst>
                  <a:gd name="T0" fmla="+- 0 33 33"/>
                  <a:gd name="T1" fmla="*/ 33 h 2280"/>
                  <a:gd name="T2" fmla="+- 0 2313 33"/>
                  <a:gd name="T3" fmla="*/ 2313 h 2280"/>
                </a:gdLst>
                <a:ahLst/>
                <a:cxnLst>
                  <a:cxn ang="0">
                    <a:pos x="0" y="T1"/>
                  </a:cxn>
                  <a:cxn ang="0">
                    <a:pos x="0" y="T3"/>
                  </a:cxn>
                </a:cxnLst>
                <a:rect l="0" t="0" r="r" b="b"/>
                <a:pathLst>
                  <a:path h="2280">
                    <a:moveTo>
                      <a:pt x="0" y="0"/>
                    </a:moveTo>
                    <a:lnTo>
                      <a:pt x="0" y="228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26"/>
              <p:cNvSpPr>
                <a:spLocks/>
              </p:cNvSpPr>
              <p:nvPr/>
            </p:nvSpPr>
            <p:spPr bwMode="auto">
              <a:xfrm>
                <a:off x="4188" y="151"/>
                <a:ext cx="4327" cy="0"/>
              </a:xfrm>
              <a:custGeom>
                <a:avLst/>
                <a:gdLst>
                  <a:gd name="T0" fmla="+- 0 4188 4188"/>
                  <a:gd name="T1" fmla="*/ T0 w 4327"/>
                  <a:gd name="T2" fmla="+- 0 8515 4188"/>
                  <a:gd name="T3" fmla="*/ T2 w 4327"/>
                </a:gdLst>
                <a:ahLst/>
                <a:cxnLst>
                  <a:cxn ang="0">
                    <a:pos x="T1" y="0"/>
                  </a:cxn>
                  <a:cxn ang="0">
                    <a:pos x="T3" y="0"/>
                  </a:cxn>
                </a:cxnLst>
                <a:rect l="0" t="0" r="r" b="b"/>
                <a:pathLst>
                  <a:path w="4327">
                    <a:moveTo>
                      <a:pt x="0" y="0"/>
                    </a:moveTo>
                    <a:lnTo>
                      <a:pt x="432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25"/>
              <p:cNvSpPr>
                <a:spLocks/>
              </p:cNvSpPr>
              <p:nvPr/>
            </p:nvSpPr>
            <p:spPr bwMode="auto">
              <a:xfrm>
                <a:off x="6350" y="-2014"/>
                <a:ext cx="0" cy="4327"/>
              </a:xfrm>
              <a:custGeom>
                <a:avLst/>
                <a:gdLst>
                  <a:gd name="T0" fmla="+- 0 -2014 -2014"/>
                  <a:gd name="T1" fmla="*/ -2014 h 4327"/>
                  <a:gd name="T2" fmla="+- 0 2313 -2014"/>
                  <a:gd name="T3" fmla="*/ 2313 h 4327"/>
                </a:gdLst>
                <a:ahLst/>
                <a:cxnLst>
                  <a:cxn ang="0">
                    <a:pos x="0" y="T1"/>
                  </a:cxn>
                  <a:cxn ang="0">
                    <a:pos x="0" y="T3"/>
                  </a:cxn>
                </a:cxnLst>
                <a:rect l="0" t="0" r="r" b="b"/>
                <a:pathLst>
                  <a:path h="4327">
                    <a:moveTo>
                      <a:pt x="0" y="0"/>
                    </a:moveTo>
                    <a:lnTo>
                      <a:pt x="0" y="4327"/>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24"/>
              <p:cNvSpPr>
                <a:spLocks/>
              </p:cNvSpPr>
              <p:nvPr/>
            </p:nvSpPr>
            <p:spPr bwMode="auto">
              <a:xfrm>
                <a:off x="4188" y="1447"/>
                <a:ext cx="4327" cy="0"/>
              </a:xfrm>
              <a:custGeom>
                <a:avLst/>
                <a:gdLst>
                  <a:gd name="T0" fmla="+- 0 4188 4188"/>
                  <a:gd name="T1" fmla="*/ T0 w 4327"/>
                  <a:gd name="T2" fmla="+- 0 8515 4188"/>
                  <a:gd name="T3" fmla="*/ T2 w 4327"/>
                </a:gdLst>
                <a:ahLst/>
                <a:cxnLst>
                  <a:cxn ang="0">
                    <a:pos x="T1" y="0"/>
                  </a:cxn>
                  <a:cxn ang="0">
                    <a:pos x="T3" y="0"/>
                  </a:cxn>
                </a:cxnLst>
                <a:rect l="0" t="0" r="r" b="b"/>
                <a:pathLst>
                  <a:path w="4327">
                    <a:moveTo>
                      <a:pt x="0" y="0"/>
                    </a:moveTo>
                    <a:lnTo>
                      <a:pt x="432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23"/>
              <p:cNvSpPr>
                <a:spLocks/>
              </p:cNvSpPr>
              <p:nvPr/>
            </p:nvSpPr>
            <p:spPr bwMode="auto">
              <a:xfrm>
                <a:off x="7651" y="-1198"/>
                <a:ext cx="0" cy="3511"/>
              </a:xfrm>
              <a:custGeom>
                <a:avLst/>
                <a:gdLst>
                  <a:gd name="T0" fmla="+- 0 -1198 -1198"/>
                  <a:gd name="T1" fmla="*/ -1198 h 3511"/>
                  <a:gd name="T2" fmla="+- 0 2313 -1198"/>
                  <a:gd name="T3" fmla="*/ 2313 h 3511"/>
                </a:gdLst>
                <a:ahLst/>
                <a:cxnLst>
                  <a:cxn ang="0">
                    <a:pos x="0" y="T1"/>
                  </a:cxn>
                  <a:cxn ang="0">
                    <a:pos x="0" y="T3"/>
                  </a:cxn>
                </a:cxnLst>
                <a:rect l="0" t="0" r="r" b="b"/>
                <a:pathLst>
                  <a:path h="3511">
                    <a:moveTo>
                      <a:pt x="0" y="0"/>
                    </a:moveTo>
                    <a:lnTo>
                      <a:pt x="0" y="3511"/>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Freeform 22"/>
              <p:cNvSpPr>
                <a:spLocks/>
              </p:cNvSpPr>
              <p:nvPr/>
            </p:nvSpPr>
            <p:spPr bwMode="auto">
              <a:xfrm>
                <a:off x="4882" y="-1318"/>
                <a:ext cx="343" cy="341"/>
              </a:xfrm>
              <a:custGeom>
                <a:avLst/>
                <a:gdLst>
                  <a:gd name="T0" fmla="+- 0 4882 4882"/>
                  <a:gd name="T1" fmla="*/ T0 w 343"/>
                  <a:gd name="T2" fmla="+- 0 -1145 -1318"/>
                  <a:gd name="T3" fmla="*/ -1145 h 341"/>
                  <a:gd name="T4" fmla="+- 0 4889 4882"/>
                  <a:gd name="T5" fmla="*/ T4 w 343"/>
                  <a:gd name="T6" fmla="+- 0 -1097 -1318"/>
                  <a:gd name="T7" fmla="*/ -1097 h 341"/>
                  <a:gd name="T8" fmla="+- 0 4906 4882"/>
                  <a:gd name="T9" fmla="*/ T8 w 343"/>
                  <a:gd name="T10" fmla="+- 0 -1054 -1318"/>
                  <a:gd name="T11" fmla="*/ -1054 h 341"/>
                  <a:gd name="T12" fmla="+- 0 4939 4882"/>
                  <a:gd name="T13" fmla="*/ T12 w 343"/>
                  <a:gd name="T14" fmla="+- 0 -1018 -1318"/>
                  <a:gd name="T15" fmla="*/ -1018 h 341"/>
                  <a:gd name="T16" fmla="+- 0 4980 4882"/>
                  <a:gd name="T17" fmla="*/ T16 w 343"/>
                  <a:gd name="T18" fmla="+- 0 -989 -1318"/>
                  <a:gd name="T19" fmla="*/ -989 h 341"/>
                  <a:gd name="T20" fmla="+- 0 5028 4882"/>
                  <a:gd name="T21" fmla="*/ T20 w 343"/>
                  <a:gd name="T22" fmla="+- 0 -977 -1318"/>
                  <a:gd name="T23" fmla="*/ -977 h 341"/>
                  <a:gd name="T24" fmla="+- 0 5078 4882"/>
                  <a:gd name="T25" fmla="*/ T24 w 343"/>
                  <a:gd name="T26" fmla="+- 0 -977 -1318"/>
                  <a:gd name="T27" fmla="*/ -977 h 341"/>
                  <a:gd name="T28" fmla="+- 0 5122 4882"/>
                  <a:gd name="T29" fmla="*/ T28 w 343"/>
                  <a:gd name="T30" fmla="+- 0 -989 -1318"/>
                  <a:gd name="T31" fmla="*/ -989 h 341"/>
                  <a:gd name="T32" fmla="+- 0 5167 4882"/>
                  <a:gd name="T33" fmla="*/ T32 w 343"/>
                  <a:gd name="T34" fmla="+- 0 -1018 -1318"/>
                  <a:gd name="T35" fmla="*/ -1018 h 341"/>
                  <a:gd name="T36" fmla="+- 0 5198 4882"/>
                  <a:gd name="T37" fmla="*/ T36 w 343"/>
                  <a:gd name="T38" fmla="+- 0 -1054 -1318"/>
                  <a:gd name="T39" fmla="*/ -1054 h 341"/>
                  <a:gd name="T40" fmla="+- 0 5218 4882"/>
                  <a:gd name="T41" fmla="*/ T40 w 343"/>
                  <a:gd name="T42" fmla="+- 0 -1097 -1318"/>
                  <a:gd name="T43" fmla="*/ -1097 h 341"/>
                  <a:gd name="T44" fmla="+- 0 5225 4882"/>
                  <a:gd name="T45" fmla="*/ T44 w 343"/>
                  <a:gd name="T46" fmla="+- 0 -1145 -1318"/>
                  <a:gd name="T47" fmla="*/ -1145 h 341"/>
                  <a:gd name="T48" fmla="+- 0 5218 4882"/>
                  <a:gd name="T49" fmla="*/ T48 w 343"/>
                  <a:gd name="T50" fmla="+- 0 -1198 -1318"/>
                  <a:gd name="T51" fmla="*/ -1198 h 341"/>
                  <a:gd name="T52" fmla="+- 0 5198 4882"/>
                  <a:gd name="T53" fmla="*/ T52 w 343"/>
                  <a:gd name="T54" fmla="+- 0 -1241 -1318"/>
                  <a:gd name="T55" fmla="*/ -1241 h 341"/>
                  <a:gd name="T56" fmla="+- 0 5167 4882"/>
                  <a:gd name="T57" fmla="*/ T56 w 343"/>
                  <a:gd name="T58" fmla="+- 0 -1277 -1318"/>
                  <a:gd name="T59" fmla="*/ -1277 h 341"/>
                  <a:gd name="T60" fmla="+- 0 5122 4882"/>
                  <a:gd name="T61" fmla="*/ T60 w 343"/>
                  <a:gd name="T62" fmla="+- 0 -1304 -1318"/>
                  <a:gd name="T63" fmla="*/ -1304 h 341"/>
                  <a:gd name="T64" fmla="+- 0 5078 4882"/>
                  <a:gd name="T65" fmla="*/ T64 w 343"/>
                  <a:gd name="T66" fmla="+- 0 -1318 -1318"/>
                  <a:gd name="T67" fmla="*/ -1318 h 341"/>
                  <a:gd name="T68" fmla="+- 0 5028 4882"/>
                  <a:gd name="T69" fmla="*/ T68 w 343"/>
                  <a:gd name="T70" fmla="+- 0 -1318 -1318"/>
                  <a:gd name="T71" fmla="*/ -1318 h 341"/>
                  <a:gd name="T72" fmla="+- 0 4980 4882"/>
                  <a:gd name="T73" fmla="*/ T72 w 343"/>
                  <a:gd name="T74" fmla="+- 0 -1304 -1318"/>
                  <a:gd name="T75" fmla="*/ -1304 h 341"/>
                  <a:gd name="T76" fmla="+- 0 4939 4882"/>
                  <a:gd name="T77" fmla="*/ T76 w 343"/>
                  <a:gd name="T78" fmla="+- 0 -1277 -1318"/>
                  <a:gd name="T79" fmla="*/ -1277 h 341"/>
                  <a:gd name="T80" fmla="+- 0 4906 4882"/>
                  <a:gd name="T81" fmla="*/ T80 w 343"/>
                  <a:gd name="T82" fmla="+- 0 -1241 -1318"/>
                  <a:gd name="T83" fmla="*/ -1241 h 341"/>
                  <a:gd name="T84" fmla="+- 0 4889 4882"/>
                  <a:gd name="T85" fmla="*/ T84 w 343"/>
                  <a:gd name="T86" fmla="+- 0 -1198 -1318"/>
                  <a:gd name="T87" fmla="*/ -1198 h 341"/>
                  <a:gd name="T88" fmla="+- 0 4882 4882"/>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221"/>
                    </a:lnTo>
                    <a:lnTo>
                      <a:pt x="24" y="264"/>
                    </a:lnTo>
                    <a:lnTo>
                      <a:pt x="57" y="300"/>
                    </a:lnTo>
                    <a:lnTo>
                      <a:pt x="98" y="329"/>
                    </a:lnTo>
                    <a:lnTo>
                      <a:pt x="146" y="341"/>
                    </a:lnTo>
                    <a:lnTo>
                      <a:pt x="196" y="341"/>
                    </a:lnTo>
                    <a:lnTo>
                      <a:pt x="240" y="329"/>
                    </a:lnTo>
                    <a:lnTo>
                      <a:pt x="285" y="300"/>
                    </a:lnTo>
                    <a:lnTo>
                      <a:pt x="316" y="264"/>
                    </a:lnTo>
                    <a:lnTo>
                      <a:pt x="336" y="221"/>
                    </a:lnTo>
                    <a:lnTo>
                      <a:pt x="343" y="173"/>
                    </a:lnTo>
                    <a:lnTo>
                      <a:pt x="336" y="120"/>
                    </a:lnTo>
                    <a:lnTo>
                      <a:pt x="316" y="77"/>
                    </a:lnTo>
                    <a:lnTo>
                      <a:pt x="285" y="41"/>
                    </a:lnTo>
                    <a:lnTo>
                      <a:pt x="240" y="14"/>
                    </a:lnTo>
                    <a:lnTo>
                      <a:pt x="196" y="0"/>
                    </a:lnTo>
                    <a:lnTo>
                      <a:pt x="146" y="0"/>
                    </a:lnTo>
                    <a:lnTo>
                      <a:pt x="98" y="14"/>
                    </a:lnTo>
                    <a:lnTo>
                      <a:pt x="57" y="41"/>
                    </a:lnTo>
                    <a:lnTo>
                      <a:pt x="24" y="77"/>
                    </a:lnTo>
                    <a:lnTo>
                      <a:pt x="7" y="120"/>
                    </a:lnTo>
                    <a:lnTo>
                      <a:pt x="0"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p:cNvSpPr>
              <p:nvPr/>
            </p:nvSpPr>
            <p:spPr bwMode="auto">
              <a:xfrm>
                <a:off x="4882" y="-1318"/>
                <a:ext cx="343" cy="341"/>
              </a:xfrm>
              <a:custGeom>
                <a:avLst/>
                <a:gdLst>
                  <a:gd name="T0" fmla="+- 0 4882 4882"/>
                  <a:gd name="T1" fmla="*/ T0 w 343"/>
                  <a:gd name="T2" fmla="+- 0 -1145 -1318"/>
                  <a:gd name="T3" fmla="*/ -1145 h 341"/>
                  <a:gd name="T4" fmla="+- 0 4889 4882"/>
                  <a:gd name="T5" fmla="*/ T4 w 343"/>
                  <a:gd name="T6" fmla="+- 0 -1198 -1318"/>
                  <a:gd name="T7" fmla="*/ -1198 h 341"/>
                  <a:gd name="T8" fmla="+- 0 4906 4882"/>
                  <a:gd name="T9" fmla="*/ T8 w 343"/>
                  <a:gd name="T10" fmla="+- 0 -1241 -1318"/>
                  <a:gd name="T11" fmla="*/ -1241 h 341"/>
                  <a:gd name="T12" fmla="+- 0 4939 4882"/>
                  <a:gd name="T13" fmla="*/ T12 w 343"/>
                  <a:gd name="T14" fmla="+- 0 -1277 -1318"/>
                  <a:gd name="T15" fmla="*/ -1277 h 341"/>
                  <a:gd name="T16" fmla="+- 0 4980 4882"/>
                  <a:gd name="T17" fmla="*/ T16 w 343"/>
                  <a:gd name="T18" fmla="+- 0 -1304 -1318"/>
                  <a:gd name="T19" fmla="*/ -1304 h 341"/>
                  <a:gd name="T20" fmla="+- 0 5028 4882"/>
                  <a:gd name="T21" fmla="*/ T20 w 343"/>
                  <a:gd name="T22" fmla="+- 0 -1318 -1318"/>
                  <a:gd name="T23" fmla="*/ -1318 h 341"/>
                  <a:gd name="T24" fmla="+- 0 5078 4882"/>
                  <a:gd name="T25" fmla="*/ T24 w 343"/>
                  <a:gd name="T26" fmla="+- 0 -1318 -1318"/>
                  <a:gd name="T27" fmla="*/ -1318 h 341"/>
                  <a:gd name="T28" fmla="+- 0 5122 4882"/>
                  <a:gd name="T29" fmla="*/ T28 w 343"/>
                  <a:gd name="T30" fmla="+- 0 -1304 -1318"/>
                  <a:gd name="T31" fmla="*/ -1304 h 341"/>
                  <a:gd name="T32" fmla="+- 0 5167 4882"/>
                  <a:gd name="T33" fmla="*/ T32 w 343"/>
                  <a:gd name="T34" fmla="+- 0 -1277 -1318"/>
                  <a:gd name="T35" fmla="*/ -1277 h 341"/>
                  <a:gd name="T36" fmla="+- 0 5198 4882"/>
                  <a:gd name="T37" fmla="*/ T36 w 343"/>
                  <a:gd name="T38" fmla="+- 0 -1241 -1318"/>
                  <a:gd name="T39" fmla="*/ -1241 h 341"/>
                  <a:gd name="T40" fmla="+- 0 5218 4882"/>
                  <a:gd name="T41" fmla="*/ T40 w 343"/>
                  <a:gd name="T42" fmla="+- 0 -1198 -1318"/>
                  <a:gd name="T43" fmla="*/ -1198 h 341"/>
                  <a:gd name="T44" fmla="+- 0 5225 4882"/>
                  <a:gd name="T45" fmla="*/ T44 w 343"/>
                  <a:gd name="T46" fmla="+- 0 -1145 -1318"/>
                  <a:gd name="T47" fmla="*/ -1145 h 341"/>
                  <a:gd name="T48" fmla="+- 0 5218 4882"/>
                  <a:gd name="T49" fmla="*/ T48 w 343"/>
                  <a:gd name="T50" fmla="+- 0 -1097 -1318"/>
                  <a:gd name="T51" fmla="*/ -1097 h 341"/>
                  <a:gd name="T52" fmla="+- 0 5198 4882"/>
                  <a:gd name="T53" fmla="*/ T52 w 343"/>
                  <a:gd name="T54" fmla="+- 0 -1054 -1318"/>
                  <a:gd name="T55" fmla="*/ -1054 h 341"/>
                  <a:gd name="T56" fmla="+- 0 5167 4882"/>
                  <a:gd name="T57" fmla="*/ T56 w 343"/>
                  <a:gd name="T58" fmla="+- 0 -1018 -1318"/>
                  <a:gd name="T59" fmla="*/ -1018 h 341"/>
                  <a:gd name="T60" fmla="+- 0 5122 4882"/>
                  <a:gd name="T61" fmla="*/ T60 w 343"/>
                  <a:gd name="T62" fmla="+- 0 -989 -1318"/>
                  <a:gd name="T63" fmla="*/ -989 h 341"/>
                  <a:gd name="T64" fmla="+- 0 5078 4882"/>
                  <a:gd name="T65" fmla="*/ T64 w 343"/>
                  <a:gd name="T66" fmla="+- 0 -977 -1318"/>
                  <a:gd name="T67" fmla="*/ -977 h 341"/>
                  <a:gd name="T68" fmla="+- 0 5028 4882"/>
                  <a:gd name="T69" fmla="*/ T68 w 343"/>
                  <a:gd name="T70" fmla="+- 0 -977 -1318"/>
                  <a:gd name="T71" fmla="*/ -977 h 341"/>
                  <a:gd name="T72" fmla="+- 0 4980 4882"/>
                  <a:gd name="T73" fmla="*/ T72 w 343"/>
                  <a:gd name="T74" fmla="+- 0 -989 -1318"/>
                  <a:gd name="T75" fmla="*/ -989 h 341"/>
                  <a:gd name="T76" fmla="+- 0 4939 4882"/>
                  <a:gd name="T77" fmla="*/ T76 w 343"/>
                  <a:gd name="T78" fmla="+- 0 -1018 -1318"/>
                  <a:gd name="T79" fmla="*/ -1018 h 341"/>
                  <a:gd name="T80" fmla="+- 0 4906 4882"/>
                  <a:gd name="T81" fmla="*/ T80 w 343"/>
                  <a:gd name="T82" fmla="+- 0 -1054 -1318"/>
                  <a:gd name="T83" fmla="*/ -1054 h 341"/>
                  <a:gd name="T84" fmla="+- 0 4889 4882"/>
                  <a:gd name="T85" fmla="*/ T84 w 343"/>
                  <a:gd name="T86" fmla="+- 0 -1097 -1318"/>
                  <a:gd name="T87" fmla="*/ -1097 h 341"/>
                  <a:gd name="T88" fmla="+- 0 4882 4882"/>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120"/>
                    </a:lnTo>
                    <a:lnTo>
                      <a:pt x="24" y="77"/>
                    </a:lnTo>
                    <a:lnTo>
                      <a:pt x="57" y="41"/>
                    </a:lnTo>
                    <a:lnTo>
                      <a:pt x="98" y="14"/>
                    </a:lnTo>
                    <a:lnTo>
                      <a:pt x="146" y="0"/>
                    </a:lnTo>
                    <a:lnTo>
                      <a:pt x="196" y="0"/>
                    </a:lnTo>
                    <a:lnTo>
                      <a:pt x="240" y="14"/>
                    </a:lnTo>
                    <a:lnTo>
                      <a:pt x="285" y="41"/>
                    </a:lnTo>
                    <a:lnTo>
                      <a:pt x="316" y="77"/>
                    </a:lnTo>
                    <a:lnTo>
                      <a:pt x="336" y="120"/>
                    </a:lnTo>
                    <a:lnTo>
                      <a:pt x="343" y="173"/>
                    </a:lnTo>
                    <a:lnTo>
                      <a:pt x="336" y="221"/>
                    </a:lnTo>
                    <a:lnTo>
                      <a:pt x="316" y="264"/>
                    </a:lnTo>
                    <a:lnTo>
                      <a:pt x="285" y="300"/>
                    </a:lnTo>
                    <a:lnTo>
                      <a:pt x="240" y="329"/>
                    </a:lnTo>
                    <a:lnTo>
                      <a:pt x="196" y="341"/>
                    </a:lnTo>
                    <a:lnTo>
                      <a:pt x="146" y="341"/>
                    </a:lnTo>
                    <a:lnTo>
                      <a:pt x="98" y="329"/>
                    </a:lnTo>
                    <a:lnTo>
                      <a:pt x="57" y="300"/>
                    </a:lnTo>
                    <a:lnTo>
                      <a:pt x="24" y="264"/>
                    </a:lnTo>
                    <a:lnTo>
                      <a:pt x="7" y="221"/>
                    </a:lnTo>
                    <a:lnTo>
                      <a:pt x="0" y="173"/>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Freeform 20"/>
              <p:cNvSpPr>
                <a:spLocks/>
              </p:cNvSpPr>
              <p:nvPr/>
            </p:nvSpPr>
            <p:spPr bwMode="auto">
              <a:xfrm>
                <a:off x="6178" y="-1318"/>
                <a:ext cx="343" cy="341"/>
              </a:xfrm>
              <a:custGeom>
                <a:avLst/>
                <a:gdLst>
                  <a:gd name="T0" fmla="+- 0 6178 6178"/>
                  <a:gd name="T1" fmla="*/ T0 w 343"/>
                  <a:gd name="T2" fmla="+- 0 -1145 -1318"/>
                  <a:gd name="T3" fmla="*/ -1145 h 341"/>
                  <a:gd name="T4" fmla="+- 0 6185 6178"/>
                  <a:gd name="T5" fmla="*/ T4 w 343"/>
                  <a:gd name="T6" fmla="+- 0 -1097 -1318"/>
                  <a:gd name="T7" fmla="*/ -1097 h 341"/>
                  <a:gd name="T8" fmla="+- 0 6204 6178"/>
                  <a:gd name="T9" fmla="*/ T8 w 343"/>
                  <a:gd name="T10" fmla="+- 0 -1054 -1318"/>
                  <a:gd name="T11" fmla="*/ -1054 h 341"/>
                  <a:gd name="T12" fmla="+- 0 6235 6178"/>
                  <a:gd name="T13" fmla="*/ T12 w 343"/>
                  <a:gd name="T14" fmla="+- 0 -1018 -1318"/>
                  <a:gd name="T15" fmla="*/ -1018 h 341"/>
                  <a:gd name="T16" fmla="+- 0 6281 6178"/>
                  <a:gd name="T17" fmla="*/ T16 w 343"/>
                  <a:gd name="T18" fmla="+- 0 -989 -1318"/>
                  <a:gd name="T19" fmla="*/ -989 h 341"/>
                  <a:gd name="T20" fmla="+- 0 6324 6178"/>
                  <a:gd name="T21" fmla="*/ T20 w 343"/>
                  <a:gd name="T22" fmla="+- 0 -977 -1318"/>
                  <a:gd name="T23" fmla="*/ -977 h 341"/>
                  <a:gd name="T24" fmla="+- 0 6374 6178"/>
                  <a:gd name="T25" fmla="*/ T24 w 343"/>
                  <a:gd name="T26" fmla="+- 0 -977 -1318"/>
                  <a:gd name="T27" fmla="*/ -977 h 341"/>
                  <a:gd name="T28" fmla="+- 0 6422 6178"/>
                  <a:gd name="T29" fmla="*/ T28 w 343"/>
                  <a:gd name="T30" fmla="+- 0 -989 -1318"/>
                  <a:gd name="T31" fmla="*/ -989 h 341"/>
                  <a:gd name="T32" fmla="+- 0 6463 6178"/>
                  <a:gd name="T33" fmla="*/ T32 w 343"/>
                  <a:gd name="T34" fmla="+- 0 -1018 -1318"/>
                  <a:gd name="T35" fmla="*/ -1018 h 341"/>
                  <a:gd name="T36" fmla="+- 0 6497 6178"/>
                  <a:gd name="T37" fmla="*/ T36 w 343"/>
                  <a:gd name="T38" fmla="+- 0 -1054 -1318"/>
                  <a:gd name="T39" fmla="*/ -1054 h 341"/>
                  <a:gd name="T40" fmla="+- 0 6518 6178"/>
                  <a:gd name="T41" fmla="*/ T40 w 343"/>
                  <a:gd name="T42" fmla="+- 0 -1097 -1318"/>
                  <a:gd name="T43" fmla="*/ -1097 h 341"/>
                  <a:gd name="T44" fmla="+- 0 6521 6178"/>
                  <a:gd name="T45" fmla="*/ T44 w 343"/>
                  <a:gd name="T46" fmla="+- 0 -1145 -1318"/>
                  <a:gd name="T47" fmla="*/ -1145 h 341"/>
                  <a:gd name="T48" fmla="+- 0 6518 6178"/>
                  <a:gd name="T49" fmla="*/ T48 w 343"/>
                  <a:gd name="T50" fmla="+- 0 -1198 -1318"/>
                  <a:gd name="T51" fmla="*/ -1198 h 341"/>
                  <a:gd name="T52" fmla="+- 0 6497 6178"/>
                  <a:gd name="T53" fmla="*/ T52 w 343"/>
                  <a:gd name="T54" fmla="+- 0 -1241 -1318"/>
                  <a:gd name="T55" fmla="*/ -1241 h 341"/>
                  <a:gd name="T56" fmla="+- 0 6463 6178"/>
                  <a:gd name="T57" fmla="*/ T56 w 343"/>
                  <a:gd name="T58" fmla="+- 0 -1277 -1318"/>
                  <a:gd name="T59" fmla="*/ -1277 h 341"/>
                  <a:gd name="T60" fmla="+- 0 6422 6178"/>
                  <a:gd name="T61" fmla="*/ T60 w 343"/>
                  <a:gd name="T62" fmla="+- 0 -1304 -1318"/>
                  <a:gd name="T63" fmla="*/ -1304 h 341"/>
                  <a:gd name="T64" fmla="+- 0 6374 6178"/>
                  <a:gd name="T65" fmla="*/ T64 w 343"/>
                  <a:gd name="T66" fmla="+- 0 -1318 -1318"/>
                  <a:gd name="T67" fmla="*/ -1318 h 341"/>
                  <a:gd name="T68" fmla="+- 0 6324 6178"/>
                  <a:gd name="T69" fmla="*/ T68 w 343"/>
                  <a:gd name="T70" fmla="+- 0 -1318 -1318"/>
                  <a:gd name="T71" fmla="*/ -1318 h 341"/>
                  <a:gd name="T72" fmla="+- 0 6281 6178"/>
                  <a:gd name="T73" fmla="*/ T72 w 343"/>
                  <a:gd name="T74" fmla="+- 0 -1304 -1318"/>
                  <a:gd name="T75" fmla="*/ -1304 h 341"/>
                  <a:gd name="T76" fmla="+- 0 6235 6178"/>
                  <a:gd name="T77" fmla="*/ T76 w 343"/>
                  <a:gd name="T78" fmla="+- 0 -1277 -1318"/>
                  <a:gd name="T79" fmla="*/ -1277 h 341"/>
                  <a:gd name="T80" fmla="+- 0 6204 6178"/>
                  <a:gd name="T81" fmla="*/ T80 w 343"/>
                  <a:gd name="T82" fmla="+- 0 -1241 -1318"/>
                  <a:gd name="T83" fmla="*/ -1241 h 341"/>
                  <a:gd name="T84" fmla="+- 0 6185 6178"/>
                  <a:gd name="T85" fmla="*/ T84 w 343"/>
                  <a:gd name="T86" fmla="+- 0 -1198 -1318"/>
                  <a:gd name="T87" fmla="*/ -1198 h 341"/>
                  <a:gd name="T88" fmla="+- 0 6178 6178"/>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221"/>
                    </a:lnTo>
                    <a:lnTo>
                      <a:pt x="26" y="264"/>
                    </a:lnTo>
                    <a:lnTo>
                      <a:pt x="57" y="300"/>
                    </a:lnTo>
                    <a:lnTo>
                      <a:pt x="103" y="329"/>
                    </a:lnTo>
                    <a:lnTo>
                      <a:pt x="146" y="341"/>
                    </a:lnTo>
                    <a:lnTo>
                      <a:pt x="196" y="341"/>
                    </a:lnTo>
                    <a:lnTo>
                      <a:pt x="244" y="329"/>
                    </a:lnTo>
                    <a:lnTo>
                      <a:pt x="285" y="300"/>
                    </a:lnTo>
                    <a:lnTo>
                      <a:pt x="319" y="264"/>
                    </a:lnTo>
                    <a:lnTo>
                      <a:pt x="340" y="221"/>
                    </a:lnTo>
                    <a:lnTo>
                      <a:pt x="343" y="173"/>
                    </a:lnTo>
                    <a:lnTo>
                      <a:pt x="340" y="120"/>
                    </a:lnTo>
                    <a:lnTo>
                      <a:pt x="319" y="77"/>
                    </a:lnTo>
                    <a:lnTo>
                      <a:pt x="285" y="41"/>
                    </a:lnTo>
                    <a:lnTo>
                      <a:pt x="244" y="14"/>
                    </a:lnTo>
                    <a:lnTo>
                      <a:pt x="196" y="0"/>
                    </a:lnTo>
                    <a:lnTo>
                      <a:pt x="146" y="0"/>
                    </a:lnTo>
                    <a:lnTo>
                      <a:pt x="103" y="14"/>
                    </a:lnTo>
                    <a:lnTo>
                      <a:pt x="57" y="41"/>
                    </a:lnTo>
                    <a:lnTo>
                      <a:pt x="26" y="77"/>
                    </a:lnTo>
                    <a:lnTo>
                      <a:pt x="7" y="120"/>
                    </a:lnTo>
                    <a:lnTo>
                      <a:pt x="0" y="1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19"/>
              <p:cNvSpPr>
                <a:spLocks/>
              </p:cNvSpPr>
              <p:nvPr/>
            </p:nvSpPr>
            <p:spPr bwMode="auto">
              <a:xfrm>
                <a:off x="6178" y="-1318"/>
                <a:ext cx="343" cy="341"/>
              </a:xfrm>
              <a:custGeom>
                <a:avLst/>
                <a:gdLst>
                  <a:gd name="T0" fmla="+- 0 6178 6178"/>
                  <a:gd name="T1" fmla="*/ T0 w 343"/>
                  <a:gd name="T2" fmla="+- 0 -1145 -1318"/>
                  <a:gd name="T3" fmla="*/ -1145 h 341"/>
                  <a:gd name="T4" fmla="+- 0 6185 6178"/>
                  <a:gd name="T5" fmla="*/ T4 w 343"/>
                  <a:gd name="T6" fmla="+- 0 -1198 -1318"/>
                  <a:gd name="T7" fmla="*/ -1198 h 341"/>
                  <a:gd name="T8" fmla="+- 0 6204 6178"/>
                  <a:gd name="T9" fmla="*/ T8 w 343"/>
                  <a:gd name="T10" fmla="+- 0 -1241 -1318"/>
                  <a:gd name="T11" fmla="*/ -1241 h 341"/>
                  <a:gd name="T12" fmla="+- 0 6235 6178"/>
                  <a:gd name="T13" fmla="*/ T12 w 343"/>
                  <a:gd name="T14" fmla="+- 0 -1277 -1318"/>
                  <a:gd name="T15" fmla="*/ -1277 h 341"/>
                  <a:gd name="T16" fmla="+- 0 6281 6178"/>
                  <a:gd name="T17" fmla="*/ T16 w 343"/>
                  <a:gd name="T18" fmla="+- 0 -1304 -1318"/>
                  <a:gd name="T19" fmla="*/ -1304 h 341"/>
                  <a:gd name="T20" fmla="+- 0 6324 6178"/>
                  <a:gd name="T21" fmla="*/ T20 w 343"/>
                  <a:gd name="T22" fmla="+- 0 -1318 -1318"/>
                  <a:gd name="T23" fmla="*/ -1318 h 341"/>
                  <a:gd name="T24" fmla="+- 0 6374 6178"/>
                  <a:gd name="T25" fmla="*/ T24 w 343"/>
                  <a:gd name="T26" fmla="+- 0 -1318 -1318"/>
                  <a:gd name="T27" fmla="*/ -1318 h 341"/>
                  <a:gd name="T28" fmla="+- 0 6422 6178"/>
                  <a:gd name="T29" fmla="*/ T28 w 343"/>
                  <a:gd name="T30" fmla="+- 0 -1304 -1318"/>
                  <a:gd name="T31" fmla="*/ -1304 h 341"/>
                  <a:gd name="T32" fmla="+- 0 6463 6178"/>
                  <a:gd name="T33" fmla="*/ T32 w 343"/>
                  <a:gd name="T34" fmla="+- 0 -1277 -1318"/>
                  <a:gd name="T35" fmla="*/ -1277 h 341"/>
                  <a:gd name="T36" fmla="+- 0 6497 6178"/>
                  <a:gd name="T37" fmla="*/ T36 w 343"/>
                  <a:gd name="T38" fmla="+- 0 -1241 -1318"/>
                  <a:gd name="T39" fmla="*/ -1241 h 341"/>
                  <a:gd name="T40" fmla="+- 0 6518 6178"/>
                  <a:gd name="T41" fmla="*/ T40 w 343"/>
                  <a:gd name="T42" fmla="+- 0 -1198 -1318"/>
                  <a:gd name="T43" fmla="*/ -1198 h 341"/>
                  <a:gd name="T44" fmla="+- 0 6521 6178"/>
                  <a:gd name="T45" fmla="*/ T44 w 343"/>
                  <a:gd name="T46" fmla="+- 0 -1145 -1318"/>
                  <a:gd name="T47" fmla="*/ -1145 h 341"/>
                  <a:gd name="T48" fmla="+- 0 6518 6178"/>
                  <a:gd name="T49" fmla="*/ T48 w 343"/>
                  <a:gd name="T50" fmla="+- 0 -1097 -1318"/>
                  <a:gd name="T51" fmla="*/ -1097 h 341"/>
                  <a:gd name="T52" fmla="+- 0 6497 6178"/>
                  <a:gd name="T53" fmla="*/ T52 w 343"/>
                  <a:gd name="T54" fmla="+- 0 -1054 -1318"/>
                  <a:gd name="T55" fmla="*/ -1054 h 341"/>
                  <a:gd name="T56" fmla="+- 0 6463 6178"/>
                  <a:gd name="T57" fmla="*/ T56 w 343"/>
                  <a:gd name="T58" fmla="+- 0 -1018 -1318"/>
                  <a:gd name="T59" fmla="*/ -1018 h 341"/>
                  <a:gd name="T60" fmla="+- 0 6422 6178"/>
                  <a:gd name="T61" fmla="*/ T60 w 343"/>
                  <a:gd name="T62" fmla="+- 0 -989 -1318"/>
                  <a:gd name="T63" fmla="*/ -989 h 341"/>
                  <a:gd name="T64" fmla="+- 0 6374 6178"/>
                  <a:gd name="T65" fmla="*/ T64 w 343"/>
                  <a:gd name="T66" fmla="+- 0 -977 -1318"/>
                  <a:gd name="T67" fmla="*/ -977 h 341"/>
                  <a:gd name="T68" fmla="+- 0 6324 6178"/>
                  <a:gd name="T69" fmla="*/ T68 w 343"/>
                  <a:gd name="T70" fmla="+- 0 -977 -1318"/>
                  <a:gd name="T71" fmla="*/ -977 h 341"/>
                  <a:gd name="T72" fmla="+- 0 6281 6178"/>
                  <a:gd name="T73" fmla="*/ T72 w 343"/>
                  <a:gd name="T74" fmla="+- 0 -989 -1318"/>
                  <a:gd name="T75" fmla="*/ -989 h 341"/>
                  <a:gd name="T76" fmla="+- 0 6235 6178"/>
                  <a:gd name="T77" fmla="*/ T76 w 343"/>
                  <a:gd name="T78" fmla="+- 0 -1018 -1318"/>
                  <a:gd name="T79" fmla="*/ -1018 h 341"/>
                  <a:gd name="T80" fmla="+- 0 6204 6178"/>
                  <a:gd name="T81" fmla="*/ T80 w 343"/>
                  <a:gd name="T82" fmla="+- 0 -1054 -1318"/>
                  <a:gd name="T83" fmla="*/ -1054 h 341"/>
                  <a:gd name="T84" fmla="+- 0 6185 6178"/>
                  <a:gd name="T85" fmla="*/ T84 w 343"/>
                  <a:gd name="T86" fmla="+- 0 -1097 -1318"/>
                  <a:gd name="T87" fmla="*/ -1097 h 341"/>
                  <a:gd name="T88" fmla="+- 0 6178 6178"/>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120"/>
                    </a:lnTo>
                    <a:lnTo>
                      <a:pt x="26" y="77"/>
                    </a:lnTo>
                    <a:lnTo>
                      <a:pt x="57" y="41"/>
                    </a:lnTo>
                    <a:lnTo>
                      <a:pt x="103" y="14"/>
                    </a:lnTo>
                    <a:lnTo>
                      <a:pt x="146" y="0"/>
                    </a:lnTo>
                    <a:lnTo>
                      <a:pt x="196" y="0"/>
                    </a:lnTo>
                    <a:lnTo>
                      <a:pt x="244" y="14"/>
                    </a:lnTo>
                    <a:lnTo>
                      <a:pt x="285" y="41"/>
                    </a:lnTo>
                    <a:lnTo>
                      <a:pt x="319" y="77"/>
                    </a:lnTo>
                    <a:lnTo>
                      <a:pt x="340" y="120"/>
                    </a:lnTo>
                    <a:lnTo>
                      <a:pt x="343" y="173"/>
                    </a:lnTo>
                    <a:lnTo>
                      <a:pt x="340" y="221"/>
                    </a:lnTo>
                    <a:lnTo>
                      <a:pt x="319" y="264"/>
                    </a:lnTo>
                    <a:lnTo>
                      <a:pt x="285" y="300"/>
                    </a:lnTo>
                    <a:lnTo>
                      <a:pt x="244" y="329"/>
                    </a:lnTo>
                    <a:lnTo>
                      <a:pt x="196" y="341"/>
                    </a:lnTo>
                    <a:lnTo>
                      <a:pt x="146" y="341"/>
                    </a:lnTo>
                    <a:lnTo>
                      <a:pt x="103" y="329"/>
                    </a:lnTo>
                    <a:lnTo>
                      <a:pt x="57" y="300"/>
                    </a:lnTo>
                    <a:lnTo>
                      <a:pt x="26" y="264"/>
                    </a:lnTo>
                    <a:lnTo>
                      <a:pt x="7" y="221"/>
                    </a:lnTo>
                    <a:lnTo>
                      <a:pt x="0" y="173"/>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18"/>
              <p:cNvSpPr>
                <a:spLocks/>
              </p:cNvSpPr>
              <p:nvPr/>
            </p:nvSpPr>
            <p:spPr bwMode="auto">
              <a:xfrm>
                <a:off x="6178" y="-22"/>
                <a:ext cx="343" cy="346"/>
              </a:xfrm>
              <a:custGeom>
                <a:avLst/>
                <a:gdLst>
                  <a:gd name="T0" fmla="+- 0 6178 6178"/>
                  <a:gd name="T1" fmla="*/ T0 w 343"/>
                  <a:gd name="T2" fmla="+- 0 151 -22"/>
                  <a:gd name="T3" fmla="*/ 151 h 346"/>
                  <a:gd name="T4" fmla="+- 0 6185 6178"/>
                  <a:gd name="T5" fmla="*/ T4 w 343"/>
                  <a:gd name="T6" fmla="+- 0 199 -22"/>
                  <a:gd name="T7" fmla="*/ 199 h 346"/>
                  <a:gd name="T8" fmla="+- 0 6204 6178"/>
                  <a:gd name="T9" fmla="*/ T8 w 343"/>
                  <a:gd name="T10" fmla="+- 0 242 -22"/>
                  <a:gd name="T11" fmla="*/ 242 h 346"/>
                  <a:gd name="T12" fmla="+- 0 6235 6178"/>
                  <a:gd name="T13" fmla="*/ T12 w 343"/>
                  <a:gd name="T14" fmla="+- 0 283 -22"/>
                  <a:gd name="T15" fmla="*/ 283 h 346"/>
                  <a:gd name="T16" fmla="+- 0 6281 6178"/>
                  <a:gd name="T17" fmla="*/ T16 w 343"/>
                  <a:gd name="T18" fmla="+- 0 309 -22"/>
                  <a:gd name="T19" fmla="*/ 309 h 346"/>
                  <a:gd name="T20" fmla="+- 0 6324 6178"/>
                  <a:gd name="T21" fmla="*/ T20 w 343"/>
                  <a:gd name="T22" fmla="+- 0 324 -22"/>
                  <a:gd name="T23" fmla="*/ 324 h 346"/>
                  <a:gd name="T24" fmla="+- 0 6374 6178"/>
                  <a:gd name="T25" fmla="*/ T24 w 343"/>
                  <a:gd name="T26" fmla="+- 0 324 -22"/>
                  <a:gd name="T27" fmla="*/ 324 h 346"/>
                  <a:gd name="T28" fmla="+- 0 6422 6178"/>
                  <a:gd name="T29" fmla="*/ T28 w 343"/>
                  <a:gd name="T30" fmla="+- 0 309 -22"/>
                  <a:gd name="T31" fmla="*/ 309 h 346"/>
                  <a:gd name="T32" fmla="+- 0 6463 6178"/>
                  <a:gd name="T33" fmla="*/ T32 w 343"/>
                  <a:gd name="T34" fmla="+- 0 283 -22"/>
                  <a:gd name="T35" fmla="*/ 283 h 346"/>
                  <a:gd name="T36" fmla="+- 0 6497 6178"/>
                  <a:gd name="T37" fmla="*/ T36 w 343"/>
                  <a:gd name="T38" fmla="+- 0 242 -22"/>
                  <a:gd name="T39" fmla="*/ 242 h 346"/>
                  <a:gd name="T40" fmla="+- 0 6518 6178"/>
                  <a:gd name="T41" fmla="*/ T40 w 343"/>
                  <a:gd name="T42" fmla="+- 0 199 -22"/>
                  <a:gd name="T43" fmla="*/ 199 h 346"/>
                  <a:gd name="T44" fmla="+- 0 6521 6178"/>
                  <a:gd name="T45" fmla="*/ T44 w 343"/>
                  <a:gd name="T46" fmla="+- 0 151 -22"/>
                  <a:gd name="T47" fmla="*/ 151 h 346"/>
                  <a:gd name="T48" fmla="+- 0 6518 6178"/>
                  <a:gd name="T49" fmla="*/ T48 w 343"/>
                  <a:gd name="T50" fmla="+- 0 103 -22"/>
                  <a:gd name="T51" fmla="*/ 103 h 346"/>
                  <a:gd name="T52" fmla="+- 0 6497 6178"/>
                  <a:gd name="T53" fmla="*/ T52 w 343"/>
                  <a:gd name="T54" fmla="+- 0 55 -22"/>
                  <a:gd name="T55" fmla="*/ 55 h 346"/>
                  <a:gd name="T56" fmla="+- 0 6463 6178"/>
                  <a:gd name="T57" fmla="*/ T56 w 343"/>
                  <a:gd name="T58" fmla="+- 0 19 -22"/>
                  <a:gd name="T59" fmla="*/ 19 h 346"/>
                  <a:gd name="T60" fmla="+- 0 6422 6178"/>
                  <a:gd name="T61" fmla="*/ T60 w 343"/>
                  <a:gd name="T62" fmla="+- 0 -5 -22"/>
                  <a:gd name="T63" fmla="*/ -5 h 346"/>
                  <a:gd name="T64" fmla="+- 0 6374 6178"/>
                  <a:gd name="T65" fmla="*/ T64 w 343"/>
                  <a:gd name="T66" fmla="+- 0 -22 -22"/>
                  <a:gd name="T67" fmla="*/ -22 h 346"/>
                  <a:gd name="T68" fmla="+- 0 6324 6178"/>
                  <a:gd name="T69" fmla="*/ T68 w 343"/>
                  <a:gd name="T70" fmla="+- 0 -22 -22"/>
                  <a:gd name="T71" fmla="*/ -22 h 346"/>
                  <a:gd name="T72" fmla="+- 0 6281 6178"/>
                  <a:gd name="T73" fmla="*/ T72 w 343"/>
                  <a:gd name="T74" fmla="+- 0 -5 -22"/>
                  <a:gd name="T75" fmla="*/ -5 h 346"/>
                  <a:gd name="T76" fmla="+- 0 6235 6178"/>
                  <a:gd name="T77" fmla="*/ T76 w 343"/>
                  <a:gd name="T78" fmla="+- 0 19 -22"/>
                  <a:gd name="T79" fmla="*/ 19 h 346"/>
                  <a:gd name="T80" fmla="+- 0 6204 6178"/>
                  <a:gd name="T81" fmla="*/ T80 w 343"/>
                  <a:gd name="T82" fmla="+- 0 55 -22"/>
                  <a:gd name="T83" fmla="*/ 55 h 346"/>
                  <a:gd name="T84" fmla="+- 0 6185 6178"/>
                  <a:gd name="T85" fmla="*/ T84 w 343"/>
                  <a:gd name="T86" fmla="+- 0 103 -22"/>
                  <a:gd name="T87" fmla="*/ 103 h 346"/>
                  <a:gd name="T88" fmla="+- 0 6178 6178"/>
                  <a:gd name="T89" fmla="*/ T88 w 343"/>
                  <a:gd name="T90" fmla="+- 0 151 -22"/>
                  <a:gd name="T91" fmla="*/ 151 h 34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6">
                    <a:moveTo>
                      <a:pt x="0" y="173"/>
                    </a:moveTo>
                    <a:lnTo>
                      <a:pt x="7" y="221"/>
                    </a:lnTo>
                    <a:lnTo>
                      <a:pt x="26" y="264"/>
                    </a:lnTo>
                    <a:lnTo>
                      <a:pt x="57" y="305"/>
                    </a:lnTo>
                    <a:lnTo>
                      <a:pt x="103" y="331"/>
                    </a:lnTo>
                    <a:lnTo>
                      <a:pt x="146" y="346"/>
                    </a:lnTo>
                    <a:lnTo>
                      <a:pt x="196" y="346"/>
                    </a:lnTo>
                    <a:lnTo>
                      <a:pt x="244" y="331"/>
                    </a:lnTo>
                    <a:lnTo>
                      <a:pt x="285" y="305"/>
                    </a:lnTo>
                    <a:lnTo>
                      <a:pt x="319" y="264"/>
                    </a:lnTo>
                    <a:lnTo>
                      <a:pt x="340" y="221"/>
                    </a:lnTo>
                    <a:lnTo>
                      <a:pt x="343" y="173"/>
                    </a:lnTo>
                    <a:lnTo>
                      <a:pt x="340" y="125"/>
                    </a:lnTo>
                    <a:lnTo>
                      <a:pt x="319" y="77"/>
                    </a:lnTo>
                    <a:lnTo>
                      <a:pt x="285" y="41"/>
                    </a:lnTo>
                    <a:lnTo>
                      <a:pt x="244" y="17"/>
                    </a:lnTo>
                    <a:lnTo>
                      <a:pt x="196" y="0"/>
                    </a:lnTo>
                    <a:lnTo>
                      <a:pt x="146" y="0"/>
                    </a:lnTo>
                    <a:lnTo>
                      <a:pt x="103" y="17"/>
                    </a:lnTo>
                    <a:lnTo>
                      <a:pt x="57" y="41"/>
                    </a:lnTo>
                    <a:lnTo>
                      <a:pt x="26" y="77"/>
                    </a:lnTo>
                    <a:lnTo>
                      <a:pt x="7" y="125"/>
                    </a:lnTo>
                    <a:lnTo>
                      <a:pt x="0" y="1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17"/>
              <p:cNvSpPr>
                <a:spLocks/>
              </p:cNvSpPr>
              <p:nvPr/>
            </p:nvSpPr>
            <p:spPr bwMode="auto">
              <a:xfrm>
                <a:off x="6178" y="-22"/>
                <a:ext cx="343" cy="346"/>
              </a:xfrm>
              <a:custGeom>
                <a:avLst/>
                <a:gdLst>
                  <a:gd name="T0" fmla="+- 0 6178 6178"/>
                  <a:gd name="T1" fmla="*/ T0 w 343"/>
                  <a:gd name="T2" fmla="+- 0 151 -22"/>
                  <a:gd name="T3" fmla="*/ 151 h 346"/>
                  <a:gd name="T4" fmla="+- 0 6185 6178"/>
                  <a:gd name="T5" fmla="*/ T4 w 343"/>
                  <a:gd name="T6" fmla="+- 0 103 -22"/>
                  <a:gd name="T7" fmla="*/ 103 h 346"/>
                  <a:gd name="T8" fmla="+- 0 6204 6178"/>
                  <a:gd name="T9" fmla="*/ T8 w 343"/>
                  <a:gd name="T10" fmla="+- 0 55 -22"/>
                  <a:gd name="T11" fmla="*/ 55 h 346"/>
                  <a:gd name="T12" fmla="+- 0 6235 6178"/>
                  <a:gd name="T13" fmla="*/ T12 w 343"/>
                  <a:gd name="T14" fmla="+- 0 19 -22"/>
                  <a:gd name="T15" fmla="*/ 19 h 346"/>
                  <a:gd name="T16" fmla="+- 0 6281 6178"/>
                  <a:gd name="T17" fmla="*/ T16 w 343"/>
                  <a:gd name="T18" fmla="+- 0 -5 -22"/>
                  <a:gd name="T19" fmla="*/ -5 h 346"/>
                  <a:gd name="T20" fmla="+- 0 6324 6178"/>
                  <a:gd name="T21" fmla="*/ T20 w 343"/>
                  <a:gd name="T22" fmla="+- 0 -22 -22"/>
                  <a:gd name="T23" fmla="*/ -22 h 346"/>
                  <a:gd name="T24" fmla="+- 0 6374 6178"/>
                  <a:gd name="T25" fmla="*/ T24 w 343"/>
                  <a:gd name="T26" fmla="+- 0 -22 -22"/>
                  <a:gd name="T27" fmla="*/ -22 h 346"/>
                  <a:gd name="T28" fmla="+- 0 6422 6178"/>
                  <a:gd name="T29" fmla="*/ T28 w 343"/>
                  <a:gd name="T30" fmla="+- 0 -5 -22"/>
                  <a:gd name="T31" fmla="*/ -5 h 346"/>
                  <a:gd name="T32" fmla="+- 0 6463 6178"/>
                  <a:gd name="T33" fmla="*/ T32 w 343"/>
                  <a:gd name="T34" fmla="+- 0 19 -22"/>
                  <a:gd name="T35" fmla="*/ 19 h 346"/>
                  <a:gd name="T36" fmla="+- 0 6497 6178"/>
                  <a:gd name="T37" fmla="*/ T36 w 343"/>
                  <a:gd name="T38" fmla="+- 0 55 -22"/>
                  <a:gd name="T39" fmla="*/ 55 h 346"/>
                  <a:gd name="T40" fmla="+- 0 6518 6178"/>
                  <a:gd name="T41" fmla="*/ T40 w 343"/>
                  <a:gd name="T42" fmla="+- 0 103 -22"/>
                  <a:gd name="T43" fmla="*/ 103 h 346"/>
                  <a:gd name="T44" fmla="+- 0 6521 6178"/>
                  <a:gd name="T45" fmla="*/ T44 w 343"/>
                  <a:gd name="T46" fmla="+- 0 151 -22"/>
                  <a:gd name="T47" fmla="*/ 151 h 346"/>
                  <a:gd name="T48" fmla="+- 0 6518 6178"/>
                  <a:gd name="T49" fmla="*/ T48 w 343"/>
                  <a:gd name="T50" fmla="+- 0 199 -22"/>
                  <a:gd name="T51" fmla="*/ 199 h 346"/>
                  <a:gd name="T52" fmla="+- 0 6497 6178"/>
                  <a:gd name="T53" fmla="*/ T52 w 343"/>
                  <a:gd name="T54" fmla="+- 0 242 -22"/>
                  <a:gd name="T55" fmla="*/ 242 h 346"/>
                  <a:gd name="T56" fmla="+- 0 6463 6178"/>
                  <a:gd name="T57" fmla="*/ T56 w 343"/>
                  <a:gd name="T58" fmla="+- 0 283 -22"/>
                  <a:gd name="T59" fmla="*/ 283 h 346"/>
                  <a:gd name="T60" fmla="+- 0 6422 6178"/>
                  <a:gd name="T61" fmla="*/ T60 w 343"/>
                  <a:gd name="T62" fmla="+- 0 309 -22"/>
                  <a:gd name="T63" fmla="*/ 309 h 346"/>
                  <a:gd name="T64" fmla="+- 0 6374 6178"/>
                  <a:gd name="T65" fmla="*/ T64 w 343"/>
                  <a:gd name="T66" fmla="+- 0 324 -22"/>
                  <a:gd name="T67" fmla="*/ 324 h 346"/>
                  <a:gd name="T68" fmla="+- 0 6324 6178"/>
                  <a:gd name="T69" fmla="*/ T68 w 343"/>
                  <a:gd name="T70" fmla="+- 0 324 -22"/>
                  <a:gd name="T71" fmla="*/ 324 h 346"/>
                  <a:gd name="T72" fmla="+- 0 6281 6178"/>
                  <a:gd name="T73" fmla="*/ T72 w 343"/>
                  <a:gd name="T74" fmla="+- 0 309 -22"/>
                  <a:gd name="T75" fmla="*/ 309 h 346"/>
                  <a:gd name="T76" fmla="+- 0 6235 6178"/>
                  <a:gd name="T77" fmla="*/ T76 w 343"/>
                  <a:gd name="T78" fmla="+- 0 283 -22"/>
                  <a:gd name="T79" fmla="*/ 283 h 346"/>
                  <a:gd name="T80" fmla="+- 0 6204 6178"/>
                  <a:gd name="T81" fmla="*/ T80 w 343"/>
                  <a:gd name="T82" fmla="+- 0 242 -22"/>
                  <a:gd name="T83" fmla="*/ 242 h 346"/>
                  <a:gd name="T84" fmla="+- 0 6185 6178"/>
                  <a:gd name="T85" fmla="*/ T84 w 343"/>
                  <a:gd name="T86" fmla="+- 0 199 -22"/>
                  <a:gd name="T87" fmla="*/ 199 h 346"/>
                  <a:gd name="T88" fmla="+- 0 6178 6178"/>
                  <a:gd name="T89" fmla="*/ T88 w 343"/>
                  <a:gd name="T90" fmla="+- 0 151 -22"/>
                  <a:gd name="T91" fmla="*/ 151 h 34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6">
                    <a:moveTo>
                      <a:pt x="0" y="173"/>
                    </a:moveTo>
                    <a:lnTo>
                      <a:pt x="7" y="125"/>
                    </a:lnTo>
                    <a:lnTo>
                      <a:pt x="26" y="77"/>
                    </a:lnTo>
                    <a:lnTo>
                      <a:pt x="57" y="41"/>
                    </a:lnTo>
                    <a:lnTo>
                      <a:pt x="103" y="17"/>
                    </a:lnTo>
                    <a:lnTo>
                      <a:pt x="146" y="0"/>
                    </a:lnTo>
                    <a:lnTo>
                      <a:pt x="196" y="0"/>
                    </a:lnTo>
                    <a:lnTo>
                      <a:pt x="244" y="17"/>
                    </a:lnTo>
                    <a:lnTo>
                      <a:pt x="285" y="41"/>
                    </a:lnTo>
                    <a:lnTo>
                      <a:pt x="319" y="77"/>
                    </a:lnTo>
                    <a:lnTo>
                      <a:pt x="340" y="125"/>
                    </a:lnTo>
                    <a:lnTo>
                      <a:pt x="343" y="173"/>
                    </a:lnTo>
                    <a:lnTo>
                      <a:pt x="340" y="221"/>
                    </a:lnTo>
                    <a:lnTo>
                      <a:pt x="319" y="264"/>
                    </a:lnTo>
                    <a:lnTo>
                      <a:pt x="285" y="305"/>
                    </a:lnTo>
                    <a:lnTo>
                      <a:pt x="244" y="331"/>
                    </a:lnTo>
                    <a:lnTo>
                      <a:pt x="196" y="346"/>
                    </a:lnTo>
                    <a:lnTo>
                      <a:pt x="146" y="346"/>
                    </a:lnTo>
                    <a:lnTo>
                      <a:pt x="103" y="331"/>
                    </a:lnTo>
                    <a:lnTo>
                      <a:pt x="57" y="305"/>
                    </a:lnTo>
                    <a:lnTo>
                      <a:pt x="26" y="264"/>
                    </a:lnTo>
                    <a:lnTo>
                      <a:pt x="7" y="221"/>
                    </a:lnTo>
                    <a:lnTo>
                      <a:pt x="0" y="173"/>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Freeform 16"/>
              <p:cNvSpPr>
                <a:spLocks/>
              </p:cNvSpPr>
              <p:nvPr/>
            </p:nvSpPr>
            <p:spPr bwMode="auto">
              <a:xfrm>
                <a:off x="6134" y="-497"/>
                <a:ext cx="432" cy="0"/>
              </a:xfrm>
              <a:custGeom>
                <a:avLst/>
                <a:gdLst>
                  <a:gd name="T0" fmla="+- 0 6134 6134"/>
                  <a:gd name="T1" fmla="*/ T0 w 432"/>
                  <a:gd name="T2" fmla="+- 0 6566 6134"/>
                  <a:gd name="T3" fmla="*/ T2 w 432"/>
                </a:gdLst>
                <a:ahLst/>
                <a:cxnLst>
                  <a:cxn ang="0">
                    <a:pos x="T1" y="0"/>
                  </a:cxn>
                  <a:cxn ang="0">
                    <a:pos x="T3" y="0"/>
                  </a:cxn>
                </a:cxnLst>
                <a:rect l="0" t="0" r="r" b="b"/>
                <a:pathLst>
                  <a:path w="432">
                    <a:moveTo>
                      <a:pt x="0" y="0"/>
                    </a:moveTo>
                    <a:lnTo>
                      <a:pt x="432"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Freeform 15"/>
              <p:cNvSpPr>
                <a:spLocks/>
              </p:cNvSpPr>
              <p:nvPr/>
            </p:nvSpPr>
            <p:spPr bwMode="auto">
              <a:xfrm>
                <a:off x="4620" y="-984"/>
                <a:ext cx="3895" cy="3125"/>
              </a:xfrm>
              <a:custGeom>
                <a:avLst/>
                <a:gdLst>
                  <a:gd name="T0" fmla="+- 0 4620 4620"/>
                  <a:gd name="T1" fmla="*/ T0 w 3895"/>
                  <a:gd name="T2" fmla="+- 0 -972 -984"/>
                  <a:gd name="T3" fmla="*/ -972 h 3125"/>
                  <a:gd name="T4" fmla="+- 0 4848 4620"/>
                  <a:gd name="T5" fmla="*/ T4 w 3895"/>
                  <a:gd name="T6" fmla="+- 0 -984 -984"/>
                  <a:gd name="T7" fmla="*/ -984 h 3125"/>
                  <a:gd name="T8" fmla="+- 0 5078 4620"/>
                  <a:gd name="T9" fmla="*/ T8 w 3895"/>
                  <a:gd name="T10" fmla="+- 0 -984 -984"/>
                  <a:gd name="T11" fmla="*/ -984 h 3125"/>
                  <a:gd name="T12" fmla="+- 0 5306 4620"/>
                  <a:gd name="T13" fmla="*/ T12 w 3895"/>
                  <a:gd name="T14" fmla="+- 0 -970 -984"/>
                  <a:gd name="T15" fmla="*/ -970 h 3125"/>
                  <a:gd name="T16" fmla="+- 0 5530 4620"/>
                  <a:gd name="T17" fmla="*/ T16 w 3895"/>
                  <a:gd name="T18" fmla="+- 0 -944 -984"/>
                  <a:gd name="T19" fmla="*/ -944 h 3125"/>
                  <a:gd name="T20" fmla="+- 0 5753 4620"/>
                  <a:gd name="T21" fmla="*/ T20 w 3895"/>
                  <a:gd name="T22" fmla="+- 0 -903 -984"/>
                  <a:gd name="T23" fmla="*/ -903 h 3125"/>
                  <a:gd name="T24" fmla="+- 0 5971 4620"/>
                  <a:gd name="T25" fmla="*/ T24 w 3895"/>
                  <a:gd name="T26" fmla="+- 0 -852 -984"/>
                  <a:gd name="T27" fmla="*/ -852 h 3125"/>
                  <a:gd name="T28" fmla="+- 0 6185 4620"/>
                  <a:gd name="T29" fmla="*/ T28 w 3895"/>
                  <a:gd name="T30" fmla="+- 0 -790 -984"/>
                  <a:gd name="T31" fmla="*/ -790 h 3125"/>
                  <a:gd name="T32" fmla="+- 0 6394 4620"/>
                  <a:gd name="T33" fmla="*/ T32 w 3895"/>
                  <a:gd name="T34" fmla="+- 0 -718 -984"/>
                  <a:gd name="T35" fmla="*/ -718 h 3125"/>
                  <a:gd name="T36" fmla="+- 0 6595 4620"/>
                  <a:gd name="T37" fmla="*/ T36 w 3895"/>
                  <a:gd name="T38" fmla="+- 0 -629 -984"/>
                  <a:gd name="T39" fmla="*/ -629 h 3125"/>
                  <a:gd name="T40" fmla="+- 0 6792 4620"/>
                  <a:gd name="T41" fmla="*/ T40 w 3895"/>
                  <a:gd name="T42" fmla="+- 0 -533 -984"/>
                  <a:gd name="T43" fmla="*/ -533 h 3125"/>
                  <a:gd name="T44" fmla="+- 0 6979 4620"/>
                  <a:gd name="T45" fmla="*/ T44 w 3895"/>
                  <a:gd name="T46" fmla="+- 0 -423 -984"/>
                  <a:gd name="T47" fmla="*/ -423 h 3125"/>
                  <a:gd name="T48" fmla="+- 0 7159 4620"/>
                  <a:gd name="T49" fmla="*/ T48 w 3895"/>
                  <a:gd name="T50" fmla="+- 0 -308 -984"/>
                  <a:gd name="T51" fmla="*/ -308 h 3125"/>
                  <a:gd name="T52" fmla="+- 0 7332 4620"/>
                  <a:gd name="T53" fmla="*/ T52 w 3895"/>
                  <a:gd name="T54" fmla="+- 0 -178 -984"/>
                  <a:gd name="T55" fmla="*/ -178 h 3125"/>
                  <a:gd name="T56" fmla="+- 0 7493 4620"/>
                  <a:gd name="T57" fmla="*/ T56 w 3895"/>
                  <a:gd name="T58" fmla="+- 0 -39 -984"/>
                  <a:gd name="T59" fmla="*/ -39 h 3125"/>
                  <a:gd name="T60" fmla="+- 0 7644 4620"/>
                  <a:gd name="T61" fmla="*/ T60 w 3895"/>
                  <a:gd name="T62" fmla="+- 0 108 -984"/>
                  <a:gd name="T63" fmla="*/ 108 h 3125"/>
                  <a:gd name="T64" fmla="+- 0 7786 4620"/>
                  <a:gd name="T65" fmla="*/ T64 w 3895"/>
                  <a:gd name="T66" fmla="+- 0 261 -984"/>
                  <a:gd name="T67" fmla="*/ 261 h 3125"/>
                  <a:gd name="T68" fmla="+- 0 7915 4620"/>
                  <a:gd name="T69" fmla="*/ T68 w 3895"/>
                  <a:gd name="T70" fmla="+- 0 427 -984"/>
                  <a:gd name="T71" fmla="*/ 427 h 3125"/>
                  <a:gd name="T72" fmla="+- 0 8030 4620"/>
                  <a:gd name="T73" fmla="*/ T72 w 3895"/>
                  <a:gd name="T74" fmla="+- 0 595 -984"/>
                  <a:gd name="T75" fmla="*/ 595 h 3125"/>
                  <a:gd name="T76" fmla="+- 0 8138 4620"/>
                  <a:gd name="T77" fmla="*/ T76 w 3895"/>
                  <a:gd name="T78" fmla="+- 0 775 -984"/>
                  <a:gd name="T79" fmla="*/ 775 h 3125"/>
                  <a:gd name="T80" fmla="+- 0 8232 4620"/>
                  <a:gd name="T81" fmla="*/ T80 w 3895"/>
                  <a:gd name="T82" fmla="+- 0 957 -984"/>
                  <a:gd name="T83" fmla="*/ 957 h 3125"/>
                  <a:gd name="T84" fmla="+- 0 8314 4620"/>
                  <a:gd name="T85" fmla="*/ T84 w 3895"/>
                  <a:gd name="T86" fmla="+- 0 1144 -984"/>
                  <a:gd name="T87" fmla="*/ 1144 h 3125"/>
                  <a:gd name="T88" fmla="+- 0 8378 4620"/>
                  <a:gd name="T89" fmla="*/ T88 w 3895"/>
                  <a:gd name="T90" fmla="+- 0 1339 -984"/>
                  <a:gd name="T91" fmla="*/ 1339 h 3125"/>
                  <a:gd name="T92" fmla="+- 0 8434 4620"/>
                  <a:gd name="T93" fmla="*/ T92 w 3895"/>
                  <a:gd name="T94" fmla="+- 0 1533 -984"/>
                  <a:gd name="T95" fmla="*/ 1533 h 3125"/>
                  <a:gd name="T96" fmla="+- 0 8474 4620"/>
                  <a:gd name="T97" fmla="*/ T96 w 3895"/>
                  <a:gd name="T98" fmla="+- 0 1735 -984"/>
                  <a:gd name="T99" fmla="*/ 1735 h 3125"/>
                  <a:gd name="T100" fmla="+- 0 8501 4620"/>
                  <a:gd name="T101" fmla="*/ T100 w 3895"/>
                  <a:gd name="T102" fmla="+- 0 1934 -984"/>
                  <a:gd name="T103" fmla="*/ 1934 h 3125"/>
                  <a:gd name="T104" fmla="+- 0 8515 4620"/>
                  <a:gd name="T105" fmla="*/ T104 w 3895"/>
                  <a:gd name="T106" fmla="+- 0 2140 -984"/>
                  <a:gd name="T107" fmla="*/ 2140 h 312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Lst>
                <a:rect l="0" t="0" r="r" b="b"/>
                <a:pathLst>
                  <a:path w="3895" h="3125">
                    <a:moveTo>
                      <a:pt x="0" y="12"/>
                    </a:moveTo>
                    <a:lnTo>
                      <a:pt x="228" y="0"/>
                    </a:lnTo>
                    <a:lnTo>
                      <a:pt x="458" y="0"/>
                    </a:lnTo>
                    <a:lnTo>
                      <a:pt x="686" y="14"/>
                    </a:lnTo>
                    <a:lnTo>
                      <a:pt x="910" y="40"/>
                    </a:lnTo>
                    <a:lnTo>
                      <a:pt x="1133" y="81"/>
                    </a:lnTo>
                    <a:lnTo>
                      <a:pt x="1351" y="132"/>
                    </a:lnTo>
                    <a:lnTo>
                      <a:pt x="1565" y="194"/>
                    </a:lnTo>
                    <a:lnTo>
                      <a:pt x="1774" y="266"/>
                    </a:lnTo>
                    <a:lnTo>
                      <a:pt x="1975" y="355"/>
                    </a:lnTo>
                    <a:lnTo>
                      <a:pt x="2172" y="451"/>
                    </a:lnTo>
                    <a:lnTo>
                      <a:pt x="2359" y="561"/>
                    </a:lnTo>
                    <a:lnTo>
                      <a:pt x="2539" y="676"/>
                    </a:lnTo>
                    <a:lnTo>
                      <a:pt x="2712" y="806"/>
                    </a:lnTo>
                    <a:lnTo>
                      <a:pt x="2873" y="945"/>
                    </a:lnTo>
                    <a:lnTo>
                      <a:pt x="3024" y="1092"/>
                    </a:lnTo>
                    <a:lnTo>
                      <a:pt x="3166" y="1245"/>
                    </a:lnTo>
                    <a:lnTo>
                      <a:pt x="3295" y="1411"/>
                    </a:lnTo>
                    <a:lnTo>
                      <a:pt x="3410" y="1579"/>
                    </a:lnTo>
                    <a:lnTo>
                      <a:pt x="3518" y="1759"/>
                    </a:lnTo>
                    <a:lnTo>
                      <a:pt x="3612" y="1941"/>
                    </a:lnTo>
                    <a:lnTo>
                      <a:pt x="3694" y="2128"/>
                    </a:lnTo>
                    <a:lnTo>
                      <a:pt x="3758" y="2323"/>
                    </a:lnTo>
                    <a:lnTo>
                      <a:pt x="3814" y="2517"/>
                    </a:lnTo>
                    <a:lnTo>
                      <a:pt x="3854" y="2719"/>
                    </a:lnTo>
                    <a:lnTo>
                      <a:pt x="3881" y="2918"/>
                    </a:lnTo>
                    <a:lnTo>
                      <a:pt x="3895" y="3124"/>
                    </a:lnTo>
                  </a:path>
                </a:pathLst>
              </a:custGeom>
              <a:noFill/>
              <a:ln w="2286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Freeform 10"/>
              <p:cNvSpPr>
                <a:spLocks/>
              </p:cNvSpPr>
              <p:nvPr/>
            </p:nvSpPr>
            <p:spPr bwMode="auto">
              <a:xfrm>
                <a:off x="6283" y="-562"/>
                <a:ext cx="132" cy="127"/>
              </a:xfrm>
              <a:custGeom>
                <a:avLst/>
                <a:gdLst>
                  <a:gd name="T0" fmla="+- 0 6283 6283"/>
                  <a:gd name="T1" fmla="*/ T0 w 132"/>
                  <a:gd name="T2" fmla="+- 0 -497 -562"/>
                  <a:gd name="T3" fmla="*/ -497 h 127"/>
                  <a:gd name="T4" fmla="+- 0 6290 6283"/>
                  <a:gd name="T5" fmla="*/ T4 w 132"/>
                  <a:gd name="T6" fmla="+- 0 -471 -562"/>
                  <a:gd name="T7" fmla="*/ -471 h 127"/>
                  <a:gd name="T8" fmla="+- 0 6310 6283"/>
                  <a:gd name="T9" fmla="*/ T8 w 132"/>
                  <a:gd name="T10" fmla="+- 0 -447 -562"/>
                  <a:gd name="T11" fmla="*/ -447 h 127"/>
                  <a:gd name="T12" fmla="+- 0 6336 6283"/>
                  <a:gd name="T13" fmla="*/ T12 w 132"/>
                  <a:gd name="T14" fmla="+- 0 -435 -562"/>
                  <a:gd name="T15" fmla="*/ -435 h 127"/>
                  <a:gd name="T16" fmla="+- 0 6365 6283"/>
                  <a:gd name="T17" fmla="*/ T16 w 132"/>
                  <a:gd name="T18" fmla="+- 0 -435 -562"/>
                  <a:gd name="T19" fmla="*/ -435 h 127"/>
                  <a:gd name="T20" fmla="+- 0 6389 6283"/>
                  <a:gd name="T21" fmla="*/ T20 w 132"/>
                  <a:gd name="T22" fmla="+- 0 -447 -562"/>
                  <a:gd name="T23" fmla="*/ -447 h 127"/>
                  <a:gd name="T24" fmla="+- 0 6408 6283"/>
                  <a:gd name="T25" fmla="*/ T24 w 132"/>
                  <a:gd name="T26" fmla="+- 0 -471 -562"/>
                  <a:gd name="T27" fmla="*/ -471 h 127"/>
                  <a:gd name="T28" fmla="+- 0 6415 6283"/>
                  <a:gd name="T29" fmla="*/ T28 w 132"/>
                  <a:gd name="T30" fmla="+- 0 -497 -562"/>
                  <a:gd name="T31" fmla="*/ -497 h 127"/>
                  <a:gd name="T32" fmla="+- 0 6408 6283"/>
                  <a:gd name="T33" fmla="*/ T32 w 132"/>
                  <a:gd name="T34" fmla="+- 0 -526 -562"/>
                  <a:gd name="T35" fmla="*/ -526 h 127"/>
                  <a:gd name="T36" fmla="+- 0 6389 6283"/>
                  <a:gd name="T37" fmla="*/ T36 w 132"/>
                  <a:gd name="T38" fmla="+- 0 -548 -562"/>
                  <a:gd name="T39" fmla="*/ -548 h 127"/>
                  <a:gd name="T40" fmla="+- 0 6365 6283"/>
                  <a:gd name="T41" fmla="*/ T40 w 132"/>
                  <a:gd name="T42" fmla="+- 0 -562 -562"/>
                  <a:gd name="T43" fmla="*/ -562 h 127"/>
                  <a:gd name="T44" fmla="+- 0 6336 6283"/>
                  <a:gd name="T45" fmla="*/ T44 w 132"/>
                  <a:gd name="T46" fmla="+- 0 -562 -562"/>
                  <a:gd name="T47" fmla="*/ -562 h 127"/>
                  <a:gd name="T48" fmla="+- 0 6310 6283"/>
                  <a:gd name="T49" fmla="*/ T48 w 132"/>
                  <a:gd name="T50" fmla="+- 0 -548 -562"/>
                  <a:gd name="T51" fmla="*/ -548 h 127"/>
                  <a:gd name="T52" fmla="+- 0 6290 6283"/>
                  <a:gd name="T53" fmla="*/ T52 w 132"/>
                  <a:gd name="T54" fmla="+- 0 -526 -562"/>
                  <a:gd name="T55" fmla="*/ -526 h 127"/>
                  <a:gd name="T56" fmla="+- 0 6283 6283"/>
                  <a:gd name="T57" fmla="*/ T56 w 132"/>
                  <a:gd name="T58" fmla="+- 0 -497 -562"/>
                  <a:gd name="T59" fmla="*/ -497 h 12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27">
                    <a:moveTo>
                      <a:pt x="0" y="65"/>
                    </a:moveTo>
                    <a:lnTo>
                      <a:pt x="7" y="91"/>
                    </a:lnTo>
                    <a:lnTo>
                      <a:pt x="27" y="115"/>
                    </a:lnTo>
                    <a:lnTo>
                      <a:pt x="53" y="127"/>
                    </a:lnTo>
                    <a:lnTo>
                      <a:pt x="82" y="127"/>
                    </a:lnTo>
                    <a:lnTo>
                      <a:pt x="106" y="115"/>
                    </a:lnTo>
                    <a:lnTo>
                      <a:pt x="125" y="91"/>
                    </a:lnTo>
                    <a:lnTo>
                      <a:pt x="132" y="65"/>
                    </a:lnTo>
                    <a:lnTo>
                      <a:pt x="125" y="36"/>
                    </a:lnTo>
                    <a:lnTo>
                      <a:pt x="106" y="14"/>
                    </a:lnTo>
                    <a:lnTo>
                      <a:pt x="82" y="0"/>
                    </a:lnTo>
                    <a:lnTo>
                      <a:pt x="53" y="0"/>
                    </a:lnTo>
                    <a:lnTo>
                      <a:pt x="27" y="14"/>
                    </a:lnTo>
                    <a:lnTo>
                      <a:pt x="7" y="36"/>
                    </a:lnTo>
                    <a:lnTo>
                      <a:pt x="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9"/>
              <p:cNvSpPr>
                <a:spLocks/>
              </p:cNvSpPr>
              <p:nvPr/>
            </p:nvSpPr>
            <p:spPr bwMode="auto">
              <a:xfrm>
                <a:off x="6283" y="-562"/>
                <a:ext cx="132" cy="127"/>
              </a:xfrm>
              <a:custGeom>
                <a:avLst/>
                <a:gdLst>
                  <a:gd name="T0" fmla="+- 0 6283 6283"/>
                  <a:gd name="T1" fmla="*/ T0 w 132"/>
                  <a:gd name="T2" fmla="+- 0 -497 -562"/>
                  <a:gd name="T3" fmla="*/ -497 h 127"/>
                  <a:gd name="T4" fmla="+- 0 6290 6283"/>
                  <a:gd name="T5" fmla="*/ T4 w 132"/>
                  <a:gd name="T6" fmla="+- 0 -526 -562"/>
                  <a:gd name="T7" fmla="*/ -526 h 127"/>
                  <a:gd name="T8" fmla="+- 0 6310 6283"/>
                  <a:gd name="T9" fmla="*/ T8 w 132"/>
                  <a:gd name="T10" fmla="+- 0 -548 -562"/>
                  <a:gd name="T11" fmla="*/ -548 h 127"/>
                  <a:gd name="T12" fmla="+- 0 6336 6283"/>
                  <a:gd name="T13" fmla="*/ T12 w 132"/>
                  <a:gd name="T14" fmla="+- 0 -562 -562"/>
                  <a:gd name="T15" fmla="*/ -562 h 127"/>
                  <a:gd name="T16" fmla="+- 0 6365 6283"/>
                  <a:gd name="T17" fmla="*/ T16 w 132"/>
                  <a:gd name="T18" fmla="+- 0 -562 -562"/>
                  <a:gd name="T19" fmla="*/ -562 h 127"/>
                  <a:gd name="T20" fmla="+- 0 6389 6283"/>
                  <a:gd name="T21" fmla="*/ T20 w 132"/>
                  <a:gd name="T22" fmla="+- 0 -548 -562"/>
                  <a:gd name="T23" fmla="*/ -548 h 127"/>
                  <a:gd name="T24" fmla="+- 0 6408 6283"/>
                  <a:gd name="T25" fmla="*/ T24 w 132"/>
                  <a:gd name="T26" fmla="+- 0 -526 -562"/>
                  <a:gd name="T27" fmla="*/ -526 h 127"/>
                  <a:gd name="T28" fmla="+- 0 6415 6283"/>
                  <a:gd name="T29" fmla="*/ T28 w 132"/>
                  <a:gd name="T30" fmla="+- 0 -497 -562"/>
                  <a:gd name="T31" fmla="*/ -497 h 127"/>
                  <a:gd name="T32" fmla="+- 0 6408 6283"/>
                  <a:gd name="T33" fmla="*/ T32 w 132"/>
                  <a:gd name="T34" fmla="+- 0 -471 -562"/>
                  <a:gd name="T35" fmla="*/ -471 h 127"/>
                  <a:gd name="T36" fmla="+- 0 6389 6283"/>
                  <a:gd name="T37" fmla="*/ T36 w 132"/>
                  <a:gd name="T38" fmla="+- 0 -447 -562"/>
                  <a:gd name="T39" fmla="*/ -447 h 127"/>
                  <a:gd name="T40" fmla="+- 0 6365 6283"/>
                  <a:gd name="T41" fmla="*/ T40 w 132"/>
                  <a:gd name="T42" fmla="+- 0 -435 -562"/>
                  <a:gd name="T43" fmla="*/ -435 h 127"/>
                  <a:gd name="T44" fmla="+- 0 6336 6283"/>
                  <a:gd name="T45" fmla="*/ T44 w 132"/>
                  <a:gd name="T46" fmla="+- 0 -435 -562"/>
                  <a:gd name="T47" fmla="*/ -435 h 127"/>
                  <a:gd name="T48" fmla="+- 0 6310 6283"/>
                  <a:gd name="T49" fmla="*/ T48 w 132"/>
                  <a:gd name="T50" fmla="+- 0 -447 -562"/>
                  <a:gd name="T51" fmla="*/ -447 h 127"/>
                  <a:gd name="T52" fmla="+- 0 6290 6283"/>
                  <a:gd name="T53" fmla="*/ T52 w 132"/>
                  <a:gd name="T54" fmla="+- 0 -471 -562"/>
                  <a:gd name="T55" fmla="*/ -471 h 127"/>
                  <a:gd name="T56" fmla="+- 0 6283 6283"/>
                  <a:gd name="T57" fmla="*/ T56 w 132"/>
                  <a:gd name="T58" fmla="+- 0 -497 -562"/>
                  <a:gd name="T59" fmla="*/ -497 h 12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27">
                    <a:moveTo>
                      <a:pt x="0" y="65"/>
                    </a:moveTo>
                    <a:lnTo>
                      <a:pt x="7" y="36"/>
                    </a:lnTo>
                    <a:lnTo>
                      <a:pt x="27" y="14"/>
                    </a:lnTo>
                    <a:lnTo>
                      <a:pt x="53" y="0"/>
                    </a:lnTo>
                    <a:lnTo>
                      <a:pt x="82" y="0"/>
                    </a:lnTo>
                    <a:lnTo>
                      <a:pt x="106" y="14"/>
                    </a:lnTo>
                    <a:lnTo>
                      <a:pt x="125" y="36"/>
                    </a:lnTo>
                    <a:lnTo>
                      <a:pt x="132" y="65"/>
                    </a:lnTo>
                    <a:lnTo>
                      <a:pt x="125" y="91"/>
                    </a:lnTo>
                    <a:lnTo>
                      <a:pt x="106" y="115"/>
                    </a:lnTo>
                    <a:lnTo>
                      <a:pt x="82" y="127"/>
                    </a:lnTo>
                    <a:lnTo>
                      <a:pt x="53" y="127"/>
                    </a:lnTo>
                    <a:lnTo>
                      <a:pt x="27" y="115"/>
                    </a:lnTo>
                    <a:lnTo>
                      <a:pt x="7" y="91"/>
                    </a:lnTo>
                    <a:lnTo>
                      <a:pt x="0" y="65"/>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Freeform 5"/>
              <p:cNvSpPr>
                <a:spLocks/>
              </p:cNvSpPr>
              <p:nvPr/>
            </p:nvSpPr>
            <p:spPr bwMode="auto">
              <a:xfrm>
                <a:off x="7651" y="-2014"/>
                <a:ext cx="141" cy="816"/>
              </a:xfrm>
              <a:custGeom>
                <a:avLst/>
                <a:gdLst>
                  <a:gd name="T0" fmla="+- 0 -2014 -2014"/>
                  <a:gd name="T1" fmla="*/ -2014 h 305"/>
                  <a:gd name="T2" fmla="+- 0 -1709 -2014"/>
                  <a:gd name="T3" fmla="*/ -1709 h 305"/>
                </a:gdLst>
                <a:ahLst/>
                <a:cxnLst>
                  <a:cxn ang="0">
                    <a:pos x="0" y="T1"/>
                  </a:cxn>
                  <a:cxn ang="0">
                    <a:pos x="0" y="T3"/>
                  </a:cxn>
                </a:cxnLst>
                <a:rect l="0" t="0" r="r" b="b"/>
                <a:pathLst>
                  <a:path h="305">
                    <a:moveTo>
                      <a:pt x="0" y="0"/>
                    </a:moveTo>
                    <a:lnTo>
                      <a:pt x="0" y="305"/>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2" name="Freeform 3"/>
              <p:cNvSpPr>
                <a:spLocks/>
              </p:cNvSpPr>
              <p:nvPr/>
            </p:nvSpPr>
            <p:spPr bwMode="auto">
              <a:xfrm>
                <a:off x="6283" y="-780"/>
                <a:ext cx="132" cy="130"/>
              </a:xfrm>
              <a:custGeom>
                <a:avLst/>
                <a:gdLst>
                  <a:gd name="T0" fmla="+- 0 6283 6283"/>
                  <a:gd name="T1" fmla="*/ T0 w 132"/>
                  <a:gd name="T2" fmla="+- 0 -713 -780"/>
                  <a:gd name="T3" fmla="*/ -713 h 130"/>
                  <a:gd name="T4" fmla="+- 0 6290 6283"/>
                  <a:gd name="T5" fmla="*/ T4 w 132"/>
                  <a:gd name="T6" fmla="+- 0 -687 -780"/>
                  <a:gd name="T7" fmla="*/ -687 h 130"/>
                  <a:gd name="T8" fmla="+- 0 6310 6283"/>
                  <a:gd name="T9" fmla="*/ T8 w 132"/>
                  <a:gd name="T10" fmla="+- 0 -663 -780"/>
                  <a:gd name="T11" fmla="*/ -663 h 130"/>
                  <a:gd name="T12" fmla="+- 0 6336 6283"/>
                  <a:gd name="T13" fmla="*/ T12 w 132"/>
                  <a:gd name="T14" fmla="+- 0 -651 -780"/>
                  <a:gd name="T15" fmla="*/ -651 h 130"/>
                  <a:gd name="T16" fmla="+- 0 6365 6283"/>
                  <a:gd name="T17" fmla="*/ T16 w 132"/>
                  <a:gd name="T18" fmla="+- 0 -651 -780"/>
                  <a:gd name="T19" fmla="*/ -651 h 130"/>
                  <a:gd name="T20" fmla="+- 0 6389 6283"/>
                  <a:gd name="T21" fmla="*/ T20 w 132"/>
                  <a:gd name="T22" fmla="+- 0 -663 -780"/>
                  <a:gd name="T23" fmla="*/ -663 h 130"/>
                  <a:gd name="T24" fmla="+- 0 6408 6283"/>
                  <a:gd name="T25" fmla="*/ T24 w 132"/>
                  <a:gd name="T26" fmla="+- 0 -687 -780"/>
                  <a:gd name="T27" fmla="*/ -687 h 130"/>
                  <a:gd name="T28" fmla="+- 0 6415 6283"/>
                  <a:gd name="T29" fmla="*/ T28 w 132"/>
                  <a:gd name="T30" fmla="+- 0 -713 -780"/>
                  <a:gd name="T31" fmla="*/ -713 h 130"/>
                  <a:gd name="T32" fmla="+- 0 6408 6283"/>
                  <a:gd name="T33" fmla="*/ T32 w 132"/>
                  <a:gd name="T34" fmla="+- 0 -742 -780"/>
                  <a:gd name="T35" fmla="*/ -742 h 130"/>
                  <a:gd name="T36" fmla="+- 0 6389 6283"/>
                  <a:gd name="T37" fmla="*/ T36 w 132"/>
                  <a:gd name="T38" fmla="+- 0 -764 -780"/>
                  <a:gd name="T39" fmla="*/ -764 h 130"/>
                  <a:gd name="T40" fmla="+- 0 6365 6283"/>
                  <a:gd name="T41" fmla="*/ T40 w 132"/>
                  <a:gd name="T42" fmla="+- 0 -780 -780"/>
                  <a:gd name="T43" fmla="*/ -780 h 130"/>
                  <a:gd name="T44" fmla="+- 0 6336 6283"/>
                  <a:gd name="T45" fmla="*/ T44 w 132"/>
                  <a:gd name="T46" fmla="+- 0 -780 -780"/>
                  <a:gd name="T47" fmla="*/ -780 h 130"/>
                  <a:gd name="T48" fmla="+- 0 6310 6283"/>
                  <a:gd name="T49" fmla="*/ T48 w 132"/>
                  <a:gd name="T50" fmla="+- 0 -764 -780"/>
                  <a:gd name="T51" fmla="*/ -764 h 130"/>
                  <a:gd name="T52" fmla="+- 0 6290 6283"/>
                  <a:gd name="T53" fmla="*/ T52 w 132"/>
                  <a:gd name="T54" fmla="+- 0 -742 -780"/>
                  <a:gd name="T55" fmla="*/ -742 h 130"/>
                  <a:gd name="T56" fmla="+- 0 6283 6283"/>
                  <a:gd name="T57" fmla="*/ T56 w 132"/>
                  <a:gd name="T58" fmla="+- 0 -713 -780"/>
                  <a:gd name="T59" fmla="*/ -713 h 13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30">
                    <a:moveTo>
                      <a:pt x="0" y="67"/>
                    </a:moveTo>
                    <a:lnTo>
                      <a:pt x="7" y="93"/>
                    </a:lnTo>
                    <a:lnTo>
                      <a:pt x="27" y="117"/>
                    </a:lnTo>
                    <a:lnTo>
                      <a:pt x="53" y="129"/>
                    </a:lnTo>
                    <a:lnTo>
                      <a:pt x="82" y="129"/>
                    </a:lnTo>
                    <a:lnTo>
                      <a:pt x="106" y="117"/>
                    </a:lnTo>
                    <a:lnTo>
                      <a:pt x="125" y="93"/>
                    </a:lnTo>
                    <a:lnTo>
                      <a:pt x="132" y="67"/>
                    </a:lnTo>
                    <a:lnTo>
                      <a:pt x="125" y="38"/>
                    </a:lnTo>
                    <a:lnTo>
                      <a:pt x="106" y="16"/>
                    </a:lnTo>
                    <a:lnTo>
                      <a:pt x="82" y="0"/>
                    </a:lnTo>
                    <a:lnTo>
                      <a:pt x="53" y="0"/>
                    </a:lnTo>
                    <a:lnTo>
                      <a:pt x="27" y="16"/>
                    </a:lnTo>
                    <a:lnTo>
                      <a:pt x="7" y="38"/>
                    </a:lnTo>
                    <a:lnTo>
                      <a:pt x="0"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
              <p:cNvSpPr>
                <a:spLocks/>
              </p:cNvSpPr>
              <p:nvPr/>
            </p:nvSpPr>
            <p:spPr bwMode="auto">
              <a:xfrm>
                <a:off x="6283" y="-780"/>
                <a:ext cx="132" cy="130"/>
              </a:xfrm>
              <a:custGeom>
                <a:avLst/>
                <a:gdLst>
                  <a:gd name="T0" fmla="+- 0 6283 6283"/>
                  <a:gd name="T1" fmla="*/ T0 w 132"/>
                  <a:gd name="T2" fmla="+- 0 -713 -780"/>
                  <a:gd name="T3" fmla="*/ -713 h 130"/>
                  <a:gd name="T4" fmla="+- 0 6290 6283"/>
                  <a:gd name="T5" fmla="*/ T4 w 132"/>
                  <a:gd name="T6" fmla="+- 0 -742 -780"/>
                  <a:gd name="T7" fmla="*/ -742 h 130"/>
                  <a:gd name="T8" fmla="+- 0 6310 6283"/>
                  <a:gd name="T9" fmla="*/ T8 w 132"/>
                  <a:gd name="T10" fmla="+- 0 -764 -780"/>
                  <a:gd name="T11" fmla="*/ -764 h 130"/>
                  <a:gd name="T12" fmla="+- 0 6336 6283"/>
                  <a:gd name="T13" fmla="*/ T12 w 132"/>
                  <a:gd name="T14" fmla="+- 0 -780 -780"/>
                  <a:gd name="T15" fmla="*/ -780 h 130"/>
                  <a:gd name="T16" fmla="+- 0 6365 6283"/>
                  <a:gd name="T17" fmla="*/ T16 w 132"/>
                  <a:gd name="T18" fmla="+- 0 -780 -780"/>
                  <a:gd name="T19" fmla="*/ -780 h 130"/>
                  <a:gd name="T20" fmla="+- 0 6389 6283"/>
                  <a:gd name="T21" fmla="*/ T20 w 132"/>
                  <a:gd name="T22" fmla="+- 0 -764 -780"/>
                  <a:gd name="T23" fmla="*/ -764 h 130"/>
                  <a:gd name="T24" fmla="+- 0 6408 6283"/>
                  <a:gd name="T25" fmla="*/ T24 w 132"/>
                  <a:gd name="T26" fmla="+- 0 -742 -780"/>
                  <a:gd name="T27" fmla="*/ -742 h 130"/>
                  <a:gd name="T28" fmla="+- 0 6415 6283"/>
                  <a:gd name="T29" fmla="*/ T28 w 132"/>
                  <a:gd name="T30" fmla="+- 0 -713 -780"/>
                  <a:gd name="T31" fmla="*/ -713 h 130"/>
                  <a:gd name="T32" fmla="+- 0 6408 6283"/>
                  <a:gd name="T33" fmla="*/ T32 w 132"/>
                  <a:gd name="T34" fmla="+- 0 -687 -780"/>
                  <a:gd name="T35" fmla="*/ -687 h 130"/>
                  <a:gd name="T36" fmla="+- 0 6389 6283"/>
                  <a:gd name="T37" fmla="*/ T36 w 132"/>
                  <a:gd name="T38" fmla="+- 0 -663 -780"/>
                  <a:gd name="T39" fmla="*/ -663 h 130"/>
                  <a:gd name="T40" fmla="+- 0 6365 6283"/>
                  <a:gd name="T41" fmla="*/ T40 w 132"/>
                  <a:gd name="T42" fmla="+- 0 -651 -780"/>
                  <a:gd name="T43" fmla="*/ -651 h 130"/>
                  <a:gd name="T44" fmla="+- 0 6336 6283"/>
                  <a:gd name="T45" fmla="*/ T44 w 132"/>
                  <a:gd name="T46" fmla="+- 0 -651 -780"/>
                  <a:gd name="T47" fmla="*/ -651 h 130"/>
                  <a:gd name="T48" fmla="+- 0 6310 6283"/>
                  <a:gd name="T49" fmla="*/ T48 w 132"/>
                  <a:gd name="T50" fmla="+- 0 -663 -780"/>
                  <a:gd name="T51" fmla="*/ -663 h 130"/>
                  <a:gd name="T52" fmla="+- 0 6290 6283"/>
                  <a:gd name="T53" fmla="*/ T52 w 132"/>
                  <a:gd name="T54" fmla="+- 0 -687 -780"/>
                  <a:gd name="T55" fmla="*/ -687 h 130"/>
                  <a:gd name="T56" fmla="+- 0 6283 6283"/>
                  <a:gd name="T57" fmla="*/ T56 w 132"/>
                  <a:gd name="T58" fmla="+- 0 -713 -780"/>
                  <a:gd name="T59" fmla="*/ -713 h 13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30">
                    <a:moveTo>
                      <a:pt x="0" y="67"/>
                    </a:moveTo>
                    <a:lnTo>
                      <a:pt x="7" y="38"/>
                    </a:lnTo>
                    <a:lnTo>
                      <a:pt x="27" y="16"/>
                    </a:lnTo>
                    <a:lnTo>
                      <a:pt x="53" y="0"/>
                    </a:lnTo>
                    <a:lnTo>
                      <a:pt x="82" y="0"/>
                    </a:lnTo>
                    <a:lnTo>
                      <a:pt x="106" y="16"/>
                    </a:lnTo>
                    <a:lnTo>
                      <a:pt x="125" y="38"/>
                    </a:lnTo>
                    <a:lnTo>
                      <a:pt x="132" y="67"/>
                    </a:lnTo>
                    <a:lnTo>
                      <a:pt x="125" y="93"/>
                    </a:lnTo>
                    <a:lnTo>
                      <a:pt x="106" y="117"/>
                    </a:lnTo>
                    <a:lnTo>
                      <a:pt x="82" y="129"/>
                    </a:lnTo>
                    <a:lnTo>
                      <a:pt x="53" y="129"/>
                    </a:lnTo>
                    <a:lnTo>
                      <a:pt x="27" y="117"/>
                    </a:lnTo>
                    <a:lnTo>
                      <a:pt x="7" y="93"/>
                    </a:lnTo>
                    <a:lnTo>
                      <a:pt x="0" y="67"/>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p:cNvSpPr>
                <a:spLocks/>
              </p:cNvSpPr>
              <p:nvPr/>
            </p:nvSpPr>
            <p:spPr bwMode="auto">
              <a:xfrm>
                <a:off x="7454" y="816"/>
                <a:ext cx="432" cy="0"/>
              </a:xfrm>
              <a:custGeom>
                <a:avLst/>
                <a:gdLst>
                  <a:gd name="T0" fmla="+- 0 6134 6134"/>
                  <a:gd name="T1" fmla="*/ T0 w 432"/>
                  <a:gd name="T2" fmla="+- 0 6566 6134"/>
                  <a:gd name="T3" fmla="*/ T2 w 432"/>
                </a:gdLst>
                <a:ahLst/>
                <a:cxnLst>
                  <a:cxn ang="0">
                    <a:pos x="T1" y="0"/>
                  </a:cxn>
                  <a:cxn ang="0">
                    <a:pos x="T3" y="0"/>
                  </a:cxn>
                </a:cxnLst>
                <a:rect l="0" t="0" r="r" b="b"/>
                <a:pathLst>
                  <a:path w="432">
                    <a:moveTo>
                      <a:pt x="0" y="0"/>
                    </a:moveTo>
                    <a:lnTo>
                      <a:pt x="432"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16"/>
              <p:cNvSpPr>
                <a:spLocks/>
              </p:cNvSpPr>
              <p:nvPr/>
            </p:nvSpPr>
            <p:spPr bwMode="auto">
              <a:xfrm>
                <a:off x="7461" y="-498"/>
                <a:ext cx="432" cy="0"/>
              </a:xfrm>
              <a:custGeom>
                <a:avLst/>
                <a:gdLst>
                  <a:gd name="T0" fmla="+- 0 6134 6134"/>
                  <a:gd name="T1" fmla="*/ T0 w 432"/>
                  <a:gd name="T2" fmla="+- 0 6566 6134"/>
                  <a:gd name="T3" fmla="*/ T2 w 432"/>
                </a:gdLst>
                <a:ahLst/>
                <a:cxnLst>
                  <a:cxn ang="0">
                    <a:pos x="T1" y="0"/>
                  </a:cxn>
                  <a:cxn ang="0">
                    <a:pos x="T3" y="0"/>
                  </a:cxn>
                </a:cxnLst>
                <a:rect l="0" t="0" r="r" b="b"/>
                <a:pathLst>
                  <a:path w="432">
                    <a:moveTo>
                      <a:pt x="0" y="0"/>
                    </a:moveTo>
                    <a:lnTo>
                      <a:pt x="432"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75" name="TextBox 74"/>
            <p:cNvSpPr txBox="1"/>
            <p:nvPr/>
          </p:nvSpPr>
          <p:spPr>
            <a:xfrm>
              <a:off x="7805196" y="2545383"/>
              <a:ext cx="926857" cy="369332"/>
            </a:xfrm>
            <a:prstGeom prst="rect">
              <a:avLst/>
            </a:prstGeom>
            <a:noFill/>
          </p:spPr>
          <p:txBody>
            <a:bodyPr wrap="none" rtlCol="0">
              <a:spAutoFit/>
            </a:bodyPr>
            <a:lstStyle/>
            <a:p>
              <a:r>
                <a:rPr lang="en-US" smtClean="0"/>
                <a:t>P(</a:t>
              </a:r>
              <a:r>
                <a:rPr lang="en-US" smtClean="0">
                  <a:latin typeface="Arial" panose="020B0604020202020204" pitchFamily="34" charset="0"/>
                  <a:cs typeface="Arial" panose="020B0604020202020204" pitchFamily="34" charset="0"/>
                </a:rPr>
                <a:t>x</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,y</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a:t>
              </a:r>
              <a:endParaRPr lang="en-US"/>
            </a:p>
          </p:txBody>
        </p:sp>
        <p:sp>
          <p:nvSpPr>
            <p:cNvPr id="76" name="TextBox 75"/>
            <p:cNvSpPr txBox="1"/>
            <p:nvPr/>
          </p:nvSpPr>
          <p:spPr>
            <a:xfrm>
              <a:off x="9159227" y="2643998"/>
              <a:ext cx="311304" cy="369332"/>
            </a:xfrm>
            <a:prstGeom prst="rect">
              <a:avLst/>
            </a:prstGeom>
            <a:noFill/>
          </p:spPr>
          <p:txBody>
            <a:bodyPr wrap="none" rtlCol="0">
              <a:spAutoFit/>
            </a:bodyPr>
            <a:lstStyle/>
            <a:p>
              <a:r>
                <a:rPr lang="en-US"/>
                <a:t>E</a:t>
              </a:r>
            </a:p>
          </p:txBody>
        </p:sp>
        <p:sp>
          <p:nvSpPr>
            <p:cNvPr id="77" name="TextBox 76"/>
            <p:cNvSpPr txBox="1"/>
            <p:nvPr/>
          </p:nvSpPr>
          <p:spPr>
            <a:xfrm>
              <a:off x="9192332" y="3986348"/>
              <a:ext cx="437940" cy="369332"/>
            </a:xfrm>
            <a:prstGeom prst="rect">
              <a:avLst/>
            </a:prstGeom>
            <a:noFill/>
          </p:spPr>
          <p:txBody>
            <a:bodyPr wrap="none" rtlCol="0">
              <a:spAutoFit/>
            </a:bodyPr>
            <a:lstStyle/>
            <a:p>
              <a:r>
                <a:rPr lang="en-US" smtClean="0"/>
                <a:t>SE</a:t>
              </a:r>
              <a:endParaRPr lang="en-US"/>
            </a:p>
          </p:txBody>
        </p:sp>
        <p:sp>
          <p:nvSpPr>
            <p:cNvPr id="78" name="TextBox 77"/>
            <p:cNvSpPr txBox="1"/>
            <p:nvPr/>
          </p:nvSpPr>
          <p:spPr>
            <a:xfrm>
              <a:off x="8755553" y="3363613"/>
              <a:ext cx="373820" cy="369332"/>
            </a:xfrm>
            <a:prstGeom prst="rect">
              <a:avLst/>
            </a:prstGeom>
            <a:noFill/>
          </p:spPr>
          <p:txBody>
            <a:bodyPr wrap="none" rtlCol="0">
              <a:spAutoFit/>
            </a:bodyPr>
            <a:lstStyle/>
            <a:p>
              <a:r>
                <a:rPr lang="en-US" smtClean="0"/>
                <a:t>M</a:t>
              </a:r>
              <a:endParaRPr lang="en-US"/>
            </a:p>
          </p:txBody>
        </p:sp>
        <p:sp>
          <p:nvSpPr>
            <p:cNvPr id="81" name="TextBox 80"/>
            <p:cNvSpPr txBox="1"/>
            <p:nvPr/>
          </p:nvSpPr>
          <p:spPr>
            <a:xfrm>
              <a:off x="10167860" y="3285181"/>
              <a:ext cx="458780" cy="369332"/>
            </a:xfrm>
            <a:prstGeom prst="rect">
              <a:avLst/>
            </a:prstGeom>
            <a:noFill/>
          </p:spPr>
          <p:txBody>
            <a:bodyPr wrap="none" rtlCol="0">
              <a:spAutoFit/>
            </a:bodyPr>
            <a:lstStyle/>
            <a:p>
              <a:r>
                <a:rPr lang="en-US" smtClean="0"/>
                <a:t>M</a:t>
              </a:r>
              <a:r>
                <a:rPr lang="en-US" baseline="-25000" smtClean="0"/>
                <a:t>E</a:t>
              </a:r>
              <a:endParaRPr lang="en-US"/>
            </a:p>
          </p:txBody>
        </p:sp>
        <p:sp>
          <p:nvSpPr>
            <p:cNvPr id="82" name="TextBox 81"/>
            <p:cNvSpPr txBox="1"/>
            <p:nvPr/>
          </p:nvSpPr>
          <p:spPr>
            <a:xfrm>
              <a:off x="9960712" y="4272034"/>
              <a:ext cx="543739" cy="369332"/>
            </a:xfrm>
            <a:prstGeom prst="rect">
              <a:avLst/>
            </a:prstGeom>
            <a:noFill/>
          </p:spPr>
          <p:txBody>
            <a:bodyPr wrap="none" rtlCol="0">
              <a:spAutoFit/>
            </a:bodyPr>
            <a:lstStyle/>
            <a:p>
              <a:r>
                <a:rPr lang="en-US" smtClean="0"/>
                <a:t>M</a:t>
              </a:r>
              <a:r>
                <a:rPr lang="en-US" baseline="-25000" smtClean="0"/>
                <a:t>SE</a:t>
              </a:r>
              <a:endParaRPr lang="en-US"/>
            </a:p>
          </p:txBody>
        </p:sp>
      </p:grpSp>
    </p:spTree>
    <p:extLst>
      <p:ext uri="{BB962C8B-B14F-4D97-AF65-F5344CB8AC3E}">
        <p14:creationId xmlns:p14="http://schemas.microsoft.com/office/powerpoint/2010/main" val="1004273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4978" y="148616"/>
            <a:ext cx="10018713" cy="1752599"/>
          </a:xfrm>
        </p:spPr>
        <p:txBody>
          <a:bodyPr/>
          <a:lstStyle/>
          <a:p>
            <a:r>
              <a:rPr lang="en-US" smtClean="0"/>
              <a:t>Thuật toán Midpoint</a:t>
            </a:r>
            <a:endParaRPr lang="en-US"/>
          </a:p>
        </p:txBody>
      </p:sp>
      <p:sp>
        <p:nvSpPr>
          <p:cNvPr id="3" name="Content Placeholder 2"/>
          <p:cNvSpPr>
            <a:spLocks noGrp="1"/>
          </p:cNvSpPr>
          <p:nvPr>
            <p:ph idx="1"/>
          </p:nvPr>
        </p:nvSpPr>
        <p:spPr>
          <a:xfrm>
            <a:off x="1584977" y="2528546"/>
            <a:ext cx="6205639" cy="3124201"/>
          </a:xfrm>
        </p:spPr>
        <p:txBody>
          <a:bodyPr>
            <a:noAutofit/>
          </a:bodyPr>
          <a:lstStyle/>
          <a:p>
            <a:r>
              <a:rPr lang="en-US" smtClean="0">
                <a:latin typeface="Arial" panose="020B0604020202020204" pitchFamily="34" charset="0"/>
                <a:cs typeface="Arial" panose="020B0604020202020204" pitchFamily="34" charset="0"/>
              </a:rPr>
              <a:t>Điểm ban đầu (0,r), M(1,r-1/2)</a:t>
            </a:r>
          </a:p>
          <a:p>
            <a:pPr lvl="1"/>
            <a:r>
              <a:rPr lang="en-US" smtClean="0">
                <a:latin typeface="Arial" panose="020B0604020202020204" pitchFamily="34" charset="0"/>
                <a:cs typeface="Arial" panose="020B0604020202020204" pitchFamily="34" charset="0"/>
              </a:rPr>
              <a:t>p</a:t>
            </a:r>
            <a:r>
              <a:rPr lang="en-US" baseline="-25000" smtClean="0">
                <a:latin typeface="Arial" panose="020B0604020202020204" pitchFamily="34" charset="0"/>
                <a:cs typeface="Arial" panose="020B0604020202020204" pitchFamily="34" charset="0"/>
              </a:rPr>
              <a:t>1</a:t>
            </a:r>
            <a:r>
              <a:rPr lang="en-US" smtClean="0">
                <a:latin typeface="Arial" panose="020B0604020202020204" pitchFamily="34" charset="0"/>
                <a:cs typeface="Arial" panose="020B0604020202020204" pitchFamily="34" charset="0"/>
              </a:rPr>
              <a:t> = 1</a:t>
            </a:r>
            <a:r>
              <a:rPr lang="en-US" baseline="30000" smtClean="0">
                <a:latin typeface="Arial" panose="020B0604020202020204" pitchFamily="34" charset="0"/>
                <a:cs typeface="Arial" panose="020B0604020202020204" pitchFamily="34" charset="0"/>
              </a:rPr>
              <a:t>2</a:t>
            </a:r>
            <a:r>
              <a:rPr lang="en-US" smtClean="0">
                <a:latin typeface="Arial" panose="020B0604020202020204" pitchFamily="34" charset="0"/>
                <a:cs typeface="Arial" panose="020B0604020202020204" pitchFamily="34" charset="0"/>
              </a:rPr>
              <a:t>+(r-1/2)</a:t>
            </a:r>
            <a:r>
              <a:rPr lang="en-US" baseline="30000" smtClean="0">
                <a:latin typeface="Arial" panose="020B0604020202020204" pitchFamily="34" charset="0"/>
                <a:cs typeface="Arial" panose="020B0604020202020204" pitchFamily="34" charset="0"/>
              </a:rPr>
              <a:t>2</a:t>
            </a:r>
            <a:r>
              <a:rPr lang="en-US" smtClean="0">
                <a:latin typeface="Arial" panose="020B0604020202020204" pitchFamily="34" charset="0"/>
                <a:cs typeface="Arial" panose="020B0604020202020204" pitchFamily="34" charset="0"/>
              </a:rPr>
              <a:t>-r</a:t>
            </a:r>
            <a:r>
              <a:rPr lang="en-US" baseline="30000" smtClean="0">
                <a:latin typeface="Arial" panose="020B0604020202020204" pitchFamily="34" charset="0"/>
                <a:cs typeface="Arial" panose="020B0604020202020204" pitchFamily="34" charset="0"/>
              </a:rPr>
              <a:t>2</a:t>
            </a:r>
            <a:endParaRPr lang="en-US" smtClean="0">
              <a:latin typeface="Arial" panose="020B0604020202020204" pitchFamily="34" charset="0"/>
              <a:cs typeface="Arial" panose="020B0604020202020204" pitchFamily="34" charset="0"/>
            </a:endParaRPr>
          </a:p>
          <a:p>
            <a:pPr lvl="1"/>
            <a:r>
              <a:rPr lang="en-US" smtClean="0">
                <a:latin typeface="Arial" panose="020B0604020202020204" pitchFamily="34" charset="0"/>
                <a:cs typeface="Arial" panose="020B0604020202020204" pitchFamily="34" charset="0"/>
              </a:rPr>
              <a:t>p</a:t>
            </a:r>
            <a:r>
              <a:rPr lang="en-US" baseline="-25000" smtClean="0">
                <a:latin typeface="Arial" panose="020B0604020202020204" pitchFamily="34" charset="0"/>
                <a:cs typeface="Arial" panose="020B0604020202020204" pitchFamily="34" charset="0"/>
              </a:rPr>
              <a:t>1</a:t>
            </a:r>
            <a:r>
              <a:rPr lang="en-US" smtClean="0">
                <a:latin typeface="Arial" panose="020B0604020202020204" pitchFamily="34" charset="0"/>
                <a:cs typeface="Arial" panose="020B0604020202020204" pitchFamily="34" charset="0"/>
              </a:rPr>
              <a:t> = 5/4 - r</a:t>
            </a: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EAC668D0-FFF1-47C5-8061-FF1B22C34E7B}" type="slidenum">
              <a:rPr lang="en-US" smtClean="0"/>
              <a:t>34</a:t>
            </a:fld>
            <a:endParaRPr lang="en-US"/>
          </a:p>
        </p:txBody>
      </p:sp>
      <p:grpSp>
        <p:nvGrpSpPr>
          <p:cNvPr id="83" name="Group 82"/>
          <p:cNvGrpSpPr/>
          <p:nvPr/>
        </p:nvGrpSpPr>
        <p:grpSpPr>
          <a:xfrm>
            <a:off x="7805196" y="2545383"/>
            <a:ext cx="2821444" cy="2748277"/>
            <a:chOff x="7805196" y="2545383"/>
            <a:chExt cx="2821444" cy="2748277"/>
          </a:xfrm>
        </p:grpSpPr>
        <p:grpSp>
          <p:nvGrpSpPr>
            <p:cNvPr id="18" name="Group 1"/>
            <p:cNvGrpSpPr>
              <a:grpSpLocks/>
            </p:cNvGrpSpPr>
            <p:nvPr/>
          </p:nvGrpSpPr>
          <p:grpSpPr bwMode="auto">
            <a:xfrm>
              <a:off x="7805196" y="2545383"/>
              <a:ext cx="2747014" cy="2748277"/>
              <a:chOff x="4188" y="-2014"/>
              <a:chExt cx="4327" cy="4327"/>
            </a:xfrm>
          </p:grpSpPr>
          <p:sp>
            <p:nvSpPr>
              <p:cNvPr id="19" name="Freeform 29"/>
              <p:cNvSpPr>
                <a:spLocks/>
              </p:cNvSpPr>
              <p:nvPr/>
            </p:nvSpPr>
            <p:spPr bwMode="auto">
              <a:xfrm>
                <a:off x="5052" y="-2014"/>
                <a:ext cx="0" cy="1711"/>
              </a:xfrm>
              <a:custGeom>
                <a:avLst/>
                <a:gdLst>
                  <a:gd name="T0" fmla="+- 0 -2014 -2014"/>
                  <a:gd name="T1" fmla="*/ -2014 h 1711"/>
                  <a:gd name="T2" fmla="+- 0 -303 -2014"/>
                  <a:gd name="T3" fmla="*/ -303 h 1711"/>
                </a:gdLst>
                <a:ahLst/>
                <a:cxnLst>
                  <a:cxn ang="0">
                    <a:pos x="0" y="T1"/>
                  </a:cxn>
                  <a:cxn ang="0">
                    <a:pos x="0" y="T3"/>
                  </a:cxn>
                </a:cxnLst>
                <a:rect l="0" t="0" r="r" b="b"/>
                <a:pathLst>
                  <a:path h="1711">
                    <a:moveTo>
                      <a:pt x="0" y="0"/>
                    </a:moveTo>
                    <a:lnTo>
                      <a:pt x="0" y="1711"/>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28"/>
              <p:cNvSpPr>
                <a:spLocks/>
              </p:cNvSpPr>
              <p:nvPr/>
            </p:nvSpPr>
            <p:spPr bwMode="auto">
              <a:xfrm>
                <a:off x="4188" y="-1145"/>
                <a:ext cx="4327" cy="0"/>
              </a:xfrm>
              <a:custGeom>
                <a:avLst/>
                <a:gdLst>
                  <a:gd name="T0" fmla="+- 0 4188 4188"/>
                  <a:gd name="T1" fmla="*/ T0 w 4327"/>
                  <a:gd name="T2" fmla="+- 0 8515 4188"/>
                  <a:gd name="T3" fmla="*/ T2 w 4327"/>
                </a:gdLst>
                <a:ahLst/>
                <a:cxnLst>
                  <a:cxn ang="0">
                    <a:pos x="T1" y="0"/>
                  </a:cxn>
                  <a:cxn ang="0">
                    <a:pos x="T3" y="0"/>
                  </a:cxn>
                </a:cxnLst>
                <a:rect l="0" t="0" r="r" b="b"/>
                <a:pathLst>
                  <a:path w="4327">
                    <a:moveTo>
                      <a:pt x="0" y="0"/>
                    </a:moveTo>
                    <a:lnTo>
                      <a:pt x="432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27"/>
              <p:cNvSpPr>
                <a:spLocks/>
              </p:cNvSpPr>
              <p:nvPr/>
            </p:nvSpPr>
            <p:spPr bwMode="auto">
              <a:xfrm flipH="1">
                <a:off x="4992" y="-562"/>
                <a:ext cx="72" cy="2875"/>
              </a:xfrm>
              <a:custGeom>
                <a:avLst/>
                <a:gdLst>
                  <a:gd name="T0" fmla="+- 0 33 33"/>
                  <a:gd name="T1" fmla="*/ 33 h 2280"/>
                  <a:gd name="T2" fmla="+- 0 2313 33"/>
                  <a:gd name="T3" fmla="*/ 2313 h 2280"/>
                </a:gdLst>
                <a:ahLst/>
                <a:cxnLst>
                  <a:cxn ang="0">
                    <a:pos x="0" y="T1"/>
                  </a:cxn>
                  <a:cxn ang="0">
                    <a:pos x="0" y="T3"/>
                  </a:cxn>
                </a:cxnLst>
                <a:rect l="0" t="0" r="r" b="b"/>
                <a:pathLst>
                  <a:path h="2280">
                    <a:moveTo>
                      <a:pt x="0" y="0"/>
                    </a:moveTo>
                    <a:lnTo>
                      <a:pt x="0" y="228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26"/>
              <p:cNvSpPr>
                <a:spLocks/>
              </p:cNvSpPr>
              <p:nvPr/>
            </p:nvSpPr>
            <p:spPr bwMode="auto">
              <a:xfrm>
                <a:off x="4188" y="151"/>
                <a:ext cx="4327" cy="0"/>
              </a:xfrm>
              <a:custGeom>
                <a:avLst/>
                <a:gdLst>
                  <a:gd name="T0" fmla="+- 0 4188 4188"/>
                  <a:gd name="T1" fmla="*/ T0 w 4327"/>
                  <a:gd name="T2" fmla="+- 0 8515 4188"/>
                  <a:gd name="T3" fmla="*/ T2 w 4327"/>
                </a:gdLst>
                <a:ahLst/>
                <a:cxnLst>
                  <a:cxn ang="0">
                    <a:pos x="T1" y="0"/>
                  </a:cxn>
                  <a:cxn ang="0">
                    <a:pos x="T3" y="0"/>
                  </a:cxn>
                </a:cxnLst>
                <a:rect l="0" t="0" r="r" b="b"/>
                <a:pathLst>
                  <a:path w="4327">
                    <a:moveTo>
                      <a:pt x="0" y="0"/>
                    </a:moveTo>
                    <a:lnTo>
                      <a:pt x="432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25"/>
              <p:cNvSpPr>
                <a:spLocks/>
              </p:cNvSpPr>
              <p:nvPr/>
            </p:nvSpPr>
            <p:spPr bwMode="auto">
              <a:xfrm>
                <a:off x="6350" y="-2014"/>
                <a:ext cx="0" cy="4327"/>
              </a:xfrm>
              <a:custGeom>
                <a:avLst/>
                <a:gdLst>
                  <a:gd name="T0" fmla="+- 0 -2014 -2014"/>
                  <a:gd name="T1" fmla="*/ -2014 h 4327"/>
                  <a:gd name="T2" fmla="+- 0 2313 -2014"/>
                  <a:gd name="T3" fmla="*/ 2313 h 4327"/>
                </a:gdLst>
                <a:ahLst/>
                <a:cxnLst>
                  <a:cxn ang="0">
                    <a:pos x="0" y="T1"/>
                  </a:cxn>
                  <a:cxn ang="0">
                    <a:pos x="0" y="T3"/>
                  </a:cxn>
                </a:cxnLst>
                <a:rect l="0" t="0" r="r" b="b"/>
                <a:pathLst>
                  <a:path h="4327">
                    <a:moveTo>
                      <a:pt x="0" y="0"/>
                    </a:moveTo>
                    <a:lnTo>
                      <a:pt x="0" y="4327"/>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24"/>
              <p:cNvSpPr>
                <a:spLocks/>
              </p:cNvSpPr>
              <p:nvPr/>
            </p:nvSpPr>
            <p:spPr bwMode="auto">
              <a:xfrm>
                <a:off x="4188" y="1447"/>
                <a:ext cx="4327" cy="0"/>
              </a:xfrm>
              <a:custGeom>
                <a:avLst/>
                <a:gdLst>
                  <a:gd name="T0" fmla="+- 0 4188 4188"/>
                  <a:gd name="T1" fmla="*/ T0 w 4327"/>
                  <a:gd name="T2" fmla="+- 0 8515 4188"/>
                  <a:gd name="T3" fmla="*/ T2 w 4327"/>
                </a:gdLst>
                <a:ahLst/>
                <a:cxnLst>
                  <a:cxn ang="0">
                    <a:pos x="T1" y="0"/>
                  </a:cxn>
                  <a:cxn ang="0">
                    <a:pos x="T3" y="0"/>
                  </a:cxn>
                </a:cxnLst>
                <a:rect l="0" t="0" r="r" b="b"/>
                <a:pathLst>
                  <a:path w="4327">
                    <a:moveTo>
                      <a:pt x="0" y="0"/>
                    </a:moveTo>
                    <a:lnTo>
                      <a:pt x="432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23"/>
              <p:cNvSpPr>
                <a:spLocks/>
              </p:cNvSpPr>
              <p:nvPr/>
            </p:nvSpPr>
            <p:spPr bwMode="auto">
              <a:xfrm>
                <a:off x="7651" y="-1198"/>
                <a:ext cx="0" cy="3511"/>
              </a:xfrm>
              <a:custGeom>
                <a:avLst/>
                <a:gdLst>
                  <a:gd name="T0" fmla="+- 0 -1198 -1198"/>
                  <a:gd name="T1" fmla="*/ -1198 h 3511"/>
                  <a:gd name="T2" fmla="+- 0 2313 -1198"/>
                  <a:gd name="T3" fmla="*/ 2313 h 3511"/>
                </a:gdLst>
                <a:ahLst/>
                <a:cxnLst>
                  <a:cxn ang="0">
                    <a:pos x="0" y="T1"/>
                  </a:cxn>
                  <a:cxn ang="0">
                    <a:pos x="0" y="T3"/>
                  </a:cxn>
                </a:cxnLst>
                <a:rect l="0" t="0" r="r" b="b"/>
                <a:pathLst>
                  <a:path h="3511">
                    <a:moveTo>
                      <a:pt x="0" y="0"/>
                    </a:moveTo>
                    <a:lnTo>
                      <a:pt x="0" y="3511"/>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Freeform 22"/>
              <p:cNvSpPr>
                <a:spLocks/>
              </p:cNvSpPr>
              <p:nvPr/>
            </p:nvSpPr>
            <p:spPr bwMode="auto">
              <a:xfrm>
                <a:off x="4882" y="-1318"/>
                <a:ext cx="343" cy="341"/>
              </a:xfrm>
              <a:custGeom>
                <a:avLst/>
                <a:gdLst>
                  <a:gd name="T0" fmla="+- 0 4882 4882"/>
                  <a:gd name="T1" fmla="*/ T0 w 343"/>
                  <a:gd name="T2" fmla="+- 0 -1145 -1318"/>
                  <a:gd name="T3" fmla="*/ -1145 h 341"/>
                  <a:gd name="T4" fmla="+- 0 4889 4882"/>
                  <a:gd name="T5" fmla="*/ T4 w 343"/>
                  <a:gd name="T6" fmla="+- 0 -1097 -1318"/>
                  <a:gd name="T7" fmla="*/ -1097 h 341"/>
                  <a:gd name="T8" fmla="+- 0 4906 4882"/>
                  <a:gd name="T9" fmla="*/ T8 w 343"/>
                  <a:gd name="T10" fmla="+- 0 -1054 -1318"/>
                  <a:gd name="T11" fmla="*/ -1054 h 341"/>
                  <a:gd name="T12" fmla="+- 0 4939 4882"/>
                  <a:gd name="T13" fmla="*/ T12 w 343"/>
                  <a:gd name="T14" fmla="+- 0 -1018 -1318"/>
                  <a:gd name="T15" fmla="*/ -1018 h 341"/>
                  <a:gd name="T16" fmla="+- 0 4980 4882"/>
                  <a:gd name="T17" fmla="*/ T16 w 343"/>
                  <a:gd name="T18" fmla="+- 0 -989 -1318"/>
                  <a:gd name="T19" fmla="*/ -989 h 341"/>
                  <a:gd name="T20" fmla="+- 0 5028 4882"/>
                  <a:gd name="T21" fmla="*/ T20 w 343"/>
                  <a:gd name="T22" fmla="+- 0 -977 -1318"/>
                  <a:gd name="T23" fmla="*/ -977 h 341"/>
                  <a:gd name="T24" fmla="+- 0 5078 4882"/>
                  <a:gd name="T25" fmla="*/ T24 w 343"/>
                  <a:gd name="T26" fmla="+- 0 -977 -1318"/>
                  <a:gd name="T27" fmla="*/ -977 h 341"/>
                  <a:gd name="T28" fmla="+- 0 5122 4882"/>
                  <a:gd name="T29" fmla="*/ T28 w 343"/>
                  <a:gd name="T30" fmla="+- 0 -989 -1318"/>
                  <a:gd name="T31" fmla="*/ -989 h 341"/>
                  <a:gd name="T32" fmla="+- 0 5167 4882"/>
                  <a:gd name="T33" fmla="*/ T32 w 343"/>
                  <a:gd name="T34" fmla="+- 0 -1018 -1318"/>
                  <a:gd name="T35" fmla="*/ -1018 h 341"/>
                  <a:gd name="T36" fmla="+- 0 5198 4882"/>
                  <a:gd name="T37" fmla="*/ T36 w 343"/>
                  <a:gd name="T38" fmla="+- 0 -1054 -1318"/>
                  <a:gd name="T39" fmla="*/ -1054 h 341"/>
                  <a:gd name="T40" fmla="+- 0 5218 4882"/>
                  <a:gd name="T41" fmla="*/ T40 w 343"/>
                  <a:gd name="T42" fmla="+- 0 -1097 -1318"/>
                  <a:gd name="T43" fmla="*/ -1097 h 341"/>
                  <a:gd name="T44" fmla="+- 0 5225 4882"/>
                  <a:gd name="T45" fmla="*/ T44 w 343"/>
                  <a:gd name="T46" fmla="+- 0 -1145 -1318"/>
                  <a:gd name="T47" fmla="*/ -1145 h 341"/>
                  <a:gd name="T48" fmla="+- 0 5218 4882"/>
                  <a:gd name="T49" fmla="*/ T48 w 343"/>
                  <a:gd name="T50" fmla="+- 0 -1198 -1318"/>
                  <a:gd name="T51" fmla="*/ -1198 h 341"/>
                  <a:gd name="T52" fmla="+- 0 5198 4882"/>
                  <a:gd name="T53" fmla="*/ T52 w 343"/>
                  <a:gd name="T54" fmla="+- 0 -1241 -1318"/>
                  <a:gd name="T55" fmla="*/ -1241 h 341"/>
                  <a:gd name="T56" fmla="+- 0 5167 4882"/>
                  <a:gd name="T57" fmla="*/ T56 w 343"/>
                  <a:gd name="T58" fmla="+- 0 -1277 -1318"/>
                  <a:gd name="T59" fmla="*/ -1277 h 341"/>
                  <a:gd name="T60" fmla="+- 0 5122 4882"/>
                  <a:gd name="T61" fmla="*/ T60 w 343"/>
                  <a:gd name="T62" fmla="+- 0 -1304 -1318"/>
                  <a:gd name="T63" fmla="*/ -1304 h 341"/>
                  <a:gd name="T64" fmla="+- 0 5078 4882"/>
                  <a:gd name="T65" fmla="*/ T64 w 343"/>
                  <a:gd name="T66" fmla="+- 0 -1318 -1318"/>
                  <a:gd name="T67" fmla="*/ -1318 h 341"/>
                  <a:gd name="T68" fmla="+- 0 5028 4882"/>
                  <a:gd name="T69" fmla="*/ T68 w 343"/>
                  <a:gd name="T70" fmla="+- 0 -1318 -1318"/>
                  <a:gd name="T71" fmla="*/ -1318 h 341"/>
                  <a:gd name="T72" fmla="+- 0 4980 4882"/>
                  <a:gd name="T73" fmla="*/ T72 w 343"/>
                  <a:gd name="T74" fmla="+- 0 -1304 -1318"/>
                  <a:gd name="T75" fmla="*/ -1304 h 341"/>
                  <a:gd name="T76" fmla="+- 0 4939 4882"/>
                  <a:gd name="T77" fmla="*/ T76 w 343"/>
                  <a:gd name="T78" fmla="+- 0 -1277 -1318"/>
                  <a:gd name="T79" fmla="*/ -1277 h 341"/>
                  <a:gd name="T80" fmla="+- 0 4906 4882"/>
                  <a:gd name="T81" fmla="*/ T80 w 343"/>
                  <a:gd name="T82" fmla="+- 0 -1241 -1318"/>
                  <a:gd name="T83" fmla="*/ -1241 h 341"/>
                  <a:gd name="T84" fmla="+- 0 4889 4882"/>
                  <a:gd name="T85" fmla="*/ T84 w 343"/>
                  <a:gd name="T86" fmla="+- 0 -1198 -1318"/>
                  <a:gd name="T87" fmla="*/ -1198 h 341"/>
                  <a:gd name="T88" fmla="+- 0 4882 4882"/>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221"/>
                    </a:lnTo>
                    <a:lnTo>
                      <a:pt x="24" y="264"/>
                    </a:lnTo>
                    <a:lnTo>
                      <a:pt x="57" y="300"/>
                    </a:lnTo>
                    <a:lnTo>
                      <a:pt x="98" y="329"/>
                    </a:lnTo>
                    <a:lnTo>
                      <a:pt x="146" y="341"/>
                    </a:lnTo>
                    <a:lnTo>
                      <a:pt x="196" y="341"/>
                    </a:lnTo>
                    <a:lnTo>
                      <a:pt x="240" y="329"/>
                    </a:lnTo>
                    <a:lnTo>
                      <a:pt x="285" y="300"/>
                    </a:lnTo>
                    <a:lnTo>
                      <a:pt x="316" y="264"/>
                    </a:lnTo>
                    <a:lnTo>
                      <a:pt x="336" y="221"/>
                    </a:lnTo>
                    <a:lnTo>
                      <a:pt x="343" y="173"/>
                    </a:lnTo>
                    <a:lnTo>
                      <a:pt x="336" y="120"/>
                    </a:lnTo>
                    <a:lnTo>
                      <a:pt x="316" y="77"/>
                    </a:lnTo>
                    <a:lnTo>
                      <a:pt x="285" y="41"/>
                    </a:lnTo>
                    <a:lnTo>
                      <a:pt x="240" y="14"/>
                    </a:lnTo>
                    <a:lnTo>
                      <a:pt x="196" y="0"/>
                    </a:lnTo>
                    <a:lnTo>
                      <a:pt x="146" y="0"/>
                    </a:lnTo>
                    <a:lnTo>
                      <a:pt x="98" y="14"/>
                    </a:lnTo>
                    <a:lnTo>
                      <a:pt x="57" y="41"/>
                    </a:lnTo>
                    <a:lnTo>
                      <a:pt x="24" y="77"/>
                    </a:lnTo>
                    <a:lnTo>
                      <a:pt x="7" y="120"/>
                    </a:lnTo>
                    <a:lnTo>
                      <a:pt x="0"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p:cNvSpPr>
              <p:nvPr/>
            </p:nvSpPr>
            <p:spPr bwMode="auto">
              <a:xfrm>
                <a:off x="4882" y="-1318"/>
                <a:ext cx="343" cy="341"/>
              </a:xfrm>
              <a:custGeom>
                <a:avLst/>
                <a:gdLst>
                  <a:gd name="T0" fmla="+- 0 4882 4882"/>
                  <a:gd name="T1" fmla="*/ T0 w 343"/>
                  <a:gd name="T2" fmla="+- 0 -1145 -1318"/>
                  <a:gd name="T3" fmla="*/ -1145 h 341"/>
                  <a:gd name="T4" fmla="+- 0 4889 4882"/>
                  <a:gd name="T5" fmla="*/ T4 w 343"/>
                  <a:gd name="T6" fmla="+- 0 -1198 -1318"/>
                  <a:gd name="T7" fmla="*/ -1198 h 341"/>
                  <a:gd name="T8" fmla="+- 0 4906 4882"/>
                  <a:gd name="T9" fmla="*/ T8 w 343"/>
                  <a:gd name="T10" fmla="+- 0 -1241 -1318"/>
                  <a:gd name="T11" fmla="*/ -1241 h 341"/>
                  <a:gd name="T12" fmla="+- 0 4939 4882"/>
                  <a:gd name="T13" fmla="*/ T12 w 343"/>
                  <a:gd name="T14" fmla="+- 0 -1277 -1318"/>
                  <a:gd name="T15" fmla="*/ -1277 h 341"/>
                  <a:gd name="T16" fmla="+- 0 4980 4882"/>
                  <a:gd name="T17" fmla="*/ T16 w 343"/>
                  <a:gd name="T18" fmla="+- 0 -1304 -1318"/>
                  <a:gd name="T19" fmla="*/ -1304 h 341"/>
                  <a:gd name="T20" fmla="+- 0 5028 4882"/>
                  <a:gd name="T21" fmla="*/ T20 w 343"/>
                  <a:gd name="T22" fmla="+- 0 -1318 -1318"/>
                  <a:gd name="T23" fmla="*/ -1318 h 341"/>
                  <a:gd name="T24" fmla="+- 0 5078 4882"/>
                  <a:gd name="T25" fmla="*/ T24 w 343"/>
                  <a:gd name="T26" fmla="+- 0 -1318 -1318"/>
                  <a:gd name="T27" fmla="*/ -1318 h 341"/>
                  <a:gd name="T28" fmla="+- 0 5122 4882"/>
                  <a:gd name="T29" fmla="*/ T28 w 343"/>
                  <a:gd name="T30" fmla="+- 0 -1304 -1318"/>
                  <a:gd name="T31" fmla="*/ -1304 h 341"/>
                  <a:gd name="T32" fmla="+- 0 5167 4882"/>
                  <a:gd name="T33" fmla="*/ T32 w 343"/>
                  <a:gd name="T34" fmla="+- 0 -1277 -1318"/>
                  <a:gd name="T35" fmla="*/ -1277 h 341"/>
                  <a:gd name="T36" fmla="+- 0 5198 4882"/>
                  <a:gd name="T37" fmla="*/ T36 w 343"/>
                  <a:gd name="T38" fmla="+- 0 -1241 -1318"/>
                  <a:gd name="T39" fmla="*/ -1241 h 341"/>
                  <a:gd name="T40" fmla="+- 0 5218 4882"/>
                  <a:gd name="T41" fmla="*/ T40 w 343"/>
                  <a:gd name="T42" fmla="+- 0 -1198 -1318"/>
                  <a:gd name="T43" fmla="*/ -1198 h 341"/>
                  <a:gd name="T44" fmla="+- 0 5225 4882"/>
                  <a:gd name="T45" fmla="*/ T44 w 343"/>
                  <a:gd name="T46" fmla="+- 0 -1145 -1318"/>
                  <a:gd name="T47" fmla="*/ -1145 h 341"/>
                  <a:gd name="T48" fmla="+- 0 5218 4882"/>
                  <a:gd name="T49" fmla="*/ T48 w 343"/>
                  <a:gd name="T50" fmla="+- 0 -1097 -1318"/>
                  <a:gd name="T51" fmla="*/ -1097 h 341"/>
                  <a:gd name="T52" fmla="+- 0 5198 4882"/>
                  <a:gd name="T53" fmla="*/ T52 w 343"/>
                  <a:gd name="T54" fmla="+- 0 -1054 -1318"/>
                  <a:gd name="T55" fmla="*/ -1054 h 341"/>
                  <a:gd name="T56" fmla="+- 0 5167 4882"/>
                  <a:gd name="T57" fmla="*/ T56 w 343"/>
                  <a:gd name="T58" fmla="+- 0 -1018 -1318"/>
                  <a:gd name="T59" fmla="*/ -1018 h 341"/>
                  <a:gd name="T60" fmla="+- 0 5122 4882"/>
                  <a:gd name="T61" fmla="*/ T60 w 343"/>
                  <a:gd name="T62" fmla="+- 0 -989 -1318"/>
                  <a:gd name="T63" fmla="*/ -989 h 341"/>
                  <a:gd name="T64" fmla="+- 0 5078 4882"/>
                  <a:gd name="T65" fmla="*/ T64 w 343"/>
                  <a:gd name="T66" fmla="+- 0 -977 -1318"/>
                  <a:gd name="T67" fmla="*/ -977 h 341"/>
                  <a:gd name="T68" fmla="+- 0 5028 4882"/>
                  <a:gd name="T69" fmla="*/ T68 w 343"/>
                  <a:gd name="T70" fmla="+- 0 -977 -1318"/>
                  <a:gd name="T71" fmla="*/ -977 h 341"/>
                  <a:gd name="T72" fmla="+- 0 4980 4882"/>
                  <a:gd name="T73" fmla="*/ T72 w 343"/>
                  <a:gd name="T74" fmla="+- 0 -989 -1318"/>
                  <a:gd name="T75" fmla="*/ -989 h 341"/>
                  <a:gd name="T76" fmla="+- 0 4939 4882"/>
                  <a:gd name="T77" fmla="*/ T76 w 343"/>
                  <a:gd name="T78" fmla="+- 0 -1018 -1318"/>
                  <a:gd name="T79" fmla="*/ -1018 h 341"/>
                  <a:gd name="T80" fmla="+- 0 4906 4882"/>
                  <a:gd name="T81" fmla="*/ T80 w 343"/>
                  <a:gd name="T82" fmla="+- 0 -1054 -1318"/>
                  <a:gd name="T83" fmla="*/ -1054 h 341"/>
                  <a:gd name="T84" fmla="+- 0 4889 4882"/>
                  <a:gd name="T85" fmla="*/ T84 w 343"/>
                  <a:gd name="T86" fmla="+- 0 -1097 -1318"/>
                  <a:gd name="T87" fmla="*/ -1097 h 341"/>
                  <a:gd name="T88" fmla="+- 0 4882 4882"/>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120"/>
                    </a:lnTo>
                    <a:lnTo>
                      <a:pt x="24" y="77"/>
                    </a:lnTo>
                    <a:lnTo>
                      <a:pt x="57" y="41"/>
                    </a:lnTo>
                    <a:lnTo>
                      <a:pt x="98" y="14"/>
                    </a:lnTo>
                    <a:lnTo>
                      <a:pt x="146" y="0"/>
                    </a:lnTo>
                    <a:lnTo>
                      <a:pt x="196" y="0"/>
                    </a:lnTo>
                    <a:lnTo>
                      <a:pt x="240" y="14"/>
                    </a:lnTo>
                    <a:lnTo>
                      <a:pt x="285" y="41"/>
                    </a:lnTo>
                    <a:lnTo>
                      <a:pt x="316" y="77"/>
                    </a:lnTo>
                    <a:lnTo>
                      <a:pt x="336" y="120"/>
                    </a:lnTo>
                    <a:lnTo>
                      <a:pt x="343" y="173"/>
                    </a:lnTo>
                    <a:lnTo>
                      <a:pt x="336" y="221"/>
                    </a:lnTo>
                    <a:lnTo>
                      <a:pt x="316" y="264"/>
                    </a:lnTo>
                    <a:lnTo>
                      <a:pt x="285" y="300"/>
                    </a:lnTo>
                    <a:lnTo>
                      <a:pt x="240" y="329"/>
                    </a:lnTo>
                    <a:lnTo>
                      <a:pt x="196" y="341"/>
                    </a:lnTo>
                    <a:lnTo>
                      <a:pt x="146" y="341"/>
                    </a:lnTo>
                    <a:lnTo>
                      <a:pt x="98" y="329"/>
                    </a:lnTo>
                    <a:lnTo>
                      <a:pt x="57" y="300"/>
                    </a:lnTo>
                    <a:lnTo>
                      <a:pt x="24" y="264"/>
                    </a:lnTo>
                    <a:lnTo>
                      <a:pt x="7" y="221"/>
                    </a:lnTo>
                    <a:lnTo>
                      <a:pt x="0" y="173"/>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Freeform 20"/>
              <p:cNvSpPr>
                <a:spLocks/>
              </p:cNvSpPr>
              <p:nvPr/>
            </p:nvSpPr>
            <p:spPr bwMode="auto">
              <a:xfrm>
                <a:off x="6178" y="-1318"/>
                <a:ext cx="343" cy="341"/>
              </a:xfrm>
              <a:custGeom>
                <a:avLst/>
                <a:gdLst>
                  <a:gd name="T0" fmla="+- 0 6178 6178"/>
                  <a:gd name="T1" fmla="*/ T0 w 343"/>
                  <a:gd name="T2" fmla="+- 0 -1145 -1318"/>
                  <a:gd name="T3" fmla="*/ -1145 h 341"/>
                  <a:gd name="T4" fmla="+- 0 6185 6178"/>
                  <a:gd name="T5" fmla="*/ T4 w 343"/>
                  <a:gd name="T6" fmla="+- 0 -1097 -1318"/>
                  <a:gd name="T7" fmla="*/ -1097 h 341"/>
                  <a:gd name="T8" fmla="+- 0 6204 6178"/>
                  <a:gd name="T9" fmla="*/ T8 w 343"/>
                  <a:gd name="T10" fmla="+- 0 -1054 -1318"/>
                  <a:gd name="T11" fmla="*/ -1054 h 341"/>
                  <a:gd name="T12" fmla="+- 0 6235 6178"/>
                  <a:gd name="T13" fmla="*/ T12 w 343"/>
                  <a:gd name="T14" fmla="+- 0 -1018 -1318"/>
                  <a:gd name="T15" fmla="*/ -1018 h 341"/>
                  <a:gd name="T16" fmla="+- 0 6281 6178"/>
                  <a:gd name="T17" fmla="*/ T16 w 343"/>
                  <a:gd name="T18" fmla="+- 0 -989 -1318"/>
                  <a:gd name="T19" fmla="*/ -989 h 341"/>
                  <a:gd name="T20" fmla="+- 0 6324 6178"/>
                  <a:gd name="T21" fmla="*/ T20 w 343"/>
                  <a:gd name="T22" fmla="+- 0 -977 -1318"/>
                  <a:gd name="T23" fmla="*/ -977 h 341"/>
                  <a:gd name="T24" fmla="+- 0 6374 6178"/>
                  <a:gd name="T25" fmla="*/ T24 w 343"/>
                  <a:gd name="T26" fmla="+- 0 -977 -1318"/>
                  <a:gd name="T27" fmla="*/ -977 h 341"/>
                  <a:gd name="T28" fmla="+- 0 6422 6178"/>
                  <a:gd name="T29" fmla="*/ T28 w 343"/>
                  <a:gd name="T30" fmla="+- 0 -989 -1318"/>
                  <a:gd name="T31" fmla="*/ -989 h 341"/>
                  <a:gd name="T32" fmla="+- 0 6463 6178"/>
                  <a:gd name="T33" fmla="*/ T32 w 343"/>
                  <a:gd name="T34" fmla="+- 0 -1018 -1318"/>
                  <a:gd name="T35" fmla="*/ -1018 h 341"/>
                  <a:gd name="T36" fmla="+- 0 6497 6178"/>
                  <a:gd name="T37" fmla="*/ T36 w 343"/>
                  <a:gd name="T38" fmla="+- 0 -1054 -1318"/>
                  <a:gd name="T39" fmla="*/ -1054 h 341"/>
                  <a:gd name="T40" fmla="+- 0 6518 6178"/>
                  <a:gd name="T41" fmla="*/ T40 w 343"/>
                  <a:gd name="T42" fmla="+- 0 -1097 -1318"/>
                  <a:gd name="T43" fmla="*/ -1097 h 341"/>
                  <a:gd name="T44" fmla="+- 0 6521 6178"/>
                  <a:gd name="T45" fmla="*/ T44 w 343"/>
                  <a:gd name="T46" fmla="+- 0 -1145 -1318"/>
                  <a:gd name="T47" fmla="*/ -1145 h 341"/>
                  <a:gd name="T48" fmla="+- 0 6518 6178"/>
                  <a:gd name="T49" fmla="*/ T48 w 343"/>
                  <a:gd name="T50" fmla="+- 0 -1198 -1318"/>
                  <a:gd name="T51" fmla="*/ -1198 h 341"/>
                  <a:gd name="T52" fmla="+- 0 6497 6178"/>
                  <a:gd name="T53" fmla="*/ T52 w 343"/>
                  <a:gd name="T54" fmla="+- 0 -1241 -1318"/>
                  <a:gd name="T55" fmla="*/ -1241 h 341"/>
                  <a:gd name="T56" fmla="+- 0 6463 6178"/>
                  <a:gd name="T57" fmla="*/ T56 w 343"/>
                  <a:gd name="T58" fmla="+- 0 -1277 -1318"/>
                  <a:gd name="T59" fmla="*/ -1277 h 341"/>
                  <a:gd name="T60" fmla="+- 0 6422 6178"/>
                  <a:gd name="T61" fmla="*/ T60 w 343"/>
                  <a:gd name="T62" fmla="+- 0 -1304 -1318"/>
                  <a:gd name="T63" fmla="*/ -1304 h 341"/>
                  <a:gd name="T64" fmla="+- 0 6374 6178"/>
                  <a:gd name="T65" fmla="*/ T64 w 343"/>
                  <a:gd name="T66" fmla="+- 0 -1318 -1318"/>
                  <a:gd name="T67" fmla="*/ -1318 h 341"/>
                  <a:gd name="T68" fmla="+- 0 6324 6178"/>
                  <a:gd name="T69" fmla="*/ T68 w 343"/>
                  <a:gd name="T70" fmla="+- 0 -1318 -1318"/>
                  <a:gd name="T71" fmla="*/ -1318 h 341"/>
                  <a:gd name="T72" fmla="+- 0 6281 6178"/>
                  <a:gd name="T73" fmla="*/ T72 w 343"/>
                  <a:gd name="T74" fmla="+- 0 -1304 -1318"/>
                  <a:gd name="T75" fmla="*/ -1304 h 341"/>
                  <a:gd name="T76" fmla="+- 0 6235 6178"/>
                  <a:gd name="T77" fmla="*/ T76 w 343"/>
                  <a:gd name="T78" fmla="+- 0 -1277 -1318"/>
                  <a:gd name="T79" fmla="*/ -1277 h 341"/>
                  <a:gd name="T80" fmla="+- 0 6204 6178"/>
                  <a:gd name="T81" fmla="*/ T80 w 343"/>
                  <a:gd name="T82" fmla="+- 0 -1241 -1318"/>
                  <a:gd name="T83" fmla="*/ -1241 h 341"/>
                  <a:gd name="T84" fmla="+- 0 6185 6178"/>
                  <a:gd name="T85" fmla="*/ T84 w 343"/>
                  <a:gd name="T86" fmla="+- 0 -1198 -1318"/>
                  <a:gd name="T87" fmla="*/ -1198 h 341"/>
                  <a:gd name="T88" fmla="+- 0 6178 6178"/>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221"/>
                    </a:lnTo>
                    <a:lnTo>
                      <a:pt x="26" y="264"/>
                    </a:lnTo>
                    <a:lnTo>
                      <a:pt x="57" y="300"/>
                    </a:lnTo>
                    <a:lnTo>
                      <a:pt x="103" y="329"/>
                    </a:lnTo>
                    <a:lnTo>
                      <a:pt x="146" y="341"/>
                    </a:lnTo>
                    <a:lnTo>
                      <a:pt x="196" y="341"/>
                    </a:lnTo>
                    <a:lnTo>
                      <a:pt x="244" y="329"/>
                    </a:lnTo>
                    <a:lnTo>
                      <a:pt x="285" y="300"/>
                    </a:lnTo>
                    <a:lnTo>
                      <a:pt x="319" y="264"/>
                    </a:lnTo>
                    <a:lnTo>
                      <a:pt x="340" y="221"/>
                    </a:lnTo>
                    <a:lnTo>
                      <a:pt x="343" y="173"/>
                    </a:lnTo>
                    <a:lnTo>
                      <a:pt x="340" y="120"/>
                    </a:lnTo>
                    <a:lnTo>
                      <a:pt x="319" y="77"/>
                    </a:lnTo>
                    <a:lnTo>
                      <a:pt x="285" y="41"/>
                    </a:lnTo>
                    <a:lnTo>
                      <a:pt x="244" y="14"/>
                    </a:lnTo>
                    <a:lnTo>
                      <a:pt x="196" y="0"/>
                    </a:lnTo>
                    <a:lnTo>
                      <a:pt x="146" y="0"/>
                    </a:lnTo>
                    <a:lnTo>
                      <a:pt x="103" y="14"/>
                    </a:lnTo>
                    <a:lnTo>
                      <a:pt x="57" y="41"/>
                    </a:lnTo>
                    <a:lnTo>
                      <a:pt x="26" y="77"/>
                    </a:lnTo>
                    <a:lnTo>
                      <a:pt x="7" y="120"/>
                    </a:lnTo>
                    <a:lnTo>
                      <a:pt x="0" y="1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19"/>
              <p:cNvSpPr>
                <a:spLocks/>
              </p:cNvSpPr>
              <p:nvPr/>
            </p:nvSpPr>
            <p:spPr bwMode="auto">
              <a:xfrm>
                <a:off x="6178" y="-1318"/>
                <a:ext cx="343" cy="341"/>
              </a:xfrm>
              <a:custGeom>
                <a:avLst/>
                <a:gdLst>
                  <a:gd name="T0" fmla="+- 0 6178 6178"/>
                  <a:gd name="T1" fmla="*/ T0 w 343"/>
                  <a:gd name="T2" fmla="+- 0 -1145 -1318"/>
                  <a:gd name="T3" fmla="*/ -1145 h 341"/>
                  <a:gd name="T4" fmla="+- 0 6185 6178"/>
                  <a:gd name="T5" fmla="*/ T4 w 343"/>
                  <a:gd name="T6" fmla="+- 0 -1198 -1318"/>
                  <a:gd name="T7" fmla="*/ -1198 h 341"/>
                  <a:gd name="T8" fmla="+- 0 6204 6178"/>
                  <a:gd name="T9" fmla="*/ T8 w 343"/>
                  <a:gd name="T10" fmla="+- 0 -1241 -1318"/>
                  <a:gd name="T11" fmla="*/ -1241 h 341"/>
                  <a:gd name="T12" fmla="+- 0 6235 6178"/>
                  <a:gd name="T13" fmla="*/ T12 w 343"/>
                  <a:gd name="T14" fmla="+- 0 -1277 -1318"/>
                  <a:gd name="T15" fmla="*/ -1277 h 341"/>
                  <a:gd name="T16" fmla="+- 0 6281 6178"/>
                  <a:gd name="T17" fmla="*/ T16 w 343"/>
                  <a:gd name="T18" fmla="+- 0 -1304 -1318"/>
                  <a:gd name="T19" fmla="*/ -1304 h 341"/>
                  <a:gd name="T20" fmla="+- 0 6324 6178"/>
                  <a:gd name="T21" fmla="*/ T20 w 343"/>
                  <a:gd name="T22" fmla="+- 0 -1318 -1318"/>
                  <a:gd name="T23" fmla="*/ -1318 h 341"/>
                  <a:gd name="T24" fmla="+- 0 6374 6178"/>
                  <a:gd name="T25" fmla="*/ T24 w 343"/>
                  <a:gd name="T26" fmla="+- 0 -1318 -1318"/>
                  <a:gd name="T27" fmla="*/ -1318 h 341"/>
                  <a:gd name="T28" fmla="+- 0 6422 6178"/>
                  <a:gd name="T29" fmla="*/ T28 w 343"/>
                  <a:gd name="T30" fmla="+- 0 -1304 -1318"/>
                  <a:gd name="T31" fmla="*/ -1304 h 341"/>
                  <a:gd name="T32" fmla="+- 0 6463 6178"/>
                  <a:gd name="T33" fmla="*/ T32 w 343"/>
                  <a:gd name="T34" fmla="+- 0 -1277 -1318"/>
                  <a:gd name="T35" fmla="*/ -1277 h 341"/>
                  <a:gd name="T36" fmla="+- 0 6497 6178"/>
                  <a:gd name="T37" fmla="*/ T36 w 343"/>
                  <a:gd name="T38" fmla="+- 0 -1241 -1318"/>
                  <a:gd name="T39" fmla="*/ -1241 h 341"/>
                  <a:gd name="T40" fmla="+- 0 6518 6178"/>
                  <a:gd name="T41" fmla="*/ T40 w 343"/>
                  <a:gd name="T42" fmla="+- 0 -1198 -1318"/>
                  <a:gd name="T43" fmla="*/ -1198 h 341"/>
                  <a:gd name="T44" fmla="+- 0 6521 6178"/>
                  <a:gd name="T45" fmla="*/ T44 w 343"/>
                  <a:gd name="T46" fmla="+- 0 -1145 -1318"/>
                  <a:gd name="T47" fmla="*/ -1145 h 341"/>
                  <a:gd name="T48" fmla="+- 0 6518 6178"/>
                  <a:gd name="T49" fmla="*/ T48 w 343"/>
                  <a:gd name="T50" fmla="+- 0 -1097 -1318"/>
                  <a:gd name="T51" fmla="*/ -1097 h 341"/>
                  <a:gd name="T52" fmla="+- 0 6497 6178"/>
                  <a:gd name="T53" fmla="*/ T52 w 343"/>
                  <a:gd name="T54" fmla="+- 0 -1054 -1318"/>
                  <a:gd name="T55" fmla="*/ -1054 h 341"/>
                  <a:gd name="T56" fmla="+- 0 6463 6178"/>
                  <a:gd name="T57" fmla="*/ T56 w 343"/>
                  <a:gd name="T58" fmla="+- 0 -1018 -1318"/>
                  <a:gd name="T59" fmla="*/ -1018 h 341"/>
                  <a:gd name="T60" fmla="+- 0 6422 6178"/>
                  <a:gd name="T61" fmla="*/ T60 w 343"/>
                  <a:gd name="T62" fmla="+- 0 -989 -1318"/>
                  <a:gd name="T63" fmla="*/ -989 h 341"/>
                  <a:gd name="T64" fmla="+- 0 6374 6178"/>
                  <a:gd name="T65" fmla="*/ T64 w 343"/>
                  <a:gd name="T66" fmla="+- 0 -977 -1318"/>
                  <a:gd name="T67" fmla="*/ -977 h 341"/>
                  <a:gd name="T68" fmla="+- 0 6324 6178"/>
                  <a:gd name="T69" fmla="*/ T68 w 343"/>
                  <a:gd name="T70" fmla="+- 0 -977 -1318"/>
                  <a:gd name="T71" fmla="*/ -977 h 341"/>
                  <a:gd name="T72" fmla="+- 0 6281 6178"/>
                  <a:gd name="T73" fmla="*/ T72 w 343"/>
                  <a:gd name="T74" fmla="+- 0 -989 -1318"/>
                  <a:gd name="T75" fmla="*/ -989 h 341"/>
                  <a:gd name="T76" fmla="+- 0 6235 6178"/>
                  <a:gd name="T77" fmla="*/ T76 w 343"/>
                  <a:gd name="T78" fmla="+- 0 -1018 -1318"/>
                  <a:gd name="T79" fmla="*/ -1018 h 341"/>
                  <a:gd name="T80" fmla="+- 0 6204 6178"/>
                  <a:gd name="T81" fmla="*/ T80 w 343"/>
                  <a:gd name="T82" fmla="+- 0 -1054 -1318"/>
                  <a:gd name="T83" fmla="*/ -1054 h 341"/>
                  <a:gd name="T84" fmla="+- 0 6185 6178"/>
                  <a:gd name="T85" fmla="*/ T84 w 343"/>
                  <a:gd name="T86" fmla="+- 0 -1097 -1318"/>
                  <a:gd name="T87" fmla="*/ -1097 h 341"/>
                  <a:gd name="T88" fmla="+- 0 6178 6178"/>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120"/>
                    </a:lnTo>
                    <a:lnTo>
                      <a:pt x="26" y="77"/>
                    </a:lnTo>
                    <a:lnTo>
                      <a:pt x="57" y="41"/>
                    </a:lnTo>
                    <a:lnTo>
                      <a:pt x="103" y="14"/>
                    </a:lnTo>
                    <a:lnTo>
                      <a:pt x="146" y="0"/>
                    </a:lnTo>
                    <a:lnTo>
                      <a:pt x="196" y="0"/>
                    </a:lnTo>
                    <a:lnTo>
                      <a:pt x="244" y="14"/>
                    </a:lnTo>
                    <a:lnTo>
                      <a:pt x="285" y="41"/>
                    </a:lnTo>
                    <a:lnTo>
                      <a:pt x="319" y="77"/>
                    </a:lnTo>
                    <a:lnTo>
                      <a:pt x="340" y="120"/>
                    </a:lnTo>
                    <a:lnTo>
                      <a:pt x="343" y="173"/>
                    </a:lnTo>
                    <a:lnTo>
                      <a:pt x="340" y="221"/>
                    </a:lnTo>
                    <a:lnTo>
                      <a:pt x="319" y="264"/>
                    </a:lnTo>
                    <a:lnTo>
                      <a:pt x="285" y="300"/>
                    </a:lnTo>
                    <a:lnTo>
                      <a:pt x="244" y="329"/>
                    </a:lnTo>
                    <a:lnTo>
                      <a:pt x="196" y="341"/>
                    </a:lnTo>
                    <a:lnTo>
                      <a:pt x="146" y="341"/>
                    </a:lnTo>
                    <a:lnTo>
                      <a:pt x="103" y="329"/>
                    </a:lnTo>
                    <a:lnTo>
                      <a:pt x="57" y="300"/>
                    </a:lnTo>
                    <a:lnTo>
                      <a:pt x="26" y="264"/>
                    </a:lnTo>
                    <a:lnTo>
                      <a:pt x="7" y="221"/>
                    </a:lnTo>
                    <a:lnTo>
                      <a:pt x="0" y="173"/>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18"/>
              <p:cNvSpPr>
                <a:spLocks/>
              </p:cNvSpPr>
              <p:nvPr/>
            </p:nvSpPr>
            <p:spPr bwMode="auto">
              <a:xfrm>
                <a:off x="6178" y="-22"/>
                <a:ext cx="343" cy="346"/>
              </a:xfrm>
              <a:custGeom>
                <a:avLst/>
                <a:gdLst>
                  <a:gd name="T0" fmla="+- 0 6178 6178"/>
                  <a:gd name="T1" fmla="*/ T0 w 343"/>
                  <a:gd name="T2" fmla="+- 0 151 -22"/>
                  <a:gd name="T3" fmla="*/ 151 h 346"/>
                  <a:gd name="T4" fmla="+- 0 6185 6178"/>
                  <a:gd name="T5" fmla="*/ T4 w 343"/>
                  <a:gd name="T6" fmla="+- 0 199 -22"/>
                  <a:gd name="T7" fmla="*/ 199 h 346"/>
                  <a:gd name="T8" fmla="+- 0 6204 6178"/>
                  <a:gd name="T9" fmla="*/ T8 w 343"/>
                  <a:gd name="T10" fmla="+- 0 242 -22"/>
                  <a:gd name="T11" fmla="*/ 242 h 346"/>
                  <a:gd name="T12" fmla="+- 0 6235 6178"/>
                  <a:gd name="T13" fmla="*/ T12 w 343"/>
                  <a:gd name="T14" fmla="+- 0 283 -22"/>
                  <a:gd name="T15" fmla="*/ 283 h 346"/>
                  <a:gd name="T16" fmla="+- 0 6281 6178"/>
                  <a:gd name="T17" fmla="*/ T16 w 343"/>
                  <a:gd name="T18" fmla="+- 0 309 -22"/>
                  <a:gd name="T19" fmla="*/ 309 h 346"/>
                  <a:gd name="T20" fmla="+- 0 6324 6178"/>
                  <a:gd name="T21" fmla="*/ T20 w 343"/>
                  <a:gd name="T22" fmla="+- 0 324 -22"/>
                  <a:gd name="T23" fmla="*/ 324 h 346"/>
                  <a:gd name="T24" fmla="+- 0 6374 6178"/>
                  <a:gd name="T25" fmla="*/ T24 w 343"/>
                  <a:gd name="T26" fmla="+- 0 324 -22"/>
                  <a:gd name="T27" fmla="*/ 324 h 346"/>
                  <a:gd name="T28" fmla="+- 0 6422 6178"/>
                  <a:gd name="T29" fmla="*/ T28 w 343"/>
                  <a:gd name="T30" fmla="+- 0 309 -22"/>
                  <a:gd name="T31" fmla="*/ 309 h 346"/>
                  <a:gd name="T32" fmla="+- 0 6463 6178"/>
                  <a:gd name="T33" fmla="*/ T32 w 343"/>
                  <a:gd name="T34" fmla="+- 0 283 -22"/>
                  <a:gd name="T35" fmla="*/ 283 h 346"/>
                  <a:gd name="T36" fmla="+- 0 6497 6178"/>
                  <a:gd name="T37" fmla="*/ T36 w 343"/>
                  <a:gd name="T38" fmla="+- 0 242 -22"/>
                  <a:gd name="T39" fmla="*/ 242 h 346"/>
                  <a:gd name="T40" fmla="+- 0 6518 6178"/>
                  <a:gd name="T41" fmla="*/ T40 w 343"/>
                  <a:gd name="T42" fmla="+- 0 199 -22"/>
                  <a:gd name="T43" fmla="*/ 199 h 346"/>
                  <a:gd name="T44" fmla="+- 0 6521 6178"/>
                  <a:gd name="T45" fmla="*/ T44 w 343"/>
                  <a:gd name="T46" fmla="+- 0 151 -22"/>
                  <a:gd name="T47" fmla="*/ 151 h 346"/>
                  <a:gd name="T48" fmla="+- 0 6518 6178"/>
                  <a:gd name="T49" fmla="*/ T48 w 343"/>
                  <a:gd name="T50" fmla="+- 0 103 -22"/>
                  <a:gd name="T51" fmla="*/ 103 h 346"/>
                  <a:gd name="T52" fmla="+- 0 6497 6178"/>
                  <a:gd name="T53" fmla="*/ T52 w 343"/>
                  <a:gd name="T54" fmla="+- 0 55 -22"/>
                  <a:gd name="T55" fmla="*/ 55 h 346"/>
                  <a:gd name="T56" fmla="+- 0 6463 6178"/>
                  <a:gd name="T57" fmla="*/ T56 w 343"/>
                  <a:gd name="T58" fmla="+- 0 19 -22"/>
                  <a:gd name="T59" fmla="*/ 19 h 346"/>
                  <a:gd name="T60" fmla="+- 0 6422 6178"/>
                  <a:gd name="T61" fmla="*/ T60 w 343"/>
                  <a:gd name="T62" fmla="+- 0 -5 -22"/>
                  <a:gd name="T63" fmla="*/ -5 h 346"/>
                  <a:gd name="T64" fmla="+- 0 6374 6178"/>
                  <a:gd name="T65" fmla="*/ T64 w 343"/>
                  <a:gd name="T66" fmla="+- 0 -22 -22"/>
                  <a:gd name="T67" fmla="*/ -22 h 346"/>
                  <a:gd name="T68" fmla="+- 0 6324 6178"/>
                  <a:gd name="T69" fmla="*/ T68 w 343"/>
                  <a:gd name="T70" fmla="+- 0 -22 -22"/>
                  <a:gd name="T71" fmla="*/ -22 h 346"/>
                  <a:gd name="T72" fmla="+- 0 6281 6178"/>
                  <a:gd name="T73" fmla="*/ T72 w 343"/>
                  <a:gd name="T74" fmla="+- 0 -5 -22"/>
                  <a:gd name="T75" fmla="*/ -5 h 346"/>
                  <a:gd name="T76" fmla="+- 0 6235 6178"/>
                  <a:gd name="T77" fmla="*/ T76 w 343"/>
                  <a:gd name="T78" fmla="+- 0 19 -22"/>
                  <a:gd name="T79" fmla="*/ 19 h 346"/>
                  <a:gd name="T80" fmla="+- 0 6204 6178"/>
                  <a:gd name="T81" fmla="*/ T80 w 343"/>
                  <a:gd name="T82" fmla="+- 0 55 -22"/>
                  <a:gd name="T83" fmla="*/ 55 h 346"/>
                  <a:gd name="T84" fmla="+- 0 6185 6178"/>
                  <a:gd name="T85" fmla="*/ T84 w 343"/>
                  <a:gd name="T86" fmla="+- 0 103 -22"/>
                  <a:gd name="T87" fmla="*/ 103 h 346"/>
                  <a:gd name="T88" fmla="+- 0 6178 6178"/>
                  <a:gd name="T89" fmla="*/ T88 w 343"/>
                  <a:gd name="T90" fmla="+- 0 151 -22"/>
                  <a:gd name="T91" fmla="*/ 151 h 34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6">
                    <a:moveTo>
                      <a:pt x="0" y="173"/>
                    </a:moveTo>
                    <a:lnTo>
                      <a:pt x="7" y="221"/>
                    </a:lnTo>
                    <a:lnTo>
                      <a:pt x="26" y="264"/>
                    </a:lnTo>
                    <a:lnTo>
                      <a:pt x="57" y="305"/>
                    </a:lnTo>
                    <a:lnTo>
                      <a:pt x="103" y="331"/>
                    </a:lnTo>
                    <a:lnTo>
                      <a:pt x="146" y="346"/>
                    </a:lnTo>
                    <a:lnTo>
                      <a:pt x="196" y="346"/>
                    </a:lnTo>
                    <a:lnTo>
                      <a:pt x="244" y="331"/>
                    </a:lnTo>
                    <a:lnTo>
                      <a:pt x="285" y="305"/>
                    </a:lnTo>
                    <a:lnTo>
                      <a:pt x="319" y="264"/>
                    </a:lnTo>
                    <a:lnTo>
                      <a:pt x="340" y="221"/>
                    </a:lnTo>
                    <a:lnTo>
                      <a:pt x="343" y="173"/>
                    </a:lnTo>
                    <a:lnTo>
                      <a:pt x="340" y="125"/>
                    </a:lnTo>
                    <a:lnTo>
                      <a:pt x="319" y="77"/>
                    </a:lnTo>
                    <a:lnTo>
                      <a:pt x="285" y="41"/>
                    </a:lnTo>
                    <a:lnTo>
                      <a:pt x="244" y="17"/>
                    </a:lnTo>
                    <a:lnTo>
                      <a:pt x="196" y="0"/>
                    </a:lnTo>
                    <a:lnTo>
                      <a:pt x="146" y="0"/>
                    </a:lnTo>
                    <a:lnTo>
                      <a:pt x="103" y="17"/>
                    </a:lnTo>
                    <a:lnTo>
                      <a:pt x="57" y="41"/>
                    </a:lnTo>
                    <a:lnTo>
                      <a:pt x="26" y="77"/>
                    </a:lnTo>
                    <a:lnTo>
                      <a:pt x="7" y="125"/>
                    </a:lnTo>
                    <a:lnTo>
                      <a:pt x="0" y="1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17"/>
              <p:cNvSpPr>
                <a:spLocks/>
              </p:cNvSpPr>
              <p:nvPr/>
            </p:nvSpPr>
            <p:spPr bwMode="auto">
              <a:xfrm>
                <a:off x="6178" y="-22"/>
                <a:ext cx="343" cy="346"/>
              </a:xfrm>
              <a:custGeom>
                <a:avLst/>
                <a:gdLst>
                  <a:gd name="T0" fmla="+- 0 6178 6178"/>
                  <a:gd name="T1" fmla="*/ T0 w 343"/>
                  <a:gd name="T2" fmla="+- 0 151 -22"/>
                  <a:gd name="T3" fmla="*/ 151 h 346"/>
                  <a:gd name="T4" fmla="+- 0 6185 6178"/>
                  <a:gd name="T5" fmla="*/ T4 w 343"/>
                  <a:gd name="T6" fmla="+- 0 103 -22"/>
                  <a:gd name="T7" fmla="*/ 103 h 346"/>
                  <a:gd name="T8" fmla="+- 0 6204 6178"/>
                  <a:gd name="T9" fmla="*/ T8 w 343"/>
                  <a:gd name="T10" fmla="+- 0 55 -22"/>
                  <a:gd name="T11" fmla="*/ 55 h 346"/>
                  <a:gd name="T12" fmla="+- 0 6235 6178"/>
                  <a:gd name="T13" fmla="*/ T12 w 343"/>
                  <a:gd name="T14" fmla="+- 0 19 -22"/>
                  <a:gd name="T15" fmla="*/ 19 h 346"/>
                  <a:gd name="T16" fmla="+- 0 6281 6178"/>
                  <a:gd name="T17" fmla="*/ T16 w 343"/>
                  <a:gd name="T18" fmla="+- 0 -5 -22"/>
                  <a:gd name="T19" fmla="*/ -5 h 346"/>
                  <a:gd name="T20" fmla="+- 0 6324 6178"/>
                  <a:gd name="T21" fmla="*/ T20 w 343"/>
                  <a:gd name="T22" fmla="+- 0 -22 -22"/>
                  <a:gd name="T23" fmla="*/ -22 h 346"/>
                  <a:gd name="T24" fmla="+- 0 6374 6178"/>
                  <a:gd name="T25" fmla="*/ T24 w 343"/>
                  <a:gd name="T26" fmla="+- 0 -22 -22"/>
                  <a:gd name="T27" fmla="*/ -22 h 346"/>
                  <a:gd name="T28" fmla="+- 0 6422 6178"/>
                  <a:gd name="T29" fmla="*/ T28 w 343"/>
                  <a:gd name="T30" fmla="+- 0 -5 -22"/>
                  <a:gd name="T31" fmla="*/ -5 h 346"/>
                  <a:gd name="T32" fmla="+- 0 6463 6178"/>
                  <a:gd name="T33" fmla="*/ T32 w 343"/>
                  <a:gd name="T34" fmla="+- 0 19 -22"/>
                  <a:gd name="T35" fmla="*/ 19 h 346"/>
                  <a:gd name="T36" fmla="+- 0 6497 6178"/>
                  <a:gd name="T37" fmla="*/ T36 w 343"/>
                  <a:gd name="T38" fmla="+- 0 55 -22"/>
                  <a:gd name="T39" fmla="*/ 55 h 346"/>
                  <a:gd name="T40" fmla="+- 0 6518 6178"/>
                  <a:gd name="T41" fmla="*/ T40 w 343"/>
                  <a:gd name="T42" fmla="+- 0 103 -22"/>
                  <a:gd name="T43" fmla="*/ 103 h 346"/>
                  <a:gd name="T44" fmla="+- 0 6521 6178"/>
                  <a:gd name="T45" fmla="*/ T44 w 343"/>
                  <a:gd name="T46" fmla="+- 0 151 -22"/>
                  <a:gd name="T47" fmla="*/ 151 h 346"/>
                  <a:gd name="T48" fmla="+- 0 6518 6178"/>
                  <a:gd name="T49" fmla="*/ T48 w 343"/>
                  <a:gd name="T50" fmla="+- 0 199 -22"/>
                  <a:gd name="T51" fmla="*/ 199 h 346"/>
                  <a:gd name="T52" fmla="+- 0 6497 6178"/>
                  <a:gd name="T53" fmla="*/ T52 w 343"/>
                  <a:gd name="T54" fmla="+- 0 242 -22"/>
                  <a:gd name="T55" fmla="*/ 242 h 346"/>
                  <a:gd name="T56" fmla="+- 0 6463 6178"/>
                  <a:gd name="T57" fmla="*/ T56 w 343"/>
                  <a:gd name="T58" fmla="+- 0 283 -22"/>
                  <a:gd name="T59" fmla="*/ 283 h 346"/>
                  <a:gd name="T60" fmla="+- 0 6422 6178"/>
                  <a:gd name="T61" fmla="*/ T60 w 343"/>
                  <a:gd name="T62" fmla="+- 0 309 -22"/>
                  <a:gd name="T63" fmla="*/ 309 h 346"/>
                  <a:gd name="T64" fmla="+- 0 6374 6178"/>
                  <a:gd name="T65" fmla="*/ T64 w 343"/>
                  <a:gd name="T66" fmla="+- 0 324 -22"/>
                  <a:gd name="T67" fmla="*/ 324 h 346"/>
                  <a:gd name="T68" fmla="+- 0 6324 6178"/>
                  <a:gd name="T69" fmla="*/ T68 w 343"/>
                  <a:gd name="T70" fmla="+- 0 324 -22"/>
                  <a:gd name="T71" fmla="*/ 324 h 346"/>
                  <a:gd name="T72" fmla="+- 0 6281 6178"/>
                  <a:gd name="T73" fmla="*/ T72 w 343"/>
                  <a:gd name="T74" fmla="+- 0 309 -22"/>
                  <a:gd name="T75" fmla="*/ 309 h 346"/>
                  <a:gd name="T76" fmla="+- 0 6235 6178"/>
                  <a:gd name="T77" fmla="*/ T76 w 343"/>
                  <a:gd name="T78" fmla="+- 0 283 -22"/>
                  <a:gd name="T79" fmla="*/ 283 h 346"/>
                  <a:gd name="T80" fmla="+- 0 6204 6178"/>
                  <a:gd name="T81" fmla="*/ T80 w 343"/>
                  <a:gd name="T82" fmla="+- 0 242 -22"/>
                  <a:gd name="T83" fmla="*/ 242 h 346"/>
                  <a:gd name="T84" fmla="+- 0 6185 6178"/>
                  <a:gd name="T85" fmla="*/ T84 w 343"/>
                  <a:gd name="T86" fmla="+- 0 199 -22"/>
                  <a:gd name="T87" fmla="*/ 199 h 346"/>
                  <a:gd name="T88" fmla="+- 0 6178 6178"/>
                  <a:gd name="T89" fmla="*/ T88 w 343"/>
                  <a:gd name="T90" fmla="+- 0 151 -22"/>
                  <a:gd name="T91" fmla="*/ 151 h 34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6">
                    <a:moveTo>
                      <a:pt x="0" y="173"/>
                    </a:moveTo>
                    <a:lnTo>
                      <a:pt x="7" y="125"/>
                    </a:lnTo>
                    <a:lnTo>
                      <a:pt x="26" y="77"/>
                    </a:lnTo>
                    <a:lnTo>
                      <a:pt x="57" y="41"/>
                    </a:lnTo>
                    <a:lnTo>
                      <a:pt x="103" y="17"/>
                    </a:lnTo>
                    <a:lnTo>
                      <a:pt x="146" y="0"/>
                    </a:lnTo>
                    <a:lnTo>
                      <a:pt x="196" y="0"/>
                    </a:lnTo>
                    <a:lnTo>
                      <a:pt x="244" y="17"/>
                    </a:lnTo>
                    <a:lnTo>
                      <a:pt x="285" y="41"/>
                    </a:lnTo>
                    <a:lnTo>
                      <a:pt x="319" y="77"/>
                    </a:lnTo>
                    <a:lnTo>
                      <a:pt x="340" y="125"/>
                    </a:lnTo>
                    <a:lnTo>
                      <a:pt x="343" y="173"/>
                    </a:lnTo>
                    <a:lnTo>
                      <a:pt x="340" y="221"/>
                    </a:lnTo>
                    <a:lnTo>
                      <a:pt x="319" y="264"/>
                    </a:lnTo>
                    <a:lnTo>
                      <a:pt x="285" y="305"/>
                    </a:lnTo>
                    <a:lnTo>
                      <a:pt x="244" y="331"/>
                    </a:lnTo>
                    <a:lnTo>
                      <a:pt x="196" y="346"/>
                    </a:lnTo>
                    <a:lnTo>
                      <a:pt x="146" y="346"/>
                    </a:lnTo>
                    <a:lnTo>
                      <a:pt x="103" y="331"/>
                    </a:lnTo>
                    <a:lnTo>
                      <a:pt x="57" y="305"/>
                    </a:lnTo>
                    <a:lnTo>
                      <a:pt x="26" y="264"/>
                    </a:lnTo>
                    <a:lnTo>
                      <a:pt x="7" y="221"/>
                    </a:lnTo>
                    <a:lnTo>
                      <a:pt x="0" y="173"/>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Freeform 16"/>
              <p:cNvSpPr>
                <a:spLocks/>
              </p:cNvSpPr>
              <p:nvPr/>
            </p:nvSpPr>
            <p:spPr bwMode="auto">
              <a:xfrm>
                <a:off x="6134" y="-497"/>
                <a:ext cx="432" cy="0"/>
              </a:xfrm>
              <a:custGeom>
                <a:avLst/>
                <a:gdLst>
                  <a:gd name="T0" fmla="+- 0 6134 6134"/>
                  <a:gd name="T1" fmla="*/ T0 w 432"/>
                  <a:gd name="T2" fmla="+- 0 6566 6134"/>
                  <a:gd name="T3" fmla="*/ T2 w 432"/>
                </a:gdLst>
                <a:ahLst/>
                <a:cxnLst>
                  <a:cxn ang="0">
                    <a:pos x="T1" y="0"/>
                  </a:cxn>
                  <a:cxn ang="0">
                    <a:pos x="T3" y="0"/>
                  </a:cxn>
                </a:cxnLst>
                <a:rect l="0" t="0" r="r" b="b"/>
                <a:pathLst>
                  <a:path w="432">
                    <a:moveTo>
                      <a:pt x="0" y="0"/>
                    </a:moveTo>
                    <a:lnTo>
                      <a:pt x="432"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Freeform 15"/>
              <p:cNvSpPr>
                <a:spLocks/>
              </p:cNvSpPr>
              <p:nvPr/>
            </p:nvSpPr>
            <p:spPr bwMode="auto">
              <a:xfrm>
                <a:off x="4620" y="-984"/>
                <a:ext cx="3895" cy="3125"/>
              </a:xfrm>
              <a:custGeom>
                <a:avLst/>
                <a:gdLst>
                  <a:gd name="T0" fmla="+- 0 4620 4620"/>
                  <a:gd name="T1" fmla="*/ T0 w 3895"/>
                  <a:gd name="T2" fmla="+- 0 -972 -984"/>
                  <a:gd name="T3" fmla="*/ -972 h 3125"/>
                  <a:gd name="T4" fmla="+- 0 4848 4620"/>
                  <a:gd name="T5" fmla="*/ T4 w 3895"/>
                  <a:gd name="T6" fmla="+- 0 -984 -984"/>
                  <a:gd name="T7" fmla="*/ -984 h 3125"/>
                  <a:gd name="T8" fmla="+- 0 5078 4620"/>
                  <a:gd name="T9" fmla="*/ T8 w 3895"/>
                  <a:gd name="T10" fmla="+- 0 -984 -984"/>
                  <a:gd name="T11" fmla="*/ -984 h 3125"/>
                  <a:gd name="T12" fmla="+- 0 5306 4620"/>
                  <a:gd name="T13" fmla="*/ T12 w 3895"/>
                  <a:gd name="T14" fmla="+- 0 -970 -984"/>
                  <a:gd name="T15" fmla="*/ -970 h 3125"/>
                  <a:gd name="T16" fmla="+- 0 5530 4620"/>
                  <a:gd name="T17" fmla="*/ T16 w 3895"/>
                  <a:gd name="T18" fmla="+- 0 -944 -984"/>
                  <a:gd name="T19" fmla="*/ -944 h 3125"/>
                  <a:gd name="T20" fmla="+- 0 5753 4620"/>
                  <a:gd name="T21" fmla="*/ T20 w 3895"/>
                  <a:gd name="T22" fmla="+- 0 -903 -984"/>
                  <a:gd name="T23" fmla="*/ -903 h 3125"/>
                  <a:gd name="T24" fmla="+- 0 5971 4620"/>
                  <a:gd name="T25" fmla="*/ T24 w 3895"/>
                  <a:gd name="T26" fmla="+- 0 -852 -984"/>
                  <a:gd name="T27" fmla="*/ -852 h 3125"/>
                  <a:gd name="T28" fmla="+- 0 6185 4620"/>
                  <a:gd name="T29" fmla="*/ T28 w 3895"/>
                  <a:gd name="T30" fmla="+- 0 -790 -984"/>
                  <a:gd name="T31" fmla="*/ -790 h 3125"/>
                  <a:gd name="T32" fmla="+- 0 6394 4620"/>
                  <a:gd name="T33" fmla="*/ T32 w 3895"/>
                  <a:gd name="T34" fmla="+- 0 -718 -984"/>
                  <a:gd name="T35" fmla="*/ -718 h 3125"/>
                  <a:gd name="T36" fmla="+- 0 6595 4620"/>
                  <a:gd name="T37" fmla="*/ T36 w 3895"/>
                  <a:gd name="T38" fmla="+- 0 -629 -984"/>
                  <a:gd name="T39" fmla="*/ -629 h 3125"/>
                  <a:gd name="T40" fmla="+- 0 6792 4620"/>
                  <a:gd name="T41" fmla="*/ T40 w 3895"/>
                  <a:gd name="T42" fmla="+- 0 -533 -984"/>
                  <a:gd name="T43" fmla="*/ -533 h 3125"/>
                  <a:gd name="T44" fmla="+- 0 6979 4620"/>
                  <a:gd name="T45" fmla="*/ T44 w 3895"/>
                  <a:gd name="T46" fmla="+- 0 -423 -984"/>
                  <a:gd name="T47" fmla="*/ -423 h 3125"/>
                  <a:gd name="T48" fmla="+- 0 7159 4620"/>
                  <a:gd name="T49" fmla="*/ T48 w 3895"/>
                  <a:gd name="T50" fmla="+- 0 -308 -984"/>
                  <a:gd name="T51" fmla="*/ -308 h 3125"/>
                  <a:gd name="T52" fmla="+- 0 7332 4620"/>
                  <a:gd name="T53" fmla="*/ T52 w 3895"/>
                  <a:gd name="T54" fmla="+- 0 -178 -984"/>
                  <a:gd name="T55" fmla="*/ -178 h 3125"/>
                  <a:gd name="T56" fmla="+- 0 7493 4620"/>
                  <a:gd name="T57" fmla="*/ T56 w 3895"/>
                  <a:gd name="T58" fmla="+- 0 -39 -984"/>
                  <a:gd name="T59" fmla="*/ -39 h 3125"/>
                  <a:gd name="T60" fmla="+- 0 7644 4620"/>
                  <a:gd name="T61" fmla="*/ T60 w 3895"/>
                  <a:gd name="T62" fmla="+- 0 108 -984"/>
                  <a:gd name="T63" fmla="*/ 108 h 3125"/>
                  <a:gd name="T64" fmla="+- 0 7786 4620"/>
                  <a:gd name="T65" fmla="*/ T64 w 3895"/>
                  <a:gd name="T66" fmla="+- 0 261 -984"/>
                  <a:gd name="T67" fmla="*/ 261 h 3125"/>
                  <a:gd name="T68" fmla="+- 0 7915 4620"/>
                  <a:gd name="T69" fmla="*/ T68 w 3895"/>
                  <a:gd name="T70" fmla="+- 0 427 -984"/>
                  <a:gd name="T71" fmla="*/ 427 h 3125"/>
                  <a:gd name="T72" fmla="+- 0 8030 4620"/>
                  <a:gd name="T73" fmla="*/ T72 w 3895"/>
                  <a:gd name="T74" fmla="+- 0 595 -984"/>
                  <a:gd name="T75" fmla="*/ 595 h 3125"/>
                  <a:gd name="T76" fmla="+- 0 8138 4620"/>
                  <a:gd name="T77" fmla="*/ T76 w 3895"/>
                  <a:gd name="T78" fmla="+- 0 775 -984"/>
                  <a:gd name="T79" fmla="*/ 775 h 3125"/>
                  <a:gd name="T80" fmla="+- 0 8232 4620"/>
                  <a:gd name="T81" fmla="*/ T80 w 3895"/>
                  <a:gd name="T82" fmla="+- 0 957 -984"/>
                  <a:gd name="T83" fmla="*/ 957 h 3125"/>
                  <a:gd name="T84" fmla="+- 0 8314 4620"/>
                  <a:gd name="T85" fmla="*/ T84 w 3895"/>
                  <a:gd name="T86" fmla="+- 0 1144 -984"/>
                  <a:gd name="T87" fmla="*/ 1144 h 3125"/>
                  <a:gd name="T88" fmla="+- 0 8378 4620"/>
                  <a:gd name="T89" fmla="*/ T88 w 3895"/>
                  <a:gd name="T90" fmla="+- 0 1339 -984"/>
                  <a:gd name="T91" fmla="*/ 1339 h 3125"/>
                  <a:gd name="T92" fmla="+- 0 8434 4620"/>
                  <a:gd name="T93" fmla="*/ T92 w 3895"/>
                  <a:gd name="T94" fmla="+- 0 1533 -984"/>
                  <a:gd name="T95" fmla="*/ 1533 h 3125"/>
                  <a:gd name="T96" fmla="+- 0 8474 4620"/>
                  <a:gd name="T97" fmla="*/ T96 w 3895"/>
                  <a:gd name="T98" fmla="+- 0 1735 -984"/>
                  <a:gd name="T99" fmla="*/ 1735 h 3125"/>
                  <a:gd name="T100" fmla="+- 0 8501 4620"/>
                  <a:gd name="T101" fmla="*/ T100 w 3895"/>
                  <a:gd name="T102" fmla="+- 0 1934 -984"/>
                  <a:gd name="T103" fmla="*/ 1934 h 3125"/>
                  <a:gd name="T104" fmla="+- 0 8515 4620"/>
                  <a:gd name="T105" fmla="*/ T104 w 3895"/>
                  <a:gd name="T106" fmla="+- 0 2140 -984"/>
                  <a:gd name="T107" fmla="*/ 2140 h 312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Lst>
                <a:rect l="0" t="0" r="r" b="b"/>
                <a:pathLst>
                  <a:path w="3895" h="3125">
                    <a:moveTo>
                      <a:pt x="0" y="12"/>
                    </a:moveTo>
                    <a:lnTo>
                      <a:pt x="228" y="0"/>
                    </a:lnTo>
                    <a:lnTo>
                      <a:pt x="458" y="0"/>
                    </a:lnTo>
                    <a:lnTo>
                      <a:pt x="686" y="14"/>
                    </a:lnTo>
                    <a:lnTo>
                      <a:pt x="910" y="40"/>
                    </a:lnTo>
                    <a:lnTo>
                      <a:pt x="1133" y="81"/>
                    </a:lnTo>
                    <a:lnTo>
                      <a:pt x="1351" y="132"/>
                    </a:lnTo>
                    <a:lnTo>
                      <a:pt x="1565" y="194"/>
                    </a:lnTo>
                    <a:lnTo>
                      <a:pt x="1774" y="266"/>
                    </a:lnTo>
                    <a:lnTo>
                      <a:pt x="1975" y="355"/>
                    </a:lnTo>
                    <a:lnTo>
                      <a:pt x="2172" y="451"/>
                    </a:lnTo>
                    <a:lnTo>
                      <a:pt x="2359" y="561"/>
                    </a:lnTo>
                    <a:lnTo>
                      <a:pt x="2539" y="676"/>
                    </a:lnTo>
                    <a:lnTo>
                      <a:pt x="2712" y="806"/>
                    </a:lnTo>
                    <a:lnTo>
                      <a:pt x="2873" y="945"/>
                    </a:lnTo>
                    <a:lnTo>
                      <a:pt x="3024" y="1092"/>
                    </a:lnTo>
                    <a:lnTo>
                      <a:pt x="3166" y="1245"/>
                    </a:lnTo>
                    <a:lnTo>
                      <a:pt x="3295" y="1411"/>
                    </a:lnTo>
                    <a:lnTo>
                      <a:pt x="3410" y="1579"/>
                    </a:lnTo>
                    <a:lnTo>
                      <a:pt x="3518" y="1759"/>
                    </a:lnTo>
                    <a:lnTo>
                      <a:pt x="3612" y="1941"/>
                    </a:lnTo>
                    <a:lnTo>
                      <a:pt x="3694" y="2128"/>
                    </a:lnTo>
                    <a:lnTo>
                      <a:pt x="3758" y="2323"/>
                    </a:lnTo>
                    <a:lnTo>
                      <a:pt x="3814" y="2517"/>
                    </a:lnTo>
                    <a:lnTo>
                      <a:pt x="3854" y="2719"/>
                    </a:lnTo>
                    <a:lnTo>
                      <a:pt x="3881" y="2918"/>
                    </a:lnTo>
                    <a:lnTo>
                      <a:pt x="3895" y="3124"/>
                    </a:lnTo>
                  </a:path>
                </a:pathLst>
              </a:custGeom>
              <a:noFill/>
              <a:ln w="2286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Freeform 10"/>
              <p:cNvSpPr>
                <a:spLocks/>
              </p:cNvSpPr>
              <p:nvPr/>
            </p:nvSpPr>
            <p:spPr bwMode="auto">
              <a:xfrm>
                <a:off x="6283" y="-562"/>
                <a:ext cx="132" cy="127"/>
              </a:xfrm>
              <a:custGeom>
                <a:avLst/>
                <a:gdLst>
                  <a:gd name="T0" fmla="+- 0 6283 6283"/>
                  <a:gd name="T1" fmla="*/ T0 w 132"/>
                  <a:gd name="T2" fmla="+- 0 -497 -562"/>
                  <a:gd name="T3" fmla="*/ -497 h 127"/>
                  <a:gd name="T4" fmla="+- 0 6290 6283"/>
                  <a:gd name="T5" fmla="*/ T4 w 132"/>
                  <a:gd name="T6" fmla="+- 0 -471 -562"/>
                  <a:gd name="T7" fmla="*/ -471 h 127"/>
                  <a:gd name="T8" fmla="+- 0 6310 6283"/>
                  <a:gd name="T9" fmla="*/ T8 w 132"/>
                  <a:gd name="T10" fmla="+- 0 -447 -562"/>
                  <a:gd name="T11" fmla="*/ -447 h 127"/>
                  <a:gd name="T12" fmla="+- 0 6336 6283"/>
                  <a:gd name="T13" fmla="*/ T12 w 132"/>
                  <a:gd name="T14" fmla="+- 0 -435 -562"/>
                  <a:gd name="T15" fmla="*/ -435 h 127"/>
                  <a:gd name="T16" fmla="+- 0 6365 6283"/>
                  <a:gd name="T17" fmla="*/ T16 w 132"/>
                  <a:gd name="T18" fmla="+- 0 -435 -562"/>
                  <a:gd name="T19" fmla="*/ -435 h 127"/>
                  <a:gd name="T20" fmla="+- 0 6389 6283"/>
                  <a:gd name="T21" fmla="*/ T20 w 132"/>
                  <a:gd name="T22" fmla="+- 0 -447 -562"/>
                  <a:gd name="T23" fmla="*/ -447 h 127"/>
                  <a:gd name="T24" fmla="+- 0 6408 6283"/>
                  <a:gd name="T25" fmla="*/ T24 w 132"/>
                  <a:gd name="T26" fmla="+- 0 -471 -562"/>
                  <a:gd name="T27" fmla="*/ -471 h 127"/>
                  <a:gd name="T28" fmla="+- 0 6415 6283"/>
                  <a:gd name="T29" fmla="*/ T28 w 132"/>
                  <a:gd name="T30" fmla="+- 0 -497 -562"/>
                  <a:gd name="T31" fmla="*/ -497 h 127"/>
                  <a:gd name="T32" fmla="+- 0 6408 6283"/>
                  <a:gd name="T33" fmla="*/ T32 w 132"/>
                  <a:gd name="T34" fmla="+- 0 -526 -562"/>
                  <a:gd name="T35" fmla="*/ -526 h 127"/>
                  <a:gd name="T36" fmla="+- 0 6389 6283"/>
                  <a:gd name="T37" fmla="*/ T36 w 132"/>
                  <a:gd name="T38" fmla="+- 0 -548 -562"/>
                  <a:gd name="T39" fmla="*/ -548 h 127"/>
                  <a:gd name="T40" fmla="+- 0 6365 6283"/>
                  <a:gd name="T41" fmla="*/ T40 w 132"/>
                  <a:gd name="T42" fmla="+- 0 -562 -562"/>
                  <a:gd name="T43" fmla="*/ -562 h 127"/>
                  <a:gd name="T44" fmla="+- 0 6336 6283"/>
                  <a:gd name="T45" fmla="*/ T44 w 132"/>
                  <a:gd name="T46" fmla="+- 0 -562 -562"/>
                  <a:gd name="T47" fmla="*/ -562 h 127"/>
                  <a:gd name="T48" fmla="+- 0 6310 6283"/>
                  <a:gd name="T49" fmla="*/ T48 w 132"/>
                  <a:gd name="T50" fmla="+- 0 -548 -562"/>
                  <a:gd name="T51" fmla="*/ -548 h 127"/>
                  <a:gd name="T52" fmla="+- 0 6290 6283"/>
                  <a:gd name="T53" fmla="*/ T52 w 132"/>
                  <a:gd name="T54" fmla="+- 0 -526 -562"/>
                  <a:gd name="T55" fmla="*/ -526 h 127"/>
                  <a:gd name="T56" fmla="+- 0 6283 6283"/>
                  <a:gd name="T57" fmla="*/ T56 w 132"/>
                  <a:gd name="T58" fmla="+- 0 -497 -562"/>
                  <a:gd name="T59" fmla="*/ -497 h 12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27">
                    <a:moveTo>
                      <a:pt x="0" y="65"/>
                    </a:moveTo>
                    <a:lnTo>
                      <a:pt x="7" y="91"/>
                    </a:lnTo>
                    <a:lnTo>
                      <a:pt x="27" y="115"/>
                    </a:lnTo>
                    <a:lnTo>
                      <a:pt x="53" y="127"/>
                    </a:lnTo>
                    <a:lnTo>
                      <a:pt x="82" y="127"/>
                    </a:lnTo>
                    <a:lnTo>
                      <a:pt x="106" y="115"/>
                    </a:lnTo>
                    <a:lnTo>
                      <a:pt x="125" y="91"/>
                    </a:lnTo>
                    <a:lnTo>
                      <a:pt x="132" y="65"/>
                    </a:lnTo>
                    <a:lnTo>
                      <a:pt x="125" y="36"/>
                    </a:lnTo>
                    <a:lnTo>
                      <a:pt x="106" y="14"/>
                    </a:lnTo>
                    <a:lnTo>
                      <a:pt x="82" y="0"/>
                    </a:lnTo>
                    <a:lnTo>
                      <a:pt x="53" y="0"/>
                    </a:lnTo>
                    <a:lnTo>
                      <a:pt x="27" y="14"/>
                    </a:lnTo>
                    <a:lnTo>
                      <a:pt x="7" y="36"/>
                    </a:lnTo>
                    <a:lnTo>
                      <a:pt x="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9"/>
              <p:cNvSpPr>
                <a:spLocks/>
              </p:cNvSpPr>
              <p:nvPr/>
            </p:nvSpPr>
            <p:spPr bwMode="auto">
              <a:xfrm>
                <a:off x="6283" y="-562"/>
                <a:ext cx="132" cy="127"/>
              </a:xfrm>
              <a:custGeom>
                <a:avLst/>
                <a:gdLst>
                  <a:gd name="T0" fmla="+- 0 6283 6283"/>
                  <a:gd name="T1" fmla="*/ T0 w 132"/>
                  <a:gd name="T2" fmla="+- 0 -497 -562"/>
                  <a:gd name="T3" fmla="*/ -497 h 127"/>
                  <a:gd name="T4" fmla="+- 0 6290 6283"/>
                  <a:gd name="T5" fmla="*/ T4 w 132"/>
                  <a:gd name="T6" fmla="+- 0 -526 -562"/>
                  <a:gd name="T7" fmla="*/ -526 h 127"/>
                  <a:gd name="T8" fmla="+- 0 6310 6283"/>
                  <a:gd name="T9" fmla="*/ T8 w 132"/>
                  <a:gd name="T10" fmla="+- 0 -548 -562"/>
                  <a:gd name="T11" fmla="*/ -548 h 127"/>
                  <a:gd name="T12" fmla="+- 0 6336 6283"/>
                  <a:gd name="T13" fmla="*/ T12 w 132"/>
                  <a:gd name="T14" fmla="+- 0 -562 -562"/>
                  <a:gd name="T15" fmla="*/ -562 h 127"/>
                  <a:gd name="T16" fmla="+- 0 6365 6283"/>
                  <a:gd name="T17" fmla="*/ T16 w 132"/>
                  <a:gd name="T18" fmla="+- 0 -562 -562"/>
                  <a:gd name="T19" fmla="*/ -562 h 127"/>
                  <a:gd name="T20" fmla="+- 0 6389 6283"/>
                  <a:gd name="T21" fmla="*/ T20 w 132"/>
                  <a:gd name="T22" fmla="+- 0 -548 -562"/>
                  <a:gd name="T23" fmla="*/ -548 h 127"/>
                  <a:gd name="T24" fmla="+- 0 6408 6283"/>
                  <a:gd name="T25" fmla="*/ T24 w 132"/>
                  <a:gd name="T26" fmla="+- 0 -526 -562"/>
                  <a:gd name="T27" fmla="*/ -526 h 127"/>
                  <a:gd name="T28" fmla="+- 0 6415 6283"/>
                  <a:gd name="T29" fmla="*/ T28 w 132"/>
                  <a:gd name="T30" fmla="+- 0 -497 -562"/>
                  <a:gd name="T31" fmla="*/ -497 h 127"/>
                  <a:gd name="T32" fmla="+- 0 6408 6283"/>
                  <a:gd name="T33" fmla="*/ T32 w 132"/>
                  <a:gd name="T34" fmla="+- 0 -471 -562"/>
                  <a:gd name="T35" fmla="*/ -471 h 127"/>
                  <a:gd name="T36" fmla="+- 0 6389 6283"/>
                  <a:gd name="T37" fmla="*/ T36 w 132"/>
                  <a:gd name="T38" fmla="+- 0 -447 -562"/>
                  <a:gd name="T39" fmla="*/ -447 h 127"/>
                  <a:gd name="T40" fmla="+- 0 6365 6283"/>
                  <a:gd name="T41" fmla="*/ T40 w 132"/>
                  <a:gd name="T42" fmla="+- 0 -435 -562"/>
                  <a:gd name="T43" fmla="*/ -435 h 127"/>
                  <a:gd name="T44" fmla="+- 0 6336 6283"/>
                  <a:gd name="T45" fmla="*/ T44 w 132"/>
                  <a:gd name="T46" fmla="+- 0 -435 -562"/>
                  <a:gd name="T47" fmla="*/ -435 h 127"/>
                  <a:gd name="T48" fmla="+- 0 6310 6283"/>
                  <a:gd name="T49" fmla="*/ T48 w 132"/>
                  <a:gd name="T50" fmla="+- 0 -447 -562"/>
                  <a:gd name="T51" fmla="*/ -447 h 127"/>
                  <a:gd name="T52" fmla="+- 0 6290 6283"/>
                  <a:gd name="T53" fmla="*/ T52 w 132"/>
                  <a:gd name="T54" fmla="+- 0 -471 -562"/>
                  <a:gd name="T55" fmla="*/ -471 h 127"/>
                  <a:gd name="T56" fmla="+- 0 6283 6283"/>
                  <a:gd name="T57" fmla="*/ T56 w 132"/>
                  <a:gd name="T58" fmla="+- 0 -497 -562"/>
                  <a:gd name="T59" fmla="*/ -497 h 12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27">
                    <a:moveTo>
                      <a:pt x="0" y="65"/>
                    </a:moveTo>
                    <a:lnTo>
                      <a:pt x="7" y="36"/>
                    </a:lnTo>
                    <a:lnTo>
                      <a:pt x="27" y="14"/>
                    </a:lnTo>
                    <a:lnTo>
                      <a:pt x="53" y="0"/>
                    </a:lnTo>
                    <a:lnTo>
                      <a:pt x="82" y="0"/>
                    </a:lnTo>
                    <a:lnTo>
                      <a:pt x="106" y="14"/>
                    </a:lnTo>
                    <a:lnTo>
                      <a:pt x="125" y="36"/>
                    </a:lnTo>
                    <a:lnTo>
                      <a:pt x="132" y="65"/>
                    </a:lnTo>
                    <a:lnTo>
                      <a:pt x="125" y="91"/>
                    </a:lnTo>
                    <a:lnTo>
                      <a:pt x="106" y="115"/>
                    </a:lnTo>
                    <a:lnTo>
                      <a:pt x="82" y="127"/>
                    </a:lnTo>
                    <a:lnTo>
                      <a:pt x="53" y="127"/>
                    </a:lnTo>
                    <a:lnTo>
                      <a:pt x="27" y="115"/>
                    </a:lnTo>
                    <a:lnTo>
                      <a:pt x="7" y="91"/>
                    </a:lnTo>
                    <a:lnTo>
                      <a:pt x="0" y="65"/>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Freeform 5"/>
              <p:cNvSpPr>
                <a:spLocks/>
              </p:cNvSpPr>
              <p:nvPr/>
            </p:nvSpPr>
            <p:spPr bwMode="auto">
              <a:xfrm>
                <a:off x="7651" y="-2014"/>
                <a:ext cx="141" cy="816"/>
              </a:xfrm>
              <a:custGeom>
                <a:avLst/>
                <a:gdLst>
                  <a:gd name="T0" fmla="+- 0 -2014 -2014"/>
                  <a:gd name="T1" fmla="*/ -2014 h 305"/>
                  <a:gd name="T2" fmla="+- 0 -1709 -2014"/>
                  <a:gd name="T3" fmla="*/ -1709 h 305"/>
                </a:gdLst>
                <a:ahLst/>
                <a:cxnLst>
                  <a:cxn ang="0">
                    <a:pos x="0" y="T1"/>
                  </a:cxn>
                  <a:cxn ang="0">
                    <a:pos x="0" y="T3"/>
                  </a:cxn>
                </a:cxnLst>
                <a:rect l="0" t="0" r="r" b="b"/>
                <a:pathLst>
                  <a:path h="305">
                    <a:moveTo>
                      <a:pt x="0" y="0"/>
                    </a:moveTo>
                    <a:lnTo>
                      <a:pt x="0" y="305"/>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2" name="Freeform 3"/>
              <p:cNvSpPr>
                <a:spLocks/>
              </p:cNvSpPr>
              <p:nvPr/>
            </p:nvSpPr>
            <p:spPr bwMode="auto">
              <a:xfrm>
                <a:off x="6283" y="-780"/>
                <a:ext cx="132" cy="130"/>
              </a:xfrm>
              <a:custGeom>
                <a:avLst/>
                <a:gdLst>
                  <a:gd name="T0" fmla="+- 0 6283 6283"/>
                  <a:gd name="T1" fmla="*/ T0 w 132"/>
                  <a:gd name="T2" fmla="+- 0 -713 -780"/>
                  <a:gd name="T3" fmla="*/ -713 h 130"/>
                  <a:gd name="T4" fmla="+- 0 6290 6283"/>
                  <a:gd name="T5" fmla="*/ T4 w 132"/>
                  <a:gd name="T6" fmla="+- 0 -687 -780"/>
                  <a:gd name="T7" fmla="*/ -687 h 130"/>
                  <a:gd name="T8" fmla="+- 0 6310 6283"/>
                  <a:gd name="T9" fmla="*/ T8 w 132"/>
                  <a:gd name="T10" fmla="+- 0 -663 -780"/>
                  <a:gd name="T11" fmla="*/ -663 h 130"/>
                  <a:gd name="T12" fmla="+- 0 6336 6283"/>
                  <a:gd name="T13" fmla="*/ T12 w 132"/>
                  <a:gd name="T14" fmla="+- 0 -651 -780"/>
                  <a:gd name="T15" fmla="*/ -651 h 130"/>
                  <a:gd name="T16" fmla="+- 0 6365 6283"/>
                  <a:gd name="T17" fmla="*/ T16 w 132"/>
                  <a:gd name="T18" fmla="+- 0 -651 -780"/>
                  <a:gd name="T19" fmla="*/ -651 h 130"/>
                  <a:gd name="T20" fmla="+- 0 6389 6283"/>
                  <a:gd name="T21" fmla="*/ T20 w 132"/>
                  <a:gd name="T22" fmla="+- 0 -663 -780"/>
                  <a:gd name="T23" fmla="*/ -663 h 130"/>
                  <a:gd name="T24" fmla="+- 0 6408 6283"/>
                  <a:gd name="T25" fmla="*/ T24 w 132"/>
                  <a:gd name="T26" fmla="+- 0 -687 -780"/>
                  <a:gd name="T27" fmla="*/ -687 h 130"/>
                  <a:gd name="T28" fmla="+- 0 6415 6283"/>
                  <a:gd name="T29" fmla="*/ T28 w 132"/>
                  <a:gd name="T30" fmla="+- 0 -713 -780"/>
                  <a:gd name="T31" fmla="*/ -713 h 130"/>
                  <a:gd name="T32" fmla="+- 0 6408 6283"/>
                  <a:gd name="T33" fmla="*/ T32 w 132"/>
                  <a:gd name="T34" fmla="+- 0 -742 -780"/>
                  <a:gd name="T35" fmla="*/ -742 h 130"/>
                  <a:gd name="T36" fmla="+- 0 6389 6283"/>
                  <a:gd name="T37" fmla="*/ T36 w 132"/>
                  <a:gd name="T38" fmla="+- 0 -764 -780"/>
                  <a:gd name="T39" fmla="*/ -764 h 130"/>
                  <a:gd name="T40" fmla="+- 0 6365 6283"/>
                  <a:gd name="T41" fmla="*/ T40 w 132"/>
                  <a:gd name="T42" fmla="+- 0 -780 -780"/>
                  <a:gd name="T43" fmla="*/ -780 h 130"/>
                  <a:gd name="T44" fmla="+- 0 6336 6283"/>
                  <a:gd name="T45" fmla="*/ T44 w 132"/>
                  <a:gd name="T46" fmla="+- 0 -780 -780"/>
                  <a:gd name="T47" fmla="*/ -780 h 130"/>
                  <a:gd name="T48" fmla="+- 0 6310 6283"/>
                  <a:gd name="T49" fmla="*/ T48 w 132"/>
                  <a:gd name="T50" fmla="+- 0 -764 -780"/>
                  <a:gd name="T51" fmla="*/ -764 h 130"/>
                  <a:gd name="T52" fmla="+- 0 6290 6283"/>
                  <a:gd name="T53" fmla="*/ T52 w 132"/>
                  <a:gd name="T54" fmla="+- 0 -742 -780"/>
                  <a:gd name="T55" fmla="*/ -742 h 130"/>
                  <a:gd name="T56" fmla="+- 0 6283 6283"/>
                  <a:gd name="T57" fmla="*/ T56 w 132"/>
                  <a:gd name="T58" fmla="+- 0 -713 -780"/>
                  <a:gd name="T59" fmla="*/ -713 h 13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30">
                    <a:moveTo>
                      <a:pt x="0" y="67"/>
                    </a:moveTo>
                    <a:lnTo>
                      <a:pt x="7" y="93"/>
                    </a:lnTo>
                    <a:lnTo>
                      <a:pt x="27" y="117"/>
                    </a:lnTo>
                    <a:lnTo>
                      <a:pt x="53" y="129"/>
                    </a:lnTo>
                    <a:lnTo>
                      <a:pt x="82" y="129"/>
                    </a:lnTo>
                    <a:lnTo>
                      <a:pt x="106" y="117"/>
                    </a:lnTo>
                    <a:lnTo>
                      <a:pt x="125" y="93"/>
                    </a:lnTo>
                    <a:lnTo>
                      <a:pt x="132" y="67"/>
                    </a:lnTo>
                    <a:lnTo>
                      <a:pt x="125" y="38"/>
                    </a:lnTo>
                    <a:lnTo>
                      <a:pt x="106" y="16"/>
                    </a:lnTo>
                    <a:lnTo>
                      <a:pt x="82" y="0"/>
                    </a:lnTo>
                    <a:lnTo>
                      <a:pt x="53" y="0"/>
                    </a:lnTo>
                    <a:lnTo>
                      <a:pt x="27" y="16"/>
                    </a:lnTo>
                    <a:lnTo>
                      <a:pt x="7" y="38"/>
                    </a:lnTo>
                    <a:lnTo>
                      <a:pt x="0"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
              <p:cNvSpPr>
                <a:spLocks/>
              </p:cNvSpPr>
              <p:nvPr/>
            </p:nvSpPr>
            <p:spPr bwMode="auto">
              <a:xfrm>
                <a:off x="6283" y="-780"/>
                <a:ext cx="132" cy="130"/>
              </a:xfrm>
              <a:custGeom>
                <a:avLst/>
                <a:gdLst>
                  <a:gd name="T0" fmla="+- 0 6283 6283"/>
                  <a:gd name="T1" fmla="*/ T0 w 132"/>
                  <a:gd name="T2" fmla="+- 0 -713 -780"/>
                  <a:gd name="T3" fmla="*/ -713 h 130"/>
                  <a:gd name="T4" fmla="+- 0 6290 6283"/>
                  <a:gd name="T5" fmla="*/ T4 w 132"/>
                  <a:gd name="T6" fmla="+- 0 -742 -780"/>
                  <a:gd name="T7" fmla="*/ -742 h 130"/>
                  <a:gd name="T8" fmla="+- 0 6310 6283"/>
                  <a:gd name="T9" fmla="*/ T8 w 132"/>
                  <a:gd name="T10" fmla="+- 0 -764 -780"/>
                  <a:gd name="T11" fmla="*/ -764 h 130"/>
                  <a:gd name="T12" fmla="+- 0 6336 6283"/>
                  <a:gd name="T13" fmla="*/ T12 w 132"/>
                  <a:gd name="T14" fmla="+- 0 -780 -780"/>
                  <a:gd name="T15" fmla="*/ -780 h 130"/>
                  <a:gd name="T16" fmla="+- 0 6365 6283"/>
                  <a:gd name="T17" fmla="*/ T16 w 132"/>
                  <a:gd name="T18" fmla="+- 0 -780 -780"/>
                  <a:gd name="T19" fmla="*/ -780 h 130"/>
                  <a:gd name="T20" fmla="+- 0 6389 6283"/>
                  <a:gd name="T21" fmla="*/ T20 w 132"/>
                  <a:gd name="T22" fmla="+- 0 -764 -780"/>
                  <a:gd name="T23" fmla="*/ -764 h 130"/>
                  <a:gd name="T24" fmla="+- 0 6408 6283"/>
                  <a:gd name="T25" fmla="*/ T24 w 132"/>
                  <a:gd name="T26" fmla="+- 0 -742 -780"/>
                  <a:gd name="T27" fmla="*/ -742 h 130"/>
                  <a:gd name="T28" fmla="+- 0 6415 6283"/>
                  <a:gd name="T29" fmla="*/ T28 w 132"/>
                  <a:gd name="T30" fmla="+- 0 -713 -780"/>
                  <a:gd name="T31" fmla="*/ -713 h 130"/>
                  <a:gd name="T32" fmla="+- 0 6408 6283"/>
                  <a:gd name="T33" fmla="*/ T32 w 132"/>
                  <a:gd name="T34" fmla="+- 0 -687 -780"/>
                  <a:gd name="T35" fmla="*/ -687 h 130"/>
                  <a:gd name="T36" fmla="+- 0 6389 6283"/>
                  <a:gd name="T37" fmla="*/ T36 w 132"/>
                  <a:gd name="T38" fmla="+- 0 -663 -780"/>
                  <a:gd name="T39" fmla="*/ -663 h 130"/>
                  <a:gd name="T40" fmla="+- 0 6365 6283"/>
                  <a:gd name="T41" fmla="*/ T40 w 132"/>
                  <a:gd name="T42" fmla="+- 0 -651 -780"/>
                  <a:gd name="T43" fmla="*/ -651 h 130"/>
                  <a:gd name="T44" fmla="+- 0 6336 6283"/>
                  <a:gd name="T45" fmla="*/ T44 w 132"/>
                  <a:gd name="T46" fmla="+- 0 -651 -780"/>
                  <a:gd name="T47" fmla="*/ -651 h 130"/>
                  <a:gd name="T48" fmla="+- 0 6310 6283"/>
                  <a:gd name="T49" fmla="*/ T48 w 132"/>
                  <a:gd name="T50" fmla="+- 0 -663 -780"/>
                  <a:gd name="T51" fmla="*/ -663 h 130"/>
                  <a:gd name="T52" fmla="+- 0 6290 6283"/>
                  <a:gd name="T53" fmla="*/ T52 w 132"/>
                  <a:gd name="T54" fmla="+- 0 -687 -780"/>
                  <a:gd name="T55" fmla="*/ -687 h 130"/>
                  <a:gd name="T56" fmla="+- 0 6283 6283"/>
                  <a:gd name="T57" fmla="*/ T56 w 132"/>
                  <a:gd name="T58" fmla="+- 0 -713 -780"/>
                  <a:gd name="T59" fmla="*/ -713 h 13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30">
                    <a:moveTo>
                      <a:pt x="0" y="67"/>
                    </a:moveTo>
                    <a:lnTo>
                      <a:pt x="7" y="38"/>
                    </a:lnTo>
                    <a:lnTo>
                      <a:pt x="27" y="16"/>
                    </a:lnTo>
                    <a:lnTo>
                      <a:pt x="53" y="0"/>
                    </a:lnTo>
                    <a:lnTo>
                      <a:pt x="82" y="0"/>
                    </a:lnTo>
                    <a:lnTo>
                      <a:pt x="106" y="16"/>
                    </a:lnTo>
                    <a:lnTo>
                      <a:pt x="125" y="38"/>
                    </a:lnTo>
                    <a:lnTo>
                      <a:pt x="132" y="67"/>
                    </a:lnTo>
                    <a:lnTo>
                      <a:pt x="125" y="93"/>
                    </a:lnTo>
                    <a:lnTo>
                      <a:pt x="106" y="117"/>
                    </a:lnTo>
                    <a:lnTo>
                      <a:pt x="82" y="129"/>
                    </a:lnTo>
                    <a:lnTo>
                      <a:pt x="53" y="129"/>
                    </a:lnTo>
                    <a:lnTo>
                      <a:pt x="27" y="117"/>
                    </a:lnTo>
                    <a:lnTo>
                      <a:pt x="7" y="93"/>
                    </a:lnTo>
                    <a:lnTo>
                      <a:pt x="0" y="67"/>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p:cNvSpPr>
                <a:spLocks/>
              </p:cNvSpPr>
              <p:nvPr/>
            </p:nvSpPr>
            <p:spPr bwMode="auto">
              <a:xfrm>
                <a:off x="7454" y="816"/>
                <a:ext cx="432" cy="0"/>
              </a:xfrm>
              <a:custGeom>
                <a:avLst/>
                <a:gdLst>
                  <a:gd name="T0" fmla="+- 0 6134 6134"/>
                  <a:gd name="T1" fmla="*/ T0 w 432"/>
                  <a:gd name="T2" fmla="+- 0 6566 6134"/>
                  <a:gd name="T3" fmla="*/ T2 w 432"/>
                </a:gdLst>
                <a:ahLst/>
                <a:cxnLst>
                  <a:cxn ang="0">
                    <a:pos x="T1" y="0"/>
                  </a:cxn>
                  <a:cxn ang="0">
                    <a:pos x="T3" y="0"/>
                  </a:cxn>
                </a:cxnLst>
                <a:rect l="0" t="0" r="r" b="b"/>
                <a:pathLst>
                  <a:path w="432">
                    <a:moveTo>
                      <a:pt x="0" y="0"/>
                    </a:moveTo>
                    <a:lnTo>
                      <a:pt x="432"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16"/>
              <p:cNvSpPr>
                <a:spLocks/>
              </p:cNvSpPr>
              <p:nvPr/>
            </p:nvSpPr>
            <p:spPr bwMode="auto">
              <a:xfrm>
                <a:off x="7461" y="-498"/>
                <a:ext cx="432" cy="0"/>
              </a:xfrm>
              <a:custGeom>
                <a:avLst/>
                <a:gdLst>
                  <a:gd name="T0" fmla="+- 0 6134 6134"/>
                  <a:gd name="T1" fmla="*/ T0 w 432"/>
                  <a:gd name="T2" fmla="+- 0 6566 6134"/>
                  <a:gd name="T3" fmla="*/ T2 w 432"/>
                </a:gdLst>
                <a:ahLst/>
                <a:cxnLst>
                  <a:cxn ang="0">
                    <a:pos x="T1" y="0"/>
                  </a:cxn>
                  <a:cxn ang="0">
                    <a:pos x="T3" y="0"/>
                  </a:cxn>
                </a:cxnLst>
                <a:rect l="0" t="0" r="r" b="b"/>
                <a:pathLst>
                  <a:path w="432">
                    <a:moveTo>
                      <a:pt x="0" y="0"/>
                    </a:moveTo>
                    <a:lnTo>
                      <a:pt x="432"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75" name="TextBox 74"/>
            <p:cNvSpPr txBox="1"/>
            <p:nvPr/>
          </p:nvSpPr>
          <p:spPr>
            <a:xfrm>
              <a:off x="7805196" y="2545383"/>
              <a:ext cx="926857" cy="369332"/>
            </a:xfrm>
            <a:prstGeom prst="rect">
              <a:avLst/>
            </a:prstGeom>
            <a:noFill/>
          </p:spPr>
          <p:txBody>
            <a:bodyPr wrap="none" rtlCol="0">
              <a:spAutoFit/>
            </a:bodyPr>
            <a:lstStyle/>
            <a:p>
              <a:r>
                <a:rPr lang="en-US" smtClean="0"/>
                <a:t>P(</a:t>
              </a:r>
              <a:r>
                <a:rPr lang="en-US" smtClean="0">
                  <a:latin typeface="Arial" panose="020B0604020202020204" pitchFamily="34" charset="0"/>
                  <a:cs typeface="Arial" panose="020B0604020202020204" pitchFamily="34" charset="0"/>
                </a:rPr>
                <a:t>x</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,y</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a:t>
              </a:r>
              <a:endParaRPr lang="en-US"/>
            </a:p>
          </p:txBody>
        </p:sp>
        <p:sp>
          <p:nvSpPr>
            <p:cNvPr id="76" name="TextBox 75"/>
            <p:cNvSpPr txBox="1"/>
            <p:nvPr/>
          </p:nvSpPr>
          <p:spPr>
            <a:xfrm>
              <a:off x="9159227" y="2643998"/>
              <a:ext cx="311304" cy="369332"/>
            </a:xfrm>
            <a:prstGeom prst="rect">
              <a:avLst/>
            </a:prstGeom>
            <a:noFill/>
          </p:spPr>
          <p:txBody>
            <a:bodyPr wrap="none" rtlCol="0">
              <a:spAutoFit/>
            </a:bodyPr>
            <a:lstStyle/>
            <a:p>
              <a:r>
                <a:rPr lang="en-US"/>
                <a:t>E</a:t>
              </a:r>
            </a:p>
          </p:txBody>
        </p:sp>
        <p:sp>
          <p:nvSpPr>
            <p:cNvPr id="77" name="TextBox 76"/>
            <p:cNvSpPr txBox="1"/>
            <p:nvPr/>
          </p:nvSpPr>
          <p:spPr>
            <a:xfrm>
              <a:off x="9192332" y="3986348"/>
              <a:ext cx="437940" cy="369332"/>
            </a:xfrm>
            <a:prstGeom prst="rect">
              <a:avLst/>
            </a:prstGeom>
            <a:noFill/>
          </p:spPr>
          <p:txBody>
            <a:bodyPr wrap="none" rtlCol="0">
              <a:spAutoFit/>
            </a:bodyPr>
            <a:lstStyle/>
            <a:p>
              <a:r>
                <a:rPr lang="en-US" smtClean="0"/>
                <a:t>SE</a:t>
              </a:r>
              <a:endParaRPr lang="en-US"/>
            </a:p>
          </p:txBody>
        </p:sp>
        <p:sp>
          <p:nvSpPr>
            <p:cNvPr id="78" name="TextBox 77"/>
            <p:cNvSpPr txBox="1"/>
            <p:nvPr/>
          </p:nvSpPr>
          <p:spPr>
            <a:xfrm>
              <a:off x="8755553" y="3363613"/>
              <a:ext cx="373820" cy="369332"/>
            </a:xfrm>
            <a:prstGeom prst="rect">
              <a:avLst/>
            </a:prstGeom>
            <a:noFill/>
          </p:spPr>
          <p:txBody>
            <a:bodyPr wrap="none" rtlCol="0">
              <a:spAutoFit/>
            </a:bodyPr>
            <a:lstStyle/>
            <a:p>
              <a:r>
                <a:rPr lang="en-US" smtClean="0"/>
                <a:t>M</a:t>
              </a:r>
              <a:endParaRPr lang="en-US"/>
            </a:p>
          </p:txBody>
        </p:sp>
        <p:sp>
          <p:nvSpPr>
            <p:cNvPr id="81" name="TextBox 80"/>
            <p:cNvSpPr txBox="1"/>
            <p:nvPr/>
          </p:nvSpPr>
          <p:spPr>
            <a:xfrm>
              <a:off x="10167860" y="3285181"/>
              <a:ext cx="458780" cy="369332"/>
            </a:xfrm>
            <a:prstGeom prst="rect">
              <a:avLst/>
            </a:prstGeom>
            <a:noFill/>
          </p:spPr>
          <p:txBody>
            <a:bodyPr wrap="none" rtlCol="0">
              <a:spAutoFit/>
            </a:bodyPr>
            <a:lstStyle/>
            <a:p>
              <a:r>
                <a:rPr lang="en-US" smtClean="0"/>
                <a:t>M</a:t>
              </a:r>
              <a:r>
                <a:rPr lang="en-US" baseline="-25000" smtClean="0"/>
                <a:t>E</a:t>
              </a:r>
              <a:endParaRPr lang="en-US"/>
            </a:p>
          </p:txBody>
        </p:sp>
        <p:sp>
          <p:nvSpPr>
            <p:cNvPr id="82" name="TextBox 81"/>
            <p:cNvSpPr txBox="1"/>
            <p:nvPr/>
          </p:nvSpPr>
          <p:spPr>
            <a:xfrm>
              <a:off x="9960712" y="4272034"/>
              <a:ext cx="543739" cy="369332"/>
            </a:xfrm>
            <a:prstGeom prst="rect">
              <a:avLst/>
            </a:prstGeom>
            <a:noFill/>
          </p:spPr>
          <p:txBody>
            <a:bodyPr wrap="none" rtlCol="0">
              <a:spAutoFit/>
            </a:bodyPr>
            <a:lstStyle/>
            <a:p>
              <a:r>
                <a:rPr lang="en-US" smtClean="0"/>
                <a:t>M</a:t>
              </a:r>
              <a:r>
                <a:rPr lang="en-US" baseline="-25000" smtClean="0"/>
                <a:t>SE</a:t>
              </a:r>
              <a:endParaRPr lang="en-US"/>
            </a:p>
          </p:txBody>
        </p:sp>
      </p:grpSp>
    </p:spTree>
    <p:extLst>
      <p:ext uri="{BB962C8B-B14F-4D97-AF65-F5344CB8AC3E}">
        <p14:creationId xmlns:p14="http://schemas.microsoft.com/office/powerpoint/2010/main" val="256954858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4978" y="148616"/>
            <a:ext cx="10018713" cy="1752599"/>
          </a:xfrm>
        </p:spPr>
        <p:txBody>
          <a:bodyPr/>
          <a:lstStyle/>
          <a:p>
            <a:r>
              <a:rPr lang="en-US" smtClean="0"/>
              <a:t>Thuật toán Midpoint</a:t>
            </a:r>
            <a:endParaRPr lang="en-US"/>
          </a:p>
        </p:txBody>
      </p:sp>
      <p:sp>
        <p:nvSpPr>
          <p:cNvPr id="4" name="Slide Number Placeholder 3"/>
          <p:cNvSpPr>
            <a:spLocks noGrp="1"/>
          </p:cNvSpPr>
          <p:nvPr>
            <p:ph type="sldNum" sz="quarter" idx="12"/>
          </p:nvPr>
        </p:nvSpPr>
        <p:spPr/>
        <p:txBody>
          <a:bodyPr/>
          <a:lstStyle/>
          <a:p>
            <a:fld id="{EAC668D0-FFF1-47C5-8061-FF1B22C34E7B}" type="slidenum">
              <a:rPr lang="en-US" smtClean="0"/>
              <a:t>35</a:t>
            </a:fld>
            <a:endParaRPr lang="en-US"/>
          </a:p>
        </p:txBody>
      </p:sp>
      <p:grpSp>
        <p:nvGrpSpPr>
          <p:cNvPr id="6" name="Group 2"/>
          <p:cNvGrpSpPr>
            <a:grpSpLocks/>
          </p:cNvGrpSpPr>
          <p:nvPr/>
        </p:nvGrpSpPr>
        <p:grpSpPr bwMode="auto">
          <a:xfrm>
            <a:off x="8830532" y="596139"/>
            <a:ext cx="2670712" cy="5788802"/>
            <a:chOff x="3134" y="2205"/>
            <a:chExt cx="6005" cy="13017"/>
          </a:xfrm>
        </p:grpSpPr>
        <p:sp>
          <p:nvSpPr>
            <p:cNvPr id="7" name="Freeform 3"/>
            <p:cNvSpPr>
              <a:spLocks/>
            </p:cNvSpPr>
            <p:nvPr/>
          </p:nvSpPr>
          <p:spPr bwMode="auto">
            <a:xfrm>
              <a:off x="4418" y="2205"/>
              <a:ext cx="1822" cy="732"/>
            </a:xfrm>
            <a:custGeom>
              <a:avLst/>
              <a:gdLst>
                <a:gd name="T0" fmla="+- 0 4776 4418"/>
                <a:gd name="T1" fmla="*/ T0 w 1822"/>
                <a:gd name="T2" fmla="+- 0 2937 2205"/>
                <a:gd name="T3" fmla="*/ 2937 h 732"/>
                <a:gd name="T4" fmla="+- 0 5873 4418"/>
                <a:gd name="T5" fmla="*/ T4 w 1822"/>
                <a:gd name="T6" fmla="+- 0 2937 2205"/>
                <a:gd name="T7" fmla="*/ 2937 h 732"/>
                <a:gd name="T8" fmla="+- 0 5959 4418"/>
                <a:gd name="T9" fmla="*/ T8 w 1822"/>
                <a:gd name="T10" fmla="+- 0 2925 2205"/>
                <a:gd name="T11" fmla="*/ 2925 h 732"/>
                <a:gd name="T12" fmla="+- 0 6048 4418"/>
                <a:gd name="T13" fmla="*/ T12 w 1822"/>
                <a:gd name="T14" fmla="+- 0 2894 2205"/>
                <a:gd name="T15" fmla="*/ 2894 h 732"/>
                <a:gd name="T16" fmla="+- 0 6115 4418"/>
                <a:gd name="T17" fmla="*/ T16 w 1822"/>
                <a:gd name="T18" fmla="+- 0 2843 2205"/>
                <a:gd name="T19" fmla="*/ 2843 h 732"/>
                <a:gd name="T20" fmla="+- 0 6178 4418"/>
                <a:gd name="T21" fmla="*/ T20 w 1822"/>
                <a:gd name="T22" fmla="+- 0 2776 2205"/>
                <a:gd name="T23" fmla="*/ 2776 h 732"/>
                <a:gd name="T24" fmla="+- 0 6221 4418"/>
                <a:gd name="T25" fmla="*/ T24 w 1822"/>
                <a:gd name="T26" fmla="+- 0 2702 2205"/>
                <a:gd name="T27" fmla="*/ 2702 h 732"/>
                <a:gd name="T28" fmla="+- 0 6240 4418"/>
                <a:gd name="T29" fmla="*/ T28 w 1822"/>
                <a:gd name="T30" fmla="+- 0 2613 2205"/>
                <a:gd name="T31" fmla="*/ 2613 h 732"/>
                <a:gd name="T32" fmla="+- 0 6240 4418"/>
                <a:gd name="T33" fmla="*/ T32 w 1822"/>
                <a:gd name="T34" fmla="+- 0 2526 2205"/>
                <a:gd name="T35" fmla="*/ 2526 h 732"/>
                <a:gd name="T36" fmla="+- 0 6221 4418"/>
                <a:gd name="T37" fmla="*/ T36 w 1822"/>
                <a:gd name="T38" fmla="+- 0 2440 2205"/>
                <a:gd name="T39" fmla="*/ 2440 h 732"/>
                <a:gd name="T40" fmla="+- 0 6178 4418"/>
                <a:gd name="T41" fmla="*/ T40 w 1822"/>
                <a:gd name="T42" fmla="+- 0 2361 2205"/>
                <a:gd name="T43" fmla="*/ 2361 h 732"/>
                <a:gd name="T44" fmla="+- 0 6115 4418"/>
                <a:gd name="T45" fmla="*/ T44 w 1822"/>
                <a:gd name="T46" fmla="+- 0 2298 2205"/>
                <a:gd name="T47" fmla="*/ 2298 h 732"/>
                <a:gd name="T48" fmla="+- 0 6048 4418"/>
                <a:gd name="T49" fmla="*/ T48 w 1822"/>
                <a:gd name="T50" fmla="+- 0 2243 2205"/>
                <a:gd name="T51" fmla="*/ 2243 h 732"/>
                <a:gd name="T52" fmla="+- 0 5959 4418"/>
                <a:gd name="T53" fmla="*/ T52 w 1822"/>
                <a:gd name="T54" fmla="+- 0 2212 2205"/>
                <a:gd name="T55" fmla="*/ 2212 h 732"/>
                <a:gd name="T56" fmla="+- 0 5873 4418"/>
                <a:gd name="T57" fmla="*/ T56 w 1822"/>
                <a:gd name="T58" fmla="+- 0 2205 2205"/>
                <a:gd name="T59" fmla="*/ 2205 h 732"/>
                <a:gd name="T60" fmla="+- 0 4776 4418"/>
                <a:gd name="T61" fmla="*/ T60 w 1822"/>
                <a:gd name="T62" fmla="+- 0 2205 2205"/>
                <a:gd name="T63" fmla="*/ 2205 h 732"/>
                <a:gd name="T64" fmla="+- 0 4690 4418"/>
                <a:gd name="T65" fmla="*/ T64 w 1822"/>
                <a:gd name="T66" fmla="+- 0 2212 2205"/>
                <a:gd name="T67" fmla="*/ 2212 h 732"/>
                <a:gd name="T68" fmla="+- 0 4610 4418"/>
                <a:gd name="T69" fmla="*/ T68 w 1822"/>
                <a:gd name="T70" fmla="+- 0 2243 2205"/>
                <a:gd name="T71" fmla="*/ 2243 h 732"/>
                <a:gd name="T72" fmla="+- 0 4536 4418"/>
                <a:gd name="T73" fmla="*/ T72 w 1822"/>
                <a:gd name="T74" fmla="+- 0 2298 2205"/>
                <a:gd name="T75" fmla="*/ 2298 h 732"/>
                <a:gd name="T76" fmla="+- 0 4478 4418"/>
                <a:gd name="T77" fmla="*/ T76 w 1822"/>
                <a:gd name="T78" fmla="+- 0 2361 2205"/>
                <a:gd name="T79" fmla="*/ 2361 h 732"/>
                <a:gd name="T80" fmla="+- 0 4435 4418"/>
                <a:gd name="T81" fmla="*/ T80 w 1822"/>
                <a:gd name="T82" fmla="+- 0 2440 2205"/>
                <a:gd name="T83" fmla="*/ 2440 h 732"/>
                <a:gd name="T84" fmla="+- 0 4418 4418"/>
                <a:gd name="T85" fmla="*/ T84 w 1822"/>
                <a:gd name="T86" fmla="+- 0 2526 2205"/>
                <a:gd name="T87" fmla="*/ 2526 h 732"/>
                <a:gd name="T88" fmla="+- 0 4418 4418"/>
                <a:gd name="T89" fmla="*/ T88 w 1822"/>
                <a:gd name="T90" fmla="+- 0 2613 2205"/>
                <a:gd name="T91" fmla="*/ 2613 h 732"/>
                <a:gd name="T92" fmla="+- 0 4435 4418"/>
                <a:gd name="T93" fmla="*/ T92 w 1822"/>
                <a:gd name="T94" fmla="+- 0 2702 2205"/>
                <a:gd name="T95" fmla="*/ 2702 h 732"/>
                <a:gd name="T96" fmla="+- 0 4478 4418"/>
                <a:gd name="T97" fmla="*/ T96 w 1822"/>
                <a:gd name="T98" fmla="+- 0 2776 2205"/>
                <a:gd name="T99" fmla="*/ 2776 h 732"/>
                <a:gd name="T100" fmla="+- 0 4536 4418"/>
                <a:gd name="T101" fmla="*/ T100 w 1822"/>
                <a:gd name="T102" fmla="+- 0 2843 2205"/>
                <a:gd name="T103" fmla="*/ 2843 h 732"/>
                <a:gd name="T104" fmla="+- 0 4610 4418"/>
                <a:gd name="T105" fmla="*/ T104 w 1822"/>
                <a:gd name="T106" fmla="+- 0 2894 2205"/>
                <a:gd name="T107" fmla="*/ 2894 h 732"/>
                <a:gd name="T108" fmla="+- 0 4690 4418"/>
                <a:gd name="T109" fmla="*/ T108 w 1822"/>
                <a:gd name="T110" fmla="+- 0 2925 2205"/>
                <a:gd name="T111" fmla="*/ 2925 h 732"/>
                <a:gd name="T112" fmla="+- 0 4776 4418"/>
                <a:gd name="T113" fmla="*/ T112 w 1822"/>
                <a:gd name="T114" fmla="+- 0 2937 2205"/>
                <a:gd name="T115" fmla="*/ 2937 h 73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Lst>
              <a:rect l="0" t="0" r="r" b="b"/>
              <a:pathLst>
                <a:path w="1822" h="732">
                  <a:moveTo>
                    <a:pt x="358" y="732"/>
                  </a:moveTo>
                  <a:lnTo>
                    <a:pt x="1455" y="732"/>
                  </a:lnTo>
                  <a:lnTo>
                    <a:pt x="1541" y="720"/>
                  </a:lnTo>
                  <a:lnTo>
                    <a:pt x="1630" y="689"/>
                  </a:lnTo>
                  <a:lnTo>
                    <a:pt x="1697" y="638"/>
                  </a:lnTo>
                  <a:lnTo>
                    <a:pt x="1760" y="571"/>
                  </a:lnTo>
                  <a:lnTo>
                    <a:pt x="1803" y="497"/>
                  </a:lnTo>
                  <a:lnTo>
                    <a:pt x="1822" y="408"/>
                  </a:lnTo>
                  <a:lnTo>
                    <a:pt x="1822" y="321"/>
                  </a:lnTo>
                  <a:lnTo>
                    <a:pt x="1803" y="235"/>
                  </a:lnTo>
                  <a:lnTo>
                    <a:pt x="1760" y="156"/>
                  </a:lnTo>
                  <a:lnTo>
                    <a:pt x="1697" y="93"/>
                  </a:lnTo>
                  <a:lnTo>
                    <a:pt x="1630" y="38"/>
                  </a:lnTo>
                  <a:lnTo>
                    <a:pt x="1541" y="7"/>
                  </a:lnTo>
                  <a:lnTo>
                    <a:pt x="1455" y="0"/>
                  </a:lnTo>
                  <a:lnTo>
                    <a:pt x="358" y="0"/>
                  </a:lnTo>
                  <a:lnTo>
                    <a:pt x="272" y="7"/>
                  </a:lnTo>
                  <a:lnTo>
                    <a:pt x="192" y="38"/>
                  </a:lnTo>
                  <a:lnTo>
                    <a:pt x="118" y="93"/>
                  </a:lnTo>
                  <a:lnTo>
                    <a:pt x="60" y="156"/>
                  </a:lnTo>
                  <a:lnTo>
                    <a:pt x="17" y="235"/>
                  </a:lnTo>
                  <a:lnTo>
                    <a:pt x="0" y="321"/>
                  </a:lnTo>
                  <a:lnTo>
                    <a:pt x="0" y="408"/>
                  </a:lnTo>
                  <a:lnTo>
                    <a:pt x="17" y="497"/>
                  </a:lnTo>
                  <a:lnTo>
                    <a:pt x="60" y="571"/>
                  </a:lnTo>
                  <a:lnTo>
                    <a:pt x="118" y="638"/>
                  </a:lnTo>
                  <a:lnTo>
                    <a:pt x="192" y="689"/>
                  </a:lnTo>
                  <a:lnTo>
                    <a:pt x="272" y="720"/>
                  </a:lnTo>
                  <a:lnTo>
                    <a:pt x="358" y="732"/>
                  </a:lnTo>
                  <a:close/>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r>
                <a:rPr lang="en-US" sz="1400"/>
                <a:t>Begin</a:t>
              </a:r>
              <a:endParaRPr lang="en-US" sz="1400"/>
            </a:p>
          </p:txBody>
        </p:sp>
        <p:sp>
          <p:nvSpPr>
            <p:cNvPr id="8" name="Freeform 4"/>
            <p:cNvSpPr>
              <a:spLocks/>
            </p:cNvSpPr>
            <p:nvPr/>
          </p:nvSpPr>
          <p:spPr bwMode="auto">
            <a:xfrm>
              <a:off x="5328" y="2937"/>
              <a:ext cx="0" cy="581"/>
            </a:xfrm>
            <a:custGeom>
              <a:avLst/>
              <a:gdLst>
                <a:gd name="T0" fmla="+- 0 2937 2937"/>
                <a:gd name="T1" fmla="*/ 2937 h 581"/>
                <a:gd name="T2" fmla="+- 0 3518 2937"/>
                <a:gd name="T3" fmla="*/ 3518 h 581"/>
              </a:gdLst>
              <a:ahLst/>
              <a:cxnLst>
                <a:cxn ang="0">
                  <a:pos x="0" y="T1"/>
                </a:cxn>
                <a:cxn ang="0">
                  <a:pos x="0" y="T3"/>
                </a:cxn>
              </a:cxnLst>
              <a:rect l="0" t="0" r="r" b="b"/>
              <a:pathLst>
                <a:path h="581">
                  <a:moveTo>
                    <a:pt x="0" y="0"/>
                  </a:moveTo>
                  <a:lnTo>
                    <a:pt x="0" y="581"/>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9" name="Freeform 5"/>
            <p:cNvSpPr>
              <a:spLocks/>
            </p:cNvSpPr>
            <p:nvPr/>
          </p:nvSpPr>
          <p:spPr bwMode="auto">
            <a:xfrm>
              <a:off x="5242" y="3501"/>
              <a:ext cx="168" cy="166"/>
            </a:xfrm>
            <a:custGeom>
              <a:avLst/>
              <a:gdLst>
                <a:gd name="T0" fmla="+- 0 5410 5242"/>
                <a:gd name="T1" fmla="*/ T0 w 168"/>
                <a:gd name="T2" fmla="+- 0 3501 3501"/>
                <a:gd name="T3" fmla="*/ 3501 h 166"/>
                <a:gd name="T4" fmla="+- 0 5242 5242"/>
                <a:gd name="T5" fmla="*/ T4 w 168"/>
                <a:gd name="T6" fmla="+- 0 3501 3501"/>
                <a:gd name="T7" fmla="*/ 3501 h 166"/>
                <a:gd name="T8" fmla="+- 0 5328 5242"/>
                <a:gd name="T9" fmla="*/ T8 w 168"/>
                <a:gd name="T10" fmla="+- 0 3666 3501"/>
                <a:gd name="T11" fmla="*/ 3666 h 166"/>
                <a:gd name="T12" fmla="+- 0 5410 5242"/>
                <a:gd name="T13" fmla="*/ T12 w 168"/>
                <a:gd name="T14" fmla="+- 0 3501 3501"/>
                <a:gd name="T15" fmla="*/ 3501 h 166"/>
              </a:gdLst>
              <a:ahLst/>
              <a:cxnLst>
                <a:cxn ang="0">
                  <a:pos x="T1" y="T3"/>
                </a:cxn>
                <a:cxn ang="0">
                  <a:pos x="T5" y="T7"/>
                </a:cxn>
                <a:cxn ang="0">
                  <a:pos x="T9" y="T11"/>
                </a:cxn>
                <a:cxn ang="0">
                  <a:pos x="T13" y="T15"/>
                </a:cxn>
              </a:cxnLst>
              <a:rect l="0" t="0" r="r" b="b"/>
              <a:pathLst>
                <a:path w="168" h="166">
                  <a:moveTo>
                    <a:pt x="168" y="0"/>
                  </a:moveTo>
                  <a:lnTo>
                    <a:pt x="0" y="0"/>
                  </a:lnTo>
                  <a:lnTo>
                    <a:pt x="86" y="165"/>
                  </a:lnTo>
                  <a:lnTo>
                    <a:pt x="1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0" name="Freeform 6"/>
            <p:cNvSpPr>
              <a:spLocks/>
            </p:cNvSpPr>
            <p:nvPr/>
          </p:nvSpPr>
          <p:spPr bwMode="auto">
            <a:xfrm>
              <a:off x="5242" y="3501"/>
              <a:ext cx="168" cy="166"/>
            </a:xfrm>
            <a:custGeom>
              <a:avLst/>
              <a:gdLst>
                <a:gd name="T0" fmla="+- 0 5410 5242"/>
                <a:gd name="T1" fmla="*/ T0 w 168"/>
                <a:gd name="T2" fmla="+- 0 3501 3501"/>
                <a:gd name="T3" fmla="*/ 3501 h 166"/>
                <a:gd name="T4" fmla="+- 0 5328 5242"/>
                <a:gd name="T5" fmla="*/ T4 w 168"/>
                <a:gd name="T6" fmla="+- 0 3666 3501"/>
                <a:gd name="T7" fmla="*/ 3666 h 166"/>
                <a:gd name="T8" fmla="+- 0 5242 5242"/>
                <a:gd name="T9" fmla="*/ T8 w 168"/>
                <a:gd name="T10" fmla="+- 0 3501 3501"/>
                <a:gd name="T11" fmla="*/ 3501 h 166"/>
                <a:gd name="T12" fmla="+- 0 5410 5242"/>
                <a:gd name="T13" fmla="*/ T12 w 168"/>
                <a:gd name="T14" fmla="+- 0 3501 3501"/>
                <a:gd name="T15" fmla="*/ 3501 h 166"/>
              </a:gdLst>
              <a:ahLst/>
              <a:cxnLst>
                <a:cxn ang="0">
                  <a:pos x="T1" y="T3"/>
                </a:cxn>
                <a:cxn ang="0">
                  <a:pos x="T5" y="T7"/>
                </a:cxn>
                <a:cxn ang="0">
                  <a:pos x="T9" y="T11"/>
                </a:cxn>
                <a:cxn ang="0">
                  <a:pos x="T13" y="T15"/>
                </a:cxn>
              </a:cxnLst>
              <a:rect l="0" t="0" r="r" b="b"/>
              <a:pathLst>
                <a:path w="168" h="166">
                  <a:moveTo>
                    <a:pt x="168" y="0"/>
                  </a:moveTo>
                  <a:lnTo>
                    <a:pt x="86" y="165"/>
                  </a:lnTo>
                  <a:lnTo>
                    <a:pt x="0" y="0"/>
                  </a:lnTo>
                  <a:lnTo>
                    <a:pt x="168" y="0"/>
                  </a:lnTo>
                  <a:close/>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11" name="Freeform 7"/>
            <p:cNvSpPr>
              <a:spLocks/>
            </p:cNvSpPr>
            <p:nvPr/>
          </p:nvSpPr>
          <p:spPr bwMode="auto">
            <a:xfrm>
              <a:off x="3656" y="3666"/>
              <a:ext cx="3654" cy="1315"/>
            </a:xfrm>
            <a:custGeom>
              <a:avLst/>
              <a:gdLst>
                <a:gd name="T0" fmla="+- 0 3679 3679"/>
                <a:gd name="T1" fmla="*/ T0 w 3290"/>
                <a:gd name="T2" fmla="+- 0 4982 3666"/>
                <a:gd name="T3" fmla="*/ 4982 h 1315"/>
                <a:gd name="T4" fmla="+- 0 6970 3679"/>
                <a:gd name="T5" fmla="*/ T4 w 3290"/>
                <a:gd name="T6" fmla="+- 0 4982 3666"/>
                <a:gd name="T7" fmla="*/ 4982 h 1315"/>
                <a:gd name="T8" fmla="+- 0 6970 3679"/>
                <a:gd name="T9" fmla="*/ T8 w 3290"/>
                <a:gd name="T10" fmla="+- 0 3666 3666"/>
                <a:gd name="T11" fmla="*/ 3666 h 1315"/>
                <a:gd name="T12" fmla="+- 0 3679 3679"/>
                <a:gd name="T13" fmla="*/ T12 w 3290"/>
                <a:gd name="T14" fmla="+- 0 3666 3666"/>
                <a:gd name="T15" fmla="*/ 3666 h 1315"/>
                <a:gd name="T16" fmla="+- 0 3679 3679"/>
                <a:gd name="T17" fmla="*/ T16 w 3290"/>
                <a:gd name="T18" fmla="+- 0 4982 3666"/>
                <a:gd name="T19" fmla="*/ 4982 h 1315"/>
              </a:gdLst>
              <a:ahLst/>
              <a:cxnLst>
                <a:cxn ang="0">
                  <a:pos x="T1" y="T3"/>
                </a:cxn>
                <a:cxn ang="0">
                  <a:pos x="T5" y="T7"/>
                </a:cxn>
                <a:cxn ang="0">
                  <a:pos x="T9" y="T11"/>
                </a:cxn>
                <a:cxn ang="0">
                  <a:pos x="T13" y="T15"/>
                </a:cxn>
                <a:cxn ang="0">
                  <a:pos x="T17" y="T19"/>
                </a:cxn>
              </a:cxnLst>
              <a:rect l="0" t="0" r="r" b="b"/>
              <a:pathLst>
                <a:path w="3290" h="1315">
                  <a:moveTo>
                    <a:pt x="0" y="1316"/>
                  </a:moveTo>
                  <a:lnTo>
                    <a:pt x="3291" y="1316"/>
                  </a:lnTo>
                  <a:lnTo>
                    <a:pt x="3291" y="0"/>
                  </a:lnTo>
                  <a:lnTo>
                    <a:pt x="0" y="0"/>
                  </a:lnTo>
                  <a:lnTo>
                    <a:pt x="0" y="1316"/>
                  </a:lnTo>
                  <a:close/>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sz="1400" smtClean="0"/>
                <a:t>p=5/4-R; x=0; y=R</a:t>
              </a:r>
              <a:r>
                <a:rPr lang="en-US" sz="1400"/>
                <a:t>;</a:t>
              </a:r>
            </a:p>
            <a:p>
              <a:r>
                <a:rPr lang="en-US" sz="1400"/>
                <a:t>Put8Pixel(x, y, c);</a:t>
              </a:r>
              <a:endParaRPr lang="en-US" sz="1400"/>
            </a:p>
          </p:txBody>
        </p:sp>
        <p:sp>
          <p:nvSpPr>
            <p:cNvPr id="12" name="Freeform 8"/>
            <p:cNvSpPr>
              <a:spLocks/>
            </p:cNvSpPr>
            <p:nvPr/>
          </p:nvSpPr>
          <p:spPr bwMode="auto">
            <a:xfrm>
              <a:off x="5297" y="4982"/>
              <a:ext cx="0" cy="581"/>
            </a:xfrm>
            <a:custGeom>
              <a:avLst/>
              <a:gdLst>
                <a:gd name="T0" fmla="+- 0 4982 4982"/>
                <a:gd name="T1" fmla="*/ 4982 h 581"/>
                <a:gd name="T2" fmla="+- 0 5562 4982"/>
                <a:gd name="T3" fmla="*/ 5562 h 581"/>
              </a:gdLst>
              <a:ahLst/>
              <a:cxnLst>
                <a:cxn ang="0">
                  <a:pos x="0" y="T1"/>
                </a:cxn>
                <a:cxn ang="0">
                  <a:pos x="0" y="T3"/>
                </a:cxn>
              </a:cxnLst>
              <a:rect l="0" t="0" r="r" b="b"/>
              <a:pathLst>
                <a:path h="581">
                  <a:moveTo>
                    <a:pt x="0" y="0"/>
                  </a:moveTo>
                  <a:lnTo>
                    <a:pt x="0" y="580"/>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13" name="Freeform 9"/>
            <p:cNvSpPr>
              <a:spLocks/>
            </p:cNvSpPr>
            <p:nvPr/>
          </p:nvSpPr>
          <p:spPr bwMode="auto">
            <a:xfrm>
              <a:off x="5210" y="5546"/>
              <a:ext cx="168" cy="166"/>
            </a:xfrm>
            <a:custGeom>
              <a:avLst/>
              <a:gdLst>
                <a:gd name="T0" fmla="+- 0 5378 5210"/>
                <a:gd name="T1" fmla="*/ T0 w 168"/>
                <a:gd name="T2" fmla="+- 0 5546 5546"/>
                <a:gd name="T3" fmla="*/ 5546 h 166"/>
                <a:gd name="T4" fmla="+- 0 5210 5210"/>
                <a:gd name="T5" fmla="*/ T4 w 168"/>
                <a:gd name="T6" fmla="+- 0 5546 5546"/>
                <a:gd name="T7" fmla="*/ 5546 h 166"/>
                <a:gd name="T8" fmla="+- 0 5297 5210"/>
                <a:gd name="T9" fmla="*/ T8 w 168"/>
                <a:gd name="T10" fmla="+- 0 5711 5546"/>
                <a:gd name="T11" fmla="*/ 5711 h 166"/>
                <a:gd name="T12" fmla="+- 0 5378 5210"/>
                <a:gd name="T13" fmla="*/ T12 w 168"/>
                <a:gd name="T14" fmla="+- 0 5546 5546"/>
                <a:gd name="T15" fmla="*/ 5546 h 166"/>
              </a:gdLst>
              <a:ahLst/>
              <a:cxnLst>
                <a:cxn ang="0">
                  <a:pos x="T1" y="T3"/>
                </a:cxn>
                <a:cxn ang="0">
                  <a:pos x="T5" y="T7"/>
                </a:cxn>
                <a:cxn ang="0">
                  <a:pos x="T9" y="T11"/>
                </a:cxn>
                <a:cxn ang="0">
                  <a:pos x="T13" y="T15"/>
                </a:cxn>
              </a:cxnLst>
              <a:rect l="0" t="0" r="r" b="b"/>
              <a:pathLst>
                <a:path w="168" h="166">
                  <a:moveTo>
                    <a:pt x="168" y="0"/>
                  </a:moveTo>
                  <a:lnTo>
                    <a:pt x="0" y="0"/>
                  </a:lnTo>
                  <a:lnTo>
                    <a:pt x="87" y="165"/>
                  </a:lnTo>
                  <a:lnTo>
                    <a:pt x="1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4" name="Freeform 10"/>
            <p:cNvSpPr>
              <a:spLocks/>
            </p:cNvSpPr>
            <p:nvPr/>
          </p:nvSpPr>
          <p:spPr bwMode="auto">
            <a:xfrm>
              <a:off x="5210" y="5546"/>
              <a:ext cx="168" cy="166"/>
            </a:xfrm>
            <a:custGeom>
              <a:avLst/>
              <a:gdLst>
                <a:gd name="T0" fmla="+- 0 5378 5210"/>
                <a:gd name="T1" fmla="*/ T0 w 168"/>
                <a:gd name="T2" fmla="+- 0 5546 5546"/>
                <a:gd name="T3" fmla="*/ 5546 h 166"/>
                <a:gd name="T4" fmla="+- 0 5297 5210"/>
                <a:gd name="T5" fmla="*/ T4 w 168"/>
                <a:gd name="T6" fmla="+- 0 5711 5546"/>
                <a:gd name="T7" fmla="*/ 5711 h 166"/>
                <a:gd name="T8" fmla="+- 0 5210 5210"/>
                <a:gd name="T9" fmla="*/ T8 w 168"/>
                <a:gd name="T10" fmla="+- 0 5546 5546"/>
                <a:gd name="T11" fmla="*/ 5546 h 166"/>
                <a:gd name="T12" fmla="+- 0 5378 5210"/>
                <a:gd name="T13" fmla="*/ T12 w 168"/>
                <a:gd name="T14" fmla="+- 0 5546 5546"/>
                <a:gd name="T15" fmla="*/ 5546 h 166"/>
              </a:gdLst>
              <a:ahLst/>
              <a:cxnLst>
                <a:cxn ang="0">
                  <a:pos x="T1" y="T3"/>
                </a:cxn>
                <a:cxn ang="0">
                  <a:pos x="T5" y="T7"/>
                </a:cxn>
                <a:cxn ang="0">
                  <a:pos x="T9" y="T11"/>
                </a:cxn>
                <a:cxn ang="0">
                  <a:pos x="T13" y="T15"/>
                </a:cxn>
              </a:cxnLst>
              <a:rect l="0" t="0" r="r" b="b"/>
              <a:pathLst>
                <a:path w="168" h="166">
                  <a:moveTo>
                    <a:pt x="168" y="0"/>
                  </a:moveTo>
                  <a:lnTo>
                    <a:pt x="87" y="165"/>
                  </a:lnTo>
                  <a:lnTo>
                    <a:pt x="0" y="0"/>
                  </a:lnTo>
                  <a:lnTo>
                    <a:pt x="168" y="0"/>
                  </a:lnTo>
                  <a:close/>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15" name="Freeform 11"/>
            <p:cNvSpPr>
              <a:spLocks/>
            </p:cNvSpPr>
            <p:nvPr/>
          </p:nvSpPr>
          <p:spPr bwMode="auto">
            <a:xfrm>
              <a:off x="4380" y="5711"/>
              <a:ext cx="1829" cy="1097"/>
            </a:xfrm>
            <a:custGeom>
              <a:avLst/>
              <a:gdLst>
                <a:gd name="T0" fmla="+- 0 4380 4380"/>
                <a:gd name="T1" fmla="*/ T0 w 1829"/>
                <a:gd name="T2" fmla="+- 0 6256 5711"/>
                <a:gd name="T3" fmla="*/ 6256 h 1097"/>
                <a:gd name="T4" fmla="+- 0 5297 4380"/>
                <a:gd name="T5" fmla="*/ T4 w 1829"/>
                <a:gd name="T6" fmla="+- 0 5711 5711"/>
                <a:gd name="T7" fmla="*/ 5711 h 1097"/>
                <a:gd name="T8" fmla="+- 0 6209 4380"/>
                <a:gd name="T9" fmla="*/ T8 w 1829"/>
                <a:gd name="T10" fmla="+- 0 6256 5711"/>
                <a:gd name="T11" fmla="*/ 6256 h 1097"/>
                <a:gd name="T12" fmla="+- 0 5297 4380"/>
                <a:gd name="T13" fmla="*/ T12 w 1829"/>
                <a:gd name="T14" fmla="+- 0 6808 5711"/>
                <a:gd name="T15" fmla="*/ 6808 h 1097"/>
                <a:gd name="T16" fmla="+- 0 4380 4380"/>
                <a:gd name="T17" fmla="*/ T16 w 1829"/>
                <a:gd name="T18" fmla="+- 0 6256 5711"/>
                <a:gd name="T19" fmla="*/ 6256 h 1097"/>
              </a:gdLst>
              <a:ahLst/>
              <a:cxnLst>
                <a:cxn ang="0">
                  <a:pos x="T1" y="T3"/>
                </a:cxn>
                <a:cxn ang="0">
                  <a:pos x="T5" y="T7"/>
                </a:cxn>
                <a:cxn ang="0">
                  <a:pos x="T9" y="T11"/>
                </a:cxn>
                <a:cxn ang="0">
                  <a:pos x="T13" y="T15"/>
                </a:cxn>
                <a:cxn ang="0">
                  <a:pos x="T17" y="T19"/>
                </a:cxn>
              </a:cxnLst>
              <a:rect l="0" t="0" r="r" b="b"/>
              <a:pathLst>
                <a:path w="1829" h="1097">
                  <a:moveTo>
                    <a:pt x="0" y="545"/>
                  </a:moveTo>
                  <a:lnTo>
                    <a:pt x="917" y="0"/>
                  </a:lnTo>
                  <a:lnTo>
                    <a:pt x="1829" y="545"/>
                  </a:lnTo>
                  <a:lnTo>
                    <a:pt x="917" y="1097"/>
                  </a:lnTo>
                  <a:lnTo>
                    <a:pt x="0" y="545"/>
                  </a:lnTo>
                  <a:close/>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r>
                <a:rPr lang="en-US" sz="1400" smtClean="0"/>
                <a:t>x&lt;y </a:t>
              </a:r>
              <a:endParaRPr lang="en-US" sz="1400"/>
            </a:p>
          </p:txBody>
        </p:sp>
        <p:sp>
          <p:nvSpPr>
            <p:cNvPr id="16" name="Freeform 12"/>
            <p:cNvSpPr>
              <a:spLocks/>
            </p:cNvSpPr>
            <p:nvPr/>
          </p:nvSpPr>
          <p:spPr bwMode="auto">
            <a:xfrm>
              <a:off x="5297" y="6808"/>
              <a:ext cx="0" cy="223"/>
            </a:xfrm>
            <a:custGeom>
              <a:avLst/>
              <a:gdLst>
                <a:gd name="T0" fmla="+- 0 6808 6808"/>
                <a:gd name="T1" fmla="*/ 6808 h 223"/>
                <a:gd name="T2" fmla="+- 0 7031 6808"/>
                <a:gd name="T3" fmla="*/ 7031 h 223"/>
              </a:gdLst>
              <a:ahLst/>
              <a:cxnLst>
                <a:cxn ang="0">
                  <a:pos x="0" y="T1"/>
                </a:cxn>
                <a:cxn ang="0">
                  <a:pos x="0" y="T3"/>
                </a:cxn>
              </a:cxnLst>
              <a:rect l="0" t="0" r="r" b="b"/>
              <a:pathLst>
                <a:path h="223">
                  <a:moveTo>
                    <a:pt x="0" y="0"/>
                  </a:moveTo>
                  <a:lnTo>
                    <a:pt x="0" y="223"/>
                  </a:lnTo>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17" name="Freeform 13"/>
            <p:cNvSpPr>
              <a:spLocks/>
            </p:cNvSpPr>
            <p:nvPr/>
          </p:nvSpPr>
          <p:spPr bwMode="auto">
            <a:xfrm>
              <a:off x="6209" y="6256"/>
              <a:ext cx="1140" cy="0"/>
            </a:xfrm>
            <a:custGeom>
              <a:avLst/>
              <a:gdLst>
                <a:gd name="T0" fmla="+- 0 6209 6209"/>
                <a:gd name="T1" fmla="*/ T0 w 1140"/>
                <a:gd name="T2" fmla="+- 0 7349 6209"/>
                <a:gd name="T3" fmla="*/ T2 w 1140"/>
              </a:gdLst>
              <a:ahLst/>
              <a:cxnLst>
                <a:cxn ang="0">
                  <a:pos x="T1" y="0"/>
                </a:cxn>
                <a:cxn ang="0">
                  <a:pos x="T3" y="0"/>
                </a:cxn>
              </a:cxnLst>
              <a:rect l="0" t="0" r="r" b="b"/>
              <a:pathLst>
                <a:path w="1140">
                  <a:moveTo>
                    <a:pt x="0" y="0"/>
                  </a:moveTo>
                  <a:lnTo>
                    <a:pt x="1140" y="0"/>
                  </a:lnTo>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23" name="Freeform 14"/>
            <p:cNvSpPr>
              <a:spLocks/>
            </p:cNvSpPr>
            <p:nvPr/>
          </p:nvSpPr>
          <p:spPr bwMode="auto">
            <a:xfrm>
              <a:off x="5297" y="7317"/>
              <a:ext cx="0" cy="98"/>
            </a:xfrm>
            <a:custGeom>
              <a:avLst/>
              <a:gdLst>
                <a:gd name="T0" fmla="+- 0 7317 7317"/>
                <a:gd name="T1" fmla="*/ 7317 h 98"/>
                <a:gd name="T2" fmla="+- 0 7415 7317"/>
                <a:gd name="T3" fmla="*/ 7415 h 98"/>
              </a:gdLst>
              <a:ahLst/>
              <a:cxnLst>
                <a:cxn ang="0">
                  <a:pos x="0" y="T1"/>
                </a:cxn>
                <a:cxn ang="0">
                  <a:pos x="0" y="T3"/>
                </a:cxn>
              </a:cxnLst>
              <a:rect l="0" t="0" r="r" b="b"/>
              <a:pathLst>
                <a:path h="98">
                  <a:moveTo>
                    <a:pt x="0" y="0"/>
                  </a:moveTo>
                  <a:lnTo>
                    <a:pt x="0" y="98"/>
                  </a:lnTo>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24" name="Freeform 15"/>
            <p:cNvSpPr>
              <a:spLocks/>
            </p:cNvSpPr>
            <p:nvPr/>
          </p:nvSpPr>
          <p:spPr bwMode="auto">
            <a:xfrm>
              <a:off x="5222" y="7396"/>
              <a:ext cx="144" cy="144"/>
            </a:xfrm>
            <a:custGeom>
              <a:avLst/>
              <a:gdLst>
                <a:gd name="T0" fmla="+- 0 5366 5222"/>
                <a:gd name="T1" fmla="*/ T0 w 144"/>
                <a:gd name="T2" fmla="+- 0 7396 7396"/>
                <a:gd name="T3" fmla="*/ 7396 h 144"/>
                <a:gd name="T4" fmla="+- 0 5222 5222"/>
                <a:gd name="T5" fmla="*/ T4 w 144"/>
                <a:gd name="T6" fmla="+- 0 7396 7396"/>
                <a:gd name="T7" fmla="*/ 7396 h 144"/>
                <a:gd name="T8" fmla="+- 0 5297 5222"/>
                <a:gd name="T9" fmla="*/ T8 w 144"/>
                <a:gd name="T10" fmla="+- 0 7540 7396"/>
                <a:gd name="T11" fmla="*/ 7540 h 144"/>
                <a:gd name="T12" fmla="+- 0 5366 5222"/>
                <a:gd name="T13" fmla="*/ T12 w 144"/>
                <a:gd name="T14" fmla="+- 0 7396 7396"/>
                <a:gd name="T15" fmla="*/ 7396 h 144"/>
              </a:gdLst>
              <a:ahLst/>
              <a:cxnLst>
                <a:cxn ang="0">
                  <a:pos x="T1" y="T3"/>
                </a:cxn>
                <a:cxn ang="0">
                  <a:pos x="T5" y="T7"/>
                </a:cxn>
                <a:cxn ang="0">
                  <a:pos x="T9" y="T11"/>
                </a:cxn>
                <a:cxn ang="0">
                  <a:pos x="T13" y="T15"/>
                </a:cxn>
              </a:cxnLst>
              <a:rect l="0" t="0" r="r" b="b"/>
              <a:pathLst>
                <a:path w="144" h="144">
                  <a:moveTo>
                    <a:pt x="144" y="0"/>
                  </a:moveTo>
                  <a:lnTo>
                    <a:pt x="0" y="0"/>
                  </a:lnTo>
                  <a:lnTo>
                    <a:pt x="75" y="144"/>
                  </a:lnTo>
                  <a:lnTo>
                    <a:pt x="1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25" name="Freeform 16"/>
            <p:cNvSpPr>
              <a:spLocks/>
            </p:cNvSpPr>
            <p:nvPr/>
          </p:nvSpPr>
          <p:spPr bwMode="auto">
            <a:xfrm>
              <a:off x="5222" y="7396"/>
              <a:ext cx="144" cy="144"/>
            </a:xfrm>
            <a:custGeom>
              <a:avLst/>
              <a:gdLst>
                <a:gd name="T0" fmla="+- 0 5366 5222"/>
                <a:gd name="T1" fmla="*/ T0 w 144"/>
                <a:gd name="T2" fmla="+- 0 7396 7396"/>
                <a:gd name="T3" fmla="*/ 7396 h 144"/>
                <a:gd name="T4" fmla="+- 0 5297 5222"/>
                <a:gd name="T5" fmla="*/ T4 w 144"/>
                <a:gd name="T6" fmla="+- 0 7540 7396"/>
                <a:gd name="T7" fmla="*/ 7540 h 144"/>
                <a:gd name="T8" fmla="+- 0 5222 5222"/>
                <a:gd name="T9" fmla="*/ T8 w 144"/>
                <a:gd name="T10" fmla="+- 0 7396 7396"/>
                <a:gd name="T11" fmla="*/ 7396 h 144"/>
                <a:gd name="T12" fmla="+- 0 5366 5222"/>
                <a:gd name="T13" fmla="*/ T12 w 144"/>
                <a:gd name="T14" fmla="+- 0 7396 7396"/>
                <a:gd name="T15" fmla="*/ 7396 h 144"/>
              </a:gdLst>
              <a:ahLst/>
              <a:cxnLst>
                <a:cxn ang="0">
                  <a:pos x="T1" y="T3"/>
                </a:cxn>
                <a:cxn ang="0">
                  <a:pos x="T5" y="T7"/>
                </a:cxn>
                <a:cxn ang="0">
                  <a:pos x="T9" y="T11"/>
                </a:cxn>
                <a:cxn ang="0">
                  <a:pos x="T13" y="T15"/>
                </a:cxn>
              </a:cxnLst>
              <a:rect l="0" t="0" r="r" b="b"/>
              <a:pathLst>
                <a:path w="144" h="144">
                  <a:moveTo>
                    <a:pt x="144" y="0"/>
                  </a:moveTo>
                  <a:lnTo>
                    <a:pt x="75" y="144"/>
                  </a:lnTo>
                  <a:lnTo>
                    <a:pt x="0" y="0"/>
                  </a:lnTo>
                  <a:lnTo>
                    <a:pt x="144" y="0"/>
                  </a:lnTo>
                  <a:close/>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26" name="Freeform 17"/>
            <p:cNvSpPr>
              <a:spLocks/>
            </p:cNvSpPr>
            <p:nvPr/>
          </p:nvSpPr>
          <p:spPr bwMode="auto">
            <a:xfrm>
              <a:off x="4380" y="7540"/>
              <a:ext cx="1829" cy="1097"/>
            </a:xfrm>
            <a:custGeom>
              <a:avLst/>
              <a:gdLst>
                <a:gd name="T0" fmla="+- 0 4380 4380"/>
                <a:gd name="T1" fmla="*/ T0 w 1829"/>
                <a:gd name="T2" fmla="+- 0 8085 7540"/>
                <a:gd name="T3" fmla="*/ 8085 h 1097"/>
                <a:gd name="T4" fmla="+- 0 5297 4380"/>
                <a:gd name="T5" fmla="*/ T4 w 1829"/>
                <a:gd name="T6" fmla="+- 0 7540 7540"/>
                <a:gd name="T7" fmla="*/ 7540 h 1097"/>
                <a:gd name="T8" fmla="+- 0 6209 4380"/>
                <a:gd name="T9" fmla="*/ T8 w 1829"/>
                <a:gd name="T10" fmla="+- 0 8085 7540"/>
                <a:gd name="T11" fmla="*/ 8085 h 1097"/>
                <a:gd name="T12" fmla="+- 0 5297 4380"/>
                <a:gd name="T13" fmla="*/ T12 w 1829"/>
                <a:gd name="T14" fmla="+- 0 8637 7540"/>
                <a:gd name="T15" fmla="*/ 8637 h 1097"/>
                <a:gd name="T16" fmla="+- 0 4380 4380"/>
                <a:gd name="T17" fmla="*/ T16 w 1829"/>
                <a:gd name="T18" fmla="+- 0 8085 7540"/>
                <a:gd name="T19" fmla="*/ 8085 h 1097"/>
              </a:gdLst>
              <a:ahLst/>
              <a:cxnLst>
                <a:cxn ang="0">
                  <a:pos x="T1" y="T3"/>
                </a:cxn>
                <a:cxn ang="0">
                  <a:pos x="T5" y="T7"/>
                </a:cxn>
                <a:cxn ang="0">
                  <a:pos x="T9" y="T11"/>
                </a:cxn>
                <a:cxn ang="0">
                  <a:pos x="T13" y="T15"/>
                </a:cxn>
                <a:cxn ang="0">
                  <a:pos x="T17" y="T19"/>
                </a:cxn>
              </a:cxnLst>
              <a:rect l="0" t="0" r="r" b="b"/>
              <a:pathLst>
                <a:path w="1829" h="1097">
                  <a:moveTo>
                    <a:pt x="0" y="545"/>
                  </a:moveTo>
                  <a:lnTo>
                    <a:pt x="917" y="0"/>
                  </a:lnTo>
                  <a:lnTo>
                    <a:pt x="1829" y="545"/>
                  </a:lnTo>
                  <a:lnTo>
                    <a:pt x="917" y="1097"/>
                  </a:lnTo>
                  <a:lnTo>
                    <a:pt x="0" y="545"/>
                  </a:lnTo>
                  <a:close/>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r>
                <a:rPr lang="en-US" sz="1400" smtClean="0"/>
                <a:t>p&lt;0</a:t>
              </a:r>
              <a:endParaRPr lang="en-US" sz="1400"/>
            </a:p>
          </p:txBody>
        </p:sp>
        <p:sp>
          <p:nvSpPr>
            <p:cNvPr id="27" name="Freeform 18"/>
            <p:cNvSpPr>
              <a:spLocks/>
            </p:cNvSpPr>
            <p:nvPr/>
          </p:nvSpPr>
          <p:spPr bwMode="auto">
            <a:xfrm>
              <a:off x="5297" y="8637"/>
              <a:ext cx="0" cy="223"/>
            </a:xfrm>
            <a:custGeom>
              <a:avLst/>
              <a:gdLst>
                <a:gd name="T0" fmla="+- 0 8637 8637"/>
                <a:gd name="T1" fmla="*/ 8637 h 223"/>
                <a:gd name="T2" fmla="+- 0 8860 8637"/>
                <a:gd name="T3" fmla="*/ 8860 h 223"/>
              </a:gdLst>
              <a:ahLst/>
              <a:cxnLst>
                <a:cxn ang="0">
                  <a:pos x="0" y="T1"/>
                </a:cxn>
                <a:cxn ang="0">
                  <a:pos x="0" y="T3"/>
                </a:cxn>
              </a:cxnLst>
              <a:rect l="0" t="0" r="r" b="b"/>
              <a:pathLst>
                <a:path h="223">
                  <a:moveTo>
                    <a:pt x="0" y="0"/>
                  </a:moveTo>
                  <a:lnTo>
                    <a:pt x="0" y="223"/>
                  </a:lnTo>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28" name="Freeform 19"/>
            <p:cNvSpPr>
              <a:spLocks/>
            </p:cNvSpPr>
            <p:nvPr/>
          </p:nvSpPr>
          <p:spPr bwMode="auto">
            <a:xfrm>
              <a:off x="6209" y="8085"/>
              <a:ext cx="408" cy="0"/>
            </a:xfrm>
            <a:custGeom>
              <a:avLst/>
              <a:gdLst>
                <a:gd name="T0" fmla="+- 0 6209 6209"/>
                <a:gd name="T1" fmla="*/ T0 w 408"/>
                <a:gd name="T2" fmla="+- 0 6617 6209"/>
                <a:gd name="T3" fmla="*/ T2 w 408"/>
              </a:gdLst>
              <a:ahLst/>
              <a:cxnLst>
                <a:cxn ang="0">
                  <a:pos x="T1" y="0"/>
                </a:cxn>
                <a:cxn ang="0">
                  <a:pos x="T3" y="0"/>
                </a:cxn>
              </a:cxnLst>
              <a:rect l="0" t="0" r="r" b="b"/>
              <a:pathLst>
                <a:path w="408">
                  <a:moveTo>
                    <a:pt x="0" y="0"/>
                  </a:moveTo>
                  <a:lnTo>
                    <a:pt x="408" y="0"/>
                  </a:lnTo>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29" name="Freeform 20"/>
            <p:cNvSpPr>
              <a:spLocks/>
            </p:cNvSpPr>
            <p:nvPr/>
          </p:nvSpPr>
          <p:spPr bwMode="auto">
            <a:xfrm>
              <a:off x="5297" y="9143"/>
              <a:ext cx="0" cy="101"/>
            </a:xfrm>
            <a:custGeom>
              <a:avLst/>
              <a:gdLst>
                <a:gd name="T0" fmla="+- 0 9143 9143"/>
                <a:gd name="T1" fmla="*/ 9143 h 101"/>
                <a:gd name="T2" fmla="+- 0 9244 9143"/>
                <a:gd name="T3" fmla="*/ 9244 h 101"/>
              </a:gdLst>
              <a:ahLst/>
              <a:cxnLst>
                <a:cxn ang="0">
                  <a:pos x="0" y="T1"/>
                </a:cxn>
                <a:cxn ang="0">
                  <a:pos x="0" y="T3"/>
                </a:cxn>
              </a:cxnLst>
              <a:rect l="0" t="0" r="r" b="b"/>
              <a:pathLst>
                <a:path h="101">
                  <a:moveTo>
                    <a:pt x="0" y="0"/>
                  </a:moveTo>
                  <a:lnTo>
                    <a:pt x="0" y="101"/>
                  </a:lnTo>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30" name="Freeform 21"/>
            <p:cNvSpPr>
              <a:spLocks/>
            </p:cNvSpPr>
            <p:nvPr/>
          </p:nvSpPr>
          <p:spPr bwMode="auto">
            <a:xfrm>
              <a:off x="5222" y="9225"/>
              <a:ext cx="144" cy="142"/>
            </a:xfrm>
            <a:custGeom>
              <a:avLst/>
              <a:gdLst>
                <a:gd name="T0" fmla="+- 0 5366 5222"/>
                <a:gd name="T1" fmla="*/ T0 w 144"/>
                <a:gd name="T2" fmla="+- 0 9225 9225"/>
                <a:gd name="T3" fmla="*/ 9225 h 142"/>
                <a:gd name="T4" fmla="+- 0 5222 5222"/>
                <a:gd name="T5" fmla="*/ T4 w 144"/>
                <a:gd name="T6" fmla="+- 0 9225 9225"/>
                <a:gd name="T7" fmla="*/ 9225 h 142"/>
                <a:gd name="T8" fmla="+- 0 5297 5222"/>
                <a:gd name="T9" fmla="*/ T8 w 144"/>
                <a:gd name="T10" fmla="+- 0 9366 9225"/>
                <a:gd name="T11" fmla="*/ 9366 h 142"/>
                <a:gd name="T12" fmla="+- 0 5366 5222"/>
                <a:gd name="T13" fmla="*/ T12 w 144"/>
                <a:gd name="T14" fmla="+- 0 9225 9225"/>
                <a:gd name="T15" fmla="*/ 9225 h 142"/>
              </a:gdLst>
              <a:ahLst/>
              <a:cxnLst>
                <a:cxn ang="0">
                  <a:pos x="T1" y="T3"/>
                </a:cxn>
                <a:cxn ang="0">
                  <a:pos x="T5" y="T7"/>
                </a:cxn>
                <a:cxn ang="0">
                  <a:pos x="T9" y="T11"/>
                </a:cxn>
                <a:cxn ang="0">
                  <a:pos x="T13" y="T15"/>
                </a:cxn>
              </a:cxnLst>
              <a:rect l="0" t="0" r="r" b="b"/>
              <a:pathLst>
                <a:path w="144" h="142">
                  <a:moveTo>
                    <a:pt x="144" y="0"/>
                  </a:moveTo>
                  <a:lnTo>
                    <a:pt x="0" y="0"/>
                  </a:lnTo>
                  <a:lnTo>
                    <a:pt x="75" y="141"/>
                  </a:lnTo>
                  <a:lnTo>
                    <a:pt x="1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31" name="Freeform 22"/>
            <p:cNvSpPr>
              <a:spLocks/>
            </p:cNvSpPr>
            <p:nvPr/>
          </p:nvSpPr>
          <p:spPr bwMode="auto">
            <a:xfrm>
              <a:off x="5222" y="9225"/>
              <a:ext cx="144" cy="142"/>
            </a:xfrm>
            <a:custGeom>
              <a:avLst/>
              <a:gdLst>
                <a:gd name="T0" fmla="+- 0 5366 5222"/>
                <a:gd name="T1" fmla="*/ T0 w 144"/>
                <a:gd name="T2" fmla="+- 0 9225 9225"/>
                <a:gd name="T3" fmla="*/ 9225 h 142"/>
                <a:gd name="T4" fmla="+- 0 5297 5222"/>
                <a:gd name="T5" fmla="*/ T4 w 144"/>
                <a:gd name="T6" fmla="+- 0 9366 9225"/>
                <a:gd name="T7" fmla="*/ 9366 h 142"/>
                <a:gd name="T8" fmla="+- 0 5222 5222"/>
                <a:gd name="T9" fmla="*/ T8 w 144"/>
                <a:gd name="T10" fmla="+- 0 9225 9225"/>
                <a:gd name="T11" fmla="*/ 9225 h 142"/>
                <a:gd name="T12" fmla="+- 0 5366 5222"/>
                <a:gd name="T13" fmla="*/ T12 w 144"/>
                <a:gd name="T14" fmla="+- 0 9225 9225"/>
                <a:gd name="T15" fmla="*/ 9225 h 142"/>
              </a:gdLst>
              <a:ahLst/>
              <a:cxnLst>
                <a:cxn ang="0">
                  <a:pos x="T1" y="T3"/>
                </a:cxn>
                <a:cxn ang="0">
                  <a:pos x="T5" y="T7"/>
                </a:cxn>
                <a:cxn ang="0">
                  <a:pos x="T9" y="T11"/>
                </a:cxn>
                <a:cxn ang="0">
                  <a:pos x="T13" y="T15"/>
                </a:cxn>
              </a:cxnLst>
              <a:rect l="0" t="0" r="r" b="b"/>
              <a:pathLst>
                <a:path w="144" h="142">
                  <a:moveTo>
                    <a:pt x="144" y="0"/>
                  </a:moveTo>
                  <a:lnTo>
                    <a:pt x="75" y="141"/>
                  </a:lnTo>
                  <a:lnTo>
                    <a:pt x="0" y="0"/>
                  </a:lnTo>
                  <a:lnTo>
                    <a:pt x="144" y="0"/>
                  </a:lnTo>
                  <a:close/>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32" name="Freeform 23"/>
            <p:cNvSpPr>
              <a:spLocks/>
            </p:cNvSpPr>
            <p:nvPr/>
          </p:nvSpPr>
          <p:spPr bwMode="auto">
            <a:xfrm>
              <a:off x="4015" y="9366"/>
              <a:ext cx="2566" cy="732"/>
            </a:xfrm>
            <a:custGeom>
              <a:avLst/>
              <a:gdLst>
                <a:gd name="T0" fmla="+- 0 4380 4380"/>
                <a:gd name="T1" fmla="*/ T0 w 1829"/>
                <a:gd name="T2" fmla="+- 0 10098 9366"/>
                <a:gd name="T3" fmla="*/ 10098 h 732"/>
                <a:gd name="T4" fmla="+- 0 6209 4380"/>
                <a:gd name="T5" fmla="*/ T4 w 1829"/>
                <a:gd name="T6" fmla="+- 0 10098 9366"/>
                <a:gd name="T7" fmla="*/ 10098 h 732"/>
                <a:gd name="T8" fmla="+- 0 6209 4380"/>
                <a:gd name="T9" fmla="*/ T8 w 1829"/>
                <a:gd name="T10" fmla="+- 0 9366 9366"/>
                <a:gd name="T11" fmla="*/ 9366 h 732"/>
                <a:gd name="T12" fmla="+- 0 4380 4380"/>
                <a:gd name="T13" fmla="*/ T12 w 1829"/>
                <a:gd name="T14" fmla="+- 0 9366 9366"/>
                <a:gd name="T15" fmla="*/ 9366 h 732"/>
                <a:gd name="T16" fmla="+- 0 4380 4380"/>
                <a:gd name="T17" fmla="*/ T16 w 1829"/>
                <a:gd name="T18" fmla="+- 0 10098 9366"/>
                <a:gd name="T19" fmla="*/ 10098 h 732"/>
              </a:gdLst>
              <a:ahLst/>
              <a:cxnLst>
                <a:cxn ang="0">
                  <a:pos x="T1" y="T3"/>
                </a:cxn>
                <a:cxn ang="0">
                  <a:pos x="T5" y="T7"/>
                </a:cxn>
                <a:cxn ang="0">
                  <a:pos x="T9" y="T11"/>
                </a:cxn>
                <a:cxn ang="0">
                  <a:pos x="T13" y="T15"/>
                </a:cxn>
                <a:cxn ang="0">
                  <a:pos x="T17" y="T19"/>
                </a:cxn>
              </a:cxnLst>
              <a:rect l="0" t="0" r="r" b="b"/>
              <a:pathLst>
                <a:path w="1829" h="732">
                  <a:moveTo>
                    <a:pt x="0" y="732"/>
                  </a:moveTo>
                  <a:lnTo>
                    <a:pt x="1829" y="732"/>
                  </a:lnTo>
                  <a:lnTo>
                    <a:pt x="1829" y="0"/>
                  </a:lnTo>
                  <a:lnTo>
                    <a:pt x="0" y="0"/>
                  </a:lnTo>
                  <a:lnTo>
                    <a:pt x="0" y="732"/>
                  </a:lnTo>
                  <a:close/>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sz="1400"/>
                <a:t>p=p+2*x+3;</a:t>
              </a:r>
            </a:p>
            <a:p>
              <a:endParaRPr lang="en-US" sz="1400"/>
            </a:p>
          </p:txBody>
        </p:sp>
        <p:sp>
          <p:nvSpPr>
            <p:cNvPr id="33" name="Freeform 24"/>
            <p:cNvSpPr>
              <a:spLocks/>
            </p:cNvSpPr>
            <p:nvPr/>
          </p:nvSpPr>
          <p:spPr bwMode="auto">
            <a:xfrm>
              <a:off x="6907" y="8085"/>
              <a:ext cx="403" cy="0"/>
            </a:xfrm>
            <a:custGeom>
              <a:avLst/>
              <a:gdLst>
                <a:gd name="T0" fmla="+- 0 6907 6907"/>
                <a:gd name="T1" fmla="*/ T0 w 403"/>
                <a:gd name="T2" fmla="+- 0 7310 6907"/>
                <a:gd name="T3" fmla="*/ T2 w 403"/>
              </a:gdLst>
              <a:ahLst/>
              <a:cxnLst>
                <a:cxn ang="0">
                  <a:pos x="T1" y="0"/>
                </a:cxn>
                <a:cxn ang="0">
                  <a:pos x="T3" y="0"/>
                </a:cxn>
              </a:cxnLst>
              <a:rect l="0" t="0" r="r" b="b"/>
              <a:pathLst>
                <a:path w="403">
                  <a:moveTo>
                    <a:pt x="0" y="0"/>
                  </a:moveTo>
                  <a:lnTo>
                    <a:pt x="403" y="0"/>
                  </a:lnTo>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34" name="Freeform 25"/>
            <p:cNvSpPr>
              <a:spLocks/>
            </p:cNvSpPr>
            <p:nvPr/>
          </p:nvSpPr>
          <p:spPr bwMode="auto">
            <a:xfrm>
              <a:off x="7310" y="8085"/>
              <a:ext cx="0" cy="2237"/>
            </a:xfrm>
            <a:custGeom>
              <a:avLst/>
              <a:gdLst>
                <a:gd name="T0" fmla="+- 0 8085 8085"/>
                <a:gd name="T1" fmla="*/ 8085 h 2237"/>
                <a:gd name="T2" fmla="+- 0 10322 8085"/>
                <a:gd name="T3" fmla="*/ 10322 h 2237"/>
              </a:gdLst>
              <a:ahLst/>
              <a:cxnLst>
                <a:cxn ang="0">
                  <a:pos x="0" y="T1"/>
                </a:cxn>
                <a:cxn ang="0">
                  <a:pos x="0" y="T3"/>
                </a:cxn>
              </a:cxnLst>
              <a:rect l="0" t="0" r="r" b="b"/>
              <a:pathLst>
                <a:path h="2237">
                  <a:moveTo>
                    <a:pt x="0" y="0"/>
                  </a:moveTo>
                  <a:lnTo>
                    <a:pt x="0" y="2237"/>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35" name="Freeform 26"/>
            <p:cNvSpPr>
              <a:spLocks/>
            </p:cNvSpPr>
            <p:nvPr/>
          </p:nvSpPr>
          <p:spPr bwMode="auto">
            <a:xfrm>
              <a:off x="7224" y="10298"/>
              <a:ext cx="168" cy="166"/>
            </a:xfrm>
            <a:custGeom>
              <a:avLst/>
              <a:gdLst>
                <a:gd name="T0" fmla="+- 0 7392 7224"/>
                <a:gd name="T1" fmla="*/ T0 w 168"/>
                <a:gd name="T2" fmla="+- 0 10298 10298"/>
                <a:gd name="T3" fmla="*/ 10298 h 166"/>
                <a:gd name="T4" fmla="+- 0 7224 7224"/>
                <a:gd name="T5" fmla="*/ T4 w 168"/>
                <a:gd name="T6" fmla="+- 0 10298 10298"/>
                <a:gd name="T7" fmla="*/ 10298 h 166"/>
                <a:gd name="T8" fmla="+- 0 7310 7224"/>
                <a:gd name="T9" fmla="*/ T8 w 168"/>
                <a:gd name="T10" fmla="+- 0 10463 10298"/>
                <a:gd name="T11" fmla="*/ 10463 h 166"/>
                <a:gd name="T12" fmla="+- 0 7392 7224"/>
                <a:gd name="T13" fmla="*/ T12 w 168"/>
                <a:gd name="T14" fmla="+- 0 10298 10298"/>
                <a:gd name="T15" fmla="*/ 10298 h 166"/>
              </a:gdLst>
              <a:ahLst/>
              <a:cxnLst>
                <a:cxn ang="0">
                  <a:pos x="T1" y="T3"/>
                </a:cxn>
                <a:cxn ang="0">
                  <a:pos x="T5" y="T7"/>
                </a:cxn>
                <a:cxn ang="0">
                  <a:pos x="T9" y="T11"/>
                </a:cxn>
                <a:cxn ang="0">
                  <a:pos x="T13" y="T15"/>
                </a:cxn>
              </a:cxnLst>
              <a:rect l="0" t="0" r="r" b="b"/>
              <a:pathLst>
                <a:path w="168" h="166">
                  <a:moveTo>
                    <a:pt x="168" y="0"/>
                  </a:moveTo>
                  <a:lnTo>
                    <a:pt x="0" y="0"/>
                  </a:lnTo>
                  <a:lnTo>
                    <a:pt x="86" y="165"/>
                  </a:lnTo>
                  <a:lnTo>
                    <a:pt x="1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36" name="Freeform 27"/>
            <p:cNvSpPr>
              <a:spLocks/>
            </p:cNvSpPr>
            <p:nvPr/>
          </p:nvSpPr>
          <p:spPr bwMode="auto">
            <a:xfrm>
              <a:off x="7224" y="10298"/>
              <a:ext cx="168" cy="166"/>
            </a:xfrm>
            <a:custGeom>
              <a:avLst/>
              <a:gdLst>
                <a:gd name="T0" fmla="+- 0 7392 7224"/>
                <a:gd name="T1" fmla="*/ T0 w 168"/>
                <a:gd name="T2" fmla="+- 0 10298 10298"/>
                <a:gd name="T3" fmla="*/ 10298 h 166"/>
                <a:gd name="T4" fmla="+- 0 7310 7224"/>
                <a:gd name="T5" fmla="*/ T4 w 168"/>
                <a:gd name="T6" fmla="+- 0 10463 10298"/>
                <a:gd name="T7" fmla="*/ 10463 h 166"/>
                <a:gd name="T8" fmla="+- 0 7224 7224"/>
                <a:gd name="T9" fmla="*/ T8 w 168"/>
                <a:gd name="T10" fmla="+- 0 10298 10298"/>
                <a:gd name="T11" fmla="*/ 10298 h 166"/>
                <a:gd name="T12" fmla="+- 0 7392 7224"/>
                <a:gd name="T13" fmla="*/ T12 w 168"/>
                <a:gd name="T14" fmla="+- 0 10298 10298"/>
                <a:gd name="T15" fmla="*/ 10298 h 166"/>
              </a:gdLst>
              <a:ahLst/>
              <a:cxnLst>
                <a:cxn ang="0">
                  <a:pos x="T1" y="T3"/>
                </a:cxn>
                <a:cxn ang="0">
                  <a:pos x="T5" y="T7"/>
                </a:cxn>
                <a:cxn ang="0">
                  <a:pos x="T9" y="T11"/>
                </a:cxn>
                <a:cxn ang="0">
                  <a:pos x="T13" y="T15"/>
                </a:cxn>
              </a:cxnLst>
              <a:rect l="0" t="0" r="r" b="b"/>
              <a:pathLst>
                <a:path w="168" h="166">
                  <a:moveTo>
                    <a:pt x="168" y="0"/>
                  </a:moveTo>
                  <a:lnTo>
                    <a:pt x="86" y="165"/>
                  </a:lnTo>
                  <a:lnTo>
                    <a:pt x="0" y="0"/>
                  </a:lnTo>
                  <a:lnTo>
                    <a:pt x="168" y="0"/>
                  </a:lnTo>
                  <a:close/>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37" name="Freeform 28"/>
            <p:cNvSpPr>
              <a:spLocks/>
            </p:cNvSpPr>
            <p:nvPr/>
          </p:nvSpPr>
          <p:spPr bwMode="auto">
            <a:xfrm>
              <a:off x="5758" y="10463"/>
              <a:ext cx="3175" cy="1140"/>
            </a:xfrm>
            <a:custGeom>
              <a:avLst/>
              <a:gdLst>
                <a:gd name="T0" fmla="+- 0 6209 6209"/>
                <a:gd name="T1" fmla="*/ T0 w 2198"/>
                <a:gd name="T2" fmla="+- 0 11195 10463"/>
                <a:gd name="T3" fmla="*/ 11195 h 732"/>
                <a:gd name="T4" fmla="+- 0 8407 6209"/>
                <a:gd name="T5" fmla="*/ T4 w 2198"/>
                <a:gd name="T6" fmla="+- 0 11195 10463"/>
                <a:gd name="T7" fmla="*/ 11195 h 732"/>
                <a:gd name="T8" fmla="+- 0 8407 6209"/>
                <a:gd name="T9" fmla="*/ T8 w 2198"/>
                <a:gd name="T10" fmla="+- 0 10463 10463"/>
                <a:gd name="T11" fmla="*/ 10463 h 732"/>
                <a:gd name="T12" fmla="+- 0 6209 6209"/>
                <a:gd name="T13" fmla="*/ T12 w 2198"/>
                <a:gd name="T14" fmla="+- 0 10463 10463"/>
                <a:gd name="T15" fmla="*/ 10463 h 732"/>
                <a:gd name="T16" fmla="+- 0 6209 6209"/>
                <a:gd name="T17" fmla="*/ T16 w 2198"/>
                <a:gd name="T18" fmla="+- 0 11195 10463"/>
                <a:gd name="T19" fmla="*/ 11195 h 732"/>
              </a:gdLst>
              <a:ahLst/>
              <a:cxnLst>
                <a:cxn ang="0">
                  <a:pos x="T1" y="T3"/>
                </a:cxn>
                <a:cxn ang="0">
                  <a:pos x="T5" y="T7"/>
                </a:cxn>
                <a:cxn ang="0">
                  <a:pos x="T9" y="T11"/>
                </a:cxn>
                <a:cxn ang="0">
                  <a:pos x="T13" y="T15"/>
                </a:cxn>
                <a:cxn ang="0">
                  <a:pos x="T17" y="T19"/>
                </a:cxn>
              </a:cxnLst>
              <a:rect l="0" t="0" r="r" b="b"/>
              <a:pathLst>
                <a:path w="2198" h="732">
                  <a:moveTo>
                    <a:pt x="0" y="732"/>
                  </a:moveTo>
                  <a:lnTo>
                    <a:pt x="2198" y="732"/>
                  </a:lnTo>
                  <a:lnTo>
                    <a:pt x="2198" y="0"/>
                  </a:lnTo>
                  <a:lnTo>
                    <a:pt x="0" y="0"/>
                  </a:lnTo>
                  <a:lnTo>
                    <a:pt x="0" y="732"/>
                  </a:lnTo>
                  <a:close/>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sz="1400"/>
                <a:t>p=p+2(x-y)+5;</a:t>
              </a:r>
            </a:p>
            <a:p>
              <a:r>
                <a:rPr lang="en-US" sz="1400" smtClean="0"/>
                <a:t>y=y-1;</a:t>
              </a:r>
              <a:endParaRPr lang="en-US" sz="1400"/>
            </a:p>
            <a:p>
              <a:endParaRPr lang="en-US" sz="1400"/>
            </a:p>
          </p:txBody>
        </p:sp>
        <p:sp>
          <p:nvSpPr>
            <p:cNvPr id="38" name="Freeform 29"/>
            <p:cNvSpPr>
              <a:spLocks/>
            </p:cNvSpPr>
            <p:nvPr/>
          </p:nvSpPr>
          <p:spPr bwMode="auto">
            <a:xfrm>
              <a:off x="7328" y="11578"/>
              <a:ext cx="103" cy="365"/>
            </a:xfrm>
            <a:custGeom>
              <a:avLst/>
              <a:gdLst>
                <a:gd name="T0" fmla="+- 0 11195 11195"/>
                <a:gd name="T1" fmla="*/ 11195 h 737"/>
                <a:gd name="T2" fmla="+- 0 11932 11195"/>
                <a:gd name="T3" fmla="*/ 11932 h 737"/>
              </a:gdLst>
              <a:ahLst/>
              <a:cxnLst>
                <a:cxn ang="0">
                  <a:pos x="0" y="T1"/>
                </a:cxn>
                <a:cxn ang="0">
                  <a:pos x="0" y="T3"/>
                </a:cxn>
              </a:cxnLst>
              <a:rect l="0" t="0" r="r" b="b"/>
              <a:pathLst>
                <a:path h="737">
                  <a:moveTo>
                    <a:pt x="0" y="0"/>
                  </a:moveTo>
                  <a:lnTo>
                    <a:pt x="0" y="737"/>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39" name="Freeform 30"/>
            <p:cNvSpPr>
              <a:spLocks/>
            </p:cNvSpPr>
            <p:nvPr/>
          </p:nvSpPr>
          <p:spPr bwMode="auto">
            <a:xfrm>
              <a:off x="5441" y="11932"/>
              <a:ext cx="1870" cy="0"/>
            </a:xfrm>
            <a:custGeom>
              <a:avLst/>
              <a:gdLst>
                <a:gd name="T0" fmla="+- 0 7310 5441"/>
                <a:gd name="T1" fmla="*/ T0 w 1870"/>
                <a:gd name="T2" fmla="+- 0 5441 5441"/>
                <a:gd name="T3" fmla="*/ T2 w 1870"/>
              </a:gdLst>
              <a:ahLst/>
              <a:cxnLst>
                <a:cxn ang="0">
                  <a:pos x="T1" y="0"/>
                </a:cxn>
                <a:cxn ang="0">
                  <a:pos x="T3" y="0"/>
                </a:cxn>
              </a:cxnLst>
              <a:rect l="0" t="0" r="r" b="b"/>
              <a:pathLst>
                <a:path w="1870">
                  <a:moveTo>
                    <a:pt x="1869" y="0"/>
                  </a:moveTo>
                  <a:lnTo>
                    <a:pt x="0" y="0"/>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40" name="Freeform 31"/>
            <p:cNvSpPr>
              <a:spLocks/>
            </p:cNvSpPr>
            <p:nvPr/>
          </p:nvSpPr>
          <p:spPr bwMode="auto">
            <a:xfrm>
              <a:off x="5297" y="11846"/>
              <a:ext cx="168" cy="168"/>
            </a:xfrm>
            <a:custGeom>
              <a:avLst/>
              <a:gdLst>
                <a:gd name="T0" fmla="+- 0 5465 5297"/>
                <a:gd name="T1" fmla="*/ T0 w 168"/>
                <a:gd name="T2" fmla="+- 0 12014 11846"/>
                <a:gd name="T3" fmla="*/ 12014 h 168"/>
                <a:gd name="T4" fmla="+- 0 5465 5297"/>
                <a:gd name="T5" fmla="*/ T4 w 168"/>
                <a:gd name="T6" fmla="+- 0 11846 11846"/>
                <a:gd name="T7" fmla="*/ 11846 h 168"/>
                <a:gd name="T8" fmla="+- 0 5297 5297"/>
                <a:gd name="T9" fmla="*/ T8 w 168"/>
                <a:gd name="T10" fmla="+- 0 11932 11846"/>
                <a:gd name="T11" fmla="*/ 11932 h 168"/>
                <a:gd name="T12" fmla="+- 0 5465 5297"/>
                <a:gd name="T13" fmla="*/ T12 w 168"/>
                <a:gd name="T14" fmla="+- 0 12014 11846"/>
                <a:gd name="T15" fmla="*/ 12014 h 168"/>
              </a:gdLst>
              <a:ahLst/>
              <a:cxnLst>
                <a:cxn ang="0">
                  <a:pos x="T1" y="T3"/>
                </a:cxn>
                <a:cxn ang="0">
                  <a:pos x="T5" y="T7"/>
                </a:cxn>
                <a:cxn ang="0">
                  <a:pos x="T9" y="T11"/>
                </a:cxn>
                <a:cxn ang="0">
                  <a:pos x="T13" y="T15"/>
                </a:cxn>
              </a:cxnLst>
              <a:rect l="0" t="0" r="r" b="b"/>
              <a:pathLst>
                <a:path w="168" h="168">
                  <a:moveTo>
                    <a:pt x="168" y="168"/>
                  </a:moveTo>
                  <a:lnTo>
                    <a:pt x="168" y="0"/>
                  </a:lnTo>
                  <a:lnTo>
                    <a:pt x="0" y="86"/>
                  </a:lnTo>
                  <a:lnTo>
                    <a:pt x="168" y="1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41" name="Freeform 32"/>
            <p:cNvSpPr>
              <a:spLocks/>
            </p:cNvSpPr>
            <p:nvPr/>
          </p:nvSpPr>
          <p:spPr bwMode="auto">
            <a:xfrm>
              <a:off x="5297" y="11846"/>
              <a:ext cx="168" cy="168"/>
            </a:xfrm>
            <a:custGeom>
              <a:avLst/>
              <a:gdLst>
                <a:gd name="T0" fmla="+- 0 5465 5297"/>
                <a:gd name="T1" fmla="*/ T0 w 168"/>
                <a:gd name="T2" fmla="+- 0 12014 11846"/>
                <a:gd name="T3" fmla="*/ 12014 h 168"/>
                <a:gd name="T4" fmla="+- 0 5297 5297"/>
                <a:gd name="T5" fmla="*/ T4 w 168"/>
                <a:gd name="T6" fmla="+- 0 11932 11846"/>
                <a:gd name="T7" fmla="*/ 11932 h 168"/>
                <a:gd name="T8" fmla="+- 0 5465 5297"/>
                <a:gd name="T9" fmla="*/ T8 w 168"/>
                <a:gd name="T10" fmla="+- 0 11846 11846"/>
                <a:gd name="T11" fmla="*/ 11846 h 168"/>
                <a:gd name="T12" fmla="+- 0 5465 5297"/>
                <a:gd name="T13" fmla="*/ T12 w 168"/>
                <a:gd name="T14" fmla="+- 0 12014 11846"/>
                <a:gd name="T15" fmla="*/ 12014 h 168"/>
              </a:gdLst>
              <a:ahLst/>
              <a:cxnLst>
                <a:cxn ang="0">
                  <a:pos x="T1" y="T3"/>
                </a:cxn>
                <a:cxn ang="0">
                  <a:pos x="T5" y="T7"/>
                </a:cxn>
                <a:cxn ang="0">
                  <a:pos x="T9" y="T11"/>
                </a:cxn>
                <a:cxn ang="0">
                  <a:pos x="T13" y="T15"/>
                </a:cxn>
              </a:cxnLst>
              <a:rect l="0" t="0" r="r" b="b"/>
              <a:pathLst>
                <a:path w="168" h="168">
                  <a:moveTo>
                    <a:pt x="168" y="168"/>
                  </a:moveTo>
                  <a:lnTo>
                    <a:pt x="0" y="86"/>
                  </a:lnTo>
                  <a:lnTo>
                    <a:pt x="168" y="0"/>
                  </a:lnTo>
                  <a:lnTo>
                    <a:pt x="168" y="168"/>
                  </a:lnTo>
                  <a:close/>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42" name="Freeform 33"/>
            <p:cNvSpPr>
              <a:spLocks/>
            </p:cNvSpPr>
            <p:nvPr/>
          </p:nvSpPr>
          <p:spPr bwMode="auto">
            <a:xfrm>
              <a:off x="5297" y="10098"/>
              <a:ext cx="0" cy="2052"/>
            </a:xfrm>
            <a:custGeom>
              <a:avLst/>
              <a:gdLst>
                <a:gd name="T0" fmla="+- 0 10098 10098"/>
                <a:gd name="T1" fmla="*/ 10098 h 2052"/>
                <a:gd name="T2" fmla="+- 0 12150 10098"/>
                <a:gd name="T3" fmla="*/ 12150 h 2052"/>
              </a:gdLst>
              <a:ahLst/>
              <a:cxnLst>
                <a:cxn ang="0">
                  <a:pos x="0" y="T1"/>
                </a:cxn>
                <a:cxn ang="0">
                  <a:pos x="0" y="T3"/>
                </a:cxn>
              </a:cxnLst>
              <a:rect l="0" t="0" r="r" b="b"/>
              <a:pathLst>
                <a:path h="2052">
                  <a:moveTo>
                    <a:pt x="0" y="0"/>
                  </a:moveTo>
                  <a:lnTo>
                    <a:pt x="0" y="2052"/>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43" name="Freeform 34"/>
            <p:cNvSpPr>
              <a:spLocks/>
            </p:cNvSpPr>
            <p:nvPr/>
          </p:nvSpPr>
          <p:spPr bwMode="auto">
            <a:xfrm>
              <a:off x="5210" y="12131"/>
              <a:ext cx="168" cy="166"/>
            </a:xfrm>
            <a:custGeom>
              <a:avLst/>
              <a:gdLst>
                <a:gd name="T0" fmla="+- 0 5378 5210"/>
                <a:gd name="T1" fmla="*/ T0 w 168"/>
                <a:gd name="T2" fmla="+- 0 12131 12131"/>
                <a:gd name="T3" fmla="*/ 12131 h 166"/>
                <a:gd name="T4" fmla="+- 0 5210 5210"/>
                <a:gd name="T5" fmla="*/ T4 w 168"/>
                <a:gd name="T6" fmla="+- 0 12131 12131"/>
                <a:gd name="T7" fmla="*/ 12131 h 166"/>
                <a:gd name="T8" fmla="+- 0 5297 5210"/>
                <a:gd name="T9" fmla="*/ T8 w 168"/>
                <a:gd name="T10" fmla="+- 0 12297 12131"/>
                <a:gd name="T11" fmla="*/ 12297 h 166"/>
                <a:gd name="T12" fmla="+- 0 5378 5210"/>
                <a:gd name="T13" fmla="*/ T12 w 168"/>
                <a:gd name="T14" fmla="+- 0 12131 12131"/>
                <a:gd name="T15" fmla="*/ 12131 h 166"/>
              </a:gdLst>
              <a:ahLst/>
              <a:cxnLst>
                <a:cxn ang="0">
                  <a:pos x="T1" y="T3"/>
                </a:cxn>
                <a:cxn ang="0">
                  <a:pos x="T5" y="T7"/>
                </a:cxn>
                <a:cxn ang="0">
                  <a:pos x="T9" y="T11"/>
                </a:cxn>
                <a:cxn ang="0">
                  <a:pos x="T13" y="T15"/>
                </a:cxn>
              </a:cxnLst>
              <a:rect l="0" t="0" r="r" b="b"/>
              <a:pathLst>
                <a:path w="168" h="166">
                  <a:moveTo>
                    <a:pt x="168" y="0"/>
                  </a:moveTo>
                  <a:lnTo>
                    <a:pt x="0" y="0"/>
                  </a:lnTo>
                  <a:lnTo>
                    <a:pt x="87" y="166"/>
                  </a:lnTo>
                  <a:lnTo>
                    <a:pt x="1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44" name="Freeform 35"/>
            <p:cNvSpPr>
              <a:spLocks/>
            </p:cNvSpPr>
            <p:nvPr/>
          </p:nvSpPr>
          <p:spPr bwMode="auto">
            <a:xfrm>
              <a:off x="5210" y="12131"/>
              <a:ext cx="168" cy="166"/>
            </a:xfrm>
            <a:custGeom>
              <a:avLst/>
              <a:gdLst>
                <a:gd name="T0" fmla="+- 0 5378 5210"/>
                <a:gd name="T1" fmla="*/ T0 w 168"/>
                <a:gd name="T2" fmla="+- 0 12131 12131"/>
                <a:gd name="T3" fmla="*/ 12131 h 166"/>
                <a:gd name="T4" fmla="+- 0 5297 5210"/>
                <a:gd name="T5" fmla="*/ T4 w 168"/>
                <a:gd name="T6" fmla="+- 0 12297 12131"/>
                <a:gd name="T7" fmla="*/ 12297 h 166"/>
                <a:gd name="T8" fmla="+- 0 5210 5210"/>
                <a:gd name="T9" fmla="*/ T8 w 168"/>
                <a:gd name="T10" fmla="+- 0 12131 12131"/>
                <a:gd name="T11" fmla="*/ 12131 h 166"/>
                <a:gd name="T12" fmla="+- 0 5378 5210"/>
                <a:gd name="T13" fmla="*/ T12 w 168"/>
                <a:gd name="T14" fmla="+- 0 12131 12131"/>
                <a:gd name="T15" fmla="*/ 12131 h 166"/>
              </a:gdLst>
              <a:ahLst/>
              <a:cxnLst>
                <a:cxn ang="0">
                  <a:pos x="T1" y="T3"/>
                </a:cxn>
                <a:cxn ang="0">
                  <a:pos x="T5" y="T7"/>
                </a:cxn>
                <a:cxn ang="0">
                  <a:pos x="T9" y="T11"/>
                </a:cxn>
                <a:cxn ang="0">
                  <a:pos x="T13" y="T15"/>
                </a:cxn>
              </a:cxnLst>
              <a:rect l="0" t="0" r="r" b="b"/>
              <a:pathLst>
                <a:path w="168" h="166">
                  <a:moveTo>
                    <a:pt x="168" y="0"/>
                  </a:moveTo>
                  <a:lnTo>
                    <a:pt x="87" y="166"/>
                  </a:lnTo>
                  <a:lnTo>
                    <a:pt x="0" y="0"/>
                  </a:lnTo>
                  <a:lnTo>
                    <a:pt x="168" y="0"/>
                  </a:lnTo>
                  <a:close/>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45" name="Freeform 36"/>
            <p:cNvSpPr>
              <a:spLocks/>
            </p:cNvSpPr>
            <p:nvPr/>
          </p:nvSpPr>
          <p:spPr bwMode="auto">
            <a:xfrm>
              <a:off x="3485" y="12297"/>
              <a:ext cx="3739" cy="732"/>
            </a:xfrm>
            <a:custGeom>
              <a:avLst/>
              <a:gdLst>
                <a:gd name="T0" fmla="+- 0 4015 4015"/>
                <a:gd name="T1" fmla="*/ T0 w 2566"/>
                <a:gd name="T2" fmla="+- 0 13029 12297"/>
                <a:gd name="T3" fmla="*/ 13029 h 732"/>
                <a:gd name="T4" fmla="+- 0 6581 4015"/>
                <a:gd name="T5" fmla="*/ T4 w 2566"/>
                <a:gd name="T6" fmla="+- 0 13029 12297"/>
                <a:gd name="T7" fmla="*/ 13029 h 732"/>
                <a:gd name="T8" fmla="+- 0 6581 4015"/>
                <a:gd name="T9" fmla="*/ T8 w 2566"/>
                <a:gd name="T10" fmla="+- 0 12297 12297"/>
                <a:gd name="T11" fmla="*/ 12297 h 732"/>
                <a:gd name="T12" fmla="+- 0 4015 4015"/>
                <a:gd name="T13" fmla="*/ T12 w 2566"/>
                <a:gd name="T14" fmla="+- 0 12297 12297"/>
                <a:gd name="T15" fmla="*/ 12297 h 732"/>
                <a:gd name="T16" fmla="+- 0 4015 4015"/>
                <a:gd name="T17" fmla="*/ T16 w 2566"/>
                <a:gd name="T18" fmla="+- 0 13029 12297"/>
                <a:gd name="T19" fmla="*/ 13029 h 732"/>
              </a:gdLst>
              <a:ahLst/>
              <a:cxnLst>
                <a:cxn ang="0">
                  <a:pos x="T1" y="T3"/>
                </a:cxn>
                <a:cxn ang="0">
                  <a:pos x="T5" y="T7"/>
                </a:cxn>
                <a:cxn ang="0">
                  <a:pos x="T9" y="T11"/>
                </a:cxn>
                <a:cxn ang="0">
                  <a:pos x="T13" y="T15"/>
                </a:cxn>
                <a:cxn ang="0">
                  <a:pos x="T17" y="T19"/>
                </a:cxn>
              </a:cxnLst>
              <a:rect l="0" t="0" r="r" b="b"/>
              <a:pathLst>
                <a:path w="2566" h="732">
                  <a:moveTo>
                    <a:pt x="0" y="732"/>
                  </a:moveTo>
                  <a:lnTo>
                    <a:pt x="2566" y="732"/>
                  </a:lnTo>
                  <a:lnTo>
                    <a:pt x="2566" y="0"/>
                  </a:lnTo>
                  <a:lnTo>
                    <a:pt x="0" y="0"/>
                  </a:lnTo>
                  <a:lnTo>
                    <a:pt x="0" y="732"/>
                  </a:lnTo>
                  <a:close/>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sz="1200"/>
                <a:t>x=x+1; Put8Pixel(x,y,c);</a:t>
              </a:r>
            </a:p>
            <a:p>
              <a:endParaRPr lang="en-US" sz="1200"/>
            </a:p>
          </p:txBody>
        </p:sp>
        <p:sp>
          <p:nvSpPr>
            <p:cNvPr id="46" name="Freeform 37"/>
            <p:cNvSpPr>
              <a:spLocks/>
            </p:cNvSpPr>
            <p:nvPr/>
          </p:nvSpPr>
          <p:spPr bwMode="auto">
            <a:xfrm>
              <a:off x="5297" y="13029"/>
              <a:ext cx="0" cy="365"/>
            </a:xfrm>
            <a:custGeom>
              <a:avLst/>
              <a:gdLst>
                <a:gd name="T0" fmla="+- 0 13029 13029"/>
                <a:gd name="T1" fmla="*/ 13029 h 365"/>
                <a:gd name="T2" fmla="+- 0 13394 13029"/>
                <a:gd name="T3" fmla="*/ 13394 h 365"/>
              </a:gdLst>
              <a:ahLst/>
              <a:cxnLst>
                <a:cxn ang="0">
                  <a:pos x="0" y="T1"/>
                </a:cxn>
                <a:cxn ang="0">
                  <a:pos x="0" y="T3"/>
                </a:cxn>
              </a:cxnLst>
              <a:rect l="0" t="0" r="r" b="b"/>
              <a:pathLst>
                <a:path h="365">
                  <a:moveTo>
                    <a:pt x="0" y="0"/>
                  </a:moveTo>
                  <a:lnTo>
                    <a:pt x="0" y="365"/>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47" name="Freeform 38"/>
            <p:cNvSpPr>
              <a:spLocks/>
            </p:cNvSpPr>
            <p:nvPr/>
          </p:nvSpPr>
          <p:spPr bwMode="auto">
            <a:xfrm>
              <a:off x="3134" y="5358"/>
              <a:ext cx="2162" cy="8035"/>
            </a:xfrm>
            <a:custGeom>
              <a:avLst/>
              <a:gdLst>
                <a:gd name="T0" fmla="+- 0 5297 3134"/>
                <a:gd name="T1" fmla="*/ T0 w 2162"/>
                <a:gd name="T2" fmla="+- 0 13394 5358"/>
                <a:gd name="T3" fmla="*/ 13394 h 8035"/>
                <a:gd name="T4" fmla="+- 0 3134 3134"/>
                <a:gd name="T5" fmla="*/ T4 w 2162"/>
                <a:gd name="T6" fmla="+- 0 13394 5358"/>
                <a:gd name="T7" fmla="*/ 13394 h 8035"/>
                <a:gd name="T8" fmla="+- 0 3134 3134"/>
                <a:gd name="T9" fmla="*/ T8 w 2162"/>
                <a:gd name="T10" fmla="+- 0 5358 5358"/>
                <a:gd name="T11" fmla="*/ 5358 h 8035"/>
                <a:gd name="T12" fmla="+- 0 5206 3134"/>
                <a:gd name="T13" fmla="*/ T12 w 2162"/>
                <a:gd name="T14" fmla="+- 0 5358 5358"/>
                <a:gd name="T15" fmla="*/ 5358 h 8035"/>
              </a:gdLst>
              <a:ahLst/>
              <a:cxnLst>
                <a:cxn ang="0">
                  <a:pos x="T1" y="T3"/>
                </a:cxn>
                <a:cxn ang="0">
                  <a:pos x="T5" y="T7"/>
                </a:cxn>
                <a:cxn ang="0">
                  <a:pos x="T9" y="T11"/>
                </a:cxn>
                <a:cxn ang="0">
                  <a:pos x="T13" y="T15"/>
                </a:cxn>
              </a:cxnLst>
              <a:rect l="0" t="0" r="r" b="b"/>
              <a:pathLst>
                <a:path w="2162" h="8035">
                  <a:moveTo>
                    <a:pt x="2163" y="8036"/>
                  </a:moveTo>
                  <a:lnTo>
                    <a:pt x="0" y="8036"/>
                  </a:lnTo>
                  <a:lnTo>
                    <a:pt x="0" y="0"/>
                  </a:lnTo>
                  <a:lnTo>
                    <a:pt x="2072" y="0"/>
                  </a:lnTo>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48" name="Freeform 39"/>
            <p:cNvSpPr>
              <a:spLocks/>
            </p:cNvSpPr>
            <p:nvPr/>
          </p:nvSpPr>
          <p:spPr bwMode="auto">
            <a:xfrm>
              <a:off x="5186" y="5284"/>
              <a:ext cx="142" cy="144"/>
            </a:xfrm>
            <a:custGeom>
              <a:avLst/>
              <a:gdLst>
                <a:gd name="T0" fmla="+- 0 5186 5186"/>
                <a:gd name="T1" fmla="*/ T0 w 142"/>
                <a:gd name="T2" fmla="+- 0 5284 5284"/>
                <a:gd name="T3" fmla="*/ 5284 h 144"/>
                <a:gd name="T4" fmla="+- 0 5186 5186"/>
                <a:gd name="T5" fmla="*/ T4 w 142"/>
                <a:gd name="T6" fmla="+- 0 5428 5284"/>
                <a:gd name="T7" fmla="*/ 5428 h 144"/>
                <a:gd name="T8" fmla="+- 0 5328 5186"/>
                <a:gd name="T9" fmla="*/ T8 w 142"/>
                <a:gd name="T10" fmla="+- 0 5358 5284"/>
                <a:gd name="T11" fmla="*/ 5358 h 144"/>
                <a:gd name="T12" fmla="+- 0 5186 5186"/>
                <a:gd name="T13" fmla="*/ T12 w 142"/>
                <a:gd name="T14" fmla="+- 0 5284 5284"/>
                <a:gd name="T15" fmla="*/ 5284 h 144"/>
              </a:gdLst>
              <a:ahLst/>
              <a:cxnLst>
                <a:cxn ang="0">
                  <a:pos x="T1" y="T3"/>
                </a:cxn>
                <a:cxn ang="0">
                  <a:pos x="T5" y="T7"/>
                </a:cxn>
                <a:cxn ang="0">
                  <a:pos x="T9" y="T11"/>
                </a:cxn>
                <a:cxn ang="0">
                  <a:pos x="T13" y="T15"/>
                </a:cxn>
              </a:cxnLst>
              <a:rect l="0" t="0" r="r" b="b"/>
              <a:pathLst>
                <a:path w="142" h="144">
                  <a:moveTo>
                    <a:pt x="0" y="0"/>
                  </a:moveTo>
                  <a:lnTo>
                    <a:pt x="0" y="144"/>
                  </a:lnTo>
                  <a:lnTo>
                    <a:pt x="142" y="7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49" name="Freeform 40"/>
            <p:cNvSpPr>
              <a:spLocks/>
            </p:cNvSpPr>
            <p:nvPr/>
          </p:nvSpPr>
          <p:spPr bwMode="auto">
            <a:xfrm>
              <a:off x="5186" y="5284"/>
              <a:ext cx="142" cy="144"/>
            </a:xfrm>
            <a:custGeom>
              <a:avLst/>
              <a:gdLst>
                <a:gd name="T0" fmla="+- 0 5186 5186"/>
                <a:gd name="T1" fmla="*/ T0 w 142"/>
                <a:gd name="T2" fmla="+- 0 5284 5284"/>
                <a:gd name="T3" fmla="*/ 5284 h 144"/>
                <a:gd name="T4" fmla="+- 0 5328 5186"/>
                <a:gd name="T5" fmla="*/ T4 w 142"/>
                <a:gd name="T6" fmla="+- 0 5358 5284"/>
                <a:gd name="T7" fmla="*/ 5358 h 144"/>
                <a:gd name="T8" fmla="+- 0 5186 5186"/>
                <a:gd name="T9" fmla="*/ T8 w 142"/>
                <a:gd name="T10" fmla="+- 0 5428 5284"/>
                <a:gd name="T11" fmla="*/ 5428 h 144"/>
                <a:gd name="T12" fmla="+- 0 5186 5186"/>
                <a:gd name="T13" fmla="*/ T12 w 142"/>
                <a:gd name="T14" fmla="+- 0 5284 5284"/>
                <a:gd name="T15" fmla="*/ 5284 h 144"/>
              </a:gdLst>
              <a:ahLst/>
              <a:cxnLst>
                <a:cxn ang="0">
                  <a:pos x="T1" y="T3"/>
                </a:cxn>
                <a:cxn ang="0">
                  <a:pos x="T5" y="T7"/>
                </a:cxn>
                <a:cxn ang="0">
                  <a:pos x="T9" y="T11"/>
                </a:cxn>
                <a:cxn ang="0">
                  <a:pos x="T13" y="T15"/>
                </a:cxn>
              </a:cxnLst>
              <a:rect l="0" t="0" r="r" b="b"/>
              <a:pathLst>
                <a:path w="142" h="144">
                  <a:moveTo>
                    <a:pt x="0" y="0"/>
                  </a:moveTo>
                  <a:lnTo>
                    <a:pt x="142" y="74"/>
                  </a:lnTo>
                  <a:lnTo>
                    <a:pt x="0" y="144"/>
                  </a:lnTo>
                  <a:lnTo>
                    <a:pt x="0" y="0"/>
                  </a:lnTo>
                  <a:close/>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61" name="Freeform 41"/>
            <p:cNvSpPr>
              <a:spLocks/>
            </p:cNvSpPr>
            <p:nvPr/>
          </p:nvSpPr>
          <p:spPr bwMode="auto">
            <a:xfrm>
              <a:off x="7639" y="6256"/>
              <a:ext cx="1135" cy="0"/>
            </a:xfrm>
            <a:custGeom>
              <a:avLst/>
              <a:gdLst>
                <a:gd name="T0" fmla="+- 0 7639 7639"/>
                <a:gd name="T1" fmla="*/ T0 w 1135"/>
                <a:gd name="T2" fmla="+- 0 8774 7639"/>
                <a:gd name="T3" fmla="*/ T2 w 1135"/>
              </a:gdLst>
              <a:ahLst/>
              <a:cxnLst>
                <a:cxn ang="0">
                  <a:pos x="T1" y="0"/>
                </a:cxn>
                <a:cxn ang="0">
                  <a:pos x="T3" y="0"/>
                </a:cxn>
              </a:cxnLst>
              <a:rect l="0" t="0" r="r" b="b"/>
              <a:pathLst>
                <a:path w="1135">
                  <a:moveTo>
                    <a:pt x="0" y="0"/>
                  </a:moveTo>
                  <a:lnTo>
                    <a:pt x="1135" y="0"/>
                  </a:lnTo>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62" name="Freeform 42"/>
            <p:cNvSpPr>
              <a:spLocks/>
            </p:cNvSpPr>
            <p:nvPr/>
          </p:nvSpPr>
          <p:spPr bwMode="auto">
            <a:xfrm>
              <a:off x="5335" y="6256"/>
              <a:ext cx="3804" cy="7505"/>
            </a:xfrm>
            <a:custGeom>
              <a:avLst/>
              <a:gdLst>
                <a:gd name="T0" fmla="+- 0 8774 5335"/>
                <a:gd name="T1" fmla="*/ T0 w 3804"/>
                <a:gd name="T2" fmla="+- 0 6256 6256"/>
                <a:gd name="T3" fmla="*/ 6256 h 7505"/>
                <a:gd name="T4" fmla="+- 0 9139 5335"/>
                <a:gd name="T5" fmla="*/ T4 w 3804"/>
                <a:gd name="T6" fmla="+- 0 6256 6256"/>
                <a:gd name="T7" fmla="*/ 6256 h 7505"/>
                <a:gd name="T8" fmla="+- 0 9139 5335"/>
                <a:gd name="T9" fmla="*/ T8 w 3804"/>
                <a:gd name="T10" fmla="+- 0 13761 6256"/>
                <a:gd name="T11" fmla="*/ 13761 h 7505"/>
                <a:gd name="T12" fmla="+- 0 5335 5335"/>
                <a:gd name="T13" fmla="*/ T12 w 3804"/>
                <a:gd name="T14" fmla="+- 0 13761 6256"/>
                <a:gd name="T15" fmla="*/ 13761 h 7505"/>
              </a:gdLst>
              <a:ahLst/>
              <a:cxnLst>
                <a:cxn ang="0">
                  <a:pos x="T1" y="T3"/>
                </a:cxn>
                <a:cxn ang="0">
                  <a:pos x="T5" y="T7"/>
                </a:cxn>
                <a:cxn ang="0">
                  <a:pos x="T9" y="T11"/>
                </a:cxn>
                <a:cxn ang="0">
                  <a:pos x="T13" y="T15"/>
                </a:cxn>
              </a:cxnLst>
              <a:rect l="0" t="0" r="r" b="b"/>
              <a:pathLst>
                <a:path w="3804" h="7505">
                  <a:moveTo>
                    <a:pt x="3439" y="0"/>
                  </a:moveTo>
                  <a:lnTo>
                    <a:pt x="3804" y="0"/>
                  </a:lnTo>
                  <a:lnTo>
                    <a:pt x="3804" y="7505"/>
                  </a:lnTo>
                  <a:lnTo>
                    <a:pt x="0" y="7505"/>
                  </a:lnTo>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63" name="Freeform 43"/>
            <p:cNvSpPr>
              <a:spLocks/>
            </p:cNvSpPr>
            <p:nvPr/>
          </p:nvSpPr>
          <p:spPr bwMode="auto">
            <a:xfrm>
              <a:off x="5335" y="13761"/>
              <a:ext cx="0" cy="581"/>
            </a:xfrm>
            <a:custGeom>
              <a:avLst/>
              <a:gdLst>
                <a:gd name="T0" fmla="+- 0 13761 13761"/>
                <a:gd name="T1" fmla="*/ 13761 h 581"/>
                <a:gd name="T2" fmla="+- 0 14342 13761"/>
                <a:gd name="T3" fmla="*/ 14342 h 581"/>
              </a:gdLst>
              <a:ahLst/>
              <a:cxnLst>
                <a:cxn ang="0">
                  <a:pos x="0" y="T1"/>
                </a:cxn>
                <a:cxn ang="0">
                  <a:pos x="0" y="T3"/>
                </a:cxn>
              </a:cxnLst>
              <a:rect l="0" t="0" r="r" b="b"/>
              <a:pathLst>
                <a:path h="581">
                  <a:moveTo>
                    <a:pt x="0" y="0"/>
                  </a:moveTo>
                  <a:lnTo>
                    <a:pt x="0" y="581"/>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64" name="Freeform 44"/>
            <p:cNvSpPr>
              <a:spLocks/>
            </p:cNvSpPr>
            <p:nvPr/>
          </p:nvSpPr>
          <p:spPr bwMode="auto">
            <a:xfrm>
              <a:off x="5249" y="14325"/>
              <a:ext cx="166" cy="166"/>
            </a:xfrm>
            <a:custGeom>
              <a:avLst/>
              <a:gdLst>
                <a:gd name="T0" fmla="+- 0 5414 5249"/>
                <a:gd name="T1" fmla="*/ T0 w 166"/>
                <a:gd name="T2" fmla="+- 0 14325 14325"/>
                <a:gd name="T3" fmla="*/ 14325 h 166"/>
                <a:gd name="T4" fmla="+- 0 5249 5249"/>
                <a:gd name="T5" fmla="*/ T4 w 166"/>
                <a:gd name="T6" fmla="+- 0 14325 14325"/>
                <a:gd name="T7" fmla="*/ 14325 h 166"/>
                <a:gd name="T8" fmla="+- 0 5335 5249"/>
                <a:gd name="T9" fmla="*/ T8 w 166"/>
                <a:gd name="T10" fmla="+- 0 14490 14325"/>
                <a:gd name="T11" fmla="*/ 14490 h 166"/>
                <a:gd name="T12" fmla="+- 0 5414 5249"/>
                <a:gd name="T13" fmla="*/ T12 w 166"/>
                <a:gd name="T14" fmla="+- 0 14325 14325"/>
                <a:gd name="T15" fmla="*/ 14325 h 166"/>
              </a:gdLst>
              <a:ahLst/>
              <a:cxnLst>
                <a:cxn ang="0">
                  <a:pos x="T1" y="T3"/>
                </a:cxn>
                <a:cxn ang="0">
                  <a:pos x="T5" y="T7"/>
                </a:cxn>
                <a:cxn ang="0">
                  <a:pos x="T9" y="T11"/>
                </a:cxn>
                <a:cxn ang="0">
                  <a:pos x="T13" y="T15"/>
                </a:cxn>
              </a:cxnLst>
              <a:rect l="0" t="0" r="r" b="b"/>
              <a:pathLst>
                <a:path w="166" h="166">
                  <a:moveTo>
                    <a:pt x="165" y="0"/>
                  </a:moveTo>
                  <a:lnTo>
                    <a:pt x="0" y="0"/>
                  </a:lnTo>
                  <a:lnTo>
                    <a:pt x="86" y="165"/>
                  </a:lnTo>
                  <a:lnTo>
                    <a:pt x="16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67" name="Freeform 45"/>
            <p:cNvSpPr>
              <a:spLocks/>
            </p:cNvSpPr>
            <p:nvPr/>
          </p:nvSpPr>
          <p:spPr bwMode="auto">
            <a:xfrm>
              <a:off x="5249" y="14325"/>
              <a:ext cx="166" cy="166"/>
            </a:xfrm>
            <a:custGeom>
              <a:avLst/>
              <a:gdLst>
                <a:gd name="T0" fmla="+- 0 5414 5249"/>
                <a:gd name="T1" fmla="*/ T0 w 166"/>
                <a:gd name="T2" fmla="+- 0 14325 14325"/>
                <a:gd name="T3" fmla="*/ 14325 h 166"/>
                <a:gd name="T4" fmla="+- 0 5335 5249"/>
                <a:gd name="T5" fmla="*/ T4 w 166"/>
                <a:gd name="T6" fmla="+- 0 14490 14325"/>
                <a:gd name="T7" fmla="*/ 14490 h 166"/>
                <a:gd name="T8" fmla="+- 0 5249 5249"/>
                <a:gd name="T9" fmla="*/ T8 w 166"/>
                <a:gd name="T10" fmla="+- 0 14325 14325"/>
                <a:gd name="T11" fmla="*/ 14325 h 166"/>
                <a:gd name="T12" fmla="+- 0 5414 5249"/>
                <a:gd name="T13" fmla="*/ T12 w 166"/>
                <a:gd name="T14" fmla="+- 0 14325 14325"/>
                <a:gd name="T15" fmla="*/ 14325 h 166"/>
              </a:gdLst>
              <a:ahLst/>
              <a:cxnLst>
                <a:cxn ang="0">
                  <a:pos x="T1" y="T3"/>
                </a:cxn>
                <a:cxn ang="0">
                  <a:pos x="T5" y="T7"/>
                </a:cxn>
                <a:cxn ang="0">
                  <a:pos x="T9" y="T11"/>
                </a:cxn>
                <a:cxn ang="0">
                  <a:pos x="T13" y="T15"/>
                </a:cxn>
              </a:cxnLst>
              <a:rect l="0" t="0" r="r" b="b"/>
              <a:pathLst>
                <a:path w="166" h="166">
                  <a:moveTo>
                    <a:pt x="165" y="0"/>
                  </a:moveTo>
                  <a:lnTo>
                    <a:pt x="86" y="165"/>
                  </a:lnTo>
                  <a:lnTo>
                    <a:pt x="0" y="0"/>
                  </a:lnTo>
                  <a:lnTo>
                    <a:pt x="165" y="0"/>
                  </a:lnTo>
                  <a:close/>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a:p>
          </p:txBody>
        </p:sp>
        <p:sp>
          <p:nvSpPr>
            <p:cNvPr id="68" name="Freeform 46"/>
            <p:cNvSpPr>
              <a:spLocks/>
            </p:cNvSpPr>
            <p:nvPr/>
          </p:nvSpPr>
          <p:spPr bwMode="auto">
            <a:xfrm>
              <a:off x="4387" y="14490"/>
              <a:ext cx="1822" cy="732"/>
            </a:xfrm>
            <a:custGeom>
              <a:avLst/>
              <a:gdLst>
                <a:gd name="T0" fmla="+- 0 4745 4387"/>
                <a:gd name="T1" fmla="*/ T0 w 1822"/>
                <a:gd name="T2" fmla="+- 0 15222 14490"/>
                <a:gd name="T3" fmla="*/ 15222 h 732"/>
                <a:gd name="T4" fmla="+- 0 5842 4387"/>
                <a:gd name="T5" fmla="*/ T4 w 1822"/>
                <a:gd name="T6" fmla="+- 0 15222 14490"/>
                <a:gd name="T7" fmla="*/ 15222 h 732"/>
                <a:gd name="T8" fmla="+- 0 5935 4387"/>
                <a:gd name="T9" fmla="*/ T8 w 1822"/>
                <a:gd name="T10" fmla="+- 0 15210 14490"/>
                <a:gd name="T11" fmla="*/ 15210 h 732"/>
                <a:gd name="T12" fmla="+- 0 6017 4387"/>
                <a:gd name="T13" fmla="*/ T12 w 1822"/>
                <a:gd name="T14" fmla="+- 0 15179 14490"/>
                <a:gd name="T15" fmla="*/ 15179 h 732"/>
                <a:gd name="T16" fmla="+- 0 6091 4387"/>
                <a:gd name="T17" fmla="*/ T16 w 1822"/>
                <a:gd name="T18" fmla="+- 0 15129 14490"/>
                <a:gd name="T19" fmla="*/ 15129 h 732"/>
                <a:gd name="T20" fmla="+- 0 6146 4387"/>
                <a:gd name="T21" fmla="*/ T20 w 1822"/>
                <a:gd name="T22" fmla="+- 0 15066 14490"/>
                <a:gd name="T23" fmla="*/ 15066 h 732"/>
                <a:gd name="T24" fmla="+- 0 6190 4387"/>
                <a:gd name="T25" fmla="*/ T24 w 1822"/>
                <a:gd name="T26" fmla="+- 0 14987 14490"/>
                <a:gd name="T27" fmla="*/ 14987 h 732"/>
                <a:gd name="T28" fmla="+- 0 6209 4387"/>
                <a:gd name="T29" fmla="*/ T28 w 1822"/>
                <a:gd name="T30" fmla="+- 0 14901 14490"/>
                <a:gd name="T31" fmla="*/ 14901 h 732"/>
                <a:gd name="T32" fmla="+- 0 6209 4387"/>
                <a:gd name="T33" fmla="*/ T32 w 1822"/>
                <a:gd name="T34" fmla="+- 0 14814 14490"/>
                <a:gd name="T35" fmla="*/ 14814 h 732"/>
                <a:gd name="T36" fmla="+- 0 6190 4387"/>
                <a:gd name="T37" fmla="*/ T36 w 1822"/>
                <a:gd name="T38" fmla="+- 0 14726 14490"/>
                <a:gd name="T39" fmla="*/ 14726 h 732"/>
                <a:gd name="T40" fmla="+- 0 6146 4387"/>
                <a:gd name="T41" fmla="*/ T40 w 1822"/>
                <a:gd name="T42" fmla="+- 0 14646 14490"/>
                <a:gd name="T43" fmla="*/ 14646 h 732"/>
                <a:gd name="T44" fmla="+- 0 6091 4387"/>
                <a:gd name="T45" fmla="*/ T44 w 1822"/>
                <a:gd name="T46" fmla="+- 0 14584 14490"/>
                <a:gd name="T47" fmla="*/ 14584 h 732"/>
                <a:gd name="T48" fmla="+- 0 6017 4387"/>
                <a:gd name="T49" fmla="*/ T48 w 1822"/>
                <a:gd name="T50" fmla="+- 0 14534 14490"/>
                <a:gd name="T51" fmla="*/ 14534 h 732"/>
                <a:gd name="T52" fmla="+- 0 5935 4387"/>
                <a:gd name="T53" fmla="*/ T52 w 1822"/>
                <a:gd name="T54" fmla="+- 0 14502 14490"/>
                <a:gd name="T55" fmla="*/ 14502 h 732"/>
                <a:gd name="T56" fmla="+- 0 5842 4387"/>
                <a:gd name="T57" fmla="*/ T56 w 1822"/>
                <a:gd name="T58" fmla="+- 0 14490 14490"/>
                <a:gd name="T59" fmla="*/ 14490 h 732"/>
                <a:gd name="T60" fmla="+- 0 4745 4387"/>
                <a:gd name="T61" fmla="*/ T60 w 1822"/>
                <a:gd name="T62" fmla="+- 0 14490 14490"/>
                <a:gd name="T63" fmla="*/ 14490 h 732"/>
                <a:gd name="T64" fmla="+- 0 4658 4387"/>
                <a:gd name="T65" fmla="*/ T64 w 1822"/>
                <a:gd name="T66" fmla="+- 0 14502 14490"/>
                <a:gd name="T67" fmla="*/ 14502 h 732"/>
                <a:gd name="T68" fmla="+- 0 4579 4387"/>
                <a:gd name="T69" fmla="*/ T68 w 1822"/>
                <a:gd name="T70" fmla="+- 0 14534 14490"/>
                <a:gd name="T71" fmla="*/ 14534 h 732"/>
                <a:gd name="T72" fmla="+- 0 4505 4387"/>
                <a:gd name="T73" fmla="*/ T72 w 1822"/>
                <a:gd name="T74" fmla="+- 0 14584 14490"/>
                <a:gd name="T75" fmla="*/ 14584 h 732"/>
                <a:gd name="T76" fmla="+- 0 4450 4387"/>
                <a:gd name="T77" fmla="*/ T76 w 1822"/>
                <a:gd name="T78" fmla="+- 0 14646 14490"/>
                <a:gd name="T79" fmla="*/ 14646 h 732"/>
                <a:gd name="T80" fmla="+- 0 4404 4387"/>
                <a:gd name="T81" fmla="*/ T80 w 1822"/>
                <a:gd name="T82" fmla="+- 0 14726 14490"/>
                <a:gd name="T83" fmla="*/ 14726 h 732"/>
                <a:gd name="T84" fmla="+- 0 4387 4387"/>
                <a:gd name="T85" fmla="*/ T84 w 1822"/>
                <a:gd name="T86" fmla="+- 0 14814 14490"/>
                <a:gd name="T87" fmla="*/ 14814 h 732"/>
                <a:gd name="T88" fmla="+- 0 4387 4387"/>
                <a:gd name="T89" fmla="*/ T88 w 1822"/>
                <a:gd name="T90" fmla="+- 0 14901 14490"/>
                <a:gd name="T91" fmla="*/ 14901 h 732"/>
                <a:gd name="T92" fmla="+- 0 4404 4387"/>
                <a:gd name="T93" fmla="*/ T92 w 1822"/>
                <a:gd name="T94" fmla="+- 0 14987 14490"/>
                <a:gd name="T95" fmla="*/ 14987 h 732"/>
                <a:gd name="T96" fmla="+- 0 4450 4387"/>
                <a:gd name="T97" fmla="*/ T96 w 1822"/>
                <a:gd name="T98" fmla="+- 0 15066 14490"/>
                <a:gd name="T99" fmla="*/ 15066 h 732"/>
                <a:gd name="T100" fmla="+- 0 4505 4387"/>
                <a:gd name="T101" fmla="*/ T100 w 1822"/>
                <a:gd name="T102" fmla="+- 0 15129 14490"/>
                <a:gd name="T103" fmla="*/ 15129 h 732"/>
                <a:gd name="T104" fmla="+- 0 4579 4387"/>
                <a:gd name="T105" fmla="*/ T104 w 1822"/>
                <a:gd name="T106" fmla="+- 0 15179 14490"/>
                <a:gd name="T107" fmla="*/ 15179 h 732"/>
                <a:gd name="T108" fmla="+- 0 4658 4387"/>
                <a:gd name="T109" fmla="*/ T108 w 1822"/>
                <a:gd name="T110" fmla="+- 0 15210 14490"/>
                <a:gd name="T111" fmla="*/ 15210 h 732"/>
                <a:gd name="T112" fmla="+- 0 4745 4387"/>
                <a:gd name="T113" fmla="*/ T112 w 1822"/>
                <a:gd name="T114" fmla="+- 0 15222 14490"/>
                <a:gd name="T115" fmla="*/ 15222 h 73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Lst>
              <a:rect l="0" t="0" r="r" b="b"/>
              <a:pathLst>
                <a:path w="1822" h="732">
                  <a:moveTo>
                    <a:pt x="358" y="732"/>
                  </a:moveTo>
                  <a:lnTo>
                    <a:pt x="1455" y="732"/>
                  </a:lnTo>
                  <a:lnTo>
                    <a:pt x="1548" y="720"/>
                  </a:lnTo>
                  <a:lnTo>
                    <a:pt x="1630" y="689"/>
                  </a:lnTo>
                  <a:lnTo>
                    <a:pt x="1704" y="639"/>
                  </a:lnTo>
                  <a:lnTo>
                    <a:pt x="1759" y="576"/>
                  </a:lnTo>
                  <a:lnTo>
                    <a:pt x="1803" y="497"/>
                  </a:lnTo>
                  <a:lnTo>
                    <a:pt x="1822" y="411"/>
                  </a:lnTo>
                  <a:lnTo>
                    <a:pt x="1822" y="324"/>
                  </a:lnTo>
                  <a:lnTo>
                    <a:pt x="1803" y="236"/>
                  </a:lnTo>
                  <a:lnTo>
                    <a:pt x="1759" y="156"/>
                  </a:lnTo>
                  <a:lnTo>
                    <a:pt x="1704" y="94"/>
                  </a:lnTo>
                  <a:lnTo>
                    <a:pt x="1630" y="44"/>
                  </a:lnTo>
                  <a:lnTo>
                    <a:pt x="1548" y="12"/>
                  </a:lnTo>
                  <a:lnTo>
                    <a:pt x="1455" y="0"/>
                  </a:lnTo>
                  <a:lnTo>
                    <a:pt x="358" y="0"/>
                  </a:lnTo>
                  <a:lnTo>
                    <a:pt x="271" y="12"/>
                  </a:lnTo>
                  <a:lnTo>
                    <a:pt x="192" y="44"/>
                  </a:lnTo>
                  <a:lnTo>
                    <a:pt x="118" y="94"/>
                  </a:lnTo>
                  <a:lnTo>
                    <a:pt x="63" y="156"/>
                  </a:lnTo>
                  <a:lnTo>
                    <a:pt x="17" y="236"/>
                  </a:lnTo>
                  <a:lnTo>
                    <a:pt x="0" y="324"/>
                  </a:lnTo>
                  <a:lnTo>
                    <a:pt x="0" y="411"/>
                  </a:lnTo>
                  <a:lnTo>
                    <a:pt x="17" y="497"/>
                  </a:lnTo>
                  <a:lnTo>
                    <a:pt x="63" y="576"/>
                  </a:lnTo>
                  <a:lnTo>
                    <a:pt x="118" y="639"/>
                  </a:lnTo>
                  <a:lnTo>
                    <a:pt x="192" y="689"/>
                  </a:lnTo>
                  <a:lnTo>
                    <a:pt x="271" y="720"/>
                  </a:lnTo>
                  <a:lnTo>
                    <a:pt x="358" y="732"/>
                  </a:lnTo>
                  <a:close/>
                </a:path>
              </a:pathLst>
            </a:custGeom>
            <a:noFill/>
            <a:ln w="457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r>
                <a:rPr lang="en-US" sz="1400" smtClean="0"/>
                <a:t>End</a:t>
              </a:r>
              <a:endParaRPr lang="en-US" sz="1400"/>
            </a:p>
          </p:txBody>
        </p:sp>
      </p:grpSp>
      <p:sp>
        <p:nvSpPr>
          <p:cNvPr id="69" name="Rectangle 68"/>
          <p:cNvSpPr/>
          <p:nvPr/>
        </p:nvSpPr>
        <p:spPr>
          <a:xfrm>
            <a:off x="9589424" y="2660070"/>
            <a:ext cx="403444" cy="276999"/>
          </a:xfrm>
          <a:prstGeom prst="rect">
            <a:avLst/>
          </a:prstGeom>
        </p:spPr>
        <p:txBody>
          <a:bodyPr wrap="none">
            <a:spAutoFit/>
          </a:bodyPr>
          <a:lstStyle/>
          <a:p>
            <a:r>
              <a:rPr lang="en-US" sz="1200"/>
              <a:t>Yes</a:t>
            </a:r>
          </a:p>
        </p:txBody>
      </p:sp>
      <p:sp>
        <p:nvSpPr>
          <p:cNvPr id="84" name="Rectangle 83"/>
          <p:cNvSpPr/>
          <p:nvPr/>
        </p:nvSpPr>
        <p:spPr>
          <a:xfrm>
            <a:off x="9602321" y="3452660"/>
            <a:ext cx="403444" cy="276999"/>
          </a:xfrm>
          <a:prstGeom prst="rect">
            <a:avLst/>
          </a:prstGeom>
        </p:spPr>
        <p:txBody>
          <a:bodyPr wrap="none">
            <a:spAutoFit/>
          </a:bodyPr>
          <a:lstStyle/>
          <a:p>
            <a:r>
              <a:rPr lang="en-US" sz="1200"/>
              <a:t>Yes</a:t>
            </a:r>
          </a:p>
        </p:txBody>
      </p:sp>
      <p:sp>
        <p:nvSpPr>
          <p:cNvPr id="85" name="Rectangle 84"/>
          <p:cNvSpPr/>
          <p:nvPr/>
        </p:nvSpPr>
        <p:spPr>
          <a:xfrm>
            <a:off x="10529863" y="2196392"/>
            <a:ext cx="405880" cy="307777"/>
          </a:xfrm>
          <a:prstGeom prst="rect">
            <a:avLst/>
          </a:prstGeom>
        </p:spPr>
        <p:txBody>
          <a:bodyPr wrap="none">
            <a:spAutoFit/>
          </a:bodyPr>
          <a:lstStyle/>
          <a:p>
            <a:r>
              <a:rPr lang="en-US" sz="1400" smtClean="0"/>
              <a:t>No</a:t>
            </a:r>
            <a:endParaRPr lang="en-US" sz="1400"/>
          </a:p>
        </p:txBody>
      </p:sp>
      <p:sp>
        <p:nvSpPr>
          <p:cNvPr id="86" name="Rectangle 85"/>
          <p:cNvSpPr/>
          <p:nvPr/>
        </p:nvSpPr>
        <p:spPr>
          <a:xfrm>
            <a:off x="10210729" y="3011122"/>
            <a:ext cx="405880" cy="307777"/>
          </a:xfrm>
          <a:prstGeom prst="rect">
            <a:avLst/>
          </a:prstGeom>
        </p:spPr>
        <p:txBody>
          <a:bodyPr wrap="none">
            <a:spAutoFit/>
          </a:bodyPr>
          <a:lstStyle/>
          <a:p>
            <a:r>
              <a:rPr lang="en-US" sz="1400" smtClean="0"/>
              <a:t>No</a:t>
            </a:r>
            <a:endParaRPr lang="en-US" sz="1400"/>
          </a:p>
        </p:txBody>
      </p:sp>
      <p:sp>
        <p:nvSpPr>
          <p:cNvPr id="71" name="TextBox 70"/>
          <p:cNvSpPr txBox="1"/>
          <p:nvPr/>
        </p:nvSpPr>
        <p:spPr>
          <a:xfrm>
            <a:off x="2092960" y="2306320"/>
            <a:ext cx="2337499" cy="646331"/>
          </a:xfrm>
          <a:prstGeom prst="rect">
            <a:avLst/>
          </a:prstGeom>
          <a:noFill/>
        </p:spPr>
        <p:txBody>
          <a:bodyPr wrap="none" rtlCol="0">
            <a:spAutoFit/>
          </a:bodyPr>
          <a:lstStyle/>
          <a:p>
            <a:r>
              <a:rPr lang="en-US" sz="3600" smtClean="0"/>
              <a:t>Sơ đồ khối:</a:t>
            </a:r>
            <a:endParaRPr lang="en-US" sz="3600"/>
          </a:p>
        </p:txBody>
      </p:sp>
    </p:spTree>
    <p:extLst>
      <p:ext uri="{BB962C8B-B14F-4D97-AF65-F5344CB8AC3E}">
        <p14:creationId xmlns:p14="http://schemas.microsoft.com/office/powerpoint/2010/main" val="27217153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4978" y="148616"/>
            <a:ext cx="10018713" cy="1752599"/>
          </a:xfrm>
        </p:spPr>
        <p:txBody>
          <a:bodyPr/>
          <a:lstStyle/>
          <a:p>
            <a:r>
              <a:rPr lang="en-US" smtClean="0"/>
              <a:t>Thuật toán Midpoint</a:t>
            </a:r>
            <a:endParaRPr lang="en-US"/>
          </a:p>
        </p:txBody>
      </p:sp>
      <p:sp>
        <p:nvSpPr>
          <p:cNvPr id="3" name="Content Placeholder 2"/>
          <p:cNvSpPr>
            <a:spLocks noGrp="1"/>
          </p:cNvSpPr>
          <p:nvPr>
            <p:ph idx="1"/>
          </p:nvPr>
        </p:nvSpPr>
        <p:spPr>
          <a:xfrm>
            <a:off x="1584977" y="2528546"/>
            <a:ext cx="6205639" cy="3124201"/>
          </a:xfrm>
        </p:spPr>
        <p:txBody>
          <a:bodyPr>
            <a:noAutofit/>
          </a:bodyPr>
          <a:lstStyle/>
          <a:p>
            <a:r>
              <a:rPr lang="en-US" smtClean="0">
                <a:latin typeface="Arial" panose="020B0604020202020204" pitchFamily="34" charset="0"/>
                <a:cs typeface="Arial" panose="020B0604020202020204" pitchFamily="34" charset="0"/>
              </a:rPr>
              <a:t>Nhận xét:</a:t>
            </a:r>
          </a:p>
          <a:p>
            <a:pPr lvl="1"/>
            <a:r>
              <a:rPr lang="en-US" smtClean="0">
                <a:latin typeface="Arial" panose="020B0604020202020204" pitchFamily="34" charset="0"/>
                <a:cs typeface="Arial" panose="020B0604020202020204" pitchFamily="34" charset="0"/>
              </a:rPr>
              <a:t>Thao tác với số nguyên</a:t>
            </a:r>
          </a:p>
          <a:p>
            <a:pPr lvl="1"/>
            <a:r>
              <a:rPr lang="en-US" smtClean="0">
                <a:latin typeface="Arial" panose="020B0604020202020204" pitchFamily="34" charset="0"/>
                <a:cs typeface="Arial" panose="020B0604020202020204" pitchFamily="34" charset="0"/>
              </a:rPr>
              <a:t>Thực hiện các phép toán cộng, trừ, nhân</a:t>
            </a:r>
          </a:p>
          <a:p>
            <a:pPr lvl="1"/>
            <a:r>
              <a:rPr lang="en-US" smtClean="0">
                <a:latin typeface="Arial" panose="020B0604020202020204" pitchFamily="34" charset="0"/>
                <a:cs typeface="Arial" panose="020B0604020202020204" pitchFamily="34" charset="0"/>
              </a:rPr>
              <a:t>Vẽ 8 điểm</a:t>
            </a:r>
          </a:p>
          <a:p>
            <a:pPr marL="457200" lvl="1" indent="0">
              <a:buNone/>
            </a:pPr>
            <a:r>
              <a:rPr lang="en-US" smtClean="0">
                <a:latin typeface="Arial" panose="020B0604020202020204" pitchFamily="34" charset="0"/>
                <a:cs typeface="Arial" panose="020B0604020202020204" pitchFamily="34" charset="0"/>
                <a:sym typeface="Wingdings" panose="05000000000000000000" pitchFamily="2" charset="2"/>
              </a:rPr>
              <a:t> Tốc độ cao, tiết kiệm bộ nhớ</a:t>
            </a: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EAC668D0-FFF1-47C5-8061-FF1B22C34E7B}" type="slidenum">
              <a:rPr lang="en-US" smtClean="0"/>
              <a:t>36</a:t>
            </a:fld>
            <a:endParaRPr lang="en-US"/>
          </a:p>
        </p:txBody>
      </p:sp>
      <p:grpSp>
        <p:nvGrpSpPr>
          <p:cNvPr id="83" name="Group 82"/>
          <p:cNvGrpSpPr/>
          <p:nvPr/>
        </p:nvGrpSpPr>
        <p:grpSpPr>
          <a:xfrm>
            <a:off x="7805196" y="2545383"/>
            <a:ext cx="2821444" cy="2748277"/>
            <a:chOff x="7805196" y="2545383"/>
            <a:chExt cx="2821444" cy="2748277"/>
          </a:xfrm>
        </p:grpSpPr>
        <p:grpSp>
          <p:nvGrpSpPr>
            <p:cNvPr id="18" name="Group 1"/>
            <p:cNvGrpSpPr>
              <a:grpSpLocks/>
            </p:cNvGrpSpPr>
            <p:nvPr/>
          </p:nvGrpSpPr>
          <p:grpSpPr bwMode="auto">
            <a:xfrm>
              <a:off x="7805196" y="2545383"/>
              <a:ext cx="2747014" cy="2748277"/>
              <a:chOff x="4188" y="-2014"/>
              <a:chExt cx="4327" cy="4327"/>
            </a:xfrm>
          </p:grpSpPr>
          <p:sp>
            <p:nvSpPr>
              <p:cNvPr id="19" name="Freeform 29"/>
              <p:cNvSpPr>
                <a:spLocks/>
              </p:cNvSpPr>
              <p:nvPr/>
            </p:nvSpPr>
            <p:spPr bwMode="auto">
              <a:xfrm>
                <a:off x="5052" y="-2014"/>
                <a:ext cx="0" cy="1711"/>
              </a:xfrm>
              <a:custGeom>
                <a:avLst/>
                <a:gdLst>
                  <a:gd name="T0" fmla="+- 0 -2014 -2014"/>
                  <a:gd name="T1" fmla="*/ -2014 h 1711"/>
                  <a:gd name="T2" fmla="+- 0 -303 -2014"/>
                  <a:gd name="T3" fmla="*/ -303 h 1711"/>
                </a:gdLst>
                <a:ahLst/>
                <a:cxnLst>
                  <a:cxn ang="0">
                    <a:pos x="0" y="T1"/>
                  </a:cxn>
                  <a:cxn ang="0">
                    <a:pos x="0" y="T3"/>
                  </a:cxn>
                </a:cxnLst>
                <a:rect l="0" t="0" r="r" b="b"/>
                <a:pathLst>
                  <a:path h="1711">
                    <a:moveTo>
                      <a:pt x="0" y="0"/>
                    </a:moveTo>
                    <a:lnTo>
                      <a:pt x="0" y="1711"/>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28"/>
              <p:cNvSpPr>
                <a:spLocks/>
              </p:cNvSpPr>
              <p:nvPr/>
            </p:nvSpPr>
            <p:spPr bwMode="auto">
              <a:xfrm>
                <a:off x="4188" y="-1145"/>
                <a:ext cx="4327" cy="0"/>
              </a:xfrm>
              <a:custGeom>
                <a:avLst/>
                <a:gdLst>
                  <a:gd name="T0" fmla="+- 0 4188 4188"/>
                  <a:gd name="T1" fmla="*/ T0 w 4327"/>
                  <a:gd name="T2" fmla="+- 0 8515 4188"/>
                  <a:gd name="T3" fmla="*/ T2 w 4327"/>
                </a:gdLst>
                <a:ahLst/>
                <a:cxnLst>
                  <a:cxn ang="0">
                    <a:pos x="T1" y="0"/>
                  </a:cxn>
                  <a:cxn ang="0">
                    <a:pos x="T3" y="0"/>
                  </a:cxn>
                </a:cxnLst>
                <a:rect l="0" t="0" r="r" b="b"/>
                <a:pathLst>
                  <a:path w="4327">
                    <a:moveTo>
                      <a:pt x="0" y="0"/>
                    </a:moveTo>
                    <a:lnTo>
                      <a:pt x="432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27"/>
              <p:cNvSpPr>
                <a:spLocks/>
              </p:cNvSpPr>
              <p:nvPr/>
            </p:nvSpPr>
            <p:spPr bwMode="auto">
              <a:xfrm flipH="1">
                <a:off x="4992" y="-562"/>
                <a:ext cx="72" cy="2875"/>
              </a:xfrm>
              <a:custGeom>
                <a:avLst/>
                <a:gdLst>
                  <a:gd name="T0" fmla="+- 0 33 33"/>
                  <a:gd name="T1" fmla="*/ 33 h 2280"/>
                  <a:gd name="T2" fmla="+- 0 2313 33"/>
                  <a:gd name="T3" fmla="*/ 2313 h 2280"/>
                </a:gdLst>
                <a:ahLst/>
                <a:cxnLst>
                  <a:cxn ang="0">
                    <a:pos x="0" y="T1"/>
                  </a:cxn>
                  <a:cxn ang="0">
                    <a:pos x="0" y="T3"/>
                  </a:cxn>
                </a:cxnLst>
                <a:rect l="0" t="0" r="r" b="b"/>
                <a:pathLst>
                  <a:path h="2280">
                    <a:moveTo>
                      <a:pt x="0" y="0"/>
                    </a:moveTo>
                    <a:lnTo>
                      <a:pt x="0" y="228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26"/>
              <p:cNvSpPr>
                <a:spLocks/>
              </p:cNvSpPr>
              <p:nvPr/>
            </p:nvSpPr>
            <p:spPr bwMode="auto">
              <a:xfrm>
                <a:off x="4188" y="151"/>
                <a:ext cx="4327" cy="0"/>
              </a:xfrm>
              <a:custGeom>
                <a:avLst/>
                <a:gdLst>
                  <a:gd name="T0" fmla="+- 0 4188 4188"/>
                  <a:gd name="T1" fmla="*/ T0 w 4327"/>
                  <a:gd name="T2" fmla="+- 0 8515 4188"/>
                  <a:gd name="T3" fmla="*/ T2 w 4327"/>
                </a:gdLst>
                <a:ahLst/>
                <a:cxnLst>
                  <a:cxn ang="0">
                    <a:pos x="T1" y="0"/>
                  </a:cxn>
                  <a:cxn ang="0">
                    <a:pos x="T3" y="0"/>
                  </a:cxn>
                </a:cxnLst>
                <a:rect l="0" t="0" r="r" b="b"/>
                <a:pathLst>
                  <a:path w="4327">
                    <a:moveTo>
                      <a:pt x="0" y="0"/>
                    </a:moveTo>
                    <a:lnTo>
                      <a:pt x="432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25"/>
              <p:cNvSpPr>
                <a:spLocks/>
              </p:cNvSpPr>
              <p:nvPr/>
            </p:nvSpPr>
            <p:spPr bwMode="auto">
              <a:xfrm>
                <a:off x="6350" y="-2014"/>
                <a:ext cx="0" cy="4327"/>
              </a:xfrm>
              <a:custGeom>
                <a:avLst/>
                <a:gdLst>
                  <a:gd name="T0" fmla="+- 0 -2014 -2014"/>
                  <a:gd name="T1" fmla="*/ -2014 h 4327"/>
                  <a:gd name="T2" fmla="+- 0 2313 -2014"/>
                  <a:gd name="T3" fmla="*/ 2313 h 4327"/>
                </a:gdLst>
                <a:ahLst/>
                <a:cxnLst>
                  <a:cxn ang="0">
                    <a:pos x="0" y="T1"/>
                  </a:cxn>
                  <a:cxn ang="0">
                    <a:pos x="0" y="T3"/>
                  </a:cxn>
                </a:cxnLst>
                <a:rect l="0" t="0" r="r" b="b"/>
                <a:pathLst>
                  <a:path h="4327">
                    <a:moveTo>
                      <a:pt x="0" y="0"/>
                    </a:moveTo>
                    <a:lnTo>
                      <a:pt x="0" y="4327"/>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24"/>
              <p:cNvSpPr>
                <a:spLocks/>
              </p:cNvSpPr>
              <p:nvPr/>
            </p:nvSpPr>
            <p:spPr bwMode="auto">
              <a:xfrm>
                <a:off x="4188" y="1447"/>
                <a:ext cx="4327" cy="0"/>
              </a:xfrm>
              <a:custGeom>
                <a:avLst/>
                <a:gdLst>
                  <a:gd name="T0" fmla="+- 0 4188 4188"/>
                  <a:gd name="T1" fmla="*/ T0 w 4327"/>
                  <a:gd name="T2" fmla="+- 0 8515 4188"/>
                  <a:gd name="T3" fmla="*/ T2 w 4327"/>
                </a:gdLst>
                <a:ahLst/>
                <a:cxnLst>
                  <a:cxn ang="0">
                    <a:pos x="T1" y="0"/>
                  </a:cxn>
                  <a:cxn ang="0">
                    <a:pos x="T3" y="0"/>
                  </a:cxn>
                </a:cxnLst>
                <a:rect l="0" t="0" r="r" b="b"/>
                <a:pathLst>
                  <a:path w="4327">
                    <a:moveTo>
                      <a:pt x="0" y="0"/>
                    </a:moveTo>
                    <a:lnTo>
                      <a:pt x="4327"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23"/>
              <p:cNvSpPr>
                <a:spLocks/>
              </p:cNvSpPr>
              <p:nvPr/>
            </p:nvSpPr>
            <p:spPr bwMode="auto">
              <a:xfrm>
                <a:off x="7651" y="-1198"/>
                <a:ext cx="0" cy="3511"/>
              </a:xfrm>
              <a:custGeom>
                <a:avLst/>
                <a:gdLst>
                  <a:gd name="T0" fmla="+- 0 -1198 -1198"/>
                  <a:gd name="T1" fmla="*/ -1198 h 3511"/>
                  <a:gd name="T2" fmla="+- 0 2313 -1198"/>
                  <a:gd name="T3" fmla="*/ 2313 h 3511"/>
                </a:gdLst>
                <a:ahLst/>
                <a:cxnLst>
                  <a:cxn ang="0">
                    <a:pos x="0" y="T1"/>
                  </a:cxn>
                  <a:cxn ang="0">
                    <a:pos x="0" y="T3"/>
                  </a:cxn>
                </a:cxnLst>
                <a:rect l="0" t="0" r="r" b="b"/>
                <a:pathLst>
                  <a:path h="3511">
                    <a:moveTo>
                      <a:pt x="0" y="0"/>
                    </a:moveTo>
                    <a:lnTo>
                      <a:pt x="0" y="3511"/>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Freeform 22"/>
              <p:cNvSpPr>
                <a:spLocks/>
              </p:cNvSpPr>
              <p:nvPr/>
            </p:nvSpPr>
            <p:spPr bwMode="auto">
              <a:xfrm>
                <a:off x="4882" y="-1318"/>
                <a:ext cx="343" cy="341"/>
              </a:xfrm>
              <a:custGeom>
                <a:avLst/>
                <a:gdLst>
                  <a:gd name="T0" fmla="+- 0 4882 4882"/>
                  <a:gd name="T1" fmla="*/ T0 w 343"/>
                  <a:gd name="T2" fmla="+- 0 -1145 -1318"/>
                  <a:gd name="T3" fmla="*/ -1145 h 341"/>
                  <a:gd name="T4" fmla="+- 0 4889 4882"/>
                  <a:gd name="T5" fmla="*/ T4 w 343"/>
                  <a:gd name="T6" fmla="+- 0 -1097 -1318"/>
                  <a:gd name="T7" fmla="*/ -1097 h 341"/>
                  <a:gd name="T8" fmla="+- 0 4906 4882"/>
                  <a:gd name="T9" fmla="*/ T8 w 343"/>
                  <a:gd name="T10" fmla="+- 0 -1054 -1318"/>
                  <a:gd name="T11" fmla="*/ -1054 h 341"/>
                  <a:gd name="T12" fmla="+- 0 4939 4882"/>
                  <a:gd name="T13" fmla="*/ T12 w 343"/>
                  <a:gd name="T14" fmla="+- 0 -1018 -1318"/>
                  <a:gd name="T15" fmla="*/ -1018 h 341"/>
                  <a:gd name="T16" fmla="+- 0 4980 4882"/>
                  <a:gd name="T17" fmla="*/ T16 w 343"/>
                  <a:gd name="T18" fmla="+- 0 -989 -1318"/>
                  <a:gd name="T19" fmla="*/ -989 h 341"/>
                  <a:gd name="T20" fmla="+- 0 5028 4882"/>
                  <a:gd name="T21" fmla="*/ T20 w 343"/>
                  <a:gd name="T22" fmla="+- 0 -977 -1318"/>
                  <a:gd name="T23" fmla="*/ -977 h 341"/>
                  <a:gd name="T24" fmla="+- 0 5078 4882"/>
                  <a:gd name="T25" fmla="*/ T24 w 343"/>
                  <a:gd name="T26" fmla="+- 0 -977 -1318"/>
                  <a:gd name="T27" fmla="*/ -977 h 341"/>
                  <a:gd name="T28" fmla="+- 0 5122 4882"/>
                  <a:gd name="T29" fmla="*/ T28 w 343"/>
                  <a:gd name="T30" fmla="+- 0 -989 -1318"/>
                  <a:gd name="T31" fmla="*/ -989 h 341"/>
                  <a:gd name="T32" fmla="+- 0 5167 4882"/>
                  <a:gd name="T33" fmla="*/ T32 w 343"/>
                  <a:gd name="T34" fmla="+- 0 -1018 -1318"/>
                  <a:gd name="T35" fmla="*/ -1018 h 341"/>
                  <a:gd name="T36" fmla="+- 0 5198 4882"/>
                  <a:gd name="T37" fmla="*/ T36 w 343"/>
                  <a:gd name="T38" fmla="+- 0 -1054 -1318"/>
                  <a:gd name="T39" fmla="*/ -1054 h 341"/>
                  <a:gd name="T40" fmla="+- 0 5218 4882"/>
                  <a:gd name="T41" fmla="*/ T40 w 343"/>
                  <a:gd name="T42" fmla="+- 0 -1097 -1318"/>
                  <a:gd name="T43" fmla="*/ -1097 h 341"/>
                  <a:gd name="T44" fmla="+- 0 5225 4882"/>
                  <a:gd name="T45" fmla="*/ T44 w 343"/>
                  <a:gd name="T46" fmla="+- 0 -1145 -1318"/>
                  <a:gd name="T47" fmla="*/ -1145 h 341"/>
                  <a:gd name="T48" fmla="+- 0 5218 4882"/>
                  <a:gd name="T49" fmla="*/ T48 w 343"/>
                  <a:gd name="T50" fmla="+- 0 -1198 -1318"/>
                  <a:gd name="T51" fmla="*/ -1198 h 341"/>
                  <a:gd name="T52" fmla="+- 0 5198 4882"/>
                  <a:gd name="T53" fmla="*/ T52 w 343"/>
                  <a:gd name="T54" fmla="+- 0 -1241 -1318"/>
                  <a:gd name="T55" fmla="*/ -1241 h 341"/>
                  <a:gd name="T56" fmla="+- 0 5167 4882"/>
                  <a:gd name="T57" fmla="*/ T56 w 343"/>
                  <a:gd name="T58" fmla="+- 0 -1277 -1318"/>
                  <a:gd name="T59" fmla="*/ -1277 h 341"/>
                  <a:gd name="T60" fmla="+- 0 5122 4882"/>
                  <a:gd name="T61" fmla="*/ T60 w 343"/>
                  <a:gd name="T62" fmla="+- 0 -1304 -1318"/>
                  <a:gd name="T63" fmla="*/ -1304 h 341"/>
                  <a:gd name="T64" fmla="+- 0 5078 4882"/>
                  <a:gd name="T65" fmla="*/ T64 w 343"/>
                  <a:gd name="T66" fmla="+- 0 -1318 -1318"/>
                  <a:gd name="T67" fmla="*/ -1318 h 341"/>
                  <a:gd name="T68" fmla="+- 0 5028 4882"/>
                  <a:gd name="T69" fmla="*/ T68 w 343"/>
                  <a:gd name="T70" fmla="+- 0 -1318 -1318"/>
                  <a:gd name="T71" fmla="*/ -1318 h 341"/>
                  <a:gd name="T72" fmla="+- 0 4980 4882"/>
                  <a:gd name="T73" fmla="*/ T72 w 343"/>
                  <a:gd name="T74" fmla="+- 0 -1304 -1318"/>
                  <a:gd name="T75" fmla="*/ -1304 h 341"/>
                  <a:gd name="T76" fmla="+- 0 4939 4882"/>
                  <a:gd name="T77" fmla="*/ T76 w 343"/>
                  <a:gd name="T78" fmla="+- 0 -1277 -1318"/>
                  <a:gd name="T79" fmla="*/ -1277 h 341"/>
                  <a:gd name="T80" fmla="+- 0 4906 4882"/>
                  <a:gd name="T81" fmla="*/ T80 w 343"/>
                  <a:gd name="T82" fmla="+- 0 -1241 -1318"/>
                  <a:gd name="T83" fmla="*/ -1241 h 341"/>
                  <a:gd name="T84" fmla="+- 0 4889 4882"/>
                  <a:gd name="T85" fmla="*/ T84 w 343"/>
                  <a:gd name="T86" fmla="+- 0 -1198 -1318"/>
                  <a:gd name="T87" fmla="*/ -1198 h 341"/>
                  <a:gd name="T88" fmla="+- 0 4882 4882"/>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221"/>
                    </a:lnTo>
                    <a:lnTo>
                      <a:pt x="24" y="264"/>
                    </a:lnTo>
                    <a:lnTo>
                      <a:pt x="57" y="300"/>
                    </a:lnTo>
                    <a:lnTo>
                      <a:pt x="98" y="329"/>
                    </a:lnTo>
                    <a:lnTo>
                      <a:pt x="146" y="341"/>
                    </a:lnTo>
                    <a:lnTo>
                      <a:pt x="196" y="341"/>
                    </a:lnTo>
                    <a:lnTo>
                      <a:pt x="240" y="329"/>
                    </a:lnTo>
                    <a:lnTo>
                      <a:pt x="285" y="300"/>
                    </a:lnTo>
                    <a:lnTo>
                      <a:pt x="316" y="264"/>
                    </a:lnTo>
                    <a:lnTo>
                      <a:pt x="336" y="221"/>
                    </a:lnTo>
                    <a:lnTo>
                      <a:pt x="343" y="173"/>
                    </a:lnTo>
                    <a:lnTo>
                      <a:pt x="336" y="120"/>
                    </a:lnTo>
                    <a:lnTo>
                      <a:pt x="316" y="77"/>
                    </a:lnTo>
                    <a:lnTo>
                      <a:pt x="285" y="41"/>
                    </a:lnTo>
                    <a:lnTo>
                      <a:pt x="240" y="14"/>
                    </a:lnTo>
                    <a:lnTo>
                      <a:pt x="196" y="0"/>
                    </a:lnTo>
                    <a:lnTo>
                      <a:pt x="146" y="0"/>
                    </a:lnTo>
                    <a:lnTo>
                      <a:pt x="98" y="14"/>
                    </a:lnTo>
                    <a:lnTo>
                      <a:pt x="57" y="41"/>
                    </a:lnTo>
                    <a:lnTo>
                      <a:pt x="24" y="77"/>
                    </a:lnTo>
                    <a:lnTo>
                      <a:pt x="7" y="120"/>
                    </a:lnTo>
                    <a:lnTo>
                      <a:pt x="0"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p:cNvSpPr>
              <p:nvPr/>
            </p:nvSpPr>
            <p:spPr bwMode="auto">
              <a:xfrm>
                <a:off x="4882" y="-1318"/>
                <a:ext cx="343" cy="341"/>
              </a:xfrm>
              <a:custGeom>
                <a:avLst/>
                <a:gdLst>
                  <a:gd name="T0" fmla="+- 0 4882 4882"/>
                  <a:gd name="T1" fmla="*/ T0 w 343"/>
                  <a:gd name="T2" fmla="+- 0 -1145 -1318"/>
                  <a:gd name="T3" fmla="*/ -1145 h 341"/>
                  <a:gd name="T4" fmla="+- 0 4889 4882"/>
                  <a:gd name="T5" fmla="*/ T4 w 343"/>
                  <a:gd name="T6" fmla="+- 0 -1198 -1318"/>
                  <a:gd name="T7" fmla="*/ -1198 h 341"/>
                  <a:gd name="T8" fmla="+- 0 4906 4882"/>
                  <a:gd name="T9" fmla="*/ T8 w 343"/>
                  <a:gd name="T10" fmla="+- 0 -1241 -1318"/>
                  <a:gd name="T11" fmla="*/ -1241 h 341"/>
                  <a:gd name="T12" fmla="+- 0 4939 4882"/>
                  <a:gd name="T13" fmla="*/ T12 w 343"/>
                  <a:gd name="T14" fmla="+- 0 -1277 -1318"/>
                  <a:gd name="T15" fmla="*/ -1277 h 341"/>
                  <a:gd name="T16" fmla="+- 0 4980 4882"/>
                  <a:gd name="T17" fmla="*/ T16 w 343"/>
                  <a:gd name="T18" fmla="+- 0 -1304 -1318"/>
                  <a:gd name="T19" fmla="*/ -1304 h 341"/>
                  <a:gd name="T20" fmla="+- 0 5028 4882"/>
                  <a:gd name="T21" fmla="*/ T20 w 343"/>
                  <a:gd name="T22" fmla="+- 0 -1318 -1318"/>
                  <a:gd name="T23" fmla="*/ -1318 h 341"/>
                  <a:gd name="T24" fmla="+- 0 5078 4882"/>
                  <a:gd name="T25" fmla="*/ T24 w 343"/>
                  <a:gd name="T26" fmla="+- 0 -1318 -1318"/>
                  <a:gd name="T27" fmla="*/ -1318 h 341"/>
                  <a:gd name="T28" fmla="+- 0 5122 4882"/>
                  <a:gd name="T29" fmla="*/ T28 w 343"/>
                  <a:gd name="T30" fmla="+- 0 -1304 -1318"/>
                  <a:gd name="T31" fmla="*/ -1304 h 341"/>
                  <a:gd name="T32" fmla="+- 0 5167 4882"/>
                  <a:gd name="T33" fmla="*/ T32 w 343"/>
                  <a:gd name="T34" fmla="+- 0 -1277 -1318"/>
                  <a:gd name="T35" fmla="*/ -1277 h 341"/>
                  <a:gd name="T36" fmla="+- 0 5198 4882"/>
                  <a:gd name="T37" fmla="*/ T36 w 343"/>
                  <a:gd name="T38" fmla="+- 0 -1241 -1318"/>
                  <a:gd name="T39" fmla="*/ -1241 h 341"/>
                  <a:gd name="T40" fmla="+- 0 5218 4882"/>
                  <a:gd name="T41" fmla="*/ T40 w 343"/>
                  <a:gd name="T42" fmla="+- 0 -1198 -1318"/>
                  <a:gd name="T43" fmla="*/ -1198 h 341"/>
                  <a:gd name="T44" fmla="+- 0 5225 4882"/>
                  <a:gd name="T45" fmla="*/ T44 w 343"/>
                  <a:gd name="T46" fmla="+- 0 -1145 -1318"/>
                  <a:gd name="T47" fmla="*/ -1145 h 341"/>
                  <a:gd name="T48" fmla="+- 0 5218 4882"/>
                  <a:gd name="T49" fmla="*/ T48 w 343"/>
                  <a:gd name="T50" fmla="+- 0 -1097 -1318"/>
                  <a:gd name="T51" fmla="*/ -1097 h 341"/>
                  <a:gd name="T52" fmla="+- 0 5198 4882"/>
                  <a:gd name="T53" fmla="*/ T52 w 343"/>
                  <a:gd name="T54" fmla="+- 0 -1054 -1318"/>
                  <a:gd name="T55" fmla="*/ -1054 h 341"/>
                  <a:gd name="T56" fmla="+- 0 5167 4882"/>
                  <a:gd name="T57" fmla="*/ T56 w 343"/>
                  <a:gd name="T58" fmla="+- 0 -1018 -1318"/>
                  <a:gd name="T59" fmla="*/ -1018 h 341"/>
                  <a:gd name="T60" fmla="+- 0 5122 4882"/>
                  <a:gd name="T61" fmla="*/ T60 w 343"/>
                  <a:gd name="T62" fmla="+- 0 -989 -1318"/>
                  <a:gd name="T63" fmla="*/ -989 h 341"/>
                  <a:gd name="T64" fmla="+- 0 5078 4882"/>
                  <a:gd name="T65" fmla="*/ T64 w 343"/>
                  <a:gd name="T66" fmla="+- 0 -977 -1318"/>
                  <a:gd name="T67" fmla="*/ -977 h 341"/>
                  <a:gd name="T68" fmla="+- 0 5028 4882"/>
                  <a:gd name="T69" fmla="*/ T68 w 343"/>
                  <a:gd name="T70" fmla="+- 0 -977 -1318"/>
                  <a:gd name="T71" fmla="*/ -977 h 341"/>
                  <a:gd name="T72" fmla="+- 0 4980 4882"/>
                  <a:gd name="T73" fmla="*/ T72 w 343"/>
                  <a:gd name="T74" fmla="+- 0 -989 -1318"/>
                  <a:gd name="T75" fmla="*/ -989 h 341"/>
                  <a:gd name="T76" fmla="+- 0 4939 4882"/>
                  <a:gd name="T77" fmla="*/ T76 w 343"/>
                  <a:gd name="T78" fmla="+- 0 -1018 -1318"/>
                  <a:gd name="T79" fmla="*/ -1018 h 341"/>
                  <a:gd name="T80" fmla="+- 0 4906 4882"/>
                  <a:gd name="T81" fmla="*/ T80 w 343"/>
                  <a:gd name="T82" fmla="+- 0 -1054 -1318"/>
                  <a:gd name="T83" fmla="*/ -1054 h 341"/>
                  <a:gd name="T84" fmla="+- 0 4889 4882"/>
                  <a:gd name="T85" fmla="*/ T84 w 343"/>
                  <a:gd name="T86" fmla="+- 0 -1097 -1318"/>
                  <a:gd name="T87" fmla="*/ -1097 h 341"/>
                  <a:gd name="T88" fmla="+- 0 4882 4882"/>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120"/>
                    </a:lnTo>
                    <a:lnTo>
                      <a:pt x="24" y="77"/>
                    </a:lnTo>
                    <a:lnTo>
                      <a:pt x="57" y="41"/>
                    </a:lnTo>
                    <a:lnTo>
                      <a:pt x="98" y="14"/>
                    </a:lnTo>
                    <a:lnTo>
                      <a:pt x="146" y="0"/>
                    </a:lnTo>
                    <a:lnTo>
                      <a:pt x="196" y="0"/>
                    </a:lnTo>
                    <a:lnTo>
                      <a:pt x="240" y="14"/>
                    </a:lnTo>
                    <a:lnTo>
                      <a:pt x="285" y="41"/>
                    </a:lnTo>
                    <a:lnTo>
                      <a:pt x="316" y="77"/>
                    </a:lnTo>
                    <a:lnTo>
                      <a:pt x="336" y="120"/>
                    </a:lnTo>
                    <a:lnTo>
                      <a:pt x="343" y="173"/>
                    </a:lnTo>
                    <a:lnTo>
                      <a:pt x="336" y="221"/>
                    </a:lnTo>
                    <a:lnTo>
                      <a:pt x="316" y="264"/>
                    </a:lnTo>
                    <a:lnTo>
                      <a:pt x="285" y="300"/>
                    </a:lnTo>
                    <a:lnTo>
                      <a:pt x="240" y="329"/>
                    </a:lnTo>
                    <a:lnTo>
                      <a:pt x="196" y="341"/>
                    </a:lnTo>
                    <a:lnTo>
                      <a:pt x="146" y="341"/>
                    </a:lnTo>
                    <a:lnTo>
                      <a:pt x="98" y="329"/>
                    </a:lnTo>
                    <a:lnTo>
                      <a:pt x="57" y="300"/>
                    </a:lnTo>
                    <a:lnTo>
                      <a:pt x="24" y="264"/>
                    </a:lnTo>
                    <a:lnTo>
                      <a:pt x="7" y="221"/>
                    </a:lnTo>
                    <a:lnTo>
                      <a:pt x="0" y="173"/>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Freeform 20"/>
              <p:cNvSpPr>
                <a:spLocks/>
              </p:cNvSpPr>
              <p:nvPr/>
            </p:nvSpPr>
            <p:spPr bwMode="auto">
              <a:xfrm>
                <a:off x="6178" y="-1318"/>
                <a:ext cx="343" cy="341"/>
              </a:xfrm>
              <a:custGeom>
                <a:avLst/>
                <a:gdLst>
                  <a:gd name="T0" fmla="+- 0 6178 6178"/>
                  <a:gd name="T1" fmla="*/ T0 w 343"/>
                  <a:gd name="T2" fmla="+- 0 -1145 -1318"/>
                  <a:gd name="T3" fmla="*/ -1145 h 341"/>
                  <a:gd name="T4" fmla="+- 0 6185 6178"/>
                  <a:gd name="T5" fmla="*/ T4 w 343"/>
                  <a:gd name="T6" fmla="+- 0 -1097 -1318"/>
                  <a:gd name="T7" fmla="*/ -1097 h 341"/>
                  <a:gd name="T8" fmla="+- 0 6204 6178"/>
                  <a:gd name="T9" fmla="*/ T8 w 343"/>
                  <a:gd name="T10" fmla="+- 0 -1054 -1318"/>
                  <a:gd name="T11" fmla="*/ -1054 h 341"/>
                  <a:gd name="T12" fmla="+- 0 6235 6178"/>
                  <a:gd name="T13" fmla="*/ T12 w 343"/>
                  <a:gd name="T14" fmla="+- 0 -1018 -1318"/>
                  <a:gd name="T15" fmla="*/ -1018 h 341"/>
                  <a:gd name="T16" fmla="+- 0 6281 6178"/>
                  <a:gd name="T17" fmla="*/ T16 w 343"/>
                  <a:gd name="T18" fmla="+- 0 -989 -1318"/>
                  <a:gd name="T19" fmla="*/ -989 h 341"/>
                  <a:gd name="T20" fmla="+- 0 6324 6178"/>
                  <a:gd name="T21" fmla="*/ T20 w 343"/>
                  <a:gd name="T22" fmla="+- 0 -977 -1318"/>
                  <a:gd name="T23" fmla="*/ -977 h 341"/>
                  <a:gd name="T24" fmla="+- 0 6374 6178"/>
                  <a:gd name="T25" fmla="*/ T24 w 343"/>
                  <a:gd name="T26" fmla="+- 0 -977 -1318"/>
                  <a:gd name="T27" fmla="*/ -977 h 341"/>
                  <a:gd name="T28" fmla="+- 0 6422 6178"/>
                  <a:gd name="T29" fmla="*/ T28 w 343"/>
                  <a:gd name="T30" fmla="+- 0 -989 -1318"/>
                  <a:gd name="T31" fmla="*/ -989 h 341"/>
                  <a:gd name="T32" fmla="+- 0 6463 6178"/>
                  <a:gd name="T33" fmla="*/ T32 w 343"/>
                  <a:gd name="T34" fmla="+- 0 -1018 -1318"/>
                  <a:gd name="T35" fmla="*/ -1018 h 341"/>
                  <a:gd name="T36" fmla="+- 0 6497 6178"/>
                  <a:gd name="T37" fmla="*/ T36 w 343"/>
                  <a:gd name="T38" fmla="+- 0 -1054 -1318"/>
                  <a:gd name="T39" fmla="*/ -1054 h 341"/>
                  <a:gd name="T40" fmla="+- 0 6518 6178"/>
                  <a:gd name="T41" fmla="*/ T40 w 343"/>
                  <a:gd name="T42" fmla="+- 0 -1097 -1318"/>
                  <a:gd name="T43" fmla="*/ -1097 h 341"/>
                  <a:gd name="T44" fmla="+- 0 6521 6178"/>
                  <a:gd name="T45" fmla="*/ T44 w 343"/>
                  <a:gd name="T46" fmla="+- 0 -1145 -1318"/>
                  <a:gd name="T47" fmla="*/ -1145 h 341"/>
                  <a:gd name="T48" fmla="+- 0 6518 6178"/>
                  <a:gd name="T49" fmla="*/ T48 w 343"/>
                  <a:gd name="T50" fmla="+- 0 -1198 -1318"/>
                  <a:gd name="T51" fmla="*/ -1198 h 341"/>
                  <a:gd name="T52" fmla="+- 0 6497 6178"/>
                  <a:gd name="T53" fmla="*/ T52 w 343"/>
                  <a:gd name="T54" fmla="+- 0 -1241 -1318"/>
                  <a:gd name="T55" fmla="*/ -1241 h 341"/>
                  <a:gd name="T56" fmla="+- 0 6463 6178"/>
                  <a:gd name="T57" fmla="*/ T56 w 343"/>
                  <a:gd name="T58" fmla="+- 0 -1277 -1318"/>
                  <a:gd name="T59" fmla="*/ -1277 h 341"/>
                  <a:gd name="T60" fmla="+- 0 6422 6178"/>
                  <a:gd name="T61" fmla="*/ T60 w 343"/>
                  <a:gd name="T62" fmla="+- 0 -1304 -1318"/>
                  <a:gd name="T63" fmla="*/ -1304 h 341"/>
                  <a:gd name="T64" fmla="+- 0 6374 6178"/>
                  <a:gd name="T65" fmla="*/ T64 w 343"/>
                  <a:gd name="T66" fmla="+- 0 -1318 -1318"/>
                  <a:gd name="T67" fmla="*/ -1318 h 341"/>
                  <a:gd name="T68" fmla="+- 0 6324 6178"/>
                  <a:gd name="T69" fmla="*/ T68 w 343"/>
                  <a:gd name="T70" fmla="+- 0 -1318 -1318"/>
                  <a:gd name="T71" fmla="*/ -1318 h 341"/>
                  <a:gd name="T72" fmla="+- 0 6281 6178"/>
                  <a:gd name="T73" fmla="*/ T72 w 343"/>
                  <a:gd name="T74" fmla="+- 0 -1304 -1318"/>
                  <a:gd name="T75" fmla="*/ -1304 h 341"/>
                  <a:gd name="T76" fmla="+- 0 6235 6178"/>
                  <a:gd name="T77" fmla="*/ T76 w 343"/>
                  <a:gd name="T78" fmla="+- 0 -1277 -1318"/>
                  <a:gd name="T79" fmla="*/ -1277 h 341"/>
                  <a:gd name="T80" fmla="+- 0 6204 6178"/>
                  <a:gd name="T81" fmla="*/ T80 w 343"/>
                  <a:gd name="T82" fmla="+- 0 -1241 -1318"/>
                  <a:gd name="T83" fmla="*/ -1241 h 341"/>
                  <a:gd name="T84" fmla="+- 0 6185 6178"/>
                  <a:gd name="T85" fmla="*/ T84 w 343"/>
                  <a:gd name="T86" fmla="+- 0 -1198 -1318"/>
                  <a:gd name="T87" fmla="*/ -1198 h 341"/>
                  <a:gd name="T88" fmla="+- 0 6178 6178"/>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221"/>
                    </a:lnTo>
                    <a:lnTo>
                      <a:pt x="26" y="264"/>
                    </a:lnTo>
                    <a:lnTo>
                      <a:pt x="57" y="300"/>
                    </a:lnTo>
                    <a:lnTo>
                      <a:pt x="103" y="329"/>
                    </a:lnTo>
                    <a:lnTo>
                      <a:pt x="146" y="341"/>
                    </a:lnTo>
                    <a:lnTo>
                      <a:pt x="196" y="341"/>
                    </a:lnTo>
                    <a:lnTo>
                      <a:pt x="244" y="329"/>
                    </a:lnTo>
                    <a:lnTo>
                      <a:pt x="285" y="300"/>
                    </a:lnTo>
                    <a:lnTo>
                      <a:pt x="319" y="264"/>
                    </a:lnTo>
                    <a:lnTo>
                      <a:pt x="340" y="221"/>
                    </a:lnTo>
                    <a:lnTo>
                      <a:pt x="343" y="173"/>
                    </a:lnTo>
                    <a:lnTo>
                      <a:pt x="340" y="120"/>
                    </a:lnTo>
                    <a:lnTo>
                      <a:pt x="319" y="77"/>
                    </a:lnTo>
                    <a:lnTo>
                      <a:pt x="285" y="41"/>
                    </a:lnTo>
                    <a:lnTo>
                      <a:pt x="244" y="14"/>
                    </a:lnTo>
                    <a:lnTo>
                      <a:pt x="196" y="0"/>
                    </a:lnTo>
                    <a:lnTo>
                      <a:pt x="146" y="0"/>
                    </a:lnTo>
                    <a:lnTo>
                      <a:pt x="103" y="14"/>
                    </a:lnTo>
                    <a:lnTo>
                      <a:pt x="57" y="41"/>
                    </a:lnTo>
                    <a:lnTo>
                      <a:pt x="26" y="77"/>
                    </a:lnTo>
                    <a:lnTo>
                      <a:pt x="7" y="120"/>
                    </a:lnTo>
                    <a:lnTo>
                      <a:pt x="0" y="1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19"/>
              <p:cNvSpPr>
                <a:spLocks/>
              </p:cNvSpPr>
              <p:nvPr/>
            </p:nvSpPr>
            <p:spPr bwMode="auto">
              <a:xfrm>
                <a:off x="6178" y="-1318"/>
                <a:ext cx="343" cy="341"/>
              </a:xfrm>
              <a:custGeom>
                <a:avLst/>
                <a:gdLst>
                  <a:gd name="T0" fmla="+- 0 6178 6178"/>
                  <a:gd name="T1" fmla="*/ T0 w 343"/>
                  <a:gd name="T2" fmla="+- 0 -1145 -1318"/>
                  <a:gd name="T3" fmla="*/ -1145 h 341"/>
                  <a:gd name="T4" fmla="+- 0 6185 6178"/>
                  <a:gd name="T5" fmla="*/ T4 w 343"/>
                  <a:gd name="T6" fmla="+- 0 -1198 -1318"/>
                  <a:gd name="T7" fmla="*/ -1198 h 341"/>
                  <a:gd name="T8" fmla="+- 0 6204 6178"/>
                  <a:gd name="T9" fmla="*/ T8 w 343"/>
                  <a:gd name="T10" fmla="+- 0 -1241 -1318"/>
                  <a:gd name="T11" fmla="*/ -1241 h 341"/>
                  <a:gd name="T12" fmla="+- 0 6235 6178"/>
                  <a:gd name="T13" fmla="*/ T12 w 343"/>
                  <a:gd name="T14" fmla="+- 0 -1277 -1318"/>
                  <a:gd name="T15" fmla="*/ -1277 h 341"/>
                  <a:gd name="T16" fmla="+- 0 6281 6178"/>
                  <a:gd name="T17" fmla="*/ T16 w 343"/>
                  <a:gd name="T18" fmla="+- 0 -1304 -1318"/>
                  <a:gd name="T19" fmla="*/ -1304 h 341"/>
                  <a:gd name="T20" fmla="+- 0 6324 6178"/>
                  <a:gd name="T21" fmla="*/ T20 w 343"/>
                  <a:gd name="T22" fmla="+- 0 -1318 -1318"/>
                  <a:gd name="T23" fmla="*/ -1318 h 341"/>
                  <a:gd name="T24" fmla="+- 0 6374 6178"/>
                  <a:gd name="T25" fmla="*/ T24 w 343"/>
                  <a:gd name="T26" fmla="+- 0 -1318 -1318"/>
                  <a:gd name="T27" fmla="*/ -1318 h 341"/>
                  <a:gd name="T28" fmla="+- 0 6422 6178"/>
                  <a:gd name="T29" fmla="*/ T28 w 343"/>
                  <a:gd name="T30" fmla="+- 0 -1304 -1318"/>
                  <a:gd name="T31" fmla="*/ -1304 h 341"/>
                  <a:gd name="T32" fmla="+- 0 6463 6178"/>
                  <a:gd name="T33" fmla="*/ T32 w 343"/>
                  <a:gd name="T34" fmla="+- 0 -1277 -1318"/>
                  <a:gd name="T35" fmla="*/ -1277 h 341"/>
                  <a:gd name="T36" fmla="+- 0 6497 6178"/>
                  <a:gd name="T37" fmla="*/ T36 w 343"/>
                  <a:gd name="T38" fmla="+- 0 -1241 -1318"/>
                  <a:gd name="T39" fmla="*/ -1241 h 341"/>
                  <a:gd name="T40" fmla="+- 0 6518 6178"/>
                  <a:gd name="T41" fmla="*/ T40 w 343"/>
                  <a:gd name="T42" fmla="+- 0 -1198 -1318"/>
                  <a:gd name="T43" fmla="*/ -1198 h 341"/>
                  <a:gd name="T44" fmla="+- 0 6521 6178"/>
                  <a:gd name="T45" fmla="*/ T44 w 343"/>
                  <a:gd name="T46" fmla="+- 0 -1145 -1318"/>
                  <a:gd name="T47" fmla="*/ -1145 h 341"/>
                  <a:gd name="T48" fmla="+- 0 6518 6178"/>
                  <a:gd name="T49" fmla="*/ T48 w 343"/>
                  <a:gd name="T50" fmla="+- 0 -1097 -1318"/>
                  <a:gd name="T51" fmla="*/ -1097 h 341"/>
                  <a:gd name="T52" fmla="+- 0 6497 6178"/>
                  <a:gd name="T53" fmla="*/ T52 w 343"/>
                  <a:gd name="T54" fmla="+- 0 -1054 -1318"/>
                  <a:gd name="T55" fmla="*/ -1054 h 341"/>
                  <a:gd name="T56" fmla="+- 0 6463 6178"/>
                  <a:gd name="T57" fmla="*/ T56 w 343"/>
                  <a:gd name="T58" fmla="+- 0 -1018 -1318"/>
                  <a:gd name="T59" fmla="*/ -1018 h 341"/>
                  <a:gd name="T60" fmla="+- 0 6422 6178"/>
                  <a:gd name="T61" fmla="*/ T60 w 343"/>
                  <a:gd name="T62" fmla="+- 0 -989 -1318"/>
                  <a:gd name="T63" fmla="*/ -989 h 341"/>
                  <a:gd name="T64" fmla="+- 0 6374 6178"/>
                  <a:gd name="T65" fmla="*/ T64 w 343"/>
                  <a:gd name="T66" fmla="+- 0 -977 -1318"/>
                  <a:gd name="T67" fmla="*/ -977 h 341"/>
                  <a:gd name="T68" fmla="+- 0 6324 6178"/>
                  <a:gd name="T69" fmla="*/ T68 w 343"/>
                  <a:gd name="T70" fmla="+- 0 -977 -1318"/>
                  <a:gd name="T71" fmla="*/ -977 h 341"/>
                  <a:gd name="T72" fmla="+- 0 6281 6178"/>
                  <a:gd name="T73" fmla="*/ T72 w 343"/>
                  <a:gd name="T74" fmla="+- 0 -989 -1318"/>
                  <a:gd name="T75" fmla="*/ -989 h 341"/>
                  <a:gd name="T76" fmla="+- 0 6235 6178"/>
                  <a:gd name="T77" fmla="*/ T76 w 343"/>
                  <a:gd name="T78" fmla="+- 0 -1018 -1318"/>
                  <a:gd name="T79" fmla="*/ -1018 h 341"/>
                  <a:gd name="T80" fmla="+- 0 6204 6178"/>
                  <a:gd name="T81" fmla="*/ T80 w 343"/>
                  <a:gd name="T82" fmla="+- 0 -1054 -1318"/>
                  <a:gd name="T83" fmla="*/ -1054 h 341"/>
                  <a:gd name="T84" fmla="+- 0 6185 6178"/>
                  <a:gd name="T85" fmla="*/ T84 w 343"/>
                  <a:gd name="T86" fmla="+- 0 -1097 -1318"/>
                  <a:gd name="T87" fmla="*/ -1097 h 341"/>
                  <a:gd name="T88" fmla="+- 0 6178 6178"/>
                  <a:gd name="T89" fmla="*/ T88 w 343"/>
                  <a:gd name="T90" fmla="+- 0 -1145 -1318"/>
                  <a:gd name="T91" fmla="*/ -1145 h 34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1">
                    <a:moveTo>
                      <a:pt x="0" y="173"/>
                    </a:moveTo>
                    <a:lnTo>
                      <a:pt x="7" y="120"/>
                    </a:lnTo>
                    <a:lnTo>
                      <a:pt x="26" y="77"/>
                    </a:lnTo>
                    <a:lnTo>
                      <a:pt x="57" y="41"/>
                    </a:lnTo>
                    <a:lnTo>
                      <a:pt x="103" y="14"/>
                    </a:lnTo>
                    <a:lnTo>
                      <a:pt x="146" y="0"/>
                    </a:lnTo>
                    <a:lnTo>
                      <a:pt x="196" y="0"/>
                    </a:lnTo>
                    <a:lnTo>
                      <a:pt x="244" y="14"/>
                    </a:lnTo>
                    <a:lnTo>
                      <a:pt x="285" y="41"/>
                    </a:lnTo>
                    <a:lnTo>
                      <a:pt x="319" y="77"/>
                    </a:lnTo>
                    <a:lnTo>
                      <a:pt x="340" y="120"/>
                    </a:lnTo>
                    <a:lnTo>
                      <a:pt x="343" y="173"/>
                    </a:lnTo>
                    <a:lnTo>
                      <a:pt x="340" y="221"/>
                    </a:lnTo>
                    <a:lnTo>
                      <a:pt x="319" y="264"/>
                    </a:lnTo>
                    <a:lnTo>
                      <a:pt x="285" y="300"/>
                    </a:lnTo>
                    <a:lnTo>
                      <a:pt x="244" y="329"/>
                    </a:lnTo>
                    <a:lnTo>
                      <a:pt x="196" y="341"/>
                    </a:lnTo>
                    <a:lnTo>
                      <a:pt x="146" y="341"/>
                    </a:lnTo>
                    <a:lnTo>
                      <a:pt x="103" y="329"/>
                    </a:lnTo>
                    <a:lnTo>
                      <a:pt x="57" y="300"/>
                    </a:lnTo>
                    <a:lnTo>
                      <a:pt x="26" y="264"/>
                    </a:lnTo>
                    <a:lnTo>
                      <a:pt x="7" y="221"/>
                    </a:lnTo>
                    <a:lnTo>
                      <a:pt x="0" y="173"/>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18"/>
              <p:cNvSpPr>
                <a:spLocks/>
              </p:cNvSpPr>
              <p:nvPr/>
            </p:nvSpPr>
            <p:spPr bwMode="auto">
              <a:xfrm>
                <a:off x="6178" y="-22"/>
                <a:ext cx="343" cy="346"/>
              </a:xfrm>
              <a:custGeom>
                <a:avLst/>
                <a:gdLst>
                  <a:gd name="T0" fmla="+- 0 6178 6178"/>
                  <a:gd name="T1" fmla="*/ T0 w 343"/>
                  <a:gd name="T2" fmla="+- 0 151 -22"/>
                  <a:gd name="T3" fmla="*/ 151 h 346"/>
                  <a:gd name="T4" fmla="+- 0 6185 6178"/>
                  <a:gd name="T5" fmla="*/ T4 w 343"/>
                  <a:gd name="T6" fmla="+- 0 199 -22"/>
                  <a:gd name="T7" fmla="*/ 199 h 346"/>
                  <a:gd name="T8" fmla="+- 0 6204 6178"/>
                  <a:gd name="T9" fmla="*/ T8 w 343"/>
                  <a:gd name="T10" fmla="+- 0 242 -22"/>
                  <a:gd name="T11" fmla="*/ 242 h 346"/>
                  <a:gd name="T12" fmla="+- 0 6235 6178"/>
                  <a:gd name="T13" fmla="*/ T12 w 343"/>
                  <a:gd name="T14" fmla="+- 0 283 -22"/>
                  <a:gd name="T15" fmla="*/ 283 h 346"/>
                  <a:gd name="T16" fmla="+- 0 6281 6178"/>
                  <a:gd name="T17" fmla="*/ T16 w 343"/>
                  <a:gd name="T18" fmla="+- 0 309 -22"/>
                  <a:gd name="T19" fmla="*/ 309 h 346"/>
                  <a:gd name="T20" fmla="+- 0 6324 6178"/>
                  <a:gd name="T21" fmla="*/ T20 w 343"/>
                  <a:gd name="T22" fmla="+- 0 324 -22"/>
                  <a:gd name="T23" fmla="*/ 324 h 346"/>
                  <a:gd name="T24" fmla="+- 0 6374 6178"/>
                  <a:gd name="T25" fmla="*/ T24 w 343"/>
                  <a:gd name="T26" fmla="+- 0 324 -22"/>
                  <a:gd name="T27" fmla="*/ 324 h 346"/>
                  <a:gd name="T28" fmla="+- 0 6422 6178"/>
                  <a:gd name="T29" fmla="*/ T28 w 343"/>
                  <a:gd name="T30" fmla="+- 0 309 -22"/>
                  <a:gd name="T31" fmla="*/ 309 h 346"/>
                  <a:gd name="T32" fmla="+- 0 6463 6178"/>
                  <a:gd name="T33" fmla="*/ T32 w 343"/>
                  <a:gd name="T34" fmla="+- 0 283 -22"/>
                  <a:gd name="T35" fmla="*/ 283 h 346"/>
                  <a:gd name="T36" fmla="+- 0 6497 6178"/>
                  <a:gd name="T37" fmla="*/ T36 w 343"/>
                  <a:gd name="T38" fmla="+- 0 242 -22"/>
                  <a:gd name="T39" fmla="*/ 242 h 346"/>
                  <a:gd name="T40" fmla="+- 0 6518 6178"/>
                  <a:gd name="T41" fmla="*/ T40 w 343"/>
                  <a:gd name="T42" fmla="+- 0 199 -22"/>
                  <a:gd name="T43" fmla="*/ 199 h 346"/>
                  <a:gd name="T44" fmla="+- 0 6521 6178"/>
                  <a:gd name="T45" fmla="*/ T44 w 343"/>
                  <a:gd name="T46" fmla="+- 0 151 -22"/>
                  <a:gd name="T47" fmla="*/ 151 h 346"/>
                  <a:gd name="T48" fmla="+- 0 6518 6178"/>
                  <a:gd name="T49" fmla="*/ T48 w 343"/>
                  <a:gd name="T50" fmla="+- 0 103 -22"/>
                  <a:gd name="T51" fmla="*/ 103 h 346"/>
                  <a:gd name="T52" fmla="+- 0 6497 6178"/>
                  <a:gd name="T53" fmla="*/ T52 w 343"/>
                  <a:gd name="T54" fmla="+- 0 55 -22"/>
                  <a:gd name="T55" fmla="*/ 55 h 346"/>
                  <a:gd name="T56" fmla="+- 0 6463 6178"/>
                  <a:gd name="T57" fmla="*/ T56 w 343"/>
                  <a:gd name="T58" fmla="+- 0 19 -22"/>
                  <a:gd name="T59" fmla="*/ 19 h 346"/>
                  <a:gd name="T60" fmla="+- 0 6422 6178"/>
                  <a:gd name="T61" fmla="*/ T60 w 343"/>
                  <a:gd name="T62" fmla="+- 0 -5 -22"/>
                  <a:gd name="T63" fmla="*/ -5 h 346"/>
                  <a:gd name="T64" fmla="+- 0 6374 6178"/>
                  <a:gd name="T65" fmla="*/ T64 w 343"/>
                  <a:gd name="T66" fmla="+- 0 -22 -22"/>
                  <a:gd name="T67" fmla="*/ -22 h 346"/>
                  <a:gd name="T68" fmla="+- 0 6324 6178"/>
                  <a:gd name="T69" fmla="*/ T68 w 343"/>
                  <a:gd name="T70" fmla="+- 0 -22 -22"/>
                  <a:gd name="T71" fmla="*/ -22 h 346"/>
                  <a:gd name="T72" fmla="+- 0 6281 6178"/>
                  <a:gd name="T73" fmla="*/ T72 w 343"/>
                  <a:gd name="T74" fmla="+- 0 -5 -22"/>
                  <a:gd name="T75" fmla="*/ -5 h 346"/>
                  <a:gd name="T76" fmla="+- 0 6235 6178"/>
                  <a:gd name="T77" fmla="*/ T76 w 343"/>
                  <a:gd name="T78" fmla="+- 0 19 -22"/>
                  <a:gd name="T79" fmla="*/ 19 h 346"/>
                  <a:gd name="T80" fmla="+- 0 6204 6178"/>
                  <a:gd name="T81" fmla="*/ T80 w 343"/>
                  <a:gd name="T82" fmla="+- 0 55 -22"/>
                  <a:gd name="T83" fmla="*/ 55 h 346"/>
                  <a:gd name="T84" fmla="+- 0 6185 6178"/>
                  <a:gd name="T85" fmla="*/ T84 w 343"/>
                  <a:gd name="T86" fmla="+- 0 103 -22"/>
                  <a:gd name="T87" fmla="*/ 103 h 346"/>
                  <a:gd name="T88" fmla="+- 0 6178 6178"/>
                  <a:gd name="T89" fmla="*/ T88 w 343"/>
                  <a:gd name="T90" fmla="+- 0 151 -22"/>
                  <a:gd name="T91" fmla="*/ 151 h 34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6">
                    <a:moveTo>
                      <a:pt x="0" y="173"/>
                    </a:moveTo>
                    <a:lnTo>
                      <a:pt x="7" y="221"/>
                    </a:lnTo>
                    <a:lnTo>
                      <a:pt x="26" y="264"/>
                    </a:lnTo>
                    <a:lnTo>
                      <a:pt x="57" y="305"/>
                    </a:lnTo>
                    <a:lnTo>
                      <a:pt x="103" y="331"/>
                    </a:lnTo>
                    <a:lnTo>
                      <a:pt x="146" y="346"/>
                    </a:lnTo>
                    <a:lnTo>
                      <a:pt x="196" y="346"/>
                    </a:lnTo>
                    <a:lnTo>
                      <a:pt x="244" y="331"/>
                    </a:lnTo>
                    <a:lnTo>
                      <a:pt x="285" y="305"/>
                    </a:lnTo>
                    <a:lnTo>
                      <a:pt x="319" y="264"/>
                    </a:lnTo>
                    <a:lnTo>
                      <a:pt x="340" y="221"/>
                    </a:lnTo>
                    <a:lnTo>
                      <a:pt x="343" y="173"/>
                    </a:lnTo>
                    <a:lnTo>
                      <a:pt x="340" y="125"/>
                    </a:lnTo>
                    <a:lnTo>
                      <a:pt x="319" y="77"/>
                    </a:lnTo>
                    <a:lnTo>
                      <a:pt x="285" y="41"/>
                    </a:lnTo>
                    <a:lnTo>
                      <a:pt x="244" y="17"/>
                    </a:lnTo>
                    <a:lnTo>
                      <a:pt x="196" y="0"/>
                    </a:lnTo>
                    <a:lnTo>
                      <a:pt x="146" y="0"/>
                    </a:lnTo>
                    <a:lnTo>
                      <a:pt x="103" y="17"/>
                    </a:lnTo>
                    <a:lnTo>
                      <a:pt x="57" y="41"/>
                    </a:lnTo>
                    <a:lnTo>
                      <a:pt x="26" y="77"/>
                    </a:lnTo>
                    <a:lnTo>
                      <a:pt x="7" y="125"/>
                    </a:lnTo>
                    <a:lnTo>
                      <a:pt x="0" y="1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17"/>
              <p:cNvSpPr>
                <a:spLocks/>
              </p:cNvSpPr>
              <p:nvPr/>
            </p:nvSpPr>
            <p:spPr bwMode="auto">
              <a:xfrm>
                <a:off x="6178" y="-22"/>
                <a:ext cx="343" cy="346"/>
              </a:xfrm>
              <a:custGeom>
                <a:avLst/>
                <a:gdLst>
                  <a:gd name="T0" fmla="+- 0 6178 6178"/>
                  <a:gd name="T1" fmla="*/ T0 w 343"/>
                  <a:gd name="T2" fmla="+- 0 151 -22"/>
                  <a:gd name="T3" fmla="*/ 151 h 346"/>
                  <a:gd name="T4" fmla="+- 0 6185 6178"/>
                  <a:gd name="T5" fmla="*/ T4 w 343"/>
                  <a:gd name="T6" fmla="+- 0 103 -22"/>
                  <a:gd name="T7" fmla="*/ 103 h 346"/>
                  <a:gd name="T8" fmla="+- 0 6204 6178"/>
                  <a:gd name="T9" fmla="*/ T8 w 343"/>
                  <a:gd name="T10" fmla="+- 0 55 -22"/>
                  <a:gd name="T11" fmla="*/ 55 h 346"/>
                  <a:gd name="T12" fmla="+- 0 6235 6178"/>
                  <a:gd name="T13" fmla="*/ T12 w 343"/>
                  <a:gd name="T14" fmla="+- 0 19 -22"/>
                  <a:gd name="T15" fmla="*/ 19 h 346"/>
                  <a:gd name="T16" fmla="+- 0 6281 6178"/>
                  <a:gd name="T17" fmla="*/ T16 w 343"/>
                  <a:gd name="T18" fmla="+- 0 -5 -22"/>
                  <a:gd name="T19" fmla="*/ -5 h 346"/>
                  <a:gd name="T20" fmla="+- 0 6324 6178"/>
                  <a:gd name="T21" fmla="*/ T20 w 343"/>
                  <a:gd name="T22" fmla="+- 0 -22 -22"/>
                  <a:gd name="T23" fmla="*/ -22 h 346"/>
                  <a:gd name="T24" fmla="+- 0 6374 6178"/>
                  <a:gd name="T25" fmla="*/ T24 w 343"/>
                  <a:gd name="T26" fmla="+- 0 -22 -22"/>
                  <a:gd name="T27" fmla="*/ -22 h 346"/>
                  <a:gd name="T28" fmla="+- 0 6422 6178"/>
                  <a:gd name="T29" fmla="*/ T28 w 343"/>
                  <a:gd name="T30" fmla="+- 0 -5 -22"/>
                  <a:gd name="T31" fmla="*/ -5 h 346"/>
                  <a:gd name="T32" fmla="+- 0 6463 6178"/>
                  <a:gd name="T33" fmla="*/ T32 w 343"/>
                  <a:gd name="T34" fmla="+- 0 19 -22"/>
                  <a:gd name="T35" fmla="*/ 19 h 346"/>
                  <a:gd name="T36" fmla="+- 0 6497 6178"/>
                  <a:gd name="T37" fmla="*/ T36 w 343"/>
                  <a:gd name="T38" fmla="+- 0 55 -22"/>
                  <a:gd name="T39" fmla="*/ 55 h 346"/>
                  <a:gd name="T40" fmla="+- 0 6518 6178"/>
                  <a:gd name="T41" fmla="*/ T40 w 343"/>
                  <a:gd name="T42" fmla="+- 0 103 -22"/>
                  <a:gd name="T43" fmla="*/ 103 h 346"/>
                  <a:gd name="T44" fmla="+- 0 6521 6178"/>
                  <a:gd name="T45" fmla="*/ T44 w 343"/>
                  <a:gd name="T46" fmla="+- 0 151 -22"/>
                  <a:gd name="T47" fmla="*/ 151 h 346"/>
                  <a:gd name="T48" fmla="+- 0 6518 6178"/>
                  <a:gd name="T49" fmla="*/ T48 w 343"/>
                  <a:gd name="T50" fmla="+- 0 199 -22"/>
                  <a:gd name="T51" fmla="*/ 199 h 346"/>
                  <a:gd name="T52" fmla="+- 0 6497 6178"/>
                  <a:gd name="T53" fmla="*/ T52 w 343"/>
                  <a:gd name="T54" fmla="+- 0 242 -22"/>
                  <a:gd name="T55" fmla="*/ 242 h 346"/>
                  <a:gd name="T56" fmla="+- 0 6463 6178"/>
                  <a:gd name="T57" fmla="*/ T56 w 343"/>
                  <a:gd name="T58" fmla="+- 0 283 -22"/>
                  <a:gd name="T59" fmla="*/ 283 h 346"/>
                  <a:gd name="T60" fmla="+- 0 6422 6178"/>
                  <a:gd name="T61" fmla="*/ T60 w 343"/>
                  <a:gd name="T62" fmla="+- 0 309 -22"/>
                  <a:gd name="T63" fmla="*/ 309 h 346"/>
                  <a:gd name="T64" fmla="+- 0 6374 6178"/>
                  <a:gd name="T65" fmla="*/ T64 w 343"/>
                  <a:gd name="T66" fmla="+- 0 324 -22"/>
                  <a:gd name="T67" fmla="*/ 324 h 346"/>
                  <a:gd name="T68" fmla="+- 0 6324 6178"/>
                  <a:gd name="T69" fmla="*/ T68 w 343"/>
                  <a:gd name="T70" fmla="+- 0 324 -22"/>
                  <a:gd name="T71" fmla="*/ 324 h 346"/>
                  <a:gd name="T72" fmla="+- 0 6281 6178"/>
                  <a:gd name="T73" fmla="*/ T72 w 343"/>
                  <a:gd name="T74" fmla="+- 0 309 -22"/>
                  <a:gd name="T75" fmla="*/ 309 h 346"/>
                  <a:gd name="T76" fmla="+- 0 6235 6178"/>
                  <a:gd name="T77" fmla="*/ T76 w 343"/>
                  <a:gd name="T78" fmla="+- 0 283 -22"/>
                  <a:gd name="T79" fmla="*/ 283 h 346"/>
                  <a:gd name="T80" fmla="+- 0 6204 6178"/>
                  <a:gd name="T81" fmla="*/ T80 w 343"/>
                  <a:gd name="T82" fmla="+- 0 242 -22"/>
                  <a:gd name="T83" fmla="*/ 242 h 346"/>
                  <a:gd name="T84" fmla="+- 0 6185 6178"/>
                  <a:gd name="T85" fmla="*/ T84 w 343"/>
                  <a:gd name="T86" fmla="+- 0 199 -22"/>
                  <a:gd name="T87" fmla="*/ 199 h 346"/>
                  <a:gd name="T88" fmla="+- 0 6178 6178"/>
                  <a:gd name="T89" fmla="*/ T88 w 343"/>
                  <a:gd name="T90" fmla="+- 0 151 -22"/>
                  <a:gd name="T91" fmla="*/ 151 h 34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3" h="346">
                    <a:moveTo>
                      <a:pt x="0" y="173"/>
                    </a:moveTo>
                    <a:lnTo>
                      <a:pt x="7" y="125"/>
                    </a:lnTo>
                    <a:lnTo>
                      <a:pt x="26" y="77"/>
                    </a:lnTo>
                    <a:lnTo>
                      <a:pt x="57" y="41"/>
                    </a:lnTo>
                    <a:lnTo>
                      <a:pt x="103" y="17"/>
                    </a:lnTo>
                    <a:lnTo>
                      <a:pt x="146" y="0"/>
                    </a:lnTo>
                    <a:lnTo>
                      <a:pt x="196" y="0"/>
                    </a:lnTo>
                    <a:lnTo>
                      <a:pt x="244" y="17"/>
                    </a:lnTo>
                    <a:lnTo>
                      <a:pt x="285" y="41"/>
                    </a:lnTo>
                    <a:lnTo>
                      <a:pt x="319" y="77"/>
                    </a:lnTo>
                    <a:lnTo>
                      <a:pt x="340" y="125"/>
                    </a:lnTo>
                    <a:lnTo>
                      <a:pt x="343" y="173"/>
                    </a:lnTo>
                    <a:lnTo>
                      <a:pt x="340" y="221"/>
                    </a:lnTo>
                    <a:lnTo>
                      <a:pt x="319" y="264"/>
                    </a:lnTo>
                    <a:lnTo>
                      <a:pt x="285" y="305"/>
                    </a:lnTo>
                    <a:lnTo>
                      <a:pt x="244" y="331"/>
                    </a:lnTo>
                    <a:lnTo>
                      <a:pt x="196" y="346"/>
                    </a:lnTo>
                    <a:lnTo>
                      <a:pt x="146" y="346"/>
                    </a:lnTo>
                    <a:lnTo>
                      <a:pt x="103" y="331"/>
                    </a:lnTo>
                    <a:lnTo>
                      <a:pt x="57" y="305"/>
                    </a:lnTo>
                    <a:lnTo>
                      <a:pt x="26" y="264"/>
                    </a:lnTo>
                    <a:lnTo>
                      <a:pt x="7" y="221"/>
                    </a:lnTo>
                    <a:lnTo>
                      <a:pt x="0" y="173"/>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Freeform 16"/>
              <p:cNvSpPr>
                <a:spLocks/>
              </p:cNvSpPr>
              <p:nvPr/>
            </p:nvSpPr>
            <p:spPr bwMode="auto">
              <a:xfrm>
                <a:off x="6134" y="-497"/>
                <a:ext cx="432" cy="0"/>
              </a:xfrm>
              <a:custGeom>
                <a:avLst/>
                <a:gdLst>
                  <a:gd name="T0" fmla="+- 0 6134 6134"/>
                  <a:gd name="T1" fmla="*/ T0 w 432"/>
                  <a:gd name="T2" fmla="+- 0 6566 6134"/>
                  <a:gd name="T3" fmla="*/ T2 w 432"/>
                </a:gdLst>
                <a:ahLst/>
                <a:cxnLst>
                  <a:cxn ang="0">
                    <a:pos x="T1" y="0"/>
                  </a:cxn>
                  <a:cxn ang="0">
                    <a:pos x="T3" y="0"/>
                  </a:cxn>
                </a:cxnLst>
                <a:rect l="0" t="0" r="r" b="b"/>
                <a:pathLst>
                  <a:path w="432">
                    <a:moveTo>
                      <a:pt x="0" y="0"/>
                    </a:moveTo>
                    <a:lnTo>
                      <a:pt x="432"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Freeform 15"/>
              <p:cNvSpPr>
                <a:spLocks/>
              </p:cNvSpPr>
              <p:nvPr/>
            </p:nvSpPr>
            <p:spPr bwMode="auto">
              <a:xfrm>
                <a:off x="4620" y="-984"/>
                <a:ext cx="3895" cy="3125"/>
              </a:xfrm>
              <a:custGeom>
                <a:avLst/>
                <a:gdLst>
                  <a:gd name="T0" fmla="+- 0 4620 4620"/>
                  <a:gd name="T1" fmla="*/ T0 w 3895"/>
                  <a:gd name="T2" fmla="+- 0 -972 -984"/>
                  <a:gd name="T3" fmla="*/ -972 h 3125"/>
                  <a:gd name="T4" fmla="+- 0 4848 4620"/>
                  <a:gd name="T5" fmla="*/ T4 w 3895"/>
                  <a:gd name="T6" fmla="+- 0 -984 -984"/>
                  <a:gd name="T7" fmla="*/ -984 h 3125"/>
                  <a:gd name="T8" fmla="+- 0 5078 4620"/>
                  <a:gd name="T9" fmla="*/ T8 w 3895"/>
                  <a:gd name="T10" fmla="+- 0 -984 -984"/>
                  <a:gd name="T11" fmla="*/ -984 h 3125"/>
                  <a:gd name="T12" fmla="+- 0 5306 4620"/>
                  <a:gd name="T13" fmla="*/ T12 w 3895"/>
                  <a:gd name="T14" fmla="+- 0 -970 -984"/>
                  <a:gd name="T15" fmla="*/ -970 h 3125"/>
                  <a:gd name="T16" fmla="+- 0 5530 4620"/>
                  <a:gd name="T17" fmla="*/ T16 w 3895"/>
                  <a:gd name="T18" fmla="+- 0 -944 -984"/>
                  <a:gd name="T19" fmla="*/ -944 h 3125"/>
                  <a:gd name="T20" fmla="+- 0 5753 4620"/>
                  <a:gd name="T21" fmla="*/ T20 w 3895"/>
                  <a:gd name="T22" fmla="+- 0 -903 -984"/>
                  <a:gd name="T23" fmla="*/ -903 h 3125"/>
                  <a:gd name="T24" fmla="+- 0 5971 4620"/>
                  <a:gd name="T25" fmla="*/ T24 w 3895"/>
                  <a:gd name="T26" fmla="+- 0 -852 -984"/>
                  <a:gd name="T27" fmla="*/ -852 h 3125"/>
                  <a:gd name="T28" fmla="+- 0 6185 4620"/>
                  <a:gd name="T29" fmla="*/ T28 w 3895"/>
                  <a:gd name="T30" fmla="+- 0 -790 -984"/>
                  <a:gd name="T31" fmla="*/ -790 h 3125"/>
                  <a:gd name="T32" fmla="+- 0 6394 4620"/>
                  <a:gd name="T33" fmla="*/ T32 w 3895"/>
                  <a:gd name="T34" fmla="+- 0 -718 -984"/>
                  <a:gd name="T35" fmla="*/ -718 h 3125"/>
                  <a:gd name="T36" fmla="+- 0 6595 4620"/>
                  <a:gd name="T37" fmla="*/ T36 w 3895"/>
                  <a:gd name="T38" fmla="+- 0 -629 -984"/>
                  <a:gd name="T39" fmla="*/ -629 h 3125"/>
                  <a:gd name="T40" fmla="+- 0 6792 4620"/>
                  <a:gd name="T41" fmla="*/ T40 w 3895"/>
                  <a:gd name="T42" fmla="+- 0 -533 -984"/>
                  <a:gd name="T43" fmla="*/ -533 h 3125"/>
                  <a:gd name="T44" fmla="+- 0 6979 4620"/>
                  <a:gd name="T45" fmla="*/ T44 w 3895"/>
                  <a:gd name="T46" fmla="+- 0 -423 -984"/>
                  <a:gd name="T47" fmla="*/ -423 h 3125"/>
                  <a:gd name="T48" fmla="+- 0 7159 4620"/>
                  <a:gd name="T49" fmla="*/ T48 w 3895"/>
                  <a:gd name="T50" fmla="+- 0 -308 -984"/>
                  <a:gd name="T51" fmla="*/ -308 h 3125"/>
                  <a:gd name="T52" fmla="+- 0 7332 4620"/>
                  <a:gd name="T53" fmla="*/ T52 w 3895"/>
                  <a:gd name="T54" fmla="+- 0 -178 -984"/>
                  <a:gd name="T55" fmla="*/ -178 h 3125"/>
                  <a:gd name="T56" fmla="+- 0 7493 4620"/>
                  <a:gd name="T57" fmla="*/ T56 w 3895"/>
                  <a:gd name="T58" fmla="+- 0 -39 -984"/>
                  <a:gd name="T59" fmla="*/ -39 h 3125"/>
                  <a:gd name="T60" fmla="+- 0 7644 4620"/>
                  <a:gd name="T61" fmla="*/ T60 w 3895"/>
                  <a:gd name="T62" fmla="+- 0 108 -984"/>
                  <a:gd name="T63" fmla="*/ 108 h 3125"/>
                  <a:gd name="T64" fmla="+- 0 7786 4620"/>
                  <a:gd name="T65" fmla="*/ T64 w 3895"/>
                  <a:gd name="T66" fmla="+- 0 261 -984"/>
                  <a:gd name="T67" fmla="*/ 261 h 3125"/>
                  <a:gd name="T68" fmla="+- 0 7915 4620"/>
                  <a:gd name="T69" fmla="*/ T68 w 3895"/>
                  <a:gd name="T70" fmla="+- 0 427 -984"/>
                  <a:gd name="T71" fmla="*/ 427 h 3125"/>
                  <a:gd name="T72" fmla="+- 0 8030 4620"/>
                  <a:gd name="T73" fmla="*/ T72 w 3895"/>
                  <a:gd name="T74" fmla="+- 0 595 -984"/>
                  <a:gd name="T75" fmla="*/ 595 h 3125"/>
                  <a:gd name="T76" fmla="+- 0 8138 4620"/>
                  <a:gd name="T77" fmla="*/ T76 w 3895"/>
                  <a:gd name="T78" fmla="+- 0 775 -984"/>
                  <a:gd name="T79" fmla="*/ 775 h 3125"/>
                  <a:gd name="T80" fmla="+- 0 8232 4620"/>
                  <a:gd name="T81" fmla="*/ T80 w 3895"/>
                  <a:gd name="T82" fmla="+- 0 957 -984"/>
                  <a:gd name="T83" fmla="*/ 957 h 3125"/>
                  <a:gd name="T84" fmla="+- 0 8314 4620"/>
                  <a:gd name="T85" fmla="*/ T84 w 3895"/>
                  <a:gd name="T86" fmla="+- 0 1144 -984"/>
                  <a:gd name="T87" fmla="*/ 1144 h 3125"/>
                  <a:gd name="T88" fmla="+- 0 8378 4620"/>
                  <a:gd name="T89" fmla="*/ T88 w 3895"/>
                  <a:gd name="T90" fmla="+- 0 1339 -984"/>
                  <a:gd name="T91" fmla="*/ 1339 h 3125"/>
                  <a:gd name="T92" fmla="+- 0 8434 4620"/>
                  <a:gd name="T93" fmla="*/ T92 w 3895"/>
                  <a:gd name="T94" fmla="+- 0 1533 -984"/>
                  <a:gd name="T95" fmla="*/ 1533 h 3125"/>
                  <a:gd name="T96" fmla="+- 0 8474 4620"/>
                  <a:gd name="T97" fmla="*/ T96 w 3895"/>
                  <a:gd name="T98" fmla="+- 0 1735 -984"/>
                  <a:gd name="T99" fmla="*/ 1735 h 3125"/>
                  <a:gd name="T100" fmla="+- 0 8501 4620"/>
                  <a:gd name="T101" fmla="*/ T100 w 3895"/>
                  <a:gd name="T102" fmla="+- 0 1934 -984"/>
                  <a:gd name="T103" fmla="*/ 1934 h 3125"/>
                  <a:gd name="T104" fmla="+- 0 8515 4620"/>
                  <a:gd name="T105" fmla="*/ T104 w 3895"/>
                  <a:gd name="T106" fmla="+- 0 2140 -984"/>
                  <a:gd name="T107" fmla="*/ 2140 h 312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Lst>
                <a:rect l="0" t="0" r="r" b="b"/>
                <a:pathLst>
                  <a:path w="3895" h="3125">
                    <a:moveTo>
                      <a:pt x="0" y="12"/>
                    </a:moveTo>
                    <a:lnTo>
                      <a:pt x="228" y="0"/>
                    </a:lnTo>
                    <a:lnTo>
                      <a:pt x="458" y="0"/>
                    </a:lnTo>
                    <a:lnTo>
                      <a:pt x="686" y="14"/>
                    </a:lnTo>
                    <a:lnTo>
                      <a:pt x="910" y="40"/>
                    </a:lnTo>
                    <a:lnTo>
                      <a:pt x="1133" y="81"/>
                    </a:lnTo>
                    <a:lnTo>
                      <a:pt x="1351" y="132"/>
                    </a:lnTo>
                    <a:lnTo>
                      <a:pt x="1565" y="194"/>
                    </a:lnTo>
                    <a:lnTo>
                      <a:pt x="1774" y="266"/>
                    </a:lnTo>
                    <a:lnTo>
                      <a:pt x="1975" y="355"/>
                    </a:lnTo>
                    <a:lnTo>
                      <a:pt x="2172" y="451"/>
                    </a:lnTo>
                    <a:lnTo>
                      <a:pt x="2359" y="561"/>
                    </a:lnTo>
                    <a:lnTo>
                      <a:pt x="2539" y="676"/>
                    </a:lnTo>
                    <a:lnTo>
                      <a:pt x="2712" y="806"/>
                    </a:lnTo>
                    <a:lnTo>
                      <a:pt x="2873" y="945"/>
                    </a:lnTo>
                    <a:lnTo>
                      <a:pt x="3024" y="1092"/>
                    </a:lnTo>
                    <a:lnTo>
                      <a:pt x="3166" y="1245"/>
                    </a:lnTo>
                    <a:lnTo>
                      <a:pt x="3295" y="1411"/>
                    </a:lnTo>
                    <a:lnTo>
                      <a:pt x="3410" y="1579"/>
                    </a:lnTo>
                    <a:lnTo>
                      <a:pt x="3518" y="1759"/>
                    </a:lnTo>
                    <a:lnTo>
                      <a:pt x="3612" y="1941"/>
                    </a:lnTo>
                    <a:lnTo>
                      <a:pt x="3694" y="2128"/>
                    </a:lnTo>
                    <a:lnTo>
                      <a:pt x="3758" y="2323"/>
                    </a:lnTo>
                    <a:lnTo>
                      <a:pt x="3814" y="2517"/>
                    </a:lnTo>
                    <a:lnTo>
                      <a:pt x="3854" y="2719"/>
                    </a:lnTo>
                    <a:lnTo>
                      <a:pt x="3881" y="2918"/>
                    </a:lnTo>
                    <a:lnTo>
                      <a:pt x="3895" y="3124"/>
                    </a:lnTo>
                  </a:path>
                </a:pathLst>
              </a:custGeom>
              <a:noFill/>
              <a:ln w="2286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Freeform 10"/>
              <p:cNvSpPr>
                <a:spLocks/>
              </p:cNvSpPr>
              <p:nvPr/>
            </p:nvSpPr>
            <p:spPr bwMode="auto">
              <a:xfrm>
                <a:off x="6283" y="-562"/>
                <a:ext cx="132" cy="127"/>
              </a:xfrm>
              <a:custGeom>
                <a:avLst/>
                <a:gdLst>
                  <a:gd name="T0" fmla="+- 0 6283 6283"/>
                  <a:gd name="T1" fmla="*/ T0 w 132"/>
                  <a:gd name="T2" fmla="+- 0 -497 -562"/>
                  <a:gd name="T3" fmla="*/ -497 h 127"/>
                  <a:gd name="T4" fmla="+- 0 6290 6283"/>
                  <a:gd name="T5" fmla="*/ T4 w 132"/>
                  <a:gd name="T6" fmla="+- 0 -471 -562"/>
                  <a:gd name="T7" fmla="*/ -471 h 127"/>
                  <a:gd name="T8" fmla="+- 0 6310 6283"/>
                  <a:gd name="T9" fmla="*/ T8 w 132"/>
                  <a:gd name="T10" fmla="+- 0 -447 -562"/>
                  <a:gd name="T11" fmla="*/ -447 h 127"/>
                  <a:gd name="T12" fmla="+- 0 6336 6283"/>
                  <a:gd name="T13" fmla="*/ T12 w 132"/>
                  <a:gd name="T14" fmla="+- 0 -435 -562"/>
                  <a:gd name="T15" fmla="*/ -435 h 127"/>
                  <a:gd name="T16" fmla="+- 0 6365 6283"/>
                  <a:gd name="T17" fmla="*/ T16 w 132"/>
                  <a:gd name="T18" fmla="+- 0 -435 -562"/>
                  <a:gd name="T19" fmla="*/ -435 h 127"/>
                  <a:gd name="T20" fmla="+- 0 6389 6283"/>
                  <a:gd name="T21" fmla="*/ T20 w 132"/>
                  <a:gd name="T22" fmla="+- 0 -447 -562"/>
                  <a:gd name="T23" fmla="*/ -447 h 127"/>
                  <a:gd name="T24" fmla="+- 0 6408 6283"/>
                  <a:gd name="T25" fmla="*/ T24 w 132"/>
                  <a:gd name="T26" fmla="+- 0 -471 -562"/>
                  <a:gd name="T27" fmla="*/ -471 h 127"/>
                  <a:gd name="T28" fmla="+- 0 6415 6283"/>
                  <a:gd name="T29" fmla="*/ T28 w 132"/>
                  <a:gd name="T30" fmla="+- 0 -497 -562"/>
                  <a:gd name="T31" fmla="*/ -497 h 127"/>
                  <a:gd name="T32" fmla="+- 0 6408 6283"/>
                  <a:gd name="T33" fmla="*/ T32 w 132"/>
                  <a:gd name="T34" fmla="+- 0 -526 -562"/>
                  <a:gd name="T35" fmla="*/ -526 h 127"/>
                  <a:gd name="T36" fmla="+- 0 6389 6283"/>
                  <a:gd name="T37" fmla="*/ T36 w 132"/>
                  <a:gd name="T38" fmla="+- 0 -548 -562"/>
                  <a:gd name="T39" fmla="*/ -548 h 127"/>
                  <a:gd name="T40" fmla="+- 0 6365 6283"/>
                  <a:gd name="T41" fmla="*/ T40 w 132"/>
                  <a:gd name="T42" fmla="+- 0 -562 -562"/>
                  <a:gd name="T43" fmla="*/ -562 h 127"/>
                  <a:gd name="T44" fmla="+- 0 6336 6283"/>
                  <a:gd name="T45" fmla="*/ T44 w 132"/>
                  <a:gd name="T46" fmla="+- 0 -562 -562"/>
                  <a:gd name="T47" fmla="*/ -562 h 127"/>
                  <a:gd name="T48" fmla="+- 0 6310 6283"/>
                  <a:gd name="T49" fmla="*/ T48 w 132"/>
                  <a:gd name="T50" fmla="+- 0 -548 -562"/>
                  <a:gd name="T51" fmla="*/ -548 h 127"/>
                  <a:gd name="T52" fmla="+- 0 6290 6283"/>
                  <a:gd name="T53" fmla="*/ T52 w 132"/>
                  <a:gd name="T54" fmla="+- 0 -526 -562"/>
                  <a:gd name="T55" fmla="*/ -526 h 127"/>
                  <a:gd name="T56" fmla="+- 0 6283 6283"/>
                  <a:gd name="T57" fmla="*/ T56 w 132"/>
                  <a:gd name="T58" fmla="+- 0 -497 -562"/>
                  <a:gd name="T59" fmla="*/ -497 h 12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27">
                    <a:moveTo>
                      <a:pt x="0" y="65"/>
                    </a:moveTo>
                    <a:lnTo>
                      <a:pt x="7" y="91"/>
                    </a:lnTo>
                    <a:lnTo>
                      <a:pt x="27" y="115"/>
                    </a:lnTo>
                    <a:lnTo>
                      <a:pt x="53" y="127"/>
                    </a:lnTo>
                    <a:lnTo>
                      <a:pt x="82" y="127"/>
                    </a:lnTo>
                    <a:lnTo>
                      <a:pt x="106" y="115"/>
                    </a:lnTo>
                    <a:lnTo>
                      <a:pt x="125" y="91"/>
                    </a:lnTo>
                    <a:lnTo>
                      <a:pt x="132" y="65"/>
                    </a:lnTo>
                    <a:lnTo>
                      <a:pt x="125" y="36"/>
                    </a:lnTo>
                    <a:lnTo>
                      <a:pt x="106" y="14"/>
                    </a:lnTo>
                    <a:lnTo>
                      <a:pt x="82" y="0"/>
                    </a:lnTo>
                    <a:lnTo>
                      <a:pt x="53" y="0"/>
                    </a:lnTo>
                    <a:lnTo>
                      <a:pt x="27" y="14"/>
                    </a:lnTo>
                    <a:lnTo>
                      <a:pt x="7" y="36"/>
                    </a:lnTo>
                    <a:lnTo>
                      <a:pt x="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9"/>
              <p:cNvSpPr>
                <a:spLocks/>
              </p:cNvSpPr>
              <p:nvPr/>
            </p:nvSpPr>
            <p:spPr bwMode="auto">
              <a:xfrm>
                <a:off x="6283" y="-562"/>
                <a:ext cx="132" cy="127"/>
              </a:xfrm>
              <a:custGeom>
                <a:avLst/>
                <a:gdLst>
                  <a:gd name="T0" fmla="+- 0 6283 6283"/>
                  <a:gd name="T1" fmla="*/ T0 w 132"/>
                  <a:gd name="T2" fmla="+- 0 -497 -562"/>
                  <a:gd name="T3" fmla="*/ -497 h 127"/>
                  <a:gd name="T4" fmla="+- 0 6290 6283"/>
                  <a:gd name="T5" fmla="*/ T4 w 132"/>
                  <a:gd name="T6" fmla="+- 0 -526 -562"/>
                  <a:gd name="T7" fmla="*/ -526 h 127"/>
                  <a:gd name="T8" fmla="+- 0 6310 6283"/>
                  <a:gd name="T9" fmla="*/ T8 w 132"/>
                  <a:gd name="T10" fmla="+- 0 -548 -562"/>
                  <a:gd name="T11" fmla="*/ -548 h 127"/>
                  <a:gd name="T12" fmla="+- 0 6336 6283"/>
                  <a:gd name="T13" fmla="*/ T12 w 132"/>
                  <a:gd name="T14" fmla="+- 0 -562 -562"/>
                  <a:gd name="T15" fmla="*/ -562 h 127"/>
                  <a:gd name="T16" fmla="+- 0 6365 6283"/>
                  <a:gd name="T17" fmla="*/ T16 w 132"/>
                  <a:gd name="T18" fmla="+- 0 -562 -562"/>
                  <a:gd name="T19" fmla="*/ -562 h 127"/>
                  <a:gd name="T20" fmla="+- 0 6389 6283"/>
                  <a:gd name="T21" fmla="*/ T20 w 132"/>
                  <a:gd name="T22" fmla="+- 0 -548 -562"/>
                  <a:gd name="T23" fmla="*/ -548 h 127"/>
                  <a:gd name="T24" fmla="+- 0 6408 6283"/>
                  <a:gd name="T25" fmla="*/ T24 w 132"/>
                  <a:gd name="T26" fmla="+- 0 -526 -562"/>
                  <a:gd name="T27" fmla="*/ -526 h 127"/>
                  <a:gd name="T28" fmla="+- 0 6415 6283"/>
                  <a:gd name="T29" fmla="*/ T28 w 132"/>
                  <a:gd name="T30" fmla="+- 0 -497 -562"/>
                  <a:gd name="T31" fmla="*/ -497 h 127"/>
                  <a:gd name="T32" fmla="+- 0 6408 6283"/>
                  <a:gd name="T33" fmla="*/ T32 w 132"/>
                  <a:gd name="T34" fmla="+- 0 -471 -562"/>
                  <a:gd name="T35" fmla="*/ -471 h 127"/>
                  <a:gd name="T36" fmla="+- 0 6389 6283"/>
                  <a:gd name="T37" fmla="*/ T36 w 132"/>
                  <a:gd name="T38" fmla="+- 0 -447 -562"/>
                  <a:gd name="T39" fmla="*/ -447 h 127"/>
                  <a:gd name="T40" fmla="+- 0 6365 6283"/>
                  <a:gd name="T41" fmla="*/ T40 w 132"/>
                  <a:gd name="T42" fmla="+- 0 -435 -562"/>
                  <a:gd name="T43" fmla="*/ -435 h 127"/>
                  <a:gd name="T44" fmla="+- 0 6336 6283"/>
                  <a:gd name="T45" fmla="*/ T44 w 132"/>
                  <a:gd name="T46" fmla="+- 0 -435 -562"/>
                  <a:gd name="T47" fmla="*/ -435 h 127"/>
                  <a:gd name="T48" fmla="+- 0 6310 6283"/>
                  <a:gd name="T49" fmla="*/ T48 w 132"/>
                  <a:gd name="T50" fmla="+- 0 -447 -562"/>
                  <a:gd name="T51" fmla="*/ -447 h 127"/>
                  <a:gd name="T52" fmla="+- 0 6290 6283"/>
                  <a:gd name="T53" fmla="*/ T52 w 132"/>
                  <a:gd name="T54" fmla="+- 0 -471 -562"/>
                  <a:gd name="T55" fmla="*/ -471 h 127"/>
                  <a:gd name="T56" fmla="+- 0 6283 6283"/>
                  <a:gd name="T57" fmla="*/ T56 w 132"/>
                  <a:gd name="T58" fmla="+- 0 -497 -562"/>
                  <a:gd name="T59" fmla="*/ -497 h 12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27">
                    <a:moveTo>
                      <a:pt x="0" y="65"/>
                    </a:moveTo>
                    <a:lnTo>
                      <a:pt x="7" y="36"/>
                    </a:lnTo>
                    <a:lnTo>
                      <a:pt x="27" y="14"/>
                    </a:lnTo>
                    <a:lnTo>
                      <a:pt x="53" y="0"/>
                    </a:lnTo>
                    <a:lnTo>
                      <a:pt x="82" y="0"/>
                    </a:lnTo>
                    <a:lnTo>
                      <a:pt x="106" y="14"/>
                    </a:lnTo>
                    <a:lnTo>
                      <a:pt x="125" y="36"/>
                    </a:lnTo>
                    <a:lnTo>
                      <a:pt x="132" y="65"/>
                    </a:lnTo>
                    <a:lnTo>
                      <a:pt x="125" y="91"/>
                    </a:lnTo>
                    <a:lnTo>
                      <a:pt x="106" y="115"/>
                    </a:lnTo>
                    <a:lnTo>
                      <a:pt x="82" y="127"/>
                    </a:lnTo>
                    <a:lnTo>
                      <a:pt x="53" y="127"/>
                    </a:lnTo>
                    <a:lnTo>
                      <a:pt x="27" y="115"/>
                    </a:lnTo>
                    <a:lnTo>
                      <a:pt x="7" y="91"/>
                    </a:lnTo>
                    <a:lnTo>
                      <a:pt x="0" y="65"/>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Freeform 5"/>
              <p:cNvSpPr>
                <a:spLocks/>
              </p:cNvSpPr>
              <p:nvPr/>
            </p:nvSpPr>
            <p:spPr bwMode="auto">
              <a:xfrm>
                <a:off x="7651" y="-2014"/>
                <a:ext cx="141" cy="816"/>
              </a:xfrm>
              <a:custGeom>
                <a:avLst/>
                <a:gdLst>
                  <a:gd name="T0" fmla="+- 0 -2014 -2014"/>
                  <a:gd name="T1" fmla="*/ -2014 h 305"/>
                  <a:gd name="T2" fmla="+- 0 -1709 -2014"/>
                  <a:gd name="T3" fmla="*/ -1709 h 305"/>
                </a:gdLst>
                <a:ahLst/>
                <a:cxnLst>
                  <a:cxn ang="0">
                    <a:pos x="0" y="T1"/>
                  </a:cxn>
                  <a:cxn ang="0">
                    <a:pos x="0" y="T3"/>
                  </a:cxn>
                </a:cxnLst>
                <a:rect l="0" t="0" r="r" b="b"/>
                <a:pathLst>
                  <a:path h="305">
                    <a:moveTo>
                      <a:pt x="0" y="0"/>
                    </a:moveTo>
                    <a:lnTo>
                      <a:pt x="0" y="305"/>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2" name="Freeform 3"/>
              <p:cNvSpPr>
                <a:spLocks/>
              </p:cNvSpPr>
              <p:nvPr/>
            </p:nvSpPr>
            <p:spPr bwMode="auto">
              <a:xfrm>
                <a:off x="6283" y="-780"/>
                <a:ext cx="132" cy="130"/>
              </a:xfrm>
              <a:custGeom>
                <a:avLst/>
                <a:gdLst>
                  <a:gd name="T0" fmla="+- 0 6283 6283"/>
                  <a:gd name="T1" fmla="*/ T0 w 132"/>
                  <a:gd name="T2" fmla="+- 0 -713 -780"/>
                  <a:gd name="T3" fmla="*/ -713 h 130"/>
                  <a:gd name="T4" fmla="+- 0 6290 6283"/>
                  <a:gd name="T5" fmla="*/ T4 w 132"/>
                  <a:gd name="T6" fmla="+- 0 -687 -780"/>
                  <a:gd name="T7" fmla="*/ -687 h 130"/>
                  <a:gd name="T8" fmla="+- 0 6310 6283"/>
                  <a:gd name="T9" fmla="*/ T8 w 132"/>
                  <a:gd name="T10" fmla="+- 0 -663 -780"/>
                  <a:gd name="T11" fmla="*/ -663 h 130"/>
                  <a:gd name="T12" fmla="+- 0 6336 6283"/>
                  <a:gd name="T13" fmla="*/ T12 w 132"/>
                  <a:gd name="T14" fmla="+- 0 -651 -780"/>
                  <a:gd name="T15" fmla="*/ -651 h 130"/>
                  <a:gd name="T16" fmla="+- 0 6365 6283"/>
                  <a:gd name="T17" fmla="*/ T16 w 132"/>
                  <a:gd name="T18" fmla="+- 0 -651 -780"/>
                  <a:gd name="T19" fmla="*/ -651 h 130"/>
                  <a:gd name="T20" fmla="+- 0 6389 6283"/>
                  <a:gd name="T21" fmla="*/ T20 w 132"/>
                  <a:gd name="T22" fmla="+- 0 -663 -780"/>
                  <a:gd name="T23" fmla="*/ -663 h 130"/>
                  <a:gd name="T24" fmla="+- 0 6408 6283"/>
                  <a:gd name="T25" fmla="*/ T24 w 132"/>
                  <a:gd name="T26" fmla="+- 0 -687 -780"/>
                  <a:gd name="T27" fmla="*/ -687 h 130"/>
                  <a:gd name="T28" fmla="+- 0 6415 6283"/>
                  <a:gd name="T29" fmla="*/ T28 w 132"/>
                  <a:gd name="T30" fmla="+- 0 -713 -780"/>
                  <a:gd name="T31" fmla="*/ -713 h 130"/>
                  <a:gd name="T32" fmla="+- 0 6408 6283"/>
                  <a:gd name="T33" fmla="*/ T32 w 132"/>
                  <a:gd name="T34" fmla="+- 0 -742 -780"/>
                  <a:gd name="T35" fmla="*/ -742 h 130"/>
                  <a:gd name="T36" fmla="+- 0 6389 6283"/>
                  <a:gd name="T37" fmla="*/ T36 w 132"/>
                  <a:gd name="T38" fmla="+- 0 -764 -780"/>
                  <a:gd name="T39" fmla="*/ -764 h 130"/>
                  <a:gd name="T40" fmla="+- 0 6365 6283"/>
                  <a:gd name="T41" fmla="*/ T40 w 132"/>
                  <a:gd name="T42" fmla="+- 0 -780 -780"/>
                  <a:gd name="T43" fmla="*/ -780 h 130"/>
                  <a:gd name="T44" fmla="+- 0 6336 6283"/>
                  <a:gd name="T45" fmla="*/ T44 w 132"/>
                  <a:gd name="T46" fmla="+- 0 -780 -780"/>
                  <a:gd name="T47" fmla="*/ -780 h 130"/>
                  <a:gd name="T48" fmla="+- 0 6310 6283"/>
                  <a:gd name="T49" fmla="*/ T48 w 132"/>
                  <a:gd name="T50" fmla="+- 0 -764 -780"/>
                  <a:gd name="T51" fmla="*/ -764 h 130"/>
                  <a:gd name="T52" fmla="+- 0 6290 6283"/>
                  <a:gd name="T53" fmla="*/ T52 w 132"/>
                  <a:gd name="T54" fmla="+- 0 -742 -780"/>
                  <a:gd name="T55" fmla="*/ -742 h 130"/>
                  <a:gd name="T56" fmla="+- 0 6283 6283"/>
                  <a:gd name="T57" fmla="*/ T56 w 132"/>
                  <a:gd name="T58" fmla="+- 0 -713 -780"/>
                  <a:gd name="T59" fmla="*/ -713 h 13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30">
                    <a:moveTo>
                      <a:pt x="0" y="67"/>
                    </a:moveTo>
                    <a:lnTo>
                      <a:pt x="7" y="93"/>
                    </a:lnTo>
                    <a:lnTo>
                      <a:pt x="27" y="117"/>
                    </a:lnTo>
                    <a:lnTo>
                      <a:pt x="53" y="129"/>
                    </a:lnTo>
                    <a:lnTo>
                      <a:pt x="82" y="129"/>
                    </a:lnTo>
                    <a:lnTo>
                      <a:pt x="106" y="117"/>
                    </a:lnTo>
                    <a:lnTo>
                      <a:pt x="125" y="93"/>
                    </a:lnTo>
                    <a:lnTo>
                      <a:pt x="132" y="67"/>
                    </a:lnTo>
                    <a:lnTo>
                      <a:pt x="125" y="38"/>
                    </a:lnTo>
                    <a:lnTo>
                      <a:pt x="106" y="16"/>
                    </a:lnTo>
                    <a:lnTo>
                      <a:pt x="82" y="0"/>
                    </a:lnTo>
                    <a:lnTo>
                      <a:pt x="53" y="0"/>
                    </a:lnTo>
                    <a:lnTo>
                      <a:pt x="27" y="16"/>
                    </a:lnTo>
                    <a:lnTo>
                      <a:pt x="7" y="38"/>
                    </a:lnTo>
                    <a:lnTo>
                      <a:pt x="0"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
              <p:cNvSpPr>
                <a:spLocks/>
              </p:cNvSpPr>
              <p:nvPr/>
            </p:nvSpPr>
            <p:spPr bwMode="auto">
              <a:xfrm>
                <a:off x="6283" y="-780"/>
                <a:ext cx="132" cy="130"/>
              </a:xfrm>
              <a:custGeom>
                <a:avLst/>
                <a:gdLst>
                  <a:gd name="T0" fmla="+- 0 6283 6283"/>
                  <a:gd name="T1" fmla="*/ T0 w 132"/>
                  <a:gd name="T2" fmla="+- 0 -713 -780"/>
                  <a:gd name="T3" fmla="*/ -713 h 130"/>
                  <a:gd name="T4" fmla="+- 0 6290 6283"/>
                  <a:gd name="T5" fmla="*/ T4 w 132"/>
                  <a:gd name="T6" fmla="+- 0 -742 -780"/>
                  <a:gd name="T7" fmla="*/ -742 h 130"/>
                  <a:gd name="T8" fmla="+- 0 6310 6283"/>
                  <a:gd name="T9" fmla="*/ T8 w 132"/>
                  <a:gd name="T10" fmla="+- 0 -764 -780"/>
                  <a:gd name="T11" fmla="*/ -764 h 130"/>
                  <a:gd name="T12" fmla="+- 0 6336 6283"/>
                  <a:gd name="T13" fmla="*/ T12 w 132"/>
                  <a:gd name="T14" fmla="+- 0 -780 -780"/>
                  <a:gd name="T15" fmla="*/ -780 h 130"/>
                  <a:gd name="T16" fmla="+- 0 6365 6283"/>
                  <a:gd name="T17" fmla="*/ T16 w 132"/>
                  <a:gd name="T18" fmla="+- 0 -780 -780"/>
                  <a:gd name="T19" fmla="*/ -780 h 130"/>
                  <a:gd name="T20" fmla="+- 0 6389 6283"/>
                  <a:gd name="T21" fmla="*/ T20 w 132"/>
                  <a:gd name="T22" fmla="+- 0 -764 -780"/>
                  <a:gd name="T23" fmla="*/ -764 h 130"/>
                  <a:gd name="T24" fmla="+- 0 6408 6283"/>
                  <a:gd name="T25" fmla="*/ T24 w 132"/>
                  <a:gd name="T26" fmla="+- 0 -742 -780"/>
                  <a:gd name="T27" fmla="*/ -742 h 130"/>
                  <a:gd name="T28" fmla="+- 0 6415 6283"/>
                  <a:gd name="T29" fmla="*/ T28 w 132"/>
                  <a:gd name="T30" fmla="+- 0 -713 -780"/>
                  <a:gd name="T31" fmla="*/ -713 h 130"/>
                  <a:gd name="T32" fmla="+- 0 6408 6283"/>
                  <a:gd name="T33" fmla="*/ T32 w 132"/>
                  <a:gd name="T34" fmla="+- 0 -687 -780"/>
                  <a:gd name="T35" fmla="*/ -687 h 130"/>
                  <a:gd name="T36" fmla="+- 0 6389 6283"/>
                  <a:gd name="T37" fmla="*/ T36 w 132"/>
                  <a:gd name="T38" fmla="+- 0 -663 -780"/>
                  <a:gd name="T39" fmla="*/ -663 h 130"/>
                  <a:gd name="T40" fmla="+- 0 6365 6283"/>
                  <a:gd name="T41" fmla="*/ T40 w 132"/>
                  <a:gd name="T42" fmla="+- 0 -651 -780"/>
                  <a:gd name="T43" fmla="*/ -651 h 130"/>
                  <a:gd name="T44" fmla="+- 0 6336 6283"/>
                  <a:gd name="T45" fmla="*/ T44 w 132"/>
                  <a:gd name="T46" fmla="+- 0 -651 -780"/>
                  <a:gd name="T47" fmla="*/ -651 h 130"/>
                  <a:gd name="T48" fmla="+- 0 6310 6283"/>
                  <a:gd name="T49" fmla="*/ T48 w 132"/>
                  <a:gd name="T50" fmla="+- 0 -663 -780"/>
                  <a:gd name="T51" fmla="*/ -663 h 130"/>
                  <a:gd name="T52" fmla="+- 0 6290 6283"/>
                  <a:gd name="T53" fmla="*/ T52 w 132"/>
                  <a:gd name="T54" fmla="+- 0 -687 -780"/>
                  <a:gd name="T55" fmla="*/ -687 h 130"/>
                  <a:gd name="T56" fmla="+- 0 6283 6283"/>
                  <a:gd name="T57" fmla="*/ T56 w 132"/>
                  <a:gd name="T58" fmla="+- 0 -713 -780"/>
                  <a:gd name="T59" fmla="*/ -713 h 13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32" h="130">
                    <a:moveTo>
                      <a:pt x="0" y="67"/>
                    </a:moveTo>
                    <a:lnTo>
                      <a:pt x="7" y="38"/>
                    </a:lnTo>
                    <a:lnTo>
                      <a:pt x="27" y="16"/>
                    </a:lnTo>
                    <a:lnTo>
                      <a:pt x="53" y="0"/>
                    </a:lnTo>
                    <a:lnTo>
                      <a:pt x="82" y="0"/>
                    </a:lnTo>
                    <a:lnTo>
                      <a:pt x="106" y="16"/>
                    </a:lnTo>
                    <a:lnTo>
                      <a:pt x="125" y="38"/>
                    </a:lnTo>
                    <a:lnTo>
                      <a:pt x="132" y="67"/>
                    </a:lnTo>
                    <a:lnTo>
                      <a:pt x="125" y="93"/>
                    </a:lnTo>
                    <a:lnTo>
                      <a:pt x="106" y="117"/>
                    </a:lnTo>
                    <a:lnTo>
                      <a:pt x="82" y="129"/>
                    </a:lnTo>
                    <a:lnTo>
                      <a:pt x="53" y="129"/>
                    </a:lnTo>
                    <a:lnTo>
                      <a:pt x="27" y="117"/>
                    </a:lnTo>
                    <a:lnTo>
                      <a:pt x="7" y="93"/>
                    </a:lnTo>
                    <a:lnTo>
                      <a:pt x="0" y="67"/>
                    </a:lnTo>
                    <a:close/>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p:cNvSpPr>
                <a:spLocks/>
              </p:cNvSpPr>
              <p:nvPr/>
            </p:nvSpPr>
            <p:spPr bwMode="auto">
              <a:xfrm>
                <a:off x="7454" y="816"/>
                <a:ext cx="432" cy="0"/>
              </a:xfrm>
              <a:custGeom>
                <a:avLst/>
                <a:gdLst>
                  <a:gd name="T0" fmla="+- 0 6134 6134"/>
                  <a:gd name="T1" fmla="*/ T0 w 432"/>
                  <a:gd name="T2" fmla="+- 0 6566 6134"/>
                  <a:gd name="T3" fmla="*/ T2 w 432"/>
                </a:gdLst>
                <a:ahLst/>
                <a:cxnLst>
                  <a:cxn ang="0">
                    <a:pos x="T1" y="0"/>
                  </a:cxn>
                  <a:cxn ang="0">
                    <a:pos x="T3" y="0"/>
                  </a:cxn>
                </a:cxnLst>
                <a:rect l="0" t="0" r="r" b="b"/>
                <a:pathLst>
                  <a:path w="432">
                    <a:moveTo>
                      <a:pt x="0" y="0"/>
                    </a:moveTo>
                    <a:lnTo>
                      <a:pt x="432"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16"/>
              <p:cNvSpPr>
                <a:spLocks/>
              </p:cNvSpPr>
              <p:nvPr/>
            </p:nvSpPr>
            <p:spPr bwMode="auto">
              <a:xfrm>
                <a:off x="7461" y="-498"/>
                <a:ext cx="432" cy="0"/>
              </a:xfrm>
              <a:custGeom>
                <a:avLst/>
                <a:gdLst>
                  <a:gd name="T0" fmla="+- 0 6134 6134"/>
                  <a:gd name="T1" fmla="*/ T0 w 432"/>
                  <a:gd name="T2" fmla="+- 0 6566 6134"/>
                  <a:gd name="T3" fmla="*/ T2 w 432"/>
                </a:gdLst>
                <a:ahLst/>
                <a:cxnLst>
                  <a:cxn ang="0">
                    <a:pos x="T1" y="0"/>
                  </a:cxn>
                  <a:cxn ang="0">
                    <a:pos x="T3" y="0"/>
                  </a:cxn>
                </a:cxnLst>
                <a:rect l="0" t="0" r="r" b="b"/>
                <a:pathLst>
                  <a:path w="432">
                    <a:moveTo>
                      <a:pt x="0" y="0"/>
                    </a:moveTo>
                    <a:lnTo>
                      <a:pt x="432" y="0"/>
                    </a:lnTo>
                  </a:path>
                </a:pathLst>
              </a:custGeom>
              <a:noFill/>
              <a:ln w="1371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75" name="TextBox 74"/>
            <p:cNvSpPr txBox="1"/>
            <p:nvPr/>
          </p:nvSpPr>
          <p:spPr>
            <a:xfrm>
              <a:off x="7805196" y="2545383"/>
              <a:ext cx="926857" cy="369332"/>
            </a:xfrm>
            <a:prstGeom prst="rect">
              <a:avLst/>
            </a:prstGeom>
            <a:noFill/>
          </p:spPr>
          <p:txBody>
            <a:bodyPr wrap="none" rtlCol="0">
              <a:spAutoFit/>
            </a:bodyPr>
            <a:lstStyle/>
            <a:p>
              <a:r>
                <a:rPr lang="en-US" smtClean="0"/>
                <a:t>P(</a:t>
              </a:r>
              <a:r>
                <a:rPr lang="en-US" smtClean="0">
                  <a:latin typeface="Arial" panose="020B0604020202020204" pitchFamily="34" charset="0"/>
                  <a:cs typeface="Arial" panose="020B0604020202020204" pitchFamily="34" charset="0"/>
                </a:rPr>
                <a:t>x</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,y</a:t>
              </a:r>
              <a:r>
                <a:rPr lang="en-US" baseline="-25000" smtClean="0">
                  <a:latin typeface="Arial" panose="020B0604020202020204" pitchFamily="34" charset="0"/>
                  <a:cs typeface="Arial" panose="020B0604020202020204" pitchFamily="34" charset="0"/>
                </a:rPr>
                <a:t>p</a:t>
              </a:r>
              <a:r>
                <a:rPr lang="en-US" smtClean="0">
                  <a:latin typeface="Arial" panose="020B0604020202020204" pitchFamily="34" charset="0"/>
                  <a:cs typeface="Arial" panose="020B0604020202020204" pitchFamily="34" charset="0"/>
                </a:rPr>
                <a:t>)</a:t>
              </a:r>
              <a:endParaRPr lang="en-US"/>
            </a:p>
          </p:txBody>
        </p:sp>
        <p:sp>
          <p:nvSpPr>
            <p:cNvPr id="76" name="TextBox 75"/>
            <p:cNvSpPr txBox="1"/>
            <p:nvPr/>
          </p:nvSpPr>
          <p:spPr>
            <a:xfrm>
              <a:off x="9159227" y="2643998"/>
              <a:ext cx="311304" cy="369332"/>
            </a:xfrm>
            <a:prstGeom prst="rect">
              <a:avLst/>
            </a:prstGeom>
            <a:noFill/>
          </p:spPr>
          <p:txBody>
            <a:bodyPr wrap="none" rtlCol="0">
              <a:spAutoFit/>
            </a:bodyPr>
            <a:lstStyle/>
            <a:p>
              <a:r>
                <a:rPr lang="en-US"/>
                <a:t>E</a:t>
              </a:r>
            </a:p>
          </p:txBody>
        </p:sp>
        <p:sp>
          <p:nvSpPr>
            <p:cNvPr id="77" name="TextBox 76"/>
            <p:cNvSpPr txBox="1"/>
            <p:nvPr/>
          </p:nvSpPr>
          <p:spPr>
            <a:xfrm>
              <a:off x="9192332" y="3986348"/>
              <a:ext cx="437940" cy="369332"/>
            </a:xfrm>
            <a:prstGeom prst="rect">
              <a:avLst/>
            </a:prstGeom>
            <a:noFill/>
          </p:spPr>
          <p:txBody>
            <a:bodyPr wrap="none" rtlCol="0">
              <a:spAutoFit/>
            </a:bodyPr>
            <a:lstStyle/>
            <a:p>
              <a:r>
                <a:rPr lang="en-US" smtClean="0"/>
                <a:t>SE</a:t>
              </a:r>
              <a:endParaRPr lang="en-US"/>
            </a:p>
          </p:txBody>
        </p:sp>
        <p:sp>
          <p:nvSpPr>
            <p:cNvPr id="78" name="TextBox 77"/>
            <p:cNvSpPr txBox="1"/>
            <p:nvPr/>
          </p:nvSpPr>
          <p:spPr>
            <a:xfrm>
              <a:off x="8755553" y="3363613"/>
              <a:ext cx="373820" cy="369332"/>
            </a:xfrm>
            <a:prstGeom prst="rect">
              <a:avLst/>
            </a:prstGeom>
            <a:noFill/>
          </p:spPr>
          <p:txBody>
            <a:bodyPr wrap="none" rtlCol="0">
              <a:spAutoFit/>
            </a:bodyPr>
            <a:lstStyle/>
            <a:p>
              <a:r>
                <a:rPr lang="en-US" smtClean="0"/>
                <a:t>M</a:t>
              </a:r>
              <a:endParaRPr lang="en-US"/>
            </a:p>
          </p:txBody>
        </p:sp>
        <p:sp>
          <p:nvSpPr>
            <p:cNvPr id="81" name="TextBox 80"/>
            <p:cNvSpPr txBox="1"/>
            <p:nvPr/>
          </p:nvSpPr>
          <p:spPr>
            <a:xfrm>
              <a:off x="10167860" y="3285181"/>
              <a:ext cx="458780" cy="369332"/>
            </a:xfrm>
            <a:prstGeom prst="rect">
              <a:avLst/>
            </a:prstGeom>
            <a:noFill/>
          </p:spPr>
          <p:txBody>
            <a:bodyPr wrap="none" rtlCol="0">
              <a:spAutoFit/>
            </a:bodyPr>
            <a:lstStyle/>
            <a:p>
              <a:r>
                <a:rPr lang="en-US" smtClean="0"/>
                <a:t>M</a:t>
              </a:r>
              <a:r>
                <a:rPr lang="en-US" baseline="-25000" smtClean="0"/>
                <a:t>E</a:t>
              </a:r>
              <a:endParaRPr lang="en-US"/>
            </a:p>
          </p:txBody>
        </p:sp>
        <p:sp>
          <p:nvSpPr>
            <p:cNvPr id="82" name="TextBox 81"/>
            <p:cNvSpPr txBox="1"/>
            <p:nvPr/>
          </p:nvSpPr>
          <p:spPr>
            <a:xfrm>
              <a:off x="9960712" y="4272034"/>
              <a:ext cx="543739" cy="369332"/>
            </a:xfrm>
            <a:prstGeom prst="rect">
              <a:avLst/>
            </a:prstGeom>
            <a:noFill/>
          </p:spPr>
          <p:txBody>
            <a:bodyPr wrap="none" rtlCol="0">
              <a:spAutoFit/>
            </a:bodyPr>
            <a:lstStyle/>
            <a:p>
              <a:r>
                <a:rPr lang="en-US" smtClean="0"/>
                <a:t>M</a:t>
              </a:r>
              <a:r>
                <a:rPr lang="en-US" baseline="-25000" smtClean="0"/>
                <a:t>SE</a:t>
              </a:r>
              <a:endParaRPr lang="en-US"/>
            </a:p>
          </p:txBody>
        </p:sp>
      </p:grpSp>
    </p:spTree>
    <p:extLst>
      <p:ext uri="{BB962C8B-B14F-4D97-AF65-F5344CB8AC3E}">
        <p14:creationId xmlns:p14="http://schemas.microsoft.com/office/powerpoint/2010/main" val="121425048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823855" y="1380068"/>
            <a:ext cx="7679168" cy="2616199"/>
          </a:xfrm>
        </p:spPr>
        <p:txBody>
          <a:bodyPr/>
          <a:lstStyle/>
          <a:p>
            <a:r>
              <a:rPr lang="en-US"/>
              <a:t>T</a:t>
            </a:r>
            <a:r>
              <a:rPr lang="en-US" smtClean="0"/>
              <a:t>huật toán Vanaken </a:t>
            </a:r>
            <a:r>
              <a:rPr lang="en-US"/>
              <a:t>vẽ </a:t>
            </a:r>
            <a:r>
              <a:rPr lang="en-US" smtClean="0"/>
              <a:t>elipse</a:t>
            </a:r>
            <a:endParaRPr lang="en-US"/>
          </a:p>
        </p:txBody>
      </p:sp>
      <p:sp>
        <p:nvSpPr>
          <p:cNvPr id="7" name="Subtitle 6"/>
          <p:cNvSpPr>
            <a:spLocks noGrp="1"/>
          </p:cNvSpPr>
          <p:nvPr>
            <p:ph type="subTitle" idx="1"/>
          </p:nvPr>
        </p:nvSpPr>
        <p:spPr/>
        <p:txBody>
          <a:bodyPr/>
          <a:lstStyle/>
          <a:p>
            <a:endParaRPr lang="en-US"/>
          </a:p>
        </p:txBody>
      </p:sp>
      <p:sp>
        <p:nvSpPr>
          <p:cNvPr id="3" name="Slide Number Placeholder 2"/>
          <p:cNvSpPr>
            <a:spLocks noGrp="1"/>
          </p:cNvSpPr>
          <p:nvPr>
            <p:ph type="sldNum" sz="quarter" idx="12"/>
          </p:nvPr>
        </p:nvSpPr>
        <p:spPr/>
        <p:txBody>
          <a:bodyPr/>
          <a:lstStyle/>
          <a:p>
            <a:fld id="{EAC668D0-FFF1-47C5-8061-FF1B22C34E7B}" type="slidenum">
              <a:rPr lang="en-US" smtClean="0"/>
              <a:t>37</a:t>
            </a:fld>
            <a:endParaRPr lang="en-US"/>
          </a:p>
        </p:txBody>
      </p:sp>
    </p:spTree>
    <p:extLst>
      <p:ext uri="{BB962C8B-B14F-4D97-AF65-F5344CB8AC3E}">
        <p14:creationId xmlns:p14="http://schemas.microsoft.com/office/powerpoint/2010/main" val="23352912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43250" y="4076700"/>
            <a:ext cx="6048756" cy="1944624"/>
          </a:xfrm>
          <a:prstGeom prst="rect">
            <a:avLst/>
          </a:prstGeom>
        </p:spPr>
      </p:pic>
      <p:sp>
        <p:nvSpPr>
          <p:cNvPr id="3" name="object 3"/>
          <p:cNvSpPr txBox="1">
            <a:spLocks noGrp="1"/>
          </p:cNvSpPr>
          <p:nvPr>
            <p:ph type="title"/>
          </p:nvPr>
        </p:nvSpPr>
        <p:spPr>
          <a:xfrm>
            <a:off x="2177541" y="880363"/>
            <a:ext cx="7260590" cy="604520"/>
          </a:xfrm>
          <a:prstGeom prst="rect">
            <a:avLst/>
          </a:prstGeom>
        </p:spPr>
        <p:txBody>
          <a:bodyPr vert="horz" wrap="square" lIns="0" tIns="12065" rIns="0" bIns="0" rtlCol="0" anchor="ctr">
            <a:spAutoFit/>
          </a:bodyPr>
          <a:lstStyle/>
          <a:p>
            <a:pPr marL="12700">
              <a:spcBef>
                <a:spcPts val="95"/>
              </a:spcBef>
            </a:pPr>
            <a:r>
              <a:rPr sz="3800" spc="-10" dirty="0">
                <a:latin typeface="Verdana"/>
                <a:cs typeface="Verdana"/>
              </a:rPr>
              <a:t>Thuật</a:t>
            </a:r>
            <a:r>
              <a:rPr sz="3800" spc="-15" dirty="0">
                <a:latin typeface="Verdana"/>
                <a:cs typeface="Verdana"/>
              </a:rPr>
              <a:t> </a:t>
            </a:r>
            <a:r>
              <a:rPr sz="3800" spc="-5" dirty="0">
                <a:latin typeface="Verdana"/>
                <a:cs typeface="Verdana"/>
              </a:rPr>
              <a:t>toán </a:t>
            </a:r>
            <a:r>
              <a:rPr sz="3800" spc="-10" dirty="0">
                <a:latin typeface="Verdana"/>
                <a:cs typeface="Verdana"/>
              </a:rPr>
              <a:t>trung</a:t>
            </a:r>
            <a:r>
              <a:rPr sz="3800" spc="-5" dirty="0">
                <a:latin typeface="Verdana"/>
                <a:cs typeface="Verdana"/>
              </a:rPr>
              <a:t> điểm vẽ elip</a:t>
            </a:r>
            <a:endParaRPr sz="3800">
              <a:latin typeface="Verdana"/>
              <a:cs typeface="Verdana"/>
            </a:endParaRPr>
          </a:p>
        </p:txBody>
      </p:sp>
      <p:sp>
        <p:nvSpPr>
          <p:cNvPr id="4" name="object 4"/>
          <p:cNvSpPr txBox="1"/>
          <p:nvPr/>
        </p:nvSpPr>
        <p:spPr>
          <a:xfrm>
            <a:off x="2144013" y="1716836"/>
            <a:ext cx="7029450" cy="2239010"/>
          </a:xfrm>
          <a:prstGeom prst="rect">
            <a:avLst/>
          </a:prstGeom>
        </p:spPr>
        <p:txBody>
          <a:bodyPr vert="horz" wrap="square" lIns="0" tIns="12700" rIns="0" bIns="0" rtlCol="0">
            <a:spAutoFit/>
          </a:bodyPr>
          <a:lstStyle/>
          <a:p>
            <a:pPr marL="342900" marR="1151255" indent="-342900">
              <a:lnSpc>
                <a:spcPct val="120000"/>
              </a:lnSpc>
              <a:spcBef>
                <a:spcPts val="100"/>
              </a:spcBef>
              <a:buClr>
                <a:schemeClr val="accent1">
                  <a:lumMod val="75000"/>
                </a:schemeClr>
              </a:buClr>
              <a:buSzPct val="150000"/>
              <a:buFont typeface="Arial" panose="020B0604020202020204" pitchFamily="34" charset="0"/>
              <a:buChar char="•"/>
              <a:tabLst>
                <a:tab pos="381635" algn="l"/>
              </a:tabLst>
            </a:pPr>
            <a:r>
              <a:rPr sz="2200" spc="-5" dirty="0">
                <a:latin typeface="Verdana"/>
                <a:cs typeface="Verdana"/>
              </a:rPr>
              <a:t>Phương trình </a:t>
            </a:r>
            <a:r>
              <a:rPr sz="2200" dirty="0">
                <a:latin typeface="Verdana"/>
                <a:cs typeface="Verdana"/>
              </a:rPr>
              <a:t>elip có tâm </a:t>
            </a:r>
            <a:r>
              <a:rPr sz="2200" spc="-5" dirty="0">
                <a:latin typeface="Verdana"/>
                <a:cs typeface="Verdana"/>
              </a:rPr>
              <a:t>tại gốc tọa độ </a:t>
            </a:r>
            <a:r>
              <a:rPr sz="2200" spc="-760" dirty="0">
                <a:latin typeface="Verdana"/>
                <a:cs typeface="Verdana"/>
              </a:rPr>
              <a:t> </a:t>
            </a:r>
            <a:r>
              <a:rPr sz="2200" dirty="0">
                <a:latin typeface="Verdana"/>
                <a:cs typeface="Verdana"/>
              </a:rPr>
              <a:t>F(x,y)=b</a:t>
            </a:r>
            <a:r>
              <a:rPr sz="2175" baseline="24904" dirty="0">
                <a:latin typeface="Verdana"/>
                <a:cs typeface="Verdana"/>
              </a:rPr>
              <a:t>2</a:t>
            </a:r>
            <a:r>
              <a:rPr sz="2200" dirty="0">
                <a:latin typeface="Verdana"/>
                <a:cs typeface="Verdana"/>
              </a:rPr>
              <a:t>x</a:t>
            </a:r>
            <a:r>
              <a:rPr sz="2175" baseline="24904" dirty="0">
                <a:latin typeface="Verdana"/>
                <a:cs typeface="Verdana"/>
              </a:rPr>
              <a:t>2</a:t>
            </a:r>
            <a:r>
              <a:rPr sz="2175" spc="-15" baseline="24904" dirty="0">
                <a:latin typeface="Verdana"/>
                <a:cs typeface="Verdana"/>
              </a:rPr>
              <a:t> </a:t>
            </a:r>
            <a:r>
              <a:rPr sz="2200" dirty="0">
                <a:latin typeface="Verdana"/>
                <a:cs typeface="Verdana"/>
              </a:rPr>
              <a:t>+</a:t>
            </a:r>
            <a:r>
              <a:rPr sz="2200" spc="-10" dirty="0">
                <a:latin typeface="Verdana"/>
                <a:cs typeface="Verdana"/>
              </a:rPr>
              <a:t> </a:t>
            </a:r>
            <a:r>
              <a:rPr sz="2200" dirty="0">
                <a:latin typeface="Verdana"/>
                <a:cs typeface="Verdana"/>
              </a:rPr>
              <a:t>a</a:t>
            </a:r>
            <a:r>
              <a:rPr sz="2175" baseline="24904" dirty="0">
                <a:latin typeface="Verdana"/>
                <a:cs typeface="Verdana"/>
              </a:rPr>
              <a:t>2</a:t>
            </a:r>
            <a:r>
              <a:rPr sz="2200" dirty="0">
                <a:latin typeface="Verdana"/>
                <a:cs typeface="Verdana"/>
              </a:rPr>
              <a:t>y</a:t>
            </a:r>
            <a:r>
              <a:rPr sz="2175" baseline="24904" dirty="0">
                <a:latin typeface="Verdana"/>
                <a:cs typeface="Verdana"/>
              </a:rPr>
              <a:t>2</a:t>
            </a:r>
            <a:r>
              <a:rPr sz="2175" spc="30" baseline="24904" dirty="0">
                <a:latin typeface="Verdana"/>
                <a:cs typeface="Verdana"/>
              </a:rPr>
              <a:t> </a:t>
            </a:r>
            <a:r>
              <a:rPr sz="2200" dirty="0">
                <a:latin typeface="Verdana"/>
                <a:cs typeface="Verdana"/>
              </a:rPr>
              <a:t>-</a:t>
            </a:r>
            <a:r>
              <a:rPr sz="2200" spc="-5" dirty="0">
                <a:latin typeface="Verdana"/>
                <a:cs typeface="Verdana"/>
              </a:rPr>
              <a:t> a</a:t>
            </a:r>
            <a:r>
              <a:rPr sz="2175" spc="-7" baseline="24904" dirty="0">
                <a:latin typeface="Verdana"/>
                <a:cs typeface="Verdana"/>
              </a:rPr>
              <a:t>2</a:t>
            </a:r>
            <a:r>
              <a:rPr sz="2200" spc="-5" dirty="0">
                <a:latin typeface="Verdana"/>
                <a:cs typeface="Verdana"/>
              </a:rPr>
              <a:t>b</a:t>
            </a:r>
            <a:r>
              <a:rPr sz="2175" spc="-7" baseline="24904" dirty="0">
                <a:latin typeface="Verdana"/>
                <a:cs typeface="Verdana"/>
              </a:rPr>
              <a:t>2</a:t>
            </a:r>
            <a:r>
              <a:rPr sz="2200" spc="-5" dirty="0">
                <a:latin typeface="Verdana"/>
                <a:cs typeface="Verdana"/>
              </a:rPr>
              <a:t>=0</a:t>
            </a:r>
            <a:endParaRPr sz="2200">
              <a:latin typeface="Verdana"/>
              <a:cs typeface="Verdana"/>
            </a:endParaRPr>
          </a:p>
          <a:p>
            <a:pPr marL="380365" marR="191135" indent="-342900">
              <a:spcBef>
                <a:spcPts val="525"/>
              </a:spcBef>
              <a:buClr>
                <a:schemeClr val="accent1">
                  <a:lumMod val="75000"/>
                </a:schemeClr>
              </a:buClr>
              <a:buSzPct val="150000"/>
              <a:buFont typeface="Arial" panose="020B0604020202020204" pitchFamily="34" charset="0"/>
              <a:buChar char="•"/>
              <a:tabLst>
                <a:tab pos="381635" algn="l"/>
              </a:tabLst>
            </a:pPr>
            <a:r>
              <a:rPr sz="2200" dirty="0">
                <a:latin typeface="Verdana"/>
                <a:cs typeface="Verdana"/>
              </a:rPr>
              <a:t>Áp </a:t>
            </a:r>
            <a:r>
              <a:rPr sz="2200" spc="-5" dirty="0">
                <a:latin typeface="Verdana"/>
                <a:cs typeface="Verdana"/>
              </a:rPr>
              <a:t>dụng thuật toán trung điểm </a:t>
            </a:r>
            <a:r>
              <a:rPr sz="2200" dirty="0">
                <a:latin typeface="Verdana"/>
                <a:cs typeface="Verdana"/>
              </a:rPr>
              <a:t>vẽ </a:t>
            </a:r>
            <a:r>
              <a:rPr sz="2200" spc="-5" dirty="0">
                <a:latin typeface="Verdana"/>
                <a:cs typeface="Verdana"/>
              </a:rPr>
              <a:t>đường tròn </a:t>
            </a:r>
            <a:r>
              <a:rPr sz="2200" spc="-760" dirty="0">
                <a:latin typeface="Verdana"/>
                <a:cs typeface="Verdana"/>
              </a:rPr>
              <a:t> </a:t>
            </a:r>
            <a:r>
              <a:rPr sz="2200" spc="-5" dirty="0">
                <a:latin typeface="Verdana"/>
                <a:cs typeface="Verdana"/>
              </a:rPr>
              <a:t>để </a:t>
            </a:r>
            <a:r>
              <a:rPr sz="2200" dirty="0">
                <a:latin typeface="Verdana"/>
                <a:cs typeface="Verdana"/>
              </a:rPr>
              <a:t>vẽ elip</a:t>
            </a:r>
            <a:endParaRPr sz="2200">
              <a:latin typeface="Verdana"/>
              <a:cs typeface="Verdana"/>
            </a:endParaRPr>
          </a:p>
          <a:p>
            <a:pPr marL="838200" marR="30480" lvl="1" indent="-342900">
              <a:spcBef>
                <a:spcPts val="484"/>
              </a:spcBef>
              <a:buClr>
                <a:schemeClr val="accent1">
                  <a:lumMod val="75000"/>
                </a:schemeClr>
              </a:buClr>
              <a:buSzPct val="150000"/>
              <a:buFont typeface="Arial" panose="020B0604020202020204" pitchFamily="34" charset="0"/>
              <a:buChar char="•"/>
              <a:tabLst>
                <a:tab pos="781685" algn="l"/>
              </a:tabLst>
            </a:pPr>
            <a:r>
              <a:rPr sz="2000" spc="-5" dirty="0">
                <a:latin typeface="Verdana"/>
                <a:cs typeface="Verdana"/>
              </a:rPr>
              <a:t>Tính</a:t>
            </a:r>
            <a:r>
              <a:rPr sz="2000" spc="-10" dirty="0">
                <a:latin typeface="Verdana"/>
                <a:cs typeface="Verdana"/>
              </a:rPr>
              <a:t> </a:t>
            </a:r>
            <a:r>
              <a:rPr sz="2000" spc="-5" dirty="0">
                <a:latin typeface="Verdana"/>
                <a:cs typeface="Verdana"/>
              </a:rPr>
              <a:t>đối</a:t>
            </a:r>
            <a:r>
              <a:rPr sz="2000" dirty="0">
                <a:latin typeface="Verdana"/>
                <a:cs typeface="Verdana"/>
              </a:rPr>
              <a:t> </a:t>
            </a:r>
            <a:r>
              <a:rPr sz="2000" spc="-5" dirty="0">
                <a:latin typeface="Verdana"/>
                <a:cs typeface="Verdana"/>
              </a:rPr>
              <a:t>xứng</a:t>
            </a:r>
            <a:r>
              <a:rPr sz="2000" dirty="0">
                <a:latin typeface="Verdana"/>
                <a:cs typeface="Verdana"/>
              </a:rPr>
              <a:t> </a:t>
            </a:r>
            <a:r>
              <a:rPr sz="2000" spc="-5" dirty="0">
                <a:latin typeface="Verdana"/>
                <a:cs typeface="Verdana"/>
              </a:rPr>
              <a:t>của</a:t>
            </a:r>
            <a:r>
              <a:rPr sz="2000" spc="-10" dirty="0">
                <a:latin typeface="Verdana"/>
                <a:cs typeface="Verdana"/>
              </a:rPr>
              <a:t> </a:t>
            </a:r>
            <a:r>
              <a:rPr sz="2000" spc="-5" dirty="0">
                <a:latin typeface="Verdana"/>
                <a:cs typeface="Verdana"/>
              </a:rPr>
              <a:t>elip:</a:t>
            </a:r>
            <a:r>
              <a:rPr sz="2000" spc="10" dirty="0">
                <a:latin typeface="Verdana"/>
                <a:cs typeface="Verdana"/>
              </a:rPr>
              <a:t> </a:t>
            </a:r>
            <a:r>
              <a:rPr sz="2000" spc="-5" dirty="0">
                <a:latin typeface="Verdana"/>
                <a:cs typeface="Verdana"/>
              </a:rPr>
              <a:t>khi</a:t>
            </a:r>
            <a:r>
              <a:rPr sz="2000" dirty="0">
                <a:latin typeface="Verdana"/>
                <a:cs typeface="Verdana"/>
              </a:rPr>
              <a:t> </a:t>
            </a:r>
            <a:r>
              <a:rPr sz="2000" spc="-5" dirty="0">
                <a:latin typeface="Verdana"/>
                <a:cs typeface="Verdana"/>
              </a:rPr>
              <a:t>biết</a:t>
            </a:r>
            <a:r>
              <a:rPr sz="2000" dirty="0">
                <a:latin typeface="Verdana"/>
                <a:cs typeface="Verdana"/>
              </a:rPr>
              <a:t> </a:t>
            </a:r>
            <a:r>
              <a:rPr sz="2000" spc="-5" dirty="0">
                <a:latin typeface="Verdana"/>
                <a:cs typeface="Verdana"/>
              </a:rPr>
              <a:t>tọa</a:t>
            </a:r>
            <a:r>
              <a:rPr sz="2000" dirty="0">
                <a:latin typeface="Verdana"/>
                <a:cs typeface="Verdana"/>
              </a:rPr>
              <a:t> </a:t>
            </a:r>
            <a:r>
              <a:rPr sz="2000" spc="-10" dirty="0">
                <a:latin typeface="Verdana"/>
                <a:cs typeface="Verdana"/>
              </a:rPr>
              <a:t>độ</a:t>
            </a:r>
            <a:r>
              <a:rPr sz="2000" spc="-5" dirty="0">
                <a:latin typeface="Verdana"/>
                <a:cs typeface="Verdana"/>
              </a:rPr>
              <a:t> 1</a:t>
            </a:r>
            <a:r>
              <a:rPr sz="2000" dirty="0">
                <a:latin typeface="Verdana"/>
                <a:cs typeface="Verdana"/>
              </a:rPr>
              <a:t> </a:t>
            </a:r>
            <a:r>
              <a:rPr sz="2000" spc="-5" dirty="0">
                <a:latin typeface="Verdana"/>
                <a:cs typeface="Verdana"/>
              </a:rPr>
              <a:t>điểm</a:t>
            </a:r>
            <a:r>
              <a:rPr sz="2000" spc="5" dirty="0">
                <a:latin typeface="Verdana"/>
                <a:cs typeface="Verdana"/>
              </a:rPr>
              <a:t> </a:t>
            </a:r>
            <a:r>
              <a:rPr sz="2000" spc="-5" dirty="0">
                <a:latin typeface="Verdana"/>
                <a:cs typeface="Verdana"/>
              </a:rPr>
              <a:t>có </a:t>
            </a:r>
            <a:r>
              <a:rPr sz="2000" spc="-685" dirty="0">
                <a:latin typeface="Verdana"/>
                <a:cs typeface="Verdana"/>
              </a:rPr>
              <a:t> </a:t>
            </a:r>
            <a:r>
              <a:rPr sz="2000" spc="-5" dirty="0">
                <a:latin typeface="Verdana"/>
                <a:cs typeface="Verdana"/>
              </a:rPr>
              <a:t>thể</a:t>
            </a:r>
            <a:r>
              <a:rPr sz="2000" spc="-15" dirty="0">
                <a:latin typeface="Verdana"/>
                <a:cs typeface="Verdana"/>
              </a:rPr>
              <a:t> </a:t>
            </a:r>
            <a:r>
              <a:rPr sz="2000" spc="-5" dirty="0">
                <a:latin typeface="Verdana"/>
                <a:cs typeface="Verdana"/>
              </a:rPr>
              <a:t>dễ</a:t>
            </a:r>
            <a:r>
              <a:rPr sz="2000" dirty="0">
                <a:latin typeface="Verdana"/>
                <a:cs typeface="Verdana"/>
              </a:rPr>
              <a:t> </a:t>
            </a:r>
            <a:r>
              <a:rPr sz="2000" spc="-5" dirty="0">
                <a:latin typeface="Verdana"/>
                <a:cs typeface="Verdana"/>
              </a:rPr>
              <a:t>dàng suy</a:t>
            </a:r>
            <a:r>
              <a:rPr sz="2000" dirty="0">
                <a:latin typeface="Verdana"/>
                <a:cs typeface="Verdana"/>
              </a:rPr>
              <a:t> </a:t>
            </a:r>
            <a:r>
              <a:rPr sz="2000" spc="-25" dirty="0">
                <a:latin typeface="Verdana"/>
                <a:cs typeface="Verdana"/>
              </a:rPr>
              <a:t>ra</a:t>
            </a:r>
            <a:r>
              <a:rPr sz="2000" spc="-15" dirty="0">
                <a:latin typeface="Verdana"/>
                <a:cs typeface="Verdana"/>
              </a:rPr>
              <a:t> </a:t>
            </a:r>
            <a:r>
              <a:rPr sz="2000" spc="-5" dirty="0">
                <a:latin typeface="Verdana"/>
                <a:cs typeface="Verdana"/>
              </a:rPr>
              <a:t>tọa</a:t>
            </a:r>
            <a:r>
              <a:rPr sz="2000" dirty="0">
                <a:latin typeface="Verdana"/>
                <a:cs typeface="Verdana"/>
              </a:rPr>
              <a:t> </a:t>
            </a:r>
            <a:r>
              <a:rPr sz="2000" spc="-10" dirty="0">
                <a:latin typeface="Verdana"/>
                <a:cs typeface="Verdana"/>
              </a:rPr>
              <a:t>độ</a:t>
            </a:r>
            <a:r>
              <a:rPr sz="2000" spc="-5" dirty="0">
                <a:latin typeface="Verdana"/>
                <a:cs typeface="Verdana"/>
              </a:rPr>
              <a:t> ba</a:t>
            </a:r>
            <a:r>
              <a:rPr sz="2000" dirty="0">
                <a:latin typeface="Verdana"/>
                <a:cs typeface="Verdana"/>
              </a:rPr>
              <a:t> </a:t>
            </a:r>
            <a:r>
              <a:rPr sz="2000" spc="-5" dirty="0">
                <a:latin typeface="Verdana"/>
                <a:cs typeface="Verdana"/>
              </a:rPr>
              <a:t>điểm</a:t>
            </a:r>
            <a:r>
              <a:rPr sz="2000" spc="10" dirty="0">
                <a:latin typeface="Verdana"/>
                <a:cs typeface="Verdana"/>
              </a:rPr>
              <a:t> </a:t>
            </a:r>
            <a:r>
              <a:rPr sz="2000" spc="-5" dirty="0">
                <a:latin typeface="Verdana"/>
                <a:cs typeface="Verdana"/>
              </a:rPr>
              <a:t>khác.</a:t>
            </a:r>
            <a:endParaRPr sz="2000">
              <a:latin typeface="Verdana"/>
              <a:cs typeface="Verdana"/>
            </a:endParaRPr>
          </a:p>
        </p:txBody>
      </p:sp>
    </p:spTree>
    <p:extLst>
      <p:ext uri="{BB962C8B-B14F-4D97-AF65-F5344CB8AC3E}">
        <p14:creationId xmlns:p14="http://schemas.microsoft.com/office/powerpoint/2010/main" val="30678994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37699" y="4851634"/>
            <a:ext cx="6853428" cy="1661922"/>
          </a:xfrm>
          <a:prstGeom prst="rect">
            <a:avLst/>
          </a:prstGeom>
        </p:spPr>
      </p:pic>
      <p:sp>
        <p:nvSpPr>
          <p:cNvPr id="3" name="object 3"/>
          <p:cNvSpPr txBox="1">
            <a:spLocks noGrp="1"/>
          </p:cNvSpPr>
          <p:nvPr>
            <p:ph type="title"/>
          </p:nvPr>
        </p:nvSpPr>
        <p:spPr>
          <a:xfrm>
            <a:off x="2177541" y="880363"/>
            <a:ext cx="7260590" cy="604520"/>
          </a:xfrm>
          <a:prstGeom prst="rect">
            <a:avLst/>
          </a:prstGeom>
        </p:spPr>
        <p:txBody>
          <a:bodyPr vert="horz" wrap="square" lIns="0" tIns="12065" rIns="0" bIns="0" rtlCol="0" anchor="ctr">
            <a:spAutoFit/>
          </a:bodyPr>
          <a:lstStyle/>
          <a:p>
            <a:pPr marL="12700">
              <a:spcBef>
                <a:spcPts val="95"/>
              </a:spcBef>
            </a:pPr>
            <a:r>
              <a:rPr sz="3800" spc="-10" dirty="0">
                <a:latin typeface="Verdana"/>
                <a:cs typeface="Verdana"/>
              </a:rPr>
              <a:t>Thuật</a:t>
            </a:r>
            <a:r>
              <a:rPr sz="3800" spc="-15" dirty="0">
                <a:latin typeface="Verdana"/>
                <a:cs typeface="Verdana"/>
              </a:rPr>
              <a:t> </a:t>
            </a:r>
            <a:r>
              <a:rPr sz="3800" spc="-5" dirty="0">
                <a:latin typeface="Verdana"/>
                <a:cs typeface="Verdana"/>
              </a:rPr>
              <a:t>toán </a:t>
            </a:r>
            <a:r>
              <a:rPr sz="3800" spc="-10" dirty="0">
                <a:latin typeface="Verdana"/>
                <a:cs typeface="Verdana"/>
              </a:rPr>
              <a:t>trung</a:t>
            </a:r>
            <a:r>
              <a:rPr sz="3800" spc="-5" dirty="0">
                <a:latin typeface="Verdana"/>
                <a:cs typeface="Verdana"/>
              </a:rPr>
              <a:t> điểm vẽ elip</a:t>
            </a:r>
            <a:endParaRPr sz="3800">
              <a:latin typeface="Verdana"/>
              <a:cs typeface="Verdana"/>
            </a:endParaRPr>
          </a:p>
        </p:txBody>
      </p:sp>
      <p:sp>
        <p:nvSpPr>
          <p:cNvPr id="4" name="object 4"/>
          <p:cNvSpPr txBox="1"/>
          <p:nvPr/>
        </p:nvSpPr>
        <p:spPr>
          <a:xfrm>
            <a:off x="2129791" y="1709092"/>
            <a:ext cx="7958455" cy="2493630"/>
          </a:xfrm>
          <a:prstGeom prst="rect">
            <a:avLst/>
          </a:prstGeom>
        </p:spPr>
        <p:txBody>
          <a:bodyPr vert="horz" wrap="square" lIns="0" tIns="107314" rIns="0" bIns="0" rtlCol="0">
            <a:spAutoFit/>
          </a:bodyPr>
          <a:lstStyle/>
          <a:p>
            <a:pPr marL="368300" indent="-342900">
              <a:spcBef>
                <a:spcPts val="844"/>
              </a:spcBef>
              <a:buClr>
                <a:schemeClr val="accent1">
                  <a:lumMod val="75000"/>
                </a:schemeClr>
              </a:buClr>
              <a:buSzPct val="150000"/>
              <a:buFont typeface="Arial" panose="020B0604020202020204" pitchFamily="34" charset="0"/>
              <a:buChar char="•"/>
              <a:tabLst>
                <a:tab pos="368300" algn="l"/>
              </a:tabLst>
            </a:pPr>
            <a:r>
              <a:rPr sz="2000" spc="-5" dirty="0">
                <a:latin typeface="Verdana"/>
                <a:cs typeface="Verdana"/>
              </a:rPr>
              <a:t>Tìm</a:t>
            </a:r>
            <a:r>
              <a:rPr sz="2000" spc="5" dirty="0">
                <a:latin typeface="Verdana"/>
                <a:cs typeface="Verdana"/>
              </a:rPr>
              <a:t> </a:t>
            </a:r>
            <a:r>
              <a:rPr sz="2000" spc="-15" dirty="0">
                <a:latin typeface="Verdana"/>
                <a:cs typeface="Verdana"/>
              </a:rPr>
              <a:t>ranh</a:t>
            </a:r>
            <a:r>
              <a:rPr sz="2000" spc="-20" dirty="0">
                <a:latin typeface="Verdana"/>
                <a:cs typeface="Verdana"/>
              </a:rPr>
              <a:t> </a:t>
            </a:r>
            <a:r>
              <a:rPr sz="2000" spc="-5" dirty="0">
                <a:latin typeface="Verdana"/>
                <a:cs typeface="Verdana"/>
              </a:rPr>
              <a:t>giới</a:t>
            </a:r>
            <a:r>
              <a:rPr sz="2000" dirty="0">
                <a:latin typeface="Verdana"/>
                <a:cs typeface="Verdana"/>
              </a:rPr>
              <a:t> </a:t>
            </a:r>
            <a:r>
              <a:rPr sz="2000" spc="-5" dirty="0">
                <a:latin typeface="Verdana"/>
                <a:cs typeface="Verdana"/>
              </a:rPr>
              <a:t>giữa</a:t>
            </a:r>
            <a:r>
              <a:rPr sz="2000" spc="5" dirty="0">
                <a:latin typeface="Verdana"/>
                <a:cs typeface="Verdana"/>
              </a:rPr>
              <a:t> </a:t>
            </a:r>
            <a:r>
              <a:rPr sz="2000" spc="-5" dirty="0">
                <a:latin typeface="Verdana"/>
                <a:cs typeface="Verdana"/>
              </a:rPr>
              <a:t>hai miền </a:t>
            </a:r>
            <a:r>
              <a:rPr sz="2000" spc="-10" dirty="0">
                <a:latin typeface="Verdana"/>
                <a:cs typeface="Verdana"/>
              </a:rPr>
              <a:t>trong</a:t>
            </a:r>
            <a:r>
              <a:rPr sz="2000" dirty="0">
                <a:latin typeface="Verdana"/>
                <a:cs typeface="Verdana"/>
              </a:rPr>
              <a:t> </a:t>
            </a:r>
            <a:r>
              <a:rPr sz="2000" spc="-5" dirty="0">
                <a:latin typeface="Verdana"/>
                <a:cs typeface="Verdana"/>
              </a:rPr>
              <a:t>¼ elip</a:t>
            </a:r>
            <a:endParaRPr sz="2000">
              <a:latin typeface="Verdana"/>
              <a:cs typeface="Verdana"/>
            </a:endParaRPr>
          </a:p>
          <a:p>
            <a:pPr marL="768350" lvl="1" indent="-285750">
              <a:spcBef>
                <a:spcPts val="675"/>
              </a:spcBef>
              <a:buClr>
                <a:schemeClr val="accent1">
                  <a:lumMod val="75000"/>
                </a:schemeClr>
              </a:buClr>
              <a:buSzPct val="150000"/>
              <a:buFont typeface="Arial" panose="020B0604020202020204" pitchFamily="34" charset="0"/>
              <a:buChar char="•"/>
              <a:tabLst>
                <a:tab pos="768350" algn="l"/>
              </a:tabLst>
            </a:pPr>
            <a:r>
              <a:rPr dirty="0">
                <a:latin typeface="Verdana"/>
                <a:cs typeface="Verdana"/>
              </a:rPr>
              <a:t>Vị </a:t>
            </a:r>
            <a:r>
              <a:rPr spc="-5" dirty="0">
                <a:latin typeface="Verdana"/>
                <a:cs typeface="Verdana"/>
              </a:rPr>
              <a:t>trí: điểm</a:t>
            </a:r>
            <a:r>
              <a:rPr spc="10" dirty="0">
                <a:latin typeface="Verdana"/>
                <a:cs typeface="Verdana"/>
              </a:rPr>
              <a:t> </a:t>
            </a:r>
            <a:r>
              <a:rPr dirty="0">
                <a:latin typeface="Verdana"/>
                <a:cs typeface="Verdana"/>
              </a:rPr>
              <a:t>P </a:t>
            </a:r>
            <a:r>
              <a:rPr spc="-5" dirty="0">
                <a:latin typeface="Verdana"/>
                <a:cs typeface="Verdana"/>
              </a:rPr>
              <a:t>là</a:t>
            </a:r>
            <a:r>
              <a:rPr dirty="0">
                <a:latin typeface="Verdana"/>
                <a:cs typeface="Verdana"/>
              </a:rPr>
              <a:t> </a:t>
            </a:r>
            <a:r>
              <a:rPr spc="-5" dirty="0">
                <a:latin typeface="Verdana"/>
                <a:cs typeface="Verdana"/>
              </a:rPr>
              <a:t>tiếp</a:t>
            </a:r>
            <a:r>
              <a:rPr spc="10" dirty="0">
                <a:latin typeface="Verdana"/>
                <a:cs typeface="Verdana"/>
              </a:rPr>
              <a:t> </a:t>
            </a:r>
            <a:r>
              <a:rPr spc="-5" dirty="0">
                <a:latin typeface="Verdana"/>
                <a:cs typeface="Verdana"/>
              </a:rPr>
              <a:t>điểm</a:t>
            </a:r>
            <a:r>
              <a:rPr spc="10" dirty="0">
                <a:latin typeface="Verdana"/>
                <a:cs typeface="Verdana"/>
              </a:rPr>
              <a:t> </a:t>
            </a:r>
            <a:r>
              <a:rPr dirty="0">
                <a:latin typeface="Verdana"/>
                <a:cs typeface="Verdana"/>
              </a:rPr>
              <a:t>của</a:t>
            </a:r>
            <a:r>
              <a:rPr spc="-10" dirty="0">
                <a:latin typeface="Verdana"/>
                <a:cs typeface="Verdana"/>
              </a:rPr>
              <a:t> </a:t>
            </a:r>
            <a:r>
              <a:rPr spc="-5" dirty="0">
                <a:latin typeface="Verdana"/>
                <a:cs typeface="Verdana"/>
              </a:rPr>
              <a:t>tiếp</a:t>
            </a:r>
            <a:r>
              <a:rPr spc="10" dirty="0">
                <a:latin typeface="Verdana"/>
                <a:cs typeface="Verdana"/>
              </a:rPr>
              <a:t> </a:t>
            </a:r>
            <a:r>
              <a:rPr spc="-5" dirty="0">
                <a:latin typeface="Verdana"/>
                <a:cs typeface="Verdana"/>
              </a:rPr>
              <a:t>tuyến </a:t>
            </a:r>
            <a:r>
              <a:rPr dirty="0">
                <a:latin typeface="Verdana"/>
                <a:cs typeface="Verdana"/>
              </a:rPr>
              <a:t>có</a:t>
            </a:r>
            <a:r>
              <a:rPr spc="-5" dirty="0">
                <a:latin typeface="Verdana"/>
                <a:cs typeface="Verdana"/>
              </a:rPr>
              <a:t> </a:t>
            </a:r>
            <a:r>
              <a:rPr dirty="0">
                <a:latin typeface="Verdana"/>
                <a:cs typeface="Verdana"/>
              </a:rPr>
              <a:t>hệ số</a:t>
            </a:r>
            <a:r>
              <a:rPr spc="-5" dirty="0">
                <a:latin typeface="Verdana"/>
                <a:cs typeface="Verdana"/>
              </a:rPr>
              <a:t> góc</a:t>
            </a:r>
            <a:r>
              <a:rPr spc="20" dirty="0">
                <a:latin typeface="Verdana"/>
                <a:cs typeface="Verdana"/>
              </a:rPr>
              <a:t> </a:t>
            </a:r>
            <a:r>
              <a:rPr spc="-5" dirty="0">
                <a:latin typeface="Verdana"/>
                <a:cs typeface="Verdana"/>
              </a:rPr>
              <a:t>-1</a:t>
            </a:r>
            <a:endParaRPr>
              <a:latin typeface="Verdana"/>
              <a:cs typeface="Verdana"/>
            </a:endParaRPr>
          </a:p>
          <a:p>
            <a:pPr marL="768350" lvl="1" indent="-285750">
              <a:spcBef>
                <a:spcPts val="645"/>
              </a:spcBef>
              <a:buClr>
                <a:schemeClr val="accent1">
                  <a:lumMod val="75000"/>
                </a:schemeClr>
              </a:buClr>
              <a:buSzPct val="150000"/>
              <a:buFont typeface="Arial" panose="020B0604020202020204" pitchFamily="34" charset="0"/>
              <a:buChar char="•"/>
              <a:tabLst>
                <a:tab pos="768350" algn="l"/>
              </a:tabLst>
            </a:pPr>
            <a:r>
              <a:rPr spc="-5" dirty="0">
                <a:latin typeface="Verdana"/>
                <a:cs typeface="Verdana"/>
              </a:rPr>
              <a:t>Xác</a:t>
            </a:r>
            <a:r>
              <a:rPr spc="-50" dirty="0">
                <a:latin typeface="Verdana"/>
                <a:cs typeface="Verdana"/>
              </a:rPr>
              <a:t> </a:t>
            </a:r>
            <a:r>
              <a:rPr spc="-5" dirty="0">
                <a:latin typeface="Verdana"/>
                <a:cs typeface="Verdana"/>
              </a:rPr>
              <a:t>định:</a:t>
            </a:r>
            <a:endParaRPr>
              <a:latin typeface="Verdana"/>
              <a:cs typeface="Verdana"/>
            </a:endParaRPr>
          </a:p>
          <a:p>
            <a:pPr marL="1224915" lvl="2" indent="-285750">
              <a:spcBef>
                <a:spcPts val="630"/>
              </a:spcBef>
              <a:buClr>
                <a:schemeClr val="accent1">
                  <a:lumMod val="75000"/>
                </a:schemeClr>
              </a:buClr>
              <a:buSzPct val="150000"/>
              <a:buFont typeface="Arial" panose="020B0604020202020204" pitchFamily="34" charset="0"/>
              <a:buChar char="•"/>
              <a:tabLst>
                <a:tab pos="1169035" algn="l"/>
              </a:tabLst>
            </a:pPr>
            <a:r>
              <a:rPr sz="1700" spc="-20" dirty="0">
                <a:latin typeface="Verdana"/>
                <a:cs typeface="Verdana"/>
              </a:rPr>
              <a:t>Vector</a:t>
            </a:r>
            <a:r>
              <a:rPr sz="1700" spc="20" dirty="0">
                <a:latin typeface="Verdana"/>
                <a:cs typeface="Verdana"/>
              </a:rPr>
              <a:t> </a:t>
            </a:r>
            <a:r>
              <a:rPr sz="1700" spc="-5" dirty="0">
                <a:latin typeface="Verdana"/>
                <a:cs typeface="Verdana"/>
              </a:rPr>
              <a:t>vuông</a:t>
            </a:r>
            <a:r>
              <a:rPr sz="1700" spc="10" dirty="0">
                <a:latin typeface="Verdana"/>
                <a:cs typeface="Verdana"/>
              </a:rPr>
              <a:t> </a:t>
            </a:r>
            <a:r>
              <a:rPr sz="1700" spc="-5" dirty="0">
                <a:latin typeface="Verdana"/>
                <a:cs typeface="Verdana"/>
              </a:rPr>
              <a:t>góc</a:t>
            </a:r>
            <a:r>
              <a:rPr sz="1700" spc="20" dirty="0">
                <a:latin typeface="Verdana"/>
                <a:cs typeface="Verdana"/>
              </a:rPr>
              <a:t> </a:t>
            </a:r>
            <a:r>
              <a:rPr sz="1700" spc="-5" dirty="0">
                <a:latin typeface="Verdana"/>
                <a:cs typeface="Verdana"/>
              </a:rPr>
              <a:t>với</a:t>
            </a:r>
            <a:r>
              <a:rPr sz="1700" spc="5" dirty="0">
                <a:latin typeface="Verdana"/>
                <a:cs typeface="Verdana"/>
              </a:rPr>
              <a:t> </a:t>
            </a:r>
            <a:r>
              <a:rPr sz="1700" spc="-5" dirty="0">
                <a:latin typeface="Verdana"/>
                <a:cs typeface="Verdana"/>
              </a:rPr>
              <a:t>tiếp</a:t>
            </a:r>
            <a:r>
              <a:rPr sz="1700" spc="15" dirty="0">
                <a:latin typeface="Verdana"/>
                <a:cs typeface="Verdana"/>
              </a:rPr>
              <a:t> </a:t>
            </a:r>
            <a:r>
              <a:rPr sz="1700" spc="-10" dirty="0">
                <a:latin typeface="Verdana"/>
                <a:cs typeface="Verdana"/>
              </a:rPr>
              <a:t>tuyến</a:t>
            </a:r>
            <a:r>
              <a:rPr sz="1700" dirty="0">
                <a:latin typeface="Verdana"/>
                <a:cs typeface="Verdana"/>
              </a:rPr>
              <a:t> </a:t>
            </a:r>
            <a:r>
              <a:rPr sz="1700" spc="-5" dirty="0">
                <a:latin typeface="Verdana"/>
                <a:cs typeface="Verdana"/>
              </a:rPr>
              <a:t>tại</a:t>
            </a:r>
            <a:r>
              <a:rPr sz="1700" spc="10" dirty="0">
                <a:latin typeface="Verdana"/>
                <a:cs typeface="Verdana"/>
              </a:rPr>
              <a:t> </a:t>
            </a:r>
            <a:r>
              <a:rPr sz="1700" spc="-5" dirty="0">
                <a:latin typeface="Verdana"/>
                <a:cs typeface="Verdana"/>
              </a:rPr>
              <a:t>tiếp</a:t>
            </a:r>
            <a:r>
              <a:rPr sz="1700" spc="5" dirty="0">
                <a:latin typeface="Verdana"/>
                <a:cs typeface="Verdana"/>
              </a:rPr>
              <a:t> </a:t>
            </a:r>
            <a:r>
              <a:rPr sz="1700" spc="-5" dirty="0">
                <a:latin typeface="Verdana"/>
                <a:cs typeface="Verdana"/>
              </a:rPr>
              <a:t>điểm</a:t>
            </a:r>
            <a:r>
              <a:rPr sz="1700" spc="10" dirty="0">
                <a:latin typeface="Verdana"/>
                <a:cs typeface="Verdana"/>
              </a:rPr>
              <a:t> </a:t>
            </a:r>
            <a:r>
              <a:rPr sz="1700" spc="-5" dirty="0">
                <a:latin typeface="Verdana"/>
                <a:cs typeface="Verdana"/>
              </a:rPr>
              <a:t>-&gt; </a:t>
            </a:r>
            <a:r>
              <a:rPr sz="1700" spc="-10" dirty="0">
                <a:latin typeface="Verdana"/>
                <a:cs typeface="Verdana"/>
              </a:rPr>
              <a:t>gradient</a:t>
            </a:r>
            <a:endParaRPr sz="1700">
              <a:latin typeface="Verdana"/>
              <a:cs typeface="Verdana"/>
            </a:endParaRPr>
          </a:p>
          <a:p>
            <a:pPr marL="1447165">
              <a:lnSpc>
                <a:spcPts val="2430"/>
              </a:lnSpc>
              <a:spcBef>
                <a:spcPts val="1095"/>
              </a:spcBef>
              <a:buClr>
                <a:schemeClr val="accent1">
                  <a:lumMod val="75000"/>
                </a:schemeClr>
              </a:buClr>
              <a:buSzPct val="150000"/>
              <a:tabLst>
                <a:tab pos="4827270" algn="l"/>
              </a:tabLst>
            </a:pPr>
            <a:r>
              <a:rPr sz="2550" i="1" spc="175" dirty="0">
                <a:latin typeface="Times New Roman"/>
                <a:cs typeface="Times New Roman"/>
              </a:rPr>
              <a:t>g</a:t>
            </a:r>
            <a:r>
              <a:rPr sz="2550" i="1" spc="210" dirty="0">
                <a:latin typeface="Times New Roman"/>
                <a:cs typeface="Times New Roman"/>
              </a:rPr>
              <a:t>r</a:t>
            </a:r>
            <a:r>
              <a:rPr sz="2550" i="1" spc="175" dirty="0">
                <a:latin typeface="Times New Roman"/>
                <a:cs typeface="Times New Roman"/>
              </a:rPr>
              <a:t>ad</a:t>
            </a:r>
            <a:r>
              <a:rPr sz="2550" i="1" spc="465" dirty="0">
                <a:latin typeface="Times New Roman"/>
                <a:cs typeface="Times New Roman"/>
              </a:rPr>
              <a:t>F</a:t>
            </a:r>
            <a:r>
              <a:rPr sz="2550" spc="320" dirty="0">
                <a:latin typeface="Times New Roman"/>
                <a:cs typeface="Times New Roman"/>
              </a:rPr>
              <a:t>(</a:t>
            </a:r>
            <a:r>
              <a:rPr sz="2550" i="1" spc="185" dirty="0">
                <a:latin typeface="Times New Roman"/>
                <a:cs typeface="Times New Roman"/>
              </a:rPr>
              <a:t>x</a:t>
            </a:r>
            <a:r>
              <a:rPr sz="2550" spc="120" dirty="0">
                <a:latin typeface="Times New Roman"/>
                <a:cs typeface="Times New Roman"/>
              </a:rPr>
              <a:t>,</a:t>
            </a:r>
            <a:r>
              <a:rPr sz="2550" spc="-40" dirty="0">
                <a:latin typeface="Times New Roman"/>
                <a:cs typeface="Times New Roman"/>
              </a:rPr>
              <a:t> </a:t>
            </a:r>
            <a:r>
              <a:rPr sz="2550" i="1" spc="275" dirty="0">
                <a:latin typeface="Times New Roman"/>
                <a:cs typeface="Times New Roman"/>
              </a:rPr>
              <a:t>y</a:t>
            </a:r>
            <a:r>
              <a:rPr sz="2550" spc="160" dirty="0">
                <a:latin typeface="Times New Roman"/>
                <a:cs typeface="Times New Roman"/>
              </a:rPr>
              <a:t>)</a:t>
            </a:r>
            <a:r>
              <a:rPr sz="2550" spc="-15" dirty="0">
                <a:latin typeface="Times New Roman"/>
                <a:cs typeface="Times New Roman"/>
              </a:rPr>
              <a:t> </a:t>
            </a:r>
            <a:r>
              <a:rPr sz="2550" spc="270" dirty="0">
                <a:latin typeface="Symbol"/>
                <a:cs typeface="Symbol"/>
              </a:rPr>
              <a:t></a:t>
            </a:r>
            <a:r>
              <a:rPr sz="2550" spc="204" dirty="0">
                <a:latin typeface="Times New Roman"/>
                <a:cs typeface="Times New Roman"/>
              </a:rPr>
              <a:t> </a:t>
            </a:r>
            <a:r>
              <a:rPr sz="2250" u="heavy" spc="104" baseline="33333" dirty="0">
                <a:uFill>
                  <a:solidFill>
                    <a:srgbClr val="000000"/>
                  </a:solidFill>
                </a:uFill>
                <a:latin typeface="Symbol"/>
                <a:cs typeface="Symbol"/>
              </a:rPr>
              <a:t></a:t>
            </a:r>
            <a:r>
              <a:rPr sz="2250" i="1" u="heavy" spc="247" baseline="33333" dirty="0">
                <a:uFill>
                  <a:solidFill>
                    <a:srgbClr val="000000"/>
                  </a:solidFill>
                </a:uFill>
                <a:latin typeface="Times New Roman"/>
                <a:cs typeface="Times New Roman"/>
              </a:rPr>
              <a:t>F</a:t>
            </a:r>
            <a:r>
              <a:rPr sz="2250" i="1" baseline="33333" dirty="0">
                <a:latin typeface="Times New Roman"/>
                <a:cs typeface="Times New Roman"/>
              </a:rPr>
              <a:t> </a:t>
            </a:r>
            <a:r>
              <a:rPr sz="2250" i="1" spc="-75" baseline="33333" dirty="0">
                <a:latin typeface="Times New Roman"/>
                <a:cs typeface="Times New Roman"/>
              </a:rPr>
              <a:t> </a:t>
            </a:r>
            <a:r>
              <a:rPr sz="2550" i="1" spc="135" dirty="0">
                <a:latin typeface="Times New Roman"/>
                <a:cs typeface="Times New Roman"/>
              </a:rPr>
              <a:t>i</a:t>
            </a:r>
            <a:r>
              <a:rPr sz="2550" i="1" spc="-120" dirty="0">
                <a:latin typeface="Times New Roman"/>
                <a:cs typeface="Times New Roman"/>
              </a:rPr>
              <a:t> </a:t>
            </a:r>
            <a:r>
              <a:rPr sz="2550" spc="270" dirty="0">
                <a:latin typeface="Symbol"/>
                <a:cs typeface="Symbol"/>
              </a:rPr>
              <a:t></a:t>
            </a:r>
            <a:r>
              <a:rPr sz="2550" spc="60" dirty="0">
                <a:latin typeface="Times New Roman"/>
                <a:cs typeface="Times New Roman"/>
              </a:rPr>
              <a:t> </a:t>
            </a:r>
            <a:r>
              <a:rPr sz="2250" u="heavy" spc="104" baseline="33333" dirty="0">
                <a:uFill>
                  <a:solidFill>
                    <a:srgbClr val="000000"/>
                  </a:solidFill>
                </a:uFill>
                <a:latin typeface="Symbol"/>
                <a:cs typeface="Symbol"/>
              </a:rPr>
              <a:t></a:t>
            </a:r>
            <a:r>
              <a:rPr sz="2250" i="1" u="heavy" spc="247" baseline="33333" dirty="0">
                <a:uFill>
                  <a:solidFill>
                    <a:srgbClr val="000000"/>
                  </a:solidFill>
                </a:uFill>
                <a:latin typeface="Times New Roman"/>
                <a:cs typeface="Times New Roman"/>
              </a:rPr>
              <a:t>F</a:t>
            </a:r>
            <a:r>
              <a:rPr sz="2250" i="1" baseline="33333" dirty="0">
                <a:latin typeface="Times New Roman"/>
                <a:cs typeface="Times New Roman"/>
              </a:rPr>
              <a:t>	</a:t>
            </a:r>
            <a:r>
              <a:rPr sz="2550" i="1" spc="135" dirty="0">
                <a:latin typeface="Times New Roman"/>
                <a:cs typeface="Times New Roman"/>
              </a:rPr>
              <a:t>j</a:t>
            </a:r>
            <a:r>
              <a:rPr sz="2550" i="1" spc="105" dirty="0">
                <a:latin typeface="Times New Roman"/>
                <a:cs typeface="Times New Roman"/>
              </a:rPr>
              <a:t> </a:t>
            </a:r>
            <a:r>
              <a:rPr sz="2550" spc="270" dirty="0">
                <a:latin typeface="Symbol"/>
                <a:cs typeface="Symbol"/>
              </a:rPr>
              <a:t></a:t>
            </a:r>
            <a:r>
              <a:rPr sz="2550" spc="-30" dirty="0">
                <a:latin typeface="Times New Roman"/>
                <a:cs typeface="Times New Roman"/>
              </a:rPr>
              <a:t> </a:t>
            </a:r>
            <a:r>
              <a:rPr sz="2550" spc="130" dirty="0">
                <a:latin typeface="Times New Roman"/>
                <a:cs typeface="Times New Roman"/>
              </a:rPr>
              <a:t>2</a:t>
            </a:r>
            <a:r>
              <a:rPr sz="2550" i="1" spc="340" dirty="0">
                <a:latin typeface="Times New Roman"/>
                <a:cs typeface="Times New Roman"/>
              </a:rPr>
              <a:t>b</a:t>
            </a:r>
            <a:r>
              <a:rPr sz="2250" spc="202" baseline="42592" dirty="0">
                <a:latin typeface="Times New Roman"/>
                <a:cs typeface="Times New Roman"/>
              </a:rPr>
              <a:t>2</a:t>
            </a:r>
            <a:r>
              <a:rPr sz="2250" spc="-202" baseline="42592" dirty="0">
                <a:latin typeface="Times New Roman"/>
                <a:cs typeface="Times New Roman"/>
              </a:rPr>
              <a:t> </a:t>
            </a:r>
            <a:r>
              <a:rPr sz="2550" i="1" spc="85" dirty="0">
                <a:latin typeface="Times New Roman"/>
                <a:cs typeface="Times New Roman"/>
              </a:rPr>
              <a:t>x</a:t>
            </a:r>
            <a:r>
              <a:rPr sz="2550" spc="-95" dirty="0">
                <a:latin typeface="Times New Roman"/>
                <a:cs typeface="Times New Roman"/>
              </a:rPr>
              <a:t>.</a:t>
            </a:r>
            <a:r>
              <a:rPr sz="2550" i="1" spc="135" dirty="0">
                <a:latin typeface="Times New Roman"/>
                <a:cs typeface="Times New Roman"/>
              </a:rPr>
              <a:t>i</a:t>
            </a:r>
            <a:r>
              <a:rPr sz="2550" i="1" spc="-120" dirty="0">
                <a:latin typeface="Times New Roman"/>
                <a:cs typeface="Times New Roman"/>
              </a:rPr>
              <a:t> </a:t>
            </a:r>
            <a:r>
              <a:rPr sz="2550" spc="270" dirty="0">
                <a:latin typeface="Symbol"/>
                <a:cs typeface="Symbol"/>
              </a:rPr>
              <a:t></a:t>
            </a:r>
            <a:r>
              <a:rPr sz="2550" spc="-175" dirty="0">
                <a:latin typeface="Times New Roman"/>
                <a:cs typeface="Times New Roman"/>
              </a:rPr>
              <a:t> </a:t>
            </a:r>
            <a:r>
              <a:rPr sz="2550" spc="220" dirty="0">
                <a:latin typeface="Times New Roman"/>
                <a:cs typeface="Times New Roman"/>
              </a:rPr>
              <a:t>2</a:t>
            </a:r>
            <a:r>
              <a:rPr sz="2550" i="1" spc="380" dirty="0">
                <a:latin typeface="Times New Roman"/>
                <a:cs typeface="Times New Roman"/>
              </a:rPr>
              <a:t>a</a:t>
            </a:r>
            <a:r>
              <a:rPr sz="2250" spc="202" baseline="42592" dirty="0">
                <a:latin typeface="Times New Roman"/>
                <a:cs typeface="Times New Roman"/>
              </a:rPr>
              <a:t>2</a:t>
            </a:r>
            <a:r>
              <a:rPr sz="2250" baseline="42592" dirty="0">
                <a:latin typeface="Times New Roman"/>
                <a:cs typeface="Times New Roman"/>
              </a:rPr>
              <a:t> </a:t>
            </a:r>
            <a:r>
              <a:rPr sz="2550" i="1" spc="140" dirty="0">
                <a:latin typeface="Times New Roman"/>
                <a:cs typeface="Times New Roman"/>
              </a:rPr>
              <a:t>y</a:t>
            </a:r>
            <a:r>
              <a:rPr sz="2550" spc="120" dirty="0">
                <a:latin typeface="Times New Roman"/>
                <a:cs typeface="Times New Roman"/>
              </a:rPr>
              <a:t>.</a:t>
            </a:r>
            <a:r>
              <a:rPr sz="2550" spc="-215" dirty="0">
                <a:latin typeface="Times New Roman"/>
                <a:cs typeface="Times New Roman"/>
              </a:rPr>
              <a:t> </a:t>
            </a:r>
            <a:r>
              <a:rPr sz="2550" i="1" spc="135" dirty="0">
                <a:latin typeface="Times New Roman"/>
                <a:cs typeface="Times New Roman"/>
              </a:rPr>
              <a:t>j</a:t>
            </a:r>
            <a:endParaRPr sz="2550">
              <a:latin typeface="Times New Roman"/>
              <a:cs typeface="Times New Roman"/>
            </a:endParaRPr>
          </a:p>
          <a:p>
            <a:pPr marL="322580" algn="ctr">
              <a:lnSpc>
                <a:spcPts val="1170"/>
              </a:lnSpc>
              <a:buClr>
                <a:schemeClr val="accent1">
                  <a:lumMod val="75000"/>
                </a:schemeClr>
              </a:buClr>
              <a:buSzPct val="150000"/>
              <a:tabLst>
                <a:tab pos="1126490" algn="l"/>
              </a:tabLst>
            </a:pPr>
            <a:r>
              <a:rPr sz="1500" spc="95" dirty="0">
                <a:latin typeface="Symbol"/>
                <a:cs typeface="Symbol"/>
              </a:rPr>
              <a:t></a:t>
            </a:r>
            <a:r>
              <a:rPr sz="1500" i="1" spc="95" dirty="0">
                <a:latin typeface="Times New Roman"/>
                <a:cs typeface="Times New Roman"/>
              </a:rPr>
              <a:t>x	</a:t>
            </a:r>
            <a:r>
              <a:rPr sz="1500" spc="95" dirty="0">
                <a:latin typeface="Symbol"/>
                <a:cs typeface="Symbol"/>
              </a:rPr>
              <a:t></a:t>
            </a:r>
            <a:r>
              <a:rPr sz="1500" i="1" spc="95" dirty="0">
                <a:latin typeface="Times New Roman"/>
                <a:cs typeface="Times New Roman"/>
              </a:rPr>
              <a:t>y</a:t>
            </a:r>
            <a:endParaRPr sz="1500">
              <a:latin typeface="Times New Roman"/>
              <a:cs typeface="Times New Roman"/>
            </a:endParaRPr>
          </a:p>
          <a:p>
            <a:pPr marL="1224915" lvl="2" indent="-285750">
              <a:spcBef>
                <a:spcPts val="1225"/>
              </a:spcBef>
              <a:buClr>
                <a:schemeClr val="accent1">
                  <a:lumMod val="75000"/>
                </a:schemeClr>
              </a:buClr>
              <a:buSzPct val="150000"/>
              <a:buFont typeface="Arial" panose="020B0604020202020204" pitchFamily="34" charset="0"/>
              <a:buChar char="•"/>
              <a:tabLst>
                <a:tab pos="1169035" algn="l"/>
              </a:tabLst>
            </a:pPr>
            <a:r>
              <a:rPr sz="1700" spc="-5" dirty="0">
                <a:latin typeface="Verdana"/>
                <a:cs typeface="Verdana"/>
              </a:rPr>
              <a:t>Tại</a:t>
            </a:r>
            <a:r>
              <a:rPr sz="1700" spc="5" dirty="0">
                <a:latin typeface="Verdana"/>
                <a:cs typeface="Verdana"/>
              </a:rPr>
              <a:t> </a:t>
            </a:r>
            <a:r>
              <a:rPr sz="1700" spc="-5" dirty="0">
                <a:latin typeface="Verdana"/>
                <a:cs typeface="Verdana"/>
              </a:rPr>
              <a:t>P</a:t>
            </a:r>
            <a:r>
              <a:rPr sz="1700" spc="5" dirty="0">
                <a:latin typeface="Verdana"/>
                <a:cs typeface="Verdana"/>
              </a:rPr>
              <a:t> </a:t>
            </a:r>
            <a:r>
              <a:rPr sz="1700" spc="-5" dirty="0">
                <a:latin typeface="Verdana"/>
                <a:cs typeface="Verdana"/>
              </a:rPr>
              <a:t>các</a:t>
            </a:r>
            <a:r>
              <a:rPr sz="1700" spc="10" dirty="0">
                <a:latin typeface="Verdana"/>
                <a:cs typeface="Verdana"/>
              </a:rPr>
              <a:t> </a:t>
            </a:r>
            <a:r>
              <a:rPr sz="1700" spc="-10" dirty="0">
                <a:latin typeface="Verdana"/>
                <a:cs typeface="Verdana"/>
              </a:rPr>
              <a:t>thành</a:t>
            </a:r>
            <a:r>
              <a:rPr sz="1700" spc="15" dirty="0">
                <a:latin typeface="Verdana"/>
                <a:cs typeface="Verdana"/>
              </a:rPr>
              <a:t> </a:t>
            </a:r>
            <a:r>
              <a:rPr sz="1700" spc="-5" dirty="0">
                <a:latin typeface="Verdana"/>
                <a:cs typeface="Verdana"/>
              </a:rPr>
              <a:t>phần</a:t>
            </a:r>
            <a:r>
              <a:rPr sz="1700" spc="15" dirty="0">
                <a:latin typeface="Verdana"/>
                <a:cs typeface="Verdana"/>
              </a:rPr>
              <a:t> </a:t>
            </a:r>
            <a:r>
              <a:rPr sz="1700" spc="-5" dirty="0">
                <a:latin typeface="Verdana"/>
                <a:cs typeface="Verdana"/>
              </a:rPr>
              <a:t>i</a:t>
            </a:r>
            <a:r>
              <a:rPr sz="1700" dirty="0">
                <a:latin typeface="Verdana"/>
                <a:cs typeface="Verdana"/>
              </a:rPr>
              <a:t> </a:t>
            </a:r>
            <a:r>
              <a:rPr sz="1700" spc="-5" dirty="0">
                <a:latin typeface="Verdana"/>
                <a:cs typeface="Verdana"/>
              </a:rPr>
              <a:t>và</a:t>
            </a:r>
            <a:r>
              <a:rPr sz="1700" dirty="0">
                <a:latin typeface="Verdana"/>
                <a:cs typeface="Verdana"/>
              </a:rPr>
              <a:t> </a:t>
            </a:r>
            <a:r>
              <a:rPr sz="1700" spc="-5" dirty="0">
                <a:latin typeface="Verdana"/>
                <a:cs typeface="Verdana"/>
              </a:rPr>
              <a:t>j</a:t>
            </a:r>
            <a:r>
              <a:rPr sz="1700" dirty="0">
                <a:latin typeface="Verdana"/>
                <a:cs typeface="Verdana"/>
              </a:rPr>
              <a:t> </a:t>
            </a:r>
            <a:r>
              <a:rPr sz="1700" spc="-5" dirty="0">
                <a:latin typeface="Verdana"/>
                <a:cs typeface="Verdana"/>
              </a:rPr>
              <a:t>của</a:t>
            </a:r>
            <a:r>
              <a:rPr sz="1700" spc="15" dirty="0">
                <a:latin typeface="Verdana"/>
                <a:cs typeface="Verdana"/>
              </a:rPr>
              <a:t> </a:t>
            </a:r>
            <a:r>
              <a:rPr sz="1700" spc="-5" dirty="0">
                <a:latin typeface="Verdana"/>
                <a:cs typeface="Verdana"/>
              </a:rPr>
              <a:t>vector</a:t>
            </a:r>
            <a:r>
              <a:rPr sz="1700" spc="15" dirty="0">
                <a:latin typeface="Verdana"/>
                <a:cs typeface="Verdana"/>
              </a:rPr>
              <a:t> </a:t>
            </a:r>
            <a:r>
              <a:rPr sz="1700" spc="-10" dirty="0">
                <a:latin typeface="Verdana"/>
                <a:cs typeface="Verdana"/>
              </a:rPr>
              <a:t>gradient</a:t>
            </a:r>
            <a:r>
              <a:rPr sz="1700" spc="20" dirty="0">
                <a:latin typeface="Verdana"/>
                <a:cs typeface="Verdana"/>
              </a:rPr>
              <a:t> </a:t>
            </a:r>
            <a:r>
              <a:rPr sz="1700" spc="-5" dirty="0">
                <a:latin typeface="Verdana"/>
                <a:cs typeface="Verdana"/>
              </a:rPr>
              <a:t>có</a:t>
            </a:r>
            <a:r>
              <a:rPr sz="1700" spc="10" dirty="0">
                <a:latin typeface="Verdana"/>
                <a:cs typeface="Verdana"/>
              </a:rPr>
              <a:t> </a:t>
            </a:r>
            <a:r>
              <a:rPr sz="1700" spc="-5" dirty="0">
                <a:latin typeface="Verdana"/>
                <a:cs typeface="Verdana"/>
              </a:rPr>
              <a:t>cùng</a:t>
            </a:r>
            <a:r>
              <a:rPr sz="1700" spc="15" dirty="0">
                <a:latin typeface="Verdana"/>
                <a:cs typeface="Verdana"/>
              </a:rPr>
              <a:t> </a:t>
            </a:r>
            <a:r>
              <a:rPr sz="1700" spc="-5" dirty="0">
                <a:latin typeface="Verdana"/>
                <a:cs typeface="Verdana"/>
              </a:rPr>
              <a:t>độ</a:t>
            </a:r>
            <a:r>
              <a:rPr sz="1700" spc="10" dirty="0">
                <a:latin typeface="Verdana"/>
                <a:cs typeface="Verdana"/>
              </a:rPr>
              <a:t> </a:t>
            </a:r>
            <a:r>
              <a:rPr sz="1700" spc="-10" dirty="0">
                <a:latin typeface="Verdana"/>
                <a:cs typeface="Verdana"/>
              </a:rPr>
              <a:t>lớn</a:t>
            </a:r>
            <a:endParaRPr sz="1700">
              <a:latin typeface="Verdana"/>
              <a:cs typeface="Verdana"/>
            </a:endParaRPr>
          </a:p>
        </p:txBody>
      </p:sp>
    </p:spTree>
    <p:extLst>
      <p:ext uri="{BB962C8B-B14F-4D97-AF65-F5344CB8AC3E}">
        <p14:creationId xmlns:p14="http://schemas.microsoft.com/office/powerpoint/2010/main" val="2981561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945260" y="4072892"/>
            <a:ext cx="2627375" cy="1890522"/>
          </a:xfrm>
          <a:prstGeom prst="rect">
            <a:avLst/>
          </a:prstGeom>
        </p:spPr>
      </p:pic>
      <p:sp>
        <p:nvSpPr>
          <p:cNvPr id="3" name="object 3"/>
          <p:cNvSpPr txBox="1">
            <a:spLocks noGrp="1"/>
          </p:cNvSpPr>
          <p:nvPr>
            <p:ph type="title"/>
          </p:nvPr>
        </p:nvSpPr>
        <p:spPr>
          <a:xfrm>
            <a:off x="2177541" y="880363"/>
            <a:ext cx="7260590" cy="604520"/>
          </a:xfrm>
          <a:prstGeom prst="rect">
            <a:avLst/>
          </a:prstGeom>
        </p:spPr>
        <p:txBody>
          <a:bodyPr vert="horz" wrap="square" lIns="0" tIns="12065" rIns="0" bIns="0" rtlCol="0" anchor="ctr">
            <a:spAutoFit/>
          </a:bodyPr>
          <a:lstStyle/>
          <a:p>
            <a:pPr marL="12700">
              <a:spcBef>
                <a:spcPts val="95"/>
              </a:spcBef>
            </a:pPr>
            <a:r>
              <a:rPr sz="3800" spc="-10" dirty="0">
                <a:latin typeface="Verdana"/>
                <a:cs typeface="Verdana"/>
              </a:rPr>
              <a:t>Thuật</a:t>
            </a:r>
            <a:r>
              <a:rPr sz="3800" spc="-15" dirty="0">
                <a:latin typeface="Verdana"/>
                <a:cs typeface="Verdana"/>
              </a:rPr>
              <a:t> </a:t>
            </a:r>
            <a:r>
              <a:rPr sz="3800" spc="-5" dirty="0">
                <a:latin typeface="Verdana"/>
                <a:cs typeface="Verdana"/>
              </a:rPr>
              <a:t>toán </a:t>
            </a:r>
            <a:r>
              <a:rPr sz="3800" spc="-10" dirty="0">
                <a:latin typeface="Verdana"/>
                <a:cs typeface="Verdana"/>
              </a:rPr>
              <a:t>trung</a:t>
            </a:r>
            <a:r>
              <a:rPr sz="3800" spc="-5" dirty="0">
                <a:latin typeface="Verdana"/>
                <a:cs typeface="Verdana"/>
              </a:rPr>
              <a:t> điểm vẽ elip</a:t>
            </a:r>
            <a:endParaRPr sz="3800">
              <a:latin typeface="Verdana"/>
              <a:cs typeface="Verdana"/>
            </a:endParaRPr>
          </a:p>
        </p:txBody>
      </p:sp>
      <p:sp>
        <p:nvSpPr>
          <p:cNvPr id="4" name="object 4"/>
          <p:cNvSpPr txBox="1"/>
          <p:nvPr/>
        </p:nvSpPr>
        <p:spPr>
          <a:xfrm>
            <a:off x="2144013" y="1784351"/>
            <a:ext cx="6959600" cy="2021205"/>
          </a:xfrm>
          <a:prstGeom prst="rect">
            <a:avLst/>
          </a:prstGeom>
        </p:spPr>
        <p:txBody>
          <a:bodyPr vert="horz" wrap="square" lIns="0" tIns="12065" rIns="0" bIns="0" rtlCol="0">
            <a:spAutoFit/>
          </a:bodyPr>
          <a:lstStyle/>
          <a:p>
            <a:pPr marL="380365" marR="30480" indent="-342900">
              <a:spcBef>
                <a:spcPts val="95"/>
              </a:spcBef>
              <a:buClr>
                <a:schemeClr val="accent1">
                  <a:lumMod val="75000"/>
                </a:schemeClr>
              </a:buClr>
              <a:buSzPct val="150000"/>
              <a:buFont typeface="Arial" panose="020B0604020202020204" pitchFamily="34" charset="0"/>
              <a:buChar char="•"/>
              <a:tabLst>
                <a:tab pos="381635" algn="l"/>
              </a:tabLst>
            </a:pPr>
            <a:r>
              <a:rPr sz="2000" spc="-5" dirty="0">
                <a:latin typeface="Verdana"/>
                <a:cs typeface="Verdana"/>
              </a:rPr>
              <a:t>Ý</a:t>
            </a:r>
            <a:r>
              <a:rPr sz="2000" spc="-15" dirty="0">
                <a:latin typeface="Verdana"/>
                <a:cs typeface="Verdana"/>
              </a:rPr>
              <a:t> </a:t>
            </a:r>
            <a:r>
              <a:rPr sz="2000" spc="-10" dirty="0">
                <a:latin typeface="Verdana"/>
                <a:cs typeface="Verdana"/>
              </a:rPr>
              <a:t>tưởng:</a:t>
            </a:r>
            <a:r>
              <a:rPr sz="2000" spc="10" dirty="0">
                <a:latin typeface="Verdana"/>
                <a:cs typeface="Verdana"/>
              </a:rPr>
              <a:t> </a:t>
            </a:r>
            <a:r>
              <a:rPr sz="2000" spc="-5" dirty="0">
                <a:latin typeface="Verdana"/>
                <a:cs typeface="Verdana"/>
              </a:rPr>
              <a:t>đánh</a:t>
            </a:r>
            <a:r>
              <a:rPr sz="2000" spc="-10" dirty="0">
                <a:latin typeface="Verdana"/>
                <a:cs typeface="Verdana"/>
              </a:rPr>
              <a:t> </a:t>
            </a:r>
            <a:r>
              <a:rPr sz="2000" spc="-5" dirty="0">
                <a:latin typeface="Verdana"/>
                <a:cs typeface="Verdana"/>
              </a:rPr>
              <a:t>giá</a:t>
            </a:r>
            <a:r>
              <a:rPr sz="2000" dirty="0">
                <a:latin typeface="Verdana"/>
                <a:cs typeface="Verdana"/>
              </a:rPr>
              <a:t> </a:t>
            </a:r>
            <a:r>
              <a:rPr sz="2000" spc="-5" dirty="0">
                <a:latin typeface="Verdana"/>
                <a:cs typeface="Verdana"/>
              </a:rPr>
              <a:t>hàm tại</a:t>
            </a:r>
            <a:r>
              <a:rPr sz="2000" dirty="0">
                <a:latin typeface="Verdana"/>
                <a:cs typeface="Verdana"/>
              </a:rPr>
              <a:t> </a:t>
            </a:r>
            <a:r>
              <a:rPr sz="2000" spc="-10" dirty="0">
                <a:latin typeface="Verdana"/>
                <a:cs typeface="Verdana"/>
              </a:rPr>
              <a:t>điểm</a:t>
            </a:r>
            <a:r>
              <a:rPr sz="2000" spc="5" dirty="0">
                <a:latin typeface="Verdana"/>
                <a:cs typeface="Verdana"/>
              </a:rPr>
              <a:t> </a:t>
            </a:r>
            <a:r>
              <a:rPr sz="2000" spc="-5" dirty="0">
                <a:latin typeface="Verdana"/>
                <a:cs typeface="Verdana"/>
              </a:rPr>
              <a:t>giữa</a:t>
            </a:r>
            <a:r>
              <a:rPr sz="2000" spc="10" dirty="0">
                <a:latin typeface="Verdana"/>
                <a:cs typeface="Verdana"/>
              </a:rPr>
              <a:t> </a:t>
            </a:r>
            <a:r>
              <a:rPr sz="2000" spc="-5" dirty="0">
                <a:latin typeface="Verdana"/>
                <a:cs typeface="Verdana"/>
              </a:rPr>
              <a:t>hai</a:t>
            </a:r>
            <a:r>
              <a:rPr sz="2000" dirty="0">
                <a:latin typeface="Verdana"/>
                <a:cs typeface="Verdana"/>
              </a:rPr>
              <a:t> </a:t>
            </a:r>
            <a:r>
              <a:rPr sz="2000" spc="-5" dirty="0">
                <a:latin typeface="Verdana"/>
                <a:cs typeface="Verdana"/>
              </a:rPr>
              <a:t>tọa</a:t>
            </a:r>
            <a:r>
              <a:rPr sz="2000" spc="-15" dirty="0">
                <a:latin typeface="Verdana"/>
                <a:cs typeface="Verdana"/>
              </a:rPr>
              <a:t> </a:t>
            </a:r>
            <a:r>
              <a:rPr sz="2000" spc="-10" dirty="0">
                <a:latin typeface="Verdana"/>
                <a:cs typeface="Verdana"/>
              </a:rPr>
              <a:t>độ </a:t>
            </a:r>
            <a:r>
              <a:rPr sz="2000" spc="-5" dirty="0">
                <a:latin typeface="Verdana"/>
                <a:cs typeface="Verdana"/>
              </a:rPr>
              <a:t> </a:t>
            </a:r>
            <a:r>
              <a:rPr sz="2000" spc="-10" dirty="0">
                <a:latin typeface="Verdana"/>
                <a:cs typeface="Verdana"/>
              </a:rPr>
              <a:t>pixel</a:t>
            </a:r>
            <a:r>
              <a:rPr sz="2000" spc="10" dirty="0">
                <a:latin typeface="Verdana"/>
                <a:cs typeface="Verdana"/>
              </a:rPr>
              <a:t> </a:t>
            </a:r>
            <a:r>
              <a:rPr sz="2000" spc="-5" dirty="0">
                <a:latin typeface="Verdana"/>
                <a:cs typeface="Verdana"/>
              </a:rPr>
              <a:t>để</a:t>
            </a:r>
            <a:r>
              <a:rPr sz="2000" dirty="0">
                <a:latin typeface="Verdana"/>
                <a:cs typeface="Verdana"/>
              </a:rPr>
              <a:t> </a:t>
            </a:r>
            <a:r>
              <a:rPr sz="2000" spc="-5" dirty="0">
                <a:latin typeface="Verdana"/>
                <a:cs typeface="Verdana"/>
              </a:rPr>
              <a:t>chọn</a:t>
            </a:r>
            <a:r>
              <a:rPr sz="2000" spc="-10" dirty="0">
                <a:latin typeface="Verdana"/>
                <a:cs typeface="Verdana"/>
              </a:rPr>
              <a:t> </a:t>
            </a:r>
            <a:r>
              <a:rPr sz="2000" spc="-5" dirty="0">
                <a:latin typeface="Verdana"/>
                <a:cs typeface="Verdana"/>
              </a:rPr>
              <a:t>vị</a:t>
            </a:r>
            <a:r>
              <a:rPr sz="2000" dirty="0">
                <a:latin typeface="Verdana"/>
                <a:cs typeface="Verdana"/>
              </a:rPr>
              <a:t> </a:t>
            </a:r>
            <a:r>
              <a:rPr sz="2000" spc="-5" dirty="0">
                <a:latin typeface="Verdana"/>
                <a:cs typeface="Verdana"/>
              </a:rPr>
              <a:t>trí</a:t>
            </a:r>
            <a:r>
              <a:rPr sz="2000" dirty="0">
                <a:latin typeface="Verdana"/>
                <a:cs typeface="Verdana"/>
              </a:rPr>
              <a:t> </a:t>
            </a:r>
            <a:r>
              <a:rPr sz="2000" spc="-10" dirty="0">
                <a:latin typeface="Verdana"/>
                <a:cs typeface="Verdana"/>
              </a:rPr>
              <a:t>tiếp</a:t>
            </a:r>
            <a:r>
              <a:rPr sz="2000" spc="5" dirty="0">
                <a:latin typeface="Verdana"/>
                <a:cs typeface="Verdana"/>
              </a:rPr>
              <a:t> </a:t>
            </a:r>
            <a:r>
              <a:rPr sz="2000" spc="-5" dirty="0">
                <a:latin typeface="Verdana"/>
                <a:cs typeface="Verdana"/>
              </a:rPr>
              <a:t>theo</a:t>
            </a:r>
            <a:r>
              <a:rPr sz="2000" spc="-10" dirty="0">
                <a:latin typeface="Verdana"/>
                <a:cs typeface="Verdana"/>
              </a:rPr>
              <a:t> </a:t>
            </a:r>
            <a:r>
              <a:rPr sz="2000" spc="-5" dirty="0">
                <a:latin typeface="Verdana"/>
                <a:cs typeface="Verdana"/>
              </a:rPr>
              <a:t>để</a:t>
            </a:r>
            <a:r>
              <a:rPr sz="2000" dirty="0">
                <a:latin typeface="Verdana"/>
                <a:cs typeface="Verdana"/>
              </a:rPr>
              <a:t> </a:t>
            </a:r>
            <a:r>
              <a:rPr sz="2000" spc="-5" dirty="0">
                <a:latin typeface="Verdana"/>
                <a:cs typeface="Verdana"/>
              </a:rPr>
              <a:t>vẽ.</a:t>
            </a:r>
            <a:r>
              <a:rPr sz="2000" dirty="0">
                <a:latin typeface="Verdana"/>
                <a:cs typeface="Verdana"/>
              </a:rPr>
              <a:t> </a:t>
            </a:r>
            <a:r>
              <a:rPr sz="2000" spc="-5" dirty="0">
                <a:latin typeface="Verdana"/>
                <a:cs typeface="Verdana"/>
              </a:rPr>
              <a:t>Dấu</a:t>
            </a:r>
            <a:r>
              <a:rPr sz="2000" spc="-10" dirty="0">
                <a:latin typeface="Verdana"/>
                <a:cs typeface="Verdana"/>
              </a:rPr>
              <a:t> </a:t>
            </a:r>
            <a:r>
              <a:rPr sz="2000" spc="-5" dirty="0">
                <a:latin typeface="Verdana"/>
                <a:cs typeface="Verdana"/>
              </a:rPr>
              <a:t>của</a:t>
            </a:r>
            <a:r>
              <a:rPr sz="2000" spc="-10" dirty="0">
                <a:latin typeface="Verdana"/>
                <a:cs typeface="Verdana"/>
              </a:rPr>
              <a:t> </a:t>
            </a:r>
            <a:r>
              <a:rPr sz="2000" spc="-5" dirty="0">
                <a:latin typeface="Verdana"/>
                <a:cs typeface="Verdana"/>
              </a:rPr>
              <a:t>nó</a:t>
            </a:r>
            <a:r>
              <a:rPr sz="2000" spc="-10" dirty="0">
                <a:latin typeface="Verdana"/>
                <a:cs typeface="Verdana"/>
              </a:rPr>
              <a:t> </a:t>
            </a:r>
            <a:r>
              <a:rPr sz="2000" spc="-5" dirty="0">
                <a:latin typeface="Verdana"/>
                <a:cs typeface="Verdana"/>
              </a:rPr>
              <a:t>cho </a:t>
            </a:r>
            <a:r>
              <a:rPr sz="2000" spc="-690" dirty="0">
                <a:latin typeface="Verdana"/>
                <a:cs typeface="Verdana"/>
              </a:rPr>
              <a:t> </a:t>
            </a:r>
            <a:r>
              <a:rPr sz="2000" spc="-10" dirty="0">
                <a:latin typeface="Verdana"/>
                <a:cs typeface="Verdana"/>
              </a:rPr>
              <a:t>biết</a:t>
            </a:r>
            <a:r>
              <a:rPr sz="2000" spc="5" dirty="0">
                <a:latin typeface="Verdana"/>
                <a:cs typeface="Verdana"/>
              </a:rPr>
              <a:t> </a:t>
            </a:r>
            <a:r>
              <a:rPr sz="2000" spc="-10" dirty="0">
                <a:latin typeface="Verdana"/>
                <a:cs typeface="Verdana"/>
              </a:rPr>
              <a:t>điểm</a:t>
            </a:r>
            <a:r>
              <a:rPr sz="2000" spc="5" dirty="0">
                <a:latin typeface="Verdana"/>
                <a:cs typeface="Verdana"/>
              </a:rPr>
              <a:t> </a:t>
            </a:r>
            <a:r>
              <a:rPr sz="2000" spc="-5" dirty="0">
                <a:latin typeface="Verdana"/>
                <a:cs typeface="Verdana"/>
              </a:rPr>
              <a:t>giữa</a:t>
            </a:r>
            <a:r>
              <a:rPr sz="2000" spc="10" dirty="0">
                <a:latin typeface="Verdana"/>
                <a:cs typeface="Verdana"/>
              </a:rPr>
              <a:t> </a:t>
            </a:r>
            <a:r>
              <a:rPr sz="2000" spc="-5" dirty="0">
                <a:latin typeface="Verdana"/>
                <a:cs typeface="Verdana"/>
              </a:rPr>
              <a:t>nằm</a:t>
            </a:r>
            <a:r>
              <a:rPr sz="2000" dirty="0">
                <a:latin typeface="Verdana"/>
                <a:cs typeface="Verdana"/>
              </a:rPr>
              <a:t> </a:t>
            </a:r>
            <a:r>
              <a:rPr sz="2000" spc="-10" dirty="0">
                <a:latin typeface="Verdana"/>
                <a:cs typeface="Verdana"/>
              </a:rPr>
              <a:t>trong hay</a:t>
            </a:r>
            <a:r>
              <a:rPr sz="2000" dirty="0">
                <a:latin typeface="Verdana"/>
                <a:cs typeface="Verdana"/>
              </a:rPr>
              <a:t> </a:t>
            </a:r>
            <a:r>
              <a:rPr sz="2000" spc="-5" dirty="0">
                <a:latin typeface="Verdana"/>
                <a:cs typeface="Verdana"/>
              </a:rPr>
              <a:t>ngoài</a:t>
            </a:r>
            <a:r>
              <a:rPr sz="2000" dirty="0">
                <a:latin typeface="Verdana"/>
                <a:cs typeface="Verdana"/>
              </a:rPr>
              <a:t> </a:t>
            </a:r>
            <a:r>
              <a:rPr sz="2000" spc="-10" dirty="0">
                <a:latin typeface="Verdana"/>
                <a:cs typeface="Verdana"/>
              </a:rPr>
              <a:t>elip.</a:t>
            </a:r>
            <a:endParaRPr sz="2000">
              <a:latin typeface="Verdana"/>
              <a:cs typeface="Verdana"/>
            </a:endParaRPr>
          </a:p>
          <a:p>
            <a:pPr marL="380365" indent="-342900">
              <a:spcBef>
                <a:spcPts val="475"/>
              </a:spcBef>
              <a:buClr>
                <a:schemeClr val="accent1">
                  <a:lumMod val="75000"/>
                </a:schemeClr>
              </a:buClr>
              <a:buSzPct val="150000"/>
              <a:buFont typeface="Arial" panose="020B0604020202020204" pitchFamily="34" charset="0"/>
              <a:buChar char="•"/>
              <a:tabLst>
                <a:tab pos="381635" algn="l"/>
              </a:tabLst>
            </a:pPr>
            <a:r>
              <a:rPr sz="2000" spc="-5" dirty="0">
                <a:latin typeface="Verdana"/>
                <a:cs typeface="Verdana"/>
              </a:rPr>
              <a:t>Với</a:t>
            </a:r>
            <a:r>
              <a:rPr sz="2000" spc="-25" dirty="0">
                <a:latin typeface="Verdana"/>
                <a:cs typeface="Verdana"/>
              </a:rPr>
              <a:t> </a:t>
            </a:r>
            <a:r>
              <a:rPr sz="2000" spc="-5" dirty="0">
                <a:latin typeface="Verdana"/>
                <a:cs typeface="Verdana"/>
              </a:rPr>
              <a:t>vùng</a:t>
            </a:r>
            <a:r>
              <a:rPr sz="2000" spc="-20" dirty="0">
                <a:latin typeface="Verdana"/>
                <a:cs typeface="Verdana"/>
              </a:rPr>
              <a:t> </a:t>
            </a:r>
            <a:r>
              <a:rPr sz="2000" spc="-5" dirty="0">
                <a:latin typeface="Verdana"/>
                <a:cs typeface="Verdana"/>
              </a:rPr>
              <a:t>1:</a:t>
            </a:r>
            <a:endParaRPr sz="2000">
              <a:latin typeface="Verdana"/>
              <a:cs typeface="Verdana"/>
            </a:endParaRPr>
          </a:p>
          <a:p>
            <a:pPr marL="780415" lvl="1" indent="-285750">
              <a:spcBef>
                <a:spcPts val="675"/>
              </a:spcBef>
              <a:buClr>
                <a:schemeClr val="accent1">
                  <a:lumMod val="75000"/>
                </a:schemeClr>
              </a:buClr>
              <a:buSzPct val="150000"/>
              <a:buFont typeface="Arial" panose="020B0604020202020204" pitchFamily="34" charset="0"/>
              <a:buChar char="•"/>
              <a:tabLst>
                <a:tab pos="781685" algn="l"/>
              </a:tabLst>
            </a:pPr>
            <a:r>
              <a:rPr spc="-5" dirty="0">
                <a:latin typeface="Verdana"/>
                <a:cs typeface="Verdana"/>
              </a:rPr>
              <a:t>Tính</a:t>
            </a:r>
            <a:r>
              <a:rPr dirty="0">
                <a:latin typeface="Verdana"/>
                <a:cs typeface="Verdana"/>
              </a:rPr>
              <a:t> </a:t>
            </a:r>
            <a:r>
              <a:rPr spc="-5" dirty="0">
                <a:latin typeface="Verdana"/>
                <a:cs typeface="Verdana"/>
              </a:rPr>
              <a:t>biến</a:t>
            </a:r>
            <a:r>
              <a:rPr spc="10" dirty="0">
                <a:latin typeface="Verdana"/>
                <a:cs typeface="Verdana"/>
              </a:rPr>
              <a:t> </a:t>
            </a:r>
            <a:r>
              <a:rPr spc="-5" dirty="0">
                <a:latin typeface="Verdana"/>
                <a:cs typeface="Verdana"/>
              </a:rPr>
              <a:t>quyết</a:t>
            </a:r>
            <a:r>
              <a:rPr dirty="0">
                <a:latin typeface="Verdana"/>
                <a:cs typeface="Verdana"/>
              </a:rPr>
              <a:t> </a:t>
            </a:r>
            <a:r>
              <a:rPr spc="-5" dirty="0">
                <a:latin typeface="Verdana"/>
                <a:cs typeface="Verdana"/>
              </a:rPr>
              <a:t>định</a:t>
            </a:r>
            <a:r>
              <a:rPr spc="5" dirty="0">
                <a:latin typeface="Verdana"/>
                <a:cs typeface="Verdana"/>
              </a:rPr>
              <a:t> </a:t>
            </a:r>
            <a:r>
              <a:rPr spc="-5" dirty="0">
                <a:latin typeface="Verdana"/>
                <a:cs typeface="Verdana"/>
              </a:rPr>
              <a:t>d=F(x,y)=F(x</a:t>
            </a:r>
            <a:r>
              <a:rPr spc="-7" baseline="-20833" dirty="0">
                <a:latin typeface="Verdana"/>
                <a:cs typeface="Verdana"/>
              </a:rPr>
              <a:t>p</a:t>
            </a:r>
            <a:r>
              <a:rPr spc="-5" dirty="0">
                <a:latin typeface="Verdana"/>
                <a:cs typeface="Verdana"/>
              </a:rPr>
              <a:t>+1,y</a:t>
            </a:r>
            <a:r>
              <a:rPr spc="-7" baseline="-20833" dirty="0">
                <a:latin typeface="Verdana"/>
                <a:cs typeface="Verdana"/>
              </a:rPr>
              <a:t>p</a:t>
            </a:r>
            <a:r>
              <a:rPr spc="-5" dirty="0">
                <a:latin typeface="Verdana"/>
                <a:cs typeface="Verdana"/>
              </a:rPr>
              <a:t>-1/2)</a:t>
            </a:r>
            <a:endParaRPr>
              <a:latin typeface="Verdana"/>
              <a:cs typeface="Verdana"/>
            </a:endParaRPr>
          </a:p>
          <a:p>
            <a:pPr marL="780415" lvl="1" indent="-285750">
              <a:spcBef>
                <a:spcPts val="645"/>
              </a:spcBef>
              <a:buClr>
                <a:schemeClr val="accent1">
                  <a:lumMod val="75000"/>
                </a:schemeClr>
              </a:buClr>
              <a:buSzPct val="150000"/>
              <a:buFont typeface="Arial" panose="020B0604020202020204" pitchFamily="34" charset="0"/>
              <a:buChar char="•"/>
              <a:tabLst>
                <a:tab pos="781685" algn="l"/>
              </a:tabLst>
            </a:pPr>
            <a:r>
              <a:rPr spc="-5" dirty="0">
                <a:latin typeface="Verdana"/>
                <a:cs typeface="Verdana"/>
              </a:rPr>
              <a:t>Nếu d&lt;0:</a:t>
            </a:r>
            <a:r>
              <a:rPr dirty="0">
                <a:latin typeface="Verdana"/>
                <a:cs typeface="Verdana"/>
              </a:rPr>
              <a:t> chọn</a:t>
            </a:r>
            <a:r>
              <a:rPr spc="-5" dirty="0">
                <a:latin typeface="Verdana"/>
                <a:cs typeface="Verdana"/>
              </a:rPr>
              <a:t> E,</a:t>
            </a:r>
            <a:r>
              <a:rPr spc="-15" dirty="0">
                <a:latin typeface="Verdana"/>
                <a:cs typeface="Verdana"/>
              </a:rPr>
              <a:t> </a:t>
            </a:r>
            <a:r>
              <a:rPr dirty="0">
                <a:latin typeface="Verdana"/>
                <a:cs typeface="Verdana"/>
              </a:rPr>
              <a:t>x</a:t>
            </a:r>
            <a:r>
              <a:rPr spc="-5" dirty="0">
                <a:latin typeface="Verdana"/>
                <a:cs typeface="Verdana"/>
              </a:rPr>
              <a:t> tăng </a:t>
            </a:r>
            <a:r>
              <a:rPr dirty="0">
                <a:latin typeface="Verdana"/>
                <a:cs typeface="Verdana"/>
              </a:rPr>
              <a:t>1, y</a:t>
            </a:r>
            <a:r>
              <a:rPr spc="-5" dirty="0">
                <a:latin typeface="Verdana"/>
                <a:cs typeface="Verdana"/>
              </a:rPr>
              <a:t> </a:t>
            </a:r>
            <a:r>
              <a:rPr dirty="0">
                <a:latin typeface="Verdana"/>
                <a:cs typeface="Verdana"/>
              </a:rPr>
              <a:t>không</a:t>
            </a:r>
            <a:r>
              <a:rPr spc="-15" dirty="0">
                <a:latin typeface="Verdana"/>
                <a:cs typeface="Verdana"/>
              </a:rPr>
              <a:t> </a:t>
            </a:r>
            <a:r>
              <a:rPr spc="-10" dirty="0">
                <a:latin typeface="Verdana"/>
                <a:cs typeface="Verdana"/>
              </a:rPr>
              <a:t>thay</a:t>
            </a:r>
            <a:r>
              <a:rPr spc="-5" dirty="0">
                <a:latin typeface="Verdana"/>
                <a:cs typeface="Verdana"/>
              </a:rPr>
              <a:t> đổi</a:t>
            </a:r>
            <a:endParaRPr>
              <a:latin typeface="Verdana"/>
              <a:cs typeface="Verdana"/>
            </a:endParaRPr>
          </a:p>
        </p:txBody>
      </p:sp>
      <p:sp>
        <p:nvSpPr>
          <p:cNvPr id="5" name="object 5"/>
          <p:cNvSpPr txBox="1"/>
          <p:nvPr/>
        </p:nvSpPr>
        <p:spPr>
          <a:xfrm>
            <a:off x="2626867" y="4932426"/>
            <a:ext cx="4721860" cy="299720"/>
          </a:xfrm>
          <a:prstGeom prst="rect">
            <a:avLst/>
          </a:prstGeom>
        </p:spPr>
        <p:txBody>
          <a:bodyPr vert="horz" wrap="square" lIns="0" tIns="12700" rIns="0" bIns="0" rtlCol="0">
            <a:spAutoFit/>
          </a:bodyPr>
          <a:lstStyle/>
          <a:p>
            <a:pPr marL="298450" indent="-285750">
              <a:spcBef>
                <a:spcPts val="100"/>
              </a:spcBef>
              <a:buClr>
                <a:schemeClr val="accent1">
                  <a:lumMod val="75000"/>
                </a:schemeClr>
              </a:buClr>
              <a:buSzPct val="150000"/>
              <a:buFont typeface="Arial" panose="020B0604020202020204" pitchFamily="34" charset="0"/>
              <a:buChar char="•"/>
              <a:tabLst>
                <a:tab pos="298450" algn="l"/>
              </a:tabLst>
            </a:pPr>
            <a:r>
              <a:rPr spc="-5" dirty="0">
                <a:latin typeface="Verdana"/>
                <a:cs typeface="Verdana"/>
              </a:rPr>
              <a:t>Nếu d≥0:</a:t>
            </a:r>
            <a:r>
              <a:rPr dirty="0">
                <a:latin typeface="Verdana"/>
                <a:cs typeface="Verdana"/>
              </a:rPr>
              <a:t> chọn</a:t>
            </a:r>
            <a:r>
              <a:rPr spc="-10" dirty="0">
                <a:latin typeface="Verdana"/>
                <a:cs typeface="Verdana"/>
              </a:rPr>
              <a:t> </a:t>
            </a:r>
            <a:r>
              <a:rPr spc="-5" dirty="0">
                <a:latin typeface="Verdana"/>
                <a:cs typeface="Verdana"/>
              </a:rPr>
              <a:t>SE,</a:t>
            </a:r>
            <a:r>
              <a:rPr spc="-15" dirty="0">
                <a:latin typeface="Verdana"/>
                <a:cs typeface="Verdana"/>
              </a:rPr>
              <a:t> </a:t>
            </a:r>
            <a:r>
              <a:rPr dirty="0">
                <a:latin typeface="Verdana"/>
                <a:cs typeface="Verdana"/>
              </a:rPr>
              <a:t>x</a:t>
            </a:r>
            <a:r>
              <a:rPr spc="-10" dirty="0">
                <a:latin typeface="Verdana"/>
                <a:cs typeface="Verdana"/>
              </a:rPr>
              <a:t> </a:t>
            </a:r>
            <a:r>
              <a:rPr spc="-5" dirty="0">
                <a:latin typeface="Verdana"/>
                <a:cs typeface="Verdana"/>
              </a:rPr>
              <a:t>tăng </a:t>
            </a:r>
            <a:r>
              <a:rPr dirty="0">
                <a:latin typeface="Verdana"/>
                <a:cs typeface="Verdana"/>
              </a:rPr>
              <a:t>1,</a:t>
            </a:r>
            <a:r>
              <a:rPr spc="-5" dirty="0">
                <a:latin typeface="Verdana"/>
                <a:cs typeface="Verdana"/>
              </a:rPr>
              <a:t> </a:t>
            </a:r>
            <a:r>
              <a:rPr dirty="0">
                <a:latin typeface="Verdana"/>
                <a:cs typeface="Verdana"/>
              </a:rPr>
              <a:t>y</a:t>
            </a:r>
            <a:r>
              <a:rPr spc="-10" dirty="0">
                <a:latin typeface="Verdana"/>
                <a:cs typeface="Verdana"/>
              </a:rPr>
              <a:t> </a:t>
            </a:r>
            <a:r>
              <a:rPr spc="-5" dirty="0">
                <a:latin typeface="Verdana"/>
                <a:cs typeface="Verdana"/>
              </a:rPr>
              <a:t>giảm</a:t>
            </a:r>
            <a:r>
              <a:rPr dirty="0">
                <a:latin typeface="Verdana"/>
                <a:cs typeface="Verdana"/>
              </a:rPr>
              <a:t> 1</a:t>
            </a:r>
            <a:endParaRPr>
              <a:latin typeface="Verdana"/>
              <a:cs typeface="Verdana"/>
            </a:endParaRPr>
          </a:p>
        </p:txBody>
      </p:sp>
      <p:sp>
        <p:nvSpPr>
          <p:cNvPr id="6" name="object 6"/>
          <p:cNvSpPr txBox="1"/>
          <p:nvPr/>
        </p:nvSpPr>
        <p:spPr>
          <a:xfrm>
            <a:off x="2697733" y="4810825"/>
            <a:ext cx="3146425" cy="159659"/>
          </a:xfrm>
          <a:prstGeom prst="rect">
            <a:avLst/>
          </a:prstGeom>
        </p:spPr>
        <p:txBody>
          <a:bodyPr vert="horz" wrap="square" lIns="0" tIns="13335" rIns="0" bIns="0" rtlCol="0">
            <a:spAutoFit/>
          </a:bodyPr>
          <a:lstStyle/>
          <a:p>
            <a:pPr marL="12700">
              <a:spcBef>
                <a:spcPts val="105"/>
              </a:spcBef>
              <a:tabLst>
                <a:tab pos="621030" algn="l"/>
                <a:tab pos="1603375" algn="l"/>
                <a:tab pos="2458720" algn="l"/>
                <a:tab pos="3048635" algn="l"/>
              </a:tabLst>
            </a:pPr>
            <a:r>
              <a:rPr sz="950" i="1" spc="140" dirty="0">
                <a:latin typeface="Times New Roman"/>
                <a:cs typeface="Times New Roman"/>
              </a:rPr>
              <a:t>n</a:t>
            </a:r>
            <a:r>
              <a:rPr sz="950" i="1" spc="30" dirty="0">
                <a:latin typeface="Times New Roman"/>
                <a:cs typeface="Times New Roman"/>
              </a:rPr>
              <a:t>e</a:t>
            </a:r>
            <a:r>
              <a:rPr sz="950" i="1" spc="95" dirty="0">
                <a:latin typeface="Times New Roman"/>
                <a:cs typeface="Times New Roman"/>
              </a:rPr>
              <a:t>w</a:t>
            </a:r>
            <a:r>
              <a:rPr sz="950" i="1" dirty="0">
                <a:latin typeface="Times New Roman"/>
                <a:cs typeface="Times New Roman"/>
              </a:rPr>
              <a:t>	</a:t>
            </a:r>
            <a:r>
              <a:rPr sz="950" i="1" spc="140" dirty="0">
                <a:latin typeface="Times New Roman"/>
                <a:cs typeface="Times New Roman"/>
              </a:rPr>
              <a:t>o</a:t>
            </a:r>
            <a:r>
              <a:rPr sz="950" i="1" spc="55" dirty="0">
                <a:latin typeface="Times New Roman"/>
                <a:cs typeface="Times New Roman"/>
              </a:rPr>
              <a:t>ld</a:t>
            </a:r>
            <a:r>
              <a:rPr sz="950" i="1" dirty="0">
                <a:latin typeface="Times New Roman"/>
                <a:cs typeface="Times New Roman"/>
              </a:rPr>
              <a:t>	</a:t>
            </a:r>
            <a:r>
              <a:rPr sz="950" i="1" spc="70" dirty="0">
                <a:latin typeface="Times New Roman"/>
                <a:cs typeface="Times New Roman"/>
              </a:rPr>
              <a:t>p</a:t>
            </a:r>
            <a:r>
              <a:rPr sz="950" i="1" dirty="0">
                <a:latin typeface="Times New Roman"/>
                <a:cs typeface="Times New Roman"/>
              </a:rPr>
              <a:t>	</a:t>
            </a:r>
            <a:r>
              <a:rPr sz="950" i="1" spc="140" dirty="0">
                <a:latin typeface="Times New Roman"/>
                <a:cs typeface="Times New Roman"/>
              </a:rPr>
              <a:t>o</a:t>
            </a:r>
            <a:r>
              <a:rPr sz="950" i="1" spc="55" dirty="0">
                <a:latin typeface="Times New Roman"/>
                <a:cs typeface="Times New Roman"/>
              </a:rPr>
              <a:t>ld</a:t>
            </a:r>
            <a:r>
              <a:rPr sz="950" i="1" dirty="0">
                <a:latin typeface="Times New Roman"/>
                <a:cs typeface="Times New Roman"/>
              </a:rPr>
              <a:t>	</a:t>
            </a:r>
            <a:r>
              <a:rPr sz="950" i="1" spc="85" dirty="0">
                <a:latin typeface="Times New Roman"/>
                <a:cs typeface="Times New Roman"/>
              </a:rPr>
              <a:t>E</a:t>
            </a:r>
            <a:endParaRPr sz="950">
              <a:latin typeface="Times New Roman"/>
              <a:cs typeface="Times New Roman"/>
            </a:endParaRPr>
          </a:p>
        </p:txBody>
      </p:sp>
      <p:sp>
        <p:nvSpPr>
          <p:cNvPr id="7" name="object 7"/>
          <p:cNvSpPr txBox="1"/>
          <p:nvPr/>
        </p:nvSpPr>
        <p:spPr>
          <a:xfrm>
            <a:off x="6684599" y="4441454"/>
            <a:ext cx="95250" cy="159659"/>
          </a:xfrm>
          <a:prstGeom prst="rect">
            <a:avLst/>
          </a:prstGeom>
        </p:spPr>
        <p:txBody>
          <a:bodyPr vert="horz" wrap="square" lIns="0" tIns="13335" rIns="0" bIns="0" rtlCol="0">
            <a:spAutoFit/>
          </a:bodyPr>
          <a:lstStyle/>
          <a:p>
            <a:pPr marL="12700">
              <a:spcBef>
                <a:spcPts val="105"/>
              </a:spcBef>
            </a:pPr>
            <a:r>
              <a:rPr sz="950" i="1" spc="70" dirty="0">
                <a:latin typeface="Times New Roman"/>
                <a:cs typeface="Times New Roman"/>
              </a:rPr>
              <a:t>p</a:t>
            </a:r>
            <a:endParaRPr sz="950">
              <a:latin typeface="Times New Roman"/>
              <a:cs typeface="Times New Roman"/>
            </a:endParaRPr>
          </a:p>
        </p:txBody>
      </p:sp>
      <p:sp>
        <p:nvSpPr>
          <p:cNvPr id="8" name="object 8"/>
          <p:cNvSpPr txBox="1"/>
          <p:nvPr/>
        </p:nvSpPr>
        <p:spPr>
          <a:xfrm>
            <a:off x="5404410" y="4441454"/>
            <a:ext cx="95250" cy="159659"/>
          </a:xfrm>
          <a:prstGeom prst="rect">
            <a:avLst/>
          </a:prstGeom>
        </p:spPr>
        <p:txBody>
          <a:bodyPr vert="horz" wrap="square" lIns="0" tIns="13335" rIns="0" bIns="0" rtlCol="0">
            <a:spAutoFit/>
          </a:bodyPr>
          <a:lstStyle/>
          <a:p>
            <a:pPr marL="12700">
              <a:spcBef>
                <a:spcPts val="105"/>
              </a:spcBef>
            </a:pPr>
            <a:r>
              <a:rPr sz="950" i="1" spc="70" dirty="0">
                <a:latin typeface="Times New Roman"/>
                <a:cs typeface="Times New Roman"/>
              </a:rPr>
              <a:t>p</a:t>
            </a:r>
            <a:endParaRPr sz="950">
              <a:latin typeface="Times New Roman"/>
              <a:cs typeface="Times New Roman"/>
            </a:endParaRPr>
          </a:p>
        </p:txBody>
      </p:sp>
      <p:sp>
        <p:nvSpPr>
          <p:cNvPr id="9" name="object 9"/>
          <p:cNvSpPr txBox="1"/>
          <p:nvPr/>
        </p:nvSpPr>
        <p:spPr>
          <a:xfrm>
            <a:off x="6560653" y="4072892"/>
            <a:ext cx="95250" cy="159659"/>
          </a:xfrm>
          <a:prstGeom prst="rect">
            <a:avLst/>
          </a:prstGeom>
        </p:spPr>
        <p:txBody>
          <a:bodyPr vert="horz" wrap="square" lIns="0" tIns="13335" rIns="0" bIns="0" rtlCol="0">
            <a:spAutoFit/>
          </a:bodyPr>
          <a:lstStyle/>
          <a:p>
            <a:pPr marL="12700">
              <a:spcBef>
                <a:spcPts val="105"/>
              </a:spcBef>
            </a:pPr>
            <a:r>
              <a:rPr sz="950" i="1" spc="70" dirty="0">
                <a:latin typeface="Times New Roman"/>
                <a:cs typeface="Times New Roman"/>
              </a:rPr>
              <a:t>p</a:t>
            </a:r>
            <a:endParaRPr sz="950">
              <a:latin typeface="Times New Roman"/>
              <a:cs typeface="Times New Roman"/>
            </a:endParaRPr>
          </a:p>
        </p:txBody>
      </p:sp>
      <p:sp>
        <p:nvSpPr>
          <p:cNvPr id="10" name="object 10"/>
          <p:cNvSpPr txBox="1"/>
          <p:nvPr/>
        </p:nvSpPr>
        <p:spPr>
          <a:xfrm>
            <a:off x="5323923" y="4072892"/>
            <a:ext cx="95250" cy="159659"/>
          </a:xfrm>
          <a:prstGeom prst="rect">
            <a:avLst/>
          </a:prstGeom>
        </p:spPr>
        <p:txBody>
          <a:bodyPr vert="horz" wrap="square" lIns="0" tIns="13335" rIns="0" bIns="0" rtlCol="0">
            <a:spAutoFit/>
          </a:bodyPr>
          <a:lstStyle/>
          <a:p>
            <a:pPr marL="12700">
              <a:spcBef>
                <a:spcPts val="105"/>
              </a:spcBef>
            </a:pPr>
            <a:r>
              <a:rPr sz="950" i="1" spc="70" dirty="0">
                <a:latin typeface="Times New Roman"/>
                <a:cs typeface="Times New Roman"/>
              </a:rPr>
              <a:t>p</a:t>
            </a:r>
            <a:endParaRPr sz="950">
              <a:latin typeface="Times New Roman"/>
              <a:cs typeface="Times New Roman"/>
            </a:endParaRPr>
          </a:p>
        </p:txBody>
      </p:sp>
      <p:sp>
        <p:nvSpPr>
          <p:cNvPr id="11" name="object 11"/>
          <p:cNvSpPr txBox="1"/>
          <p:nvPr/>
        </p:nvSpPr>
        <p:spPr>
          <a:xfrm>
            <a:off x="4239554" y="4449761"/>
            <a:ext cx="74930" cy="116699"/>
          </a:xfrm>
          <a:prstGeom prst="rect">
            <a:avLst/>
          </a:prstGeom>
        </p:spPr>
        <p:txBody>
          <a:bodyPr vert="horz" wrap="square" lIns="0" tIns="16510" rIns="0" bIns="0" rtlCol="0">
            <a:spAutoFit/>
          </a:bodyPr>
          <a:lstStyle/>
          <a:p>
            <a:pPr marL="12700">
              <a:spcBef>
                <a:spcPts val="130"/>
              </a:spcBef>
            </a:pPr>
            <a:r>
              <a:rPr sz="650" i="1" spc="60" dirty="0">
                <a:latin typeface="Times New Roman"/>
                <a:cs typeface="Times New Roman"/>
              </a:rPr>
              <a:t>p</a:t>
            </a:r>
            <a:endParaRPr sz="650">
              <a:latin typeface="Times New Roman"/>
              <a:cs typeface="Times New Roman"/>
            </a:endParaRPr>
          </a:p>
        </p:txBody>
      </p:sp>
      <p:sp>
        <p:nvSpPr>
          <p:cNvPr id="12" name="object 12"/>
          <p:cNvSpPr txBox="1"/>
          <p:nvPr/>
        </p:nvSpPr>
        <p:spPr>
          <a:xfrm>
            <a:off x="2541114" y="4672305"/>
            <a:ext cx="3239135" cy="263534"/>
          </a:xfrm>
          <a:prstGeom prst="rect">
            <a:avLst/>
          </a:prstGeom>
        </p:spPr>
        <p:txBody>
          <a:bodyPr vert="horz" wrap="square" lIns="0" tIns="17145" rIns="0" bIns="0" rtlCol="0">
            <a:spAutoFit/>
          </a:bodyPr>
          <a:lstStyle/>
          <a:p>
            <a:pPr marL="38100">
              <a:spcBef>
                <a:spcPts val="135"/>
              </a:spcBef>
              <a:tabLst>
                <a:tab pos="464820" algn="l"/>
                <a:tab pos="1031240" algn="l"/>
                <a:tab pos="1895475" algn="l"/>
                <a:tab pos="2869565" algn="l"/>
              </a:tabLst>
            </a:pPr>
            <a:r>
              <a:rPr sz="1600" i="1" spc="135" dirty="0">
                <a:latin typeface="Times New Roman"/>
                <a:cs typeface="Times New Roman"/>
              </a:rPr>
              <a:t>d	</a:t>
            </a:r>
            <a:r>
              <a:rPr sz="1600" spc="145" dirty="0">
                <a:latin typeface="Symbol"/>
                <a:cs typeface="Symbol"/>
              </a:rPr>
              <a:t></a:t>
            </a:r>
            <a:r>
              <a:rPr sz="1600" spc="10" dirty="0">
                <a:latin typeface="Times New Roman"/>
                <a:cs typeface="Times New Roman"/>
              </a:rPr>
              <a:t> </a:t>
            </a:r>
            <a:r>
              <a:rPr sz="1600" i="1" spc="135" dirty="0">
                <a:latin typeface="Times New Roman"/>
                <a:cs typeface="Times New Roman"/>
              </a:rPr>
              <a:t>d</a:t>
            </a:r>
            <a:r>
              <a:rPr sz="1600" i="1" dirty="0">
                <a:latin typeface="Times New Roman"/>
                <a:cs typeface="Times New Roman"/>
              </a:rPr>
              <a:t>	</a:t>
            </a:r>
            <a:r>
              <a:rPr sz="1600" spc="145" dirty="0">
                <a:latin typeface="Symbol"/>
                <a:cs typeface="Symbol"/>
              </a:rPr>
              <a:t></a:t>
            </a:r>
            <a:r>
              <a:rPr sz="1600" spc="-130" dirty="0">
                <a:latin typeface="Times New Roman"/>
                <a:cs typeface="Times New Roman"/>
              </a:rPr>
              <a:t> </a:t>
            </a:r>
            <a:r>
              <a:rPr sz="1600" i="1" spc="220" dirty="0">
                <a:latin typeface="Times New Roman"/>
                <a:cs typeface="Times New Roman"/>
              </a:rPr>
              <a:t>b</a:t>
            </a:r>
            <a:r>
              <a:rPr sz="1425" spc="104" baseline="43859" dirty="0">
                <a:latin typeface="Times New Roman"/>
                <a:cs typeface="Times New Roman"/>
              </a:rPr>
              <a:t>2</a:t>
            </a:r>
            <a:r>
              <a:rPr sz="1425" spc="-60" baseline="43859" dirty="0">
                <a:latin typeface="Times New Roman"/>
                <a:cs typeface="Times New Roman"/>
              </a:rPr>
              <a:t> </a:t>
            </a:r>
            <a:r>
              <a:rPr sz="1600" spc="130" dirty="0">
                <a:latin typeface="Times New Roman"/>
                <a:cs typeface="Times New Roman"/>
              </a:rPr>
              <a:t>(</a:t>
            </a:r>
            <a:r>
              <a:rPr sz="1600" spc="235" dirty="0">
                <a:latin typeface="Times New Roman"/>
                <a:cs typeface="Times New Roman"/>
              </a:rPr>
              <a:t>2</a:t>
            </a:r>
            <a:r>
              <a:rPr sz="1600" i="1" spc="120" dirty="0">
                <a:latin typeface="Times New Roman"/>
                <a:cs typeface="Times New Roman"/>
              </a:rPr>
              <a:t>x</a:t>
            </a:r>
            <a:r>
              <a:rPr sz="1600" i="1" dirty="0">
                <a:latin typeface="Times New Roman"/>
                <a:cs typeface="Times New Roman"/>
              </a:rPr>
              <a:t>	</a:t>
            </a:r>
            <a:r>
              <a:rPr sz="1600" spc="145" dirty="0">
                <a:latin typeface="Symbol"/>
                <a:cs typeface="Symbol"/>
              </a:rPr>
              <a:t></a:t>
            </a:r>
            <a:r>
              <a:rPr sz="1600" spc="-125" dirty="0">
                <a:latin typeface="Times New Roman"/>
                <a:cs typeface="Times New Roman"/>
              </a:rPr>
              <a:t> </a:t>
            </a:r>
            <a:r>
              <a:rPr sz="1600" spc="60" dirty="0">
                <a:latin typeface="Times New Roman"/>
                <a:cs typeface="Times New Roman"/>
              </a:rPr>
              <a:t>3</a:t>
            </a:r>
            <a:r>
              <a:rPr sz="1600" spc="90" dirty="0">
                <a:latin typeface="Times New Roman"/>
                <a:cs typeface="Times New Roman"/>
              </a:rPr>
              <a:t>)</a:t>
            </a:r>
            <a:r>
              <a:rPr sz="1600" spc="15" dirty="0">
                <a:latin typeface="Times New Roman"/>
                <a:cs typeface="Times New Roman"/>
              </a:rPr>
              <a:t> </a:t>
            </a:r>
            <a:r>
              <a:rPr sz="1600" spc="145" dirty="0">
                <a:latin typeface="Symbol"/>
                <a:cs typeface="Symbol"/>
              </a:rPr>
              <a:t></a:t>
            </a:r>
            <a:r>
              <a:rPr sz="1600" spc="15" dirty="0">
                <a:latin typeface="Times New Roman"/>
                <a:cs typeface="Times New Roman"/>
              </a:rPr>
              <a:t> </a:t>
            </a:r>
            <a:r>
              <a:rPr sz="1600" i="1" spc="135" dirty="0">
                <a:latin typeface="Times New Roman"/>
                <a:cs typeface="Times New Roman"/>
              </a:rPr>
              <a:t>d</a:t>
            </a:r>
            <a:r>
              <a:rPr sz="1600" i="1" dirty="0">
                <a:latin typeface="Times New Roman"/>
                <a:cs typeface="Times New Roman"/>
              </a:rPr>
              <a:t>	</a:t>
            </a:r>
            <a:r>
              <a:rPr sz="1600" spc="145" dirty="0">
                <a:latin typeface="Symbol"/>
                <a:cs typeface="Symbol"/>
              </a:rPr>
              <a:t></a:t>
            </a:r>
            <a:r>
              <a:rPr sz="1600" spc="-70" dirty="0">
                <a:latin typeface="Times New Roman"/>
                <a:cs typeface="Times New Roman"/>
              </a:rPr>
              <a:t> </a:t>
            </a:r>
            <a:r>
              <a:rPr sz="1600" spc="165" dirty="0">
                <a:latin typeface="Symbol"/>
                <a:cs typeface="Symbol"/>
              </a:rPr>
              <a:t></a:t>
            </a:r>
            <a:endParaRPr sz="1600">
              <a:latin typeface="Symbol"/>
              <a:cs typeface="Symbol"/>
            </a:endParaRPr>
          </a:p>
        </p:txBody>
      </p:sp>
      <p:sp>
        <p:nvSpPr>
          <p:cNvPr id="13" name="object 13"/>
          <p:cNvSpPr txBox="1"/>
          <p:nvPr/>
        </p:nvSpPr>
        <p:spPr>
          <a:xfrm>
            <a:off x="7010444" y="4449758"/>
            <a:ext cx="95250" cy="159659"/>
          </a:xfrm>
          <a:prstGeom prst="rect">
            <a:avLst/>
          </a:prstGeom>
        </p:spPr>
        <p:txBody>
          <a:bodyPr vert="horz" wrap="square" lIns="0" tIns="13335" rIns="0" bIns="0" rtlCol="0">
            <a:spAutoFit/>
          </a:bodyPr>
          <a:lstStyle/>
          <a:p>
            <a:pPr marL="12700">
              <a:spcBef>
                <a:spcPts val="105"/>
              </a:spcBef>
            </a:pPr>
            <a:r>
              <a:rPr sz="950" spc="70" dirty="0">
                <a:latin typeface="Times New Roman"/>
                <a:cs typeface="Times New Roman"/>
              </a:rPr>
              <a:t>2</a:t>
            </a:r>
            <a:endParaRPr sz="950">
              <a:latin typeface="Times New Roman"/>
              <a:cs typeface="Times New Roman"/>
            </a:endParaRPr>
          </a:p>
        </p:txBody>
      </p:sp>
      <p:sp>
        <p:nvSpPr>
          <p:cNvPr id="14" name="object 14"/>
          <p:cNvSpPr txBox="1"/>
          <p:nvPr/>
        </p:nvSpPr>
        <p:spPr>
          <a:xfrm>
            <a:off x="6794838" y="4302927"/>
            <a:ext cx="1155700" cy="263534"/>
          </a:xfrm>
          <a:prstGeom prst="rect">
            <a:avLst/>
          </a:prstGeom>
        </p:spPr>
        <p:txBody>
          <a:bodyPr vert="horz" wrap="square" lIns="0" tIns="17145" rIns="0" bIns="0" rtlCol="0">
            <a:spAutoFit/>
          </a:bodyPr>
          <a:lstStyle/>
          <a:p>
            <a:pPr marL="38100">
              <a:spcBef>
                <a:spcPts val="135"/>
              </a:spcBef>
            </a:pPr>
            <a:r>
              <a:rPr sz="1600" spc="145" dirty="0">
                <a:latin typeface="Symbol"/>
                <a:cs typeface="Symbol"/>
              </a:rPr>
              <a:t></a:t>
            </a:r>
            <a:r>
              <a:rPr sz="1600" spc="50" dirty="0">
                <a:latin typeface="Times New Roman"/>
                <a:cs typeface="Times New Roman"/>
              </a:rPr>
              <a:t> </a:t>
            </a:r>
            <a:r>
              <a:rPr sz="1425" u="sng" spc="104" baseline="32163" dirty="0">
                <a:uFill>
                  <a:solidFill>
                    <a:srgbClr val="000000"/>
                  </a:solidFill>
                </a:uFill>
                <a:latin typeface="Times New Roman"/>
                <a:cs typeface="Times New Roman"/>
              </a:rPr>
              <a:t>1</a:t>
            </a:r>
            <a:r>
              <a:rPr sz="1425" spc="-60" baseline="32163" dirty="0">
                <a:latin typeface="Times New Roman"/>
                <a:cs typeface="Times New Roman"/>
              </a:rPr>
              <a:t> </a:t>
            </a:r>
            <a:r>
              <a:rPr sz="1600" spc="170" dirty="0">
                <a:latin typeface="Times New Roman"/>
                <a:cs typeface="Times New Roman"/>
              </a:rPr>
              <a:t>)</a:t>
            </a:r>
            <a:r>
              <a:rPr sz="1425" spc="104" baseline="43859" dirty="0">
                <a:latin typeface="Times New Roman"/>
                <a:cs typeface="Times New Roman"/>
              </a:rPr>
              <a:t>2</a:t>
            </a:r>
            <a:r>
              <a:rPr sz="1425" baseline="43859" dirty="0">
                <a:latin typeface="Times New Roman"/>
                <a:cs typeface="Times New Roman"/>
              </a:rPr>
              <a:t> </a:t>
            </a:r>
            <a:r>
              <a:rPr sz="1425" spc="15" baseline="43859" dirty="0">
                <a:latin typeface="Times New Roman"/>
                <a:cs typeface="Times New Roman"/>
              </a:rPr>
              <a:t> </a:t>
            </a:r>
            <a:r>
              <a:rPr sz="1600" spc="145" dirty="0">
                <a:latin typeface="Symbol"/>
                <a:cs typeface="Symbol"/>
              </a:rPr>
              <a:t></a:t>
            </a:r>
            <a:r>
              <a:rPr sz="1600" spc="-100" dirty="0">
                <a:latin typeface="Times New Roman"/>
                <a:cs typeface="Times New Roman"/>
              </a:rPr>
              <a:t> </a:t>
            </a:r>
            <a:r>
              <a:rPr sz="1600" i="1" spc="250" dirty="0">
                <a:latin typeface="Times New Roman"/>
                <a:cs typeface="Times New Roman"/>
              </a:rPr>
              <a:t>a</a:t>
            </a:r>
            <a:r>
              <a:rPr sz="1425" spc="142" baseline="43859" dirty="0">
                <a:latin typeface="Times New Roman"/>
                <a:cs typeface="Times New Roman"/>
              </a:rPr>
              <a:t>2</a:t>
            </a:r>
            <a:r>
              <a:rPr sz="1600" i="1" spc="220" dirty="0">
                <a:latin typeface="Times New Roman"/>
                <a:cs typeface="Times New Roman"/>
              </a:rPr>
              <a:t>b</a:t>
            </a:r>
            <a:r>
              <a:rPr sz="1425" spc="104" baseline="43859" dirty="0">
                <a:latin typeface="Times New Roman"/>
                <a:cs typeface="Times New Roman"/>
              </a:rPr>
              <a:t>2</a:t>
            </a:r>
            <a:endParaRPr sz="1425" baseline="43859">
              <a:latin typeface="Times New Roman"/>
              <a:cs typeface="Times New Roman"/>
            </a:endParaRPr>
          </a:p>
        </p:txBody>
      </p:sp>
      <p:sp>
        <p:nvSpPr>
          <p:cNvPr id="15" name="object 15"/>
          <p:cNvSpPr txBox="1"/>
          <p:nvPr/>
        </p:nvSpPr>
        <p:spPr>
          <a:xfrm>
            <a:off x="5514455" y="4302927"/>
            <a:ext cx="1200785" cy="263534"/>
          </a:xfrm>
          <a:prstGeom prst="rect">
            <a:avLst/>
          </a:prstGeom>
        </p:spPr>
        <p:txBody>
          <a:bodyPr vert="horz" wrap="square" lIns="0" tIns="17145" rIns="0" bIns="0" rtlCol="0">
            <a:spAutoFit/>
          </a:bodyPr>
          <a:lstStyle/>
          <a:p>
            <a:pPr marL="38100">
              <a:spcBef>
                <a:spcPts val="135"/>
              </a:spcBef>
            </a:pPr>
            <a:r>
              <a:rPr sz="1600" spc="145" dirty="0">
                <a:latin typeface="Symbol"/>
                <a:cs typeface="Symbol"/>
              </a:rPr>
              <a:t></a:t>
            </a:r>
            <a:r>
              <a:rPr sz="1600" spc="-70" dirty="0">
                <a:latin typeface="Times New Roman"/>
                <a:cs typeface="Times New Roman"/>
              </a:rPr>
              <a:t> </a:t>
            </a:r>
            <a:r>
              <a:rPr sz="1600" spc="120" dirty="0">
                <a:latin typeface="Times New Roman"/>
                <a:cs typeface="Times New Roman"/>
              </a:rPr>
              <a:t>2</a:t>
            </a:r>
            <a:r>
              <a:rPr sz="1600" spc="170" dirty="0">
                <a:latin typeface="Times New Roman"/>
                <a:cs typeface="Times New Roman"/>
              </a:rPr>
              <a:t>)</a:t>
            </a:r>
            <a:r>
              <a:rPr sz="1425" spc="104" baseline="43859" dirty="0">
                <a:latin typeface="Times New Roman"/>
                <a:cs typeface="Times New Roman"/>
              </a:rPr>
              <a:t>2</a:t>
            </a:r>
            <a:r>
              <a:rPr sz="1425" baseline="43859" dirty="0">
                <a:latin typeface="Times New Roman"/>
                <a:cs typeface="Times New Roman"/>
              </a:rPr>
              <a:t> </a:t>
            </a:r>
            <a:r>
              <a:rPr sz="1425" spc="15" baseline="43859" dirty="0">
                <a:latin typeface="Times New Roman"/>
                <a:cs typeface="Times New Roman"/>
              </a:rPr>
              <a:t> </a:t>
            </a:r>
            <a:r>
              <a:rPr sz="1600" spc="145" dirty="0">
                <a:latin typeface="Symbol"/>
                <a:cs typeface="Symbol"/>
              </a:rPr>
              <a:t></a:t>
            </a:r>
            <a:r>
              <a:rPr sz="1600" spc="-70" dirty="0">
                <a:latin typeface="Times New Roman"/>
                <a:cs typeface="Times New Roman"/>
              </a:rPr>
              <a:t> </a:t>
            </a:r>
            <a:r>
              <a:rPr sz="1600" i="1" spc="250" dirty="0">
                <a:latin typeface="Times New Roman"/>
                <a:cs typeface="Times New Roman"/>
              </a:rPr>
              <a:t>a</a:t>
            </a:r>
            <a:r>
              <a:rPr sz="1425" spc="104" baseline="43859" dirty="0">
                <a:latin typeface="Times New Roman"/>
                <a:cs typeface="Times New Roman"/>
              </a:rPr>
              <a:t>2</a:t>
            </a:r>
            <a:r>
              <a:rPr sz="1425" spc="-60" baseline="43859" dirty="0">
                <a:latin typeface="Times New Roman"/>
                <a:cs typeface="Times New Roman"/>
              </a:rPr>
              <a:t> </a:t>
            </a:r>
            <a:r>
              <a:rPr sz="1600" spc="90" dirty="0">
                <a:latin typeface="Times New Roman"/>
                <a:cs typeface="Times New Roman"/>
              </a:rPr>
              <a:t>(</a:t>
            </a:r>
            <a:r>
              <a:rPr sz="1600" spc="-185" dirty="0">
                <a:latin typeface="Times New Roman"/>
                <a:cs typeface="Times New Roman"/>
              </a:rPr>
              <a:t> </a:t>
            </a:r>
            <a:r>
              <a:rPr sz="1600" i="1" spc="120" dirty="0">
                <a:latin typeface="Times New Roman"/>
                <a:cs typeface="Times New Roman"/>
              </a:rPr>
              <a:t>y</a:t>
            </a:r>
            <a:endParaRPr sz="1600">
              <a:latin typeface="Times New Roman"/>
              <a:cs typeface="Times New Roman"/>
            </a:endParaRPr>
          </a:p>
        </p:txBody>
      </p:sp>
      <p:sp>
        <p:nvSpPr>
          <p:cNvPr id="16" name="object 16"/>
          <p:cNvSpPr txBox="1"/>
          <p:nvPr/>
        </p:nvSpPr>
        <p:spPr>
          <a:xfrm>
            <a:off x="2697733" y="4449758"/>
            <a:ext cx="1958339" cy="159659"/>
          </a:xfrm>
          <a:prstGeom prst="rect">
            <a:avLst/>
          </a:prstGeom>
        </p:spPr>
        <p:txBody>
          <a:bodyPr vert="horz" wrap="square" lIns="0" tIns="13335" rIns="0" bIns="0" rtlCol="0">
            <a:spAutoFit/>
          </a:bodyPr>
          <a:lstStyle/>
          <a:p>
            <a:pPr marL="12700">
              <a:spcBef>
                <a:spcPts val="105"/>
              </a:spcBef>
              <a:tabLst>
                <a:tab pos="885825" algn="l"/>
                <a:tab pos="1875789" algn="l"/>
              </a:tabLst>
            </a:pPr>
            <a:r>
              <a:rPr sz="1425" i="1" spc="209" baseline="2923" dirty="0">
                <a:latin typeface="Times New Roman"/>
                <a:cs typeface="Times New Roman"/>
              </a:rPr>
              <a:t>n</a:t>
            </a:r>
            <a:r>
              <a:rPr sz="1425" i="1" spc="44" baseline="2923" dirty="0">
                <a:latin typeface="Times New Roman"/>
                <a:cs typeface="Times New Roman"/>
              </a:rPr>
              <a:t>e</a:t>
            </a:r>
            <a:r>
              <a:rPr sz="1425" i="1" spc="142" baseline="2923" dirty="0">
                <a:latin typeface="Times New Roman"/>
                <a:cs typeface="Times New Roman"/>
              </a:rPr>
              <a:t>w</a:t>
            </a:r>
            <a:r>
              <a:rPr sz="1425" i="1" baseline="2923" dirty="0">
                <a:latin typeface="Times New Roman"/>
                <a:cs typeface="Times New Roman"/>
              </a:rPr>
              <a:t>	</a:t>
            </a:r>
            <a:r>
              <a:rPr sz="1425" i="1" spc="104" baseline="2923" dirty="0">
                <a:latin typeface="Times New Roman"/>
                <a:cs typeface="Times New Roman"/>
              </a:rPr>
              <a:t>p</a:t>
            </a:r>
            <a:r>
              <a:rPr sz="1425" i="1" baseline="2923" dirty="0">
                <a:latin typeface="Times New Roman"/>
                <a:cs typeface="Times New Roman"/>
              </a:rPr>
              <a:t>	</a:t>
            </a:r>
            <a:r>
              <a:rPr sz="950" spc="70" dirty="0">
                <a:latin typeface="Times New Roman"/>
                <a:cs typeface="Times New Roman"/>
              </a:rPr>
              <a:t>2</a:t>
            </a:r>
            <a:endParaRPr sz="950">
              <a:latin typeface="Times New Roman"/>
              <a:cs typeface="Times New Roman"/>
            </a:endParaRPr>
          </a:p>
        </p:txBody>
      </p:sp>
      <p:sp>
        <p:nvSpPr>
          <p:cNvPr id="17" name="object 17"/>
          <p:cNvSpPr txBox="1"/>
          <p:nvPr/>
        </p:nvSpPr>
        <p:spPr>
          <a:xfrm>
            <a:off x="2541113" y="4302927"/>
            <a:ext cx="2909570" cy="263534"/>
          </a:xfrm>
          <a:prstGeom prst="rect">
            <a:avLst/>
          </a:prstGeom>
        </p:spPr>
        <p:txBody>
          <a:bodyPr vert="horz" wrap="square" lIns="0" tIns="17145" rIns="0" bIns="0" rtlCol="0">
            <a:spAutoFit/>
          </a:bodyPr>
          <a:lstStyle/>
          <a:p>
            <a:pPr marL="38100">
              <a:spcBef>
                <a:spcPts val="135"/>
              </a:spcBef>
              <a:tabLst>
                <a:tab pos="464820" algn="l"/>
                <a:tab pos="1177925" algn="l"/>
                <a:tab pos="1842135" algn="l"/>
              </a:tabLst>
            </a:pPr>
            <a:r>
              <a:rPr sz="1600" i="1" spc="135" dirty="0">
                <a:latin typeface="Times New Roman"/>
                <a:cs typeface="Times New Roman"/>
              </a:rPr>
              <a:t>d	</a:t>
            </a:r>
            <a:r>
              <a:rPr sz="1600" spc="145" dirty="0">
                <a:latin typeface="Symbol"/>
                <a:cs typeface="Symbol"/>
              </a:rPr>
              <a:t></a:t>
            </a:r>
            <a:r>
              <a:rPr sz="1600" spc="70" dirty="0">
                <a:latin typeface="Times New Roman"/>
                <a:cs typeface="Times New Roman"/>
              </a:rPr>
              <a:t> </a:t>
            </a:r>
            <a:r>
              <a:rPr sz="1600" i="1" spc="165" dirty="0">
                <a:latin typeface="Times New Roman"/>
                <a:cs typeface="Times New Roman"/>
              </a:rPr>
              <a:t>F</a:t>
            </a:r>
            <a:r>
              <a:rPr sz="1600" i="1" spc="-215" dirty="0">
                <a:latin typeface="Times New Roman"/>
                <a:cs typeface="Times New Roman"/>
              </a:rPr>
              <a:t> </a:t>
            </a:r>
            <a:r>
              <a:rPr sz="1600" spc="165" dirty="0">
                <a:latin typeface="Times New Roman"/>
                <a:cs typeface="Times New Roman"/>
              </a:rPr>
              <a:t>(</a:t>
            </a:r>
            <a:r>
              <a:rPr sz="1600" i="1" spc="165" dirty="0">
                <a:latin typeface="Times New Roman"/>
                <a:cs typeface="Times New Roman"/>
              </a:rPr>
              <a:t>x	</a:t>
            </a:r>
            <a:r>
              <a:rPr sz="1600" spc="145" dirty="0">
                <a:latin typeface="Symbol"/>
                <a:cs typeface="Symbol"/>
              </a:rPr>
              <a:t></a:t>
            </a:r>
            <a:r>
              <a:rPr sz="1600" spc="-65" dirty="0">
                <a:latin typeface="Times New Roman"/>
                <a:cs typeface="Times New Roman"/>
              </a:rPr>
              <a:t> </a:t>
            </a:r>
            <a:r>
              <a:rPr sz="1600" spc="75" dirty="0">
                <a:latin typeface="Times New Roman"/>
                <a:cs typeface="Times New Roman"/>
              </a:rPr>
              <a:t>2,</a:t>
            </a:r>
            <a:r>
              <a:rPr sz="1600" spc="5" dirty="0">
                <a:latin typeface="Times New Roman"/>
                <a:cs typeface="Times New Roman"/>
              </a:rPr>
              <a:t> </a:t>
            </a:r>
            <a:r>
              <a:rPr sz="1600" i="1" spc="120" dirty="0">
                <a:latin typeface="Times New Roman"/>
                <a:cs typeface="Times New Roman"/>
              </a:rPr>
              <a:t>y	</a:t>
            </a:r>
            <a:r>
              <a:rPr sz="1600" spc="145" dirty="0">
                <a:latin typeface="Symbol"/>
                <a:cs typeface="Symbol"/>
              </a:rPr>
              <a:t></a:t>
            </a:r>
            <a:r>
              <a:rPr sz="1600" spc="30" dirty="0">
                <a:latin typeface="Times New Roman"/>
                <a:cs typeface="Times New Roman"/>
              </a:rPr>
              <a:t> </a:t>
            </a:r>
            <a:r>
              <a:rPr sz="1425" u="sng" spc="104" baseline="32163" dirty="0">
                <a:uFill>
                  <a:solidFill>
                    <a:srgbClr val="000000"/>
                  </a:solidFill>
                </a:uFill>
                <a:latin typeface="Times New Roman"/>
                <a:cs typeface="Times New Roman"/>
              </a:rPr>
              <a:t>1</a:t>
            </a:r>
            <a:r>
              <a:rPr sz="1425" spc="-75" baseline="32163" dirty="0">
                <a:latin typeface="Times New Roman"/>
                <a:cs typeface="Times New Roman"/>
              </a:rPr>
              <a:t> </a:t>
            </a:r>
            <a:r>
              <a:rPr sz="1600" spc="90" dirty="0">
                <a:latin typeface="Times New Roman"/>
                <a:cs typeface="Times New Roman"/>
              </a:rPr>
              <a:t>)</a:t>
            </a:r>
            <a:r>
              <a:rPr sz="1600" dirty="0">
                <a:latin typeface="Times New Roman"/>
                <a:cs typeface="Times New Roman"/>
              </a:rPr>
              <a:t> </a:t>
            </a:r>
            <a:r>
              <a:rPr sz="1600" spc="145" dirty="0">
                <a:latin typeface="Symbol"/>
                <a:cs typeface="Symbol"/>
              </a:rPr>
              <a:t></a:t>
            </a:r>
            <a:r>
              <a:rPr sz="1600" spc="-55" dirty="0">
                <a:latin typeface="Times New Roman"/>
                <a:cs typeface="Times New Roman"/>
              </a:rPr>
              <a:t> </a:t>
            </a:r>
            <a:r>
              <a:rPr sz="1600" i="1" spc="145" dirty="0">
                <a:latin typeface="Times New Roman"/>
                <a:cs typeface="Times New Roman"/>
              </a:rPr>
              <a:t>b</a:t>
            </a:r>
            <a:r>
              <a:rPr sz="1425" spc="217" baseline="43859" dirty="0">
                <a:latin typeface="Times New Roman"/>
                <a:cs typeface="Times New Roman"/>
              </a:rPr>
              <a:t>2</a:t>
            </a:r>
            <a:r>
              <a:rPr sz="1425" spc="-67" baseline="43859" dirty="0">
                <a:latin typeface="Times New Roman"/>
                <a:cs typeface="Times New Roman"/>
              </a:rPr>
              <a:t> </a:t>
            </a:r>
            <a:r>
              <a:rPr sz="1600" spc="165" dirty="0">
                <a:latin typeface="Times New Roman"/>
                <a:cs typeface="Times New Roman"/>
              </a:rPr>
              <a:t>(</a:t>
            </a:r>
            <a:r>
              <a:rPr sz="1600" i="1" spc="165" dirty="0">
                <a:latin typeface="Times New Roman"/>
                <a:cs typeface="Times New Roman"/>
              </a:rPr>
              <a:t>x</a:t>
            </a:r>
            <a:endParaRPr sz="1600">
              <a:latin typeface="Times New Roman"/>
              <a:cs typeface="Times New Roman"/>
            </a:endParaRPr>
          </a:p>
        </p:txBody>
      </p:sp>
      <p:sp>
        <p:nvSpPr>
          <p:cNvPr id="18" name="object 18"/>
          <p:cNvSpPr txBox="1"/>
          <p:nvPr/>
        </p:nvSpPr>
        <p:spPr>
          <a:xfrm>
            <a:off x="6886303" y="4081212"/>
            <a:ext cx="95250" cy="159659"/>
          </a:xfrm>
          <a:prstGeom prst="rect">
            <a:avLst/>
          </a:prstGeom>
        </p:spPr>
        <p:txBody>
          <a:bodyPr vert="horz" wrap="square" lIns="0" tIns="13335" rIns="0" bIns="0" rtlCol="0">
            <a:spAutoFit/>
          </a:bodyPr>
          <a:lstStyle/>
          <a:p>
            <a:pPr marL="12700">
              <a:spcBef>
                <a:spcPts val="105"/>
              </a:spcBef>
            </a:pPr>
            <a:r>
              <a:rPr sz="950" spc="70" dirty="0">
                <a:latin typeface="Times New Roman"/>
                <a:cs typeface="Times New Roman"/>
              </a:rPr>
              <a:t>2</a:t>
            </a:r>
            <a:endParaRPr sz="950">
              <a:latin typeface="Times New Roman"/>
              <a:cs typeface="Times New Roman"/>
            </a:endParaRPr>
          </a:p>
        </p:txBody>
      </p:sp>
      <p:sp>
        <p:nvSpPr>
          <p:cNvPr id="19" name="object 19"/>
          <p:cNvSpPr txBox="1"/>
          <p:nvPr/>
        </p:nvSpPr>
        <p:spPr>
          <a:xfrm>
            <a:off x="6670697" y="3934381"/>
            <a:ext cx="1155700" cy="263534"/>
          </a:xfrm>
          <a:prstGeom prst="rect">
            <a:avLst/>
          </a:prstGeom>
        </p:spPr>
        <p:txBody>
          <a:bodyPr vert="horz" wrap="square" lIns="0" tIns="17145" rIns="0" bIns="0" rtlCol="0">
            <a:spAutoFit/>
          </a:bodyPr>
          <a:lstStyle/>
          <a:p>
            <a:pPr marL="38100">
              <a:spcBef>
                <a:spcPts val="135"/>
              </a:spcBef>
            </a:pPr>
            <a:r>
              <a:rPr sz="1600" spc="145" dirty="0">
                <a:latin typeface="Symbol"/>
                <a:cs typeface="Symbol"/>
              </a:rPr>
              <a:t></a:t>
            </a:r>
            <a:r>
              <a:rPr sz="1600" spc="50" dirty="0">
                <a:latin typeface="Times New Roman"/>
                <a:cs typeface="Times New Roman"/>
              </a:rPr>
              <a:t> </a:t>
            </a:r>
            <a:r>
              <a:rPr sz="1425" u="sng" spc="104" baseline="32163" dirty="0">
                <a:uFill>
                  <a:solidFill>
                    <a:srgbClr val="000000"/>
                  </a:solidFill>
                </a:uFill>
                <a:latin typeface="Times New Roman"/>
                <a:cs typeface="Times New Roman"/>
              </a:rPr>
              <a:t>1</a:t>
            </a:r>
            <a:r>
              <a:rPr sz="1425" spc="-60" baseline="32163" dirty="0">
                <a:latin typeface="Times New Roman"/>
                <a:cs typeface="Times New Roman"/>
              </a:rPr>
              <a:t> </a:t>
            </a:r>
            <a:r>
              <a:rPr sz="1600" spc="170" dirty="0">
                <a:latin typeface="Times New Roman"/>
                <a:cs typeface="Times New Roman"/>
              </a:rPr>
              <a:t>)</a:t>
            </a:r>
            <a:r>
              <a:rPr sz="1425" spc="104" baseline="43859" dirty="0">
                <a:latin typeface="Times New Roman"/>
                <a:cs typeface="Times New Roman"/>
              </a:rPr>
              <a:t>2</a:t>
            </a:r>
            <a:r>
              <a:rPr sz="1425" baseline="43859" dirty="0">
                <a:latin typeface="Times New Roman"/>
                <a:cs typeface="Times New Roman"/>
              </a:rPr>
              <a:t> </a:t>
            </a:r>
            <a:r>
              <a:rPr sz="1425" spc="15" baseline="43859" dirty="0">
                <a:latin typeface="Times New Roman"/>
                <a:cs typeface="Times New Roman"/>
              </a:rPr>
              <a:t> </a:t>
            </a:r>
            <a:r>
              <a:rPr sz="1600" spc="145" dirty="0">
                <a:latin typeface="Symbol"/>
                <a:cs typeface="Symbol"/>
              </a:rPr>
              <a:t></a:t>
            </a:r>
            <a:r>
              <a:rPr sz="1600" spc="-100" dirty="0">
                <a:latin typeface="Times New Roman"/>
                <a:cs typeface="Times New Roman"/>
              </a:rPr>
              <a:t> </a:t>
            </a:r>
            <a:r>
              <a:rPr sz="1600" i="1" spc="250" dirty="0">
                <a:latin typeface="Times New Roman"/>
                <a:cs typeface="Times New Roman"/>
              </a:rPr>
              <a:t>a</a:t>
            </a:r>
            <a:r>
              <a:rPr sz="1425" spc="142" baseline="43859" dirty="0">
                <a:latin typeface="Times New Roman"/>
                <a:cs typeface="Times New Roman"/>
              </a:rPr>
              <a:t>2</a:t>
            </a:r>
            <a:r>
              <a:rPr sz="1600" i="1" spc="225" dirty="0">
                <a:latin typeface="Times New Roman"/>
                <a:cs typeface="Times New Roman"/>
              </a:rPr>
              <a:t>b</a:t>
            </a:r>
            <a:r>
              <a:rPr sz="1425" spc="104" baseline="43859" dirty="0">
                <a:latin typeface="Times New Roman"/>
                <a:cs typeface="Times New Roman"/>
              </a:rPr>
              <a:t>2</a:t>
            </a:r>
            <a:endParaRPr sz="1425" baseline="43859">
              <a:latin typeface="Times New Roman"/>
              <a:cs typeface="Times New Roman"/>
            </a:endParaRPr>
          </a:p>
        </p:txBody>
      </p:sp>
      <p:sp>
        <p:nvSpPr>
          <p:cNvPr id="20" name="object 20"/>
          <p:cNvSpPr txBox="1"/>
          <p:nvPr/>
        </p:nvSpPr>
        <p:spPr>
          <a:xfrm>
            <a:off x="5434553" y="3934381"/>
            <a:ext cx="1156335" cy="263534"/>
          </a:xfrm>
          <a:prstGeom prst="rect">
            <a:avLst/>
          </a:prstGeom>
        </p:spPr>
        <p:txBody>
          <a:bodyPr vert="horz" wrap="square" lIns="0" tIns="17145" rIns="0" bIns="0" rtlCol="0">
            <a:spAutoFit/>
          </a:bodyPr>
          <a:lstStyle/>
          <a:p>
            <a:pPr marL="38100">
              <a:spcBef>
                <a:spcPts val="135"/>
              </a:spcBef>
            </a:pPr>
            <a:r>
              <a:rPr sz="1600" spc="270" dirty="0">
                <a:latin typeface="Symbol"/>
                <a:cs typeface="Symbol"/>
              </a:rPr>
              <a:t></a:t>
            </a:r>
            <a:r>
              <a:rPr sz="1600" spc="-20" dirty="0">
                <a:latin typeface="Times New Roman"/>
                <a:cs typeface="Times New Roman"/>
              </a:rPr>
              <a:t>1</a:t>
            </a:r>
            <a:r>
              <a:rPr sz="1600" spc="170" dirty="0">
                <a:latin typeface="Times New Roman"/>
                <a:cs typeface="Times New Roman"/>
              </a:rPr>
              <a:t>)</a:t>
            </a:r>
            <a:r>
              <a:rPr sz="1425" spc="104" baseline="43859" dirty="0">
                <a:latin typeface="Times New Roman"/>
                <a:cs typeface="Times New Roman"/>
              </a:rPr>
              <a:t>2</a:t>
            </a:r>
            <a:r>
              <a:rPr sz="1425" baseline="43859" dirty="0">
                <a:latin typeface="Times New Roman"/>
                <a:cs typeface="Times New Roman"/>
              </a:rPr>
              <a:t> </a:t>
            </a:r>
            <a:r>
              <a:rPr sz="1425" spc="15" baseline="43859" dirty="0">
                <a:latin typeface="Times New Roman"/>
                <a:cs typeface="Times New Roman"/>
              </a:rPr>
              <a:t> </a:t>
            </a:r>
            <a:r>
              <a:rPr sz="1600" spc="145" dirty="0">
                <a:latin typeface="Symbol"/>
                <a:cs typeface="Symbol"/>
              </a:rPr>
              <a:t></a:t>
            </a:r>
            <a:r>
              <a:rPr sz="1600" spc="-70" dirty="0">
                <a:latin typeface="Times New Roman"/>
                <a:cs typeface="Times New Roman"/>
              </a:rPr>
              <a:t> </a:t>
            </a:r>
            <a:r>
              <a:rPr sz="1600" i="1" spc="250" dirty="0">
                <a:latin typeface="Times New Roman"/>
                <a:cs typeface="Times New Roman"/>
              </a:rPr>
              <a:t>a</a:t>
            </a:r>
            <a:r>
              <a:rPr sz="1425" spc="104" baseline="43859" dirty="0">
                <a:latin typeface="Times New Roman"/>
                <a:cs typeface="Times New Roman"/>
              </a:rPr>
              <a:t>2</a:t>
            </a:r>
            <a:r>
              <a:rPr sz="1425" spc="-60" baseline="43859" dirty="0">
                <a:latin typeface="Times New Roman"/>
                <a:cs typeface="Times New Roman"/>
              </a:rPr>
              <a:t> </a:t>
            </a:r>
            <a:r>
              <a:rPr sz="1600" spc="90" dirty="0">
                <a:latin typeface="Times New Roman"/>
                <a:cs typeface="Times New Roman"/>
              </a:rPr>
              <a:t>(</a:t>
            </a:r>
            <a:r>
              <a:rPr sz="1600" spc="-190" dirty="0">
                <a:latin typeface="Times New Roman"/>
                <a:cs typeface="Times New Roman"/>
              </a:rPr>
              <a:t> </a:t>
            </a:r>
            <a:r>
              <a:rPr sz="1600" i="1" spc="120" dirty="0">
                <a:latin typeface="Times New Roman"/>
                <a:cs typeface="Times New Roman"/>
              </a:rPr>
              <a:t>y</a:t>
            </a:r>
            <a:endParaRPr sz="1600">
              <a:latin typeface="Times New Roman"/>
              <a:cs typeface="Times New Roman"/>
            </a:endParaRPr>
          </a:p>
        </p:txBody>
      </p:sp>
      <p:sp>
        <p:nvSpPr>
          <p:cNvPr id="21" name="object 21"/>
          <p:cNvSpPr txBox="1"/>
          <p:nvPr/>
        </p:nvSpPr>
        <p:spPr>
          <a:xfrm>
            <a:off x="2528414" y="3934382"/>
            <a:ext cx="2855595" cy="299441"/>
          </a:xfrm>
          <a:prstGeom prst="rect">
            <a:avLst/>
          </a:prstGeom>
        </p:spPr>
        <p:txBody>
          <a:bodyPr vert="horz" wrap="square" lIns="0" tIns="17145" rIns="0" bIns="0" rtlCol="0">
            <a:spAutoFit/>
          </a:bodyPr>
          <a:lstStyle/>
          <a:p>
            <a:pPr marL="50800">
              <a:lnSpc>
                <a:spcPts val="1520"/>
              </a:lnSpc>
              <a:spcBef>
                <a:spcPts val="135"/>
              </a:spcBef>
              <a:tabLst>
                <a:tab pos="447675" algn="l"/>
                <a:tab pos="1160780" algn="l"/>
                <a:tab pos="1774825" algn="l"/>
              </a:tabLst>
            </a:pPr>
            <a:r>
              <a:rPr sz="1600" i="1" spc="135" dirty="0">
                <a:latin typeface="Times New Roman"/>
                <a:cs typeface="Times New Roman"/>
              </a:rPr>
              <a:t>d	</a:t>
            </a:r>
            <a:r>
              <a:rPr sz="1600" spc="145" dirty="0">
                <a:latin typeface="Symbol"/>
                <a:cs typeface="Symbol"/>
              </a:rPr>
              <a:t></a:t>
            </a:r>
            <a:r>
              <a:rPr sz="1600" spc="70" dirty="0">
                <a:latin typeface="Times New Roman"/>
                <a:cs typeface="Times New Roman"/>
              </a:rPr>
              <a:t> </a:t>
            </a:r>
            <a:r>
              <a:rPr sz="1600" i="1" spc="165" dirty="0">
                <a:latin typeface="Times New Roman"/>
                <a:cs typeface="Times New Roman"/>
              </a:rPr>
              <a:t>F</a:t>
            </a:r>
            <a:r>
              <a:rPr sz="1600" i="1" spc="-215" dirty="0">
                <a:latin typeface="Times New Roman"/>
                <a:cs typeface="Times New Roman"/>
              </a:rPr>
              <a:t> </a:t>
            </a:r>
            <a:r>
              <a:rPr sz="1600" spc="165" dirty="0">
                <a:latin typeface="Times New Roman"/>
                <a:cs typeface="Times New Roman"/>
              </a:rPr>
              <a:t>(</a:t>
            </a:r>
            <a:r>
              <a:rPr sz="1600" i="1" spc="165" dirty="0">
                <a:latin typeface="Times New Roman"/>
                <a:cs typeface="Times New Roman"/>
              </a:rPr>
              <a:t>x	</a:t>
            </a:r>
            <a:r>
              <a:rPr sz="1600" spc="95" dirty="0">
                <a:latin typeface="Symbol"/>
                <a:cs typeface="Symbol"/>
              </a:rPr>
              <a:t></a:t>
            </a:r>
            <a:r>
              <a:rPr sz="1600" spc="95" dirty="0">
                <a:latin typeface="Times New Roman"/>
                <a:cs typeface="Times New Roman"/>
              </a:rPr>
              <a:t>1,</a:t>
            </a:r>
            <a:r>
              <a:rPr sz="1600" dirty="0">
                <a:latin typeface="Times New Roman"/>
                <a:cs typeface="Times New Roman"/>
              </a:rPr>
              <a:t> </a:t>
            </a:r>
            <a:r>
              <a:rPr sz="1600" i="1" spc="120" dirty="0">
                <a:latin typeface="Times New Roman"/>
                <a:cs typeface="Times New Roman"/>
              </a:rPr>
              <a:t>y	</a:t>
            </a:r>
            <a:r>
              <a:rPr sz="1600" spc="145" dirty="0">
                <a:latin typeface="Symbol"/>
                <a:cs typeface="Symbol"/>
              </a:rPr>
              <a:t></a:t>
            </a:r>
            <a:r>
              <a:rPr sz="1600" spc="30" dirty="0">
                <a:latin typeface="Times New Roman"/>
                <a:cs typeface="Times New Roman"/>
              </a:rPr>
              <a:t> </a:t>
            </a:r>
            <a:r>
              <a:rPr sz="1425" u="sng" spc="104" baseline="32163" dirty="0">
                <a:uFill>
                  <a:solidFill>
                    <a:srgbClr val="000000"/>
                  </a:solidFill>
                </a:uFill>
                <a:latin typeface="Times New Roman"/>
                <a:cs typeface="Times New Roman"/>
              </a:rPr>
              <a:t>1</a:t>
            </a:r>
            <a:r>
              <a:rPr sz="1425" spc="-75" baseline="32163" dirty="0">
                <a:latin typeface="Times New Roman"/>
                <a:cs typeface="Times New Roman"/>
              </a:rPr>
              <a:t> </a:t>
            </a:r>
            <a:r>
              <a:rPr sz="1600" spc="90" dirty="0">
                <a:latin typeface="Times New Roman"/>
                <a:cs typeface="Times New Roman"/>
              </a:rPr>
              <a:t>)</a:t>
            </a:r>
            <a:r>
              <a:rPr sz="1600" dirty="0">
                <a:latin typeface="Times New Roman"/>
                <a:cs typeface="Times New Roman"/>
              </a:rPr>
              <a:t> </a:t>
            </a:r>
            <a:r>
              <a:rPr sz="1600" spc="145" dirty="0">
                <a:latin typeface="Symbol"/>
                <a:cs typeface="Symbol"/>
              </a:rPr>
              <a:t></a:t>
            </a:r>
            <a:r>
              <a:rPr sz="1600" spc="-55" dirty="0">
                <a:latin typeface="Times New Roman"/>
                <a:cs typeface="Times New Roman"/>
              </a:rPr>
              <a:t> </a:t>
            </a:r>
            <a:r>
              <a:rPr sz="1600" i="1" spc="145" dirty="0">
                <a:latin typeface="Times New Roman"/>
                <a:cs typeface="Times New Roman"/>
              </a:rPr>
              <a:t>b</a:t>
            </a:r>
            <a:r>
              <a:rPr sz="1425" spc="217" baseline="43859" dirty="0">
                <a:latin typeface="Times New Roman"/>
                <a:cs typeface="Times New Roman"/>
              </a:rPr>
              <a:t>2</a:t>
            </a:r>
            <a:r>
              <a:rPr sz="1425" spc="-75" baseline="43859" dirty="0">
                <a:latin typeface="Times New Roman"/>
                <a:cs typeface="Times New Roman"/>
              </a:rPr>
              <a:t> </a:t>
            </a:r>
            <a:r>
              <a:rPr sz="1600" spc="165" dirty="0">
                <a:latin typeface="Times New Roman"/>
                <a:cs typeface="Times New Roman"/>
              </a:rPr>
              <a:t>(</a:t>
            </a:r>
            <a:r>
              <a:rPr sz="1600" i="1" spc="165" dirty="0">
                <a:latin typeface="Times New Roman"/>
                <a:cs typeface="Times New Roman"/>
              </a:rPr>
              <a:t>x</a:t>
            </a:r>
            <a:endParaRPr sz="1600">
              <a:latin typeface="Times New Roman"/>
              <a:cs typeface="Times New Roman"/>
            </a:endParaRPr>
          </a:p>
          <a:p>
            <a:pPr marL="179070">
              <a:lnSpc>
                <a:spcPts val="740"/>
              </a:lnSpc>
              <a:tabLst>
                <a:tab pos="1024890" algn="l"/>
                <a:tab pos="1638935" algn="l"/>
                <a:tab pos="1964689" algn="l"/>
              </a:tabLst>
            </a:pPr>
            <a:r>
              <a:rPr sz="1425" i="1" spc="120" baseline="2923" dirty="0">
                <a:latin typeface="Times New Roman"/>
                <a:cs typeface="Times New Roman"/>
              </a:rPr>
              <a:t>old	</a:t>
            </a:r>
            <a:r>
              <a:rPr sz="1425" i="1" spc="104" baseline="2923" dirty="0">
                <a:latin typeface="Times New Roman"/>
                <a:cs typeface="Times New Roman"/>
              </a:rPr>
              <a:t>p	p	</a:t>
            </a:r>
            <a:r>
              <a:rPr sz="950" spc="70" dirty="0">
                <a:latin typeface="Times New Roman"/>
                <a:cs typeface="Times New Roman"/>
              </a:rPr>
              <a:t>2</a:t>
            </a:r>
            <a:endParaRPr sz="950">
              <a:latin typeface="Times New Roman"/>
              <a:cs typeface="Times New Roman"/>
            </a:endParaRPr>
          </a:p>
        </p:txBody>
      </p:sp>
      <p:sp>
        <p:nvSpPr>
          <p:cNvPr id="22" name="object 22"/>
          <p:cNvSpPr txBox="1"/>
          <p:nvPr/>
        </p:nvSpPr>
        <p:spPr>
          <a:xfrm>
            <a:off x="3498108" y="5733688"/>
            <a:ext cx="3625850" cy="294640"/>
          </a:xfrm>
          <a:prstGeom prst="rect">
            <a:avLst/>
          </a:prstGeom>
        </p:spPr>
        <p:txBody>
          <a:bodyPr vert="horz" wrap="square" lIns="0" tIns="12700" rIns="0" bIns="0" rtlCol="0">
            <a:spAutoFit/>
          </a:bodyPr>
          <a:lstStyle/>
          <a:p>
            <a:pPr marL="38100">
              <a:lnSpc>
                <a:spcPts val="1450"/>
              </a:lnSpc>
              <a:spcBef>
                <a:spcPts val="100"/>
              </a:spcBef>
              <a:tabLst>
                <a:tab pos="852169" algn="l"/>
                <a:tab pos="2180590" algn="l"/>
                <a:tab pos="3110865" algn="l"/>
              </a:tabLst>
            </a:pPr>
            <a:r>
              <a:rPr sz="1550" spc="120" dirty="0">
                <a:latin typeface="Symbol"/>
                <a:cs typeface="Symbol"/>
              </a:rPr>
              <a:t></a:t>
            </a:r>
            <a:r>
              <a:rPr sz="1550" spc="-140" dirty="0">
                <a:latin typeface="Times New Roman"/>
                <a:cs typeface="Times New Roman"/>
              </a:rPr>
              <a:t> </a:t>
            </a:r>
            <a:r>
              <a:rPr sz="1550" i="1" spc="185" dirty="0">
                <a:latin typeface="Times New Roman"/>
                <a:cs typeface="Times New Roman"/>
              </a:rPr>
              <a:t>b</a:t>
            </a:r>
            <a:r>
              <a:rPr sz="1350" spc="97" baseline="43209" dirty="0">
                <a:latin typeface="Times New Roman"/>
                <a:cs typeface="Times New Roman"/>
              </a:rPr>
              <a:t>2</a:t>
            </a:r>
            <a:r>
              <a:rPr sz="1350" spc="-67" baseline="43209" dirty="0">
                <a:latin typeface="Times New Roman"/>
                <a:cs typeface="Times New Roman"/>
              </a:rPr>
              <a:t> </a:t>
            </a:r>
            <a:r>
              <a:rPr sz="1550" spc="110" dirty="0">
                <a:latin typeface="Times New Roman"/>
                <a:cs typeface="Times New Roman"/>
              </a:rPr>
              <a:t>(</a:t>
            </a:r>
            <a:r>
              <a:rPr sz="1550" spc="200" dirty="0">
                <a:latin typeface="Times New Roman"/>
                <a:cs typeface="Times New Roman"/>
              </a:rPr>
              <a:t>2</a:t>
            </a:r>
            <a:r>
              <a:rPr sz="1550" i="1" spc="100" dirty="0">
                <a:latin typeface="Times New Roman"/>
                <a:cs typeface="Times New Roman"/>
              </a:rPr>
              <a:t>x</a:t>
            </a:r>
            <a:r>
              <a:rPr sz="1550" i="1" dirty="0">
                <a:latin typeface="Times New Roman"/>
                <a:cs typeface="Times New Roman"/>
              </a:rPr>
              <a:t>	</a:t>
            </a:r>
            <a:r>
              <a:rPr sz="1550" spc="120" dirty="0">
                <a:latin typeface="Symbol"/>
                <a:cs typeface="Symbol"/>
              </a:rPr>
              <a:t></a:t>
            </a:r>
            <a:r>
              <a:rPr sz="1550" spc="-140" dirty="0">
                <a:latin typeface="Times New Roman"/>
                <a:cs typeface="Times New Roman"/>
              </a:rPr>
              <a:t> </a:t>
            </a:r>
            <a:r>
              <a:rPr sz="1550" spc="35" dirty="0">
                <a:latin typeface="Times New Roman"/>
                <a:cs typeface="Times New Roman"/>
              </a:rPr>
              <a:t>3</a:t>
            </a:r>
            <a:r>
              <a:rPr sz="1550" spc="75" dirty="0">
                <a:latin typeface="Times New Roman"/>
                <a:cs typeface="Times New Roman"/>
              </a:rPr>
              <a:t>)</a:t>
            </a:r>
            <a:r>
              <a:rPr sz="1550" spc="-110" dirty="0">
                <a:latin typeface="Times New Roman"/>
                <a:cs typeface="Times New Roman"/>
              </a:rPr>
              <a:t> </a:t>
            </a:r>
            <a:r>
              <a:rPr sz="1550" spc="120" dirty="0">
                <a:latin typeface="Symbol"/>
                <a:cs typeface="Symbol"/>
              </a:rPr>
              <a:t></a:t>
            </a:r>
            <a:r>
              <a:rPr sz="1550" spc="-85" dirty="0">
                <a:latin typeface="Times New Roman"/>
                <a:cs typeface="Times New Roman"/>
              </a:rPr>
              <a:t> </a:t>
            </a:r>
            <a:r>
              <a:rPr sz="1550" i="1" spc="215" dirty="0">
                <a:latin typeface="Times New Roman"/>
                <a:cs typeface="Times New Roman"/>
              </a:rPr>
              <a:t>a</a:t>
            </a:r>
            <a:r>
              <a:rPr sz="1350" spc="97" baseline="43209" dirty="0">
                <a:latin typeface="Times New Roman"/>
                <a:cs typeface="Times New Roman"/>
              </a:rPr>
              <a:t>2</a:t>
            </a:r>
            <a:r>
              <a:rPr sz="1350" spc="-67" baseline="43209" dirty="0">
                <a:latin typeface="Times New Roman"/>
                <a:cs typeface="Times New Roman"/>
              </a:rPr>
              <a:t> </a:t>
            </a:r>
            <a:r>
              <a:rPr sz="1550" spc="110" dirty="0">
                <a:latin typeface="Times New Roman"/>
                <a:cs typeface="Times New Roman"/>
              </a:rPr>
              <a:t>(</a:t>
            </a:r>
            <a:r>
              <a:rPr sz="1550" spc="95" dirty="0">
                <a:latin typeface="Symbol"/>
                <a:cs typeface="Symbol"/>
              </a:rPr>
              <a:t></a:t>
            </a:r>
            <a:r>
              <a:rPr sz="1550" spc="110" dirty="0">
                <a:latin typeface="Times New Roman"/>
                <a:cs typeface="Times New Roman"/>
              </a:rPr>
              <a:t>2</a:t>
            </a:r>
            <a:r>
              <a:rPr sz="1550" spc="-220" dirty="0">
                <a:latin typeface="Times New Roman"/>
                <a:cs typeface="Times New Roman"/>
              </a:rPr>
              <a:t> </a:t>
            </a:r>
            <a:r>
              <a:rPr sz="1550" i="1" spc="100" dirty="0">
                <a:latin typeface="Times New Roman"/>
                <a:cs typeface="Times New Roman"/>
              </a:rPr>
              <a:t>y</a:t>
            </a:r>
            <a:r>
              <a:rPr sz="1550" i="1" dirty="0">
                <a:latin typeface="Times New Roman"/>
                <a:cs typeface="Times New Roman"/>
              </a:rPr>
              <a:t>	</a:t>
            </a:r>
            <a:r>
              <a:rPr sz="1550" spc="120" dirty="0">
                <a:latin typeface="Symbol"/>
                <a:cs typeface="Symbol"/>
              </a:rPr>
              <a:t></a:t>
            </a:r>
            <a:r>
              <a:rPr sz="1550" spc="-85" dirty="0">
                <a:latin typeface="Times New Roman"/>
                <a:cs typeface="Times New Roman"/>
              </a:rPr>
              <a:t> </a:t>
            </a:r>
            <a:r>
              <a:rPr sz="1550" spc="90" dirty="0">
                <a:latin typeface="Times New Roman"/>
                <a:cs typeface="Times New Roman"/>
              </a:rPr>
              <a:t>2</a:t>
            </a:r>
            <a:r>
              <a:rPr sz="1550" spc="75" dirty="0">
                <a:latin typeface="Times New Roman"/>
                <a:cs typeface="Times New Roman"/>
              </a:rPr>
              <a:t>)</a:t>
            </a:r>
            <a:r>
              <a:rPr sz="1550" dirty="0">
                <a:latin typeface="Times New Roman"/>
                <a:cs typeface="Times New Roman"/>
              </a:rPr>
              <a:t> </a:t>
            </a:r>
            <a:r>
              <a:rPr sz="1550" spc="120" dirty="0">
                <a:latin typeface="Symbol"/>
                <a:cs typeface="Symbol"/>
              </a:rPr>
              <a:t></a:t>
            </a:r>
            <a:r>
              <a:rPr sz="1550" spc="-5" dirty="0">
                <a:latin typeface="Times New Roman"/>
                <a:cs typeface="Times New Roman"/>
              </a:rPr>
              <a:t> </a:t>
            </a:r>
            <a:r>
              <a:rPr sz="1550" i="1" spc="110" dirty="0">
                <a:latin typeface="Times New Roman"/>
                <a:cs typeface="Times New Roman"/>
              </a:rPr>
              <a:t>d</a:t>
            </a:r>
            <a:r>
              <a:rPr sz="1550" i="1" dirty="0">
                <a:latin typeface="Times New Roman"/>
                <a:cs typeface="Times New Roman"/>
              </a:rPr>
              <a:t>	</a:t>
            </a:r>
            <a:r>
              <a:rPr sz="1550" spc="120" dirty="0">
                <a:latin typeface="Symbol"/>
                <a:cs typeface="Symbol"/>
              </a:rPr>
              <a:t></a:t>
            </a:r>
            <a:r>
              <a:rPr sz="1550" spc="-85" dirty="0">
                <a:latin typeface="Times New Roman"/>
                <a:cs typeface="Times New Roman"/>
              </a:rPr>
              <a:t> </a:t>
            </a:r>
            <a:r>
              <a:rPr sz="1550" spc="135" dirty="0">
                <a:latin typeface="Symbol"/>
                <a:cs typeface="Symbol"/>
              </a:rPr>
              <a:t></a:t>
            </a:r>
            <a:endParaRPr sz="1550">
              <a:latin typeface="Symbol"/>
              <a:cs typeface="Symbol"/>
            </a:endParaRPr>
          </a:p>
          <a:p>
            <a:pPr marL="723900">
              <a:lnSpc>
                <a:spcPts val="670"/>
              </a:lnSpc>
              <a:tabLst>
                <a:tab pos="2052955" algn="l"/>
                <a:tab pos="2872105" algn="l"/>
                <a:tab pos="3425190" algn="l"/>
              </a:tabLst>
            </a:pPr>
            <a:r>
              <a:rPr sz="900" i="1" spc="65" dirty="0">
                <a:latin typeface="Times New Roman"/>
                <a:cs typeface="Times New Roman"/>
              </a:rPr>
              <a:t>p	p	</a:t>
            </a:r>
            <a:r>
              <a:rPr sz="900" i="1" spc="75" dirty="0">
                <a:latin typeface="Times New Roman"/>
                <a:cs typeface="Times New Roman"/>
              </a:rPr>
              <a:t>old	</a:t>
            </a:r>
            <a:r>
              <a:rPr sz="900" i="1" spc="135" dirty="0">
                <a:latin typeface="Times New Roman"/>
                <a:cs typeface="Times New Roman"/>
              </a:rPr>
              <a:t>SE</a:t>
            </a:r>
            <a:endParaRPr sz="900">
              <a:latin typeface="Times New Roman"/>
              <a:cs typeface="Times New Roman"/>
            </a:endParaRPr>
          </a:p>
        </p:txBody>
      </p:sp>
      <p:sp>
        <p:nvSpPr>
          <p:cNvPr id="23" name="object 23"/>
          <p:cNvSpPr txBox="1"/>
          <p:nvPr/>
        </p:nvSpPr>
        <p:spPr>
          <a:xfrm>
            <a:off x="2499148" y="5453149"/>
            <a:ext cx="4384040" cy="591820"/>
          </a:xfrm>
          <a:prstGeom prst="rect">
            <a:avLst/>
          </a:prstGeom>
        </p:spPr>
        <p:txBody>
          <a:bodyPr vert="horz" wrap="square" lIns="0" tIns="83820" rIns="0" bIns="0" rtlCol="0">
            <a:spAutoFit/>
          </a:bodyPr>
          <a:lstStyle/>
          <a:p>
            <a:pPr marL="224790">
              <a:spcBef>
                <a:spcPts val="660"/>
              </a:spcBef>
              <a:tabLst>
                <a:tab pos="1047115" algn="l"/>
                <a:tab pos="1666239" algn="l"/>
                <a:tab pos="1973580" algn="l"/>
                <a:tab pos="2767330" algn="l"/>
                <a:tab pos="3973195" algn="l"/>
                <a:tab pos="4279265" algn="l"/>
              </a:tabLst>
            </a:pPr>
            <a:r>
              <a:rPr sz="1350" i="1" spc="120" baseline="3086" dirty="0">
                <a:latin typeface="Times New Roman"/>
                <a:cs typeface="Times New Roman"/>
              </a:rPr>
              <a:t>new	</a:t>
            </a:r>
            <a:r>
              <a:rPr sz="1350" i="1" spc="97" baseline="3086" dirty="0">
                <a:latin typeface="Times New Roman"/>
                <a:cs typeface="Times New Roman"/>
              </a:rPr>
              <a:t>p	p	</a:t>
            </a:r>
            <a:r>
              <a:rPr sz="900" spc="65" dirty="0">
                <a:latin typeface="Times New Roman"/>
                <a:cs typeface="Times New Roman"/>
              </a:rPr>
              <a:t>2	</a:t>
            </a:r>
            <a:r>
              <a:rPr sz="1350" i="1" spc="97" baseline="3086" dirty="0">
                <a:latin typeface="Times New Roman"/>
                <a:cs typeface="Times New Roman"/>
              </a:rPr>
              <a:t>p	p	</a:t>
            </a:r>
            <a:r>
              <a:rPr sz="900" spc="65" dirty="0">
                <a:latin typeface="Times New Roman"/>
                <a:cs typeface="Times New Roman"/>
              </a:rPr>
              <a:t>2</a:t>
            </a:r>
            <a:endParaRPr sz="900">
              <a:latin typeface="Times New Roman"/>
              <a:cs typeface="Times New Roman"/>
            </a:endParaRPr>
          </a:p>
          <a:p>
            <a:pPr>
              <a:spcBef>
                <a:spcPts val="35"/>
              </a:spcBef>
            </a:pPr>
            <a:endParaRPr sz="800">
              <a:latin typeface="Times New Roman"/>
              <a:cs typeface="Times New Roman"/>
            </a:endParaRPr>
          </a:p>
          <a:p>
            <a:pPr marL="101600"/>
            <a:r>
              <a:rPr sz="2325" i="1" spc="165" baseline="14336" dirty="0">
                <a:latin typeface="Times New Roman"/>
                <a:cs typeface="Times New Roman"/>
              </a:rPr>
              <a:t>d</a:t>
            </a:r>
            <a:r>
              <a:rPr sz="900" i="1" spc="110" dirty="0">
                <a:latin typeface="Times New Roman"/>
                <a:cs typeface="Times New Roman"/>
              </a:rPr>
              <a:t>new</a:t>
            </a:r>
            <a:r>
              <a:rPr sz="900" i="1" spc="235" dirty="0">
                <a:latin typeface="Times New Roman"/>
                <a:cs typeface="Times New Roman"/>
              </a:rPr>
              <a:t> </a:t>
            </a:r>
            <a:r>
              <a:rPr sz="2325" spc="179" baseline="14336" dirty="0">
                <a:latin typeface="Symbol"/>
                <a:cs typeface="Symbol"/>
              </a:rPr>
              <a:t></a:t>
            </a:r>
            <a:r>
              <a:rPr sz="2325" spc="-44" baseline="14336" dirty="0">
                <a:latin typeface="Times New Roman"/>
                <a:cs typeface="Times New Roman"/>
              </a:rPr>
              <a:t> </a:t>
            </a:r>
            <a:r>
              <a:rPr sz="2325" i="1" spc="150" baseline="14336" dirty="0">
                <a:latin typeface="Times New Roman"/>
                <a:cs typeface="Times New Roman"/>
              </a:rPr>
              <a:t>d</a:t>
            </a:r>
            <a:r>
              <a:rPr sz="900" i="1" spc="100" dirty="0">
                <a:latin typeface="Times New Roman"/>
                <a:cs typeface="Times New Roman"/>
              </a:rPr>
              <a:t>old</a:t>
            </a:r>
            <a:endParaRPr sz="900">
              <a:latin typeface="Times New Roman"/>
              <a:cs typeface="Times New Roman"/>
            </a:endParaRPr>
          </a:p>
        </p:txBody>
      </p:sp>
      <p:sp>
        <p:nvSpPr>
          <p:cNvPr id="24" name="object 24"/>
          <p:cNvSpPr txBox="1"/>
          <p:nvPr/>
        </p:nvSpPr>
        <p:spPr>
          <a:xfrm>
            <a:off x="2562649" y="5385171"/>
            <a:ext cx="5092065" cy="251351"/>
          </a:xfrm>
          <a:prstGeom prst="rect">
            <a:avLst/>
          </a:prstGeom>
        </p:spPr>
        <p:txBody>
          <a:bodyPr vert="horz" wrap="square" lIns="0" tIns="12700" rIns="0" bIns="0" rtlCol="0">
            <a:spAutoFit/>
          </a:bodyPr>
          <a:lstStyle/>
          <a:p>
            <a:pPr marL="38100">
              <a:spcBef>
                <a:spcPts val="100"/>
              </a:spcBef>
              <a:tabLst>
                <a:tab pos="440055" algn="l"/>
                <a:tab pos="1111250" algn="l"/>
                <a:tab pos="1730375" algn="l"/>
                <a:tab pos="2831465" algn="l"/>
                <a:tab pos="4036695" algn="l"/>
              </a:tabLst>
            </a:pPr>
            <a:r>
              <a:rPr sz="1550" i="1" spc="110" dirty="0">
                <a:latin typeface="Times New Roman"/>
                <a:cs typeface="Times New Roman"/>
              </a:rPr>
              <a:t>d	</a:t>
            </a:r>
            <a:r>
              <a:rPr sz="1550" spc="120" dirty="0">
                <a:latin typeface="Symbol"/>
                <a:cs typeface="Symbol"/>
              </a:rPr>
              <a:t></a:t>
            </a:r>
            <a:r>
              <a:rPr sz="1550" spc="50" dirty="0">
                <a:latin typeface="Times New Roman"/>
                <a:cs typeface="Times New Roman"/>
              </a:rPr>
              <a:t> </a:t>
            </a:r>
            <a:r>
              <a:rPr sz="1550" i="1" spc="135" dirty="0">
                <a:latin typeface="Times New Roman"/>
                <a:cs typeface="Times New Roman"/>
              </a:rPr>
              <a:t>F</a:t>
            </a:r>
            <a:r>
              <a:rPr sz="1550" i="1" spc="-225" dirty="0">
                <a:latin typeface="Times New Roman"/>
                <a:cs typeface="Times New Roman"/>
              </a:rPr>
              <a:t> </a:t>
            </a:r>
            <a:r>
              <a:rPr sz="1550" spc="190" dirty="0">
                <a:latin typeface="Times New Roman"/>
                <a:cs typeface="Times New Roman"/>
              </a:rPr>
              <a:t>(</a:t>
            </a:r>
            <a:r>
              <a:rPr sz="1550" i="1" spc="100" dirty="0">
                <a:latin typeface="Times New Roman"/>
                <a:cs typeface="Times New Roman"/>
              </a:rPr>
              <a:t>x</a:t>
            </a:r>
            <a:r>
              <a:rPr sz="1550" i="1" dirty="0">
                <a:latin typeface="Times New Roman"/>
                <a:cs typeface="Times New Roman"/>
              </a:rPr>
              <a:t>	</a:t>
            </a:r>
            <a:r>
              <a:rPr sz="1550" spc="120" dirty="0">
                <a:latin typeface="Symbol"/>
                <a:cs typeface="Symbol"/>
              </a:rPr>
              <a:t></a:t>
            </a:r>
            <a:r>
              <a:rPr sz="1550" spc="-85" dirty="0">
                <a:latin typeface="Times New Roman"/>
                <a:cs typeface="Times New Roman"/>
              </a:rPr>
              <a:t> </a:t>
            </a:r>
            <a:r>
              <a:rPr sz="1550" spc="60" dirty="0">
                <a:latin typeface="Times New Roman"/>
                <a:cs typeface="Times New Roman"/>
              </a:rPr>
              <a:t>2</a:t>
            </a:r>
            <a:r>
              <a:rPr sz="1550" spc="55" dirty="0">
                <a:latin typeface="Times New Roman"/>
                <a:cs typeface="Times New Roman"/>
              </a:rPr>
              <a:t>,</a:t>
            </a:r>
            <a:r>
              <a:rPr sz="1550" spc="-15" dirty="0">
                <a:latin typeface="Times New Roman"/>
                <a:cs typeface="Times New Roman"/>
              </a:rPr>
              <a:t> </a:t>
            </a:r>
            <a:r>
              <a:rPr sz="1550" i="1" spc="100" dirty="0">
                <a:latin typeface="Times New Roman"/>
                <a:cs typeface="Times New Roman"/>
              </a:rPr>
              <a:t>y</a:t>
            </a:r>
            <a:r>
              <a:rPr sz="1550" i="1" dirty="0">
                <a:latin typeface="Times New Roman"/>
                <a:cs typeface="Times New Roman"/>
              </a:rPr>
              <a:t>	</a:t>
            </a:r>
            <a:r>
              <a:rPr sz="1550" spc="120" dirty="0">
                <a:latin typeface="Symbol"/>
                <a:cs typeface="Symbol"/>
              </a:rPr>
              <a:t></a:t>
            </a:r>
            <a:r>
              <a:rPr sz="1550" spc="-85" dirty="0">
                <a:latin typeface="Times New Roman"/>
                <a:cs typeface="Times New Roman"/>
              </a:rPr>
              <a:t> </a:t>
            </a:r>
            <a:r>
              <a:rPr sz="1350" u="sng" spc="-142" baseline="33950" dirty="0">
                <a:uFill>
                  <a:solidFill>
                    <a:srgbClr val="000000"/>
                  </a:solidFill>
                </a:uFill>
                <a:latin typeface="Times New Roman"/>
                <a:cs typeface="Times New Roman"/>
              </a:rPr>
              <a:t> </a:t>
            </a:r>
            <a:r>
              <a:rPr sz="1350" u="sng" spc="97" baseline="33950" dirty="0">
                <a:uFill>
                  <a:solidFill>
                    <a:srgbClr val="000000"/>
                  </a:solidFill>
                </a:uFill>
                <a:latin typeface="Times New Roman"/>
                <a:cs typeface="Times New Roman"/>
              </a:rPr>
              <a:t>3</a:t>
            </a:r>
            <a:r>
              <a:rPr sz="1350" spc="-89" baseline="33950" dirty="0">
                <a:latin typeface="Times New Roman"/>
                <a:cs typeface="Times New Roman"/>
              </a:rPr>
              <a:t> </a:t>
            </a:r>
            <a:r>
              <a:rPr sz="1550" spc="75" dirty="0">
                <a:latin typeface="Times New Roman"/>
                <a:cs typeface="Times New Roman"/>
              </a:rPr>
              <a:t>)</a:t>
            </a:r>
            <a:r>
              <a:rPr sz="1550" dirty="0">
                <a:latin typeface="Times New Roman"/>
                <a:cs typeface="Times New Roman"/>
              </a:rPr>
              <a:t> </a:t>
            </a:r>
            <a:r>
              <a:rPr sz="1550" spc="120" dirty="0">
                <a:latin typeface="Symbol"/>
                <a:cs typeface="Symbol"/>
              </a:rPr>
              <a:t></a:t>
            </a:r>
            <a:r>
              <a:rPr sz="1550" spc="-60" dirty="0">
                <a:latin typeface="Times New Roman"/>
                <a:cs typeface="Times New Roman"/>
              </a:rPr>
              <a:t> </a:t>
            </a:r>
            <a:r>
              <a:rPr sz="1550" i="1" spc="185" dirty="0">
                <a:latin typeface="Times New Roman"/>
                <a:cs typeface="Times New Roman"/>
              </a:rPr>
              <a:t>b</a:t>
            </a:r>
            <a:r>
              <a:rPr sz="1350" spc="97" baseline="43209" dirty="0">
                <a:latin typeface="Times New Roman"/>
                <a:cs typeface="Times New Roman"/>
              </a:rPr>
              <a:t>2</a:t>
            </a:r>
            <a:r>
              <a:rPr sz="1350" spc="-67" baseline="43209" dirty="0">
                <a:latin typeface="Times New Roman"/>
                <a:cs typeface="Times New Roman"/>
              </a:rPr>
              <a:t> </a:t>
            </a:r>
            <a:r>
              <a:rPr sz="1550" spc="190" dirty="0">
                <a:latin typeface="Times New Roman"/>
                <a:cs typeface="Times New Roman"/>
              </a:rPr>
              <a:t>(</a:t>
            </a:r>
            <a:r>
              <a:rPr sz="1550" i="1" spc="100" dirty="0">
                <a:latin typeface="Times New Roman"/>
                <a:cs typeface="Times New Roman"/>
              </a:rPr>
              <a:t>x</a:t>
            </a:r>
            <a:r>
              <a:rPr sz="1550" i="1" dirty="0">
                <a:latin typeface="Times New Roman"/>
                <a:cs typeface="Times New Roman"/>
              </a:rPr>
              <a:t>	</a:t>
            </a:r>
            <a:r>
              <a:rPr sz="1550" spc="120" dirty="0">
                <a:latin typeface="Symbol"/>
                <a:cs typeface="Symbol"/>
              </a:rPr>
              <a:t></a:t>
            </a:r>
            <a:r>
              <a:rPr sz="1550" spc="-85" dirty="0">
                <a:latin typeface="Times New Roman"/>
                <a:cs typeface="Times New Roman"/>
              </a:rPr>
              <a:t> </a:t>
            </a:r>
            <a:r>
              <a:rPr sz="1550" spc="90" dirty="0">
                <a:latin typeface="Times New Roman"/>
                <a:cs typeface="Times New Roman"/>
              </a:rPr>
              <a:t>2</a:t>
            </a:r>
            <a:r>
              <a:rPr sz="1550" spc="145" dirty="0">
                <a:latin typeface="Times New Roman"/>
                <a:cs typeface="Times New Roman"/>
              </a:rPr>
              <a:t>)</a:t>
            </a:r>
            <a:r>
              <a:rPr sz="1350" spc="97" baseline="43209" dirty="0">
                <a:latin typeface="Times New Roman"/>
                <a:cs typeface="Times New Roman"/>
              </a:rPr>
              <a:t>2</a:t>
            </a:r>
            <a:r>
              <a:rPr sz="1350" baseline="43209" dirty="0">
                <a:latin typeface="Times New Roman"/>
                <a:cs typeface="Times New Roman"/>
              </a:rPr>
              <a:t>  </a:t>
            </a:r>
            <a:r>
              <a:rPr sz="1550" spc="120" dirty="0">
                <a:latin typeface="Symbol"/>
                <a:cs typeface="Symbol"/>
              </a:rPr>
              <a:t></a:t>
            </a:r>
            <a:r>
              <a:rPr sz="1550" spc="-85" dirty="0">
                <a:latin typeface="Times New Roman"/>
                <a:cs typeface="Times New Roman"/>
              </a:rPr>
              <a:t> </a:t>
            </a:r>
            <a:r>
              <a:rPr sz="1550" i="1" spc="215" dirty="0">
                <a:latin typeface="Times New Roman"/>
                <a:cs typeface="Times New Roman"/>
              </a:rPr>
              <a:t>a</a:t>
            </a:r>
            <a:r>
              <a:rPr sz="1350" spc="97" baseline="43209" dirty="0">
                <a:latin typeface="Times New Roman"/>
                <a:cs typeface="Times New Roman"/>
              </a:rPr>
              <a:t>2</a:t>
            </a:r>
            <a:r>
              <a:rPr sz="1350" spc="-67" baseline="43209" dirty="0">
                <a:latin typeface="Times New Roman"/>
                <a:cs typeface="Times New Roman"/>
              </a:rPr>
              <a:t> </a:t>
            </a:r>
            <a:r>
              <a:rPr sz="1550" spc="75" dirty="0">
                <a:latin typeface="Times New Roman"/>
                <a:cs typeface="Times New Roman"/>
              </a:rPr>
              <a:t>(</a:t>
            </a:r>
            <a:r>
              <a:rPr sz="1550" spc="-190" dirty="0">
                <a:latin typeface="Times New Roman"/>
                <a:cs typeface="Times New Roman"/>
              </a:rPr>
              <a:t> </a:t>
            </a:r>
            <a:r>
              <a:rPr sz="1550" i="1" spc="100" dirty="0">
                <a:latin typeface="Times New Roman"/>
                <a:cs typeface="Times New Roman"/>
              </a:rPr>
              <a:t>y</a:t>
            </a:r>
            <a:r>
              <a:rPr sz="1550" i="1" dirty="0">
                <a:latin typeface="Times New Roman"/>
                <a:cs typeface="Times New Roman"/>
              </a:rPr>
              <a:t>	</a:t>
            </a:r>
            <a:r>
              <a:rPr sz="1550" spc="120" dirty="0">
                <a:latin typeface="Symbol"/>
                <a:cs typeface="Symbol"/>
              </a:rPr>
              <a:t></a:t>
            </a:r>
            <a:r>
              <a:rPr sz="1550" spc="-85" dirty="0">
                <a:latin typeface="Times New Roman"/>
                <a:cs typeface="Times New Roman"/>
              </a:rPr>
              <a:t> </a:t>
            </a:r>
            <a:r>
              <a:rPr sz="1350" u="sng" spc="-150" baseline="33950" dirty="0">
                <a:uFill>
                  <a:solidFill>
                    <a:srgbClr val="000000"/>
                  </a:solidFill>
                </a:uFill>
                <a:latin typeface="Times New Roman"/>
                <a:cs typeface="Times New Roman"/>
              </a:rPr>
              <a:t> </a:t>
            </a:r>
            <a:r>
              <a:rPr sz="1350" u="sng" spc="97" baseline="33950" dirty="0">
                <a:uFill>
                  <a:solidFill>
                    <a:srgbClr val="000000"/>
                  </a:solidFill>
                </a:uFill>
                <a:latin typeface="Times New Roman"/>
                <a:cs typeface="Times New Roman"/>
              </a:rPr>
              <a:t>3</a:t>
            </a:r>
            <a:r>
              <a:rPr sz="1350" spc="-89" baseline="33950" dirty="0">
                <a:latin typeface="Times New Roman"/>
                <a:cs typeface="Times New Roman"/>
              </a:rPr>
              <a:t> </a:t>
            </a:r>
            <a:r>
              <a:rPr sz="1550" spc="145" dirty="0">
                <a:latin typeface="Times New Roman"/>
                <a:cs typeface="Times New Roman"/>
              </a:rPr>
              <a:t>)</a:t>
            </a:r>
            <a:r>
              <a:rPr sz="1350" spc="97" baseline="43209" dirty="0">
                <a:latin typeface="Times New Roman"/>
                <a:cs typeface="Times New Roman"/>
              </a:rPr>
              <a:t>2</a:t>
            </a:r>
            <a:r>
              <a:rPr sz="1350" baseline="43209" dirty="0">
                <a:latin typeface="Times New Roman"/>
                <a:cs typeface="Times New Roman"/>
              </a:rPr>
              <a:t>  </a:t>
            </a:r>
            <a:r>
              <a:rPr sz="1550" spc="120" dirty="0">
                <a:latin typeface="Symbol"/>
                <a:cs typeface="Symbol"/>
              </a:rPr>
              <a:t></a:t>
            </a:r>
            <a:r>
              <a:rPr sz="1550" spc="-114" dirty="0">
                <a:latin typeface="Times New Roman"/>
                <a:cs typeface="Times New Roman"/>
              </a:rPr>
              <a:t> </a:t>
            </a:r>
            <a:r>
              <a:rPr sz="1550" i="1" spc="215" dirty="0">
                <a:latin typeface="Times New Roman"/>
                <a:cs typeface="Times New Roman"/>
              </a:rPr>
              <a:t>a</a:t>
            </a:r>
            <a:r>
              <a:rPr sz="1350" spc="127" baseline="43209" dirty="0">
                <a:latin typeface="Times New Roman"/>
                <a:cs typeface="Times New Roman"/>
              </a:rPr>
              <a:t>2</a:t>
            </a:r>
            <a:r>
              <a:rPr sz="1550" i="1" spc="185" dirty="0">
                <a:latin typeface="Times New Roman"/>
                <a:cs typeface="Times New Roman"/>
              </a:rPr>
              <a:t>b</a:t>
            </a:r>
            <a:r>
              <a:rPr sz="1350" spc="97" baseline="43209" dirty="0">
                <a:latin typeface="Times New Roman"/>
                <a:cs typeface="Times New Roman"/>
              </a:rPr>
              <a:t>2</a:t>
            </a:r>
            <a:endParaRPr sz="1350" baseline="43209">
              <a:latin typeface="Times New Roman"/>
              <a:cs typeface="Times New Roman"/>
            </a:endParaRPr>
          </a:p>
        </p:txBody>
      </p:sp>
    </p:spTree>
    <p:extLst>
      <p:ext uri="{BB962C8B-B14F-4D97-AF65-F5344CB8AC3E}">
        <p14:creationId xmlns:p14="http://schemas.microsoft.com/office/powerpoint/2010/main" val="15482556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5868" y="3913043"/>
            <a:ext cx="2684526" cy="1962150"/>
          </a:xfrm>
          <a:prstGeom prst="rect">
            <a:avLst/>
          </a:prstGeom>
        </p:spPr>
      </p:pic>
      <p:sp>
        <p:nvSpPr>
          <p:cNvPr id="3" name="object 3"/>
          <p:cNvSpPr txBox="1">
            <a:spLocks noGrp="1"/>
          </p:cNvSpPr>
          <p:nvPr>
            <p:ph type="title"/>
          </p:nvPr>
        </p:nvSpPr>
        <p:spPr>
          <a:xfrm>
            <a:off x="2177541" y="880363"/>
            <a:ext cx="7260590" cy="604520"/>
          </a:xfrm>
          <a:prstGeom prst="rect">
            <a:avLst/>
          </a:prstGeom>
        </p:spPr>
        <p:txBody>
          <a:bodyPr vert="horz" wrap="square" lIns="0" tIns="12065" rIns="0" bIns="0" rtlCol="0" anchor="ctr">
            <a:spAutoFit/>
          </a:bodyPr>
          <a:lstStyle/>
          <a:p>
            <a:pPr marL="12700">
              <a:spcBef>
                <a:spcPts val="95"/>
              </a:spcBef>
            </a:pPr>
            <a:r>
              <a:rPr sz="3800" spc="-10" dirty="0">
                <a:latin typeface="Verdana"/>
                <a:cs typeface="Verdana"/>
              </a:rPr>
              <a:t>Thuật</a:t>
            </a:r>
            <a:r>
              <a:rPr sz="3800" spc="-15" dirty="0">
                <a:latin typeface="Verdana"/>
                <a:cs typeface="Verdana"/>
              </a:rPr>
              <a:t> </a:t>
            </a:r>
            <a:r>
              <a:rPr sz="3800" spc="-5" dirty="0">
                <a:latin typeface="Verdana"/>
                <a:cs typeface="Verdana"/>
              </a:rPr>
              <a:t>toán </a:t>
            </a:r>
            <a:r>
              <a:rPr sz="3800" spc="-10" dirty="0">
                <a:latin typeface="Verdana"/>
                <a:cs typeface="Verdana"/>
              </a:rPr>
              <a:t>trung</a:t>
            </a:r>
            <a:r>
              <a:rPr sz="3800" spc="-5" dirty="0">
                <a:latin typeface="Verdana"/>
                <a:cs typeface="Verdana"/>
              </a:rPr>
              <a:t> điểm vẽ elip</a:t>
            </a:r>
            <a:endParaRPr sz="3800">
              <a:latin typeface="Verdana"/>
              <a:cs typeface="Verdana"/>
            </a:endParaRPr>
          </a:p>
        </p:txBody>
      </p:sp>
      <p:sp>
        <p:nvSpPr>
          <p:cNvPr id="4" name="object 4"/>
          <p:cNvSpPr txBox="1"/>
          <p:nvPr/>
        </p:nvSpPr>
        <p:spPr>
          <a:xfrm>
            <a:off x="2144014" y="1704113"/>
            <a:ext cx="7376159" cy="2842260"/>
          </a:xfrm>
          <a:prstGeom prst="rect">
            <a:avLst/>
          </a:prstGeom>
        </p:spPr>
        <p:txBody>
          <a:bodyPr vert="horz" wrap="square" lIns="0" tIns="91440" rIns="0" bIns="0" rtlCol="0">
            <a:spAutoFit/>
          </a:bodyPr>
          <a:lstStyle/>
          <a:p>
            <a:pPr marL="494665" indent="-457200">
              <a:spcBef>
                <a:spcPts val="720"/>
              </a:spcBef>
              <a:buClr>
                <a:schemeClr val="accent1">
                  <a:lumMod val="75000"/>
                </a:schemeClr>
              </a:buClr>
              <a:buSzPct val="150000"/>
              <a:buFont typeface="Arial" panose="020B0604020202020204" pitchFamily="34" charset="0"/>
              <a:buChar char="•"/>
              <a:tabLst>
                <a:tab pos="381635" algn="l"/>
              </a:tabLst>
            </a:pPr>
            <a:r>
              <a:rPr sz="2600" spc="-5" dirty="0">
                <a:latin typeface="Verdana"/>
                <a:cs typeface="Verdana"/>
              </a:rPr>
              <a:t>Với</a:t>
            </a:r>
            <a:r>
              <a:rPr sz="2600" spc="-30" dirty="0">
                <a:latin typeface="Verdana"/>
                <a:cs typeface="Verdana"/>
              </a:rPr>
              <a:t> </a:t>
            </a:r>
            <a:r>
              <a:rPr sz="2600" spc="-5" dirty="0">
                <a:latin typeface="Verdana"/>
                <a:cs typeface="Verdana"/>
              </a:rPr>
              <a:t>vùng</a:t>
            </a:r>
            <a:r>
              <a:rPr sz="2600" spc="-15" dirty="0">
                <a:latin typeface="Verdana"/>
                <a:cs typeface="Verdana"/>
              </a:rPr>
              <a:t> </a:t>
            </a:r>
            <a:r>
              <a:rPr sz="2600" spc="-5" dirty="0">
                <a:latin typeface="Verdana"/>
                <a:cs typeface="Verdana"/>
              </a:rPr>
              <a:t>2:</a:t>
            </a:r>
            <a:endParaRPr sz="2600">
              <a:latin typeface="Verdana"/>
              <a:cs typeface="Verdana"/>
            </a:endParaRPr>
          </a:p>
          <a:p>
            <a:pPr marL="837565" lvl="1" indent="-342900">
              <a:spcBef>
                <a:spcPts val="535"/>
              </a:spcBef>
              <a:buClr>
                <a:schemeClr val="accent1">
                  <a:lumMod val="75000"/>
                </a:schemeClr>
              </a:buClr>
              <a:buSzPct val="150000"/>
              <a:buFont typeface="Arial" panose="020B0604020202020204" pitchFamily="34" charset="0"/>
              <a:buChar char="•"/>
              <a:tabLst>
                <a:tab pos="781685" algn="l"/>
              </a:tabLst>
            </a:pPr>
            <a:r>
              <a:rPr sz="2200" spc="-5" dirty="0">
                <a:latin typeface="Verdana"/>
                <a:cs typeface="Verdana"/>
              </a:rPr>
              <a:t>Tính</a:t>
            </a:r>
            <a:r>
              <a:rPr sz="2200" spc="-25" dirty="0">
                <a:latin typeface="Verdana"/>
                <a:cs typeface="Verdana"/>
              </a:rPr>
              <a:t> </a:t>
            </a:r>
            <a:r>
              <a:rPr sz="2200" spc="-5" dirty="0">
                <a:latin typeface="Verdana"/>
                <a:cs typeface="Verdana"/>
              </a:rPr>
              <a:t>biến</a:t>
            </a:r>
            <a:r>
              <a:rPr sz="2200" spc="-10" dirty="0">
                <a:latin typeface="Verdana"/>
                <a:cs typeface="Verdana"/>
              </a:rPr>
              <a:t> </a:t>
            </a:r>
            <a:r>
              <a:rPr sz="2200" spc="-5" dirty="0">
                <a:latin typeface="Verdana"/>
                <a:cs typeface="Verdana"/>
              </a:rPr>
              <a:t>quyết</a:t>
            </a:r>
            <a:r>
              <a:rPr sz="2200" spc="-10" dirty="0">
                <a:latin typeface="Verdana"/>
                <a:cs typeface="Verdana"/>
              </a:rPr>
              <a:t> </a:t>
            </a:r>
            <a:r>
              <a:rPr sz="2200" spc="-5" dirty="0">
                <a:latin typeface="Verdana"/>
                <a:cs typeface="Verdana"/>
              </a:rPr>
              <a:t>định</a:t>
            </a:r>
            <a:r>
              <a:rPr sz="2200" spc="-10" dirty="0">
                <a:latin typeface="Verdana"/>
                <a:cs typeface="Verdana"/>
              </a:rPr>
              <a:t> </a:t>
            </a:r>
            <a:r>
              <a:rPr sz="2200" spc="-5" dirty="0">
                <a:latin typeface="Verdana"/>
                <a:cs typeface="Verdana"/>
              </a:rPr>
              <a:t>d=F(x,y)=F(x</a:t>
            </a:r>
            <a:r>
              <a:rPr sz="2175" spc="-7" baseline="-21072" dirty="0">
                <a:latin typeface="Verdana"/>
                <a:cs typeface="Verdana"/>
              </a:rPr>
              <a:t>p</a:t>
            </a:r>
            <a:r>
              <a:rPr sz="2200" spc="-5" dirty="0">
                <a:latin typeface="Verdana"/>
                <a:cs typeface="Verdana"/>
              </a:rPr>
              <a:t>+1/2,y</a:t>
            </a:r>
            <a:r>
              <a:rPr sz="2175" spc="-7" baseline="-21072" dirty="0">
                <a:latin typeface="Verdana"/>
                <a:cs typeface="Verdana"/>
              </a:rPr>
              <a:t>p</a:t>
            </a:r>
            <a:r>
              <a:rPr sz="2200" spc="-5" dirty="0">
                <a:latin typeface="Verdana"/>
                <a:cs typeface="Verdana"/>
              </a:rPr>
              <a:t>-1)</a:t>
            </a:r>
            <a:endParaRPr sz="2200">
              <a:latin typeface="Verdana"/>
              <a:cs typeface="Verdana"/>
            </a:endParaRPr>
          </a:p>
          <a:p>
            <a:pPr marL="1295400" indent="-342900">
              <a:spcBef>
                <a:spcPts val="500"/>
              </a:spcBef>
              <a:buClr>
                <a:schemeClr val="accent1">
                  <a:lumMod val="75000"/>
                </a:schemeClr>
              </a:buClr>
              <a:buSzPct val="150000"/>
              <a:buFont typeface="Arial" panose="020B0604020202020204" pitchFamily="34" charset="0"/>
              <a:buChar char="•"/>
            </a:pPr>
            <a:r>
              <a:rPr sz="2100" spc="-5" smtClean="0">
                <a:latin typeface="Verdana"/>
                <a:cs typeface="Verdana"/>
              </a:rPr>
              <a:t>Nếu</a:t>
            </a:r>
            <a:r>
              <a:rPr sz="2100" spc="-10" smtClean="0">
                <a:latin typeface="Verdana"/>
                <a:cs typeface="Verdana"/>
              </a:rPr>
              <a:t> </a:t>
            </a:r>
            <a:r>
              <a:rPr sz="2100" spc="-5" dirty="0">
                <a:latin typeface="Verdana"/>
                <a:cs typeface="Verdana"/>
              </a:rPr>
              <a:t>d&lt;0:</a:t>
            </a:r>
            <a:r>
              <a:rPr sz="2100" spc="-15" dirty="0">
                <a:latin typeface="Verdana"/>
                <a:cs typeface="Verdana"/>
              </a:rPr>
              <a:t> </a:t>
            </a:r>
            <a:r>
              <a:rPr sz="2100" spc="-5" dirty="0">
                <a:latin typeface="Verdana"/>
                <a:cs typeface="Verdana"/>
              </a:rPr>
              <a:t>chọn </a:t>
            </a:r>
            <a:r>
              <a:rPr sz="2100" dirty="0">
                <a:latin typeface="Verdana"/>
                <a:cs typeface="Verdana"/>
              </a:rPr>
              <a:t>SE,</a:t>
            </a:r>
            <a:r>
              <a:rPr sz="2100" spc="-5" dirty="0">
                <a:latin typeface="Verdana"/>
                <a:cs typeface="Verdana"/>
              </a:rPr>
              <a:t> </a:t>
            </a:r>
            <a:r>
              <a:rPr sz="2100" dirty="0">
                <a:latin typeface="Verdana"/>
                <a:cs typeface="Verdana"/>
              </a:rPr>
              <a:t>x</a:t>
            </a:r>
            <a:r>
              <a:rPr sz="2100" spc="-20" dirty="0">
                <a:latin typeface="Verdana"/>
                <a:cs typeface="Verdana"/>
              </a:rPr>
              <a:t> </a:t>
            </a:r>
            <a:r>
              <a:rPr sz="2100" spc="-5" dirty="0">
                <a:latin typeface="Verdana"/>
                <a:cs typeface="Verdana"/>
              </a:rPr>
              <a:t>tăng</a:t>
            </a:r>
            <a:r>
              <a:rPr sz="2100" spc="-15" dirty="0">
                <a:latin typeface="Verdana"/>
                <a:cs typeface="Verdana"/>
              </a:rPr>
              <a:t> </a:t>
            </a:r>
            <a:r>
              <a:rPr sz="2100" dirty="0">
                <a:latin typeface="Verdana"/>
                <a:cs typeface="Verdana"/>
              </a:rPr>
              <a:t>1,</a:t>
            </a:r>
            <a:r>
              <a:rPr sz="2100" spc="-5" dirty="0">
                <a:latin typeface="Verdana"/>
                <a:cs typeface="Verdana"/>
              </a:rPr>
              <a:t> </a:t>
            </a:r>
            <a:r>
              <a:rPr sz="2100" dirty="0">
                <a:latin typeface="Verdana"/>
                <a:cs typeface="Verdana"/>
              </a:rPr>
              <a:t>y</a:t>
            </a:r>
            <a:r>
              <a:rPr sz="2100" spc="-15" dirty="0">
                <a:latin typeface="Verdana"/>
                <a:cs typeface="Verdana"/>
              </a:rPr>
              <a:t> </a:t>
            </a:r>
            <a:r>
              <a:rPr sz="2100" spc="-5" dirty="0">
                <a:latin typeface="Verdana"/>
                <a:cs typeface="Verdana"/>
              </a:rPr>
              <a:t>giảm </a:t>
            </a:r>
            <a:r>
              <a:rPr sz="2100" dirty="0">
                <a:latin typeface="Verdana"/>
                <a:cs typeface="Verdana"/>
              </a:rPr>
              <a:t>1</a:t>
            </a:r>
            <a:endParaRPr sz="2100">
              <a:latin typeface="Verdana"/>
              <a:cs typeface="Verdana"/>
            </a:endParaRPr>
          </a:p>
          <a:p>
            <a:pPr marL="1295400" indent="-342900">
              <a:spcBef>
                <a:spcPts val="505"/>
              </a:spcBef>
              <a:buClr>
                <a:schemeClr val="accent1">
                  <a:lumMod val="75000"/>
                </a:schemeClr>
              </a:buClr>
              <a:buSzPct val="150000"/>
              <a:buFont typeface="Arial" panose="020B0604020202020204" pitchFamily="34" charset="0"/>
              <a:buChar char="•"/>
            </a:pPr>
            <a:r>
              <a:rPr sz="2100" spc="-5" smtClean="0">
                <a:latin typeface="Verdana"/>
                <a:cs typeface="Verdana"/>
              </a:rPr>
              <a:t>Nếu</a:t>
            </a:r>
            <a:r>
              <a:rPr sz="2100" spc="-10" smtClean="0">
                <a:latin typeface="Verdana"/>
                <a:cs typeface="Verdana"/>
              </a:rPr>
              <a:t> </a:t>
            </a:r>
            <a:r>
              <a:rPr sz="2100" spc="-5" dirty="0">
                <a:latin typeface="Verdana"/>
                <a:cs typeface="Verdana"/>
              </a:rPr>
              <a:t>d≥0:</a:t>
            </a:r>
            <a:r>
              <a:rPr sz="2100" spc="-15" dirty="0">
                <a:latin typeface="Verdana"/>
                <a:cs typeface="Verdana"/>
              </a:rPr>
              <a:t> </a:t>
            </a:r>
            <a:r>
              <a:rPr sz="2100" spc="-5" dirty="0">
                <a:latin typeface="Verdana"/>
                <a:cs typeface="Verdana"/>
              </a:rPr>
              <a:t>chọn </a:t>
            </a:r>
            <a:r>
              <a:rPr sz="2100" spc="-10" dirty="0">
                <a:latin typeface="Verdana"/>
                <a:cs typeface="Verdana"/>
              </a:rPr>
              <a:t>S,</a:t>
            </a:r>
            <a:r>
              <a:rPr sz="2100" spc="-5" dirty="0">
                <a:latin typeface="Verdana"/>
                <a:cs typeface="Verdana"/>
              </a:rPr>
              <a:t> </a:t>
            </a:r>
            <a:r>
              <a:rPr sz="2100" dirty="0">
                <a:latin typeface="Verdana"/>
                <a:cs typeface="Verdana"/>
              </a:rPr>
              <a:t>x</a:t>
            </a:r>
            <a:r>
              <a:rPr sz="2100" spc="-10" dirty="0">
                <a:latin typeface="Verdana"/>
                <a:cs typeface="Verdana"/>
              </a:rPr>
              <a:t> </a:t>
            </a:r>
            <a:r>
              <a:rPr sz="2100" spc="-5" dirty="0">
                <a:latin typeface="Verdana"/>
                <a:cs typeface="Verdana"/>
              </a:rPr>
              <a:t>không tăng, </a:t>
            </a:r>
            <a:r>
              <a:rPr sz="2100" dirty="0">
                <a:latin typeface="Verdana"/>
                <a:cs typeface="Verdana"/>
              </a:rPr>
              <a:t>y</a:t>
            </a:r>
            <a:r>
              <a:rPr sz="2100" spc="-20" dirty="0">
                <a:latin typeface="Verdana"/>
                <a:cs typeface="Verdana"/>
              </a:rPr>
              <a:t> </a:t>
            </a:r>
            <a:r>
              <a:rPr sz="2100" spc="-5" dirty="0">
                <a:latin typeface="Verdana"/>
                <a:cs typeface="Verdana"/>
              </a:rPr>
              <a:t>giảm </a:t>
            </a:r>
            <a:r>
              <a:rPr sz="2100" dirty="0">
                <a:latin typeface="Verdana"/>
                <a:cs typeface="Verdana"/>
              </a:rPr>
              <a:t>1</a:t>
            </a:r>
            <a:endParaRPr sz="2100">
              <a:latin typeface="Verdana"/>
              <a:cs typeface="Verdana"/>
            </a:endParaRPr>
          </a:p>
          <a:p>
            <a:pPr marL="837565" lvl="1" indent="-342900">
              <a:spcBef>
                <a:spcPts val="530"/>
              </a:spcBef>
              <a:buClr>
                <a:schemeClr val="accent1">
                  <a:lumMod val="75000"/>
                </a:schemeClr>
              </a:buClr>
              <a:buSzPct val="150000"/>
              <a:buFont typeface="Arial" panose="020B0604020202020204" pitchFamily="34" charset="0"/>
              <a:buChar char="•"/>
              <a:tabLst>
                <a:tab pos="781685" algn="l"/>
              </a:tabLst>
            </a:pPr>
            <a:r>
              <a:rPr sz="2200" spc="-5" dirty="0">
                <a:latin typeface="Verdana"/>
                <a:cs typeface="Verdana"/>
              </a:rPr>
              <a:t>Tìm</a:t>
            </a:r>
            <a:r>
              <a:rPr sz="2200" spc="-35" dirty="0">
                <a:latin typeface="Verdana"/>
                <a:cs typeface="Verdana"/>
              </a:rPr>
              <a:t> </a:t>
            </a:r>
            <a:r>
              <a:rPr sz="2200" dirty="0">
                <a:latin typeface="Verdana"/>
                <a:cs typeface="Verdana"/>
              </a:rPr>
              <a:t>số</a:t>
            </a:r>
            <a:r>
              <a:rPr sz="2200" spc="-10" dirty="0">
                <a:latin typeface="Verdana"/>
                <a:cs typeface="Verdana"/>
              </a:rPr>
              <a:t> </a:t>
            </a:r>
            <a:r>
              <a:rPr sz="2200" spc="-5" dirty="0">
                <a:latin typeface="Verdana"/>
                <a:cs typeface="Verdana"/>
              </a:rPr>
              <a:t>gia</a:t>
            </a:r>
            <a:r>
              <a:rPr sz="2200" spc="-15" dirty="0">
                <a:latin typeface="Verdana"/>
                <a:cs typeface="Verdana"/>
              </a:rPr>
              <a:t> </a:t>
            </a:r>
            <a:r>
              <a:rPr sz="2200" dirty="0">
                <a:latin typeface="Verdana"/>
                <a:cs typeface="Verdana"/>
              </a:rPr>
              <a:t>như</a:t>
            </a:r>
            <a:r>
              <a:rPr sz="2200" spc="-25" dirty="0">
                <a:latin typeface="Verdana"/>
                <a:cs typeface="Verdana"/>
              </a:rPr>
              <a:t> </a:t>
            </a:r>
            <a:r>
              <a:rPr sz="2200" dirty="0">
                <a:latin typeface="Verdana"/>
                <a:cs typeface="Verdana"/>
              </a:rPr>
              <a:t>vùng</a:t>
            </a:r>
            <a:r>
              <a:rPr sz="2200" spc="-30" dirty="0">
                <a:latin typeface="Verdana"/>
                <a:cs typeface="Verdana"/>
              </a:rPr>
              <a:t> </a:t>
            </a:r>
            <a:r>
              <a:rPr sz="2200" dirty="0">
                <a:latin typeface="Verdana"/>
                <a:cs typeface="Verdana"/>
              </a:rPr>
              <a:t>1</a:t>
            </a:r>
            <a:endParaRPr sz="2200">
              <a:latin typeface="Verdana"/>
              <a:cs typeface="Verdana"/>
            </a:endParaRPr>
          </a:p>
          <a:p>
            <a:pPr marL="1524000" indent="-342900">
              <a:spcBef>
                <a:spcPts val="500"/>
              </a:spcBef>
              <a:buClr>
                <a:schemeClr val="accent1">
                  <a:lumMod val="75000"/>
                </a:schemeClr>
              </a:buClr>
              <a:buSzPct val="150000"/>
              <a:buFont typeface="Arial" panose="020B0604020202020204" pitchFamily="34" charset="0"/>
              <a:buChar char="•"/>
            </a:pPr>
            <a:r>
              <a:rPr sz="2100" spc="-5" dirty="0">
                <a:latin typeface="Verdana"/>
                <a:cs typeface="Verdana"/>
              </a:rPr>
              <a:t>∆</a:t>
            </a:r>
            <a:r>
              <a:rPr sz="2100" spc="-7" baseline="-19841" dirty="0">
                <a:latin typeface="Verdana"/>
                <a:cs typeface="Verdana"/>
              </a:rPr>
              <a:t>S</a:t>
            </a:r>
            <a:r>
              <a:rPr sz="2100" spc="-5" dirty="0">
                <a:latin typeface="Verdana"/>
                <a:cs typeface="Verdana"/>
              </a:rPr>
              <a:t>=a</a:t>
            </a:r>
            <a:r>
              <a:rPr sz="2100" spc="-7" baseline="25793" dirty="0">
                <a:latin typeface="Verdana"/>
                <a:cs typeface="Verdana"/>
              </a:rPr>
              <a:t>2</a:t>
            </a:r>
            <a:r>
              <a:rPr sz="2100" spc="-5" dirty="0">
                <a:latin typeface="Verdana"/>
                <a:cs typeface="Verdana"/>
              </a:rPr>
              <a:t>(-2y</a:t>
            </a:r>
            <a:r>
              <a:rPr sz="2100" spc="-7" baseline="-19841" dirty="0">
                <a:latin typeface="Verdana"/>
                <a:cs typeface="Verdana"/>
              </a:rPr>
              <a:t>p</a:t>
            </a:r>
            <a:r>
              <a:rPr sz="2100" spc="-5" dirty="0">
                <a:latin typeface="Verdana"/>
                <a:cs typeface="Verdana"/>
              </a:rPr>
              <a:t>+3)</a:t>
            </a:r>
            <a:endParaRPr sz="2100">
              <a:latin typeface="Verdana"/>
              <a:cs typeface="Verdana"/>
            </a:endParaRPr>
          </a:p>
          <a:p>
            <a:pPr marL="1524000" indent="-342900">
              <a:spcBef>
                <a:spcPts val="509"/>
              </a:spcBef>
              <a:buClr>
                <a:schemeClr val="accent1">
                  <a:lumMod val="75000"/>
                </a:schemeClr>
              </a:buClr>
              <a:buSzPct val="150000"/>
              <a:buFont typeface="Arial" panose="020B0604020202020204" pitchFamily="34" charset="0"/>
              <a:buChar char="•"/>
            </a:pPr>
            <a:r>
              <a:rPr sz="2100" spc="-5" dirty="0">
                <a:latin typeface="Verdana"/>
                <a:cs typeface="Verdana"/>
              </a:rPr>
              <a:t>∆</a:t>
            </a:r>
            <a:r>
              <a:rPr sz="2100" spc="-7" baseline="-19841" dirty="0">
                <a:latin typeface="Verdana"/>
                <a:cs typeface="Verdana"/>
              </a:rPr>
              <a:t>SE</a:t>
            </a:r>
            <a:r>
              <a:rPr sz="2100" spc="-5" dirty="0">
                <a:latin typeface="Verdana"/>
                <a:cs typeface="Verdana"/>
              </a:rPr>
              <a:t>=b</a:t>
            </a:r>
            <a:r>
              <a:rPr sz="2100" spc="-7" baseline="25793" dirty="0">
                <a:latin typeface="Verdana"/>
                <a:cs typeface="Verdana"/>
              </a:rPr>
              <a:t>2</a:t>
            </a:r>
            <a:r>
              <a:rPr sz="2100" spc="-5" dirty="0">
                <a:latin typeface="Verdana"/>
                <a:cs typeface="Verdana"/>
              </a:rPr>
              <a:t>(2x</a:t>
            </a:r>
            <a:r>
              <a:rPr sz="2100" spc="-7" baseline="-19841" dirty="0">
                <a:latin typeface="Verdana"/>
                <a:cs typeface="Verdana"/>
              </a:rPr>
              <a:t>p</a:t>
            </a:r>
            <a:r>
              <a:rPr sz="2100" spc="-5" dirty="0">
                <a:latin typeface="Verdana"/>
                <a:cs typeface="Verdana"/>
              </a:rPr>
              <a:t>+2)+a</a:t>
            </a:r>
            <a:r>
              <a:rPr sz="2100" spc="-7" baseline="25793" dirty="0">
                <a:latin typeface="Verdana"/>
                <a:cs typeface="Verdana"/>
              </a:rPr>
              <a:t>2</a:t>
            </a:r>
            <a:r>
              <a:rPr sz="2100" spc="-5" dirty="0">
                <a:latin typeface="Verdana"/>
                <a:cs typeface="Verdana"/>
              </a:rPr>
              <a:t>(-2y</a:t>
            </a:r>
            <a:r>
              <a:rPr sz="2100" spc="-7" baseline="-19841" dirty="0">
                <a:latin typeface="Verdana"/>
                <a:cs typeface="Verdana"/>
              </a:rPr>
              <a:t>p</a:t>
            </a:r>
            <a:r>
              <a:rPr sz="2100" spc="-5" dirty="0">
                <a:latin typeface="Verdana"/>
                <a:cs typeface="Verdana"/>
              </a:rPr>
              <a:t>+3)</a:t>
            </a:r>
            <a:endParaRPr sz="2100">
              <a:latin typeface="Verdana"/>
              <a:cs typeface="Verdana"/>
            </a:endParaRPr>
          </a:p>
        </p:txBody>
      </p:sp>
    </p:spTree>
    <p:extLst>
      <p:ext uri="{BB962C8B-B14F-4D97-AF65-F5344CB8AC3E}">
        <p14:creationId xmlns:p14="http://schemas.microsoft.com/office/powerpoint/2010/main" val="12742817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77541" y="880363"/>
            <a:ext cx="7260590" cy="604520"/>
          </a:xfrm>
          <a:prstGeom prst="rect">
            <a:avLst/>
          </a:prstGeom>
        </p:spPr>
        <p:txBody>
          <a:bodyPr vert="horz" wrap="square" lIns="0" tIns="12065" rIns="0" bIns="0" rtlCol="0" anchor="ctr">
            <a:spAutoFit/>
          </a:bodyPr>
          <a:lstStyle/>
          <a:p>
            <a:pPr marL="12700">
              <a:spcBef>
                <a:spcPts val="95"/>
              </a:spcBef>
            </a:pPr>
            <a:r>
              <a:rPr sz="3800" spc="-10" dirty="0">
                <a:latin typeface="Verdana"/>
                <a:cs typeface="Verdana"/>
              </a:rPr>
              <a:t>Thuật</a:t>
            </a:r>
            <a:r>
              <a:rPr sz="3800" spc="-15" dirty="0">
                <a:latin typeface="Verdana"/>
                <a:cs typeface="Verdana"/>
              </a:rPr>
              <a:t> </a:t>
            </a:r>
            <a:r>
              <a:rPr sz="3800" spc="-5" dirty="0">
                <a:latin typeface="Verdana"/>
                <a:cs typeface="Verdana"/>
              </a:rPr>
              <a:t>toán </a:t>
            </a:r>
            <a:r>
              <a:rPr sz="3800" spc="-10" dirty="0">
                <a:latin typeface="Verdana"/>
                <a:cs typeface="Verdana"/>
              </a:rPr>
              <a:t>trung</a:t>
            </a:r>
            <a:r>
              <a:rPr sz="3800" spc="-5" dirty="0">
                <a:latin typeface="Verdana"/>
                <a:cs typeface="Verdana"/>
              </a:rPr>
              <a:t> điểm vẽ elip</a:t>
            </a:r>
            <a:endParaRPr sz="3800">
              <a:latin typeface="Verdana"/>
              <a:cs typeface="Verdana"/>
            </a:endParaRPr>
          </a:p>
        </p:txBody>
      </p:sp>
      <p:sp>
        <p:nvSpPr>
          <p:cNvPr id="3" name="object 3"/>
          <p:cNvSpPr txBox="1"/>
          <p:nvPr/>
        </p:nvSpPr>
        <p:spPr>
          <a:xfrm>
            <a:off x="1602739" y="1684223"/>
            <a:ext cx="6070600" cy="1480820"/>
          </a:xfrm>
          <a:prstGeom prst="rect">
            <a:avLst/>
          </a:prstGeom>
        </p:spPr>
        <p:txBody>
          <a:bodyPr vert="horz" wrap="square" lIns="0" tIns="12700" rIns="0" bIns="0" rtlCol="0">
            <a:spAutoFit/>
          </a:bodyPr>
          <a:lstStyle/>
          <a:p>
            <a:pPr marL="927100" marR="347345" indent="-914400">
              <a:lnSpc>
                <a:spcPct val="130000"/>
              </a:lnSpc>
              <a:spcBef>
                <a:spcPts val="100"/>
              </a:spcBef>
            </a:pPr>
            <a:r>
              <a:rPr sz="2600" spc="-10" smtClean="0">
                <a:latin typeface="Verdana"/>
                <a:cs typeface="Verdana"/>
              </a:rPr>
              <a:t>Tì</a:t>
            </a:r>
            <a:r>
              <a:rPr sz="2600" spc="-5" smtClean="0">
                <a:latin typeface="Verdana"/>
                <a:cs typeface="Verdana"/>
              </a:rPr>
              <a:t>m </a:t>
            </a:r>
            <a:r>
              <a:rPr sz="2600" spc="-10" dirty="0">
                <a:latin typeface="Verdana"/>
                <a:cs typeface="Verdana"/>
              </a:rPr>
              <a:t>gi</a:t>
            </a:r>
            <a:r>
              <a:rPr sz="2600" spc="-5" dirty="0">
                <a:latin typeface="Verdana"/>
                <a:cs typeface="Verdana"/>
              </a:rPr>
              <a:t>á</a:t>
            </a:r>
            <a:r>
              <a:rPr sz="2600" dirty="0">
                <a:latin typeface="Verdana"/>
                <a:cs typeface="Verdana"/>
              </a:rPr>
              <a:t> </a:t>
            </a:r>
            <a:r>
              <a:rPr sz="2600" spc="-10" dirty="0">
                <a:latin typeface="Verdana"/>
                <a:cs typeface="Verdana"/>
              </a:rPr>
              <a:t>tr</a:t>
            </a:r>
            <a:r>
              <a:rPr sz="2600" spc="-5" dirty="0">
                <a:latin typeface="Verdana"/>
                <a:cs typeface="Verdana"/>
              </a:rPr>
              <a:t>ị</a:t>
            </a:r>
            <a:r>
              <a:rPr sz="2600" spc="5" dirty="0">
                <a:latin typeface="Verdana"/>
                <a:cs typeface="Verdana"/>
              </a:rPr>
              <a:t> </a:t>
            </a:r>
            <a:r>
              <a:rPr sz="2600" spc="-5" dirty="0">
                <a:latin typeface="Verdana"/>
                <a:cs typeface="Verdana"/>
              </a:rPr>
              <a:t>khởi</a:t>
            </a:r>
            <a:r>
              <a:rPr sz="2600" dirty="0">
                <a:latin typeface="Verdana"/>
                <a:cs typeface="Verdana"/>
              </a:rPr>
              <a:t> </a:t>
            </a:r>
            <a:r>
              <a:rPr sz="2600" spc="-10" dirty="0">
                <a:latin typeface="Verdana"/>
                <a:cs typeface="Verdana"/>
              </a:rPr>
              <a:t>đầ</a:t>
            </a:r>
            <a:r>
              <a:rPr sz="2600" spc="-5" dirty="0">
                <a:latin typeface="Verdana"/>
                <a:cs typeface="Verdana"/>
              </a:rPr>
              <a:t>u</a:t>
            </a:r>
            <a:r>
              <a:rPr sz="2600" dirty="0">
                <a:latin typeface="Verdana"/>
                <a:cs typeface="Verdana"/>
              </a:rPr>
              <a:t> c</a:t>
            </a:r>
            <a:r>
              <a:rPr sz="2600" spc="-5" dirty="0">
                <a:latin typeface="Verdana"/>
                <a:cs typeface="Verdana"/>
              </a:rPr>
              <a:t>ủa</a:t>
            </a:r>
            <a:r>
              <a:rPr sz="2600" dirty="0">
                <a:latin typeface="Verdana"/>
                <a:cs typeface="Verdana"/>
              </a:rPr>
              <a:t> </a:t>
            </a:r>
            <a:r>
              <a:rPr sz="2600" spc="-5" dirty="0">
                <a:latin typeface="Verdana"/>
                <a:cs typeface="Verdana"/>
              </a:rPr>
              <a:t>số</a:t>
            </a:r>
            <a:r>
              <a:rPr sz="2600" dirty="0">
                <a:latin typeface="Verdana"/>
                <a:cs typeface="Verdana"/>
              </a:rPr>
              <a:t> </a:t>
            </a:r>
            <a:r>
              <a:rPr sz="2600" spc="-10" dirty="0">
                <a:latin typeface="Verdana"/>
                <a:cs typeface="Verdana"/>
              </a:rPr>
              <a:t>gi</a:t>
            </a:r>
            <a:r>
              <a:rPr sz="2600" spc="-5" dirty="0">
                <a:latin typeface="Verdana"/>
                <a:cs typeface="Verdana"/>
              </a:rPr>
              <a:t>a</a:t>
            </a:r>
            <a:r>
              <a:rPr sz="2600" dirty="0">
                <a:latin typeface="Verdana"/>
                <a:cs typeface="Verdana"/>
              </a:rPr>
              <a:t> </a:t>
            </a:r>
            <a:r>
              <a:rPr sz="2600" spc="-5" dirty="0">
                <a:latin typeface="Verdana"/>
                <a:cs typeface="Verdana"/>
              </a:rPr>
              <a:t>d  </a:t>
            </a:r>
            <a:r>
              <a:rPr sz="2600" b="1" spc="-5" dirty="0">
                <a:latin typeface="Verdana"/>
                <a:cs typeface="Verdana"/>
              </a:rPr>
              <a:t>Miền 1:</a:t>
            </a:r>
            <a:endParaRPr sz="2600" b="1">
              <a:latin typeface="Verdana"/>
              <a:cs typeface="Verdana"/>
            </a:endParaRPr>
          </a:p>
          <a:p>
            <a:pPr marL="927100">
              <a:spcBef>
                <a:spcPts val="825"/>
              </a:spcBef>
            </a:pPr>
            <a:r>
              <a:rPr sz="2100" spc="-5" dirty="0">
                <a:latin typeface="Verdana"/>
                <a:cs typeface="Verdana"/>
              </a:rPr>
              <a:t>giả</a:t>
            </a:r>
            <a:r>
              <a:rPr sz="2100" spc="-10" dirty="0">
                <a:latin typeface="Verdana"/>
                <a:cs typeface="Verdana"/>
              </a:rPr>
              <a:t> </a:t>
            </a:r>
            <a:r>
              <a:rPr sz="2100" dirty="0">
                <a:latin typeface="Verdana"/>
                <a:cs typeface="Verdana"/>
              </a:rPr>
              <a:t>sử</a:t>
            </a:r>
            <a:r>
              <a:rPr sz="2100" spc="-10" dirty="0">
                <a:latin typeface="Verdana"/>
                <a:cs typeface="Verdana"/>
              </a:rPr>
              <a:t> </a:t>
            </a:r>
            <a:r>
              <a:rPr sz="2100" dirty="0">
                <a:latin typeface="Verdana"/>
                <a:cs typeface="Verdana"/>
              </a:rPr>
              <a:t>a,b</a:t>
            </a:r>
            <a:r>
              <a:rPr sz="2100" spc="5" dirty="0">
                <a:latin typeface="Verdana"/>
                <a:cs typeface="Verdana"/>
              </a:rPr>
              <a:t> </a:t>
            </a:r>
            <a:r>
              <a:rPr sz="2100" spc="-5" dirty="0">
                <a:latin typeface="Verdana"/>
                <a:cs typeface="Verdana"/>
              </a:rPr>
              <a:t>nguyên:</a:t>
            </a:r>
            <a:r>
              <a:rPr sz="2100" spc="-20" dirty="0">
                <a:latin typeface="Verdana"/>
                <a:cs typeface="Verdana"/>
              </a:rPr>
              <a:t> </a:t>
            </a:r>
            <a:r>
              <a:rPr sz="2100" spc="-5" dirty="0">
                <a:latin typeface="Verdana"/>
                <a:cs typeface="Verdana"/>
              </a:rPr>
              <a:t>điểm</a:t>
            </a:r>
            <a:r>
              <a:rPr sz="2100" spc="-15" dirty="0">
                <a:latin typeface="Verdana"/>
                <a:cs typeface="Verdana"/>
              </a:rPr>
              <a:t> </a:t>
            </a:r>
            <a:r>
              <a:rPr sz="2100" spc="-5" dirty="0">
                <a:latin typeface="Verdana"/>
                <a:cs typeface="Verdana"/>
              </a:rPr>
              <a:t>bắt</a:t>
            </a:r>
            <a:r>
              <a:rPr sz="2100" spc="-10" dirty="0">
                <a:latin typeface="Verdana"/>
                <a:cs typeface="Verdana"/>
              </a:rPr>
              <a:t> </a:t>
            </a:r>
            <a:r>
              <a:rPr sz="2100" spc="-5" dirty="0">
                <a:latin typeface="Verdana"/>
                <a:cs typeface="Verdana"/>
              </a:rPr>
              <a:t>đầu</a:t>
            </a:r>
            <a:r>
              <a:rPr sz="2100" spc="-10" dirty="0">
                <a:latin typeface="Verdana"/>
                <a:cs typeface="Verdana"/>
              </a:rPr>
              <a:t> </a:t>
            </a:r>
            <a:r>
              <a:rPr sz="2100" dirty="0">
                <a:latin typeface="Verdana"/>
                <a:cs typeface="Verdana"/>
              </a:rPr>
              <a:t>vẽ</a:t>
            </a:r>
            <a:r>
              <a:rPr sz="2100" spc="-15" dirty="0">
                <a:latin typeface="Verdana"/>
                <a:cs typeface="Verdana"/>
              </a:rPr>
              <a:t> </a:t>
            </a:r>
            <a:r>
              <a:rPr sz="2100" spc="-5" dirty="0">
                <a:latin typeface="Verdana"/>
                <a:cs typeface="Verdana"/>
              </a:rPr>
              <a:t>là</a:t>
            </a:r>
            <a:endParaRPr sz="2100">
              <a:latin typeface="Verdana"/>
              <a:cs typeface="Verdana"/>
            </a:endParaRPr>
          </a:p>
        </p:txBody>
      </p:sp>
      <p:sp>
        <p:nvSpPr>
          <p:cNvPr id="4" name="object 4"/>
          <p:cNvSpPr txBox="1"/>
          <p:nvPr/>
        </p:nvSpPr>
        <p:spPr>
          <a:xfrm>
            <a:off x="2745740" y="3171444"/>
            <a:ext cx="700405" cy="345440"/>
          </a:xfrm>
          <a:prstGeom prst="rect">
            <a:avLst/>
          </a:prstGeom>
        </p:spPr>
        <p:txBody>
          <a:bodyPr vert="horz" wrap="square" lIns="0" tIns="12700" rIns="0" bIns="0" rtlCol="0">
            <a:spAutoFit/>
          </a:bodyPr>
          <a:lstStyle/>
          <a:p>
            <a:pPr marL="12700">
              <a:spcBef>
                <a:spcPts val="100"/>
              </a:spcBef>
            </a:pPr>
            <a:r>
              <a:rPr sz="2100" spc="-5" dirty="0">
                <a:latin typeface="Verdana"/>
                <a:cs typeface="Verdana"/>
              </a:rPr>
              <a:t>(0,b)</a:t>
            </a:r>
            <a:endParaRPr sz="2100">
              <a:latin typeface="Verdana"/>
              <a:cs typeface="Verdana"/>
            </a:endParaRPr>
          </a:p>
        </p:txBody>
      </p:sp>
      <p:sp>
        <p:nvSpPr>
          <p:cNvPr id="5" name="object 5"/>
          <p:cNvSpPr txBox="1"/>
          <p:nvPr/>
        </p:nvSpPr>
        <p:spPr>
          <a:xfrm>
            <a:off x="2491740" y="3491484"/>
            <a:ext cx="5493385" cy="2123658"/>
          </a:xfrm>
          <a:prstGeom prst="rect">
            <a:avLst/>
          </a:prstGeom>
        </p:spPr>
        <p:txBody>
          <a:bodyPr vert="horz" wrap="square" lIns="0" tIns="12700" rIns="0" bIns="0" rtlCol="0">
            <a:spAutoFit/>
          </a:bodyPr>
          <a:lstStyle/>
          <a:p>
            <a:pPr marL="38100" marR="1370330">
              <a:lnSpc>
                <a:spcPct val="130000"/>
              </a:lnSpc>
              <a:spcBef>
                <a:spcPts val="100"/>
              </a:spcBef>
            </a:pPr>
            <a:r>
              <a:rPr sz="2100" spc="-5" dirty="0">
                <a:latin typeface="Verdana"/>
                <a:cs typeface="Verdana"/>
              </a:rPr>
              <a:t>Điểm giữa thứ nhất: (1,b-1/2) </a:t>
            </a:r>
            <a:r>
              <a:rPr sz="2100" spc="-725" dirty="0">
                <a:latin typeface="Verdana"/>
                <a:cs typeface="Verdana"/>
              </a:rPr>
              <a:t> </a:t>
            </a:r>
            <a:r>
              <a:rPr sz="2400" b="1" dirty="0">
                <a:latin typeface="Verdana"/>
                <a:cs typeface="Verdana"/>
              </a:rPr>
              <a:t>Miền</a:t>
            </a:r>
            <a:r>
              <a:rPr sz="2400" b="1" spc="-10" dirty="0">
                <a:latin typeface="Verdana"/>
                <a:cs typeface="Verdana"/>
              </a:rPr>
              <a:t> </a:t>
            </a:r>
            <a:r>
              <a:rPr sz="2400" b="1" dirty="0">
                <a:latin typeface="Verdana"/>
                <a:cs typeface="Verdana"/>
              </a:rPr>
              <a:t>2:</a:t>
            </a:r>
            <a:endParaRPr sz="2100" b="1">
              <a:latin typeface="Verdana"/>
              <a:cs typeface="Verdana"/>
            </a:endParaRPr>
          </a:p>
          <a:p>
            <a:pPr marL="266700" marR="30480" indent="-228600">
              <a:lnSpc>
                <a:spcPct val="110000"/>
              </a:lnSpc>
              <a:spcBef>
                <a:spcPts val="505"/>
              </a:spcBef>
            </a:pPr>
            <a:r>
              <a:rPr sz="2100" spc="-5" dirty="0">
                <a:latin typeface="Verdana"/>
                <a:cs typeface="Verdana"/>
              </a:rPr>
              <a:t>phụ thuộc </a:t>
            </a:r>
            <a:r>
              <a:rPr sz="2100" dirty="0">
                <a:latin typeface="Verdana"/>
                <a:cs typeface="Verdana"/>
              </a:rPr>
              <a:t>vào </a:t>
            </a:r>
            <a:r>
              <a:rPr sz="2100" spc="-5" dirty="0">
                <a:latin typeface="Verdana"/>
                <a:cs typeface="Verdana"/>
              </a:rPr>
              <a:t>điểm giữa (x</a:t>
            </a:r>
            <a:r>
              <a:rPr sz="2100" spc="-7" baseline="-19841" dirty="0">
                <a:latin typeface="Verdana"/>
                <a:cs typeface="Verdana"/>
              </a:rPr>
              <a:t>p</a:t>
            </a:r>
            <a:r>
              <a:rPr sz="2100" spc="-5" dirty="0">
                <a:latin typeface="Verdana"/>
                <a:cs typeface="Verdana"/>
              </a:rPr>
              <a:t>+1,y</a:t>
            </a:r>
            <a:r>
              <a:rPr sz="2100" spc="-7" baseline="-19841" dirty="0">
                <a:latin typeface="Verdana"/>
                <a:cs typeface="Verdana"/>
              </a:rPr>
              <a:t>p</a:t>
            </a:r>
            <a:r>
              <a:rPr sz="2100" spc="-5" dirty="0">
                <a:latin typeface="Verdana"/>
                <a:cs typeface="Verdana"/>
              </a:rPr>
              <a:t>-1/2) </a:t>
            </a:r>
            <a:r>
              <a:rPr sz="2100" dirty="0">
                <a:latin typeface="Verdana"/>
                <a:cs typeface="Verdana"/>
              </a:rPr>
              <a:t> của </a:t>
            </a:r>
            <a:r>
              <a:rPr sz="2100" spc="-5" dirty="0">
                <a:latin typeface="Verdana"/>
                <a:cs typeface="Verdana"/>
              </a:rPr>
              <a:t>điểm tiếp theo điểm </a:t>
            </a:r>
            <a:r>
              <a:rPr sz="2100" dirty="0">
                <a:latin typeface="Verdana"/>
                <a:cs typeface="Verdana"/>
              </a:rPr>
              <a:t>cuối </a:t>
            </a:r>
            <a:r>
              <a:rPr sz="2100" spc="-5" dirty="0">
                <a:latin typeface="Verdana"/>
                <a:cs typeface="Verdana"/>
              </a:rPr>
              <a:t>cùng </a:t>
            </a:r>
            <a:r>
              <a:rPr sz="2100" dirty="0">
                <a:latin typeface="Verdana"/>
                <a:cs typeface="Verdana"/>
              </a:rPr>
              <a:t>của </a:t>
            </a:r>
            <a:r>
              <a:rPr sz="2100" spc="-725" dirty="0">
                <a:latin typeface="Verdana"/>
                <a:cs typeface="Verdana"/>
              </a:rPr>
              <a:t> </a:t>
            </a:r>
            <a:r>
              <a:rPr sz="2100" spc="-5" dirty="0">
                <a:latin typeface="Verdana"/>
                <a:cs typeface="Verdana"/>
              </a:rPr>
              <a:t>miền </a:t>
            </a:r>
            <a:r>
              <a:rPr sz="2100" dirty="0">
                <a:latin typeface="Verdana"/>
                <a:cs typeface="Verdana"/>
              </a:rPr>
              <a:t>1.</a:t>
            </a:r>
            <a:endParaRPr sz="2100">
              <a:latin typeface="Verdana"/>
              <a:cs typeface="Verdana"/>
            </a:endParaRPr>
          </a:p>
        </p:txBody>
      </p:sp>
      <p:sp>
        <p:nvSpPr>
          <p:cNvPr id="6" name="object 6"/>
          <p:cNvSpPr/>
          <p:nvPr/>
        </p:nvSpPr>
        <p:spPr>
          <a:xfrm>
            <a:off x="9805159" y="3405484"/>
            <a:ext cx="177800" cy="0"/>
          </a:xfrm>
          <a:custGeom>
            <a:avLst/>
            <a:gdLst/>
            <a:ahLst/>
            <a:cxnLst/>
            <a:rect l="l" t="t" r="r" b="b"/>
            <a:pathLst>
              <a:path w="177800">
                <a:moveTo>
                  <a:pt x="0" y="0"/>
                </a:moveTo>
                <a:lnTo>
                  <a:pt x="177303" y="0"/>
                </a:lnTo>
              </a:path>
            </a:pathLst>
          </a:custGeom>
          <a:ln w="8511">
            <a:solidFill>
              <a:srgbClr val="000000"/>
            </a:solidFill>
          </a:ln>
        </p:spPr>
        <p:txBody>
          <a:bodyPr wrap="square" lIns="0" tIns="0" rIns="0" bIns="0" rtlCol="0"/>
          <a:lstStyle/>
          <a:p>
            <a:endParaRPr/>
          </a:p>
        </p:txBody>
      </p:sp>
      <p:sp>
        <p:nvSpPr>
          <p:cNvPr id="7" name="object 7"/>
          <p:cNvSpPr txBox="1"/>
          <p:nvPr/>
        </p:nvSpPr>
        <p:spPr>
          <a:xfrm>
            <a:off x="4509234" y="3383464"/>
            <a:ext cx="5438140" cy="160300"/>
          </a:xfrm>
          <a:prstGeom prst="rect">
            <a:avLst/>
          </a:prstGeom>
        </p:spPr>
        <p:txBody>
          <a:bodyPr vert="horz" wrap="square" lIns="0" tIns="13970" rIns="0" bIns="0" rtlCol="0">
            <a:spAutoFit/>
          </a:bodyPr>
          <a:lstStyle/>
          <a:p>
            <a:pPr marL="12700">
              <a:spcBef>
                <a:spcPts val="110"/>
              </a:spcBef>
              <a:tabLst>
                <a:tab pos="1515745" algn="l"/>
                <a:tab pos="3910329" algn="l"/>
                <a:tab pos="5351780" algn="l"/>
              </a:tabLst>
            </a:pPr>
            <a:r>
              <a:rPr sz="950" spc="95" dirty="0">
                <a:latin typeface="Times New Roman"/>
                <a:cs typeface="Times New Roman"/>
              </a:rPr>
              <a:t>2	2	4	4</a:t>
            </a:r>
            <a:endParaRPr sz="950">
              <a:latin typeface="Times New Roman"/>
              <a:cs typeface="Times New Roman"/>
            </a:endParaRPr>
          </a:p>
        </p:txBody>
      </p:sp>
      <p:sp>
        <p:nvSpPr>
          <p:cNvPr id="8" name="object 8"/>
          <p:cNvSpPr txBox="1"/>
          <p:nvPr/>
        </p:nvSpPr>
        <p:spPr>
          <a:xfrm>
            <a:off x="3724477" y="3235511"/>
            <a:ext cx="6269355" cy="266740"/>
          </a:xfrm>
          <a:prstGeom prst="rect">
            <a:avLst/>
          </a:prstGeom>
        </p:spPr>
        <p:txBody>
          <a:bodyPr vert="horz" wrap="square" lIns="0" tIns="12700" rIns="0" bIns="0" rtlCol="0">
            <a:spAutoFit/>
          </a:bodyPr>
          <a:lstStyle/>
          <a:p>
            <a:pPr marL="38100">
              <a:spcBef>
                <a:spcPts val="100"/>
              </a:spcBef>
            </a:pPr>
            <a:r>
              <a:rPr sz="1650" i="1" spc="110" dirty="0">
                <a:latin typeface="Times New Roman"/>
                <a:cs typeface="Times New Roman"/>
              </a:rPr>
              <a:t>F</a:t>
            </a:r>
            <a:r>
              <a:rPr sz="1650" spc="110" dirty="0">
                <a:latin typeface="Times New Roman"/>
                <a:cs typeface="Times New Roman"/>
              </a:rPr>
              <a:t>(1,</a:t>
            </a:r>
            <a:r>
              <a:rPr sz="1650" i="1" spc="110" dirty="0">
                <a:latin typeface="Times New Roman"/>
                <a:cs typeface="Times New Roman"/>
              </a:rPr>
              <a:t>b</a:t>
            </a:r>
            <a:r>
              <a:rPr sz="1650" i="1" spc="-140" dirty="0">
                <a:latin typeface="Times New Roman"/>
                <a:cs typeface="Times New Roman"/>
              </a:rPr>
              <a:t> </a:t>
            </a:r>
            <a:r>
              <a:rPr sz="1650" spc="165" dirty="0">
                <a:latin typeface="Symbol"/>
                <a:cs typeface="Symbol"/>
              </a:rPr>
              <a:t></a:t>
            </a:r>
            <a:r>
              <a:rPr sz="1650" spc="5" dirty="0">
                <a:latin typeface="Times New Roman"/>
                <a:cs typeface="Times New Roman"/>
              </a:rPr>
              <a:t> </a:t>
            </a:r>
            <a:r>
              <a:rPr sz="1425" u="sng" spc="142" baseline="32163" dirty="0">
                <a:uFill>
                  <a:solidFill>
                    <a:srgbClr val="000000"/>
                  </a:solidFill>
                </a:uFill>
                <a:latin typeface="Times New Roman"/>
                <a:cs typeface="Times New Roman"/>
              </a:rPr>
              <a:t>1</a:t>
            </a:r>
            <a:r>
              <a:rPr sz="1425" spc="-89" baseline="32163" dirty="0">
                <a:latin typeface="Times New Roman"/>
                <a:cs typeface="Times New Roman"/>
              </a:rPr>
              <a:t> </a:t>
            </a:r>
            <a:r>
              <a:rPr sz="1650" spc="100" dirty="0">
                <a:latin typeface="Times New Roman"/>
                <a:cs typeface="Times New Roman"/>
              </a:rPr>
              <a:t>)</a:t>
            </a:r>
            <a:r>
              <a:rPr sz="1650" spc="-15" dirty="0">
                <a:latin typeface="Times New Roman"/>
                <a:cs typeface="Times New Roman"/>
              </a:rPr>
              <a:t> </a:t>
            </a:r>
            <a:r>
              <a:rPr sz="1650" spc="165" dirty="0">
                <a:latin typeface="Symbol"/>
                <a:cs typeface="Symbol"/>
              </a:rPr>
              <a:t></a:t>
            </a:r>
            <a:r>
              <a:rPr sz="1650" spc="-90" dirty="0">
                <a:latin typeface="Times New Roman"/>
                <a:cs typeface="Times New Roman"/>
              </a:rPr>
              <a:t> </a:t>
            </a:r>
            <a:r>
              <a:rPr sz="1650" i="1" spc="150" dirty="0">
                <a:latin typeface="Times New Roman"/>
                <a:cs typeface="Times New Roman"/>
              </a:rPr>
              <a:t>b</a:t>
            </a:r>
            <a:r>
              <a:rPr sz="1425" spc="225" baseline="43859" dirty="0">
                <a:latin typeface="Times New Roman"/>
                <a:cs typeface="Times New Roman"/>
              </a:rPr>
              <a:t>2</a:t>
            </a:r>
            <a:r>
              <a:rPr sz="1425" spc="352" baseline="43859" dirty="0">
                <a:latin typeface="Times New Roman"/>
                <a:cs typeface="Times New Roman"/>
              </a:rPr>
              <a:t> </a:t>
            </a:r>
            <a:r>
              <a:rPr sz="1650" spc="165" dirty="0">
                <a:latin typeface="Symbol"/>
                <a:cs typeface="Symbol"/>
              </a:rPr>
              <a:t></a:t>
            </a:r>
            <a:r>
              <a:rPr sz="1650" spc="-114" dirty="0">
                <a:latin typeface="Times New Roman"/>
                <a:cs typeface="Times New Roman"/>
              </a:rPr>
              <a:t> </a:t>
            </a:r>
            <a:r>
              <a:rPr sz="1650" i="1" spc="165" dirty="0">
                <a:latin typeface="Times New Roman"/>
                <a:cs typeface="Times New Roman"/>
              </a:rPr>
              <a:t>a</a:t>
            </a:r>
            <a:r>
              <a:rPr sz="1425" spc="247" baseline="43859" dirty="0">
                <a:latin typeface="Times New Roman"/>
                <a:cs typeface="Times New Roman"/>
              </a:rPr>
              <a:t>2</a:t>
            </a:r>
            <a:r>
              <a:rPr sz="1425" spc="-82" baseline="43859" dirty="0">
                <a:latin typeface="Times New Roman"/>
                <a:cs typeface="Times New Roman"/>
              </a:rPr>
              <a:t> </a:t>
            </a:r>
            <a:r>
              <a:rPr sz="1650" spc="105" dirty="0">
                <a:latin typeface="Times New Roman"/>
                <a:cs typeface="Times New Roman"/>
              </a:rPr>
              <a:t>(</a:t>
            </a:r>
            <a:r>
              <a:rPr sz="1650" i="1" spc="105" dirty="0">
                <a:latin typeface="Times New Roman"/>
                <a:cs typeface="Times New Roman"/>
              </a:rPr>
              <a:t>b</a:t>
            </a:r>
            <a:r>
              <a:rPr sz="1650" i="1" spc="-135" dirty="0">
                <a:latin typeface="Times New Roman"/>
                <a:cs typeface="Times New Roman"/>
              </a:rPr>
              <a:t> </a:t>
            </a:r>
            <a:r>
              <a:rPr sz="1650" spc="165" dirty="0">
                <a:latin typeface="Symbol"/>
                <a:cs typeface="Symbol"/>
              </a:rPr>
              <a:t></a:t>
            </a:r>
            <a:r>
              <a:rPr sz="1650" spc="5" dirty="0">
                <a:latin typeface="Times New Roman"/>
                <a:cs typeface="Times New Roman"/>
              </a:rPr>
              <a:t> </a:t>
            </a:r>
            <a:r>
              <a:rPr sz="1425" u="sng" spc="142" baseline="32163" dirty="0">
                <a:uFill>
                  <a:solidFill>
                    <a:srgbClr val="000000"/>
                  </a:solidFill>
                </a:uFill>
                <a:latin typeface="Times New Roman"/>
                <a:cs typeface="Times New Roman"/>
              </a:rPr>
              <a:t>1</a:t>
            </a:r>
            <a:r>
              <a:rPr sz="1425" spc="-82" baseline="32163" dirty="0">
                <a:latin typeface="Times New Roman"/>
                <a:cs typeface="Times New Roman"/>
              </a:rPr>
              <a:t> </a:t>
            </a:r>
            <a:r>
              <a:rPr sz="1650" spc="125" dirty="0">
                <a:latin typeface="Times New Roman"/>
                <a:cs typeface="Times New Roman"/>
              </a:rPr>
              <a:t>)</a:t>
            </a:r>
            <a:r>
              <a:rPr sz="1425" spc="187" baseline="43859" dirty="0">
                <a:latin typeface="Times New Roman"/>
                <a:cs typeface="Times New Roman"/>
              </a:rPr>
              <a:t>2</a:t>
            </a:r>
            <a:r>
              <a:rPr sz="1425" spc="359" baseline="43859" dirty="0">
                <a:latin typeface="Times New Roman"/>
                <a:cs typeface="Times New Roman"/>
              </a:rPr>
              <a:t> </a:t>
            </a:r>
            <a:r>
              <a:rPr sz="1650" spc="165" dirty="0">
                <a:latin typeface="Symbol"/>
                <a:cs typeface="Symbol"/>
              </a:rPr>
              <a:t></a:t>
            </a:r>
            <a:r>
              <a:rPr sz="1650" spc="-145" dirty="0">
                <a:latin typeface="Times New Roman"/>
                <a:cs typeface="Times New Roman"/>
              </a:rPr>
              <a:t> </a:t>
            </a:r>
            <a:r>
              <a:rPr sz="1650" i="1" spc="155" dirty="0">
                <a:latin typeface="Times New Roman"/>
                <a:cs typeface="Times New Roman"/>
              </a:rPr>
              <a:t>a</a:t>
            </a:r>
            <a:r>
              <a:rPr sz="1425" spc="232" baseline="43859" dirty="0">
                <a:latin typeface="Times New Roman"/>
                <a:cs typeface="Times New Roman"/>
              </a:rPr>
              <a:t>2</a:t>
            </a:r>
            <a:r>
              <a:rPr sz="1650" i="1" spc="155" dirty="0">
                <a:latin typeface="Times New Roman"/>
                <a:cs typeface="Times New Roman"/>
              </a:rPr>
              <a:t>b</a:t>
            </a:r>
            <a:r>
              <a:rPr sz="1425" spc="232" baseline="43859" dirty="0">
                <a:latin typeface="Times New Roman"/>
                <a:cs typeface="Times New Roman"/>
              </a:rPr>
              <a:t>2</a:t>
            </a:r>
            <a:r>
              <a:rPr sz="1425" spc="532" baseline="43859" dirty="0">
                <a:latin typeface="Times New Roman"/>
                <a:cs typeface="Times New Roman"/>
              </a:rPr>
              <a:t> </a:t>
            </a:r>
            <a:r>
              <a:rPr sz="1650" spc="165" dirty="0">
                <a:latin typeface="Symbol"/>
                <a:cs typeface="Symbol"/>
              </a:rPr>
              <a:t></a:t>
            </a:r>
            <a:r>
              <a:rPr sz="1650" spc="-90" dirty="0">
                <a:latin typeface="Times New Roman"/>
                <a:cs typeface="Times New Roman"/>
              </a:rPr>
              <a:t> </a:t>
            </a:r>
            <a:r>
              <a:rPr sz="1650" i="1" spc="150" dirty="0">
                <a:latin typeface="Times New Roman"/>
                <a:cs typeface="Times New Roman"/>
              </a:rPr>
              <a:t>b</a:t>
            </a:r>
            <a:r>
              <a:rPr sz="1425" spc="225" baseline="43859" dirty="0">
                <a:latin typeface="Times New Roman"/>
                <a:cs typeface="Times New Roman"/>
              </a:rPr>
              <a:t>2</a:t>
            </a:r>
            <a:r>
              <a:rPr sz="1425" spc="359" baseline="43859" dirty="0">
                <a:latin typeface="Times New Roman"/>
                <a:cs typeface="Times New Roman"/>
              </a:rPr>
              <a:t> </a:t>
            </a:r>
            <a:r>
              <a:rPr sz="1650" spc="165" dirty="0">
                <a:latin typeface="Symbol"/>
                <a:cs typeface="Symbol"/>
              </a:rPr>
              <a:t></a:t>
            </a:r>
            <a:r>
              <a:rPr sz="1650" spc="-120" dirty="0">
                <a:latin typeface="Times New Roman"/>
                <a:cs typeface="Times New Roman"/>
              </a:rPr>
              <a:t> </a:t>
            </a:r>
            <a:r>
              <a:rPr sz="1650" i="1" spc="165" dirty="0">
                <a:latin typeface="Times New Roman"/>
                <a:cs typeface="Times New Roman"/>
              </a:rPr>
              <a:t>a</a:t>
            </a:r>
            <a:r>
              <a:rPr sz="1425" spc="247" baseline="43859" dirty="0">
                <a:latin typeface="Times New Roman"/>
                <a:cs typeface="Times New Roman"/>
              </a:rPr>
              <a:t>2</a:t>
            </a:r>
            <a:r>
              <a:rPr sz="1425" spc="-89" baseline="43859" dirty="0">
                <a:latin typeface="Times New Roman"/>
                <a:cs typeface="Times New Roman"/>
              </a:rPr>
              <a:t> </a:t>
            </a:r>
            <a:r>
              <a:rPr sz="1650" spc="125" dirty="0">
                <a:latin typeface="Times New Roman"/>
                <a:cs typeface="Times New Roman"/>
              </a:rPr>
              <a:t>(</a:t>
            </a:r>
            <a:r>
              <a:rPr sz="1650" spc="125" dirty="0">
                <a:latin typeface="Symbol"/>
                <a:cs typeface="Symbol"/>
              </a:rPr>
              <a:t></a:t>
            </a:r>
            <a:r>
              <a:rPr sz="1650" i="1" spc="125" dirty="0">
                <a:latin typeface="Times New Roman"/>
                <a:cs typeface="Times New Roman"/>
              </a:rPr>
              <a:t>b</a:t>
            </a:r>
            <a:r>
              <a:rPr sz="1650" i="1" spc="-135" dirty="0">
                <a:latin typeface="Times New Roman"/>
                <a:cs typeface="Times New Roman"/>
              </a:rPr>
              <a:t> </a:t>
            </a:r>
            <a:r>
              <a:rPr sz="1650" spc="165" dirty="0">
                <a:latin typeface="Symbol"/>
                <a:cs typeface="Symbol"/>
              </a:rPr>
              <a:t></a:t>
            </a:r>
            <a:r>
              <a:rPr sz="1650" spc="35" dirty="0">
                <a:latin typeface="Times New Roman"/>
                <a:cs typeface="Times New Roman"/>
              </a:rPr>
              <a:t> </a:t>
            </a:r>
            <a:r>
              <a:rPr sz="1425" u="sng" spc="142" baseline="32163" dirty="0">
                <a:uFill>
                  <a:solidFill>
                    <a:srgbClr val="000000"/>
                  </a:solidFill>
                </a:uFill>
                <a:latin typeface="Times New Roman"/>
                <a:cs typeface="Times New Roman"/>
              </a:rPr>
              <a:t>1</a:t>
            </a:r>
            <a:r>
              <a:rPr sz="1425" spc="-89" baseline="32163" dirty="0">
                <a:latin typeface="Times New Roman"/>
                <a:cs typeface="Times New Roman"/>
              </a:rPr>
              <a:t> </a:t>
            </a:r>
            <a:r>
              <a:rPr sz="1650" spc="100" dirty="0">
                <a:latin typeface="Times New Roman"/>
                <a:cs typeface="Times New Roman"/>
              </a:rPr>
              <a:t>)</a:t>
            </a:r>
            <a:r>
              <a:rPr sz="1650" spc="-15" dirty="0">
                <a:latin typeface="Times New Roman"/>
                <a:cs typeface="Times New Roman"/>
              </a:rPr>
              <a:t> </a:t>
            </a:r>
            <a:r>
              <a:rPr sz="1650" spc="165" dirty="0">
                <a:latin typeface="Symbol"/>
                <a:cs typeface="Symbol"/>
              </a:rPr>
              <a:t></a:t>
            </a:r>
            <a:r>
              <a:rPr sz="1650" spc="-85" dirty="0">
                <a:latin typeface="Times New Roman"/>
                <a:cs typeface="Times New Roman"/>
              </a:rPr>
              <a:t> </a:t>
            </a:r>
            <a:r>
              <a:rPr sz="1650" i="1" spc="150" dirty="0">
                <a:latin typeface="Times New Roman"/>
                <a:cs typeface="Times New Roman"/>
              </a:rPr>
              <a:t>b</a:t>
            </a:r>
            <a:r>
              <a:rPr sz="1425" spc="225" baseline="43859" dirty="0">
                <a:latin typeface="Times New Roman"/>
                <a:cs typeface="Times New Roman"/>
              </a:rPr>
              <a:t>2</a:t>
            </a:r>
            <a:r>
              <a:rPr sz="1425" spc="345" baseline="43859" dirty="0">
                <a:latin typeface="Times New Roman"/>
                <a:cs typeface="Times New Roman"/>
              </a:rPr>
              <a:t> </a:t>
            </a:r>
            <a:r>
              <a:rPr sz="1650" spc="165" dirty="0">
                <a:latin typeface="Symbol"/>
                <a:cs typeface="Symbol"/>
              </a:rPr>
              <a:t></a:t>
            </a:r>
            <a:r>
              <a:rPr sz="1650" spc="-140" dirty="0">
                <a:latin typeface="Times New Roman"/>
                <a:cs typeface="Times New Roman"/>
              </a:rPr>
              <a:t> </a:t>
            </a:r>
            <a:r>
              <a:rPr sz="1650" i="1" spc="160" dirty="0">
                <a:latin typeface="Times New Roman"/>
                <a:cs typeface="Times New Roman"/>
              </a:rPr>
              <a:t>a</a:t>
            </a:r>
            <a:r>
              <a:rPr sz="1425" spc="240" baseline="43859" dirty="0">
                <a:latin typeface="Times New Roman"/>
                <a:cs typeface="Times New Roman"/>
              </a:rPr>
              <a:t>2</a:t>
            </a:r>
            <a:r>
              <a:rPr sz="1650" i="1" spc="160" dirty="0">
                <a:latin typeface="Times New Roman"/>
                <a:cs typeface="Times New Roman"/>
              </a:rPr>
              <a:t>b</a:t>
            </a:r>
            <a:r>
              <a:rPr sz="1650" i="1" spc="-140" dirty="0">
                <a:latin typeface="Times New Roman"/>
                <a:cs typeface="Times New Roman"/>
              </a:rPr>
              <a:t> </a:t>
            </a:r>
            <a:r>
              <a:rPr sz="1650" spc="165" dirty="0">
                <a:latin typeface="Symbol"/>
                <a:cs typeface="Symbol"/>
              </a:rPr>
              <a:t></a:t>
            </a:r>
            <a:r>
              <a:rPr sz="1650" spc="55" dirty="0">
                <a:latin typeface="Times New Roman"/>
                <a:cs typeface="Times New Roman"/>
              </a:rPr>
              <a:t> </a:t>
            </a:r>
            <a:r>
              <a:rPr sz="1425" i="1" spc="172" baseline="35087" dirty="0">
                <a:latin typeface="Times New Roman"/>
                <a:cs typeface="Times New Roman"/>
              </a:rPr>
              <a:t>a</a:t>
            </a:r>
            <a:r>
              <a:rPr sz="975" spc="172" baseline="85470" dirty="0">
                <a:latin typeface="Times New Roman"/>
                <a:cs typeface="Times New Roman"/>
              </a:rPr>
              <a:t>2</a:t>
            </a:r>
            <a:endParaRPr sz="975" baseline="85470">
              <a:latin typeface="Times New Roman"/>
              <a:cs typeface="Times New Roman"/>
            </a:endParaRPr>
          </a:p>
        </p:txBody>
      </p:sp>
      <p:grpSp>
        <p:nvGrpSpPr>
          <p:cNvPr id="9" name="object 9"/>
          <p:cNvGrpSpPr/>
          <p:nvPr/>
        </p:nvGrpSpPr>
        <p:grpSpPr>
          <a:xfrm>
            <a:off x="5000910" y="4724400"/>
            <a:ext cx="5296535" cy="1360170"/>
            <a:chOff x="3476909" y="4724400"/>
            <a:chExt cx="5296535" cy="1360170"/>
          </a:xfrm>
        </p:grpSpPr>
        <p:pic>
          <p:nvPicPr>
            <p:cNvPr id="10" name="object 10"/>
            <p:cNvPicPr/>
            <p:nvPr/>
          </p:nvPicPr>
          <p:blipFill>
            <a:blip r:embed="rId2" cstate="print"/>
            <a:stretch>
              <a:fillRect/>
            </a:stretch>
          </p:blipFill>
          <p:spPr>
            <a:xfrm>
              <a:off x="6588252" y="4724400"/>
              <a:ext cx="2184654" cy="1360170"/>
            </a:xfrm>
            <a:prstGeom prst="rect">
              <a:avLst/>
            </a:prstGeom>
          </p:spPr>
        </p:pic>
        <p:sp>
          <p:nvSpPr>
            <p:cNvPr id="11" name="object 11"/>
            <p:cNvSpPr/>
            <p:nvPr/>
          </p:nvSpPr>
          <p:spPr>
            <a:xfrm>
              <a:off x="3476909" y="6004467"/>
              <a:ext cx="164465" cy="0"/>
            </a:xfrm>
            <a:custGeom>
              <a:avLst/>
              <a:gdLst/>
              <a:ahLst/>
              <a:cxnLst/>
              <a:rect l="l" t="t" r="r" b="b"/>
              <a:pathLst>
                <a:path w="164464">
                  <a:moveTo>
                    <a:pt x="0" y="0"/>
                  </a:moveTo>
                  <a:lnTo>
                    <a:pt x="164031" y="0"/>
                  </a:lnTo>
                </a:path>
              </a:pathLst>
            </a:custGeom>
            <a:ln w="9481">
              <a:solidFill>
                <a:srgbClr val="000000"/>
              </a:solidFill>
            </a:ln>
          </p:spPr>
          <p:txBody>
            <a:bodyPr wrap="square" lIns="0" tIns="0" rIns="0" bIns="0" rtlCol="0"/>
            <a:lstStyle/>
            <a:p>
              <a:endParaRPr/>
            </a:p>
          </p:txBody>
        </p:sp>
      </p:grpSp>
      <p:sp>
        <p:nvSpPr>
          <p:cNvPr id="12" name="object 12"/>
          <p:cNvSpPr txBox="1"/>
          <p:nvPr/>
        </p:nvSpPr>
        <p:spPr>
          <a:xfrm>
            <a:off x="5038882" y="5981838"/>
            <a:ext cx="93345" cy="173766"/>
          </a:xfrm>
          <a:prstGeom prst="rect">
            <a:avLst/>
          </a:prstGeom>
        </p:spPr>
        <p:txBody>
          <a:bodyPr vert="horz" wrap="square" lIns="0" tIns="12065" rIns="0" bIns="0" rtlCol="0">
            <a:spAutoFit/>
          </a:bodyPr>
          <a:lstStyle/>
          <a:p>
            <a:pPr marL="12700">
              <a:spcBef>
                <a:spcPts val="95"/>
              </a:spcBef>
            </a:pPr>
            <a:r>
              <a:rPr sz="1050" spc="5" dirty="0">
                <a:latin typeface="Times New Roman"/>
                <a:cs typeface="Times New Roman"/>
              </a:rPr>
              <a:t>4</a:t>
            </a:r>
            <a:endParaRPr sz="1050">
              <a:latin typeface="Times New Roman"/>
              <a:cs typeface="Times New Roman"/>
            </a:endParaRPr>
          </a:p>
        </p:txBody>
      </p:sp>
      <p:sp>
        <p:nvSpPr>
          <p:cNvPr id="13" name="object 13"/>
          <p:cNvSpPr txBox="1"/>
          <p:nvPr/>
        </p:nvSpPr>
        <p:spPr>
          <a:xfrm>
            <a:off x="4053336" y="5570081"/>
            <a:ext cx="2206625" cy="173766"/>
          </a:xfrm>
          <a:prstGeom prst="rect">
            <a:avLst/>
          </a:prstGeom>
        </p:spPr>
        <p:txBody>
          <a:bodyPr vert="horz" wrap="square" lIns="0" tIns="12065" rIns="0" bIns="0" rtlCol="0">
            <a:spAutoFit/>
          </a:bodyPr>
          <a:lstStyle/>
          <a:p>
            <a:pPr marL="12700">
              <a:spcBef>
                <a:spcPts val="95"/>
              </a:spcBef>
              <a:tabLst>
                <a:tab pos="332105" algn="l"/>
                <a:tab pos="671830" algn="l"/>
                <a:tab pos="988060" algn="l"/>
                <a:tab pos="1805939" algn="l"/>
                <a:tab pos="2125345" algn="l"/>
              </a:tabLst>
            </a:pPr>
            <a:r>
              <a:rPr sz="1575" i="1" spc="7" baseline="2645" dirty="0">
                <a:latin typeface="Times New Roman"/>
                <a:cs typeface="Times New Roman"/>
              </a:rPr>
              <a:t>p	</a:t>
            </a:r>
            <a:r>
              <a:rPr sz="1050" spc="5" dirty="0">
                <a:latin typeface="Times New Roman"/>
                <a:cs typeface="Times New Roman"/>
              </a:rPr>
              <a:t>2	</a:t>
            </a:r>
            <a:r>
              <a:rPr sz="1575" i="1" spc="7" baseline="2645" dirty="0">
                <a:latin typeface="Times New Roman"/>
                <a:cs typeface="Times New Roman"/>
              </a:rPr>
              <a:t>p	</a:t>
            </a:r>
            <a:r>
              <a:rPr sz="1050" spc="5" dirty="0">
                <a:latin typeface="Times New Roman"/>
                <a:cs typeface="Times New Roman"/>
              </a:rPr>
              <a:t>2	</a:t>
            </a:r>
            <a:r>
              <a:rPr sz="1575" i="1" spc="7" baseline="2645" dirty="0">
                <a:latin typeface="Times New Roman"/>
                <a:cs typeface="Times New Roman"/>
              </a:rPr>
              <a:t>p	</a:t>
            </a:r>
            <a:r>
              <a:rPr sz="1050" spc="5" dirty="0">
                <a:latin typeface="Times New Roman"/>
                <a:cs typeface="Times New Roman"/>
              </a:rPr>
              <a:t>2</a:t>
            </a:r>
            <a:endParaRPr sz="1050">
              <a:latin typeface="Times New Roman"/>
              <a:cs typeface="Times New Roman"/>
            </a:endParaRPr>
          </a:p>
        </p:txBody>
      </p:sp>
      <p:sp>
        <p:nvSpPr>
          <p:cNvPr id="14" name="object 14"/>
          <p:cNvSpPr txBox="1"/>
          <p:nvPr/>
        </p:nvSpPr>
        <p:spPr>
          <a:xfrm>
            <a:off x="3646437" y="5821115"/>
            <a:ext cx="3248660" cy="298450"/>
          </a:xfrm>
          <a:prstGeom prst="rect">
            <a:avLst/>
          </a:prstGeom>
        </p:spPr>
        <p:txBody>
          <a:bodyPr vert="horz" wrap="square" lIns="0" tIns="11430" rIns="0" bIns="0" rtlCol="0">
            <a:spAutoFit/>
          </a:bodyPr>
          <a:lstStyle/>
          <a:p>
            <a:pPr marL="38100">
              <a:spcBef>
                <a:spcPts val="90"/>
              </a:spcBef>
            </a:pPr>
            <a:r>
              <a:rPr spc="15" dirty="0">
                <a:latin typeface="Symbol"/>
                <a:cs typeface="Symbol"/>
              </a:rPr>
              <a:t></a:t>
            </a:r>
            <a:r>
              <a:rPr spc="-114" dirty="0">
                <a:latin typeface="Times New Roman"/>
                <a:cs typeface="Times New Roman"/>
              </a:rPr>
              <a:t> </a:t>
            </a:r>
            <a:r>
              <a:rPr i="1" spc="85" dirty="0">
                <a:latin typeface="Times New Roman"/>
                <a:cs typeface="Times New Roman"/>
              </a:rPr>
              <a:t>b</a:t>
            </a:r>
            <a:r>
              <a:rPr sz="1575" spc="7" baseline="42328" dirty="0">
                <a:latin typeface="Times New Roman"/>
                <a:cs typeface="Times New Roman"/>
              </a:rPr>
              <a:t>2</a:t>
            </a:r>
            <a:r>
              <a:rPr sz="1575" spc="-150" baseline="42328" dirty="0">
                <a:latin typeface="Times New Roman"/>
                <a:cs typeface="Times New Roman"/>
              </a:rPr>
              <a:t> </a:t>
            </a:r>
            <a:r>
              <a:rPr i="1" spc="105" dirty="0">
                <a:latin typeface="Times New Roman"/>
                <a:cs typeface="Times New Roman"/>
              </a:rPr>
              <a:t>x</a:t>
            </a:r>
            <a:r>
              <a:rPr sz="1575" spc="7" baseline="42328" dirty="0">
                <a:latin typeface="Times New Roman"/>
                <a:cs typeface="Times New Roman"/>
              </a:rPr>
              <a:t>2</a:t>
            </a:r>
            <a:r>
              <a:rPr sz="1575" baseline="42328" dirty="0">
                <a:latin typeface="Times New Roman"/>
                <a:cs typeface="Times New Roman"/>
              </a:rPr>
              <a:t> </a:t>
            </a:r>
            <a:r>
              <a:rPr sz="1575" spc="-82" baseline="42328" dirty="0">
                <a:latin typeface="Times New Roman"/>
                <a:cs typeface="Times New Roman"/>
              </a:rPr>
              <a:t> </a:t>
            </a:r>
            <a:r>
              <a:rPr spc="15" dirty="0">
                <a:latin typeface="Symbol"/>
                <a:cs typeface="Symbol"/>
              </a:rPr>
              <a:t></a:t>
            </a:r>
            <a:r>
              <a:rPr spc="-195" dirty="0">
                <a:latin typeface="Times New Roman"/>
                <a:cs typeface="Times New Roman"/>
              </a:rPr>
              <a:t> </a:t>
            </a:r>
            <a:r>
              <a:rPr i="1" spc="85" dirty="0">
                <a:latin typeface="Times New Roman"/>
                <a:cs typeface="Times New Roman"/>
              </a:rPr>
              <a:t>b</a:t>
            </a:r>
            <a:r>
              <a:rPr sz="1575" spc="7" baseline="42328" dirty="0">
                <a:latin typeface="Times New Roman"/>
                <a:cs typeface="Times New Roman"/>
              </a:rPr>
              <a:t>2</a:t>
            </a:r>
            <a:r>
              <a:rPr sz="1575" spc="-150" baseline="42328" dirty="0">
                <a:latin typeface="Times New Roman"/>
                <a:cs typeface="Times New Roman"/>
              </a:rPr>
              <a:t> </a:t>
            </a:r>
            <a:r>
              <a:rPr i="1" spc="10" dirty="0">
                <a:latin typeface="Times New Roman"/>
                <a:cs typeface="Times New Roman"/>
              </a:rPr>
              <a:t>x</a:t>
            </a:r>
            <a:r>
              <a:rPr i="1" spc="-145" dirty="0">
                <a:latin typeface="Times New Roman"/>
                <a:cs typeface="Times New Roman"/>
              </a:rPr>
              <a:t> </a:t>
            </a:r>
            <a:r>
              <a:rPr spc="15" dirty="0">
                <a:latin typeface="Symbol"/>
                <a:cs typeface="Symbol"/>
              </a:rPr>
              <a:t></a:t>
            </a:r>
            <a:r>
              <a:rPr spc="-10" dirty="0">
                <a:latin typeface="Times New Roman"/>
                <a:cs typeface="Times New Roman"/>
              </a:rPr>
              <a:t> </a:t>
            </a:r>
            <a:r>
              <a:rPr sz="1575" i="1" spc="89" baseline="34391" dirty="0">
                <a:latin typeface="Times New Roman"/>
                <a:cs typeface="Times New Roman"/>
              </a:rPr>
              <a:t>b</a:t>
            </a:r>
            <a:r>
              <a:rPr sz="1125" spc="7" baseline="81481" dirty="0">
                <a:latin typeface="Times New Roman"/>
                <a:cs typeface="Times New Roman"/>
              </a:rPr>
              <a:t>2</a:t>
            </a:r>
            <a:r>
              <a:rPr sz="1125" baseline="81481" dirty="0">
                <a:latin typeface="Times New Roman"/>
                <a:cs typeface="Times New Roman"/>
              </a:rPr>
              <a:t>  </a:t>
            </a:r>
            <a:r>
              <a:rPr sz="1125" spc="30" baseline="81481" dirty="0">
                <a:latin typeface="Times New Roman"/>
                <a:cs typeface="Times New Roman"/>
              </a:rPr>
              <a:t> </a:t>
            </a:r>
            <a:r>
              <a:rPr spc="15" dirty="0">
                <a:latin typeface="Symbol"/>
                <a:cs typeface="Symbol"/>
              </a:rPr>
              <a:t></a:t>
            </a:r>
            <a:r>
              <a:rPr spc="-145" dirty="0">
                <a:latin typeface="Times New Roman"/>
                <a:cs typeface="Times New Roman"/>
              </a:rPr>
              <a:t> </a:t>
            </a:r>
            <a:r>
              <a:rPr i="1" spc="114" dirty="0">
                <a:latin typeface="Times New Roman"/>
                <a:cs typeface="Times New Roman"/>
              </a:rPr>
              <a:t>a</a:t>
            </a:r>
            <a:r>
              <a:rPr sz="1575" spc="7" baseline="42328" dirty="0">
                <a:latin typeface="Times New Roman"/>
                <a:cs typeface="Times New Roman"/>
              </a:rPr>
              <a:t>2</a:t>
            </a:r>
            <a:r>
              <a:rPr sz="1575" spc="-104" baseline="42328" dirty="0">
                <a:latin typeface="Times New Roman"/>
                <a:cs typeface="Times New Roman"/>
              </a:rPr>
              <a:t> </a:t>
            </a:r>
            <a:r>
              <a:rPr spc="5" dirty="0">
                <a:latin typeface="Times New Roman"/>
                <a:cs typeface="Times New Roman"/>
              </a:rPr>
              <a:t>(</a:t>
            </a:r>
            <a:r>
              <a:rPr spc="-250" dirty="0">
                <a:latin typeface="Times New Roman"/>
                <a:cs typeface="Times New Roman"/>
              </a:rPr>
              <a:t> </a:t>
            </a:r>
            <a:r>
              <a:rPr i="1" spc="10" dirty="0">
                <a:latin typeface="Times New Roman"/>
                <a:cs typeface="Times New Roman"/>
              </a:rPr>
              <a:t>y</a:t>
            </a:r>
            <a:r>
              <a:rPr i="1" spc="-114" dirty="0">
                <a:latin typeface="Times New Roman"/>
                <a:cs typeface="Times New Roman"/>
              </a:rPr>
              <a:t> </a:t>
            </a:r>
            <a:r>
              <a:rPr spc="100" dirty="0">
                <a:latin typeface="Symbol"/>
                <a:cs typeface="Symbol"/>
              </a:rPr>
              <a:t></a:t>
            </a:r>
            <a:r>
              <a:rPr spc="-150" dirty="0">
                <a:latin typeface="Times New Roman"/>
                <a:cs typeface="Times New Roman"/>
              </a:rPr>
              <a:t>1</a:t>
            </a:r>
            <a:r>
              <a:rPr spc="80" dirty="0">
                <a:latin typeface="Times New Roman"/>
                <a:cs typeface="Times New Roman"/>
              </a:rPr>
              <a:t>)</a:t>
            </a:r>
            <a:r>
              <a:rPr sz="1575" spc="7" baseline="42328" dirty="0">
                <a:latin typeface="Times New Roman"/>
                <a:cs typeface="Times New Roman"/>
              </a:rPr>
              <a:t>2</a:t>
            </a:r>
            <a:r>
              <a:rPr sz="1575" baseline="42328" dirty="0">
                <a:latin typeface="Times New Roman"/>
                <a:cs typeface="Times New Roman"/>
              </a:rPr>
              <a:t> </a:t>
            </a:r>
            <a:r>
              <a:rPr sz="1575" spc="-82" baseline="42328" dirty="0">
                <a:latin typeface="Times New Roman"/>
                <a:cs typeface="Times New Roman"/>
              </a:rPr>
              <a:t> </a:t>
            </a:r>
            <a:r>
              <a:rPr spc="15" dirty="0">
                <a:latin typeface="Symbol"/>
                <a:cs typeface="Symbol"/>
              </a:rPr>
              <a:t></a:t>
            </a:r>
            <a:r>
              <a:rPr spc="-170" dirty="0">
                <a:latin typeface="Times New Roman"/>
                <a:cs typeface="Times New Roman"/>
              </a:rPr>
              <a:t> </a:t>
            </a:r>
            <a:r>
              <a:rPr i="1" spc="114" dirty="0">
                <a:latin typeface="Times New Roman"/>
                <a:cs typeface="Times New Roman"/>
              </a:rPr>
              <a:t>a</a:t>
            </a:r>
            <a:r>
              <a:rPr sz="1575" spc="37" baseline="42328" dirty="0">
                <a:latin typeface="Times New Roman"/>
                <a:cs typeface="Times New Roman"/>
              </a:rPr>
              <a:t>2</a:t>
            </a:r>
            <a:r>
              <a:rPr i="1" spc="90" dirty="0">
                <a:latin typeface="Times New Roman"/>
                <a:cs typeface="Times New Roman"/>
              </a:rPr>
              <a:t>b</a:t>
            </a:r>
            <a:r>
              <a:rPr sz="1575" spc="7" baseline="42328" dirty="0">
                <a:latin typeface="Times New Roman"/>
                <a:cs typeface="Times New Roman"/>
              </a:rPr>
              <a:t>2</a:t>
            </a:r>
            <a:endParaRPr sz="1575" baseline="42328">
              <a:latin typeface="Times New Roman"/>
              <a:cs typeface="Times New Roman"/>
            </a:endParaRPr>
          </a:p>
        </p:txBody>
      </p:sp>
      <p:sp>
        <p:nvSpPr>
          <p:cNvPr id="15" name="object 15"/>
          <p:cNvSpPr txBox="1"/>
          <p:nvPr/>
        </p:nvSpPr>
        <p:spPr>
          <a:xfrm>
            <a:off x="3653348" y="5409355"/>
            <a:ext cx="4530725" cy="298450"/>
          </a:xfrm>
          <a:prstGeom prst="rect">
            <a:avLst/>
          </a:prstGeom>
        </p:spPr>
        <p:txBody>
          <a:bodyPr vert="horz" wrap="square" lIns="0" tIns="11430" rIns="0" bIns="0" rtlCol="0">
            <a:spAutoFit/>
          </a:bodyPr>
          <a:lstStyle/>
          <a:p>
            <a:pPr marL="38100">
              <a:spcBef>
                <a:spcPts val="90"/>
              </a:spcBef>
              <a:tabLst>
                <a:tab pos="544195" algn="l"/>
                <a:tab pos="1203325" algn="l"/>
                <a:tab pos="2337435" algn="l"/>
              </a:tabLst>
            </a:pPr>
            <a:r>
              <a:rPr i="1" spc="15" dirty="0">
                <a:latin typeface="Times New Roman"/>
                <a:cs typeface="Times New Roman"/>
              </a:rPr>
              <a:t>F</a:t>
            </a:r>
            <a:r>
              <a:rPr i="1" spc="-280" dirty="0">
                <a:latin typeface="Times New Roman"/>
                <a:cs typeface="Times New Roman"/>
              </a:rPr>
              <a:t> </a:t>
            </a:r>
            <a:r>
              <a:rPr spc="125" dirty="0">
                <a:latin typeface="Times New Roman"/>
                <a:cs typeface="Times New Roman"/>
              </a:rPr>
              <a:t>(</a:t>
            </a:r>
            <a:r>
              <a:rPr i="1" spc="10" dirty="0">
                <a:latin typeface="Times New Roman"/>
                <a:cs typeface="Times New Roman"/>
              </a:rPr>
              <a:t>x</a:t>
            </a:r>
            <a:r>
              <a:rPr i="1" dirty="0">
                <a:latin typeface="Times New Roman"/>
                <a:cs typeface="Times New Roman"/>
              </a:rPr>
              <a:t>	</a:t>
            </a:r>
            <a:r>
              <a:rPr spc="15" dirty="0">
                <a:latin typeface="Symbol"/>
                <a:cs typeface="Symbol"/>
              </a:rPr>
              <a:t></a:t>
            </a:r>
            <a:r>
              <a:rPr spc="5" dirty="0">
                <a:latin typeface="Times New Roman"/>
                <a:cs typeface="Times New Roman"/>
              </a:rPr>
              <a:t> </a:t>
            </a:r>
            <a:r>
              <a:rPr sz="1575" u="sng" spc="7" baseline="31746" dirty="0">
                <a:uFill>
                  <a:solidFill>
                    <a:srgbClr val="000000"/>
                  </a:solidFill>
                </a:uFill>
                <a:latin typeface="Times New Roman"/>
                <a:cs typeface="Times New Roman"/>
              </a:rPr>
              <a:t>1</a:t>
            </a:r>
            <a:r>
              <a:rPr sz="1575" spc="142" baseline="31746" dirty="0">
                <a:latin typeface="Times New Roman"/>
                <a:cs typeface="Times New Roman"/>
              </a:rPr>
              <a:t> </a:t>
            </a:r>
            <a:r>
              <a:rPr spc="5" dirty="0">
                <a:latin typeface="Times New Roman"/>
                <a:cs typeface="Times New Roman"/>
              </a:rPr>
              <a:t>,</a:t>
            </a:r>
            <a:r>
              <a:rPr spc="-70" dirty="0">
                <a:latin typeface="Times New Roman"/>
                <a:cs typeface="Times New Roman"/>
              </a:rPr>
              <a:t> </a:t>
            </a:r>
            <a:r>
              <a:rPr i="1" spc="10" dirty="0">
                <a:latin typeface="Times New Roman"/>
                <a:cs typeface="Times New Roman"/>
              </a:rPr>
              <a:t>y</a:t>
            </a:r>
            <a:r>
              <a:rPr i="1" dirty="0">
                <a:latin typeface="Times New Roman"/>
                <a:cs typeface="Times New Roman"/>
              </a:rPr>
              <a:t>	</a:t>
            </a:r>
            <a:r>
              <a:rPr spc="15" dirty="0">
                <a:latin typeface="Symbol"/>
                <a:cs typeface="Symbol"/>
              </a:rPr>
              <a:t></a:t>
            </a:r>
            <a:r>
              <a:rPr spc="-25" dirty="0">
                <a:latin typeface="Times New Roman"/>
                <a:cs typeface="Times New Roman"/>
              </a:rPr>
              <a:t> </a:t>
            </a:r>
            <a:r>
              <a:rPr sz="1575" u="sng" spc="7" baseline="31746" dirty="0">
                <a:uFill>
                  <a:solidFill>
                    <a:srgbClr val="000000"/>
                  </a:solidFill>
                </a:uFill>
                <a:latin typeface="Times New Roman"/>
                <a:cs typeface="Times New Roman"/>
              </a:rPr>
              <a:t>1</a:t>
            </a:r>
            <a:r>
              <a:rPr sz="1575" spc="-112" baseline="31746" dirty="0">
                <a:latin typeface="Times New Roman"/>
                <a:cs typeface="Times New Roman"/>
              </a:rPr>
              <a:t> </a:t>
            </a:r>
            <a:r>
              <a:rPr spc="5" dirty="0">
                <a:latin typeface="Times New Roman"/>
                <a:cs typeface="Times New Roman"/>
              </a:rPr>
              <a:t>)</a:t>
            </a:r>
            <a:r>
              <a:rPr spc="-55" dirty="0">
                <a:latin typeface="Times New Roman"/>
                <a:cs typeface="Times New Roman"/>
              </a:rPr>
              <a:t> </a:t>
            </a:r>
            <a:r>
              <a:rPr spc="15" dirty="0">
                <a:latin typeface="Symbol"/>
                <a:cs typeface="Symbol"/>
              </a:rPr>
              <a:t></a:t>
            </a:r>
            <a:r>
              <a:rPr spc="-114" dirty="0">
                <a:latin typeface="Times New Roman"/>
                <a:cs typeface="Times New Roman"/>
              </a:rPr>
              <a:t> </a:t>
            </a:r>
            <a:r>
              <a:rPr i="1" spc="90" dirty="0">
                <a:latin typeface="Times New Roman"/>
                <a:cs typeface="Times New Roman"/>
              </a:rPr>
              <a:t>b</a:t>
            </a:r>
            <a:r>
              <a:rPr sz="1575" spc="7" baseline="42328" dirty="0">
                <a:latin typeface="Times New Roman"/>
                <a:cs typeface="Times New Roman"/>
              </a:rPr>
              <a:t>2</a:t>
            </a:r>
            <a:r>
              <a:rPr sz="1575" spc="-112" baseline="42328" dirty="0">
                <a:latin typeface="Times New Roman"/>
                <a:cs typeface="Times New Roman"/>
              </a:rPr>
              <a:t> </a:t>
            </a:r>
            <a:r>
              <a:rPr spc="125" dirty="0">
                <a:latin typeface="Times New Roman"/>
                <a:cs typeface="Times New Roman"/>
              </a:rPr>
              <a:t>(</a:t>
            </a:r>
            <a:r>
              <a:rPr i="1" spc="10" dirty="0">
                <a:latin typeface="Times New Roman"/>
                <a:cs typeface="Times New Roman"/>
              </a:rPr>
              <a:t>x</a:t>
            </a:r>
            <a:r>
              <a:rPr i="1" dirty="0">
                <a:latin typeface="Times New Roman"/>
                <a:cs typeface="Times New Roman"/>
              </a:rPr>
              <a:t>	</a:t>
            </a:r>
            <a:r>
              <a:rPr spc="15" dirty="0">
                <a:latin typeface="Symbol"/>
                <a:cs typeface="Symbol"/>
              </a:rPr>
              <a:t></a:t>
            </a:r>
            <a:r>
              <a:rPr spc="5" dirty="0">
                <a:latin typeface="Times New Roman"/>
                <a:cs typeface="Times New Roman"/>
              </a:rPr>
              <a:t> </a:t>
            </a:r>
            <a:r>
              <a:rPr sz="1575" u="sng" spc="7" baseline="31746" dirty="0">
                <a:uFill>
                  <a:solidFill>
                    <a:srgbClr val="000000"/>
                  </a:solidFill>
                </a:uFill>
                <a:latin typeface="Times New Roman"/>
                <a:cs typeface="Times New Roman"/>
              </a:rPr>
              <a:t>1</a:t>
            </a:r>
            <a:r>
              <a:rPr sz="1575" spc="-112" baseline="31746" dirty="0">
                <a:latin typeface="Times New Roman"/>
                <a:cs typeface="Times New Roman"/>
              </a:rPr>
              <a:t> </a:t>
            </a:r>
            <a:r>
              <a:rPr spc="40" dirty="0">
                <a:latin typeface="Times New Roman"/>
                <a:cs typeface="Times New Roman"/>
              </a:rPr>
              <a:t>)</a:t>
            </a:r>
            <a:r>
              <a:rPr spc="10" dirty="0">
                <a:latin typeface="Times New Roman"/>
                <a:cs typeface="Times New Roman"/>
              </a:rPr>
              <a:t>2</a:t>
            </a:r>
            <a:r>
              <a:rPr spc="-190" dirty="0">
                <a:latin typeface="Times New Roman"/>
                <a:cs typeface="Times New Roman"/>
              </a:rPr>
              <a:t> </a:t>
            </a:r>
            <a:r>
              <a:rPr spc="15" dirty="0">
                <a:latin typeface="Symbol"/>
                <a:cs typeface="Symbol"/>
              </a:rPr>
              <a:t></a:t>
            </a:r>
            <a:r>
              <a:rPr spc="-140" dirty="0">
                <a:latin typeface="Times New Roman"/>
                <a:cs typeface="Times New Roman"/>
              </a:rPr>
              <a:t> </a:t>
            </a:r>
            <a:r>
              <a:rPr i="1" spc="114" dirty="0">
                <a:latin typeface="Times New Roman"/>
                <a:cs typeface="Times New Roman"/>
              </a:rPr>
              <a:t>a</a:t>
            </a:r>
            <a:r>
              <a:rPr sz="1575" spc="7" baseline="42328" dirty="0">
                <a:latin typeface="Times New Roman"/>
                <a:cs typeface="Times New Roman"/>
              </a:rPr>
              <a:t>2</a:t>
            </a:r>
            <a:r>
              <a:rPr sz="1575" spc="-112" baseline="42328" dirty="0">
                <a:latin typeface="Times New Roman"/>
                <a:cs typeface="Times New Roman"/>
              </a:rPr>
              <a:t> </a:t>
            </a:r>
            <a:r>
              <a:rPr spc="5" dirty="0">
                <a:latin typeface="Times New Roman"/>
                <a:cs typeface="Times New Roman"/>
              </a:rPr>
              <a:t>(</a:t>
            </a:r>
            <a:r>
              <a:rPr spc="-250" dirty="0">
                <a:latin typeface="Times New Roman"/>
                <a:cs typeface="Times New Roman"/>
              </a:rPr>
              <a:t> </a:t>
            </a:r>
            <a:r>
              <a:rPr i="1" spc="10" dirty="0">
                <a:latin typeface="Times New Roman"/>
                <a:cs typeface="Times New Roman"/>
              </a:rPr>
              <a:t>y</a:t>
            </a:r>
            <a:r>
              <a:rPr i="1" spc="-114" dirty="0">
                <a:latin typeface="Times New Roman"/>
                <a:cs typeface="Times New Roman"/>
              </a:rPr>
              <a:t> </a:t>
            </a:r>
            <a:r>
              <a:rPr spc="100" dirty="0">
                <a:latin typeface="Symbol"/>
                <a:cs typeface="Symbol"/>
              </a:rPr>
              <a:t></a:t>
            </a:r>
            <a:r>
              <a:rPr spc="-155" dirty="0">
                <a:latin typeface="Times New Roman"/>
                <a:cs typeface="Times New Roman"/>
              </a:rPr>
              <a:t>1</a:t>
            </a:r>
            <a:r>
              <a:rPr spc="85" dirty="0">
                <a:latin typeface="Times New Roman"/>
                <a:cs typeface="Times New Roman"/>
              </a:rPr>
              <a:t>)</a:t>
            </a:r>
            <a:r>
              <a:rPr sz="1575" spc="7" baseline="42328" dirty="0">
                <a:latin typeface="Times New Roman"/>
                <a:cs typeface="Times New Roman"/>
              </a:rPr>
              <a:t>2</a:t>
            </a:r>
            <a:r>
              <a:rPr sz="1575" baseline="42328" dirty="0">
                <a:latin typeface="Times New Roman"/>
                <a:cs typeface="Times New Roman"/>
              </a:rPr>
              <a:t> </a:t>
            </a:r>
            <a:r>
              <a:rPr sz="1575" spc="-89" baseline="42328" dirty="0">
                <a:latin typeface="Times New Roman"/>
                <a:cs typeface="Times New Roman"/>
              </a:rPr>
              <a:t> </a:t>
            </a:r>
            <a:r>
              <a:rPr spc="15" dirty="0">
                <a:latin typeface="Symbol"/>
                <a:cs typeface="Symbol"/>
              </a:rPr>
              <a:t></a:t>
            </a:r>
            <a:r>
              <a:rPr spc="-165" dirty="0">
                <a:latin typeface="Times New Roman"/>
                <a:cs typeface="Times New Roman"/>
              </a:rPr>
              <a:t> </a:t>
            </a:r>
            <a:r>
              <a:rPr i="1" spc="110" dirty="0">
                <a:latin typeface="Times New Roman"/>
                <a:cs typeface="Times New Roman"/>
              </a:rPr>
              <a:t>a</a:t>
            </a:r>
            <a:r>
              <a:rPr sz="1575" spc="44" baseline="42328" dirty="0">
                <a:latin typeface="Times New Roman"/>
                <a:cs typeface="Times New Roman"/>
              </a:rPr>
              <a:t>2</a:t>
            </a:r>
            <a:r>
              <a:rPr i="1" spc="85" dirty="0">
                <a:latin typeface="Times New Roman"/>
                <a:cs typeface="Times New Roman"/>
              </a:rPr>
              <a:t>b</a:t>
            </a:r>
            <a:r>
              <a:rPr sz="1575" spc="7" baseline="42328" dirty="0">
                <a:latin typeface="Times New Roman"/>
                <a:cs typeface="Times New Roman"/>
              </a:rPr>
              <a:t>2</a:t>
            </a:r>
            <a:endParaRPr sz="1575" baseline="42328">
              <a:latin typeface="Times New Roman"/>
              <a:cs typeface="Times New Roman"/>
            </a:endParaRPr>
          </a:p>
        </p:txBody>
      </p:sp>
    </p:spTree>
    <p:extLst>
      <p:ext uri="{BB962C8B-B14F-4D97-AF65-F5344CB8AC3E}">
        <p14:creationId xmlns:p14="http://schemas.microsoft.com/office/powerpoint/2010/main" val="5110511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2862149" y="381964"/>
            <a:ext cx="7056882" cy="6166104"/>
          </a:xfrm>
          <a:prstGeom prst="rect">
            <a:avLst/>
          </a:prstGeom>
        </p:spPr>
      </p:pic>
    </p:spTree>
    <p:extLst>
      <p:ext uri="{BB962C8B-B14F-4D97-AF65-F5344CB8AC3E}">
        <p14:creationId xmlns:p14="http://schemas.microsoft.com/office/powerpoint/2010/main" val="32182120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823855" y="1380068"/>
            <a:ext cx="7679168" cy="2616199"/>
          </a:xfrm>
        </p:spPr>
        <p:txBody>
          <a:bodyPr/>
          <a:lstStyle/>
          <a:p>
            <a:r>
              <a:rPr lang="en-US"/>
              <a:t>T</a:t>
            </a:r>
            <a:r>
              <a:rPr lang="en-US" smtClean="0"/>
              <a:t>huật toán vẽ đa giác</a:t>
            </a:r>
            <a:endParaRPr lang="en-US"/>
          </a:p>
        </p:txBody>
      </p:sp>
      <p:sp>
        <p:nvSpPr>
          <p:cNvPr id="7" name="Subtitle 6"/>
          <p:cNvSpPr>
            <a:spLocks noGrp="1"/>
          </p:cNvSpPr>
          <p:nvPr>
            <p:ph type="subTitle" idx="1"/>
          </p:nvPr>
        </p:nvSpPr>
        <p:spPr/>
        <p:txBody>
          <a:bodyPr/>
          <a:lstStyle/>
          <a:p>
            <a:endParaRPr lang="en-US"/>
          </a:p>
        </p:txBody>
      </p:sp>
      <p:sp>
        <p:nvSpPr>
          <p:cNvPr id="3" name="Slide Number Placeholder 2"/>
          <p:cNvSpPr>
            <a:spLocks noGrp="1"/>
          </p:cNvSpPr>
          <p:nvPr>
            <p:ph type="sldNum" sz="quarter" idx="12"/>
          </p:nvPr>
        </p:nvSpPr>
        <p:spPr/>
        <p:txBody>
          <a:bodyPr/>
          <a:lstStyle/>
          <a:p>
            <a:fld id="{EAC668D0-FFF1-47C5-8061-FF1B22C34E7B}" type="slidenum">
              <a:rPr lang="en-US" smtClean="0"/>
              <a:t>44</a:t>
            </a:fld>
            <a:endParaRPr lang="en-US"/>
          </a:p>
        </p:txBody>
      </p:sp>
    </p:spTree>
    <p:extLst>
      <p:ext uri="{BB962C8B-B14F-4D97-AF65-F5344CB8AC3E}">
        <p14:creationId xmlns:p14="http://schemas.microsoft.com/office/powerpoint/2010/main" val="4428157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lstStyle/>
          <a:p>
            <a:r>
              <a:rPr lang="en-US" smtClean="0"/>
              <a:t>Giải thuật vẽ đường bao đa giác</a:t>
            </a:r>
            <a:endParaRPr lang="en-US"/>
          </a:p>
        </p:txBody>
      </p:sp>
      <p:sp>
        <p:nvSpPr>
          <p:cNvPr id="3" name="Content Placeholder 2"/>
          <p:cNvSpPr>
            <a:spLocks noGrp="1"/>
          </p:cNvSpPr>
          <p:nvPr>
            <p:ph idx="1"/>
          </p:nvPr>
        </p:nvSpPr>
        <p:spPr>
          <a:xfrm>
            <a:off x="1576908" y="2799272"/>
            <a:ext cx="10018713" cy="3124201"/>
          </a:xfrm>
        </p:spPr>
        <p:txBody>
          <a:bodyPr>
            <a:noAutofit/>
          </a:bodyPr>
          <a:lstStyle/>
          <a:p>
            <a:r>
              <a:rPr lang="en-US" sz="3200" smtClean="0"/>
              <a:t>Việc biểu diễn đa giác thông qua:</a:t>
            </a:r>
          </a:p>
          <a:p>
            <a:pPr lvl="1"/>
            <a:r>
              <a:rPr lang="en-US" sz="2800" smtClean="0"/>
              <a:t>Tập các đoạn thẳng</a:t>
            </a:r>
          </a:p>
          <a:p>
            <a:pPr lvl="1"/>
            <a:r>
              <a:rPr lang="en-US" sz="2800" smtClean="0"/>
              <a:t>Tập các điểm thuộc đa giác</a:t>
            </a:r>
          </a:p>
          <a:p>
            <a:r>
              <a:rPr lang="en-US" sz="3200" smtClean="0"/>
              <a:t>Các loại đa giác</a:t>
            </a:r>
          </a:p>
          <a:p>
            <a:pPr lvl="1"/>
            <a:r>
              <a:rPr lang="en-US" sz="2800" smtClean="0"/>
              <a:t>Đa </a:t>
            </a:r>
            <a:r>
              <a:rPr lang="en-US" sz="2800"/>
              <a:t>giác lồi: là đa giác có đường thẳng nối bất ký 2 điểm bên trong nào của đa giác đều nằm trọn trong đa </a:t>
            </a:r>
            <a:r>
              <a:rPr lang="en-US" sz="2800"/>
              <a:t>giác</a:t>
            </a:r>
            <a:r>
              <a:rPr lang="en-US" sz="2800" smtClean="0"/>
              <a:t>.</a:t>
            </a:r>
          </a:p>
          <a:p>
            <a:pPr lvl="1"/>
            <a:r>
              <a:rPr lang="en-US" sz="2800" smtClean="0"/>
              <a:t>Đa </a:t>
            </a:r>
            <a:r>
              <a:rPr lang="en-US" sz="2800"/>
              <a:t>giác không lồi là đa giác lõm.</a:t>
            </a:r>
            <a:endParaRPr lang="en-US"/>
          </a:p>
          <a:p>
            <a:pPr marL="457200" lvl="1" indent="0">
              <a:buNone/>
            </a:pPr>
            <a:endParaRPr lang="en-US" sz="2800"/>
          </a:p>
        </p:txBody>
      </p:sp>
      <p:sp>
        <p:nvSpPr>
          <p:cNvPr id="4" name="Slide Number Placeholder 3"/>
          <p:cNvSpPr>
            <a:spLocks noGrp="1"/>
          </p:cNvSpPr>
          <p:nvPr>
            <p:ph type="sldNum" sz="quarter" idx="12"/>
          </p:nvPr>
        </p:nvSpPr>
        <p:spPr/>
        <p:txBody>
          <a:bodyPr/>
          <a:lstStyle/>
          <a:p>
            <a:fld id="{EAC668D0-FFF1-47C5-8061-FF1B22C34E7B}" type="slidenum">
              <a:rPr lang="en-US" smtClean="0"/>
              <a:t>45</a:t>
            </a:fld>
            <a:endParaRPr lang="en-US"/>
          </a:p>
        </p:txBody>
      </p:sp>
      <p:pic>
        <p:nvPicPr>
          <p:cNvPr id="5" name="Picture 4"/>
          <p:cNvPicPr/>
          <p:nvPr/>
        </p:nvPicPr>
        <p:blipFill>
          <a:blip r:embed="rId2">
            <a:extLst/>
          </a:blip>
          <a:srcRect/>
          <a:stretch>
            <a:fillRect/>
          </a:stretch>
        </p:blipFill>
        <p:spPr bwMode="auto">
          <a:xfrm>
            <a:off x="6688224" y="3528477"/>
            <a:ext cx="4907397" cy="927775"/>
          </a:xfrm>
          <a:prstGeom prst="rect">
            <a:avLst/>
          </a:prstGeom>
          <a:noFill/>
        </p:spPr>
      </p:pic>
    </p:spTree>
    <p:extLst>
      <p:ext uri="{BB962C8B-B14F-4D97-AF65-F5344CB8AC3E}">
        <p14:creationId xmlns:p14="http://schemas.microsoft.com/office/powerpoint/2010/main" val="1081822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lstStyle/>
          <a:p>
            <a:r>
              <a:rPr lang="en-US" smtClean="0"/>
              <a:t>Giải thuật vẽ đường bao đa giác</a:t>
            </a:r>
            <a:endParaRPr lang="en-US"/>
          </a:p>
        </p:txBody>
      </p:sp>
      <p:sp>
        <p:nvSpPr>
          <p:cNvPr id="3" name="Content Placeholder 2"/>
          <p:cNvSpPr>
            <a:spLocks noGrp="1"/>
          </p:cNvSpPr>
          <p:nvPr>
            <p:ph idx="1"/>
          </p:nvPr>
        </p:nvSpPr>
        <p:spPr>
          <a:xfrm>
            <a:off x="2028320" y="1493134"/>
            <a:ext cx="10018713" cy="5914663"/>
          </a:xfrm>
        </p:spPr>
        <p:txBody>
          <a:bodyPr>
            <a:noAutofit/>
          </a:bodyPr>
          <a:lstStyle/>
          <a:p>
            <a:r>
              <a:rPr lang="en-US" sz="2800" smtClean="0"/>
              <a:t>Để vẽ đường bao đa giác cần xác định:</a:t>
            </a:r>
          </a:p>
          <a:p>
            <a:pPr lvl="1"/>
            <a:r>
              <a:rPr lang="en-US" smtClean="0"/>
              <a:t>Số cạnh</a:t>
            </a:r>
          </a:p>
          <a:p>
            <a:pPr lvl="1"/>
            <a:r>
              <a:rPr lang="en-US" smtClean="0"/>
              <a:t>Tọa độ các đỉnh của đa giác</a:t>
            </a:r>
          </a:p>
          <a:p>
            <a:pPr lvl="0"/>
            <a:r>
              <a:rPr lang="en-US" sz="2800"/>
              <a:t>Giải </a:t>
            </a:r>
            <a:r>
              <a:rPr lang="en-US" sz="2800"/>
              <a:t>thuật</a:t>
            </a:r>
            <a:r>
              <a:rPr lang="en-US" sz="2800" smtClean="0"/>
              <a:t>:</a:t>
            </a:r>
            <a:endParaRPr lang="en-US" sz="2800"/>
          </a:p>
          <a:p>
            <a:pPr marL="457200" lvl="1" indent="0">
              <a:buNone/>
            </a:pPr>
            <a:r>
              <a:rPr lang="en-US"/>
              <a:t>Polygon (arrayx, </a:t>
            </a:r>
            <a:r>
              <a:rPr lang="en-US"/>
              <a:t>arrayy,n</a:t>
            </a:r>
            <a:r>
              <a:rPr lang="en-US" smtClean="0"/>
              <a:t>)</a:t>
            </a:r>
            <a:endParaRPr lang="en-US"/>
          </a:p>
          <a:p>
            <a:pPr marL="457200" lvl="1" indent="0">
              <a:buNone/>
            </a:pPr>
            <a:r>
              <a:rPr lang="en-US" smtClean="0"/>
              <a:t>{</a:t>
            </a:r>
          </a:p>
          <a:p>
            <a:pPr marL="457200" lvl="1" indent="0">
              <a:buNone/>
            </a:pPr>
            <a:r>
              <a:rPr lang="en-US"/>
              <a:t>	</a:t>
            </a:r>
            <a:r>
              <a:rPr lang="en-US" smtClean="0"/>
              <a:t> </a:t>
            </a:r>
            <a:r>
              <a:rPr lang="en-US"/>
              <a:t>if </a:t>
            </a:r>
            <a:r>
              <a:rPr lang="en-US"/>
              <a:t>(</a:t>
            </a:r>
            <a:r>
              <a:rPr lang="en-US" smtClean="0"/>
              <a:t>n&lt;3)  //</a:t>
            </a:r>
            <a:r>
              <a:rPr lang="en-US"/>
              <a:t>không phải đa giác </a:t>
            </a:r>
            <a:r>
              <a:rPr lang="en-US"/>
              <a:t>exit</a:t>
            </a:r>
            <a:r>
              <a:rPr lang="en-US" smtClean="0"/>
              <a:t>;</a:t>
            </a:r>
            <a:endParaRPr lang="en-US"/>
          </a:p>
          <a:p>
            <a:pPr marL="457200" lvl="1" indent="0">
              <a:buNone/>
            </a:pPr>
            <a:r>
              <a:rPr lang="en-US" smtClean="0"/>
              <a:t>	for </a:t>
            </a:r>
            <a:r>
              <a:rPr lang="en-US"/>
              <a:t>(i=1 ; i&lt;= n-1; </a:t>
            </a:r>
            <a:r>
              <a:rPr lang="en-US"/>
              <a:t>i</a:t>
            </a:r>
            <a:r>
              <a:rPr lang="en-US" smtClean="0"/>
              <a:t>++)</a:t>
            </a:r>
            <a:endParaRPr lang="en-US"/>
          </a:p>
          <a:p>
            <a:pPr marL="457200" lvl="1" indent="0">
              <a:buNone/>
            </a:pPr>
            <a:r>
              <a:rPr lang="en-US" smtClean="0"/>
              <a:t>		line(arrayx[i</a:t>
            </a:r>
            <a:r>
              <a:rPr lang="en-US"/>
              <a:t>],arrayy[i], arrayx[i+1], arrayy[i+1</a:t>
            </a:r>
            <a:r>
              <a:rPr lang="en-US"/>
              <a:t>]); </a:t>
            </a:r>
            <a:endParaRPr lang="en-US" smtClean="0"/>
          </a:p>
          <a:p>
            <a:pPr marL="457200" lvl="1" indent="0">
              <a:buNone/>
            </a:pPr>
            <a:r>
              <a:rPr lang="en-US"/>
              <a:t>	</a:t>
            </a:r>
            <a:r>
              <a:rPr lang="en-US" smtClean="0"/>
              <a:t>line(arrayx[i+1</a:t>
            </a:r>
            <a:r>
              <a:rPr lang="en-US"/>
              <a:t>],arrayy[i+1], arrayx[1], arrayy[1]);</a:t>
            </a:r>
          </a:p>
          <a:p>
            <a:pPr marL="457200" lvl="1" indent="0">
              <a:buNone/>
            </a:pPr>
            <a:r>
              <a:rPr lang="en-US"/>
              <a:t>}</a:t>
            </a:r>
            <a:endParaRPr lang="en-US"/>
          </a:p>
          <a:p>
            <a:pPr marL="457200" lvl="1" indent="0">
              <a:buNone/>
            </a:pPr>
            <a:endParaRPr lang="en-US" sz="2800"/>
          </a:p>
        </p:txBody>
      </p:sp>
      <p:sp>
        <p:nvSpPr>
          <p:cNvPr id="4" name="Slide Number Placeholder 3"/>
          <p:cNvSpPr>
            <a:spLocks noGrp="1"/>
          </p:cNvSpPr>
          <p:nvPr>
            <p:ph type="sldNum" sz="quarter" idx="12"/>
          </p:nvPr>
        </p:nvSpPr>
        <p:spPr/>
        <p:txBody>
          <a:bodyPr/>
          <a:lstStyle/>
          <a:p>
            <a:fld id="{EAC668D0-FFF1-47C5-8061-FF1B22C34E7B}" type="slidenum">
              <a:rPr lang="en-US" smtClean="0"/>
              <a:t>46</a:t>
            </a:fld>
            <a:endParaRPr lang="en-US"/>
          </a:p>
        </p:txBody>
      </p:sp>
    </p:spTree>
    <p:extLst>
      <p:ext uri="{BB962C8B-B14F-4D97-AF65-F5344CB8AC3E}">
        <p14:creationId xmlns:p14="http://schemas.microsoft.com/office/powerpoint/2010/main" val="24456657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910</TotalTime>
  <Words>2294</Words>
  <Application>Microsoft Office PowerPoint</Application>
  <PresentationFormat>Widescreen</PresentationFormat>
  <Paragraphs>557</Paragraphs>
  <Slides>46</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46</vt:i4>
      </vt:variant>
    </vt:vector>
  </HeadingPairs>
  <TitlesOfParts>
    <vt:vector size="60" baseType="lpstr">
      <vt:lpstr>Arial</vt:lpstr>
      <vt:lpstr>Arial (Body)</vt:lpstr>
      <vt:lpstr>Calibri</vt:lpstr>
      <vt:lpstr>Cambria Math</vt:lpstr>
      <vt:lpstr>Constantia</vt:lpstr>
      <vt:lpstr>Corbel</vt:lpstr>
      <vt:lpstr>Palatino Linotype</vt:lpstr>
      <vt:lpstr>Symbol</vt:lpstr>
      <vt:lpstr>Tahoma</vt:lpstr>
      <vt:lpstr>Times New Roman</vt:lpstr>
      <vt:lpstr>Verdana</vt:lpstr>
      <vt:lpstr>VNI-Aptima</vt:lpstr>
      <vt:lpstr>Wingdings</vt:lpstr>
      <vt:lpstr>Parallax</vt:lpstr>
      <vt:lpstr>PowerPoint Presentation</vt:lpstr>
      <vt:lpstr>CHƯƠNG II. GIẢI THUẬT XÂY DỰNG CÁC THỰC THỂ CƠ SỞ</vt:lpstr>
      <vt:lpstr>Hệ tọa độ thế giới thực và hệ tọa độ thiết bị</vt:lpstr>
      <vt:lpstr>Hệ tọa độ thế giới thực</vt:lpstr>
      <vt:lpstr>PowerPoint Presentation</vt:lpstr>
      <vt:lpstr>Hệ tọa độ thiết bị</vt:lpstr>
      <vt:lpstr>Hệ tọa độ thiết bị</vt:lpstr>
      <vt:lpstr>Các thuật toán vẽ đường thẳng</vt:lpstr>
      <vt:lpstr>Điểm và đoạn thẳng</vt:lpstr>
      <vt:lpstr>Điểm và đoạn thẳng</vt:lpstr>
      <vt:lpstr>Giải thuật làm tròn</vt:lpstr>
      <vt:lpstr>Giải thuật làm tròn</vt:lpstr>
      <vt:lpstr>Giải thuật làm tròn</vt:lpstr>
      <vt:lpstr>Thuật toán DDA  (Digital Differential Analizer)</vt:lpstr>
      <vt:lpstr>Thuật toán DDA  (Digital Differential Analizer)</vt:lpstr>
      <vt:lpstr>Thuật toán DDA  (Digital Differential Analizer)</vt:lpstr>
      <vt:lpstr>Thuật toán DDA  (Digital Differential Analizer)</vt:lpstr>
      <vt:lpstr>Giải thuật Bresenham</vt:lpstr>
      <vt:lpstr>Giải thuật Bresenham</vt:lpstr>
      <vt:lpstr>Giải thuật Bresenham</vt:lpstr>
      <vt:lpstr>Giải thuật Bresenham</vt:lpstr>
      <vt:lpstr>Giải thuật Bresenham</vt:lpstr>
      <vt:lpstr>Giải thuật Bresenham</vt:lpstr>
      <vt:lpstr>Giải thuật Bresenham</vt:lpstr>
      <vt:lpstr>Giải thuật Bresenham</vt:lpstr>
      <vt:lpstr>Giải thuật Bresenham</vt:lpstr>
      <vt:lpstr>Giải thuật Bresenham</vt:lpstr>
      <vt:lpstr>Giải thuật Bresenham</vt:lpstr>
      <vt:lpstr>Thuật toán vẽ  đường tròn</vt:lpstr>
      <vt:lpstr>Thuật toán Midpoint</vt:lpstr>
      <vt:lpstr>Thuật toán Midpoint</vt:lpstr>
      <vt:lpstr>Thuật toán Midpoint</vt:lpstr>
      <vt:lpstr>Thuật toán Midpoint</vt:lpstr>
      <vt:lpstr>Thuật toán Midpoint</vt:lpstr>
      <vt:lpstr>Thuật toán Midpoint</vt:lpstr>
      <vt:lpstr>Thuật toán Midpoint</vt:lpstr>
      <vt:lpstr>Thuật toán Vanaken vẽ elipse</vt:lpstr>
      <vt:lpstr>Thuật toán trung điểm vẽ elip</vt:lpstr>
      <vt:lpstr>Thuật toán trung điểm vẽ elip</vt:lpstr>
      <vt:lpstr>Thuật toán trung điểm vẽ elip</vt:lpstr>
      <vt:lpstr>Thuật toán trung điểm vẽ elip</vt:lpstr>
      <vt:lpstr>Thuật toán trung điểm vẽ elip</vt:lpstr>
      <vt:lpstr>PowerPoint Presentation</vt:lpstr>
      <vt:lpstr>Thuật toán vẽ đa giác</vt:lpstr>
      <vt:lpstr>Giải thuật vẽ đường bao đa giác</vt:lpstr>
      <vt:lpstr>Giải thuật vẽ đường bao đa giác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78</cp:revision>
  <dcterms:created xsi:type="dcterms:W3CDTF">2024-02-21T06:49:26Z</dcterms:created>
  <dcterms:modified xsi:type="dcterms:W3CDTF">2024-02-23T12:32:01Z</dcterms:modified>
</cp:coreProperties>
</file>