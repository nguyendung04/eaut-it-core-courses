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61" r:id="rId3"/>
    <p:sldId id="262" r:id="rId4"/>
    <p:sldId id="259" r:id="rId5"/>
    <p:sldId id="263" r:id="rId6"/>
    <p:sldId id="260"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54156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62706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66069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332451-59EE-4703-9BE2-548560EDBB43}" type="datetimeFigureOut">
              <a:rPr lang="en-US" smtClean="0"/>
              <a:t>21/02/2024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88264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B332451-59EE-4703-9BE2-548560EDBB43}" type="datetimeFigureOut">
              <a:rPr lang="en-US" smtClean="0"/>
              <a:t>21/02/2024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76608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B332451-59EE-4703-9BE2-548560EDBB43}" type="datetimeFigureOut">
              <a:rPr lang="en-US" smtClean="0"/>
              <a:t>21/02/2024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334614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332451-59EE-4703-9BE2-548560EDBB43}" type="datetimeFigureOut">
              <a:rPr lang="en-US" smtClean="0"/>
              <a:t>21/02/2024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730206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21/02/2024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51625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21/02/2024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43761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21/02/2024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574225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088959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509963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028194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443140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02502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739246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569005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332451-59EE-4703-9BE2-548560EDBB43}" type="datetimeFigureOut">
              <a:rPr lang="en-US" smtClean="0"/>
              <a:t>21/02/2024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C668D0-FFF1-47C5-8061-FF1B22C34E7B}" type="slidenum">
              <a:rPr lang="en-US" smtClean="0"/>
              <a:t>‹#›</a:t>
            </a:fld>
            <a:endParaRPr lang="en-US"/>
          </a:p>
        </p:txBody>
      </p:sp>
    </p:spTree>
    <p:extLst>
      <p:ext uri="{BB962C8B-B14F-4D97-AF65-F5344CB8AC3E}">
        <p14:creationId xmlns:p14="http://schemas.microsoft.com/office/powerpoint/2010/main" val="1633565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45390" y="2673921"/>
            <a:ext cx="6773956" cy="1063579"/>
          </a:xfrm>
          <a:prstGeom prst="rect">
            <a:avLst/>
          </a:prstGeom>
        </p:spPr>
        <p:txBody>
          <a:bodyPr vert="horz" wrap="square" lIns="0" tIns="11766" rIns="0" bIns="0" rtlCol="0">
            <a:spAutoFit/>
          </a:bodyPr>
          <a:lstStyle/>
          <a:p>
            <a:pPr marL="25774" algn="ctr"/>
            <a:r>
              <a:rPr lang="en-US" sz="3530" b="1">
                <a:solidFill>
                  <a:schemeClr val="accent1">
                    <a:lumMod val="50000"/>
                  </a:schemeClr>
                </a:solidFill>
                <a:latin typeface="Arial"/>
                <a:cs typeface="Arial"/>
              </a:rPr>
              <a:t>KỸ THUẬT </a:t>
            </a:r>
            <a:r>
              <a:rPr sz="3530" b="1">
                <a:solidFill>
                  <a:schemeClr val="accent1">
                    <a:lumMod val="50000"/>
                  </a:schemeClr>
                </a:solidFill>
                <a:latin typeface="Arial"/>
                <a:cs typeface="Arial"/>
              </a:rPr>
              <a:t>ĐỒ</a:t>
            </a:r>
            <a:r>
              <a:rPr sz="3530" b="1" spc="-4">
                <a:solidFill>
                  <a:schemeClr val="accent1">
                    <a:lumMod val="50000"/>
                  </a:schemeClr>
                </a:solidFill>
                <a:latin typeface="Arial"/>
                <a:cs typeface="Arial"/>
              </a:rPr>
              <a:t> </a:t>
            </a:r>
            <a:r>
              <a:rPr sz="3530" b="1">
                <a:solidFill>
                  <a:schemeClr val="accent1">
                    <a:lumMod val="50000"/>
                  </a:schemeClr>
                </a:solidFill>
                <a:latin typeface="Arial"/>
                <a:cs typeface="Arial"/>
              </a:rPr>
              <a:t>HỌA</a:t>
            </a:r>
            <a:r>
              <a:rPr sz="3530" b="1" spc="-13">
                <a:solidFill>
                  <a:schemeClr val="accent1">
                    <a:lumMod val="50000"/>
                  </a:schemeClr>
                </a:solidFill>
                <a:latin typeface="Arial"/>
                <a:cs typeface="Arial"/>
              </a:rPr>
              <a:t> </a:t>
            </a:r>
            <a:r>
              <a:rPr sz="3530" b="1">
                <a:solidFill>
                  <a:schemeClr val="accent1">
                    <a:lumMod val="50000"/>
                  </a:schemeClr>
                </a:solidFill>
                <a:latin typeface="Arial"/>
                <a:cs typeface="Arial"/>
              </a:rPr>
              <a:t>MÁY</a:t>
            </a:r>
            <a:r>
              <a:rPr sz="3530" b="1" spc="-22">
                <a:solidFill>
                  <a:schemeClr val="accent1">
                    <a:lumMod val="50000"/>
                  </a:schemeClr>
                </a:solidFill>
                <a:latin typeface="Arial"/>
                <a:cs typeface="Arial"/>
              </a:rPr>
              <a:t> </a:t>
            </a:r>
            <a:r>
              <a:rPr sz="3530" b="1" spc="-18" dirty="0">
                <a:solidFill>
                  <a:schemeClr val="accent1">
                    <a:lumMod val="50000"/>
                  </a:schemeClr>
                </a:solidFill>
                <a:latin typeface="Arial"/>
                <a:cs typeface="Arial"/>
              </a:rPr>
              <a:t>TÍNH</a:t>
            </a:r>
            <a:endParaRPr sz="3530" b="1">
              <a:solidFill>
                <a:schemeClr val="accent1">
                  <a:lumMod val="50000"/>
                </a:schemeClr>
              </a:solidFill>
              <a:latin typeface="Arial"/>
              <a:cs typeface="Arial"/>
            </a:endParaRPr>
          </a:p>
          <a:p>
            <a:pPr algn="ctr">
              <a:spcBef>
                <a:spcPts val="1006"/>
              </a:spcBef>
            </a:pPr>
            <a:r>
              <a:rPr lang="en-US" sz="2471" b="1">
                <a:solidFill>
                  <a:schemeClr val="accent1">
                    <a:lumMod val="50000"/>
                  </a:schemeClr>
                </a:solidFill>
                <a:latin typeface="Arial"/>
                <a:cs typeface="Arial"/>
              </a:rPr>
              <a:t>(3TC)</a:t>
            </a:r>
          </a:p>
        </p:txBody>
      </p:sp>
      <p:sp>
        <p:nvSpPr>
          <p:cNvPr id="9" name="TextBox 8"/>
          <p:cNvSpPr txBox="1"/>
          <p:nvPr/>
        </p:nvSpPr>
        <p:spPr>
          <a:xfrm>
            <a:off x="2135366" y="4332263"/>
            <a:ext cx="3103735" cy="1558632"/>
          </a:xfrm>
          <a:prstGeom prst="rect">
            <a:avLst/>
          </a:prstGeom>
          <a:noFill/>
        </p:spPr>
        <p:txBody>
          <a:bodyPr wrap="none" rtlCol="0">
            <a:spAutoFit/>
          </a:bodyPr>
          <a:lstStyle/>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GV: 	Ngô Thùy Giang</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Khoa: 	Công nghệ thông tin</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SĐT: </a:t>
            </a:r>
            <a:r>
              <a:rPr lang="en-US" sz="1588" b="1">
                <a:solidFill>
                  <a:schemeClr val="bg2">
                    <a:lumMod val="10000"/>
                  </a:schemeClr>
                </a:solidFill>
                <a:latin typeface="Arial" panose="020B0604020202020204" pitchFamily="34" charset="0"/>
                <a:cs typeface="Arial" panose="020B0604020202020204" pitchFamily="34" charset="0"/>
              </a:rPr>
              <a:t>	</a:t>
            </a:r>
            <a:r>
              <a:rPr lang="en-US" sz="1588" b="1" smtClean="0">
                <a:solidFill>
                  <a:schemeClr val="bg2">
                    <a:lumMod val="10000"/>
                  </a:schemeClr>
                </a:solidFill>
                <a:latin typeface="Arial" panose="020B0604020202020204" pitchFamily="34" charset="0"/>
                <a:cs typeface="Arial" panose="020B0604020202020204" pitchFamily="34" charset="0"/>
              </a:rPr>
              <a:t>0979.357.190</a:t>
            </a:r>
          </a:p>
          <a:p>
            <a:pPr>
              <a:lnSpc>
                <a:spcPct val="150000"/>
              </a:lnSpc>
            </a:pPr>
            <a:r>
              <a:rPr lang="en-US" sz="1588" b="1" smtClean="0">
                <a:solidFill>
                  <a:schemeClr val="bg2">
                    <a:lumMod val="10000"/>
                  </a:schemeClr>
                </a:solidFill>
                <a:latin typeface="Arial" panose="020B0604020202020204" pitchFamily="34" charset="0"/>
                <a:cs typeface="Arial" panose="020B0604020202020204" pitchFamily="34" charset="0"/>
              </a:rPr>
              <a:t>Email:giangnt@eaut.edu.vn</a:t>
            </a:r>
            <a:endParaRPr lang="en-US" sz="1588" b="1">
              <a:solidFill>
                <a:schemeClr val="bg2">
                  <a:lumMod val="10000"/>
                </a:schemeClr>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428" y="648853"/>
            <a:ext cx="1900925" cy="1900925"/>
          </a:xfrm>
          <a:prstGeom prst="rect">
            <a:avLst/>
          </a:prstGeom>
        </p:spPr>
      </p:pic>
      <p:sp>
        <p:nvSpPr>
          <p:cNvPr id="6" name="object 2"/>
          <p:cNvSpPr txBox="1"/>
          <p:nvPr/>
        </p:nvSpPr>
        <p:spPr>
          <a:xfrm>
            <a:off x="3256226" y="1251791"/>
            <a:ext cx="6773956" cy="381213"/>
          </a:xfrm>
          <a:prstGeom prst="rect">
            <a:avLst/>
          </a:prstGeom>
        </p:spPr>
        <p:txBody>
          <a:bodyPr vert="horz" wrap="square" lIns="0" tIns="11766" rIns="0" bIns="0" rtlCol="0">
            <a:spAutoFit/>
          </a:bodyPr>
          <a:lstStyle/>
          <a:p>
            <a:pPr marL="25774" algn="ctr"/>
            <a:r>
              <a:rPr lang="en-US" sz="2400" b="1" smtClean="0">
                <a:solidFill>
                  <a:schemeClr val="accent1">
                    <a:lumMod val="50000"/>
                  </a:schemeClr>
                </a:solidFill>
                <a:latin typeface="Arial"/>
                <a:cs typeface="Arial"/>
              </a:rPr>
              <a:t>TRƯỜNG ĐẠI HỌC CÔNG NGHỆ ĐÔNG Á</a:t>
            </a:r>
            <a:endParaRPr lang="en-US" sz="2400" b="1">
              <a:solidFill>
                <a:schemeClr val="accent1">
                  <a:lumMod val="50000"/>
                </a:schemeClr>
              </a:solidFill>
              <a:latin typeface="Arial"/>
              <a:cs typeface="Arial"/>
            </a:endParaRPr>
          </a:p>
        </p:txBody>
      </p:sp>
    </p:spTree>
    <p:extLst>
      <p:ext uri="{BB962C8B-B14F-4D97-AF65-F5344CB8AC3E}">
        <p14:creationId xmlns:p14="http://schemas.microsoft.com/office/powerpoint/2010/main" val="376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556162" y="2341706"/>
            <a:ext cx="7252856"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smtClean="0">
                <a:solidFill>
                  <a:schemeClr val="accent1">
                    <a:lumMod val="50000"/>
                  </a:schemeClr>
                </a:solidFill>
                <a:latin typeface="Constantia" panose="02030602050306030303" pitchFamily="18" charset="0"/>
              </a:rPr>
              <a:t>GIỚI THIỆU HỌC PHẦN</a:t>
            </a:r>
            <a:endParaRPr lang="en-US" b="1">
              <a:solidFill>
                <a:schemeClr val="accent1">
                  <a:lumMod val="50000"/>
                </a:schemeClr>
              </a:solidFill>
              <a:latin typeface="Constantia" panose="02030602050306030303" pitchFamily="18" charset="0"/>
            </a:endParaRPr>
          </a:p>
        </p:txBody>
      </p:sp>
    </p:spTree>
    <p:extLst>
      <p:ext uri="{BB962C8B-B14F-4D97-AF65-F5344CB8AC3E}">
        <p14:creationId xmlns:p14="http://schemas.microsoft.com/office/powerpoint/2010/main" val="2744494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125977" y="1886162"/>
            <a:ext cx="8237221" cy="3397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vi-VN" smtClean="0">
                <a:latin typeface="Arial (Body)"/>
              </a:rPr>
              <a:t>Số </a:t>
            </a:r>
            <a:r>
              <a:rPr lang="en-US" smtClean="0">
                <a:latin typeface="Arial (Body)"/>
              </a:rPr>
              <a:t>tiết</a:t>
            </a:r>
            <a:r>
              <a:rPr lang="vi-VN" smtClean="0">
                <a:latin typeface="Arial (Body)"/>
              </a:rPr>
              <a:t>: </a:t>
            </a:r>
            <a:r>
              <a:rPr lang="en-US" smtClean="0">
                <a:latin typeface="Arial (Body)"/>
              </a:rPr>
              <a:t>60 ( Số tiết lên lớp 45 tiết )</a:t>
            </a:r>
            <a:endParaRPr lang="vi-VN" smtClean="0">
              <a:latin typeface="Arial (Body)"/>
            </a:endParaRPr>
          </a:p>
          <a:p>
            <a:r>
              <a:rPr lang="vi-VN" smtClean="0">
                <a:latin typeface="Arial (Body)"/>
              </a:rPr>
              <a:t>Thời gian:</a:t>
            </a:r>
          </a:p>
          <a:p>
            <a:pPr lvl="1"/>
            <a:r>
              <a:rPr lang="vi-VN" sz="2800" smtClean="0">
                <a:latin typeface="Arial (Body)"/>
              </a:rPr>
              <a:t>Lý thuyết</a:t>
            </a:r>
            <a:r>
              <a:rPr lang="en-US" sz="2800" smtClean="0">
                <a:latin typeface="Arial (Body)"/>
              </a:rPr>
              <a:t>: 30 tiết</a:t>
            </a:r>
          </a:p>
          <a:p>
            <a:pPr lvl="1"/>
            <a:r>
              <a:rPr lang="en-US" sz="2800" smtClean="0">
                <a:latin typeface="Arial (Body)"/>
              </a:rPr>
              <a:t>T</a:t>
            </a:r>
            <a:r>
              <a:rPr lang="vi-VN" sz="2800" smtClean="0">
                <a:latin typeface="Arial (Body)"/>
              </a:rPr>
              <a:t>hực hành</a:t>
            </a:r>
            <a:r>
              <a:rPr lang="en-US" sz="2800" smtClean="0">
                <a:latin typeface="Arial (Body)"/>
              </a:rPr>
              <a:t> trên lớp</a:t>
            </a:r>
            <a:r>
              <a:rPr lang="vi-VN" sz="2800" smtClean="0">
                <a:latin typeface="Arial (Body)"/>
              </a:rPr>
              <a:t>: </a:t>
            </a:r>
            <a:r>
              <a:rPr lang="en-US" sz="2800" smtClean="0">
                <a:latin typeface="Arial (Body)"/>
              </a:rPr>
              <a:t>15 tiết</a:t>
            </a:r>
          </a:p>
          <a:p>
            <a:pPr lvl="1"/>
            <a:r>
              <a:rPr lang="en-US" sz="2800" smtClean="0">
                <a:latin typeface="Arial (Body)"/>
              </a:rPr>
              <a:t>Số tiết học online trên elearning: 15 tiết</a:t>
            </a:r>
          </a:p>
          <a:p>
            <a:pPr lvl="1"/>
            <a:r>
              <a:rPr lang="en-US" sz="2800" smtClean="0">
                <a:latin typeface="Arial (Body)"/>
              </a:rPr>
              <a:t>Số tiết tự học: 90 tiết</a:t>
            </a:r>
            <a:endParaRPr lang="vi-VN" sz="2800" smtClean="0">
              <a:latin typeface="Arial (Body)"/>
            </a:endParaRPr>
          </a:p>
          <a:p>
            <a:pPr lvl="1"/>
            <a:r>
              <a:rPr lang="en-US" sz="2800" smtClean="0">
                <a:latin typeface="Arial (Body)"/>
              </a:rPr>
              <a:t>Kiểm tra</a:t>
            </a:r>
            <a:r>
              <a:rPr lang="vi-VN" sz="2800" smtClean="0">
                <a:latin typeface="Arial (Body)"/>
              </a:rPr>
              <a:t>: </a:t>
            </a:r>
            <a:r>
              <a:rPr lang="en-US" sz="2800" smtClean="0">
                <a:latin typeface="Arial (Body)"/>
              </a:rPr>
              <a:t>2 đầu điểm</a:t>
            </a:r>
            <a:endParaRPr lang="vi-VN" sz="2800" smtClean="0">
              <a:latin typeface="Arial (Body)"/>
            </a:endParaRPr>
          </a:p>
        </p:txBody>
      </p:sp>
      <p:sp>
        <p:nvSpPr>
          <p:cNvPr id="3" name="Title 1"/>
          <p:cNvSpPr txBox="1">
            <a:spLocks/>
          </p:cNvSpPr>
          <p:nvPr/>
        </p:nvSpPr>
        <p:spPr>
          <a:xfrm>
            <a:off x="1484745" y="56059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mtClean="0"/>
              <a:t>Phân bổ thời gian</a:t>
            </a:r>
            <a:endParaRPr lang="en-US"/>
          </a:p>
        </p:txBody>
      </p:sp>
    </p:spTree>
    <p:extLst>
      <p:ext uri="{BB962C8B-B14F-4D97-AF65-F5344CB8AC3E}">
        <p14:creationId xmlns:p14="http://schemas.microsoft.com/office/powerpoint/2010/main" val="3184822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752599"/>
          </a:xfrm>
        </p:spPr>
        <p:txBody>
          <a:bodyPr/>
          <a:lstStyle/>
          <a:p>
            <a:r>
              <a:rPr lang="en-US" smtClean="0"/>
              <a:t>Mục tiêu học phần</a:t>
            </a:r>
            <a:endParaRPr lang="en-US"/>
          </a:p>
        </p:txBody>
      </p:sp>
      <p:sp>
        <p:nvSpPr>
          <p:cNvPr id="3" name="Content Placeholder 2"/>
          <p:cNvSpPr>
            <a:spLocks noGrp="1"/>
          </p:cNvSpPr>
          <p:nvPr>
            <p:ph idx="1"/>
          </p:nvPr>
        </p:nvSpPr>
        <p:spPr/>
        <p:txBody>
          <a:bodyPr>
            <a:noAutofit/>
          </a:bodyPr>
          <a:lstStyle/>
          <a:p>
            <a:pPr marL="0" indent="0">
              <a:buNone/>
            </a:pPr>
            <a:r>
              <a:rPr lang="en-US" smtClean="0"/>
              <a:t>Sau khi hoàn thành học phần sinh viên cần nắm được:</a:t>
            </a:r>
          </a:p>
          <a:p>
            <a:pPr>
              <a:buFontTx/>
              <a:buChar char="-"/>
            </a:pPr>
            <a:r>
              <a:rPr lang="en-US" smtClean="0"/>
              <a:t>Ý nghĩa, ứng dụng quan trọng của đồ họa máy tính </a:t>
            </a:r>
          </a:p>
          <a:p>
            <a:pPr>
              <a:buFontTx/>
              <a:buChar char="-"/>
            </a:pPr>
            <a:r>
              <a:rPr lang="en-US" smtClean="0"/>
              <a:t>Cơ sở lý thuyết căn bản về đồ họa máy tính</a:t>
            </a:r>
          </a:p>
          <a:p>
            <a:pPr>
              <a:buFontTx/>
              <a:buChar char="-"/>
            </a:pPr>
            <a:r>
              <a:rPr lang="en-US" smtClean="0"/>
              <a:t>Hiểu nguyên lý và các thuật toán sinh đối tượng đồ họa căn bản, các kỹ thuật xén tỉa, các phép biến đổi đồ họa 2D và 3D và các phép chiếu, sinh đường cong, mặt cong.</a:t>
            </a:r>
          </a:p>
          <a:p>
            <a:pPr>
              <a:buFontTx/>
              <a:buChar char="-"/>
            </a:pPr>
            <a:r>
              <a:rPr lang="en-US" smtClean="0"/>
              <a:t>Các hệ màu sử dụng trong màn hình đồ họa và cách chuyển đổi giữa các hệ màu</a:t>
            </a:r>
          </a:p>
          <a:p>
            <a:pPr>
              <a:buFontTx/>
              <a:buChar char="-"/>
            </a:pPr>
            <a:r>
              <a:rPr lang="en-US" smtClean="0"/>
              <a:t>Từ đó, sử dụng thư viện đồ họa OpenGL và NNLT C++ để giải quyết các bài toán đồ họa thực tế.</a:t>
            </a:r>
          </a:p>
          <a:p>
            <a:pPr>
              <a:buFontTx/>
              <a:buChar char="-"/>
            </a:pPr>
            <a:endParaRPr lang="en-US"/>
          </a:p>
        </p:txBody>
      </p:sp>
    </p:spTree>
    <p:extLst>
      <p:ext uri="{BB962C8B-B14F-4D97-AF65-F5344CB8AC3E}">
        <p14:creationId xmlns:p14="http://schemas.microsoft.com/office/powerpoint/2010/main" val="11413969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Yêu cầu đối với sinh viên</a:t>
            </a:r>
            <a:endParaRPr lang="en-US"/>
          </a:p>
        </p:txBody>
      </p:sp>
      <p:sp>
        <p:nvSpPr>
          <p:cNvPr id="4" name="Content Placeholder 2"/>
          <p:cNvSpPr>
            <a:spLocks noGrp="1"/>
          </p:cNvSpPr>
          <p:nvPr>
            <p:ph idx="1"/>
          </p:nvPr>
        </p:nvSpPr>
        <p:spPr>
          <a:xfrm>
            <a:off x="1484311" y="1807153"/>
            <a:ext cx="10771909" cy="4351338"/>
          </a:xfrm>
        </p:spPr>
        <p:txBody>
          <a:bodyPr>
            <a:noAutofit/>
          </a:bodyPr>
          <a:lstStyle/>
          <a:p>
            <a:pPr lvl="0">
              <a:lnSpc>
                <a:spcPct val="160000"/>
              </a:lnSpc>
              <a:spcBef>
                <a:spcPts val="600"/>
              </a:spcBef>
              <a:spcAft>
                <a:spcPts val="600"/>
              </a:spcAft>
            </a:pPr>
            <a:r>
              <a:rPr lang="vi-VN" sz="2400" smtClean="0">
                <a:latin typeface="Arial (Body)"/>
              </a:rPr>
              <a:t>Đọc</a:t>
            </a:r>
            <a:r>
              <a:rPr lang="vi-VN" sz="2400" dirty="0">
                <a:latin typeface="Arial (Body)"/>
              </a:rPr>
              <a:t>, nghiên cứu giáo trình, tài liệu tham khảo</a:t>
            </a:r>
          </a:p>
          <a:p>
            <a:pPr lvl="0">
              <a:lnSpc>
                <a:spcPct val="160000"/>
              </a:lnSpc>
              <a:spcBef>
                <a:spcPts val="600"/>
              </a:spcBef>
              <a:spcAft>
                <a:spcPts val="600"/>
              </a:spcAft>
            </a:pPr>
            <a:r>
              <a:rPr lang="vi-VN" sz="2400" dirty="0">
                <a:latin typeface="Arial (Body)"/>
              </a:rPr>
              <a:t>Tham gia thảo luận </a:t>
            </a:r>
            <a:r>
              <a:rPr lang="vi-VN" sz="2400">
                <a:latin typeface="Arial (Body)"/>
              </a:rPr>
              <a:t>trên lớp</a:t>
            </a:r>
            <a:r>
              <a:rPr lang="en-US" sz="2400">
                <a:latin typeface="Arial (Body)"/>
              </a:rPr>
              <a:t>. Chia nhóm và làm bài tập nhóm</a:t>
            </a:r>
            <a:endParaRPr lang="vi-VN" sz="2400" dirty="0">
              <a:latin typeface="Arial (Body)"/>
            </a:endParaRPr>
          </a:p>
          <a:p>
            <a:pPr lvl="0" algn="just">
              <a:lnSpc>
                <a:spcPct val="160000"/>
              </a:lnSpc>
              <a:spcBef>
                <a:spcPts val="600"/>
              </a:spcBef>
              <a:spcAft>
                <a:spcPts val="600"/>
              </a:spcAft>
            </a:pPr>
            <a:r>
              <a:rPr lang="vi-VN" sz="2400" dirty="0">
                <a:latin typeface="Arial (Body)"/>
              </a:rPr>
              <a:t>Làm bài tập </a:t>
            </a:r>
            <a:r>
              <a:rPr lang="vi-VN" sz="2400">
                <a:latin typeface="Arial (Body)"/>
              </a:rPr>
              <a:t>từng chương</a:t>
            </a:r>
            <a:r>
              <a:rPr lang="en-US" sz="2400">
                <a:latin typeface="Arial (Body)"/>
              </a:rPr>
              <a:t> gửi bài tập đúng hạn trên Classroom</a:t>
            </a:r>
            <a:r>
              <a:rPr lang="vi-VN" sz="2400">
                <a:latin typeface="Arial (Body)"/>
              </a:rPr>
              <a:t> </a:t>
            </a:r>
            <a:endParaRPr lang="vi-VN" sz="2400" dirty="0">
              <a:latin typeface="Arial (Body)"/>
            </a:endParaRPr>
          </a:p>
          <a:p>
            <a:pPr algn="just">
              <a:lnSpc>
                <a:spcPct val="160000"/>
              </a:lnSpc>
              <a:spcBef>
                <a:spcPts val="600"/>
              </a:spcBef>
              <a:spcAft>
                <a:spcPts val="600"/>
              </a:spcAft>
            </a:pPr>
            <a:r>
              <a:rPr lang="vi-VN" sz="2400" dirty="0">
                <a:latin typeface="Arial (Body)"/>
              </a:rPr>
              <a:t>Thực </a:t>
            </a:r>
            <a:r>
              <a:rPr lang="vi-VN" sz="2400">
                <a:latin typeface="Arial (Body)"/>
              </a:rPr>
              <a:t>hành </a:t>
            </a:r>
            <a:r>
              <a:rPr lang="en-US" sz="2400">
                <a:latin typeface="Arial (Body)"/>
              </a:rPr>
              <a:t>theo yêu cầu (Bài tập cuối các chương + Các LAB)</a:t>
            </a:r>
            <a:endParaRPr lang="vi-VN" sz="2400" dirty="0">
              <a:latin typeface="Arial (Body)"/>
            </a:endParaRPr>
          </a:p>
          <a:p>
            <a:pPr>
              <a:lnSpc>
                <a:spcPct val="160000"/>
              </a:lnSpc>
              <a:spcBef>
                <a:spcPts val="600"/>
              </a:spcBef>
              <a:spcAft>
                <a:spcPts val="600"/>
              </a:spcAft>
            </a:pPr>
            <a:r>
              <a:rPr lang="en-US" sz="2400" dirty="0" err="1">
                <a:latin typeface="Arial (Body)"/>
              </a:rPr>
              <a:t>Có</a:t>
            </a:r>
            <a:r>
              <a:rPr lang="en-US" sz="2400" dirty="0">
                <a:latin typeface="Arial (Body)"/>
              </a:rPr>
              <a:t> </a:t>
            </a:r>
            <a:r>
              <a:rPr lang="en-US" sz="2400" dirty="0" err="1">
                <a:latin typeface="Arial (Body)"/>
              </a:rPr>
              <a:t>ý</a:t>
            </a:r>
            <a:r>
              <a:rPr lang="en-US" sz="2400" dirty="0">
                <a:latin typeface="Arial (Body)"/>
              </a:rPr>
              <a:t> </a:t>
            </a:r>
            <a:r>
              <a:rPr lang="en-US" sz="2400" dirty="0" err="1">
                <a:latin typeface="Arial (Body)"/>
              </a:rPr>
              <a:t>thức</a:t>
            </a:r>
            <a:r>
              <a:rPr lang="en-US" sz="2400" dirty="0">
                <a:latin typeface="Arial (Body)"/>
              </a:rPr>
              <a:t> </a:t>
            </a:r>
            <a:r>
              <a:rPr lang="en-US" sz="2400" dirty="0" err="1">
                <a:latin typeface="Arial (Body)"/>
              </a:rPr>
              <a:t>tổ</a:t>
            </a:r>
            <a:r>
              <a:rPr lang="en-US" sz="2400" dirty="0">
                <a:latin typeface="Arial (Body)"/>
              </a:rPr>
              <a:t> </a:t>
            </a:r>
            <a:r>
              <a:rPr lang="en-US" sz="2400" dirty="0" err="1">
                <a:latin typeface="Arial (Body)"/>
              </a:rPr>
              <a:t>chức</a:t>
            </a:r>
            <a:r>
              <a:rPr lang="en-US" sz="2400" dirty="0">
                <a:latin typeface="Arial (Body)"/>
              </a:rPr>
              <a:t>, </a:t>
            </a:r>
            <a:r>
              <a:rPr lang="en-US" sz="2400" dirty="0" err="1">
                <a:latin typeface="Arial (Body)"/>
              </a:rPr>
              <a:t>kỷ</a:t>
            </a:r>
            <a:r>
              <a:rPr lang="en-US" sz="2400" dirty="0">
                <a:latin typeface="Arial (Body)"/>
              </a:rPr>
              <a:t> </a:t>
            </a:r>
            <a:r>
              <a:rPr lang="en-US" sz="2400" dirty="0" err="1">
                <a:latin typeface="Arial (Body)"/>
              </a:rPr>
              <a:t>luật</a:t>
            </a:r>
            <a:r>
              <a:rPr lang="en-US" sz="2400" dirty="0">
                <a:latin typeface="Arial (Body)"/>
              </a:rPr>
              <a:t> </a:t>
            </a:r>
            <a:r>
              <a:rPr lang="en-US" sz="2400" dirty="0" err="1">
                <a:latin typeface="Arial (Body)"/>
              </a:rPr>
              <a:t>theo</a:t>
            </a:r>
            <a:r>
              <a:rPr lang="en-US" sz="2400" dirty="0">
                <a:latin typeface="Arial (Body)"/>
              </a:rPr>
              <a:t> </a:t>
            </a:r>
            <a:r>
              <a:rPr lang="en-US" sz="2400" dirty="0" err="1">
                <a:latin typeface="Arial (Body)"/>
              </a:rPr>
              <a:t>quy</a:t>
            </a:r>
            <a:r>
              <a:rPr lang="en-US" sz="2400" dirty="0">
                <a:latin typeface="Arial (Body)"/>
              </a:rPr>
              <a:t> </a:t>
            </a:r>
            <a:r>
              <a:rPr lang="en-US" sz="2400" dirty="0" err="1">
                <a:latin typeface="Arial (Body)"/>
              </a:rPr>
              <a:t>định</a:t>
            </a:r>
            <a:r>
              <a:rPr lang="en-US" sz="2400" dirty="0">
                <a:latin typeface="Arial (Body)"/>
              </a:rPr>
              <a:t> </a:t>
            </a:r>
            <a:r>
              <a:rPr lang="en-US" sz="2400" dirty="0" err="1">
                <a:latin typeface="Arial (Body)"/>
              </a:rPr>
              <a:t>của</a:t>
            </a:r>
            <a:r>
              <a:rPr lang="en-US" sz="2400" dirty="0">
                <a:latin typeface="Arial (Body)"/>
              </a:rPr>
              <a:t> </a:t>
            </a:r>
            <a:r>
              <a:rPr lang="en-US" sz="2400" dirty="0" err="1">
                <a:latin typeface="Arial (Body)"/>
              </a:rPr>
              <a:t>trường</a:t>
            </a:r>
            <a:r>
              <a:rPr lang="en-US" sz="2400" dirty="0">
                <a:latin typeface="Arial (Body)"/>
              </a:rPr>
              <a:t>, </a:t>
            </a:r>
            <a:r>
              <a:rPr lang="en-US" sz="2400" dirty="0" err="1">
                <a:latin typeface="Arial (Body)"/>
              </a:rPr>
              <a:t>lớp</a:t>
            </a:r>
            <a:r>
              <a:rPr lang="en-US" sz="2400" dirty="0">
                <a:latin typeface="Arial (Body)"/>
              </a:rPr>
              <a:t> </a:t>
            </a:r>
            <a:r>
              <a:rPr lang="en-US" sz="2400" dirty="0" err="1">
                <a:latin typeface="Arial (Body)"/>
              </a:rPr>
              <a:t>và</a:t>
            </a:r>
            <a:r>
              <a:rPr lang="en-US" sz="2400" dirty="0">
                <a:latin typeface="Arial (Body)"/>
              </a:rPr>
              <a:t> </a:t>
            </a:r>
            <a:r>
              <a:rPr lang="en-US" sz="2400" dirty="0" err="1">
                <a:latin typeface="Arial (Body)"/>
              </a:rPr>
              <a:t>của</a:t>
            </a:r>
            <a:r>
              <a:rPr lang="en-US" sz="2400" dirty="0">
                <a:latin typeface="Arial (Body)"/>
              </a:rPr>
              <a:t> </a:t>
            </a:r>
            <a:r>
              <a:rPr lang="en-US" sz="2400" err="1">
                <a:latin typeface="Arial (Body)"/>
              </a:rPr>
              <a:t>giảng</a:t>
            </a:r>
            <a:r>
              <a:rPr lang="en-US" sz="2400">
                <a:latin typeface="Arial (Body)"/>
              </a:rPr>
              <a:t> viên.</a:t>
            </a:r>
            <a:endParaRPr lang="vi-VN" sz="2400" dirty="0">
              <a:latin typeface="Arial (Body)"/>
            </a:endParaRPr>
          </a:p>
        </p:txBody>
      </p:sp>
    </p:spTree>
    <p:extLst>
      <p:ext uri="{BB962C8B-B14F-4D97-AF65-F5344CB8AC3E}">
        <p14:creationId xmlns:p14="http://schemas.microsoft.com/office/powerpoint/2010/main" val="2587437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911" y="0"/>
            <a:ext cx="10018713" cy="1752599"/>
          </a:xfrm>
        </p:spPr>
        <p:txBody>
          <a:bodyPr/>
          <a:lstStyle/>
          <a:p>
            <a:r>
              <a:rPr lang="en-US" smtClean="0"/>
              <a:t>Nội dung học phần</a:t>
            </a:r>
            <a:endParaRPr lang="en-US"/>
          </a:p>
        </p:txBody>
      </p:sp>
      <p:sp>
        <p:nvSpPr>
          <p:cNvPr id="3" name="Content Placeholder 2"/>
          <p:cNvSpPr>
            <a:spLocks noGrp="1"/>
          </p:cNvSpPr>
          <p:nvPr>
            <p:ph idx="1"/>
          </p:nvPr>
        </p:nvSpPr>
        <p:spPr>
          <a:xfrm>
            <a:off x="1739516" y="1752599"/>
            <a:ext cx="8596668" cy="3880773"/>
          </a:xfrm>
        </p:spPr>
        <p:txBody>
          <a:bodyPr>
            <a:noAutofit/>
          </a:bodyPr>
          <a:lstStyle/>
          <a:p>
            <a:pPr marL="0" indent="0">
              <a:buNone/>
            </a:pPr>
            <a:r>
              <a:rPr lang="en-US" sz="2400" b="1" smtClean="0">
                <a:latin typeface="Calibri" panose="020F0502020204030204" pitchFamily="34" charset="0"/>
                <a:ea typeface="Calibri" panose="020F0502020204030204" pitchFamily="34" charset="0"/>
                <a:cs typeface="Calibri" panose="020F0502020204030204" pitchFamily="34" charset="0"/>
              </a:rPr>
              <a:t>Bao gồm: 9 chương</a:t>
            </a:r>
          </a:p>
          <a:p>
            <a:pPr marL="0" indent="0">
              <a:buNone/>
            </a:pPr>
            <a:r>
              <a:rPr lang="vi-VN" sz="2000" smtClean="0"/>
              <a:t>Chương 1.  Tổng quan về kỹ thuật đồ họa</a:t>
            </a:r>
            <a:endParaRPr lang="en-US" sz="2000" smtClean="0"/>
          </a:p>
          <a:p>
            <a:pPr marL="0" indent="0">
              <a:buNone/>
            </a:pPr>
            <a:r>
              <a:rPr lang="vi-VN" sz="2000" smtClean="0"/>
              <a:t>Chương 2.  Giải thuật xây dựng cac thực thể cơ sở</a:t>
            </a:r>
            <a:endParaRPr lang="en-US" sz="2000" smtClean="0"/>
          </a:p>
          <a:p>
            <a:pPr marL="0" indent="0">
              <a:buNone/>
            </a:pPr>
            <a:r>
              <a:rPr lang="vi-VN" sz="2000" smtClean="0"/>
              <a:t>Chương 3.  Các giải thuật đồ họa cơ sở</a:t>
            </a:r>
            <a:endParaRPr lang="en-US" sz="2000" smtClean="0"/>
          </a:p>
          <a:p>
            <a:pPr marL="0" indent="0">
              <a:buNone/>
            </a:pPr>
            <a:r>
              <a:rPr lang="vi-VN" sz="2000" smtClean="0"/>
              <a:t>Chương 4.  Các phép biến đổi đồ họa</a:t>
            </a:r>
            <a:endParaRPr lang="en-US" sz="2000" smtClean="0"/>
          </a:p>
          <a:p>
            <a:pPr marL="0" indent="0">
              <a:buNone/>
            </a:pPr>
            <a:r>
              <a:rPr lang="vi-VN" sz="2000" smtClean="0"/>
              <a:t>Chương 5.  Phép chiếu</a:t>
            </a:r>
            <a:endParaRPr lang="en-US" sz="2000" smtClean="0"/>
          </a:p>
          <a:p>
            <a:pPr marL="0" indent="0">
              <a:buNone/>
            </a:pPr>
            <a:r>
              <a:rPr lang="vi-VN" sz="2000" smtClean="0"/>
              <a:t>Chương 6.  Sắc màu trong đồ họa</a:t>
            </a:r>
            <a:endParaRPr lang="en-US" sz="2000" smtClean="0"/>
          </a:p>
          <a:p>
            <a:pPr marL="0" indent="0">
              <a:buNone/>
            </a:pPr>
            <a:r>
              <a:rPr lang="vi-VN" sz="2000" smtClean="0"/>
              <a:t>Chương 7.  Nguồn sáng và cơ sở lý thuyết tạo bóng bề mặt</a:t>
            </a:r>
            <a:endParaRPr lang="en-US" sz="2000" smtClean="0"/>
          </a:p>
          <a:p>
            <a:pPr marL="0" indent="0">
              <a:buNone/>
            </a:pPr>
            <a:r>
              <a:rPr lang="vi-VN" sz="2000" smtClean="0"/>
              <a:t>Chương 8.  Phương pháp biểu diễn các đường cong</a:t>
            </a:r>
            <a:endParaRPr lang="en-US" sz="2000" smtClean="0"/>
          </a:p>
          <a:p>
            <a:pPr marL="0" indent="0">
              <a:buNone/>
            </a:pPr>
            <a:r>
              <a:rPr lang="vi-VN" sz="2000" smtClean="0"/>
              <a:t>Chương 9.  Phương pháp xây dựng các bề mặt</a:t>
            </a:r>
            <a:endParaRPr lang="en-US" sz="2000"/>
          </a:p>
        </p:txBody>
      </p:sp>
    </p:spTree>
    <p:extLst>
      <p:ext uri="{BB962C8B-B14F-4D97-AF65-F5344CB8AC3E}">
        <p14:creationId xmlns:p14="http://schemas.microsoft.com/office/powerpoint/2010/main" val="7959228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Tài liệu tham khảo</a:t>
            </a:r>
            <a:endParaRPr lang="en-US"/>
          </a:p>
        </p:txBody>
      </p:sp>
      <p:sp>
        <p:nvSpPr>
          <p:cNvPr id="3" name="Content Placeholder 2"/>
          <p:cNvSpPr>
            <a:spLocks noGrp="1"/>
          </p:cNvSpPr>
          <p:nvPr>
            <p:ph idx="1"/>
          </p:nvPr>
        </p:nvSpPr>
        <p:spPr/>
        <p:txBody>
          <a:bodyPr/>
          <a:lstStyle/>
          <a:p>
            <a:r>
              <a:rPr lang="en-US" smtClean="0"/>
              <a:t>Dương Anh Đức, Vũ Hải Quân, Lê Đình Duy - </a:t>
            </a:r>
            <a:r>
              <a:rPr lang="en-US" smtClean="0"/>
              <a:t>Giáo trình Đồ họa máy tính - NXB Đại học Quốc Gia TP Hồ Chí Minh</a:t>
            </a:r>
          </a:p>
          <a:p>
            <a:r>
              <a:rPr lang="en-US" smtClean="0"/>
              <a:t>Bùi Thế Duy – Đồ họa máy tính – NXB Đại học Quốc gia Hà Nội</a:t>
            </a:r>
          </a:p>
          <a:p>
            <a:r>
              <a:rPr lang="en-US" smtClean="0"/>
              <a:t>OpenGL: https://www.opengl.org/</a:t>
            </a:r>
          </a:p>
          <a:p>
            <a:r>
              <a:rPr lang="en-US" smtClean="0"/>
              <a:t>GLUT: https://www.opengl.org/resources/libraries/</a:t>
            </a:r>
          </a:p>
          <a:p>
            <a:endParaRPr lang="en-US"/>
          </a:p>
        </p:txBody>
      </p:sp>
    </p:spTree>
    <p:extLst>
      <p:ext uri="{BB962C8B-B14F-4D97-AF65-F5344CB8AC3E}">
        <p14:creationId xmlns:p14="http://schemas.microsoft.com/office/powerpoint/2010/main" val="12778800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37</TotalTime>
  <Words>435</Words>
  <Application>Microsoft Office PowerPoint</Application>
  <PresentationFormat>Widescreen</PresentationFormat>
  <Paragraphs>45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Arial (Body)</vt:lpstr>
      <vt:lpstr>Calibri</vt:lpstr>
      <vt:lpstr>Constantia</vt:lpstr>
      <vt:lpstr>Corbel</vt:lpstr>
      <vt:lpstr>Parallax</vt:lpstr>
      <vt:lpstr>PowerPoint Presentation</vt:lpstr>
      <vt:lpstr>PowerPoint Presentation</vt:lpstr>
      <vt:lpstr>PowerPoint Presentation</vt:lpstr>
      <vt:lpstr>Mục tiêu học phần</vt:lpstr>
      <vt:lpstr>Yêu cầu đối với sinh viên</vt:lpstr>
      <vt:lpstr>Nội dung học phần</vt:lpstr>
      <vt:lpstr>Tài liệu tham khảo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9</cp:revision>
  <dcterms:created xsi:type="dcterms:W3CDTF">2024-02-21T06:49:26Z</dcterms:created>
  <dcterms:modified xsi:type="dcterms:W3CDTF">2024-02-21T07:26:27Z</dcterms:modified>
</cp:coreProperties>
</file>