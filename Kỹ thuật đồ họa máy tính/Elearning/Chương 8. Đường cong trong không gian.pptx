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
  </p:notesMasterIdLst>
  <p:sldIdLst>
    <p:sldId id="257" r:id="rId2"/>
    <p:sldId id="261" r:id="rId3"/>
    <p:sldId id="368" r:id="rId4"/>
    <p:sldId id="369" r:id="rId5"/>
    <p:sldId id="370" r:id="rId6"/>
    <p:sldId id="371" r:id="rId7"/>
    <p:sldId id="372" r:id="rId8"/>
    <p:sldId id="373" r:id="rId9"/>
    <p:sldId id="374" r:id="rId10"/>
    <p:sldId id="375" r:id="rId11"/>
    <p:sldId id="376" r:id="rId12"/>
    <p:sldId id="377" r:id="rId13"/>
    <p:sldId id="378" r:id="rId14"/>
    <p:sldId id="379" r:id="rId15"/>
    <p:sldId id="38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image" Target="../media/image9.wmf"/><Relationship Id="rId7" Type="http://schemas.openxmlformats.org/officeDocument/2006/relationships/image" Target="../media/image13.wmf"/><Relationship Id="rId2" Type="http://schemas.openxmlformats.org/officeDocument/2006/relationships/image" Target="../media/image8.wmf"/><Relationship Id="rId1" Type="http://schemas.openxmlformats.org/officeDocument/2006/relationships/image" Target="../media/image7.wmf"/><Relationship Id="rId6" Type="http://schemas.openxmlformats.org/officeDocument/2006/relationships/image" Target="../media/image12.wmf"/><Relationship Id="rId11" Type="http://schemas.openxmlformats.org/officeDocument/2006/relationships/image" Target="../media/image17.wmf"/><Relationship Id="rId5" Type="http://schemas.openxmlformats.org/officeDocument/2006/relationships/image" Target="../media/image11.wmf"/><Relationship Id="rId10" Type="http://schemas.openxmlformats.org/officeDocument/2006/relationships/image" Target="../media/image16.wmf"/><Relationship Id="rId4" Type="http://schemas.openxmlformats.org/officeDocument/2006/relationships/image" Target="../media/image10.wmf"/><Relationship Id="rId9"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3.wmf"/><Relationship Id="rId2" Type="http://schemas.openxmlformats.org/officeDocument/2006/relationships/image" Target="../media/image12.wmf"/><Relationship Id="rId1" Type="http://schemas.openxmlformats.org/officeDocument/2006/relationships/image" Target="../media/image18.wmf"/><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12.wmf"/><Relationship Id="rId1" Type="http://schemas.openxmlformats.org/officeDocument/2006/relationships/image" Target="../media/image24.wmf"/><Relationship Id="rId4"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D1BEA3-C1B4-4F81-B774-56CF4F6F2B3D}" type="datetimeFigureOut">
              <a:rPr lang="en-US" smtClean="0"/>
              <a:t>23/02/2024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E357F2-8A00-477D-A2A6-A064B5B7C693}" type="slidenum">
              <a:rPr lang="en-US" smtClean="0"/>
              <a:t>‹#›</a:t>
            </a:fld>
            <a:endParaRPr lang="en-US"/>
          </a:p>
        </p:txBody>
      </p:sp>
    </p:spTree>
    <p:extLst>
      <p:ext uri="{BB962C8B-B14F-4D97-AF65-F5344CB8AC3E}">
        <p14:creationId xmlns:p14="http://schemas.microsoft.com/office/powerpoint/2010/main" val="1630760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541567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462706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66069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332451-59EE-4703-9BE2-548560EDBB43}" type="datetimeFigureOut">
              <a:rPr lang="en-US" smtClean="0"/>
              <a:t>23/02/2024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882647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B332451-59EE-4703-9BE2-548560EDBB43}" type="datetimeFigureOut">
              <a:rPr lang="en-US" smtClean="0"/>
              <a:t>23/02/2024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76608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B332451-59EE-4703-9BE2-548560EDBB43}" type="datetimeFigureOut">
              <a:rPr lang="en-US" smtClean="0"/>
              <a:t>23/02/2024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334614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332451-59EE-4703-9BE2-548560EDBB43}" type="datetimeFigureOut">
              <a:rPr lang="en-US" smtClean="0"/>
              <a:t>23/02/2024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3730206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B332451-59EE-4703-9BE2-548560EDBB43}" type="datetimeFigureOut">
              <a:rPr lang="en-US" smtClean="0"/>
              <a:t>23/02/2024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451625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B332451-59EE-4703-9BE2-548560EDBB43}" type="datetimeFigureOut">
              <a:rPr lang="en-US" smtClean="0"/>
              <a:t>23/02/2024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437617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B332451-59EE-4703-9BE2-548560EDBB43}" type="datetimeFigureOut">
              <a:rPr lang="en-US" smtClean="0"/>
              <a:t>23/02/2024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574225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0889592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509963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0281943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34431409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402502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37392466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5690050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1"/>
            <a:ext cx="5384800" cy="45307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307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09600" y="6248400"/>
            <a:ext cx="2844800" cy="457200"/>
          </a:xfrm>
        </p:spPr>
        <p:txBody>
          <a:bodyPr/>
          <a:lstStyle>
            <a:lvl1pPr>
              <a:defRPr/>
            </a:lvl1pPr>
          </a:lstStyle>
          <a:p>
            <a:endParaRPr lang="en-US" alt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fld id="{0533D011-0C82-4A0E-816E-C199C2AAB395}" type="slidenum">
              <a:rPr lang="en-US" altLang="en-US"/>
              <a:pPr/>
              <a:t>‹#›</a:t>
            </a:fld>
            <a:endParaRPr lang="en-US" altLang="en-US"/>
          </a:p>
        </p:txBody>
      </p:sp>
    </p:spTree>
    <p:extLst>
      <p:ext uri="{BB962C8B-B14F-4D97-AF65-F5344CB8AC3E}">
        <p14:creationId xmlns:p14="http://schemas.microsoft.com/office/powerpoint/2010/main" val="6677147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1"/>
            <a:ext cx="5384800" cy="45307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600201"/>
            <a:ext cx="5384800" cy="21891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197600" y="3941763"/>
            <a:ext cx="5384800" cy="218916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609600" y="6248400"/>
            <a:ext cx="2844800" cy="457200"/>
          </a:xfrm>
        </p:spPr>
        <p:txBody>
          <a:bodyPr/>
          <a:lstStyle>
            <a:lvl1pPr>
              <a:defRPr/>
            </a:lvl1pPr>
          </a:lstStyle>
          <a:p>
            <a:endParaRPr lang="en-US" altLang="en-US"/>
          </a:p>
        </p:txBody>
      </p:sp>
      <p:sp>
        <p:nvSpPr>
          <p:cNvPr id="7" name="Footer Placeholder 6"/>
          <p:cNvSpPr>
            <a:spLocks noGrp="1"/>
          </p:cNvSpPr>
          <p:nvPr>
            <p:ph type="ftr" sz="quarter" idx="11"/>
          </p:nvPr>
        </p:nvSpPr>
        <p:spPr>
          <a:xfrm>
            <a:off x="4165600" y="6248400"/>
            <a:ext cx="3860800" cy="457200"/>
          </a:xfrm>
        </p:spPr>
        <p:txBody>
          <a:bodyPr/>
          <a:lstStyle>
            <a:lvl1pPr>
              <a:defRPr/>
            </a:lvl1pPr>
          </a:lstStyle>
          <a:p>
            <a:endParaRPr lang="en-US" altLang="en-US"/>
          </a:p>
        </p:txBody>
      </p:sp>
      <p:sp>
        <p:nvSpPr>
          <p:cNvPr id="8" name="Slide Number Placeholder 7"/>
          <p:cNvSpPr>
            <a:spLocks noGrp="1"/>
          </p:cNvSpPr>
          <p:nvPr>
            <p:ph type="sldNum" sz="quarter" idx="12"/>
          </p:nvPr>
        </p:nvSpPr>
        <p:spPr>
          <a:xfrm>
            <a:off x="8737600" y="6248400"/>
            <a:ext cx="2844800" cy="457200"/>
          </a:xfrm>
        </p:spPr>
        <p:txBody>
          <a:bodyPr/>
          <a:lstStyle>
            <a:lvl1pPr>
              <a:defRPr/>
            </a:lvl1pPr>
          </a:lstStyle>
          <a:p>
            <a:fld id="{7E7180E1-93C9-4C36-991A-B088BF871B42}" type="slidenum">
              <a:rPr lang="en-US" altLang="en-US"/>
              <a:pPr/>
              <a:t>‹#›</a:t>
            </a:fld>
            <a:endParaRPr lang="en-US" altLang="en-US"/>
          </a:p>
        </p:txBody>
      </p:sp>
    </p:spTree>
    <p:extLst>
      <p:ext uri="{BB962C8B-B14F-4D97-AF65-F5344CB8AC3E}">
        <p14:creationId xmlns:p14="http://schemas.microsoft.com/office/powerpoint/2010/main" val="2325706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B332451-59EE-4703-9BE2-548560EDBB43}" type="datetimeFigureOut">
              <a:rPr lang="en-US" smtClean="0"/>
              <a:t>23/02/2024</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AC668D0-FFF1-47C5-8061-FF1B22C34E7B}" type="slidenum">
              <a:rPr lang="en-US" smtClean="0"/>
              <a:t>‹#›</a:t>
            </a:fld>
            <a:endParaRPr lang="en-US"/>
          </a:p>
        </p:txBody>
      </p:sp>
    </p:spTree>
    <p:extLst>
      <p:ext uri="{BB962C8B-B14F-4D97-AF65-F5344CB8AC3E}">
        <p14:creationId xmlns:p14="http://schemas.microsoft.com/office/powerpoint/2010/main" val="1633565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8.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19.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s>
</file>

<file path=ppt/slides/_rels/slide11.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oleObject" Target="../embeddings/oleObject10.bin"/><Relationship Id="rId18" Type="http://schemas.openxmlformats.org/officeDocument/2006/relationships/image" Target="../media/image14.wmf"/><Relationship Id="rId3" Type="http://schemas.openxmlformats.org/officeDocument/2006/relationships/oleObject" Target="../embeddings/oleObject5.bin"/><Relationship Id="rId21" Type="http://schemas.openxmlformats.org/officeDocument/2006/relationships/oleObject" Target="../embeddings/oleObject14.bin"/><Relationship Id="rId7" Type="http://schemas.openxmlformats.org/officeDocument/2006/relationships/oleObject" Target="../embeddings/oleObject7.bin"/><Relationship Id="rId12" Type="http://schemas.openxmlformats.org/officeDocument/2006/relationships/image" Target="../media/image11.wmf"/><Relationship Id="rId17" Type="http://schemas.openxmlformats.org/officeDocument/2006/relationships/oleObject" Target="../embeddings/oleObject12.bin"/><Relationship Id="rId2" Type="http://schemas.openxmlformats.org/officeDocument/2006/relationships/slideLayout" Target="../slideLayouts/slideLayout19.xml"/><Relationship Id="rId16" Type="http://schemas.openxmlformats.org/officeDocument/2006/relationships/image" Target="../media/image13.wmf"/><Relationship Id="rId20" Type="http://schemas.openxmlformats.org/officeDocument/2006/relationships/image" Target="../media/image15.wmf"/><Relationship Id="rId1" Type="http://schemas.openxmlformats.org/officeDocument/2006/relationships/vmlDrawing" Target="../drawings/vmlDrawing3.vml"/><Relationship Id="rId6" Type="http://schemas.openxmlformats.org/officeDocument/2006/relationships/image" Target="../media/image8.wmf"/><Relationship Id="rId11" Type="http://schemas.openxmlformats.org/officeDocument/2006/relationships/oleObject" Target="../embeddings/oleObject9.bin"/><Relationship Id="rId24" Type="http://schemas.openxmlformats.org/officeDocument/2006/relationships/image" Target="../media/image17.wmf"/><Relationship Id="rId5" Type="http://schemas.openxmlformats.org/officeDocument/2006/relationships/oleObject" Target="../embeddings/oleObject6.bin"/><Relationship Id="rId15" Type="http://schemas.openxmlformats.org/officeDocument/2006/relationships/oleObject" Target="../embeddings/oleObject11.bin"/><Relationship Id="rId23" Type="http://schemas.openxmlformats.org/officeDocument/2006/relationships/oleObject" Target="../embeddings/oleObject15.bin"/><Relationship Id="rId10" Type="http://schemas.openxmlformats.org/officeDocument/2006/relationships/image" Target="../media/image10.wmf"/><Relationship Id="rId19" Type="http://schemas.openxmlformats.org/officeDocument/2006/relationships/oleObject" Target="../embeddings/oleObject13.bin"/><Relationship Id="rId4" Type="http://schemas.openxmlformats.org/officeDocument/2006/relationships/image" Target="../media/image7.wmf"/><Relationship Id="rId9" Type="http://schemas.openxmlformats.org/officeDocument/2006/relationships/oleObject" Target="../embeddings/oleObject8.bin"/><Relationship Id="rId14" Type="http://schemas.openxmlformats.org/officeDocument/2006/relationships/image" Target="../media/image12.wmf"/><Relationship Id="rId22" Type="http://schemas.openxmlformats.org/officeDocument/2006/relationships/image" Target="../media/image16.wmf"/></Relationships>
</file>

<file path=ppt/slides/_rels/slide12.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oleObject" Target="../embeddings/oleObject21.bin"/><Relationship Id="rId3" Type="http://schemas.openxmlformats.org/officeDocument/2006/relationships/oleObject" Target="../embeddings/oleObject16.bin"/><Relationship Id="rId7" Type="http://schemas.openxmlformats.org/officeDocument/2006/relationships/oleObject" Target="../embeddings/oleObject18.bin"/><Relationship Id="rId12" Type="http://schemas.openxmlformats.org/officeDocument/2006/relationships/image" Target="../media/image21.wmf"/><Relationship Id="rId2" Type="http://schemas.openxmlformats.org/officeDocument/2006/relationships/slideLayout" Target="../slideLayouts/slideLayout19.xml"/><Relationship Id="rId16" Type="http://schemas.openxmlformats.org/officeDocument/2006/relationships/image" Target="../media/image23.wmf"/><Relationship Id="rId1" Type="http://schemas.openxmlformats.org/officeDocument/2006/relationships/vmlDrawing" Target="../drawings/vmlDrawing4.vml"/><Relationship Id="rId6" Type="http://schemas.openxmlformats.org/officeDocument/2006/relationships/image" Target="../media/image12.wmf"/><Relationship Id="rId11" Type="http://schemas.openxmlformats.org/officeDocument/2006/relationships/oleObject" Target="../embeddings/oleObject20.bin"/><Relationship Id="rId5" Type="http://schemas.openxmlformats.org/officeDocument/2006/relationships/oleObject" Target="../embeddings/oleObject17.bin"/><Relationship Id="rId15" Type="http://schemas.openxmlformats.org/officeDocument/2006/relationships/oleObject" Target="../embeddings/oleObject22.bin"/><Relationship Id="rId10" Type="http://schemas.openxmlformats.org/officeDocument/2006/relationships/image" Target="../media/image20.wmf"/><Relationship Id="rId4" Type="http://schemas.openxmlformats.org/officeDocument/2006/relationships/image" Target="../media/image18.wmf"/><Relationship Id="rId9" Type="http://schemas.openxmlformats.org/officeDocument/2006/relationships/oleObject" Target="../embeddings/oleObject19.bin"/><Relationship Id="rId14" Type="http://schemas.openxmlformats.org/officeDocument/2006/relationships/image" Target="../media/image22.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8.xml"/><Relationship Id="rId1" Type="http://schemas.openxmlformats.org/officeDocument/2006/relationships/vmlDrawing" Target="../drawings/vmlDrawing5.vml"/><Relationship Id="rId6" Type="http://schemas.openxmlformats.org/officeDocument/2006/relationships/image" Target="../media/image4.wmf"/><Relationship Id="rId5" Type="http://schemas.openxmlformats.org/officeDocument/2006/relationships/oleObject" Target="../embeddings/oleObject24.bin"/><Relationship Id="rId4" Type="http://schemas.openxmlformats.org/officeDocument/2006/relationships/image" Target="../media/image12.wmf"/></Relationships>
</file>

<file path=ppt/slides/_rels/slide14.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slideLayout" Target="../slideLayouts/slideLayout19.xml"/><Relationship Id="rId1" Type="http://schemas.openxmlformats.org/officeDocument/2006/relationships/vmlDrawing" Target="../drawings/vmlDrawing6.vml"/><Relationship Id="rId6" Type="http://schemas.openxmlformats.org/officeDocument/2006/relationships/image" Target="../media/image12.wmf"/><Relationship Id="rId5" Type="http://schemas.openxmlformats.org/officeDocument/2006/relationships/oleObject" Target="../embeddings/oleObject26.bin"/><Relationship Id="rId10" Type="http://schemas.openxmlformats.org/officeDocument/2006/relationships/image" Target="../media/image26.wmf"/><Relationship Id="rId4" Type="http://schemas.openxmlformats.org/officeDocument/2006/relationships/image" Target="../media/image24.wmf"/><Relationship Id="rId9" Type="http://schemas.openxmlformats.org/officeDocument/2006/relationships/oleObject" Target="../embeddings/oleObject28.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45390" y="2673921"/>
            <a:ext cx="6773956" cy="1063579"/>
          </a:xfrm>
          <a:prstGeom prst="rect">
            <a:avLst/>
          </a:prstGeom>
        </p:spPr>
        <p:txBody>
          <a:bodyPr vert="horz" wrap="square" lIns="0" tIns="11766" rIns="0" bIns="0" rtlCol="0">
            <a:spAutoFit/>
          </a:bodyPr>
          <a:lstStyle/>
          <a:p>
            <a:pPr marL="25774" algn="ctr"/>
            <a:r>
              <a:rPr lang="en-US" sz="3530" b="1" dirty="0">
                <a:solidFill>
                  <a:schemeClr val="accent1">
                    <a:lumMod val="50000"/>
                  </a:schemeClr>
                </a:solidFill>
                <a:latin typeface="Arial"/>
                <a:cs typeface="Arial"/>
              </a:rPr>
              <a:t>KỸ THUẬT </a:t>
            </a:r>
            <a:r>
              <a:rPr sz="3530" b="1" dirty="0">
                <a:solidFill>
                  <a:schemeClr val="accent1">
                    <a:lumMod val="50000"/>
                  </a:schemeClr>
                </a:solidFill>
                <a:latin typeface="Arial"/>
                <a:cs typeface="Arial"/>
              </a:rPr>
              <a:t>ĐỒ</a:t>
            </a:r>
            <a:r>
              <a:rPr sz="3530" b="1" spc="-4" dirty="0">
                <a:solidFill>
                  <a:schemeClr val="accent1">
                    <a:lumMod val="50000"/>
                  </a:schemeClr>
                </a:solidFill>
                <a:latin typeface="Arial"/>
                <a:cs typeface="Arial"/>
              </a:rPr>
              <a:t> </a:t>
            </a:r>
            <a:r>
              <a:rPr sz="3530" b="1" dirty="0">
                <a:solidFill>
                  <a:schemeClr val="accent1">
                    <a:lumMod val="50000"/>
                  </a:schemeClr>
                </a:solidFill>
                <a:latin typeface="Arial"/>
                <a:cs typeface="Arial"/>
              </a:rPr>
              <a:t>HỌA</a:t>
            </a:r>
            <a:r>
              <a:rPr sz="3530" b="1" spc="-13" dirty="0">
                <a:solidFill>
                  <a:schemeClr val="accent1">
                    <a:lumMod val="50000"/>
                  </a:schemeClr>
                </a:solidFill>
                <a:latin typeface="Arial"/>
                <a:cs typeface="Arial"/>
              </a:rPr>
              <a:t> </a:t>
            </a:r>
            <a:r>
              <a:rPr sz="3530" b="1" dirty="0">
                <a:solidFill>
                  <a:schemeClr val="accent1">
                    <a:lumMod val="50000"/>
                  </a:schemeClr>
                </a:solidFill>
                <a:latin typeface="Arial"/>
                <a:cs typeface="Arial"/>
              </a:rPr>
              <a:t>MÁY</a:t>
            </a:r>
            <a:r>
              <a:rPr sz="3530" b="1" spc="-22" dirty="0">
                <a:solidFill>
                  <a:schemeClr val="accent1">
                    <a:lumMod val="50000"/>
                  </a:schemeClr>
                </a:solidFill>
                <a:latin typeface="Arial"/>
                <a:cs typeface="Arial"/>
              </a:rPr>
              <a:t> </a:t>
            </a:r>
            <a:r>
              <a:rPr sz="3530" b="1" spc="-18" dirty="0">
                <a:solidFill>
                  <a:schemeClr val="accent1">
                    <a:lumMod val="50000"/>
                  </a:schemeClr>
                </a:solidFill>
                <a:latin typeface="Arial"/>
                <a:cs typeface="Arial"/>
              </a:rPr>
              <a:t>TÍNH</a:t>
            </a:r>
            <a:endParaRPr sz="3530" b="1" dirty="0">
              <a:solidFill>
                <a:schemeClr val="accent1">
                  <a:lumMod val="50000"/>
                </a:schemeClr>
              </a:solidFill>
              <a:latin typeface="Arial"/>
              <a:cs typeface="Arial"/>
            </a:endParaRPr>
          </a:p>
          <a:p>
            <a:pPr algn="ctr">
              <a:spcBef>
                <a:spcPts val="1006"/>
              </a:spcBef>
            </a:pPr>
            <a:r>
              <a:rPr lang="en-US" sz="2471" b="1" dirty="0">
                <a:solidFill>
                  <a:schemeClr val="accent1">
                    <a:lumMod val="50000"/>
                  </a:schemeClr>
                </a:solidFill>
                <a:latin typeface="Arial"/>
                <a:cs typeface="Arial"/>
              </a:rPr>
              <a:t>(3TC)</a:t>
            </a:r>
          </a:p>
        </p:txBody>
      </p:sp>
      <p:sp>
        <p:nvSpPr>
          <p:cNvPr id="9" name="TextBox 8"/>
          <p:cNvSpPr txBox="1"/>
          <p:nvPr/>
        </p:nvSpPr>
        <p:spPr>
          <a:xfrm>
            <a:off x="2135366" y="4332263"/>
            <a:ext cx="3103735" cy="1558632"/>
          </a:xfrm>
          <a:prstGeom prst="rect">
            <a:avLst/>
          </a:prstGeom>
          <a:noFill/>
        </p:spPr>
        <p:txBody>
          <a:bodyPr wrap="none" rtlCol="0">
            <a:spAutoFit/>
          </a:bodyPr>
          <a:lstStyle/>
          <a:p>
            <a:pPr>
              <a:lnSpc>
                <a:spcPct val="150000"/>
              </a:lnSpc>
            </a:pPr>
            <a:r>
              <a:rPr lang="en-US" sz="1588" b="1" dirty="0">
                <a:solidFill>
                  <a:schemeClr val="bg2">
                    <a:lumMod val="10000"/>
                  </a:schemeClr>
                </a:solidFill>
                <a:latin typeface="Arial" panose="020B0604020202020204" pitchFamily="34" charset="0"/>
                <a:cs typeface="Arial" panose="020B0604020202020204" pitchFamily="34" charset="0"/>
              </a:rPr>
              <a:t>GV: 	</a:t>
            </a:r>
            <a:r>
              <a:rPr lang="en-US" sz="1588" b="1" dirty="0" err="1">
                <a:solidFill>
                  <a:schemeClr val="bg2">
                    <a:lumMod val="10000"/>
                  </a:schemeClr>
                </a:solidFill>
                <a:latin typeface="Arial" panose="020B0604020202020204" pitchFamily="34" charset="0"/>
                <a:cs typeface="Arial" panose="020B0604020202020204" pitchFamily="34" charset="0"/>
              </a:rPr>
              <a:t>Ngô</a:t>
            </a:r>
            <a:r>
              <a:rPr lang="en-US" sz="1588" b="1">
                <a:solidFill>
                  <a:schemeClr val="bg2">
                    <a:lumMod val="10000"/>
                  </a:schemeClr>
                </a:solidFill>
                <a:latin typeface="Arial" panose="020B0604020202020204" pitchFamily="34" charset="0"/>
                <a:cs typeface="Arial" panose="020B0604020202020204" pitchFamily="34" charset="0"/>
              </a:rPr>
              <a:t> Thùy Giang</a:t>
            </a:r>
          </a:p>
          <a:p>
            <a:pPr>
              <a:lnSpc>
                <a:spcPct val="150000"/>
              </a:lnSpc>
            </a:pPr>
            <a:r>
              <a:rPr lang="en-US" sz="1588" b="1">
                <a:solidFill>
                  <a:schemeClr val="bg2">
                    <a:lumMod val="10000"/>
                  </a:schemeClr>
                </a:solidFill>
                <a:latin typeface="Arial" panose="020B0604020202020204" pitchFamily="34" charset="0"/>
                <a:cs typeface="Arial" panose="020B0604020202020204" pitchFamily="34" charset="0"/>
              </a:rPr>
              <a:t>Khoa: 	Công nghệ thông tin</a:t>
            </a:r>
          </a:p>
          <a:p>
            <a:pPr>
              <a:lnSpc>
                <a:spcPct val="150000"/>
              </a:lnSpc>
            </a:pPr>
            <a:r>
              <a:rPr lang="en-US" sz="1588" b="1">
                <a:solidFill>
                  <a:schemeClr val="bg2">
                    <a:lumMod val="10000"/>
                  </a:schemeClr>
                </a:solidFill>
                <a:latin typeface="Arial" panose="020B0604020202020204" pitchFamily="34" charset="0"/>
                <a:cs typeface="Arial" panose="020B0604020202020204" pitchFamily="34" charset="0"/>
              </a:rPr>
              <a:t>SĐT: 	</a:t>
            </a:r>
            <a:r>
              <a:rPr lang="en-US" sz="1588" b="1" smtClean="0">
                <a:solidFill>
                  <a:schemeClr val="bg2">
                    <a:lumMod val="10000"/>
                  </a:schemeClr>
                </a:solidFill>
                <a:latin typeface="Arial" panose="020B0604020202020204" pitchFamily="34" charset="0"/>
                <a:cs typeface="Arial" panose="020B0604020202020204" pitchFamily="34" charset="0"/>
              </a:rPr>
              <a:t>0979.357.190</a:t>
            </a:r>
          </a:p>
          <a:p>
            <a:pPr>
              <a:lnSpc>
                <a:spcPct val="150000"/>
              </a:lnSpc>
            </a:pPr>
            <a:r>
              <a:rPr lang="en-US" sz="1588" b="1" smtClean="0">
                <a:solidFill>
                  <a:schemeClr val="bg2">
                    <a:lumMod val="10000"/>
                  </a:schemeClr>
                </a:solidFill>
                <a:latin typeface="Arial" panose="020B0604020202020204" pitchFamily="34" charset="0"/>
                <a:cs typeface="Arial" panose="020B0604020202020204" pitchFamily="34" charset="0"/>
              </a:rPr>
              <a:t>Email:giangnt@eaut.edu.vn</a:t>
            </a:r>
            <a:endParaRPr lang="en-US" sz="1588" b="1">
              <a:solidFill>
                <a:schemeClr val="bg2">
                  <a:lumMod val="10000"/>
                </a:schemeClr>
              </a:solidFill>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8428" y="648853"/>
            <a:ext cx="1900925" cy="1900925"/>
          </a:xfrm>
          <a:prstGeom prst="rect">
            <a:avLst/>
          </a:prstGeom>
        </p:spPr>
      </p:pic>
      <p:sp>
        <p:nvSpPr>
          <p:cNvPr id="6" name="object 2"/>
          <p:cNvSpPr txBox="1"/>
          <p:nvPr/>
        </p:nvSpPr>
        <p:spPr>
          <a:xfrm>
            <a:off x="3256226" y="1251791"/>
            <a:ext cx="6773956" cy="381213"/>
          </a:xfrm>
          <a:prstGeom prst="rect">
            <a:avLst/>
          </a:prstGeom>
        </p:spPr>
        <p:txBody>
          <a:bodyPr vert="horz" wrap="square" lIns="0" tIns="11766" rIns="0" bIns="0" rtlCol="0">
            <a:spAutoFit/>
          </a:bodyPr>
          <a:lstStyle/>
          <a:p>
            <a:pPr marL="25774" algn="ctr"/>
            <a:r>
              <a:rPr lang="en-US" sz="2400" b="1" smtClean="0">
                <a:solidFill>
                  <a:schemeClr val="accent1">
                    <a:lumMod val="50000"/>
                  </a:schemeClr>
                </a:solidFill>
                <a:latin typeface="Arial"/>
                <a:cs typeface="Arial"/>
              </a:rPr>
              <a:t>TRƯỜNG ĐẠI HỌC CÔNG NGHỆ ĐÔNG Á</a:t>
            </a:r>
            <a:endParaRPr lang="en-US" sz="2400" b="1">
              <a:solidFill>
                <a:schemeClr val="accent1">
                  <a:lumMod val="50000"/>
                </a:schemeClr>
              </a:solidFill>
              <a:latin typeface="Arial"/>
              <a:cs typeface="Arial"/>
            </a:endParaRPr>
          </a:p>
        </p:txBody>
      </p:sp>
    </p:spTree>
    <p:extLst>
      <p:ext uri="{BB962C8B-B14F-4D97-AF65-F5344CB8AC3E}">
        <p14:creationId xmlns:p14="http://schemas.microsoft.com/office/powerpoint/2010/main" val="3762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560945" y="2341706"/>
            <a:ext cx="10298545"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smtClean="0">
                <a:solidFill>
                  <a:schemeClr val="accent1">
                    <a:lumMod val="50000"/>
                  </a:schemeClr>
                </a:solidFill>
                <a:latin typeface="Constantia" panose="02030602050306030303" pitchFamily="18" charset="0"/>
              </a:rPr>
              <a:t>CHƯƠNG </a:t>
            </a:r>
            <a:r>
              <a:rPr lang="en-US" sz="4000" b="1" smtClean="0">
                <a:solidFill>
                  <a:schemeClr val="accent1">
                    <a:lumMod val="50000"/>
                  </a:schemeClr>
                </a:solidFill>
                <a:latin typeface="Constantia" panose="02030602050306030303" pitchFamily="18" charset="0"/>
              </a:rPr>
              <a:t>VIII. </a:t>
            </a:r>
          </a:p>
          <a:p>
            <a:pPr algn="ctr"/>
            <a:r>
              <a:rPr lang="en-US" sz="4000" b="1" smtClean="0">
                <a:solidFill>
                  <a:schemeClr val="accent1">
                    <a:lumMod val="50000"/>
                  </a:schemeClr>
                </a:solidFill>
                <a:latin typeface="Constantia" panose="02030602050306030303" pitchFamily="18" charset="0"/>
              </a:rPr>
              <a:t>ĐƯỜNG CONG TRONG KHÔNG GIAN</a:t>
            </a:r>
            <a:endParaRPr lang="en-US" sz="4000" b="1">
              <a:solidFill>
                <a:schemeClr val="accent1">
                  <a:lumMod val="50000"/>
                </a:schemeClr>
              </a:solidFill>
              <a:latin typeface="Constantia" panose="02030602050306030303" pitchFamily="18" charset="0"/>
            </a:endParaRPr>
          </a:p>
        </p:txBody>
      </p:sp>
    </p:spTree>
    <p:extLst>
      <p:ext uri="{BB962C8B-B14F-4D97-AF65-F5344CB8AC3E}">
        <p14:creationId xmlns:p14="http://schemas.microsoft.com/office/powerpoint/2010/main" val="2744494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61D7C38-85E2-4855-9A2F-D12555492EB2}" type="slidenum">
              <a:rPr lang="en-US" altLang="en-US"/>
              <a:pPr/>
              <a:t>3</a:t>
            </a:fld>
            <a:endParaRPr lang="en-US" altLang="en-US"/>
          </a:p>
        </p:txBody>
      </p:sp>
      <p:sp>
        <p:nvSpPr>
          <p:cNvPr id="736260" name="Rectangle 4"/>
          <p:cNvSpPr>
            <a:spLocks noGrp="1" noChangeArrowheads="1"/>
          </p:cNvSpPr>
          <p:nvPr>
            <p:ph type="title"/>
          </p:nvPr>
        </p:nvSpPr>
        <p:spPr>
          <a:noFill/>
          <a:ln/>
        </p:spPr>
        <p:txBody>
          <a:bodyPr/>
          <a:lstStyle/>
          <a:p>
            <a:r>
              <a:rPr lang="en-US" altLang="en-US" smtClean="0">
                <a:latin typeface="Arial" panose="020B0604020202020204" pitchFamily="34" charset="0"/>
              </a:rPr>
              <a:t>8.1</a:t>
            </a:r>
            <a:r>
              <a:rPr lang="en-US" altLang="en-US">
                <a:latin typeface="Arial" panose="020B0604020202020204" pitchFamily="34" charset="0"/>
              </a:rPr>
              <a:t>. Biểu diễn đường cong</a:t>
            </a:r>
          </a:p>
        </p:txBody>
      </p:sp>
      <p:sp>
        <p:nvSpPr>
          <p:cNvPr id="736261" name="Rectangle 5"/>
          <p:cNvSpPr>
            <a:spLocks noGrp="1" noChangeArrowheads="1"/>
          </p:cNvSpPr>
          <p:nvPr>
            <p:ph type="body" idx="1"/>
          </p:nvPr>
        </p:nvSpPr>
        <p:spPr>
          <a:noFill/>
          <a:ln/>
        </p:spPr>
        <p:txBody>
          <a:bodyPr/>
          <a:lstStyle/>
          <a:p>
            <a:pPr algn="just"/>
            <a:r>
              <a:rPr lang="en-US" altLang="en-US">
                <a:latin typeface="Arial" panose="020B0604020202020204" pitchFamily="34" charset="0"/>
              </a:rPr>
              <a:t>Qua hai điểm vẽ được một đường thẳng. </a:t>
            </a:r>
          </a:p>
          <a:p>
            <a:pPr algn="just"/>
            <a:r>
              <a:rPr lang="en-US" altLang="en-US">
                <a:latin typeface="Arial" panose="020B0604020202020204" pitchFamily="34" charset="0"/>
              </a:rPr>
              <a:t>Qua ba điểm vẽ được một đường cong trong mặt phẳng. </a:t>
            </a:r>
          </a:p>
          <a:p>
            <a:pPr algn="just"/>
            <a:r>
              <a:rPr lang="en-US" altLang="en-US">
                <a:latin typeface="Arial" panose="020B0604020202020204" pitchFamily="34" charset="0"/>
              </a:rPr>
              <a:t>Qua bốn điểm vẽ được một đường cong trong không gian. </a:t>
            </a:r>
          </a:p>
          <a:p>
            <a:pPr algn="just"/>
            <a:r>
              <a:rPr lang="en-US" altLang="en-US">
                <a:latin typeface="Arial" panose="020B0604020202020204" pitchFamily="34" charset="0"/>
              </a:rPr>
              <a:t>Dùng các phương trình đường cong như Hypebol, parabol... thì tính toán phức tạp và không thể hiện được hình ảnh thực hay ý tưởng của người thiết kế.</a:t>
            </a:r>
          </a:p>
        </p:txBody>
      </p:sp>
    </p:spTree>
    <p:extLst>
      <p:ext uri="{BB962C8B-B14F-4D97-AF65-F5344CB8AC3E}">
        <p14:creationId xmlns:p14="http://schemas.microsoft.com/office/powerpoint/2010/main" val="13001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8C72C4E6-76B9-49CD-81F1-F59EA1CF72CA}" type="slidenum">
              <a:rPr lang="en-US" altLang="en-US"/>
              <a:pPr/>
              <a:t>4</a:t>
            </a:fld>
            <a:endParaRPr lang="en-US" altLang="en-US"/>
          </a:p>
        </p:txBody>
      </p:sp>
      <p:sp>
        <p:nvSpPr>
          <p:cNvPr id="737284" name="Rectangle 4"/>
          <p:cNvSpPr>
            <a:spLocks noGrp="1" noChangeArrowheads="1"/>
          </p:cNvSpPr>
          <p:nvPr>
            <p:ph type="title"/>
          </p:nvPr>
        </p:nvSpPr>
        <p:spPr>
          <a:noFill/>
          <a:ln/>
        </p:spPr>
        <p:txBody>
          <a:bodyPr/>
          <a:lstStyle/>
          <a:p>
            <a:r>
              <a:rPr lang="en-US" altLang="en-US" smtClean="0">
                <a:latin typeface="Arial" panose="020B0604020202020204" pitchFamily="34" charset="0"/>
              </a:rPr>
              <a:t>8.1</a:t>
            </a:r>
            <a:r>
              <a:rPr lang="en-US" altLang="en-US">
                <a:latin typeface="Arial" panose="020B0604020202020204" pitchFamily="34" charset="0"/>
              </a:rPr>
              <a:t>. Biểu diễn đường cong</a:t>
            </a:r>
          </a:p>
        </p:txBody>
      </p:sp>
      <p:sp>
        <p:nvSpPr>
          <p:cNvPr id="737285" name="Rectangle 5"/>
          <p:cNvSpPr>
            <a:spLocks noGrp="1" noChangeArrowheads="1"/>
          </p:cNvSpPr>
          <p:nvPr>
            <p:ph type="body" idx="1"/>
          </p:nvPr>
        </p:nvSpPr>
        <p:spPr>
          <a:noFill/>
          <a:ln/>
        </p:spPr>
        <p:txBody>
          <a:bodyPr>
            <a:normAutofit fontScale="92500" lnSpcReduction="10000"/>
          </a:bodyPr>
          <a:lstStyle/>
          <a:p>
            <a:r>
              <a:rPr lang="en-US" altLang="en-US">
                <a:latin typeface="Arial" panose="020B0604020202020204" pitchFamily="34" charset="0"/>
              </a:rPr>
              <a:t>Các cách để biểu diễn đường cong:</a:t>
            </a:r>
          </a:p>
          <a:p>
            <a:pPr lvl="1"/>
            <a:r>
              <a:rPr lang="en-US" altLang="en-US">
                <a:latin typeface="Arial" panose="020B0604020202020204" pitchFamily="34" charset="0"/>
              </a:rPr>
              <a:t>Tường minh</a:t>
            </a:r>
          </a:p>
          <a:p>
            <a:pPr>
              <a:buFont typeface="Wingdings" panose="05000000000000000000" pitchFamily="2" charset="2"/>
              <a:buNone/>
            </a:pPr>
            <a:r>
              <a:rPr lang="en-US" altLang="en-US">
                <a:latin typeface="Arial" panose="020B0604020202020204" pitchFamily="34" charset="0"/>
              </a:rPr>
              <a:t>		y = f(x), z = g(x)</a:t>
            </a:r>
          </a:p>
          <a:p>
            <a:pPr lvl="1"/>
            <a:r>
              <a:rPr lang="en-US" altLang="en-US">
                <a:latin typeface="Arial" panose="020B0604020202020204" pitchFamily="34" charset="0"/>
              </a:rPr>
              <a:t>Không tường minh</a:t>
            </a:r>
          </a:p>
          <a:p>
            <a:pPr>
              <a:buFont typeface="Wingdings" panose="05000000000000000000" pitchFamily="2" charset="2"/>
              <a:buNone/>
            </a:pPr>
            <a:r>
              <a:rPr lang="en-US" altLang="en-US">
                <a:latin typeface="Arial" panose="020B0604020202020204" pitchFamily="34" charset="0"/>
              </a:rPr>
              <a:t>		f(x,y,z) = 0</a:t>
            </a:r>
          </a:p>
          <a:p>
            <a:pPr lvl="1"/>
            <a:r>
              <a:rPr lang="en-US" altLang="en-US">
                <a:latin typeface="Arial" panose="020B0604020202020204" pitchFamily="34" charset="0"/>
              </a:rPr>
              <a:t>Biểu diễn các đường cong tham biến</a:t>
            </a:r>
          </a:p>
          <a:p>
            <a:pPr lvl="2">
              <a:buFont typeface="Wingdings" panose="05000000000000000000" pitchFamily="2" charset="2"/>
              <a:buNone/>
            </a:pPr>
            <a:r>
              <a:rPr lang="en-US" altLang="en-US" sz="2400">
                <a:latin typeface="Arial" panose="020B0604020202020204" pitchFamily="34" charset="0"/>
              </a:rPr>
              <a:t>x = x(t), y = y(t), z = z(t) trong đó t thuộc [0 1]</a:t>
            </a:r>
          </a:p>
          <a:p>
            <a:endParaRPr lang="en-US" altLang="en-US">
              <a:latin typeface="Arial" panose="020B0604020202020204" pitchFamily="34" charset="0"/>
            </a:endParaRPr>
          </a:p>
        </p:txBody>
      </p:sp>
    </p:spTree>
    <p:extLst>
      <p:ext uri="{BB962C8B-B14F-4D97-AF65-F5344CB8AC3E}">
        <p14:creationId xmlns:p14="http://schemas.microsoft.com/office/powerpoint/2010/main" val="4241847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7890CE3-F2F2-465D-9742-0CABA51510DE}" type="slidenum">
              <a:rPr lang="en-US" altLang="en-US"/>
              <a:pPr/>
              <a:t>5</a:t>
            </a:fld>
            <a:endParaRPr lang="en-US" altLang="en-US"/>
          </a:p>
        </p:txBody>
      </p:sp>
      <p:sp>
        <p:nvSpPr>
          <p:cNvPr id="741380" name="Rectangle 4"/>
          <p:cNvSpPr>
            <a:spLocks noGrp="1" noChangeArrowheads="1"/>
          </p:cNvSpPr>
          <p:nvPr>
            <p:ph type="title"/>
          </p:nvPr>
        </p:nvSpPr>
        <p:spPr>
          <a:noFill/>
          <a:ln/>
        </p:spPr>
        <p:txBody>
          <a:bodyPr/>
          <a:lstStyle/>
          <a:p>
            <a:r>
              <a:rPr lang="en-US" altLang="en-US" smtClean="0">
                <a:latin typeface="Arial" panose="020B0604020202020204" pitchFamily="34" charset="0"/>
              </a:rPr>
              <a:t>8.1</a:t>
            </a:r>
            <a:r>
              <a:rPr lang="en-US" altLang="en-US">
                <a:latin typeface="Arial" panose="020B0604020202020204" pitchFamily="34" charset="0"/>
              </a:rPr>
              <a:t>. Biểu diễn đường cong</a:t>
            </a:r>
          </a:p>
        </p:txBody>
      </p:sp>
      <p:sp>
        <p:nvSpPr>
          <p:cNvPr id="741381" name="Rectangle 5"/>
          <p:cNvSpPr>
            <a:spLocks noGrp="1" noChangeArrowheads="1"/>
          </p:cNvSpPr>
          <p:nvPr>
            <p:ph type="body" idx="1"/>
          </p:nvPr>
        </p:nvSpPr>
        <p:spPr>
          <a:noFill/>
          <a:ln/>
        </p:spPr>
        <p:txBody>
          <a:bodyPr/>
          <a:lstStyle/>
          <a:p>
            <a:pPr algn="just"/>
            <a:r>
              <a:rPr lang="en-US" altLang="en-US">
                <a:latin typeface="Arial" panose="020B0604020202020204" pitchFamily="34" charset="0"/>
              </a:rPr>
              <a:t>Hạn chế:</a:t>
            </a:r>
          </a:p>
          <a:p>
            <a:pPr lvl="1" algn="just"/>
            <a:r>
              <a:rPr lang="en-US" altLang="en-US">
                <a:latin typeface="Arial" panose="020B0604020202020204" pitchFamily="34" charset="0"/>
              </a:rPr>
              <a:t>Hệ đồ hoạ ứng dụng chỉ mô tả bó hẹp trong đoạn nào đấy</a:t>
            </a:r>
          </a:p>
          <a:p>
            <a:pPr lvl="1" algn="just"/>
            <a:r>
              <a:rPr lang="en-US" altLang="en-US">
                <a:latin typeface="Arial" panose="020B0604020202020204" pitchFamily="34" charset="0"/>
              </a:rPr>
              <a:t>Chúng ta cần biểu diễn đường cong mềm (chỉ biểu diễn đường “cong gẫy”)</a:t>
            </a:r>
          </a:p>
        </p:txBody>
      </p:sp>
    </p:spTree>
    <p:extLst>
      <p:ext uri="{BB962C8B-B14F-4D97-AF65-F5344CB8AC3E}">
        <p14:creationId xmlns:p14="http://schemas.microsoft.com/office/powerpoint/2010/main" val="3680679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8E6E5DDA-A95A-4A7D-8DE4-4262F2FB39A0}" type="slidenum">
              <a:rPr lang="en-US" altLang="en-US"/>
              <a:pPr/>
              <a:t>6</a:t>
            </a:fld>
            <a:endParaRPr lang="en-US" altLang="en-US"/>
          </a:p>
        </p:txBody>
      </p:sp>
      <p:sp>
        <p:nvSpPr>
          <p:cNvPr id="740356" name="Rectangle 4"/>
          <p:cNvSpPr>
            <a:spLocks noGrp="1" noChangeArrowheads="1"/>
          </p:cNvSpPr>
          <p:nvPr>
            <p:ph type="title"/>
          </p:nvPr>
        </p:nvSpPr>
        <p:spPr>
          <a:noFill/>
          <a:ln/>
        </p:spPr>
        <p:txBody>
          <a:bodyPr/>
          <a:lstStyle/>
          <a:p>
            <a:r>
              <a:rPr lang="en-US" altLang="en-US" smtClean="0">
                <a:latin typeface="Arial" panose="020B0604020202020204" pitchFamily="34" charset="0"/>
              </a:rPr>
              <a:t>8.1</a:t>
            </a:r>
            <a:r>
              <a:rPr lang="en-US" altLang="en-US">
                <a:latin typeface="Arial" panose="020B0604020202020204" pitchFamily="34" charset="0"/>
              </a:rPr>
              <a:t>. Biểu diễn đường cong</a:t>
            </a:r>
          </a:p>
        </p:txBody>
      </p:sp>
      <p:sp>
        <p:nvSpPr>
          <p:cNvPr id="740357" name="Rectangle 5"/>
          <p:cNvSpPr>
            <a:spLocks noGrp="1" noChangeArrowheads="1"/>
          </p:cNvSpPr>
          <p:nvPr>
            <p:ph type="body" idx="1"/>
          </p:nvPr>
        </p:nvSpPr>
        <p:spPr>
          <a:noFill/>
          <a:ln/>
        </p:spPr>
        <p:txBody>
          <a:bodyPr/>
          <a:lstStyle/>
          <a:p>
            <a:pPr algn="just">
              <a:lnSpc>
                <a:spcPct val="120000"/>
              </a:lnSpc>
            </a:pPr>
            <a:r>
              <a:rPr lang="en-US" altLang="en-US">
                <a:latin typeface="Arial" panose="020B0604020202020204" pitchFamily="34" charset="0"/>
              </a:rPr>
              <a:t>Cho n+1 điểm P</a:t>
            </a:r>
            <a:r>
              <a:rPr lang="en-US" altLang="en-US" baseline="-25000">
                <a:latin typeface="Arial" panose="020B0604020202020204" pitchFamily="34" charset="0"/>
              </a:rPr>
              <a:t>0</a:t>
            </a:r>
            <a:r>
              <a:rPr lang="en-US" altLang="en-US">
                <a:latin typeface="Arial" panose="020B0604020202020204" pitchFamily="34" charset="0"/>
              </a:rPr>
              <a:t>(x</a:t>
            </a:r>
            <a:r>
              <a:rPr lang="en-US" altLang="en-US" baseline="-25000">
                <a:latin typeface="Arial" panose="020B0604020202020204" pitchFamily="34" charset="0"/>
              </a:rPr>
              <a:t>0</a:t>
            </a:r>
            <a:r>
              <a:rPr lang="en-US" altLang="en-US">
                <a:latin typeface="Arial" panose="020B0604020202020204" pitchFamily="34" charset="0"/>
              </a:rPr>
              <a:t>,y</a:t>
            </a:r>
            <a:r>
              <a:rPr lang="en-US" altLang="en-US" baseline="-25000">
                <a:latin typeface="Arial" panose="020B0604020202020204" pitchFamily="34" charset="0"/>
              </a:rPr>
              <a:t>0</a:t>
            </a:r>
            <a:r>
              <a:rPr lang="en-US" altLang="en-US">
                <a:latin typeface="Arial" panose="020B0604020202020204" pitchFamily="34" charset="0"/>
              </a:rPr>
              <a:t>),…,P</a:t>
            </a:r>
            <a:r>
              <a:rPr lang="en-US" altLang="en-US" baseline="-25000">
                <a:latin typeface="Arial" panose="020B0604020202020204" pitchFamily="34" charset="0"/>
              </a:rPr>
              <a:t>n</a:t>
            </a:r>
            <a:r>
              <a:rPr lang="en-US" altLang="en-US">
                <a:latin typeface="Arial" panose="020B0604020202020204" pitchFamily="34" charset="0"/>
              </a:rPr>
              <a:t>(x</a:t>
            </a:r>
            <a:r>
              <a:rPr lang="en-US" altLang="en-US" baseline="-25000">
                <a:latin typeface="Arial" panose="020B0604020202020204" pitchFamily="34" charset="0"/>
              </a:rPr>
              <a:t>n</a:t>
            </a:r>
            <a:r>
              <a:rPr lang="en-US" altLang="en-US">
                <a:latin typeface="Arial" panose="020B0604020202020204" pitchFamily="34" charset="0"/>
              </a:rPr>
              <a:t>,y</a:t>
            </a:r>
            <a:r>
              <a:rPr lang="en-US" altLang="en-US" baseline="-25000">
                <a:latin typeface="Arial" panose="020B0604020202020204" pitchFamily="34" charset="0"/>
              </a:rPr>
              <a:t>n</a:t>
            </a:r>
            <a:r>
              <a:rPr lang="en-US" altLang="en-US">
                <a:latin typeface="Arial" panose="020B0604020202020204" pitchFamily="34" charset="0"/>
              </a:rPr>
              <a:t>)→ tìm đường cong gần với hình dạng mô tả bởi các điểm này nhất.</a:t>
            </a:r>
          </a:p>
          <a:p>
            <a:pPr lvl="1" algn="just">
              <a:lnSpc>
                <a:spcPct val="120000"/>
              </a:lnSpc>
            </a:pPr>
            <a:r>
              <a:rPr lang="en-US" altLang="en-US">
                <a:latin typeface="Arial" panose="020B0604020202020204" pitchFamily="34" charset="0"/>
              </a:rPr>
              <a:t>Nếu yêu cầu đường cong đi qua tất cả các điểm → nội suy.</a:t>
            </a:r>
          </a:p>
          <a:p>
            <a:pPr lvl="1" algn="just">
              <a:lnSpc>
                <a:spcPct val="120000"/>
              </a:lnSpc>
            </a:pPr>
            <a:r>
              <a:rPr lang="en-US" altLang="en-US">
                <a:latin typeface="Arial" panose="020B0604020202020204" pitchFamily="34" charset="0"/>
              </a:rPr>
              <a:t>Nếu chỉ yêu cầu đường cong gần những điểm này → xấp xỉ.</a:t>
            </a:r>
          </a:p>
          <a:p>
            <a:pPr lvl="1" algn="just">
              <a:lnSpc>
                <a:spcPct val="120000"/>
              </a:lnSpc>
            </a:pPr>
            <a:endParaRPr lang="en-US" altLang="en-US" sz="3600">
              <a:latin typeface="Arial" panose="020B0604020202020204" pitchFamily="34" charset="0"/>
            </a:endParaRPr>
          </a:p>
        </p:txBody>
      </p:sp>
    </p:spTree>
    <p:extLst>
      <p:ext uri="{BB962C8B-B14F-4D97-AF65-F5344CB8AC3E}">
        <p14:creationId xmlns:p14="http://schemas.microsoft.com/office/powerpoint/2010/main" val="3854552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88C1F11B-DF9A-4BCC-AC63-C7EB2D47146C}" type="slidenum">
              <a:rPr lang="en-US" altLang="en-US"/>
              <a:pPr/>
              <a:t>7</a:t>
            </a:fld>
            <a:endParaRPr lang="en-US" altLang="en-US"/>
          </a:p>
        </p:txBody>
      </p:sp>
      <p:sp>
        <p:nvSpPr>
          <p:cNvPr id="739332" name="Rectangle 4"/>
          <p:cNvSpPr>
            <a:spLocks noGrp="1" noChangeArrowheads="1"/>
          </p:cNvSpPr>
          <p:nvPr>
            <p:ph type="title"/>
          </p:nvPr>
        </p:nvSpPr>
        <p:spPr>
          <a:noFill/>
          <a:ln/>
        </p:spPr>
        <p:txBody>
          <a:bodyPr/>
          <a:lstStyle/>
          <a:p>
            <a:r>
              <a:rPr lang="en-US" altLang="en-US" smtClean="0">
                <a:latin typeface="Arial" panose="020B0604020202020204" pitchFamily="34" charset="0"/>
              </a:rPr>
              <a:t>8.2</a:t>
            </a:r>
            <a:r>
              <a:rPr lang="en-US" altLang="en-US">
                <a:latin typeface="Arial" panose="020B0604020202020204" pitchFamily="34" charset="0"/>
              </a:rPr>
              <a:t>. Xấp xỉ đường cong Lagrang</a:t>
            </a:r>
          </a:p>
        </p:txBody>
      </p:sp>
      <p:sp>
        <p:nvSpPr>
          <p:cNvPr id="739333" name="Rectangle 5"/>
          <p:cNvSpPr>
            <a:spLocks noGrp="1" noChangeArrowheads="1"/>
          </p:cNvSpPr>
          <p:nvPr>
            <p:ph type="body" sz="half" idx="1"/>
          </p:nvPr>
        </p:nvSpPr>
        <p:spPr>
          <a:xfrm>
            <a:off x="1981200" y="1600201"/>
            <a:ext cx="8458200" cy="4530725"/>
          </a:xfrm>
          <a:noFill/>
          <a:ln/>
        </p:spPr>
        <p:txBody>
          <a:bodyPr/>
          <a:lstStyle/>
          <a:p>
            <a:pPr algn="just">
              <a:lnSpc>
                <a:spcPct val="120000"/>
              </a:lnSpc>
            </a:pPr>
            <a:r>
              <a:rPr lang="en-US" altLang="en-US">
                <a:latin typeface="Arial" panose="020B0604020202020204" pitchFamily="34" charset="0"/>
              </a:rPr>
              <a:t>Cho n+1 điểm P</a:t>
            </a:r>
            <a:r>
              <a:rPr lang="en-US" altLang="en-US" baseline="-25000">
                <a:latin typeface="Arial" panose="020B0604020202020204" pitchFamily="34" charset="0"/>
              </a:rPr>
              <a:t>0</a:t>
            </a:r>
            <a:r>
              <a:rPr lang="en-US" altLang="en-US">
                <a:latin typeface="Arial" panose="020B0604020202020204" pitchFamily="34" charset="0"/>
              </a:rPr>
              <a:t>(x</a:t>
            </a:r>
            <a:r>
              <a:rPr lang="en-US" altLang="en-US" baseline="-25000">
                <a:latin typeface="Arial" panose="020B0604020202020204" pitchFamily="34" charset="0"/>
              </a:rPr>
              <a:t>0</a:t>
            </a:r>
            <a:r>
              <a:rPr lang="en-US" altLang="en-US">
                <a:latin typeface="Arial" panose="020B0604020202020204" pitchFamily="34" charset="0"/>
              </a:rPr>
              <a:t>,y</a:t>
            </a:r>
            <a:r>
              <a:rPr lang="en-US" altLang="en-US" baseline="-25000">
                <a:latin typeface="Arial" panose="020B0604020202020204" pitchFamily="34" charset="0"/>
              </a:rPr>
              <a:t>0</a:t>
            </a:r>
            <a:r>
              <a:rPr lang="en-US" altLang="en-US">
                <a:latin typeface="Arial" panose="020B0604020202020204" pitchFamily="34" charset="0"/>
              </a:rPr>
              <a:t>),…,P</a:t>
            </a:r>
            <a:r>
              <a:rPr lang="en-US" altLang="en-US" baseline="-25000">
                <a:latin typeface="Arial" panose="020B0604020202020204" pitchFamily="34" charset="0"/>
              </a:rPr>
              <a:t>n</a:t>
            </a:r>
            <a:r>
              <a:rPr lang="en-US" altLang="en-US">
                <a:latin typeface="Arial" panose="020B0604020202020204" pitchFamily="34" charset="0"/>
              </a:rPr>
              <a:t>(x</a:t>
            </a:r>
            <a:r>
              <a:rPr lang="en-US" altLang="en-US" baseline="-25000">
                <a:latin typeface="Arial" panose="020B0604020202020204" pitchFamily="34" charset="0"/>
              </a:rPr>
              <a:t>n</a:t>
            </a:r>
            <a:r>
              <a:rPr lang="en-US" altLang="en-US">
                <a:latin typeface="Arial" panose="020B0604020202020204" pitchFamily="34" charset="0"/>
              </a:rPr>
              <a:t>,y</a:t>
            </a:r>
            <a:r>
              <a:rPr lang="en-US" altLang="en-US" baseline="-25000">
                <a:latin typeface="Arial" panose="020B0604020202020204" pitchFamily="34" charset="0"/>
              </a:rPr>
              <a:t>n</a:t>
            </a:r>
            <a:r>
              <a:rPr lang="en-US" altLang="en-US">
                <a:latin typeface="Arial" panose="020B0604020202020204" pitchFamily="34" charset="0"/>
              </a:rPr>
              <a:t>)→ xây dựng đường cong đi qua các điểm P</a:t>
            </a:r>
            <a:r>
              <a:rPr lang="en-US" altLang="en-US" baseline="-25000">
                <a:latin typeface="Arial" panose="020B0604020202020204" pitchFamily="34" charset="0"/>
              </a:rPr>
              <a:t>i</a:t>
            </a:r>
            <a:r>
              <a:rPr lang="en-US" altLang="en-US">
                <a:latin typeface="Arial" panose="020B0604020202020204" pitchFamily="34" charset="0"/>
              </a:rPr>
              <a:t>.</a:t>
            </a:r>
          </a:p>
          <a:p>
            <a:pPr algn="just">
              <a:lnSpc>
                <a:spcPct val="120000"/>
              </a:lnSpc>
            </a:pPr>
            <a:r>
              <a:rPr lang="en-US" altLang="en-US">
                <a:latin typeface="Arial" panose="020B0604020202020204" pitchFamily="34" charset="0"/>
              </a:rPr>
              <a:t>Giả sử đường cong cho dưới dạng tham số </a:t>
            </a:r>
          </a:p>
          <a:p>
            <a:pPr algn="just">
              <a:lnSpc>
                <a:spcPct val="120000"/>
              </a:lnSpc>
              <a:buFont typeface="Wingdings" panose="05000000000000000000" pitchFamily="2" charset="2"/>
              <a:buNone/>
            </a:pPr>
            <a:r>
              <a:rPr lang="en-US" altLang="en-US">
                <a:latin typeface="Arial" panose="020B0604020202020204" pitchFamily="34" charset="0"/>
              </a:rPr>
              <a:t>		L(t) = (l</a:t>
            </a:r>
            <a:r>
              <a:rPr lang="en-US" altLang="en-US" baseline="-25000">
                <a:latin typeface="Arial" panose="020B0604020202020204" pitchFamily="34" charset="0"/>
              </a:rPr>
              <a:t>x</a:t>
            </a:r>
            <a:r>
              <a:rPr lang="en-US" altLang="en-US">
                <a:latin typeface="Arial" panose="020B0604020202020204" pitchFamily="34" charset="0"/>
              </a:rPr>
              <a:t>(t),l</a:t>
            </a:r>
            <a:r>
              <a:rPr lang="en-US" altLang="en-US" baseline="-25000">
                <a:latin typeface="Arial" panose="020B0604020202020204" pitchFamily="34" charset="0"/>
              </a:rPr>
              <a:t>y</a:t>
            </a:r>
            <a:r>
              <a:rPr lang="en-US" altLang="en-US">
                <a:latin typeface="Arial" panose="020B0604020202020204" pitchFamily="34" charset="0"/>
              </a:rPr>
              <a:t>(t),l</a:t>
            </a:r>
            <a:r>
              <a:rPr lang="en-US" altLang="en-US" baseline="-25000">
                <a:latin typeface="Arial" panose="020B0604020202020204" pitchFamily="34" charset="0"/>
              </a:rPr>
              <a:t>z</a:t>
            </a:r>
            <a:r>
              <a:rPr lang="en-US" altLang="en-US">
                <a:latin typeface="Arial" panose="020B0604020202020204" pitchFamily="34" charset="0"/>
              </a:rPr>
              <a:t>(t)), điểm p</a:t>
            </a:r>
            <a:r>
              <a:rPr lang="en-US" altLang="en-US" baseline="-25000">
                <a:latin typeface="Arial" panose="020B0604020202020204" pitchFamily="34" charset="0"/>
              </a:rPr>
              <a:t>i</a:t>
            </a:r>
            <a:r>
              <a:rPr lang="en-US" altLang="en-US">
                <a:latin typeface="Arial" panose="020B0604020202020204" pitchFamily="34" charset="0"/>
              </a:rPr>
              <a:t> ứng với t</a:t>
            </a:r>
            <a:r>
              <a:rPr lang="en-US" altLang="en-US" baseline="-25000">
                <a:latin typeface="Arial" panose="020B0604020202020204" pitchFamily="34" charset="0"/>
              </a:rPr>
              <a:t>i</a:t>
            </a:r>
          </a:p>
          <a:p>
            <a:pPr algn="just">
              <a:lnSpc>
                <a:spcPct val="120000"/>
              </a:lnSpc>
            </a:pPr>
            <a:r>
              <a:rPr lang="en-US" altLang="en-US">
                <a:latin typeface="Arial" panose="020B0604020202020204" pitchFamily="34" charset="0"/>
              </a:rPr>
              <a:t>Theo công thức nội suy Lagrang, xây dựng được đường cong đi qua các điểm P</a:t>
            </a:r>
            <a:r>
              <a:rPr lang="en-US" altLang="en-US" baseline="-25000">
                <a:latin typeface="Arial" panose="020B0604020202020204" pitchFamily="34" charset="0"/>
              </a:rPr>
              <a:t>i</a:t>
            </a:r>
            <a:endParaRPr lang="en-US" altLang="en-US">
              <a:latin typeface="Arial" panose="020B0604020202020204" pitchFamily="34" charset="0"/>
            </a:endParaRPr>
          </a:p>
          <a:p>
            <a:pPr algn="just">
              <a:lnSpc>
                <a:spcPct val="120000"/>
              </a:lnSpc>
            </a:pPr>
            <a:r>
              <a:rPr lang="en-US" altLang="en-US">
                <a:latin typeface="Arial" panose="020B0604020202020204" pitchFamily="34" charset="0"/>
              </a:rPr>
              <a:t>L(t) = </a:t>
            </a:r>
          </a:p>
          <a:p>
            <a:pPr algn="just">
              <a:lnSpc>
                <a:spcPct val="120000"/>
              </a:lnSpc>
              <a:buFont typeface="Wingdings" panose="05000000000000000000" pitchFamily="2" charset="2"/>
              <a:buNone/>
            </a:pPr>
            <a:endParaRPr lang="en-US" altLang="en-US" sz="4000">
              <a:latin typeface="Arial" panose="020B0604020202020204" pitchFamily="34" charset="0"/>
            </a:endParaRPr>
          </a:p>
        </p:txBody>
      </p:sp>
      <p:graphicFrame>
        <p:nvGraphicFramePr>
          <p:cNvPr id="739334" name="Object 6"/>
          <p:cNvGraphicFramePr>
            <a:graphicFrameLocks noChangeAspect="1"/>
          </p:cNvGraphicFramePr>
          <p:nvPr>
            <p:ph sz="half" idx="2"/>
          </p:nvPr>
        </p:nvGraphicFramePr>
        <p:xfrm>
          <a:off x="3505200" y="4876801"/>
          <a:ext cx="2057400" cy="1274763"/>
        </p:xfrm>
        <a:graphic>
          <a:graphicData uri="http://schemas.openxmlformats.org/presentationml/2006/ole">
            <mc:AlternateContent xmlns:mc="http://schemas.openxmlformats.org/markup-compatibility/2006">
              <mc:Choice xmlns:v="urn:schemas-microsoft-com:vml" Requires="v">
                <p:oleObj spid="_x0000_s1026" name="Equation" r:id="rId3" imgW="901440" imgH="558720" progId="Equation.3">
                  <p:embed/>
                </p:oleObj>
              </mc:Choice>
              <mc:Fallback>
                <p:oleObj name="Equation" r:id="rId3" imgW="901440" imgH="558720" progId="Equation.3">
                  <p:embed/>
                  <p:pic>
                    <p:nvPicPr>
                      <p:cNvPr id="73933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4876801"/>
                        <a:ext cx="2057400" cy="1274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14064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6FE03EB-676C-4D17-BB33-F0DD13C8D313}" type="slidenum">
              <a:rPr lang="en-US" altLang="en-US"/>
              <a:pPr/>
              <a:t>8</a:t>
            </a:fld>
            <a:endParaRPr lang="en-US" altLang="en-US"/>
          </a:p>
        </p:txBody>
      </p:sp>
      <p:sp>
        <p:nvSpPr>
          <p:cNvPr id="738313" name="Rectangle 9"/>
          <p:cNvSpPr>
            <a:spLocks noGrp="1" noChangeArrowheads="1"/>
          </p:cNvSpPr>
          <p:nvPr>
            <p:ph type="title"/>
          </p:nvPr>
        </p:nvSpPr>
        <p:spPr>
          <a:noFill/>
          <a:ln/>
        </p:spPr>
        <p:txBody>
          <a:bodyPr/>
          <a:lstStyle/>
          <a:p>
            <a:r>
              <a:rPr lang="en-US" altLang="en-US" smtClean="0">
                <a:latin typeface="Arial" panose="020B0604020202020204" pitchFamily="34" charset="0"/>
              </a:rPr>
              <a:t>8.2</a:t>
            </a:r>
            <a:r>
              <a:rPr lang="en-US" altLang="en-US">
                <a:latin typeface="Arial" panose="020B0604020202020204" pitchFamily="34" charset="0"/>
              </a:rPr>
              <a:t>. Xấp xỉ đường cong Lagrang</a:t>
            </a:r>
          </a:p>
        </p:txBody>
      </p:sp>
      <p:sp>
        <p:nvSpPr>
          <p:cNvPr id="738314" name="Rectangle 10"/>
          <p:cNvSpPr>
            <a:spLocks noGrp="1" noChangeArrowheads="1"/>
          </p:cNvSpPr>
          <p:nvPr>
            <p:ph type="body" sz="half" idx="1"/>
          </p:nvPr>
        </p:nvSpPr>
        <p:spPr>
          <a:xfrm>
            <a:off x="1981200" y="1600201"/>
            <a:ext cx="8458200" cy="4530725"/>
          </a:xfrm>
          <a:noFill/>
          <a:ln/>
        </p:spPr>
        <p:txBody>
          <a:bodyPr/>
          <a:lstStyle/>
          <a:p>
            <a:pPr algn="just"/>
            <a:r>
              <a:rPr lang="en-US" altLang="en-US">
                <a:latin typeface="Arial" panose="020B0604020202020204" pitchFamily="34" charset="0"/>
              </a:rPr>
              <a:t>Nhận xét</a:t>
            </a:r>
          </a:p>
          <a:p>
            <a:pPr lvl="1" algn="just"/>
            <a:r>
              <a:rPr lang="en-US" altLang="en-US">
                <a:latin typeface="Arial" panose="020B0604020202020204" pitchFamily="34" charset="0"/>
              </a:rPr>
              <a:t>Đơn giản về thuật toán</a:t>
            </a:r>
          </a:p>
          <a:p>
            <a:pPr lvl="1" algn="just"/>
            <a:r>
              <a:rPr lang="en-US" altLang="en-US">
                <a:latin typeface="Arial" panose="020B0604020202020204" pitchFamily="34" charset="0"/>
              </a:rPr>
              <a:t>Đường cong không ổn định khi biết thêm một số điểm nữa mà đường cong phải đi qua. Do các điểm mới được đem vào tính lại cho các điểm đã vẽ</a:t>
            </a:r>
          </a:p>
          <a:p>
            <a:pPr lvl="1" algn="just"/>
            <a:r>
              <a:rPr lang="en-US" altLang="en-US">
                <a:latin typeface="Arial" panose="020B0604020202020204" pitchFamily="34" charset="0"/>
              </a:rPr>
              <a:t>Trên mỗi đoạn P</a:t>
            </a:r>
            <a:r>
              <a:rPr lang="en-US" altLang="en-US" baseline="-25000">
                <a:latin typeface="Arial" panose="020B0604020202020204" pitchFamily="34" charset="0"/>
              </a:rPr>
              <a:t>i</a:t>
            </a:r>
            <a:r>
              <a:rPr lang="en-US" altLang="en-US">
                <a:latin typeface="Arial" panose="020B0604020202020204" pitchFamily="34" charset="0"/>
              </a:rPr>
              <a:t>P</a:t>
            </a:r>
            <a:r>
              <a:rPr lang="en-US" altLang="en-US" baseline="-25000">
                <a:latin typeface="Arial" panose="020B0604020202020204" pitchFamily="34" charset="0"/>
              </a:rPr>
              <a:t>i+1</a:t>
            </a:r>
            <a:r>
              <a:rPr lang="en-US" altLang="en-US">
                <a:latin typeface="Arial" panose="020B0604020202020204" pitchFamily="34" charset="0"/>
              </a:rPr>
              <a:t>, đường cong đi lệch quá xa với đường cong thật đã tồn tại</a:t>
            </a:r>
          </a:p>
          <a:p>
            <a:pPr algn="just"/>
            <a:endParaRPr lang="en-US" altLang="en-US" sz="4400">
              <a:latin typeface="Arial" panose="020B0604020202020204" pitchFamily="34" charset="0"/>
            </a:endParaRPr>
          </a:p>
        </p:txBody>
      </p:sp>
    </p:spTree>
    <p:extLst>
      <p:ext uri="{BB962C8B-B14F-4D97-AF65-F5344CB8AC3E}">
        <p14:creationId xmlns:p14="http://schemas.microsoft.com/office/powerpoint/2010/main" val="3091820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1E5AF4A0-7226-4096-84D8-9AE385A213F7}" type="slidenum">
              <a:rPr lang="en-US" altLang="en-US"/>
              <a:pPr/>
              <a:t>9</a:t>
            </a:fld>
            <a:endParaRPr lang="en-US" altLang="en-US"/>
          </a:p>
        </p:txBody>
      </p:sp>
      <p:sp>
        <p:nvSpPr>
          <p:cNvPr id="745481" name="Rectangle 9"/>
          <p:cNvSpPr>
            <a:spLocks noGrp="1" noChangeArrowheads="1"/>
          </p:cNvSpPr>
          <p:nvPr>
            <p:ph type="title"/>
          </p:nvPr>
        </p:nvSpPr>
        <p:spPr>
          <a:noFill/>
          <a:ln/>
        </p:spPr>
        <p:txBody>
          <a:bodyPr/>
          <a:lstStyle/>
          <a:p>
            <a:r>
              <a:rPr lang="en-US" altLang="en-US" smtClean="0">
                <a:latin typeface="Arial" panose="020B0604020202020204" pitchFamily="34" charset="0"/>
              </a:rPr>
              <a:t>8.3</a:t>
            </a:r>
            <a:r>
              <a:rPr lang="en-US" altLang="en-US">
                <a:latin typeface="Arial" panose="020B0604020202020204" pitchFamily="34" charset="0"/>
              </a:rPr>
              <a:t>. Đường cong Bezier</a:t>
            </a:r>
          </a:p>
        </p:txBody>
      </p:sp>
      <p:sp>
        <p:nvSpPr>
          <p:cNvPr id="745482" name="Rectangle 10"/>
          <p:cNvSpPr>
            <a:spLocks noGrp="1" noChangeArrowheads="1"/>
          </p:cNvSpPr>
          <p:nvPr>
            <p:ph type="body" sz="half" idx="1"/>
          </p:nvPr>
        </p:nvSpPr>
        <p:spPr>
          <a:xfrm>
            <a:off x="1981200" y="1600201"/>
            <a:ext cx="8458200" cy="4530725"/>
          </a:xfrm>
          <a:noFill/>
          <a:ln/>
        </p:spPr>
        <p:txBody>
          <a:bodyPr/>
          <a:lstStyle/>
          <a:p>
            <a:pPr algn="just"/>
            <a:r>
              <a:rPr lang="en-US" altLang="en-US">
                <a:latin typeface="Arial" panose="020B0604020202020204" pitchFamily="34" charset="0"/>
              </a:rPr>
              <a:t>Định nghĩa</a:t>
            </a:r>
          </a:p>
          <a:p>
            <a:pPr lvl="1" algn="just"/>
            <a:r>
              <a:rPr lang="en-US" altLang="en-US">
                <a:latin typeface="Arial" panose="020B0604020202020204" pitchFamily="34" charset="0"/>
              </a:rPr>
              <a:t>Hàm S(t) được gọi là hàm dán bậc m trên đoạn          a= t</a:t>
            </a:r>
            <a:r>
              <a:rPr lang="en-US" altLang="en-US" baseline="-25000">
                <a:latin typeface="Arial" panose="020B0604020202020204" pitchFamily="34" charset="0"/>
              </a:rPr>
              <a:t>0</a:t>
            </a:r>
            <a:r>
              <a:rPr lang="en-US" altLang="en-US">
                <a:latin typeface="Arial" panose="020B0604020202020204" pitchFamily="34" charset="0"/>
              </a:rPr>
              <a:t>&lt;t</a:t>
            </a:r>
            <a:r>
              <a:rPr lang="en-US" altLang="en-US" baseline="-25000">
                <a:latin typeface="Arial" panose="020B0604020202020204" pitchFamily="34" charset="0"/>
              </a:rPr>
              <a:t>1</a:t>
            </a:r>
            <a:r>
              <a:rPr lang="en-US" altLang="en-US">
                <a:latin typeface="Arial" panose="020B0604020202020204" pitchFamily="34" charset="0"/>
              </a:rPr>
              <a:t>&lt;t</a:t>
            </a:r>
            <a:r>
              <a:rPr lang="en-US" altLang="en-US" baseline="-25000">
                <a:latin typeface="Arial" panose="020B0604020202020204" pitchFamily="34" charset="0"/>
              </a:rPr>
              <a:t>2</a:t>
            </a:r>
            <a:r>
              <a:rPr lang="en-US" altLang="en-US">
                <a:latin typeface="Arial" panose="020B0604020202020204" pitchFamily="34" charset="0"/>
              </a:rPr>
              <a:t>&lt;…&lt;t</a:t>
            </a:r>
            <a:r>
              <a:rPr lang="en-US" altLang="en-US" baseline="-25000">
                <a:latin typeface="Arial" panose="020B0604020202020204" pitchFamily="34" charset="0"/>
              </a:rPr>
              <a:t>n</a:t>
            </a:r>
            <a:r>
              <a:rPr lang="en-US" altLang="en-US">
                <a:latin typeface="Arial" panose="020B0604020202020204" pitchFamily="34" charset="0"/>
              </a:rPr>
              <a:t>=b nếu thỏa mãn các điều kiện sau</a:t>
            </a:r>
          </a:p>
          <a:p>
            <a:pPr lvl="2" algn="just"/>
            <a:r>
              <a:rPr lang="en-US" altLang="en-US">
                <a:latin typeface="Arial" panose="020B0604020202020204" pitchFamily="34" charset="0"/>
              </a:rPr>
              <a:t>Trong [t</a:t>
            </a:r>
            <a:r>
              <a:rPr lang="en-US" altLang="en-US" baseline="-25000">
                <a:latin typeface="Arial" panose="020B0604020202020204" pitchFamily="34" charset="0"/>
              </a:rPr>
              <a:t>i-1</a:t>
            </a:r>
            <a:r>
              <a:rPr lang="en-US" altLang="en-US">
                <a:latin typeface="Arial" panose="020B0604020202020204" pitchFamily="34" charset="0"/>
              </a:rPr>
              <a:t>&lt;t</a:t>
            </a:r>
            <a:r>
              <a:rPr lang="en-US" altLang="en-US" baseline="-25000">
                <a:latin typeface="Arial" panose="020B0604020202020204" pitchFamily="34" charset="0"/>
              </a:rPr>
              <a:t>i</a:t>
            </a:r>
            <a:r>
              <a:rPr lang="en-US" altLang="en-US">
                <a:latin typeface="Arial" panose="020B0604020202020204" pitchFamily="34" charset="0"/>
              </a:rPr>
              <a:t>], i =1,n thì S là một đa thức bậc không lớn hơn m</a:t>
            </a:r>
          </a:p>
          <a:p>
            <a:pPr lvl="2" algn="just"/>
            <a:r>
              <a:rPr lang="en-US" altLang="en-US">
                <a:latin typeface="Arial" panose="020B0604020202020204" pitchFamily="34" charset="0"/>
              </a:rPr>
              <a:t>Trên toàn [a,b] hàm S có đạo hàm cấp 1,2,…,m-1 liên tục</a:t>
            </a:r>
            <a:endParaRPr lang="en-US" altLang="en-US" sz="4000">
              <a:latin typeface="Arial" panose="020B0604020202020204" pitchFamily="34" charset="0"/>
            </a:endParaRPr>
          </a:p>
        </p:txBody>
      </p:sp>
      <p:sp>
        <p:nvSpPr>
          <p:cNvPr id="745483" name="Line 11"/>
          <p:cNvSpPr>
            <a:spLocks noChangeShapeType="1"/>
          </p:cNvSpPr>
          <p:nvPr/>
        </p:nvSpPr>
        <p:spPr bwMode="auto">
          <a:xfrm>
            <a:off x="5791200" y="2971800"/>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773092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7"/>
          <p:cNvSpPr>
            <a:spLocks noGrp="1"/>
          </p:cNvSpPr>
          <p:nvPr>
            <p:ph type="sldNum" sz="quarter" idx="12"/>
          </p:nvPr>
        </p:nvSpPr>
        <p:spPr/>
        <p:txBody>
          <a:bodyPr/>
          <a:lstStyle/>
          <a:p>
            <a:fld id="{12B5CC12-8E58-421C-8164-847DFFA745D1}" type="slidenum">
              <a:rPr lang="en-US" altLang="en-US"/>
              <a:pPr/>
              <a:t>10</a:t>
            </a:fld>
            <a:endParaRPr lang="en-US" altLang="en-US"/>
          </a:p>
        </p:txBody>
      </p:sp>
      <p:sp>
        <p:nvSpPr>
          <p:cNvPr id="744452" name="Rectangle 4"/>
          <p:cNvSpPr>
            <a:spLocks noGrp="1" noChangeArrowheads="1"/>
          </p:cNvSpPr>
          <p:nvPr>
            <p:ph type="title"/>
          </p:nvPr>
        </p:nvSpPr>
        <p:spPr>
          <a:noFill/>
          <a:ln/>
        </p:spPr>
        <p:txBody>
          <a:bodyPr/>
          <a:lstStyle/>
          <a:p>
            <a:r>
              <a:rPr lang="en-US" altLang="en-US" smtClean="0">
                <a:latin typeface="Arial" panose="020B0604020202020204" pitchFamily="34" charset="0"/>
              </a:rPr>
              <a:t>8.3</a:t>
            </a:r>
            <a:r>
              <a:rPr lang="en-US" altLang="en-US">
                <a:latin typeface="Arial" panose="020B0604020202020204" pitchFamily="34" charset="0"/>
              </a:rPr>
              <a:t>. Đường cong Bezier</a:t>
            </a:r>
          </a:p>
        </p:txBody>
      </p:sp>
      <p:sp>
        <p:nvSpPr>
          <p:cNvPr id="744453" name="Rectangle 5"/>
          <p:cNvSpPr>
            <a:spLocks noGrp="1" noChangeArrowheads="1"/>
          </p:cNvSpPr>
          <p:nvPr>
            <p:ph type="body" sz="half" idx="1"/>
          </p:nvPr>
        </p:nvSpPr>
        <p:spPr>
          <a:xfrm>
            <a:off x="1905000" y="1676401"/>
            <a:ext cx="8458200" cy="4530725"/>
          </a:xfrm>
          <a:noFill/>
          <a:ln/>
        </p:spPr>
        <p:txBody>
          <a:bodyPr/>
          <a:lstStyle/>
          <a:p>
            <a:r>
              <a:rPr lang="en-US" altLang="en-US">
                <a:latin typeface="Arial" panose="020B0604020202020204" pitchFamily="34" charset="0"/>
              </a:rPr>
              <a:t>Đường cong dạng Bezier</a:t>
            </a:r>
          </a:p>
          <a:p>
            <a:pPr lvl="1"/>
            <a:r>
              <a:rPr lang="en-US" altLang="en-US">
                <a:latin typeface="Arial" panose="020B0604020202020204" pitchFamily="34" charset="0"/>
              </a:rPr>
              <a:t>Đường cong Bezier bậc m là đường cong cho dưới dạng</a:t>
            </a:r>
          </a:p>
          <a:p>
            <a:pPr lvl="1">
              <a:buFont typeface="Wingdings" panose="05000000000000000000" pitchFamily="2" charset="2"/>
              <a:buNone/>
            </a:pPr>
            <a:r>
              <a:rPr lang="en-US" altLang="en-US">
                <a:latin typeface="Arial" panose="020B0604020202020204" pitchFamily="34" charset="0"/>
              </a:rPr>
              <a:t>		</a:t>
            </a:r>
          </a:p>
          <a:p>
            <a:pPr lvl="1">
              <a:buFont typeface="Wingdings" panose="05000000000000000000" pitchFamily="2" charset="2"/>
              <a:buNone/>
            </a:pPr>
            <a:r>
              <a:rPr lang="en-US" altLang="en-US">
                <a:latin typeface="Arial" panose="020B0604020202020204" pitchFamily="34" charset="0"/>
              </a:rPr>
              <a:t>	</a:t>
            </a:r>
            <a:r>
              <a:rPr lang="en-US" altLang="en-US">
                <a:latin typeface="Arial" panose="020B0604020202020204" pitchFamily="34" charset="0"/>
              </a:rPr>
              <a:t>	</a:t>
            </a:r>
            <a:endParaRPr lang="en-US" altLang="en-US" smtClean="0">
              <a:latin typeface="Arial" panose="020B0604020202020204" pitchFamily="34" charset="0"/>
            </a:endParaRPr>
          </a:p>
          <a:p>
            <a:pPr lvl="1">
              <a:buFont typeface="Wingdings" panose="05000000000000000000" pitchFamily="2" charset="2"/>
              <a:buNone/>
            </a:pPr>
            <a:r>
              <a:rPr lang="en-US" altLang="en-US" smtClean="0">
                <a:latin typeface="Arial" panose="020B0604020202020204" pitchFamily="34" charset="0"/>
              </a:rPr>
              <a:t>với </a:t>
            </a:r>
            <a:r>
              <a:rPr lang="en-US" altLang="en-US">
                <a:latin typeface="Arial" panose="020B0604020202020204" pitchFamily="34" charset="0"/>
              </a:rPr>
              <a:t>u </a:t>
            </a:r>
            <a:r>
              <a:rPr lang="ru-RU" altLang="en-US">
                <a:latin typeface="Arial" panose="020B0604020202020204" pitchFamily="34" charset="0"/>
                <a:cs typeface="Arial" panose="020B0604020202020204" pitchFamily="34" charset="0"/>
              </a:rPr>
              <a:t>Є</a:t>
            </a:r>
            <a:r>
              <a:rPr lang="en-US" altLang="en-US">
                <a:latin typeface="Arial" panose="020B0604020202020204" pitchFamily="34" charset="0"/>
              </a:rPr>
              <a:t>[0,1], t=t</a:t>
            </a:r>
            <a:r>
              <a:rPr lang="en-US" altLang="en-US" baseline="-25000">
                <a:latin typeface="Arial" panose="020B0604020202020204" pitchFamily="34" charset="0"/>
              </a:rPr>
              <a:t>0</a:t>
            </a:r>
            <a:r>
              <a:rPr lang="en-US" altLang="en-US">
                <a:latin typeface="Arial" panose="020B0604020202020204" pitchFamily="34" charset="0"/>
              </a:rPr>
              <a:t> + u(t</a:t>
            </a:r>
            <a:r>
              <a:rPr lang="en-US" altLang="en-US" baseline="-25000">
                <a:latin typeface="Arial" panose="020B0604020202020204" pitchFamily="34" charset="0"/>
              </a:rPr>
              <a:t>1</a:t>
            </a:r>
            <a:r>
              <a:rPr lang="en-US" altLang="en-US">
                <a:latin typeface="Arial" panose="020B0604020202020204" pitchFamily="34" charset="0"/>
              </a:rPr>
              <a:t>-t</a:t>
            </a:r>
            <a:r>
              <a:rPr lang="en-US" altLang="en-US" baseline="-25000">
                <a:latin typeface="Arial" panose="020B0604020202020204" pitchFamily="34" charset="0"/>
              </a:rPr>
              <a:t>0</a:t>
            </a:r>
            <a:r>
              <a:rPr lang="en-US" altLang="en-US">
                <a:latin typeface="Arial" panose="020B0604020202020204" pitchFamily="34" charset="0"/>
              </a:rPr>
              <a:t>) t </a:t>
            </a:r>
            <a:r>
              <a:rPr lang="ru-RU" altLang="en-US">
                <a:latin typeface="Arial" panose="020B0604020202020204" pitchFamily="34" charset="0"/>
                <a:cs typeface="Arial" panose="020B0604020202020204" pitchFamily="34" charset="0"/>
              </a:rPr>
              <a:t>Є</a:t>
            </a:r>
            <a:r>
              <a:rPr lang="en-US" altLang="en-US">
                <a:latin typeface="Arial" panose="020B0604020202020204" pitchFamily="34" charset="0"/>
              </a:rPr>
              <a:t>[t</a:t>
            </a:r>
            <a:r>
              <a:rPr lang="en-US" altLang="en-US" baseline="-25000">
                <a:latin typeface="Arial" panose="020B0604020202020204" pitchFamily="34" charset="0"/>
              </a:rPr>
              <a:t>0</a:t>
            </a:r>
            <a:r>
              <a:rPr lang="en-US" altLang="en-US">
                <a:latin typeface="Arial" panose="020B0604020202020204" pitchFamily="34" charset="0"/>
              </a:rPr>
              <a:t>,t</a:t>
            </a:r>
            <a:r>
              <a:rPr lang="en-US" altLang="en-US" baseline="-25000">
                <a:latin typeface="Arial" panose="020B0604020202020204" pitchFamily="34" charset="0"/>
              </a:rPr>
              <a:t>1</a:t>
            </a:r>
            <a:r>
              <a:rPr lang="en-US" altLang="en-US">
                <a:latin typeface="Arial" panose="020B0604020202020204" pitchFamily="34" charset="0"/>
              </a:rPr>
              <a:t>]</a:t>
            </a:r>
          </a:p>
          <a:p>
            <a:pPr lvl="1">
              <a:buFont typeface="Wingdings" panose="05000000000000000000" pitchFamily="2" charset="2"/>
              <a:buNone/>
            </a:pPr>
            <a:r>
              <a:rPr lang="en-US" altLang="en-US">
                <a:latin typeface="Arial" panose="020B0604020202020204" pitchFamily="34" charset="0"/>
              </a:rPr>
              <a:t>			là đa thức Berstein bậc m có dạng</a:t>
            </a:r>
          </a:p>
          <a:p>
            <a:pPr lvl="1">
              <a:buFont typeface="Wingdings" panose="05000000000000000000" pitchFamily="2" charset="2"/>
              <a:buNone/>
            </a:pPr>
            <a:r>
              <a:rPr lang="en-US" altLang="en-US">
                <a:latin typeface="Arial" panose="020B0604020202020204" pitchFamily="34" charset="0"/>
              </a:rPr>
              <a:t>		</a:t>
            </a:r>
          </a:p>
        </p:txBody>
      </p:sp>
      <p:graphicFrame>
        <p:nvGraphicFramePr>
          <p:cNvPr id="744454" name="Object 6"/>
          <p:cNvGraphicFramePr>
            <a:graphicFrameLocks noChangeAspect="1"/>
          </p:cNvGraphicFramePr>
          <p:nvPr>
            <p:ph sz="quarter" idx="2"/>
            <p:extLst>
              <p:ext uri="{D42A27DB-BD31-4B8C-83A1-F6EECF244321}">
                <p14:modId xmlns:p14="http://schemas.microsoft.com/office/powerpoint/2010/main" val="189340567"/>
              </p:ext>
            </p:extLst>
          </p:nvPr>
        </p:nvGraphicFramePr>
        <p:xfrm>
          <a:off x="4802909" y="3299620"/>
          <a:ext cx="2362200" cy="914400"/>
        </p:xfrm>
        <a:graphic>
          <a:graphicData uri="http://schemas.openxmlformats.org/presentationml/2006/ole">
            <mc:AlternateContent xmlns:mc="http://schemas.openxmlformats.org/markup-compatibility/2006">
              <mc:Choice xmlns:v="urn:schemas-microsoft-com:vml" Requires="v">
                <p:oleObj spid="_x0000_s2050" name="Equation" r:id="rId3" imgW="1117440" imgH="431640" progId="Equation.3">
                  <p:embed/>
                </p:oleObj>
              </mc:Choice>
              <mc:Fallback>
                <p:oleObj name="Equation" r:id="rId3" imgW="1117440" imgH="431640" progId="Equation.3">
                  <p:embed/>
                  <p:pic>
                    <p:nvPicPr>
                      <p:cNvPr id="74445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2909" y="3299620"/>
                        <a:ext cx="2362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4459" name="Object 11"/>
          <p:cNvGraphicFramePr>
            <a:graphicFrameLocks noChangeAspect="1"/>
          </p:cNvGraphicFramePr>
          <p:nvPr>
            <p:ph sz="quarter" idx="3"/>
            <p:extLst>
              <p:ext uri="{D42A27DB-BD31-4B8C-83A1-F6EECF244321}">
                <p14:modId xmlns:p14="http://schemas.microsoft.com/office/powerpoint/2010/main" val="2542654950"/>
              </p:ext>
            </p:extLst>
          </p:nvPr>
        </p:nvGraphicFramePr>
        <p:xfrm>
          <a:off x="2373746" y="4555766"/>
          <a:ext cx="919163" cy="546100"/>
        </p:xfrm>
        <a:graphic>
          <a:graphicData uri="http://schemas.openxmlformats.org/presentationml/2006/ole">
            <mc:AlternateContent xmlns:mc="http://schemas.openxmlformats.org/markup-compatibility/2006">
              <mc:Choice xmlns:v="urn:schemas-microsoft-com:vml" Requires="v">
                <p:oleObj spid="_x0000_s2051" name="Equation" r:id="rId5" imgW="406080" imgH="241200" progId="Equation.3">
                  <p:embed/>
                </p:oleObj>
              </mc:Choice>
              <mc:Fallback>
                <p:oleObj name="Equation" r:id="rId5" imgW="406080" imgH="241200" progId="Equation.3">
                  <p:embed/>
                  <p:pic>
                    <p:nvPicPr>
                      <p:cNvPr id="744459"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3746" y="4555766"/>
                        <a:ext cx="919163"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4463" name="Object 15"/>
          <p:cNvGraphicFramePr>
            <a:graphicFrameLocks noChangeAspect="1"/>
          </p:cNvGraphicFramePr>
          <p:nvPr>
            <p:extLst>
              <p:ext uri="{D42A27DB-BD31-4B8C-83A1-F6EECF244321}">
                <p14:modId xmlns:p14="http://schemas.microsoft.com/office/powerpoint/2010/main" val="3997724164"/>
              </p:ext>
            </p:extLst>
          </p:nvPr>
        </p:nvGraphicFramePr>
        <p:xfrm>
          <a:off x="3913909" y="4999182"/>
          <a:ext cx="3810000" cy="658813"/>
        </p:xfrm>
        <a:graphic>
          <a:graphicData uri="http://schemas.openxmlformats.org/presentationml/2006/ole">
            <mc:AlternateContent xmlns:mc="http://schemas.openxmlformats.org/markup-compatibility/2006">
              <mc:Choice xmlns:v="urn:schemas-microsoft-com:vml" Requires="v">
                <p:oleObj spid="_x0000_s2052" name="Equation" r:id="rId7" imgW="1396800" imgH="241200" progId="Equation.3">
                  <p:embed/>
                </p:oleObj>
              </mc:Choice>
              <mc:Fallback>
                <p:oleObj name="Equation" r:id="rId7" imgW="1396800" imgH="241200" progId="Equation.3">
                  <p:embed/>
                  <p:pic>
                    <p:nvPicPr>
                      <p:cNvPr id="744463"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13909" y="4999182"/>
                        <a:ext cx="3810000" cy="658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7806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7"/>
          <p:cNvSpPr>
            <a:spLocks noGrp="1"/>
          </p:cNvSpPr>
          <p:nvPr>
            <p:ph type="sldNum" sz="quarter" idx="12"/>
          </p:nvPr>
        </p:nvSpPr>
        <p:spPr/>
        <p:txBody>
          <a:bodyPr/>
          <a:lstStyle/>
          <a:p>
            <a:fld id="{0C668245-9553-404F-AEC1-1757975AA8E1}" type="slidenum">
              <a:rPr lang="en-US" altLang="en-US"/>
              <a:pPr/>
              <a:t>11</a:t>
            </a:fld>
            <a:endParaRPr lang="en-US" altLang="en-US"/>
          </a:p>
        </p:txBody>
      </p:sp>
      <p:sp>
        <p:nvSpPr>
          <p:cNvPr id="743428" name="Rectangle 4"/>
          <p:cNvSpPr>
            <a:spLocks noGrp="1" noChangeArrowheads="1"/>
          </p:cNvSpPr>
          <p:nvPr>
            <p:ph type="title"/>
          </p:nvPr>
        </p:nvSpPr>
        <p:spPr>
          <a:noFill/>
          <a:ln/>
        </p:spPr>
        <p:txBody>
          <a:bodyPr/>
          <a:lstStyle/>
          <a:p>
            <a:r>
              <a:rPr lang="en-US" altLang="en-US" smtClean="0">
                <a:latin typeface="Arial" panose="020B0604020202020204" pitchFamily="34" charset="0"/>
              </a:rPr>
              <a:t>8.3</a:t>
            </a:r>
            <a:r>
              <a:rPr lang="en-US" altLang="en-US">
                <a:latin typeface="Arial" panose="020B0604020202020204" pitchFamily="34" charset="0"/>
              </a:rPr>
              <a:t>. Đường cong Bezier</a:t>
            </a:r>
          </a:p>
        </p:txBody>
      </p:sp>
      <p:sp>
        <p:nvSpPr>
          <p:cNvPr id="743429" name="Rectangle 5"/>
          <p:cNvSpPr>
            <a:spLocks noGrp="1" noChangeArrowheads="1"/>
          </p:cNvSpPr>
          <p:nvPr>
            <p:ph type="body" sz="half" idx="1"/>
          </p:nvPr>
        </p:nvSpPr>
        <p:spPr>
          <a:xfrm>
            <a:off x="1981200" y="1600200"/>
            <a:ext cx="8458200" cy="4648200"/>
          </a:xfrm>
          <a:noFill/>
          <a:ln/>
        </p:spPr>
        <p:txBody>
          <a:bodyPr/>
          <a:lstStyle/>
          <a:p>
            <a:r>
              <a:rPr lang="en-US" altLang="en-US">
                <a:latin typeface="Arial" panose="020B0604020202020204" pitchFamily="34" charset="0"/>
              </a:rPr>
              <a:t>Các tính chất của đa thức Berstein</a:t>
            </a:r>
          </a:p>
          <a:p>
            <a:pPr lvl="1"/>
            <a:r>
              <a:rPr lang="en-US" altLang="en-US">
                <a:latin typeface="Arial" panose="020B0604020202020204" pitchFamily="34" charset="0"/>
              </a:rPr>
              <a:t>                      (quy ước)</a:t>
            </a:r>
          </a:p>
          <a:p>
            <a:pPr lvl="1"/>
            <a:r>
              <a:rPr lang="en-US" altLang="en-US">
                <a:latin typeface="Arial" panose="020B0604020202020204" pitchFamily="34" charset="0"/>
              </a:rPr>
              <a:t>                    i = 1,m</a:t>
            </a:r>
          </a:p>
          <a:p>
            <a:pPr lvl="1"/>
            <a:r>
              <a:rPr lang="en-US" altLang="en-US">
                <a:latin typeface="Arial" panose="020B0604020202020204" pitchFamily="34" charset="0"/>
              </a:rPr>
              <a:t>                    i=0,m-1 và </a:t>
            </a:r>
          </a:p>
          <a:p>
            <a:pPr lvl="1"/>
            <a:r>
              <a:rPr lang="en-US" altLang="en-US">
                <a:latin typeface="Arial" panose="020B0604020202020204" pitchFamily="34" charset="0"/>
              </a:rPr>
              <a:t> </a:t>
            </a:r>
          </a:p>
          <a:p>
            <a:pPr lvl="1"/>
            <a:r>
              <a:rPr lang="en-US" altLang="en-US">
                <a:latin typeface="Arial" panose="020B0604020202020204" pitchFamily="34" charset="0"/>
              </a:rPr>
              <a:t>  </a:t>
            </a:r>
          </a:p>
          <a:p>
            <a:pPr lvl="1">
              <a:buFont typeface="Wingdings" panose="05000000000000000000" pitchFamily="2" charset="2"/>
              <a:buNone/>
            </a:pPr>
            <a:endParaRPr lang="en-US" altLang="en-US">
              <a:latin typeface="Arial" panose="020B0604020202020204" pitchFamily="34" charset="0"/>
            </a:endParaRPr>
          </a:p>
          <a:p>
            <a:pPr lvl="1"/>
            <a:r>
              <a:rPr lang="en-US" altLang="en-US">
                <a:latin typeface="Arial" panose="020B0604020202020204" pitchFamily="34" charset="0"/>
              </a:rPr>
              <a:t>Hàm                và                     cắt nhau tại (i+1)/(m+1)</a:t>
            </a:r>
          </a:p>
          <a:p>
            <a:pPr lvl="1"/>
            <a:r>
              <a:rPr lang="en-US" altLang="en-US">
                <a:latin typeface="Arial" panose="020B0604020202020204" pitchFamily="34" charset="0"/>
              </a:rPr>
              <a:t>Hàm                và                      đối xứng qua trục u=0.5 </a:t>
            </a:r>
          </a:p>
          <a:p>
            <a:endParaRPr lang="en-US" altLang="en-US">
              <a:latin typeface="Arial" panose="020B0604020202020204" pitchFamily="34" charset="0"/>
            </a:endParaRPr>
          </a:p>
        </p:txBody>
      </p:sp>
      <p:graphicFrame>
        <p:nvGraphicFramePr>
          <p:cNvPr id="743433" name="Object 9"/>
          <p:cNvGraphicFramePr>
            <a:graphicFrameLocks noChangeAspect="1"/>
          </p:cNvGraphicFramePr>
          <p:nvPr>
            <p:ph sz="quarter" idx="2"/>
          </p:nvPr>
        </p:nvGraphicFramePr>
        <p:xfrm>
          <a:off x="2819400" y="2133600"/>
          <a:ext cx="1143000" cy="452438"/>
        </p:xfrm>
        <a:graphic>
          <a:graphicData uri="http://schemas.openxmlformats.org/presentationml/2006/ole">
            <mc:AlternateContent xmlns:mc="http://schemas.openxmlformats.org/markup-compatibility/2006">
              <mc:Choice xmlns:v="urn:schemas-microsoft-com:vml" Requires="v">
                <p:oleObj spid="_x0000_s3074" name="Equation" r:id="rId3" imgW="609480" imgH="241200" progId="Equation.3">
                  <p:embed/>
                </p:oleObj>
              </mc:Choice>
              <mc:Fallback>
                <p:oleObj name="Equation" r:id="rId3" imgW="609480" imgH="241200" progId="Equation.3">
                  <p:embed/>
                  <p:pic>
                    <p:nvPicPr>
                      <p:cNvPr id="743433"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2133600"/>
                        <a:ext cx="1143000"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3435" name="Object 11"/>
          <p:cNvGraphicFramePr>
            <a:graphicFrameLocks noChangeAspect="1"/>
          </p:cNvGraphicFramePr>
          <p:nvPr>
            <p:ph sz="quarter" idx="3"/>
          </p:nvPr>
        </p:nvGraphicFramePr>
        <p:xfrm>
          <a:off x="2743200" y="2590800"/>
          <a:ext cx="1219200" cy="463550"/>
        </p:xfrm>
        <a:graphic>
          <a:graphicData uri="http://schemas.openxmlformats.org/presentationml/2006/ole">
            <mc:AlternateContent xmlns:mc="http://schemas.openxmlformats.org/markup-compatibility/2006">
              <mc:Choice xmlns:v="urn:schemas-microsoft-com:vml" Requires="v">
                <p:oleObj spid="_x0000_s3075" name="Equation" r:id="rId5" imgW="634680" imgH="241200" progId="Equation.3">
                  <p:embed/>
                </p:oleObj>
              </mc:Choice>
              <mc:Fallback>
                <p:oleObj name="Equation" r:id="rId5" imgW="634680" imgH="241200" progId="Equation.3">
                  <p:embed/>
                  <p:pic>
                    <p:nvPicPr>
                      <p:cNvPr id="743435"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200" y="2590800"/>
                        <a:ext cx="12192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3437" name="Object 13"/>
          <p:cNvGraphicFramePr>
            <a:graphicFrameLocks noChangeAspect="1"/>
          </p:cNvGraphicFramePr>
          <p:nvPr/>
        </p:nvGraphicFramePr>
        <p:xfrm>
          <a:off x="2819400" y="3048001"/>
          <a:ext cx="1143000" cy="454025"/>
        </p:xfrm>
        <a:graphic>
          <a:graphicData uri="http://schemas.openxmlformats.org/presentationml/2006/ole">
            <mc:AlternateContent xmlns:mc="http://schemas.openxmlformats.org/markup-compatibility/2006">
              <mc:Choice xmlns:v="urn:schemas-microsoft-com:vml" Requires="v">
                <p:oleObj spid="_x0000_s3076" name="Equation" r:id="rId7" imgW="609480" imgH="241200" progId="Equation.3">
                  <p:embed/>
                </p:oleObj>
              </mc:Choice>
              <mc:Fallback>
                <p:oleObj name="Equation" r:id="rId7" imgW="609480" imgH="241200" progId="Equation.3">
                  <p:embed/>
                  <p:pic>
                    <p:nvPicPr>
                      <p:cNvPr id="743437"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9400" y="3048001"/>
                        <a:ext cx="1143000"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3438" name="Object 14"/>
          <p:cNvGraphicFramePr>
            <a:graphicFrameLocks noChangeAspect="1"/>
          </p:cNvGraphicFramePr>
          <p:nvPr/>
        </p:nvGraphicFramePr>
        <p:xfrm>
          <a:off x="2819400" y="3505200"/>
          <a:ext cx="3810000" cy="452438"/>
        </p:xfrm>
        <a:graphic>
          <a:graphicData uri="http://schemas.openxmlformats.org/presentationml/2006/ole">
            <mc:AlternateContent xmlns:mc="http://schemas.openxmlformats.org/markup-compatibility/2006">
              <mc:Choice xmlns:v="urn:schemas-microsoft-com:vml" Requires="v">
                <p:oleObj spid="_x0000_s3077" name="Equation" r:id="rId9" imgW="2031840" imgH="241200" progId="Equation.3">
                  <p:embed/>
                </p:oleObj>
              </mc:Choice>
              <mc:Fallback>
                <p:oleObj name="Equation" r:id="rId9" imgW="2031840" imgH="241200" progId="Equation.3">
                  <p:embed/>
                  <p:pic>
                    <p:nvPicPr>
                      <p:cNvPr id="743438"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9400" y="3505200"/>
                        <a:ext cx="3810000"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3439" name="Object 15"/>
          <p:cNvGraphicFramePr>
            <a:graphicFrameLocks noChangeAspect="1"/>
          </p:cNvGraphicFramePr>
          <p:nvPr/>
        </p:nvGraphicFramePr>
        <p:xfrm>
          <a:off x="2743200" y="3778250"/>
          <a:ext cx="1447800" cy="793750"/>
        </p:xfrm>
        <a:graphic>
          <a:graphicData uri="http://schemas.openxmlformats.org/presentationml/2006/ole">
            <mc:AlternateContent xmlns:mc="http://schemas.openxmlformats.org/markup-compatibility/2006">
              <mc:Choice xmlns:v="urn:schemas-microsoft-com:vml" Requires="v">
                <p:oleObj spid="_x0000_s3078" name="Equation" r:id="rId11" imgW="787320" imgH="431640" progId="Equation.3">
                  <p:embed/>
                </p:oleObj>
              </mc:Choice>
              <mc:Fallback>
                <p:oleObj name="Equation" r:id="rId11" imgW="787320" imgH="431640" progId="Equation.3">
                  <p:embed/>
                  <p:pic>
                    <p:nvPicPr>
                      <p:cNvPr id="743439"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43200" y="3778250"/>
                        <a:ext cx="1447800" cy="793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3440" name="Object 16"/>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3079" name="Equation" r:id="rId13" imgW="114120" imgH="215640" progId="Equation.3">
                  <p:embed/>
                </p:oleObj>
              </mc:Choice>
              <mc:Fallback>
                <p:oleObj name="Equation" r:id="rId13" imgW="114120" imgH="215640" progId="Equation.3">
                  <p:embed/>
                  <p:pic>
                    <p:nvPicPr>
                      <p:cNvPr id="74344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3441" name="Object 17"/>
          <p:cNvGraphicFramePr>
            <a:graphicFrameLocks noChangeAspect="1"/>
          </p:cNvGraphicFramePr>
          <p:nvPr/>
        </p:nvGraphicFramePr>
        <p:xfrm>
          <a:off x="3481389" y="4724401"/>
          <a:ext cx="1190625" cy="454025"/>
        </p:xfrm>
        <a:graphic>
          <a:graphicData uri="http://schemas.openxmlformats.org/presentationml/2006/ole">
            <mc:AlternateContent xmlns:mc="http://schemas.openxmlformats.org/markup-compatibility/2006">
              <mc:Choice xmlns:v="urn:schemas-microsoft-com:vml" Requires="v">
                <p:oleObj spid="_x0000_s3080" name="Equation" r:id="rId15" imgW="634680" imgH="241200" progId="Equation.3">
                  <p:embed/>
                </p:oleObj>
              </mc:Choice>
              <mc:Fallback>
                <p:oleObj name="Equation" r:id="rId15" imgW="634680" imgH="241200" progId="Equation.3">
                  <p:embed/>
                  <p:pic>
                    <p:nvPicPr>
                      <p:cNvPr id="743441"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81389" y="4724401"/>
                        <a:ext cx="1190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3442" name="Object 18"/>
          <p:cNvGraphicFramePr>
            <a:graphicFrameLocks noChangeAspect="1"/>
          </p:cNvGraphicFramePr>
          <p:nvPr/>
        </p:nvGraphicFramePr>
        <p:xfrm>
          <a:off x="5334000" y="4724401"/>
          <a:ext cx="1309688" cy="454025"/>
        </p:xfrm>
        <a:graphic>
          <a:graphicData uri="http://schemas.openxmlformats.org/presentationml/2006/ole">
            <mc:AlternateContent xmlns:mc="http://schemas.openxmlformats.org/markup-compatibility/2006">
              <mc:Choice xmlns:v="urn:schemas-microsoft-com:vml" Requires="v">
                <p:oleObj spid="_x0000_s3081" name="Equation" r:id="rId17" imgW="698400" imgH="241200" progId="Equation.3">
                  <p:embed/>
                </p:oleObj>
              </mc:Choice>
              <mc:Fallback>
                <p:oleObj name="Equation" r:id="rId17" imgW="698400" imgH="241200" progId="Equation.3">
                  <p:embed/>
                  <p:pic>
                    <p:nvPicPr>
                      <p:cNvPr id="743442"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34000" y="4724401"/>
                        <a:ext cx="1309688"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3443" name="Object 19"/>
          <p:cNvGraphicFramePr>
            <a:graphicFrameLocks noChangeAspect="1"/>
          </p:cNvGraphicFramePr>
          <p:nvPr/>
        </p:nvGraphicFramePr>
        <p:xfrm>
          <a:off x="3533776" y="5184776"/>
          <a:ext cx="1190625" cy="454025"/>
        </p:xfrm>
        <a:graphic>
          <a:graphicData uri="http://schemas.openxmlformats.org/presentationml/2006/ole">
            <mc:AlternateContent xmlns:mc="http://schemas.openxmlformats.org/markup-compatibility/2006">
              <mc:Choice xmlns:v="urn:schemas-microsoft-com:vml" Requires="v">
                <p:oleObj spid="_x0000_s3082" name="Equation" r:id="rId19" imgW="634680" imgH="241200" progId="Equation.3">
                  <p:embed/>
                </p:oleObj>
              </mc:Choice>
              <mc:Fallback>
                <p:oleObj name="Equation" r:id="rId19" imgW="634680" imgH="241200" progId="Equation.3">
                  <p:embed/>
                  <p:pic>
                    <p:nvPicPr>
                      <p:cNvPr id="743443" name="Object 1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533776" y="5184776"/>
                        <a:ext cx="1190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3444" name="Object 20"/>
          <p:cNvGraphicFramePr>
            <a:graphicFrameLocks noChangeAspect="1"/>
          </p:cNvGraphicFramePr>
          <p:nvPr/>
        </p:nvGraphicFramePr>
        <p:xfrm>
          <a:off x="5195888" y="5181601"/>
          <a:ext cx="1524000" cy="454025"/>
        </p:xfrm>
        <a:graphic>
          <a:graphicData uri="http://schemas.openxmlformats.org/presentationml/2006/ole">
            <mc:AlternateContent xmlns:mc="http://schemas.openxmlformats.org/markup-compatibility/2006">
              <mc:Choice xmlns:v="urn:schemas-microsoft-com:vml" Requires="v">
                <p:oleObj spid="_x0000_s3083" name="Equation" r:id="rId21" imgW="812520" imgH="241200" progId="Equation.3">
                  <p:embed/>
                </p:oleObj>
              </mc:Choice>
              <mc:Fallback>
                <p:oleObj name="Equation" r:id="rId21" imgW="812520" imgH="241200" progId="Equation.3">
                  <p:embed/>
                  <p:pic>
                    <p:nvPicPr>
                      <p:cNvPr id="743444" name="Object 2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95888" y="5181601"/>
                        <a:ext cx="1524000"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3445" name="Object 21"/>
          <p:cNvGraphicFramePr>
            <a:graphicFrameLocks noChangeAspect="1"/>
          </p:cNvGraphicFramePr>
          <p:nvPr/>
        </p:nvGraphicFramePr>
        <p:xfrm>
          <a:off x="6107114" y="2971801"/>
          <a:ext cx="1119187" cy="454025"/>
        </p:xfrm>
        <a:graphic>
          <a:graphicData uri="http://schemas.openxmlformats.org/presentationml/2006/ole">
            <mc:AlternateContent xmlns:mc="http://schemas.openxmlformats.org/markup-compatibility/2006">
              <mc:Choice xmlns:v="urn:schemas-microsoft-com:vml" Requires="v">
                <p:oleObj spid="_x0000_s3084" name="Equation" r:id="rId23" imgW="596880" imgH="241200" progId="Equation.3">
                  <p:embed/>
                </p:oleObj>
              </mc:Choice>
              <mc:Fallback>
                <p:oleObj name="Equation" r:id="rId23" imgW="596880" imgH="241200" progId="Equation.3">
                  <p:embed/>
                  <p:pic>
                    <p:nvPicPr>
                      <p:cNvPr id="743445" name="Object 2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107114" y="2971801"/>
                        <a:ext cx="1119187"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3446" name="Line 22"/>
          <p:cNvSpPr>
            <a:spLocks noChangeShapeType="1"/>
          </p:cNvSpPr>
          <p:nvPr/>
        </p:nvSpPr>
        <p:spPr bwMode="auto">
          <a:xfrm>
            <a:off x="4953000" y="25908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3447" name="Line 23"/>
          <p:cNvSpPr>
            <a:spLocks noChangeShapeType="1"/>
          </p:cNvSpPr>
          <p:nvPr/>
        </p:nvSpPr>
        <p:spPr bwMode="auto">
          <a:xfrm>
            <a:off x="4724400" y="3048000"/>
            <a:ext cx="838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647629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7"/>
          <p:cNvSpPr>
            <a:spLocks noGrp="1"/>
          </p:cNvSpPr>
          <p:nvPr>
            <p:ph type="sldNum" sz="quarter" idx="12"/>
          </p:nvPr>
        </p:nvSpPr>
        <p:spPr/>
        <p:txBody>
          <a:bodyPr/>
          <a:lstStyle/>
          <a:p>
            <a:fld id="{809B27D9-E658-4128-9C24-3FDE7F335964}" type="slidenum">
              <a:rPr lang="en-US" altLang="en-US"/>
              <a:pPr/>
              <a:t>12</a:t>
            </a:fld>
            <a:endParaRPr lang="en-US" altLang="en-US"/>
          </a:p>
        </p:txBody>
      </p:sp>
      <p:sp>
        <p:nvSpPr>
          <p:cNvPr id="752644" name="Rectangle 4"/>
          <p:cNvSpPr>
            <a:spLocks noGrp="1" noChangeArrowheads="1"/>
          </p:cNvSpPr>
          <p:nvPr>
            <p:ph type="title"/>
          </p:nvPr>
        </p:nvSpPr>
        <p:spPr>
          <a:noFill/>
          <a:ln/>
        </p:spPr>
        <p:txBody>
          <a:bodyPr/>
          <a:lstStyle/>
          <a:p>
            <a:r>
              <a:rPr lang="en-US" altLang="en-US" smtClean="0">
                <a:latin typeface="Arial" panose="020B0604020202020204" pitchFamily="34" charset="0"/>
              </a:rPr>
              <a:t>8.3</a:t>
            </a:r>
            <a:r>
              <a:rPr lang="en-US" altLang="en-US">
                <a:latin typeface="Arial" panose="020B0604020202020204" pitchFamily="34" charset="0"/>
              </a:rPr>
              <a:t>. Đường cong Bezier</a:t>
            </a:r>
          </a:p>
        </p:txBody>
      </p:sp>
      <p:sp>
        <p:nvSpPr>
          <p:cNvPr id="752645" name="Rectangle 5"/>
          <p:cNvSpPr>
            <a:spLocks noGrp="1" noChangeArrowheads="1"/>
          </p:cNvSpPr>
          <p:nvPr>
            <p:ph type="body" sz="half" idx="1"/>
          </p:nvPr>
        </p:nvSpPr>
        <p:spPr>
          <a:xfrm>
            <a:off x="1972469" y="1271587"/>
            <a:ext cx="8534400" cy="4530725"/>
          </a:xfrm>
          <a:noFill/>
          <a:ln/>
        </p:spPr>
        <p:txBody>
          <a:bodyPr/>
          <a:lstStyle/>
          <a:p>
            <a:r>
              <a:rPr lang="en-US" altLang="en-US">
                <a:latin typeface="Arial" panose="020B0604020202020204" pitchFamily="34" charset="0"/>
              </a:rPr>
              <a:t>Ví dụ: Với m =5, họ đa thức Bestein bậc 5 có dạng</a:t>
            </a:r>
          </a:p>
          <a:p>
            <a:pPr lvl="1"/>
            <a:r>
              <a:rPr lang="en-US" altLang="en-US" sz="2800">
                <a:latin typeface="Arial" panose="020B0604020202020204" pitchFamily="34" charset="0"/>
              </a:rPr>
              <a:t> </a:t>
            </a:r>
          </a:p>
          <a:p>
            <a:pPr lvl="1"/>
            <a:r>
              <a:rPr lang="en-US" altLang="en-US" sz="2800">
                <a:latin typeface="Arial" panose="020B0604020202020204" pitchFamily="34" charset="0"/>
              </a:rPr>
              <a:t> </a:t>
            </a:r>
          </a:p>
          <a:p>
            <a:pPr lvl="1"/>
            <a:r>
              <a:rPr lang="en-US" altLang="en-US" sz="2800">
                <a:latin typeface="Arial" panose="020B0604020202020204" pitchFamily="34" charset="0"/>
              </a:rPr>
              <a:t> </a:t>
            </a:r>
          </a:p>
          <a:p>
            <a:pPr lvl="1"/>
            <a:r>
              <a:rPr lang="en-US" altLang="en-US" sz="2800">
                <a:latin typeface="Arial" panose="020B0604020202020204" pitchFamily="34" charset="0"/>
              </a:rPr>
              <a:t>  </a:t>
            </a:r>
          </a:p>
          <a:p>
            <a:pPr lvl="1"/>
            <a:r>
              <a:rPr lang="en-US" altLang="en-US" sz="2800">
                <a:latin typeface="Arial" panose="020B0604020202020204" pitchFamily="34" charset="0"/>
              </a:rPr>
              <a:t> </a:t>
            </a:r>
          </a:p>
          <a:p>
            <a:pPr marL="457200" lvl="1" indent="0">
              <a:buNone/>
            </a:pPr>
            <a:endParaRPr lang="en-US" altLang="en-US" sz="2800">
              <a:latin typeface="Arial" panose="020B0604020202020204" pitchFamily="34" charset="0"/>
            </a:endParaRPr>
          </a:p>
        </p:txBody>
      </p:sp>
      <p:graphicFrame>
        <p:nvGraphicFramePr>
          <p:cNvPr id="752659" name="Object 19"/>
          <p:cNvGraphicFramePr>
            <a:graphicFrameLocks noChangeAspect="1"/>
          </p:cNvGraphicFramePr>
          <p:nvPr>
            <p:ph sz="quarter" idx="2"/>
          </p:nvPr>
        </p:nvGraphicFramePr>
        <p:xfrm>
          <a:off x="2819400" y="2667000"/>
          <a:ext cx="7308850" cy="514350"/>
        </p:xfrm>
        <a:graphic>
          <a:graphicData uri="http://schemas.openxmlformats.org/presentationml/2006/ole">
            <mc:AlternateContent xmlns:mc="http://schemas.openxmlformats.org/markup-compatibility/2006">
              <mc:Choice xmlns:v="urn:schemas-microsoft-com:vml" Requires="v">
                <p:oleObj spid="_x0000_s4098" name="Equation" r:id="rId3" imgW="4025880" imgH="241200" progId="Equation.3">
                  <p:embed/>
                </p:oleObj>
              </mc:Choice>
              <mc:Fallback>
                <p:oleObj name="Equation" r:id="rId3" imgW="4025880" imgH="241200" progId="Equation.3">
                  <p:embed/>
                  <p:pic>
                    <p:nvPicPr>
                      <p:cNvPr id="752659"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2667000"/>
                        <a:ext cx="730885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2651" name="Object 11"/>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4099" name="Equation" r:id="rId5" imgW="114120" imgH="215640" progId="Equation.3">
                  <p:embed/>
                </p:oleObj>
              </mc:Choice>
              <mc:Fallback>
                <p:oleObj name="Equation" r:id="rId5" imgW="114120" imgH="215640" progId="Equation.3">
                  <p:embed/>
                  <p:pic>
                    <p:nvPicPr>
                      <p:cNvPr id="752651"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2652" name="Object 12"/>
          <p:cNvGraphicFramePr>
            <a:graphicFrameLocks noChangeAspect="1"/>
          </p:cNvGraphicFramePr>
          <p:nvPr/>
        </p:nvGraphicFramePr>
        <p:xfrm>
          <a:off x="2895601" y="2133600"/>
          <a:ext cx="7262813" cy="457200"/>
        </p:xfrm>
        <a:graphic>
          <a:graphicData uri="http://schemas.openxmlformats.org/presentationml/2006/ole">
            <mc:AlternateContent xmlns:mc="http://schemas.openxmlformats.org/markup-compatibility/2006">
              <mc:Choice xmlns:v="urn:schemas-microsoft-com:vml" Requires="v">
                <p:oleObj spid="_x0000_s4100" name="Equation" r:id="rId7" imgW="3873240" imgH="241200" progId="Equation.3">
                  <p:embed/>
                </p:oleObj>
              </mc:Choice>
              <mc:Fallback>
                <p:oleObj name="Equation" r:id="rId7" imgW="3873240" imgH="241200" progId="Equation.3">
                  <p:embed/>
                  <p:pic>
                    <p:nvPicPr>
                      <p:cNvPr id="752652"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95601" y="2133600"/>
                        <a:ext cx="72628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2661" name="Object 21"/>
          <p:cNvGraphicFramePr>
            <a:graphicFrameLocks noChangeAspect="1"/>
          </p:cNvGraphicFramePr>
          <p:nvPr>
            <p:ph sz="quarter" idx="3"/>
          </p:nvPr>
        </p:nvGraphicFramePr>
        <p:xfrm>
          <a:off x="2819400" y="3200400"/>
          <a:ext cx="7620000" cy="533400"/>
        </p:xfrm>
        <a:graphic>
          <a:graphicData uri="http://schemas.openxmlformats.org/presentationml/2006/ole">
            <mc:AlternateContent xmlns:mc="http://schemas.openxmlformats.org/markup-compatibility/2006">
              <mc:Choice xmlns:v="urn:schemas-microsoft-com:vml" Requires="v">
                <p:oleObj spid="_x0000_s4101" name="Equation" r:id="rId9" imgW="4063680" imgH="241200" progId="Equation.3">
                  <p:embed/>
                </p:oleObj>
              </mc:Choice>
              <mc:Fallback>
                <p:oleObj name="Equation" r:id="rId9" imgW="4063680" imgH="241200" progId="Equation.3">
                  <p:embed/>
                  <p:pic>
                    <p:nvPicPr>
                      <p:cNvPr id="752661"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9400" y="3200400"/>
                        <a:ext cx="7620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2663" name="Object 23"/>
          <p:cNvGraphicFramePr>
            <a:graphicFrameLocks noChangeAspect="1"/>
          </p:cNvGraphicFramePr>
          <p:nvPr/>
        </p:nvGraphicFramePr>
        <p:xfrm>
          <a:off x="2819400" y="3733800"/>
          <a:ext cx="7543800" cy="501650"/>
        </p:xfrm>
        <a:graphic>
          <a:graphicData uri="http://schemas.openxmlformats.org/presentationml/2006/ole">
            <mc:AlternateContent xmlns:mc="http://schemas.openxmlformats.org/markup-compatibility/2006">
              <mc:Choice xmlns:v="urn:schemas-microsoft-com:vml" Requires="v">
                <p:oleObj spid="_x0000_s4102" name="Equation" r:id="rId11" imgW="3619440" imgH="241200" progId="Equation.3">
                  <p:embed/>
                </p:oleObj>
              </mc:Choice>
              <mc:Fallback>
                <p:oleObj name="Equation" r:id="rId11" imgW="3619440" imgH="241200" progId="Equation.3">
                  <p:embed/>
                  <p:pic>
                    <p:nvPicPr>
                      <p:cNvPr id="752663" name="Object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19400" y="3733800"/>
                        <a:ext cx="7543800"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2664" name="Object 24"/>
          <p:cNvGraphicFramePr>
            <a:graphicFrameLocks noChangeAspect="1"/>
          </p:cNvGraphicFramePr>
          <p:nvPr/>
        </p:nvGraphicFramePr>
        <p:xfrm>
          <a:off x="2801938" y="4191000"/>
          <a:ext cx="6875462" cy="552450"/>
        </p:xfrm>
        <a:graphic>
          <a:graphicData uri="http://schemas.openxmlformats.org/presentationml/2006/ole">
            <mc:AlternateContent xmlns:mc="http://schemas.openxmlformats.org/markup-compatibility/2006">
              <mc:Choice xmlns:v="urn:schemas-microsoft-com:vml" Requires="v">
                <p:oleObj spid="_x0000_s4103" name="Equation" r:id="rId13" imgW="2997000" imgH="241200" progId="Equation.3">
                  <p:embed/>
                </p:oleObj>
              </mc:Choice>
              <mc:Fallback>
                <p:oleObj name="Equation" r:id="rId13" imgW="2997000" imgH="241200" progId="Equation.3">
                  <p:embed/>
                  <p:pic>
                    <p:nvPicPr>
                      <p:cNvPr id="752664"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01938" y="4191000"/>
                        <a:ext cx="6875462"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2665" name="Object 25"/>
          <p:cNvGraphicFramePr>
            <a:graphicFrameLocks noChangeAspect="1"/>
          </p:cNvGraphicFramePr>
          <p:nvPr/>
        </p:nvGraphicFramePr>
        <p:xfrm>
          <a:off x="2776538" y="4672014"/>
          <a:ext cx="3700462" cy="509587"/>
        </p:xfrm>
        <a:graphic>
          <a:graphicData uri="http://schemas.openxmlformats.org/presentationml/2006/ole">
            <mc:AlternateContent xmlns:mc="http://schemas.openxmlformats.org/markup-compatibility/2006">
              <mc:Choice xmlns:v="urn:schemas-microsoft-com:vml" Requires="v">
                <p:oleObj spid="_x0000_s4104" name="Equation" r:id="rId15" imgW="1752480" imgH="241200" progId="Equation.3">
                  <p:embed/>
                </p:oleObj>
              </mc:Choice>
              <mc:Fallback>
                <p:oleObj name="Equation" r:id="rId15" imgW="1752480" imgH="241200" progId="Equation.3">
                  <p:embed/>
                  <p:pic>
                    <p:nvPicPr>
                      <p:cNvPr id="752665" name="Object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76538" y="4672014"/>
                        <a:ext cx="3700462"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18498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6"/>
          <p:cNvSpPr>
            <a:spLocks noGrp="1"/>
          </p:cNvSpPr>
          <p:nvPr>
            <p:ph type="sldNum" sz="quarter" idx="12"/>
          </p:nvPr>
        </p:nvSpPr>
        <p:spPr/>
        <p:txBody>
          <a:bodyPr/>
          <a:lstStyle/>
          <a:p>
            <a:fld id="{2B094388-293A-4805-BCEB-13FEE724FD79}" type="slidenum">
              <a:rPr lang="en-US" altLang="en-US"/>
              <a:pPr/>
              <a:t>13</a:t>
            </a:fld>
            <a:endParaRPr lang="en-US" altLang="en-US"/>
          </a:p>
        </p:txBody>
      </p:sp>
      <p:sp>
        <p:nvSpPr>
          <p:cNvPr id="750596" name="Rectangle 4"/>
          <p:cNvSpPr>
            <a:spLocks noGrp="1" noChangeArrowheads="1"/>
          </p:cNvSpPr>
          <p:nvPr>
            <p:ph type="title"/>
          </p:nvPr>
        </p:nvSpPr>
        <p:spPr>
          <a:noFill/>
          <a:ln/>
        </p:spPr>
        <p:txBody>
          <a:bodyPr/>
          <a:lstStyle/>
          <a:p>
            <a:r>
              <a:rPr lang="en-US" altLang="en-US" smtClean="0">
                <a:latin typeface="Arial" panose="020B0604020202020204" pitchFamily="34" charset="0"/>
              </a:rPr>
              <a:t>8.3</a:t>
            </a:r>
            <a:r>
              <a:rPr lang="en-US" altLang="en-US">
                <a:latin typeface="Arial" panose="020B0604020202020204" pitchFamily="34" charset="0"/>
              </a:rPr>
              <a:t>. Đường cong Bezier</a:t>
            </a:r>
          </a:p>
        </p:txBody>
      </p:sp>
      <p:sp>
        <p:nvSpPr>
          <p:cNvPr id="750597" name="Rectangle 5"/>
          <p:cNvSpPr>
            <a:spLocks noGrp="1" noChangeArrowheads="1"/>
          </p:cNvSpPr>
          <p:nvPr>
            <p:ph type="body" sz="half" idx="1"/>
          </p:nvPr>
        </p:nvSpPr>
        <p:spPr>
          <a:xfrm>
            <a:off x="1981200" y="1600201"/>
            <a:ext cx="8382000" cy="4530725"/>
          </a:xfrm>
          <a:noFill/>
          <a:ln/>
        </p:spPr>
        <p:txBody>
          <a:bodyPr/>
          <a:lstStyle/>
          <a:p>
            <a:pPr algn="just"/>
            <a:r>
              <a:rPr lang="en-US" altLang="en-US">
                <a:latin typeface="Arial" panose="020B0604020202020204" pitchFamily="34" charset="0"/>
              </a:rPr>
              <a:t>Thuật toán Casteljau</a:t>
            </a:r>
          </a:p>
          <a:p>
            <a:pPr lvl="1" algn="just"/>
            <a:r>
              <a:rPr lang="en-US" altLang="en-US">
                <a:latin typeface="Arial" panose="020B0604020202020204" pitchFamily="34" charset="0"/>
              </a:rPr>
              <a:t>Đường cong xác định bởi công thức</a:t>
            </a:r>
          </a:p>
          <a:p>
            <a:pPr lvl="1" algn="just">
              <a:buFont typeface="Wingdings" panose="05000000000000000000" pitchFamily="2" charset="2"/>
              <a:buNone/>
            </a:pPr>
            <a:r>
              <a:rPr lang="en-US" altLang="en-US">
                <a:latin typeface="Arial" panose="020B0604020202020204" pitchFamily="34" charset="0"/>
              </a:rPr>
              <a:t>	với u </a:t>
            </a:r>
            <a:r>
              <a:rPr lang="ru-RU" altLang="en-US">
                <a:latin typeface="Arial" panose="020B0604020202020204" pitchFamily="34" charset="0"/>
                <a:cs typeface="Arial" panose="020B0604020202020204" pitchFamily="34" charset="0"/>
              </a:rPr>
              <a:t>Є</a:t>
            </a:r>
            <a:r>
              <a:rPr lang="en-US" altLang="en-US">
                <a:latin typeface="Arial" panose="020B0604020202020204" pitchFamily="34" charset="0"/>
              </a:rPr>
              <a:t>[0,1], t </a:t>
            </a:r>
            <a:r>
              <a:rPr lang="ru-RU" altLang="en-US">
                <a:latin typeface="Arial" panose="020B0604020202020204" pitchFamily="34" charset="0"/>
                <a:cs typeface="Arial" panose="020B0604020202020204" pitchFamily="34" charset="0"/>
              </a:rPr>
              <a:t>Є</a:t>
            </a:r>
            <a:r>
              <a:rPr lang="en-US" altLang="en-US">
                <a:latin typeface="Arial" panose="020B0604020202020204" pitchFamily="34" charset="0"/>
              </a:rPr>
              <a:t>[t</a:t>
            </a:r>
            <a:r>
              <a:rPr lang="en-US" altLang="en-US" baseline="-25000">
                <a:latin typeface="Arial" panose="020B0604020202020204" pitchFamily="34" charset="0"/>
              </a:rPr>
              <a:t>0</a:t>
            </a:r>
            <a:r>
              <a:rPr lang="en-US" altLang="en-US">
                <a:latin typeface="Arial" panose="020B0604020202020204" pitchFamily="34" charset="0"/>
              </a:rPr>
              <a:t>,t</a:t>
            </a:r>
            <a:r>
              <a:rPr lang="en-US" altLang="en-US" baseline="-25000">
                <a:latin typeface="Arial" panose="020B0604020202020204" pitchFamily="34" charset="0"/>
              </a:rPr>
              <a:t>1</a:t>
            </a:r>
            <a:r>
              <a:rPr lang="en-US" altLang="en-US">
                <a:latin typeface="Arial" panose="020B0604020202020204" pitchFamily="34" charset="0"/>
              </a:rPr>
              <a:t>] </a:t>
            </a:r>
          </a:p>
          <a:p>
            <a:pPr lvl="1" algn="just"/>
            <a:r>
              <a:rPr lang="en-US" altLang="en-US">
                <a:latin typeface="Arial" panose="020B0604020202020204" pitchFamily="34" charset="0"/>
              </a:rPr>
              <a:t>Đường cong Bezier đi qua hai điểm đầu và cuối P</a:t>
            </a:r>
            <a:r>
              <a:rPr lang="en-US" altLang="en-US" baseline="-25000">
                <a:latin typeface="Arial" panose="020B0604020202020204" pitchFamily="34" charset="0"/>
              </a:rPr>
              <a:t>0</a:t>
            </a:r>
            <a:r>
              <a:rPr lang="en-US" altLang="en-US">
                <a:latin typeface="Arial" panose="020B0604020202020204" pitchFamily="34" charset="0"/>
              </a:rPr>
              <a:t>,P</a:t>
            </a:r>
            <a:r>
              <a:rPr lang="en-US" altLang="en-US" baseline="-25000">
                <a:latin typeface="Arial" panose="020B0604020202020204" pitchFamily="34" charset="0"/>
              </a:rPr>
              <a:t>n</a:t>
            </a:r>
            <a:r>
              <a:rPr lang="en-US" altLang="en-US">
                <a:latin typeface="Arial" panose="020B0604020202020204" pitchFamily="34" charset="0"/>
              </a:rPr>
              <a:t>. Các kiểu khác ta không biết gì về nó</a:t>
            </a:r>
          </a:p>
          <a:p>
            <a:pPr lvl="1" algn="just"/>
            <a:r>
              <a:rPr lang="en-US" altLang="en-US">
                <a:latin typeface="Arial" panose="020B0604020202020204" pitchFamily="34" charset="0"/>
              </a:rPr>
              <a:t>Vấn đề</a:t>
            </a:r>
          </a:p>
          <a:p>
            <a:pPr lvl="2" algn="just"/>
            <a:r>
              <a:rPr lang="en-US" altLang="en-US">
                <a:latin typeface="Arial" panose="020B0604020202020204" pitchFamily="34" charset="0"/>
              </a:rPr>
              <a:t>Tìm điểm nằm trên đường cong hay là phải tính Q(t)</a:t>
            </a:r>
          </a:p>
        </p:txBody>
      </p:sp>
      <p:graphicFrame>
        <p:nvGraphicFramePr>
          <p:cNvPr id="750599"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5122" name="Equation" r:id="rId3" imgW="114120" imgH="215640" progId="Equation.3">
                  <p:embed/>
                </p:oleObj>
              </mc:Choice>
              <mc:Fallback>
                <p:oleObj name="Equation" r:id="rId3" imgW="114120" imgH="215640" progId="Equation.3">
                  <p:embed/>
                  <p:pic>
                    <p:nvPicPr>
                      <p:cNvPr id="750599"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0601" name="Object 9"/>
          <p:cNvGraphicFramePr>
            <a:graphicFrameLocks noChangeAspect="1"/>
          </p:cNvGraphicFramePr>
          <p:nvPr>
            <p:ph sz="half" idx="2"/>
            <p:extLst>
              <p:ext uri="{D42A27DB-BD31-4B8C-83A1-F6EECF244321}">
                <p14:modId xmlns:p14="http://schemas.microsoft.com/office/powerpoint/2010/main" val="1450634602"/>
              </p:ext>
            </p:extLst>
          </p:nvPr>
        </p:nvGraphicFramePr>
        <p:xfrm>
          <a:off x="6948055" y="2652713"/>
          <a:ext cx="2286000" cy="884237"/>
        </p:xfrm>
        <a:graphic>
          <a:graphicData uri="http://schemas.openxmlformats.org/presentationml/2006/ole">
            <mc:AlternateContent xmlns:mc="http://schemas.openxmlformats.org/markup-compatibility/2006">
              <mc:Choice xmlns:v="urn:schemas-microsoft-com:vml" Requires="v">
                <p:oleObj spid="_x0000_s5123" name="Equation" r:id="rId5" imgW="1117440" imgH="431640" progId="Equation.3">
                  <p:embed/>
                </p:oleObj>
              </mc:Choice>
              <mc:Fallback>
                <p:oleObj name="Equation" r:id="rId5" imgW="1117440" imgH="431640" progId="Equation.3">
                  <p:embed/>
                  <p:pic>
                    <p:nvPicPr>
                      <p:cNvPr id="750601"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48055" y="2652713"/>
                        <a:ext cx="2286000" cy="884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87867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7"/>
          <p:cNvSpPr>
            <a:spLocks noGrp="1"/>
          </p:cNvSpPr>
          <p:nvPr>
            <p:ph type="sldNum" sz="quarter" idx="12"/>
          </p:nvPr>
        </p:nvSpPr>
        <p:spPr/>
        <p:txBody>
          <a:bodyPr/>
          <a:lstStyle/>
          <a:p>
            <a:fld id="{C4B5E181-091E-481A-AF66-B2532936B545}" type="slidenum">
              <a:rPr lang="en-US" altLang="en-US"/>
              <a:pPr/>
              <a:t>14</a:t>
            </a:fld>
            <a:endParaRPr lang="en-US" altLang="en-US"/>
          </a:p>
        </p:txBody>
      </p:sp>
      <p:sp>
        <p:nvSpPr>
          <p:cNvPr id="749572" name="Rectangle 4"/>
          <p:cNvSpPr>
            <a:spLocks noGrp="1" noChangeArrowheads="1"/>
          </p:cNvSpPr>
          <p:nvPr>
            <p:ph type="title"/>
          </p:nvPr>
        </p:nvSpPr>
        <p:spPr>
          <a:noFill/>
          <a:ln/>
        </p:spPr>
        <p:txBody>
          <a:bodyPr/>
          <a:lstStyle/>
          <a:p>
            <a:r>
              <a:rPr lang="en-US" altLang="en-US" smtClean="0">
                <a:latin typeface="Arial" panose="020B0604020202020204" pitchFamily="34" charset="0"/>
              </a:rPr>
              <a:t>8.3</a:t>
            </a:r>
            <a:r>
              <a:rPr lang="en-US" altLang="en-US">
                <a:latin typeface="Arial" panose="020B0604020202020204" pitchFamily="34" charset="0"/>
              </a:rPr>
              <a:t>. Đường cong Bezier</a:t>
            </a:r>
          </a:p>
        </p:txBody>
      </p:sp>
      <p:sp>
        <p:nvSpPr>
          <p:cNvPr id="749573" name="Rectangle 5"/>
          <p:cNvSpPr>
            <a:spLocks noGrp="1" noChangeArrowheads="1"/>
          </p:cNvSpPr>
          <p:nvPr>
            <p:ph type="body" sz="half" idx="1"/>
          </p:nvPr>
        </p:nvSpPr>
        <p:spPr>
          <a:xfrm>
            <a:off x="1981200" y="1600201"/>
            <a:ext cx="8305800" cy="4530725"/>
          </a:xfrm>
          <a:noFill/>
          <a:ln/>
        </p:spPr>
        <p:txBody>
          <a:bodyPr/>
          <a:lstStyle/>
          <a:p>
            <a:r>
              <a:rPr lang="en-US" altLang="en-US">
                <a:latin typeface="Arial" panose="020B0604020202020204" pitchFamily="34" charset="0"/>
              </a:rPr>
              <a:t>Thuật toán Casteljau</a:t>
            </a:r>
          </a:p>
          <a:p>
            <a:pPr lvl="1"/>
            <a:r>
              <a:rPr lang="en-US" altLang="en-US">
                <a:latin typeface="Arial" panose="020B0604020202020204" pitchFamily="34" charset="0"/>
              </a:rPr>
              <a:t>Tính Q(t) dựa trên các tính chất của đa thức Berstein</a:t>
            </a: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buFont typeface="Wingdings" panose="05000000000000000000" pitchFamily="2" charset="2"/>
              <a:buNone/>
            </a:pPr>
            <a:r>
              <a:rPr lang="en-US" altLang="en-US">
                <a:latin typeface="Arial" panose="020B0604020202020204" pitchFamily="34" charset="0"/>
              </a:rPr>
              <a:t>                              với mọi I, mọi u thuộc [0,1]</a:t>
            </a:r>
          </a:p>
          <a:p>
            <a:pPr lvl="1"/>
            <a:endParaRPr lang="en-US" altLang="en-US">
              <a:latin typeface="Arial" panose="020B0604020202020204" pitchFamily="34" charset="0"/>
            </a:endParaRPr>
          </a:p>
        </p:txBody>
      </p:sp>
      <p:graphicFrame>
        <p:nvGraphicFramePr>
          <p:cNvPr id="749575" name="Object 7"/>
          <p:cNvGraphicFramePr>
            <a:graphicFrameLocks noChangeAspect="1"/>
          </p:cNvGraphicFramePr>
          <p:nvPr>
            <p:ph sz="quarter" idx="2"/>
            <p:extLst>
              <p:ext uri="{D42A27DB-BD31-4B8C-83A1-F6EECF244321}">
                <p14:modId xmlns:p14="http://schemas.microsoft.com/office/powerpoint/2010/main" val="3200873641"/>
              </p:ext>
            </p:extLst>
          </p:nvPr>
        </p:nvGraphicFramePr>
        <p:xfrm>
          <a:off x="4611254" y="3377406"/>
          <a:ext cx="1752600" cy="976313"/>
        </p:xfrm>
        <a:graphic>
          <a:graphicData uri="http://schemas.openxmlformats.org/presentationml/2006/ole">
            <mc:AlternateContent xmlns:mc="http://schemas.openxmlformats.org/markup-compatibility/2006">
              <mc:Choice xmlns:v="urn:schemas-microsoft-com:vml" Requires="v">
                <p:oleObj spid="_x0000_s6146" name="Equation" r:id="rId3" imgW="774360" imgH="431640" progId="Equation.3">
                  <p:embed/>
                </p:oleObj>
              </mc:Choice>
              <mc:Fallback>
                <p:oleObj name="Equation" r:id="rId3" imgW="774360" imgH="431640" progId="Equation.3">
                  <p:embed/>
                  <p:pic>
                    <p:nvPicPr>
                      <p:cNvPr id="749575"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1254" y="3377406"/>
                        <a:ext cx="1752600" cy="976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9574" name="Object 6"/>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6147" name="Equation" r:id="rId5" imgW="114120" imgH="215640" progId="Equation.3">
                  <p:embed/>
                </p:oleObj>
              </mc:Choice>
              <mc:Fallback>
                <p:oleObj name="Equation" r:id="rId5" imgW="114120" imgH="215640" progId="Equation.3">
                  <p:embed/>
                  <p:pic>
                    <p:nvPicPr>
                      <p:cNvPr id="749574"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9577" name="Object 9"/>
          <p:cNvGraphicFramePr>
            <a:graphicFrameLocks noChangeAspect="1"/>
          </p:cNvGraphicFramePr>
          <p:nvPr>
            <p:ph sz="quarter" idx="3"/>
            <p:extLst>
              <p:ext uri="{D42A27DB-BD31-4B8C-83A1-F6EECF244321}">
                <p14:modId xmlns:p14="http://schemas.microsoft.com/office/powerpoint/2010/main" val="3078536782"/>
              </p:ext>
            </p:extLst>
          </p:nvPr>
        </p:nvGraphicFramePr>
        <p:xfrm>
          <a:off x="3068782" y="4303710"/>
          <a:ext cx="1447800" cy="573088"/>
        </p:xfrm>
        <a:graphic>
          <a:graphicData uri="http://schemas.openxmlformats.org/presentationml/2006/ole">
            <mc:AlternateContent xmlns:mc="http://schemas.openxmlformats.org/markup-compatibility/2006">
              <mc:Choice xmlns:v="urn:schemas-microsoft-com:vml" Requires="v">
                <p:oleObj spid="_x0000_s6148" name="Equation" r:id="rId7" imgW="609480" imgH="241200" progId="Equation.3">
                  <p:embed/>
                </p:oleObj>
              </mc:Choice>
              <mc:Fallback>
                <p:oleObj name="Equation" r:id="rId7" imgW="609480" imgH="241200" progId="Equation.3">
                  <p:embed/>
                  <p:pic>
                    <p:nvPicPr>
                      <p:cNvPr id="749577"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68782" y="4303710"/>
                        <a:ext cx="1447800" cy="57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9579" name="Object 11"/>
          <p:cNvGraphicFramePr>
            <a:graphicFrameLocks noChangeAspect="1"/>
          </p:cNvGraphicFramePr>
          <p:nvPr>
            <p:extLst>
              <p:ext uri="{D42A27DB-BD31-4B8C-83A1-F6EECF244321}">
                <p14:modId xmlns:p14="http://schemas.microsoft.com/office/powerpoint/2010/main" val="3569924011"/>
              </p:ext>
            </p:extLst>
          </p:nvPr>
        </p:nvGraphicFramePr>
        <p:xfrm>
          <a:off x="2939473" y="4915297"/>
          <a:ext cx="5334000" cy="654050"/>
        </p:xfrm>
        <a:graphic>
          <a:graphicData uri="http://schemas.openxmlformats.org/presentationml/2006/ole">
            <mc:AlternateContent xmlns:mc="http://schemas.openxmlformats.org/markup-compatibility/2006">
              <mc:Choice xmlns:v="urn:schemas-microsoft-com:vml" Requires="v">
                <p:oleObj spid="_x0000_s6149" name="Equation" r:id="rId9" imgW="1968480" imgH="241200" progId="Equation.3">
                  <p:embed/>
                </p:oleObj>
              </mc:Choice>
              <mc:Fallback>
                <p:oleObj name="Equation" r:id="rId9" imgW="1968480" imgH="241200" progId="Equation.3">
                  <p:embed/>
                  <p:pic>
                    <p:nvPicPr>
                      <p:cNvPr id="749579" name="Object 11"/>
                      <p:cNvPicPr>
                        <a:picLocks noChangeAspect="1" noChangeArrowheads="1"/>
                      </p:cNvPicPr>
                      <p:nvPr/>
                    </p:nvPicPr>
                    <p:blipFill>
                      <a:blip r:embed="rId10"/>
                      <a:srcRect/>
                      <a:stretch>
                        <a:fillRect/>
                      </a:stretch>
                    </p:blipFill>
                    <p:spPr bwMode="auto">
                      <a:xfrm>
                        <a:off x="2939473" y="4915297"/>
                        <a:ext cx="5334000" cy="65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535309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8A3BF8B5-A562-4F56-AAB6-6C640604E9B6}" type="slidenum">
              <a:rPr lang="en-US" altLang="en-US"/>
              <a:pPr/>
              <a:t>15</a:t>
            </a:fld>
            <a:endParaRPr lang="en-US" altLang="en-US"/>
          </a:p>
        </p:txBody>
      </p:sp>
      <p:sp>
        <p:nvSpPr>
          <p:cNvPr id="748548" name="Rectangle 4"/>
          <p:cNvSpPr>
            <a:spLocks noGrp="1" noChangeArrowheads="1"/>
          </p:cNvSpPr>
          <p:nvPr>
            <p:ph type="title"/>
          </p:nvPr>
        </p:nvSpPr>
        <p:spPr>
          <a:noFill/>
          <a:ln/>
        </p:spPr>
        <p:txBody>
          <a:bodyPr/>
          <a:lstStyle/>
          <a:p>
            <a:r>
              <a:rPr lang="en-US" altLang="en-US" smtClean="0">
                <a:latin typeface="Arial" panose="020B0604020202020204" pitchFamily="34" charset="0"/>
              </a:rPr>
              <a:t>8.3</a:t>
            </a:r>
            <a:r>
              <a:rPr lang="en-US" altLang="en-US">
                <a:latin typeface="Arial" panose="020B0604020202020204" pitchFamily="34" charset="0"/>
              </a:rPr>
              <a:t>. Đường cong Bezier</a:t>
            </a:r>
          </a:p>
        </p:txBody>
      </p:sp>
      <p:sp>
        <p:nvSpPr>
          <p:cNvPr id="748549" name="Rectangle 5"/>
          <p:cNvSpPr>
            <a:spLocks noGrp="1" noChangeArrowheads="1"/>
          </p:cNvSpPr>
          <p:nvPr>
            <p:ph type="body" sz="half" idx="1"/>
          </p:nvPr>
        </p:nvSpPr>
        <p:spPr>
          <a:xfrm>
            <a:off x="1981200" y="1600201"/>
            <a:ext cx="8305800" cy="4530725"/>
          </a:xfrm>
          <a:noFill/>
          <a:ln/>
        </p:spPr>
        <p:txBody>
          <a:bodyPr/>
          <a:lstStyle/>
          <a:p>
            <a:r>
              <a:rPr lang="en-US" altLang="en-US">
                <a:latin typeface="Arial" panose="020B0604020202020204" pitchFamily="34" charset="0"/>
              </a:rPr>
              <a:t>Thuật toán Casteljau</a:t>
            </a:r>
          </a:p>
          <a:p>
            <a:pPr lvl="1"/>
            <a:r>
              <a:rPr lang="en-US" altLang="en-US">
                <a:latin typeface="Arial" panose="020B0604020202020204" pitchFamily="34" charset="0"/>
              </a:rPr>
              <a:t>Đặt u=(t-t</a:t>
            </a:r>
            <a:r>
              <a:rPr lang="en-US" altLang="en-US" baseline="-25000">
                <a:latin typeface="Arial" panose="020B0604020202020204" pitchFamily="34" charset="0"/>
              </a:rPr>
              <a:t>0</a:t>
            </a:r>
            <a:r>
              <a:rPr lang="en-US" altLang="en-US">
                <a:latin typeface="Arial" panose="020B0604020202020204" pitchFamily="34" charset="0"/>
              </a:rPr>
              <a:t>)/(t</a:t>
            </a:r>
            <a:r>
              <a:rPr lang="en-US" altLang="en-US" baseline="-25000">
                <a:latin typeface="Arial" panose="020B0604020202020204" pitchFamily="34" charset="0"/>
              </a:rPr>
              <a:t>1</a:t>
            </a:r>
            <a:r>
              <a:rPr lang="en-US" altLang="en-US">
                <a:latin typeface="Arial" panose="020B0604020202020204" pitchFamily="34" charset="0"/>
              </a:rPr>
              <a:t>-t</a:t>
            </a:r>
            <a:r>
              <a:rPr lang="en-US" altLang="en-US" baseline="-25000">
                <a:latin typeface="Arial" panose="020B0604020202020204" pitchFamily="34" charset="0"/>
              </a:rPr>
              <a:t>0</a:t>
            </a:r>
            <a:r>
              <a:rPr lang="en-US" altLang="en-US">
                <a:latin typeface="Arial" panose="020B0604020202020204" pitchFamily="34" charset="0"/>
              </a:rPr>
              <a:t>)</a:t>
            </a:r>
          </a:p>
          <a:p>
            <a:pPr lvl="1"/>
            <a:r>
              <a:rPr lang="en-US" altLang="en-US">
                <a:latin typeface="Arial" panose="020B0604020202020204" pitchFamily="34" charset="0"/>
              </a:rPr>
              <a:t>Đặt P</a:t>
            </a:r>
            <a:r>
              <a:rPr lang="en-US" altLang="en-US" baseline="-25000">
                <a:latin typeface="Arial" panose="020B0604020202020204" pitchFamily="34" charset="0"/>
              </a:rPr>
              <a:t>i,0</a:t>
            </a:r>
            <a:r>
              <a:rPr lang="en-US" altLang="en-US">
                <a:latin typeface="Arial" panose="020B0604020202020204" pitchFamily="34" charset="0"/>
              </a:rPr>
              <a:t> = P</a:t>
            </a:r>
            <a:r>
              <a:rPr lang="en-US" altLang="en-US" baseline="-25000">
                <a:latin typeface="Arial" panose="020B0604020202020204" pitchFamily="34" charset="0"/>
              </a:rPr>
              <a:t>i</a:t>
            </a:r>
            <a:r>
              <a:rPr lang="en-US" altLang="en-US">
                <a:latin typeface="Arial" panose="020B0604020202020204" pitchFamily="34" charset="0"/>
              </a:rPr>
              <a:t>, i=1,n</a:t>
            </a:r>
          </a:p>
          <a:p>
            <a:pPr lvl="1"/>
            <a:r>
              <a:rPr lang="en-US" altLang="en-US">
                <a:latin typeface="Arial" panose="020B0604020202020204" pitchFamily="34" charset="0"/>
              </a:rPr>
              <a:t>Tính P</a:t>
            </a:r>
            <a:r>
              <a:rPr lang="en-US" altLang="en-US" baseline="-25000">
                <a:latin typeface="Arial" panose="020B0604020202020204" pitchFamily="34" charset="0"/>
              </a:rPr>
              <a:t>i,j</a:t>
            </a:r>
            <a:r>
              <a:rPr lang="en-US" altLang="en-US">
                <a:latin typeface="Arial" panose="020B0604020202020204" pitchFamily="34" charset="0"/>
              </a:rPr>
              <a:t> = (1-u) P</a:t>
            </a:r>
            <a:r>
              <a:rPr lang="en-US" altLang="en-US" baseline="-25000">
                <a:latin typeface="Arial" panose="020B0604020202020204" pitchFamily="34" charset="0"/>
              </a:rPr>
              <a:t>i-1,j-1 </a:t>
            </a:r>
            <a:r>
              <a:rPr lang="en-US" altLang="en-US">
                <a:latin typeface="Arial" panose="020B0604020202020204" pitchFamily="34" charset="0"/>
              </a:rPr>
              <a:t>+ uP</a:t>
            </a:r>
            <a:r>
              <a:rPr lang="en-US" altLang="en-US" baseline="-25000">
                <a:latin typeface="Arial" panose="020B0604020202020204" pitchFamily="34" charset="0"/>
              </a:rPr>
              <a:t>i,j-1 </a:t>
            </a:r>
            <a:r>
              <a:rPr lang="en-US" altLang="en-US">
                <a:latin typeface="Arial" panose="020B0604020202020204" pitchFamily="34" charset="0"/>
              </a:rPr>
              <a:t>với j=1,n, i=j,n</a:t>
            </a:r>
          </a:p>
          <a:p>
            <a:pPr lvl="1"/>
            <a:r>
              <a:rPr lang="en-US" altLang="en-US">
                <a:latin typeface="Arial" panose="020B0604020202020204" pitchFamily="34" charset="0"/>
              </a:rPr>
              <a:t>Điểm P</a:t>
            </a:r>
            <a:r>
              <a:rPr lang="en-US" altLang="en-US" baseline="-25000">
                <a:latin typeface="Arial" panose="020B0604020202020204" pitchFamily="34" charset="0"/>
              </a:rPr>
              <a:t>n,m</a:t>
            </a:r>
            <a:r>
              <a:rPr lang="en-US" altLang="en-US">
                <a:latin typeface="Arial" panose="020B0604020202020204" pitchFamily="34" charset="0"/>
              </a:rPr>
              <a:t> tính được thuộc đường cong Bezier</a:t>
            </a:r>
            <a:endParaRPr lang="en-US" altLang="en-US" baseline="-25000">
              <a:latin typeface="Arial" panose="020B0604020202020204" pitchFamily="34" charset="0"/>
            </a:endParaRPr>
          </a:p>
        </p:txBody>
      </p:sp>
      <p:graphicFrame>
        <p:nvGraphicFramePr>
          <p:cNvPr id="748551" name="Object 7"/>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7170" name="Equation" r:id="rId3" imgW="114120" imgH="215640" progId="Equation.3">
                  <p:embed/>
                </p:oleObj>
              </mc:Choice>
              <mc:Fallback>
                <p:oleObj name="Equation" r:id="rId3" imgW="114120" imgH="215640" progId="Equation.3">
                  <p:embed/>
                  <p:pic>
                    <p:nvPicPr>
                      <p:cNvPr id="748551"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4522170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273</TotalTime>
  <Words>565</Words>
  <Application>Microsoft Office PowerPoint</Application>
  <PresentationFormat>Widescreen</PresentationFormat>
  <Paragraphs>103</Paragraphs>
  <Slides>15</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2" baseType="lpstr">
      <vt:lpstr>Arial</vt:lpstr>
      <vt:lpstr>Calibri</vt:lpstr>
      <vt:lpstr>Constantia</vt:lpstr>
      <vt:lpstr>Corbel</vt:lpstr>
      <vt:lpstr>Wingdings</vt:lpstr>
      <vt:lpstr>Parallax</vt:lpstr>
      <vt:lpstr>Microsoft Equation 3.0</vt:lpstr>
      <vt:lpstr>PowerPoint Presentation</vt:lpstr>
      <vt:lpstr>PowerPoint Presentation</vt:lpstr>
      <vt:lpstr>8.1. Biểu diễn đường cong</vt:lpstr>
      <vt:lpstr>8.1. Biểu diễn đường cong</vt:lpstr>
      <vt:lpstr>8.1. Biểu diễn đường cong</vt:lpstr>
      <vt:lpstr>8.1. Biểu diễn đường cong</vt:lpstr>
      <vt:lpstr>8.2. Xấp xỉ đường cong Lagrang</vt:lpstr>
      <vt:lpstr>8.2. Xấp xỉ đường cong Lagrang</vt:lpstr>
      <vt:lpstr>8.3. Đường cong Bezier</vt:lpstr>
      <vt:lpstr>8.3. Đường cong Bezier</vt:lpstr>
      <vt:lpstr>8.3. Đường cong Bezier</vt:lpstr>
      <vt:lpstr>8.3. Đường cong Bezier</vt:lpstr>
      <vt:lpstr>8.3. Đường cong Bezier</vt:lpstr>
      <vt:lpstr>8.3. Đường cong Bezier</vt:lpstr>
      <vt:lpstr>8.3. Đường cong Bezier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23</cp:revision>
  <dcterms:created xsi:type="dcterms:W3CDTF">2024-02-21T06:49:26Z</dcterms:created>
  <dcterms:modified xsi:type="dcterms:W3CDTF">2024-02-23T15:51:45Z</dcterms:modified>
</cp:coreProperties>
</file>