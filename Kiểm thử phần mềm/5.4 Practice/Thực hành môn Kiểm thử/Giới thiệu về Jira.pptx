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81" r:id="rId5"/>
    <p:sldId id="258" r:id="rId6"/>
    <p:sldId id="261" r:id="rId7"/>
    <p:sldId id="265" r:id="rId8"/>
    <p:sldId id="264" r:id="rId9"/>
    <p:sldId id="273" r:id="rId10"/>
    <p:sldId id="274" r:id="rId11"/>
    <p:sldId id="275" r:id="rId12"/>
    <p:sldId id="268" r:id="rId13"/>
    <p:sldId id="269" r:id="rId14"/>
    <p:sldId id="270" r:id="rId15"/>
    <p:sldId id="271" r:id="rId16"/>
    <p:sldId id="272" r:id="rId17"/>
    <p:sldId id="263" r:id="rId18"/>
    <p:sldId id="266" r:id="rId19"/>
    <p:sldId id="267" r:id="rId20"/>
    <p:sldId id="277" r:id="rId21"/>
    <p:sldId id="278" r:id="rId22"/>
    <p:sldId id="279" r:id="rId23"/>
    <p:sldId id="280" r:id="rId24"/>
    <p:sldId id="286" r:id="rId25"/>
    <p:sldId id="282" r:id="rId26"/>
    <p:sldId id="283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30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661"/>
    <a:srgbClr val="002060"/>
    <a:srgbClr val="FFFFFF"/>
    <a:srgbClr val="C00000"/>
    <a:srgbClr val="FF1D1D"/>
    <a:srgbClr val="FF0000"/>
    <a:srgbClr val="FF5757"/>
    <a:srgbClr val="C8384A"/>
    <a:srgbClr val="183163"/>
    <a:srgbClr val="003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3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42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ở đầ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ội d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7DD7987-E04A-B078-66F7-28B97932C143}"/>
              </a:ext>
            </a:extLst>
          </p:cNvPr>
          <p:cNvSpPr/>
          <p:nvPr userDrawn="1"/>
        </p:nvSpPr>
        <p:spPr>
          <a:xfrm flipV="1">
            <a:off x="7167355" y="6747425"/>
            <a:ext cx="5029200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0F6E187-38B3-578E-BC21-A3ED2DE042D0}"/>
              </a:ext>
            </a:extLst>
          </p:cNvPr>
          <p:cNvSpPr/>
          <p:nvPr userDrawn="1"/>
        </p:nvSpPr>
        <p:spPr>
          <a:xfrm>
            <a:off x="11681190" y="6260893"/>
            <a:ext cx="406834" cy="430376"/>
          </a:xfrm>
          <a:prstGeom prst="roundRect">
            <a:avLst>
              <a:gd name="adj" fmla="val 7534"/>
            </a:avLst>
          </a:prstGeom>
          <a:solidFill>
            <a:schemeClr val="accent4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fld id="{BE7477B4-A552-4686-93D2-5126A2EE782E}" type="slidenum">
              <a:rPr lang="en-US" sz="13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‹#›</a:t>
            </a:fld>
            <a:endParaRPr lang="en-GB" sz="13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5832A7-1333-2503-DD42-0D175E7E5981}"/>
              </a:ext>
            </a:extLst>
          </p:cNvPr>
          <p:cNvSpPr txBox="1">
            <a:spLocks/>
          </p:cNvSpPr>
          <p:nvPr userDrawn="1"/>
        </p:nvSpPr>
        <p:spPr>
          <a:xfrm>
            <a:off x="11596877" y="6499551"/>
            <a:ext cx="341211" cy="267285"/>
          </a:xfrm>
          <a:prstGeom prst="rect">
            <a:avLst/>
          </a:prstGeom>
        </p:spPr>
        <p:txBody>
          <a:bodyPr lIns="0" rIns="0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11" name="Đường nối Thẳng 9">
            <a:extLst>
              <a:ext uri="{FF2B5EF4-FFF2-40B4-BE49-F238E27FC236}">
                <a16:creationId xmlns:a16="http://schemas.microsoft.com/office/drawing/2014/main" id="{1858D0BF-AFD7-1216-CAEA-CC96A1E2CDEA}"/>
              </a:ext>
            </a:extLst>
          </p:cNvPr>
          <p:cNvCxnSpPr>
            <a:cxnSpLocks/>
          </p:cNvCxnSpPr>
          <p:nvPr userDrawn="1"/>
        </p:nvCxnSpPr>
        <p:spPr>
          <a:xfrm flipH="1">
            <a:off x="418289" y="765131"/>
            <a:ext cx="11519799" cy="0"/>
          </a:xfrm>
          <a:prstGeom prst="line">
            <a:avLst/>
          </a:prstGeom>
          <a:ln w="25400">
            <a:solidFill>
              <a:srgbClr val="18316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CFA0F25-A0FF-D7EC-C4C7-BB94D3AD62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8623" y="67734"/>
            <a:ext cx="737750" cy="73775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C40C980-2BD7-A0C8-0705-4573C093AB58}"/>
              </a:ext>
            </a:extLst>
          </p:cNvPr>
          <p:cNvSpPr/>
          <p:nvPr userDrawn="1"/>
        </p:nvSpPr>
        <p:spPr>
          <a:xfrm rot="16200000">
            <a:off x="-779495" y="5963507"/>
            <a:ext cx="1670963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C0B340EE-A054-FB4F-6693-90B3B4E12489}"/>
              </a:ext>
            </a:extLst>
          </p:cNvPr>
          <p:cNvSpPr/>
          <p:nvPr userDrawn="1"/>
        </p:nvSpPr>
        <p:spPr>
          <a:xfrm rot="3243627">
            <a:off x="25195" y="5145898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C5B47E1-85B0-FD34-5F1D-7F2B97C90F3E}"/>
              </a:ext>
            </a:extLst>
          </p:cNvPr>
          <p:cNvSpPr/>
          <p:nvPr userDrawn="1"/>
        </p:nvSpPr>
        <p:spPr>
          <a:xfrm rot="4933871">
            <a:off x="7104884" y="6619102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ết thú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731E5B-2F34-4673-8B02-203D2FCCBFD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7C3C5A-80B7-41C8-98D5-F343DD380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56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1E3E8D-B87F-4E06-BD3C-C6AF8C172461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89D089-C654-4CA3-9CC4-C03B541F2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6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2677E9A0-16BA-4B67-952F-3C00BBF2D8E1}"/>
              </a:ext>
            </a:extLst>
          </p:cNvPr>
          <p:cNvSpPr/>
          <p:nvPr userDrawn="1"/>
        </p:nvSpPr>
        <p:spPr>
          <a:xfrm flipV="1">
            <a:off x="7167355" y="6747425"/>
            <a:ext cx="5029200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FE6FEEF-2C90-4580-969A-A9C9AD278668}"/>
              </a:ext>
            </a:extLst>
          </p:cNvPr>
          <p:cNvSpPr/>
          <p:nvPr userDrawn="1"/>
        </p:nvSpPr>
        <p:spPr>
          <a:xfrm>
            <a:off x="11681190" y="6260893"/>
            <a:ext cx="406834" cy="430376"/>
          </a:xfrm>
          <a:prstGeom prst="roundRect">
            <a:avLst>
              <a:gd name="adj" fmla="val 7534"/>
            </a:avLst>
          </a:prstGeom>
          <a:solidFill>
            <a:schemeClr val="accent4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fld id="{BE7477B4-A552-4686-93D2-5126A2EE782E}" type="slidenum">
              <a:rPr lang="en-US" sz="1300" smtClean="0">
                <a:latin typeface="Cambria" panose="02040503050406030204" pitchFamily="18" charset="0"/>
                <a:ea typeface="Cambria" panose="02040503050406030204" pitchFamily="18" charset="0"/>
              </a:rPr>
              <a:pPr algn="ctr"/>
              <a:t>‹#›</a:t>
            </a:fld>
            <a:endParaRPr lang="en-GB" sz="13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3B70E6-C7F6-4D4D-97B3-E51D4F722EFB}"/>
              </a:ext>
            </a:extLst>
          </p:cNvPr>
          <p:cNvSpPr txBox="1">
            <a:spLocks/>
          </p:cNvSpPr>
          <p:nvPr userDrawn="1"/>
        </p:nvSpPr>
        <p:spPr>
          <a:xfrm>
            <a:off x="11596877" y="6499551"/>
            <a:ext cx="341211" cy="267285"/>
          </a:xfrm>
          <a:prstGeom prst="rect">
            <a:avLst/>
          </a:prstGeom>
        </p:spPr>
        <p:txBody>
          <a:bodyPr lIns="0" rIns="0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6" name="Đường nối Thẳng 9">
            <a:extLst>
              <a:ext uri="{FF2B5EF4-FFF2-40B4-BE49-F238E27FC236}">
                <a16:creationId xmlns:a16="http://schemas.microsoft.com/office/drawing/2014/main" id="{D82D058E-753A-4A3C-97F2-F170AD806B05}"/>
              </a:ext>
            </a:extLst>
          </p:cNvPr>
          <p:cNvCxnSpPr>
            <a:cxnSpLocks/>
          </p:cNvCxnSpPr>
          <p:nvPr userDrawn="1"/>
        </p:nvCxnSpPr>
        <p:spPr>
          <a:xfrm flipH="1">
            <a:off x="418289" y="765131"/>
            <a:ext cx="11519799" cy="0"/>
          </a:xfrm>
          <a:prstGeom prst="line">
            <a:avLst/>
          </a:prstGeom>
          <a:ln w="25400">
            <a:solidFill>
              <a:srgbClr val="18316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39CE3B6-CDED-41D0-93A7-BA4D00946A9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8623" y="67734"/>
            <a:ext cx="737750" cy="737750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6DDD204F-D3E1-422A-A536-88B737DAE37D}"/>
              </a:ext>
            </a:extLst>
          </p:cNvPr>
          <p:cNvSpPr/>
          <p:nvPr userDrawn="1"/>
        </p:nvSpPr>
        <p:spPr>
          <a:xfrm rot="16200000">
            <a:off x="-779495" y="5963507"/>
            <a:ext cx="1670963" cy="1188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2375DB5-AFD9-47B3-ABB3-C2E596D59538}"/>
              </a:ext>
            </a:extLst>
          </p:cNvPr>
          <p:cNvSpPr/>
          <p:nvPr userDrawn="1"/>
        </p:nvSpPr>
        <p:spPr>
          <a:xfrm rot="3243627">
            <a:off x="25195" y="5145898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4C218F9-D5DD-4A6D-AB3C-8A6D2E0502DF}"/>
              </a:ext>
            </a:extLst>
          </p:cNvPr>
          <p:cNvSpPr/>
          <p:nvPr userDrawn="1"/>
        </p:nvSpPr>
        <p:spPr>
          <a:xfrm rot="4933871">
            <a:off x="7104884" y="6619102"/>
            <a:ext cx="258190" cy="193964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6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B4B5451B-82BA-85FA-730E-8FEA360D5F4F}"/>
              </a:ext>
            </a:extLst>
          </p:cNvPr>
          <p:cNvSpPr txBox="1">
            <a:spLocks/>
          </p:cNvSpPr>
          <p:nvPr/>
        </p:nvSpPr>
        <p:spPr>
          <a:xfrm>
            <a:off x="798146" y="2462564"/>
            <a:ext cx="10781584" cy="10682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Môn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thử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mềm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33BA612D-2EED-6358-0407-9AE3A703BE6E}"/>
              </a:ext>
            </a:extLst>
          </p:cNvPr>
          <p:cNvSpPr txBox="1">
            <a:spLocks/>
          </p:cNvSpPr>
          <p:nvPr/>
        </p:nvSpPr>
        <p:spPr>
          <a:xfrm>
            <a:off x="386254" y="230400"/>
            <a:ext cx="5347416" cy="4425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Giới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thiệu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công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cụ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quản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lý</a:t>
            </a:r>
            <a:r>
              <a:rPr lang="en-US" sz="2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lỗi</a:t>
            </a:r>
            <a:endParaRPr lang="en-US" sz="2600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A83A30E-DFA5-D992-062B-1C5BDC7B9D02}"/>
              </a:ext>
            </a:extLst>
          </p:cNvPr>
          <p:cNvSpPr txBox="1">
            <a:spLocks/>
          </p:cNvSpPr>
          <p:nvPr/>
        </p:nvSpPr>
        <p:spPr>
          <a:xfrm>
            <a:off x="798146" y="3595225"/>
            <a:ext cx="8374376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Giới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thiệu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cụ</a:t>
            </a:r>
            <a:r>
              <a:rPr lang="en-US" sz="2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Jira</a:t>
            </a:r>
          </a:p>
        </p:txBody>
      </p:sp>
    </p:spTree>
    <p:extLst>
      <p:ext uri="{BB962C8B-B14F-4D97-AF65-F5344CB8AC3E}">
        <p14:creationId xmlns:p14="http://schemas.microsoft.com/office/powerpoint/2010/main" val="76014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6862330" y="1556881"/>
            <a:ext cx="145143" cy="145143"/>
          </a:xfrm>
          <a:prstGeom prst="ellipse">
            <a:avLst/>
          </a:prstGeom>
          <a:solidFill>
            <a:srgbClr val="3D6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98032" y="59955"/>
            <a:ext cx="356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40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16164" y="2367691"/>
            <a:ext cx="606697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583135" y="2295119"/>
            <a:ext cx="145143" cy="145143"/>
          </a:xfrm>
          <a:prstGeom prst="ellipse">
            <a:avLst/>
          </a:prstGeom>
          <a:solidFill>
            <a:srgbClr val="3D6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16164" y="3121843"/>
            <a:ext cx="653687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934901" y="3049271"/>
            <a:ext cx="145143" cy="145143"/>
          </a:xfrm>
          <a:prstGeom prst="ellipse">
            <a:avLst/>
          </a:prstGeom>
          <a:solidFill>
            <a:srgbClr val="3D6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/>
          <p:cNvCxnSpPr/>
          <p:nvPr/>
        </p:nvCxnSpPr>
        <p:spPr>
          <a:xfrm>
            <a:off x="473323" y="1645142"/>
            <a:ext cx="638628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8032" y="1107864"/>
            <a:ext cx="653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031" y="1774594"/>
            <a:ext cx="653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031" y="2431981"/>
            <a:ext cx="653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D68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16009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245" y="179467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JIRA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199" y="1371601"/>
            <a:ext cx="10853351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/>
              <a:t>Jira </a:t>
            </a:r>
            <a:r>
              <a:rPr lang="en-US" altLang="en-US" sz="2000" dirty="0" err="1"/>
              <a:t>là</a:t>
            </a:r>
            <a:r>
              <a:rPr lang="en-US" altLang="en-US" sz="2000" dirty="0"/>
              <a:t> tool </a:t>
            </a:r>
            <a:r>
              <a:rPr lang="en-US" altLang="en-US" sz="2000" dirty="0" err="1"/>
              <a:t>dùng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bộ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dự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tiếp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nhận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theo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dõi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kiểm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soát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issue </a:t>
            </a:r>
            <a:r>
              <a:rPr lang="en-US" altLang="en-US" sz="2000" dirty="0" err="1"/>
              <a:t>dự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án</a:t>
            </a:r>
            <a:r>
              <a:rPr lang="en-US" altLang="en-US" sz="2000" dirty="0"/>
              <a:t>.</a:t>
            </a:r>
          </a:p>
          <a:p>
            <a:pPr>
              <a:buFontTx/>
              <a:buAutoNum type="arabicPeriod"/>
            </a:pPr>
            <a:r>
              <a:rPr lang="en-US" altLang="en-US" sz="2000" dirty="0"/>
              <a:t>Cung </a:t>
            </a:r>
            <a:r>
              <a:rPr lang="en-US" altLang="en-US" sz="2000" dirty="0" err="1"/>
              <a:t>cấp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thông</a:t>
            </a:r>
            <a:r>
              <a:rPr lang="en-US" altLang="en-US" sz="2000" dirty="0"/>
              <a:t> tin </a:t>
            </a:r>
            <a:r>
              <a:rPr lang="en-US" altLang="en-US" sz="2000" dirty="0" err="1"/>
              <a:t>dự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án</a:t>
            </a:r>
            <a:endParaRPr lang="en-US" altLang="en-US" sz="2000" i="1" dirty="0"/>
          </a:p>
          <a:p>
            <a:pPr lvl="1">
              <a:buFont typeface="Arial" pitchFamily="34" charset="0"/>
              <a:buAutoNum type="alphaLcParenR"/>
            </a:pPr>
            <a:r>
              <a:rPr lang="en-US" altLang="en-US" dirty="0" err="1"/>
              <a:t>Thông</a:t>
            </a:r>
            <a:r>
              <a:rPr lang="en-US" altLang="en-US" dirty="0"/>
              <a:t> tin </a:t>
            </a:r>
            <a:r>
              <a:rPr lang="en-US" altLang="en-US" dirty="0" err="1"/>
              <a:t>dự</a:t>
            </a:r>
            <a:r>
              <a:rPr lang="en-US" altLang="en-US" dirty="0"/>
              <a:t> </a:t>
            </a:r>
            <a:r>
              <a:rPr lang="en-US" altLang="en-US" dirty="0" err="1"/>
              <a:t>án</a:t>
            </a:r>
            <a:endParaRPr lang="en-US" altLang="en-US" i="1" dirty="0"/>
          </a:p>
          <a:p>
            <a:pPr lvl="1">
              <a:buFont typeface="Arial" pitchFamily="34" charset="0"/>
              <a:buAutoNum type="alphaLcParenR"/>
            </a:pPr>
            <a:r>
              <a:rPr lang="en-US" altLang="en-US" dirty="0" err="1"/>
              <a:t>Danh</a:t>
            </a:r>
            <a:r>
              <a:rPr lang="en-US" altLang="en-US" dirty="0"/>
              <a:t> </a:t>
            </a:r>
            <a:r>
              <a:rPr lang="en-US" altLang="en-US" dirty="0" err="1"/>
              <a:t>sách</a:t>
            </a:r>
            <a:r>
              <a:rPr lang="en-US" altLang="en-US" dirty="0"/>
              <a:t> </a:t>
            </a:r>
            <a:r>
              <a:rPr lang="en-US" altLang="en-US" dirty="0" err="1"/>
              <a:t>sản</a:t>
            </a:r>
            <a:r>
              <a:rPr lang="en-US" altLang="en-US" dirty="0"/>
              <a:t> </a:t>
            </a:r>
            <a:r>
              <a:rPr lang="en-US" altLang="en-US" dirty="0" err="1"/>
              <a:t>phẩm</a:t>
            </a:r>
            <a:r>
              <a:rPr lang="en-US" altLang="en-US" dirty="0"/>
              <a:t> </a:t>
            </a:r>
            <a:r>
              <a:rPr lang="en-US" altLang="en-US" dirty="0" err="1"/>
              <a:t>bàn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endParaRPr lang="en-US" altLang="en-US" dirty="0"/>
          </a:p>
          <a:p>
            <a:pPr lvl="1">
              <a:buFont typeface="Arial" pitchFamily="34" charset="0"/>
              <a:buAutoNum type="alphaLcParenR"/>
            </a:pPr>
            <a:r>
              <a:rPr lang="en-US" altLang="en-US" dirty="0" err="1"/>
              <a:t>Nguồn</a:t>
            </a:r>
            <a:r>
              <a:rPr lang="en-US" altLang="en-US" dirty="0"/>
              <a:t> </a:t>
            </a:r>
            <a:r>
              <a:rPr lang="en-US" altLang="en-US" dirty="0" err="1"/>
              <a:t>lực</a:t>
            </a:r>
            <a:endParaRPr lang="en-US" altLang="en-US" dirty="0"/>
          </a:p>
          <a:p>
            <a:pPr lvl="1">
              <a:buFont typeface="Arial" pitchFamily="34" charset="0"/>
              <a:buAutoNum type="alphaLcParenR"/>
            </a:pPr>
            <a:r>
              <a:rPr lang="en-US" altLang="en-US" dirty="0" err="1"/>
              <a:t>Vai</a:t>
            </a:r>
            <a:r>
              <a:rPr lang="en-US" altLang="en-US" dirty="0"/>
              <a:t> </a:t>
            </a:r>
            <a:r>
              <a:rPr lang="en-US" altLang="en-US" dirty="0" err="1"/>
              <a:t>trò</a:t>
            </a:r>
            <a:r>
              <a:rPr lang="en-US" altLang="en-US" dirty="0"/>
              <a:t> </a:t>
            </a:r>
            <a:r>
              <a:rPr lang="en-US" altLang="en-US" dirty="0" err="1"/>
              <a:t>cán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dự</a:t>
            </a:r>
            <a:r>
              <a:rPr lang="en-US" altLang="en-US" dirty="0"/>
              <a:t> </a:t>
            </a:r>
            <a:r>
              <a:rPr lang="en-US" altLang="en-US" dirty="0" err="1"/>
              <a:t>án</a:t>
            </a:r>
            <a:endParaRPr lang="en-US" altLang="en-US" i="1" dirty="0"/>
          </a:p>
          <a:p>
            <a:pPr lvl="1">
              <a:buFont typeface="Arial" pitchFamily="34" charset="0"/>
              <a:buAutoNum type="alphaLcParenR"/>
            </a:pPr>
            <a:r>
              <a:rPr lang="en-US" altLang="en-US" i="1" dirty="0"/>
              <a:t>…..</a:t>
            </a:r>
            <a:endParaRPr lang="en-US" altLang="en-US" dirty="0"/>
          </a:p>
          <a:p>
            <a:pPr>
              <a:buFontTx/>
              <a:buAutoNum type="arabicPeriod"/>
            </a:pPr>
            <a:r>
              <a:rPr lang="en-US" altLang="en-US" sz="2000" dirty="0" err="1"/>
              <a:t>Quản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lý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issue</a:t>
            </a:r>
          </a:p>
          <a:p>
            <a:pPr lvl="1">
              <a:buFontTx/>
              <a:buChar char="•"/>
            </a:pP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nhiều</a:t>
            </a:r>
            <a:r>
              <a:rPr lang="en-US" altLang="en-US" dirty="0"/>
              <a:t> </a:t>
            </a:r>
            <a:r>
              <a:rPr lang="en-US" altLang="en-US" dirty="0" err="1"/>
              <a:t>loại</a:t>
            </a:r>
            <a:r>
              <a:rPr lang="en-US" altLang="en-US" dirty="0"/>
              <a:t> issue: </a:t>
            </a:r>
            <a:r>
              <a:rPr lang="en-US" altLang="en-US" b="1" dirty="0"/>
              <a:t>Defect, Task, …</a:t>
            </a:r>
          </a:p>
          <a:p>
            <a:pPr>
              <a:buFontTx/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3203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JIRA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61937" y="1097280"/>
            <a:ext cx="7183891" cy="53797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test,...)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task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Findings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Complaint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complaint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Support: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 learnt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211" y="1097280"/>
            <a:ext cx="4362995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78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6335" y="1021533"/>
            <a:ext cx="76962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500" dirty="0" err="1"/>
              <a:t>Cán</a:t>
            </a:r>
            <a:r>
              <a:rPr lang="en-US" sz="2500" dirty="0"/>
              <a:t> </a:t>
            </a:r>
            <a:r>
              <a:rPr lang="en-US" sz="2500" dirty="0" err="1"/>
              <a:t>bộ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</a:t>
            </a:r>
            <a:r>
              <a:rPr lang="en-US" sz="2500" dirty="0" err="1"/>
              <a:t>đăng</a:t>
            </a:r>
            <a:r>
              <a:rPr lang="en-US" sz="2500" dirty="0"/>
              <a:t> </a:t>
            </a:r>
            <a:r>
              <a:rPr lang="en-US" sz="2500" dirty="0" err="1"/>
              <a:t>nhập</a:t>
            </a:r>
            <a:r>
              <a:rPr lang="en-US" sz="2500" dirty="0"/>
              <a:t> </a:t>
            </a:r>
            <a:r>
              <a:rPr lang="en-US" sz="2500" dirty="0" err="1"/>
              <a:t>vào</a:t>
            </a:r>
            <a:r>
              <a:rPr lang="en-US" sz="2500" dirty="0"/>
              <a:t>  link:</a:t>
            </a:r>
          </a:p>
          <a:p>
            <a:pPr>
              <a:defRPr/>
            </a:pPr>
            <a:r>
              <a:rPr lang="en-US" sz="2500" u="sng" dirty="0">
                <a:solidFill>
                  <a:srgbClr val="0000FF"/>
                </a:solidFill>
              </a:rPr>
              <a:t>https://insight.fis.com.vn/jira/secure/Dashboard.jspa</a:t>
            </a:r>
          </a:p>
          <a:p>
            <a:pPr algn="ctr">
              <a:defRPr/>
            </a:pPr>
            <a:r>
              <a:rPr lang="en-US" sz="2500" dirty="0">
                <a:solidFill>
                  <a:srgbClr val="0000FF"/>
                </a:solidFill>
              </a:rPr>
              <a:t>Username: </a:t>
            </a:r>
            <a:r>
              <a:rPr lang="en-US" sz="2500" dirty="0" err="1">
                <a:solidFill>
                  <a:srgbClr val="0000FF"/>
                </a:solidFill>
              </a:rPr>
              <a:t>Tên</a:t>
            </a:r>
            <a:r>
              <a:rPr lang="en-US" sz="2500" dirty="0">
                <a:solidFill>
                  <a:srgbClr val="0000FF"/>
                </a:solidFill>
              </a:rPr>
              <a:t> </a:t>
            </a:r>
            <a:r>
              <a:rPr lang="en-US" sz="2500" dirty="0" err="1">
                <a:solidFill>
                  <a:srgbClr val="0000FF"/>
                </a:solidFill>
              </a:rPr>
              <a:t>tài</a:t>
            </a:r>
            <a:r>
              <a:rPr lang="en-US" sz="2500" dirty="0">
                <a:solidFill>
                  <a:srgbClr val="0000FF"/>
                </a:solidFill>
              </a:rPr>
              <a:t> </a:t>
            </a:r>
            <a:r>
              <a:rPr lang="en-US" sz="2500" dirty="0" err="1">
                <a:solidFill>
                  <a:srgbClr val="0000FF"/>
                </a:solidFill>
              </a:rPr>
              <a:t>khoản</a:t>
            </a:r>
            <a:r>
              <a:rPr lang="en-US" sz="2500" dirty="0">
                <a:solidFill>
                  <a:srgbClr val="0000FF"/>
                </a:solidFill>
              </a:rPr>
              <a:t>  </a:t>
            </a:r>
          </a:p>
          <a:p>
            <a:pPr algn="ctr">
              <a:defRPr/>
            </a:pPr>
            <a:r>
              <a:rPr lang="en-US" sz="2500" dirty="0">
                <a:solidFill>
                  <a:srgbClr val="0000FF"/>
                </a:solidFill>
              </a:rPr>
              <a:t>Password: </a:t>
            </a:r>
            <a:r>
              <a:rPr lang="en-US" sz="2500" dirty="0" err="1">
                <a:solidFill>
                  <a:srgbClr val="0000FF"/>
                </a:solidFill>
              </a:rPr>
              <a:t>Mật</a:t>
            </a:r>
            <a:r>
              <a:rPr lang="en-US" sz="2500" dirty="0">
                <a:solidFill>
                  <a:srgbClr val="0000FF"/>
                </a:solidFill>
              </a:rPr>
              <a:t> </a:t>
            </a:r>
            <a:r>
              <a:rPr lang="en-US" sz="2500" dirty="0" err="1">
                <a:solidFill>
                  <a:srgbClr val="0000FF"/>
                </a:solidFill>
              </a:rPr>
              <a:t>khẩu</a:t>
            </a:r>
            <a:endParaRPr lang="en-US" sz="2500" dirty="0">
              <a:solidFill>
                <a:srgbClr val="0000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33" y="2586848"/>
            <a:ext cx="7153003" cy="3995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246" y="144370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SỬ DỤNG JIRA</a:t>
            </a:r>
          </a:p>
        </p:txBody>
      </p:sp>
    </p:spTree>
    <p:extLst>
      <p:ext uri="{BB962C8B-B14F-4D97-AF65-F5344CB8AC3E}">
        <p14:creationId xmlns:p14="http://schemas.microsoft.com/office/powerpoint/2010/main" val="346040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48195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solidFill>
                  <a:srgbClr val="3D68AB"/>
                </a:solidFill>
              </a:rPr>
              <a:t>Cách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thức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tạo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1045029"/>
            <a:ext cx="8534400" cy="52795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Defect: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Create/Create issues: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datalist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 Type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Defect.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ngắn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Defect.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Defect 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assgin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Defect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Bug: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document</a:t>
            </a: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link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version.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datalist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datalist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Assignee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Defect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assign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Defect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QC Activity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datalist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95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48195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 err="1">
                <a:solidFill>
                  <a:srgbClr val="3D68AB"/>
                </a:solidFill>
              </a:rPr>
              <a:t>Cách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thức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tạo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30628" y="1156064"/>
            <a:ext cx="8534400" cy="43760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 2: Nhấn create để hoàn tất</a:t>
            </a:r>
          </a:p>
          <a:p>
            <a:pPr lvl="2">
              <a:buFontTx/>
              <a:buNone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97" y="1916765"/>
            <a:ext cx="6701246" cy="3987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63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48195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Workflow </a:t>
            </a:r>
            <a:r>
              <a:rPr lang="en-US" altLang="en-US" sz="3200" b="1" dirty="0" err="1">
                <a:solidFill>
                  <a:srgbClr val="3D68AB"/>
                </a:solidFill>
              </a:rPr>
              <a:t>của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66" y="1231719"/>
            <a:ext cx="56007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6178730" y="1502230"/>
          <a:ext cx="5852161" cy="4462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1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effectLst/>
                        </a:rPr>
                        <a:t>Trạng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thái</a:t>
                      </a:r>
                      <a:r>
                        <a:rPr lang="en-US" sz="1800" kern="1200" dirty="0">
                          <a:effectLst/>
                        </a:rPr>
                        <a:t>/Status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Ý </a:t>
                      </a:r>
                      <a:r>
                        <a:rPr lang="en-US" sz="1800" kern="1200" dirty="0" err="1">
                          <a:effectLst/>
                        </a:rPr>
                        <a:t>nghĩa</a:t>
                      </a:r>
                      <a:r>
                        <a:rPr lang="en-US" sz="1800" kern="1200" dirty="0">
                          <a:effectLst/>
                        </a:rPr>
                        <a:t>/Meaning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Open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Mở Defect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1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Assigned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Defect được gán người thực hiện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In Progress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Defect đang được sửa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3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Resolved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Defect đã được sửa chờ được kiểm thử lại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1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Closed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Đóng Defect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1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Cancelled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Hủy Defect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Next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Defect </a:t>
                      </a:r>
                      <a:r>
                        <a:rPr lang="en-US" sz="1800" kern="1200" dirty="0" err="1">
                          <a:effectLst/>
                        </a:rPr>
                        <a:t>được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quyết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định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thống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nhất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sửa</a:t>
                      </a:r>
                      <a:r>
                        <a:rPr lang="en-US" sz="1800" kern="1200" dirty="0"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effectLst/>
                        </a:rPr>
                        <a:t>sau</a:t>
                      </a:r>
                      <a:endParaRPr lang="en-US" sz="1800" kern="12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50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Theo </a:t>
            </a:r>
            <a:r>
              <a:rPr lang="en-US" altLang="en-US" sz="3200" b="1" dirty="0" err="1">
                <a:solidFill>
                  <a:srgbClr val="3D68AB"/>
                </a:solidFill>
              </a:rPr>
              <a:t>dõi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và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kiểm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soát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1338" y="1195252"/>
            <a:ext cx="8534400" cy="45259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000" dirty="0" err="1">
                <a:solidFill>
                  <a:schemeClr val="tx1"/>
                </a:solidFill>
              </a:rPr>
              <a:t>Đối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với</a:t>
            </a:r>
            <a:r>
              <a:rPr lang="en-US" altLang="en-US" sz="2000" dirty="0">
                <a:solidFill>
                  <a:schemeClr val="tx1"/>
                </a:solidFill>
              </a:rPr>
              <a:t> QTDA </a:t>
            </a:r>
            <a:r>
              <a:rPr lang="en-US" altLang="en-US" sz="2000" dirty="0" err="1">
                <a:solidFill>
                  <a:schemeClr val="tx1"/>
                </a:solidFill>
              </a:rPr>
              <a:t>và</a:t>
            </a:r>
            <a:r>
              <a:rPr lang="en-US" altLang="en-US" sz="2000" dirty="0">
                <a:solidFill>
                  <a:schemeClr val="tx1"/>
                </a:solidFill>
              </a:rPr>
              <a:t> Team Lead </a:t>
            </a:r>
            <a:r>
              <a:rPr lang="en-US" altLang="en-US" sz="2000" dirty="0" err="1">
                <a:solidFill>
                  <a:schemeClr val="tx1"/>
                </a:solidFill>
              </a:rPr>
              <a:t>theo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dõi</a:t>
            </a:r>
            <a:r>
              <a:rPr lang="en-US" altLang="en-US" sz="2000" dirty="0">
                <a:solidFill>
                  <a:schemeClr val="tx1"/>
                </a:solidFill>
              </a:rPr>
              <a:t> task </a:t>
            </a:r>
            <a:r>
              <a:rPr lang="en-US" altLang="en-US" sz="2000" dirty="0" err="1">
                <a:solidFill>
                  <a:schemeClr val="tx1"/>
                </a:solidFill>
              </a:rPr>
              <a:t>bằng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cách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sau</a:t>
            </a:r>
            <a:r>
              <a:rPr lang="en-US" altLang="en-US" sz="2000" dirty="0">
                <a:solidFill>
                  <a:schemeClr val="tx1"/>
                </a:solidFill>
              </a:rPr>
              <a:t>:</a:t>
            </a: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en-US" sz="2000" dirty="0" err="1">
                <a:solidFill>
                  <a:schemeClr val="tx1"/>
                </a:solidFill>
              </a:rPr>
              <a:t>Màn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hình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xuất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ra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toàn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bộ</a:t>
            </a:r>
            <a:r>
              <a:rPr lang="en-US" altLang="en-US" sz="2000" dirty="0">
                <a:solidFill>
                  <a:schemeClr val="tx1"/>
                </a:solidFill>
              </a:rPr>
              <a:t> issues </a:t>
            </a:r>
            <a:r>
              <a:rPr lang="en-US" altLang="en-US" sz="2000" dirty="0" err="1">
                <a:solidFill>
                  <a:schemeClr val="tx1"/>
                </a:solidFill>
              </a:rPr>
              <a:t>liên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quan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đến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dự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án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mình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</a:rPr>
              <a:t>làm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Palatino Linotype" panose="02040502050505030304" pitchFamily="18" charset="0"/>
              </a:rPr>
              <a:t>	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1763486"/>
            <a:ext cx="6107656" cy="186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4" y="4383088"/>
            <a:ext cx="6106069" cy="220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02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Theo </a:t>
            </a:r>
            <a:r>
              <a:rPr lang="en-US" altLang="en-US" sz="3200" b="1" dirty="0" err="1">
                <a:solidFill>
                  <a:srgbClr val="3D68AB"/>
                </a:solidFill>
              </a:rPr>
              <a:t>dõi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và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kiểm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soát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0891" y="1600200"/>
            <a:ext cx="8390709" cy="4114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status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“all”.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assignee: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“all”.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“More”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issue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12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Theo </a:t>
            </a:r>
            <a:r>
              <a:rPr lang="en-US" altLang="en-US" sz="3200" b="1" dirty="0" err="1">
                <a:solidFill>
                  <a:srgbClr val="3D68AB"/>
                </a:solidFill>
              </a:rPr>
              <a:t>dõi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và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kiểm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soát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4766" y="1286692"/>
            <a:ext cx="8534400" cy="412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03" y="1129935"/>
            <a:ext cx="640080" cy="555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34323"/>
            <a:ext cx="8092440" cy="415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94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Theo </a:t>
            </a:r>
            <a:r>
              <a:rPr lang="en-US" altLang="en-US" sz="3200" b="1" dirty="0" err="1">
                <a:solidFill>
                  <a:srgbClr val="3D68AB"/>
                </a:solidFill>
              </a:rPr>
              <a:t>dõi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và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kiểm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soát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23900" y="1129938"/>
            <a:ext cx="8534400" cy="41148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 Issue dự án muốn cập nhật</a:t>
            </a:r>
          </a:p>
          <a:p>
            <a:pPr>
              <a:buFontTx/>
              <a:buNone/>
            </a:pP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74" y="1890637"/>
            <a:ext cx="8138160" cy="406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380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Theo </a:t>
            </a:r>
            <a:r>
              <a:rPr lang="en-US" altLang="en-US" sz="3200" b="1" dirty="0" err="1">
                <a:solidFill>
                  <a:srgbClr val="3D68AB"/>
                </a:solidFill>
              </a:rPr>
              <a:t>dõi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và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kiểm</a:t>
            </a:r>
            <a:r>
              <a:rPr lang="en-US" altLang="en-US" sz="3200" b="1" dirty="0">
                <a:solidFill>
                  <a:srgbClr val="3D68AB"/>
                </a:solidFill>
              </a:rPr>
              <a:t> </a:t>
            </a:r>
            <a:r>
              <a:rPr lang="en-US" altLang="en-US" sz="3200" b="1" dirty="0" err="1">
                <a:solidFill>
                  <a:srgbClr val="3D68AB"/>
                </a:solidFill>
              </a:rPr>
              <a:t>soát</a:t>
            </a:r>
            <a:r>
              <a:rPr lang="en-US" altLang="en-US" sz="3200" b="1" dirty="0">
                <a:solidFill>
                  <a:srgbClr val="3D68AB"/>
                </a:solidFill>
              </a:rPr>
              <a:t> Defect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48639" y="953589"/>
            <a:ext cx="8765177" cy="58282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Edit: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or attach file.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Comment: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reporter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Assign: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assign task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More: Bao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sub-task: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 con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 cha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Watchers: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worklog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task.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Clone: Copy issues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issue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progess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/canceled task: Issue status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thúc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isssue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Worklog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add new: Log work 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task/issue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closed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30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TẠO TASK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3900" y="1188719"/>
            <a:ext cx="8610600" cy="54341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100" b="1" dirty="0" err="1">
                <a:solidFill>
                  <a:schemeClr val="tx1"/>
                </a:solidFill>
              </a:rPr>
              <a:t>Bước</a:t>
            </a:r>
            <a:r>
              <a:rPr lang="en-US" altLang="en-US" sz="2100" b="1" dirty="0">
                <a:solidFill>
                  <a:schemeClr val="tx1"/>
                </a:solidFill>
              </a:rPr>
              <a:t> 1:</a:t>
            </a:r>
            <a:r>
              <a:rPr lang="en-US" altLang="en-US" sz="2100" dirty="0">
                <a:solidFill>
                  <a:schemeClr val="tx1"/>
                </a:solidFill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</a:rPr>
              <a:t>Vào</a:t>
            </a:r>
            <a:r>
              <a:rPr lang="en-US" altLang="en-US" sz="2100" dirty="0">
                <a:solidFill>
                  <a:schemeClr val="tx1"/>
                </a:solidFill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</a:rPr>
              <a:t>chức</a:t>
            </a:r>
            <a:r>
              <a:rPr lang="en-US" altLang="en-US" sz="2100" dirty="0">
                <a:solidFill>
                  <a:schemeClr val="tx1"/>
                </a:solidFill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</a:rPr>
              <a:t>năng</a:t>
            </a:r>
            <a:r>
              <a:rPr lang="en-US" altLang="en-US" sz="2100" dirty="0">
                <a:solidFill>
                  <a:schemeClr val="tx1"/>
                </a:solidFill>
              </a:rPr>
              <a:t> Create/Create issues: </a:t>
            </a:r>
            <a:r>
              <a:rPr lang="en-US" altLang="en-US" sz="2100" dirty="0" err="1">
                <a:solidFill>
                  <a:schemeClr val="tx1"/>
                </a:solidFill>
              </a:rPr>
              <a:t>nhập</a:t>
            </a:r>
            <a:r>
              <a:rPr lang="en-US" altLang="en-US" sz="2100" dirty="0">
                <a:solidFill>
                  <a:schemeClr val="tx1"/>
                </a:solidFill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</a:rPr>
              <a:t>các</a:t>
            </a:r>
            <a:r>
              <a:rPr lang="en-US" altLang="en-US" sz="2100" dirty="0">
                <a:solidFill>
                  <a:schemeClr val="tx1"/>
                </a:solidFill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</a:rPr>
              <a:t>trường</a:t>
            </a:r>
            <a:endParaRPr lang="en-US" altLang="en-US" sz="21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  <a:buFontTx/>
              <a:buNone/>
            </a:pPr>
            <a:endParaRPr lang="en-US" altLang="en-US" sz="1600" b="1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Project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  <a:r>
              <a:rPr lang="en-US" altLang="en-US" sz="1600" dirty="0" err="1">
                <a:solidFill>
                  <a:schemeClr val="tx1"/>
                </a:solidFill>
              </a:rPr>
              <a:t>chọn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dự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án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muốn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tạo</a:t>
            </a:r>
            <a:r>
              <a:rPr lang="en-US" altLang="en-US" sz="1600" dirty="0">
                <a:solidFill>
                  <a:schemeClr val="tx1"/>
                </a:solidFill>
              </a:rPr>
              <a:t> (</a:t>
            </a:r>
            <a:r>
              <a:rPr lang="en-US" altLang="en-US" sz="1600" dirty="0" err="1">
                <a:solidFill>
                  <a:schemeClr val="tx1"/>
                </a:solidFill>
              </a:rPr>
              <a:t>theo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datalist</a:t>
            </a:r>
            <a:r>
              <a:rPr lang="en-US" altLang="en-US" sz="1600" dirty="0">
                <a:solidFill>
                  <a:schemeClr val="tx1"/>
                </a:solidFill>
              </a:rPr>
              <a:t>).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Issue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b="1" dirty="0">
                <a:solidFill>
                  <a:schemeClr val="tx1"/>
                </a:solidFill>
              </a:rPr>
              <a:t>Type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  <a:r>
              <a:rPr lang="en-US" altLang="en-US" sz="1600" dirty="0" err="1">
                <a:solidFill>
                  <a:schemeClr val="tx1"/>
                </a:solidFill>
              </a:rPr>
              <a:t>chọn</a:t>
            </a:r>
            <a:r>
              <a:rPr lang="en-US" altLang="en-US" sz="1600" dirty="0">
                <a:solidFill>
                  <a:schemeClr val="tx1"/>
                </a:solidFill>
              </a:rPr>
              <a:t> Task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Summary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  <a:r>
              <a:rPr lang="en-US" altLang="en-US" sz="1600" dirty="0" err="1">
                <a:solidFill>
                  <a:schemeClr val="tx1"/>
                </a:solidFill>
              </a:rPr>
              <a:t>Tên</a:t>
            </a:r>
            <a:r>
              <a:rPr lang="en-US" altLang="en-US" sz="1600" dirty="0">
                <a:solidFill>
                  <a:schemeClr val="tx1"/>
                </a:solidFill>
              </a:rPr>
              <a:t> task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Description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  <a:r>
              <a:rPr lang="en-US" altLang="en-US" sz="1600" dirty="0" err="1">
                <a:solidFill>
                  <a:schemeClr val="tx1"/>
                </a:solidFill>
              </a:rPr>
              <a:t>Mô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tả</a:t>
            </a:r>
            <a:r>
              <a:rPr lang="en-US" altLang="en-US" sz="1600" dirty="0">
                <a:solidFill>
                  <a:schemeClr val="tx1"/>
                </a:solidFill>
              </a:rPr>
              <a:t> chi </a:t>
            </a:r>
            <a:r>
              <a:rPr lang="en-US" altLang="en-US" sz="1600" dirty="0" err="1">
                <a:solidFill>
                  <a:schemeClr val="tx1"/>
                </a:solidFill>
              </a:rPr>
              <a:t>tiết</a:t>
            </a:r>
            <a:r>
              <a:rPr lang="en-US" altLang="en-US" sz="1600" dirty="0">
                <a:solidFill>
                  <a:schemeClr val="tx1"/>
                </a:solidFill>
              </a:rPr>
              <a:t> task </a:t>
            </a:r>
            <a:r>
              <a:rPr lang="en-US" altLang="en-US" sz="1600" dirty="0" err="1">
                <a:solidFill>
                  <a:schemeClr val="tx1"/>
                </a:solidFill>
              </a:rPr>
              <a:t>để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người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được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assgin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dễ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thực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hiện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Component: </a:t>
            </a:r>
            <a:r>
              <a:rPr lang="en-US" altLang="en-US" sz="1600" dirty="0" err="1">
                <a:solidFill>
                  <a:schemeClr val="tx1"/>
                </a:solidFill>
              </a:rPr>
              <a:t>chọn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sản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phẩm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rất</a:t>
            </a:r>
            <a:r>
              <a:rPr lang="en-US" alt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q</a:t>
            </a:r>
            <a:r>
              <a:rPr lang="en-US" altLang="en-US" sz="1600" dirty="0" err="1">
                <a:solidFill>
                  <a:schemeClr val="tx1"/>
                </a:solidFill>
              </a:rPr>
              <a:t>uan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trọng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nhất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vì</a:t>
            </a:r>
            <a:r>
              <a:rPr lang="en-US" altLang="en-US" sz="1600" dirty="0">
                <a:solidFill>
                  <a:schemeClr val="tx1"/>
                </a:solidFill>
              </a:rPr>
              <a:t> link </a:t>
            </a:r>
            <a:r>
              <a:rPr lang="en-US" altLang="en-US" sz="1600" dirty="0" err="1">
                <a:solidFill>
                  <a:schemeClr val="tx1"/>
                </a:solidFill>
              </a:rPr>
              <a:t>đến</a:t>
            </a:r>
            <a:r>
              <a:rPr lang="en-US" altLang="en-US" sz="1600" dirty="0">
                <a:solidFill>
                  <a:schemeClr val="tx1"/>
                </a:solidFill>
              </a:rPr>
              <a:t> version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Assignee: </a:t>
            </a:r>
            <a:r>
              <a:rPr lang="en-US" altLang="en-US" sz="1600" dirty="0">
                <a:solidFill>
                  <a:schemeClr val="tx1"/>
                </a:solidFill>
              </a:rPr>
              <a:t>task </a:t>
            </a:r>
            <a:r>
              <a:rPr lang="en-US" altLang="en-US" sz="1600" dirty="0" err="1">
                <a:solidFill>
                  <a:schemeClr val="tx1"/>
                </a:solidFill>
              </a:rPr>
              <a:t>được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phân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công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cho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ai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Reporter: </a:t>
            </a:r>
            <a:r>
              <a:rPr lang="en-US" altLang="en-US" sz="1600" dirty="0" err="1">
                <a:solidFill>
                  <a:schemeClr val="tx1"/>
                </a:solidFill>
              </a:rPr>
              <a:t>là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người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được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báo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cáo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tình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trạng</a:t>
            </a:r>
            <a:r>
              <a:rPr lang="en-US" altLang="en-US" sz="1600" dirty="0">
                <a:solidFill>
                  <a:schemeClr val="tx1"/>
                </a:solidFill>
              </a:rPr>
              <a:t> task </a:t>
            </a:r>
            <a:r>
              <a:rPr lang="en-US" altLang="en-US" sz="1600" dirty="0" err="1">
                <a:solidFill>
                  <a:schemeClr val="tx1"/>
                </a:solidFill>
              </a:rPr>
              <a:t>này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Start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b="1" dirty="0">
                <a:solidFill>
                  <a:schemeClr val="tx1"/>
                </a:solidFill>
              </a:rPr>
              <a:t>Date</a:t>
            </a:r>
            <a:r>
              <a:rPr lang="en-US" altLang="en-US" sz="1600" dirty="0">
                <a:solidFill>
                  <a:schemeClr val="tx1"/>
                </a:solidFill>
              </a:rPr>
              <a:t>/</a:t>
            </a:r>
            <a:r>
              <a:rPr lang="en-US" altLang="en-US" sz="1600" b="1" dirty="0">
                <a:solidFill>
                  <a:schemeClr val="tx1"/>
                </a:solidFill>
              </a:rPr>
              <a:t>Due date: </a:t>
            </a:r>
            <a:r>
              <a:rPr lang="en-US" altLang="en-US" sz="1600" dirty="0" err="1">
                <a:solidFill>
                  <a:schemeClr val="tx1"/>
                </a:solidFill>
              </a:rPr>
              <a:t>ngày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bắt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đầu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kết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thúc</a:t>
            </a:r>
            <a:r>
              <a:rPr lang="en-US" altLang="en-US" sz="1600" dirty="0">
                <a:solidFill>
                  <a:schemeClr val="tx1"/>
                </a:solidFill>
              </a:rPr>
              <a:t> task 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Original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b="1" dirty="0">
                <a:solidFill>
                  <a:schemeClr val="tx1"/>
                </a:solidFill>
              </a:rPr>
              <a:t>Estimate: </a:t>
            </a:r>
            <a:r>
              <a:rPr lang="en-US" altLang="en-US" sz="1600" dirty="0" err="1">
                <a:solidFill>
                  <a:schemeClr val="tx1"/>
                </a:solidFill>
              </a:rPr>
              <a:t>nguồn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lực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dự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kiến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làm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cho</a:t>
            </a:r>
            <a:r>
              <a:rPr lang="en-US" altLang="en-US" sz="1600" dirty="0">
                <a:solidFill>
                  <a:schemeClr val="tx1"/>
                </a:solidFill>
              </a:rPr>
              <a:t> task (h: hour, d: day, w: week)</a:t>
            </a:r>
            <a:endParaRPr lang="en-US" altLang="en-US" sz="1600" b="1" dirty="0">
              <a:solidFill>
                <a:schemeClr val="tx1"/>
              </a:solidFill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	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93669"/>
            <a:ext cx="6400800" cy="244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153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HƯỚNG DẪN TẠO TASK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600200"/>
            <a:ext cx="8534400" cy="45259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b="1" dirty="0" err="1">
                <a:solidFill>
                  <a:schemeClr val="tx1"/>
                </a:solidFill>
              </a:rPr>
              <a:t>Bước</a:t>
            </a:r>
            <a:r>
              <a:rPr lang="en-US" altLang="en-US" b="1" dirty="0">
                <a:solidFill>
                  <a:schemeClr val="tx1"/>
                </a:solidFill>
              </a:rPr>
              <a:t> 2: </a:t>
            </a:r>
            <a:r>
              <a:rPr lang="en-US" altLang="en-US" dirty="0" err="1">
                <a:solidFill>
                  <a:schemeClr val="tx1"/>
                </a:solidFill>
              </a:rPr>
              <a:t>Nhấn</a:t>
            </a:r>
            <a:r>
              <a:rPr lang="en-US" altLang="en-US" dirty="0">
                <a:solidFill>
                  <a:schemeClr val="tx1"/>
                </a:solidFill>
              </a:rPr>
              <a:t> create </a:t>
            </a:r>
            <a:r>
              <a:rPr lang="en-US" altLang="en-US" dirty="0" err="1">
                <a:solidFill>
                  <a:schemeClr val="tx1"/>
                </a:solidFill>
              </a:rPr>
              <a:t>để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lưu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dữ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liệu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lvl="1">
              <a:buFontTx/>
              <a:buNone/>
            </a:pPr>
            <a:endParaRPr lang="en-US" altLang="en-US" sz="2700" b="1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 algn="ctr">
              <a:buFontTx/>
              <a:buNone/>
            </a:pPr>
            <a:endParaRPr lang="en-US" altLang="en-US" sz="32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 algn="ctr">
              <a:buFontTx/>
              <a:buNone/>
            </a:pPr>
            <a:endParaRPr lang="en-US" altLang="en-US" sz="3200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pPr algn="ctr">
              <a:buFontTx/>
              <a:buNone/>
            </a:pPr>
            <a:r>
              <a:rPr lang="en-US" altLang="en-US" sz="3200" dirty="0">
                <a:solidFill>
                  <a:schemeClr val="tx1"/>
                </a:solidFill>
                <a:latin typeface="Palatino Linotype" panose="02040502050505030304" pitchFamily="18" charset="0"/>
              </a:rPr>
              <a:t>	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0"/>
            <a:ext cx="576262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12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3900" y="195943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3D68AB"/>
                </a:solidFill>
              </a:rPr>
              <a:t>Workflow </a:t>
            </a:r>
            <a:r>
              <a:rPr lang="en-US" altLang="en-US" sz="3200" b="1" dirty="0" err="1">
                <a:solidFill>
                  <a:srgbClr val="3D68AB"/>
                </a:solidFill>
              </a:rPr>
              <a:t>của</a:t>
            </a:r>
            <a:r>
              <a:rPr lang="en-US" altLang="en-US" sz="3200" b="1" dirty="0">
                <a:solidFill>
                  <a:srgbClr val="3D68AB"/>
                </a:solidFill>
              </a:rPr>
              <a:t> Task</a:t>
            </a:r>
            <a:endParaRPr lang="en-US" sz="3200" b="1" dirty="0">
              <a:solidFill>
                <a:srgbClr val="3D68AB"/>
              </a:solidFill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743" y="1251858"/>
            <a:ext cx="44958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374673" y="1669916"/>
          <a:ext cx="5538651" cy="407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Trạng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bg1"/>
                          </a:solidFill>
                        </a:rPr>
                        <a:t>thái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/Status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29" marB="45729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Ý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bg1"/>
                          </a:solidFill>
                        </a:rPr>
                        <a:t>nghĩa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/Meaning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29" marB="45729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Open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</a:rPr>
                        <a:t>Mở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task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In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Progress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Task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002060"/>
                          </a:solidFill>
                        </a:rPr>
                        <a:t>đang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002060"/>
                          </a:solidFill>
                        </a:rPr>
                        <a:t>thực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002060"/>
                          </a:solidFill>
                        </a:rPr>
                        <a:t>hiện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Completed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Task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002060"/>
                          </a:solidFill>
                        </a:rPr>
                        <a:t>đã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002060"/>
                          </a:solidFill>
                        </a:rPr>
                        <a:t>hoàn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rgbClr val="002060"/>
                          </a:solidFill>
                        </a:rPr>
                        <a:t>thành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Closed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</a:rPr>
                        <a:t>Đóng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Task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2060"/>
                          </a:solidFill>
                        </a:rPr>
                        <a:t>Cancelled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</a:rPr>
                        <a:t>Hủy</a:t>
                      </a:r>
                      <a:r>
                        <a:rPr lang="en-US" sz="1800" baseline="0" dirty="0">
                          <a:solidFill>
                            <a:srgbClr val="002060"/>
                          </a:solidFill>
                        </a:rPr>
                        <a:t> Task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826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48195"/>
            <a:ext cx="672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3D68AB"/>
                </a:solidFill>
              </a:rPr>
              <a:t>Worklog</a:t>
            </a:r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8639" y="1031966"/>
            <a:ext cx="3252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1691640" y="1692627"/>
          <a:ext cx="4955048" cy="5011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3" imgW="3876621" imgH="3924294" progId="Visio.Drawing.11">
                  <p:embed/>
                </p:oleObj>
              </mc:Choice>
              <mc:Fallback>
                <p:oleObj name="Visio" r:id="rId3" imgW="3876621" imgH="3924294" progId="Visio.Drawing.11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40" y="1692627"/>
                        <a:ext cx="4955048" cy="5011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402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KHAI BÁO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80772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alt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Các</a:t>
            </a:r>
            <a:r>
              <a:rPr lang="en-US" alt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bước</a:t>
            </a:r>
            <a:r>
              <a:rPr lang="en-US" alt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thực</a:t>
            </a:r>
            <a:r>
              <a:rPr lang="en-US" alt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hiện</a:t>
            </a:r>
            <a:r>
              <a:rPr lang="en-US" alt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worklog</a:t>
            </a:r>
            <a:endParaRPr lang="en-US" altLang="en-US" sz="2200" b="1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algn="l"/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9250" lvl="1" indent="-342900" algn="l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User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có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thể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chọn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theo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điều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kiện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dự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án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hoặc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Issue type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để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lọc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.</a:t>
            </a:r>
            <a:endParaRPr lang="en-US" sz="2000" b="1" dirty="0"/>
          </a:p>
          <a:p>
            <a:pPr lvl="1" algn="l"/>
            <a:endParaRPr lang="en-US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87" y="1842475"/>
            <a:ext cx="8571244" cy="304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36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KHAI BÁO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1167080"/>
            <a:ext cx="716280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Có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2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cách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worklog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endParaRPr lang="en-US" sz="2200" b="1" dirty="0">
              <a:solidFill>
                <a:srgbClr val="002060"/>
              </a:solidFill>
              <a:ea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200" b="1" u="sng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Cách</a:t>
            </a:r>
            <a:r>
              <a:rPr lang="en-US" sz="2200" b="1" u="sng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1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log work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cho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từng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ngày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69335"/>
            <a:ext cx="6400800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5284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KHAI BÁO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1336675"/>
            <a:ext cx="8610600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Date: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Ngày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cần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điền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worklog</a:t>
            </a:r>
            <a:endParaRPr kumimoji="0" lang="en-US" sz="2200" b="1" kern="0" dirty="0">
              <a:solidFill>
                <a:srgbClr val="002060"/>
              </a:solidFill>
              <a:latin typeface="Arial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Hour per day: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số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giờ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làm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cho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một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ngày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(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tối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đa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không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được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quá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24 hours).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Type of work</a:t>
            </a:r>
            <a:r>
              <a:rPr lang="en-US" sz="2000" dirty="0"/>
              <a:t>: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Create: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khi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làm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mới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,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làm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từ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đầu</a:t>
            </a:r>
            <a:endParaRPr kumimoji="0" lang="en-US" sz="2200" b="1" kern="0" dirty="0">
              <a:solidFill>
                <a:srgbClr val="002060"/>
              </a:solidFill>
              <a:latin typeface="Arial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Correct: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Sửa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lỗi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,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làm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lại</a:t>
            </a:r>
            <a:endParaRPr kumimoji="0" lang="en-US" sz="2200" b="1" kern="0" dirty="0">
              <a:solidFill>
                <a:srgbClr val="002060"/>
              </a:solidFill>
              <a:latin typeface="Arial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Study: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nghiên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cứu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,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đào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tạo</a:t>
            </a:r>
            <a:endParaRPr kumimoji="0" lang="en-US" sz="2200" b="1" kern="0" dirty="0">
              <a:solidFill>
                <a:srgbClr val="002060"/>
              </a:solidFill>
              <a:latin typeface="Arial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Review: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xem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xét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, final inspection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Test: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Kiểm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thử</a:t>
            </a:r>
            <a:endParaRPr kumimoji="0" lang="en-US" sz="2200" b="1" kern="0" dirty="0">
              <a:solidFill>
                <a:srgbClr val="002060"/>
              </a:solidFill>
              <a:latin typeface="Arial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Xong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hết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các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trường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thì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nhấp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Log work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để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lưu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dữ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</a:rPr>
              <a:t>liệu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</a:rPr>
              <a:t>.</a:t>
            </a: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  <a:defRPr/>
            </a:pP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7667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KHAI BÁO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1143000"/>
            <a:ext cx="861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Cách 2: Log work nhiều ngày cùng lúc, trong 1 khoảng thời gian (tự động không log work thứ 7 &amp; CN </a:t>
            </a:r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chọn cách điền theo ngày)</a:t>
            </a:r>
          </a:p>
          <a:p>
            <a:pPr marL="342900"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Cách thực hiện như log work từng ngày, nhưng có thêm end date.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000" b="1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89" y="2372542"/>
            <a:ext cx="7200899" cy="417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636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143000"/>
            <a:ext cx="3657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9250" lvl="1" indent="-228600" algn="l">
              <a:buFont typeface="Wingdings" panose="05000000000000000000" pitchFamily="2" charset="2"/>
              <a:buChar char="v"/>
            </a:pPr>
            <a:r>
              <a:rPr lang="en-US" altLang="en-US" sz="2200" b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Xem theo từng dự án 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26584"/>
            <a:ext cx="8762999" cy="459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35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143000"/>
            <a:ext cx="4267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9250" lvl="1" indent="-228600" algn="l">
              <a:buFont typeface="Wingdings" panose="05000000000000000000" pitchFamily="2" charset="2"/>
              <a:buChar char="v"/>
            </a:pP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Xem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tổng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worklog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đã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điền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638" y="1586185"/>
            <a:ext cx="1590362" cy="27574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445895"/>
            <a:ext cx="8839200" cy="231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7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39" y="294361"/>
            <a:ext cx="672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1" y="1143000"/>
            <a:ext cx="87629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9250" lvl="1" indent="-228600" algn="l">
              <a:buFont typeface="Wingdings" panose="05000000000000000000" pitchFamily="2" charset="2"/>
              <a:buChar char="v"/>
            </a:pP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Khi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muốn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điều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chỉnh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worklog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thì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click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vào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ngày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đó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để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Edit (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trạng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thái</a:t>
            </a:r>
            <a:r>
              <a:rPr lang="en-US" altLang="en-US" sz="22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pending/reject)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91298"/>
            <a:ext cx="8793783" cy="34287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6" y="5592132"/>
            <a:ext cx="7342857" cy="8952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299" y="2717075"/>
            <a:ext cx="3924701" cy="33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3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CHỈNH SỬA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4800" y="1066800"/>
            <a:ext cx="8763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Thao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tác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edit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: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Chọn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issue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đã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điền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Chọn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cần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edit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Click icon edit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 Update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thông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tin (Date, Hour per day, Type of work)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Click button Save</a:t>
            </a:r>
          </a:p>
          <a:p>
            <a:pPr marL="342900" lvl="1" indent="-342900" algn="l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Lưu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ý: </a:t>
            </a:r>
            <a:r>
              <a:rPr kumimoji="0" lang="vi-VN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Chỉ Worklog có status = Pending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/</a:t>
            </a:r>
            <a:r>
              <a:rPr kumimoji="0" lang="vi-VN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Reject mới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được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vi-VN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edit</a:t>
            </a: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45" y="4826726"/>
            <a:ext cx="8686800" cy="155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72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XÓA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1143001"/>
            <a:ext cx="8610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Các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thao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tác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delete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: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Chọn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issue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muốn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delete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Select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cần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Delete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Click icon Delete</a:t>
            </a:r>
          </a:p>
          <a:p>
            <a:pPr marL="800100" lvl="1" indent="-34290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Click button Delete</a:t>
            </a:r>
          </a:p>
          <a:p>
            <a:pPr marL="0" lvl="1" algn="l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2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Lưu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ý: </a:t>
            </a:r>
            <a:r>
              <a:rPr kumimoji="0" lang="vi-VN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Chỉ có Worklog có status = Pending, Reject mới có thể </a:t>
            </a:r>
            <a:r>
              <a:rPr kumimoji="0" lang="en-US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delete </a:t>
            </a:r>
            <a:r>
              <a:rPr kumimoji="0" lang="vi-VN" sz="22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được</a:t>
            </a: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2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143"/>
            <a:ext cx="8076190" cy="137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04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XÓA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0" y="1469571"/>
            <a:ext cx="886104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28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XÉT VÀ DUYỆT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990600"/>
            <a:ext cx="8839200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Mục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approve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worklog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dùng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cho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các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đối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tượng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: PL, TL, QA, PM (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nên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khi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search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dữ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liệu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sẽ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rất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nhiều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,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người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approve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cần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filter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để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lấy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ra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các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account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mình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approve)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Nguyên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tắc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phân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quyền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approve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như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sau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Trường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hợp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account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được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gán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vào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1 team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thì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Team Lead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chịu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trách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nhiệm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approve/reject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18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Trường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hợp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account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được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gán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vào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từ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2 teams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thì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Project Lead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chịu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trách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nhiệm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approve/reject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Trường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hợp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account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không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được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gán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vào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bất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kỳ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một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project team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nào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thì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Project Lead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chịu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trách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nhiệm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approve/reject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Project Manager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chỉ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có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quyền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view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worklog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của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các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members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khác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trong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dự</a:t>
            </a:r>
            <a:r>
              <a:rPr kumimoji="0" lang="en-US" sz="18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1800" b="1" kern="0" dirty="0" err="1">
                <a:solidFill>
                  <a:srgbClr val="002060"/>
                </a:solidFill>
                <a:latin typeface="Arial" charset="0"/>
              </a:rPr>
              <a:t>án</a:t>
            </a:r>
            <a:endParaRPr kumimoji="0" lang="en-US" sz="1800" b="1" kern="0" dirty="0">
              <a:solidFill>
                <a:srgbClr val="002060"/>
              </a:solidFill>
              <a:latin typeface="Arial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lang="en-US" sz="1800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lang="en-US" sz="1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13107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XÉT VÀ DUYỆT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1143000"/>
            <a:ext cx="8610600" cy="52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Cách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thức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thực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hiện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như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sau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Xuất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ra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toàn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bộ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worklog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các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dự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án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mình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tham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gia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với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vai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trò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PL/TL/PM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endParaRPr lang="en-US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lang="en-US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lang="en-US" dirty="0">
              <a:sym typeface="Wingdings" pitchFamily="2" charset="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1598881"/>
            <a:ext cx="8339546" cy="411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85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XÉT VÀ DUYỆT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18010" y="1243148"/>
            <a:ext cx="8991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Chọn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lại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điều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kiện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log,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ví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dụ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như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Project/user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để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approve.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Chú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ý: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vì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dự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án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cho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phép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TL/PM/PL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thấy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được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worklog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của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thành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viên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dự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án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,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nên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chỉ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những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người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có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nút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check approve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mới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thuộc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quyền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approve.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Người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có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quyền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approve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chọn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record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và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tiến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</a:rPr>
              <a:t>hành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</a:rPr>
              <a:t> approve or reject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Khi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reject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sẽ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có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mail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thông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báo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cho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người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bị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reject,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người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bị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reject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vào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điều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r>
              <a:rPr kumimoji="0" lang="en-US" sz="2000" b="1" kern="0" dirty="0" err="1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chỉnh</a:t>
            </a: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kumimoji="0" lang="en-US" sz="2000" b="1" kern="0" dirty="0">
              <a:solidFill>
                <a:srgbClr val="002060"/>
              </a:solidFill>
              <a:latin typeface="Arial" charset="0"/>
              <a:sym typeface="Wingdings" pitchFamily="2" charset="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2000" b="1" kern="0" dirty="0">
                <a:solidFill>
                  <a:srgbClr val="002060"/>
                </a:solidFill>
                <a:latin typeface="Arial" charset="0"/>
                <a:sym typeface="Wingdings" pitchFamily="2" charset="2"/>
              </a:rPr>
              <a:t> </a:t>
            </a:r>
            <a:endParaRPr lang="en-US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lang="en-US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19792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XÉT VÀ DUYỆT WORKLO</a:t>
            </a:r>
            <a:r>
              <a:rPr lang="en-US" sz="3200" b="1" kern="0" dirty="0">
                <a:solidFill>
                  <a:srgbClr val="333399"/>
                </a:solidFill>
                <a:latin typeface="Arial" charset="0"/>
              </a:rPr>
              <a:t>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03" y="1478280"/>
            <a:ext cx="8458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53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0" y="309880"/>
            <a:ext cx="67219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D68AB"/>
                </a:solidFill>
              </a:rPr>
              <a:t>XEM XÉT VÀ DUYỆT WORKLOG</a:t>
            </a:r>
          </a:p>
          <a:p>
            <a:endParaRPr lang="en-US" sz="3200" b="1" dirty="0">
              <a:solidFill>
                <a:srgbClr val="3D68AB"/>
              </a:solidFill>
            </a:endParaRPr>
          </a:p>
          <a:p>
            <a:endParaRPr lang="en-US" sz="3200" b="1" dirty="0">
              <a:solidFill>
                <a:srgbClr val="3D68AB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03" y="1478280"/>
            <a:ext cx="8458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63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0145" y="1961495"/>
            <a:ext cx="6313511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5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 &amp; A </a:t>
            </a:r>
          </a:p>
        </p:txBody>
      </p:sp>
    </p:spTree>
    <p:extLst>
      <p:ext uri="{BB962C8B-B14F-4D97-AF65-F5344CB8AC3E}">
        <p14:creationId xmlns:p14="http://schemas.microsoft.com/office/powerpoint/2010/main" val="206239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6">
      <a:dk1>
        <a:srgbClr val="1C3661"/>
      </a:dk1>
      <a:lt1>
        <a:sysClr val="window" lastClr="FFFFFF"/>
      </a:lt1>
      <a:dk2>
        <a:srgbClr val="080808"/>
      </a:dk2>
      <a:lt2>
        <a:srgbClr val="FFFFFF"/>
      </a:lt2>
      <a:accent1>
        <a:srgbClr val="1C3661"/>
      </a:accent1>
      <a:accent2>
        <a:srgbClr val="C11F34"/>
      </a:accent2>
      <a:accent3>
        <a:srgbClr val="4890E8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Custom 1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385C91EDB08D4180A00D106AA8D882" ma:contentTypeVersion="15" ma:contentTypeDescription="Create a new document." ma:contentTypeScope="" ma:versionID="35387b29b02e30efd280b6b54b57f095">
  <xsd:schema xmlns:xsd="http://www.w3.org/2001/XMLSchema" xmlns:xs="http://www.w3.org/2001/XMLSchema" xmlns:p="http://schemas.microsoft.com/office/2006/metadata/properties" xmlns:ns2="8d920d3e-33b3-452a-aa1b-46134d61a1c4" xmlns:ns3="46e22fef-b27b-48be-b301-6f43041f2c0d" targetNamespace="http://schemas.microsoft.com/office/2006/metadata/properties" ma:root="true" ma:fieldsID="07f4b2c02a66b244251f068d3cebbb5e" ns2:_="" ns3:_="">
    <xsd:import namespace="8d920d3e-33b3-452a-aa1b-46134d61a1c4"/>
    <xsd:import namespace="46e22fef-b27b-48be-b301-6f43041f2c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20d3e-33b3-452a-aa1b-46134d61a1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22fef-b27b-48be-b301-6f43041f2c0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1e3c645b-ed30-4fde-b21a-9548686196a7}" ma:internalName="TaxCatchAll" ma:showField="CatchAllData" ma:web="46e22fef-b27b-48be-b301-6f43041f2c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e22fef-b27b-48be-b301-6f43041f2c0d" xsi:nil="true"/>
    <lcf76f155ced4ddcb4097134ff3c332f xmlns="8d920d3e-33b3-452a-aa1b-46134d61a1c4">
      <Terms xmlns="http://schemas.microsoft.com/office/infopath/2007/PartnerControls"/>
    </lcf76f155ced4ddcb4097134ff3c332f>
    <SharedWithUsers xmlns="46e22fef-b27b-48be-b301-6f43041f2c0d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7D4C011-B9F7-4919-8BD5-16CDA9FD9973}">
  <ds:schemaRefs>
    <ds:schemaRef ds:uri="46e22fef-b27b-48be-b301-6f43041f2c0d"/>
    <ds:schemaRef ds:uri="8d920d3e-33b3-452a-aa1b-46134d61a1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DBE676F-CFD0-43B6-AE2C-CC97889B03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20DD01-BCEF-4487-B899-3F2C820AB048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46e22fef-b27b-48be-b301-6f43041f2c0d"/>
    <ds:schemaRef ds:uri="8d920d3e-33b3-452a-aa1b-46134d61a1c4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1505</Words>
  <Application>Microsoft Office PowerPoint</Application>
  <PresentationFormat>Widescreen</PresentationFormat>
  <Paragraphs>256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Cambria</vt:lpstr>
      <vt:lpstr>Lato</vt:lpstr>
      <vt:lpstr>Palatino Linotype</vt:lpstr>
      <vt:lpstr>Times New Roman</vt:lpstr>
      <vt:lpstr>Wingdings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ĐHBKHN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ĐHBKHN</dc:subject>
  <dc:creator>CĐS-ĐHBKHN</dc:creator>
  <cp:keywords>#CĐS-ĐHBKHN</cp:keywords>
  <dc:description>ĐHBKHN</dc:description>
  <cp:lastModifiedBy>Anh Le Tuan</cp:lastModifiedBy>
  <cp:revision>93</cp:revision>
  <dcterms:created xsi:type="dcterms:W3CDTF">2021-05-28T04:32:29Z</dcterms:created>
  <dcterms:modified xsi:type="dcterms:W3CDTF">2025-08-06T08:21:15Z</dcterms:modified>
  <cp:category>CĐS-ĐHBKHN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0x01010083385C91EDB08D4180A00D106AA8D882</vt:lpwstr>
  </property>
  <property fmtid="{D5CDD505-2E9C-101B-9397-08002B2CF9AE}" pid="3" name="MediaServiceImageTags">
    <vt:lpwstr/>
  </property>
  <property fmtid="{D5CDD505-2E9C-101B-9397-08002B2CF9AE}" pid="4" name="Order">
    <vt:r8>7250600</vt:r8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