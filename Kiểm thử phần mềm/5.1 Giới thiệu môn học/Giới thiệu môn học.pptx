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Source Code Pro" panose="020B050903040302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C3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B90263-BD32-416F-A076-957E791838ED}">
  <a:tblStyle styleId="{5AB90263-BD32-416F-A076-957E791838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321FB1-01FA-414A-B6DE-93ADF2C7AAF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19"/>
    <p:restoredTop sz="94698"/>
  </p:normalViewPr>
  <p:slideViewPr>
    <p:cSldViewPr snapToGrid="0">
      <p:cViewPr varScale="1">
        <p:scale>
          <a:sx n="78" d="100"/>
          <a:sy n="78" d="100"/>
        </p:scale>
        <p:origin x="122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4f225066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e4f225066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a699e5dd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a699e5dd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a699e5dd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a699e5dd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729AA3-0883-9AA0-B1AB-F90787C99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368" y="273071"/>
            <a:ext cx="6179625" cy="733500"/>
          </a:xfrm>
        </p:spPr>
        <p:txBody>
          <a:bodyPr anchor="ctr">
            <a:noAutofit/>
          </a:bodyPr>
          <a:lstStyle>
            <a:lvl1pPr>
              <a:defRPr lang="en-VN" sz="2400" i="0">
                <a:solidFill>
                  <a:srgbClr val="1C3661"/>
                </a:solidFill>
                <a:cs typeface="Lato" panose="020F0502020204030203" pitchFamily="34" charset="0"/>
              </a:defRPr>
            </a:lvl1pPr>
          </a:lstStyle>
          <a:p>
            <a:pPr marL="0" lvl="0" algn="ctr" defTabSz="914400" eaLnBrk="1" latinLnBrk="0" hangingPunct="1">
              <a:spcBef>
                <a:spcPct val="0"/>
              </a:spcBef>
              <a:buNone/>
            </a:pPr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877C5B3-33FD-BE79-8F92-43D8D0F774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368" y="1006572"/>
            <a:ext cx="6189662" cy="733500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pPr lvl="0"/>
            <a:r>
              <a:rPr lang="en-US"/>
              <a:t>Tiêu đề bài học</a:t>
            </a:r>
            <a:endParaRPr lang="en-VN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8F3E5EA-1D9B-9F55-7DAE-5DF118E6C5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413" y="2039937"/>
            <a:ext cx="6048375" cy="1363491"/>
          </a:xfrm>
        </p:spPr>
        <p:txBody>
          <a:bodyPr>
            <a:noAutofit/>
          </a:bodyPr>
          <a:lstStyle>
            <a:lvl1pPr algn="just">
              <a:defRPr sz="3400" b="0" i="1">
                <a:solidFill>
                  <a:srgbClr val="002060"/>
                </a:solidFill>
              </a:defRPr>
            </a:lvl1pPr>
            <a:lvl2pPr>
              <a:defRPr sz="3400"/>
            </a:lvl2pPr>
            <a:lvl3pPr>
              <a:defRPr sz="3400"/>
            </a:lvl3pPr>
            <a:lvl4pPr>
              <a:defRPr sz="3400"/>
            </a:lvl4pPr>
            <a:lvl5pPr>
              <a:defRPr sz="3400"/>
            </a:lvl5pPr>
          </a:lstStyle>
          <a:p>
            <a:pPr lvl="0"/>
            <a:r>
              <a:rPr lang="en-VN"/>
              <a:t>Biên soạn: ………………………………..</a:t>
            </a:r>
          </a:p>
          <a:p>
            <a:pPr lvl="0"/>
            <a:r>
              <a:rPr lang="en-VN"/>
              <a:t>Trình bày: ………………………………..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752284" y="4791919"/>
            <a:ext cx="322264" cy="26621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>
              <a:defRPr lang="vi" sz="1400" kern="120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</a:lstStyle>
          <a:p>
            <a:pPr algn="ctr"/>
            <a:fld id="{00000000-1234-1234-1234-123412341234}" type="slidenum">
              <a:rPr lang="en-VN"/>
              <a:pPr algn="ctr"/>
              <a:t>‹#›</a:t>
            </a:fld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53C3E-B530-4700-0CEA-1C2F76091A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774" y="92597"/>
            <a:ext cx="8149684" cy="405114"/>
          </a:xfrm>
        </p:spPr>
        <p:txBody>
          <a:bodyPr/>
          <a:lstStyle>
            <a:lvl1pPr algn="just">
              <a:defRPr sz="2400" i="0"/>
            </a:lvl1pPr>
          </a:lstStyle>
          <a:p>
            <a:r>
              <a:rPr lang="en-GB" dirty="0"/>
              <a:t>NỘI DUNG BÀI HỌC (CÁC NỘI DUNG CHÍNH)</a:t>
            </a:r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B87CE-3791-80A1-D16C-AA73785F49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64388" y="647700"/>
            <a:ext cx="8591550" cy="4144963"/>
          </a:xfrm>
        </p:spPr>
        <p:txBody>
          <a:bodyPr>
            <a:normAutofit/>
          </a:bodyPr>
          <a:lstStyle>
            <a:lvl1pPr marL="514350" indent="-514350" algn="just">
              <a:buFont typeface="+mj-lt"/>
              <a:buAutoNum type="arabicPeriod"/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Nội dung 1</a:t>
            </a:r>
          </a:p>
          <a:p>
            <a:pPr lvl="0"/>
            <a:r>
              <a:rPr lang="en-US"/>
              <a:t>Nội dung 2</a:t>
            </a:r>
          </a:p>
          <a:p>
            <a:pPr lvl="0"/>
            <a:r>
              <a:rPr lang="en-US"/>
              <a:t>Nội dung 3</a:t>
            </a:r>
          </a:p>
          <a:p>
            <a:pPr lvl="0"/>
            <a:r>
              <a:rPr lang="en-US"/>
              <a:t>…..</a:t>
            </a:r>
            <a:endParaRPr lang="en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76774" y="1468825"/>
            <a:ext cx="6179625" cy="733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i="1" dirty="0">
                <a:solidFill>
                  <a:srgbClr val="1C36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Khoa/Viện/</a:t>
            </a:r>
            <a:r>
              <a:rPr lang="en-US" sz="2600" i="1" dirty="0" err="1">
                <a:solidFill>
                  <a:srgbClr val="1C36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Nhóm</a:t>
            </a:r>
            <a:r>
              <a:rPr lang="en-US" sz="2600" i="1" dirty="0">
                <a:solidFill>
                  <a:srgbClr val="1C36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rgbClr val="1C36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chuyên</a:t>
            </a:r>
            <a:r>
              <a:rPr lang="en-US" sz="2600" i="1" dirty="0">
                <a:solidFill>
                  <a:srgbClr val="1C36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rgbClr val="1C366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môn</a:t>
            </a: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76774" y="2202325"/>
            <a:ext cx="6179626" cy="8804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algn="just" defTabSz="914400" eaLnBrk="1" latinLnBrk="0" hangingPunct="1">
              <a:spcBef>
                <a:spcPct val="0"/>
              </a:spcBef>
              <a:buNone/>
            </a:pPr>
            <a:r>
              <a:rPr lang="vi-VN"/>
              <a:t>TÊN HỌC PHẦN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600" b="1" i="1" u="none" strike="noStrike" kern="1200" cap="none">
          <a:solidFill>
            <a:srgbClr val="1C3661"/>
          </a:solidFill>
          <a:latin typeface="Cambria" panose="02040503050406030204" pitchFamily="18" charset="0"/>
          <a:ea typeface="Cambria" panose="02040503050406030204" pitchFamily="18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ct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600" b="1" i="0" u="none" strike="noStrike" kern="1200" cap="none">
          <a:solidFill>
            <a:srgbClr val="C00000"/>
          </a:solidFill>
          <a:latin typeface="Cambria" panose="02040503050406030204" pitchFamily="18" charset="0"/>
          <a:ea typeface="Cambria" panose="02040503050406030204" pitchFamily="18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14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PHẦN MỀM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4294967295"/>
          </p:nvPr>
        </p:nvSpPr>
        <p:spPr>
          <a:xfrm>
            <a:off x="2942303" y="2045600"/>
            <a:ext cx="3259393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/>
              <a:t>Giáo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: </a:t>
            </a:r>
            <a:r>
              <a:rPr lang="en-US" sz="2000" dirty="0" err="1"/>
              <a:t>Nguyễn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endParaRPr lang="en-US" sz="20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môn</a:t>
            </a:r>
            <a:r>
              <a:rPr lang="en-US" sz="2000" dirty="0"/>
              <a:t>: CNPM-EAUT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Email: ngant2.eaut.edu.vn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Mobile: 0946.046.662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4D7524-519A-7AC3-2B4D-EEC6DA85E0F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1</a:t>
            </a:fld>
            <a:endParaRPr lang="vi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28FE5-8F89-BE21-01DC-9BE561F2206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algn="ctr"/>
            <a:fld id="{00000000-1234-1234-1234-123412341234}" type="slidenum">
              <a:rPr lang="en-VN"/>
              <a:pPr algn="ctr"/>
              <a:t>2</a:t>
            </a:fld>
            <a:endParaRPr lang="en-V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A9D408-53AA-284C-6F14-1D7D7CE34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"/>
              <a:t>Nội dung chương trình học</a:t>
            </a:r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09370-DEF5-9E29-2809-2DF3B1FFA94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marR="0" indent="0" algn="l" rtl="0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400" b="0" dirty="0">
                <a:ea typeface="Arial" panose="020B0604020202020204" pitchFamily="34" charset="0"/>
              </a:rPr>
              <a:t> </a:t>
            </a:r>
            <a:r>
              <a:rPr lang="vi-VN" sz="2400" b="0" i="0" u="none" strike="noStrike" dirty="0">
                <a:effectLst/>
                <a:ea typeface="Arial" panose="020B0604020202020204" pitchFamily="34" charset="0"/>
              </a:rPr>
              <a:t>Cơ bản về kiểm thử phần mềm</a:t>
            </a:r>
            <a:endParaRPr lang="en-VN" sz="2400" b="0" i="0" u="none" strike="noStrike" dirty="0">
              <a:effectLst/>
            </a:endParaRPr>
          </a:p>
          <a:p>
            <a:pPr marL="0" marR="0" indent="0" algn="l" rtl="0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400" b="0" i="0" u="none" strike="noStrike" dirty="0">
                <a:effectLst/>
                <a:ea typeface="Arial" panose="020B0604020202020204" pitchFamily="34" charset="0"/>
              </a:rPr>
              <a:t> Kiểm thử trong vòng đời phát triển phần mềm</a:t>
            </a:r>
            <a:endParaRPr lang="en-VN" sz="2400" b="0" i="0" u="none" strike="noStrike" dirty="0">
              <a:effectLst/>
            </a:endParaRPr>
          </a:p>
          <a:p>
            <a:pPr marL="0" marR="0" indent="0" algn="l" rtl="0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400" b="0" i="0" u="none" strike="noStrike" dirty="0">
                <a:effectLst/>
                <a:ea typeface="Arial" panose="020B0604020202020204" pitchFamily="34" charset="0"/>
              </a:rPr>
              <a:t> Kỹ thuật kiểm thử tĩnh</a:t>
            </a:r>
            <a:endParaRPr lang="en-VN" sz="2400" b="0" i="0" u="none" strike="noStrike" dirty="0">
              <a:effectLst/>
            </a:endParaRPr>
          </a:p>
          <a:p>
            <a:pPr marL="0" marR="0" indent="0" algn="l" rtl="0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400" b="0" i="0" u="none" strike="noStrike" dirty="0">
                <a:effectLst/>
                <a:ea typeface="Arial" panose="020B0604020202020204" pitchFamily="34" charset="0"/>
              </a:rPr>
              <a:t> Phân tích và thiết kế </a:t>
            </a:r>
            <a:r>
              <a:rPr lang="vi-VN" sz="2400" b="0" i="0" u="none" strike="noStrike" dirty="0" err="1">
                <a:effectLst/>
                <a:ea typeface="Arial" panose="020B0604020202020204" pitchFamily="34" charset="0"/>
              </a:rPr>
              <a:t>test</a:t>
            </a:r>
            <a:r>
              <a:rPr lang="en-US" sz="2400" b="0" i="0" u="none" strike="noStrike" dirty="0">
                <a:effectLst/>
                <a:ea typeface="Arial" panose="020B0604020202020204" pitchFamily="34" charset="0"/>
              </a:rPr>
              <a:t>ca</a:t>
            </a:r>
            <a:r>
              <a:rPr lang="vi-VN" sz="2400" b="0" i="0" u="none" strike="noStrike" dirty="0">
                <a:effectLst/>
                <a:ea typeface="Arial" panose="020B0604020202020204" pitchFamily="34" charset="0"/>
              </a:rPr>
              <a:t>s</a:t>
            </a:r>
            <a:r>
              <a:rPr lang="en-US" sz="2400" b="0" i="0" u="none" strike="noStrike" dirty="0">
                <a:effectLst/>
                <a:ea typeface="Arial" panose="020B0604020202020204" pitchFamily="34" charset="0"/>
              </a:rPr>
              <a:t>e</a:t>
            </a:r>
            <a:endParaRPr lang="en-VN" sz="2400" b="0" i="0" u="none" strike="noStrike" dirty="0">
              <a:effectLst/>
            </a:endParaRPr>
          </a:p>
          <a:p>
            <a:pPr marL="0" marR="0" indent="0" algn="l" rtl="0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400" b="0" i="0" u="none" strike="noStrike" dirty="0">
                <a:effectLst/>
                <a:ea typeface="Arial" panose="020B0604020202020204" pitchFamily="34" charset="0"/>
              </a:rPr>
              <a:t> Quản lý các hoạt động kiểm thử</a:t>
            </a:r>
            <a:endParaRPr lang="en-VN" sz="2400" b="0" i="0" u="none" strike="noStrike" dirty="0">
              <a:effectLst/>
            </a:endParaRPr>
          </a:p>
          <a:p>
            <a:pPr marL="0" marR="0" indent="0" algn="l" rtl="0" fontAlgn="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400" b="0" i="0" u="none" strike="noStrike" dirty="0">
                <a:effectLst/>
                <a:ea typeface="Arial" panose="020B0604020202020204" pitchFamily="34" charset="0"/>
              </a:rPr>
              <a:t> Công cụ kiểm thử</a:t>
            </a:r>
            <a:endParaRPr lang="en-VN" sz="2400" b="0" i="0" u="none" strike="noStrike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endParaRPr lang="en-VN" sz="2400" dirty="0"/>
          </a:p>
          <a:p>
            <a:pPr>
              <a:lnSpc>
                <a:spcPct val="150000"/>
              </a:lnSpc>
            </a:pPr>
            <a:endParaRPr lang="en-V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200A-C2D3-972E-6F89-1138594A32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fld id="{00000000-1234-1234-1234-123412341234}" type="slidenum">
              <a:rPr lang="en-VN"/>
              <a:pPr algn="ctr"/>
              <a:t>3</a:t>
            </a:fld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940DC-02A0-752A-794E-29119D03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D9F0E-8127-EC06-0DF4-A13802A47EE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1692" y="647700"/>
            <a:ext cx="8374245" cy="4144963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</a:rPr>
              <a:t>1. </a:t>
            </a:r>
            <a:r>
              <a:rPr lang="en-US" sz="2400" b="1" dirty="0" err="1">
                <a:latin typeface="Cambria" panose="02040503050406030204" pitchFamily="18" charset="0"/>
              </a:rPr>
              <a:t>Chấp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hành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nội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quy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giờ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học</a:t>
            </a:r>
            <a:r>
              <a:rPr lang="en-US" sz="2400" b="1" dirty="0">
                <a:latin typeface="Cambria" panose="02040503050406030204" pitchFamily="18" charset="0"/>
              </a:rPr>
              <a:t>: </a:t>
            </a:r>
            <a:r>
              <a:rPr lang="en-US" sz="2400" b="1" dirty="0" err="1">
                <a:latin typeface="Cambria" panose="02040503050406030204" pitchFamily="18" charset="0"/>
              </a:rPr>
              <a:t>Đi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học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đúng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giờ</a:t>
            </a:r>
            <a:r>
              <a:rPr lang="en-US" sz="2400" b="1" dirty="0">
                <a:latin typeface="Cambria" panose="02040503050406030204" pitchFamily="18" charset="0"/>
              </a:rPr>
              <a:t>. Báo </a:t>
            </a:r>
            <a:r>
              <a:rPr lang="en-US" sz="2400" b="1" dirty="0" err="1">
                <a:latin typeface="Cambria" panose="02040503050406030204" pitchFamily="18" charset="0"/>
              </a:rPr>
              <a:t>điểm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danh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sau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khi</a:t>
            </a:r>
            <a:r>
              <a:rPr lang="en-US" sz="2400" b="1" dirty="0">
                <a:latin typeface="Cambria" panose="02040503050406030204" pitchFamily="18" charset="0"/>
              </a:rPr>
              <a:t> GV </a:t>
            </a:r>
            <a:r>
              <a:rPr lang="en-US" sz="2400" b="1" dirty="0" err="1">
                <a:latin typeface="Cambria" panose="02040503050406030204" pitchFamily="18" charset="0"/>
              </a:rPr>
              <a:t>đọc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tên</a:t>
            </a:r>
            <a:r>
              <a:rPr lang="en-US" sz="2400" b="1" dirty="0">
                <a:latin typeface="Cambria" panose="02040503050406030204" pitchFamily="18" charset="0"/>
              </a:rPr>
              <a:t> -&gt; </a:t>
            </a:r>
            <a:r>
              <a:rPr lang="en-US" sz="2400" b="1" dirty="0" err="1">
                <a:latin typeface="Cambria" panose="02040503050406030204" pitchFamily="18" charset="0"/>
              </a:rPr>
              <a:t>đi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muộn</a:t>
            </a:r>
            <a:endParaRPr lang="en-US" sz="2400" b="1" dirty="0">
              <a:latin typeface="Cambria" panose="0204050305040603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</a:rPr>
              <a:t>2. </a:t>
            </a:r>
            <a:r>
              <a:rPr lang="en-US" sz="2400" b="1" dirty="0" err="1">
                <a:latin typeface="Cambria" panose="02040503050406030204" pitchFamily="18" charset="0"/>
              </a:rPr>
              <a:t>Đánh</a:t>
            </a:r>
            <a:r>
              <a:rPr lang="en-US" sz="2400" b="1" dirty="0">
                <a:latin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</a:rPr>
              <a:t>giá</a:t>
            </a:r>
            <a:endParaRPr lang="en-US" sz="2400" b="1" dirty="0">
              <a:latin typeface="Cambria" panose="02040503050406030204" pitchFamily="18" charset="0"/>
            </a:endParaRPr>
          </a:p>
          <a:p>
            <a:pPr lvl="1" algn="just">
              <a:lnSpc>
                <a:spcPct val="150000"/>
              </a:lnSpc>
              <a:buFont typeface="Source Code Pro" panose="020B0509030403020204" pitchFamily="49" charset="0"/>
              <a:buChar char="-"/>
            </a:pPr>
            <a:r>
              <a:rPr lang="en-US" sz="2400" dirty="0" err="1">
                <a:latin typeface="Cambria" panose="02040503050406030204" pitchFamily="18" charset="0"/>
              </a:rPr>
              <a:t>Điểm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chuyên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cần</a:t>
            </a:r>
            <a:r>
              <a:rPr lang="en-US" sz="2400" dirty="0">
                <a:latin typeface="Cambria" panose="02040503050406030204" pitchFamily="18" charset="0"/>
              </a:rPr>
              <a:t>: 10% (</a:t>
            </a:r>
            <a:r>
              <a:rPr lang="en-US" sz="2400" dirty="0" err="1">
                <a:latin typeface="Cambria" panose="02040503050406030204" pitchFamily="18" charset="0"/>
              </a:rPr>
              <a:t>đi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học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đầy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đủ</a:t>
            </a:r>
            <a:r>
              <a:rPr lang="en-US" sz="2400" dirty="0">
                <a:latin typeface="Cambria" panose="02040503050406030204" pitchFamily="18" charset="0"/>
              </a:rPr>
              <a:t> 7 </a:t>
            </a:r>
            <a:r>
              <a:rPr lang="en-US" sz="2400" dirty="0" err="1">
                <a:latin typeface="Cambria" panose="02040503050406030204" pitchFamily="18" charset="0"/>
              </a:rPr>
              <a:t>điểm</a:t>
            </a:r>
            <a:r>
              <a:rPr lang="en-US" sz="2400" dirty="0">
                <a:latin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</a:rPr>
              <a:t>làm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bài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tập</a:t>
            </a:r>
            <a:r>
              <a:rPr lang="en-US" sz="2400" dirty="0">
                <a:latin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</a:rPr>
              <a:t>phát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biểu</a:t>
            </a:r>
            <a:r>
              <a:rPr lang="en-US" sz="2400" dirty="0">
                <a:latin typeface="Cambria" panose="02040503050406030204" pitchFamily="18" charset="0"/>
              </a:rPr>
              <a:t> 3 </a:t>
            </a:r>
            <a:r>
              <a:rPr lang="en-US" sz="2400" dirty="0" err="1">
                <a:latin typeface="Cambria" panose="02040503050406030204" pitchFamily="18" charset="0"/>
              </a:rPr>
              <a:t>điểm</a:t>
            </a:r>
            <a:r>
              <a:rPr lang="en-US" sz="2400" dirty="0">
                <a:latin typeface="Cambria" panose="02040503050406030204" pitchFamily="18" charset="0"/>
              </a:rPr>
              <a:t>)</a:t>
            </a:r>
          </a:p>
          <a:p>
            <a:pPr lvl="1" algn="just">
              <a:lnSpc>
                <a:spcPct val="150000"/>
              </a:lnSpc>
              <a:buFont typeface="Source Code Pro" panose="020B0509030403020204" pitchFamily="49" charset="0"/>
              <a:buChar char="-"/>
            </a:pPr>
            <a:r>
              <a:rPr lang="en-US" sz="2400" dirty="0" err="1">
                <a:latin typeface="Cambria" panose="02040503050406030204" pitchFamily="18" charset="0"/>
              </a:rPr>
              <a:t> Bài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giữa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kỳ</a:t>
            </a:r>
            <a:r>
              <a:rPr lang="en-US" sz="2400" dirty="0">
                <a:latin typeface="Cambria" panose="02040503050406030204" pitchFamily="18" charset="0"/>
              </a:rPr>
              <a:t>: 30% (</a:t>
            </a:r>
            <a:r>
              <a:rPr lang="en-US" sz="2400" dirty="0" err="1">
                <a:latin typeface="Cambria" panose="02040503050406030204" pitchFamily="18" charset="0"/>
              </a:rPr>
              <a:t>hình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thức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thi</a:t>
            </a:r>
            <a:r>
              <a:rPr lang="en-US" sz="2400" dirty="0">
                <a:latin typeface="Cambria" panose="02040503050406030204" pitchFamily="18" charset="0"/>
              </a:rPr>
              <a:t>: </a:t>
            </a:r>
            <a:r>
              <a:rPr lang="en-US" sz="2400" dirty="0" err="1">
                <a:latin typeface="Cambria" panose="02040503050406030204" pitchFamily="18" charset="0"/>
              </a:rPr>
              <a:t>Trắc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nghiệm</a:t>
            </a:r>
            <a:r>
              <a:rPr lang="en-US" sz="2400" dirty="0">
                <a:latin typeface="Cambria" panose="02040503050406030204" pitchFamily="18" charset="0"/>
              </a:rPr>
              <a:t>)</a:t>
            </a:r>
          </a:p>
          <a:p>
            <a:pPr lvl="1" algn="just">
              <a:lnSpc>
                <a:spcPct val="150000"/>
              </a:lnSpc>
              <a:buFont typeface="Source Code Pro" panose="020B0509030403020204" pitchFamily="49" charset="0"/>
              <a:buChar char="-"/>
            </a:pP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Thi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kết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thúc</a:t>
            </a:r>
            <a:r>
              <a:rPr lang="en-US" sz="2400" dirty="0">
                <a:latin typeface="Cambria" panose="02040503050406030204" pitchFamily="18" charset="0"/>
              </a:rPr>
              <a:t>: 60% (</a:t>
            </a:r>
            <a:r>
              <a:rPr lang="en-US" sz="2400" dirty="0" err="1">
                <a:latin typeface="Cambria" panose="02040503050406030204" pitchFamily="18" charset="0"/>
              </a:rPr>
              <a:t>Hình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Thức</a:t>
            </a:r>
            <a:r>
              <a:rPr lang="en-US" sz="2400" dirty="0">
                <a:latin typeface="Cambria" panose="02040503050406030204" pitchFamily="18" charset="0"/>
              </a:rPr>
              <a:t>: </a:t>
            </a:r>
            <a:r>
              <a:rPr lang="en-US" sz="2400" dirty="0" err="1">
                <a:latin typeface="Cambria" panose="02040503050406030204" pitchFamily="18" charset="0"/>
              </a:rPr>
              <a:t>Bài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Tập</a:t>
            </a:r>
            <a:r>
              <a:rPr lang="en-US" sz="2400" dirty="0">
                <a:latin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</a:rPr>
              <a:t>Lớn</a:t>
            </a:r>
            <a:r>
              <a:rPr lang="en-US" sz="2400" dirty="0">
                <a:latin typeface="Cambria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013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698D6E-C088-1A18-B2FA-52C534D04F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fld id="{00000000-1234-1234-1234-123412341234}" type="slidenum">
              <a:rPr lang="en-VN"/>
              <a:pPr algn="ctr"/>
              <a:t>4</a:t>
            </a:fld>
            <a:endParaRPr lang="en-VN"/>
          </a:p>
        </p:txBody>
      </p:sp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Tài liệu tham khảo</a:t>
            </a:r>
            <a:endParaRPr/>
          </a:p>
        </p:txBody>
      </p:sp>
      <p:graphicFrame>
        <p:nvGraphicFramePr>
          <p:cNvPr id="75" name="Google Shape;75;p15"/>
          <p:cNvGraphicFramePr/>
          <p:nvPr>
            <p:extLst>
              <p:ext uri="{D42A27DB-BD31-4B8C-83A1-F6EECF244321}">
                <p14:modId xmlns:p14="http://schemas.microsoft.com/office/powerpoint/2010/main" val="647242166"/>
              </p:ext>
            </p:extLst>
          </p:nvPr>
        </p:nvGraphicFramePr>
        <p:xfrm>
          <a:off x="322775" y="715298"/>
          <a:ext cx="8563121" cy="3869436"/>
        </p:xfrm>
        <a:graphic>
          <a:graphicData uri="http://schemas.openxmlformats.org/drawingml/2006/table">
            <a:tbl>
              <a:tblPr bandRow="1">
                <a:noFill/>
                <a:tableStyleId>{66321FB1-01FA-414A-B6DE-93ADF2C7AAF6}</a:tableStyleId>
              </a:tblPr>
              <a:tblGrid>
                <a:gridCol w="632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2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70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800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  TT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 dirty="0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Tên tài liệu</a:t>
                      </a:r>
                      <a:endParaRPr sz="1600" b="1" dirty="0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Tên tác giả/Đơn vị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Năm XB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NXB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Mục đích sử dụng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Tài liệu chính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Tài liệu tham khảo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2387">
                <a:tc>
                  <a:txBody>
                    <a:bodyPr/>
                    <a:lstStyle/>
                    <a:p>
                      <a:pPr marL="22860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 dirty="0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600" b="1" dirty="0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highlight>
                            <a:srgbClr val="FAFAFA"/>
                          </a:highlight>
                          <a:latin typeface="Cambria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a:t>ISTQB CTFL Syllabus v4.0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highlight>
                            <a:srgbClr val="FAFAFA"/>
                          </a:highlight>
                          <a:latin typeface="Cambria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a:t>ISTQB®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21.04.2023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https://www.istqb.org/certifications/certified-tester-foundation-level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600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126">
                <a:tc>
                  <a:txBody>
                    <a:bodyPr/>
                    <a:lstStyle/>
                    <a:p>
                      <a:pPr marL="22860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Foundations of Software Testing ISTQB Certification, 4th edition 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Erik van Veenendaal,  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Rex Black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09.08.2019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b="1">
                          <a:solidFill>
                            <a:srgbClr val="002060"/>
                          </a:solidFill>
                          <a:highlight>
                            <a:srgbClr val="FFFFFF"/>
                          </a:highlight>
                          <a:latin typeface="Cambria" panose="02040503050406030204" pitchFamily="18" charset="0"/>
                        </a:rPr>
                        <a:t>Cengage Learning EMEA</a:t>
                      </a:r>
                      <a:endParaRPr sz="1600" b="1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600" dirty="0">
                          <a:solidFill>
                            <a:srgbClr val="002060"/>
                          </a:solidFill>
                          <a:latin typeface="Cambria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600" dirty="0">
                        <a:solidFill>
                          <a:srgbClr val="002060"/>
                        </a:solidFill>
                        <a:latin typeface="Cambria" panose="02040503050406030204" pitchFamily="18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C8C048-6F0B-6A57-792D-54816CEEFF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fld id="{00000000-1234-1234-1234-123412341234}" type="slidenum">
              <a:rPr lang="en-VN"/>
              <a:pPr algn="ctr"/>
              <a:t>5</a:t>
            </a:fld>
            <a:endParaRPr lang="en-VN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ROAD MAP trong lĩnh vực kiểm thử phần mềm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945" y="602005"/>
            <a:ext cx="6968876" cy="4456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73592-7CC0-3D15-F2D8-0F61666CC6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fld id="{00000000-1234-1234-1234-123412341234}" type="slidenum">
              <a:rPr lang="en-VN"/>
              <a:pPr algn="ctr"/>
              <a:t>6</a:t>
            </a:fld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79741-FED5-B332-C33F-16561C24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thi</a:t>
            </a:r>
            <a:r>
              <a:rPr lang="en-US" dirty="0"/>
              <a:t> ISTQB Foundation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E232F-25E6-42CC-2CB9-362C0A362F4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0000" lnSpcReduction="20000"/>
          </a:bodyPr>
          <a:lstStyle/>
          <a:p>
            <a:pPr lvl="0">
              <a:lnSpc>
                <a:spcPct val="150000"/>
              </a:lnSpc>
            </a:pPr>
            <a:r>
              <a:rPr lang="en-US" dirty="0" err="1"/>
              <a:t>Gồm</a:t>
            </a:r>
            <a:r>
              <a:rPr lang="en-US" dirty="0"/>
              <a:t> 6 </a:t>
            </a:r>
            <a:r>
              <a:rPr lang="en-US" dirty="0" err="1"/>
              <a:t>chương</a:t>
            </a:r>
            <a:r>
              <a:rPr lang="en-US" dirty="0"/>
              <a:t> (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)</a:t>
            </a:r>
          </a:p>
          <a:p>
            <a:pPr marL="571500" lvl="1" indent="0">
              <a:lnSpc>
                <a:spcPct val="150000"/>
              </a:lnSpc>
              <a:buNone/>
            </a:pPr>
            <a:r>
              <a:rPr lang="en-US" sz="1800" dirty="0"/>
              <a:t>1. Nguyên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cơ</a:t>
            </a:r>
            <a:r>
              <a:rPr lang="en-US" sz="1800" dirty="0"/>
              <a:t> </a:t>
            </a:r>
            <a:r>
              <a:rPr lang="en-US" sz="1800" dirty="0" err="1"/>
              <a:t>bản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r>
              <a:rPr lang="en-US" sz="1800" dirty="0"/>
              <a:t> </a:t>
            </a:r>
            <a:r>
              <a:rPr lang="en-US" sz="1800" dirty="0" err="1"/>
              <a:t>phần</a:t>
            </a:r>
            <a:r>
              <a:rPr lang="en-US" sz="1800" dirty="0"/>
              <a:t> </a:t>
            </a:r>
            <a:r>
              <a:rPr lang="en-US" sz="1800" dirty="0" err="1"/>
              <a:t>mềm</a:t>
            </a:r>
            <a:endParaRPr lang="en-US" sz="1800" dirty="0"/>
          </a:p>
          <a:p>
            <a:pPr marL="571500" lvl="1" indent="0">
              <a:lnSpc>
                <a:spcPct val="150000"/>
              </a:lnSpc>
              <a:buNone/>
            </a:pPr>
            <a:r>
              <a:rPr lang="en-US" sz="1800" dirty="0"/>
              <a:t>2. Quy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endParaRPr lang="en-US" sz="1800" dirty="0"/>
          </a:p>
          <a:p>
            <a:pPr marL="571500" lvl="1" indent="0">
              <a:lnSpc>
                <a:spcPct val="150000"/>
              </a:lnSpc>
              <a:buNone/>
            </a:pPr>
            <a:r>
              <a:rPr lang="en-US" sz="1800" dirty="0"/>
              <a:t>3. </a:t>
            </a:r>
            <a:r>
              <a:rPr lang="en-US" sz="1800" dirty="0" err="1"/>
              <a:t>Kỹ</a:t>
            </a:r>
            <a:r>
              <a:rPr lang="en-US" sz="1800" dirty="0"/>
              <a:t> </a:t>
            </a:r>
            <a:r>
              <a:rPr lang="en-US" sz="1800" dirty="0" err="1"/>
              <a:t>thuật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r>
              <a:rPr lang="en-US" sz="1800" dirty="0"/>
              <a:t> </a:t>
            </a:r>
            <a:r>
              <a:rPr lang="en-US" sz="1800" dirty="0" err="1"/>
              <a:t>tĩnh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endParaRPr lang="en-US" sz="1800" dirty="0"/>
          </a:p>
          <a:p>
            <a:pPr marL="571500" lvl="1" indent="0">
              <a:lnSpc>
                <a:spcPct val="150000"/>
              </a:lnSpc>
              <a:buNone/>
            </a:pPr>
            <a:r>
              <a:rPr lang="en-US" sz="1800" dirty="0"/>
              <a:t>4. Quản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endParaRPr lang="en-US" sz="1800" dirty="0"/>
          </a:p>
          <a:p>
            <a:pPr marL="571500" lvl="1" indent="0">
              <a:lnSpc>
                <a:spcPct val="150000"/>
              </a:lnSpc>
              <a:buNone/>
            </a:pPr>
            <a:r>
              <a:rPr lang="en-US" sz="1800" dirty="0"/>
              <a:t>5. Công </a:t>
            </a:r>
            <a:r>
              <a:rPr lang="en-US" sz="1800" dirty="0" err="1"/>
              <a:t>cụ</a:t>
            </a:r>
            <a:r>
              <a:rPr lang="en-US" sz="1800" dirty="0"/>
              <a:t> </a:t>
            </a:r>
            <a:r>
              <a:rPr lang="en-US" sz="1800" dirty="0" err="1"/>
              <a:t>hỗ</a:t>
            </a:r>
            <a:r>
              <a:rPr lang="en-US" sz="1800" dirty="0"/>
              <a:t> </a:t>
            </a:r>
            <a:r>
              <a:rPr lang="en-US" sz="1800" dirty="0" err="1"/>
              <a:t>trợ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endParaRPr lang="en-US" sz="1800" dirty="0"/>
          </a:p>
          <a:p>
            <a:pPr marL="571500" lvl="1" indent="0">
              <a:lnSpc>
                <a:spcPct val="150000"/>
              </a:lnSpc>
              <a:buNone/>
            </a:pPr>
            <a:r>
              <a:rPr lang="en-US" sz="1800" dirty="0"/>
              <a:t>6. </a:t>
            </a:r>
            <a:r>
              <a:rPr lang="en-US" sz="1800" dirty="0" err="1"/>
              <a:t>Tư</a:t>
            </a:r>
            <a:r>
              <a:rPr lang="en-US" sz="1800" dirty="0"/>
              <a:t> </a:t>
            </a:r>
            <a:r>
              <a:rPr lang="en-US" sz="1800" dirty="0" err="1"/>
              <a:t>duy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kỹ</a:t>
            </a:r>
            <a:r>
              <a:rPr lang="en-US" sz="1800" dirty="0"/>
              <a:t> </a:t>
            </a:r>
            <a:r>
              <a:rPr lang="en-US" sz="1800" dirty="0" err="1"/>
              <a:t>năng</a:t>
            </a:r>
            <a:r>
              <a:rPr lang="en-US" sz="1800" dirty="0"/>
              <a:t> </a:t>
            </a:r>
            <a:r>
              <a:rPr lang="en-US" sz="1800" dirty="0" err="1"/>
              <a:t>làm</a:t>
            </a:r>
            <a:r>
              <a:rPr lang="en-US" sz="1800" dirty="0"/>
              <a:t> </a:t>
            </a:r>
            <a:r>
              <a:rPr lang="en-US" sz="1800" dirty="0" err="1"/>
              <a:t>bài</a:t>
            </a:r>
            <a:r>
              <a:rPr lang="en-US" sz="1800" dirty="0"/>
              <a:t> </a:t>
            </a:r>
            <a:r>
              <a:rPr lang="en-US" sz="1800" dirty="0" err="1"/>
              <a:t>thi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thi</a:t>
            </a:r>
            <a:endParaRPr lang="en-US" b="1" dirty="0"/>
          </a:p>
          <a:p>
            <a:pPr marL="571500" lvl="0" indent="-457200">
              <a:lnSpc>
                <a:spcPct val="150000"/>
              </a:lnSpc>
              <a:buFontTx/>
              <a:buChar char="-"/>
            </a:pP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 </a:t>
            </a:r>
            <a:r>
              <a:rPr lang="en-US" dirty="0" err="1"/>
              <a:t>Trắc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40 </a:t>
            </a:r>
            <a:r>
              <a:rPr lang="en-US" dirty="0" err="1"/>
              <a:t>câu</a:t>
            </a:r>
            <a:endParaRPr lang="en-US" dirty="0"/>
          </a:p>
          <a:p>
            <a:pPr marL="571500" lvl="0" indent="-457200">
              <a:lnSpc>
                <a:spcPct val="150000"/>
              </a:lnSpc>
              <a:buFontTx/>
              <a:buChar char="-"/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60 </a:t>
            </a:r>
            <a:r>
              <a:rPr lang="en-US" dirty="0" err="1"/>
              <a:t>phút</a:t>
            </a:r>
            <a:r>
              <a:rPr lang="en-US" dirty="0"/>
              <a:t> -&gt; 75 </a:t>
            </a:r>
            <a:r>
              <a:rPr lang="en-US" dirty="0" err="1"/>
              <a:t>phút</a:t>
            </a:r>
            <a:r>
              <a:rPr lang="en-US" dirty="0"/>
              <a:t> (</a:t>
            </a:r>
            <a:r>
              <a:rPr lang="en-US" dirty="0" err="1"/>
              <a:t>với</a:t>
            </a:r>
            <a:r>
              <a:rPr lang="en-US" b="0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Anh) </a:t>
            </a:r>
          </a:p>
          <a:p>
            <a:pPr marL="571500" lvl="0" indent="-457200">
              <a:lnSpc>
                <a:spcPct val="150000"/>
              </a:lnSpc>
              <a:buFontTx/>
              <a:buChar char="-"/>
            </a:pPr>
            <a:r>
              <a:rPr lang="en-US" dirty="0"/>
              <a:t> </a:t>
            </a:r>
            <a:r>
              <a:rPr lang="en-US" dirty="0" err="1"/>
              <a:t>Đậu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26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(65%)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dirty="0"/>
          </a:p>
          <a:p>
            <a:pPr marL="11430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388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F5BB8-4F46-8D7C-1CCF-F5AF4C807F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fld id="{00000000-1234-1234-1234-123412341234}" type="slidenum">
              <a:rPr lang="en-VN"/>
              <a:pPr algn="ctr"/>
              <a:t>7</a:t>
            </a:fld>
            <a:endParaRPr lang="en-V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20BBA2-089D-5A3F-E3CC-FB59700A5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&amp; </a:t>
            </a:r>
            <a:r>
              <a:rPr lang="en-US" b="1" dirty="0" err="1"/>
              <a:t>thi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miễn</a:t>
            </a:r>
            <a:r>
              <a:rPr lang="en-US" b="1" dirty="0"/>
              <a:t> </a:t>
            </a:r>
            <a:r>
              <a:rPr lang="en-US" b="1" dirty="0" err="1"/>
              <a:t>phí</a:t>
            </a:r>
            <a:endParaRPr lang="en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BAC6E-E7B9-FD8B-04AA-89759F821BE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114300" lvl="0" indent="0">
              <a:buNone/>
            </a:pPr>
            <a:r>
              <a:rPr lang="en-US" dirty="0"/>
              <a:t>- https://istqb.org (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)</a:t>
            </a:r>
          </a:p>
          <a:p>
            <a:pPr marL="114300" lvl="0" indent="0">
              <a:buNone/>
            </a:pPr>
            <a:r>
              <a:rPr lang="en-US" dirty="0"/>
              <a:t>- https://testerpro.vn/istqb-foundation/</a:t>
            </a:r>
          </a:p>
          <a:p>
            <a:pPr marL="114300" lvl="0" indent="0">
              <a:buNone/>
            </a:pPr>
            <a:r>
              <a:rPr lang="en-US" dirty="0"/>
              <a:t>- https://guru99.com/istqb-tutorial.html</a:t>
            </a:r>
          </a:p>
          <a:p>
            <a:pPr marL="114300" indent="0">
              <a:buNone/>
            </a:pPr>
            <a:endParaRPr lang="en-US" dirty="0"/>
          </a:p>
          <a:p>
            <a:pPr marL="0" indent="0">
              <a:buNone/>
            </a:pP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74013812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397</Words>
  <Application>Microsoft Office PowerPoint</Application>
  <PresentationFormat>Trình chiếu Trên màn hình (16:9)</PresentationFormat>
  <Paragraphs>64</Paragraphs>
  <Slides>7</Slides>
  <Notes>4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2" baseType="lpstr">
      <vt:lpstr>Arial</vt:lpstr>
      <vt:lpstr>Cambria</vt:lpstr>
      <vt:lpstr>Source Code Pro</vt:lpstr>
      <vt:lpstr>Lato</vt:lpstr>
      <vt:lpstr>Modern Writer</vt:lpstr>
      <vt:lpstr>KIỂM THỬ PHẦN MỀM</vt:lpstr>
      <vt:lpstr>Nội dung chương trình học</vt:lpstr>
      <vt:lpstr>Nội quy lớp học</vt:lpstr>
      <vt:lpstr>Tài liệu tham khảo</vt:lpstr>
      <vt:lpstr>ROAD MAP trong lĩnh vực kiểm thử phần mềm</vt:lpstr>
      <vt:lpstr>Nội dung thi ISTQB Foundation </vt:lpstr>
      <vt:lpstr>Link tài liệu học &amp; thi thử miễn phí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môn học</dc:title>
  <cp:lastModifiedBy>Giang Viên</cp:lastModifiedBy>
  <cp:revision>14</cp:revision>
  <dcterms:modified xsi:type="dcterms:W3CDTF">2025-07-22T09:48:38Z</dcterms:modified>
</cp:coreProperties>
</file>