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9"/>
  </p:notesMasterIdLst>
  <p:sldIdLst>
    <p:sldId id="256" r:id="rId2"/>
    <p:sldId id="257" r:id="rId3"/>
    <p:sldId id="259" r:id="rId4"/>
    <p:sldId id="279" r:id="rId5"/>
    <p:sldId id="260" r:id="rId6"/>
    <p:sldId id="280" r:id="rId7"/>
    <p:sldId id="261" r:id="rId8"/>
    <p:sldId id="281" r:id="rId9"/>
    <p:sldId id="262" r:id="rId10"/>
    <p:sldId id="282" r:id="rId11"/>
    <p:sldId id="283" r:id="rId12"/>
    <p:sldId id="263" r:id="rId13"/>
    <p:sldId id="284" r:id="rId14"/>
    <p:sldId id="264" r:id="rId15"/>
    <p:sldId id="265" r:id="rId16"/>
    <p:sldId id="266" r:id="rId17"/>
    <p:sldId id="267" r:id="rId18"/>
    <p:sldId id="268" r:id="rId19"/>
    <p:sldId id="269" r:id="rId20"/>
    <p:sldId id="270" r:id="rId21"/>
    <p:sldId id="285" r:id="rId22"/>
    <p:sldId id="286" r:id="rId23"/>
    <p:sldId id="271" r:id="rId24"/>
    <p:sldId id="272" r:id="rId25"/>
    <p:sldId id="273" r:id="rId26"/>
    <p:sldId id="274" r:id="rId27"/>
    <p:sldId id="275" r:id="rId28"/>
    <p:sldId id="276" r:id="rId29"/>
    <p:sldId id="287" r:id="rId30"/>
    <p:sldId id="288" r:id="rId31"/>
    <p:sldId id="289" r:id="rId32"/>
    <p:sldId id="290" r:id="rId33"/>
    <p:sldId id="291" r:id="rId34"/>
    <p:sldId id="277" r:id="rId35"/>
    <p:sldId id="292" r:id="rId36"/>
    <p:sldId id="293" r:id="rId37"/>
    <p:sldId id="278" r:id="rId38"/>
  </p:sldIdLst>
  <p:sldSz cx="9144000" cy="5143500" type="screen16x9"/>
  <p:notesSz cx="6858000" cy="9144000"/>
  <p:embeddedFontLst>
    <p:embeddedFont>
      <p:font typeface="Oswald" panose="020B0604020202020204" charset="0"/>
      <p:regular r:id="rId40"/>
      <p:bold r:id="rId41"/>
    </p:embeddedFont>
    <p:embeddedFont>
      <p:font typeface="Source Code Pro" panose="020B060402020202020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3F79"/>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CCDA31-D5BF-4C85-AF05-567669850689}">
  <a:tblStyle styleId="{70CCDA31-D5BF-4C85-AF05-5676698506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58" autoAdjust="0"/>
    <p:restoredTop sz="94660"/>
  </p:normalViewPr>
  <p:slideViewPr>
    <p:cSldViewPr snapToGrid="0">
      <p:cViewPr varScale="1">
        <p:scale>
          <a:sx n="86" d="100"/>
          <a:sy n="86" d="100"/>
        </p:scale>
        <p:origin x="954"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e4f225066d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e4f225066d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a658083462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a658083462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e4f273fff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e4f273fff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5b95aa258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5b95aa258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5b95aa258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5b95aa258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658083462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658083462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a658083462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a658083462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a658083462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a65808346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5b95aa258c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5b95aa258c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5b95aa258c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5b95aa258c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5b95aa258c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5b95aa258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5b95aa258c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5b95aa258c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5b95aa258c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5b95aa258c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5b95aa258c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5b95aa258c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5b95aa258c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5b95aa258c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5b95aa258c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5b95aa258c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5b95aa258c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5b95aa258c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5b95aa258c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5b95aa258c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a658083462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a658083462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220865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5b95aa258c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5b95aa258c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a658083462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a658083462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1;p2"/>
          <p:cNvSpPr/>
          <p:nvPr/>
        </p:nvSpPr>
        <p:spPr>
          <a:xfrm>
            <a:off x="-25" y="0"/>
            <a:ext cx="9144000" cy="312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2;p2"/>
          <p:cNvSpPr txBox="1">
            <a:spLocks noGrp="1"/>
          </p:cNvSpPr>
          <p:nvPr>
            <p:ph type="ctrTitle"/>
          </p:nvPr>
        </p:nvSpPr>
        <p:spPr>
          <a:xfrm>
            <a:off x="411175" y="644300"/>
            <a:ext cx="8282400" cy="21090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endParaRPr/>
          </a:p>
        </p:txBody>
      </p:sp>
      <p:sp>
        <p:nvSpPr>
          <p:cNvPr id="13" name="Google Shape;13;p2"/>
          <p:cNvSpPr txBox="1">
            <a:spLocks noGrp="1"/>
          </p:cNvSpPr>
          <p:nvPr>
            <p:ph type="subTitle" idx="1"/>
          </p:nvPr>
        </p:nvSpPr>
        <p:spPr>
          <a:xfrm>
            <a:off x="411175" y="3398250"/>
            <a:ext cx="8282400" cy="1260600"/>
          </a:xfrm>
          <a:prstGeom prst="rect">
            <a:avLst/>
          </a:prstGeom>
        </p:spPr>
        <p:txBody>
          <a:bodyPr spcFirstLastPara="1" wrap="square" lIns="91425" tIns="91425" rIns="91425" bIns="91425" anchor="ctr" anchorCtr="0">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p3"/>
          <p:cNvSpPr txBox="1">
            <a:spLocks noGrp="1"/>
          </p:cNvSpPr>
          <p:nvPr>
            <p:ph type="title"/>
          </p:nvPr>
        </p:nvSpPr>
        <p:spPr>
          <a:xfrm>
            <a:off x="430800" y="1889700"/>
            <a:ext cx="8282400" cy="15165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1" name="Google Shape;21;p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w="19050" cap="flat" cmpd="sng">
            <a:solidFill>
              <a:schemeClr val="dk2"/>
            </a:solidFill>
            <a:prstDash val="lgDash"/>
            <a:round/>
            <a:headEnd type="none" w="sm" len="sm"/>
            <a:tailEnd type="none" w="sm" len="sm"/>
          </a:ln>
        </p:spPr>
      </p:cxnSp>
      <p:sp>
        <p:nvSpPr>
          <p:cNvPr id="26" name="Google Shape;26;p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7" name="Google Shape;27;p5"/>
          <p:cNvSpPr txBox="1">
            <a:spLocks noGrp="1"/>
          </p:cNvSpPr>
          <p:nvPr>
            <p:ph type="body" idx="1"/>
          </p:nvPr>
        </p:nvSpPr>
        <p:spPr>
          <a:xfrm>
            <a:off x="311700" y="1468825"/>
            <a:ext cx="3999900" cy="3099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468825"/>
            <a:ext cx="3999900" cy="3099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w="19050" cap="flat" cmpd="sng">
            <a:solidFill>
              <a:schemeClr val="dk2"/>
            </a:solidFill>
            <a:prstDash val="lgDash"/>
            <a:round/>
            <a:headEnd type="none" w="sm" len="sm"/>
            <a:tailEnd type="none" w="sm" len="sm"/>
          </a:ln>
        </p:spPr>
      </p:cxnSp>
      <p:sp>
        <p:nvSpPr>
          <p:cNvPr id="35" name="Google Shape;35;p7"/>
          <p:cNvSpPr txBox="1">
            <a:spLocks noGrp="1"/>
          </p:cNvSpPr>
          <p:nvPr>
            <p:ph type="title"/>
          </p:nvPr>
        </p:nvSpPr>
        <p:spPr>
          <a:xfrm>
            <a:off x="311700" y="6318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6" name="Google Shape;36;p7"/>
          <p:cNvSpPr txBox="1">
            <a:spLocks noGrp="1"/>
          </p:cNvSpPr>
          <p:nvPr>
            <p:ph type="body" idx="1"/>
          </p:nvPr>
        </p:nvSpPr>
        <p:spPr>
          <a:xfrm>
            <a:off x="311700" y="1618204"/>
            <a:ext cx="2808000" cy="29508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490250" y="528900"/>
            <a:ext cx="5678100" cy="40857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43" name="Google Shape;43;p9"/>
          <p:cNvCxnSpPr/>
          <p:nvPr/>
        </p:nvCxnSpPr>
        <p:spPr>
          <a:xfrm>
            <a:off x="5029675" y="4495500"/>
            <a:ext cx="577200" cy="0"/>
          </a:xfrm>
          <a:prstGeom prst="straightConnector1">
            <a:avLst/>
          </a:prstGeom>
          <a:noFill/>
          <a:ln w="19050" cap="flat" cmpd="sng">
            <a:solidFill>
              <a:schemeClr val="dk1"/>
            </a:solidFill>
            <a:prstDash val="lgDash"/>
            <a:round/>
            <a:headEnd type="none" w="sm" len="sm"/>
            <a:tailEnd type="none" w="sm" len="sm"/>
          </a:ln>
        </p:spPr>
      </p:cxnSp>
      <p:sp>
        <p:nvSpPr>
          <p:cNvPr id="44" name="Google Shape;44;p9"/>
          <p:cNvSpPr txBox="1">
            <a:spLocks noGrp="1"/>
          </p:cNvSpPr>
          <p:nvPr>
            <p:ph type="title"/>
          </p:nvPr>
        </p:nvSpPr>
        <p:spPr>
          <a:xfrm>
            <a:off x="265500" y="1078750"/>
            <a:ext cx="4045200" cy="1789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a:endParaRPr/>
          </a:p>
        </p:txBody>
      </p:sp>
      <p:sp>
        <p:nvSpPr>
          <p:cNvPr id="45" name="Google Shape;45;p9"/>
          <p:cNvSpPr txBox="1">
            <a:spLocks noGrp="1"/>
          </p:cNvSpPr>
          <p:nvPr>
            <p:ph type="subTitle" idx="1"/>
          </p:nvPr>
        </p:nvSpPr>
        <p:spPr>
          <a:xfrm>
            <a:off x="265500" y="29214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Font typeface="Oswald"/>
              <a:buNone/>
              <a:defRPr sz="2100">
                <a:latin typeface="Oswald"/>
                <a:ea typeface="Oswald"/>
                <a:cs typeface="Oswald"/>
                <a:sym typeface="Oswald"/>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w="28575" cap="flat" cmpd="sng">
            <a:solidFill>
              <a:schemeClr val="dk1"/>
            </a:solidFill>
            <a:prstDash val="lgDash"/>
            <a:round/>
            <a:headEnd type="none" w="sm" len="sm"/>
            <a:tailEnd type="none" w="sm" len="sm"/>
          </a:ln>
        </p:spPr>
      </p:cxnSp>
      <p:sp>
        <p:nvSpPr>
          <p:cNvPr id="53" name="Google Shape;5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dern-writer">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72500"/>
            <a:ext cx="8520600" cy="7335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468825"/>
            <a:ext cx="8520600" cy="3099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vi"/>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411175" y="644300"/>
            <a:ext cx="8282400" cy="1401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vi"/>
              <a:t>Kiểm thử tĩnh</a:t>
            </a:r>
            <a:endParaRPr dirty="0"/>
          </a:p>
        </p:txBody>
      </p:sp>
      <p:sp>
        <p:nvSpPr>
          <p:cNvPr id="63" name="Google Shape;63;p13"/>
          <p:cNvSpPr txBox="1">
            <a:spLocks noGrp="1"/>
          </p:cNvSpPr>
          <p:nvPr>
            <p:ph type="subTitle" idx="1"/>
          </p:nvPr>
        </p:nvSpPr>
        <p:spPr>
          <a:xfrm>
            <a:off x="411175" y="3398250"/>
            <a:ext cx="8282400" cy="1260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Giới thiệu</a:t>
            </a:r>
            <a:endParaRPr dirty="0"/>
          </a:p>
        </p:txBody>
      </p:sp>
      <p:pic>
        <p:nvPicPr>
          <p:cNvPr id="2" name="Picture 1"/>
          <p:cNvPicPr>
            <a:picLocks noChangeAspect="1"/>
          </p:cNvPicPr>
          <p:nvPr/>
        </p:nvPicPr>
        <p:blipFill>
          <a:blip r:embed="rId3"/>
          <a:stretch>
            <a:fillRect/>
          </a:stretch>
        </p:blipFill>
        <p:spPr>
          <a:xfrm>
            <a:off x="311700" y="970156"/>
            <a:ext cx="8520600" cy="408239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dirty="0"/>
          </a:p>
        </p:txBody>
      </p:sp>
      <p:sp>
        <p:nvSpPr>
          <p:cNvPr id="81" name="Google Shape;81;p16"/>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a:solidFill>
                  <a:srgbClr val="000000"/>
                </a:solidFill>
                <a:highlight>
                  <a:srgbClr val="FF706B"/>
                </a:highlight>
              </a:rPr>
              <a:t>3.1 Cơ bản về kiểm thử tĩnh</a:t>
            </a:r>
            <a:endParaRPr dirty="0"/>
          </a:p>
          <a:p>
            <a:pPr marL="0" lvl="0" indent="0" algn="l" rtl="0">
              <a:spcBef>
                <a:spcPts val="1200"/>
              </a:spcBef>
              <a:spcAft>
                <a:spcPts val="1200"/>
              </a:spcAft>
              <a:buNone/>
            </a:pPr>
            <a:r>
              <a:rPr lang="vi"/>
              <a:t>3.2 Quy trình review </a:t>
            </a:r>
            <a:endParaRP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 dirty="0" smtClean="0"/>
              <a:t>3.1 </a:t>
            </a:r>
            <a:r>
              <a:rPr lang="vi" dirty="0"/>
              <a:t>Kiểm thử tĩnh</a:t>
            </a:r>
            <a:endParaRPr lang="en-US" dirty="0"/>
          </a:p>
        </p:txBody>
      </p:sp>
      <p:pic>
        <p:nvPicPr>
          <p:cNvPr id="4" name="Picture 3"/>
          <p:cNvPicPr>
            <a:picLocks noChangeAspect="1"/>
          </p:cNvPicPr>
          <p:nvPr/>
        </p:nvPicPr>
        <p:blipFill>
          <a:blip r:embed="rId2"/>
          <a:stretch>
            <a:fillRect/>
          </a:stretch>
        </p:blipFill>
        <p:spPr>
          <a:xfrm>
            <a:off x="4438186" y="903249"/>
            <a:ext cx="4594302" cy="3960392"/>
          </a:xfrm>
          <a:prstGeom prst="rect">
            <a:avLst/>
          </a:prstGeom>
        </p:spPr>
      </p:pic>
      <p:sp>
        <p:nvSpPr>
          <p:cNvPr id="3" name="Rectangle 2"/>
          <p:cNvSpPr/>
          <p:nvPr/>
        </p:nvSpPr>
        <p:spPr>
          <a:xfrm>
            <a:off x="468352" y="1396705"/>
            <a:ext cx="4103648" cy="3416320"/>
          </a:xfrm>
          <a:prstGeom prst="rect">
            <a:avLst/>
          </a:prstGeom>
        </p:spPr>
        <p:txBody>
          <a:bodyPr wrap="square">
            <a:spAutoFit/>
          </a:bodyPr>
          <a:lstStyle/>
          <a:p>
            <a:pPr>
              <a:lnSpc>
                <a:spcPct val="150000"/>
              </a:lnSpc>
              <a:buFont typeface="Arial" panose="020B0604020202020204" pitchFamily="34" charset="0"/>
              <a:buChar char="•"/>
            </a:pPr>
            <a:r>
              <a:rPr lang="vi-VN" sz="1600" dirty="0">
                <a:solidFill>
                  <a:srgbClr val="1B1B1B"/>
                </a:solidFill>
                <a:latin typeface="Source Code Pro" panose="020B0604020202020204" charset="0"/>
                <a:ea typeface="Source Code Pro" panose="020B0604020202020204" charset="0"/>
              </a:rPr>
              <a:t>Ngược lại với dymanic testing (kiểm thử động), kiểm thử động yêu cầu phải chạy phần mềm để test. Còn kiểm thử tĩnh là kĩ thuật kiểm tra các tài liệu (review) và tự động phân tích cú pháp (static analysis) của code hoặc các tài liệu của dự án mà không cần chạy chương trình.</a:t>
            </a:r>
          </a:p>
        </p:txBody>
      </p:sp>
    </p:spTree>
    <p:extLst>
      <p:ext uri="{BB962C8B-B14F-4D97-AF65-F5344CB8AC3E}">
        <p14:creationId xmlns:p14="http://schemas.microsoft.com/office/powerpoint/2010/main" val="283442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3.1.1 Kiểm thử tĩnh là gì?</a:t>
            </a:r>
            <a:endParaRPr dirty="0"/>
          </a:p>
        </p:txBody>
      </p:sp>
      <p:sp>
        <p:nvSpPr>
          <p:cNvPr id="87" name="Google Shape;87;p17"/>
          <p:cNvSpPr txBox="1">
            <a:spLocks noGrp="1"/>
          </p:cNvSpPr>
          <p:nvPr>
            <p:ph type="body" idx="1"/>
          </p:nvPr>
        </p:nvSpPr>
        <p:spPr>
          <a:xfrm>
            <a:off x="311700" y="1240225"/>
            <a:ext cx="8520600" cy="3903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sz="1600" b="1" dirty="0">
                <a:solidFill>
                  <a:srgbClr val="FF00FF"/>
                </a:solidFill>
              </a:rPr>
              <a:t>Kiểm thử tĩnh</a:t>
            </a:r>
            <a:r>
              <a:rPr lang="vi" sz="1600" dirty="0">
                <a:solidFill>
                  <a:srgbClr val="374151"/>
                </a:solidFill>
              </a:rPr>
              <a:t> là một kỹ thuật kiểm tra sản phẩm phần mềm hoặc tài liệu liên quan mà không thực thi mã nguồn. </a:t>
            </a:r>
            <a:endParaRPr sz="1600" dirty="0">
              <a:solidFill>
                <a:srgbClr val="374151"/>
              </a:solidFill>
            </a:endParaRPr>
          </a:p>
          <a:p>
            <a:pPr marL="0" lvl="0" indent="0" algn="l" rtl="0">
              <a:spcBef>
                <a:spcPts val="1200"/>
              </a:spcBef>
              <a:spcAft>
                <a:spcPts val="0"/>
              </a:spcAft>
              <a:buNone/>
            </a:pPr>
            <a:r>
              <a:rPr lang="vi" sz="1600" dirty="0"/>
              <a:t>Gần như bất kỳ sản phẩm công việc nào cũng có thể được kiểm thử tĩnh</a:t>
            </a:r>
            <a:endParaRPr sz="1600" dirty="0"/>
          </a:p>
          <a:p>
            <a:pPr marL="457200" lvl="0" indent="-317500" algn="l" rtl="0">
              <a:spcBef>
                <a:spcPts val="1200"/>
              </a:spcBef>
              <a:spcAft>
                <a:spcPts val="0"/>
              </a:spcAft>
              <a:buSzPts val="1400"/>
              <a:buChar char="-"/>
            </a:pPr>
            <a:r>
              <a:rPr lang="vi" sz="1400" dirty="0"/>
              <a:t>Requirement specification documents</a:t>
            </a:r>
            <a:endParaRPr sz="1400" dirty="0"/>
          </a:p>
          <a:p>
            <a:pPr marL="457200" lvl="0" indent="-317500" algn="l" rtl="0">
              <a:spcBef>
                <a:spcPts val="0"/>
              </a:spcBef>
              <a:spcAft>
                <a:spcPts val="0"/>
              </a:spcAft>
              <a:buSzPts val="1400"/>
              <a:buChar char="-"/>
            </a:pPr>
            <a:r>
              <a:rPr lang="vi" sz="1400" dirty="0"/>
              <a:t>Source code </a:t>
            </a:r>
            <a:endParaRPr sz="1400" dirty="0"/>
          </a:p>
          <a:p>
            <a:pPr marL="457200" lvl="0" indent="-317500" algn="l" rtl="0">
              <a:spcBef>
                <a:spcPts val="0"/>
              </a:spcBef>
              <a:spcAft>
                <a:spcPts val="0"/>
              </a:spcAft>
              <a:buSzPts val="1400"/>
              <a:buChar char="-"/>
            </a:pPr>
            <a:r>
              <a:rPr lang="vi" sz="1400" dirty="0"/>
              <a:t>Test plans</a:t>
            </a:r>
            <a:endParaRPr sz="1400" dirty="0"/>
          </a:p>
          <a:p>
            <a:pPr marL="457200" lvl="0" indent="-317500" algn="l" rtl="0">
              <a:spcBef>
                <a:spcPts val="0"/>
              </a:spcBef>
              <a:spcAft>
                <a:spcPts val="0"/>
              </a:spcAft>
              <a:buSzPts val="1400"/>
              <a:buChar char="-"/>
            </a:pPr>
            <a:r>
              <a:rPr lang="vi" sz="1400" dirty="0"/>
              <a:t>Test cases</a:t>
            </a:r>
            <a:endParaRPr sz="1400" dirty="0"/>
          </a:p>
          <a:p>
            <a:pPr marL="457200" lvl="0" indent="-317500" algn="l" rtl="0">
              <a:spcBef>
                <a:spcPts val="0"/>
              </a:spcBef>
              <a:spcAft>
                <a:spcPts val="0"/>
              </a:spcAft>
              <a:buSzPts val="1400"/>
              <a:buChar char="-"/>
            </a:pPr>
            <a:r>
              <a:rPr lang="vi" sz="1400" dirty="0"/>
              <a:t>Product backlog items</a:t>
            </a:r>
            <a:endParaRPr sz="1400" dirty="0"/>
          </a:p>
          <a:p>
            <a:pPr marL="457200" lvl="0" indent="-317500" algn="l" rtl="0">
              <a:spcBef>
                <a:spcPts val="0"/>
              </a:spcBef>
              <a:spcAft>
                <a:spcPts val="0"/>
              </a:spcAft>
              <a:buSzPts val="1400"/>
              <a:buChar char="-"/>
            </a:pPr>
            <a:r>
              <a:rPr lang="vi" sz="1400" dirty="0"/>
              <a:t>Test charters</a:t>
            </a:r>
            <a:endParaRPr sz="1400" dirty="0"/>
          </a:p>
          <a:p>
            <a:pPr marL="457200" lvl="0" indent="-317500" algn="l" rtl="0">
              <a:spcBef>
                <a:spcPts val="0"/>
              </a:spcBef>
              <a:spcAft>
                <a:spcPts val="0"/>
              </a:spcAft>
              <a:buSzPts val="1400"/>
              <a:buChar char="-"/>
            </a:pPr>
            <a:r>
              <a:rPr lang="vi" sz="1400" dirty="0"/>
              <a:t>Project documentation</a:t>
            </a:r>
            <a:endParaRPr sz="1400" dirty="0"/>
          </a:p>
          <a:p>
            <a:pPr marL="457200" lvl="0" indent="-317500" algn="l" rtl="0">
              <a:spcBef>
                <a:spcPts val="0"/>
              </a:spcBef>
              <a:spcAft>
                <a:spcPts val="0"/>
              </a:spcAft>
              <a:buSzPts val="1400"/>
              <a:buChar char="-"/>
            </a:pPr>
            <a:r>
              <a:rPr lang="vi" sz="1400" dirty="0"/>
              <a:t>Contracts </a:t>
            </a:r>
            <a:endParaRPr sz="1400" dirty="0"/>
          </a:p>
          <a:p>
            <a:pPr marL="457200" lvl="0" indent="-317500" algn="l" rtl="0">
              <a:spcBef>
                <a:spcPts val="0"/>
              </a:spcBef>
              <a:spcAft>
                <a:spcPts val="0"/>
              </a:spcAft>
              <a:buSzPts val="1400"/>
              <a:buChar char="-"/>
            </a:pPr>
            <a:r>
              <a:rPr lang="vi" sz="1400" dirty="0" smtClean="0"/>
              <a:t>Models</a:t>
            </a:r>
            <a:endParaRPr lang="en-US" sz="1400" dirty="0" smtClean="0"/>
          </a:p>
          <a:p>
            <a:pPr lvl="0" indent="-317500">
              <a:buSzPts val="1400"/>
              <a:buChar char="-"/>
            </a:pPr>
            <a:r>
              <a:rPr lang="en-US" sz="1400" dirty="0"/>
              <a:t>User stories, acceptance criteria</a:t>
            </a:r>
            <a:endParaRPr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animEffect transition="in" filter="fade">
                                      <p:cBhvr>
                                        <p:cTn id="7" dur="1000"/>
                                        <p:tgtEl>
                                          <p:spTgt spid="87">
                                            <p:txEl>
                                              <p:pRg st="0" end="0"/>
                                            </p:txEl>
                                          </p:spTgt>
                                        </p:tgtEl>
                                      </p:cBhvr>
                                    </p:animEffect>
                                    <p:anim calcmode="lin" valueType="num">
                                      <p:cBhvr>
                                        <p:cTn id="8" dur="1000" fill="hold"/>
                                        <p:tgtEl>
                                          <p:spTgt spid="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7">
                                            <p:txEl>
                                              <p:pRg st="1" end="1"/>
                                            </p:txEl>
                                          </p:spTgt>
                                        </p:tgtEl>
                                        <p:attrNameLst>
                                          <p:attrName>style.visibility</p:attrName>
                                        </p:attrNameLst>
                                      </p:cBhvr>
                                      <p:to>
                                        <p:strVal val="visible"/>
                                      </p:to>
                                    </p:set>
                                    <p:animEffect transition="in" filter="fade">
                                      <p:cBhvr>
                                        <p:cTn id="14" dur="1000"/>
                                        <p:tgtEl>
                                          <p:spTgt spid="87">
                                            <p:txEl>
                                              <p:pRg st="1" end="1"/>
                                            </p:txEl>
                                          </p:spTgt>
                                        </p:tgtEl>
                                      </p:cBhvr>
                                    </p:animEffect>
                                    <p:anim calcmode="lin" valueType="num">
                                      <p:cBhvr>
                                        <p:cTn id="15" dur="1000" fill="hold"/>
                                        <p:tgtEl>
                                          <p:spTgt spid="8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7">
                                            <p:txEl>
                                              <p:pRg st="2" end="2"/>
                                            </p:txEl>
                                          </p:spTgt>
                                        </p:tgtEl>
                                        <p:attrNameLst>
                                          <p:attrName>style.visibility</p:attrName>
                                        </p:attrNameLst>
                                      </p:cBhvr>
                                      <p:to>
                                        <p:strVal val="visible"/>
                                      </p:to>
                                    </p:set>
                                    <p:animEffect transition="in" filter="fade">
                                      <p:cBhvr>
                                        <p:cTn id="21" dur="1000"/>
                                        <p:tgtEl>
                                          <p:spTgt spid="87">
                                            <p:txEl>
                                              <p:pRg st="2" end="2"/>
                                            </p:txEl>
                                          </p:spTgt>
                                        </p:tgtEl>
                                      </p:cBhvr>
                                    </p:animEffect>
                                    <p:anim calcmode="lin" valueType="num">
                                      <p:cBhvr>
                                        <p:cTn id="22" dur="1000" fill="hold"/>
                                        <p:tgtEl>
                                          <p:spTgt spid="8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7">
                                            <p:txEl>
                                              <p:pRg st="3" end="3"/>
                                            </p:txEl>
                                          </p:spTgt>
                                        </p:tgtEl>
                                        <p:attrNameLst>
                                          <p:attrName>style.visibility</p:attrName>
                                        </p:attrNameLst>
                                      </p:cBhvr>
                                      <p:to>
                                        <p:strVal val="visible"/>
                                      </p:to>
                                    </p:set>
                                    <p:animEffect transition="in" filter="fade">
                                      <p:cBhvr>
                                        <p:cTn id="28" dur="1000"/>
                                        <p:tgtEl>
                                          <p:spTgt spid="87">
                                            <p:txEl>
                                              <p:pRg st="3" end="3"/>
                                            </p:txEl>
                                          </p:spTgt>
                                        </p:tgtEl>
                                      </p:cBhvr>
                                    </p:animEffect>
                                    <p:anim calcmode="lin" valueType="num">
                                      <p:cBhvr>
                                        <p:cTn id="29" dur="1000" fill="hold"/>
                                        <p:tgtEl>
                                          <p:spTgt spid="8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7">
                                            <p:txEl>
                                              <p:pRg st="4" end="4"/>
                                            </p:txEl>
                                          </p:spTgt>
                                        </p:tgtEl>
                                        <p:attrNameLst>
                                          <p:attrName>style.visibility</p:attrName>
                                        </p:attrNameLst>
                                      </p:cBhvr>
                                      <p:to>
                                        <p:strVal val="visible"/>
                                      </p:to>
                                    </p:set>
                                    <p:animEffect transition="in" filter="fade">
                                      <p:cBhvr>
                                        <p:cTn id="35" dur="1000"/>
                                        <p:tgtEl>
                                          <p:spTgt spid="87">
                                            <p:txEl>
                                              <p:pRg st="4" end="4"/>
                                            </p:txEl>
                                          </p:spTgt>
                                        </p:tgtEl>
                                      </p:cBhvr>
                                    </p:animEffect>
                                    <p:anim calcmode="lin" valueType="num">
                                      <p:cBhvr>
                                        <p:cTn id="36" dur="1000" fill="hold"/>
                                        <p:tgtEl>
                                          <p:spTgt spid="8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8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7">
                                            <p:txEl>
                                              <p:pRg st="5" end="5"/>
                                            </p:txEl>
                                          </p:spTgt>
                                        </p:tgtEl>
                                        <p:attrNameLst>
                                          <p:attrName>style.visibility</p:attrName>
                                        </p:attrNameLst>
                                      </p:cBhvr>
                                      <p:to>
                                        <p:strVal val="visible"/>
                                      </p:to>
                                    </p:set>
                                    <p:animEffect transition="in" filter="fade">
                                      <p:cBhvr>
                                        <p:cTn id="42" dur="1000"/>
                                        <p:tgtEl>
                                          <p:spTgt spid="87">
                                            <p:txEl>
                                              <p:pRg st="5" end="5"/>
                                            </p:txEl>
                                          </p:spTgt>
                                        </p:tgtEl>
                                      </p:cBhvr>
                                    </p:animEffect>
                                    <p:anim calcmode="lin" valueType="num">
                                      <p:cBhvr>
                                        <p:cTn id="43" dur="1000" fill="hold"/>
                                        <p:tgtEl>
                                          <p:spTgt spid="8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8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87">
                                            <p:txEl>
                                              <p:pRg st="6" end="6"/>
                                            </p:txEl>
                                          </p:spTgt>
                                        </p:tgtEl>
                                        <p:attrNameLst>
                                          <p:attrName>style.visibility</p:attrName>
                                        </p:attrNameLst>
                                      </p:cBhvr>
                                      <p:to>
                                        <p:strVal val="visible"/>
                                      </p:to>
                                    </p:set>
                                    <p:animEffect transition="in" filter="fade">
                                      <p:cBhvr>
                                        <p:cTn id="49" dur="1000"/>
                                        <p:tgtEl>
                                          <p:spTgt spid="87">
                                            <p:txEl>
                                              <p:pRg st="6" end="6"/>
                                            </p:txEl>
                                          </p:spTgt>
                                        </p:tgtEl>
                                      </p:cBhvr>
                                    </p:animEffect>
                                    <p:anim calcmode="lin" valueType="num">
                                      <p:cBhvr>
                                        <p:cTn id="50" dur="1000" fill="hold"/>
                                        <p:tgtEl>
                                          <p:spTgt spid="8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8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7">
                                            <p:txEl>
                                              <p:pRg st="7" end="7"/>
                                            </p:txEl>
                                          </p:spTgt>
                                        </p:tgtEl>
                                        <p:attrNameLst>
                                          <p:attrName>style.visibility</p:attrName>
                                        </p:attrNameLst>
                                      </p:cBhvr>
                                      <p:to>
                                        <p:strVal val="visible"/>
                                      </p:to>
                                    </p:set>
                                    <p:animEffect transition="in" filter="fade">
                                      <p:cBhvr>
                                        <p:cTn id="56" dur="1000"/>
                                        <p:tgtEl>
                                          <p:spTgt spid="87">
                                            <p:txEl>
                                              <p:pRg st="7" end="7"/>
                                            </p:txEl>
                                          </p:spTgt>
                                        </p:tgtEl>
                                      </p:cBhvr>
                                    </p:animEffect>
                                    <p:anim calcmode="lin" valueType="num">
                                      <p:cBhvr>
                                        <p:cTn id="57" dur="1000" fill="hold"/>
                                        <p:tgtEl>
                                          <p:spTgt spid="8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8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87">
                                            <p:txEl>
                                              <p:pRg st="8" end="8"/>
                                            </p:txEl>
                                          </p:spTgt>
                                        </p:tgtEl>
                                        <p:attrNameLst>
                                          <p:attrName>style.visibility</p:attrName>
                                        </p:attrNameLst>
                                      </p:cBhvr>
                                      <p:to>
                                        <p:strVal val="visible"/>
                                      </p:to>
                                    </p:set>
                                    <p:animEffect transition="in" filter="fade">
                                      <p:cBhvr>
                                        <p:cTn id="63" dur="1000"/>
                                        <p:tgtEl>
                                          <p:spTgt spid="87">
                                            <p:txEl>
                                              <p:pRg st="8" end="8"/>
                                            </p:txEl>
                                          </p:spTgt>
                                        </p:tgtEl>
                                      </p:cBhvr>
                                    </p:animEffect>
                                    <p:anim calcmode="lin" valueType="num">
                                      <p:cBhvr>
                                        <p:cTn id="64" dur="1000" fill="hold"/>
                                        <p:tgtEl>
                                          <p:spTgt spid="87">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8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87">
                                            <p:txEl>
                                              <p:pRg st="9" end="9"/>
                                            </p:txEl>
                                          </p:spTgt>
                                        </p:tgtEl>
                                        <p:attrNameLst>
                                          <p:attrName>style.visibility</p:attrName>
                                        </p:attrNameLst>
                                      </p:cBhvr>
                                      <p:to>
                                        <p:strVal val="visible"/>
                                      </p:to>
                                    </p:set>
                                    <p:animEffect transition="in" filter="fade">
                                      <p:cBhvr>
                                        <p:cTn id="70" dur="1000"/>
                                        <p:tgtEl>
                                          <p:spTgt spid="87">
                                            <p:txEl>
                                              <p:pRg st="9" end="9"/>
                                            </p:txEl>
                                          </p:spTgt>
                                        </p:tgtEl>
                                      </p:cBhvr>
                                    </p:animEffect>
                                    <p:anim calcmode="lin" valueType="num">
                                      <p:cBhvr>
                                        <p:cTn id="71" dur="1000" fill="hold"/>
                                        <p:tgtEl>
                                          <p:spTgt spid="87">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8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87">
                                            <p:txEl>
                                              <p:pRg st="10" end="10"/>
                                            </p:txEl>
                                          </p:spTgt>
                                        </p:tgtEl>
                                        <p:attrNameLst>
                                          <p:attrName>style.visibility</p:attrName>
                                        </p:attrNameLst>
                                      </p:cBhvr>
                                      <p:to>
                                        <p:strVal val="visible"/>
                                      </p:to>
                                    </p:set>
                                    <p:animEffect transition="in" filter="fade">
                                      <p:cBhvr>
                                        <p:cTn id="77" dur="1000"/>
                                        <p:tgtEl>
                                          <p:spTgt spid="87">
                                            <p:txEl>
                                              <p:pRg st="10" end="10"/>
                                            </p:txEl>
                                          </p:spTgt>
                                        </p:tgtEl>
                                      </p:cBhvr>
                                    </p:animEffect>
                                    <p:anim calcmode="lin" valueType="num">
                                      <p:cBhvr>
                                        <p:cTn id="78" dur="1000" fill="hold"/>
                                        <p:tgtEl>
                                          <p:spTgt spid="87">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8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87">
                                            <p:txEl>
                                              <p:pRg st="11" end="11"/>
                                            </p:txEl>
                                          </p:spTgt>
                                        </p:tgtEl>
                                        <p:attrNameLst>
                                          <p:attrName>style.visibility</p:attrName>
                                        </p:attrNameLst>
                                      </p:cBhvr>
                                      <p:to>
                                        <p:strVal val="visible"/>
                                      </p:to>
                                    </p:set>
                                    <p:animEffect transition="in" filter="fade">
                                      <p:cBhvr>
                                        <p:cTn id="84" dur="1000"/>
                                        <p:tgtEl>
                                          <p:spTgt spid="87">
                                            <p:txEl>
                                              <p:pRg st="11" end="11"/>
                                            </p:txEl>
                                          </p:spTgt>
                                        </p:tgtEl>
                                      </p:cBhvr>
                                    </p:animEffect>
                                    <p:anim calcmode="lin" valueType="num">
                                      <p:cBhvr>
                                        <p:cTn id="85" dur="1000" fill="hold"/>
                                        <p:tgtEl>
                                          <p:spTgt spid="87">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8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 dirty="0"/>
              <a:t>3.1.1 Kiểm thử tĩnh là gì?</a:t>
            </a:r>
            <a:endParaRPr lang="en-US" dirty="0"/>
          </a:p>
        </p:txBody>
      </p:sp>
      <p:sp>
        <p:nvSpPr>
          <p:cNvPr id="3" name="Text Placeholder 2"/>
          <p:cNvSpPr>
            <a:spLocks noGrp="1"/>
          </p:cNvSpPr>
          <p:nvPr>
            <p:ph type="body" idx="1"/>
          </p:nvPr>
        </p:nvSpPr>
        <p:spPr>
          <a:xfrm>
            <a:off x="311700" y="1279254"/>
            <a:ext cx="8520600" cy="3099900"/>
          </a:xfrm>
        </p:spPr>
        <p:txBody>
          <a:bodyPr>
            <a:normAutofit/>
          </a:bodyPr>
          <a:lstStyle/>
          <a:p>
            <a:pPr>
              <a:lnSpc>
                <a:spcPct val="150000"/>
              </a:lnSpc>
            </a:pPr>
            <a:r>
              <a:rPr lang="en-US" sz="1400" dirty="0" smtClean="0"/>
              <a:t>2 </a:t>
            </a:r>
            <a:r>
              <a:rPr lang="en-US" sz="1400" dirty="0" err="1" smtClean="0"/>
              <a:t>kỹ</a:t>
            </a:r>
            <a:r>
              <a:rPr lang="en-US" sz="1400" dirty="0" smtClean="0"/>
              <a:t> </a:t>
            </a:r>
            <a:r>
              <a:rPr lang="en-US" sz="1400" dirty="0" err="1" smtClean="0"/>
              <a:t>thuật</a:t>
            </a:r>
            <a:r>
              <a:rPr lang="en-US" sz="1400" dirty="0" smtClean="0"/>
              <a:t> </a:t>
            </a:r>
            <a:r>
              <a:rPr lang="en-US" sz="1400" dirty="0" err="1" smtClean="0"/>
              <a:t>kiểm</a:t>
            </a:r>
            <a:r>
              <a:rPr lang="en-US" sz="1400" dirty="0" smtClean="0"/>
              <a:t> </a:t>
            </a:r>
            <a:r>
              <a:rPr lang="en-US" sz="1400" dirty="0" err="1" smtClean="0"/>
              <a:t>thử</a:t>
            </a:r>
            <a:r>
              <a:rPr lang="en-US" sz="1400" dirty="0" smtClean="0"/>
              <a:t> </a:t>
            </a:r>
            <a:r>
              <a:rPr lang="en-US" sz="1400" dirty="0" err="1" smtClean="0"/>
              <a:t>tĩnh</a:t>
            </a:r>
            <a:r>
              <a:rPr lang="en-US" sz="1400" dirty="0" smtClean="0"/>
              <a:t>: </a:t>
            </a:r>
          </a:p>
          <a:p>
            <a:pPr lvl="1">
              <a:lnSpc>
                <a:spcPct val="150000"/>
              </a:lnSpc>
            </a:pPr>
            <a:r>
              <a:rPr lang="vi-VN" dirty="0" smtClean="0"/>
              <a:t>Review </a:t>
            </a:r>
            <a:r>
              <a:rPr lang="vi-VN" dirty="0"/>
              <a:t>áp dụng cho bất kì work product mà người tham gia cần phải đọc và hiểu</a:t>
            </a:r>
          </a:p>
          <a:p>
            <a:pPr lvl="1">
              <a:lnSpc>
                <a:spcPct val="150000"/>
              </a:lnSpc>
            </a:pPr>
            <a:r>
              <a:rPr lang="vi-VN" dirty="0" smtClean="0"/>
              <a:t>Static </a:t>
            </a:r>
            <a:r>
              <a:rPr lang="vi-VN" dirty="0"/>
              <a:t>analysis có thể được áp dụng hiệu quả cho bất kì work product nào có cấu trúc tiêu chuẩn (thông thường như code hoặc models), với mỗi work product mà có công cụ phân tích tĩnh phù hợp. Static analysis thậm chí có thể áp dụng với những tool đánh giá work product với ngôn ngữ tự nhiên giống như requirement (ví dụ như kiểm tra chính tả, cú pháp...</a:t>
            </a:r>
            <a:endParaRPr lang="en-US" dirty="0"/>
          </a:p>
        </p:txBody>
      </p:sp>
    </p:spTree>
    <p:extLst>
      <p:ext uri="{BB962C8B-B14F-4D97-AF65-F5344CB8AC3E}">
        <p14:creationId xmlns:p14="http://schemas.microsoft.com/office/powerpoint/2010/main" val="330024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3.1.2 Giá trị của kiểm thử tĩnh</a:t>
            </a:r>
            <a:endParaRPr dirty="0"/>
          </a:p>
        </p:txBody>
      </p:sp>
      <p:sp>
        <p:nvSpPr>
          <p:cNvPr id="93" name="Google Shape;93;p18"/>
          <p:cNvSpPr txBox="1">
            <a:spLocks noGrp="1"/>
          </p:cNvSpPr>
          <p:nvPr>
            <p:ph type="body" idx="1"/>
          </p:nvPr>
        </p:nvSpPr>
        <p:spPr>
          <a:xfrm>
            <a:off x="311700" y="1240224"/>
            <a:ext cx="8520600" cy="3811277"/>
          </a:xfrm>
          <a:prstGeom prst="rect">
            <a:avLst/>
          </a:prstGeom>
        </p:spPr>
        <p:txBody>
          <a:bodyPr spcFirstLastPara="1" wrap="square" lIns="91425" tIns="91425" rIns="91425" bIns="91425" anchor="t" anchorCtr="0">
            <a:normAutofit/>
          </a:bodyPr>
          <a:lstStyle/>
          <a:p>
            <a:pPr indent="-311150">
              <a:lnSpc>
                <a:spcPct val="150000"/>
              </a:lnSpc>
              <a:buClr>
                <a:srgbClr val="374151"/>
              </a:buClr>
              <a:buSzPts val="1300"/>
            </a:pPr>
            <a:r>
              <a:rPr lang="vi" sz="1400" dirty="0">
                <a:solidFill>
                  <a:srgbClr val="374151"/>
                </a:solidFill>
              </a:rPr>
              <a:t>Có thể phát hiện lỗi trong các giai đoạn sớm nhất của chu kỳ phát triển phần mềm</a:t>
            </a:r>
            <a:r>
              <a:rPr lang="vi" sz="1400" dirty="0" smtClean="0">
                <a:solidFill>
                  <a:srgbClr val="374151"/>
                </a:solidFill>
              </a:rPr>
              <a:t>.</a:t>
            </a:r>
            <a:r>
              <a:rPr lang="en-US" sz="1400" dirty="0" smtClean="0">
                <a:solidFill>
                  <a:srgbClr val="374151"/>
                </a:solidFill>
              </a:rPr>
              <a:t> </a:t>
            </a:r>
            <a:r>
              <a:rPr lang="vi-VN" sz="1400" dirty="0"/>
              <a:t>Các defect được phát hiện sớm thì chi phí để remove sẽ rẻ hơn nhiều so với việc tìm thấy muộn trong vòng đời phát triển phần mềm, đặc biệt khi so với chi phí bỏ ra khi các defect được phát hiện sau khi phần mềm được deployed và được đưa vào sử dụng</a:t>
            </a:r>
            <a:r>
              <a:rPr lang="vi-VN" sz="1400" dirty="0" smtClean="0"/>
              <a:t>.</a:t>
            </a:r>
            <a:endParaRPr sz="1400" dirty="0">
              <a:solidFill>
                <a:srgbClr val="374151"/>
              </a:solidFill>
            </a:endParaRPr>
          </a:p>
          <a:p>
            <a:pPr marL="457200" lvl="0" indent="-311150" algn="l" rtl="0">
              <a:lnSpc>
                <a:spcPct val="150000"/>
              </a:lnSpc>
              <a:spcBef>
                <a:spcPts val="0"/>
              </a:spcBef>
              <a:spcAft>
                <a:spcPts val="0"/>
              </a:spcAft>
              <a:buClr>
                <a:srgbClr val="374151"/>
              </a:buClr>
              <a:buSzPts val="1300"/>
              <a:buChar char="●"/>
            </a:pPr>
            <a:r>
              <a:rPr lang="vi" sz="1400" dirty="0">
                <a:solidFill>
                  <a:srgbClr val="374151"/>
                </a:solidFill>
              </a:rPr>
              <a:t>Có thể xác định các lỗi mà kiểm thử động không thể phát hiện được (ví dụ: mã không thể truy cập được, mẫu thiết kế không được thực hiện đúng như mong muốn, lỗi trong các sản phẩm công việc không thực thi</a:t>
            </a:r>
            <a:r>
              <a:rPr lang="vi" sz="1400" dirty="0" smtClean="0">
                <a:solidFill>
                  <a:srgbClr val="374151"/>
                </a:solidFill>
              </a:rPr>
              <a:t>).</a:t>
            </a:r>
          </a:p>
          <a:p>
            <a:pPr marL="457200" lvl="0" indent="-311150" algn="l" rtl="0">
              <a:lnSpc>
                <a:spcPct val="150000"/>
              </a:lnSpc>
              <a:spcBef>
                <a:spcPts val="0"/>
              </a:spcBef>
              <a:spcAft>
                <a:spcPts val="0"/>
              </a:spcAft>
              <a:buClr>
                <a:srgbClr val="374151"/>
              </a:buClr>
              <a:buSzPts val="1300"/>
              <a:buChar char="●"/>
            </a:pPr>
            <a:r>
              <a:rPr lang="vi" sz="1400" dirty="0" smtClean="0">
                <a:solidFill>
                  <a:srgbClr val="374151"/>
                </a:solidFill>
              </a:rPr>
              <a:t>Cung cấp khả năng đánh giá chất lượng và xây dựng sự tin tưởng trong sản phẩm công việc.</a:t>
            </a:r>
            <a:endParaRPr sz="1400" dirty="0" smtClean="0">
              <a:solidFill>
                <a:srgbClr val="37415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3">
                                            <p:txEl>
                                              <p:pRg st="0" end="0"/>
                                            </p:txEl>
                                          </p:spTgt>
                                        </p:tgtEl>
                                        <p:attrNameLst>
                                          <p:attrName>style.visibility</p:attrName>
                                        </p:attrNameLst>
                                      </p:cBhvr>
                                      <p:to>
                                        <p:strVal val="visible"/>
                                      </p:to>
                                    </p:set>
                                    <p:animEffect transition="in" filter="fade">
                                      <p:cBhvr>
                                        <p:cTn id="7" dur="1000"/>
                                        <p:tgtEl>
                                          <p:spTgt spid="93">
                                            <p:txEl>
                                              <p:pRg st="0" end="0"/>
                                            </p:txEl>
                                          </p:spTgt>
                                        </p:tgtEl>
                                      </p:cBhvr>
                                    </p:animEffect>
                                    <p:anim calcmode="lin" valueType="num">
                                      <p:cBhvr>
                                        <p:cTn id="8" dur="1000" fill="hold"/>
                                        <p:tgtEl>
                                          <p:spTgt spid="9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3">
                                            <p:txEl>
                                              <p:pRg st="1" end="1"/>
                                            </p:txEl>
                                          </p:spTgt>
                                        </p:tgtEl>
                                        <p:attrNameLst>
                                          <p:attrName>style.visibility</p:attrName>
                                        </p:attrNameLst>
                                      </p:cBhvr>
                                      <p:to>
                                        <p:strVal val="visible"/>
                                      </p:to>
                                    </p:set>
                                    <p:animEffect transition="in" filter="fade">
                                      <p:cBhvr>
                                        <p:cTn id="14" dur="1000"/>
                                        <p:tgtEl>
                                          <p:spTgt spid="93">
                                            <p:txEl>
                                              <p:pRg st="1" end="1"/>
                                            </p:txEl>
                                          </p:spTgt>
                                        </p:tgtEl>
                                      </p:cBhvr>
                                    </p:animEffect>
                                    <p:anim calcmode="lin" valueType="num">
                                      <p:cBhvr>
                                        <p:cTn id="15" dur="1000" fill="hold"/>
                                        <p:tgtEl>
                                          <p:spTgt spid="9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3">
                                            <p:txEl>
                                              <p:pRg st="2" end="2"/>
                                            </p:txEl>
                                          </p:spTgt>
                                        </p:tgtEl>
                                        <p:attrNameLst>
                                          <p:attrName>style.visibility</p:attrName>
                                        </p:attrNameLst>
                                      </p:cBhvr>
                                      <p:to>
                                        <p:strVal val="visible"/>
                                      </p:to>
                                    </p:set>
                                    <p:animEffect transition="in" filter="fade">
                                      <p:cBhvr>
                                        <p:cTn id="21" dur="1000"/>
                                        <p:tgtEl>
                                          <p:spTgt spid="93">
                                            <p:txEl>
                                              <p:pRg st="2" end="2"/>
                                            </p:txEl>
                                          </p:spTgt>
                                        </p:tgtEl>
                                      </p:cBhvr>
                                    </p:animEffect>
                                    <p:anim calcmode="lin" valueType="num">
                                      <p:cBhvr>
                                        <p:cTn id="22" dur="1000" fill="hold"/>
                                        <p:tgtEl>
                                          <p:spTgt spid="9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9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468824"/>
            <a:ext cx="8520600" cy="3471165"/>
          </a:xfrm>
        </p:spPr>
        <p:txBody>
          <a:bodyPr>
            <a:normAutofit/>
          </a:bodyPr>
          <a:lstStyle/>
          <a:p>
            <a:pPr>
              <a:lnSpc>
                <a:spcPct val="150000"/>
              </a:lnSpc>
            </a:pPr>
            <a:r>
              <a:rPr lang="vi-VN" sz="1400" dirty="0"/>
              <a:t>Phát hiện và sửa lỗi hiệu quả hơn trước khi thực hiện kiểm thử động</a:t>
            </a:r>
          </a:p>
          <a:p>
            <a:pPr>
              <a:lnSpc>
                <a:spcPct val="150000"/>
              </a:lnSpc>
            </a:pPr>
            <a:r>
              <a:rPr lang="vi-VN" sz="1400" dirty="0"/>
              <a:t>Ngăn chặn những defect trong thiết kế và code bằng cách phát hiện ra sự mâu thuẫn, mơ hồ, thiếu sót, không chính xác.</a:t>
            </a:r>
          </a:p>
          <a:p>
            <a:pPr>
              <a:lnSpc>
                <a:spcPct val="150000"/>
              </a:lnSpc>
            </a:pPr>
            <a:r>
              <a:rPr lang="vi-VN" sz="1400" dirty="0" smtClean="0"/>
              <a:t>Tăng </a:t>
            </a:r>
            <a:r>
              <a:rPr lang="vi-VN" sz="1400" dirty="0"/>
              <a:t>hiệu suất phát triển: ví dụ do thiết kế được cải tiến, code dễ bảo trì</a:t>
            </a:r>
          </a:p>
          <a:p>
            <a:pPr>
              <a:lnSpc>
                <a:spcPct val="150000"/>
              </a:lnSpc>
            </a:pPr>
            <a:r>
              <a:rPr lang="vi-VN" sz="1400" dirty="0"/>
              <a:t>Giảm thời gian và chi phí phát triển</a:t>
            </a:r>
          </a:p>
          <a:p>
            <a:pPr>
              <a:lnSpc>
                <a:spcPct val="150000"/>
              </a:lnSpc>
            </a:pPr>
            <a:r>
              <a:rPr lang="vi-VN" sz="1400" dirty="0"/>
              <a:t>Giảm thời gian và chi phí </a:t>
            </a:r>
            <a:r>
              <a:rPr lang="vi-VN" sz="1400" dirty="0" smtClean="0"/>
              <a:t>test</a:t>
            </a:r>
            <a:endParaRPr lang="en-US" sz="1400" dirty="0" smtClean="0"/>
          </a:p>
          <a:p>
            <a:pPr>
              <a:lnSpc>
                <a:spcPct val="150000"/>
              </a:lnSpc>
            </a:pPr>
            <a:r>
              <a:rPr lang="vi-VN" sz="1400" dirty="0">
                <a:solidFill>
                  <a:srgbClr val="374151"/>
                </a:solidFill>
              </a:rPr>
              <a:t>Sự hiểu biết và giao tiếp giữa các bên liên quan cũng sẽ được cải thiện.</a:t>
            </a:r>
            <a:endParaRPr lang="vi-VN" sz="1400" dirty="0"/>
          </a:p>
          <a:p>
            <a:pPr>
              <a:lnSpc>
                <a:spcPct val="150000"/>
              </a:lnSpc>
            </a:pPr>
            <a:endParaRPr lang="en-US" sz="1400" dirty="0"/>
          </a:p>
        </p:txBody>
      </p:sp>
      <p:sp>
        <p:nvSpPr>
          <p:cNvPr id="4" name="Google Shape;92;p18"/>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3.1.2 Giá trị của kiểm thử tĩnh</a:t>
            </a:r>
            <a:endParaRPr dirty="0"/>
          </a:p>
        </p:txBody>
      </p:sp>
    </p:spTree>
    <p:extLst>
      <p:ext uri="{BB962C8B-B14F-4D97-AF65-F5344CB8AC3E}">
        <p14:creationId xmlns:p14="http://schemas.microsoft.com/office/powerpoint/2010/main" val="15713212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3.1.3 Sự khác nhau giữa kiểm thử tĩnh và kiểm thử động</a:t>
            </a:r>
            <a:endParaRPr dirty="0"/>
          </a:p>
        </p:txBody>
      </p:sp>
      <p:graphicFrame>
        <p:nvGraphicFramePr>
          <p:cNvPr id="99" name="Google Shape;99;p19"/>
          <p:cNvGraphicFramePr/>
          <p:nvPr>
            <p:extLst>
              <p:ext uri="{D42A27DB-BD31-4B8C-83A1-F6EECF244321}">
                <p14:modId xmlns:p14="http://schemas.microsoft.com/office/powerpoint/2010/main" val="2607843556"/>
              </p:ext>
            </p:extLst>
          </p:nvPr>
        </p:nvGraphicFramePr>
        <p:xfrm>
          <a:off x="500100" y="1438500"/>
          <a:ext cx="8070050" cy="3239600"/>
        </p:xfrm>
        <a:graphic>
          <a:graphicData uri="http://schemas.openxmlformats.org/drawingml/2006/table">
            <a:tbl>
              <a:tblPr>
                <a:noFill/>
                <a:tableStyleId>{70CCDA31-D5BF-4C85-AF05-567669850689}</a:tableStyleId>
              </a:tblPr>
              <a:tblGrid>
                <a:gridCol w="4035025">
                  <a:extLst>
                    <a:ext uri="{9D8B030D-6E8A-4147-A177-3AD203B41FA5}">
                      <a16:colId xmlns:a16="http://schemas.microsoft.com/office/drawing/2014/main" val="20000"/>
                    </a:ext>
                  </a:extLst>
                </a:gridCol>
                <a:gridCol w="4035025">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vi" b="1">
                          <a:solidFill>
                            <a:schemeClr val="lt1"/>
                          </a:solidFill>
                        </a:rPr>
                        <a:t>Kiểm thử tĩnh</a:t>
                      </a:r>
                      <a:endParaRPr b="1" dirty="0">
                        <a:solidFill>
                          <a:schemeClr val="lt1"/>
                        </a:solidFill>
                      </a:endParaRPr>
                    </a:p>
                  </a:txBody>
                  <a:tcPr marL="91425" marR="91425" marT="91425" marB="91425">
                    <a:solidFill>
                      <a:srgbClr val="0000FF"/>
                    </a:solidFill>
                  </a:tcPr>
                </a:tc>
                <a:tc>
                  <a:txBody>
                    <a:bodyPr/>
                    <a:lstStyle/>
                    <a:p>
                      <a:pPr marL="0" lvl="0" indent="0" algn="ctr" rtl="0">
                        <a:spcBef>
                          <a:spcPts val="0"/>
                        </a:spcBef>
                        <a:spcAft>
                          <a:spcPts val="0"/>
                        </a:spcAft>
                        <a:buNone/>
                      </a:pPr>
                      <a:r>
                        <a:rPr lang="vi" b="1">
                          <a:solidFill>
                            <a:schemeClr val="lt1"/>
                          </a:solidFill>
                        </a:rPr>
                        <a:t>Kiểm thử động</a:t>
                      </a:r>
                      <a:endParaRPr b="1" dirty="0">
                        <a:solidFill>
                          <a:schemeClr val="lt1"/>
                        </a:solidFill>
                      </a:endParaRPr>
                    </a:p>
                  </a:txBody>
                  <a:tcPr marL="91425" marR="91425" marT="91425" marB="91425">
                    <a:solidFill>
                      <a:srgbClr val="0000FF"/>
                    </a:solidFill>
                  </a:tcPr>
                </a:tc>
                <a:extLst>
                  <a:ext uri="{0D108BD9-81ED-4DB2-BD59-A6C34878D82A}">
                    <a16:rowId xmlns:a16="http://schemas.microsoft.com/office/drawing/2014/main" val="10000"/>
                  </a:ext>
                </a:extLst>
              </a:tr>
              <a:tr h="660850">
                <a:tc>
                  <a:txBody>
                    <a:bodyPr/>
                    <a:lstStyle/>
                    <a:p>
                      <a:pPr marL="0" lvl="0" indent="0" algn="l" rtl="0">
                        <a:lnSpc>
                          <a:spcPct val="115000"/>
                        </a:lnSpc>
                        <a:spcBef>
                          <a:spcPts val="0"/>
                        </a:spcBef>
                        <a:spcAft>
                          <a:spcPts val="1200"/>
                        </a:spcAft>
                        <a:buNone/>
                      </a:pPr>
                      <a:r>
                        <a:rPr lang="vi" sz="1300">
                          <a:solidFill>
                            <a:schemeClr val="dk2"/>
                          </a:solidFill>
                          <a:latin typeface="Source Code Pro"/>
                          <a:ea typeface="Source Code Pro"/>
                          <a:cs typeface="Source Code Pro"/>
                          <a:sym typeface="Source Code Pro"/>
                        </a:rPr>
                        <a:t>Một số lỗi chỉ có thể tìm được bởi kiểm thử tĩnh</a:t>
                      </a:r>
                      <a:endParaRPr sz="1300" dirty="0"/>
                    </a:p>
                  </a:txBody>
                  <a:tcPr marL="91425" marR="91425" marT="91425" marB="91425"/>
                </a:tc>
                <a:tc>
                  <a:txBody>
                    <a:bodyPr/>
                    <a:lstStyle/>
                    <a:p>
                      <a:pPr marL="0" lvl="0" indent="0" algn="l" rtl="0">
                        <a:lnSpc>
                          <a:spcPct val="115000"/>
                        </a:lnSpc>
                        <a:spcBef>
                          <a:spcPts val="0"/>
                        </a:spcBef>
                        <a:spcAft>
                          <a:spcPts val="1200"/>
                        </a:spcAft>
                        <a:buNone/>
                      </a:pPr>
                      <a:r>
                        <a:rPr lang="vi" sz="1300">
                          <a:solidFill>
                            <a:schemeClr val="dk2"/>
                          </a:solidFill>
                          <a:latin typeface="Source Code Pro"/>
                          <a:ea typeface="Source Code Pro"/>
                          <a:cs typeface="Source Code Pro"/>
                          <a:sym typeface="Source Code Pro"/>
                        </a:rPr>
                        <a:t>Một số lỗi chỉ có thể tìm được bởi kiểm thử động</a:t>
                      </a:r>
                      <a:endParaRPr sz="1300" dirty="0"/>
                    </a:p>
                  </a:txBody>
                  <a:tcPr marL="91425" marR="91425" marT="91425" marB="91425"/>
                </a:tc>
                <a:extLst>
                  <a:ext uri="{0D108BD9-81ED-4DB2-BD59-A6C34878D82A}">
                    <a16:rowId xmlns:a16="http://schemas.microsoft.com/office/drawing/2014/main" val="10001"/>
                  </a:ext>
                </a:extLst>
              </a:tr>
              <a:tr h="430175">
                <a:tc>
                  <a:txBody>
                    <a:bodyPr/>
                    <a:lstStyle/>
                    <a:p>
                      <a:pPr marL="0" lvl="0" indent="0" algn="l" rtl="0">
                        <a:lnSpc>
                          <a:spcPct val="115000"/>
                        </a:lnSpc>
                        <a:spcBef>
                          <a:spcPts val="0"/>
                        </a:spcBef>
                        <a:spcAft>
                          <a:spcPts val="1200"/>
                        </a:spcAft>
                        <a:buNone/>
                      </a:pPr>
                      <a:r>
                        <a:rPr lang="vi" sz="1300" dirty="0" smtClean="0">
                          <a:solidFill>
                            <a:schemeClr val="dk2"/>
                          </a:solidFill>
                          <a:latin typeface="Source Code Pro"/>
                          <a:ea typeface="Source Code Pro"/>
                          <a:cs typeface="Source Code Pro"/>
                          <a:sym typeface="Source Code Pro"/>
                        </a:rPr>
                        <a:t>Tìm lỗi trực tiếp</a:t>
                      </a:r>
                      <a:endParaRPr sz="1300" dirty="0">
                        <a:solidFill>
                          <a:schemeClr val="dk2"/>
                        </a:solidFill>
                        <a:latin typeface="Source Code Pro"/>
                        <a:ea typeface="Source Code Pro"/>
                        <a:cs typeface="Source Code Pro"/>
                        <a:sym typeface="Source Code Pro"/>
                      </a:endParaRPr>
                    </a:p>
                  </a:txBody>
                  <a:tcPr marL="91425" marR="91425" marT="91425" marB="91425"/>
                </a:tc>
                <a:tc>
                  <a:txBody>
                    <a:bodyPr/>
                    <a:lstStyle/>
                    <a:p>
                      <a:pPr marL="0" lvl="0" indent="0" algn="l" rtl="0">
                        <a:lnSpc>
                          <a:spcPct val="115000"/>
                        </a:lnSpc>
                        <a:spcBef>
                          <a:spcPts val="1200"/>
                        </a:spcBef>
                        <a:spcAft>
                          <a:spcPts val="1200"/>
                        </a:spcAft>
                        <a:buNone/>
                      </a:pPr>
                      <a:r>
                        <a:rPr lang="vi" sz="1300" dirty="0">
                          <a:solidFill>
                            <a:schemeClr val="dk2"/>
                          </a:solidFill>
                          <a:latin typeface="Source Code Pro"/>
                          <a:ea typeface="Source Code Pro"/>
                          <a:cs typeface="Source Code Pro"/>
                          <a:sym typeface="Source Code Pro"/>
                        </a:rPr>
                        <a:t>Điều tra failure để tìm </a:t>
                      </a:r>
                      <a:r>
                        <a:rPr lang="vi" sz="1300" dirty="0" smtClean="0">
                          <a:solidFill>
                            <a:schemeClr val="dk2"/>
                          </a:solidFill>
                          <a:latin typeface="Source Code Pro"/>
                          <a:ea typeface="Source Code Pro"/>
                          <a:cs typeface="Source Code Pro"/>
                          <a:sym typeface="Source Code Pro"/>
                        </a:rPr>
                        <a:t>defect</a:t>
                      </a:r>
                      <a:r>
                        <a:rPr lang="en-US" sz="1300" dirty="0" smtClean="0">
                          <a:solidFill>
                            <a:schemeClr val="dk2"/>
                          </a:solidFill>
                          <a:latin typeface="Source Code Pro"/>
                          <a:ea typeface="Source Code Pro"/>
                          <a:cs typeface="Source Code Pro"/>
                          <a:sym typeface="Source Code Pro"/>
                        </a:rPr>
                        <a:t> </a:t>
                      </a:r>
                      <a:r>
                        <a:rPr lang="en-US" sz="1300" dirty="0" err="1" smtClean="0">
                          <a:solidFill>
                            <a:schemeClr val="dk2"/>
                          </a:solidFill>
                          <a:latin typeface="Source Code Pro"/>
                          <a:ea typeface="Source Code Pro"/>
                          <a:cs typeface="Source Code Pro"/>
                          <a:sym typeface="Source Code Pro"/>
                        </a:rPr>
                        <a:t>khi</a:t>
                      </a:r>
                      <a:r>
                        <a:rPr lang="en-US" sz="1300" dirty="0" smtClean="0">
                          <a:solidFill>
                            <a:schemeClr val="dk2"/>
                          </a:solidFill>
                          <a:latin typeface="Source Code Pro"/>
                          <a:ea typeface="Source Code Pro"/>
                          <a:cs typeface="Source Code Pro"/>
                          <a:sym typeface="Source Code Pro"/>
                        </a:rPr>
                        <a:t> </a:t>
                      </a:r>
                      <a:r>
                        <a:rPr lang="en-US" sz="1300" dirty="0" err="1" smtClean="0">
                          <a:solidFill>
                            <a:schemeClr val="dk2"/>
                          </a:solidFill>
                          <a:latin typeface="Source Code Pro"/>
                          <a:ea typeface="Source Code Pro"/>
                          <a:cs typeface="Source Code Pro"/>
                          <a:sym typeface="Source Code Pro"/>
                        </a:rPr>
                        <a:t>chạy</a:t>
                      </a:r>
                      <a:r>
                        <a:rPr lang="en-US" sz="1300" baseline="0" dirty="0" smtClean="0">
                          <a:solidFill>
                            <a:schemeClr val="dk2"/>
                          </a:solidFill>
                          <a:latin typeface="Source Code Pro"/>
                          <a:ea typeface="Source Code Pro"/>
                          <a:cs typeface="Source Code Pro"/>
                          <a:sym typeface="Source Code Pro"/>
                        </a:rPr>
                        <a:t> </a:t>
                      </a:r>
                      <a:r>
                        <a:rPr lang="en-US" sz="1300" baseline="0" dirty="0" err="1" smtClean="0">
                          <a:solidFill>
                            <a:schemeClr val="dk2"/>
                          </a:solidFill>
                          <a:latin typeface="Source Code Pro"/>
                          <a:ea typeface="Source Code Pro"/>
                          <a:cs typeface="Source Code Pro"/>
                          <a:sym typeface="Source Code Pro"/>
                        </a:rPr>
                        <a:t>phần</a:t>
                      </a:r>
                      <a:r>
                        <a:rPr lang="en-US" sz="1300" baseline="0" dirty="0" smtClean="0">
                          <a:solidFill>
                            <a:schemeClr val="dk2"/>
                          </a:solidFill>
                          <a:latin typeface="Source Code Pro"/>
                          <a:ea typeface="Source Code Pro"/>
                          <a:cs typeface="Source Code Pro"/>
                          <a:sym typeface="Source Code Pro"/>
                        </a:rPr>
                        <a:t> </a:t>
                      </a:r>
                      <a:r>
                        <a:rPr lang="en-US" sz="1300" baseline="0" dirty="0" err="1" smtClean="0">
                          <a:solidFill>
                            <a:schemeClr val="dk2"/>
                          </a:solidFill>
                          <a:latin typeface="Source Code Pro"/>
                          <a:ea typeface="Source Code Pro"/>
                          <a:cs typeface="Source Code Pro"/>
                          <a:sym typeface="Source Code Pro"/>
                        </a:rPr>
                        <a:t>mềm</a:t>
                      </a:r>
                      <a:endParaRPr sz="1300" dirty="0">
                        <a:solidFill>
                          <a:schemeClr val="dk2"/>
                        </a:solidFill>
                        <a:latin typeface="Source Code Pro"/>
                        <a:ea typeface="Source Code Pro"/>
                        <a:cs typeface="Source Code Pro"/>
                        <a:sym typeface="Source Code Pro"/>
                      </a:endParaRPr>
                    </a:p>
                  </a:txBody>
                  <a:tcPr marL="91425" marR="91425" marT="91425" marB="91425"/>
                </a:tc>
                <a:extLst>
                  <a:ext uri="{0D108BD9-81ED-4DB2-BD59-A6C34878D82A}">
                    <a16:rowId xmlns:a16="http://schemas.microsoft.com/office/drawing/2014/main" val="10002"/>
                  </a:ext>
                </a:extLst>
              </a:tr>
              <a:tr h="677650">
                <a:tc>
                  <a:txBody>
                    <a:bodyPr/>
                    <a:lstStyle/>
                    <a:p>
                      <a:pPr marL="0" lvl="0" indent="0" algn="l" rtl="0">
                        <a:lnSpc>
                          <a:spcPct val="115000"/>
                        </a:lnSpc>
                        <a:spcBef>
                          <a:spcPts val="0"/>
                        </a:spcBef>
                        <a:spcAft>
                          <a:spcPts val="1200"/>
                        </a:spcAft>
                        <a:buNone/>
                      </a:pPr>
                      <a:r>
                        <a:rPr lang="vi" sz="1300" dirty="0">
                          <a:solidFill>
                            <a:schemeClr val="dk2"/>
                          </a:solidFill>
                          <a:latin typeface="Source Code Pro"/>
                          <a:ea typeface="Source Code Pro"/>
                          <a:cs typeface="Source Code Pro"/>
                          <a:sym typeface="Source Code Pro"/>
                        </a:rPr>
                        <a:t>Dễ dàng phát hiện lỗi nằm trên các paths thông qua mã nguồn</a:t>
                      </a:r>
                      <a:endParaRPr sz="1300" dirty="0"/>
                    </a:p>
                  </a:txBody>
                  <a:tcPr marL="91425" marR="91425" marT="91425" marB="91425"/>
                </a:tc>
                <a:tc>
                  <a:txBody>
                    <a:bodyPr/>
                    <a:lstStyle/>
                    <a:p>
                      <a:pPr marL="0" lvl="0" indent="0" algn="l" rtl="0">
                        <a:lnSpc>
                          <a:spcPct val="115000"/>
                        </a:lnSpc>
                        <a:spcBef>
                          <a:spcPts val="0"/>
                        </a:spcBef>
                        <a:spcAft>
                          <a:spcPts val="1200"/>
                        </a:spcAft>
                        <a:buNone/>
                      </a:pPr>
                      <a:r>
                        <a:rPr lang="vi" sz="1300">
                          <a:solidFill>
                            <a:schemeClr val="dk2"/>
                          </a:solidFill>
                          <a:latin typeface="Source Code Pro"/>
                          <a:ea typeface="Source Code Pro"/>
                          <a:cs typeface="Source Code Pro"/>
                          <a:sym typeface="Source Code Pro"/>
                        </a:rPr>
                        <a:t>Ít khi được thực thi hoặc khó để tiếp cận</a:t>
                      </a:r>
                      <a:endParaRPr sz="1300" dirty="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lnSpc>
                          <a:spcPct val="115000"/>
                        </a:lnSpc>
                        <a:spcBef>
                          <a:spcPts val="0"/>
                        </a:spcBef>
                        <a:spcAft>
                          <a:spcPts val="1200"/>
                        </a:spcAft>
                        <a:buNone/>
                      </a:pPr>
                      <a:r>
                        <a:rPr lang="vi" sz="1300" dirty="0">
                          <a:solidFill>
                            <a:schemeClr val="dk2"/>
                          </a:solidFill>
                          <a:latin typeface="Source Code Pro"/>
                          <a:ea typeface="Source Code Pro"/>
                          <a:cs typeface="Source Code Pro"/>
                          <a:sym typeface="Source Code Pro"/>
                        </a:rPr>
                        <a:t>Được sử dụng để đo lường các đặc tính chất lượng mà không phụ thuộc vào việc thực thi mã nguồn </a:t>
                      </a:r>
                      <a:endParaRPr sz="1300" dirty="0"/>
                    </a:p>
                  </a:txBody>
                  <a:tcPr marL="91425" marR="91425" marT="91425" marB="91425"/>
                </a:tc>
                <a:tc>
                  <a:txBody>
                    <a:bodyPr/>
                    <a:lstStyle/>
                    <a:p>
                      <a:pPr marL="0" lvl="0" indent="0" algn="l" rtl="0">
                        <a:lnSpc>
                          <a:spcPct val="115000"/>
                        </a:lnSpc>
                        <a:spcBef>
                          <a:spcPts val="0"/>
                        </a:spcBef>
                        <a:spcAft>
                          <a:spcPts val="1200"/>
                        </a:spcAft>
                        <a:buNone/>
                      </a:pPr>
                      <a:r>
                        <a:rPr lang="vi" sz="1300" dirty="0">
                          <a:solidFill>
                            <a:schemeClr val="dk2"/>
                          </a:solidFill>
                          <a:latin typeface="Source Code Pro"/>
                          <a:ea typeface="Source Code Pro"/>
                          <a:cs typeface="Source Code Pro"/>
                          <a:sym typeface="Source Code Pro"/>
                        </a:rPr>
                        <a:t>Được sử dụng để đo lường các đặc tính chất lượng mà phụ thuộc vào thực thi mã nguồn</a:t>
                      </a:r>
                      <a:endParaRPr sz="1300" dirty="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237786"/>
            <a:ext cx="8520600" cy="3905714"/>
          </a:xfrm>
        </p:spPr>
        <p:txBody>
          <a:bodyPr>
            <a:normAutofit/>
          </a:bodyPr>
          <a:lstStyle/>
          <a:p>
            <a:pPr>
              <a:lnSpc>
                <a:spcPct val="170000"/>
              </a:lnSpc>
            </a:pPr>
            <a:r>
              <a:rPr lang="vi-VN" sz="1400" dirty="0" smtClean="0"/>
              <a:t>Một </a:t>
            </a:r>
            <a:r>
              <a:rPr lang="vi-VN" sz="1400" dirty="0"/>
              <a:t>defect có thể tồn tại trong work product 1 thời gian dài mà không gây ra failure</a:t>
            </a:r>
          </a:p>
          <a:p>
            <a:pPr>
              <a:lnSpc>
                <a:spcPct val="170000"/>
              </a:lnSpc>
            </a:pPr>
            <a:r>
              <a:rPr lang="vi-VN" sz="1400" dirty="0"/>
              <a:t>Kiểm thử tĩnh có thể tìm thấy defect mà tốn ít công sức hơn</a:t>
            </a:r>
          </a:p>
          <a:p>
            <a:pPr>
              <a:lnSpc>
                <a:spcPct val="170000"/>
              </a:lnSpc>
            </a:pPr>
            <a:r>
              <a:rPr lang="vi-VN" sz="1400" dirty="0"/>
              <a:t>Một điểm khác nhau nữa là kiểm thử tĩnh có thể được sử dụng để nâng cao tính nhất quán và chất lượng bên trong của work product, trong khi kiểm thử động thông thường tập trung vào hành vi bên ngoài của sản phẩm</a:t>
            </a:r>
            <a:r>
              <a:rPr lang="vi-VN" sz="1400" dirty="0" smtClean="0"/>
              <a:t>.</a:t>
            </a:r>
            <a:endParaRPr lang="en-US" sz="1400" dirty="0" smtClean="0"/>
          </a:p>
          <a:p>
            <a:pPr>
              <a:lnSpc>
                <a:spcPct val="170000"/>
              </a:lnSpc>
            </a:pPr>
            <a:r>
              <a:rPr lang="en-US" sz="1400" dirty="0" err="1"/>
              <a:t>hầu</a:t>
            </a:r>
            <a:r>
              <a:rPr lang="en-US" sz="1400" dirty="0"/>
              <a:t> </a:t>
            </a:r>
            <a:r>
              <a:rPr lang="en-US" sz="1400" dirty="0" err="1"/>
              <a:t>hết</a:t>
            </a:r>
            <a:r>
              <a:rPr lang="en-US" sz="1400" dirty="0"/>
              <a:t> </a:t>
            </a:r>
            <a:r>
              <a:rPr lang="en-US" sz="1400" dirty="0" err="1"/>
              <a:t>các</a:t>
            </a:r>
            <a:r>
              <a:rPr lang="en-US" sz="1400" dirty="0"/>
              <a:t> </a:t>
            </a:r>
            <a:r>
              <a:rPr lang="en-US" sz="1400" dirty="0" err="1"/>
              <a:t>loại</a:t>
            </a:r>
            <a:r>
              <a:rPr lang="en-US" sz="1400" dirty="0"/>
              <a:t> maintainability defects </a:t>
            </a:r>
            <a:r>
              <a:rPr lang="en-US" sz="1400" dirty="0" err="1"/>
              <a:t>chỉ</a:t>
            </a:r>
            <a:r>
              <a:rPr lang="en-US" sz="1400" dirty="0"/>
              <a:t> </a:t>
            </a:r>
            <a:r>
              <a:rPr lang="en-US" sz="1400" dirty="0" err="1"/>
              <a:t>có</a:t>
            </a:r>
            <a:r>
              <a:rPr lang="en-US" sz="1400" dirty="0"/>
              <a:t> </a:t>
            </a:r>
            <a:r>
              <a:rPr lang="en-US" sz="1400" dirty="0" err="1"/>
              <a:t>thể</a:t>
            </a:r>
            <a:r>
              <a:rPr lang="en-US" sz="1400" dirty="0"/>
              <a:t> </a:t>
            </a:r>
            <a:r>
              <a:rPr lang="en-US" sz="1400" dirty="0" err="1"/>
              <a:t>tìm</a:t>
            </a:r>
            <a:r>
              <a:rPr lang="en-US" sz="1400" dirty="0"/>
              <a:t> </a:t>
            </a:r>
            <a:r>
              <a:rPr lang="en-US" sz="1400" dirty="0" err="1"/>
              <a:t>thấy</a:t>
            </a:r>
            <a:r>
              <a:rPr lang="en-US" sz="1400" dirty="0"/>
              <a:t> </a:t>
            </a:r>
            <a:r>
              <a:rPr lang="en-US" sz="1400" dirty="0" err="1"/>
              <a:t>bởi</a:t>
            </a:r>
            <a:r>
              <a:rPr lang="en-US" sz="1400" dirty="0"/>
              <a:t> </a:t>
            </a:r>
            <a:r>
              <a:rPr lang="en-US" sz="1400" dirty="0" err="1"/>
              <a:t>kiểm</a:t>
            </a:r>
            <a:r>
              <a:rPr lang="en-US" sz="1400" dirty="0"/>
              <a:t> </a:t>
            </a:r>
            <a:r>
              <a:rPr lang="en-US" sz="1400" dirty="0" err="1"/>
              <a:t>thử</a:t>
            </a:r>
            <a:r>
              <a:rPr lang="en-US" sz="1400" dirty="0"/>
              <a:t> </a:t>
            </a:r>
            <a:r>
              <a:rPr lang="en-US" sz="1400" dirty="0" err="1"/>
              <a:t>tĩnh</a:t>
            </a:r>
            <a:r>
              <a:rPr lang="en-US" sz="1400" dirty="0"/>
              <a:t>.</a:t>
            </a:r>
          </a:p>
        </p:txBody>
      </p:sp>
      <p:sp>
        <p:nvSpPr>
          <p:cNvPr id="4" name="Google Shape;98;p19"/>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3.1.3 Sự khác nhau giữa kiểm thử tĩnh và kiểm thử động</a:t>
            </a:r>
            <a:endParaRPr dirty="0"/>
          </a:p>
        </p:txBody>
      </p:sp>
    </p:spTree>
    <p:extLst>
      <p:ext uri="{BB962C8B-B14F-4D97-AF65-F5344CB8AC3E}">
        <p14:creationId xmlns:p14="http://schemas.microsoft.com/office/powerpoint/2010/main" val="363285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5850" y="1201195"/>
            <a:ext cx="8832300" cy="3538073"/>
          </a:xfrm>
        </p:spPr>
        <p:txBody>
          <a:bodyPr>
            <a:noAutofit/>
          </a:bodyPr>
          <a:lstStyle/>
          <a:p>
            <a:pPr>
              <a:lnSpc>
                <a:spcPct val="150000"/>
              </a:lnSpc>
            </a:pPr>
            <a:r>
              <a:rPr lang="vi-VN" sz="1400" dirty="0"/>
              <a:t>Khi so sánh với kiểm thử động, các loại defect đặc thù mà có thể tìm thấy và fix 1 cách dễ dàng và chi phí rẻ bao gồm:</a:t>
            </a:r>
          </a:p>
          <a:p>
            <a:pPr lvl="1">
              <a:lnSpc>
                <a:spcPct val="150000"/>
              </a:lnSpc>
            </a:pPr>
            <a:r>
              <a:rPr lang="vi-VN" dirty="0"/>
              <a:t>Requirement defects (ví dụ: mâu thuẫn, dư thừa, không chính xác)</a:t>
            </a:r>
          </a:p>
          <a:p>
            <a:pPr lvl="1">
              <a:lnSpc>
                <a:spcPct val="150000"/>
              </a:lnSpc>
            </a:pPr>
            <a:r>
              <a:rPr lang="vi-VN" dirty="0"/>
              <a:t>Design defects (thuật toán hoặc cấu trúc dữ liệu không hiệu quả)</a:t>
            </a:r>
          </a:p>
          <a:p>
            <a:pPr lvl="1">
              <a:lnSpc>
                <a:spcPct val="150000"/>
              </a:lnSpc>
            </a:pPr>
            <a:r>
              <a:rPr lang="vi-VN" dirty="0"/>
              <a:t>Coding defects (các biến có giá trị không xác định, các biến được khai báo nhưng không sử dụng, code không thể truy cập, code trùng lặp)</a:t>
            </a:r>
          </a:p>
          <a:p>
            <a:pPr lvl="1">
              <a:lnSpc>
                <a:spcPct val="150000"/>
              </a:lnSpc>
            </a:pPr>
            <a:r>
              <a:rPr lang="vi-VN" dirty="0"/>
              <a:t>Độ lệch so với tiêu chuẩn (ví dụ: thiếu tuân thủ các tiêu chuẩn code)</a:t>
            </a:r>
          </a:p>
          <a:p>
            <a:pPr lvl="1">
              <a:lnSpc>
                <a:spcPct val="150000"/>
              </a:lnSpc>
            </a:pPr>
            <a:r>
              <a:rPr lang="vi-VN" dirty="0"/>
              <a:t>Thông số kĩ thuật giao diện không chính xác</a:t>
            </a:r>
          </a:p>
          <a:p>
            <a:pPr lvl="1">
              <a:lnSpc>
                <a:spcPct val="150000"/>
              </a:lnSpc>
            </a:pPr>
            <a:r>
              <a:rPr lang="vi-VN" dirty="0"/>
              <a:t>Các lỗ hổng bảo mật (ví dụ: dễ tràn bộ nhớ đệm)</a:t>
            </a:r>
          </a:p>
          <a:p>
            <a:pPr lvl="1">
              <a:lnSpc>
                <a:spcPct val="150000"/>
              </a:lnSpc>
            </a:pPr>
            <a:r>
              <a:rPr lang="vi-VN" dirty="0"/>
              <a:t>Các lỗ hổng hoặc không chính xác trong truy xuất nguồn gốc hoặc phạm vi bảo hiểm</a:t>
            </a:r>
            <a:endParaRPr lang="en-US" dirty="0"/>
          </a:p>
        </p:txBody>
      </p:sp>
      <p:sp>
        <p:nvSpPr>
          <p:cNvPr id="4" name="Google Shape;98;p19"/>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3.1.3 Sự khác nhau giữa kiểm thử tĩnh và kiểm thử động</a:t>
            </a:r>
            <a:endParaRPr dirty="0"/>
          </a:p>
        </p:txBody>
      </p:sp>
    </p:spTree>
    <p:extLst>
      <p:ext uri="{BB962C8B-B14F-4D97-AF65-F5344CB8AC3E}">
        <p14:creationId xmlns:p14="http://schemas.microsoft.com/office/powerpoint/2010/main" val="41788431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Nội dung</a:t>
            </a:r>
            <a:endParaRPr dirty="0"/>
          </a:p>
        </p:txBody>
      </p:sp>
      <p:sp>
        <p:nvSpPr>
          <p:cNvPr id="105" name="Google Shape;105;p20"/>
          <p:cNvSpPr txBox="1">
            <a:spLocks noGrp="1"/>
          </p:cNvSpPr>
          <p:nvPr>
            <p:ph type="body" idx="1"/>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dirty="0">
                <a:solidFill>
                  <a:srgbClr val="000000"/>
                </a:solidFill>
                <a:highlight>
                  <a:schemeClr val="lt1"/>
                </a:highlight>
              </a:rPr>
              <a:t>3.1 Cơ bản về kiểm thử tĩnh</a:t>
            </a:r>
            <a:endParaRPr dirty="0">
              <a:highlight>
                <a:schemeClr val="lt1"/>
              </a:highlight>
            </a:endParaRPr>
          </a:p>
          <a:p>
            <a:pPr marL="0" marR="0" lvl="0" indent="0" algn="l" rtl="0">
              <a:lnSpc>
                <a:spcPct val="115000"/>
              </a:lnSpc>
              <a:spcBef>
                <a:spcPts val="1200"/>
              </a:spcBef>
              <a:spcAft>
                <a:spcPts val="1200"/>
              </a:spcAft>
              <a:buNone/>
            </a:pPr>
            <a:r>
              <a:rPr lang="vi" dirty="0">
                <a:solidFill>
                  <a:srgbClr val="000000"/>
                </a:solidFill>
                <a:highlight>
                  <a:srgbClr val="FF706B"/>
                </a:highlight>
              </a:rPr>
              <a:t>3.2 Quy trình review</a:t>
            </a:r>
            <a:endParaRPr dirty="0">
              <a:solidFill>
                <a:srgbClr val="000000"/>
              </a:solidFill>
              <a:highlight>
                <a:srgbClr val="FF706B"/>
              </a:highligh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3.2 </a:t>
            </a:r>
            <a:r>
              <a:rPr lang="en-US" dirty="0" err="1"/>
              <a:t>Quy</a:t>
            </a:r>
            <a:r>
              <a:rPr lang="en-US" dirty="0"/>
              <a:t> </a:t>
            </a:r>
            <a:r>
              <a:rPr lang="en-US" dirty="0" err="1"/>
              <a:t>trình</a:t>
            </a:r>
            <a:r>
              <a:rPr lang="en-US" dirty="0"/>
              <a:t> </a:t>
            </a:r>
            <a:r>
              <a:rPr lang="en-US" dirty="0" smtClean="0"/>
              <a:t>review</a:t>
            </a:r>
            <a:endParaRPr lang="en-US" dirty="0"/>
          </a:p>
        </p:txBody>
      </p:sp>
      <p:sp>
        <p:nvSpPr>
          <p:cNvPr id="3" name="Text Placeholder 2"/>
          <p:cNvSpPr>
            <a:spLocks noGrp="1"/>
          </p:cNvSpPr>
          <p:nvPr>
            <p:ph type="body" idx="1"/>
          </p:nvPr>
        </p:nvSpPr>
        <p:spPr>
          <a:xfrm>
            <a:off x="311700" y="1217510"/>
            <a:ext cx="8520600" cy="4037499"/>
          </a:xfrm>
        </p:spPr>
        <p:txBody>
          <a:bodyPr>
            <a:normAutofit/>
          </a:bodyPr>
          <a:lstStyle/>
          <a:p>
            <a:pPr>
              <a:lnSpc>
                <a:spcPct val="150000"/>
              </a:lnSpc>
            </a:pPr>
            <a:r>
              <a:rPr lang="vi-VN" sz="1400" dirty="0"/>
              <a:t>Review có thể theo tiêu chuẩn (formal review) hoặc không theo tiêu chuẩn (informal review). </a:t>
            </a:r>
            <a:endParaRPr lang="en-US" sz="1400" dirty="0" smtClean="0"/>
          </a:p>
          <a:p>
            <a:pPr lvl="1">
              <a:lnSpc>
                <a:spcPct val="150000"/>
              </a:lnSpc>
            </a:pPr>
            <a:r>
              <a:rPr lang="vi-VN" dirty="0" smtClean="0"/>
              <a:t>Informal </a:t>
            </a:r>
            <a:r>
              <a:rPr lang="vi-VN" dirty="0"/>
              <a:t>reviews đặc trưng bởi không tuân </a:t>
            </a:r>
            <a:r>
              <a:rPr lang="vi-VN" dirty="0" smtClean="0"/>
              <a:t>theo </a:t>
            </a:r>
            <a:r>
              <a:rPr lang="vi-VN" dirty="0"/>
              <a:t>một quy trình chuẩn và không có tài liệu đầu ra tiêu chuẩn.</a:t>
            </a:r>
          </a:p>
          <a:p>
            <a:pPr lvl="1">
              <a:lnSpc>
                <a:spcPct val="150000"/>
              </a:lnSpc>
            </a:pPr>
            <a:r>
              <a:rPr lang="vi-VN" dirty="0"/>
              <a:t>Formal reviews đặc trưng thành phần tham gia, kết quả ghi chép lại của buổi review và các tài liệu ghi lại để đánh giá.</a:t>
            </a:r>
          </a:p>
          <a:p>
            <a:pPr>
              <a:lnSpc>
                <a:spcPct val="150000"/>
              </a:lnSpc>
            </a:pPr>
            <a:r>
              <a:rPr lang="vi-VN" sz="1400" dirty="0"/>
              <a:t>Hình thức của quá trình review liên quan đến nhân tố như quy trình phát triển phần mềm, độ phức tạp của work product được review...</a:t>
            </a:r>
          </a:p>
          <a:p>
            <a:pPr>
              <a:lnSpc>
                <a:spcPct val="150000"/>
              </a:lnSpc>
            </a:pPr>
            <a:r>
              <a:rPr lang="vi-VN" sz="1400" dirty="0"/>
              <a:t>Trọng tâm của review phụ thuộc vào các mục tiêu được thống nhất của việc review (ví dụ như tìm bug, tạo sự hiểu biết chung, đưa ra kiến thức cho người tham gia như tester/new member...</a:t>
            </a:r>
            <a:endParaRPr lang="en-US" sz="1400" dirty="0"/>
          </a:p>
        </p:txBody>
      </p:sp>
    </p:spTree>
    <p:extLst>
      <p:ext uri="{BB962C8B-B14F-4D97-AF65-F5344CB8AC3E}">
        <p14:creationId xmlns:p14="http://schemas.microsoft.com/office/powerpoint/2010/main" val="2612238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3.2.1 Các hoạt động trong quy trình review</a:t>
            </a:r>
            <a:endParaRPr dirty="0"/>
          </a:p>
        </p:txBody>
      </p:sp>
      <p:grpSp>
        <p:nvGrpSpPr>
          <p:cNvPr id="111" name="Google Shape;111;p21"/>
          <p:cNvGrpSpPr/>
          <p:nvPr/>
        </p:nvGrpSpPr>
        <p:grpSpPr>
          <a:xfrm>
            <a:off x="2280525" y="1334575"/>
            <a:ext cx="4118950" cy="3145475"/>
            <a:chOff x="2280525" y="1182175"/>
            <a:chExt cx="4118950" cy="3145475"/>
          </a:xfrm>
        </p:grpSpPr>
        <p:sp>
          <p:nvSpPr>
            <p:cNvPr id="112" name="Google Shape;112;p21"/>
            <p:cNvSpPr/>
            <p:nvPr/>
          </p:nvSpPr>
          <p:spPr>
            <a:xfrm>
              <a:off x="3672500" y="2182100"/>
              <a:ext cx="1563600" cy="1288800"/>
            </a:xfrm>
            <a:prstGeom prst="ellipse">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b="1">
                  <a:latin typeface="Source Code Pro"/>
                  <a:ea typeface="Source Code Pro"/>
                  <a:cs typeface="Source Code Pro"/>
                  <a:sym typeface="Source Code Pro"/>
                </a:rPr>
                <a:t>Review Process</a:t>
              </a:r>
              <a:endParaRPr b="1" dirty="0">
                <a:latin typeface="Source Code Pro"/>
                <a:ea typeface="Source Code Pro"/>
                <a:cs typeface="Source Code Pro"/>
                <a:sym typeface="Source Code Pro"/>
              </a:endParaRPr>
            </a:p>
          </p:txBody>
        </p:sp>
        <p:sp>
          <p:nvSpPr>
            <p:cNvPr id="113" name="Google Shape;113;p21"/>
            <p:cNvSpPr/>
            <p:nvPr/>
          </p:nvSpPr>
          <p:spPr>
            <a:xfrm>
              <a:off x="3606950" y="1182175"/>
              <a:ext cx="1085100" cy="768900"/>
            </a:xfrm>
            <a:prstGeom prst="hexagon">
              <a:avLst>
                <a:gd name="adj" fmla="val 25000"/>
                <a:gd name="vf" fmla="val 115470"/>
              </a:avLst>
            </a:prstGeom>
            <a:solidFill>
              <a:srgbClr val="D5A6B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sz="1200">
                  <a:latin typeface="Oswald"/>
                  <a:ea typeface="Oswald"/>
                  <a:cs typeface="Oswald"/>
                  <a:sym typeface="Oswald"/>
                </a:rPr>
                <a:t>1. Planning</a:t>
              </a:r>
              <a:endParaRPr dirty="0">
                <a:latin typeface="Source Code Pro"/>
                <a:ea typeface="Source Code Pro"/>
                <a:cs typeface="Source Code Pro"/>
                <a:sym typeface="Source Code Pro"/>
              </a:endParaRPr>
            </a:p>
          </p:txBody>
        </p:sp>
        <p:sp>
          <p:nvSpPr>
            <p:cNvPr id="114" name="Google Shape;114;p21"/>
            <p:cNvSpPr/>
            <p:nvPr/>
          </p:nvSpPr>
          <p:spPr>
            <a:xfrm>
              <a:off x="5314375" y="1802850"/>
              <a:ext cx="1085100" cy="768900"/>
            </a:xfrm>
            <a:prstGeom prst="hexagon">
              <a:avLst>
                <a:gd name="adj" fmla="val 25000"/>
                <a:gd name="vf" fmla="val 115470"/>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sz="1200">
                  <a:latin typeface="Oswald"/>
                  <a:ea typeface="Oswald"/>
                  <a:cs typeface="Oswald"/>
                  <a:sym typeface="Oswald"/>
                </a:rPr>
                <a:t>2. Initial review</a:t>
              </a:r>
              <a:endParaRPr dirty="0">
                <a:latin typeface="Source Code Pro"/>
                <a:ea typeface="Source Code Pro"/>
                <a:cs typeface="Source Code Pro"/>
                <a:sym typeface="Source Code Pro"/>
              </a:endParaRPr>
            </a:p>
          </p:txBody>
        </p:sp>
        <p:sp>
          <p:nvSpPr>
            <p:cNvPr id="115" name="Google Shape;115;p21"/>
            <p:cNvSpPr/>
            <p:nvPr/>
          </p:nvSpPr>
          <p:spPr>
            <a:xfrm>
              <a:off x="4944875" y="3454225"/>
              <a:ext cx="1085100" cy="768900"/>
            </a:xfrm>
            <a:prstGeom prst="hexagon">
              <a:avLst>
                <a:gd name="adj" fmla="val 25000"/>
                <a:gd name="vf" fmla="val 115470"/>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sz="1200">
                  <a:latin typeface="Oswald"/>
                  <a:ea typeface="Oswald"/>
                  <a:cs typeface="Oswald"/>
                  <a:sym typeface="Oswald"/>
                </a:rPr>
                <a:t>3. Individual review</a:t>
              </a:r>
              <a:endParaRPr sz="1200" dirty="0">
                <a:latin typeface="Oswald"/>
                <a:ea typeface="Oswald"/>
                <a:cs typeface="Oswald"/>
                <a:sym typeface="Oswald"/>
              </a:endParaRPr>
            </a:p>
          </p:txBody>
        </p:sp>
        <p:sp>
          <p:nvSpPr>
            <p:cNvPr id="116" name="Google Shape;116;p21"/>
            <p:cNvSpPr/>
            <p:nvPr/>
          </p:nvSpPr>
          <p:spPr>
            <a:xfrm>
              <a:off x="3096675" y="3558750"/>
              <a:ext cx="1085100" cy="768900"/>
            </a:xfrm>
            <a:prstGeom prst="hexagon">
              <a:avLst>
                <a:gd name="adj" fmla="val 25000"/>
                <a:gd name="vf" fmla="val 115470"/>
              </a:avLst>
            </a:prstGeom>
            <a:solidFill>
              <a:srgbClr val="00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sz="1200">
                  <a:latin typeface="Oswald"/>
                  <a:ea typeface="Oswald"/>
                  <a:cs typeface="Oswald"/>
                  <a:sym typeface="Oswald"/>
                </a:rPr>
                <a:t>4. Issue commun &amp; Analysis</a:t>
              </a:r>
              <a:endParaRPr sz="1200" dirty="0">
                <a:latin typeface="Oswald"/>
                <a:ea typeface="Oswald"/>
                <a:cs typeface="Oswald"/>
                <a:sym typeface="Oswald"/>
              </a:endParaRPr>
            </a:p>
          </p:txBody>
        </p:sp>
        <p:sp>
          <p:nvSpPr>
            <p:cNvPr id="117" name="Google Shape;117;p21"/>
            <p:cNvSpPr/>
            <p:nvPr/>
          </p:nvSpPr>
          <p:spPr>
            <a:xfrm>
              <a:off x="2280525" y="2213450"/>
              <a:ext cx="1085100" cy="768900"/>
            </a:xfrm>
            <a:prstGeom prst="hexagon">
              <a:avLst>
                <a:gd name="adj" fmla="val 25000"/>
                <a:gd name="vf" fmla="val 11547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vi" sz="1200">
                  <a:latin typeface="Oswald"/>
                  <a:ea typeface="Oswald"/>
                  <a:cs typeface="Oswald"/>
                  <a:sym typeface="Oswald"/>
                </a:rPr>
                <a:t>5. Fix &amp; Report</a:t>
              </a:r>
              <a:endParaRPr sz="1200" dirty="0">
                <a:latin typeface="Oswald"/>
                <a:ea typeface="Oswald"/>
                <a:cs typeface="Oswald"/>
                <a:sym typeface="Oswald"/>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3.2.1 Các hoạt động trong quy trình review</a:t>
            </a:r>
            <a:endParaRPr dirty="0"/>
          </a:p>
        </p:txBody>
      </p:sp>
      <p:sp>
        <p:nvSpPr>
          <p:cNvPr id="123" name="Google Shape;123;p22"/>
          <p:cNvSpPr txBox="1">
            <a:spLocks noGrp="1"/>
          </p:cNvSpPr>
          <p:nvPr>
            <p:ph type="body" idx="1"/>
          </p:nvPr>
        </p:nvSpPr>
        <p:spPr>
          <a:xfrm>
            <a:off x="311700" y="1228661"/>
            <a:ext cx="8832300" cy="3448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vi" sz="1400" b="1" dirty="0">
                <a:solidFill>
                  <a:srgbClr val="FF00FF"/>
                </a:solidFill>
              </a:rPr>
              <a:t>Lập kế hoạch (Planning)</a:t>
            </a:r>
            <a:r>
              <a:rPr lang="vi" sz="1400" dirty="0">
                <a:solidFill>
                  <a:schemeClr val="dk1"/>
                </a:solidFill>
              </a:rPr>
              <a:t> </a:t>
            </a:r>
            <a:r>
              <a:rPr lang="vi" sz="1400" dirty="0"/>
              <a:t>sẽ xác định:</a:t>
            </a:r>
            <a:endParaRPr sz="1400" dirty="0"/>
          </a:p>
          <a:p>
            <a:pPr lvl="0" indent="-330200">
              <a:lnSpc>
                <a:spcPct val="150000"/>
              </a:lnSpc>
              <a:buSzPts val="1600"/>
            </a:pPr>
            <a:r>
              <a:rPr lang="vi" sz="1400" dirty="0"/>
              <a:t>Phạm vi review </a:t>
            </a:r>
            <a:r>
              <a:rPr lang="vi-VN" sz="1400" dirty="0"/>
              <a:t>bao gồm mục đích của review, tài liệu hoặc một phần tài liệu nào được thực hiện </a:t>
            </a:r>
            <a:r>
              <a:rPr lang="vi-VN" sz="1400" dirty="0" smtClean="0"/>
              <a:t>review</a:t>
            </a:r>
            <a:r>
              <a:rPr lang="en-US" sz="1400" dirty="0" smtClean="0"/>
              <a:t>.</a:t>
            </a:r>
            <a:endParaRPr sz="1400" dirty="0"/>
          </a:p>
          <a:p>
            <a:pPr marL="457200" lvl="0" indent="-330200" algn="l" rtl="0">
              <a:lnSpc>
                <a:spcPct val="150000"/>
              </a:lnSpc>
              <a:buSzPts val="1600"/>
              <a:buChar char="●"/>
            </a:pPr>
            <a:r>
              <a:rPr lang="vi" sz="1400" dirty="0"/>
              <a:t>Những đặc tính chất lượng sẽ được đánh giá</a:t>
            </a:r>
            <a:endParaRPr sz="1400" dirty="0"/>
          </a:p>
          <a:p>
            <a:pPr marL="457200" lvl="0" indent="-330200" algn="l" rtl="0">
              <a:lnSpc>
                <a:spcPct val="150000"/>
              </a:lnSpc>
              <a:buSzPts val="1600"/>
              <a:buChar char="●"/>
            </a:pPr>
            <a:r>
              <a:rPr lang="vi" sz="1400" dirty="0"/>
              <a:t>Các mục </a:t>
            </a:r>
            <a:r>
              <a:rPr lang="en-US" sz="1400" dirty="0" err="1" smtClean="0"/>
              <a:t>tiêu</a:t>
            </a:r>
            <a:r>
              <a:rPr lang="en-US" sz="1400" dirty="0" smtClean="0"/>
              <a:t> </a:t>
            </a:r>
            <a:r>
              <a:rPr lang="vi" sz="1400" dirty="0" smtClean="0"/>
              <a:t>cần </a:t>
            </a:r>
            <a:r>
              <a:rPr lang="vi" sz="1400" dirty="0"/>
              <a:t>tập trung</a:t>
            </a:r>
            <a:endParaRPr sz="1400" dirty="0"/>
          </a:p>
          <a:p>
            <a:pPr>
              <a:lnSpc>
                <a:spcPct val="150000"/>
              </a:lnSpc>
            </a:pPr>
            <a:r>
              <a:rPr lang="vi-VN" sz="1400" dirty="0" smtClean="0"/>
              <a:t>Lựa </a:t>
            </a:r>
            <a:r>
              <a:rPr lang="vi-VN" sz="1400" dirty="0"/>
              <a:t>chọn những người tham gia vào quá trình review và phân bổ vai trò</a:t>
            </a:r>
          </a:p>
          <a:p>
            <a:pPr>
              <a:lnSpc>
                <a:spcPct val="150000"/>
              </a:lnSpc>
            </a:pPr>
            <a:r>
              <a:rPr lang="vi-VN" sz="1400" dirty="0"/>
              <a:t>Xác định tiêu chí đầu vào đầu ra cho mỗi loại review khác nhau</a:t>
            </a:r>
          </a:p>
          <a:p>
            <a:pPr>
              <a:lnSpc>
                <a:spcPct val="150000"/>
              </a:lnSpc>
            </a:pPr>
            <a:r>
              <a:rPr lang="vi-VN" sz="1400" dirty="0"/>
              <a:t>Kiểm tra các tiêu chí đầu vào cần thiết </a:t>
            </a:r>
            <a:r>
              <a:rPr lang="vi-VN" sz="1400" dirty="0" smtClean="0"/>
              <a:t>cho </a:t>
            </a:r>
            <a:r>
              <a:rPr lang="vi-VN" sz="1400" dirty="0"/>
              <a:t>những loại review tiêu </a:t>
            </a:r>
            <a:r>
              <a:rPr lang="vi-VN" sz="1400" dirty="0" smtClean="0"/>
              <a:t>chuẩn</a:t>
            </a:r>
            <a:endParaRPr lang="en-US" sz="1400" dirty="0" smtClean="0"/>
          </a:p>
          <a:p>
            <a:pPr lvl="0" indent="-330200">
              <a:lnSpc>
                <a:spcPct val="150000"/>
              </a:lnSpc>
              <a:buSzPts val="1600"/>
            </a:pPr>
            <a:r>
              <a:rPr lang="en-US" sz="1400" dirty="0" err="1"/>
              <a:t>Điều</a:t>
            </a:r>
            <a:r>
              <a:rPr lang="en-US" sz="1400" dirty="0"/>
              <a:t> </a:t>
            </a:r>
            <a:r>
              <a:rPr lang="en-US" sz="1400" dirty="0" err="1"/>
              <a:t>kiện</a:t>
            </a:r>
            <a:r>
              <a:rPr lang="en-US" sz="1400" dirty="0"/>
              <a:t> </a:t>
            </a:r>
            <a:r>
              <a:rPr lang="en-US" sz="1400" dirty="0" err="1"/>
              <a:t>kết</a:t>
            </a:r>
            <a:r>
              <a:rPr lang="en-US" sz="1400" dirty="0"/>
              <a:t> </a:t>
            </a:r>
            <a:r>
              <a:rPr lang="en-US" sz="1400" dirty="0" err="1"/>
              <a:t>thúc</a:t>
            </a:r>
            <a:r>
              <a:rPr lang="en-US" sz="1400" dirty="0"/>
              <a:t> (Exit criteria)</a:t>
            </a:r>
          </a:p>
          <a:p>
            <a:pPr lvl="0" indent="-330200">
              <a:lnSpc>
                <a:spcPct val="150000"/>
              </a:lnSpc>
              <a:buSzPts val="1600"/>
            </a:pPr>
            <a:r>
              <a:rPr lang="en-US" sz="1400" dirty="0" err="1"/>
              <a:t>Các</a:t>
            </a:r>
            <a:r>
              <a:rPr lang="en-US" sz="1400" dirty="0"/>
              <a:t> </a:t>
            </a:r>
            <a:r>
              <a:rPr lang="en-US" sz="1400" dirty="0" err="1"/>
              <a:t>thông</a:t>
            </a:r>
            <a:r>
              <a:rPr lang="en-US" sz="1400" dirty="0"/>
              <a:t> tin </a:t>
            </a:r>
            <a:r>
              <a:rPr lang="en-US" sz="1400" dirty="0" err="1"/>
              <a:t>khác</a:t>
            </a:r>
            <a:r>
              <a:rPr lang="en-US" sz="1400" dirty="0"/>
              <a:t>: effort, time </a:t>
            </a:r>
            <a:r>
              <a:rPr lang="en-US" sz="1400" dirty="0" err="1"/>
              <a:t>cho</a:t>
            </a:r>
            <a:r>
              <a:rPr lang="en-US" sz="1400" dirty="0"/>
              <a:t> review</a:t>
            </a:r>
          </a:p>
          <a:p>
            <a:pPr marL="114300" indent="0">
              <a:lnSpc>
                <a:spcPct val="150000"/>
              </a:lnSpc>
              <a:buNone/>
            </a:pPr>
            <a:endParaRPr lang="vi-VN"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animEffect transition="in" filter="fade">
                                      <p:cBhvr>
                                        <p:cTn id="7" dur="1000"/>
                                        <p:tgtEl>
                                          <p:spTgt spid="123">
                                            <p:txEl>
                                              <p:pRg st="0" end="0"/>
                                            </p:txEl>
                                          </p:spTgt>
                                        </p:tgtEl>
                                      </p:cBhvr>
                                    </p:animEffect>
                                    <p:anim calcmode="lin" valueType="num">
                                      <p:cBhvr>
                                        <p:cTn id="8" dur="1000" fill="hold"/>
                                        <p:tgtEl>
                                          <p:spTgt spid="12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3">
                                            <p:txEl>
                                              <p:pRg st="1" end="1"/>
                                            </p:txEl>
                                          </p:spTgt>
                                        </p:tgtEl>
                                        <p:attrNameLst>
                                          <p:attrName>style.visibility</p:attrName>
                                        </p:attrNameLst>
                                      </p:cBhvr>
                                      <p:to>
                                        <p:strVal val="visible"/>
                                      </p:to>
                                    </p:set>
                                    <p:animEffect transition="in" filter="fade">
                                      <p:cBhvr>
                                        <p:cTn id="14" dur="1000"/>
                                        <p:tgtEl>
                                          <p:spTgt spid="123">
                                            <p:txEl>
                                              <p:pRg st="1" end="1"/>
                                            </p:txEl>
                                          </p:spTgt>
                                        </p:tgtEl>
                                      </p:cBhvr>
                                    </p:animEffect>
                                    <p:anim calcmode="lin" valueType="num">
                                      <p:cBhvr>
                                        <p:cTn id="15" dur="1000" fill="hold"/>
                                        <p:tgtEl>
                                          <p:spTgt spid="12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3">
                                            <p:txEl>
                                              <p:pRg st="2" end="2"/>
                                            </p:txEl>
                                          </p:spTgt>
                                        </p:tgtEl>
                                        <p:attrNameLst>
                                          <p:attrName>style.visibility</p:attrName>
                                        </p:attrNameLst>
                                      </p:cBhvr>
                                      <p:to>
                                        <p:strVal val="visible"/>
                                      </p:to>
                                    </p:set>
                                    <p:animEffect transition="in" filter="fade">
                                      <p:cBhvr>
                                        <p:cTn id="21" dur="1000"/>
                                        <p:tgtEl>
                                          <p:spTgt spid="123">
                                            <p:txEl>
                                              <p:pRg st="2" end="2"/>
                                            </p:txEl>
                                          </p:spTgt>
                                        </p:tgtEl>
                                      </p:cBhvr>
                                    </p:animEffect>
                                    <p:anim calcmode="lin" valueType="num">
                                      <p:cBhvr>
                                        <p:cTn id="22" dur="1000" fill="hold"/>
                                        <p:tgtEl>
                                          <p:spTgt spid="12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3">
                                            <p:txEl>
                                              <p:pRg st="3" end="3"/>
                                            </p:txEl>
                                          </p:spTgt>
                                        </p:tgtEl>
                                        <p:attrNameLst>
                                          <p:attrName>style.visibility</p:attrName>
                                        </p:attrNameLst>
                                      </p:cBhvr>
                                      <p:to>
                                        <p:strVal val="visible"/>
                                      </p:to>
                                    </p:set>
                                    <p:animEffect transition="in" filter="fade">
                                      <p:cBhvr>
                                        <p:cTn id="28" dur="1000"/>
                                        <p:tgtEl>
                                          <p:spTgt spid="123">
                                            <p:txEl>
                                              <p:pRg st="3" end="3"/>
                                            </p:txEl>
                                          </p:spTgt>
                                        </p:tgtEl>
                                      </p:cBhvr>
                                    </p:animEffect>
                                    <p:anim calcmode="lin" valueType="num">
                                      <p:cBhvr>
                                        <p:cTn id="29" dur="1000" fill="hold"/>
                                        <p:tgtEl>
                                          <p:spTgt spid="12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2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3">
                                            <p:txEl>
                                              <p:pRg st="4" end="4"/>
                                            </p:txEl>
                                          </p:spTgt>
                                        </p:tgtEl>
                                        <p:attrNameLst>
                                          <p:attrName>style.visibility</p:attrName>
                                        </p:attrNameLst>
                                      </p:cBhvr>
                                      <p:to>
                                        <p:strVal val="visible"/>
                                      </p:to>
                                    </p:set>
                                    <p:animEffect transition="in" filter="fade">
                                      <p:cBhvr>
                                        <p:cTn id="35" dur="1000"/>
                                        <p:tgtEl>
                                          <p:spTgt spid="123">
                                            <p:txEl>
                                              <p:pRg st="4" end="4"/>
                                            </p:txEl>
                                          </p:spTgt>
                                        </p:tgtEl>
                                      </p:cBhvr>
                                    </p:animEffect>
                                    <p:anim calcmode="lin" valueType="num">
                                      <p:cBhvr>
                                        <p:cTn id="36" dur="1000" fill="hold"/>
                                        <p:tgtEl>
                                          <p:spTgt spid="12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2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3">
                                            <p:txEl>
                                              <p:pRg st="5" end="5"/>
                                            </p:txEl>
                                          </p:spTgt>
                                        </p:tgtEl>
                                        <p:attrNameLst>
                                          <p:attrName>style.visibility</p:attrName>
                                        </p:attrNameLst>
                                      </p:cBhvr>
                                      <p:to>
                                        <p:strVal val="visible"/>
                                      </p:to>
                                    </p:set>
                                    <p:animEffect transition="in" filter="fade">
                                      <p:cBhvr>
                                        <p:cTn id="42" dur="1000"/>
                                        <p:tgtEl>
                                          <p:spTgt spid="123">
                                            <p:txEl>
                                              <p:pRg st="5" end="5"/>
                                            </p:txEl>
                                          </p:spTgt>
                                        </p:tgtEl>
                                      </p:cBhvr>
                                    </p:animEffect>
                                    <p:anim calcmode="lin" valueType="num">
                                      <p:cBhvr>
                                        <p:cTn id="43" dur="1000" fill="hold"/>
                                        <p:tgtEl>
                                          <p:spTgt spid="12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2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3">
                                            <p:txEl>
                                              <p:pRg st="6" end="6"/>
                                            </p:txEl>
                                          </p:spTgt>
                                        </p:tgtEl>
                                        <p:attrNameLst>
                                          <p:attrName>style.visibility</p:attrName>
                                        </p:attrNameLst>
                                      </p:cBhvr>
                                      <p:to>
                                        <p:strVal val="visible"/>
                                      </p:to>
                                    </p:set>
                                    <p:animEffect transition="in" filter="fade">
                                      <p:cBhvr>
                                        <p:cTn id="49" dur="1000"/>
                                        <p:tgtEl>
                                          <p:spTgt spid="123">
                                            <p:txEl>
                                              <p:pRg st="6" end="6"/>
                                            </p:txEl>
                                          </p:spTgt>
                                        </p:tgtEl>
                                      </p:cBhvr>
                                    </p:animEffect>
                                    <p:anim calcmode="lin" valueType="num">
                                      <p:cBhvr>
                                        <p:cTn id="50" dur="1000" fill="hold"/>
                                        <p:tgtEl>
                                          <p:spTgt spid="12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2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23">
                                            <p:txEl>
                                              <p:pRg st="7" end="7"/>
                                            </p:txEl>
                                          </p:spTgt>
                                        </p:tgtEl>
                                        <p:attrNameLst>
                                          <p:attrName>style.visibility</p:attrName>
                                        </p:attrNameLst>
                                      </p:cBhvr>
                                      <p:to>
                                        <p:strVal val="visible"/>
                                      </p:to>
                                    </p:set>
                                    <p:animEffect transition="in" filter="fade">
                                      <p:cBhvr>
                                        <p:cTn id="56" dur="1000"/>
                                        <p:tgtEl>
                                          <p:spTgt spid="123">
                                            <p:txEl>
                                              <p:pRg st="7" end="7"/>
                                            </p:txEl>
                                          </p:spTgt>
                                        </p:tgtEl>
                                      </p:cBhvr>
                                    </p:animEffect>
                                    <p:anim calcmode="lin" valueType="num">
                                      <p:cBhvr>
                                        <p:cTn id="57" dur="1000" fill="hold"/>
                                        <p:tgtEl>
                                          <p:spTgt spid="12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12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23">
                                            <p:txEl>
                                              <p:pRg st="8" end="8"/>
                                            </p:txEl>
                                          </p:spTgt>
                                        </p:tgtEl>
                                        <p:attrNameLst>
                                          <p:attrName>style.visibility</p:attrName>
                                        </p:attrNameLst>
                                      </p:cBhvr>
                                      <p:to>
                                        <p:strVal val="visible"/>
                                      </p:to>
                                    </p:set>
                                    <p:animEffect transition="in" filter="fade">
                                      <p:cBhvr>
                                        <p:cTn id="63" dur="1000"/>
                                        <p:tgtEl>
                                          <p:spTgt spid="123">
                                            <p:txEl>
                                              <p:pRg st="8" end="8"/>
                                            </p:txEl>
                                          </p:spTgt>
                                        </p:tgtEl>
                                      </p:cBhvr>
                                    </p:animEffect>
                                    <p:anim calcmode="lin" valueType="num">
                                      <p:cBhvr>
                                        <p:cTn id="64" dur="1000" fill="hold"/>
                                        <p:tgtEl>
                                          <p:spTgt spid="12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12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3.2.2 Các hoạt động trong quy trình review</a:t>
            </a:r>
            <a:endParaRPr dirty="0"/>
          </a:p>
        </p:txBody>
      </p:sp>
      <p:sp>
        <p:nvSpPr>
          <p:cNvPr id="129" name="Google Shape;129;p23"/>
          <p:cNvSpPr txBox="1">
            <a:spLocks noGrp="1"/>
          </p:cNvSpPr>
          <p:nvPr>
            <p:ph type="body" idx="1"/>
          </p:nvPr>
        </p:nvSpPr>
        <p:spPr>
          <a:xfrm>
            <a:off x="311700" y="1240225"/>
            <a:ext cx="8520600" cy="34485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vi" sz="1600" b="1" dirty="0">
                <a:solidFill>
                  <a:srgbClr val="FF00FF"/>
                </a:solidFill>
              </a:rPr>
              <a:t>Khởi tạo review (Review initiation)</a:t>
            </a:r>
            <a:r>
              <a:rPr lang="vi" sz="1600" dirty="0">
                <a:solidFill>
                  <a:schemeClr val="dk1"/>
                </a:solidFill>
              </a:rPr>
              <a:t> </a:t>
            </a:r>
            <a:r>
              <a:rPr lang="vi" sz="1400" dirty="0"/>
              <a:t>mục tiêu là đảm bảo mọi người và mọi thứ liên quan đều đã sẵn sàng để bắt đầu quá trình </a:t>
            </a:r>
            <a:r>
              <a:rPr lang="vi" sz="1400" dirty="0" smtClean="0"/>
              <a:t>revie</a:t>
            </a:r>
            <a:r>
              <a:rPr lang="en-US" sz="1400" dirty="0" smtClean="0"/>
              <a:t>w, </a:t>
            </a:r>
            <a:r>
              <a:rPr lang="en-US" sz="1400" dirty="0" err="1" smtClean="0"/>
              <a:t>mỗi</a:t>
            </a:r>
            <a:r>
              <a:rPr lang="en-US" sz="1400" dirty="0" smtClean="0"/>
              <a:t> </a:t>
            </a:r>
            <a:r>
              <a:rPr lang="en-US" sz="1400" dirty="0" err="1" smtClean="0"/>
              <a:t>người</a:t>
            </a:r>
            <a:r>
              <a:rPr lang="en-US" sz="1400" dirty="0" smtClean="0"/>
              <a:t> </a:t>
            </a:r>
            <a:r>
              <a:rPr lang="en-US" sz="1400" dirty="0" err="1" smtClean="0"/>
              <a:t>tham</a:t>
            </a:r>
            <a:r>
              <a:rPr lang="en-US" sz="1400" dirty="0" smtClean="0"/>
              <a:t> </a:t>
            </a:r>
            <a:r>
              <a:rPr lang="en-US" sz="1400" dirty="0" err="1" smtClean="0"/>
              <a:t>gia</a:t>
            </a:r>
            <a:r>
              <a:rPr lang="en-US" sz="1400" dirty="0" smtClean="0"/>
              <a:t> </a:t>
            </a:r>
            <a:r>
              <a:rPr lang="en-US" sz="1400" dirty="0" err="1" smtClean="0"/>
              <a:t>hiểu</a:t>
            </a:r>
            <a:r>
              <a:rPr lang="en-US" sz="1400" dirty="0" smtClean="0"/>
              <a:t> </a:t>
            </a:r>
            <a:r>
              <a:rPr lang="en-US" sz="1400" dirty="0" err="1" smtClean="0"/>
              <a:t>rõ</a:t>
            </a:r>
            <a:r>
              <a:rPr lang="en-US" sz="1400" dirty="0" smtClean="0"/>
              <a:t> </a:t>
            </a:r>
            <a:r>
              <a:rPr lang="en-US" sz="1400" dirty="0" err="1" smtClean="0"/>
              <a:t>vai</a:t>
            </a:r>
            <a:r>
              <a:rPr lang="en-US" sz="1400" dirty="0" smtClean="0"/>
              <a:t> </a:t>
            </a:r>
            <a:r>
              <a:rPr lang="en-US" sz="1400" dirty="0" err="1" smtClean="0"/>
              <a:t>trò</a:t>
            </a:r>
            <a:r>
              <a:rPr lang="en-US" sz="1400" dirty="0" smtClean="0"/>
              <a:t>, </a:t>
            </a:r>
            <a:r>
              <a:rPr lang="en-US" sz="1400" dirty="0" err="1" smtClean="0"/>
              <a:t>trách</a:t>
            </a:r>
            <a:r>
              <a:rPr lang="en-US" sz="1400" dirty="0" smtClean="0"/>
              <a:t> </a:t>
            </a:r>
            <a:r>
              <a:rPr lang="en-US" sz="1400" dirty="0" err="1" smtClean="0"/>
              <a:t>nhiệm</a:t>
            </a:r>
            <a:r>
              <a:rPr lang="en-US" sz="1400" dirty="0" smtClean="0"/>
              <a:t> </a:t>
            </a:r>
            <a:r>
              <a:rPr lang="en-US" sz="1400" dirty="0" err="1" smtClean="0"/>
              <a:t>của</a:t>
            </a:r>
            <a:r>
              <a:rPr lang="en-US" sz="1400" dirty="0" smtClean="0"/>
              <a:t> </a:t>
            </a:r>
            <a:r>
              <a:rPr lang="en-US" sz="1400" dirty="0" err="1" smtClean="0"/>
              <a:t>mình</a:t>
            </a:r>
            <a:r>
              <a:rPr lang="en-US" sz="1400" dirty="0" smtClean="0"/>
              <a:t>, </a:t>
            </a:r>
            <a:r>
              <a:rPr lang="en-US" sz="1400" dirty="0" err="1" smtClean="0"/>
              <a:t>nhận</a:t>
            </a:r>
            <a:r>
              <a:rPr lang="en-US" sz="1400" dirty="0" smtClean="0"/>
              <a:t> </a:t>
            </a:r>
            <a:r>
              <a:rPr lang="en-US" sz="1400" dirty="0" err="1" smtClean="0"/>
              <a:t>đủ</a:t>
            </a:r>
            <a:r>
              <a:rPr lang="en-US" sz="1400" dirty="0" smtClean="0"/>
              <a:t> </a:t>
            </a:r>
            <a:r>
              <a:rPr lang="en-US" sz="1400" dirty="0" err="1" smtClean="0"/>
              <a:t>thông</a:t>
            </a:r>
            <a:r>
              <a:rPr lang="en-US" sz="1400" dirty="0" smtClean="0"/>
              <a:t> tin </a:t>
            </a:r>
            <a:r>
              <a:rPr lang="en-US" sz="1400" dirty="0" err="1" smtClean="0"/>
              <a:t>cần</a:t>
            </a:r>
            <a:r>
              <a:rPr lang="en-US" sz="1400" dirty="0" smtClean="0"/>
              <a:t> </a:t>
            </a:r>
            <a:r>
              <a:rPr lang="en-US" sz="1400" dirty="0" err="1" smtClean="0"/>
              <a:t>thiết</a:t>
            </a:r>
            <a:r>
              <a:rPr lang="en-US" sz="1400" dirty="0" smtClean="0"/>
              <a:t> </a:t>
            </a:r>
            <a:r>
              <a:rPr lang="en-US" sz="1400" dirty="0" err="1" smtClean="0"/>
              <a:t>để</a:t>
            </a:r>
            <a:r>
              <a:rPr lang="en-US" sz="1400" dirty="0" smtClean="0"/>
              <a:t> </a:t>
            </a:r>
            <a:r>
              <a:rPr lang="en-US" sz="1400" dirty="0" err="1" smtClean="0"/>
              <a:t>thực</a:t>
            </a:r>
            <a:r>
              <a:rPr lang="en-US" sz="1400" dirty="0" smtClean="0"/>
              <a:t> </a:t>
            </a:r>
            <a:r>
              <a:rPr lang="en-US" sz="1400" dirty="0" err="1" smtClean="0"/>
              <a:t>hiện</a:t>
            </a:r>
            <a:r>
              <a:rPr lang="en-US" sz="1400" dirty="0" smtClean="0"/>
              <a:t>:</a:t>
            </a:r>
            <a:endParaRPr sz="1400" dirty="0"/>
          </a:p>
          <a:p>
            <a:pPr marL="457200" lvl="0" indent="-330200" algn="l" rtl="0">
              <a:lnSpc>
                <a:spcPct val="150000"/>
              </a:lnSpc>
              <a:spcBef>
                <a:spcPts val="1200"/>
              </a:spcBef>
              <a:spcAft>
                <a:spcPts val="0"/>
              </a:spcAft>
              <a:buClr>
                <a:srgbClr val="000000"/>
              </a:buClr>
              <a:buSzPts val="1600"/>
              <a:buChar char="●"/>
            </a:pPr>
            <a:r>
              <a:rPr lang="vi-VN" sz="1400" dirty="0" smtClean="0"/>
              <a:t>Phân </a:t>
            </a:r>
            <a:r>
              <a:rPr lang="vi-VN" sz="1400" dirty="0"/>
              <a:t>bổ work product và các phương tiện cần thiết như biểu mẫu log issue, các checklist và các tài liệu liên quan đến work product cần được review</a:t>
            </a:r>
          </a:p>
          <a:p>
            <a:pPr lvl="0" indent="-330200">
              <a:lnSpc>
                <a:spcPct val="150000"/>
              </a:lnSpc>
              <a:buClr>
                <a:srgbClr val="000000"/>
              </a:buClr>
              <a:buSzPts val="1600"/>
            </a:pPr>
            <a:r>
              <a:rPr lang="vi-VN" sz="1400" dirty="0"/>
              <a:t>Giải thích giới hạn, mục đích, quy trình, vai trò và các work product cho người tham gia review</a:t>
            </a:r>
          </a:p>
          <a:p>
            <a:pPr lvl="0" indent="-330200">
              <a:lnSpc>
                <a:spcPct val="150000"/>
              </a:lnSpc>
              <a:buClr>
                <a:srgbClr val="000000"/>
              </a:buClr>
              <a:buSzPts val="1600"/>
            </a:pPr>
            <a:r>
              <a:rPr lang="vi-VN" sz="1400" dirty="0"/>
              <a:t>Giải đáp bất kì câu hỏi nào mà người tham gia review đưa ra về việc review</a:t>
            </a:r>
            <a:endParaRPr sz="1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3.2.2 Các hoạt động trong quy trình review</a:t>
            </a:r>
            <a:endParaRPr dirty="0"/>
          </a:p>
        </p:txBody>
      </p:sp>
      <p:sp>
        <p:nvSpPr>
          <p:cNvPr id="135" name="Google Shape;135;p24"/>
          <p:cNvSpPr txBox="1">
            <a:spLocks noGrp="1"/>
          </p:cNvSpPr>
          <p:nvPr>
            <p:ph type="body" idx="1"/>
          </p:nvPr>
        </p:nvSpPr>
        <p:spPr>
          <a:xfrm>
            <a:off x="311700" y="1240225"/>
            <a:ext cx="8520600" cy="3448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dirty="0">
                <a:solidFill>
                  <a:srgbClr val="FF00FF"/>
                </a:solidFill>
              </a:rPr>
              <a:t>Cá nhân review (Individual review)</a:t>
            </a:r>
            <a:r>
              <a:rPr lang="vi" dirty="0">
                <a:solidFill>
                  <a:schemeClr val="dk1"/>
                </a:solidFill>
              </a:rPr>
              <a:t> </a:t>
            </a:r>
            <a:r>
              <a:rPr lang="vi" sz="1300" dirty="0">
                <a:solidFill>
                  <a:srgbClr val="000000"/>
                </a:solidFill>
                <a:latin typeface="Arial"/>
                <a:ea typeface="Arial"/>
                <a:cs typeface="Arial"/>
                <a:sym typeface="Arial"/>
              </a:rPr>
              <a:t> </a:t>
            </a:r>
            <a:endParaRPr sz="1300" dirty="0">
              <a:solidFill>
                <a:srgbClr val="000000"/>
              </a:solidFill>
              <a:latin typeface="Arial"/>
              <a:ea typeface="Arial"/>
              <a:cs typeface="Arial"/>
              <a:sym typeface="Arial"/>
            </a:endParaRPr>
          </a:p>
          <a:p>
            <a:pPr marL="457200" lvl="0" indent="-311150" algn="l" rtl="0">
              <a:spcBef>
                <a:spcPts val="1200"/>
              </a:spcBef>
              <a:spcAft>
                <a:spcPts val="0"/>
              </a:spcAft>
              <a:buSzPts val="1300"/>
              <a:buChar char="●"/>
            </a:pPr>
            <a:r>
              <a:rPr lang="vi" sz="1600" dirty="0"/>
              <a:t>Mỗi người review thực hiện individual review để đánh giá chất lượng của sản phẩm công việc và để tìm các điểm bất thường,đưa ra đề xuất và câu hỏi.</a:t>
            </a:r>
            <a:endParaRPr sz="1600" dirty="0"/>
          </a:p>
          <a:p>
            <a:pPr marL="457200" lvl="0" indent="-311150" algn="l" rtl="0">
              <a:spcBef>
                <a:spcPts val="1200"/>
              </a:spcBef>
              <a:spcAft>
                <a:spcPts val="0"/>
              </a:spcAft>
              <a:buSzPts val="1300"/>
              <a:buChar char="●"/>
            </a:pPr>
            <a:r>
              <a:rPr lang="vi" sz="1600" dirty="0"/>
              <a:t>Kỹ thuật: áp dụng một hoặc nhiều kỹ thuật review (ví dụ: checklist-based reviewing, scenario-based reviewing). </a:t>
            </a:r>
            <a:endParaRPr sz="1600" dirty="0"/>
          </a:p>
          <a:p>
            <a:pPr marL="457200" lvl="0" indent="-311150" algn="l" rtl="0">
              <a:spcBef>
                <a:spcPts val="1000"/>
              </a:spcBef>
              <a:spcAft>
                <a:spcPts val="1200"/>
              </a:spcAft>
              <a:buSzPts val="1300"/>
              <a:buChar char="●"/>
            </a:pPr>
            <a:r>
              <a:rPr lang="vi" sz="1600" dirty="0"/>
              <a:t>Người review ghi lại tất cả các điểm bất thường, đề xuất và câu hỏi mà họ tìm được.</a:t>
            </a:r>
            <a:endParaRPr sz="16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3.2.2 Các hoạt động trong quy trình review</a:t>
            </a:r>
            <a:endParaRPr dirty="0"/>
          </a:p>
        </p:txBody>
      </p:sp>
      <p:sp>
        <p:nvSpPr>
          <p:cNvPr id="141" name="Google Shape;141;p25"/>
          <p:cNvSpPr txBox="1">
            <a:spLocks noGrp="1"/>
          </p:cNvSpPr>
          <p:nvPr>
            <p:ph type="body" idx="1"/>
          </p:nvPr>
        </p:nvSpPr>
        <p:spPr>
          <a:xfrm>
            <a:off x="311700" y="1240225"/>
            <a:ext cx="8520600" cy="3448500"/>
          </a:xfrm>
          <a:prstGeom prst="rect">
            <a:avLst/>
          </a:prstGeom>
        </p:spPr>
        <p:txBody>
          <a:bodyPr spcFirstLastPara="1" wrap="square" lIns="91425" tIns="91425" rIns="91425" bIns="91425" anchor="t" anchorCtr="0">
            <a:normAutofit/>
          </a:bodyPr>
          <a:lstStyle/>
          <a:p>
            <a:pPr marL="0" marR="38100" lvl="0" indent="0" algn="l" rtl="0">
              <a:lnSpc>
                <a:spcPct val="128571"/>
              </a:lnSpc>
              <a:spcBef>
                <a:spcPts val="0"/>
              </a:spcBef>
              <a:spcAft>
                <a:spcPts val="0"/>
              </a:spcAft>
              <a:buNone/>
            </a:pPr>
            <a:r>
              <a:rPr lang="vi" b="1" dirty="0">
                <a:solidFill>
                  <a:srgbClr val="FF00FF"/>
                </a:solidFill>
              </a:rPr>
              <a:t>Thảo luận và phân tích (Communication and analysis) </a:t>
            </a:r>
            <a:endParaRPr dirty="0">
              <a:solidFill>
                <a:schemeClr val="dk1"/>
              </a:solidFill>
            </a:endParaRPr>
          </a:p>
          <a:p>
            <a:pPr marL="457200" marR="0" lvl="0" indent="-330200" algn="l" rtl="0">
              <a:lnSpc>
                <a:spcPct val="115000"/>
              </a:lnSpc>
              <a:spcBef>
                <a:spcPts val="1000"/>
              </a:spcBef>
              <a:spcAft>
                <a:spcPts val="0"/>
              </a:spcAft>
              <a:buSzPts val="1600"/>
              <a:buChar char="●"/>
            </a:pPr>
            <a:r>
              <a:rPr lang="vi" sz="1600" dirty="0"/>
              <a:t>Tất cả những điểm bất thường tìm được trong quá trình review cần được phân tích và thảo luận.</a:t>
            </a:r>
            <a:endParaRPr sz="1600" dirty="0"/>
          </a:p>
          <a:p>
            <a:pPr marL="457200" marR="0" lvl="0" indent="-330200" algn="l" rtl="0">
              <a:lnSpc>
                <a:spcPct val="115000"/>
              </a:lnSpc>
              <a:spcBef>
                <a:spcPts val="1200"/>
              </a:spcBef>
              <a:spcAft>
                <a:spcPts val="0"/>
              </a:spcAft>
              <a:buSzPts val="1600"/>
              <a:buChar char="●"/>
            </a:pPr>
            <a:r>
              <a:rPr lang="vi" sz="1600" dirty="0"/>
              <a:t>Được thực hiện trong cuộc họp review </a:t>
            </a:r>
            <a:endParaRPr sz="1600" dirty="0"/>
          </a:p>
          <a:p>
            <a:pPr marL="457200" marR="0" lvl="0" indent="-330200" algn="l" rtl="0">
              <a:lnSpc>
                <a:spcPct val="115000"/>
              </a:lnSpc>
              <a:spcBef>
                <a:spcPts val="1000"/>
              </a:spcBef>
              <a:spcAft>
                <a:spcPts val="0"/>
              </a:spcAft>
              <a:buSzPts val="1600"/>
              <a:buChar char="●"/>
            </a:pPr>
            <a:r>
              <a:rPr lang="vi" sz="1600" dirty="0"/>
              <a:t>Người tham gia cũng quyết định mức chất lượng của sản phẩm công việc được review </a:t>
            </a:r>
            <a:endParaRPr sz="1600" dirty="0"/>
          </a:p>
          <a:p>
            <a:pPr marL="457200" marR="0" lvl="0" indent="-330200" algn="l" rtl="0">
              <a:lnSpc>
                <a:spcPct val="115000"/>
              </a:lnSpc>
              <a:spcBef>
                <a:spcPts val="1000"/>
              </a:spcBef>
              <a:spcAft>
                <a:spcPts val="1200"/>
              </a:spcAft>
              <a:buSzPts val="1600"/>
              <a:buChar char="●"/>
            </a:pPr>
            <a:r>
              <a:rPr lang="vi" sz="1600" dirty="0"/>
              <a:t>Đồng thời đưa ra hành động tiếp theo nếu cần thiết -&gt; điều này dẫn đến buổi review tiếp theo</a:t>
            </a:r>
            <a:r>
              <a:rPr lang="vi" sz="1600" dirty="0">
                <a:solidFill>
                  <a:srgbClr val="374151"/>
                </a:solidFill>
              </a:rPr>
              <a:t> </a:t>
            </a:r>
            <a:endParaRPr sz="16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3.2.2 Các hoạt động trong quy trình review</a:t>
            </a:r>
            <a:endParaRPr dirty="0"/>
          </a:p>
        </p:txBody>
      </p:sp>
      <p:sp>
        <p:nvSpPr>
          <p:cNvPr id="147" name="Google Shape;147;p26"/>
          <p:cNvSpPr txBox="1">
            <a:spLocks noGrp="1"/>
          </p:cNvSpPr>
          <p:nvPr>
            <p:ph type="body" idx="1"/>
          </p:nvPr>
        </p:nvSpPr>
        <p:spPr>
          <a:xfrm>
            <a:off x="311700" y="1240224"/>
            <a:ext cx="8520600" cy="3903275"/>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vi" b="1" dirty="0">
                <a:solidFill>
                  <a:srgbClr val="FF00FF"/>
                </a:solidFill>
              </a:rPr>
              <a:t>Sửa lỗi và báo cáo (Fixing and reporting)</a:t>
            </a:r>
            <a:endParaRPr dirty="0">
              <a:solidFill>
                <a:schemeClr val="dk1"/>
              </a:solidFill>
            </a:endParaRPr>
          </a:p>
          <a:p>
            <a:pPr lvl="0" indent="-311150">
              <a:lnSpc>
                <a:spcPct val="160000"/>
              </a:lnSpc>
              <a:spcBef>
                <a:spcPts val="1200"/>
              </a:spcBef>
              <a:buClr>
                <a:srgbClr val="374151"/>
              </a:buClr>
              <a:buSzPts val="1300"/>
            </a:pPr>
            <a:r>
              <a:rPr lang="en-US" sz="1400" dirty="0" err="1">
                <a:solidFill>
                  <a:srgbClr val="374151"/>
                </a:solidFill>
              </a:rPr>
              <a:t>Tạo</a:t>
            </a:r>
            <a:r>
              <a:rPr lang="en-US" sz="1400" dirty="0">
                <a:solidFill>
                  <a:srgbClr val="374151"/>
                </a:solidFill>
              </a:rPr>
              <a:t> </a:t>
            </a:r>
            <a:r>
              <a:rPr lang="en-US" sz="1400" dirty="0" err="1">
                <a:solidFill>
                  <a:srgbClr val="374151"/>
                </a:solidFill>
              </a:rPr>
              <a:t>báo</a:t>
            </a:r>
            <a:r>
              <a:rPr lang="en-US" sz="1400" dirty="0">
                <a:solidFill>
                  <a:srgbClr val="374151"/>
                </a:solidFill>
              </a:rPr>
              <a:t> </a:t>
            </a:r>
            <a:r>
              <a:rPr lang="en-US" sz="1400" dirty="0" err="1">
                <a:solidFill>
                  <a:srgbClr val="374151"/>
                </a:solidFill>
              </a:rPr>
              <a:t>cáo</a:t>
            </a:r>
            <a:r>
              <a:rPr lang="en-US" sz="1400" dirty="0">
                <a:solidFill>
                  <a:srgbClr val="374151"/>
                </a:solidFill>
              </a:rPr>
              <a:t> defect </a:t>
            </a:r>
            <a:r>
              <a:rPr lang="en-US" sz="1400" dirty="0" err="1">
                <a:solidFill>
                  <a:srgbClr val="374151"/>
                </a:solidFill>
              </a:rPr>
              <a:t>cho</a:t>
            </a:r>
            <a:r>
              <a:rPr lang="en-US" sz="1400" dirty="0">
                <a:solidFill>
                  <a:srgbClr val="374151"/>
                </a:solidFill>
              </a:rPr>
              <a:t> </a:t>
            </a:r>
            <a:r>
              <a:rPr lang="en-US" sz="1400" dirty="0" err="1">
                <a:solidFill>
                  <a:srgbClr val="374151"/>
                </a:solidFill>
              </a:rPr>
              <a:t>những</a:t>
            </a:r>
            <a:r>
              <a:rPr lang="en-US" sz="1400" dirty="0">
                <a:solidFill>
                  <a:srgbClr val="374151"/>
                </a:solidFill>
              </a:rPr>
              <a:t> </a:t>
            </a:r>
            <a:r>
              <a:rPr lang="en-US" sz="1400" dirty="0" err="1">
                <a:solidFill>
                  <a:srgbClr val="374151"/>
                </a:solidFill>
              </a:rPr>
              <a:t>yêu</a:t>
            </a:r>
            <a:r>
              <a:rPr lang="en-US" sz="1400" dirty="0">
                <a:solidFill>
                  <a:srgbClr val="374151"/>
                </a:solidFill>
              </a:rPr>
              <a:t> </a:t>
            </a:r>
            <a:r>
              <a:rPr lang="en-US" sz="1400" dirty="0" err="1">
                <a:solidFill>
                  <a:srgbClr val="374151"/>
                </a:solidFill>
              </a:rPr>
              <a:t>cầu</a:t>
            </a:r>
            <a:r>
              <a:rPr lang="en-US" sz="1400" dirty="0">
                <a:solidFill>
                  <a:srgbClr val="374151"/>
                </a:solidFill>
              </a:rPr>
              <a:t> </a:t>
            </a:r>
            <a:r>
              <a:rPr lang="en-US" sz="1400" dirty="0" err="1">
                <a:solidFill>
                  <a:srgbClr val="374151"/>
                </a:solidFill>
              </a:rPr>
              <a:t>cần</a:t>
            </a:r>
            <a:r>
              <a:rPr lang="en-US" sz="1400" dirty="0">
                <a:solidFill>
                  <a:srgbClr val="374151"/>
                </a:solidFill>
              </a:rPr>
              <a:t> </a:t>
            </a:r>
            <a:r>
              <a:rPr lang="en-US" sz="1400" dirty="0" err="1">
                <a:solidFill>
                  <a:srgbClr val="374151"/>
                </a:solidFill>
              </a:rPr>
              <a:t>thay</a:t>
            </a:r>
            <a:r>
              <a:rPr lang="en-US" sz="1400" dirty="0">
                <a:solidFill>
                  <a:srgbClr val="374151"/>
                </a:solidFill>
              </a:rPr>
              <a:t> </a:t>
            </a:r>
            <a:r>
              <a:rPr lang="en-US" sz="1400" dirty="0" err="1" smtClean="0">
                <a:solidFill>
                  <a:srgbClr val="374151"/>
                </a:solidFill>
              </a:rPr>
              <a:t>đổi</a:t>
            </a:r>
            <a:r>
              <a:rPr lang="en-US" sz="1400" dirty="0" smtClean="0">
                <a:solidFill>
                  <a:srgbClr val="374151"/>
                </a:solidFill>
              </a:rPr>
              <a:t>: </a:t>
            </a:r>
            <a:r>
              <a:rPr lang="vi" sz="1400" dirty="0" smtClean="0">
                <a:solidFill>
                  <a:srgbClr val="374151"/>
                </a:solidFill>
              </a:rPr>
              <a:t>Mỗi </a:t>
            </a:r>
            <a:r>
              <a:rPr lang="vi" sz="1400" dirty="0">
                <a:solidFill>
                  <a:srgbClr val="374151"/>
                </a:solidFill>
              </a:rPr>
              <a:t>lỗi nên  tạo một báo cáo lỗi để có thể theo dõi dễ dàng</a:t>
            </a:r>
            <a:endParaRPr sz="1400" dirty="0">
              <a:solidFill>
                <a:srgbClr val="374151"/>
              </a:solidFill>
            </a:endParaRPr>
          </a:p>
          <a:p>
            <a:pPr lvl="0" indent="-311150">
              <a:lnSpc>
                <a:spcPct val="160000"/>
              </a:lnSpc>
              <a:spcBef>
                <a:spcPts val="1200"/>
              </a:spcBef>
              <a:buClr>
                <a:srgbClr val="374151"/>
              </a:buClr>
              <a:buSzPts val="1300"/>
            </a:pPr>
            <a:r>
              <a:rPr lang="vi-VN" sz="1400" dirty="0">
                <a:solidFill>
                  <a:srgbClr val="374151"/>
                </a:solidFill>
              </a:rPr>
              <a:t>Fix những defect được tìm thấy trong sản phẩm </a:t>
            </a:r>
            <a:r>
              <a:rPr lang="vi-VN" sz="1400" dirty="0" smtClean="0">
                <a:solidFill>
                  <a:srgbClr val="374151"/>
                </a:solidFill>
              </a:rPr>
              <a:t>review</a:t>
            </a:r>
            <a:r>
              <a:rPr lang="en-US" sz="1400" dirty="0" smtClean="0">
                <a:solidFill>
                  <a:srgbClr val="374151"/>
                </a:solidFill>
              </a:rPr>
              <a:t>: </a:t>
            </a:r>
            <a:r>
              <a:rPr lang="vi" sz="1400" dirty="0" smtClean="0">
                <a:solidFill>
                  <a:srgbClr val="374151"/>
                </a:solidFill>
              </a:rPr>
              <a:t>Thường </a:t>
            </a:r>
            <a:r>
              <a:rPr lang="vi" sz="1400" dirty="0">
                <a:solidFill>
                  <a:srgbClr val="374151"/>
                </a:solidFill>
              </a:rPr>
              <a:t>tác giả của sản phẩm công việc sẽ fix </a:t>
            </a:r>
            <a:r>
              <a:rPr lang="vi" sz="1400" dirty="0" smtClean="0">
                <a:solidFill>
                  <a:srgbClr val="374151"/>
                </a:solidFill>
              </a:rPr>
              <a:t>lỗi</a:t>
            </a:r>
            <a:endParaRPr lang="en-US" sz="1400" dirty="0" smtClean="0">
              <a:solidFill>
                <a:srgbClr val="374151"/>
              </a:solidFill>
            </a:endParaRPr>
          </a:p>
          <a:p>
            <a:pPr lvl="0" indent="-311150">
              <a:lnSpc>
                <a:spcPct val="160000"/>
              </a:lnSpc>
              <a:spcBef>
                <a:spcPts val="1200"/>
              </a:spcBef>
              <a:buClr>
                <a:srgbClr val="374151"/>
              </a:buClr>
              <a:buSzPts val="1300"/>
            </a:pPr>
            <a:r>
              <a:rPr lang="vi-VN" sz="1400" dirty="0">
                <a:solidFill>
                  <a:srgbClr val="374151"/>
                </a:solidFill>
              </a:rPr>
              <a:t>Ghi nhận lại việc thay đổi trạng thái của defect (chỉ có trong formal review), có thể bao gồm cả sự đồng ý của người tạo comment</a:t>
            </a:r>
            <a:endParaRPr sz="1400" dirty="0">
              <a:solidFill>
                <a:srgbClr val="374151"/>
              </a:solidFill>
            </a:endParaRPr>
          </a:p>
          <a:p>
            <a:pPr indent="-311150">
              <a:lnSpc>
                <a:spcPct val="160000"/>
              </a:lnSpc>
              <a:spcBef>
                <a:spcPts val="1000"/>
              </a:spcBef>
              <a:buClr>
                <a:srgbClr val="374151"/>
              </a:buClr>
              <a:buSzPts val="1300"/>
            </a:pPr>
            <a:r>
              <a:rPr lang="vi-VN" sz="1400" dirty="0"/>
              <a:t>Kiểm tra tiêu chí đầu ra đạt được hay chưa (chỉ có trong formal review</a:t>
            </a:r>
            <a:r>
              <a:rPr lang="vi-VN" sz="1400" dirty="0" smtClean="0"/>
              <a:t>)</a:t>
            </a:r>
            <a:r>
              <a:rPr lang="en-US" sz="1400" dirty="0" smtClean="0"/>
              <a:t>: </a:t>
            </a:r>
            <a:r>
              <a:rPr lang="vi" sz="1400" dirty="0" smtClean="0">
                <a:solidFill>
                  <a:srgbClr val="374151"/>
                </a:solidFill>
              </a:rPr>
              <a:t>Quá </a:t>
            </a:r>
            <a:r>
              <a:rPr lang="vi" sz="1400" dirty="0">
                <a:solidFill>
                  <a:srgbClr val="374151"/>
                </a:solidFill>
              </a:rPr>
              <a:t>trình review sẽ dừng khi sản phẩm công việc đạt được tiêu chí chấp nhận. </a:t>
            </a:r>
            <a:endParaRPr sz="1400" dirty="0">
              <a:solidFill>
                <a:srgbClr val="374151"/>
              </a:solidFill>
            </a:endParaRPr>
          </a:p>
          <a:p>
            <a:pPr marL="457200" lvl="0" indent="-311150" algn="l" rtl="0">
              <a:lnSpc>
                <a:spcPct val="160000"/>
              </a:lnSpc>
              <a:spcBef>
                <a:spcPts val="1000"/>
              </a:spcBef>
              <a:spcAft>
                <a:spcPts val="1200"/>
              </a:spcAft>
              <a:buClr>
                <a:srgbClr val="374151"/>
              </a:buClr>
              <a:buSzPts val="1300"/>
              <a:buChar char="●"/>
            </a:pPr>
            <a:r>
              <a:rPr lang="vi" sz="1400" dirty="0">
                <a:solidFill>
                  <a:srgbClr val="374151"/>
                </a:solidFill>
              </a:rPr>
              <a:t>Người review sẽ tạo báo cáo kết quả review</a:t>
            </a:r>
            <a:endParaRPr sz="1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3.2.3 Vai trò và trách nhiệm trong review</a:t>
            </a:r>
            <a:endParaRPr dirty="0"/>
          </a:p>
        </p:txBody>
      </p:sp>
      <p:sp>
        <p:nvSpPr>
          <p:cNvPr id="153" name="Google Shape;153;p27"/>
          <p:cNvSpPr txBox="1">
            <a:spLocks noGrp="1"/>
          </p:cNvSpPr>
          <p:nvPr>
            <p:ph type="body" idx="1"/>
          </p:nvPr>
        </p:nvSpPr>
        <p:spPr>
          <a:xfrm>
            <a:off x="311700" y="1240225"/>
            <a:ext cx="8520600" cy="3448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dirty="0">
                <a:solidFill>
                  <a:srgbClr val="FF00FF"/>
                </a:solidFill>
              </a:rPr>
              <a:t>Quản lý (Manager)</a:t>
            </a:r>
            <a:r>
              <a:rPr lang="vi" dirty="0">
                <a:solidFill>
                  <a:schemeClr val="dk1"/>
                </a:solidFill>
              </a:rPr>
              <a:t> </a:t>
            </a:r>
            <a:r>
              <a:rPr lang="vi" sz="1400" dirty="0"/>
              <a:t>quyết định cái gì sẽ được review và cung cấp nguồn lực và thời gian cho quá trình </a:t>
            </a:r>
            <a:r>
              <a:rPr lang="vi" sz="1400" dirty="0" smtClean="0"/>
              <a:t>review</a:t>
            </a:r>
            <a:endParaRPr lang="en-US" sz="1400" dirty="0" smtClean="0"/>
          </a:p>
          <a:p>
            <a:pPr marL="742950" lvl="1" indent="-285750">
              <a:lnSpc>
                <a:spcPct val="150000"/>
              </a:lnSpc>
            </a:pPr>
            <a:r>
              <a:rPr lang="vi-VN" dirty="0"/>
              <a:t>Có trách nhiệm lên kế hoạch review</a:t>
            </a:r>
          </a:p>
          <a:p>
            <a:pPr marL="742950" lvl="1" indent="-285750">
              <a:lnSpc>
                <a:spcPct val="150000"/>
              </a:lnSpc>
            </a:pPr>
            <a:r>
              <a:rPr lang="vi-VN" dirty="0"/>
              <a:t>Quyết định việc thực hiện review</a:t>
            </a:r>
          </a:p>
          <a:p>
            <a:pPr marL="742950" lvl="1" indent="-285750">
              <a:lnSpc>
                <a:spcPct val="150000"/>
              </a:lnSpc>
            </a:pPr>
            <a:r>
              <a:rPr lang="vi-VN" dirty="0"/>
              <a:t>Phân công người tham dự, chi phí và thời gian cho việc review</a:t>
            </a:r>
          </a:p>
          <a:p>
            <a:pPr marL="742950" lvl="1" indent="-285750">
              <a:lnSpc>
                <a:spcPct val="150000"/>
              </a:lnSpc>
            </a:pPr>
            <a:r>
              <a:rPr lang="vi-VN" dirty="0"/>
              <a:t>Giám sát những chi phí phát sinh</a:t>
            </a:r>
          </a:p>
          <a:p>
            <a:pPr marL="742950" lvl="1" indent="-285750">
              <a:lnSpc>
                <a:spcPct val="150000"/>
              </a:lnSpc>
            </a:pPr>
            <a:r>
              <a:rPr lang="vi-VN" dirty="0"/>
              <a:t>Thực hiện các quyết định trong trường hợp đầu ra không thỏa đáng</a:t>
            </a: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106000"/>
            <a:ext cx="8520600" cy="3099900"/>
          </a:xfrm>
        </p:spPr>
        <p:txBody>
          <a:bodyPr>
            <a:normAutofit/>
          </a:bodyPr>
          <a:lstStyle/>
          <a:p>
            <a:pPr marL="0" lvl="0" indent="0">
              <a:spcBef>
                <a:spcPts val="1200"/>
              </a:spcBef>
              <a:buNone/>
            </a:pPr>
            <a:r>
              <a:rPr lang="vi-VN" b="1" dirty="0">
                <a:solidFill>
                  <a:srgbClr val="FF00FF"/>
                </a:solidFill>
              </a:rPr>
              <a:t>Tác giả (Author)</a:t>
            </a:r>
            <a:r>
              <a:rPr lang="vi-VN" dirty="0"/>
              <a:t> </a:t>
            </a:r>
            <a:r>
              <a:rPr lang="en-US" dirty="0" smtClean="0"/>
              <a:t>:</a:t>
            </a:r>
          </a:p>
          <a:p>
            <a:pPr marL="285750" indent="-285750">
              <a:spcBef>
                <a:spcPts val="1200"/>
              </a:spcBef>
            </a:pPr>
            <a:r>
              <a:rPr lang="vi-VN" dirty="0"/>
              <a:t>Tạo ra các sản phẩm để review</a:t>
            </a:r>
          </a:p>
          <a:p>
            <a:pPr marL="285750" indent="-285750">
              <a:spcBef>
                <a:spcPts val="1200"/>
              </a:spcBef>
            </a:pPr>
            <a:r>
              <a:rPr lang="vi-VN" dirty="0"/>
              <a:t>Fix các defect của work product phát hiện được trong quá trình review (nếu cần thiết</a:t>
            </a:r>
            <a:r>
              <a:rPr lang="vi-VN" dirty="0" smtClean="0"/>
              <a:t>)</a:t>
            </a:r>
            <a:endParaRPr lang="en-US" dirty="0" smtClean="0"/>
          </a:p>
          <a:p>
            <a:pPr marL="114300" indent="0">
              <a:buNone/>
            </a:pPr>
            <a:endParaRPr lang="en-US" dirty="0"/>
          </a:p>
        </p:txBody>
      </p:sp>
      <p:sp>
        <p:nvSpPr>
          <p:cNvPr id="4" name="Google Shape;152;p27"/>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3.2.3 Vai trò và trách nhiệm trong review</a:t>
            </a:r>
            <a:endParaRPr dirty="0"/>
          </a:p>
        </p:txBody>
      </p:sp>
    </p:spTree>
    <p:extLst>
      <p:ext uri="{BB962C8B-B14F-4D97-AF65-F5344CB8AC3E}">
        <p14:creationId xmlns:p14="http://schemas.microsoft.com/office/powerpoint/2010/main" val="38281989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193180"/>
            <a:ext cx="8520600" cy="3651190"/>
          </a:xfrm>
        </p:spPr>
        <p:txBody>
          <a:bodyPr>
            <a:normAutofit/>
          </a:bodyPr>
          <a:lstStyle/>
          <a:p>
            <a:pPr marL="0" indent="0">
              <a:spcBef>
                <a:spcPts val="1200"/>
              </a:spcBef>
              <a:buNone/>
            </a:pPr>
            <a:r>
              <a:rPr lang="vi-VN" sz="1600" b="1" dirty="0">
                <a:solidFill>
                  <a:srgbClr val="FF00FF"/>
                </a:solidFill>
              </a:rPr>
              <a:t>Người điều hành (Moderator - facilitator)</a:t>
            </a:r>
            <a:r>
              <a:rPr lang="vi-VN" sz="1600" dirty="0"/>
              <a:t> đảm bảo các cuộc họp review diễn ra hiệu quả, bao gồm hòa giải, quản lý thời gian và môi trường review an toàn trong đó mọi người có thể tự do phát biểu</a:t>
            </a:r>
            <a:r>
              <a:rPr lang="en-US" sz="1600" dirty="0"/>
              <a:t>:</a:t>
            </a:r>
          </a:p>
          <a:p>
            <a:pPr marL="285750" indent="-285750">
              <a:spcBef>
                <a:spcPts val="1200"/>
              </a:spcBef>
            </a:pPr>
            <a:r>
              <a:rPr lang="vi-VN" sz="1600" dirty="0"/>
              <a:t>Đảm bảo hiệu quả của buổi review (khi được tổ chức)</a:t>
            </a:r>
          </a:p>
          <a:p>
            <a:pPr marL="285750" indent="-285750">
              <a:spcBef>
                <a:spcPts val="1200"/>
              </a:spcBef>
            </a:pPr>
            <a:r>
              <a:rPr lang="vi-VN" sz="1600" dirty="0"/>
              <a:t>Là người trung gian, nếu cần thiết giữa các bên khi họ có các viewpoint khác nhau</a:t>
            </a:r>
          </a:p>
          <a:p>
            <a:pPr marL="285750" indent="-285750">
              <a:spcBef>
                <a:spcPts val="1200"/>
              </a:spcBef>
            </a:pPr>
            <a:r>
              <a:rPr lang="vi-VN" sz="1600" dirty="0"/>
              <a:t>Thường là người quyết định sự thành công của một buổi review</a:t>
            </a:r>
          </a:p>
          <a:p>
            <a:pPr marL="114300" indent="0">
              <a:buNone/>
            </a:pPr>
            <a:endParaRPr lang="en-US" sz="1600" dirty="0"/>
          </a:p>
        </p:txBody>
      </p:sp>
      <p:sp>
        <p:nvSpPr>
          <p:cNvPr id="4" name="Google Shape;152;p27"/>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3.2.3 Vai trò và trách nhiệm trong review</a:t>
            </a:r>
            <a:endParaRPr dirty="0"/>
          </a:p>
        </p:txBody>
      </p:sp>
    </p:spTree>
    <p:extLst>
      <p:ext uri="{BB962C8B-B14F-4D97-AF65-F5344CB8AC3E}">
        <p14:creationId xmlns:p14="http://schemas.microsoft.com/office/powerpoint/2010/main" val="31915759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3.2.3 Vai trò và trách nhiệm trong review</a:t>
            </a:r>
            <a:endParaRPr dirty="0"/>
          </a:p>
        </p:txBody>
      </p:sp>
      <p:sp>
        <p:nvSpPr>
          <p:cNvPr id="159" name="Google Shape;159;p28"/>
          <p:cNvSpPr txBox="1">
            <a:spLocks noGrp="1"/>
          </p:cNvSpPr>
          <p:nvPr>
            <p:ph type="body" idx="1"/>
          </p:nvPr>
        </p:nvSpPr>
        <p:spPr>
          <a:xfrm>
            <a:off x="311700" y="1240225"/>
            <a:ext cx="8520600" cy="3448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vi" b="1">
                <a:solidFill>
                  <a:srgbClr val="FF00FF"/>
                </a:solidFill>
              </a:rPr>
              <a:t>Thư ký (Scribe - recorder)</a:t>
            </a:r>
            <a:r>
              <a:rPr lang="vi" sz="1600"/>
              <a:t> đối chiếu các điểm bất thường từ người review và ghi lại thông tin review, chẳng hạn như các quyết định và điểm bất thường mới được tìm thấy trong cuộc họp review</a:t>
            </a:r>
            <a:endParaRPr sz="1600" dirty="0"/>
          </a:p>
          <a:p>
            <a:pPr marL="0" lvl="0" indent="0" algn="l" rtl="0">
              <a:spcBef>
                <a:spcPts val="1200"/>
              </a:spcBef>
              <a:spcAft>
                <a:spcPts val="0"/>
              </a:spcAft>
              <a:buNone/>
            </a:pPr>
            <a:r>
              <a:rPr lang="vi" b="1">
                <a:solidFill>
                  <a:srgbClr val="FF00FF"/>
                </a:solidFill>
              </a:rPr>
              <a:t>Người review (Reviewer)</a:t>
            </a:r>
            <a:r>
              <a:rPr lang="vi"/>
              <a:t> </a:t>
            </a:r>
            <a:r>
              <a:rPr lang="vi" sz="1600"/>
              <a:t>thực hiện review. Người review có thể là thành viên của dự án, một chuyên gia, hoặc bất kỳ bên liên quan nào khác.</a:t>
            </a:r>
            <a:endParaRPr dirty="0"/>
          </a:p>
          <a:p>
            <a:pPr marL="0" lvl="0" indent="0" algn="l" rtl="0">
              <a:spcBef>
                <a:spcPts val="1200"/>
              </a:spcBef>
              <a:spcAft>
                <a:spcPts val="0"/>
              </a:spcAft>
              <a:buNone/>
            </a:pPr>
            <a:r>
              <a:rPr lang="vi" b="1">
                <a:solidFill>
                  <a:srgbClr val="FF00FF"/>
                </a:solidFill>
              </a:rPr>
              <a:t>Trưởng nhóm review (Review leader)</a:t>
            </a:r>
            <a:r>
              <a:rPr lang="vi"/>
              <a:t> </a:t>
            </a:r>
            <a:r>
              <a:rPr lang="vi" sz="1600"/>
              <a:t>chịu trách nhiệm chung về việc review, chẳng hạn như quyết định ai sẽ tham gia, sắp xếp thời gian và địa điểm review sẽ diễn ra</a:t>
            </a:r>
            <a:endParaRPr sz="1600" dirty="0"/>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9"/>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3.2.4 Các loại review</a:t>
            </a:r>
            <a:endParaRPr dirty="0"/>
          </a:p>
        </p:txBody>
      </p:sp>
      <p:sp>
        <p:nvSpPr>
          <p:cNvPr id="165" name="Google Shape;165;p29"/>
          <p:cNvSpPr txBox="1">
            <a:spLocks noGrp="1"/>
          </p:cNvSpPr>
          <p:nvPr>
            <p:ph type="body" idx="1"/>
          </p:nvPr>
        </p:nvSpPr>
        <p:spPr>
          <a:xfrm>
            <a:off x="467817" y="1240225"/>
            <a:ext cx="8832300" cy="3903275"/>
          </a:xfrm>
          <a:prstGeom prst="rect">
            <a:avLst/>
          </a:prstGeom>
        </p:spPr>
        <p:txBody>
          <a:bodyPr spcFirstLastPara="1" wrap="square" lIns="91425" tIns="91425" rIns="91425" bIns="91425" anchor="t" anchorCtr="0">
            <a:noAutofit/>
          </a:bodyPr>
          <a:lstStyle/>
          <a:p>
            <a:pPr marL="0" lvl="0" indent="0" algn="l" rtl="0">
              <a:spcAft>
                <a:spcPts val="0"/>
              </a:spcAft>
              <a:buNone/>
            </a:pPr>
            <a:r>
              <a:rPr lang="vi" sz="1600" b="1" dirty="0">
                <a:solidFill>
                  <a:srgbClr val="FF00FF"/>
                </a:solidFill>
              </a:rPr>
              <a:t>Review không chính thức (Informal review)</a:t>
            </a:r>
            <a:r>
              <a:rPr lang="vi" sz="1600" dirty="0">
                <a:solidFill>
                  <a:schemeClr val="dk1"/>
                </a:solidFill>
              </a:rPr>
              <a:t> </a:t>
            </a:r>
            <a:endParaRPr sz="1600" dirty="0">
              <a:solidFill>
                <a:schemeClr val="dk1"/>
              </a:solidFill>
            </a:endParaRPr>
          </a:p>
          <a:p>
            <a:pPr marL="457200" marR="0" lvl="0" indent="-330200" algn="l" rtl="0">
              <a:lnSpc>
                <a:spcPct val="170000"/>
              </a:lnSpc>
              <a:spcAft>
                <a:spcPts val="0"/>
              </a:spcAft>
              <a:buClr>
                <a:srgbClr val="374151"/>
              </a:buClr>
              <a:buSzPts val="1600"/>
              <a:buChar char="●"/>
            </a:pPr>
            <a:r>
              <a:rPr lang="vi" sz="1300" dirty="0">
                <a:solidFill>
                  <a:srgbClr val="374151"/>
                </a:solidFill>
              </a:rPr>
              <a:t>Không theo quy trình </a:t>
            </a:r>
            <a:endParaRPr sz="1300" dirty="0">
              <a:solidFill>
                <a:srgbClr val="374151"/>
              </a:solidFill>
            </a:endParaRPr>
          </a:p>
          <a:p>
            <a:pPr indent="-330200">
              <a:lnSpc>
                <a:spcPct val="170000"/>
              </a:lnSpc>
              <a:buClr>
                <a:srgbClr val="374151"/>
              </a:buClr>
              <a:buSzPts val="1600"/>
            </a:pPr>
            <a:r>
              <a:rPr lang="vi" sz="1300" spc="-40" dirty="0">
                <a:solidFill>
                  <a:srgbClr val="374151"/>
                </a:solidFill>
              </a:rPr>
              <a:t>Không yêu cầu đầu ra được ghi chép chính </a:t>
            </a:r>
            <a:r>
              <a:rPr lang="vi" sz="1300" spc="-40" dirty="0" smtClean="0">
                <a:solidFill>
                  <a:srgbClr val="374151"/>
                </a:solidFill>
              </a:rPr>
              <a:t>thức</a:t>
            </a:r>
            <a:r>
              <a:rPr lang="en-US" sz="1300" spc="-40" dirty="0" smtClean="0">
                <a:solidFill>
                  <a:srgbClr val="374151"/>
                </a:solidFill>
              </a:rPr>
              <a:t> (</a:t>
            </a:r>
            <a:r>
              <a:rPr lang="en-US" sz="1300" spc="-40" dirty="0" smtClean="0"/>
              <a:t>KQ </a:t>
            </a:r>
            <a:r>
              <a:rPr lang="vi-VN" sz="1300" spc="-40" dirty="0" smtClean="0"/>
              <a:t>review </a:t>
            </a:r>
            <a:r>
              <a:rPr lang="vi-VN" sz="1300" spc="-40" dirty="0"/>
              <a:t>có thể ghi </a:t>
            </a:r>
            <a:r>
              <a:rPr lang="vi-VN" sz="1300" spc="-40" dirty="0" smtClean="0"/>
              <a:t>chép</a:t>
            </a:r>
            <a:r>
              <a:rPr lang="en-US" sz="1300" spc="-40" dirty="0" smtClean="0"/>
              <a:t> </a:t>
            </a:r>
            <a:r>
              <a:rPr lang="vi-VN" sz="1300" spc="-40" dirty="0" smtClean="0"/>
              <a:t>hoặc không</a:t>
            </a:r>
            <a:r>
              <a:rPr lang="en-US" sz="1300" spc="-40" dirty="0" smtClean="0">
                <a:solidFill>
                  <a:srgbClr val="374151"/>
                </a:solidFill>
              </a:rPr>
              <a:t>)</a:t>
            </a:r>
            <a:endParaRPr sz="1300" spc="-40" dirty="0">
              <a:solidFill>
                <a:srgbClr val="374151"/>
              </a:solidFill>
            </a:endParaRPr>
          </a:p>
          <a:p>
            <a:pPr indent="-330200">
              <a:lnSpc>
                <a:spcPct val="170000"/>
              </a:lnSpc>
              <a:buClr>
                <a:srgbClr val="374151"/>
              </a:buClr>
              <a:buSzPts val="1600"/>
            </a:pPr>
            <a:r>
              <a:rPr lang="vi" sz="1300" dirty="0">
                <a:solidFill>
                  <a:srgbClr val="374151"/>
                </a:solidFill>
              </a:rPr>
              <a:t>Mục tiêu chính là phát hiện điểm bất </a:t>
            </a:r>
            <a:r>
              <a:rPr lang="vi" sz="1300" dirty="0" smtClean="0">
                <a:solidFill>
                  <a:srgbClr val="374151"/>
                </a:solidFill>
              </a:rPr>
              <a:t>thường</a:t>
            </a:r>
            <a:r>
              <a:rPr lang="en-US" sz="1300" dirty="0" smtClean="0">
                <a:solidFill>
                  <a:srgbClr val="374151"/>
                </a:solidFill>
              </a:rPr>
              <a:t>, </a:t>
            </a:r>
            <a:r>
              <a:rPr lang="vi-VN" sz="1300" dirty="0"/>
              <a:t>các defect tiềm ẩn</a:t>
            </a:r>
          </a:p>
          <a:p>
            <a:pPr>
              <a:lnSpc>
                <a:spcPct val="170000"/>
              </a:lnSpc>
            </a:pPr>
            <a:r>
              <a:rPr lang="vi-VN" sz="1300" spc="-50" dirty="0" smtClean="0"/>
              <a:t>Mục </a:t>
            </a:r>
            <a:r>
              <a:rPr lang="en-US" sz="1300" spc="-50" dirty="0" err="1" smtClean="0"/>
              <a:t>tiêu</a:t>
            </a:r>
            <a:r>
              <a:rPr lang="vi-VN" sz="1300" spc="-50" dirty="0" smtClean="0"/>
              <a:t> </a:t>
            </a:r>
            <a:r>
              <a:rPr lang="vi-VN" sz="1300" spc="-50" dirty="0"/>
              <a:t>bổ sung: Tạo ý tưởng </a:t>
            </a:r>
            <a:r>
              <a:rPr lang="vi-VN" sz="1300" spc="-50" dirty="0" smtClean="0"/>
              <a:t>mới</a:t>
            </a:r>
            <a:r>
              <a:rPr lang="en-US" sz="1300" spc="-50" dirty="0" smtClean="0"/>
              <a:t>/</a:t>
            </a:r>
            <a:r>
              <a:rPr lang="vi-VN" sz="1300" spc="-50" dirty="0" smtClean="0"/>
              <a:t>giải </a:t>
            </a:r>
            <a:r>
              <a:rPr lang="vi-VN" sz="1300" spc="-50" dirty="0"/>
              <a:t>pháp mới, nhanh chóng giải quyết các vấn đề </a:t>
            </a:r>
            <a:r>
              <a:rPr lang="vi-VN" sz="1300" spc="-50" dirty="0" smtClean="0"/>
              <a:t>nhỏ</a:t>
            </a:r>
            <a:endParaRPr lang="en-US" sz="1300" spc="-50" dirty="0" smtClean="0"/>
          </a:p>
          <a:p>
            <a:pPr>
              <a:lnSpc>
                <a:spcPct val="170000"/>
              </a:lnSpc>
            </a:pPr>
            <a:r>
              <a:rPr lang="vi-VN" sz="1300" dirty="0"/>
              <a:t>Có thể không bao gồm buổi họp review</a:t>
            </a:r>
          </a:p>
          <a:p>
            <a:pPr>
              <a:lnSpc>
                <a:spcPct val="170000"/>
              </a:lnSpc>
            </a:pPr>
            <a:r>
              <a:rPr lang="en-US" sz="1300" dirty="0" smtClean="0"/>
              <a:t>Đ</a:t>
            </a:r>
            <a:r>
              <a:rPr lang="vi-VN" sz="1300" dirty="0" smtClean="0"/>
              <a:t>ược </a:t>
            </a:r>
            <a:r>
              <a:rPr lang="vi-VN" sz="1300" dirty="0"/>
              <a:t>thực hiện bởi đồng nghiệp/đồng sự của tác giả hoặc bởi nhiều người</a:t>
            </a:r>
          </a:p>
          <a:p>
            <a:pPr>
              <a:lnSpc>
                <a:spcPct val="170000"/>
              </a:lnSpc>
            </a:pPr>
            <a:r>
              <a:rPr lang="vi-VN" sz="1300" dirty="0" smtClean="0"/>
              <a:t>Giá </a:t>
            </a:r>
            <a:r>
              <a:rPr lang="vi-VN" sz="1300" dirty="0"/>
              <a:t>trị của buổi review phụ thuộc chủ yếu vào người review</a:t>
            </a:r>
          </a:p>
          <a:p>
            <a:pPr>
              <a:lnSpc>
                <a:spcPct val="170000"/>
              </a:lnSpc>
            </a:pPr>
            <a:r>
              <a:rPr lang="vi-VN" sz="1300" dirty="0"/>
              <a:t>Có thể sử dụng checklist hoặc không</a:t>
            </a:r>
          </a:p>
          <a:p>
            <a:pPr>
              <a:lnSpc>
                <a:spcPct val="170000"/>
              </a:lnSpc>
            </a:pPr>
            <a:r>
              <a:rPr lang="vi-VN" sz="1300" dirty="0"/>
              <a:t>Hay được sử dụng trong mô hình phát triển </a:t>
            </a:r>
            <a:r>
              <a:rPr lang="vi-VN" sz="1300" dirty="0" smtClean="0"/>
              <a:t>Agil</a:t>
            </a:r>
            <a:r>
              <a:rPr lang="en-US" sz="1300" dirty="0" smtClean="0"/>
              <a:t>e</a:t>
            </a:r>
            <a:endParaRPr sz="1300" dirty="0">
              <a:solidFill>
                <a:srgbClr val="202124"/>
              </a:solidFill>
              <a:highlight>
                <a:srgbClr val="F8F9FA"/>
              </a:highlight>
              <a:latin typeface="Arial"/>
              <a:ea typeface="Arial"/>
              <a:cs typeface="Arial"/>
              <a:sym typeface="Arial"/>
            </a:endParaRPr>
          </a:p>
          <a:p>
            <a:pPr marL="0" lvl="0" indent="0" algn="l" rtl="0">
              <a:spcBef>
                <a:spcPts val="1200"/>
              </a:spcBef>
              <a:spcAft>
                <a:spcPts val="0"/>
              </a:spcAft>
              <a:buNone/>
            </a:pPr>
            <a:endParaRPr sz="1300" dirty="0"/>
          </a:p>
          <a:p>
            <a:pPr marL="0" lvl="0" indent="0" algn="l" rtl="0">
              <a:spcBef>
                <a:spcPts val="1200"/>
              </a:spcBef>
              <a:spcAft>
                <a:spcPts val="1200"/>
              </a:spcAft>
              <a:buNone/>
            </a:pPr>
            <a:endParaRPr sz="13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3.2.4 Các loại review</a:t>
            </a:r>
            <a:endParaRPr dirty="0"/>
          </a:p>
        </p:txBody>
      </p:sp>
      <p:sp>
        <p:nvSpPr>
          <p:cNvPr id="171" name="Google Shape;171;p30"/>
          <p:cNvSpPr txBox="1">
            <a:spLocks noGrp="1"/>
          </p:cNvSpPr>
          <p:nvPr>
            <p:ph type="body" idx="1"/>
          </p:nvPr>
        </p:nvSpPr>
        <p:spPr>
          <a:xfrm>
            <a:off x="311699" y="1173319"/>
            <a:ext cx="8932661" cy="3448500"/>
          </a:xfrm>
          <a:prstGeom prst="rect">
            <a:avLst/>
          </a:prstGeom>
        </p:spPr>
        <p:txBody>
          <a:bodyPr spcFirstLastPara="1" wrap="square" lIns="91425" tIns="91425" rIns="91425" bIns="91425" anchor="t" anchorCtr="0">
            <a:noAutofit/>
          </a:bodyPr>
          <a:lstStyle/>
          <a:p>
            <a:pPr marL="0" lvl="0" indent="0" algn="l" rtl="0">
              <a:lnSpc>
                <a:spcPct val="130000"/>
              </a:lnSpc>
              <a:spcAft>
                <a:spcPts val="0"/>
              </a:spcAft>
              <a:buNone/>
            </a:pPr>
            <a:r>
              <a:rPr lang="vi" sz="1600" b="1" dirty="0">
                <a:solidFill>
                  <a:srgbClr val="FF00FF"/>
                </a:solidFill>
              </a:rPr>
              <a:t>Hướng dẫn (Walkthrough) </a:t>
            </a:r>
            <a:endParaRPr sz="1600" dirty="0">
              <a:solidFill>
                <a:schemeClr val="dk1"/>
              </a:solidFill>
            </a:endParaRPr>
          </a:p>
          <a:p>
            <a:pPr lvl="0" indent="-311150">
              <a:lnSpc>
                <a:spcPct val="130000"/>
              </a:lnSpc>
              <a:buClr>
                <a:srgbClr val="374151"/>
              </a:buClr>
              <a:buSzPts val="1300"/>
            </a:pPr>
            <a:r>
              <a:rPr lang="vi" sz="1400" dirty="0">
                <a:solidFill>
                  <a:srgbClr val="374151"/>
                </a:solidFill>
              </a:rPr>
              <a:t>Được dẫn dắt bởi </a:t>
            </a:r>
            <a:r>
              <a:rPr lang="vi" sz="1400" dirty="0" smtClean="0">
                <a:solidFill>
                  <a:srgbClr val="374151"/>
                </a:solidFill>
              </a:rPr>
              <a:t>author</a:t>
            </a:r>
            <a:r>
              <a:rPr lang="en-US" sz="1400" dirty="0" smtClean="0">
                <a:solidFill>
                  <a:srgbClr val="374151"/>
                </a:solidFill>
              </a:rPr>
              <a:t>, </a:t>
            </a:r>
            <a:r>
              <a:rPr lang="vi" sz="1400" dirty="0">
                <a:solidFill>
                  <a:srgbClr val="374151"/>
                </a:solidFill>
              </a:rPr>
              <a:t>Người review có thể thực hiện individual review trước nhưng không bắt buộc</a:t>
            </a:r>
            <a:endParaRPr sz="1400" dirty="0">
              <a:solidFill>
                <a:srgbClr val="374151"/>
              </a:solidFill>
            </a:endParaRPr>
          </a:p>
          <a:p>
            <a:pPr indent="-311150">
              <a:lnSpc>
                <a:spcPct val="130000"/>
              </a:lnSpc>
              <a:buClr>
                <a:srgbClr val="374151"/>
              </a:buClr>
              <a:buSzPts val="1300"/>
            </a:pPr>
            <a:r>
              <a:rPr lang="vi" sz="1400" dirty="0">
                <a:solidFill>
                  <a:srgbClr val="374151"/>
                </a:solidFill>
              </a:rPr>
              <a:t>Có thể phục vụ nhiều mục tiêu: </a:t>
            </a:r>
            <a:endParaRPr lang="en-US" sz="1400" dirty="0" smtClean="0">
              <a:solidFill>
                <a:srgbClr val="374151"/>
              </a:solidFill>
            </a:endParaRPr>
          </a:p>
          <a:p>
            <a:pPr lvl="1" indent="-311150">
              <a:lnSpc>
                <a:spcPct val="130000"/>
              </a:lnSpc>
              <a:buClr>
                <a:srgbClr val="374151"/>
              </a:buClr>
              <a:buSzPts val="1300"/>
            </a:pPr>
            <a:r>
              <a:rPr lang="vi" dirty="0" smtClean="0">
                <a:solidFill>
                  <a:srgbClr val="374151"/>
                </a:solidFill>
              </a:rPr>
              <a:t>đánh </a:t>
            </a:r>
            <a:r>
              <a:rPr lang="vi" dirty="0">
                <a:solidFill>
                  <a:srgbClr val="374151"/>
                </a:solidFill>
              </a:rPr>
              <a:t>giá chất lượng và xây dựng niềm tin vào sản phẩm công việc</a:t>
            </a:r>
            <a:r>
              <a:rPr lang="vi" dirty="0" smtClean="0">
                <a:solidFill>
                  <a:srgbClr val="374151"/>
                </a:solidFill>
              </a:rPr>
              <a:t>,</a:t>
            </a:r>
            <a:endParaRPr lang="en-US" dirty="0" smtClean="0">
              <a:solidFill>
                <a:srgbClr val="374151"/>
              </a:solidFill>
            </a:endParaRPr>
          </a:p>
          <a:p>
            <a:pPr lvl="1" indent="-311150">
              <a:lnSpc>
                <a:spcPct val="130000"/>
              </a:lnSpc>
              <a:buClr>
                <a:srgbClr val="374151"/>
              </a:buClr>
              <a:buSzPts val="1300"/>
            </a:pPr>
            <a:r>
              <a:rPr lang="vi" dirty="0" smtClean="0">
                <a:solidFill>
                  <a:srgbClr val="374151"/>
                </a:solidFill>
              </a:rPr>
              <a:t>“</a:t>
            </a:r>
            <a:r>
              <a:rPr lang="vi" dirty="0">
                <a:solidFill>
                  <a:srgbClr val="374151"/>
                </a:solidFill>
              </a:rPr>
              <a:t>educate” người review, đạt được sự đồng thuận, tạo ra ý tưởng mới, thúc đẩy và tạo điều kiện cho author cải thiện và phát hiện những điểm bất thường</a:t>
            </a:r>
            <a:r>
              <a:rPr lang="vi" dirty="0" smtClean="0">
                <a:solidFill>
                  <a:srgbClr val="374151"/>
                </a:solidFill>
              </a:rPr>
              <a:t>.</a:t>
            </a:r>
            <a:r>
              <a:rPr lang="vi-VN" dirty="0"/>
              <a:t> </a:t>
            </a:r>
            <a:endParaRPr lang="en-US" dirty="0" smtClean="0"/>
          </a:p>
          <a:p>
            <a:pPr lvl="1" indent="-311150">
              <a:lnSpc>
                <a:spcPct val="130000"/>
              </a:lnSpc>
              <a:buClr>
                <a:srgbClr val="374151"/>
              </a:buClr>
              <a:buSzPts val="1300"/>
            </a:pPr>
            <a:r>
              <a:rPr lang="vi-VN" spc="-60" dirty="0" smtClean="0"/>
              <a:t>xem </a:t>
            </a:r>
            <a:r>
              <a:rPr lang="vi-VN" spc="-60" dirty="0"/>
              <a:t>xét triển khai thay thế, đánh giá sự phù hợp với tiêu chuẩn và thông số kĩ </a:t>
            </a:r>
            <a:r>
              <a:rPr lang="vi-VN" spc="-60" dirty="0" smtClean="0"/>
              <a:t>thuật</a:t>
            </a:r>
            <a:endParaRPr lang="en-US" spc="-60" dirty="0" smtClean="0">
              <a:solidFill>
                <a:srgbClr val="374151"/>
              </a:solidFill>
            </a:endParaRPr>
          </a:p>
          <a:p>
            <a:pPr>
              <a:lnSpc>
                <a:spcPct val="130000"/>
              </a:lnSpc>
            </a:pPr>
            <a:r>
              <a:rPr lang="vi-VN" sz="1400" dirty="0" smtClean="0"/>
              <a:t>Người </a:t>
            </a:r>
            <a:r>
              <a:rPr lang="vi-VN" sz="1400" dirty="0"/>
              <a:t>chủ trì cuộc họp review là tác giả của work product được </a:t>
            </a:r>
            <a:r>
              <a:rPr lang="vi-VN" sz="1400" dirty="0" smtClean="0"/>
              <a:t>review</a:t>
            </a:r>
          </a:p>
          <a:p>
            <a:pPr>
              <a:lnSpc>
                <a:spcPct val="130000"/>
              </a:lnSpc>
            </a:pPr>
            <a:r>
              <a:rPr lang="vi-VN" sz="1400" dirty="0" smtClean="0"/>
              <a:t>Vai trò Scribe là bắt buộc</a:t>
            </a:r>
          </a:p>
          <a:p>
            <a:pPr>
              <a:lnSpc>
                <a:spcPct val="130000"/>
              </a:lnSpc>
            </a:pPr>
            <a:r>
              <a:rPr lang="vi-VN" sz="1400" dirty="0" smtClean="0"/>
              <a:t>Việc </a:t>
            </a:r>
            <a:r>
              <a:rPr lang="vi-VN" sz="1400" dirty="0"/>
              <a:t>log và report lại các defect tiềm ẩn có thể có hoặc không</a:t>
            </a:r>
          </a:p>
          <a:p>
            <a:pPr marL="457200" marR="0" lvl="0" indent="-311150" algn="l" rtl="0">
              <a:lnSpc>
                <a:spcPct val="130000"/>
              </a:lnSpc>
              <a:spcAft>
                <a:spcPts val="1200"/>
              </a:spcAft>
              <a:buClr>
                <a:srgbClr val="374151"/>
              </a:buClr>
              <a:buSzPts val="1300"/>
              <a:buChar char="●"/>
            </a:pPr>
            <a:endParaRPr sz="13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1"/>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3.2.4 Các loại review</a:t>
            </a:r>
            <a:endParaRPr dirty="0"/>
          </a:p>
        </p:txBody>
      </p:sp>
      <p:sp>
        <p:nvSpPr>
          <p:cNvPr id="177" name="Google Shape;177;p31"/>
          <p:cNvSpPr txBox="1">
            <a:spLocks noGrp="1"/>
          </p:cNvSpPr>
          <p:nvPr>
            <p:ph type="body" idx="1"/>
          </p:nvPr>
        </p:nvSpPr>
        <p:spPr>
          <a:xfrm>
            <a:off x="311700" y="1240225"/>
            <a:ext cx="8520600" cy="34485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vi" b="1" dirty="0">
                <a:solidFill>
                  <a:srgbClr val="FF00FF"/>
                </a:solidFill>
              </a:rPr>
              <a:t>Đánh giá kỹ thuật (Technical Review)</a:t>
            </a:r>
            <a:endParaRPr dirty="0"/>
          </a:p>
          <a:p>
            <a:pPr marL="457200" marR="0" lvl="0" indent="-311150" algn="l" rtl="0">
              <a:lnSpc>
                <a:spcPct val="115000"/>
              </a:lnSpc>
              <a:spcBef>
                <a:spcPts val="1200"/>
              </a:spcBef>
              <a:spcAft>
                <a:spcPts val="0"/>
              </a:spcAft>
              <a:buClr>
                <a:srgbClr val="374151"/>
              </a:buClr>
              <a:buSzPts val="1300"/>
              <a:buChar char="●"/>
            </a:pPr>
            <a:r>
              <a:rPr lang="vi" sz="1600" dirty="0">
                <a:solidFill>
                  <a:srgbClr val="374151"/>
                </a:solidFill>
              </a:rPr>
              <a:t>Được thực hiện bởi những người review có trình độ kỹ thuật và được dẫn dắt bởi moderator.</a:t>
            </a:r>
            <a:endParaRPr sz="1600" dirty="0">
              <a:solidFill>
                <a:srgbClr val="374151"/>
              </a:solidFill>
            </a:endParaRPr>
          </a:p>
          <a:p>
            <a:pPr marL="457200" marR="0" lvl="0" indent="-311150" algn="l" rtl="0">
              <a:lnSpc>
                <a:spcPct val="115000"/>
              </a:lnSpc>
              <a:spcBef>
                <a:spcPts val="1200"/>
              </a:spcBef>
              <a:spcAft>
                <a:spcPts val="1200"/>
              </a:spcAft>
              <a:buClr>
                <a:srgbClr val="374151"/>
              </a:buClr>
              <a:buSzPts val="1300"/>
              <a:buChar char="●"/>
            </a:pPr>
            <a:r>
              <a:rPr lang="vi" sz="1600" dirty="0">
                <a:solidFill>
                  <a:srgbClr val="374151"/>
                </a:solidFill>
              </a:rPr>
              <a:t>Mục tiêu của technical review là: đạt được sự đồng thuận và đưa ra quyết định liên quan đến vấn đề kỹ thuật, phát hiện các điểm bất thường, đánh giá chất lượng và xây dựng niềm tin vào sản phẩm công việc, tạo ra các ý tưởng mới, đồng thời thúc đẩy và tạo điều kiện cho các tác giả cải tiến sản phẩm</a:t>
            </a:r>
            <a:r>
              <a:rPr lang="vi" sz="1600" dirty="0" smtClean="0">
                <a:solidFill>
                  <a:srgbClr val="374151"/>
                </a:solidFill>
              </a:rPr>
              <a:t>.</a:t>
            </a:r>
            <a:endParaRPr lang="en-US" sz="1600" dirty="0" smtClean="0">
              <a:solidFill>
                <a:srgbClr val="374151"/>
              </a:solidFill>
            </a:endParaRPr>
          </a:p>
          <a:p>
            <a:r>
              <a:rPr lang="vi-VN" dirty="0"/>
              <a:t>Scribe là bắt buộc</a:t>
            </a:r>
          </a:p>
          <a:p>
            <a:r>
              <a:rPr lang="vi-VN" dirty="0"/>
              <a:t>Cần log lại những defect được phát hiện và có báo cáo </a:t>
            </a:r>
            <a:r>
              <a:rPr lang="vi-VN" dirty="0" smtClean="0"/>
              <a:t>review</a:t>
            </a:r>
            <a:endParaRPr lang="vi-VN"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2"/>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3.2.4 Các loại review</a:t>
            </a:r>
            <a:endParaRPr dirty="0"/>
          </a:p>
        </p:txBody>
      </p:sp>
      <p:sp>
        <p:nvSpPr>
          <p:cNvPr id="183" name="Google Shape;183;p32"/>
          <p:cNvSpPr txBox="1">
            <a:spLocks noGrp="1"/>
          </p:cNvSpPr>
          <p:nvPr>
            <p:ph type="body" idx="1"/>
          </p:nvPr>
        </p:nvSpPr>
        <p:spPr>
          <a:xfrm>
            <a:off x="311700" y="1217922"/>
            <a:ext cx="8520600" cy="34485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vi" sz="1400" b="1" dirty="0">
                <a:solidFill>
                  <a:srgbClr val="FF00FF"/>
                </a:solidFill>
              </a:rPr>
              <a:t>Kiểm duyệt (Inspection)</a:t>
            </a:r>
            <a:endParaRPr sz="1400" dirty="0"/>
          </a:p>
          <a:p>
            <a:pPr marL="457200" marR="0" lvl="0" indent="-311150" algn="l" rtl="0">
              <a:lnSpc>
                <a:spcPct val="130000"/>
              </a:lnSpc>
              <a:buClr>
                <a:srgbClr val="374151"/>
              </a:buClr>
              <a:buSzPts val="1300"/>
              <a:buChar char="●"/>
            </a:pPr>
            <a:r>
              <a:rPr lang="vi" sz="1400" dirty="0">
                <a:solidFill>
                  <a:srgbClr val="374151"/>
                </a:solidFill>
              </a:rPr>
              <a:t>Là loại review chính thức nhất, tuân theo quy trình chung</a:t>
            </a:r>
            <a:endParaRPr sz="1400" dirty="0">
              <a:solidFill>
                <a:srgbClr val="374151"/>
              </a:solidFill>
            </a:endParaRPr>
          </a:p>
          <a:p>
            <a:pPr marL="457200" lvl="0" indent="-311150" algn="l" rtl="0">
              <a:lnSpc>
                <a:spcPct val="130000"/>
              </a:lnSpc>
              <a:buClr>
                <a:srgbClr val="374151"/>
              </a:buClr>
              <a:buSzPts val="1300"/>
              <a:buChar char="●"/>
            </a:pPr>
            <a:r>
              <a:rPr lang="vi" sz="1400" dirty="0">
                <a:solidFill>
                  <a:srgbClr val="374151"/>
                </a:solidFill>
              </a:rPr>
              <a:t>Trong quá trình review, author không được đóng vai trò là review leader hoặc scribe.</a:t>
            </a:r>
            <a:endParaRPr sz="1400" dirty="0">
              <a:solidFill>
                <a:srgbClr val="374151"/>
              </a:solidFill>
            </a:endParaRPr>
          </a:p>
          <a:p>
            <a:pPr marL="457200" marR="0" lvl="0" indent="-311150" algn="l" rtl="0">
              <a:lnSpc>
                <a:spcPct val="130000"/>
              </a:lnSpc>
              <a:buClr>
                <a:srgbClr val="374151"/>
              </a:buClr>
              <a:buSzPts val="1300"/>
              <a:buChar char="●"/>
            </a:pPr>
            <a:r>
              <a:rPr lang="vi" sz="1400" dirty="0">
                <a:solidFill>
                  <a:srgbClr val="374151"/>
                </a:solidFill>
              </a:rPr>
              <a:t>Mục tiêu chính là tìm ra số điểm bất thường tối đa </a:t>
            </a:r>
            <a:endParaRPr sz="1400" dirty="0">
              <a:solidFill>
                <a:srgbClr val="374151"/>
              </a:solidFill>
            </a:endParaRPr>
          </a:p>
          <a:p>
            <a:pPr marL="457200" marR="0" lvl="0" indent="-311150" algn="l" rtl="0">
              <a:lnSpc>
                <a:spcPct val="130000"/>
              </a:lnSpc>
              <a:buClr>
                <a:srgbClr val="374151"/>
              </a:buClr>
              <a:buSzPts val="1300"/>
              <a:buChar char="●"/>
            </a:pPr>
            <a:r>
              <a:rPr lang="vi" sz="1400" dirty="0">
                <a:solidFill>
                  <a:srgbClr val="374151"/>
                </a:solidFill>
              </a:rPr>
              <a:t>Các mục tiêu khác là đánh giá chất lượng, xây dựng niềm tin vào sản phẩm công việc, đồng thời thúc đẩy và tạo điều kiện cho tác giả cải tiến. </a:t>
            </a:r>
            <a:endParaRPr sz="1400" dirty="0">
              <a:solidFill>
                <a:srgbClr val="374151"/>
              </a:solidFill>
            </a:endParaRPr>
          </a:p>
          <a:p>
            <a:pPr marL="457200" marR="0" lvl="0" indent="-311150" algn="l" rtl="0">
              <a:lnSpc>
                <a:spcPct val="130000"/>
              </a:lnSpc>
              <a:buClr>
                <a:srgbClr val="374151"/>
              </a:buClr>
              <a:buSzPts val="1300"/>
              <a:buChar char="●"/>
            </a:pPr>
            <a:r>
              <a:rPr lang="vi" sz="1400" dirty="0">
                <a:solidFill>
                  <a:srgbClr val="374151"/>
                </a:solidFill>
              </a:rPr>
              <a:t>Các số liệu được thu thập và sử dụng để cải thiện </a:t>
            </a:r>
            <a:r>
              <a:rPr lang="vi" sz="1400" dirty="0">
                <a:solidFill>
                  <a:schemeClr val="bg2"/>
                </a:solidFill>
              </a:rPr>
              <a:t>SDLC, </a:t>
            </a:r>
            <a:r>
              <a:rPr lang="vi" sz="1400" dirty="0">
                <a:solidFill>
                  <a:srgbClr val="374151"/>
                </a:solidFill>
              </a:rPr>
              <a:t>bao gồm cả quy trình review. </a:t>
            </a:r>
            <a:endParaRPr lang="en-US" sz="1400" dirty="0" smtClean="0">
              <a:solidFill>
                <a:srgbClr val="374151"/>
              </a:solidFill>
            </a:endParaRPr>
          </a:p>
          <a:p>
            <a:pPr indent="-311150">
              <a:lnSpc>
                <a:spcPct val="130000"/>
              </a:lnSpc>
              <a:buClr>
                <a:srgbClr val="374151"/>
              </a:buClr>
              <a:buSzPts val="1300"/>
            </a:pPr>
            <a:r>
              <a:rPr lang="vi-VN" sz="1400" dirty="0"/>
              <a:t>Người review hoặc đồng sự với tác giả hoặc là expert về mảng liên quan đến sản phẩm được review</a:t>
            </a:r>
          </a:p>
          <a:p>
            <a:pPr>
              <a:lnSpc>
                <a:spcPct val="130000"/>
              </a:lnSpc>
            </a:pPr>
            <a:r>
              <a:rPr lang="vi-VN" sz="1400" dirty="0"/>
              <a:t>Các tiêu chí đầu vào đầu ra cần được sử </a:t>
            </a:r>
            <a:r>
              <a:rPr lang="vi-VN" sz="1400" dirty="0" smtClean="0"/>
              <a:t>dụng</a:t>
            </a:r>
            <a:r>
              <a:rPr lang="en-US" sz="1400" dirty="0" smtClean="0"/>
              <a:t>, </a:t>
            </a:r>
            <a:r>
              <a:rPr lang="vi-VN" sz="1400" dirty="0" smtClean="0"/>
              <a:t>Scribe </a:t>
            </a:r>
            <a:r>
              <a:rPr lang="vi-VN" sz="1400" dirty="0"/>
              <a:t>là bắt buộc</a:t>
            </a:r>
          </a:p>
          <a:p>
            <a:pPr>
              <a:lnSpc>
                <a:spcPct val="130000"/>
              </a:lnSpc>
            </a:pPr>
            <a:r>
              <a:rPr lang="vi-VN" sz="1400" dirty="0"/>
              <a:t>Cần xây dựng báo cáo bug và report thông qua buổi review</a:t>
            </a:r>
          </a:p>
          <a:p>
            <a:pPr marL="457200" marR="0" lvl="0" indent="-311150" algn="l" rtl="0">
              <a:lnSpc>
                <a:spcPct val="115000"/>
              </a:lnSpc>
              <a:spcBef>
                <a:spcPts val="1200"/>
              </a:spcBef>
              <a:spcAft>
                <a:spcPts val="1200"/>
              </a:spcAft>
              <a:buClr>
                <a:srgbClr val="374151"/>
              </a:buClr>
              <a:buSzPts val="1300"/>
              <a:buChar char="●"/>
            </a:pPr>
            <a:endParaRPr sz="1400" dirty="0">
              <a:solidFill>
                <a:srgbClr val="374151"/>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3"/>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a:t>3.2.4 Các loại review</a:t>
            </a:r>
            <a:endParaRPr dirty="0"/>
          </a:p>
        </p:txBody>
      </p:sp>
      <p:pic>
        <p:nvPicPr>
          <p:cNvPr id="189" name="Google Shape;189;p33"/>
          <p:cNvPicPr preferRelativeResize="0"/>
          <p:nvPr/>
        </p:nvPicPr>
        <p:blipFill>
          <a:blip r:embed="rId3">
            <a:alphaModFix/>
          </a:blip>
          <a:stretch>
            <a:fillRect/>
          </a:stretch>
        </p:blipFill>
        <p:spPr>
          <a:xfrm>
            <a:off x="2741876" y="1546475"/>
            <a:ext cx="5042776" cy="3520825"/>
          </a:xfrm>
          <a:prstGeom prst="rect">
            <a:avLst/>
          </a:prstGeom>
          <a:noFill/>
          <a:ln>
            <a:noFill/>
          </a:ln>
        </p:spPr>
      </p:pic>
      <p:sp>
        <p:nvSpPr>
          <p:cNvPr id="190" name="Google Shape;190;p33"/>
          <p:cNvSpPr txBox="1"/>
          <p:nvPr/>
        </p:nvSpPr>
        <p:spPr>
          <a:xfrm>
            <a:off x="350300" y="1315075"/>
            <a:ext cx="36825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vi" sz="1800">
                <a:solidFill>
                  <a:schemeClr val="dk2"/>
                </a:solidFill>
                <a:latin typeface="Source Code Pro"/>
                <a:ea typeface="Source Code Pro"/>
                <a:cs typeface="Source Code Pro"/>
                <a:sym typeface="Source Code Pro"/>
              </a:rPr>
              <a:t>Mức độ formal</a:t>
            </a:r>
            <a:endParaRPr sz="1800" dirty="0">
              <a:solidFill>
                <a:schemeClr val="dk2"/>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335009"/>
            <a:ext cx="8709637" cy="3616131"/>
          </a:xfrm>
        </p:spPr>
        <p:txBody>
          <a:bodyPr>
            <a:normAutofit fontScale="85000" lnSpcReduction="20000"/>
          </a:bodyPr>
          <a:lstStyle/>
          <a:p>
            <a:pPr marL="114300" indent="0">
              <a:lnSpc>
                <a:spcPct val="160000"/>
              </a:lnSpc>
              <a:buNone/>
            </a:pPr>
            <a:r>
              <a:rPr lang="vi-VN" sz="2100" b="1" dirty="0">
                <a:solidFill>
                  <a:srgbClr val="ED3F79"/>
                </a:solidFill>
              </a:rPr>
              <a:t>Adhoc:</a:t>
            </a:r>
          </a:p>
          <a:p>
            <a:pPr>
              <a:lnSpc>
                <a:spcPct val="160000"/>
              </a:lnSpc>
            </a:pPr>
            <a:r>
              <a:rPr lang="vi-VN" dirty="0"/>
              <a:t>Trong kĩ thuật review Adhoc, những người review được cung cấp rất ít hoặc không có bất kì hướng dẫn nào về việc sẽ phải thực hiện task đó</a:t>
            </a:r>
          </a:p>
          <a:p>
            <a:pPr>
              <a:lnSpc>
                <a:spcPct val="160000"/>
              </a:lnSpc>
            </a:pPr>
            <a:r>
              <a:rPr lang="vi-VN" dirty="0"/>
              <a:t>Người review thường xuyên phải đọc tài liệu một cách liên tục, xác định và ghi lại những vấn đề họ gặp phải/phát hiện được trong sản phẩm</a:t>
            </a:r>
          </a:p>
          <a:p>
            <a:pPr>
              <a:lnSpc>
                <a:spcPct val="160000"/>
              </a:lnSpc>
            </a:pPr>
            <a:r>
              <a:rPr lang="vi-VN" dirty="0"/>
              <a:t>Adhoc là kĩ thuật thông thường nhất được sử dụng khi có rất ít sự chuẩn bị</a:t>
            </a:r>
          </a:p>
          <a:p>
            <a:pPr>
              <a:lnSpc>
                <a:spcPct val="160000"/>
              </a:lnSpc>
            </a:pPr>
            <a:r>
              <a:rPr lang="vi-VN" dirty="0"/>
              <a:t>Kĩ thuật này phụ thuộc lớn vào kĩ năng người review và có thể gặp vấn đề rằng có 1 lượng lớn các issue bị report trùng lặp bởi các người review khác nhau.</a:t>
            </a:r>
          </a:p>
          <a:p>
            <a:pPr marL="114300" indent="0">
              <a:lnSpc>
                <a:spcPct val="160000"/>
              </a:lnSpc>
              <a:buNone/>
            </a:pPr>
            <a:endParaRPr lang="en-US" dirty="0"/>
          </a:p>
        </p:txBody>
      </p:sp>
      <p:sp>
        <p:nvSpPr>
          <p:cNvPr id="4" name="Google Shape;188;p33"/>
          <p:cNvSpPr txBox="1">
            <a:spLocks noGrp="1"/>
          </p:cNvSpPr>
          <p:nvPr>
            <p:ph type="title"/>
          </p:nvPr>
        </p:nvSpPr>
        <p:spPr>
          <a:prstGeom prst="rect">
            <a:avLst/>
          </a:prstGeom>
        </p:spPr>
        <p:txBody>
          <a:bodyPr spcFirstLastPara="1" wrap="square" lIns="91425" tIns="91425" rIns="91425" bIns="91425" anchor="b" anchorCtr="0">
            <a:normAutofit/>
          </a:bodyPr>
          <a:lstStyle/>
          <a:p>
            <a:r>
              <a:rPr lang="vi" dirty="0" smtClean="0"/>
              <a:t>3.2.</a:t>
            </a:r>
            <a:r>
              <a:rPr lang="en-US" dirty="0" smtClean="0"/>
              <a:t>5</a:t>
            </a:r>
            <a:r>
              <a:rPr lang="vi" dirty="0" smtClean="0"/>
              <a:t> Các</a:t>
            </a:r>
            <a:r>
              <a:rPr lang="en-US" dirty="0" smtClean="0"/>
              <a:t> </a:t>
            </a:r>
            <a:r>
              <a:rPr lang="en-US" dirty="0" err="1" smtClean="0"/>
              <a:t>kĩ</a:t>
            </a:r>
            <a:r>
              <a:rPr lang="en-US" dirty="0" smtClean="0"/>
              <a:t> </a:t>
            </a:r>
            <a:r>
              <a:rPr lang="en-US" dirty="0" err="1" smtClean="0"/>
              <a:t>thuật</a:t>
            </a:r>
            <a:r>
              <a:rPr lang="en-US" dirty="0" smtClean="0"/>
              <a:t> </a:t>
            </a:r>
            <a:r>
              <a:rPr lang="en-US" dirty="0" err="1" smtClean="0"/>
              <a:t>áp</a:t>
            </a:r>
            <a:r>
              <a:rPr lang="en-US" dirty="0" smtClean="0"/>
              <a:t> </a:t>
            </a:r>
            <a:r>
              <a:rPr lang="en-US" dirty="0" err="1" smtClean="0"/>
              <a:t>dụng</a:t>
            </a:r>
            <a:r>
              <a:rPr lang="en-US" dirty="0" smtClean="0"/>
              <a:t> </a:t>
            </a:r>
            <a:r>
              <a:rPr lang="en-US" dirty="0" err="1" smtClean="0"/>
              <a:t>vào</a:t>
            </a:r>
            <a:r>
              <a:rPr lang="en-US" dirty="0" smtClean="0"/>
              <a:t> review</a:t>
            </a:r>
            <a:endParaRPr lang="en-US" b="1" dirty="0"/>
          </a:p>
        </p:txBody>
      </p:sp>
    </p:spTree>
    <p:extLst>
      <p:ext uri="{BB962C8B-B14F-4D97-AF65-F5344CB8AC3E}">
        <p14:creationId xmlns:p14="http://schemas.microsoft.com/office/powerpoint/2010/main" val="8197698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335009"/>
            <a:ext cx="8709637" cy="3616131"/>
          </a:xfrm>
        </p:spPr>
        <p:txBody>
          <a:bodyPr>
            <a:normAutofit fontScale="85000" lnSpcReduction="20000"/>
          </a:bodyPr>
          <a:lstStyle/>
          <a:p>
            <a:pPr marL="114300" indent="0">
              <a:buNone/>
            </a:pPr>
            <a:r>
              <a:rPr lang="vi-VN" sz="1900" b="1" dirty="0">
                <a:solidFill>
                  <a:schemeClr val="tx1">
                    <a:lumMod val="60000"/>
                    <a:lumOff val="40000"/>
                  </a:schemeClr>
                </a:solidFill>
              </a:rPr>
              <a:t>Checklist-based:</a:t>
            </a:r>
          </a:p>
          <a:p>
            <a:pPr>
              <a:lnSpc>
                <a:spcPct val="150000"/>
              </a:lnSpc>
            </a:pPr>
            <a:r>
              <a:rPr lang="vi-VN" dirty="0"/>
              <a:t>Kĩ thuật review checklist-based là một kĩ thuật review có phương pháp, tức là những người review sẽ xác định issue dựa trên checklist đã được phân bổ trong giai đoạn review initiation</a:t>
            </a:r>
          </a:p>
          <a:p>
            <a:pPr>
              <a:lnSpc>
                <a:spcPct val="150000"/>
              </a:lnSpc>
            </a:pPr>
            <a:r>
              <a:rPr lang="vi-VN" dirty="0"/>
              <a:t>Một checklist review bao gồm một tập các câu hỏi dựa trên defect tiềm tàng, thường xuất phát từ kinh nghiệm trước đó.</a:t>
            </a:r>
          </a:p>
          <a:p>
            <a:pPr>
              <a:lnSpc>
                <a:spcPct val="150000"/>
              </a:lnSpc>
            </a:pPr>
            <a:r>
              <a:rPr lang="vi-VN" dirty="0"/>
              <a:t>Checklist sẽ được cụ thể với từng loại work product được review và thường xuyên được maintain để cover các issue bị miss tại version trước.</a:t>
            </a:r>
          </a:p>
          <a:p>
            <a:pPr>
              <a:lnSpc>
                <a:spcPct val="150000"/>
              </a:lnSpc>
            </a:pPr>
            <a:r>
              <a:rPr lang="vi-VN" dirty="0"/>
              <a:t>Lợi ích chính của kĩ thuật checklist-based là khả năng coverage các loại defect điển hình 1 cách có hệ thống</a:t>
            </a:r>
          </a:p>
          <a:p>
            <a:pPr marL="114300" indent="0">
              <a:lnSpc>
                <a:spcPct val="160000"/>
              </a:lnSpc>
              <a:buNone/>
            </a:pPr>
            <a:endParaRPr lang="en-US" dirty="0"/>
          </a:p>
        </p:txBody>
      </p:sp>
      <p:sp>
        <p:nvSpPr>
          <p:cNvPr id="4" name="Google Shape;188;p33"/>
          <p:cNvSpPr txBox="1">
            <a:spLocks noGrp="1"/>
          </p:cNvSpPr>
          <p:nvPr>
            <p:ph type="title"/>
          </p:nvPr>
        </p:nvSpPr>
        <p:spPr>
          <a:prstGeom prst="rect">
            <a:avLst/>
          </a:prstGeom>
        </p:spPr>
        <p:txBody>
          <a:bodyPr spcFirstLastPara="1" wrap="square" lIns="91425" tIns="91425" rIns="91425" bIns="91425" anchor="b" anchorCtr="0">
            <a:normAutofit/>
          </a:bodyPr>
          <a:lstStyle/>
          <a:p>
            <a:r>
              <a:rPr lang="vi" dirty="0" smtClean="0"/>
              <a:t>3.2.</a:t>
            </a:r>
            <a:r>
              <a:rPr lang="en-US" dirty="0" smtClean="0"/>
              <a:t>5</a:t>
            </a:r>
            <a:r>
              <a:rPr lang="vi" dirty="0" smtClean="0"/>
              <a:t> Các</a:t>
            </a:r>
            <a:r>
              <a:rPr lang="en-US" dirty="0" smtClean="0"/>
              <a:t> </a:t>
            </a:r>
            <a:r>
              <a:rPr lang="en-US" dirty="0" err="1" smtClean="0"/>
              <a:t>kĩ</a:t>
            </a:r>
            <a:r>
              <a:rPr lang="en-US" dirty="0" smtClean="0"/>
              <a:t> </a:t>
            </a:r>
            <a:r>
              <a:rPr lang="en-US" dirty="0" err="1" smtClean="0"/>
              <a:t>thuật</a:t>
            </a:r>
            <a:r>
              <a:rPr lang="en-US" dirty="0" smtClean="0"/>
              <a:t> </a:t>
            </a:r>
            <a:r>
              <a:rPr lang="en-US" dirty="0" err="1" smtClean="0"/>
              <a:t>áp</a:t>
            </a:r>
            <a:r>
              <a:rPr lang="en-US" dirty="0" smtClean="0"/>
              <a:t> </a:t>
            </a:r>
            <a:r>
              <a:rPr lang="en-US" dirty="0" err="1" smtClean="0"/>
              <a:t>dụng</a:t>
            </a:r>
            <a:r>
              <a:rPr lang="en-US" dirty="0" smtClean="0"/>
              <a:t> </a:t>
            </a:r>
            <a:r>
              <a:rPr lang="en-US" dirty="0" err="1" smtClean="0"/>
              <a:t>vào</a:t>
            </a:r>
            <a:r>
              <a:rPr lang="en-US" dirty="0" smtClean="0"/>
              <a:t> review</a:t>
            </a:r>
            <a:endParaRPr lang="en-US" b="1" dirty="0"/>
          </a:p>
        </p:txBody>
      </p:sp>
    </p:spTree>
    <p:extLst>
      <p:ext uri="{BB962C8B-B14F-4D97-AF65-F5344CB8AC3E}">
        <p14:creationId xmlns:p14="http://schemas.microsoft.com/office/powerpoint/2010/main" val="268108370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335009"/>
            <a:ext cx="8709637" cy="3616131"/>
          </a:xfrm>
        </p:spPr>
        <p:txBody>
          <a:bodyPr>
            <a:normAutofit fontScale="92500" lnSpcReduction="20000"/>
          </a:bodyPr>
          <a:lstStyle/>
          <a:p>
            <a:pPr marL="114300" indent="0">
              <a:lnSpc>
                <a:spcPct val="150000"/>
              </a:lnSpc>
              <a:buNone/>
            </a:pPr>
            <a:r>
              <a:rPr lang="vi-VN" b="1" dirty="0">
                <a:solidFill>
                  <a:schemeClr val="tx1">
                    <a:lumMod val="60000"/>
                    <a:lumOff val="40000"/>
                  </a:schemeClr>
                </a:solidFill>
              </a:rPr>
              <a:t>Scenarios và dry runs:</a:t>
            </a:r>
          </a:p>
          <a:p>
            <a:pPr>
              <a:lnSpc>
                <a:spcPct val="150000"/>
              </a:lnSpc>
            </a:pPr>
            <a:r>
              <a:rPr lang="vi-VN" dirty="0"/>
              <a:t>Trong scenario-based review, người review được cung cấp bản hướng dẫn làm cách nào để đọc hiểu work product</a:t>
            </a:r>
          </a:p>
          <a:p>
            <a:pPr>
              <a:lnSpc>
                <a:spcPct val="150000"/>
              </a:lnSpc>
            </a:pPr>
            <a:r>
              <a:rPr lang="vi-VN" dirty="0"/>
              <a:t>Hướng tiếp cận của scenario-based là hướng dẫn người review thực hiện "dry runs" work product dựa trên mong muốn sử dụng work product (nếu work product là tài liệu có format phù hợp ví dụ như use case)</a:t>
            </a:r>
          </a:p>
          <a:p>
            <a:pPr>
              <a:lnSpc>
                <a:spcPct val="150000"/>
              </a:lnSpc>
            </a:pPr>
            <a:r>
              <a:rPr lang="vi-VN" dirty="0"/>
              <a:t>Phương pháp này cung cấp cho người review hướng dẫn tốt hơn về làm cách nào xác định các loại defect dễ dàng hơn so với phương pháp check list</a:t>
            </a:r>
          </a:p>
          <a:p>
            <a:pPr marL="114300" indent="0">
              <a:lnSpc>
                <a:spcPct val="160000"/>
              </a:lnSpc>
              <a:buNone/>
            </a:pPr>
            <a:endParaRPr lang="en-US" dirty="0"/>
          </a:p>
        </p:txBody>
      </p:sp>
      <p:sp>
        <p:nvSpPr>
          <p:cNvPr id="4" name="Google Shape;188;p33"/>
          <p:cNvSpPr txBox="1">
            <a:spLocks noGrp="1"/>
          </p:cNvSpPr>
          <p:nvPr>
            <p:ph type="title"/>
          </p:nvPr>
        </p:nvSpPr>
        <p:spPr>
          <a:prstGeom prst="rect">
            <a:avLst/>
          </a:prstGeom>
        </p:spPr>
        <p:txBody>
          <a:bodyPr spcFirstLastPara="1" wrap="square" lIns="91425" tIns="91425" rIns="91425" bIns="91425" anchor="b" anchorCtr="0">
            <a:normAutofit/>
          </a:bodyPr>
          <a:lstStyle/>
          <a:p>
            <a:r>
              <a:rPr lang="vi" dirty="0" smtClean="0"/>
              <a:t>3.2.</a:t>
            </a:r>
            <a:r>
              <a:rPr lang="en-US" dirty="0" smtClean="0"/>
              <a:t>5</a:t>
            </a:r>
            <a:r>
              <a:rPr lang="vi" dirty="0" smtClean="0"/>
              <a:t> Các</a:t>
            </a:r>
            <a:r>
              <a:rPr lang="en-US" dirty="0" smtClean="0"/>
              <a:t> </a:t>
            </a:r>
            <a:r>
              <a:rPr lang="en-US" dirty="0" err="1" smtClean="0"/>
              <a:t>kĩ</a:t>
            </a:r>
            <a:r>
              <a:rPr lang="en-US" dirty="0" smtClean="0"/>
              <a:t> </a:t>
            </a:r>
            <a:r>
              <a:rPr lang="en-US" dirty="0" err="1" smtClean="0"/>
              <a:t>thuật</a:t>
            </a:r>
            <a:r>
              <a:rPr lang="en-US" dirty="0" smtClean="0"/>
              <a:t> </a:t>
            </a:r>
            <a:r>
              <a:rPr lang="en-US" dirty="0" err="1" smtClean="0"/>
              <a:t>áp</a:t>
            </a:r>
            <a:r>
              <a:rPr lang="en-US" dirty="0" smtClean="0"/>
              <a:t> </a:t>
            </a:r>
            <a:r>
              <a:rPr lang="en-US" dirty="0" err="1" smtClean="0"/>
              <a:t>dụng</a:t>
            </a:r>
            <a:r>
              <a:rPr lang="en-US" dirty="0" smtClean="0"/>
              <a:t> </a:t>
            </a:r>
            <a:r>
              <a:rPr lang="en-US" dirty="0" err="1" smtClean="0"/>
              <a:t>vào</a:t>
            </a:r>
            <a:r>
              <a:rPr lang="en-US" dirty="0" smtClean="0"/>
              <a:t> review</a:t>
            </a:r>
            <a:endParaRPr lang="en-US" b="1" dirty="0"/>
          </a:p>
        </p:txBody>
      </p:sp>
    </p:spTree>
    <p:extLst>
      <p:ext uri="{BB962C8B-B14F-4D97-AF65-F5344CB8AC3E}">
        <p14:creationId xmlns:p14="http://schemas.microsoft.com/office/powerpoint/2010/main" val="22067876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335009"/>
            <a:ext cx="8709637" cy="3616131"/>
          </a:xfrm>
        </p:spPr>
        <p:txBody>
          <a:bodyPr>
            <a:normAutofit/>
          </a:bodyPr>
          <a:lstStyle/>
          <a:p>
            <a:pPr marL="114300" indent="0">
              <a:lnSpc>
                <a:spcPct val="150000"/>
              </a:lnSpc>
              <a:buNone/>
            </a:pPr>
            <a:r>
              <a:rPr lang="vi-VN" b="1" dirty="0">
                <a:solidFill>
                  <a:schemeClr val="tx1">
                    <a:lumMod val="60000"/>
                    <a:lumOff val="40000"/>
                  </a:schemeClr>
                </a:solidFill>
              </a:rPr>
              <a:t>Role-based:</a:t>
            </a:r>
          </a:p>
          <a:p>
            <a:pPr>
              <a:lnSpc>
                <a:spcPct val="150000"/>
              </a:lnSpc>
            </a:pPr>
            <a:r>
              <a:rPr lang="vi-VN" dirty="0"/>
              <a:t>Kĩ thuật này là người review đánh giá work product trên các quan điểm cá nhân của các bên liên quan trong dự án</a:t>
            </a:r>
          </a:p>
          <a:p>
            <a:pPr>
              <a:lnSpc>
                <a:spcPct val="150000"/>
              </a:lnSpc>
            </a:pPr>
            <a:r>
              <a:rPr lang="vi-VN" dirty="0"/>
              <a:t>Cụ thể các vai trò này có thể là end-user (có kinh nghiệm, không có kinh nghiệm) hoặc đóng các vai trò trong tổ chức như: user administrator, system administrator, performance tester</a:t>
            </a:r>
          </a:p>
          <a:p>
            <a:pPr marL="114300" indent="0">
              <a:lnSpc>
                <a:spcPct val="150000"/>
              </a:lnSpc>
              <a:buNone/>
            </a:pPr>
            <a:endParaRPr lang="en-US" dirty="0"/>
          </a:p>
        </p:txBody>
      </p:sp>
      <p:sp>
        <p:nvSpPr>
          <p:cNvPr id="4" name="Google Shape;188;p33"/>
          <p:cNvSpPr txBox="1">
            <a:spLocks noGrp="1"/>
          </p:cNvSpPr>
          <p:nvPr>
            <p:ph type="title"/>
          </p:nvPr>
        </p:nvSpPr>
        <p:spPr>
          <a:prstGeom prst="rect">
            <a:avLst/>
          </a:prstGeom>
        </p:spPr>
        <p:txBody>
          <a:bodyPr spcFirstLastPara="1" wrap="square" lIns="91425" tIns="91425" rIns="91425" bIns="91425" anchor="b" anchorCtr="0">
            <a:normAutofit/>
          </a:bodyPr>
          <a:lstStyle/>
          <a:p>
            <a:r>
              <a:rPr lang="vi" dirty="0" smtClean="0"/>
              <a:t>3.2.</a:t>
            </a:r>
            <a:r>
              <a:rPr lang="en-US" dirty="0" smtClean="0"/>
              <a:t>5</a:t>
            </a:r>
            <a:r>
              <a:rPr lang="vi" dirty="0" smtClean="0"/>
              <a:t> Các</a:t>
            </a:r>
            <a:r>
              <a:rPr lang="en-US" dirty="0" smtClean="0"/>
              <a:t> </a:t>
            </a:r>
            <a:r>
              <a:rPr lang="en-US" dirty="0" err="1" smtClean="0"/>
              <a:t>kĩ</a:t>
            </a:r>
            <a:r>
              <a:rPr lang="en-US" dirty="0" smtClean="0"/>
              <a:t> </a:t>
            </a:r>
            <a:r>
              <a:rPr lang="en-US" dirty="0" err="1" smtClean="0"/>
              <a:t>thuật</a:t>
            </a:r>
            <a:r>
              <a:rPr lang="en-US" dirty="0" smtClean="0"/>
              <a:t> </a:t>
            </a:r>
            <a:r>
              <a:rPr lang="en-US" dirty="0" err="1" smtClean="0"/>
              <a:t>áp</a:t>
            </a:r>
            <a:r>
              <a:rPr lang="en-US" dirty="0" smtClean="0"/>
              <a:t> </a:t>
            </a:r>
            <a:r>
              <a:rPr lang="en-US" dirty="0" err="1" smtClean="0"/>
              <a:t>dụng</a:t>
            </a:r>
            <a:r>
              <a:rPr lang="en-US" dirty="0" smtClean="0"/>
              <a:t> </a:t>
            </a:r>
            <a:r>
              <a:rPr lang="en-US" dirty="0" err="1" smtClean="0"/>
              <a:t>vào</a:t>
            </a:r>
            <a:r>
              <a:rPr lang="en-US" dirty="0" smtClean="0"/>
              <a:t> review</a:t>
            </a:r>
            <a:endParaRPr lang="en-US" b="1" dirty="0"/>
          </a:p>
        </p:txBody>
      </p:sp>
    </p:spTree>
    <p:extLst>
      <p:ext uri="{BB962C8B-B14F-4D97-AF65-F5344CB8AC3E}">
        <p14:creationId xmlns:p14="http://schemas.microsoft.com/office/powerpoint/2010/main" val="12221668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234648"/>
            <a:ext cx="8520600" cy="3674675"/>
          </a:xfrm>
        </p:spPr>
        <p:txBody>
          <a:bodyPr>
            <a:normAutofit fontScale="85000" lnSpcReduction="20000"/>
          </a:bodyPr>
          <a:lstStyle/>
          <a:p>
            <a:pPr marL="114300" indent="0">
              <a:lnSpc>
                <a:spcPct val="170000"/>
              </a:lnSpc>
              <a:buNone/>
            </a:pPr>
            <a:r>
              <a:rPr lang="vi-VN" sz="1900" b="1" dirty="0">
                <a:solidFill>
                  <a:schemeClr val="tx1">
                    <a:lumMod val="60000"/>
                    <a:lumOff val="40000"/>
                  </a:schemeClr>
                </a:solidFill>
              </a:rPr>
              <a:t>Perspective-based:</a:t>
            </a:r>
          </a:p>
          <a:p>
            <a:pPr>
              <a:lnSpc>
                <a:spcPct val="170000"/>
              </a:lnSpc>
            </a:pPr>
            <a:r>
              <a:rPr lang="vi-VN" dirty="0"/>
              <a:t>Cũng tương tự như role-based, kĩ thuật này người review đứng trên góc nhìn của các bên liên quan khác nhau trong quá trình review. Các bên liên quan điển hình bao gồm: end user, marketing, designer, tester hoặc operation.. Việc sử dụng góc nhìn của các bên liên quan khác nhau có lợi ích là cái nhìn sâu hơn trong quá trình review cá nhân và cũng có tác dụng giảm bớt các issue trùng lặp</a:t>
            </a:r>
          </a:p>
          <a:p>
            <a:pPr>
              <a:lnSpc>
                <a:spcPct val="170000"/>
              </a:lnSpc>
            </a:pPr>
            <a:r>
              <a:rPr lang="vi-VN" dirty="0"/>
              <a:t>Dựa vào các nghiên cứu đánh giá, kĩ thuật Perspective-based là có hiệu quả nhất trong việc review các tài liệu work product của hệ thống bao gồm cả yêu cầu và kĩ thuật</a:t>
            </a:r>
          </a:p>
          <a:p>
            <a:endParaRPr lang="en-US" dirty="0"/>
          </a:p>
        </p:txBody>
      </p:sp>
      <p:sp>
        <p:nvSpPr>
          <p:cNvPr id="4" name="Google Shape;188;p33"/>
          <p:cNvSpPr txBox="1">
            <a:spLocks noGrp="1"/>
          </p:cNvSpPr>
          <p:nvPr>
            <p:ph type="title"/>
          </p:nvPr>
        </p:nvSpPr>
        <p:spPr>
          <a:prstGeom prst="rect">
            <a:avLst/>
          </a:prstGeom>
        </p:spPr>
        <p:txBody>
          <a:bodyPr spcFirstLastPara="1" wrap="square" lIns="91425" tIns="91425" rIns="91425" bIns="91425" anchor="b" anchorCtr="0">
            <a:normAutofit/>
          </a:bodyPr>
          <a:lstStyle/>
          <a:p>
            <a:r>
              <a:rPr lang="vi" dirty="0" smtClean="0"/>
              <a:t>3.2.</a:t>
            </a:r>
            <a:r>
              <a:rPr lang="en-US" dirty="0" smtClean="0"/>
              <a:t>5</a:t>
            </a:r>
            <a:r>
              <a:rPr lang="vi" dirty="0" smtClean="0"/>
              <a:t> Các</a:t>
            </a:r>
            <a:r>
              <a:rPr lang="en-US" dirty="0" smtClean="0"/>
              <a:t> </a:t>
            </a:r>
            <a:r>
              <a:rPr lang="en-US" dirty="0" err="1" smtClean="0"/>
              <a:t>kĩ</a:t>
            </a:r>
            <a:r>
              <a:rPr lang="en-US" dirty="0" smtClean="0"/>
              <a:t> </a:t>
            </a:r>
            <a:r>
              <a:rPr lang="en-US" dirty="0" err="1" smtClean="0"/>
              <a:t>thuật</a:t>
            </a:r>
            <a:r>
              <a:rPr lang="en-US" dirty="0" smtClean="0"/>
              <a:t> </a:t>
            </a:r>
            <a:r>
              <a:rPr lang="en-US" dirty="0" err="1" smtClean="0"/>
              <a:t>áp</a:t>
            </a:r>
            <a:r>
              <a:rPr lang="en-US" dirty="0" smtClean="0"/>
              <a:t> </a:t>
            </a:r>
            <a:r>
              <a:rPr lang="en-US" dirty="0" err="1" smtClean="0"/>
              <a:t>dụng</a:t>
            </a:r>
            <a:r>
              <a:rPr lang="en-US" dirty="0" smtClean="0"/>
              <a:t> </a:t>
            </a:r>
            <a:r>
              <a:rPr lang="en-US" dirty="0" err="1" smtClean="0"/>
              <a:t>vào</a:t>
            </a:r>
            <a:r>
              <a:rPr lang="en-US" dirty="0" smtClean="0"/>
              <a:t> review</a:t>
            </a:r>
            <a:endParaRPr lang="en-US" b="1" dirty="0"/>
          </a:p>
        </p:txBody>
      </p:sp>
    </p:spTree>
    <p:extLst>
      <p:ext uri="{BB962C8B-B14F-4D97-AF65-F5344CB8AC3E}">
        <p14:creationId xmlns:p14="http://schemas.microsoft.com/office/powerpoint/2010/main" val="307436374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4"/>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smtClean="0"/>
              <a:t>3.2.</a:t>
            </a:r>
            <a:r>
              <a:rPr lang="en-US" dirty="0" smtClean="0"/>
              <a:t>6</a:t>
            </a:r>
            <a:r>
              <a:rPr lang="vi" dirty="0" smtClean="0"/>
              <a:t> </a:t>
            </a:r>
            <a:r>
              <a:rPr lang="vi" dirty="0"/>
              <a:t>Yếu tố thành công trong quá trình review</a:t>
            </a:r>
            <a:endParaRPr dirty="0"/>
          </a:p>
        </p:txBody>
      </p:sp>
      <p:sp>
        <p:nvSpPr>
          <p:cNvPr id="196" name="Google Shape;196;p34"/>
          <p:cNvSpPr txBox="1">
            <a:spLocks noGrp="1"/>
          </p:cNvSpPr>
          <p:nvPr>
            <p:ph type="body" idx="1"/>
          </p:nvPr>
        </p:nvSpPr>
        <p:spPr>
          <a:xfrm>
            <a:off x="311700" y="1240225"/>
            <a:ext cx="8520600" cy="3448500"/>
          </a:xfrm>
          <a:prstGeom prst="rect">
            <a:avLst/>
          </a:prstGeom>
        </p:spPr>
        <p:txBody>
          <a:bodyPr spcFirstLastPara="1" wrap="square" lIns="91425" tIns="91425" rIns="91425" bIns="91425" anchor="t" anchorCtr="0">
            <a:normAutofit/>
          </a:bodyPr>
          <a:lstStyle/>
          <a:p>
            <a:pPr marL="457200" marR="0" lvl="0" indent="-317500" algn="l" rtl="0">
              <a:lnSpc>
                <a:spcPct val="115000"/>
              </a:lnSpc>
              <a:spcBef>
                <a:spcPts val="1000"/>
              </a:spcBef>
              <a:spcAft>
                <a:spcPts val="0"/>
              </a:spcAft>
              <a:buClr>
                <a:srgbClr val="374151"/>
              </a:buClr>
              <a:buSzPts val="1400"/>
              <a:buChar char="●"/>
            </a:pPr>
            <a:r>
              <a:rPr lang="vi">
                <a:solidFill>
                  <a:srgbClr val="374151"/>
                </a:solidFill>
              </a:rPr>
              <a:t>Xác định mục tiêu rõ ràng và tiêu chí thoát (exit criteria) có thể đo lường được.</a:t>
            </a:r>
            <a:endParaRPr dirty="0">
              <a:solidFill>
                <a:srgbClr val="374151"/>
              </a:solidFill>
            </a:endParaRPr>
          </a:p>
          <a:p>
            <a:pPr marL="457200" marR="0" lvl="0" indent="-317500" algn="l" rtl="0">
              <a:lnSpc>
                <a:spcPct val="115000"/>
              </a:lnSpc>
              <a:spcBef>
                <a:spcPts val="1200"/>
              </a:spcBef>
              <a:spcAft>
                <a:spcPts val="0"/>
              </a:spcAft>
              <a:buClr>
                <a:srgbClr val="374151"/>
              </a:buClr>
              <a:buSzPts val="1400"/>
              <a:buChar char="●"/>
            </a:pPr>
            <a:r>
              <a:rPr lang="vi">
                <a:solidFill>
                  <a:srgbClr val="374151"/>
                </a:solidFill>
              </a:rPr>
              <a:t>Lựa chọn hình thức review phù hợp để đạt được mục tiêu đề ra và phù hợp với loại sản phẩm công việc, người tham gia review.</a:t>
            </a:r>
            <a:endParaRPr dirty="0">
              <a:solidFill>
                <a:srgbClr val="374151"/>
              </a:solidFill>
            </a:endParaRPr>
          </a:p>
          <a:p>
            <a:pPr marL="457200" marR="0" lvl="0" indent="-317500" algn="l" rtl="0">
              <a:lnSpc>
                <a:spcPct val="115000"/>
              </a:lnSpc>
              <a:spcBef>
                <a:spcPts val="1200"/>
              </a:spcBef>
              <a:spcAft>
                <a:spcPts val="0"/>
              </a:spcAft>
              <a:buClr>
                <a:srgbClr val="374151"/>
              </a:buClr>
              <a:buSzPts val="1400"/>
              <a:buChar char="●"/>
            </a:pPr>
            <a:r>
              <a:rPr lang="vi">
                <a:solidFill>
                  <a:srgbClr val="374151"/>
                </a:solidFill>
              </a:rPr>
              <a:t>Cung cấp đủ thời gian cho người tham gia chuẩn bị cho việc review</a:t>
            </a:r>
            <a:endParaRPr dirty="0">
              <a:solidFill>
                <a:srgbClr val="374151"/>
              </a:solidFill>
            </a:endParaRPr>
          </a:p>
          <a:p>
            <a:pPr marL="0" lvl="0" indent="0" algn="l" rtl="0">
              <a:spcBef>
                <a:spcPts val="1200"/>
              </a:spcBef>
              <a:spcAft>
                <a:spcPts val="1200"/>
              </a:spcAft>
              <a:buNone/>
            </a:pPr>
            <a:endParaRP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17181" y="1335010"/>
            <a:ext cx="8709637" cy="3099900"/>
          </a:xfrm>
        </p:spPr>
        <p:txBody>
          <a:bodyPr>
            <a:normAutofit/>
          </a:bodyPr>
          <a:lstStyle/>
          <a:p>
            <a:pPr>
              <a:lnSpc>
                <a:spcPct val="150000"/>
              </a:lnSpc>
            </a:pPr>
            <a:r>
              <a:rPr lang="vi-VN" dirty="0"/>
              <a:t>Nhân tố thành công về mặt tổ chức bao gồm:</a:t>
            </a:r>
          </a:p>
          <a:p>
            <a:pPr lvl="1">
              <a:lnSpc>
                <a:spcPct val="150000"/>
              </a:lnSpc>
            </a:pPr>
            <a:r>
              <a:rPr lang="vi-VN" dirty="0"/>
              <a:t>Mỗi cuộc review phải được định nghĩa rõ ràng, đưa ra kế hoạch review, những người tham gia review và tiêu chí đo lường đầu ra để kết thúc quá trình review</a:t>
            </a:r>
          </a:p>
          <a:p>
            <a:pPr lvl="1">
              <a:lnSpc>
                <a:spcPct val="150000"/>
              </a:lnSpc>
            </a:pPr>
            <a:r>
              <a:rPr lang="vi-VN" dirty="0"/>
              <a:t>Các loại review được áp dụng cần phù hợp để đạt được mục tiêu và phù hợp với sản phẩm phần mềm và những người tham gia review</a:t>
            </a:r>
          </a:p>
          <a:p>
            <a:pPr lvl="1">
              <a:lnSpc>
                <a:spcPct val="150000"/>
              </a:lnSpc>
            </a:pPr>
            <a:r>
              <a:rPr lang="vi-VN" dirty="0"/>
              <a:t>Người tham dự cần có thời gian đầy đủ để chuẩn bị</a:t>
            </a:r>
          </a:p>
          <a:p>
            <a:pPr lvl="1">
              <a:lnSpc>
                <a:spcPct val="150000"/>
              </a:lnSpc>
            </a:pPr>
            <a:r>
              <a:rPr lang="vi-VN" dirty="0"/>
              <a:t>Việc review được lập lịch với thông báo đầy đủ tới những người tham gia</a:t>
            </a:r>
          </a:p>
          <a:p>
            <a:pPr marL="114300" indent="0">
              <a:lnSpc>
                <a:spcPct val="150000"/>
              </a:lnSpc>
              <a:buNone/>
            </a:pPr>
            <a:endParaRPr lang="en-US" dirty="0"/>
          </a:p>
        </p:txBody>
      </p:sp>
      <p:sp>
        <p:nvSpPr>
          <p:cNvPr id="4" name="Google Shape;195;p34"/>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smtClean="0"/>
              <a:t>3.2.</a:t>
            </a:r>
            <a:r>
              <a:rPr lang="en-US" dirty="0" smtClean="0"/>
              <a:t>6</a:t>
            </a:r>
            <a:r>
              <a:rPr lang="vi" dirty="0" smtClean="0"/>
              <a:t> </a:t>
            </a:r>
            <a:r>
              <a:rPr lang="vi" dirty="0"/>
              <a:t>Yếu tố thành công trong quá trình review</a:t>
            </a:r>
            <a:endParaRPr dirty="0"/>
          </a:p>
        </p:txBody>
      </p:sp>
    </p:spTree>
    <p:extLst>
      <p:ext uri="{BB962C8B-B14F-4D97-AF65-F5344CB8AC3E}">
        <p14:creationId xmlns:p14="http://schemas.microsoft.com/office/powerpoint/2010/main" val="13072879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1700" y="1357313"/>
            <a:ext cx="8520600" cy="3099900"/>
          </a:xfrm>
        </p:spPr>
        <p:txBody>
          <a:bodyPr/>
          <a:lstStyle/>
          <a:p>
            <a:r>
              <a:rPr lang="vi-VN" dirty="0"/>
              <a:t>Nhân tố về con người liên quan đến việc review:</a:t>
            </a:r>
          </a:p>
          <a:p>
            <a:pPr lvl="1"/>
            <a:r>
              <a:rPr lang="vi-VN" dirty="0"/>
              <a:t>Mời đúng những người cần tham gia review để đạt được mục đích review cụ thể ví dụ như mời những người có kĩ năng hoặc có góc nhìn khác nhau</a:t>
            </a:r>
          </a:p>
          <a:p>
            <a:pPr lvl="1"/>
            <a:r>
              <a:rPr lang="vi-VN" dirty="0"/>
              <a:t>Tester là người rất có giá trị khi tham gia vào review và cũng để học luôn về work product, cái mà cần chuẩn bị tốt cho việc test hiệu quả và chuẩn bị cho việc test sớm</a:t>
            </a:r>
          </a:p>
          <a:p>
            <a:pPr lvl="1"/>
            <a:r>
              <a:rPr lang="vi-VN" dirty="0"/>
              <a:t>Buổi họp review cần được quản lý tốt để cho người tham dự thấy được giá trị của thời gian họ bỏ ra</a:t>
            </a:r>
          </a:p>
          <a:p>
            <a:pPr marL="114300" indent="0">
              <a:buNone/>
            </a:pPr>
            <a:endParaRPr lang="en-US" dirty="0"/>
          </a:p>
        </p:txBody>
      </p:sp>
      <p:sp>
        <p:nvSpPr>
          <p:cNvPr id="4" name="Google Shape;195;p34"/>
          <p:cNvSpPr txBox="1">
            <a:spLocks noGrp="1"/>
          </p:cNvSpPr>
          <p:nvPr>
            <p:ph type="title"/>
          </p:nvPr>
        </p:nvSpPr>
        <p:spPr>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dirty="0" smtClean="0"/>
              <a:t>3.2.</a:t>
            </a:r>
            <a:r>
              <a:rPr lang="en-US" dirty="0" smtClean="0"/>
              <a:t>6</a:t>
            </a:r>
            <a:r>
              <a:rPr lang="vi" dirty="0" smtClean="0"/>
              <a:t> </a:t>
            </a:r>
            <a:r>
              <a:rPr lang="vi" dirty="0"/>
              <a:t>Yếu tố thành công trong quá trình review</a:t>
            </a:r>
            <a:endParaRPr dirty="0"/>
          </a:p>
        </p:txBody>
      </p:sp>
    </p:spTree>
    <p:extLst>
      <p:ext uri="{BB962C8B-B14F-4D97-AF65-F5344CB8AC3E}">
        <p14:creationId xmlns:p14="http://schemas.microsoft.com/office/powerpoint/2010/main" val="165183352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5"/>
          <p:cNvSpPr txBox="1">
            <a:spLocks noGrp="1"/>
          </p:cNvSpPr>
          <p:nvPr>
            <p:ph type="title"/>
          </p:nvPr>
        </p:nvSpPr>
        <p:spPr>
          <a:xfrm>
            <a:off x="311700" y="372500"/>
            <a:ext cx="8520600" cy="733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vi"/>
              <a:t>3.3 Quiz</a:t>
            </a:r>
            <a:endParaRPr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469</TotalTime>
  <Words>3379</Words>
  <Application>Microsoft Office PowerPoint</Application>
  <PresentationFormat>On-screen Show (16:9)</PresentationFormat>
  <Paragraphs>209</Paragraphs>
  <Slides>37</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Oswald</vt:lpstr>
      <vt:lpstr>Source Code Pro</vt:lpstr>
      <vt:lpstr>Modern Writer</vt:lpstr>
      <vt:lpstr>Kiểm thử tĩnh</vt:lpstr>
      <vt:lpstr>Giới thiệu</vt:lpstr>
      <vt:lpstr>Nội dung</vt:lpstr>
      <vt:lpstr>3.1 Kiểm thử tĩnh</vt:lpstr>
      <vt:lpstr>3.1.1 Kiểm thử tĩnh là gì?</vt:lpstr>
      <vt:lpstr>3.1.1 Kiểm thử tĩnh là gì?</vt:lpstr>
      <vt:lpstr>3.1.2 Giá trị của kiểm thử tĩnh</vt:lpstr>
      <vt:lpstr>3.1.2 Giá trị của kiểm thử tĩnh</vt:lpstr>
      <vt:lpstr>3.1.3 Sự khác nhau giữa kiểm thử tĩnh và kiểm thử động</vt:lpstr>
      <vt:lpstr>3.1.3 Sự khác nhau giữa kiểm thử tĩnh và kiểm thử động</vt:lpstr>
      <vt:lpstr>3.1.3 Sự khác nhau giữa kiểm thử tĩnh và kiểm thử động</vt:lpstr>
      <vt:lpstr>Nội dung</vt:lpstr>
      <vt:lpstr>3.2 Quy trình review</vt:lpstr>
      <vt:lpstr>3.2.1 Các hoạt động trong quy trình review</vt:lpstr>
      <vt:lpstr>3.2.1 Các hoạt động trong quy trình review</vt:lpstr>
      <vt:lpstr>3.2.2 Các hoạt động trong quy trình review</vt:lpstr>
      <vt:lpstr>3.2.2 Các hoạt động trong quy trình review</vt:lpstr>
      <vt:lpstr>3.2.2 Các hoạt động trong quy trình review</vt:lpstr>
      <vt:lpstr>3.2.2 Các hoạt động trong quy trình review</vt:lpstr>
      <vt:lpstr>3.2.3 Vai trò và trách nhiệm trong review</vt:lpstr>
      <vt:lpstr>3.2.3 Vai trò và trách nhiệm trong review</vt:lpstr>
      <vt:lpstr>3.2.3 Vai trò và trách nhiệm trong review</vt:lpstr>
      <vt:lpstr>3.2.3 Vai trò và trách nhiệm trong review</vt:lpstr>
      <vt:lpstr>3.2.4 Các loại review</vt:lpstr>
      <vt:lpstr>3.2.4 Các loại review</vt:lpstr>
      <vt:lpstr>3.2.4 Các loại review</vt:lpstr>
      <vt:lpstr>3.2.4 Các loại review</vt:lpstr>
      <vt:lpstr>3.2.4 Các loại review</vt:lpstr>
      <vt:lpstr>3.2.5 Các kĩ thuật áp dụng vào review</vt:lpstr>
      <vt:lpstr>3.2.5 Các kĩ thuật áp dụng vào review</vt:lpstr>
      <vt:lpstr>3.2.5 Các kĩ thuật áp dụng vào review</vt:lpstr>
      <vt:lpstr>3.2.5 Các kĩ thuật áp dụng vào review</vt:lpstr>
      <vt:lpstr>3.2.5 Các kĩ thuật áp dụng vào review</vt:lpstr>
      <vt:lpstr>3.2.6 Yếu tố thành công trong quá trình review</vt:lpstr>
      <vt:lpstr>3.2.6 Yếu tố thành công trong quá trình review</vt:lpstr>
      <vt:lpstr>3.2.6 Yếu tố thành công trong quá trình review</vt:lpstr>
      <vt:lpstr>3.3 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Kiểm thử tĩnh</dc:title>
  <cp:lastModifiedBy>BON BEN</cp:lastModifiedBy>
  <cp:revision>24</cp:revision>
  <dcterms:modified xsi:type="dcterms:W3CDTF">2024-03-07T10:47:58Z</dcterms:modified>
</cp:coreProperties>
</file>