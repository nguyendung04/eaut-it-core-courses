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23"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Lst>
  <p:sldSz cx="9144000" cy="5143500" type="screen16x9"/>
  <p:notesSz cx="6858000" cy="9144000"/>
  <p:embeddedFontLst>
    <p:embeddedFont>
      <p:font typeface="Tahoma" panose="020B0604030504040204" pitchFamily="34" charset="0"/>
      <p:regular r:id="rId71"/>
      <p:bold r:id="rId72"/>
    </p:embeddedFont>
    <p:embeddedFont>
      <p:font typeface="Oswald" panose="020B0604020202020204" charset="0"/>
      <p:regular r:id="rId73"/>
      <p:bold r:id="rId74"/>
    </p:embeddedFont>
    <p:embeddedFont>
      <p:font typeface="Constantia" panose="02030602050306030303" pitchFamily="18" charset="0"/>
      <p:regular r:id="rId75"/>
      <p:bold r:id="rId76"/>
      <p:italic r:id="rId77"/>
      <p:boldItalic r:id="rId78"/>
    </p:embeddedFont>
    <p:embeddedFont>
      <p:font typeface="Source Code Pro" panose="020B0604020202020204" charset="0"/>
      <p:regular r:id="rId79"/>
      <p:bold r:id="rId80"/>
      <p:italic r:id="rId81"/>
      <p:boldItalic r:id="rId82"/>
    </p:embeddedFont>
    <p:embeddedFont>
      <p:font typeface="Roboto" panose="020B0604020202020204"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FB9781-14EE-480A-A12A-6B5F160EF31A}">
  <a:tblStyle styleId="{76FB9781-14EE-480A-A12A-6B5F160EF31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fill>
          <a:solidFill>
            <a:srgbClr val="FFFFFF"/>
          </a:solidFill>
        </a:fill>
      </a:tcStyle>
    </a:band2H>
    <a:band1V>
      <a:tcTxStyle b="off" i="off"/>
      <a:tcStyle>
        <a:tcBdr/>
      </a:tcStyle>
    </a:band1V>
    <a:band2V>
      <a:tcTxStyle b="off" i="off"/>
      <a:tcStyle>
        <a:tcBdr/>
      </a:tcStyle>
    </a:band2V>
    <a:lastCol>
      <a:tcTxStyle b="off" i="off"/>
      <a:tcStyle>
        <a:tcBdr/>
      </a:tcStyle>
    </a:lastCol>
    <a:firstCo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firstCol>
    <a:lastRow>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lastRow>
    <a:seCell>
      <a:tcTxStyle b="off" i="off"/>
      <a:tcStyle>
        <a:tcBdr/>
      </a:tcStyle>
    </a:seCell>
    <a:swCell>
      <a:tcTxStyle b="off" i="off"/>
      <a:tcStyle>
        <a:tcBdr/>
      </a:tcStyle>
    </a:swCell>
    <a:firstRow>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firstRow>
    <a:neCell>
      <a:tcTxStyle b="off" i="off"/>
      <a:tcStyle>
        <a:tcBdr/>
      </a:tcStyle>
    </a:neCell>
    <a:nwCell>
      <a:tcTxStyle b="off" i="off"/>
      <a:tcStyle>
        <a:tcBdr/>
      </a:tcStyle>
    </a:nwCell>
  </a:tblStyle>
  <a:tblStyle styleId="{7AEF6C22-7F40-453C-A713-85F41652D8F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88" autoAdjust="0"/>
    <p:restoredTop sz="94660"/>
  </p:normalViewPr>
  <p:slideViewPr>
    <p:cSldViewPr snapToGrid="0">
      <p:cViewPr varScale="1">
        <p:scale>
          <a:sx n="86" d="100"/>
          <a:sy n="86" d="100"/>
        </p:scale>
        <p:origin x="1056" y="90"/>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4.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font" Target="fonts/font13.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12.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63950ea48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63950ea48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63950ea482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63950ea482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63950ea482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63950ea482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63950ea48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63950ea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6261e3aa37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6261e3aa3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6261e3aa37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6261e3aa3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6261e3aa37_1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6261e3aa37_1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6261e3aa37_1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6261e3aa37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63950ea482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63950ea482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6261e3aa37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6261e3aa37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6261e3aa37_1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6261e3aa37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6261e3aa37_2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6261e3aa37_2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6261e3aa37_2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6261e3aa37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6261e3aa37_2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6261e3aa37_2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6261e3aa37_2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6261e3aa37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6261e3aa37_2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6261e3aa37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6261e3aa37_2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6261e3aa37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6261e3aa37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6261e3aa37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a6e8ada74f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a6e8ada7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6261e3aa37_2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6261e3aa37_2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6261e3aa37_2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6261e3aa37_2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6261e3aa37_2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6261e3aa37_2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6261e3aa37_2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6261e3aa37_2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6261e3aa37_2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6261e3aa37_2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6261e3aa37_2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6261e3aa37_2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6261e3aa37_1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6261e3aa37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9fc5280aae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9fc5280aae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9fc5280aae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9fc5280aae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9fc5280aae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9fc5280aae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9fc5280aae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9fc5280aae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9fc5280aae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9fc5280aae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9fc5280aae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9fc5280aae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9fc5280aae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9fc5280aae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9fc5280aae_0_1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29fc5280aae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9fc5280aae_0_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9fc5280aae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9fc5280aae_0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29fc5280aae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9fc5280aae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9fc5280aae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6261e3aa37_1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6261e3aa37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9fc5280aae_0_3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9fc5280aae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29fc5280aae_0_4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29fc5280aae_0_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a2e6cb16e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2a2e6cb16e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9fc5280aae_0_4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9fc5280aae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a2e6cb16e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a2e6cb16e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63950ea482_0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63950ea482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9fc5280aae_0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9fc5280aae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9fc5280aae_0_2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9fc5280aae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9fc5280aae_0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29fc5280aae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9fc5280aae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9fc5280aae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9fc5280aae_0_2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29fc5280aae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9fc5280aae_0_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9fc5280aae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29fc5280aae_0_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29fc5280aae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9fc5280aae_0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9fc5280aae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9fc5280aae_0_2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29fc5280aae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9fc5280aae_0_3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29fc5280aae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63950ea482_0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63950ea482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9fc5280aae_0_3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9fc5280aae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29fc5280aae_0_3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29fc5280aae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29fc5280aae_0_3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9fc5280aae_0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9fc5280aae_0_3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9fc5280aae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9fc5280aae_0_3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29fc5280aae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9fc5280aae_0_3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29fc5280aae_0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9fc5280aae_0_3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9fc5280aae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29fc5280aae_0_3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29fc5280aae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9fc5280aae_0_3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29fc5280aae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9fc5280aae_0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29fc5280aae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263950ea482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263950ea482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5" y="0"/>
            <a:ext cx="9144000" cy="312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411175" y="644300"/>
            <a:ext cx="8282400" cy="21090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endParaRPr/>
          </a:p>
        </p:txBody>
      </p:sp>
      <p:sp>
        <p:nvSpPr>
          <p:cNvPr id="13" name="Google Shape;13;p2"/>
          <p:cNvSpPr txBox="1">
            <a:spLocks noGrp="1"/>
          </p:cNvSpPr>
          <p:nvPr>
            <p:ph type="subTitle" idx="1"/>
          </p:nvPr>
        </p:nvSpPr>
        <p:spPr>
          <a:xfrm>
            <a:off x="411175" y="3398250"/>
            <a:ext cx="8282400" cy="12606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title"/>
          </p:nvPr>
        </p:nvSpPr>
        <p:spPr>
          <a:xfrm>
            <a:off x="430800" y="1889700"/>
            <a:ext cx="8282400" cy="15165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1" name="Google Shape;21;p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6" name="Google Shape;26;p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7" name="Google Shape;27;p5"/>
          <p:cNvSpPr txBox="1">
            <a:spLocks noGrp="1"/>
          </p:cNvSpPr>
          <p:nvPr>
            <p:ph type="body" idx="1"/>
          </p:nvPr>
        </p:nvSpPr>
        <p:spPr>
          <a:xfrm>
            <a:off x="311700" y="1468825"/>
            <a:ext cx="3999900" cy="3099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468825"/>
            <a:ext cx="3999900" cy="3099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w="19050" cap="flat" cmpd="sng">
            <a:solidFill>
              <a:schemeClr val="dk2"/>
            </a:solidFill>
            <a:prstDash val="lgDash"/>
            <a:round/>
            <a:headEnd type="none" w="sm" len="sm"/>
            <a:tailEnd type="none" w="sm" len="sm"/>
          </a:ln>
        </p:spPr>
      </p:cxnSp>
      <p:sp>
        <p:nvSpPr>
          <p:cNvPr id="35" name="Google Shape;35;p7"/>
          <p:cNvSpPr txBox="1">
            <a:spLocks noGrp="1"/>
          </p:cNvSpPr>
          <p:nvPr>
            <p:ph type="title"/>
          </p:nvPr>
        </p:nvSpPr>
        <p:spPr>
          <a:xfrm>
            <a:off x="311700" y="6318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6" name="Google Shape;36;p7"/>
          <p:cNvSpPr txBox="1">
            <a:spLocks noGrp="1"/>
          </p:cNvSpPr>
          <p:nvPr>
            <p:ph type="body" idx="1"/>
          </p:nvPr>
        </p:nvSpPr>
        <p:spPr>
          <a:xfrm>
            <a:off x="311700" y="1618204"/>
            <a:ext cx="2808000" cy="29508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490250" y="528900"/>
            <a:ext cx="5678100" cy="40857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577200" cy="0"/>
          </a:xfrm>
          <a:prstGeom prst="straightConnector1">
            <a:avLst/>
          </a:prstGeom>
          <a:noFill/>
          <a:ln w="19050" cap="flat" cmpd="sng">
            <a:solidFill>
              <a:schemeClr val="dk1"/>
            </a:solidFill>
            <a:prstDash val="lgDash"/>
            <a:round/>
            <a:headEnd type="none" w="sm" len="sm"/>
            <a:tailEnd type="none" w="sm" len="sm"/>
          </a:ln>
        </p:spPr>
      </p:cxnSp>
      <p:sp>
        <p:nvSpPr>
          <p:cNvPr id="44" name="Google Shape;44;p9"/>
          <p:cNvSpPr txBox="1">
            <a:spLocks noGrp="1"/>
          </p:cNvSpPr>
          <p:nvPr>
            <p:ph type="title"/>
          </p:nvPr>
        </p:nvSpPr>
        <p:spPr>
          <a:xfrm>
            <a:off x="265500" y="1078750"/>
            <a:ext cx="4045200" cy="1789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a:endParaRPr/>
          </a:p>
        </p:txBody>
      </p:sp>
      <p:sp>
        <p:nvSpPr>
          <p:cNvPr id="45" name="Google Shape;45;p9"/>
          <p:cNvSpPr txBox="1">
            <a:spLocks noGrp="1"/>
          </p:cNvSpPr>
          <p:nvPr>
            <p:ph type="subTitle" idx="1"/>
          </p:nvPr>
        </p:nvSpPr>
        <p:spPr>
          <a:xfrm>
            <a:off x="265500" y="29214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Font typeface="Oswald"/>
              <a:buNone/>
              <a:defRPr sz="2100">
                <a:latin typeface="Oswald"/>
                <a:ea typeface="Oswald"/>
                <a:cs typeface="Oswald"/>
                <a:sym typeface="Oswald"/>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w="28575" cap="flat" cmpd="sng">
            <a:solidFill>
              <a:schemeClr val="dk1"/>
            </a:solidFill>
            <a:prstDash val="lgDash"/>
            <a:round/>
            <a:headEnd type="none" w="sm" len="sm"/>
            <a:tailEnd type="none" w="sm" len="sm"/>
          </a:ln>
        </p:spPr>
      </p:cxnSp>
      <p:sp>
        <p:nvSpPr>
          <p:cNvPr id="53" name="Google Shape;5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dern-writer">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vi"/>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411175" y="644300"/>
            <a:ext cx="8282400" cy="1401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vi"/>
              <a:t>Phân tích và Thiết kế Test</a:t>
            </a:r>
            <a:endParaRPr/>
          </a:p>
        </p:txBody>
      </p:sp>
      <p:sp>
        <p:nvSpPr>
          <p:cNvPr id="63" name="Google Shape;63;p13"/>
          <p:cNvSpPr txBox="1">
            <a:spLocks noGrp="1"/>
          </p:cNvSpPr>
          <p:nvPr>
            <p:ph type="subTitle" idx="1"/>
          </p:nvPr>
        </p:nvSpPr>
        <p:spPr>
          <a:xfrm>
            <a:off x="411175" y="3398250"/>
            <a:ext cx="8282400" cy="1260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Giới thiệu</a:t>
            </a:r>
            <a:endParaRPr/>
          </a:p>
        </p:txBody>
      </p:sp>
      <p:pic>
        <p:nvPicPr>
          <p:cNvPr id="69" name="Google Shape;69;p14"/>
          <p:cNvPicPr preferRelativeResize="0"/>
          <p:nvPr/>
        </p:nvPicPr>
        <p:blipFill>
          <a:blip r:embed="rId3">
            <a:alphaModFix/>
          </a:blip>
          <a:stretch>
            <a:fillRect/>
          </a:stretch>
        </p:blipFill>
        <p:spPr>
          <a:xfrm>
            <a:off x="1468175" y="975625"/>
            <a:ext cx="7298000" cy="4108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a:p>
        </p:txBody>
      </p:sp>
      <p:sp>
        <p:nvSpPr>
          <p:cNvPr id="75" name="Google Shape;75;p15"/>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t>4.1 Tổng quan về kỹ thuật thiết kế test</a:t>
            </a:r>
            <a:endParaRPr/>
          </a:p>
          <a:p>
            <a:pPr marL="0" lvl="0" indent="0" algn="l" rtl="0">
              <a:spcBef>
                <a:spcPts val="1200"/>
              </a:spcBef>
              <a:spcAft>
                <a:spcPts val="0"/>
              </a:spcAft>
              <a:buNone/>
            </a:pPr>
            <a:r>
              <a:rPr lang="vi"/>
              <a:t>4.2 Kỹ thuật kiểm thử hộp đen</a:t>
            </a:r>
            <a:endParaRPr/>
          </a:p>
          <a:p>
            <a:pPr marL="0" lvl="0" indent="0" algn="l" rtl="0">
              <a:spcBef>
                <a:spcPts val="1200"/>
              </a:spcBef>
              <a:spcAft>
                <a:spcPts val="0"/>
              </a:spcAft>
              <a:buNone/>
            </a:pPr>
            <a:r>
              <a:rPr lang="vi"/>
              <a:t>4.3 Kỹ thuật kiểm thử hộp trắng</a:t>
            </a:r>
            <a:endParaRPr/>
          </a:p>
          <a:p>
            <a:pPr marL="0" lvl="0" indent="0" algn="l" rtl="0">
              <a:spcBef>
                <a:spcPts val="1200"/>
              </a:spcBef>
              <a:spcAft>
                <a:spcPts val="1200"/>
              </a:spcAft>
              <a:buNone/>
            </a:pPr>
            <a:r>
              <a:rPr lang="vi"/>
              <a:t>4.4 Kỹ thuật kiểm thử dựa trên kinh nghiệm</a:t>
            </a: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a:p>
        </p:txBody>
      </p:sp>
      <p:sp>
        <p:nvSpPr>
          <p:cNvPr id="81" name="Google Shape;81;p16"/>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rgbClr val="000000"/>
                </a:solidFill>
                <a:highlight>
                  <a:srgbClr val="FF706B"/>
                </a:highlight>
              </a:rPr>
              <a:t>4.1 Tổng quan về kỹ thuật thiết kế test</a:t>
            </a:r>
            <a:endParaRPr/>
          </a:p>
          <a:p>
            <a:pPr marL="0" lvl="0" indent="0" algn="l" rtl="0">
              <a:spcBef>
                <a:spcPts val="1200"/>
              </a:spcBef>
              <a:spcAft>
                <a:spcPts val="0"/>
              </a:spcAft>
              <a:buNone/>
            </a:pPr>
            <a:r>
              <a:rPr lang="vi"/>
              <a:t>4.2 Kỹ thuật kiểm thử hộp đen</a:t>
            </a:r>
            <a:endParaRPr/>
          </a:p>
          <a:p>
            <a:pPr marL="0" lvl="0" indent="0" algn="l" rtl="0">
              <a:spcBef>
                <a:spcPts val="1200"/>
              </a:spcBef>
              <a:spcAft>
                <a:spcPts val="0"/>
              </a:spcAft>
              <a:buNone/>
            </a:pPr>
            <a:r>
              <a:rPr lang="vi"/>
              <a:t>4.3 Kỹ thuật kiểm thử hộp trắng</a:t>
            </a:r>
            <a:endParaRPr/>
          </a:p>
          <a:p>
            <a:pPr marL="0" lvl="0" indent="0" algn="l" rtl="0">
              <a:spcBef>
                <a:spcPts val="1200"/>
              </a:spcBef>
              <a:spcAft>
                <a:spcPts val="1200"/>
              </a:spcAft>
              <a:buNone/>
            </a:pPr>
            <a:r>
              <a:rPr lang="vi"/>
              <a:t>4.4 Kỹ thuật kiểm thử dựa trên kinh nghiệm</a:t>
            </a: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4.1 Tổng quan về kỹ thuật thiết kế test</a:t>
            </a:r>
            <a:endParaRPr/>
          </a:p>
        </p:txBody>
      </p:sp>
      <p:sp>
        <p:nvSpPr>
          <p:cNvPr id="87" name="Google Shape;87;p17"/>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sz="2000" b="1">
                <a:solidFill>
                  <a:srgbClr val="FF00FF"/>
                </a:solidFill>
              </a:rPr>
              <a:t>Mục đích</a:t>
            </a:r>
            <a:r>
              <a:rPr lang="vi">
                <a:solidFill>
                  <a:schemeClr val="dk1"/>
                </a:solidFill>
              </a:rPr>
              <a:t> </a:t>
            </a:r>
            <a:r>
              <a:rPr lang="vi"/>
              <a:t>Kỹ thuật thiết kế test giúp tester </a:t>
            </a:r>
            <a:endParaRPr/>
          </a:p>
          <a:p>
            <a:pPr marL="457200" lvl="0" indent="-311150" algn="l" rtl="0">
              <a:spcBef>
                <a:spcPts val="1200"/>
              </a:spcBef>
              <a:spcAft>
                <a:spcPts val="0"/>
              </a:spcAft>
              <a:buSzPts val="1300"/>
              <a:buChar char="●"/>
            </a:pPr>
            <a:r>
              <a:rPr lang="vi"/>
              <a:t>Phân tích (what to test) và thiết kế test (how to test)</a:t>
            </a:r>
            <a:endParaRPr/>
          </a:p>
          <a:p>
            <a:pPr marL="457200" lvl="0" indent="-311150" algn="l" rtl="0">
              <a:spcBef>
                <a:spcPts val="1200"/>
              </a:spcBef>
              <a:spcAft>
                <a:spcPts val="0"/>
              </a:spcAft>
              <a:buSzPts val="1300"/>
              <a:buChar char="●"/>
            </a:pPr>
            <a:r>
              <a:rPr lang="vi"/>
              <a:t>Phát triển một tập các test-case đầy đủ, có hệ thống </a:t>
            </a:r>
            <a:endParaRPr/>
          </a:p>
          <a:p>
            <a:pPr marL="457200" lvl="0" indent="-311150" algn="l" rtl="0">
              <a:spcBef>
                <a:spcPts val="1000"/>
              </a:spcBef>
              <a:spcAft>
                <a:spcPts val="1200"/>
              </a:spcAft>
              <a:buSzPts val="1300"/>
              <a:buChar char="●"/>
            </a:pPr>
            <a:r>
              <a:rPr lang="vi"/>
              <a:t>Xác định các điều kiện kiểm thử, độ bao phủ và dữ liệu kiểm thử</a:t>
            </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4.1 Tổng quan về kỹ thuật thiết kế test</a:t>
            </a:r>
            <a:endParaRPr/>
          </a:p>
        </p:txBody>
      </p:sp>
      <p:sp>
        <p:nvSpPr>
          <p:cNvPr id="93" name="Google Shape;93;p18"/>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sz="2000" b="1">
                <a:solidFill>
                  <a:srgbClr val="FF00FF"/>
                </a:solidFill>
              </a:rPr>
              <a:t>Phân loại</a:t>
            </a:r>
            <a:endParaRPr>
              <a:solidFill>
                <a:schemeClr val="dk1"/>
              </a:solidFill>
            </a:endParaRPr>
          </a:p>
          <a:p>
            <a:pPr marL="457200" lvl="0" indent="-311150" algn="l" rtl="0">
              <a:spcBef>
                <a:spcPts val="1200"/>
              </a:spcBef>
              <a:spcAft>
                <a:spcPts val="0"/>
              </a:spcAft>
              <a:buSzPts val="1300"/>
              <a:buChar char="●"/>
            </a:pPr>
            <a:r>
              <a:rPr lang="vi"/>
              <a:t>Kỹ thuật test hộp đen (Black-box test techniques)</a:t>
            </a:r>
            <a:endParaRPr/>
          </a:p>
          <a:p>
            <a:pPr marL="457200" lvl="0" indent="-311150" algn="l" rtl="0">
              <a:spcBef>
                <a:spcPts val="1200"/>
              </a:spcBef>
              <a:spcAft>
                <a:spcPts val="0"/>
              </a:spcAft>
              <a:buSzPts val="1300"/>
              <a:buChar char="●"/>
            </a:pPr>
            <a:r>
              <a:rPr lang="vi"/>
              <a:t>Kỹ thuật test hộp trắng (White-box test techniques)</a:t>
            </a:r>
            <a:endParaRPr/>
          </a:p>
          <a:p>
            <a:pPr marL="457200" lvl="0" indent="-311150" algn="l" rtl="0">
              <a:spcBef>
                <a:spcPts val="1000"/>
              </a:spcBef>
              <a:spcAft>
                <a:spcPts val="1200"/>
              </a:spcAft>
              <a:buSzPts val="1300"/>
              <a:buChar char="●"/>
            </a:pPr>
            <a:r>
              <a:rPr lang="vi"/>
              <a:t>Kỹ thuật test dựa trên kinh nghiệm (Experience-based test techniques)</a:t>
            </a: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4.1 Tổng quan về kỹ thuật thiết kế test</a:t>
            </a:r>
            <a:endParaRPr/>
          </a:p>
        </p:txBody>
      </p:sp>
      <p:sp>
        <p:nvSpPr>
          <p:cNvPr id="99" name="Google Shape;99;p19"/>
          <p:cNvSpPr txBox="1">
            <a:spLocks noGrp="1"/>
          </p:cNvSpPr>
          <p:nvPr>
            <p:ph type="body" idx="1"/>
          </p:nvPr>
        </p:nvSpPr>
        <p:spPr>
          <a:xfrm>
            <a:off x="311700" y="1240224"/>
            <a:ext cx="8403300" cy="1417667"/>
          </a:xfrm>
          <a:prstGeom prst="rect">
            <a:avLst/>
          </a:prstGeom>
        </p:spPr>
        <p:txBody>
          <a:bodyPr spcFirstLastPara="1" wrap="square" lIns="91425" tIns="91425" rIns="91425" bIns="91425" anchor="t" anchorCtr="0">
            <a:normAutofit fontScale="77500" lnSpcReduction="20000"/>
          </a:bodyPr>
          <a:lstStyle/>
          <a:p>
            <a:pPr marL="0" lvl="0" indent="0">
              <a:spcAft>
                <a:spcPts val="1200"/>
              </a:spcAft>
              <a:buNone/>
            </a:pPr>
            <a:r>
              <a:rPr lang="vi" sz="2000" b="1" dirty="0">
                <a:solidFill>
                  <a:srgbClr val="FF00FF"/>
                </a:solidFill>
              </a:rPr>
              <a:t>Kỹ thuật kiểm thử hộp đen</a:t>
            </a:r>
            <a:r>
              <a:rPr lang="vi" sz="2200" dirty="0"/>
              <a:t> </a:t>
            </a:r>
            <a:r>
              <a:rPr lang="vi" dirty="0"/>
              <a:t>(hay còn được gọi là kỹ thuật kiểm thử dựa vào đặc tả - specification-based </a:t>
            </a:r>
            <a:r>
              <a:rPr lang="vi" dirty="0" smtClean="0"/>
              <a:t>testing)</a:t>
            </a:r>
            <a:r>
              <a:rPr lang="en-US" dirty="0" smtClean="0"/>
              <a:t> L</a:t>
            </a:r>
            <a:r>
              <a:rPr lang="vi-VN" dirty="0" smtClean="0"/>
              <a:t>à </a:t>
            </a:r>
            <a:r>
              <a:rPr lang="vi-VN" dirty="0"/>
              <a:t>phương pháp test dựa trên đầu vào và đầu ra của chương trình để test mà không quan tâm tới code bên trong được viết ra sao. Phương pháp này thường dùng để test chức năng của chương trình.</a:t>
            </a:r>
            <a:endParaRPr dirty="0"/>
          </a:p>
        </p:txBody>
      </p:sp>
      <p:pic>
        <p:nvPicPr>
          <p:cNvPr id="100" name="Google Shape;100;p19"/>
          <p:cNvPicPr preferRelativeResize="0"/>
          <p:nvPr/>
        </p:nvPicPr>
        <p:blipFill rotWithShape="1">
          <a:blip r:embed="rId3">
            <a:alphaModFix/>
          </a:blip>
          <a:srcRect/>
          <a:stretch/>
        </p:blipFill>
        <p:spPr>
          <a:xfrm>
            <a:off x="5044700" y="2571750"/>
            <a:ext cx="3787600" cy="1827224"/>
          </a:xfrm>
          <a:prstGeom prst="rect">
            <a:avLst/>
          </a:prstGeom>
          <a:noFill/>
          <a:ln>
            <a:noFill/>
          </a:ln>
        </p:spPr>
      </p:pic>
      <p:sp>
        <p:nvSpPr>
          <p:cNvPr id="101" name="Google Shape;101;p19"/>
          <p:cNvSpPr txBox="1">
            <a:spLocks noGrp="1"/>
          </p:cNvSpPr>
          <p:nvPr>
            <p:ph type="body" idx="1"/>
          </p:nvPr>
        </p:nvSpPr>
        <p:spPr>
          <a:xfrm>
            <a:off x="429925" y="2490624"/>
            <a:ext cx="4473000" cy="2839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sz="1600" dirty="0"/>
              <a:t>Phương pháp: </a:t>
            </a:r>
            <a:endParaRPr sz="1600" dirty="0"/>
          </a:p>
          <a:p>
            <a:pPr marL="457200" lvl="0" indent="-311150" algn="l" rtl="0">
              <a:spcBef>
                <a:spcPts val="1200"/>
              </a:spcBef>
              <a:spcAft>
                <a:spcPts val="0"/>
              </a:spcAft>
              <a:buSzPts val="1300"/>
              <a:buChar char="●"/>
            </a:pPr>
            <a:r>
              <a:rPr lang="vi" sz="1400" dirty="0"/>
              <a:t>Dựa trên phân tích hành vi cụ thể của đối tượng test mà không tham chiếu đến cấu trúc bên trong của nó</a:t>
            </a:r>
            <a:endParaRPr sz="1400" dirty="0"/>
          </a:p>
          <a:p>
            <a:pPr marL="457200" lvl="0" indent="-311150" algn="l" rtl="0">
              <a:spcBef>
                <a:spcPts val="1200"/>
              </a:spcBef>
              <a:spcAft>
                <a:spcPts val="0"/>
              </a:spcAft>
              <a:buSzPts val="1300"/>
              <a:buChar char="●"/>
            </a:pPr>
            <a:r>
              <a:rPr lang="vi" sz="1400" dirty="0"/>
              <a:t>Các testcase độc lập với cách triển khai phần mềm </a:t>
            </a:r>
            <a:endParaRPr sz="1400" dirty="0"/>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4.1 Tổng quan về kỹ thuật thiết kế test</a:t>
            </a:r>
            <a:endParaRPr/>
          </a:p>
        </p:txBody>
      </p:sp>
      <p:sp>
        <p:nvSpPr>
          <p:cNvPr id="107" name="Google Shape;107;p20"/>
          <p:cNvSpPr txBox="1">
            <a:spLocks noGrp="1"/>
          </p:cNvSpPr>
          <p:nvPr>
            <p:ph type="body" idx="1"/>
          </p:nvPr>
        </p:nvSpPr>
        <p:spPr>
          <a:xfrm>
            <a:off x="311700" y="1240224"/>
            <a:ext cx="8403300" cy="2060537"/>
          </a:xfrm>
          <a:prstGeom prst="rect">
            <a:avLst/>
          </a:prstGeom>
        </p:spPr>
        <p:txBody>
          <a:bodyPr spcFirstLastPara="1" wrap="square" lIns="91425" tIns="91425" rIns="91425" bIns="91425" anchor="t" anchorCtr="0">
            <a:normAutofit/>
          </a:bodyPr>
          <a:lstStyle/>
          <a:p>
            <a:r>
              <a:rPr lang="vi" sz="2000" b="1" dirty="0">
                <a:solidFill>
                  <a:srgbClr val="FF00FF"/>
                </a:solidFill>
              </a:rPr>
              <a:t>Kỹ thuật kiểm thử hộp trắng</a:t>
            </a:r>
            <a:r>
              <a:rPr lang="vi" sz="2200" dirty="0"/>
              <a:t> </a:t>
            </a:r>
            <a:r>
              <a:rPr lang="vi" sz="1400" dirty="0"/>
              <a:t>(hay còn được gọi là kỹ thuật kiểm thử dựa vào cấu trúc code - structure-based testing</a:t>
            </a:r>
            <a:r>
              <a:rPr lang="vi" sz="1400" dirty="0" smtClean="0"/>
              <a:t>)</a:t>
            </a:r>
            <a:r>
              <a:rPr lang="en-US" sz="1400" dirty="0" smtClean="0"/>
              <a:t> </a:t>
            </a:r>
            <a:r>
              <a:rPr lang="en-US" sz="1400" dirty="0" err="1" smtClean="0"/>
              <a:t>L</a:t>
            </a:r>
            <a:r>
              <a:rPr lang="en-US" sz="1400" i="1" dirty="0" err="1" smtClean="0"/>
              <a:t>à</a:t>
            </a:r>
            <a:r>
              <a:rPr lang="en-US" sz="1400" i="1" dirty="0" smtClean="0"/>
              <a:t> </a:t>
            </a:r>
            <a:r>
              <a:rPr lang="en-US" sz="1400" i="1" dirty="0" err="1"/>
              <a:t>một</a:t>
            </a:r>
            <a:r>
              <a:rPr lang="en-US" sz="1400" i="1" dirty="0"/>
              <a:t> </a:t>
            </a:r>
            <a:r>
              <a:rPr lang="en-US" sz="1400" i="1" dirty="0" err="1"/>
              <a:t>phương</a:t>
            </a:r>
            <a:r>
              <a:rPr lang="en-US" sz="1400" i="1" dirty="0"/>
              <a:t> </a:t>
            </a:r>
            <a:r>
              <a:rPr lang="en-US" sz="1400" i="1" dirty="0" err="1"/>
              <a:t>pháp</a:t>
            </a:r>
            <a:r>
              <a:rPr lang="en-US" sz="1400" i="1" dirty="0"/>
              <a:t> </a:t>
            </a:r>
            <a:r>
              <a:rPr lang="en-US" sz="1400" i="1" dirty="0" err="1"/>
              <a:t>kiểm</a:t>
            </a:r>
            <a:r>
              <a:rPr lang="en-US" sz="1400" i="1" dirty="0"/>
              <a:t> </a:t>
            </a:r>
            <a:r>
              <a:rPr lang="en-US" sz="1400" i="1" dirty="0" err="1"/>
              <a:t>thử</a:t>
            </a:r>
            <a:r>
              <a:rPr lang="en-US" sz="1400" i="1" dirty="0"/>
              <a:t> </a:t>
            </a:r>
            <a:r>
              <a:rPr lang="en-US" sz="1400" i="1" dirty="0" err="1"/>
              <a:t>phần</a:t>
            </a:r>
            <a:r>
              <a:rPr lang="en-US" sz="1400" i="1" dirty="0"/>
              <a:t> </a:t>
            </a:r>
            <a:r>
              <a:rPr lang="en-US" sz="1400" i="1" dirty="0" err="1"/>
              <a:t>mềm</a:t>
            </a:r>
            <a:r>
              <a:rPr lang="en-US" sz="1400" i="1" dirty="0"/>
              <a:t> </a:t>
            </a:r>
            <a:r>
              <a:rPr lang="en-US" sz="1400" i="1" dirty="0" err="1" smtClean="0"/>
              <a:t>kiểm</a:t>
            </a:r>
            <a:r>
              <a:rPr lang="en-US" sz="1400" i="1" dirty="0" smtClean="0"/>
              <a:t> </a:t>
            </a:r>
            <a:r>
              <a:rPr lang="en-US" sz="1400" i="1" dirty="0" err="1"/>
              <a:t>tra</a:t>
            </a:r>
            <a:r>
              <a:rPr lang="en-US" sz="1400" i="1" dirty="0"/>
              <a:t> </a:t>
            </a:r>
            <a:r>
              <a:rPr lang="en-US" sz="1400" i="1" dirty="0" err="1"/>
              <a:t>cấu</a:t>
            </a:r>
            <a:r>
              <a:rPr lang="en-US" sz="1400" i="1" dirty="0"/>
              <a:t> </a:t>
            </a:r>
            <a:r>
              <a:rPr lang="en-US" sz="1400" i="1" dirty="0" err="1"/>
              <a:t>trúc</a:t>
            </a:r>
            <a:r>
              <a:rPr lang="en-US" sz="1400" i="1" dirty="0"/>
              <a:t> </a:t>
            </a:r>
            <a:r>
              <a:rPr lang="en-US" sz="1400" i="1" dirty="0" err="1"/>
              <a:t>nội</a:t>
            </a:r>
            <a:r>
              <a:rPr lang="en-US" sz="1400" i="1" dirty="0"/>
              <a:t> </a:t>
            </a:r>
            <a:r>
              <a:rPr lang="en-US" sz="1400" i="1" dirty="0" err="1"/>
              <a:t>bộ</a:t>
            </a:r>
            <a:r>
              <a:rPr lang="en-US" sz="1400" i="1" dirty="0"/>
              <a:t> </a:t>
            </a:r>
            <a:r>
              <a:rPr lang="en-US" sz="1400" i="1" dirty="0" err="1"/>
              <a:t>hoặc</a:t>
            </a:r>
            <a:r>
              <a:rPr lang="en-US" sz="1400" i="1" dirty="0"/>
              <a:t> </a:t>
            </a:r>
            <a:r>
              <a:rPr lang="en-US" sz="1400" i="1" dirty="0" err="1"/>
              <a:t>hoạt</a:t>
            </a:r>
            <a:r>
              <a:rPr lang="en-US" sz="1400" i="1" dirty="0"/>
              <a:t> </a:t>
            </a:r>
            <a:r>
              <a:rPr lang="en-US" sz="1400" i="1" dirty="0" err="1"/>
              <a:t>động</a:t>
            </a:r>
            <a:r>
              <a:rPr lang="en-US" sz="1400" i="1" dirty="0"/>
              <a:t> </a:t>
            </a:r>
            <a:r>
              <a:rPr lang="en-US" sz="1400" i="1" dirty="0" err="1"/>
              <a:t>của</a:t>
            </a:r>
            <a:r>
              <a:rPr lang="en-US" sz="1400" i="1" dirty="0"/>
              <a:t> </a:t>
            </a:r>
            <a:r>
              <a:rPr lang="en-US" sz="1400" i="1" dirty="0" err="1"/>
              <a:t>một</a:t>
            </a:r>
            <a:r>
              <a:rPr lang="en-US" sz="1400" i="1" dirty="0"/>
              <a:t> </a:t>
            </a:r>
            <a:r>
              <a:rPr lang="en-US" sz="1400" i="1" dirty="0" err="1"/>
              <a:t>ứng</a:t>
            </a:r>
            <a:r>
              <a:rPr lang="en-US" sz="1400" i="1" dirty="0"/>
              <a:t> </a:t>
            </a:r>
            <a:r>
              <a:rPr lang="en-US" sz="1400" i="1" dirty="0" err="1"/>
              <a:t>dụng</a:t>
            </a:r>
            <a:r>
              <a:rPr lang="en-US" sz="1400" i="1" dirty="0"/>
              <a:t>, </a:t>
            </a:r>
            <a:r>
              <a:rPr lang="en-US" sz="1400" i="1" dirty="0" err="1" smtClean="0"/>
              <a:t>nó</a:t>
            </a:r>
            <a:r>
              <a:rPr lang="en-US" sz="1400" i="1" dirty="0" smtClean="0"/>
              <a:t> </a:t>
            </a:r>
            <a:r>
              <a:rPr lang="en-US" sz="1400" i="1" dirty="0" err="1"/>
              <a:t>thường</a:t>
            </a:r>
            <a:r>
              <a:rPr lang="en-US" sz="1400" i="1" dirty="0"/>
              <a:t> </a:t>
            </a:r>
            <a:r>
              <a:rPr lang="en-US" sz="1400" i="1" dirty="0" err="1"/>
              <a:t>được</a:t>
            </a:r>
            <a:r>
              <a:rPr lang="en-US" sz="1400" i="1" dirty="0"/>
              <a:t> </a:t>
            </a:r>
            <a:r>
              <a:rPr lang="en-US" sz="1400" i="1" dirty="0" err="1"/>
              <a:t>thực</a:t>
            </a:r>
            <a:r>
              <a:rPr lang="en-US" sz="1400" i="1" dirty="0"/>
              <a:t> </a:t>
            </a:r>
            <a:r>
              <a:rPr lang="en-US" sz="1400" i="1" dirty="0" err="1"/>
              <a:t>hiện</a:t>
            </a:r>
            <a:r>
              <a:rPr lang="en-US" sz="1400" i="1" dirty="0"/>
              <a:t> ở </a:t>
            </a:r>
            <a:r>
              <a:rPr lang="en-US" sz="1400" i="1" dirty="0" err="1" smtClean="0"/>
              <a:t>mức</a:t>
            </a:r>
            <a:r>
              <a:rPr lang="en-US" sz="1400" i="1" dirty="0" smtClean="0"/>
              <a:t> </a:t>
            </a:r>
            <a:r>
              <a:rPr lang="en-US" sz="1400" i="1" dirty="0" err="1"/>
              <a:t>đơn</a:t>
            </a:r>
            <a:r>
              <a:rPr lang="en-US" sz="1400" i="1" dirty="0"/>
              <a:t> </a:t>
            </a:r>
            <a:r>
              <a:rPr lang="en-US" sz="1400" i="1" dirty="0" err="1"/>
              <a:t>vị</a:t>
            </a:r>
            <a:r>
              <a:rPr lang="en-US" sz="1400" i="1" dirty="0"/>
              <a:t> .</a:t>
            </a:r>
            <a:endParaRPr sz="1400" dirty="0"/>
          </a:p>
        </p:txBody>
      </p:sp>
      <p:sp>
        <p:nvSpPr>
          <p:cNvPr id="108" name="Google Shape;108;p20"/>
          <p:cNvSpPr txBox="1">
            <a:spLocks noGrp="1"/>
          </p:cNvSpPr>
          <p:nvPr>
            <p:ph type="body" idx="1"/>
          </p:nvPr>
        </p:nvSpPr>
        <p:spPr>
          <a:xfrm>
            <a:off x="603130" y="2640806"/>
            <a:ext cx="4473000" cy="2839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dirty="0"/>
              <a:t>Phương pháp: </a:t>
            </a:r>
            <a:endParaRPr dirty="0"/>
          </a:p>
          <a:p>
            <a:pPr marL="457200" lvl="0" indent="-311150" algn="l" rtl="0">
              <a:spcBef>
                <a:spcPts val="1200"/>
              </a:spcBef>
              <a:spcAft>
                <a:spcPts val="0"/>
              </a:spcAft>
              <a:buSzPts val="1300"/>
              <a:buChar char="●"/>
            </a:pPr>
            <a:r>
              <a:rPr lang="vi" sz="1400" dirty="0"/>
              <a:t>Dựa vào phân tích cấu trúc và xử lý bên trong của đối tượng test.</a:t>
            </a:r>
            <a:endParaRPr sz="1400" dirty="0"/>
          </a:p>
          <a:p>
            <a:pPr marL="457200" lvl="0" indent="-311150" algn="l" rtl="0">
              <a:spcBef>
                <a:spcPts val="1200"/>
              </a:spcBef>
              <a:spcAft>
                <a:spcPts val="1200"/>
              </a:spcAft>
              <a:buSzPts val="1300"/>
              <a:buChar char="●"/>
            </a:pPr>
            <a:r>
              <a:rPr lang="vi" sz="1400" dirty="0"/>
              <a:t>Test cases phụ thuộc vào thiết kế của phần mềm và chỉ được tạo sau khi đối tượng cần test được thiết kế hoặc cài đặt.</a:t>
            </a:r>
            <a:endParaRPr sz="1400" dirty="0"/>
          </a:p>
        </p:txBody>
      </p:sp>
      <p:pic>
        <p:nvPicPr>
          <p:cNvPr id="109" name="Google Shape;109;p20"/>
          <p:cNvPicPr preferRelativeResize="0"/>
          <p:nvPr/>
        </p:nvPicPr>
        <p:blipFill>
          <a:blip r:embed="rId3">
            <a:alphaModFix/>
          </a:blip>
          <a:stretch>
            <a:fillRect/>
          </a:stretch>
        </p:blipFill>
        <p:spPr>
          <a:xfrm>
            <a:off x="5070155" y="2799492"/>
            <a:ext cx="3936275" cy="2165588"/>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4.1 Tổng quan về kỹ thuật thiết kế test</a:t>
            </a:r>
            <a:endParaRPr/>
          </a:p>
        </p:txBody>
      </p:sp>
      <p:sp>
        <p:nvSpPr>
          <p:cNvPr id="115" name="Google Shape;115;p21"/>
          <p:cNvSpPr txBox="1">
            <a:spLocks noGrp="1"/>
          </p:cNvSpPr>
          <p:nvPr>
            <p:ph type="body" idx="1"/>
          </p:nvPr>
        </p:nvSpPr>
        <p:spPr>
          <a:xfrm>
            <a:off x="311700" y="1240225"/>
            <a:ext cx="87837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dựa trên kinh nghiệm </a:t>
            </a:r>
            <a:r>
              <a:rPr lang="vi" sz="1600"/>
              <a:t>(Experience-based test techniques)</a:t>
            </a:r>
            <a:endParaRPr sz="1600" b="1">
              <a:solidFill>
                <a:srgbClr val="FF00FF"/>
              </a:solidFill>
            </a:endParaRPr>
          </a:p>
          <a:p>
            <a:pPr marL="0" lvl="0" indent="0" algn="l" rtl="0">
              <a:spcBef>
                <a:spcPts val="1200"/>
              </a:spcBef>
              <a:spcAft>
                <a:spcPts val="0"/>
              </a:spcAft>
              <a:buNone/>
            </a:pPr>
            <a:r>
              <a:rPr lang="vi"/>
              <a:t>Phương pháp: </a:t>
            </a:r>
            <a:endParaRPr/>
          </a:p>
          <a:p>
            <a:pPr marL="0" lvl="0" indent="0" algn="l" rtl="0">
              <a:spcBef>
                <a:spcPts val="1200"/>
              </a:spcBef>
              <a:spcAft>
                <a:spcPts val="0"/>
              </a:spcAft>
              <a:buNone/>
            </a:pPr>
            <a:r>
              <a:rPr lang="vi" sz="1600"/>
              <a:t>Sử dụng kiến thức, kỹ năng và kinh nghiệm của tester để thiết kế và triển khai testcase</a:t>
            </a:r>
            <a:endParaRPr sz="1400"/>
          </a:p>
          <a:p>
            <a:pPr marL="0" lvl="0" indent="0" algn="l" rtl="0">
              <a:spcBef>
                <a:spcPts val="1200"/>
              </a:spcBef>
              <a:spcAft>
                <a:spcPts val="1200"/>
              </a:spcAft>
              <a:buNone/>
            </a:pPr>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a:p>
        </p:txBody>
      </p:sp>
      <p:sp>
        <p:nvSpPr>
          <p:cNvPr id="121" name="Google Shape;121;p22"/>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rgbClr val="000000"/>
                </a:solidFill>
                <a:highlight>
                  <a:schemeClr val="lt1"/>
                </a:highlight>
              </a:rPr>
              <a:t>4.1 Tổng quan về kỹ thuật thiết kế test</a:t>
            </a:r>
            <a:endParaRPr>
              <a:highlight>
                <a:schemeClr val="lt1"/>
              </a:highlight>
            </a:endParaRPr>
          </a:p>
          <a:p>
            <a:pPr marL="0" lvl="0" indent="0" algn="l" rtl="0">
              <a:spcBef>
                <a:spcPts val="1200"/>
              </a:spcBef>
              <a:spcAft>
                <a:spcPts val="0"/>
              </a:spcAft>
              <a:buNone/>
            </a:pPr>
            <a:r>
              <a:rPr lang="vi">
                <a:solidFill>
                  <a:srgbClr val="000000"/>
                </a:solidFill>
                <a:highlight>
                  <a:srgbClr val="FF706B"/>
                </a:highlight>
              </a:rPr>
              <a:t>4.2 Kỹ thuật kiểm thử hộp đen</a:t>
            </a:r>
            <a:endParaRPr/>
          </a:p>
          <a:p>
            <a:pPr marL="0" lvl="0" indent="0" algn="l" rtl="0">
              <a:spcBef>
                <a:spcPts val="1200"/>
              </a:spcBef>
              <a:spcAft>
                <a:spcPts val="0"/>
              </a:spcAft>
              <a:buNone/>
            </a:pPr>
            <a:r>
              <a:rPr lang="vi"/>
              <a:t>4.3 Kỹ thuật kiểm thử hộp trắng</a:t>
            </a:r>
            <a:endParaRPr/>
          </a:p>
          <a:p>
            <a:pPr marL="0" lvl="0" indent="0" algn="l" rtl="0">
              <a:spcBef>
                <a:spcPts val="1200"/>
              </a:spcBef>
              <a:spcAft>
                <a:spcPts val="1200"/>
              </a:spcAft>
              <a:buNone/>
            </a:pPr>
            <a:r>
              <a:rPr lang="vi"/>
              <a:t>4.4 Kỹ thuật kiểm thử dựa trên kinh nghiệm</a:t>
            </a: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 Kỹ thuật kiểm thử hộp đen</a:t>
            </a:r>
            <a:endParaRPr/>
          </a:p>
        </p:txBody>
      </p:sp>
      <p:sp>
        <p:nvSpPr>
          <p:cNvPr id="127" name="Google Shape;127;p23"/>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t>Các kỹ thuật kiểm thử hộp đen phổ biến: </a:t>
            </a:r>
            <a:endParaRPr/>
          </a:p>
          <a:p>
            <a:pPr marL="0" lvl="0" indent="0" algn="l" rtl="0">
              <a:spcBef>
                <a:spcPts val="1200"/>
              </a:spcBef>
              <a:spcAft>
                <a:spcPts val="0"/>
              </a:spcAft>
              <a:buNone/>
            </a:pPr>
            <a:r>
              <a:rPr lang="vi"/>
              <a:t>• Phân vùng tương đương (Equivalence Partitioning) </a:t>
            </a:r>
            <a:endParaRPr/>
          </a:p>
          <a:p>
            <a:pPr marL="0" lvl="0" indent="0" algn="l" rtl="0">
              <a:spcBef>
                <a:spcPts val="1200"/>
              </a:spcBef>
              <a:spcAft>
                <a:spcPts val="0"/>
              </a:spcAft>
              <a:buNone/>
            </a:pPr>
            <a:r>
              <a:rPr lang="vi"/>
              <a:t>• Phân tích giá trị biên (Boundary Value Analysis) </a:t>
            </a:r>
            <a:endParaRPr/>
          </a:p>
          <a:p>
            <a:pPr marL="0" lvl="0" indent="0" algn="l" rtl="0">
              <a:spcBef>
                <a:spcPts val="1200"/>
              </a:spcBef>
              <a:spcAft>
                <a:spcPts val="0"/>
              </a:spcAft>
              <a:buNone/>
            </a:pPr>
            <a:r>
              <a:rPr lang="vi"/>
              <a:t>• Bảng quyết định (Decision Table Testing)</a:t>
            </a:r>
            <a:endParaRPr/>
          </a:p>
          <a:p>
            <a:pPr marL="0" lvl="0" indent="0" algn="l" rtl="0">
              <a:spcBef>
                <a:spcPts val="1200"/>
              </a:spcBef>
              <a:spcAft>
                <a:spcPts val="1200"/>
              </a:spcAft>
              <a:buNone/>
            </a:pPr>
            <a:r>
              <a:rPr lang="vi"/>
              <a:t>• Chuyển trạng thái (State Transition Testing)</a:t>
            </a: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4.2.1 Phân vùng tương đương </a:t>
            </a:r>
            <a:r>
              <a:rPr lang="vi" sz="2400" dirty="0"/>
              <a:t>(Equivalence Partitioning - EP)</a:t>
            </a:r>
            <a:endParaRPr sz="2400" dirty="0"/>
          </a:p>
        </p:txBody>
      </p:sp>
      <p:sp>
        <p:nvSpPr>
          <p:cNvPr id="133" name="Google Shape;133;p24"/>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dirty="0">
                <a:solidFill>
                  <a:schemeClr val="dk1"/>
                </a:solidFill>
              </a:rPr>
              <a:t>Phương pháp: </a:t>
            </a:r>
            <a:r>
              <a:rPr lang="vi" dirty="0"/>
              <a:t>Là phương pháp chia dữ liệu thành các vùng sao cho tất cả các giá trị trong một vùng sẽ có kết quả đầu ra giống nhau (vùng tương đương) </a:t>
            </a:r>
            <a:endParaRPr dirty="0"/>
          </a:p>
          <a:p>
            <a:pPr marL="0" lvl="0" indent="0" algn="l" rtl="0">
              <a:spcBef>
                <a:spcPts val="1200"/>
              </a:spcBef>
              <a:spcAft>
                <a:spcPts val="1200"/>
              </a:spcAft>
              <a:buNone/>
            </a:pPr>
            <a:endParaRPr dirty="0"/>
          </a:p>
        </p:txBody>
      </p:sp>
      <p:pic>
        <p:nvPicPr>
          <p:cNvPr id="134" name="Google Shape;134;p24"/>
          <p:cNvPicPr preferRelativeResize="0"/>
          <p:nvPr/>
        </p:nvPicPr>
        <p:blipFill rotWithShape="1">
          <a:blip r:embed="rId3">
            <a:alphaModFix/>
          </a:blip>
          <a:srcRect/>
          <a:stretch/>
        </p:blipFill>
        <p:spPr>
          <a:xfrm>
            <a:off x="1569325" y="2571750"/>
            <a:ext cx="5626976" cy="2068425"/>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4.2.1 Phân vùng tương đương </a:t>
            </a:r>
            <a:r>
              <a:rPr lang="vi" sz="2400"/>
              <a:t>(Equivalence Partitioning - EP)</a:t>
            </a:r>
            <a:endParaRPr sz="2400"/>
          </a:p>
        </p:txBody>
      </p:sp>
      <p:sp>
        <p:nvSpPr>
          <p:cNvPr id="140" name="Google Shape;140;p25"/>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chemeClr val="dk1"/>
                </a:solidFill>
              </a:rPr>
              <a:t>Xác định test:</a:t>
            </a:r>
            <a:endParaRPr/>
          </a:p>
          <a:p>
            <a:pPr marL="0" marR="38100" lvl="0" indent="0" algn="l" rtl="0">
              <a:lnSpc>
                <a:spcPct val="128571"/>
              </a:lnSpc>
              <a:spcBef>
                <a:spcPts val="1200"/>
              </a:spcBef>
              <a:spcAft>
                <a:spcPts val="0"/>
              </a:spcAft>
              <a:buNone/>
            </a:pPr>
            <a:r>
              <a:rPr lang="vi"/>
              <a:t>Nếu một trường hợp kiểm thử kiểm tra một giá trị từ một phân vùng tương đương, phát hiện ra lỗi thì lỗi này cũng sẽ được phát hiện bởi các trường hợp kiểm thử kiểm tra bất kỳ giá trị nào khác từ cùng một phân vùng. </a:t>
            </a:r>
            <a:endParaRPr/>
          </a:p>
          <a:p>
            <a:pPr marL="0" marR="38100" lvl="0" indent="0" algn="l" rtl="0">
              <a:lnSpc>
                <a:spcPct val="128571"/>
              </a:lnSpc>
              <a:spcBef>
                <a:spcPts val="0"/>
              </a:spcBef>
              <a:spcAft>
                <a:spcPts val="0"/>
              </a:spcAft>
              <a:buNone/>
            </a:pPr>
            <a:r>
              <a:rPr lang="vi"/>
              <a:t>=&gt;Vì vậy, một test cho mỗi phân vùng là đủ.</a:t>
            </a:r>
            <a:endParaRPr sz="2100">
              <a:solidFill>
                <a:srgbClr val="202124"/>
              </a:solidFill>
              <a:highlight>
                <a:srgbClr val="F8F9FA"/>
              </a:highlight>
              <a:latin typeface="Arial"/>
              <a:ea typeface="Arial"/>
              <a:cs typeface="Arial"/>
              <a:sym typeface="Arial"/>
            </a:endParaRPr>
          </a:p>
          <a:p>
            <a:pPr marL="0" lvl="0" indent="0" algn="l" rtl="0">
              <a:spcBef>
                <a:spcPts val="0"/>
              </a:spcBef>
              <a:spcAft>
                <a:spcPts val="1200"/>
              </a:spcAft>
              <a:buNone/>
            </a:pP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a:spLocks noGrp="1"/>
          </p:cNvSpPr>
          <p:nvPr>
            <p:ph type="title"/>
          </p:nvPr>
        </p:nvSpPr>
        <p:spPr>
          <a:xfrm>
            <a:off x="311700" y="372500"/>
            <a:ext cx="87024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4.2.1 Phân vùng tương đương</a:t>
            </a:r>
            <a:r>
              <a:rPr lang="vi" sz="2200">
                <a:latin typeface="Source Code Pro"/>
                <a:ea typeface="Source Code Pro"/>
                <a:cs typeface="Source Code Pro"/>
                <a:sym typeface="Source Code Pro"/>
              </a:rPr>
              <a:t> </a:t>
            </a:r>
            <a:r>
              <a:rPr lang="vi" sz="2400"/>
              <a:t>(Equivalence Partitioning - EP)</a:t>
            </a:r>
            <a:endParaRPr sz="2400"/>
          </a:p>
        </p:txBody>
      </p:sp>
      <p:sp>
        <p:nvSpPr>
          <p:cNvPr id="146" name="Google Shape;146;p26"/>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a:solidFill>
                  <a:schemeClr val="dk1"/>
                </a:solidFill>
              </a:rPr>
              <a:t>Ví dụ:</a:t>
            </a:r>
            <a:r>
              <a:rPr lang="vi"/>
              <a:t> Dựa trên kỹ thuật EP, </a:t>
            </a:r>
            <a:r>
              <a:rPr lang="vi" sz="1700">
                <a:solidFill>
                  <a:srgbClr val="000000"/>
                </a:solidFill>
              </a:rPr>
              <a:t>thiết kế testcase cho màn hình giỏ hàng với yêu cầu sau</a:t>
            </a:r>
            <a:endParaRPr sz="1700"/>
          </a:p>
        </p:txBody>
      </p:sp>
      <p:pic>
        <p:nvPicPr>
          <p:cNvPr id="147" name="Google Shape;147;p26"/>
          <p:cNvPicPr preferRelativeResize="0"/>
          <p:nvPr/>
        </p:nvPicPr>
        <p:blipFill rotWithShape="1">
          <a:blip r:embed="rId3">
            <a:alphaModFix/>
          </a:blip>
          <a:srcRect/>
          <a:stretch/>
        </p:blipFill>
        <p:spPr>
          <a:xfrm>
            <a:off x="322400" y="2042525"/>
            <a:ext cx="5627649" cy="2907975"/>
          </a:xfrm>
          <a:prstGeom prst="rect">
            <a:avLst/>
          </a:prstGeom>
          <a:noFill/>
          <a:ln>
            <a:noFill/>
          </a:ln>
        </p:spPr>
      </p:pic>
      <p:sp>
        <p:nvSpPr>
          <p:cNvPr id="148" name="Google Shape;148;p26"/>
          <p:cNvSpPr txBox="1"/>
          <p:nvPr/>
        </p:nvSpPr>
        <p:spPr>
          <a:xfrm>
            <a:off x="6082575" y="2076900"/>
            <a:ext cx="2991300" cy="3455700"/>
          </a:xfrm>
          <a:prstGeom prst="rect">
            <a:avLst/>
          </a:prstGeom>
          <a:noFill/>
          <a:ln>
            <a:noFill/>
          </a:ln>
        </p:spPr>
        <p:txBody>
          <a:bodyPr spcFirstLastPara="1" wrap="square" lIns="91425" tIns="91425" rIns="91425" bIns="91425" anchor="t" anchorCtr="0">
            <a:spAutoFit/>
          </a:bodyPr>
          <a:lstStyle/>
          <a:p>
            <a:pPr marL="457200" marR="0" lvl="0" indent="-336550" algn="just" rtl="0">
              <a:lnSpc>
                <a:spcPct val="115000"/>
              </a:lnSpc>
              <a:spcBef>
                <a:spcPts val="0"/>
              </a:spcBef>
              <a:spcAft>
                <a:spcPts val="0"/>
              </a:spcAft>
              <a:buClr>
                <a:srgbClr val="000000"/>
              </a:buClr>
              <a:buSzPts val="1700"/>
              <a:buFont typeface="Source Code Pro"/>
              <a:buChar char="-"/>
            </a:pPr>
            <a:r>
              <a:rPr lang="vi" sz="1700" i="0" u="none" strike="noStrike" cap="none">
                <a:solidFill>
                  <a:srgbClr val="000000"/>
                </a:solidFill>
                <a:latin typeface="Source Code Pro"/>
                <a:ea typeface="Source Code Pro"/>
                <a:cs typeface="Source Code Pro"/>
                <a:sym typeface="Source Code Pro"/>
              </a:rPr>
              <a:t>Mỗi sản phẩm khách hàng chỉ được mua với số lượng không quá 100. </a:t>
            </a:r>
            <a:endParaRPr sz="1700" i="0" u="none" strike="noStrike" cap="none">
              <a:solidFill>
                <a:srgbClr val="000000"/>
              </a:solidFill>
              <a:latin typeface="Source Code Pro"/>
              <a:ea typeface="Source Code Pro"/>
              <a:cs typeface="Source Code Pro"/>
              <a:sym typeface="Source Code Pro"/>
            </a:endParaRPr>
          </a:p>
          <a:p>
            <a:pPr marL="457200" marR="0" lvl="0" indent="-336550" algn="just" rtl="0">
              <a:lnSpc>
                <a:spcPct val="115000"/>
              </a:lnSpc>
              <a:spcBef>
                <a:spcPts val="0"/>
              </a:spcBef>
              <a:spcAft>
                <a:spcPts val="0"/>
              </a:spcAft>
              <a:buClr>
                <a:srgbClr val="000000"/>
              </a:buClr>
              <a:buSzPts val="1700"/>
              <a:buFont typeface="Source Code Pro"/>
              <a:buChar char="-"/>
            </a:pPr>
            <a:r>
              <a:rPr lang="vi" sz="1700" i="0" u="none" strike="noStrike" cap="none">
                <a:solidFill>
                  <a:srgbClr val="000000"/>
                </a:solidFill>
                <a:latin typeface="Source Code Pro"/>
                <a:ea typeface="Source Code Pro"/>
                <a:cs typeface="Source Code Pro"/>
                <a:sym typeface="Source Code Pro"/>
              </a:rPr>
              <a:t>Nếu số lượng trên 10 thì được chiết khấu 5%.</a:t>
            </a:r>
            <a:endParaRPr sz="1700" i="0" u="none" strike="noStrike" cap="none">
              <a:solidFill>
                <a:srgbClr val="000000"/>
              </a:solidFill>
              <a:latin typeface="Source Code Pro"/>
              <a:ea typeface="Source Code Pro"/>
              <a:cs typeface="Source Code Pro"/>
              <a:sym typeface="Source Code Pro"/>
            </a:endParaRPr>
          </a:p>
          <a:p>
            <a:pPr marL="457200" marR="0" lvl="0" indent="-336550" algn="just" rtl="0">
              <a:lnSpc>
                <a:spcPct val="115000"/>
              </a:lnSpc>
              <a:spcBef>
                <a:spcPts val="0"/>
              </a:spcBef>
              <a:spcAft>
                <a:spcPts val="0"/>
              </a:spcAft>
              <a:buClr>
                <a:srgbClr val="000000"/>
              </a:buClr>
              <a:buSzPts val="1700"/>
              <a:buFont typeface="Source Code Pro"/>
              <a:buChar char="-"/>
            </a:pPr>
            <a:r>
              <a:rPr lang="vi" sz="1700" i="0" u="none" strike="noStrike" cap="none">
                <a:solidFill>
                  <a:srgbClr val="000000"/>
                </a:solidFill>
                <a:latin typeface="Source Code Pro"/>
                <a:ea typeface="Source Code Pro"/>
                <a:cs typeface="Source Code Pro"/>
                <a:sym typeface="Source Code Pro"/>
              </a:rPr>
              <a:t>Ngược lại thì không được chiết khấu.</a:t>
            </a:r>
            <a:endParaRPr sz="1700" i="0" u="none" strike="noStrike" cap="none">
              <a:solidFill>
                <a:srgbClr val="000000"/>
              </a:solidFill>
              <a:latin typeface="Source Code Pro"/>
              <a:ea typeface="Source Code Pro"/>
              <a:cs typeface="Source Code Pro"/>
              <a:sym typeface="Source Code Pro"/>
            </a:endParaRPr>
          </a:p>
          <a:p>
            <a:pPr marL="0" marR="0" lvl="0" indent="0" algn="l" rtl="0">
              <a:lnSpc>
                <a:spcPct val="100000"/>
              </a:lnSpc>
              <a:spcBef>
                <a:spcPts val="0"/>
              </a:spcBef>
              <a:spcAft>
                <a:spcPts val="0"/>
              </a:spcAft>
              <a:buClr>
                <a:srgbClr val="000000"/>
              </a:buClr>
              <a:buSzPts val="1400"/>
              <a:buFont typeface="Arial"/>
              <a:buNone/>
            </a:pPr>
            <a:endParaRPr sz="1700" b="0" i="0" u="none" strike="noStrike" cap="none">
              <a:solidFill>
                <a:srgbClr val="000000"/>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4.2.1 Phân vùng tương đương </a:t>
            </a:r>
            <a:r>
              <a:rPr lang="vi" sz="2400"/>
              <a:t>(Equivalence Partitioning - EP)</a:t>
            </a:r>
            <a:endParaRPr sz="2400"/>
          </a:p>
        </p:txBody>
      </p:sp>
      <p:sp>
        <p:nvSpPr>
          <p:cNvPr id="154" name="Google Shape;154;p27"/>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AutoNum type="arabicPeriod"/>
            </a:pPr>
            <a:r>
              <a:rPr lang="vi">
                <a:solidFill>
                  <a:schemeClr val="dk1"/>
                </a:solidFill>
              </a:rPr>
              <a:t>Xác định phân vùng</a:t>
            </a:r>
            <a:endParaRPr>
              <a:solidFill>
                <a:schemeClr val="dk1"/>
              </a:solidFill>
            </a:endParaRPr>
          </a:p>
          <a:p>
            <a:pPr marL="0" lvl="0" indent="0" algn="l" rtl="0">
              <a:spcBef>
                <a:spcPts val="1200"/>
              </a:spcBef>
              <a:spcAft>
                <a:spcPts val="1200"/>
              </a:spcAft>
              <a:buNone/>
            </a:pPr>
            <a:endParaRPr>
              <a:solidFill>
                <a:schemeClr val="dk1"/>
              </a:solidFill>
            </a:endParaRPr>
          </a:p>
        </p:txBody>
      </p:sp>
      <p:pic>
        <p:nvPicPr>
          <p:cNvPr id="155" name="Google Shape;155;p27" descr="Image"/>
          <p:cNvPicPr preferRelativeResize="0"/>
          <p:nvPr/>
        </p:nvPicPr>
        <p:blipFill rotWithShape="1">
          <a:blip r:embed="rId3">
            <a:alphaModFix/>
          </a:blip>
          <a:srcRect/>
          <a:stretch/>
        </p:blipFill>
        <p:spPr>
          <a:xfrm>
            <a:off x="515624" y="1892293"/>
            <a:ext cx="7645400" cy="1358901"/>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4.2.1 Phân vùng tương đương </a:t>
            </a:r>
            <a:r>
              <a:rPr lang="vi" sz="2400"/>
              <a:t>(Equivalence Partitioning - EP)</a:t>
            </a:r>
            <a:endParaRPr sz="2400"/>
          </a:p>
        </p:txBody>
      </p:sp>
      <p:sp>
        <p:nvSpPr>
          <p:cNvPr id="161" name="Google Shape;161;p28"/>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a:solidFill>
                  <a:schemeClr val="dk1"/>
                </a:solidFill>
              </a:rPr>
              <a:t>2. Xác định testcase</a:t>
            </a:r>
            <a:endParaRPr>
              <a:solidFill>
                <a:schemeClr val="dk1"/>
              </a:solidFill>
            </a:endParaRPr>
          </a:p>
        </p:txBody>
      </p:sp>
      <p:graphicFrame>
        <p:nvGraphicFramePr>
          <p:cNvPr id="162" name="Google Shape;162;p28"/>
          <p:cNvGraphicFramePr/>
          <p:nvPr/>
        </p:nvGraphicFramePr>
        <p:xfrm>
          <a:off x="740817" y="1922569"/>
          <a:ext cx="8042975" cy="2562830"/>
        </p:xfrm>
        <a:graphic>
          <a:graphicData uri="http://schemas.openxmlformats.org/drawingml/2006/table">
            <a:tbl>
              <a:tblPr>
                <a:noFill/>
                <a:tableStyleId>{76FB9781-14EE-480A-A12A-6B5F160EF31A}</a:tableStyleId>
              </a:tblPr>
              <a:tblGrid>
                <a:gridCol w="608850">
                  <a:extLst>
                    <a:ext uri="{9D8B030D-6E8A-4147-A177-3AD203B41FA5}">
                      <a16:colId xmlns:a16="http://schemas.microsoft.com/office/drawing/2014/main" val="20000"/>
                    </a:ext>
                  </a:extLst>
                </a:gridCol>
                <a:gridCol w="3121725">
                  <a:extLst>
                    <a:ext uri="{9D8B030D-6E8A-4147-A177-3AD203B41FA5}">
                      <a16:colId xmlns:a16="http://schemas.microsoft.com/office/drawing/2014/main" val="20001"/>
                    </a:ext>
                  </a:extLst>
                </a:gridCol>
                <a:gridCol w="4312400">
                  <a:extLst>
                    <a:ext uri="{9D8B030D-6E8A-4147-A177-3AD203B41FA5}">
                      <a16:colId xmlns:a16="http://schemas.microsoft.com/office/drawing/2014/main" val="20002"/>
                    </a:ext>
                  </a:extLst>
                </a:gridCol>
              </a:tblGrid>
              <a:tr h="457175">
                <a:tc>
                  <a:txBody>
                    <a:bodyPr/>
                    <a:lstStyle/>
                    <a:p>
                      <a:pPr marL="0" marR="0" lvl="0" indent="0" algn="ctr" rtl="0">
                        <a:lnSpc>
                          <a:spcPct val="100000"/>
                        </a:lnSpc>
                        <a:spcBef>
                          <a:spcPts val="0"/>
                        </a:spcBef>
                        <a:spcAft>
                          <a:spcPts val="0"/>
                        </a:spcAft>
                        <a:buClr>
                          <a:srgbClr val="000000"/>
                        </a:buClr>
                        <a:buSzPts val="1800"/>
                        <a:buFont typeface="Tahoma"/>
                        <a:buNone/>
                      </a:pPr>
                      <a:r>
                        <a:rPr lang="vi" sz="1600" b="1" u="none" strike="noStrike" cap="none">
                          <a:latin typeface="Source Code Pro"/>
                          <a:ea typeface="Source Code Pro"/>
                          <a:cs typeface="Source Code Pro"/>
                          <a:sym typeface="Source Code Pro"/>
                        </a:rPr>
                        <a:t>TC</a:t>
                      </a:r>
                      <a:endParaRPr sz="1600" u="none" strike="noStrike" cap="none">
                        <a:latin typeface="Source Code Pro"/>
                        <a:ea typeface="Source Code Pro"/>
                        <a:cs typeface="Source Code Pro"/>
                        <a:sym typeface="Source Code Pro"/>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800"/>
                        <a:buFont typeface="Tahoma"/>
                        <a:buNone/>
                      </a:pPr>
                      <a:r>
                        <a:rPr lang="vi" sz="1600" b="1" u="none" strike="noStrike" cap="none">
                          <a:latin typeface="Source Code Pro"/>
                          <a:ea typeface="Source Code Pro"/>
                          <a:cs typeface="Source Code Pro"/>
                          <a:sym typeface="Source Code Pro"/>
                        </a:rPr>
                        <a:t>Giá trị Input</a:t>
                      </a:r>
                      <a:endParaRPr sz="1600" u="none" strike="noStrike" cap="none">
                        <a:latin typeface="Source Code Pro"/>
                        <a:ea typeface="Source Code Pro"/>
                        <a:cs typeface="Source Code Pro"/>
                        <a:sym typeface="Source Code Pro"/>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800"/>
                        <a:buFont typeface="Tahoma"/>
                        <a:buNone/>
                      </a:pPr>
                      <a:r>
                        <a:rPr lang="vi" sz="1600" b="1" u="none" strike="noStrike" cap="none">
                          <a:latin typeface="Source Code Pro"/>
                          <a:ea typeface="Source Code Pro"/>
                          <a:cs typeface="Source Code Pro"/>
                          <a:sym typeface="Source Code Pro"/>
                        </a:rPr>
                        <a:t>Kết quả Output mong đợi</a:t>
                      </a:r>
                      <a:endParaRPr sz="1600" u="none" strike="noStrike" cap="none">
                        <a:latin typeface="Source Code Pro"/>
                        <a:ea typeface="Source Code Pro"/>
                        <a:cs typeface="Source Code Pro"/>
                        <a:sym typeface="Source Code Pro"/>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488975">
                <a:tc>
                  <a:txBody>
                    <a:bodyPr/>
                    <a:lstStyle/>
                    <a:p>
                      <a:pPr marL="0" marR="0" lvl="0" indent="0" algn="ctr"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1</a:t>
                      </a:r>
                      <a:endParaRPr sz="1600" u="none" strike="noStrike" cap="none">
                        <a:latin typeface="Source Code Pro"/>
                        <a:ea typeface="Source Code Pro"/>
                        <a:cs typeface="Source Code Pro"/>
                        <a:sym typeface="Source Code Pro"/>
                      </a:endParaRPr>
                    </a:p>
                  </a:txBody>
                  <a:tcPr marL="91425" marR="91425" marT="91425" marB="91425">
                    <a:lnT w="9525" cap="flat" cmpd="sng">
                      <a:solidFill>
                        <a:srgbClr val="FFFFFF"/>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0 (phân vùng (-∞,0])</a:t>
                      </a:r>
                      <a:endParaRPr sz="1600" u="none" strike="noStrike" cap="none">
                        <a:latin typeface="Source Code Pro"/>
                        <a:ea typeface="Source Code Pro"/>
                        <a:cs typeface="Source Code Pro"/>
                        <a:sym typeface="Source Code Pro"/>
                      </a:endParaRPr>
                    </a:p>
                  </a:txBody>
                  <a:tcPr marL="91425" marR="91425" marT="91425" marB="91425">
                    <a:lnT w="9525" cap="flat" cmpd="sng">
                      <a:solidFill>
                        <a:srgbClr val="FFFFFF"/>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Hiển thị thông báo Invalid number</a:t>
                      </a:r>
                      <a:endParaRPr sz="1600" u="none" strike="noStrike" cap="none">
                        <a:latin typeface="Source Code Pro"/>
                        <a:ea typeface="Source Code Pro"/>
                        <a:cs typeface="Source Code Pro"/>
                        <a:sym typeface="Source Code Pro"/>
                      </a:endParaRPr>
                    </a:p>
                  </a:txBody>
                  <a:tcPr marL="91425" marR="91425" marT="91425" marB="91425">
                    <a:lnT w="9525" cap="flat" cmpd="sng">
                      <a:solidFill>
                        <a:srgbClr val="FFFFFF"/>
                      </a:solidFill>
                      <a:prstDash val="solid"/>
                      <a:round/>
                      <a:headEnd type="none" w="sm" len="sm"/>
                      <a:tailEnd type="none" w="sm" len="sm"/>
                    </a:lnT>
                  </a:tcPr>
                </a:tc>
                <a:extLst>
                  <a:ext uri="{0D108BD9-81ED-4DB2-BD59-A6C34878D82A}">
                    <a16:rowId xmlns:a16="http://schemas.microsoft.com/office/drawing/2014/main" val="10001"/>
                  </a:ext>
                </a:extLst>
              </a:tr>
              <a:tr h="457175">
                <a:tc>
                  <a:txBody>
                    <a:bodyPr/>
                    <a:lstStyle/>
                    <a:p>
                      <a:pPr marL="0" marR="0" lvl="0" indent="0" algn="ctr"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2</a:t>
                      </a:r>
                      <a:endParaRPr sz="16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5 (phân vùng [1,10])</a:t>
                      </a:r>
                      <a:endParaRPr sz="16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Total = Quantity * Unit price</a:t>
                      </a:r>
                      <a:endParaRPr sz="16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2"/>
                  </a:ext>
                </a:extLst>
              </a:tr>
              <a:tr h="474750">
                <a:tc>
                  <a:txBody>
                    <a:bodyPr/>
                    <a:lstStyle/>
                    <a:p>
                      <a:pPr marL="0" marR="0" lvl="0" indent="0" algn="ctr"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3</a:t>
                      </a:r>
                      <a:endParaRPr sz="16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50 (phân vùng [11,99])</a:t>
                      </a:r>
                      <a:endParaRPr sz="16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Total = Quantity * Unit price - Discount</a:t>
                      </a:r>
                      <a:endParaRPr sz="16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3"/>
                  </a:ext>
                </a:extLst>
              </a:tr>
              <a:tr h="488975">
                <a:tc>
                  <a:txBody>
                    <a:bodyPr/>
                    <a:lstStyle/>
                    <a:p>
                      <a:pPr marL="0" marR="0" lvl="0" indent="0" algn="ctr"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4</a:t>
                      </a:r>
                      <a:endParaRPr sz="16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100 (phân vùng [100,+∞))</a:t>
                      </a:r>
                      <a:endParaRPr sz="16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600" u="none" strike="noStrike" cap="none">
                          <a:latin typeface="Source Code Pro"/>
                          <a:ea typeface="Source Code Pro"/>
                          <a:cs typeface="Source Code Pro"/>
                          <a:sym typeface="Source Code Pro"/>
                        </a:rPr>
                        <a:t>Hiển thị thông báo Invalid number</a:t>
                      </a:r>
                      <a:endParaRPr sz="16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vi"/>
              <a:t>4.2.1 Phân vùng tương đương (</a:t>
            </a:r>
            <a:r>
              <a:rPr lang="vi" sz="2200">
                <a:latin typeface="Source Code Pro"/>
                <a:ea typeface="Source Code Pro"/>
                <a:cs typeface="Source Code Pro"/>
                <a:sym typeface="Source Code Pro"/>
              </a:rPr>
              <a:t>Equivalence Partitioning - EP</a:t>
            </a:r>
            <a:r>
              <a:rPr lang="vi" sz="1800">
                <a:latin typeface="Source Code Pro"/>
                <a:ea typeface="Source Code Pro"/>
                <a:cs typeface="Source Code Pro"/>
                <a:sym typeface="Source Code Pro"/>
              </a:rPr>
              <a:t>)</a:t>
            </a:r>
            <a:endParaRPr/>
          </a:p>
        </p:txBody>
      </p:sp>
      <p:sp>
        <p:nvSpPr>
          <p:cNvPr id="168" name="Google Shape;168;p29"/>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lnSpc>
                <a:spcPct val="150000"/>
              </a:lnSpc>
              <a:spcBef>
                <a:spcPts val="500"/>
              </a:spcBef>
              <a:spcAft>
                <a:spcPts val="0"/>
              </a:spcAft>
              <a:buNone/>
            </a:pPr>
            <a:r>
              <a:rPr lang="vi">
                <a:solidFill>
                  <a:schemeClr val="dk1"/>
                </a:solidFill>
              </a:rPr>
              <a:t>Ưu điểm</a:t>
            </a:r>
            <a:endParaRPr>
              <a:solidFill>
                <a:schemeClr val="dk1"/>
              </a:solidFill>
            </a:endParaRPr>
          </a:p>
          <a:p>
            <a:pPr marL="0" lvl="0" indent="0" algn="l" rtl="0">
              <a:lnSpc>
                <a:spcPct val="150000"/>
              </a:lnSpc>
              <a:spcBef>
                <a:spcPts val="500"/>
              </a:spcBef>
              <a:spcAft>
                <a:spcPts val="0"/>
              </a:spcAft>
              <a:buClr>
                <a:srgbClr val="000000"/>
              </a:buClr>
              <a:buSzPts val="2000"/>
              <a:buFont typeface="Arial"/>
              <a:buNone/>
            </a:pPr>
            <a:r>
              <a:rPr lang="vi">
                <a:solidFill>
                  <a:srgbClr val="000000"/>
                </a:solidFill>
              </a:rPr>
              <a:t>Mỗi vùng tương đương chỉ cần test trên các phần tử đại diện nên số lượng TC giảm -&gt; giảm thời gian viết TC -&gt; giảm thời gian test.</a:t>
            </a:r>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4.2.1 Phân vùng tương đương</a:t>
            </a:r>
            <a:r>
              <a:rPr lang="vi" sz="1800">
                <a:latin typeface="Source Code Pro"/>
                <a:ea typeface="Source Code Pro"/>
                <a:cs typeface="Source Code Pro"/>
                <a:sym typeface="Source Code Pro"/>
              </a:rPr>
              <a:t> </a:t>
            </a:r>
            <a:r>
              <a:rPr lang="vi" sz="2400"/>
              <a:t>(Equivalence Partitioning - EP)</a:t>
            </a:r>
            <a:endParaRPr sz="2400"/>
          </a:p>
        </p:txBody>
      </p:sp>
      <p:sp>
        <p:nvSpPr>
          <p:cNvPr id="174" name="Google Shape;174;p30"/>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lnSpc>
                <a:spcPct val="150000"/>
              </a:lnSpc>
              <a:spcBef>
                <a:spcPts val="500"/>
              </a:spcBef>
              <a:spcAft>
                <a:spcPts val="0"/>
              </a:spcAft>
              <a:buNone/>
            </a:pPr>
            <a:r>
              <a:rPr lang="vi">
                <a:solidFill>
                  <a:schemeClr val="dk1"/>
                </a:solidFill>
              </a:rPr>
              <a:t>Nhược điểm</a:t>
            </a:r>
            <a:endParaRPr>
              <a:solidFill>
                <a:schemeClr val="dk1"/>
              </a:solidFill>
            </a:endParaRPr>
          </a:p>
          <a:p>
            <a:pPr marL="0" lvl="0" indent="0" algn="l" rtl="0">
              <a:lnSpc>
                <a:spcPct val="150000"/>
              </a:lnSpc>
              <a:spcBef>
                <a:spcPts val="0"/>
              </a:spcBef>
              <a:spcAft>
                <a:spcPts val="0"/>
              </a:spcAft>
              <a:buClr>
                <a:srgbClr val="000000"/>
              </a:buClr>
              <a:buSzPts val="2000"/>
              <a:buFont typeface="Arial"/>
              <a:buNone/>
            </a:pPr>
            <a:r>
              <a:rPr lang="vi">
                <a:solidFill>
                  <a:srgbClr val="000000"/>
                </a:solidFill>
              </a:rPr>
              <a:t>Không phát hiện được lỗi ở các giá trị ranh giới giữa các phân vùng.</a:t>
            </a:r>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4.2.2 Phân tích giá trị biên</a:t>
            </a:r>
            <a:r>
              <a:rPr lang="vi" sz="1800">
                <a:latin typeface="Source Code Pro"/>
                <a:ea typeface="Source Code Pro"/>
                <a:cs typeface="Source Code Pro"/>
                <a:sym typeface="Source Code Pro"/>
              </a:rPr>
              <a:t> </a:t>
            </a:r>
            <a:r>
              <a:rPr lang="vi" sz="2400"/>
              <a:t>(Boundary Value Analysis - BVA)</a:t>
            </a:r>
            <a:endParaRPr sz="2400"/>
          </a:p>
        </p:txBody>
      </p:sp>
      <p:sp>
        <p:nvSpPr>
          <p:cNvPr id="180" name="Google Shape;180;p31"/>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chemeClr val="dk1"/>
                </a:solidFill>
              </a:rPr>
              <a:t>Phương pháp</a:t>
            </a:r>
            <a:r>
              <a:rPr lang="vi"/>
              <a:t> Là tiến trình lựa chọn test data bằng cách tìm hiểu ranh giới giữa các phân vùng.</a:t>
            </a:r>
            <a:endParaRPr/>
          </a:p>
          <a:p>
            <a:pPr marL="0" lvl="0" indent="0" algn="l" rtl="0">
              <a:spcBef>
                <a:spcPts val="1200"/>
              </a:spcBef>
              <a:spcAft>
                <a:spcPts val="1200"/>
              </a:spcAft>
              <a:buNone/>
            </a:pPr>
            <a:r>
              <a:rPr lang="vi"/>
              <a:t>Min và Max của các phân vùng là giá trị biên của nó. </a:t>
            </a:r>
            <a:endParaRPr/>
          </a:p>
        </p:txBody>
      </p:sp>
      <p:pic>
        <p:nvPicPr>
          <p:cNvPr id="181" name="Google Shape;181;p31" descr="Google Shape;180;p23"/>
          <p:cNvPicPr preferRelativeResize="0"/>
          <p:nvPr/>
        </p:nvPicPr>
        <p:blipFill rotWithShape="1">
          <a:blip r:embed="rId3">
            <a:alphaModFix/>
          </a:blip>
          <a:srcRect/>
          <a:stretch/>
        </p:blipFill>
        <p:spPr>
          <a:xfrm>
            <a:off x="1046325" y="2545074"/>
            <a:ext cx="6735375" cy="2051001"/>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2"/>
          <p:cNvSpPr txBox="1">
            <a:spLocks noGrp="1"/>
          </p:cNvSpPr>
          <p:nvPr>
            <p:ph type="title"/>
          </p:nvPr>
        </p:nvSpPr>
        <p:spPr>
          <a:xfrm>
            <a:off x="311700" y="372500"/>
            <a:ext cx="87024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4.2.2 Phân tích giá trị biên</a:t>
            </a:r>
            <a:r>
              <a:rPr lang="vi" sz="1800">
                <a:latin typeface="Source Code Pro"/>
                <a:ea typeface="Source Code Pro"/>
                <a:cs typeface="Source Code Pro"/>
                <a:sym typeface="Source Code Pro"/>
              </a:rPr>
              <a:t> </a:t>
            </a:r>
            <a:r>
              <a:rPr lang="vi" sz="2400"/>
              <a:t>(Boundary Value Analysis - BVA)</a:t>
            </a:r>
            <a:endParaRPr/>
          </a:p>
        </p:txBody>
      </p:sp>
      <p:sp>
        <p:nvSpPr>
          <p:cNvPr id="187" name="Google Shape;187;p32"/>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a:solidFill>
                  <a:schemeClr val="dk1"/>
                </a:solidFill>
              </a:rPr>
              <a:t>Ví dụ:</a:t>
            </a:r>
            <a:r>
              <a:rPr lang="vi"/>
              <a:t> Dựa trên kỹ thuật EP, </a:t>
            </a:r>
            <a:r>
              <a:rPr lang="vi" sz="1700">
                <a:solidFill>
                  <a:srgbClr val="000000"/>
                </a:solidFill>
              </a:rPr>
              <a:t>thiết kế testcase cho màn hình giỏ hàng với yêu cầu sau</a:t>
            </a:r>
            <a:endParaRPr sz="1700"/>
          </a:p>
        </p:txBody>
      </p:sp>
      <p:pic>
        <p:nvPicPr>
          <p:cNvPr id="188" name="Google Shape;188;p32"/>
          <p:cNvPicPr preferRelativeResize="0"/>
          <p:nvPr/>
        </p:nvPicPr>
        <p:blipFill rotWithShape="1">
          <a:blip r:embed="rId3">
            <a:alphaModFix/>
          </a:blip>
          <a:srcRect/>
          <a:stretch/>
        </p:blipFill>
        <p:spPr>
          <a:xfrm>
            <a:off x="322400" y="2042525"/>
            <a:ext cx="5627649" cy="2907975"/>
          </a:xfrm>
          <a:prstGeom prst="rect">
            <a:avLst/>
          </a:prstGeom>
          <a:noFill/>
          <a:ln>
            <a:noFill/>
          </a:ln>
        </p:spPr>
      </p:pic>
      <p:sp>
        <p:nvSpPr>
          <p:cNvPr id="189" name="Google Shape;189;p32"/>
          <p:cNvSpPr txBox="1"/>
          <p:nvPr/>
        </p:nvSpPr>
        <p:spPr>
          <a:xfrm>
            <a:off x="6082575" y="2076900"/>
            <a:ext cx="2991300" cy="3455700"/>
          </a:xfrm>
          <a:prstGeom prst="rect">
            <a:avLst/>
          </a:prstGeom>
          <a:noFill/>
          <a:ln>
            <a:noFill/>
          </a:ln>
        </p:spPr>
        <p:txBody>
          <a:bodyPr spcFirstLastPara="1" wrap="square" lIns="91425" tIns="91425" rIns="91425" bIns="91425" anchor="t" anchorCtr="0">
            <a:spAutoFit/>
          </a:bodyPr>
          <a:lstStyle/>
          <a:p>
            <a:pPr marL="457200" marR="0" lvl="0" indent="-336550" algn="just" rtl="0">
              <a:lnSpc>
                <a:spcPct val="115000"/>
              </a:lnSpc>
              <a:spcBef>
                <a:spcPts val="0"/>
              </a:spcBef>
              <a:spcAft>
                <a:spcPts val="0"/>
              </a:spcAft>
              <a:buClr>
                <a:srgbClr val="000000"/>
              </a:buClr>
              <a:buSzPts val="1700"/>
              <a:buFont typeface="Source Code Pro"/>
              <a:buChar char="-"/>
            </a:pPr>
            <a:r>
              <a:rPr lang="vi" sz="1700" i="0" u="none" strike="noStrike" cap="none">
                <a:solidFill>
                  <a:srgbClr val="000000"/>
                </a:solidFill>
                <a:latin typeface="Source Code Pro"/>
                <a:ea typeface="Source Code Pro"/>
                <a:cs typeface="Source Code Pro"/>
                <a:sym typeface="Source Code Pro"/>
              </a:rPr>
              <a:t>Mỗi sản phẩm khách hàng chỉ được mua với số lượng không quá 100. </a:t>
            </a:r>
            <a:endParaRPr sz="1700" i="0" u="none" strike="noStrike" cap="none">
              <a:solidFill>
                <a:srgbClr val="000000"/>
              </a:solidFill>
              <a:latin typeface="Source Code Pro"/>
              <a:ea typeface="Source Code Pro"/>
              <a:cs typeface="Source Code Pro"/>
              <a:sym typeface="Source Code Pro"/>
            </a:endParaRPr>
          </a:p>
          <a:p>
            <a:pPr marL="457200" marR="0" lvl="0" indent="-336550" algn="just" rtl="0">
              <a:lnSpc>
                <a:spcPct val="115000"/>
              </a:lnSpc>
              <a:spcBef>
                <a:spcPts val="0"/>
              </a:spcBef>
              <a:spcAft>
                <a:spcPts val="0"/>
              </a:spcAft>
              <a:buClr>
                <a:srgbClr val="000000"/>
              </a:buClr>
              <a:buSzPts val="1700"/>
              <a:buFont typeface="Source Code Pro"/>
              <a:buChar char="-"/>
            </a:pPr>
            <a:r>
              <a:rPr lang="vi" sz="1700" i="0" u="none" strike="noStrike" cap="none">
                <a:solidFill>
                  <a:srgbClr val="000000"/>
                </a:solidFill>
                <a:latin typeface="Source Code Pro"/>
                <a:ea typeface="Source Code Pro"/>
                <a:cs typeface="Source Code Pro"/>
                <a:sym typeface="Source Code Pro"/>
              </a:rPr>
              <a:t>Nếu số lượng trên 10 thì được chiết khấu 5%.</a:t>
            </a:r>
            <a:endParaRPr sz="1700" i="0" u="none" strike="noStrike" cap="none">
              <a:solidFill>
                <a:srgbClr val="000000"/>
              </a:solidFill>
              <a:latin typeface="Source Code Pro"/>
              <a:ea typeface="Source Code Pro"/>
              <a:cs typeface="Source Code Pro"/>
              <a:sym typeface="Source Code Pro"/>
            </a:endParaRPr>
          </a:p>
          <a:p>
            <a:pPr marL="457200" marR="0" lvl="0" indent="-336550" algn="just" rtl="0">
              <a:lnSpc>
                <a:spcPct val="115000"/>
              </a:lnSpc>
              <a:spcBef>
                <a:spcPts val="0"/>
              </a:spcBef>
              <a:spcAft>
                <a:spcPts val="0"/>
              </a:spcAft>
              <a:buClr>
                <a:srgbClr val="000000"/>
              </a:buClr>
              <a:buSzPts val="1700"/>
              <a:buFont typeface="Source Code Pro"/>
              <a:buChar char="-"/>
            </a:pPr>
            <a:r>
              <a:rPr lang="vi" sz="1700" i="0" u="none" strike="noStrike" cap="none">
                <a:solidFill>
                  <a:srgbClr val="000000"/>
                </a:solidFill>
                <a:latin typeface="Source Code Pro"/>
                <a:ea typeface="Source Code Pro"/>
                <a:cs typeface="Source Code Pro"/>
                <a:sym typeface="Source Code Pro"/>
              </a:rPr>
              <a:t>Ngược lại thì không được chiết khấu.</a:t>
            </a:r>
            <a:endParaRPr sz="1700" i="0" u="none" strike="noStrike" cap="none">
              <a:solidFill>
                <a:srgbClr val="000000"/>
              </a:solidFill>
              <a:latin typeface="Source Code Pro"/>
              <a:ea typeface="Source Code Pro"/>
              <a:cs typeface="Source Code Pro"/>
              <a:sym typeface="Source Code Pro"/>
            </a:endParaRPr>
          </a:p>
          <a:p>
            <a:pPr marL="0" marR="0" lvl="0" indent="0" algn="l" rtl="0">
              <a:lnSpc>
                <a:spcPct val="100000"/>
              </a:lnSpc>
              <a:spcBef>
                <a:spcPts val="0"/>
              </a:spcBef>
              <a:spcAft>
                <a:spcPts val="0"/>
              </a:spcAft>
              <a:buClr>
                <a:srgbClr val="000000"/>
              </a:buClr>
              <a:buSzPts val="1400"/>
              <a:buFont typeface="Arial"/>
              <a:buNone/>
            </a:pPr>
            <a:endParaRPr sz="1700" b="0" i="0" u="none" strike="noStrike" cap="none">
              <a:solidFill>
                <a:srgbClr val="000000"/>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4.2.2 Phân tích giá trị biên</a:t>
            </a:r>
            <a:r>
              <a:rPr lang="vi" sz="1800">
                <a:latin typeface="Source Code Pro"/>
                <a:ea typeface="Source Code Pro"/>
                <a:cs typeface="Source Code Pro"/>
                <a:sym typeface="Source Code Pro"/>
              </a:rPr>
              <a:t> </a:t>
            </a:r>
            <a:r>
              <a:rPr lang="vi" sz="2400"/>
              <a:t>(Boundary Value Analysis - BVA)</a:t>
            </a:r>
            <a:endParaRPr/>
          </a:p>
        </p:txBody>
      </p:sp>
      <p:sp>
        <p:nvSpPr>
          <p:cNvPr id="195" name="Google Shape;195;p33"/>
          <p:cNvSpPr txBox="1"/>
          <p:nvPr/>
        </p:nvSpPr>
        <p:spPr>
          <a:xfrm>
            <a:off x="349600" y="1187625"/>
            <a:ext cx="81168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vi" sz="1800">
                <a:solidFill>
                  <a:schemeClr val="dk1"/>
                </a:solidFill>
                <a:latin typeface="Source Code Pro"/>
                <a:ea typeface="Source Code Pro"/>
                <a:cs typeface="Source Code Pro"/>
                <a:sym typeface="Source Code Pro"/>
              </a:rPr>
              <a:t>1. Xác định các điểm biên</a:t>
            </a:r>
            <a:endParaRPr sz="1700">
              <a:solidFill>
                <a:schemeClr val="dk1"/>
              </a:solidFill>
              <a:latin typeface="Source Code Pro"/>
              <a:ea typeface="Source Code Pro"/>
              <a:cs typeface="Source Code Pro"/>
              <a:sym typeface="Source Code Pro"/>
            </a:endParaRPr>
          </a:p>
        </p:txBody>
      </p:sp>
      <p:graphicFrame>
        <p:nvGraphicFramePr>
          <p:cNvPr id="196" name="Google Shape;196;p33"/>
          <p:cNvGraphicFramePr/>
          <p:nvPr/>
        </p:nvGraphicFramePr>
        <p:xfrm>
          <a:off x="1574074" y="1882100"/>
          <a:ext cx="5074725" cy="2358875"/>
        </p:xfrm>
        <a:graphic>
          <a:graphicData uri="http://schemas.openxmlformats.org/drawingml/2006/table">
            <a:tbl>
              <a:tblPr>
                <a:noFill/>
                <a:tableStyleId>{76FB9781-14EE-480A-A12A-6B5F160EF31A}</a:tableStyleId>
              </a:tblPr>
              <a:tblGrid>
                <a:gridCol w="1762875">
                  <a:extLst>
                    <a:ext uri="{9D8B030D-6E8A-4147-A177-3AD203B41FA5}">
                      <a16:colId xmlns:a16="http://schemas.microsoft.com/office/drawing/2014/main" val="20000"/>
                    </a:ext>
                  </a:extLst>
                </a:gridCol>
                <a:gridCol w="3311850">
                  <a:extLst>
                    <a:ext uri="{9D8B030D-6E8A-4147-A177-3AD203B41FA5}">
                      <a16:colId xmlns:a16="http://schemas.microsoft.com/office/drawing/2014/main" val="20001"/>
                    </a:ext>
                  </a:extLst>
                </a:gridCol>
              </a:tblGrid>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800" b="1" u="none" strike="noStrike" cap="none">
                          <a:solidFill>
                            <a:srgbClr val="FFFFFF"/>
                          </a:solidFill>
                          <a:latin typeface="Source Code Pro"/>
                          <a:ea typeface="Source Code Pro"/>
                          <a:cs typeface="Source Code Pro"/>
                          <a:sym typeface="Source Code Pro"/>
                        </a:rPr>
                        <a:t>Phân vùng</a:t>
                      </a:r>
                      <a:endParaRPr sz="1800" u="none" strike="noStrike" cap="none">
                        <a:solidFill>
                          <a:srgbClr val="FFFFFF"/>
                        </a:solidFill>
                        <a:latin typeface="Source Code Pro"/>
                        <a:ea typeface="Source Code Pro"/>
                        <a:cs typeface="Source Code Pro"/>
                        <a:sym typeface="Source Code Pro"/>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800"/>
                        <a:buFont typeface="Tahoma"/>
                        <a:buNone/>
                      </a:pPr>
                      <a:r>
                        <a:rPr lang="vi" sz="1800" b="1" u="none" strike="noStrike" cap="none">
                          <a:solidFill>
                            <a:srgbClr val="FFFFFF"/>
                          </a:solidFill>
                          <a:latin typeface="Source Code Pro"/>
                          <a:ea typeface="Source Code Pro"/>
                          <a:cs typeface="Source Code Pro"/>
                          <a:sym typeface="Source Code Pro"/>
                        </a:rPr>
                        <a:t>Giá trị biên</a:t>
                      </a:r>
                      <a:endParaRPr sz="1800" u="none" strike="noStrike" cap="none">
                        <a:solidFill>
                          <a:srgbClr val="FFFFFF"/>
                        </a:solidFill>
                        <a:latin typeface="Source Code Pro"/>
                        <a:ea typeface="Source Code Pro"/>
                        <a:cs typeface="Source Code Pro"/>
                        <a:sym typeface="Source Code Pro"/>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800" u="none" strike="noStrike" cap="none">
                          <a:latin typeface="Source Code Pro"/>
                          <a:ea typeface="Source Code Pro"/>
                          <a:cs typeface="Source Code Pro"/>
                          <a:sym typeface="Source Code Pro"/>
                        </a:rPr>
                        <a:t>(-∞,0]</a:t>
                      </a:r>
                      <a:endParaRPr sz="1800" u="none" strike="noStrike" cap="none">
                        <a:latin typeface="Source Code Pro"/>
                        <a:ea typeface="Source Code Pro"/>
                        <a:cs typeface="Source Code Pro"/>
                        <a:sym typeface="Source Code Pro"/>
                      </a:endParaRPr>
                    </a:p>
                  </a:txBody>
                  <a:tcPr marL="91425" marR="91425" marT="91425" marB="91425">
                    <a:lnT w="9525" cap="flat" cmpd="sng">
                      <a:solidFill>
                        <a:srgbClr val="FFFFFF"/>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800"/>
                        <a:buFont typeface="Tahoma"/>
                        <a:buNone/>
                      </a:pPr>
                      <a:r>
                        <a:rPr lang="vi" sz="1800" u="none" strike="noStrike" cap="none">
                          <a:latin typeface="Source Code Pro"/>
                          <a:ea typeface="Source Code Pro"/>
                          <a:cs typeface="Source Code Pro"/>
                          <a:sym typeface="Source Code Pro"/>
                        </a:rPr>
                        <a:t>0</a:t>
                      </a:r>
                      <a:endParaRPr sz="1800" u="none" strike="noStrike" cap="none">
                        <a:latin typeface="Source Code Pro"/>
                        <a:ea typeface="Source Code Pro"/>
                        <a:cs typeface="Source Code Pro"/>
                        <a:sym typeface="Source Code Pro"/>
                      </a:endParaRPr>
                    </a:p>
                  </a:txBody>
                  <a:tcPr marL="91425" marR="91425" marT="91425" marB="91425">
                    <a:lnT w="9525" cap="flat" cmpd="sng">
                      <a:solidFill>
                        <a:srgbClr val="FFFFFF"/>
                      </a:solidFill>
                      <a:prstDash val="solid"/>
                      <a:round/>
                      <a:headEnd type="none" w="sm" len="sm"/>
                      <a:tailEnd type="none" w="sm" len="sm"/>
                    </a:lnT>
                  </a:tcPr>
                </a:tc>
                <a:extLst>
                  <a:ext uri="{0D108BD9-81ED-4DB2-BD59-A6C34878D82A}">
                    <a16:rowId xmlns:a16="http://schemas.microsoft.com/office/drawing/2014/main" val="10001"/>
                  </a:ext>
                </a:extLst>
              </a:tr>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800" u="none" strike="noStrike" cap="none">
                          <a:latin typeface="Source Code Pro"/>
                          <a:ea typeface="Source Code Pro"/>
                          <a:cs typeface="Source Code Pro"/>
                          <a:sym typeface="Source Code Pro"/>
                        </a:rPr>
                        <a:t>[1,10]</a:t>
                      </a:r>
                      <a:endParaRPr sz="18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800" u="none" strike="noStrike" cap="none">
                          <a:latin typeface="Source Code Pro"/>
                          <a:ea typeface="Source Code Pro"/>
                          <a:cs typeface="Source Code Pro"/>
                          <a:sym typeface="Source Code Pro"/>
                        </a:rPr>
                        <a:t>1,10</a:t>
                      </a:r>
                      <a:endParaRPr sz="18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2"/>
                  </a:ext>
                </a:extLst>
              </a:tr>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800" u="none" strike="noStrike" cap="none">
                          <a:latin typeface="Source Code Pro"/>
                          <a:ea typeface="Source Code Pro"/>
                          <a:cs typeface="Source Code Pro"/>
                          <a:sym typeface="Source Code Pro"/>
                        </a:rPr>
                        <a:t>[11,99]</a:t>
                      </a:r>
                      <a:endParaRPr sz="18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800" u="none" strike="noStrike" cap="none">
                          <a:latin typeface="Source Code Pro"/>
                          <a:ea typeface="Source Code Pro"/>
                          <a:cs typeface="Source Code Pro"/>
                          <a:sym typeface="Source Code Pro"/>
                        </a:rPr>
                        <a:t>11,99</a:t>
                      </a:r>
                      <a:endParaRPr sz="18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3"/>
                  </a:ext>
                </a:extLst>
              </a:tr>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800" u="none" strike="noStrike" cap="none">
                          <a:latin typeface="Source Code Pro"/>
                          <a:ea typeface="Source Code Pro"/>
                          <a:cs typeface="Source Code Pro"/>
                          <a:sym typeface="Source Code Pro"/>
                        </a:rPr>
                        <a:t>[100,+∞)</a:t>
                      </a:r>
                      <a:endParaRPr sz="18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800" u="none" strike="noStrike" cap="none">
                          <a:latin typeface="Source Code Pro"/>
                          <a:ea typeface="Source Code Pro"/>
                          <a:cs typeface="Source Code Pro"/>
                          <a:sym typeface="Source Code Pro"/>
                        </a:rPr>
                        <a:t>100</a:t>
                      </a:r>
                      <a:endParaRPr sz="18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4.2.2 Phân tích giá trị biên</a:t>
            </a:r>
            <a:r>
              <a:rPr lang="vi" sz="1800">
                <a:latin typeface="Source Code Pro"/>
                <a:ea typeface="Source Code Pro"/>
                <a:cs typeface="Source Code Pro"/>
                <a:sym typeface="Source Code Pro"/>
              </a:rPr>
              <a:t> </a:t>
            </a:r>
            <a:r>
              <a:rPr lang="vi" sz="2400"/>
              <a:t>(Boundary Value Analysis - BVA)</a:t>
            </a:r>
            <a:endParaRPr/>
          </a:p>
        </p:txBody>
      </p:sp>
      <p:sp>
        <p:nvSpPr>
          <p:cNvPr id="202" name="Google Shape;202;p34"/>
          <p:cNvSpPr txBox="1"/>
          <p:nvPr/>
        </p:nvSpPr>
        <p:spPr>
          <a:xfrm>
            <a:off x="349600" y="1187625"/>
            <a:ext cx="81168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vi" sz="1800">
                <a:solidFill>
                  <a:schemeClr val="dk1"/>
                </a:solidFill>
                <a:latin typeface="Source Code Pro"/>
                <a:ea typeface="Source Code Pro"/>
                <a:cs typeface="Source Code Pro"/>
                <a:sym typeface="Source Code Pro"/>
              </a:rPr>
              <a:t>2. Xác định testcase</a:t>
            </a:r>
            <a:endParaRPr sz="1700">
              <a:solidFill>
                <a:schemeClr val="dk1"/>
              </a:solidFill>
              <a:latin typeface="Source Code Pro"/>
              <a:ea typeface="Source Code Pro"/>
              <a:cs typeface="Source Code Pro"/>
              <a:sym typeface="Source Code Pro"/>
            </a:endParaRPr>
          </a:p>
        </p:txBody>
      </p:sp>
      <p:graphicFrame>
        <p:nvGraphicFramePr>
          <p:cNvPr id="203" name="Google Shape;203;p34"/>
          <p:cNvGraphicFramePr/>
          <p:nvPr/>
        </p:nvGraphicFramePr>
        <p:xfrm>
          <a:off x="1056200" y="1709025"/>
          <a:ext cx="7238975" cy="3155295"/>
        </p:xfrm>
        <a:graphic>
          <a:graphicData uri="http://schemas.openxmlformats.org/drawingml/2006/table">
            <a:tbl>
              <a:tblPr>
                <a:noFill/>
                <a:tableStyleId>{76FB9781-14EE-480A-A12A-6B5F160EF31A}</a:tableStyleId>
              </a:tblPr>
              <a:tblGrid>
                <a:gridCol w="852600">
                  <a:extLst>
                    <a:ext uri="{9D8B030D-6E8A-4147-A177-3AD203B41FA5}">
                      <a16:colId xmlns:a16="http://schemas.microsoft.com/office/drawing/2014/main" val="20000"/>
                    </a:ext>
                  </a:extLst>
                </a:gridCol>
                <a:gridCol w="1904600">
                  <a:extLst>
                    <a:ext uri="{9D8B030D-6E8A-4147-A177-3AD203B41FA5}">
                      <a16:colId xmlns:a16="http://schemas.microsoft.com/office/drawing/2014/main" val="20001"/>
                    </a:ext>
                  </a:extLst>
                </a:gridCol>
                <a:gridCol w="4481775">
                  <a:extLst>
                    <a:ext uri="{9D8B030D-6E8A-4147-A177-3AD203B41FA5}">
                      <a16:colId xmlns:a16="http://schemas.microsoft.com/office/drawing/2014/main" val="20002"/>
                    </a:ext>
                  </a:extLst>
                </a:gridCol>
              </a:tblGrid>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300" b="1" u="none" strike="noStrike" cap="none">
                          <a:solidFill>
                            <a:srgbClr val="FFFFFF"/>
                          </a:solidFill>
                          <a:latin typeface="Source Code Pro"/>
                          <a:ea typeface="Source Code Pro"/>
                          <a:cs typeface="Source Code Pro"/>
                          <a:sym typeface="Source Code Pro"/>
                        </a:rPr>
                        <a:t>TC</a:t>
                      </a:r>
                      <a:endParaRPr sz="1300" u="none" strike="noStrike" cap="none">
                        <a:solidFill>
                          <a:srgbClr val="FFFFFF"/>
                        </a:solidFill>
                        <a:latin typeface="Source Code Pro"/>
                        <a:ea typeface="Source Code Pro"/>
                        <a:cs typeface="Source Code Pro"/>
                        <a:sym typeface="Source Code Pro"/>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800"/>
                        <a:buFont typeface="Tahoma"/>
                        <a:buNone/>
                      </a:pPr>
                      <a:r>
                        <a:rPr lang="vi" sz="1300" b="1" u="none" strike="noStrike" cap="none">
                          <a:solidFill>
                            <a:srgbClr val="FFFFFF"/>
                          </a:solidFill>
                          <a:latin typeface="Source Code Pro"/>
                          <a:ea typeface="Source Code Pro"/>
                          <a:cs typeface="Source Code Pro"/>
                          <a:sym typeface="Source Code Pro"/>
                        </a:rPr>
                        <a:t>Giá trị Input</a:t>
                      </a:r>
                      <a:endParaRPr sz="1300" u="none" strike="noStrike" cap="none">
                        <a:solidFill>
                          <a:srgbClr val="FFFFFF"/>
                        </a:solidFill>
                        <a:latin typeface="Source Code Pro"/>
                        <a:ea typeface="Source Code Pro"/>
                        <a:cs typeface="Source Code Pro"/>
                        <a:sym typeface="Source Code Pro"/>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800"/>
                        <a:buFont typeface="Tahoma"/>
                        <a:buNone/>
                      </a:pPr>
                      <a:r>
                        <a:rPr lang="vi" sz="1300" b="1" u="none" strike="noStrike" cap="none">
                          <a:solidFill>
                            <a:srgbClr val="FFFFFF"/>
                          </a:solidFill>
                          <a:latin typeface="Source Code Pro"/>
                          <a:ea typeface="Source Code Pro"/>
                          <a:cs typeface="Source Code Pro"/>
                          <a:sym typeface="Source Code Pro"/>
                        </a:rPr>
                        <a:t>Kết quả mong đợi</a:t>
                      </a:r>
                      <a:endParaRPr sz="1300" u="none" strike="noStrike" cap="none">
                        <a:solidFill>
                          <a:srgbClr val="FFFFFF"/>
                        </a:solidFill>
                        <a:latin typeface="Source Code Pro"/>
                        <a:ea typeface="Source Code Pro"/>
                        <a:cs typeface="Source Code Pro"/>
                        <a:sym typeface="Source Code Pro"/>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1</a:t>
                      </a:r>
                      <a:endParaRPr sz="1300" u="none" strike="noStrike" cap="none">
                        <a:latin typeface="Source Code Pro"/>
                        <a:ea typeface="Source Code Pro"/>
                        <a:cs typeface="Source Code Pro"/>
                        <a:sym typeface="Source Code Pro"/>
                      </a:endParaRPr>
                    </a:p>
                  </a:txBody>
                  <a:tcPr marL="91425" marR="91425" marT="91425" marB="91425">
                    <a:lnT w="9525" cap="flat" cmpd="sng">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0</a:t>
                      </a:r>
                      <a:endParaRPr sz="1300" u="none" strike="noStrike" cap="none">
                        <a:latin typeface="Source Code Pro"/>
                        <a:ea typeface="Source Code Pro"/>
                        <a:cs typeface="Source Code Pro"/>
                        <a:sym typeface="Source Code Pro"/>
                      </a:endParaRPr>
                    </a:p>
                  </a:txBody>
                  <a:tcPr marL="91425" marR="91425" marT="91425" marB="91425">
                    <a:lnT w="9525" cap="flat" cmpd="sng">
                      <a:solidFill>
                        <a:srgbClr val="FFFFFF"/>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Hiển thị thông báo Invalid number</a:t>
                      </a:r>
                      <a:endParaRPr sz="1300" u="none" strike="noStrike" cap="none">
                        <a:latin typeface="Source Code Pro"/>
                        <a:ea typeface="Source Code Pro"/>
                        <a:cs typeface="Source Code Pro"/>
                        <a:sym typeface="Source Code Pro"/>
                      </a:endParaRPr>
                    </a:p>
                  </a:txBody>
                  <a:tcPr marL="91425" marR="91425" marT="91425" marB="91425">
                    <a:lnT w="9525" cap="flat" cmpd="sng">
                      <a:solidFill>
                        <a:srgbClr val="FFFFFF"/>
                      </a:solidFill>
                      <a:prstDash val="solid"/>
                      <a:round/>
                      <a:headEnd type="none" w="sm" len="sm"/>
                      <a:tailEnd type="none" w="sm" len="sm"/>
                    </a:lnT>
                  </a:tcPr>
                </a:tc>
                <a:extLst>
                  <a:ext uri="{0D108BD9-81ED-4DB2-BD59-A6C34878D82A}">
                    <a16:rowId xmlns:a16="http://schemas.microsoft.com/office/drawing/2014/main" val="10001"/>
                  </a:ext>
                </a:extLst>
              </a:tr>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2</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1</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Total = Quantity * Unit price</a:t>
                      </a:r>
                      <a:endParaRPr sz="13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2"/>
                  </a:ext>
                </a:extLst>
              </a:tr>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3</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10</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Total = Quantity * Unit price</a:t>
                      </a:r>
                      <a:endParaRPr sz="13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3"/>
                  </a:ext>
                </a:extLst>
              </a:tr>
              <a:tr h="415450">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4</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11</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Total = Quantity * Unit price - Discount</a:t>
                      </a:r>
                      <a:endParaRPr sz="13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4"/>
                  </a:ext>
                </a:extLst>
              </a:tr>
              <a:tr h="342525">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5</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99</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Total = Quantity * Unit price - Discount</a:t>
                      </a:r>
                      <a:endParaRPr sz="13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5"/>
                  </a:ext>
                </a:extLst>
              </a:tr>
              <a:tr h="471775">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6</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100</a:t>
                      </a:r>
                      <a:endParaRPr sz="1300" u="none" strike="noStrike" cap="none">
                        <a:latin typeface="Source Code Pro"/>
                        <a:ea typeface="Source Code Pro"/>
                        <a:cs typeface="Source Code Pro"/>
                        <a:sym typeface="Source Code Pr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Tahoma"/>
                        <a:buNone/>
                      </a:pPr>
                      <a:r>
                        <a:rPr lang="vi" sz="1300" u="none" strike="noStrike" cap="none">
                          <a:latin typeface="Source Code Pro"/>
                          <a:ea typeface="Source Code Pro"/>
                          <a:cs typeface="Source Code Pro"/>
                          <a:sym typeface="Source Code Pro"/>
                        </a:rPr>
                        <a:t>Hiển thị thông báo Invalid number</a:t>
                      </a:r>
                      <a:endParaRPr sz="1300" u="none" strike="noStrike" cap="none">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4.2.2 Phân tích giá trị biên</a:t>
            </a:r>
            <a:r>
              <a:rPr lang="vi" sz="1800">
                <a:latin typeface="Source Code Pro"/>
                <a:ea typeface="Source Code Pro"/>
                <a:cs typeface="Source Code Pro"/>
                <a:sym typeface="Source Code Pro"/>
              </a:rPr>
              <a:t> </a:t>
            </a:r>
            <a:r>
              <a:rPr lang="vi" sz="2400"/>
              <a:t>(Boundary Value Analysis - BVA)</a:t>
            </a:r>
            <a:endParaRPr/>
          </a:p>
        </p:txBody>
      </p:sp>
      <p:sp>
        <p:nvSpPr>
          <p:cNvPr id="209" name="Google Shape;209;p35"/>
          <p:cNvSpPr txBox="1"/>
          <p:nvPr/>
        </p:nvSpPr>
        <p:spPr>
          <a:xfrm>
            <a:off x="349600" y="1187625"/>
            <a:ext cx="8116800" cy="1350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800">
                <a:solidFill>
                  <a:schemeClr val="dk1"/>
                </a:solidFill>
                <a:latin typeface="Source Code Pro"/>
                <a:ea typeface="Source Code Pro"/>
                <a:cs typeface="Source Code Pro"/>
                <a:sym typeface="Source Code Pro"/>
              </a:rPr>
              <a:t>Ưu điểm</a:t>
            </a:r>
            <a:endParaRPr sz="1800">
              <a:solidFill>
                <a:schemeClr val="dk1"/>
              </a:solidFill>
              <a:latin typeface="Source Code Pro"/>
              <a:ea typeface="Source Code Pro"/>
              <a:cs typeface="Source Code Pro"/>
              <a:sym typeface="Source Code Pro"/>
            </a:endParaRPr>
          </a:p>
          <a:p>
            <a:pPr marL="0" lvl="0" indent="0" algn="l" rtl="0">
              <a:lnSpc>
                <a:spcPct val="150000"/>
              </a:lnSpc>
              <a:spcBef>
                <a:spcPts val="1200"/>
              </a:spcBef>
              <a:spcAft>
                <a:spcPts val="0"/>
              </a:spcAft>
              <a:buClr>
                <a:srgbClr val="000000"/>
              </a:buClr>
              <a:buSzPts val="2000"/>
              <a:buFont typeface="Arial"/>
              <a:buNone/>
            </a:pPr>
            <a:r>
              <a:rPr lang="vi" sz="1800">
                <a:latin typeface="Source Code Pro"/>
                <a:ea typeface="Source Code Pro"/>
                <a:cs typeface="Source Code Pro"/>
                <a:sym typeface="Source Code Pro"/>
              </a:rPr>
              <a:t>Phát hiện được lỗi tiềm ẩn của hệ thống tại các tập hợp biên</a:t>
            </a:r>
            <a:endParaRPr sz="1800">
              <a:solidFill>
                <a:schemeClr val="dk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4.2.2 Phân tích giá trị biên</a:t>
            </a:r>
            <a:r>
              <a:rPr lang="vi" sz="1800">
                <a:latin typeface="Source Code Pro"/>
                <a:ea typeface="Source Code Pro"/>
                <a:cs typeface="Source Code Pro"/>
                <a:sym typeface="Source Code Pro"/>
              </a:rPr>
              <a:t> </a:t>
            </a:r>
            <a:r>
              <a:rPr lang="vi" sz="2400"/>
              <a:t>(Boundary Value Analysis - BVA)</a:t>
            </a:r>
            <a:endParaRPr/>
          </a:p>
        </p:txBody>
      </p:sp>
      <p:sp>
        <p:nvSpPr>
          <p:cNvPr id="215" name="Google Shape;215;p36"/>
          <p:cNvSpPr txBox="1"/>
          <p:nvPr/>
        </p:nvSpPr>
        <p:spPr>
          <a:xfrm>
            <a:off x="349600" y="1187625"/>
            <a:ext cx="8116800" cy="182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800">
                <a:solidFill>
                  <a:schemeClr val="dk1"/>
                </a:solidFill>
                <a:latin typeface="Source Code Pro"/>
                <a:ea typeface="Source Code Pro"/>
                <a:cs typeface="Source Code Pro"/>
                <a:sym typeface="Source Code Pro"/>
              </a:rPr>
              <a:t>Nhược điểm</a:t>
            </a:r>
            <a:endParaRPr sz="1800">
              <a:solidFill>
                <a:schemeClr val="dk1"/>
              </a:solidFill>
              <a:latin typeface="Source Code Pro"/>
              <a:ea typeface="Source Code Pro"/>
              <a:cs typeface="Source Code Pro"/>
              <a:sym typeface="Source Code Pro"/>
            </a:endParaRPr>
          </a:p>
          <a:p>
            <a:pPr marL="0" marR="0" lvl="0" indent="0" algn="l" rtl="0">
              <a:lnSpc>
                <a:spcPct val="150000"/>
              </a:lnSpc>
              <a:spcBef>
                <a:spcPts val="1200"/>
              </a:spcBef>
              <a:spcAft>
                <a:spcPts val="0"/>
              </a:spcAft>
              <a:buNone/>
            </a:pPr>
            <a:r>
              <a:rPr lang="vi" sz="1800">
                <a:latin typeface="Source Code Pro"/>
                <a:ea typeface="Source Code Pro"/>
                <a:cs typeface="Source Code Pro"/>
                <a:sym typeface="Source Code Pro"/>
              </a:rPr>
              <a:t>Nếu chỉ chọn giá trị biên thì không đảm bảo chương trình chạy đúng với các giá trị ở khoảng giữa.</a:t>
            </a:r>
            <a:endParaRPr sz="1800">
              <a:latin typeface="Source Code Pro"/>
              <a:ea typeface="Source Code Pro"/>
              <a:cs typeface="Source Code Pro"/>
              <a:sym typeface="Source Code Pro"/>
            </a:endParaRPr>
          </a:p>
          <a:p>
            <a:pPr marL="0" lvl="0" indent="0" algn="l" rtl="0">
              <a:lnSpc>
                <a:spcPct val="150000"/>
              </a:lnSpc>
              <a:spcBef>
                <a:spcPts val="500"/>
              </a:spcBef>
              <a:spcAft>
                <a:spcPts val="0"/>
              </a:spcAft>
              <a:buNone/>
            </a:pPr>
            <a:endParaRPr sz="1800">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Kết hợp EP và BVA</a:t>
            </a:r>
            <a:endParaRPr/>
          </a:p>
        </p:txBody>
      </p:sp>
      <p:sp>
        <p:nvSpPr>
          <p:cNvPr id="221" name="Google Shape;221;p37"/>
          <p:cNvSpPr txBox="1"/>
          <p:nvPr/>
        </p:nvSpPr>
        <p:spPr>
          <a:xfrm>
            <a:off x="349600" y="1187625"/>
            <a:ext cx="8116800" cy="2355000"/>
          </a:xfrm>
          <a:prstGeom prst="rect">
            <a:avLst/>
          </a:prstGeom>
          <a:noFill/>
          <a:ln>
            <a:noFill/>
          </a:ln>
        </p:spPr>
        <p:txBody>
          <a:bodyPr spcFirstLastPara="1" wrap="square" lIns="91425" tIns="91425" rIns="91425" bIns="91425" anchor="t" anchorCtr="0">
            <a:spAutoFit/>
          </a:bodyPr>
          <a:lstStyle/>
          <a:p>
            <a:pPr marL="457200" lvl="0" indent="-381000" algn="l" rtl="0">
              <a:lnSpc>
                <a:spcPct val="150000"/>
              </a:lnSpc>
              <a:spcBef>
                <a:spcPts val="0"/>
              </a:spcBef>
              <a:spcAft>
                <a:spcPts val="0"/>
              </a:spcAft>
              <a:buSzPts val="2400"/>
              <a:buFont typeface="Tahoma"/>
              <a:buChar char="❏"/>
            </a:pPr>
            <a:r>
              <a:rPr lang="vi" sz="3000">
                <a:latin typeface="Tahoma"/>
                <a:ea typeface="Tahoma"/>
                <a:cs typeface="Tahoma"/>
                <a:sym typeface="Tahoma"/>
              </a:rPr>
              <a:t>Bộ test data = A </a:t>
            </a:r>
            <a:r>
              <a:rPr lang="vi" sz="2400">
                <a:latin typeface="Constantia"/>
                <a:ea typeface="Constantia"/>
                <a:cs typeface="Constantia"/>
                <a:sym typeface="Constantia"/>
              </a:rPr>
              <a:t>∪</a:t>
            </a:r>
            <a:r>
              <a:rPr lang="vi" sz="3000">
                <a:latin typeface="Tahoma"/>
                <a:ea typeface="Tahoma"/>
                <a:cs typeface="Tahoma"/>
                <a:sym typeface="Tahoma"/>
              </a:rPr>
              <a:t> B</a:t>
            </a:r>
            <a:br>
              <a:rPr lang="vi" sz="3000">
                <a:latin typeface="Tahoma"/>
                <a:ea typeface="Tahoma"/>
                <a:cs typeface="Tahoma"/>
                <a:sym typeface="Tahoma"/>
              </a:rPr>
            </a:br>
            <a:r>
              <a:rPr lang="vi" sz="2400">
                <a:latin typeface="Source Code Pro"/>
                <a:ea typeface="Source Code Pro"/>
                <a:cs typeface="Source Code Pro"/>
                <a:sym typeface="Source Code Pro"/>
              </a:rPr>
              <a:t>A: Bộ test data của các phân vùng tương đương </a:t>
            </a:r>
            <a:br>
              <a:rPr lang="vi" sz="2400">
                <a:latin typeface="Source Code Pro"/>
                <a:ea typeface="Source Code Pro"/>
                <a:cs typeface="Source Code Pro"/>
                <a:sym typeface="Source Code Pro"/>
              </a:rPr>
            </a:br>
            <a:r>
              <a:rPr lang="vi" sz="2400">
                <a:latin typeface="Source Code Pro"/>
                <a:ea typeface="Source Code Pro"/>
                <a:cs typeface="Source Code Pro"/>
                <a:sym typeface="Source Code Pro"/>
              </a:rPr>
              <a:t>B: Bộ test data của biên</a:t>
            </a:r>
            <a:r>
              <a:rPr lang="vi" sz="2400">
                <a:latin typeface="Tahoma"/>
                <a:ea typeface="Tahoma"/>
                <a:cs typeface="Tahoma"/>
                <a:sym typeface="Tahoma"/>
              </a:rPr>
              <a:t> </a:t>
            </a:r>
            <a:endParaRPr sz="1800">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Bài tập EP và BVA </a:t>
            </a:r>
            <a:endParaRPr/>
          </a:p>
        </p:txBody>
      </p:sp>
      <p:sp>
        <p:nvSpPr>
          <p:cNvPr id="227" name="Google Shape;227;p38"/>
          <p:cNvSpPr txBox="1"/>
          <p:nvPr/>
        </p:nvSpPr>
        <p:spPr>
          <a:xfrm>
            <a:off x="349600" y="1298700"/>
            <a:ext cx="8116800" cy="33915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Clr>
                <a:srgbClr val="000000"/>
              </a:buClr>
              <a:buSzPts val="2400"/>
              <a:buFont typeface="Arial"/>
              <a:buNone/>
            </a:pPr>
            <a:r>
              <a:rPr lang="vi" sz="2000">
                <a:latin typeface="Source Code Pro"/>
                <a:ea typeface="Source Code Pro"/>
                <a:cs typeface="Source Code Pro"/>
                <a:sym typeface="Source Code Pro"/>
              </a:rPr>
              <a:t>Gửi tiền tiết kiệm ở ngân hàng với các mức lãi suất khác nhau tuỳ thuộc vào số tiền gửi:</a:t>
            </a:r>
            <a:endParaRPr sz="2000">
              <a:latin typeface="Source Code Pro"/>
              <a:ea typeface="Source Code Pro"/>
              <a:cs typeface="Source Code Pro"/>
              <a:sym typeface="Source Code Pro"/>
            </a:endParaRPr>
          </a:p>
          <a:p>
            <a:pPr marL="457200" lvl="0" indent="-355600" algn="just" rtl="0">
              <a:lnSpc>
                <a:spcPct val="150000"/>
              </a:lnSpc>
              <a:spcBef>
                <a:spcPts val="500"/>
              </a:spcBef>
              <a:spcAft>
                <a:spcPts val="0"/>
              </a:spcAft>
              <a:buSzPts val="2000"/>
              <a:buFont typeface="Tahoma"/>
              <a:buChar char="-"/>
            </a:pPr>
            <a:r>
              <a:rPr lang="vi" sz="2000">
                <a:latin typeface="Source Code Pro"/>
                <a:ea typeface="Source Code Pro"/>
                <a:cs typeface="Source Code Pro"/>
                <a:sym typeface="Source Code Pro"/>
              </a:rPr>
              <a:t>Gửi từ $0 đến $100 thì hưởng lãi suất 3%</a:t>
            </a:r>
            <a:endParaRPr sz="2000">
              <a:latin typeface="Source Code Pro"/>
              <a:ea typeface="Source Code Pro"/>
              <a:cs typeface="Source Code Pro"/>
              <a:sym typeface="Source Code Pro"/>
            </a:endParaRPr>
          </a:p>
          <a:p>
            <a:pPr marL="457200" lvl="0" indent="-355600" algn="just" rtl="0">
              <a:lnSpc>
                <a:spcPct val="150000"/>
              </a:lnSpc>
              <a:spcBef>
                <a:spcPts val="0"/>
              </a:spcBef>
              <a:spcAft>
                <a:spcPts val="0"/>
              </a:spcAft>
              <a:buSzPts val="2000"/>
              <a:buFont typeface="Tahoma"/>
              <a:buChar char="-"/>
            </a:pPr>
            <a:r>
              <a:rPr lang="vi" sz="2000">
                <a:latin typeface="Source Code Pro"/>
                <a:ea typeface="Source Code Pro"/>
                <a:cs typeface="Source Code Pro"/>
                <a:sym typeface="Source Code Pro"/>
              </a:rPr>
              <a:t>Gửi từ trên $100 đến $1000, lãi suất là 5%</a:t>
            </a:r>
            <a:endParaRPr sz="2000">
              <a:latin typeface="Source Code Pro"/>
              <a:ea typeface="Source Code Pro"/>
              <a:cs typeface="Source Code Pro"/>
              <a:sym typeface="Source Code Pro"/>
            </a:endParaRPr>
          </a:p>
          <a:p>
            <a:pPr marL="457200" lvl="0" indent="-355600" algn="just" rtl="0">
              <a:lnSpc>
                <a:spcPct val="150000"/>
              </a:lnSpc>
              <a:spcBef>
                <a:spcPts val="0"/>
              </a:spcBef>
              <a:spcAft>
                <a:spcPts val="0"/>
              </a:spcAft>
              <a:buSzPts val="2000"/>
              <a:buFont typeface="Tahoma"/>
              <a:buChar char="-"/>
            </a:pPr>
            <a:r>
              <a:rPr lang="vi" sz="2000">
                <a:latin typeface="Source Code Pro"/>
                <a:ea typeface="Source Code Pro"/>
                <a:cs typeface="Source Code Pro"/>
                <a:sym typeface="Source Code Pro"/>
              </a:rPr>
              <a:t>Gửi từ trên $1000 trở lên, lãi suất là 7%</a:t>
            </a:r>
            <a:endParaRPr sz="2000">
              <a:latin typeface="Source Code Pro"/>
              <a:ea typeface="Source Code Pro"/>
              <a:cs typeface="Source Code Pro"/>
              <a:sym typeface="Source Code Pro"/>
            </a:endParaRPr>
          </a:p>
          <a:p>
            <a:pPr marL="0" lvl="0" indent="0" algn="just" rtl="0">
              <a:lnSpc>
                <a:spcPct val="150000"/>
              </a:lnSpc>
              <a:spcBef>
                <a:spcPts val="500"/>
              </a:spcBef>
              <a:spcAft>
                <a:spcPts val="0"/>
              </a:spcAft>
              <a:buNone/>
            </a:pPr>
            <a:r>
              <a:rPr lang="vi" sz="2000">
                <a:latin typeface="Source Code Pro"/>
                <a:ea typeface="Source Code Pro"/>
                <a:cs typeface="Source Code Pro"/>
                <a:sym typeface="Source Code Pro"/>
              </a:rPr>
              <a:t>Hãy xác định TC sử dụng 2 phương pháp phân vùng tương đương và phân tích giá trị biên.</a:t>
            </a:r>
            <a:endParaRPr sz="2000">
              <a:latin typeface="Tahoma"/>
              <a:ea typeface="Tahoma"/>
              <a:cs typeface="Tahoma"/>
              <a:sym typeface="Tahom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33" name="Google Shape;233;p39"/>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457200" marR="38100" lvl="0" indent="-311150" algn="l" rtl="0">
              <a:lnSpc>
                <a:spcPct val="128571"/>
              </a:lnSpc>
              <a:spcBef>
                <a:spcPts val="1000"/>
              </a:spcBef>
              <a:spcAft>
                <a:spcPts val="0"/>
              </a:spcAft>
              <a:buClr>
                <a:srgbClr val="000000"/>
              </a:buClr>
              <a:buSzPts val="1300"/>
              <a:buChar char="●"/>
            </a:pPr>
            <a:r>
              <a:rPr lang="vi" sz="1600">
                <a:solidFill>
                  <a:srgbClr val="000000"/>
                </a:solidFill>
              </a:rPr>
              <a:t>Bảng quyết định được sử dụng để kiểm tra việc triển khai các yêu cầu hệ thống nhằm xác định cách kết hợp các điều kiện khác nhau sẽ dẫn đến các kết quả khác nhau. </a:t>
            </a:r>
            <a:endParaRPr sz="1600">
              <a:solidFill>
                <a:srgbClr val="000000"/>
              </a:solidFill>
            </a:endParaRPr>
          </a:p>
          <a:p>
            <a:pPr marL="457200" marR="38100" lvl="0" indent="-311150" algn="l" rtl="0">
              <a:lnSpc>
                <a:spcPct val="128571"/>
              </a:lnSpc>
              <a:spcBef>
                <a:spcPts val="1000"/>
              </a:spcBef>
              <a:spcAft>
                <a:spcPts val="0"/>
              </a:spcAft>
              <a:buSzPts val="1300"/>
              <a:buChar char="●"/>
            </a:pPr>
            <a:r>
              <a:rPr lang="vi" sz="1600">
                <a:solidFill>
                  <a:srgbClr val="000000"/>
                </a:solidFill>
              </a:rPr>
              <a:t>Bảng quyết định là một cách hiệu quả để ghi lại logic phức tạp, chẳng hạn như các business rule</a:t>
            </a:r>
            <a:r>
              <a:rPr lang="vi" sz="1600">
                <a:solidFill>
                  <a:srgbClr val="202124"/>
                </a:solidFill>
                <a:highlight>
                  <a:srgbClr val="F8F9FA"/>
                </a:highlight>
              </a:rPr>
              <a:t>.</a:t>
            </a:r>
            <a:endParaRPr sz="1600">
              <a:solidFill>
                <a:srgbClr val="202124"/>
              </a:solidFill>
              <a:highlight>
                <a:srgbClr val="F8F9FA"/>
              </a:highlight>
            </a:endParaRPr>
          </a:p>
          <a:p>
            <a:pPr marL="0" lvl="0" indent="0" algn="l" rtl="0">
              <a:spcBef>
                <a:spcPts val="0"/>
              </a:spcBef>
              <a:spcAft>
                <a:spcPts val="1200"/>
              </a:spcAft>
              <a:buNone/>
            </a:pPr>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39" name="Google Shape;239;p40"/>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a:solidFill>
                  <a:schemeClr val="dk1"/>
                </a:solidFill>
              </a:rPr>
              <a:t>Thành phần của bảng quyết định</a:t>
            </a:r>
            <a:endParaRPr>
              <a:solidFill>
                <a:schemeClr val="dk1"/>
              </a:solidFill>
            </a:endParaRPr>
          </a:p>
        </p:txBody>
      </p:sp>
      <p:graphicFrame>
        <p:nvGraphicFramePr>
          <p:cNvPr id="240" name="Google Shape;240;p40"/>
          <p:cNvGraphicFramePr/>
          <p:nvPr/>
        </p:nvGraphicFramePr>
        <p:xfrm>
          <a:off x="2045288" y="1699300"/>
          <a:ext cx="5261250" cy="3169680"/>
        </p:xfrm>
        <a:graphic>
          <a:graphicData uri="http://schemas.openxmlformats.org/drawingml/2006/table">
            <a:tbl>
              <a:tblPr>
                <a:noFill/>
                <a:tableStyleId>{7AEF6C22-7F40-453C-A713-85F41652D8F1}</a:tableStyleId>
              </a:tblPr>
              <a:tblGrid>
                <a:gridCol w="526125">
                  <a:extLst>
                    <a:ext uri="{9D8B030D-6E8A-4147-A177-3AD203B41FA5}">
                      <a16:colId xmlns:a16="http://schemas.microsoft.com/office/drawing/2014/main" val="20000"/>
                    </a:ext>
                  </a:extLst>
                </a:gridCol>
                <a:gridCol w="526125">
                  <a:extLst>
                    <a:ext uri="{9D8B030D-6E8A-4147-A177-3AD203B41FA5}">
                      <a16:colId xmlns:a16="http://schemas.microsoft.com/office/drawing/2014/main" val="20001"/>
                    </a:ext>
                  </a:extLst>
                </a:gridCol>
                <a:gridCol w="526125">
                  <a:extLst>
                    <a:ext uri="{9D8B030D-6E8A-4147-A177-3AD203B41FA5}">
                      <a16:colId xmlns:a16="http://schemas.microsoft.com/office/drawing/2014/main" val="20002"/>
                    </a:ext>
                  </a:extLst>
                </a:gridCol>
                <a:gridCol w="526125">
                  <a:extLst>
                    <a:ext uri="{9D8B030D-6E8A-4147-A177-3AD203B41FA5}">
                      <a16:colId xmlns:a16="http://schemas.microsoft.com/office/drawing/2014/main" val="20003"/>
                    </a:ext>
                  </a:extLst>
                </a:gridCol>
                <a:gridCol w="526125">
                  <a:extLst>
                    <a:ext uri="{9D8B030D-6E8A-4147-A177-3AD203B41FA5}">
                      <a16:colId xmlns:a16="http://schemas.microsoft.com/office/drawing/2014/main" val="20004"/>
                    </a:ext>
                  </a:extLst>
                </a:gridCol>
                <a:gridCol w="526125">
                  <a:extLst>
                    <a:ext uri="{9D8B030D-6E8A-4147-A177-3AD203B41FA5}">
                      <a16:colId xmlns:a16="http://schemas.microsoft.com/office/drawing/2014/main" val="20005"/>
                    </a:ext>
                  </a:extLst>
                </a:gridCol>
                <a:gridCol w="526125">
                  <a:extLst>
                    <a:ext uri="{9D8B030D-6E8A-4147-A177-3AD203B41FA5}">
                      <a16:colId xmlns:a16="http://schemas.microsoft.com/office/drawing/2014/main" val="20006"/>
                    </a:ext>
                  </a:extLst>
                </a:gridCol>
                <a:gridCol w="526125">
                  <a:extLst>
                    <a:ext uri="{9D8B030D-6E8A-4147-A177-3AD203B41FA5}">
                      <a16:colId xmlns:a16="http://schemas.microsoft.com/office/drawing/2014/main" val="20007"/>
                    </a:ext>
                  </a:extLst>
                </a:gridCol>
                <a:gridCol w="526125">
                  <a:extLst>
                    <a:ext uri="{9D8B030D-6E8A-4147-A177-3AD203B41FA5}">
                      <a16:colId xmlns:a16="http://schemas.microsoft.com/office/drawing/2014/main" val="20008"/>
                    </a:ext>
                  </a:extLst>
                </a:gridCol>
                <a:gridCol w="526125">
                  <a:extLst>
                    <a:ext uri="{9D8B030D-6E8A-4147-A177-3AD203B41FA5}">
                      <a16:colId xmlns:a16="http://schemas.microsoft.com/office/drawing/2014/main" val="20009"/>
                    </a:ext>
                  </a:extLst>
                </a:gridCol>
              </a:tblGrid>
              <a:tr h="28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R1</a:t>
                      </a:r>
                      <a:endParaRPr/>
                    </a:p>
                  </a:txBody>
                  <a:tcPr marL="91425" marR="91425" marT="91425" marB="91425"/>
                </a:tc>
                <a:tc>
                  <a:txBody>
                    <a:bodyPr/>
                    <a:lstStyle/>
                    <a:p>
                      <a:pPr marL="0" lvl="0" indent="0" algn="l" rtl="0">
                        <a:spcBef>
                          <a:spcPts val="0"/>
                        </a:spcBef>
                        <a:spcAft>
                          <a:spcPts val="0"/>
                        </a:spcAft>
                        <a:buNone/>
                      </a:pPr>
                      <a:r>
                        <a:rPr lang="vi"/>
                        <a:t>R2</a:t>
                      </a:r>
                      <a:endParaRPr/>
                    </a:p>
                  </a:txBody>
                  <a:tcPr marL="91425" marR="91425" marT="91425" marB="91425"/>
                </a:tc>
                <a:tc>
                  <a:txBody>
                    <a:bodyPr/>
                    <a:lstStyle/>
                    <a:p>
                      <a:pPr marL="0" lvl="0" indent="0" algn="l" rtl="0">
                        <a:spcBef>
                          <a:spcPts val="0"/>
                        </a:spcBef>
                        <a:spcAft>
                          <a:spcPts val="0"/>
                        </a:spcAft>
                        <a:buNone/>
                      </a:pPr>
                      <a:r>
                        <a:rPr lang="vi"/>
                        <a:t>R3</a:t>
                      </a:r>
                      <a:endParaRPr/>
                    </a:p>
                  </a:txBody>
                  <a:tcPr marL="91425" marR="91425" marT="91425" marB="91425"/>
                </a:tc>
                <a:tc>
                  <a:txBody>
                    <a:bodyPr/>
                    <a:lstStyle/>
                    <a:p>
                      <a:pPr marL="0" lvl="0" indent="0" algn="l" rtl="0">
                        <a:spcBef>
                          <a:spcPts val="0"/>
                        </a:spcBef>
                        <a:spcAft>
                          <a:spcPts val="0"/>
                        </a:spcAft>
                        <a:buNone/>
                      </a:pPr>
                      <a:r>
                        <a:rPr lang="vi"/>
                        <a:t>R4</a:t>
                      </a:r>
                      <a:endParaRPr/>
                    </a:p>
                  </a:txBody>
                  <a:tcPr marL="91425" marR="91425" marT="91425" marB="91425"/>
                </a:tc>
                <a:tc>
                  <a:txBody>
                    <a:bodyPr/>
                    <a:lstStyle/>
                    <a:p>
                      <a:pPr marL="0" lvl="0" indent="0" algn="l" rtl="0">
                        <a:spcBef>
                          <a:spcPts val="0"/>
                        </a:spcBef>
                        <a:spcAft>
                          <a:spcPts val="0"/>
                        </a:spcAft>
                        <a:buNone/>
                      </a:pPr>
                      <a:r>
                        <a:rPr lang="vi"/>
                        <a:t>R5</a:t>
                      </a:r>
                      <a:endParaRPr/>
                    </a:p>
                  </a:txBody>
                  <a:tcPr marL="91425" marR="91425" marT="91425" marB="91425"/>
                </a:tc>
                <a:tc>
                  <a:txBody>
                    <a:bodyPr/>
                    <a:lstStyle/>
                    <a:p>
                      <a:pPr marL="0" lvl="0" indent="0" algn="l" rtl="0">
                        <a:spcBef>
                          <a:spcPts val="0"/>
                        </a:spcBef>
                        <a:spcAft>
                          <a:spcPts val="0"/>
                        </a:spcAft>
                        <a:buNone/>
                      </a:pPr>
                      <a:r>
                        <a:rPr lang="vi"/>
                        <a:t>R6</a:t>
                      </a:r>
                      <a:endParaRPr/>
                    </a:p>
                  </a:txBody>
                  <a:tcPr marL="91425" marR="91425" marT="91425" marB="91425"/>
                </a:tc>
                <a:tc>
                  <a:txBody>
                    <a:bodyPr/>
                    <a:lstStyle/>
                    <a:p>
                      <a:pPr marL="0" lvl="0" indent="0" algn="l" rtl="0">
                        <a:spcBef>
                          <a:spcPts val="0"/>
                        </a:spcBef>
                        <a:spcAft>
                          <a:spcPts val="0"/>
                        </a:spcAft>
                        <a:buNone/>
                      </a:pPr>
                      <a:r>
                        <a:rPr lang="vi"/>
                        <a:t>R7</a:t>
                      </a:r>
                      <a:endParaRPr/>
                    </a:p>
                  </a:txBody>
                  <a:tcPr marL="91425" marR="91425" marT="91425" marB="91425"/>
                </a:tc>
                <a:tc>
                  <a:txBody>
                    <a:bodyPr/>
                    <a:lstStyle/>
                    <a:p>
                      <a:pPr marL="0" lvl="0" indent="0" algn="l" rtl="0">
                        <a:spcBef>
                          <a:spcPts val="0"/>
                        </a:spcBef>
                        <a:spcAft>
                          <a:spcPts val="0"/>
                        </a:spcAft>
                        <a:buNone/>
                      </a:pPr>
                      <a:r>
                        <a:rPr lang="vi"/>
                        <a:t>R8</a:t>
                      </a:r>
                      <a:endParaRPr/>
                    </a:p>
                  </a:txBody>
                  <a:tcPr marL="91425" marR="91425" marT="91425" marB="91425"/>
                </a:tc>
                <a:tc>
                  <a:txBody>
                    <a:bodyPr/>
                    <a:lstStyle/>
                    <a:p>
                      <a:pPr marL="0" lvl="0" indent="0" algn="l" rtl="0">
                        <a:spcBef>
                          <a:spcPts val="0"/>
                        </a:spcBef>
                        <a:spcAft>
                          <a:spcPts val="0"/>
                        </a:spcAft>
                        <a:buNone/>
                      </a:pPr>
                      <a:r>
                        <a:rPr lang="vi"/>
                        <a:t>…</a:t>
                      </a:r>
                      <a:endParaRPr/>
                    </a:p>
                  </a:txBody>
                  <a:tcPr marL="91425" marR="91425" marT="91425" marB="91425"/>
                </a:tc>
                <a:extLst>
                  <a:ext uri="{0D108BD9-81ED-4DB2-BD59-A6C34878D82A}">
                    <a16:rowId xmlns:a16="http://schemas.microsoft.com/office/drawing/2014/main" val="10000"/>
                  </a:ext>
                </a:extLst>
              </a:tr>
              <a:tr h="280325">
                <a:tc>
                  <a:txBody>
                    <a:bodyPr/>
                    <a:lstStyle/>
                    <a:p>
                      <a:pPr marL="0" lvl="0" indent="0" algn="l" rtl="0">
                        <a:spcBef>
                          <a:spcPts val="0"/>
                        </a:spcBef>
                        <a:spcAft>
                          <a:spcPts val="0"/>
                        </a:spcAft>
                        <a:buNone/>
                      </a:pPr>
                      <a:r>
                        <a:rPr lang="vi"/>
                        <a:t>C1</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280325">
                <a:tc>
                  <a:txBody>
                    <a:bodyPr/>
                    <a:lstStyle/>
                    <a:p>
                      <a:pPr marL="0" lvl="0" indent="0" algn="l" rtl="0">
                        <a:spcBef>
                          <a:spcPts val="0"/>
                        </a:spcBef>
                        <a:spcAft>
                          <a:spcPts val="0"/>
                        </a:spcAft>
                        <a:buNone/>
                      </a:pPr>
                      <a:r>
                        <a:rPr lang="vi"/>
                        <a:t>C2</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280325">
                <a:tc>
                  <a:txBody>
                    <a:bodyPr/>
                    <a:lstStyle/>
                    <a:p>
                      <a:pPr marL="0" lvl="0" indent="0" algn="l" rtl="0">
                        <a:spcBef>
                          <a:spcPts val="0"/>
                        </a:spcBef>
                        <a:spcAft>
                          <a:spcPts val="0"/>
                        </a:spcAft>
                        <a:buNone/>
                      </a:pPr>
                      <a:r>
                        <a:rPr lang="vi"/>
                        <a:t>C3</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280325">
                <a:tc>
                  <a:txBody>
                    <a:bodyPr/>
                    <a:lstStyle/>
                    <a:p>
                      <a:pPr marL="0" lvl="0" indent="0" algn="l" rtl="0">
                        <a:spcBef>
                          <a:spcPts val="0"/>
                        </a:spcBef>
                        <a:spcAft>
                          <a:spcPts val="0"/>
                        </a:spcAft>
                        <a:buNone/>
                      </a:pPr>
                      <a:r>
                        <a:rPr lang="vi"/>
                        <a:t>…</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280325">
                <a:tc>
                  <a:txBody>
                    <a:bodyPr/>
                    <a:lstStyle/>
                    <a:p>
                      <a:pPr marL="0" lvl="0" indent="0" algn="l" rtl="0">
                        <a:spcBef>
                          <a:spcPts val="0"/>
                        </a:spcBef>
                        <a:spcAft>
                          <a:spcPts val="0"/>
                        </a:spcAft>
                        <a:buNone/>
                      </a:pPr>
                      <a:r>
                        <a:rPr lang="vi"/>
                        <a:t>a1</a:t>
                      </a: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280325">
                <a:tc>
                  <a:txBody>
                    <a:bodyPr/>
                    <a:lstStyle/>
                    <a:p>
                      <a:pPr marL="0" lvl="0" indent="0" algn="l" rtl="0">
                        <a:spcBef>
                          <a:spcPts val="0"/>
                        </a:spcBef>
                        <a:spcAft>
                          <a:spcPts val="0"/>
                        </a:spcAft>
                        <a:buNone/>
                      </a:pPr>
                      <a:r>
                        <a:rPr lang="vi"/>
                        <a:t>a2</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6"/>
                  </a:ext>
                </a:extLst>
              </a:tr>
              <a:tr h="280325">
                <a:tc>
                  <a:txBody>
                    <a:bodyPr/>
                    <a:lstStyle/>
                    <a:p>
                      <a:pPr marL="0" lvl="0" indent="0" algn="l" rtl="0">
                        <a:spcBef>
                          <a:spcPts val="0"/>
                        </a:spcBef>
                        <a:spcAft>
                          <a:spcPts val="0"/>
                        </a:spcAft>
                        <a:buNone/>
                      </a:pPr>
                      <a:r>
                        <a:rPr lang="vi"/>
                        <a:t>a3</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7"/>
                  </a:ext>
                </a:extLst>
              </a:tr>
            </a:tbl>
          </a:graphicData>
        </a:graphic>
      </p:graphicFrame>
      <p:cxnSp>
        <p:nvCxnSpPr>
          <p:cNvPr id="241" name="Google Shape;241;p40"/>
          <p:cNvCxnSpPr/>
          <p:nvPr/>
        </p:nvCxnSpPr>
        <p:spPr>
          <a:xfrm>
            <a:off x="2050575" y="2093275"/>
            <a:ext cx="5271600" cy="8700"/>
          </a:xfrm>
          <a:prstGeom prst="straightConnector1">
            <a:avLst/>
          </a:prstGeom>
          <a:noFill/>
          <a:ln w="19050" cap="flat" cmpd="sng">
            <a:solidFill>
              <a:schemeClr val="dk2"/>
            </a:solidFill>
            <a:prstDash val="solid"/>
            <a:round/>
            <a:headEnd type="none" w="med" len="med"/>
            <a:tailEnd type="none" w="med" len="med"/>
          </a:ln>
        </p:spPr>
      </p:cxnSp>
      <p:cxnSp>
        <p:nvCxnSpPr>
          <p:cNvPr id="242" name="Google Shape;242;p40"/>
          <p:cNvCxnSpPr/>
          <p:nvPr/>
        </p:nvCxnSpPr>
        <p:spPr>
          <a:xfrm rot="10800000" flipH="1">
            <a:off x="2050575" y="3691075"/>
            <a:ext cx="5271600" cy="2400"/>
          </a:xfrm>
          <a:prstGeom prst="straightConnector1">
            <a:avLst/>
          </a:prstGeom>
          <a:noFill/>
          <a:ln w="19050" cap="flat" cmpd="sng">
            <a:solidFill>
              <a:schemeClr val="dk2"/>
            </a:solidFill>
            <a:prstDash val="solid"/>
            <a:round/>
            <a:headEnd type="none" w="med" len="med"/>
            <a:tailEnd type="none" w="med" len="med"/>
          </a:ln>
        </p:spPr>
      </p:cxnSp>
      <p:sp>
        <p:nvSpPr>
          <p:cNvPr id="243" name="Google Shape;243;p40"/>
          <p:cNvSpPr/>
          <p:nvPr/>
        </p:nvSpPr>
        <p:spPr>
          <a:xfrm>
            <a:off x="7477400" y="2887900"/>
            <a:ext cx="1401300" cy="870300"/>
          </a:xfrm>
          <a:prstGeom prst="wedgeRoundRectCallout">
            <a:avLst>
              <a:gd name="adj1" fmla="val -112801"/>
              <a:gd name="adj2" fmla="val -57856"/>
              <a:gd name="adj3" fmla="val 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a:solidFill>
                  <a:schemeClr val="dk1"/>
                </a:solidFill>
                <a:latin typeface="Source Code Pro"/>
                <a:ea typeface="Source Code Pro"/>
                <a:cs typeface="Source Code Pro"/>
                <a:sym typeface="Source Code Pro"/>
              </a:rPr>
              <a:t>Values of conditions</a:t>
            </a:r>
            <a:endParaRPr>
              <a:latin typeface="Source Code Pro"/>
              <a:ea typeface="Source Code Pro"/>
              <a:cs typeface="Source Code Pro"/>
              <a:sym typeface="Source Code Pro"/>
            </a:endParaRPr>
          </a:p>
        </p:txBody>
      </p:sp>
      <p:sp>
        <p:nvSpPr>
          <p:cNvPr id="244" name="Google Shape;244;p40"/>
          <p:cNvSpPr/>
          <p:nvPr/>
        </p:nvSpPr>
        <p:spPr>
          <a:xfrm>
            <a:off x="7513000" y="1392625"/>
            <a:ext cx="897000" cy="580500"/>
          </a:xfrm>
          <a:prstGeom prst="wedgeRoundRectCallout">
            <a:avLst>
              <a:gd name="adj1" fmla="val -123657"/>
              <a:gd name="adj2" fmla="val 53036"/>
              <a:gd name="adj3" fmla="val 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a:solidFill>
                  <a:schemeClr val="dk1"/>
                </a:solidFill>
                <a:latin typeface="Source Code Pro"/>
                <a:ea typeface="Source Code Pro"/>
                <a:cs typeface="Source Code Pro"/>
                <a:sym typeface="Source Code Pro"/>
              </a:rPr>
              <a:t>Rules</a:t>
            </a:r>
            <a:endParaRPr>
              <a:latin typeface="Source Code Pro"/>
              <a:ea typeface="Source Code Pro"/>
              <a:cs typeface="Source Code Pro"/>
              <a:sym typeface="Source Code Pro"/>
            </a:endParaRPr>
          </a:p>
        </p:txBody>
      </p:sp>
      <p:sp>
        <p:nvSpPr>
          <p:cNvPr id="245" name="Google Shape;245;p40"/>
          <p:cNvSpPr/>
          <p:nvPr/>
        </p:nvSpPr>
        <p:spPr>
          <a:xfrm>
            <a:off x="444300" y="2093275"/>
            <a:ext cx="1257300" cy="580500"/>
          </a:xfrm>
          <a:prstGeom prst="wedgeRoundRectCallout">
            <a:avLst>
              <a:gd name="adj1" fmla="val 111770"/>
              <a:gd name="adj2" fmla="val 22123"/>
              <a:gd name="adj3" fmla="val 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sz="1300">
                <a:solidFill>
                  <a:schemeClr val="dk1"/>
                </a:solidFill>
                <a:latin typeface="Source Code Pro"/>
                <a:ea typeface="Source Code Pro"/>
                <a:cs typeface="Source Code Pro"/>
                <a:sym typeface="Source Code Pro"/>
              </a:rPr>
              <a:t>Conditions</a:t>
            </a:r>
            <a:endParaRPr>
              <a:solidFill>
                <a:schemeClr val="dk1"/>
              </a:solidFill>
              <a:latin typeface="Source Code Pro"/>
              <a:ea typeface="Source Code Pro"/>
              <a:cs typeface="Source Code Pro"/>
              <a:sym typeface="Source Code Pro"/>
            </a:endParaRPr>
          </a:p>
        </p:txBody>
      </p:sp>
      <p:sp>
        <p:nvSpPr>
          <p:cNvPr id="246" name="Google Shape;246;p40"/>
          <p:cNvSpPr/>
          <p:nvPr/>
        </p:nvSpPr>
        <p:spPr>
          <a:xfrm>
            <a:off x="311700" y="3724600"/>
            <a:ext cx="1257300" cy="580500"/>
          </a:xfrm>
          <a:prstGeom prst="wedgeRoundRectCallout">
            <a:avLst>
              <a:gd name="adj1" fmla="val 111770"/>
              <a:gd name="adj2" fmla="val 22123"/>
              <a:gd name="adj3" fmla="val 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a:solidFill>
                  <a:schemeClr val="dk1"/>
                </a:solidFill>
                <a:latin typeface="Source Code Pro"/>
                <a:ea typeface="Source Code Pro"/>
                <a:cs typeface="Source Code Pro"/>
                <a:sym typeface="Source Code Pro"/>
              </a:rPr>
              <a:t>Actions taken</a:t>
            </a:r>
            <a:endParaRPr sz="1300">
              <a:solidFill>
                <a:schemeClr val="dk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52" name="Google Shape;252;p41"/>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marR="38100" lvl="0" indent="0" algn="l" rtl="0">
              <a:lnSpc>
                <a:spcPct val="128571"/>
              </a:lnSpc>
              <a:spcBef>
                <a:spcPts val="0"/>
              </a:spcBef>
              <a:spcAft>
                <a:spcPts val="0"/>
              </a:spcAft>
              <a:buNone/>
            </a:pPr>
            <a:r>
              <a:rPr lang="vi" sz="2000">
                <a:solidFill>
                  <a:schemeClr val="dk1"/>
                </a:solidFill>
              </a:rPr>
              <a:t>Giải thích ký hiệu: </a:t>
            </a:r>
            <a:endParaRPr sz="2000">
              <a:solidFill>
                <a:schemeClr val="dk1"/>
              </a:solidFill>
            </a:endParaRPr>
          </a:p>
          <a:p>
            <a:pPr marL="457200" marR="38100" lvl="0" indent="-311150" algn="l" rtl="0">
              <a:lnSpc>
                <a:spcPct val="128571"/>
              </a:lnSpc>
              <a:spcBef>
                <a:spcPts val="1000"/>
              </a:spcBef>
              <a:spcAft>
                <a:spcPts val="0"/>
              </a:spcAft>
              <a:buClr>
                <a:srgbClr val="000000"/>
              </a:buClr>
              <a:buSzPts val="1300"/>
              <a:buChar char="●"/>
            </a:pPr>
            <a:r>
              <a:rPr lang="vi" sz="1600">
                <a:solidFill>
                  <a:srgbClr val="000000"/>
                </a:solidFill>
              </a:rPr>
              <a:t>“T” (True) có nghĩa là điều kiện đó được thỏa mãn </a:t>
            </a:r>
            <a:endParaRPr sz="1600">
              <a:solidFill>
                <a:srgbClr val="000000"/>
              </a:solidFill>
            </a:endParaRPr>
          </a:p>
          <a:p>
            <a:pPr marL="457200" marR="38100" lvl="0" indent="-311150" algn="l" rtl="0">
              <a:lnSpc>
                <a:spcPct val="128571"/>
              </a:lnSpc>
              <a:spcBef>
                <a:spcPts val="1000"/>
              </a:spcBef>
              <a:spcAft>
                <a:spcPts val="0"/>
              </a:spcAft>
              <a:buClr>
                <a:srgbClr val="000000"/>
              </a:buClr>
              <a:buSzPts val="1300"/>
              <a:buChar char="●"/>
            </a:pPr>
            <a:r>
              <a:rPr lang="vi" sz="1600">
                <a:solidFill>
                  <a:srgbClr val="000000"/>
                </a:solidFill>
              </a:rPr>
              <a:t>“F” (False) có nghĩa là điều kiện không được thỏa mãn </a:t>
            </a:r>
            <a:endParaRPr sz="1600">
              <a:solidFill>
                <a:srgbClr val="000000"/>
              </a:solidFill>
            </a:endParaRPr>
          </a:p>
          <a:p>
            <a:pPr marL="457200" marR="38100" lvl="0" indent="-311150" algn="l" rtl="0">
              <a:lnSpc>
                <a:spcPct val="128571"/>
              </a:lnSpc>
              <a:spcBef>
                <a:spcPts val="1000"/>
              </a:spcBef>
              <a:spcAft>
                <a:spcPts val="0"/>
              </a:spcAft>
              <a:buClr>
                <a:srgbClr val="000000"/>
              </a:buClr>
              <a:buSzPts val="1300"/>
              <a:buChar char="●"/>
            </a:pPr>
            <a:r>
              <a:rPr lang="vi" sz="1600">
                <a:solidFill>
                  <a:srgbClr val="000000"/>
                </a:solidFill>
              </a:rPr>
              <a:t>“–” có nghĩa là giá trị của điều kiện không liên quan đến kết quả hành động </a:t>
            </a:r>
            <a:endParaRPr sz="1600">
              <a:solidFill>
                <a:srgbClr val="000000"/>
              </a:solidFill>
            </a:endParaRPr>
          </a:p>
          <a:p>
            <a:pPr marL="457200" marR="38100" lvl="0" indent="-311150" algn="l" rtl="0">
              <a:lnSpc>
                <a:spcPct val="128571"/>
              </a:lnSpc>
              <a:spcBef>
                <a:spcPts val="1000"/>
              </a:spcBef>
              <a:spcAft>
                <a:spcPts val="0"/>
              </a:spcAft>
              <a:buClr>
                <a:srgbClr val="000000"/>
              </a:buClr>
              <a:buSzPts val="1300"/>
              <a:buChar char="●"/>
            </a:pPr>
            <a:r>
              <a:rPr lang="vi" sz="1600">
                <a:solidFill>
                  <a:srgbClr val="000000"/>
                </a:solidFill>
              </a:rPr>
              <a:t>Đối với hành động: “X” có nghĩa là hành động đó sẽ xảy ra </a:t>
            </a:r>
            <a:endParaRPr sz="1600">
              <a:solidFill>
                <a:srgbClr val="000000"/>
              </a:solidFill>
            </a:endParaRPr>
          </a:p>
          <a:p>
            <a:pPr marL="457200" marR="38100" lvl="0" indent="-311150" algn="l" rtl="0">
              <a:lnSpc>
                <a:spcPct val="128571"/>
              </a:lnSpc>
              <a:spcBef>
                <a:spcPts val="1000"/>
              </a:spcBef>
              <a:spcAft>
                <a:spcPts val="0"/>
              </a:spcAft>
              <a:buSzPts val="1300"/>
              <a:buChar char="●"/>
            </a:pPr>
            <a:r>
              <a:rPr lang="vi" sz="1600">
                <a:solidFill>
                  <a:srgbClr val="000000"/>
                </a:solidFill>
              </a:rPr>
              <a:t>Trống có nghĩa là hành động đó không nên xảy ra</a:t>
            </a:r>
            <a:r>
              <a:rPr lang="vi" sz="1600">
                <a:solidFill>
                  <a:srgbClr val="202124"/>
                </a:solidFill>
                <a:highlight>
                  <a:srgbClr val="F8F9FA"/>
                </a:highlight>
              </a:rPr>
              <a:t> </a:t>
            </a:r>
            <a:endParaRPr sz="1600">
              <a:solidFill>
                <a:srgbClr val="000000"/>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58" name="Google Shape;258;p42"/>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marR="38100" lvl="0" indent="0" algn="l" rtl="0">
              <a:lnSpc>
                <a:spcPct val="128571"/>
              </a:lnSpc>
              <a:spcBef>
                <a:spcPts val="0"/>
              </a:spcBef>
              <a:spcAft>
                <a:spcPts val="0"/>
              </a:spcAft>
              <a:buNone/>
            </a:pPr>
            <a:r>
              <a:rPr lang="vi" sz="2000">
                <a:solidFill>
                  <a:schemeClr val="dk1"/>
                </a:solidFill>
              </a:rPr>
              <a:t>Phương pháp:</a:t>
            </a:r>
            <a:endParaRPr sz="2000">
              <a:solidFill>
                <a:schemeClr val="dk1"/>
              </a:solidFill>
            </a:endParaRPr>
          </a:p>
          <a:p>
            <a:pPr marL="495300" lvl="0" indent="0" algn="l" rtl="0">
              <a:lnSpc>
                <a:spcPct val="100000"/>
              </a:lnSpc>
              <a:spcBef>
                <a:spcPts val="600"/>
              </a:spcBef>
              <a:spcAft>
                <a:spcPts val="0"/>
              </a:spcAft>
              <a:buNone/>
            </a:pPr>
            <a:r>
              <a:rPr lang="vi">
                <a:solidFill>
                  <a:srgbClr val="000000"/>
                </a:solidFill>
              </a:rPr>
              <a:t>B1. Liệt kê toàn bộ điều kiện đầu vào/Input</a:t>
            </a:r>
            <a:endParaRPr>
              <a:solidFill>
                <a:srgbClr val="000000"/>
              </a:solidFill>
            </a:endParaRPr>
          </a:p>
          <a:p>
            <a:pPr marL="495300" lvl="0" indent="0" algn="l" rtl="0">
              <a:lnSpc>
                <a:spcPct val="100000"/>
              </a:lnSpc>
              <a:spcBef>
                <a:spcPts val="600"/>
              </a:spcBef>
              <a:spcAft>
                <a:spcPts val="0"/>
              </a:spcAft>
              <a:buNone/>
            </a:pPr>
            <a:r>
              <a:rPr lang="vi">
                <a:solidFill>
                  <a:srgbClr val="000000"/>
                </a:solidFill>
              </a:rPr>
              <a:t>B2. Tính toán số lượng các kết hợp (Rules)</a:t>
            </a:r>
            <a:endParaRPr>
              <a:solidFill>
                <a:srgbClr val="000000"/>
              </a:solidFill>
            </a:endParaRPr>
          </a:p>
          <a:p>
            <a:pPr marL="495300" lvl="0" indent="0" algn="l" rtl="0">
              <a:lnSpc>
                <a:spcPct val="100000"/>
              </a:lnSpc>
              <a:spcBef>
                <a:spcPts val="600"/>
              </a:spcBef>
              <a:spcAft>
                <a:spcPts val="0"/>
              </a:spcAft>
              <a:buNone/>
            </a:pPr>
            <a:r>
              <a:rPr lang="vi">
                <a:solidFill>
                  <a:srgbClr val="000000"/>
                </a:solidFill>
              </a:rPr>
              <a:t>B3. Đặt toàn bộ các kết hợp vào bảng</a:t>
            </a:r>
            <a:endParaRPr>
              <a:solidFill>
                <a:srgbClr val="000000"/>
              </a:solidFill>
            </a:endParaRPr>
          </a:p>
          <a:p>
            <a:pPr marL="495300" lvl="0" indent="0" algn="l" rtl="0">
              <a:lnSpc>
                <a:spcPct val="100000"/>
              </a:lnSpc>
              <a:spcBef>
                <a:spcPts val="600"/>
              </a:spcBef>
              <a:spcAft>
                <a:spcPts val="0"/>
              </a:spcAft>
              <a:buNone/>
            </a:pPr>
            <a:r>
              <a:rPr lang="vi">
                <a:solidFill>
                  <a:srgbClr val="000000"/>
                </a:solidFill>
              </a:rPr>
              <a:t>B4. Giảm số lượng các kết hợp và quyết định test case.</a:t>
            </a:r>
            <a:endParaRPr>
              <a:solidFill>
                <a:srgbClr val="000000"/>
              </a:solidFill>
            </a:endParaRPr>
          </a:p>
          <a:p>
            <a:pPr marL="0" marR="38100" lvl="0" indent="0" algn="l" rtl="0">
              <a:lnSpc>
                <a:spcPct val="128571"/>
              </a:lnSpc>
              <a:spcBef>
                <a:spcPts val="0"/>
              </a:spcBef>
              <a:spcAft>
                <a:spcPts val="0"/>
              </a:spcAft>
              <a:buNone/>
            </a:pPr>
            <a:endParaRPr sz="2000">
              <a:solidFill>
                <a:srgbClr val="000000"/>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64" name="Google Shape;264;p43"/>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lnSpcReduction="10000"/>
          </a:bodyPr>
          <a:lstStyle/>
          <a:p>
            <a:pPr marL="0" marR="38100" lvl="0" indent="0" algn="l" rtl="0">
              <a:lnSpc>
                <a:spcPct val="128571"/>
              </a:lnSpc>
              <a:spcBef>
                <a:spcPts val="0"/>
              </a:spcBef>
              <a:spcAft>
                <a:spcPts val="0"/>
              </a:spcAft>
              <a:buNone/>
            </a:pPr>
            <a:r>
              <a:rPr lang="vi" sz="2000">
                <a:solidFill>
                  <a:schemeClr val="dk1"/>
                </a:solidFill>
              </a:rPr>
              <a:t>Ví dụ: </a:t>
            </a:r>
            <a:r>
              <a:rPr lang="vi" sz="2000"/>
              <a:t>Xác định testcase cho bài toán khách hàng đến mở thẻ tín dụng</a:t>
            </a:r>
            <a:endParaRPr sz="2000"/>
          </a:p>
          <a:p>
            <a:pPr marL="457200" marR="0" lvl="0" indent="-304800" algn="l" rtl="0">
              <a:lnSpc>
                <a:spcPct val="150000"/>
              </a:lnSpc>
              <a:spcBef>
                <a:spcPts val="1000"/>
              </a:spcBef>
              <a:spcAft>
                <a:spcPts val="0"/>
              </a:spcAft>
              <a:buClr>
                <a:srgbClr val="000000"/>
              </a:buClr>
              <a:buSzPts val="1200"/>
              <a:buChar char="●"/>
            </a:pPr>
            <a:r>
              <a:rPr lang="vi">
                <a:solidFill>
                  <a:srgbClr val="000000"/>
                </a:solidFill>
              </a:rPr>
              <a:t>Nếu bạn là một khách hàng mới, đến mở thẻ tín dụng, bạn sẽ được giảm giá 15%.</a:t>
            </a:r>
            <a:endParaRPr>
              <a:solidFill>
                <a:srgbClr val="000000"/>
              </a:solidFill>
            </a:endParaRPr>
          </a:p>
          <a:p>
            <a:pPr marL="457200" marR="0" lvl="0" indent="-304800" algn="l" rtl="0">
              <a:lnSpc>
                <a:spcPct val="150000"/>
              </a:lnSpc>
              <a:spcBef>
                <a:spcPts val="0"/>
              </a:spcBef>
              <a:spcAft>
                <a:spcPts val="0"/>
              </a:spcAft>
              <a:buClr>
                <a:srgbClr val="000000"/>
              </a:buClr>
              <a:buSzPts val="1200"/>
              <a:buChar char="●"/>
            </a:pPr>
            <a:r>
              <a:rPr lang="vi">
                <a:solidFill>
                  <a:srgbClr val="000000"/>
                </a:solidFill>
              </a:rPr>
              <a:t>Nếu bạn là khách hàng cũ, và có thẻ Vip, bạn sẽ được giảm giá 10%.</a:t>
            </a:r>
            <a:endParaRPr>
              <a:solidFill>
                <a:srgbClr val="000000"/>
              </a:solidFill>
            </a:endParaRPr>
          </a:p>
          <a:p>
            <a:pPr marL="457200" marR="0" lvl="0" indent="-304800" algn="l" rtl="0">
              <a:lnSpc>
                <a:spcPct val="150000"/>
              </a:lnSpc>
              <a:spcBef>
                <a:spcPts val="0"/>
              </a:spcBef>
              <a:spcAft>
                <a:spcPts val="0"/>
              </a:spcAft>
              <a:buClr>
                <a:srgbClr val="000000"/>
              </a:buClr>
              <a:buSzPts val="1200"/>
              <a:buChar char="●"/>
            </a:pPr>
            <a:r>
              <a:rPr lang="vi">
                <a:solidFill>
                  <a:srgbClr val="000000"/>
                </a:solidFill>
              </a:rPr>
              <a:t>Nếu bạn có Coupon, bạn sẽ được giảm giá 20% (nhưng nó không được sử dụng giảm giá cùng với ‘khách hàng mới’.</a:t>
            </a:r>
            <a:endParaRPr>
              <a:solidFill>
                <a:srgbClr val="000000"/>
              </a:solidFill>
            </a:endParaRPr>
          </a:p>
          <a:p>
            <a:pPr marL="457200" marR="0" lvl="0" indent="-304800" algn="l" rtl="0">
              <a:lnSpc>
                <a:spcPct val="150000"/>
              </a:lnSpc>
              <a:spcBef>
                <a:spcPts val="0"/>
              </a:spcBef>
              <a:spcAft>
                <a:spcPts val="0"/>
              </a:spcAft>
              <a:buClr>
                <a:srgbClr val="000000"/>
              </a:buClr>
              <a:buSzPts val="1200"/>
              <a:buChar char="●"/>
            </a:pPr>
            <a:r>
              <a:rPr lang="vi">
                <a:solidFill>
                  <a:srgbClr val="000000"/>
                </a:solidFill>
              </a:rPr>
              <a:t>Việc giảm giá có thể được cộng nếu như phù hợp</a:t>
            </a:r>
            <a:endParaRPr sz="2000">
              <a:solidFill>
                <a:srgbClr val="000000"/>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70" name="Google Shape;270;p44"/>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a:solidFill>
                  <a:schemeClr val="dk1"/>
                </a:solidFill>
              </a:rPr>
              <a:t>B1: Liệt kê giá trị đầu vào</a:t>
            </a:r>
            <a:endParaRPr>
              <a:solidFill>
                <a:schemeClr val="dk1"/>
              </a:solidFill>
            </a:endParaRPr>
          </a:p>
        </p:txBody>
      </p:sp>
      <p:graphicFrame>
        <p:nvGraphicFramePr>
          <p:cNvPr id="271" name="Google Shape;271;p44"/>
          <p:cNvGraphicFramePr/>
          <p:nvPr/>
        </p:nvGraphicFramePr>
        <p:xfrm>
          <a:off x="1604738" y="1775500"/>
          <a:ext cx="2061000" cy="1584840"/>
        </p:xfrm>
        <a:graphic>
          <a:graphicData uri="http://schemas.openxmlformats.org/drawingml/2006/table">
            <a:tbl>
              <a:tblPr>
                <a:noFill/>
                <a:tableStyleId>{7AEF6C22-7F40-453C-A713-85F41652D8F1}</a:tableStyleId>
              </a:tblPr>
              <a:tblGrid>
                <a:gridCol w="2061000">
                  <a:extLst>
                    <a:ext uri="{9D8B030D-6E8A-4147-A177-3AD203B41FA5}">
                      <a16:colId xmlns:a16="http://schemas.microsoft.com/office/drawing/2014/main" val="20000"/>
                    </a:ext>
                  </a:extLst>
                </a:gridCol>
              </a:tblGrid>
              <a:tr h="280325">
                <a:tc>
                  <a:txBody>
                    <a:bodyPr/>
                    <a:lstStyle/>
                    <a:p>
                      <a:pPr marL="0" lvl="0" indent="0" algn="l" rtl="0">
                        <a:spcBef>
                          <a:spcPts val="0"/>
                        </a:spcBef>
                        <a:spcAft>
                          <a:spcPts val="0"/>
                        </a:spcAft>
                        <a:buNone/>
                      </a:pPr>
                      <a:r>
                        <a:rPr lang="vi"/>
                        <a:t>         Conditions</a:t>
                      </a:r>
                      <a:endParaRPr/>
                    </a:p>
                  </a:txBody>
                  <a:tcPr marL="91425" marR="91425" marT="91425" marB="91425"/>
                </a:tc>
                <a:extLst>
                  <a:ext uri="{0D108BD9-81ED-4DB2-BD59-A6C34878D82A}">
                    <a16:rowId xmlns:a16="http://schemas.microsoft.com/office/drawing/2014/main" val="10000"/>
                  </a:ext>
                </a:extLst>
              </a:tr>
              <a:tr h="280325">
                <a:tc>
                  <a:txBody>
                    <a:bodyPr/>
                    <a:lstStyle/>
                    <a:p>
                      <a:pPr marL="0" lvl="0" indent="0" algn="l" rtl="0">
                        <a:spcBef>
                          <a:spcPts val="0"/>
                        </a:spcBef>
                        <a:spcAft>
                          <a:spcPts val="0"/>
                        </a:spcAft>
                        <a:buNone/>
                      </a:pPr>
                      <a:r>
                        <a:rPr lang="vi"/>
                        <a:t>Khách hàng mới (15%)</a:t>
                      </a:r>
                      <a:endParaRPr/>
                    </a:p>
                  </a:txBody>
                  <a:tcPr marL="91425" marR="91425" marT="91425" marB="91425"/>
                </a:tc>
                <a:extLst>
                  <a:ext uri="{0D108BD9-81ED-4DB2-BD59-A6C34878D82A}">
                    <a16:rowId xmlns:a16="http://schemas.microsoft.com/office/drawing/2014/main" val="10001"/>
                  </a:ext>
                </a:extLst>
              </a:tr>
              <a:tr h="280325">
                <a:tc>
                  <a:txBody>
                    <a:bodyPr/>
                    <a:lstStyle/>
                    <a:p>
                      <a:pPr marL="0" lvl="0" indent="0" algn="l" rtl="0">
                        <a:spcBef>
                          <a:spcPts val="0"/>
                        </a:spcBef>
                        <a:spcAft>
                          <a:spcPts val="0"/>
                        </a:spcAft>
                        <a:buNone/>
                      </a:pPr>
                      <a:r>
                        <a:rPr lang="vi"/>
                        <a:t>VIP card (10%)</a:t>
                      </a:r>
                      <a:endParaRPr/>
                    </a:p>
                  </a:txBody>
                  <a:tcPr marL="91425" marR="91425" marT="91425" marB="91425"/>
                </a:tc>
                <a:extLst>
                  <a:ext uri="{0D108BD9-81ED-4DB2-BD59-A6C34878D82A}">
                    <a16:rowId xmlns:a16="http://schemas.microsoft.com/office/drawing/2014/main" val="10002"/>
                  </a:ext>
                </a:extLst>
              </a:tr>
              <a:tr h="280325">
                <a:tc>
                  <a:txBody>
                    <a:bodyPr/>
                    <a:lstStyle/>
                    <a:p>
                      <a:pPr marL="0" lvl="0" indent="0" algn="l" rtl="0">
                        <a:spcBef>
                          <a:spcPts val="0"/>
                        </a:spcBef>
                        <a:spcAft>
                          <a:spcPts val="0"/>
                        </a:spcAft>
                        <a:buNone/>
                      </a:pPr>
                      <a:r>
                        <a:rPr lang="vi"/>
                        <a:t>Coupon (20%)</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77" name="Google Shape;277;p45"/>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a:solidFill>
                  <a:schemeClr val="dk1"/>
                </a:solidFill>
              </a:rPr>
              <a:t>B2: Xác định số rules</a:t>
            </a:r>
            <a:endParaRPr>
              <a:solidFill>
                <a:schemeClr val="dk1"/>
              </a:solidFill>
            </a:endParaRPr>
          </a:p>
        </p:txBody>
      </p:sp>
      <p:graphicFrame>
        <p:nvGraphicFramePr>
          <p:cNvPr id="278" name="Google Shape;278;p45"/>
          <p:cNvGraphicFramePr/>
          <p:nvPr/>
        </p:nvGraphicFramePr>
        <p:xfrm>
          <a:off x="1604738" y="1623100"/>
          <a:ext cx="6623475" cy="1584840"/>
        </p:xfrm>
        <a:graphic>
          <a:graphicData uri="http://schemas.openxmlformats.org/drawingml/2006/table">
            <a:tbl>
              <a:tblPr>
                <a:noFill/>
                <a:tableStyleId>{7AEF6C22-7F40-453C-A713-85F41652D8F1}</a:tableStyleId>
              </a:tblPr>
              <a:tblGrid>
                <a:gridCol w="2061000">
                  <a:extLst>
                    <a:ext uri="{9D8B030D-6E8A-4147-A177-3AD203B41FA5}">
                      <a16:colId xmlns:a16="http://schemas.microsoft.com/office/drawing/2014/main" val="20000"/>
                    </a:ext>
                  </a:extLst>
                </a:gridCol>
                <a:gridCol w="613450">
                  <a:extLst>
                    <a:ext uri="{9D8B030D-6E8A-4147-A177-3AD203B41FA5}">
                      <a16:colId xmlns:a16="http://schemas.microsoft.com/office/drawing/2014/main" val="20001"/>
                    </a:ext>
                  </a:extLst>
                </a:gridCol>
                <a:gridCol w="579625">
                  <a:extLst>
                    <a:ext uri="{9D8B030D-6E8A-4147-A177-3AD203B41FA5}">
                      <a16:colId xmlns:a16="http://schemas.microsoft.com/office/drawing/2014/main" val="20002"/>
                    </a:ext>
                  </a:extLst>
                </a:gridCol>
                <a:gridCol w="579925">
                  <a:extLst>
                    <a:ext uri="{9D8B030D-6E8A-4147-A177-3AD203B41FA5}">
                      <a16:colId xmlns:a16="http://schemas.microsoft.com/office/drawing/2014/main" val="20003"/>
                    </a:ext>
                  </a:extLst>
                </a:gridCol>
                <a:gridCol w="589075">
                  <a:extLst>
                    <a:ext uri="{9D8B030D-6E8A-4147-A177-3AD203B41FA5}">
                      <a16:colId xmlns:a16="http://schemas.microsoft.com/office/drawing/2014/main" val="20004"/>
                    </a:ext>
                  </a:extLst>
                </a:gridCol>
                <a:gridCol w="552425">
                  <a:extLst>
                    <a:ext uri="{9D8B030D-6E8A-4147-A177-3AD203B41FA5}">
                      <a16:colId xmlns:a16="http://schemas.microsoft.com/office/drawing/2014/main" val="20005"/>
                    </a:ext>
                  </a:extLst>
                </a:gridCol>
                <a:gridCol w="589075">
                  <a:extLst>
                    <a:ext uri="{9D8B030D-6E8A-4147-A177-3AD203B41FA5}">
                      <a16:colId xmlns:a16="http://schemas.microsoft.com/office/drawing/2014/main" val="20006"/>
                    </a:ext>
                  </a:extLst>
                </a:gridCol>
                <a:gridCol w="552400">
                  <a:extLst>
                    <a:ext uri="{9D8B030D-6E8A-4147-A177-3AD203B41FA5}">
                      <a16:colId xmlns:a16="http://schemas.microsoft.com/office/drawing/2014/main" val="20007"/>
                    </a:ext>
                  </a:extLst>
                </a:gridCol>
                <a:gridCol w="506500">
                  <a:extLst>
                    <a:ext uri="{9D8B030D-6E8A-4147-A177-3AD203B41FA5}">
                      <a16:colId xmlns:a16="http://schemas.microsoft.com/office/drawing/2014/main" val="20008"/>
                    </a:ext>
                  </a:extLst>
                </a:gridCol>
              </a:tblGrid>
              <a:tr h="28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R1</a:t>
                      </a:r>
                      <a:endParaRPr/>
                    </a:p>
                  </a:txBody>
                  <a:tcPr marL="91425" marR="91425" marT="91425" marB="91425"/>
                </a:tc>
                <a:tc>
                  <a:txBody>
                    <a:bodyPr/>
                    <a:lstStyle/>
                    <a:p>
                      <a:pPr marL="0" lvl="0" indent="0" algn="l" rtl="0">
                        <a:spcBef>
                          <a:spcPts val="0"/>
                        </a:spcBef>
                        <a:spcAft>
                          <a:spcPts val="0"/>
                        </a:spcAft>
                        <a:buNone/>
                      </a:pPr>
                      <a:r>
                        <a:rPr lang="vi"/>
                        <a:t>  R2</a:t>
                      </a:r>
                      <a:endParaRPr/>
                    </a:p>
                  </a:txBody>
                  <a:tcPr marL="91425" marR="91425" marT="91425" marB="91425"/>
                </a:tc>
                <a:tc>
                  <a:txBody>
                    <a:bodyPr/>
                    <a:lstStyle/>
                    <a:p>
                      <a:pPr marL="0" lvl="0" indent="0" algn="l" rtl="0">
                        <a:spcBef>
                          <a:spcPts val="0"/>
                        </a:spcBef>
                        <a:spcAft>
                          <a:spcPts val="0"/>
                        </a:spcAft>
                        <a:buNone/>
                      </a:pPr>
                      <a:r>
                        <a:rPr lang="vi"/>
                        <a:t> R3</a:t>
                      </a:r>
                      <a:endParaRPr/>
                    </a:p>
                  </a:txBody>
                  <a:tcPr marL="91425" marR="91425" marT="91425" marB="91425"/>
                </a:tc>
                <a:tc>
                  <a:txBody>
                    <a:bodyPr/>
                    <a:lstStyle/>
                    <a:p>
                      <a:pPr marL="0" lvl="0" indent="0" algn="l" rtl="0">
                        <a:spcBef>
                          <a:spcPts val="0"/>
                        </a:spcBef>
                        <a:spcAft>
                          <a:spcPts val="0"/>
                        </a:spcAft>
                        <a:buNone/>
                      </a:pPr>
                      <a:r>
                        <a:rPr lang="vi"/>
                        <a:t>  R4</a:t>
                      </a:r>
                      <a:endParaRPr/>
                    </a:p>
                  </a:txBody>
                  <a:tcPr marL="91425" marR="91425" marT="91425" marB="91425"/>
                </a:tc>
                <a:tc>
                  <a:txBody>
                    <a:bodyPr/>
                    <a:lstStyle/>
                    <a:p>
                      <a:pPr marL="0" lvl="0" indent="0" algn="l" rtl="0">
                        <a:spcBef>
                          <a:spcPts val="0"/>
                        </a:spcBef>
                        <a:spcAft>
                          <a:spcPts val="0"/>
                        </a:spcAft>
                        <a:buNone/>
                      </a:pPr>
                      <a:r>
                        <a:rPr lang="vi"/>
                        <a:t>  R5</a:t>
                      </a:r>
                      <a:endParaRPr/>
                    </a:p>
                  </a:txBody>
                  <a:tcPr marL="91425" marR="91425" marT="91425" marB="91425"/>
                </a:tc>
                <a:tc>
                  <a:txBody>
                    <a:bodyPr/>
                    <a:lstStyle/>
                    <a:p>
                      <a:pPr marL="0" lvl="0" indent="0" algn="l" rtl="0">
                        <a:spcBef>
                          <a:spcPts val="0"/>
                        </a:spcBef>
                        <a:spcAft>
                          <a:spcPts val="0"/>
                        </a:spcAft>
                        <a:buNone/>
                      </a:pPr>
                      <a:r>
                        <a:rPr lang="vi"/>
                        <a:t> R6</a:t>
                      </a:r>
                      <a:endParaRPr/>
                    </a:p>
                  </a:txBody>
                  <a:tcPr marL="91425" marR="91425" marT="91425" marB="91425"/>
                </a:tc>
                <a:tc>
                  <a:txBody>
                    <a:bodyPr/>
                    <a:lstStyle/>
                    <a:p>
                      <a:pPr marL="0" lvl="0" indent="0" algn="l" rtl="0">
                        <a:spcBef>
                          <a:spcPts val="0"/>
                        </a:spcBef>
                        <a:spcAft>
                          <a:spcPts val="0"/>
                        </a:spcAft>
                        <a:buNone/>
                      </a:pPr>
                      <a:r>
                        <a:rPr lang="vi"/>
                        <a:t> R7</a:t>
                      </a:r>
                      <a:endParaRPr/>
                    </a:p>
                  </a:txBody>
                  <a:tcPr marL="91425" marR="91425" marT="91425" marB="91425"/>
                </a:tc>
                <a:tc>
                  <a:txBody>
                    <a:bodyPr/>
                    <a:lstStyle/>
                    <a:p>
                      <a:pPr marL="0" lvl="0" indent="0" algn="l" rtl="0">
                        <a:spcBef>
                          <a:spcPts val="0"/>
                        </a:spcBef>
                        <a:spcAft>
                          <a:spcPts val="0"/>
                        </a:spcAft>
                        <a:buNone/>
                      </a:pPr>
                      <a:r>
                        <a:rPr lang="vi"/>
                        <a:t>R8</a:t>
                      </a:r>
                      <a:endParaRPr/>
                    </a:p>
                  </a:txBody>
                  <a:tcPr marL="91425" marR="91425" marT="91425" marB="91425"/>
                </a:tc>
                <a:extLst>
                  <a:ext uri="{0D108BD9-81ED-4DB2-BD59-A6C34878D82A}">
                    <a16:rowId xmlns:a16="http://schemas.microsoft.com/office/drawing/2014/main" val="10000"/>
                  </a:ext>
                </a:extLst>
              </a:tr>
              <a:tr h="280325">
                <a:tc>
                  <a:txBody>
                    <a:bodyPr/>
                    <a:lstStyle/>
                    <a:p>
                      <a:pPr marL="0" lvl="0" indent="0" algn="l" rtl="0">
                        <a:spcBef>
                          <a:spcPts val="0"/>
                        </a:spcBef>
                        <a:spcAft>
                          <a:spcPts val="0"/>
                        </a:spcAft>
                        <a:buNone/>
                      </a:pPr>
                      <a:r>
                        <a:rPr lang="vi"/>
                        <a:t>Khách hàng mới (15%)</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280325">
                <a:tc>
                  <a:txBody>
                    <a:bodyPr/>
                    <a:lstStyle/>
                    <a:p>
                      <a:pPr marL="0" lvl="0" indent="0" algn="l" rtl="0">
                        <a:spcBef>
                          <a:spcPts val="0"/>
                        </a:spcBef>
                        <a:spcAft>
                          <a:spcPts val="0"/>
                        </a:spcAft>
                        <a:buNone/>
                      </a:pPr>
                      <a:r>
                        <a:rPr lang="vi"/>
                        <a:t>VIP card (10%)</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280325">
                <a:tc>
                  <a:txBody>
                    <a:bodyPr/>
                    <a:lstStyle/>
                    <a:p>
                      <a:pPr marL="0" lvl="0" indent="0" algn="l" rtl="0">
                        <a:spcBef>
                          <a:spcPts val="0"/>
                        </a:spcBef>
                        <a:spcAft>
                          <a:spcPts val="0"/>
                        </a:spcAft>
                        <a:buNone/>
                      </a:pPr>
                      <a:r>
                        <a:rPr lang="vi"/>
                        <a:t>Coupon (20%)</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84" name="Google Shape;284;p46"/>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a:solidFill>
                  <a:schemeClr val="dk1"/>
                </a:solidFill>
              </a:rPr>
              <a:t>B3:Đặt toàn bộ các kết hợp vào bảng</a:t>
            </a:r>
            <a:endParaRPr>
              <a:solidFill>
                <a:schemeClr val="dk1"/>
              </a:solidFill>
            </a:endParaRPr>
          </a:p>
        </p:txBody>
      </p:sp>
      <p:graphicFrame>
        <p:nvGraphicFramePr>
          <p:cNvPr id="285" name="Google Shape;285;p46"/>
          <p:cNvGraphicFramePr/>
          <p:nvPr/>
        </p:nvGraphicFramePr>
        <p:xfrm>
          <a:off x="1604738" y="1623100"/>
          <a:ext cx="6623475" cy="3169680"/>
        </p:xfrm>
        <a:graphic>
          <a:graphicData uri="http://schemas.openxmlformats.org/drawingml/2006/table">
            <a:tbl>
              <a:tblPr>
                <a:noFill/>
                <a:tableStyleId>{7AEF6C22-7F40-453C-A713-85F41652D8F1}</a:tableStyleId>
              </a:tblPr>
              <a:tblGrid>
                <a:gridCol w="2061000">
                  <a:extLst>
                    <a:ext uri="{9D8B030D-6E8A-4147-A177-3AD203B41FA5}">
                      <a16:colId xmlns:a16="http://schemas.microsoft.com/office/drawing/2014/main" val="20000"/>
                    </a:ext>
                  </a:extLst>
                </a:gridCol>
                <a:gridCol w="613450">
                  <a:extLst>
                    <a:ext uri="{9D8B030D-6E8A-4147-A177-3AD203B41FA5}">
                      <a16:colId xmlns:a16="http://schemas.microsoft.com/office/drawing/2014/main" val="20001"/>
                    </a:ext>
                  </a:extLst>
                </a:gridCol>
                <a:gridCol w="579625">
                  <a:extLst>
                    <a:ext uri="{9D8B030D-6E8A-4147-A177-3AD203B41FA5}">
                      <a16:colId xmlns:a16="http://schemas.microsoft.com/office/drawing/2014/main" val="20002"/>
                    </a:ext>
                  </a:extLst>
                </a:gridCol>
                <a:gridCol w="579925">
                  <a:extLst>
                    <a:ext uri="{9D8B030D-6E8A-4147-A177-3AD203B41FA5}">
                      <a16:colId xmlns:a16="http://schemas.microsoft.com/office/drawing/2014/main" val="20003"/>
                    </a:ext>
                  </a:extLst>
                </a:gridCol>
                <a:gridCol w="589075">
                  <a:extLst>
                    <a:ext uri="{9D8B030D-6E8A-4147-A177-3AD203B41FA5}">
                      <a16:colId xmlns:a16="http://schemas.microsoft.com/office/drawing/2014/main" val="20004"/>
                    </a:ext>
                  </a:extLst>
                </a:gridCol>
                <a:gridCol w="552425">
                  <a:extLst>
                    <a:ext uri="{9D8B030D-6E8A-4147-A177-3AD203B41FA5}">
                      <a16:colId xmlns:a16="http://schemas.microsoft.com/office/drawing/2014/main" val="20005"/>
                    </a:ext>
                  </a:extLst>
                </a:gridCol>
                <a:gridCol w="589075">
                  <a:extLst>
                    <a:ext uri="{9D8B030D-6E8A-4147-A177-3AD203B41FA5}">
                      <a16:colId xmlns:a16="http://schemas.microsoft.com/office/drawing/2014/main" val="20006"/>
                    </a:ext>
                  </a:extLst>
                </a:gridCol>
                <a:gridCol w="552400">
                  <a:extLst>
                    <a:ext uri="{9D8B030D-6E8A-4147-A177-3AD203B41FA5}">
                      <a16:colId xmlns:a16="http://schemas.microsoft.com/office/drawing/2014/main" val="20007"/>
                    </a:ext>
                  </a:extLst>
                </a:gridCol>
                <a:gridCol w="506500">
                  <a:extLst>
                    <a:ext uri="{9D8B030D-6E8A-4147-A177-3AD203B41FA5}">
                      <a16:colId xmlns:a16="http://schemas.microsoft.com/office/drawing/2014/main" val="20008"/>
                    </a:ext>
                  </a:extLst>
                </a:gridCol>
              </a:tblGrid>
              <a:tr h="28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R1</a:t>
                      </a:r>
                      <a:endParaRPr/>
                    </a:p>
                  </a:txBody>
                  <a:tcPr marL="91425" marR="91425" marT="91425" marB="91425"/>
                </a:tc>
                <a:tc>
                  <a:txBody>
                    <a:bodyPr/>
                    <a:lstStyle/>
                    <a:p>
                      <a:pPr marL="0" lvl="0" indent="0" algn="l" rtl="0">
                        <a:spcBef>
                          <a:spcPts val="0"/>
                        </a:spcBef>
                        <a:spcAft>
                          <a:spcPts val="0"/>
                        </a:spcAft>
                        <a:buNone/>
                      </a:pPr>
                      <a:r>
                        <a:rPr lang="vi"/>
                        <a:t>  R2</a:t>
                      </a:r>
                      <a:endParaRPr/>
                    </a:p>
                  </a:txBody>
                  <a:tcPr marL="91425" marR="91425" marT="91425" marB="91425"/>
                </a:tc>
                <a:tc>
                  <a:txBody>
                    <a:bodyPr/>
                    <a:lstStyle/>
                    <a:p>
                      <a:pPr marL="0" lvl="0" indent="0" algn="l" rtl="0">
                        <a:spcBef>
                          <a:spcPts val="0"/>
                        </a:spcBef>
                        <a:spcAft>
                          <a:spcPts val="0"/>
                        </a:spcAft>
                        <a:buNone/>
                      </a:pPr>
                      <a:r>
                        <a:rPr lang="vi"/>
                        <a:t> R3</a:t>
                      </a:r>
                      <a:endParaRPr/>
                    </a:p>
                  </a:txBody>
                  <a:tcPr marL="91425" marR="91425" marT="91425" marB="91425"/>
                </a:tc>
                <a:tc>
                  <a:txBody>
                    <a:bodyPr/>
                    <a:lstStyle/>
                    <a:p>
                      <a:pPr marL="0" lvl="0" indent="0" algn="l" rtl="0">
                        <a:spcBef>
                          <a:spcPts val="0"/>
                        </a:spcBef>
                        <a:spcAft>
                          <a:spcPts val="0"/>
                        </a:spcAft>
                        <a:buNone/>
                      </a:pPr>
                      <a:r>
                        <a:rPr lang="vi"/>
                        <a:t>  R4</a:t>
                      </a:r>
                      <a:endParaRPr/>
                    </a:p>
                  </a:txBody>
                  <a:tcPr marL="91425" marR="91425" marT="91425" marB="91425"/>
                </a:tc>
                <a:tc>
                  <a:txBody>
                    <a:bodyPr/>
                    <a:lstStyle/>
                    <a:p>
                      <a:pPr marL="0" lvl="0" indent="0" algn="l" rtl="0">
                        <a:spcBef>
                          <a:spcPts val="0"/>
                        </a:spcBef>
                        <a:spcAft>
                          <a:spcPts val="0"/>
                        </a:spcAft>
                        <a:buNone/>
                      </a:pPr>
                      <a:r>
                        <a:rPr lang="vi"/>
                        <a:t>  R5</a:t>
                      </a:r>
                      <a:endParaRPr/>
                    </a:p>
                  </a:txBody>
                  <a:tcPr marL="91425" marR="91425" marT="91425" marB="91425"/>
                </a:tc>
                <a:tc>
                  <a:txBody>
                    <a:bodyPr/>
                    <a:lstStyle/>
                    <a:p>
                      <a:pPr marL="0" lvl="0" indent="0" algn="l" rtl="0">
                        <a:spcBef>
                          <a:spcPts val="0"/>
                        </a:spcBef>
                        <a:spcAft>
                          <a:spcPts val="0"/>
                        </a:spcAft>
                        <a:buNone/>
                      </a:pPr>
                      <a:r>
                        <a:rPr lang="vi"/>
                        <a:t> R6</a:t>
                      </a:r>
                      <a:endParaRPr/>
                    </a:p>
                  </a:txBody>
                  <a:tcPr marL="91425" marR="91425" marT="91425" marB="91425"/>
                </a:tc>
                <a:tc>
                  <a:txBody>
                    <a:bodyPr/>
                    <a:lstStyle/>
                    <a:p>
                      <a:pPr marL="0" lvl="0" indent="0" algn="l" rtl="0">
                        <a:spcBef>
                          <a:spcPts val="0"/>
                        </a:spcBef>
                        <a:spcAft>
                          <a:spcPts val="0"/>
                        </a:spcAft>
                        <a:buNone/>
                      </a:pPr>
                      <a:r>
                        <a:rPr lang="vi"/>
                        <a:t> R7</a:t>
                      </a:r>
                      <a:endParaRPr/>
                    </a:p>
                  </a:txBody>
                  <a:tcPr marL="91425" marR="91425" marT="91425" marB="91425"/>
                </a:tc>
                <a:tc>
                  <a:txBody>
                    <a:bodyPr/>
                    <a:lstStyle/>
                    <a:p>
                      <a:pPr marL="0" lvl="0" indent="0" algn="l" rtl="0">
                        <a:spcBef>
                          <a:spcPts val="0"/>
                        </a:spcBef>
                        <a:spcAft>
                          <a:spcPts val="0"/>
                        </a:spcAft>
                        <a:buNone/>
                      </a:pPr>
                      <a:r>
                        <a:rPr lang="vi"/>
                        <a:t>R8</a:t>
                      </a:r>
                      <a:endParaRPr/>
                    </a:p>
                  </a:txBody>
                  <a:tcPr marL="91425" marR="91425" marT="91425" marB="91425"/>
                </a:tc>
                <a:extLst>
                  <a:ext uri="{0D108BD9-81ED-4DB2-BD59-A6C34878D82A}">
                    <a16:rowId xmlns:a16="http://schemas.microsoft.com/office/drawing/2014/main" val="10000"/>
                  </a:ext>
                </a:extLst>
              </a:tr>
              <a:tr h="280325">
                <a:tc>
                  <a:txBody>
                    <a:bodyPr/>
                    <a:lstStyle/>
                    <a:p>
                      <a:pPr marL="0" lvl="0" indent="0" algn="l" rtl="0">
                        <a:spcBef>
                          <a:spcPts val="0"/>
                        </a:spcBef>
                        <a:spcAft>
                          <a:spcPts val="0"/>
                        </a:spcAft>
                        <a:buNone/>
                      </a:pPr>
                      <a:r>
                        <a:rPr lang="vi"/>
                        <a:t>Khách hàng mới (15%)</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extLst>
                  <a:ext uri="{0D108BD9-81ED-4DB2-BD59-A6C34878D82A}">
                    <a16:rowId xmlns:a16="http://schemas.microsoft.com/office/drawing/2014/main" val="10001"/>
                  </a:ext>
                </a:extLst>
              </a:tr>
              <a:tr h="280325">
                <a:tc>
                  <a:txBody>
                    <a:bodyPr/>
                    <a:lstStyle/>
                    <a:p>
                      <a:pPr marL="0" lvl="0" indent="0" algn="l" rtl="0">
                        <a:spcBef>
                          <a:spcPts val="0"/>
                        </a:spcBef>
                        <a:spcAft>
                          <a:spcPts val="0"/>
                        </a:spcAft>
                        <a:buNone/>
                      </a:pPr>
                      <a:r>
                        <a:rPr lang="vi"/>
                        <a:t>VIP card (10%)</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extLst>
                  <a:ext uri="{0D108BD9-81ED-4DB2-BD59-A6C34878D82A}">
                    <a16:rowId xmlns:a16="http://schemas.microsoft.com/office/drawing/2014/main" val="10002"/>
                  </a:ext>
                </a:extLst>
              </a:tr>
              <a:tr h="280325">
                <a:tc>
                  <a:txBody>
                    <a:bodyPr/>
                    <a:lstStyle/>
                    <a:p>
                      <a:pPr marL="0" lvl="0" indent="0" algn="l" rtl="0">
                        <a:spcBef>
                          <a:spcPts val="0"/>
                        </a:spcBef>
                        <a:spcAft>
                          <a:spcPts val="0"/>
                        </a:spcAft>
                        <a:buNone/>
                      </a:pPr>
                      <a:r>
                        <a:rPr lang="vi"/>
                        <a:t>Coupon (20%)</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extLst>
                  <a:ext uri="{0D108BD9-81ED-4DB2-BD59-A6C34878D82A}">
                    <a16:rowId xmlns:a16="http://schemas.microsoft.com/office/drawing/2014/main" val="10003"/>
                  </a:ext>
                </a:extLst>
              </a:tr>
              <a:tr h="280325">
                <a:tc>
                  <a:txBody>
                    <a:bodyPr/>
                    <a:lstStyle/>
                    <a:p>
                      <a:pPr marL="0" lvl="0" indent="0" algn="l" rtl="0">
                        <a:spcBef>
                          <a:spcPts val="0"/>
                        </a:spcBef>
                        <a:spcAft>
                          <a:spcPts val="0"/>
                        </a:spcAft>
                        <a:buNone/>
                      </a:pPr>
                      <a:r>
                        <a:rPr lang="vi"/>
                        <a:t>Giảm giá 10%</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280325">
                <a:tc>
                  <a:txBody>
                    <a:bodyPr/>
                    <a:lstStyle/>
                    <a:p>
                      <a:pPr marL="0" lvl="0" indent="0" algn="l" rtl="0">
                        <a:spcBef>
                          <a:spcPts val="0"/>
                        </a:spcBef>
                        <a:spcAft>
                          <a:spcPts val="0"/>
                        </a:spcAft>
                        <a:buNone/>
                      </a:pPr>
                      <a:r>
                        <a:rPr lang="vi"/>
                        <a:t>Giảm giá 15%</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280325">
                <a:tc>
                  <a:txBody>
                    <a:bodyPr/>
                    <a:lstStyle/>
                    <a:p>
                      <a:pPr marL="0" lvl="0" indent="0" algn="l" rtl="0">
                        <a:spcBef>
                          <a:spcPts val="0"/>
                        </a:spcBef>
                        <a:spcAft>
                          <a:spcPts val="0"/>
                        </a:spcAft>
                        <a:buNone/>
                      </a:pPr>
                      <a:r>
                        <a:rPr lang="vi"/>
                        <a:t>Giảm giá 20%</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6"/>
                  </a:ext>
                </a:extLst>
              </a:tr>
              <a:tr h="280325">
                <a:tc>
                  <a:txBody>
                    <a:bodyPr/>
                    <a:lstStyle/>
                    <a:p>
                      <a:pPr marL="0" lvl="0" indent="0" algn="l" rtl="0">
                        <a:spcBef>
                          <a:spcPts val="0"/>
                        </a:spcBef>
                        <a:spcAft>
                          <a:spcPts val="0"/>
                        </a:spcAft>
                        <a:buNone/>
                      </a:pPr>
                      <a:r>
                        <a:rPr lang="vi"/>
                        <a:t>Không giảm giá</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91" name="Google Shape;291;p47"/>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a:solidFill>
                  <a:schemeClr val="dk1"/>
                </a:solidFill>
              </a:rPr>
              <a:t>B4:Rút gọn bảng </a:t>
            </a:r>
            <a:endParaRPr>
              <a:solidFill>
                <a:schemeClr val="dk1"/>
              </a:solidFill>
            </a:endParaRPr>
          </a:p>
        </p:txBody>
      </p:sp>
      <p:graphicFrame>
        <p:nvGraphicFramePr>
          <p:cNvPr id="292" name="Google Shape;292;p47"/>
          <p:cNvGraphicFramePr/>
          <p:nvPr/>
        </p:nvGraphicFramePr>
        <p:xfrm>
          <a:off x="2214338" y="1699300"/>
          <a:ext cx="6623475" cy="3169680"/>
        </p:xfrm>
        <a:graphic>
          <a:graphicData uri="http://schemas.openxmlformats.org/drawingml/2006/table">
            <a:tbl>
              <a:tblPr>
                <a:noFill/>
                <a:tableStyleId>{7AEF6C22-7F40-453C-A713-85F41652D8F1}</a:tableStyleId>
              </a:tblPr>
              <a:tblGrid>
                <a:gridCol w="2061000">
                  <a:extLst>
                    <a:ext uri="{9D8B030D-6E8A-4147-A177-3AD203B41FA5}">
                      <a16:colId xmlns:a16="http://schemas.microsoft.com/office/drawing/2014/main" val="20000"/>
                    </a:ext>
                  </a:extLst>
                </a:gridCol>
                <a:gridCol w="613450">
                  <a:extLst>
                    <a:ext uri="{9D8B030D-6E8A-4147-A177-3AD203B41FA5}">
                      <a16:colId xmlns:a16="http://schemas.microsoft.com/office/drawing/2014/main" val="20001"/>
                    </a:ext>
                  </a:extLst>
                </a:gridCol>
                <a:gridCol w="579625">
                  <a:extLst>
                    <a:ext uri="{9D8B030D-6E8A-4147-A177-3AD203B41FA5}">
                      <a16:colId xmlns:a16="http://schemas.microsoft.com/office/drawing/2014/main" val="20002"/>
                    </a:ext>
                  </a:extLst>
                </a:gridCol>
                <a:gridCol w="579925">
                  <a:extLst>
                    <a:ext uri="{9D8B030D-6E8A-4147-A177-3AD203B41FA5}">
                      <a16:colId xmlns:a16="http://schemas.microsoft.com/office/drawing/2014/main" val="20003"/>
                    </a:ext>
                  </a:extLst>
                </a:gridCol>
                <a:gridCol w="589075">
                  <a:extLst>
                    <a:ext uri="{9D8B030D-6E8A-4147-A177-3AD203B41FA5}">
                      <a16:colId xmlns:a16="http://schemas.microsoft.com/office/drawing/2014/main" val="20004"/>
                    </a:ext>
                  </a:extLst>
                </a:gridCol>
                <a:gridCol w="552425">
                  <a:extLst>
                    <a:ext uri="{9D8B030D-6E8A-4147-A177-3AD203B41FA5}">
                      <a16:colId xmlns:a16="http://schemas.microsoft.com/office/drawing/2014/main" val="20005"/>
                    </a:ext>
                  </a:extLst>
                </a:gridCol>
                <a:gridCol w="589075">
                  <a:extLst>
                    <a:ext uri="{9D8B030D-6E8A-4147-A177-3AD203B41FA5}">
                      <a16:colId xmlns:a16="http://schemas.microsoft.com/office/drawing/2014/main" val="20006"/>
                    </a:ext>
                  </a:extLst>
                </a:gridCol>
                <a:gridCol w="552400">
                  <a:extLst>
                    <a:ext uri="{9D8B030D-6E8A-4147-A177-3AD203B41FA5}">
                      <a16:colId xmlns:a16="http://schemas.microsoft.com/office/drawing/2014/main" val="20007"/>
                    </a:ext>
                  </a:extLst>
                </a:gridCol>
                <a:gridCol w="506500">
                  <a:extLst>
                    <a:ext uri="{9D8B030D-6E8A-4147-A177-3AD203B41FA5}">
                      <a16:colId xmlns:a16="http://schemas.microsoft.com/office/drawing/2014/main" val="20008"/>
                    </a:ext>
                  </a:extLst>
                </a:gridCol>
              </a:tblGrid>
              <a:tr h="28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R1</a:t>
                      </a:r>
                      <a:endParaRPr/>
                    </a:p>
                  </a:txBody>
                  <a:tcPr marL="91425" marR="91425" marT="91425" marB="91425">
                    <a:lnR w="9525" cap="flat" cmpd="sng">
                      <a:solidFill>
                        <a:schemeClr val="lt2"/>
                      </a:solidFill>
                      <a:prstDash val="solid"/>
                      <a:round/>
                      <a:headEnd type="none" w="sm" len="sm"/>
                      <a:tailEnd type="none" w="sm" len="sm"/>
                    </a:lnR>
                    <a:solidFill>
                      <a:srgbClr val="EFEFEF"/>
                    </a:solidFill>
                  </a:tcPr>
                </a:tc>
                <a:tc>
                  <a:txBody>
                    <a:bodyPr/>
                    <a:lstStyle/>
                    <a:p>
                      <a:pPr marL="0" lvl="0" indent="0" algn="l" rtl="0">
                        <a:spcBef>
                          <a:spcPts val="0"/>
                        </a:spcBef>
                        <a:spcAft>
                          <a:spcPts val="0"/>
                        </a:spcAft>
                        <a:buNone/>
                      </a:pPr>
                      <a:r>
                        <a:rPr lang="vi"/>
                        <a:t>  R2</a:t>
                      </a:r>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vi"/>
                        <a:t> R3</a:t>
                      </a:r>
                      <a:endParaRPr/>
                    </a:p>
                  </a:txBody>
                  <a:tcPr marL="91425" marR="91425" marT="91425" marB="91425">
                    <a:lnL w="9525" cap="flat" cmpd="sng">
                      <a:solidFill>
                        <a:schemeClr val="lt2"/>
                      </a:solidFill>
                      <a:prstDash val="solid"/>
                      <a:round/>
                      <a:headEnd type="none" w="sm" len="sm"/>
                      <a:tailEnd type="none" w="sm" len="sm"/>
                    </a:lnL>
                  </a:tcPr>
                </a:tc>
                <a:tc>
                  <a:txBody>
                    <a:bodyPr/>
                    <a:lstStyle/>
                    <a:p>
                      <a:pPr marL="0" lvl="0" indent="0" algn="l" rtl="0">
                        <a:spcBef>
                          <a:spcPts val="0"/>
                        </a:spcBef>
                        <a:spcAft>
                          <a:spcPts val="0"/>
                        </a:spcAft>
                        <a:buNone/>
                      </a:pPr>
                      <a:r>
                        <a:rPr lang="vi"/>
                        <a:t>  R4</a:t>
                      </a:r>
                      <a:endParaRPr/>
                    </a:p>
                  </a:txBody>
                  <a:tcPr marL="91425" marR="91425" marT="91425" marB="91425"/>
                </a:tc>
                <a:tc>
                  <a:txBody>
                    <a:bodyPr/>
                    <a:lstStyle/>
                    <a:p>
                      <a:pPr marL="0" lvl="0" indent="0" algn="l" rtl="0">
                        <a:spcBef>
                          <a:spcPts val="0"/>
                        </a:spcBef>
                        <a:spcAft>
                          <a:spcPts val="0"/>
                        </a:spcAft>
                        <a:buNone/>
                      </a:pPr>
                      <a:r>
                        <a:rPr lang="vi"/>
                        <a:t>  R5</a:t>
                      </a:r>
                      <a:endParaRPr/>
                    </a:p>
                  </a:txBody>
                  <a:tcPr marL="91425" marR="91425" marT="91425" marB="91425"/>
                </a:tc>
                <a:tc>
                  <a:txBody>
                    <a:bodyPr/>
                    <a:lstStyle/>
                    <a:p>
                      <a:pPr marL="0" lvl="0" indent="0" algn="l" rtl="0">
                        <a:spcBef>
                          <a:spcPts val="0"/>
                        </a:spcBef>
                        <a:spcAft>
                          <a:spcPts val="0"/>
                        </a:spcAft>
                        <a:buNone/>
                      </a:pPr>
                      <a:r>
                        <a:rPr lang="vi"/>
                        <a:t> R6</a:t>
                      </a:r>
                      <a:endParaRPr/>
                    </a:p>
                  </a:txBody>
                  <a:tcPr marL="91425" marR="91425" marT="91425" marB="91425"/>
                </a:tc>
                <a:tc>
                  <a:txBody>
                    <a:bodyPr/>
                    <a:lstStyle/>
                    <a:p>
                      <a:pPr marL="0" lvl="0" indent="0" algn="l" rtl="0">
                        <a:spcBef>
                          <a:spcPts val="0"/>
                        </a:spcBef>
                        <a:spcAft>
                          <a:spcPts val="0"/>
                        </a:spcAft>
                        <a:buNone/>
                      </a:pPr>
                      <a:r>
                        <a:rPr lang="vi"/>
                        <a:t> R7</a:t>
                      </a:r>
                      <a:endParaRPr/>
                    </a:p>
                  </a:txBody>
                  <a:tcPr marL="91425" marR="91425" marT="91425" marB="91425">
                    <a:solidFill>
                      <a:srgbClr val="EFEFEF"/>
                    </a:solidFill>
                  </a:tcPr>
                </a:tc>
                <a:tc>
                  <a:txBody>
                    <a:bodyPr/>
                    <a:lstStyle/>
                    <a:p>
                      <a:pPr marL="0" lvl="0" indent="0" algn="l" rtl="0">
                        <a:spcBef>
                          <a:spcPts val="0"/>
                        </a:spcBef>
                        <a:spcAft>
                          <a:spcPts val="0"/>
                        </a:spcAft>
                        <a:buNone/>
                      </a:pPr>
                      <a:r>
                        <a:rPr lang="vi"/>
                        <a:t>R8</a:t>
                      </a:r>
                      <a:endParaRPr/>
                    </a:p>
                  </a:txBody>
                  <a:tcPr marL="91425" marR="91425" marT="91425" marB="91425"/>
                </a:tc>
                <a:extLst>
                  <a:ext uri="{0D108BD9-81ED-4DB2-BD59-A6C34878D82A}">
                    <a16:rowId xmlns:a16="http://schemas.microsoft.com/office/drawing/2014/main" val="10000"/>
                  </a:ext>
                </a:extLst>
              </a:tr>
              <a:tr h="280325">
                <a:tc>
                  <a:txBody>
                    <a:bodyPr/>
                    <a:lstStyle/>
                    <a:p>
                      <a:pPr marL="0" lvl="0" indent="0" algn="l" rtl="0">
                        <a:spcBef>
                          <a:spcPts val="0"/>
                        </a:spcBef>
                        <a:spcAft>
                          <a:spcPts val="0"/>
                        </a:spcAft>
                        <a:buNone/>
                      </a:pPr>
                      <a:r>
                        <a:rPr lang="vi"/>
                        <a:t>Khách hàng mới (15%)</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lnR w="9525" cap="flat" cmpd="sng">
                      <a:solidFill>
                        <a:schemeClr val="lt2"/>
                      </a:solidFill>
                      <a:prstDash val="solid"/>
                      <a:round/>
                      <a:headEnd type="none" w="sm" len="sm"/>
                      <a:tailEnd type="none" w="sm" len="sm"/>
                    </a:lnR>
                    <a:solidFill>
                      <a:srgbClr val="EFEFEF"/>
                    </a:solidFill>
                  </a:tcPr>
                </a:tc>
                <a:tc>
                  <a:txBody>
                    <a:bodyPr/>
                    <a:lstStyle/>
                    <a:p>
                      <a:pPr marL="0" lvl="0" indent="0" algn="l" rtl="0">
                        <a:spcBef>
                          <a:spcPts val="0"/>
                        </a:spcBef>
                        <a:spcAft>
                          <a:spcPts val="0"/>
                        </a:spcAft>
                        <a:buNone/>
                      </a:pPr>
                      <a:r>
                        <a:rPr lang="vi"/>
                        <a:t>  T</a:t>
                      </a:r>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vi"/>
                        <a:t>  T</a:t>
                      </a:r>
                      <a:endParaRPr/>
                    </a:p>
                  </a:txBody>
                  <a:tcPr marL="91425" marR="91425" marT="91425" marB="91425">
                    <a:lnL w="9525" cap="flat" cmpd="sng">
                      <a:solidFill>
                        <a:schemeClr val="lt2"/>
                      </a:solidFill>
                      <a:prstDash val="solid"/>
                      <a:round/>
                      <a:headEnd type="none" w="sm" len="sm"/>
                      <a:tailEnd type="none" w="sm" len="sm"/>
                    </a:lnL>
                  </a:tcPr>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solidFill>
                      <a:srgbClr val="EFEFEF"/>
                    </a:solidFill>
                  </a:tcPr>
                </a:tc>
                <a:tc>
                  <a:txBody>
                    <a:bodyPr/>
                    <a:lstStyle/>
                    <a:p>
                      <a:pPr marL="0" lvl="0" indent="0" algn="l" rtl="0">
                        <a:spcBef>
                          <a:spcPts val="0"/>
                        </a:spcBef>
                        <a:spcAft>
                          <a:spcPts val="0"/>
                        </a:spcAft>
                        <a:buNone/>
                      </a:pPr>
                      <a:r>
                        <a:rPr lang="vi"/>
                        <a:t>  F</a:t>
                      </a:r>
                      <a:endParaRPr/>
                    </a:p>
                  </a:txBody>
                  <a:tcPr marL="91425" marR="91425" marT="91425" marB="91425"/>
                </a:tc>
                <a:extLst>
                  <a:ext uri="{0D108BD9-81ED-4DB2-BD59-A6C34878D82A}">
                    <a16:rowId xmlns:a16="http://schemas.microsoft.com/office/drawing/2014/main" val="10001"/>
                  </a:ext>
                </a:extLst>
              </a:tr>
              <a:tr h="280325">
                <a:tc>
                  <a:txBody>
                    <a:bodyPr/>
                    <a:lstStyle/>
                    <a:p>
                      <a:pPr marL="0" lvl="0" indent="0" algn="l" rtl="0">
                        <a:spcBef>
                          <a:spcPts val="0"/>
                        </a:spcBef>
                        <a:spcAft>
                          <a:spcPts val="0"/>
                        </a:spcAft>
                        <a:buNone/>
                      </a:pPr>
                      <a:r>
                        <a:rPr lang="vi"/>
                        <a:t>VIP card (10%)</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lnR w="9525" cap="flat" cmpd="sng">
                      <a:solidFill>
                        <a:schemeClr val="lt2"/>
                      </a:solidFill>
                      <a:prstDash val="solid"/>
                      <a:round/>
                      <a:headEnd type="none" w="sm" len="sm"/>
                      <a:tailEnd type="none" w="sm" len="sm"/>
                    </a:lnR>
                    <a:solidFill>
                      <a:srgbClr val="EFEFEF"/>
                    </a:solidFill>
                  </a:tcPr>
                </a:tc>
                <a:tc>
                  <a:txBody>
                    <a:bodyPr/>
                    <a:lstStyle/>
                    <a:p>
                      <a:pPr marL="0" lvl="0" indent="0" algn="l" rtl="0">
                        <a:spcBef>
                          <a:spcPts val="0"/>
                        </a:spcBef>
                        <a:spcAft>
                          <a:spcPts val="0"/>
                        </a:spcAft>
                        <a:buNone/>
                      </a:pPr>
                      <a:r>
                        <a:rPr lang="vi"/>
                        <a:t>  T</a:t>
                      </a:r>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vi"/>
                        <a:t>  F</a:t>
                      </a:r>
                      <a:endParaRPr/>
                    </a:p>
                  </a:txBody>
                  <a:tcPr marL="91425" marR="91425" marT="91425" marB="91425">
                    <a:lnL w="9525" cap="flat" cmpd="sng">
                      <a:solidFill>
                        <a:schemeClr val="lt2"/>
                      </a:solidFill>
                      <a:prstDash val="solid"/>
                      <a:round/>
                      <a:headEnd type="none" w="sm" len="sm"/>
                      <a:tailEnd type="none" w="sm" len="sm"/>
                    </a:lnL>
                  </a:tcPr>
                </a:tc>
                <a:tc>
                  <a:txBody>
                    <a:bodyPr/>
                    <a:lstStyle/>
                    <a:p>
                      <a:pPr marL="0" lvl="0" indent="0" algn="l" rtl="0">
                        <a:spcBef>
                          <a:spcPts val="0"/>
                        </a:spcBef>
                        <a:spcAft>
                          <a:spcPts val="0"/>
                        </a:spcAft>
                        <a:buNone/>
                      </a:pPr>
                      <a:r>
                        <a:rPr lang="vi"/>
                        <a:t>  F</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T</a:t>
                      </a:r>
                      <a:endParaRPr/>
                    </a:p>
                  </a:txBody>
                  <a:tcPr marL="91425" marR="91425" marT="91425" marB="91425"/>
                </a:tc>
                <a:tc>
                  <a:txBody>
                    <a:bodyPr/>
                    <a:lstStyle/>
                    <a:p>
                      <a:pPr marL="0" lvl="0" indent="0" algn="l" rtl="0">
                        <a:spcBef>
                          <a:spcPts val="0"/>
                        </a:spcBef>
                        <a:spcAft>
                          <a:spcPts val="0"/>
                        </a:spcAft>
                        <a:buNone/>
                      </a:pPr>
                      <a:r>
                        <a:rPr lang="vi"/>
                        <a:t>  F</a:t>
                      </a:r>
                      <a:endParaRPr/>
                    </a:p>
                  </a:txBody>
                  <a:tcPr marL="91425" marR="91425" marT="91425" marB="91425">
                    <a:solidFill>
                      <a:srgbClr val="EFEFEF"/>
                    </a:solidFill>
                  </a:tcPr>
                </a:tc>
                <a:tc>
                  <a:txBody>
                    <a:bodyPr/>
                    <a:lstStyle/>
                    <a:p>
                      <a:pPr marL="0" lvl="0" indent="0" algn="l" rtl="0">
                        <a:spcBef>
                          <a:spcPts val="0"/>
                        </a:spcBef>
                        <a:spcAft>
                          <a:spcPts val="0"/>
                        </a:spcAft>
                        <a:buNone/>
                      </a:pPr>
                      <a:r>
                        <a:rPr lang="vi"/>
                        <a:t>  F</a:t>
                      </a:r>
                      <a:endParaRPr/>
                    </a:p>
                  </a:txBody>
                  <a:tcPr marL="91425" marR="91425" marT="91425" marB="91425"/>
                </a:tc>
                <a:extLst>
                  <a:ext uri="{0D108BD9-81ED-4DB2-BD59-A6C34878D82A}">
                    <a16:rowId xmlns:a16="http://schemas.microsoft.com/office/drawing/2014/main" val="10002"/>
                  </a:ext>
                </a:extLst>
              </a:tr>
              <a:tr h="280325">
                <a:tc>
                  <a:txBody>
                    <a:bodyPr/>
                    <a:lstStyle/>
                    <a:p>
                      <a:pPr marL="0" lvl="0" indent="0" algn="l" rtl="0">
                        <a:spcBef>
                          <a:spcPts val="0"/>
                        </a:spcBef>
                        <a:spcAft>
                          <a:spcPts val="0"/>
                        </a:spcAft>
                        <a:buNone/>
                      </a:pPr>
                      <a:r>
                        <a:rPr lang="vi"/>
                        <a:t>Coupon (20%)</a:t>
                      </a:r>
                      <a:endParaRPr/>
                    </a:p>
                  </a:txBody>
                  <a:tcPr marL="91425" marR="91425" marT="91425" marB="91425">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a:t>  T</a:t>
                      </a:r>
                      <a:endParaRPr/>
                    </a:p>
                  </a:txBody>
                  <a:tcPr marL="91425" marR="91425" marT="91425" marB="91425">
                    <a:lnR w="9525" cap="flat" cmpd="sng">
                      <a:solidFill>
                        <a:schemeClr val="lt2"/>
                      </a:solidFill>
                      <a:prstDash val="solid"/>
                      <a:round/>
                      <a:headEnd type="none" w="sm" len="sm"/>
                      <a:tailEnd type="none" w="sm" len="sm"/>
                    </a:lnR>
                    <a:lnB w="19050" cap="flat" cmpd="sng">
                      <a:solidFill>
                        <a:srgbClr val="9E9E9E"/>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vi"/>
                        <a:t>  F</a:t>
                      </a:r>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vi"/>
                        <a:t>  T</a:t>
                      </a:r>
                      <a:endParaRPr/>
                    </a:p>
                  </a:txBody>
                  <a:tcPr marL="91425" marR="91425" marT="91425" marB="91425">
                    <a:lnL w="9525" cap="flat" cmpd="sng">
                      <a:solidFill>
                        <a:schemeClr val="lt2"/>
                      </a:solidFill>
                      <a:prstDash val="solid"/>
                      <a:round/>
                      <a:headEnd type="none" w="sm" len="sm"/>
                      <a:tailEnd type="none" w="sm" len="sm"/>
                    </a:lnL>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a:t>  F</a:t>
                      </a:r>
                      <a:endParaRPr/>
                    </a:p>
                  </a:txBody>
                  <a:tcPr marL="91425" marR="91425" marT="91425" marB="91425">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a:t>  T</a:t>
                      </a:r>
                      <a:endParaRPr/>
                    </a:p>
                  </a:txBody>
                  <a:tcPr marL="91425" marR="91425" marT="91425" marB="91425">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a:t>  F</a:t>
                      </a:r>
                      <a:endParaRPr/>
                    </a:p>
                  </a:txBody>
                  <a:tcPr marL="91425" marR="91425" marT="91425" marB="91425">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a:t>  T</a:t>
                      </a:r>
                      <a:endParaRPr/>
                    </a:p>
                  </a:txBody>
                  <a:tcPr marL="91425" marR="91425" marT="91425" marB="91425">
                    <a:lnB w="19050" cap="flat" cmpd="sng">
                      <a:solidFill>
                        <a:srgbClr val="9E9E9E"/>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vi"/>
                        <a:t>  F</a:t>
                      </a:r>
                      <a:endParaRPr/>
                    </a:p>
                  </a:txBody>
                  <a:tcPr marL="91425" marR="91425" marT="91425" marB="91425">
                    <a:lnB w="19050"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280325">
                <a:tc>
                  <a:txBody>
                    <a:bodyPr/>
                    <a:lstStyle/>
                    <a:p>
                      <a:pPr marL="0" lvl="0" indent="0" algn="l" rtl="0">
                        <a:spcBef>
                          <a:spcPts val="0"/>
                        </a:spcBef>
                        <a:spcAft>
                          <a:spcPts val="0"/>
                        </a:spcAft>
                        <a:buNone/>
                      </a:pPr>
                      <a:r>
                        <a:rPr lang="vi"/>
                        <a:t>Giảm giá 10%</a:t>
                      </a:r>
                      <a:endParaRPr/>
                    </a:p>
                  </a:txBody>
                  <a:tcPr marL="91425" marR="91425" marT="91425" marB="91425">
                    <a:lnT w="19050"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vi"/>
                        <a:t>  -</a:t>
                      </a:r>
                      <a:endParaRPr/>
                    </a:p>
                  </a:txBody>
                  <a:tcPr marL="91425" marR="91425" marT="91425" marB="91425">
                    <a:lnR w="9525" cap="flat" cmpd="sng">
                      <a:solidFill>
                        <a:schemeClr val="lt2"/>
                      </a:solidFill>
                      <a:prstDash val="solid"/>
                      <a:round/>
                      <a:headEnd type="none" w="sm" len="sm"/>
                      <a:tailEnd type="none" w="sm" len="sm"/>
                    </a:lnR>
                    <a:lnT w="19050" cap="flat" cmpd="sng">
                      <a:solidFill>
                        <a:srgbClr val="9E9E9E"/>
                      </a:solidFill>
                      <a:prstDash val="solid"/>
                      <a:round/>
                      <a:headEnd type="none" w="sm" len="sm"/>
                      <a:tailEnd type="none" w="sm" len="sm"/>
                    </a:lnT>
                    <a:solidFill>
                      <a:srgbClr val="EFEFEF"/>
                    </a:solidFill>
                  </a:tcPr>
                </a:tc>
                <a:tc>
                  <a:txBody>
                    <a:bodyPr/>
                    <a:lstStyle/>
                    <a:p>
                      <a:pPr marL="0" lvl="0" indent="0" algn="l" rtl="0">
                        <a:spcBef>
                          <a:spcPts val="0"/>
                        </a:spcBef>
                        <a:spcAft>
                          <a:spcPts val="0"/>
                        </a:spcAft>
                        <a:buNone/>
                      </a:pPr>
                      <a:r>
                        <a:rPr lang="vi"/>
                        <a:t>  -</a:t>
                      </a:r>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lt2"/>
                      </a:solidFill>
                      <a:prstDash val="solid"/>
                      <a:round/>
                      <a:headEnd type="none" w="sm" len="sm"/>
                      <a:tailEnd type="none" w="sm" len="sm"/>
                    </a:lnL>
                    <a:lnT w="19050"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vi"/>
                        <a:t>  </a:t>
                      </a:r>
                      <a:endParaRPr/>
                    </a:p>
                  </a:txBody>
                  <a:tcPr marL="91425" marR="91425" marT="91425" marB="91425">
                    <a:lnT w="19050"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vi"/>
                        <a:t>  x</a:t>
                      </a:r>
                      <a:endParaRPr/>
                    </a:p>
                  </a:txBody>
                  <a:tcPr marL="91425" marR="91425" marT="91425" marB="91425">
                    <a:lnT w="19050"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vi"/>
                        <a:t>  x</a:t>
                      </a:r>
                      <a:endParaRPr/>
                    </a:p>
                  </a:txBody>
                  <a:tcPr marL="91425" marR="91425" marT="91425" marB="91425">
                    <a:lnT w="19050"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91425" marR="91425" marT="91425" marB="91425">
                    <a:lnT w="19050" cap="flat" cmpd="sng">
                      <a:solidFill>
                        <a:srgbClr val="9E9E9E"/>
                      </a:solidFill>
                      <a:prstDash val="solid"/>
                      <a:round/>
                      <a:headEnd type="none" w="sm" len="sm"/>
                      <a:tailEnd type="none" w="sm" len="sm"/>
                    </a:lnT>
                    <a:solidFill>
                      <a:srgbClr val="EFEFEF"/>
                    </a:solidFill>
                  </a:tcPr>
                </a:tc>
                <a:tc>
                  <a:txBody>
                    <a:bodyPr/>
                    <a:lstStyle/>
                    <a:p>
                      <a:pPr marL="0" lvl="0" indent="0" algn="l" rtl="0">
                        <a:spcBef>
                          <a:spcPts val="0"/>
                        </a:spcBef>
                        <a:spcAft>
                          <a:spcPts val="0"/>
                        </a:spcAft>
                        <a:buNone/>
                      </a:pPr>
                      <a:endParaRPr/>
                    </a:p>
                  </a:txBody>
                  <a:tcPr marL="91425" marR="91425" marT="91425" marB="91425">
                    <a:lnT w="19050"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280325">
                <a:tc>
                  <a:txBody>
                    <a:bodyPr/>
                    <a:lstStyle/>
                    <a:p>
                      <a:pPr marL="0" lvl="0" indent="0" algn="l" rtl="0">
                        <a:spcBef>
                          <a:spcPts val="0"/>
                        </a:spcBef>
                        <a:spcAft>
                          <a:spcPts val="0"/>
                        </a:spcAft>
                        <a:buNone/>
                      </a:pPr>
                      <a:r>
                        <a:rPr lang="vi"/>
                        <a:t>Giảm giá 15%</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lnR w="9525" cap="flat" cmpd="sng">
                      <a:solidFill>
                        <a:schemeClr val="lt2"/>
                      </a:solidFill>
                      <a:prstDash val="solid"/>
                      <a:round/>
                      <a:headEnd type="none" w="sm" len="sm"/>
                      <a:tailEnd type="none" w="sm" len="sm"/>
                    </a:lnR>
                    <a:solidFill>
                      <a:srgbClr val="EFEFEF"/>
                    </a:solidFill>
                  </a:tcPr>
                </a:tc>
                <a:tc>
                  <a:txBody>
                    <a:bodyPr/>
                    <a:lstStyle/>
                    <a:p>
                      <a:pPr marL="0" lvl="0" indent="0" algn="l" rtl="0">
                        <a:spcBef>
                          <a:spcPts val="0"/>
                        </a:spcBef>
                        <a:spcAft>
                          <a:spcPts val="0"/>
                        </a:spcAft>
                        <a:buNone/>
                      </a:pPr>
                      <a:r>
                        <a:rPr lang="vi"/>
                        <a:t> -</a:t>
                      </a:r>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lt2"/>
                      </a:solidFill>
                      <a:prstDash val="solid"/>
                      <a:round/>
                      <a:headEnd type="none" w="sm" len="sm"/>
                      <a:tailEnd type="none" w="sm" len="sm"/>
                    </a:lnL>
                  </a:tcPr>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solidFill>
                      <a:srgbClr val="EFEFEF"/>
                    </a:solidFill>
                  </a:tcP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280325">
                <a:tc>
                  <a:txBody>
                    <a:bodyPr/>
                    <a:lstStyle/>
                    <a:p>
                      <a:pPr marL="0" lvl="0" indent="0" algn="l" rtl="0">
                        <a:spcBef>
                          <a:spcPts val="0"/>
                        </a:spcBef>
                        <a:spcAft>
                          <a:spcPts val="0"/>
                        </a:spcAft>
                        <a:buNone/>
                      </a:pPr>
                      <a:r>
                        <a:rPr lang="vi"/>
                        <a:t>Giảm giá 20%</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lnR w="9525" cap="flat" cmpd="sng">
                      <a:solidFill>
                        <a:schemeClr val="lt2"/>
                      </a:solidFill>
                      <a:prstDash val="solid"/>
                      <a:round/>
                      <a:headEnd type="none" w="sm" len="sm"/>
                      <a:tailEnd type="none" w="sm" len="sm"/>
                    </a:lnR>
                    <a:solidFill>
                      <a:srgbClr val="EFEFEF"/>
                    </a:solidFill>
                  </a:tcPr>
                </a:tc>
                <a:tc>
                  <a:txBody>
                    <a:bodyPr/>
                    <a:lstStyle/>
                    <a:p>
                      <a:pPr marL="0" lvl="0" indent="0" algn="l" rtl="0">
                        <a:spcBef>
                          <a:spcPts val="0"/>
                        </a:spcBef>
                        <a:spcAft>
                          <a:spcPts val="0"/>
                        </a:spcAft>
                        <a:buNone/>
                      </a:pPr>
                      <a:r>
                        <a:rPr lang="vi"/>
                        <a:t>  -</a:t>
                      </a:r>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vi"/>
                        <a:t>  x?</a:t>
                      </a:r>
                      <a:endParaRPr/>
                    </a:p>
                  </a:txBody>
                  <a:tcPr marL="91425" marR="91425" marT="91425" marB="91425">
                    <a:lnL w="9525" cap="flat" cmpd="sng">
                      <a:solidFill>
                        <a:schemeClr val="lt2"/>
                      </a:solidFill>
                      <a:prstDash val="solid"/>
                      <a:round/>
                      <a:headEnd type="none" w="sm" len="sm"/>
                      <a:tailEnd type="none" w="sm" len="sm"/>
                    </a:lnL>
                  </a:tcPr>
                </a:tc>
                <a:tc>
                  <a:txBody>
                    <a:bodyPr/>
                    <a:lstStyle/>
                    <a:p>
                      <a:pPr marL="0" lvl="0" indent="0" algn="l" rtl="0">
                        <a:spcBef>
                          <a:spcPts val="0"/>
                        </a:spcBef>
                        <a:spcAft>
                          <a:spcPts val="0"/>
                        </a:spcAft>
                        <a:buNone/>
                      </a:pPr>
                      <a:r>
                        <a:rPr lang="vi"/>
                        <a:t>  </a:t>
                      </a: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 x</a:t>
                      </a:r>
                      <a:endParaRPr/>
                    </a:p>
                  </a:txBody>
                  <a:tcPr marL="91425" marR="91425" marT="91425" marB="91425">
                    <a:solidFill>
                      <a:srgbClr val="EFEFEF"/>
                    </a:solidFill>
                  </a:tcP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6"/>
                  </a:ext>
                </a:extLst>
              </a:tr>
              <a:tr h="280325">
                <a:tc>
                  <a:txBody>
                    <a:bodyPr/>
                    <a:lstStyle/>
                    <a:p>
                      <a:pPr marL="0" lvl="0" indent="0" algn="l" rtl="0">
                        <a:spcBef>
                          <a:spcPts val="0"/>
                        </a:spcBef>
                        <a:spcAft>
                          <a:spcPts val="0"/>
                        </a:spcAft>
                        <a:buNone/>
                      </a:pPr>
                      <a:r>
                        <a:rPr lang="vi"/>
                        <a:t>Không giảm giá</a:t>
                      </a:r>
                      <a:endParaRPr/>
                    </a:p>
                  </a:txBody>
                  <a:tcPr marL="91425" marR="91425" marT="91425" marB="91425"/>
                </a:tc>
                <a:tc>
                  <a:txBody>
                    <a:bodyPr/>
                    <a:lstStyle/>
                    <a:p>
                      <a:pPr marL="0" lvl="0" indent="0" algn="l" rtl="0">
                        <a:spcBef>
                          <a:spcPts val="0"/>
                        </a:spcBef>
                        <a:spcAft>
                          <a:spcPts val="0"/>
                        </a:spcAft>
                        <a:buNone/>
                      </a:pPr>
                      <a:r>
                        <a:rPr lang="vi"/>
                        <a:t>  -</a:t>
                      </a:r>
                      <a:endParaRPr/>
                    </a:p>
                  </a:txBody>
                  <a:tcPr marL="91425" marR="91425" marT="91425" marB="91425">
                    <a:lnR w="9525" cap="flat" cmpd="sng">
                      <a:solidFill>
                        <a:schemeClr val="lt2"/>
                      </a:solidFill>
                      <a:prstDash val="solid"/>
                      <a:round/>
                      <a:headEnd type="none" w="sm" len="sm"/>
                      <a:tailEnd type="none" w="sm" len="sm"/>
                    </a:lnR>
                    <a:solidFill>
                      <a:srgbClr val="EFEFEF"/>
                    </a:solidFill>
                  </a:tcPr>
                </a:tc>
                <a:tc>
                  <a:txBody>
                    <a:bodyPr/>
                    <a:lstStyle/>
                    <a:p>
                      <a:pPr marL="0" lvl="0" indent="0" algn="l" rtl="0">
                        <a:spcBef>
                          <a:spcPts val="0"/>
                        </a:spcBef>
                        <a:spcAft>
                          <a:spcPts val="0"/>
                        </a:spcAft>
                        <a:buNone/>
                      </a:pPr>
                      <a:r>
                        <a:rPr lang="vi"/>
                        <a:t>  -</a:t>
                      </a:r>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lt2"/>
                      </a:solidFill>
                      <a:prstDash val="solid"/>
                      <a:round/>
                      <a:headEnd type="none" w="sm" len="sm"/>
                      <a:tailEnd type="none" w="sm" len="sm"/>
                    </a:lnL>
                  </a:tcPr>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solidFill>
                      <a:srgbClr val="EFEFEF"/>
                    </a:solidFill>
                  </a:tcPr>
                </a:tc>
                <a:tc>
                  <a:txBody>
                    <a:bodyPr/>
                    <a:lstStyle/>
                    <a:p>
                      <a:pPr marL="0" lvl="0" indent="0" algn="l" rtl="0">
                        <a:spcBef>
                          <a:spcPts val="0"/>
                        </a:spcBef>
                        <a:spcAft>
                          <a:spcPts val="0"/>
                        </a:spcAft>
                        <a:buNone/>
                      </a:pPr>
                      <a:r>
                        <a:rPr lang="vi"/>
                        <a:t>  x</a:t>
                      </a:r>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298" name="Google Shape;298;p48"/>
          <p:cNvSpPr txBox="1"/>
          <p:nvPr/>
        </p:nvSpPr>
        <p:spPr>
          <a:xfrm>
            <a:off x="152400" y="1295400"/>
            <a:ext cx="8742000" cy="2355000"/>
          </a:xfrm>
          <a:prstGeom prst="rect">
            <a:avLst/>
          </a:prstGeom>
          <a:noFill/>
          <a:ln>
            <a:noFill/>
          </a:ln>
        </p:spPr>
        <p:txBody>
          <a:bodyPr spcFirstLastPara="1" wrap="square" lIns="91425" tIns="91425" rIns="91425" bIns="91425" anchor="t" anchorCtr="0">
            <a:spAutoFit/>
          </a:bodyPr>
          <a:lstStyle/>
          <a:p>
            <a:pPr marL="457200" lvl="0" indent="0" algn="l" rtl="0">
              <a:lnSpc>
                <a:spcPct val="150000"/>
              </a:lnSpc>
              <a:spcBef>
                <a:spcPts val="600"/>
              </a:spcBef>
              <a:spcAft>
                <a:spcPts val="0"/>
              </a:spcAft>
              <a:buNone/>
            </a:pPr>
            <a:r>
              <a:rPr lang="vi" sz="1800" dirty="0">
                <a:solidFill>
                  <a:schemeClr val="dk1"/>
                </a:solidFill>
                <a:latin typeface="Source Code Pro"/>
                <a:ea typeface="Source Code Pro"/>
                <a:cs typeface="Source Code Pro"/>
                <a:sym typeface="Source Code Pro"/>
              </a:rPr>
              <a:t>B4:Rút gọn bảng </a:t>
            </a:r>
            <a:endParaRPr sz="1800" dirty="0">
              <a:solidFill>
                <a:schemeClr val="dk1"/>
              </a:solidFill>
              <a:latin typeface="Source Code Pro"/>
              <a:ea typeface="Source Code Pro"/>
              <a:cs typeface="Source Code Pro"/>
              <a:sym typeface="Source Code Pro"/>
            </a:endParaRPr>
          </a:p>
          <a:p>
            <a:pPr marL="457200" lvl="0" indent="0" algn="l" rtl="0">
              <a:lnSpc>
                <a:spcPct val="150000"/>
              </a:lnSpc>
              <a:spcBef>
                <a:spcPts val="600"/>
              </a:spcBef>
              <a:spcAft>
                <a:spcPts val="0"/>
              </a:spcAft>
              <a:buNone/>
            </a:pPr>
            <a:r>
              <a:rPr lang="vi" sz="1800" dirty="0">
                <a:latin typeface="Source Code Pro"/>
                <a:ea typeface="Source Code Pro"/>
                <a:cs typeface="Source Code Pro"/>
                <a:sym typeface="Source Code Pro"/>
              </a:rPr>
              <a:t>Nhìn vào Bảng quyết định ta có thể thấy: </a:t>
            </a:r>
            <a:endParaRPr sz="1800" dirty="0">
              <a:latin typeface="Source Code Pro"/>
              <a:ea typeface="Source Code Pro"/>
              <a:cs typeface="Source Code Pro"/>
              <a:sym typeface="Source Code Pro"/>
            </a:endParaRPr>
          </a:p>
          <a:p>
            <a:pPr marL="914400" lvl="0" indent="-342900" algn="l" rtl="0">
              <a:lnSpc>
                <a:spcPct val="150000"/>
              </a:lnSpc>
              <a:spcBef>
                <a:spcPts val="600"/>
              </a:spcBef>
              <a:spcAft>
                <a:spcPts val="0"/>
              </a:spcAft>
              <a:buSzPts val="1800"/>
              <a:buFont typeface="Source Code Pro"/>
              <a:buChar char="-"/>
            </a:pPr>
            <a:r>
              <a:rPr lang="vi" sz="1800" dirty="0">
                <a:latin typeface="Source Code Pro"/>
                <a:ea typeface="Source Code Pro"/>
                <a:cs typeface="Source Code Pro"/>
                <a:sym typeface="Source Code Pro"/>
              </a:rPr>
              <a:t>R1 và R2 là 2 case ko có trong thực tế nên loại bỏ.</a:t>
            </a:r>
            <a:endParaRPr sz="1800" dirty="0">
              <a:latin typeface="Source Code Pro"/>
              <a:ea typeface="Source Code Pro"/>
              <a:cs typeface="Source Code Pro"/>
              <a:sym typeface="Source Code Pro"/>
            </a:endParaRPr>
          </a:p>
          <a:p>
            <a:pPr marL="914400" lvl="0" indent="-342900" algn="l" rtl="0">
              <a:lnSpc>
                <a:spcPct val="150000"/>
              </a:lnSpc>
              <a:spcBef>
                <a:spcPts val="0"/>
              </a:spcBef>
              <a:spcAft>
                <a:spcPts val="0"/>
              </a:spcAft>
              <a:buSzPts val="1800"/>
              <a:buFont typeface="Source Code Pro"/>
              <a:buChar char="-"/>
            </a:pPr>
            <a:r>
              <a:rPr lang="vi" sz="1800" dirty="0">
                <a:latin typeface="Source Code Pro"/>
                <a:ea typeface="Source Code Pro"/>
                <a:cs typeface="Source Code Pro"/>
                <a:sym typeface="Source Code Pro"/>
              </a:rPr>
              <a:t>R3 và R7 có cùng kết quả nên ta có thể bỏ R7</a:t>
            </a:r>
            <a:endParaRPr sz="1800" dirty="0">
              <a:latin typeface="Source Code Pro"/>
              <a:ea typeface="Source Code Pro"/>
              <a:cs typeface="Source Code Pro"/>
              <a:sym typeface="Source Code Pro"/>
            </a:endParaRPr>
          </a:p>
          <a:p>
            <a:pPr marL="457200" lvl="0" indent="0" algn="l" rtl="0">
              <a:lnSpc>
                <a:spcPct val="150000"/>
              </a:lnSpc>
              <a:spcBef>
                <a:spcPts val="600"/>
              </a:spcBef>
              <a:spcAft>
                <a:spcPts val="0"/>
              </a:spcAft>
              <a:buNone/>
            </a:pPr>
            <a:r>
              <a:rPr lang="vi" sz="1800" dirty="0">
                <a:latin typeface="Source Code Pro"/>
                <a:ea typeface="Source Code Pro"/>
                <a:cs typeface="Source Code Pro"/>
                <a:sym typeface="Source Code Pro"/>
              </a:rPr>
              <a:t>Như vậy, ta có thể chọn các TC như sau: R3, R4, R5, R6, R7.</a:t>
            </a:r>
            <a:endParaRPr sz="1800" dirty="0">
              <a:latin typeface="Source Code Pro"/>
              <a:ea typeface="Source Code Pro"/>
              <a:cs typeface="Source Code Pro"/>
              <a:sym typeface="Source Code Pr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304" name="Google Shape;304;p49"/>
          <p:cNvSpPr txBox="1"/>
          <p:nvPr/>
        </p:nvSpPr>
        <p:spPr>
          <a:xfrm>
            <a:off x="373800" y="1295400"/>
            <a:ext cx="8307000" cy="3186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600"/>
              </a:spcBef>
              <a:spcAft>
                <a:spcPts val="0"/>
              </a:spcAft>
              <a:buNone/>
            </a:pPr>
            <a:r>
              <a:rPr lang="vi" sz="1800">
                <a:solidFill>
                  <a:schemeClr val="dk1"/>
                </a:solidFill>
                <a:latin typeface="Source Code Pro"/>
                <a:ea typeface="Source Code Pro"/>
                <a:cs typeface="Source Code Pro"/>
                <a:sym typeface="Source Code Pro"/>
              </a:rPr>
              <a:t>Ưu điểm:</a:t>
            </a:r>
            <a:endParaRPr sz="1800">
              <a:solidFill>
                <a:schemeClr val="dk1"/>
              </a:solidFill>
              <a:latin typeface="Source Code Pro"/>
              <a:ea typeface="Source Code Pro"/>
              <a:cs typeface="Source Code Pro"/>
              <a:sym typeface="Source Code Pro"/>
            </a:endParaRPr>
          </a:p>
          <a:p>
            <a:pPr marL="457200" lvl="0" indent="-342900" algn="just" rtl="0">
              <a:lnSpc>
                <a:spcPct val="150000"/>
              </a:lnSpc>
              <a:spcBef>
                <a:spcPts val="600"/>
              </a:spcBef>
              <a:spcAft>
                <a:spcPts val="0"/>
              </a:spcAft>
              <a:buSzPts val="1800"/>
              <a:buFont typeface="Source Code Pro"/>
              <a:buChar char="-"/>
            </a:pPr>
            <a:r>
              <a:rPr lang="vi" sz="1800">
                <a:latin typeface="Source Code Pro"/>
                <a:ea typeface="Source Code Pro"/>
                <a:cs typeface="Source Code Pro"/>
                <a:sym typeface="Source Code Pro"/>
              </a:rPr>
              <a:t>Mô tả các qui tắc nghiệp vụ phức tạp dưới dạng dễ đọc và dễ kiểm soát</a:t>
            </a:r>
            <a:endParaRPr sz="1800">
              <a:latin typeface="Source Code Pro"/>
              <a:ea typeface="Source Code Pro"/>
              <a:cs typeface="Source Code Pro"/>
              <a:sym typeface="Source Code Pro"/>
            </a:endParaRPr>
          </a:p>
          <a:p>
            <a:pPr marL="457200" lvl="0" indent="-342900" algn="just" rtl="0">
              <a:lnSpc>
                <a:spcPct val="150000"/>
              </a:lnSpc>
              <a:spcBef>
                <a:spcPts val="0"/>
              </a:spcBef>
              <a:spcAft>
                <a:spcPts val="0"/>
              </a:spcAft>
              <a:buSzPts val="1800"/>
              <a:buFont typeface="Source Code Pro"/>
              <a:buChar char="-"/>
            </a:pPr>
            <a:r>
              <a:rPr lang="vi" sz="1800">
                <a:latin typeface="Source Code Pro"/>
                <a:ea typeface="Source Code Pro"/>
                <a:cs typeface="Source Code Pro"/>
                <a:sym typeface="Source Code Pro"/>
              </a:rPr>
              <a:t>Xác định số test case tối thiểu với độ bao phủ tối đa</a:t>
            </a:r>
            <a:endParaRPr sz="1800">
              <a:latin typeface="Source Code Pro"/>
              <a:ea typeface="Source Code Pro"/>
              <a:cs typeface="Source Code Pro"/>
              <a:sym typeface="Source Code Pro"/>
            </a:endParaRPr>
          </a:p>
          <a:p>
            <a:pPr marL="0" lvl="0" indent="0" algn="just" rtl="0">
              <a:lnSpc>
                <a:spcPct val="150000"/>
              </a:lnSpc>
              <a:spcBef>
                <a:spcPts val="600"/>
              </a:spcBef>
              <a:spcAft>
                <a:spcPts val="0"/>
              </a:spcAft>
              <a:buNone/>
            </a:pPr>
            <a:r>
              <a:rPr lang="vi" sz="1800">
                <a:solidFill>
                  <a:schemeClr val="dk1"/>
                </a:solidFill>
                <a:latin typeface="Source Code Pro"/>
                <a:ea typeface="Source Code Pro"/>
                <a:cs typeface="Source Code Pro"/>
                <a:sym typeface="Source Code Pro"/>
              </a:rPr>
              <a:t>Nhược điểm:</a:t>
            </a:r>
            <a:endParaRPr sz="1800" b="1">
              <a:latin typeface="Source Code Pro"/>
              <a:ea typeface="Source Code Pro"/>
              <a:cs typeface="Source Code Pro"/>
              <a:sym typeface="Source Code Pro"/>
            </a:endParaRPr>
          </a:p>
          <a:p>
            <a:pPr marL="457200" lvl="0" indent="-342900" algn="just" rtl="0">
              <a:lnSpc>
                <a:spcPct val="150000"/>
              </a:lnSpc>
              <a:spcBef>
                <a:spcPts val="600"/>
              </a:spcBef>
              <a:spcAft>
                <a:spcPts val="0"/>
              </a:spcAft>
              <a:buClr>
                <a:srgbClr val="3891A7"/>
              </a:buClr>
              <a:buSzPts val="1800"/>
              <a:buFont typeface="Source Code Pro"/>
              <a:buChar char="-"/>
            </a:pPr>
            <a:r>
              <a:rPr lang="vi" sz="1800">
                <a:latin typeface="Source Code Pro"/>
                <a:ea typeface="Source Code Pro"/>
                <a:cs typeface="Source Code Pro"/>
                <a:sym typeface="Source Code Pro"/>
              </a:rPr>
              <a:t>Nếu có quá nhiều kết hợp, chúng ta sẽ ko thể test tất cả các kết hợp đó</a:t>
            </a:r>
            <a:endParaRPr sz="1800">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5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4.2.3 Bảng quyết định </a:t>
            </a:r>
            <a:r>
              <a:rPr lang="vi" sz="2400"/>
              <a:t>(Decision Table Testing) </a:t>
            </a:r>
            <a:endParaRPr sz="2400"/>
          </a:p>
        </p:txBody>
      </p:sp>
      <p:sp>
        <p:nvSpPr>
          <p:cNvPr id="310" name="Google Shape;310;p50"/>
          <p:cNvSpPr txBox="1"/>
          <p:nvPr/>
        </p:nvSpPr>
        <p:spPr>
          <a:xfrm>
            <a:off x="373800" y="1295400"/>
            <a:ext cx="8095800" cy="30630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600"/>
              </a:spcBef>
              <a:spcAft>
                <a:spcPts val="0"/>
              </a:spcAft>
              <a:buNone/>
            </a:pPr>
            <a:r>
              <a:rPr lang="vi" sz="1800">
                <a:solidFill>
                  <a:schemeClr val="dk1"/>
                </a:solidFill>
                <a:latin typeface="Source Code Pro"/>
                <a:ea typeface="Source Code Pro"/>
                <a:cs typeface="Source Code Pro"/>
                <a:sym typeface="Source Code Pro"/>
              </a:rPr>
              <a:t>Bài tập</a:t>
            </a:r>
            <a:endParaRPr sz="1800">
              <a:solidFill>
                <a:schemeClr val="dk1"/>
              </a:solidFill>
              <a:latin typeface="Source Code Pro"/>
              <a:ea typeface="Source Code Pro"/>
              <a:cs typeface="Source Code Pro"/>
              <a:sym typeface="Source Code Pro"/>
            </a:endParaRPr>
          </a:p>
          <a:p>
            <a:pPr marL="457200" lvl="0" indent="-330200" algn="l" rtl="0">
              <a:lnSpc>
                <a:spcPct val="150000"/>
              </a:lnSpc>
              <a:spcBef>
                <a:spcPts val="0"/>
              </a:spcBef>
              <a:spcAft>
                <a:spcPts val="0"/>
              </a:spcAft>
              <a:buClr>
                <a:srgbClr val="000000"/>
              </a:buClr>
              <a:buSzPts val="1600"/>
              <a:buFont typeface="Source Code Pro"/>
              <a:buChar char="-"/>
            </a:pPr>
            <a:r>
              <a:rPr lang="vi" sz="1600">
                <a:latin typeface="Source Code Pro"/>
                <a:ea typeface="Source Code Pro"/>
                <a:cs typeface="Source Code Pro"/>
                <a:sym typeface="Source Code Pro"/>
              </a:rPr>
              <a:t>Nếu bạn có thẻ railcard "over 60s - hơn 60 tuổi" thì được giảm giá 34% trên tất cả các vé bạn mua. </a:t>
            </a:r>
            <a:endParaRPr sz="1600">
              <a:latin typeface="Source Code Pro"/>
              <a:ea typeface="Source Code Pro"/>
              <a:cs typeface="Source Code Pro"/>
              <a:sym typeface="Source Code Pro"/>
            </a:endParaRPr>
          </a:p>
          <a:p>
            <a:pPr marL="457200" lvl="0" indent="-330200" algn="l" rtl="0">
              <a:lnSpc>
                <a:spcPct val="150000"/>
              </a:lnSpc>
              <a:spcBef>
                <a:spcPts val="0"/>
              </a:spcBef>
              <a:spcAft>
                <a:spcPts val="0"/>
              </a:spcAft>
              <a:buClr>
                <a:srgbClr val="000000"/>
              </a:buClr>
              <a:buSzPts val="1600"/>
              <a:buFont typeface="Source Code Pro"/>
              <a:buChar char="-"/>
            </a:pPr>
            <a:r>
              <a:rPr lang="vi" sz="1600">
                <a:latin typeface="Source Code Pro"/>
                <a:ea typeface="Source Code Pro"/>
                <a:cs typeface="Source Code Pro"/>
                <a:sym typeface="Source Code Pro"/>
              </a:rPr>
              <a:t>Nếu bạn đi cùng với trẻ em (dưới 16 tuổi) và có thẻ Family </a:t>
            </a:r>
            <a:r>
              <a:rPr lang="vi" sz="2000">
                <a:latin typeface="Source Code Pro"/>
                <a:ea typeface="Source Code Pro"/>
                <a:cs typeface="Source Code Pro"/>
                <a:sym typeface="Source Code Pro"/>
              </a:rPr>
              <a:t>railcard</a:t>
            </a:r>
            <a:r>
              <a:rPr lang="vi" sz="1600">
                <a:latin typeface="Source Code Pro"/>
                <a:ea typeface="Source Code Pro"/>
                <a:cs typeface="Source Code Pro"/>
                <a:sym typeface="Source Code Pro"/>
              </a:rPr>
              <a:t>, thì bạn sẽ được giảm 50%.</a:t>
            </a:r>
            <a:endParaRPr sz="1600">
              <a:latin typeface="Source Code Pro"/>
              <a:ea typeface="Source Code Pro"/>
              <a:cs typeface="Source Code Pro"/>
              <a:sym typeface="Source Code Pro"/>
            </a:endParaRPr>
          </a:p>
          <a:p>
            <a:pPr marL="457200" lvl="0" indent="-330200" algn="l" rtl="0">
              <a:lnSpc>
                <a:spcPct val="150000"/>
              </a:lnSpc>
              <a:spcBef>
                <a:spcPts val="0"/>
              </a:spcBef>
              <a:spcAft>
                <a:spcPts val="0"/>
              </a:spcAft>
              <a:buClr>
                <a:srgbClr val="000000"/>
              </a:buClr>
              <a:buSzPts val="1600"/>
              <a:buFont typeface="Source Code Pro"/>
              <a:buChar char="-"/>
            </a:pPr>
            <a:r>
              <a:rPr lang="vi" sz="1600">
                <a:latin typeface="Source Code Pro"/>
                <a:ea typeface="Source Code Pro"/>
                <a:cs typeface="Source Code Pro"/>
                <a:sym typeface="Source Code Pro"/>
              </a:rPr>
              <a:t>Nếu bạn có thẻ Family </a:t>
            </a:r>
            <a:r>
              <a:rPr lang="vi" sz="2000">
                <a:latin typeface="Source Code Pro"/>
                <a:ea typeface="Source Code Pro"/>
                <a:cs typeface="Source Code Pro"/>
                <a:sym typeface="Source Code Pro"/>
              </a:rPr>
              <a:t>railcard</a:t>
            </a:r>
            <a:r>
              <a:rPr lang="vi" sz="1600">
                <a:latin typeface="Source Code Pro"/>
                <a:ea typeface="Source Code Pro"/>
                <a:cs typeface="Source Code Pro"/>
                <a:sym typeface="Source Code Pro"/>
              </a:rPr>
              <a:t> và không đi cùng trẻ em, bạn được giảm 10%. </a:t>
            </a:r>
            <a:endParaRPr sz="1600">
              <a:latin typeface="Source Code Pro"/>
              <a:ea typeface="Source Code Pro"/>
              <a:cs typeface="Source Code Pro"/>
              <a:sym typeface="Source Code Pro"/>
            </a:endParaRPr>
          </a:p>
          <a:p>
            <a:pPr marL="457200" lvl="0" indent="-330200" algn="l" rtl="0">
              <a:lnSpc>
                <a:spcPct val="150000"/>
              </a:lnSpc>
              <a:spcBef>
                <a:spcPts val="0"/>
              </a:spcBef>
              <a:spcAft>
                <a:spcPts val="0"/>
              </a:spcAft>
              <a:buClr>
                <a:srgbClr val="000000"/>
              </a:buClr>
              <a:buSzPts val="1600"/>
              <a:buFont typeface="Source Code Pro"/>
              <a:buChar char="-"/>
            </a:pPr>
            <a:r>
              <a:rPr lang="vi" sz="1600">
                <a:latin typeface="Source Code Pro"/>
                <a:ea typeface="Source Code Pro"/>
                <a:cs typeface="Source Code Pro"/>
                <a:sym typeface="Source Code Pro"/>
              </a:rPr>
              <a:t>Bạn chỉ được sử dụng 1 loại thẻ railcard</a:t>
            </a:r>
            <a:endParaRPr sz="1600">
              <a:latin typeface="Source Code Pro"/>
              <a:ea typeface="Source Code Pro"/>
              <a:cs typeface="Source Code Pro"/>
              <a:sym typeface="Source Code Pro"/>
            </a:endParaRPr>
          </a:p>
        </p:txBody>
      </p:sp>
      <p:pic>
        <p:nvPicPr>
          <p:cNvPr id="311" name="Google Shape;311;p50"/>
          <p:cNvPicPr preferRelativeResize="0"/>
          <p:nvPr/>
        </p:nvPicPr>
        <p:blipFill>
          <a:blip r:embed="rId3">
            <a:alphaModFix/>
          </a:blip>
          <a:stretch>
            <a:fillRect/>
          </a:stretch>
        </p:blipFill>
        <p:spPr>
          <a:xfrm>
            <a:off x="5991213" y="3695700"/>
            <a:ext cx="3152775" cy="1447800"/>
          </a:xfrm>
          <a:prstGeom prst="rect">
            <a:avLst/>
          </a:prstGeom>
          <a:noFill/>
          <a:ln>
            <a:noFill/>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4.2.4 Chuyển trạng thái </a:t>
            </a:r>
            <a:r>
              <a:rPr lang="vi" sz="2400"/>
              <a:t>(State Transition Testing)</a:t>
            </a:r>
            <a:endParaRPr sz="2400"/>
          </a:p>
        </p:txBody>
      </p:sp>
      <p:sp>
        <p:nvSpPr>
          <p:cNvPr id="317" name="Google Shape;317;p51"/>
          <p:cNvSpPr txBox="1">
            <a:spLocks noGrp="1"/>
          </p:cNvSpPr>
          <p:nvPr>
            <p:ph type="body" idx="1"/>
          </p:nvPr>
        </p:nvSpPr>
        <p:spPr>
          <a:xfrm>
            <a:off x="311700" y="1240225"/>
            <a:ext cx="47463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sz="2000">
                <a:solidFill>
                  <a:schemeClr val="dk1"/>
                </a:solidFill>
              </a:rPr>
              <a:t>Sơ đồ chuyển trạng thái</a:t>
            </a:r>
            <a:r>
              <a:rPr lang="vi" sz="2000">
                <a:solidFill>
                  <a:srgbClr val="000000"/>
                </a:solidFill>
              </a:rPr>
              <a:t> mô hình hóa hành vi của hệ thống bằng cách hiển thị các trạng thái có thể có và trạng thái chuyển tiếp hợp lệ. </a:t>
            </a:r>
            <a:endParaRPr sz="2000">
              <a:solidFill>
                <a:srgbClr val="000000"/>
              </a:solidFill>
            </a:endParaRPr>
          </a:p>
          <a:p>
            <a:pPr marL="0" lvl="0" indent="0" algn="l" rtl="0">
              <a:spcBef>
                <a:spcPts val="1200"/>
              </a:spcBef>
              <a:spcAft>
                <a:spcPts val="1200"/>
              </a:spcAft>
              <a:buNone/>
            </a:pPr>
            <a:r>
              <a:rPr lang="vi" sz="2000">
                <a:solidFill>
                  <a:srgbClr val="000000"/>
                </a:solidFill>
              </a:rPr>
              <a:t>Quá trình chuyển đổi được bắt đầu bởi một sự kiện hoặc một điều kiện.</a:t>
            </a:r>
            <a:endParaRPr sz="2000">
              <a:solidFill>
                <a:srgbClr val="000000"/>
              </a:solidFill>
            </a:endParaRPr>
          </a:p>
        </p:txBody>
      </p:sp>
      <p:pic>
        <p:nvPicPr>
          <p:cNvPr id="318" name="Google Shape;318;p51"/>
          <p:cNvPicPr preferRelativeResize="0"/>
          <p:nvPr/>
        </p:nvPicPr>
        <p:blipFill rotWithShape="1">
          <a:blip r:embed="rId3">
            <a:alphaModFix/>
          </a:blip>
          <a:srcRect/>
          <a:stretch/>
        </p:blipFill>
        <p:spPr>
          <a:xfrm>
            <a:off x="5524275" y="1164024"/>
            <a:ext cx="2660901" cy="3547848"/>
          </a:xfrm>
          <a:prstGeom prst="rect">
            <a:avLst/>
          </a:prstGeom>
          <a:noFill/>
          <a:ln>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4.2.4 Chuyển trạng thái </a:t>
            </a:r>
            <a:r>
              <a:rPr lang="vi" sz="2400"/>
              <a:t>(State Transition Testing)</a:t>
            </a:r>
            <a:endParaRPr sz="2400"/>
          </a:p>
        </p:txBody>
      </p:sp>
      <p:sp>
        <p:nvSpPr>
          <p:cNvPr id="324" name="Google Shape;324;p52"/>
          <p:cNvSpPr txBox="1">
            <a:spLocks noGrp="1"/>
          </p:cNvSpPr>
          <p:nvPr>
            <p:ph type="body" idx="1"/>
          </p:nvPr>
        </p:nvSpPr>
        <p:spPr>
          <a:xfrm>
            <a:off x="311700" y="1240225"/>
            <a:ext cx="84117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sz="2000">
                <a:solidFill>
                  <a:srgbClr val="000000"/>
                </a:solidFill>
              </a:rPr>
              <a:t>Ví dụ: Sơ đồ chuyển trạng thái của chức năng login trong hệ thống ATM</a:t>
            </a:r>
            <a:endParaRPr sz="2000">
              <a:solidFill>
                <a:srgbClr val="000000"/>
              </a:solidFill>
            </a:endParaRPr>
          </a:p>
        </p:txBody>
      </p:sp>
      <p:pic>
        <p:nvPicPr>
          <p:cNvPr id="325" name="Google Shape;325;p52"/>
          <p:cNvPicPr preferRelativeResize="0"/>
          <p:nvPr/>
        </p:nvPicPr>
        <p:blipFill rotWithShape="1">
          <a:blip r:embed="rId3">
            <a:alphaModFix/>
          </a:blip>
          <a:srcRect/>
          <a:stretch/>
        </p:blipFill>
        <p:spPr>
          <a:xfrm>
            <a:off x="1141225" y="2104675"/>
            <a:ext cx="6722825" cy="2971025"/>
          </a:xfrm>
          <a:prstGeom prst="rect">
            <a:avLst/>
          </a:prstGeom>
          <a:noFill/>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4.2.4 Chuyển trạng thái </a:t>
            </a:r>
            <a:r>
              <a:rPr lang="vi" sz="2400"/>
              <a:t>(State Transition Testing)</a:t>
            </a:r>
            <a:endParaRPr sz="2400"/>
          </a:p>
        </p:txBody>
      </p:sp>
      <p:sp>
        <p:nvSpPr>
          <p:cNvPr id="331" name="Google Shape;331;p53"/>
          <p:cNvSpPr txBox="1">
            <a:spLocks noGrp="1"/>
          </p:cNvSpPr>
          <p:nvPr>
            <p:ph type="body" idx="1"/>
          </p:nvPr>
        </p:nvSpPr>
        <p:spPr>
          <a:xfrm>
            <a:off x="311700" y="1240225"/>
            <a:ext cx="84117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sz="2000">
                <a:solidFill>
                  <a:srgbClr val="000000"/>
                </a:solidFill>
              </a:rPr>
              <a:t>Tuy nhiên chuyển trạng thái cũng có thể được mô tả bằng bảng</a:t>
            </a:r>
            <a:endParaRPr sz="2000">
              <a:solidFill>
                <a:srgbClr val="000000"/>
              </a:solidFill>
            </a:endParaRPr>
          </a:p>
          <a:p>
            <a:pPr marL="0" lvl="0" indent="0" algn="l" rtl="0">
              <a:spcBef>
                <a:spcPts val="1200"/>
              </a:spcBef>
              <a:spcAft>
                <a:spcPts val="1200"/>
              </a:spcAft>
              <a:buNone/>
            </a:pPr>
            <a:endParaRPr sz="2000">
              <a:solidFill>
                <a:srgbClr val="000000"/>
              </a:solidFill>
            </a:endParaRPr>
          </a:p>
        </p:txBody>
      </p:sp>
      <p:graphicFrame>
        <p:nvGraphicFramePr>
          <p:cNvPr id="332" name="Google Shape;332;p53"/>
          <p:cNvGraphicFramePr/>
          <p:nvPr/>
        </p:nvGraphicFramePr>
        <p:xfrm>
          <a:off x="2178775" y="2776175"/>
          <a:ext cx="4493650" cy="1981050"/>
        </p:xfrm>
        <a:graphic>
          <a:graphicData uri="http://schemas.openxmlformats.org/drawingml/2006/table">
            <a:tbl>
              <a:tblPr>
                <a:noFill/>
                <a:tableStyleId>{7AEF6C22-7F40-453C-A713-85F41652D8F1}</a:tableStyleId>
              </a:tblPr>
              <a:tblGrid>
                <a:gridCol w="786450">
                  <a:extLst>
                    <a:ext uri="{9D8B030D-6E8A-4147-A177-3AD203B41FA5}">
                      <a16:colId xmlns:a16="http://schemas.microsoft.com/office/drawing/2014/main" val="20000"/>
                    </a:ext>
                  </a:extLst>
                </a:gridCol>
                <a:gridCol w="1706000">
                  <a:extLst>
                    <a:ext uri="{9D8B030D-6E8A-4147-A177-3AD203B41FA5}">
                      <a16:colId xmlns:a16="http://schemas.microsoft.com/office/drawing/2014/main" val="20001"/>
                    </a:ext>
                  </a:extLst>
                </a:gridCol>
                <a:gridCol w="20012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Events/Condition 1</a:t>
                      </a:r>
                      <a:endParaRPr/>
                    </a:p>
                  </a:txBody>
                  <a:tcPr marL="91425" marR="91425" marT="91425" marB="91425"/>
                </a:tc>
                <a:tc>
                  <a:txBody>
                    <a:bodyPr/>
                    <a:lstStyle/>
                    <a:p>
                      <a:pPr marL="0" lvl="0" indent="0" algn="l" rtl="0">
                        <a:spcBef>
                          <a:spcPts val="0"/>
                        </a:spcBef>
                        <a:spcAft>
                          <a:spcPts val="0"/>
                        </a:spcAft>
                        <a:buNone/>
                      </a:pPr>
                      <a:r>
                        <a:rPr lang="vi"/>
                        <a:t>Events/Condition 2</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vi"/>
                        <a:t>S1</a:t>
                      </a:r>
                      <a:endParaRPr/>
                    </a:p>
                  </a:txBody>
                  <a:tcPr marL="91425" marR="91425" marT="91425" marB="91425"/>
                </a:tc>
                <a:tc>
                  <a:txBody>
                    <a:bodyPr/>
                    <a:lstStyle/>
                    <a:p>
                      <a:pPr marL="0" lvl="0" indent="0" algn="ctr" rtl="0">
                        <a:spcBef>
                          <a:spcPts val="0"/>
                        </a:spcBef>
                        <a:spcAft>
                          <a:spcPts val="0"/>
                        </a:spcAft>
                        <a:buNone/>
                      </a:pPr>
                      <a:r>
                        <a:rPr lang="vi"/>
                        <a:t>S2</a:t>
                      </a:r>
                      <a:endParaRPr/>
                    </a:p>
                  </a:txBody>
                  <a:tcPr marL="91425" marR="91425" marT="91425" marB="91425"/>
                </a:tc>
                <a:tc>
                  <a:txBody>
                    <a:bodyPr/>
                    <a:lstStyle/>
                    <a:p>
                      <a:pPr marL="0" lvl="0" indent="0" algn="ctr" rtl="0">
                        <a:spcBef>
                          <a:spcPts val="0"/>
                        </a:spcBef>
                        <a:spcAft>
                          <a:spcPts val="0"/>
                        </a:spcAft>
                        <a:buNone/>
                      </a:pPr>
                      <a:r>
                        <a:rPr lang="vi"/>
                        <a:t>-</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vi">
                          <a:solidFill>
                            <a:schemeClr val="dk2"/>
                          </a:solidFill>
                        </a:rPr>
                        <a:t>S2</a:t>
                      </a:r>
                      <a:endParaRPr>
                        <a:solidFill>
                          <a:schemeClr val="dk2"/>
                        </a:solidFill>
                      </a:endParaRPr>
                    </a:p>
                  </a:txBody>
                  <a:tcPr marL="91425" marR="91425" marT="91425" marB="91425"/>
                </a:tc>
                <a:tc>
                  <a:txBody>
                    <a:bodyPr/>
                    <a:lstStyle/>
                    <a:p>
                      <a:pPr marL="0" lvl="0" indent="0" algn="ctr" rtl="0">
                        <a:spcBef>
                          <a:spcPts val="0"/>
                        </a:spcBef>
                        <a:spcAft>
                          <a:spcPts val="0"/>
                        </a:spcAft>
                        <a:buNone/>
                      </a:pPr>
                      <a:r>
                        <a:rPr lang="vi"/>
                        <a:t>-</a:t>
                      </a:r>
                      <a:endParaRPr/>
                    </a:p>
                  </a:txBody>
                  <a:tcPr marL="91425" marR="91425" marT="91425" marB="91425"/>
                </a:tc>
                <a:tc>
                  <a:txBody>
                    <a:bodyPr/>
                    <a:lstStyle/>
                    <a:p>
                      <a:pPr marL="0" lvl="0" indent="0" algn="ctr" rtl="0">
                        <a:spcBef>
                          <a:spcPts val="0"/>
                        </a:spcBef>
                        <a:spcAft>
                          <a:spcPts val="0"/>
                        </a:spcAft>
                        <a:buNone/>
                      </a:pPr>
                      <a:r>
                        <a:rPr lang="vi"/>
                        <a:t>S3</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vi"/>
                        <a:t>S3</a:t>
                      </a:r>
                      <a:endParaRPr/>
                    </a:p>
                  </a:txBody>
                  <a:tcPr marL="91425" marR="91425" marT="91425" marB="91425"/>
                </a:tc>
                <a:tc>
                  <a:txBody>
                    <a:bodyPr/>
                    <a:lstStyle/>
                    <a:p>
                      <a:pPr marL="0" lvl="0" indent="0" algn="ctr" rtl="0">
                        <a:spcBef>
                          <a:spcPts val="0"/>
                        </a:spcBef>
                        <a:spcAft>
                          <a:spcPts val="0"/>
                        </a:spcAft>
                        <a:buNone/>
                      </a:pPr>
                      <a:r>
                        <a:rPr lang="vi"/>
                        <a:t>-</a:t>
                      </a:r>
                      <a:endParaRPr/>
                    </a:p>
                  </a:txBody>
                  <a:tcPr marL="91425" marR="91425" marT="91425" marB="91425"/>
                </a:tc>
                <a:tc>
                  <a:txBody>
                    <a:bodyPr/>
                    <a:lstStyle/>
                    <a:p>
                      <a:pPr marL="0" lvl="0" indent="0" algn="ctr" rtl="0">
                        <a:spcBef>
                          <a:spcPts val="0"/>
                        </a:spcBef>
                        <a:spcAft>
                          <a:spcPts val="0"/>
                        </a:spcAft>
                        <a:buNone/>
                      </a:pPr>
                      <a:r>
                        <a:rPr lang="vi"/>
                        <a:t>…</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
        <p:nvSpPr>
          <p:cNvPr id="333" name="Google Shape;333;p53"/>
          <p:cNvSpPr/>
          <p:nvPr/>
        </p:nvSpPr>
        <p:spPr>
          <a:xfrm>
            <a:off x="674975" y="3212575"/>
            <a:ext cx="786000" cy="581100"/>
          </a:xfrm>
          <a:prstGeom prst="wedgeRectCallout">
            <a:avLst>
              <a:gd name="adj1" fmla="val 168492"/>
              <a:gd name="adj2" fmla="val 57331"/>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a:solidFill>
                  <a:schemeClr val="dk1"/>
                </a:solidFill>
                <a:latin typeface="Source Code Pro"/>
                <a:ea typeface="Source Code Pro"/>
                <a:cs typeface="Source Code Pro"/>
                <a:sym typeface="Source Code Pro"/>
              </a:rPr>
              <a:t>Trạng thái</a:t>
            </a:r>
            <a:endParaRPr>
              <a:solidFill>
                <a:schemeClr val="dk1"/>
              </a:solidFill>
              <a:latin typeface="Source Code Pro"/>
              <a:ea typeface="Source Code Pro"/>
              <a:cs typeface="Source Code Pro"/>
              <a:sym typeface="Source Code Pro"/>
            </a:endParaRPr>
          </a:p>
        </p:txBody>
      </p:sp>
      <p:sp>
        <p:nvSpPr>
          <p:cNvPr id="334" name="Google Shape;334;p53"/>
          <p:cNvSpPr/>
          <p:nvPr/>
        </p:nvSpPr>
        <p:spPr>
          <a:xfrm>
            <a:off x="3135675" y="1733075"/>
            <a:ext cx="2341200" cy="581100"/>
          </a:xfrm>
          <a:prstGeom prst="wedgeRectCallout">
            <a:avLst>
              <a:gd name="adj1" fmla="val 53278"/>
              <a:gd name="adj2" fmla="val 156079"/>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a:solidFill>
                  <a:schemeClr val="dk1"/>
                </a:solidFill>
                <a:latin typeface="Source Code Pro"/>
                <a:ea typeface="Source Code Pro"/>
                <a:cs typeface="Source Code Pro"/>
                <a:sym typeface="Source Code Pro"/>
              </a:rPr>
              <a:t>Sự kiện/Điều kiện</a:t>
            </a:r>
            <a:endParaRPr>
              <a:solidFill>
                <a:schemeClr val="dk1"/>
              </a:solidFill>
              <a:latin typeface="Source Code Pro"/>
              <a:ea typeface="Source Code Pro"/>
              <a:cs typeface="Source Code Pro"/>
              <a:sym typeface="Source Code Pro"/>
            </a:endParaRPr>
          </a:p>
        </p:txBody>
      </p:sp>
      <p:sp>
        <p:nvSpPr>
          <p:cNvPr id="335" name="Google Shape;335;p53"/>
          <p:cNvSpPr/>
          <p:nvPr/>
        </p:nvSpPr>
        <p:spPr>
          <a:xfrm>
            <a:off x="7041675" y="2504275"/>
            <a:ext cx="1892100" cy="1289400"/>
          </a:xfrm>
          <a:prstGeom prst="wedgeRectCallout">
            <a:avLst>
              <a:gd name="adj1" fmla="val -89812"/>
              <a:gd name="adj2" fmla="val 4734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sz="1200">
                <a:solidFill>
                  <a:schemeClr val="dk1"/>
                </a:solidFill>
                <a:latin typeface="Source Code Pro"/>
                <a:ea typeface="Source Code Pro"/>
                <a:cs typeface="Source Code Pro"/>
                <a:sym typeface="Source Code Pro"/>
              </a:rPr>
              <a:t>Trạng thái có thể đạt được </a:t>
            </a:r>
            <a:endParaRPr sz="1200">
              <a:solidFill>
                <a:schemeClr val="dk1"/>
              </a:solidFill>
              <a:latin typeface="Source Code Pro"/>
              <a:ea typeface="Source Code Pro"/>
              <a:cs typeface="Source Code Pro"/>
              <a:sym typeface="Source Code Pro"/>
            </a:endParaRPr>
          </a:p>
          <a:p>
            <a:pPr marL="0" lvl="0" indent="0" algn="ctr" rtl="0">
              <a:spcBef>
                <a:spcPts val="0"/>
              </a:spcBef>
              <a:spcAft>
                <a:spcPts val="0"/>
              </a:spcAft>
              <a:buNone/>
            </a:pPr>
            <a:r>
              <a:rPr lang="vi" sz="1200">
                <a:solidFill>
                  <a:schemeClr val="dk1"/>
                </a:solidFill>
                <a:latin typeface="Source Code Pro"/>
                <a:ea typeface="Source Code Pro"/>
                <a:cs typeface="Source Code Pro"/>
                <a:sym typeface="Source Code Pro"/>
              </a:rPr>
              <a:t>(nếu không thể đạt được thì để -)</a:t>
            </a:r>
            <a:br>
              <a:rPr lang="vi" sz="1200">
                <a:solidFill>
                  <a:schemeClr val="dk1"/>
                </a:solidFill>
                <a:latin typeface="Source Code Pro"/>
                <a:ea typeface="Source Code Pro"/>
                <a:cs typeface="Source Code Pro"/>
                <a:sym typeface="Source Code Pro"/>
              </a:rPr>
            </a:br>
            <a:endParaRPr sz="1200">
              <a:solidFill>
                <a:schemeClr val="dk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4.2.4 Chuyển trạng thái </a:t>
            </a:r>
            <a:r>
              <a:rPr lang="vi" sz="2400"/>
              <a:t>(State Transition Testing)</a:t>
            </a:r>
            <a:endParaRPr sz="2400"/>
          </a:p>
        </p:txBody>
      </p:sp>
      <p:sp>
        <p:nvSpPr>
          <p:cNvPr id="341" name="Google Shape;341;p54"/>
          <p:cNvSpPr txBox="1">
            <a:spLocks noGrp="1"/>
          </p:cNvSpPr>
          <p:nvPr>
            <p:ph type="body" idx="1"/>
          </p:nvPr>
        </p:nvSpPr>
        <p:spPr>
          <a:xfrm>
            <a:off x="311700" y="1240225"/>
            <a:ext cx="84117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sz="2000">
                <a:solidFill>
                  <a:srgbClr val="000000"/>
                </a:solidFill>
              </a:rPr>
              <a:t>Ví dụ: Bảng chuyển trạng thái của chức năng login trong hệ thống ATM</a:t>
            </a:r>
            <a:endParaRPr sz="2000">
              <a:solidFill>
                <a:srgbClr val="000000"/>
              </a:solidFill>
            </a:endParaRPr>
          </a:p>
          <a:p>
            <a:pPr marL="0" lvl="0" indent="0" algn="l" rtl="0">
              <a:spcBef>
                <a:spcPts val="1200"/>
              </a:spcBef>
              <a:spcAft>
                <a:spcPts val="1200"/>
              </a:spcAft>
              <a:buNone/>
            </a:pPr>
            <a:endParaRPr sz="2000">
              <a:solidFill>
                <a:srgbClr val="000000"/>
              </a:solidFill>
            </a:endParaRPr>
          </a:p>
        </p:txBody>
      </p:sp>
      <p:graphicFrame>
        <p:nvGraphicFramePr>
          <p:cNvPr id="342" name="Google Shape;342;p54"/>
          <p:cNvGraphicFramePr/>
          <p:nvPr/>
        </p:nvGraphicFramePr>
        <p:xfrm>
          <a:off x="898050" y="2126825"/>
          <a:ext cx="7239000" cy="2773470"/>
        </p:xfrm>
        <a:graphic>
          <a:graphicData uri="http://schemas.openxmlformats.org/drawingml/2006/table">
            <a:tbl>
              <a:tblPr>
                <a:noFill/>
                <a:tableStyleId>{7AEF6C22-7F40-453C-A713-85F41652D8F1}</a:tableStyleId>
              </a:tblPr>
              <a:tblGrid>
                <a:gridCol w="2074625">
                  <a:extLst>
                    <a:ext uri="{9D8B030D-6E8A-4147-A177-3AD203B41FA5}">
                      <a16:colId xmlns:a16="http://schemas.microsoft.com/office/drawing/2014/main" val="20000"/>
                    </a:ext>
                  </a:extLst>
                </a:gridCol>
                <a:gridCol w="1544875">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vi"/>
                        <a:t>Insert Card</a:t>
                      </a:r>
                      <a:endParaRPr/>
                    </a:p>
                  </a:txBody>
                  <a:tcPr marL="91425" marR="91425" marT="91425" marB="91425"/>
                </a:tc>
                <a:tc>
                  <a:txBody>
                    <a:bodyPr/>
                    <a:lstStyle/>
                    <a:p>
                      <a:pPr marL="0" lvl="0" indent="0" algn="l" rtl="0">
                        <a:spcBef>
                          <a:spcPts val="0"/>
                        </a:spcBef>
                        <a:spcAft>
                          <a:spcPts val="0"/>
                        </a:spcAft>
                        <a:buNone/>
                      </a:pPr>
                      <a:r>
                        <a:rPr lang="vi"/>
                        <a:t>Valid PIN</a:t>
                      </a:r>
                      <a:endParaRPr/>
                    </a:p>
                  </a:txBody>
                  <a:tcPr marL="91425" marR="91425" marT="91425" marB="91425"/>
                </a:tc>
                <a:tc>
                  <a:txBody>
                    <a:bodyPr/>
                    <a:lstStyle/>
                    <a:p>
                      <a:pPr marL="0" lvl="0" indent="0" algn="l" rtl="0">
                        <a:spcBef>
                          <a:spcPts val="0"/>
                        </a:spcBef>
                        <a:spcAft>
                          <a:spcPts val="0"/>
                        </a:spcAft>
                        <a:buNone/>
                      </a:pPr>
                      <a:r>
                        <a:rPr lang="vi"/>
                        <a:t>Invalid PIN</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a:t>S1 (Start)</a:t>
                      </a:r>
                      <a:endParaRPr/>
                    </a:p>
                  </a:txBody>
                  <a:tcPr marL="91425" marR="91425" marT="91425" marB="91425"/>
                </a:tc>
                <a:tc>
                  <a:txBody>
                    <a:bodyPr/>
                    <a:lstStyle/>
                    <a:p>
                      <a:pPr marL="0" lvl="0" indent="0" algn="l" rtl="0">
                        <a:spcBef>
                          <a:spcPts val="0"/>
                        </a:spcBef>
                        <a:spcAft>
                          <a:spcPts val="0"/>
                        </a:spcAft>
                        <a:buNone/>
                      </a:pPr>
                      <a:r>
                        <a:rPr lang="vi"/>
                        <a:t>S2</a:t>
                      </a:r>
                      <a:endParaRPr/>
                    </a:p>
                  </a:txBody>
                  <a:tcPr marL="91425" marR="91425" marT="91425" marB="91425"/>
                </a:tc>
                <a:tc>
                  <a:txBody>
                    <a:bodyPr/>
                    <a:lstStyle/>
                    <a:p>
                      <a:pPr marL="0" lvl="0" indent="0" algn="l" rtl="0">
                        <a:spcBef>
                          <a:spcPts val="0"/>
                        </a:spcBef>
                        <a:spcAft>
                          <a:spcPts val="0"/>
                        </a:spcAft>
                        <a:buNone/>
                      </a:pPr>
                      <a:r>
                        <a:rPr lang="vi"/>
                        <a:t>-</a:t>
                      </a:r>
                      <a:endParaRPr/>
                    </a:p>
                  </a:txBody>
                  <a:tcPr marL="91425" marR="91425" marT="91425" marB="91425"/>
                </a:tc>
                <a:tc>
                  <a:txBody>
                    <a:bodyPr/>
                    <a:lstStyle/>
                    <a:p>
                      <a:pPr marL="0" lvl="0" indent="0" algn="l" rtl="0">
                        <a:spcBef>
                          <a:spcPts val="0"/>
                        </a:spcBef>
                        <a:spcAft>
                          <a:spcPts val="0"/>
                        </a:spcAft>
                        <a:buNone/>
                      </a:pPr>
                      <a:r>
                        <a:rPr lang="vi"/>
                        <a:t>-</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a:t>S2 (1st try)</a:t>
                      </a:r>
                      <a:endParaRPr>
                        <a:solidFill>
                          <a:schemeClr val="dk2"/>
                        </a:solidFill>
                      </a:endParaRPr>
                    </a:p>
                  </a:txBody>
                  <a:tcPr marL="91425" marR="91425" marT="91425" marB="91425"/>
                </a:tc>
                <a:tc>
                  <a:txBody>
                    <a:bodyPr/>
                    <a:lstStyle/>
                    <a:p>
                      <a:pPr marL="0" lvl="0" indent="0" algn="l" rtl="0">
                        <a:spcBef>
                          <a:spcPts val="0"/>
                        </a:spcBef>
                        <a:spcAft>
                          <a:spcPts val="0"/>
                        </a:spcAft>
                        <a:buNone/>
                      </a:pPr>
                      <a:r>
                        <a:rPr lang="vi"/>
                        <a:t>-</a:t>
                      </a:r>
                      <a:endParaRPr/>
                    </a:p>
                  </a:txBody>
                  <a:tcPr marL="91425" marR="91425" marT="91425" marB="91425"/>
                </a:tc>
                <a:tc>
                  <a:txBody>
                    <a:bodyPr/>
                    <a:lstStyle/>
                    <a:p>
                      <a:pPr marL="0" lvl="0" indent="0" algn="l" rtl="0">
                        <a:spcBef>
                          <a:spcPts val="0"/>
                        </a:spcBef>
                        <a:spcAft>
                          <a:spcPts val="0"/>
                        </a:spcAft>
                        <a:buNone/>
                      </a:pPr>
                      <a:r>
                        <a:rPr lang="vi"/>
                        <a:t>S6</a:t>
                      </a:r>
                      <a:endParaRPr/>
                    </a:p>
                  </a:txBody>
                  <a:tcPr marL="91425" marR="91425" marT="91425" marB="91425"/>
                </a:tc>
                <a:tc>
                  <a:txBody>
                    <a:bodyPr/>
                    <a:lstStyle/>
                    <a:p>
                      <a:pPr marL="0" lvl="0" indent="0" algn="l" rtl="0">
                        <a:spcBef>
                          <a:spcPts val="0"/>
                        </a:spcBef>
                        <a:spcAft>
                          <a:spcPts val="0"/>
                        </a:spcAft>
                        <a:buNone/>
                      </a:pPr>
                      <a:r>
                        <a:rPr lang="vi"/>
                        <a:t>S3</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a:t>S3 (2nd try)</a:t>
                      </a:r>
                      <a:endParaRPr/>
                    </a:p>
                  </a:txBody>
                  <a:tcPr marL="91425" marR="91425" marT="91425" marB="91425"/>
                </a:tc>
                <a:tc>
                  <a:txBody>
                    <a:bodyPr/>
                    <a:lstStyle/>
                    <a:p>
                      <a:pPr marL="0" lvl="0" indent="0" algn="l" rtl="0">
                        <a:spcBef>
                          <a:spcPts val="0"/>
                        </a:spcBef>
                        <a:spcAft>
                          <a:spcPts val="0"/>
                        </a:spcAft>
                        <a:buNone/>
                      </a:pPr>
                      <a:r>
                        <a:rPr lang="vi"/>
                        <a:t>-</a:t>
                      </a:r>
                      <a:endParaRPr/>
                    </a:p>
                  </a:txBody>
                  <a:tcPr marL="91425" marR="91425" marT="91425" marB="91425"/>
                </a:tc>
                <a:tc>
                  <a:txBody>
                    <a:bodyPr/>
                    <a:lstStyle/>
                    <a:p>
                      <a:pPr marL="0" lvl="0" indent="0" algn="l" rtl="0">
                        <a:spcBef>
                          <a:spcPts val="0"/>
                        </a:spcBef>
                        <a:spcAft>
                          <a:spcPts val="0"/>
                        </a:spcAft>
                        <a:buNone/>
                      </a:pPr>
                      <a:r>
                        <a:rPr lang="vi"/>
                        <a:t>S6</a:t>
                      </a:r>
                      <a:endParaRPr/>
                    </a:p>
                  </a:txBody>
                  <a:tcPr marL="91425" marR="91425" marT="91425" marB="91425"/>
                </a:tc>
                <a:tc>
                  <a:txBody>
                    <a:bodyPr/>
                    <a:lstStyle/>
                    <a:p>
                      <a:pPr marL="0" lvl="0" indent="0" algn="l" rtl="0">
                        <a:spcBef>
                          <a:spcPts val="0"/>
                        </a:spcBef>
                        <a:spcAft>
                          <a:spcPts val="0"/>
                        </a:spcAft>
                        <a:buNone/>
                      </a:pPr>
                      <a:r>
                        <a:rPr lang="vi"/>
                        <a:t>S4</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a:t>S4 (3rd try)</a:t>
                      </a:r>
                      <a:endParaRPr/>
                    </a:p>
                  </a:txBody>
                  <a:tcPr marL="91425" marR="91425" marT="91425" marB="91425"/>
                </a:tc>
                <a:tc>
                  <a:txBody>
                    <a:bodyPr/>
                    <a:lstStyle/>
                    <a:p>
                      <a:pPr marL="0" lvl="0" indent="0" algn="l" rtl="0">
                        <a:spcBef>
                          <a:spcPts val="0"/>
                        </a:spcBef>
                        <a:spcAft>
                          <a:spcPts val="0"/>
                        </a:spcAft>
                        <a:buNone/>
                      </a:pPr>
                      <a:r>
                        <a:rPr lang="vi"/>
                        <a:t>-</a:t>
                      </a:r>
                      <a:endParaRPr/>
                    </a:p>
                  </a:txBody>
                  <a:tcPr marL="91425" marR="91425" marT="91425" marB="91425"/>
                </a:tc>
                <a:tc>
                  <a:txBody>
                    <a:bodyPr/>
                    <a:lstStyle/>
                    <a:p>
                      <a:pPr marL="0" lvl="0" indent="0" algn="l" rtl="0">
                        <a:spcBef>
                          <a:spcPts val="0"/>
                        </a:spcBef>
                        <a:spcAft>
                          <a:spcPts val="0"/>
                        </a:spcAft>
                        <a:buNone/>
                      </a:pPr>
                      <a:r>
                        <a:rPr lang="vi"/>
                        <a:t>S6</a:t>
                      </a:r>
                      <a:endParaRPr/>
                    </a:p>
                  </a:txBody>
                  <a:tcPr marL="91425" marR="91425" marT="91425" marB="91425"/>
                </a:tc>
                <a:tc>
                  <a:txBody>
                    <a:bodyPr/>
                    <a:lstStyle/>
                    <a:p>
                      <a:pPr marL="0" lvl="0" indent="0" algn="l" rtl="0">
                        <a:spcBef>
                          <a:spcPts val="0"/>
                        </a:spcBef>
                        <a:spcAft>
                          <a:spcPts val="0"/>
                        </a:spcAft>
                        <a:buNone/>
                      </a:pPr>
                      <a:r>
                        <a:rPr lang="vi"/>
                        <a:t>S5</a:t>
                      </a:r>
                      <a:endParaRPr/>
                    </a:p>
                  </a:txBody>
                  <a:tcPr marL="91425" marR="91425" marT="91425" marB="91425"/>
                </a:tc>
                <a:extLst>
                  <a:ext uri="{0D108BD9-81ED-4DB2-BD59-A6C34878D82A}">
                    <a16:rowId xmlns:a16="http://schemas.microsoft.com/office/drawing/2014/main" val="10004"/>
                  </a:ext>
                </a:extLst>
              </a:tr>
              <a:tr h="372450">
                <a:tc>
                  <a:txBody>
                    <a:bodyPr/>
                    <a:lstStyle/>
                    <a:p>
                      <a:pPr marL="0" lvl="0" indent="0" algn="l" rtl="0">
                        <a:spcBef>
                          <a:spcPts val="0"/>
                        </a:spcBef>
                        <a:spcAft>
                          <a:spcPts val="0"/>
                        </a:spcAft>
                        <a:buNone/>
                      </a:pPr>
                      <a:r>
                        <a:rPr lang="vi"/>
                        <a:t>S5 (Eat Card)</a:t>
                      </a:r>
                      <a:endParaRPr/>
                    </a:p>
                  </a:txBody>
                  <a:tcPr marL="91425" marR="91425" marT="91425" marB="91425"/>
                </a:tc>
                <a:tc>
                  <a:txBody>
                    <a:bodyPr/>
                    <a:lstStyle/>
                    <a:p>
                      <a:pPr marL="0" lvl="0" indent="0" algn="l" rtl="0">
                        <a:spcBef>
                          <a:spcPts val="0"/>
                        </a:spcBef>
                        <a:spcAft>
                          <a:spcPts val="0"/>
                        </a:spcAft>
                        <a:buNone/>
                      </a:pPr>
                      <a:r>
                        <a:rPr lang="vi"/>
                        <a:t>S1</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vi"/>
                        <a:t>S6 (Access to Account)</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4.2.4 Chuyển trạng thái </a:t>
            </a:r>
            <a:r>
              <a:rPr lang="vi" sz="2400"/>
              <a:t>(State Transition Testing)</a:t>
            </a:r>
            <a:endParaRPr sz="2400"/>
          </a:p>
        </p:txBody>
      </p:sp>
      <p:sp>
        <p:nvSpPr>
          <p:cNvPr id="348" name="Google Shape;348;p55"/>
          <p:cNvSpPr txBox="1">
            <a:spLocks noGrp="1"/>
          </p:cNvSpPr>
          <p:nvPr>
            <p:ph type="body" idx="1"/>
          </p:nvPr>
        </p:nvSpPr>
        <p:spPr>
          <a:xfrm>
            <a:off x="420600" y="1251376"/>
            <a:ext cx="8411700" cy="4011999"/>
          </a:xfrm>
          <a:prstGeom prst="rect">
            <a:avLst/>
          </a:prstGeom>
        </p:spPr>
        <p:txBody>
          <a:bodyPr spcFirstLastPara="1" wrap="square" lIns="91425" tIns="91425" rIns="91425" bIns="91425" anchor="t" anchorCtr="0">
            <a:normAutofit lnSpcReduction="10000"/>
          </a:bodyPr>
          <a:lstStyle/>
          <a:p>
            <a:pPr marL="0" lvl="0" indent="0" algn="just" rtl="0">
              <a:lnSpc>
                <a:spcPct val="150000"/>
              </a:lnSpc>
              <a:spcAft>
                <a:spcPts val="0"/>
              </a:spcAft>
              <a:buNone/>
            </a:pPr>
            <a:r>
              <a:rPr lang="vi" sz="1400" dirty="0">
                <a:solidFill>
                  <a:srgbClr val="000000"/>
                </a:solidFill>
              </a:rPr>
              <a:t>Một test case dựa trên sơ đồ chuyển trạng thái hoặc bảng trạng thái thường được biểu diễn dưới dạng một chuỗi các sự kiện dẫn đến một chuỗi các thay đổi trạng thái (và các hành động, nếu cần). </a:t>
            </a:r>
            <a:endParaRPr sz="1400" dirty="0">
              <a:solidFill>
                <a:srgbClr val="000000"/>
              </a:solidFill>
            </a:endParaRPr>
          </a:p>
          <a:p>
            <a:pPr marL="0" lvl="0" indent="0" algn="just" rtl="0">
              <a:lnSpc>
                <a:spcPct val="150000"/>
              </a:lnSpc>
              <a:spcAft>
                <a:spcPts val="0"/>
              </a:spcAft>
              <a:buNone/>
            </a:pPr>
            <a:r>
              <a:rPr lang="vi" sz="1400" dirty="0">
                <a:solidFill>
                  <a:srgbClr val="000000"/>
                </a:solidFill>
              </a:rPr>
              <a:t>Một test case thường sẽ bao gồm một số chuyển đổi giữa các trạng thái.</a:t>
            </a:r>
            <a:endParaRPr sz="1400" dirty="0">
              <a:solidFill>
                <a:srgbClr val="000000"/>
              </a:solidFill>
            </a:endParaRPr>
          </a:p>
          <a:p>
            <a:pPr marL="0" lvl="0" indent="0" algn="just" rtl="0">
              <a:lnSpc>
                <a:spcPct val="150000"/>
              </a:lnSpc>
              <a:spcAft>
                <a:spcPts val="0"/>
              </a:spcAft>
              <a:buNone/>
            </a:pPr>
            <a:r>
              <a:rPr lang="vi" sz="1400" dirty="0">
                <a:solidFill>
                  <a:srgbClr val="000000"/>
                </a:solidFill>
              </a:rPr>
              <a:t>Độ bao phủ: </a:t>
            </a:r>
            <a:endParaRPr sz="1400" dirty="0">
              <a:solidFill>
                <a:srgbClr val="000000"/>
              </a:solidFill>
            </a:endParaRPr>
          </a:p>
          <a:p>
            <a:pPr marL="457200" lvl="0" indent="-317500" algn="just" rtl="0">
              <a:lnSpc>
                <a:spcPct val="150000"/>
              </a:lnSpc>
              <a:spcAft>
                <a:spcPts val="0"/>
              </a:spcAft>
              <a:buClr>
                <a:srgbClr val="000000"/>
              </a:buClr>
              <a:buSzPct val="100000"/>
              <a:buChar char="-"/>
            </a:pPr>
            <a:r>
              <a:rPr lang="vi" sz="1400" dirty="0">
                <a:solidFill>
                  <a:srgbClr val="000000"/>
                </a:solidFill>
              </a:rPr>
              <a:t>Độ bao phủ các states (Tổng số test case để bao phủ 100% các states)</a:t>
            </a:r>
            <a:endParaRPr sz="1400" dirty="0">
              <a:solidFill>
                <a:srgbClr val="000000"/>
              </a:solidFill>
            </a:endParaRPr>
          </a:p>
          <a:p>
            <a:pPr marL="457200" lvl="0" indent="-317500" algn="just" rtl="0">
              <a:lnSpc>
                <a:spcPct val="150000"/>
              </a:lnSpc>
              <a:spcAft>
                <a:spcPts val="0"/>
              </a:spcAft>
              <a:buClr>
                <a:srgbClr val="000000"/>
              </a:buClr>
              <a:buSzPct val="100000"/>
              <a:buChar char="-"/>
            </a:pPr>
            <a:r>
              <a:rPr lang="vi" sz="1400" dirty="0">
                <a:solidFill>
                  <a:srgbClr val="000000"/>
                </a:solidFill>
              </a:rPr>
              <a:t>Độ bao phủ các transitions (Tổng số test case để bao phủ 100% các transactions)</a:t>
            </a:r>
            <a:endParaRPr sz="1400" dirty="0">
              <a:solidFill>
                <a:srgbClr val="000000"/>
              </a:solidFill>
            </a:endParaRPr>
          </a:p>
          <a:p>
            <a:pPr marL="457200" lvl="0" indent="-317500" algn="just" rtl="0">
              <a:lnSpc>
                <a:spcPct val="150000"/>
              </a:lnSpc>
              <a:spcAft>
                <a:spcPts val="0"/>
              </a:spcAft>
              <a:buClr>
                <a:srgbClr val="000000"/>
              </a:buClr>
              <a:buSzPct val="100000"/>
              <a:buChar char="-"/>
            </a:pPr>
            <a:r>
              <a:rPr lang="vi" sz="1400" dirty="0">
                <a:solidFill>
                  <a:srgbClr val="000000"/>
                </a:solidFill>
              </a:rPr>
              <a:t>Độ bao phủ n-switch (đi qua n-1 trạng thái)</a:t>
            </a:r>
            <a:endParaRPr sz="1400" dirty="0">
              <a:solidFill>
                <a:srgbClr val="000000"/>
              </a:solidFill>
            </a:endParaRPr>
          </a:p>
          <a:p>
            <a:pPr marL="0" lvl="0" indent="0" algn="just" rtl="0">
              <a:lnSpc>
                <a:spcPct val="150000"/>
              </a:lnSpc>
              <a:spcAft>
                <a:spcPts val="0"/>
              </a:spcAft>
              <a:buNone/>
            </a:pPr>
            <a:r>
              <a:rPr lang="vi" sz="1400" dirty="0" smtClean="0">
                <a:solidFill>
                  <a:srgbClr val="000000"/>
                </a:solidFill>
              </a:rPr>
              <a:t>=&gt; Với </a:t>
            </a:r>
            <a:r>
              <a:rPr lang="vi" sz="1400" dirty="0">
                <a:solidFill>
                  <a:srgbClr val="000000"/>
                </a:solidFill>
              </a:rPr>
              <a:t>chức năng Login trong hệ thống ATM </a:t>
            </a:r>
            <a:r>
              <a:rPr lang="vi" sz="1400" dirty="0" smtClean="0">
                <a:solidFill>
                  <a:srgbClr val="000000"/>
                </a:solidFill>
              </a:rPr>
              <a:t>cần</a:t>
            </a:r>
            <a:endParaRPr sz="1400" dirty="0" smtClean="0">
              <a:solidFill>
                <a:srgbClr val="000000"/>
              </a:solidFill>
            </a:endParaRPr>
          </a:p>
          <a:p>
            <a:pPr marL="457200" lvl="0" indent="-317500" algn="just" rtl="0">
              <a:lnSpc>
                <a:spcPct val="150000"/>
              </a:lnSpc>
              <a:spcAft>
                <a:spcPts val="0"/>
              </a:spcAft>
              <a:buClr>
                <a:srgbClr val="000000"/>
              </a:buClr>
              <a:buSzPct val="100000"/>
              <a:buChar char="-"/>
            </a:pPr>
            <a:r>
              <a:rPr lang="vi" sz="1400" dirty="0" smtClean="0">
                <a:solidFill>
                  <a:srgbClr val="000000"/>
                </a:solidFill>
              </a:rPr>
              <a:t>4 test case để cover 100% transactions</a:t>
            </a:r>
            <a:endParaRPr sz="1400" dirty="0" smtClean="0">
              <a:solidFill>
                <a:srgbClr val="000000"/>
              </a:solidFill>
            </a:endParaRPr>
          </a:p>
          <a:p>
            <a:pPr marL="457200" lvl="0" indent="-317500" algn="just" rtl="0">
              <a:lnSpc>
                <a:spcPct val="150000"/>
              </a:lnSpc>
              <a:spcAft>
                <a:spcPts val="0"/>
              </a:spcAft>
              <a:buClr>
                <a:srgbClr val="000000"/>
              </a:buClr>
              <a:buSzPct val="100000"/>
              <a:buChar char="-"/>
            </a:pPr>
            <a:r>
              <a:rPr lang="vi" sz="1400" dirty="0" smtClean="0">
                <a:solidFill>
                  <a:srgbClr val="000000"/>
                </a:solidFill>
              </a:rPr>
              <a:t>2 </a:t>
            </a:r>
            <a:r>
              <a:rPr lang="vi" sz="1400" dirty="0">
                <a:solidFill>
                  <a:srgbClr val="000000"/>
                </a:solidFill>
              </a:rPr>
              <a:t>test case để cover 100% states</a:t>
            </a:r>
            <a:endParaRPr sz="1400" dirty="0">
              <a:solidFill>
                <a:srgbClr val="000000"/>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4.2.4 Chuyển trạng thái </a:t>
            </a:r>
            <a:r>
              <a:rPr lang="vi" sz="2400"/>
              <a:t>(State Transition Testing)</a:t>
            </a:r>
            <a:endParaRPr sz="2400"/>
          </a:p>
        </p:txBody>
      </p:sp>
      <p:sp>
        <p:nvSpPr>
          <p:cNvPr id="354" name="Google Shape;354;p56"/>
          <p:cNvSpPr txBox="1">
            <a:spLocks noGrp="1"/>
          </p:cNvSpPr>
          <p:nvPr>
            <p:ph type="body" idx="1"/>
          </p:nvPr>
        </p:nvSpPr>
        <p:spPr>
          <a:xfrm>
            <a:off x="311700" y="1240225"/>
            <a:ext cx="8411700" cy="38265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None/>
            </a:pPr>
            <a:r>
              <a:rPr lang="vi">
                <a:solidFill>
                  <a:schemeClr val="dk1"/>
                </a:solidFill>
              </a:rPr>
              <a:t>Bài tập:</a:t>
            </a:r>
            <a:r>
              <a:rPr lang="vi" sz="2000">
                <a:solidFill>
                  <a:srgbClr val="000000"/>
                </a:solidFill>
              </a:rPr>
              <a:t> </a:t>
            </a:r>
            <a:endParaRPr sz="2000">
              <a:solidFill>
                <a:srgbClr val="000000"/>
              </a:solidFill>
            </a:endParaRPr>
          </a:p>
          <a:p>
            <a:pPr marL="0" lvl="0" indent="0" algn="l" rtl="0">
              <a:spcBef>
                <a:spcPts val="1200"/>
              </a:spcBef>
              <a:spcAft>
                <a:spcPts val="0"/>
              </a:spcAft>
              <a:buNone/>
            </a:pPr>
            <a:r>
              <a:rPr lang="vi" sz="2000">
                <a:solidFill>
                  <a:srgbClr val="000000"/>
                </a:solidFill>
              </a:rPr>
              <a:t>Giỏ hàng trên một trang mua bán trực tuyến được bắt đầu với trạng thái là rỗng (không có món hàng nào). </a:t>
            </a:r>
            <a:endParaRPr sz="2000">
              <a:solidFill>
                <a:srgbClr val="000000"/>
              </a:solidFill>
            </a:endParaRPr>
          </a:p>
          <a:p>
            <a:pPr marL="0" lvl="0" indent="0" algn="l" rtl="0">
              <a:spcBef>
                <a:spcPts val="1200"/>
              </a:spcBef>
              <a:spcAft>
                <a:spcPts val="0"/>
              </a:spcAft>
              <a:buNone/>
            </a:pPr>
            <a:r>
              <a:rPr lang="vi" sz="2000">
                <a:solidFill>
                  <a:srgbClr val="000000"/>
                </a:solidFill>
              </a:rPr>
              <a:t>Khi bạn chọn một sản phẩm thì nó sẽ được đưa vào giỏ hàng. Bạn cũng có thể bỏ chọn các món hàng trong giỏ hàng. </a:t>
            </a:r>
            <a:endParaRPr sz="2000">
              <a:solidFill>
                <a:srgbClr val="000000"/>
              </a:solidFill>
            </a:endParaRPr>
          </a:p>
          <a:p>
            <a:pPr marL="0" lvl="0" indent="0" algn="l" rtl="0">
              <a:spcBef>
                <a:spcPts val="1200"/>
              </a:spcBef>
              <a:spcAft>
                <a:spcPts val="0"/>
              </a:spcAft>
              <a:buNone/>
            </a:pPr>
            <a:r>
              <a:rPr lang="vi" sz="2000">
                <a:solidFill>
                  <a:srgbClr val="000000"/>
                </a:solidFill>
              </a:rPr>
              <a:t>Khi bạn quyết định mua hàng, thì sẽ xuất hiện màn hình tổng hợp các món hàng đang có trong giỏ cùng với thông tin về giá tiền, số lượng và tổng tiền của giỏ hàng, để cho bạn xác nhận xem đúng hay chưa. </a:t>
            </a:r>
            <a:endParaRPr sz="2000">
              <a:solidFill>
                <a:srgbClr val="000000"/>
              </a:solidFill>
            </a:endParaRPr>
          </a:p>
          <a:p>
            <a:pPr marL="0" lvl="0" indent="0" algn="l" rtl="0">
              <a:spcBef>
                <a:spcPts val="1200"/>
              </a:spcBef>
              <a:spcAft>
                <a:spcPts val="0"/>
              </a:spcAft>
              <a:buNone/>
            </a:pPr>
            <a:r>
              <a:rPr lang="vi" sz="2000">
                <a:solidFill>
                  <a:srgbClr val="000000"/>
                </a:solidFill>
              </a:rPr>
              <a:t>Nếu bạn thấy số lượng hàng và giá tiền OK thì bạn sẽ được chuyển sang trang thanh toán. Ngược lại bạn sẽ quay lại trang mua hàng (lúc này bạn có thể bỏ chọn các món hàng bạn muốn bỏ bớt).</a:t>
            </a:r>
            <a:endParaRPr sz="2000">
              <a:solidFill>
                <a:srgbClr val="000000"/>
              </a:solidFill>
            </a:endParaRPr>
          </a:p>
          <a:p>
            <a:pPr marL="0" lvl="0" indent="0" algn="l" rtl="0">
              <a:spcBef>
                <a:spcPts val="1200"/>
              </a:spcBef>
              <a:spcAft>
                <a:spcPts val="0"/>
              </a:spcAft>
              <a:buNone/>
            </a:pPr>
            <a:r>
              <a:rPr lang="vi" sz="2000">
                <a:solidFill>
                  <a:srgbClr val="000000"/>
                </a:solidFill>
              </a:rPr>
              <a:t>Yêu cầu: </a:t>
            </a:r>
            <a:endParaRPr sz="2000">
              <a:solidFill>
                <a:srgbClr val="000000"/>
              </a:solidFill>
            </a:endParaRPr>
          </a:p>
          <a:p>
            <a:pPr marL="457200" lvl="0" indent="-298450" algn="l" rtl="0">
              <a:spcBef>
                <a:spcPts val="1200"/>
              </a:spcBef>
              <a:spcAft>
                <a:spcPts val="0"/>
              </a:spcAft>
              <a:buClr>
                <a:srgbClr val="000000"/>
              </a:buClr>
              <a:buSzPct val="100000"/>
              <a:buAutoNum type="arabicPeriod"/>
            </a:pPr>
            <a:r>
              <a:rPr lang="vi" sz="2000">
                <a:solidFill>
                  <a:srgbClr val="000000"/>
                </a:solidFill>
              </a:rPr>
              <a:t>Đưa ra sơ đồ trạng thái - state diagram – cho thấy các trạng thái/states và sự chuyển tiếp/transition khác.</a:t>
            </a:r>
            <a:endParaRPr sz="2000">
              <a:solidFill>
                <a:srgbClr val="000000"/>
              </a:solidFill>
            </a:endParaRPr>
          </a:p>
          <a:p>
            <a:pPr marL="457200" lvl="0" indent="-298450" algn="l" rtl="0">
              <a:spcBef>
                <a:spcPts val="0"/>
              </a:spcBef>
              <a:spcAft>
                <a:spcPts val="0"/>
              </a:spcAft>
              <a:buClr>
                <a:srgbClr val="000000"/>
              </a:buClr>
              <a:buSzPct val="100000"/>
              <a:buAutoNum type="arabicPeriod"/>
            </a:pPr>
            <a:r>
              <a:rPr lang="vi" sz="2000">
                <a:solidFill>
                  <a:srgbClr val="000000"/>
                </a:solidFill>
              </a:rPr>
              <a:t>Xác định test case bao phủ toàn bộ các trạng thái. </a:t>
            </a:r>
            <a:endParaRPr sz="2000">
              <a:solidFill>
                <a:srgbClr val="000000"/>
              </a:solidFill>
            </a:endParaRPr>
          </a:p>
          <a:p>
            <a:pPr marL="457200" lvl="0" indent="-298450" algn="l" rtl="0">
              <a:spcBef>
                <a:spcPts val="0"/>
              </a:spcBef>
              <a:spcAft>
                <a:spcPts val="0"/>
              </a:spcAft>
              <a:buClr>
                <a:srgbClr val="000000"/>
              </a:buClr>
              <a:buSzPct val="100000"/>
              <a:buAutoNum type="arabicPeriod"/>
            </a:pPr>
            <a:r>
              <a:rPr lang="vi" sz="2000">
                <a:solidFill>
                  <a:srgbClr val="000000"/>
                </a:solidFill>
              </a:rPr>
              <a:t>Xác định test case bao phủ toàn bộ các chuyển tiếp.</a:t>
            </a:r>
            <a:endParaRPr sz="2000">
              <a:solidFill>
                <a:srgbClr val="000000"/>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311700" y="372500"/>
            <a:ext cx="7165425" cy="4362584"/>
          </a:xfrm>
          <a:prstGeom prst="rect">
            <a:avLst/>
          </a:prstGeom>
        </p:spPr>
      </p:pic>
    </p:spTree>
    <p:extLst>
      <p:ext uri="{BB962C8B-B14F-4D97-AF65-F5344CB8AC3E}">
        <p14:creationId xmlns:p14="http://schemas.microsoft.com/office/powerpoint/2010/main" val="18715330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a:p>
        </p:txBody>
      </p:sp>
      <p:sp>
        <p:nvSpPr>
          <p:cNvPr id="360" name="Google Shape;360;p57"/>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rgbClr val="000000"/>
                </a:solidFill>
                <a:highlight>
                  <a:schemeClr val="lt1"/>
                </a:highlight>
              </a:rPr>
              <a:t>4.1 Tổng quan về kỹ thuật thiết kế test</a:t>
            </a:r>
            <a:endParaRPr>
              <a:highlight>
                <a:schemeClr val="lt1"/>
              </a:highlight>
            </a:endParaRPr>
          </a:p>
          <a:p>
            <a:pPr marL="0" lvl="0" indent="0" algn="l" rtl="0">
              <a:spcBef>
                <a:spcPts val="1200"/>
              </a:spcBef>
              <a:spcAft>
                <a:spcPts val="0"/>
              </a:spcAft>
              <a:buNone/>
            </a:pPr>
            <a:r>
              <a:rPr lang="vi">
                <a:solidFill>
                  <a:srgbClr val="000000"/>
                </a:solidFill>
                <a:highlight>
                  <a:schemeClr val="lt1"/>
                </a:highlight>
              </a:rPr>
              <a:t>4.2 Kỹ thuật kiểm thử hộp đen</a:t>
            </a:r>
            <a:endParaRPr>
              <a:highlight>
                <a:schemeClr val="lt1"/>
              </a:highlight>
            </a:endParaRPr>
          </a:p>
          <a:p>
            <a:pPr marL="0" lvl="0" indent="0" algn="l" rtl="0">
              <a:spcBef>
                <a:spcPts val="1200"/>
              </a:spcBef>
              <a:spcAft>
                <a:spcPts val="0"/>
              </a:spcAft>
              <a:buNone/>
            </a:pPr>
            <a:r>
              <a:rPr lang="vi">
                <a:solidFill>
                  <a:srgbClr val="000000"/>
                </a:solidFill>
                <a:highlight>
                  <a:srgbClr val="FF706B"/>
                </a:highlight>
              </a:rPr>
              <a:t>4.3 Kỹ thuật kiểm thử hộp trắng</a:t>
            </a:r>
            <a:endParaRPr/>
          </a:p>
          <a:p>
            <a:pPr marL="0" lvl="0" indent="0" algn="l" rtl="0">
              <a:spcBef>
                <a:spcPts val="1200"/>
              </a:spcBef>
              <a:spcAft>
                <a:spcPts val="1200"/>
              </a:spcAft>
              <a:buNone/>
            </a:pPr>
            <a:r>
              <a:rPr lang="vi"/>
              <a:t>4.4 Kỹ thuật kiểm thử dựa trên kinh nghiệm</a:t>
            </a:r>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 Kỹ thuật kiểm thử hộp trắng </a:t>
            </a:r>
            <a:r>
              <a:rPr lang="vi" sz="2400"/>
              <a:t>(White-Box Test Techniques)</a:t>
            </a:r>
            <a:endParaRPr sz="2400"/>
          </a:p>
        </p:txBody>
      </p:sp>
      <p:sp>
        <p:nvSpPr>
          <p:cNvPr id="366" name="Google Shape;366;p58"/>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t>Các kỹ thuật liên quan đến kiểm thử hộp trắng:</a:t>
            </a:r>
            <a:endParaRPr/>
          </a:p>
          <a:p>
            <a:pPr marL="457200" lvl="0" indent="-304800" algn="l" rtl="0">
              <a:spcBef>
                <a:spcPts val="1200"/>
              </a:spcBef>
              <a:spcAft>
                <a:spcPts val="0"/>
              </a:spcAft>
              <a:buSzPts val="1200"/>
              <a:buChar char="●"/>
            </a:pPr>
            <a:r>
              <a:rPr lang="vi"/>
              <a:t>Kiểm thử dòng lệnh (Statement testing) </a:t>
            </a:r>
            <a:endParaRPr/>
          </a:p>
          <a:p>
            <a:pPr marL="457200" lvl="0" indent="-304800" algn="l" rtl="0">
              <a:spcBef>
                <a:spcPts val="0"/>
              </a:spcBef>
              <a:spcAft>
                <a:spcPts val="0"/>
              </a:spcAft>
              <a:buSzPts val="1200"/>
              <a:buChar char="●"/>
            </a:pPr>
            <a:r>
              <a:rPr lang="vi"/>
              <a:t>Kiểm thử nhánh (Branch testing)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4.3.1 Kiểm thử dòng lệnh và độ bao phủ dòng lệnh</a:t>
            </a:r>
            <a:endParaRPr sz="2400"/>
          </a:p>
        </p:txBody>
      </p:sp>
      <p:sp>
        <p:nvSpPr>
          <p:cNvPr id="372" name="Google Shape;372;p59"/>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rgbClr val="000000"/>
              </a:buClr>
              <a:buSzPts val="1300"/>
              <a:buChar char="●"/>
            </a:pPr>
            <a:r>
              <a:rPr lang="vi">
                <a:solidFill>
                  <a:srgbClr val="000000"/>
                </a:solidFill>
              </a:rPr>
              <a:t>Mục đích là thiết kế các ca kiểm thử thực hiện các câu lệnh trong mã cho đến khi đạt được mức độ bao phủ có thể chấp nhận được. </a:t>
            </a:r>
            <a:endParaRPr>
              <a:solidFill>
                <a:srgbClr val="000000"/>
              </a:solidFill>
            </a:endParaRPr>
          </a:p>
          <a:p>
            <a:pPr marL="457200" lvl="0" indent="-311150" algn="l" rtl="0">
              <a:spcBef>
                <a:spcPts val="1200"/>
              </a:spcBef>
              <a:spcAft>
                <a:spcPts val="0"/>
              </a:spcAft>
              <a:buClr>
                <a:srgbClr val="000000"/>
              </a:buClr>
              <a:buSzPts val="1300"/>
              <a:buChar char="●"/>
            </a:pPr>
            <a:r>
              <a:rPr lang="vi">
                <a:solidFill>
                  <a:srgbClr val="000000"/>
                </a:solidFill>
              </a:rPr>
              <a:t>Mức độ bao phủ được đo bằng: (số lượng câu lệnh được thực hiện bởi testcase / tổng số các câu lệnh có thể thực thi được trong mã) * 100%</a:t>
            </a:r>
            <a:endParaRPr>
              <a:solidFill>
                <a:srgbClr val="202124"/>
              </a:solidFill>
              <a:highlight>
                <a:srgbClr val="F8F9FA"/>
              </a:highlight>
            </a:endParaRPr>
          </a:p>
          <a:p>
            <a:pPr marL="0" lvl="0" indent="0" algn="l" rtl="0">
              <a:spcBef>
                <a:spcPts val="1200"/>
              </a:spcBef>
              <a:spcAft>
                <a:spcPts val="1200"/>
              </a:spcAft>
              <a:buNone/>
            </a:pPr>
            <a:endParaRPr sz="2000">
              <a:solidFill>
                <a:srgbClr val="0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6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4.3.1 Kiểm thử dòng lệnh và độ bao phủ dòng lệnh</a:t>
            </a:r>
            <a:endParaRPr sz="2400"/>
          </a:p>
        </p:txBody>
      </p:sp>
      <p:sp>
        <p:nvSpPr>
          <p:cNvPr id="378" name="Google Shape;378;p60"/>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rPr>
              <a:t>Ví dụ: </a:t>
            </a:r>
            <a:r>
              <a:rPr lang="vi" sz="2000"/>
              <a:t>Xác định testcase tối thiểu để đạt được độ bao phủ 100% các dòng lệnh </a:t>
            </a:r>
            <a:endParaRPr sz="2000"/>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1200"/>
              </a:spcAft>
              <a:buNone/>
            </a:pPr>
            <a:endParaRPr sz="2000">
              <a:solidFill>
                <a:srgbClr val="000000"/>
              </a:solidFill>
            </a:endParaRPr>
          </a:p>
        </p:txBody>
      </p:sp>
      <p:graphicFrame>
        <p:nvGraphicFramePr>
          <p:cNvPr id="379" name="Google Shape;379;p60"/>
          <p:cNvGraphicFramePr/>
          <p:nvPr/>
        </p:nvGraphicFramePr>
        <p:xfrm>
          <a:off x="499675" y="2252400"/>
          <a:ext cx="2950475" cy="2514450"/>
        </p:xfrm>
        <a:graphic>
          <a:graphicData uri="http://schemas.openxmlformats.org/drawingml/2006/table">
            <a:tbl>
              <a:tblPr>
                <a:noFill/>
                <a:tableStyleId>{7AEF6C22-7F40-453C-A713-85F41652D8F1}</a:tableStyleId>
              </a:tblPr>
              <a:tblGrid>
                <a:gridCol w="383750">
                  <a:extLst>
                    <a:ext uri="{9D8B030D-6E8A-4147-A177-3AD203B41FA5}">
                      <a16:colId xmlns:a16="http://schemas.microsoft.com/office/drawing/2014/main" val="20000"/>
                    </a:ext>
                  </a:extLst>
                </a:gridCol>
                <a:gridCol w="2566725">
                  <a:extLst>
                    <a:ext uri="{9D8B030D-6E8A-4147-A177-3AD203B41FA5}">
                      <a16:colId xmlns:a16="http://schemas.microsoft.com/office/drawing/2014/main" val="20001"/>
                    </a:ext>
                  </a:extLst>
                </a:gridCol>
              </a:tblGrid>
              <a:tr h="406625">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1</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rgbClr val="004ED0"/>
                          </a:solidFill>
                          <a:latin typeface="Source Code Pro"/>
                          <a:ea typeface="Source Code Pro"/>
                          <a:cs typeface="Source Code Pro"/>
                          <a:sym typeface="Source Code Pro"/>
                        </a:rPr>
                        <a:t>READ</a:t>
                      </a:r>
                      <a:r>
                        <a:rPr lang="vi">
                          <a:solidFill>
                            <a:schemeClr val="dk2"/>
                          </a:solidFill>
                          <a:latin typeface="Source Code Pro"/>
                          <a:ea typeface="Source Code Pro"/>
                          <a:cs typeface="Source Code Pro"/>
                          <a:sym typeface="Source Code Pro"/>
                        </a:rPr>
                        <a:t> p;</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2</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rgbClr val="004ED0"/>
                          </a:solidFill>
                          <a:latin typeface="Source Code Pro"/>
                          <a:ea typeface="Source Code Pro"/>
                          <a:cs typeface="Source Code Pro"/>
                          <a:sym typeface="Source Code Pro"/>
                        </a:rPr>
                        <a:t>READ</a:t>
                      </a:r>
                      <a:r>
                        <a:rPr lang="vi">
                          <a:solidFill>
                            <a:schemeClr val="dk2"/>
                          </a:solidFill>
                          <a:latin typeface="Source Code Pro"/>
                          <a:ea typeface="Source Code Pro"/>
                          <a:cs typeface="Source Code Pro"/>
                          <a:sym typeface="Source Code Pro"/>
                        </a:rPr>
                        <a:t> q; </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3</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rgbClr val="004ED0"/>
                          </a:solidFill>
                          <a:latin typeface="Source Code Pro"/>
                          <a:ea typeface="Source Code Pro"/>
                          <a:cs typeface="Source Code Pro"/>
                          <a:sym typeface="Source Code Pro"/>
                        </a:rPr>
                        <a:t>IF</a:t>
                      </a:r>
                      <a:r>
                        <a:rPr lang="vi">
                          <a:solidFill>
                            <a:schemeClr val="dk2"/>
                          </a:solidFill>
                          <a:latin typeface="Source Code Pro"/>
                          <a:ea typeface="Source Code Pro"/>
                          <a:cs typeface="Source Code Pro"/>
                          <a:sym typeface="Source Code Pro"/>
                        </a:rPr>
                        <a:t> p+q &gt; 100 </a:t>
                      </a:r>
                      <a:r>
                        <a:rPr lang="vi">
                          <a:solidFill>
                            <a:srgbClr val="004ED0"/>
                          </a:solidFill>
                          <a:latin typeface="Source Code Pro"/>
                          <a:ea typeface="Source Code Pro"/>
                          <a:cs typeface="Source Code Pro"/>
                          <a:sym typeface="Source Code Pro"/>
                        </a:rPr>
                        <a:t>THEN</a:t>
                      </a:r>
                      <a:r>
                        <a:rPr lang="vi">
                          <a:solidFill>
                            <a:schemeClr val="dk2"/>
                          </a:solidFill>
                          <a:latin typeface="Source Code Pro"/>
                          <a:ea typeface="Source Code Pro"/>
                          <a:cs typeface="Source Code Pro"/>
                          <a:sym typeface="Source Code Pro"/>
                        </a:rPr>
                        <a:t> </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4</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chemeClr val="dk2"/>
                          </a:solidFill>
                          <a:latin typeface="Source Code Pro"/>
                          <a:ea typeface="Source Code Pro"/>
                          <a:cs typeface="Source Code Pro"/>
                          <a:sym typeface="Source Code Pro"/>
                        </a:rPr>
                        <a:t>    </a:t>
                      </a:r>
                      <a:r>
                        <a:rPr lang="vi">
                          <a:solidFill>
                            <a:srgbClr val="004ED0"/>
                          </a:solidFill>
                          <a:latin typeface="Source Code Pro"/>
                          <a:ea typeface="Source Code Pro"/>
                          <a:cs typeface="Source Code Pro"/>
                          <a:sym typeface="Source Code Pro"/>
                        </a:rPr>
                        <a:t>PRINT</a:t>
                      </a:r>
                      <a:r>
                        <a:rPr lang="vi">
                          <a:solidFill>
                            <a:schemeClr val="dk2"/>
                          </a:solidFill>
                          <a:latin typeface="Source Code Pro"/>
                          <a:ea typeface="Source Code Pro"/>
                          <a:cs typeface="Source Code Pro"/>
                          <a:sym typeface="Source Code Pro"/>
                        </a:rPr>
                        <a:t> “Large”	;</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5</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rgbClr val="004ED0"/>
                          </a:solidFill>
                          <a:latin typeface="Source Code Pro"/>
                          <a:ea typeface="Source Code Pro"/>
                          <a:cs typeface="Source Code Pro"/>
                          <a:sym typeface="Source Code Pro"/>
                        </a:rPr>
                        <a:t>ENDIF</a:t>
                      </a:r>
                      <a:r>
                        <a:rPr lang="vi">
                          <a:solidFill>
                            <a:schemeClr val="dk2"/>
                          </a:solidFill>
                          <a:latin typeface="Source Code Pro"/>
                          <a:ea typeface="Source Code Pro"/>
                          <a:cs typeface="Source Code Pro"/>
                          <a:sym typeface="Source Code Pro"/>
                        </a:rPr>
                        <a:t> </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380" name="Google Shape;380;p60"/>
          <p:cNvGraphicFramePr/>
          <p:nvPr/>
        </p:nvGraphicFramePr>
        <p:xfrm>
          <a:off x="4530300" y="2252400"/>
          <a:ext cx="4107550" cy="1016195"/>
        </p:xfrm>
        <a:graphic>
          <a:graphicData uri="http://schemas.openxmlformats.org/drawingml/2006/table">
            <a:tbl>
              <a:tblPr>
                <a:noFill/>
                <a:tableStyleId>{7AEF6C22-7F40-453C-A713-85F41652D8F1}</a:tableStyleId>
              </a:tblPr>
              <a:tblGrid>
                <a:gridCol w="1235375">
                  <a:extLst>
                    <a:ext uri="{9D8B030D-6E8A-4147-A177-3AD203B41FA5}">
                      <a16:colId xmlns:a16="http://schemas.microsoft.com/office/drawing/2014/main" val="20000"/>
                    </a:ext>
                  </a:extLst>
                </a:gridCol>
                <a:gridCol w="896375">
                  <a:extLst>
                    <a:ext uri="{9D8B030D-6E8A-4147-A177-3AD203B41FA5}">
                      <a16:colId xmlns:a16="http://schemas.microsoft.com/office/drawing/2014/main" val="20001"/>
                    </a:ext>
                  </a:extLst>
                </a:gridCol>
                <a:gridCol w="1975800">
                  <a:extLst>
                    <a:ext uri="{9D8B030D-6E8A-4147-A177-3AD203B41FA5}">
                      <a16:colId xmlns:a16="http://schemas.microsoft.com/office/drawing/2014/main" val="20002"/>
                    </a:ext>
                  </a:extLst>
                </a:gridCol>
              </a:tblGrid>
              <a:tr h="406625">
                <a:tc>
                  <a:txBody>
                    <a:bodyPr/>
                    <a:lstStyle/>
                    <a:p>
                      <a:pPr marL="0" lvl="0" indent="0" algn="l" rtl="0">
                        <a:spcBef>
                          <a:spcPts val="0"/>
                        </a:spcBef>
                        <a:spcAft>
                          <a:spcPts val="0"/>
                        </a:spcAft>
                        <a:buNone/>
                      </a:pPr>
                      <a:r>
                        <a:rPr lang="vi" b="1"/>
                        <a:t>Số Testcase</a:t>
                      </a:r>
                      <a:endParaRPr b="1"/>
                    </a:p>
                  </a:txBody>
                  <a:tcPr marL="91425" marR="91425" marT="91425" marB="91425"/>
                </a:tc>
                <a:tc>
                  <a:txBody>
                    <a:bodyPr/>
                    <a:lstStyle/>
                    <a:p>
                      <a:pPr marL="0" lvl="0" indent="0" algn="l" rtl="0">
                        <a:spcBef>
                          <a:spcPts val="0"/>
                        </a:spcBef>
                        <a:spcAft>
                          <a:spcPts val="0"/>
                        </a:spcAft>
                        <a:buNone/>
                      </a:pPr>
                      <a:r>
                        <a:rPr lang="vi" b="1"/>
                        <a:t> Input</a:t>
                      </a:r>
                      <a:endParaRPr b="1"/>
                    </a:p>
                  </a:txBody>
                  <a:tcPr marL="91425" marR="91425" marT="91425" marB="91425"/>
                </a:tc>
                <a:tc>
                  <a:txBody>
                    <a:bodyPr/>
                    <a:lstStyle/>
                    <a:p>
                      <a:pPr marL="0" lvl="0" indent="0" algn="l" rtl="0">
                        <a:spcBef>
                          <a:spcPts val="0"/>
                        </a:spcBef>
                        <a:spcAft>
                          <a:spcPts val="0"/>
                        </a:spcAft>
                        <a:buNone/>
                      </a:pPr>
                      <a:r>
                        <a:rPr lang="vi" b="1"/>
                        <a:t>Expected Output</a:t>
                      </a:r>
                      <a:endParaRPr b="1"/>
                    </a:p>
                  </a:txBody>
                  <a:tcPr marL="91425" marR="91425" marT="91425" marB="91425"/>
                </a:tc>
                <a:extLst>
                  <a:ext uri="{0D108BD9-81ED-4DB2-BD59-A6C34878D82A}">
                    <a16:rowId xmlns:a16="http://schemas.microsoft.com/office/drawing/2014/main" val="10000"/>
                  </a:ext>
                </a:extLst>
              </a:tr>
              <a:tr h="578775">
                <a:tc>
                  <a:txBody>
                    <a:bodyPr/>
                    <a:lstStyle/>
                    <a:p>
                      <a:pPr marL="0" lvl="0" indent="0" algn="l" rtl="0">
                        <a:spcBef>
                          <a:spcPts val="0"/>
                        </a:spcBef>
                        <a:spcAft>
                          <a:spcPts val="0"/>
                        </a:spcAft>
                        <a:buNone/>
                      </a:pPr>
                      <a:r>
                        <a:rPr lang="vi"/>
                        <a:t>   1</a:t>
                      </a:r>
                      <a:endParaRPr/>
                    </a:p>
                  </a:txBody>
                  <a:tcPr marL="91425" marR="91425" marT="91425" marB="91425"/>
                </a:tc>
                <a:tc>
                  <a:txBody>
                    <a:bodyPr/>
                    <a:lstStyle/>
                    <a:p>
                      <a:pPr marL="0" lvl="0" indent="0" algn="l" rtl="0">
                        <a:spcBef>
                          <a:spcPts val="0"/>
                        </a:spcBef>
                        <a:spcAft>
                          <a:spcPts val="0"/>
                        </a:spcAft>
                        <a:buNone/>
                      </a:pPr>
                      <a:r>
                        <a:rPr lang="vi"/>
                        <a:t>p = 60</a:t>
                      </a:r>
                      <a:endParaRPr/>
                    </a:p>
                    <a:p>
                      <a:pPr marL="0" lvl="0" indent="0" algn="l" rtl="0">
                        <a:spcBef>
                          <a:spcPts val="0"/>
                        </a:spcBef>
                        <a:spcAft>
                          <a:spcPts val="0"/>
                        </a:spcAft>
                        <a:buNone/>
                      </a:pPr>
                      <a:r>
                        <a:rPr lang="vi"/>
                        <a:t>q = 50</a:t>
                      </a:r>
                      <a:endParaRPr/>
                    </a:p>
                  </a:txBody>
                  <a:tcPr marL="91425" marR="91425" marT="91425" marB="91425"/>
                </a:tc>
                <a:tc>
                  <a:txBody>
                    <a:bodyPr/>
                    <a:lstStyle/>
                    <a:p>
                      <a:pPr marL="0" lvl="0" indent="0" algn="l" rtl="0">
                        <a:lnSpc>
                          <a:spcPct val="150000"/>
                        </a:lnSpc>
                        <a:spcBef>
                          <a:spcPts val="0"/>
                        </a:spcBef>
                        <a:spcAft>
                          <a:spcPts val="0"/>
                        </a:spcAft>
                        <a:buNone/>
                      </a:pPr>
                      <a:r>
                        <a:rPr lang="vi">
                          <a:solidFill>
                            <a:schemeClr val="dk2"/>
                          </a:solidFill>
                          <a:latin typeface="Source Code Pro"/>
                          <a:ea typeface="Source Code Pro"/>
                          <a:cs typeface="Source Code Pro"/>
                          <a:sym typeface="Source Code Pro"/>
                        </a:rPr>
                        <a:t>Print “Large”</a:t>
                      </a:r>
                      <a:endParaRPr/>
                    </a:p>
                  </a:txBody>
                  <a:tcPr marL="91425" marR="91425" marT="91425" marB="91425"/>
                </a:tc>
                <a:extLst>
                  <a:ext uri="{0D108BD9-81ED-4DB2-BD59-A6C34878D82A}">
                    <a16:rowId xmlns:a16="http://schemas.microsoft.com/office/drawing/2014/main" val="10001"/>
                  </a:ext>
                </a:extLst>
              </a:tr>
            </a:tbl>
          </a:graphicData>
        </a:graphic>
      </p:graphicFrame>
      <p:sp>
        <p:nvSpPr>
          <p:cNvPr id="381" name="Google Shape;381;p60"/>
          <p:cNvSpPr/>
          <p:nvPr/>
        </p:nvSpPr>
        <p:spPr>
          <a:xfrm>
            <a:off x="4530300" y="3577150"/>
            <a:ext cx="4107600" cy="1033800"/>
          </a:xfrm>
          <a:prstGeom prst="snip1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vi">
                <a:latin typeface="Source Code Pro"/>
                <a:ea typeface="Source Code Pro"/>
                <a:cs typeface="Source Code Pro"/>
                <a:sym typeface="Source Code Pro"/>
              </a:rPr>
              <a:t>Số dòng lệnh là 5</a:t>
            </a:r>
            <a:endParaRPr>
              <a:latin typeface="Source Code Pro"/>
              <a:ea typeface="Source Code Pro"/>
              <a:cs typeface="Source Code Pro"/>
              <a:sym typeface="Source Code Pro"/>
            </a:endParaRPr>
          </a:p>
          <a:p>
            <a:pPr marL="0" lvl="0" indent="0" algn="l" rtl="0">
              <a:spcBef>
                <a:spcPts val="0"/>
              </a:spcBef>
              <a:spcAft>
                <a:spcPts val="0"/>
              </a:spcAft>
              <a:buNone/>
            </a:pPr>
            <a:r>
              <a:rPr lang="vi">
                <a:latin typeface="Source Code Pro"/>
                <a:ea typeface="Source Code Pro"/>
                <a:cs typeface="Source Code Pro"/>
                <a:sym typeface="Source Code Pro"/>
              </a:rPr>
              <a:t>Với 1 bộ test case trên có thể đạt được 100%  độ bao phủ dòng lệnh </a:t>
            </a:r>
            <a:endParaRPr>
              <a:latin typeface="Source Code Pro"/>
              <a:ea typeface="Source Code Pro"/>
              <a:cs typeface="Source Code Pro"/>
              <a:sym typeface="Source Code Pr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4.3.1 Kiểm thử dòng lệnh và độ bao phủ dòng lệnh</a:t>
            </a:r>
            <a:endParaRPr sz="2400"/>
          </a:p>
        </p:txBody>
      </p:sp>
      <p:sp>
        <p:nvSpPr>
          <p:cNvPr id="387" name="Google Shape;387;p61"/>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rPr>
              <a:t>Bài tập: </a:t>
            </a:r>
            <a:r>
              <a:rPr lang="vi" sz="2000"/>
              <a:t>Xác định testcase tối thiểu để đạt được độ bao phủ 100% các dòng lệnh </a:t>
            </a:r>
            <a:endParaRPr sz="2000"/>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1200"/>
              </a:spcAft>
              <a:buNone/>
            </a:pPr>
            <a:endParaRPr sz="2000">
              <a:solidFill>
                <a:srgbClr val="000000"/>
              </a:solidFill>
            </a:endParaRPr>
          </a:p>
        </p:txBody>
      </p:sp>
      <p:sp>
        <p:nvSpPr>
          <p:cNvPr id="388" name="Google Shape;388;p61"/>
          <p:cNvSpPr/>
          <p:nvPr/>
        </p:nvSpPr>
        <p:spPr>
          <a:xfrm>
            <a:off x="589525" y="2238550"/>
            <a:ext cx="2862300" cy="2375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vi" sz="1200">
                <a:solidFill>
                  <a:srgbClr val="004ED0"/>
                </a:solidFill>
                <a:latin typeface="Source Code Pro"/>
                <a:ea typeface="Source Code Pro"/>
                <a:cs typeface="Source Code Pro"/>
                <a:sym typeface="Source Code Pro"/>
              </a:rPr>
              <a:t>READ</a:t>
            </a:r>
            <a:r>
              <a:rPr lang="vi" sz="1200">
                <a:latin typeface="Source Code Pro"/>
                <a:ea typeface="Source Code Pro"/>
                <a:cs typeface="Source Code Pro"/>
                <a:sym typeface="Source Code Pro"/>
              </a:rPr>
              <a:t> A</a:t>
            </a:r>
            <a:endParaRPr sz="1200">
              <a:latin typeface="Source Code Pro"/>
              <a:ea typeface="Source Code Pro"/>
              <a:cs typeface="Source Code Pro"/>
              <a:sym typeface="Source Code Pro"/>
            </a:endParaRPr>
          </a:p>
          <a:p>
            <a:pPr marL="0" lvl="0" indent="0" algn="l" rtl="0">
              <a:spcBef>
                <a:spcPts val="0"/>
              </a:spcBef>
              <a:spcAft>
                <a:spcPts val="0"/>
              </a:spcAft>
              <a:buNone/>
            </a:pPr>
            <a:r>
              <a:rPr lang="vi" sz="1200">
                <a:solidFill>
                  <a:srgbClr val="004ED0"/>
                </a:solidFill>
                <a:latin typeface="Source Code Pro"/>
                <a:ea typeface="Source Code Pro"/>
                <a:cs typeface="Source Code Pro"/>
                <a:sym typeface="Source Code Pro"/>
              </a:rPr>
              <a:t>READ</a:t>
            </a:r>
            <a:r>
              <a:rPr lang="vi" sz="1200">
                <a:latin typeface="Source Code Pro"/>
                <a:ea typeface="Source Code Pro"/>
                <a:cs typeface="Source Code Pro"/>
                <a:sym typeface="Source Code Pro"/>
              </a:rPr>
              <a:t> B</a:t>
            </a:r>
            <a:endParaRPr sz="1200">
              <a:latin typeface="Source Code Pro"/>
              <a:ea typeface="Source Code Pro"/>
              <a:cs typeface="Source Code Pro"/>
              <a:sym typeface="Source Code Pro"/>
            </a:endParaRPr>
          </a:p>
          <a:p>
            <a:pPr marL="0" lvl="0" indent="0" algn="l" rtl="0">
              <a:spcBef>
                <a:spcPts val="0"/>
              </a:spcBef>
              <a:spcAft>
                <a:spcPts val="0"/>
              </a:spcAft>
              <a:buNone/>
            </a:pPr>
            <a:r>
              <a:rPr lang="vi" sz="1200">
                <a:solidFill>
                  <a:srgbClr val="004ED0"/>
                </a:solidFill>
                <a:latin typeface="Source Code Pro"/>
                <a:ea typeface="Source Code Pro"/>
                <a:cs typeface="Source Code Pro"/>
                <a:sym typeface="Source Code Pro"/>
              </a:rPr>
              <a:t>IF</a:t>
            </a:r>
            <a:r>
              <a:rPr lang="vi" sz="1200">
                <a:latin typeface="Source Code Pro"/>
                <a:ea typeface="Source Code Pro"/>
                <a:cs typeface="Source Code Pro"/>
                <a:sym typeface="Source Code Pro"/>
              </a:rPr>
              <a:t> A &lt; 0 </a:t>
            </a:r>
            <a:r>
              <a:rPr lang="vi" sz="1200">
                <a:solidFill>
                  <a:srgbClr val="004ED0"/>
                </a:solidFill>
                <a:latin typeface="Source Code Pro"/>
                <a:ea typeface="Source Code Pro"/>
                <a:cs typeface="Source Code Pro"/>
                <a:sym typeface="Source Code Pro"/>
              </a:rPr>
              <a:t>THEN</a:t>
            </a:r>
            <a:endParaRPr sz="1200">
              <a:solidFill>
                <a:srgbClr val="004ED0"/>
              </a:solidFill>
              <a:latin typeface="Source Code Pro"/>
              <a:ea typeface="Source Code Pro"/>
              <a:cs typeface="Source Code Pro"/>
              <a:sym typeface="Source Code Pro"/>
            </a:endParaRPr>
          </a:p>
          <a:p>
            <a:pPr marL="0" lvl="0" indent="0" algn="l" rtl="0">
              <a:spcBef>
                <a:spcPts val="0"/>
              </a:spcBef>
              <a:spcAft>
                <a:spcPts val="0"/>
              </a:spcAft>
              <a:buNone/>
            </a:pPr>
            <a:r>
              <a:rPr lang="vi" sz="1200">
                <a:latin typeface="Source Code Pro"/>
                <a:ea typeface="Source Code Pro"/>
                <a:cs typeface="Source Code Pro"/>
                <a:sym typeface="Source Code Pro"/>
              </a:rPr>
              <a:t>     </a:t>
            </a:r>
            <a:r>
              <a:rPr lang="vi" sz="1200">
                <a:solidFill>
                  <a:srgbClr val="004ED0"/>
                </a:solidFill>
                <a:latin typeface="Source Code Pro"/>
                <a:ea typeface="Source Code Pro"/>
                <a:cs typeface="Source Code Pro"/>
                <a:sym typeface="Source Code Pro"/>
              </a:rPr>
              <a:t>PRINT</a:t>
            </a:r>
            <a:r>
              <a:rPr lang="vi" sz="1200">
                <a:latin typeface="Source Code Pro"/>
                <a:ea typeface="Source Code Pro"/>
                <a:cs typeface="Source Code Pro"/>
                <a:sym typeface="Source Code Pro"/>
              </a:rPr>
              <a:t>  “A negative”</a:t>
            </a:r>
            <a:endParaRPr sz="1200">
              <a:latin typeface="Source Code Pro"/>
              <a:ea typeface="Source Code Pro"/>
              <a:cs typeface="Source Code Pro"/>
              <a:sym typeface="Source Code Pro"/>
            </a:endParaRPr>
          </a:p>
          <a:p>
            <a:pPr marL="0" lvl="0" indent="0" algn="l" rtl="0">
              <a:spcBef>
                <a:spcPts val="0"/>
              </a:spcBef>
              <a:spcAft>
                <a:spcPts val="0"/>
              </a:spcAft>
              <a:buNone/>
            </a:pPr>
            <a:r>
              <a:rPr lang="vi" sz="1200">
                <a:solidFill>
                  <a:srgbClr val="004ED0"/>
                </a:solidFill>
                <a:latin typeface="Source Code Pro"/>
                <a:ea typeface="Source Code Pro"/>
                <a:cs typeface="Source Code Pro"/>
                <a:sym typeface="Source Code Pro"/>
              </a:rPr>
              <a:t>ELSE</a:t>
            </a:r>
            <a:endParaRPr sz="1200">
              <a:solidFill>
                <a:srgbClr val="004ED0"/>
              </a:solidFill>
              <a:latin typeface="Source Code Pro"/>
              <a:ea typeface="Source Code Pro"/>
              <a:cs typeface="Source Code Pro"/>
              <a:sym typeface="Source Code Pro"/>
            </a:endParaRPr>
          </a:p>
          <a:p>
            <a:pPr marL="0" lvl="0" indent="0" algn="l" rtl="0">
              <a:spcBef>
                <a:spcPts val="0"/>
              </a:spcBef>
              <a:spcAft>
                <a:spcPts val="0"/>
              </a:spcAft>
              <a:buNone/>
            </a:pPr>
            <a:r>
              <a:rPr lang="vi" sz="1200">
                <a:latin typeface="Source Code Pro"/>
                <a:ea typeface="Source Code Pro"/>
                <a:cs typeface="Source Code Pro"/>
                <a:sym typeface="Source Code Pro"/>
              </a:rPr>
              <a:t>     </a:t>
            </a:r>
            <a:r>
              <a:rPr lang="vi" sz="1200">
                <a:solidFill>
                  <a:srgbClr val="004ED0"/>
                </a:solidFill>
                <a:latin typeface="Source Code Pro"/>
                <a:ea typeface="Source Code Pro"/>
                <a:cs typeface="Source Code Pro"/>
                <a:sym typeface="Source Code Pro"/>
              </a:rPr>
              <a:t>PRINT</a:t>
            </a:r>
            <a:r>
              <a:rPr lang="vi" sz="1200">
                <a:latin typeface="Source Code Pro"/>
                <a:ea typeface="Source Code Pro"/>
                <a:cs typeface="Source Code Pro"/>
                <a:sym typeface="Source Code Pro"/>
              </a:rPr>
              <a:t>  “A positive”</a:t>
            </a:r>
            <a:endParaRPr sz="1200">
              <a:latin typeface="Source Code Pro"/>
              <a:ea typeface="Source Code Pro"/>
              <a:cs typeface="Source Code Pro"/>
              <a:sym typeface="Source Code Pro"/>
            </a:endParaRPr>
          </a:p>
          <a:p>
            <a:pPr marL="0" lvl="0" indent="0" algn="l" rtl="0">
              <a:spcBef>
                <a:spcPts val="0"/>
              </a:spcBef>
              <a:spcAft>
                <a:spcPts val="0"/>
              </a:spcAft>
              <a:buNone/>
            </a:pPr>
            <a:r>
              <a:rPr lang="vi" sz="1200">
                <a:solidFill>
                  <a:srgbClr val="004ED0"/>
                </a:solidFill>
                <a:latin typeface="Source Code Pro"/>
                <a:ea typeface="Source Code Pro"/>
                <a:cs typeface="Source Code Pro"/>
                <a:sym typeface="Source Code Pro"/>
              </a:rPr>
              <a:t>ENDIF</a:t>
            </a:r>
            <a:endParaRPr sz="1200">
              <a:solidFill>
                <a:srgbClr val="004ED0"/>
              </a:solidFill>
              <a:latin typeface="Source Code Pro"/>
              <a:ea typeface="Source Code Pro"/>
              <a:cs typeface="Source Code Pro"/>
              <a:sym typeface="Source Code Pro"/>
            </a:endParaRPr>
          </a:p>
          <a:p>
            <a:pPr marL="0" lvl="0" indent="0" algn="l" rtl="0">
              <a:spcBef>
                <a:spcPts val="0"/>
              </a:spcBef>
              <a:spcAft>
                <a:spcPts val="0"/>
              </a:spcAft>
              <a:buNone/>
            </a:pPr>
            <a:r>
              <a:rPr lang="vi" sz="1200">
                <a:solidFill>
                  <a:srgbClr val="004ED0"/>
                </a:solidFill>
                <a:latin typeface="Source Code Pro"/>
                <a:ea typeface="Source Code Pro"/>
                <a:cs typeface="Source Code Pro"/>
                <a:sym typeface="Source Code Pro"/>
              </a:rPr>
              <a:t>IF</a:t>
            </a:r>
            <a:r>
              <a:rPr lang="vi" sz="1200">
                <a:latin typeface="Source Code Pro"/>
                <a:ea typeface="Source Code Pro"/>
                <a:cs typeface="Source Code Pro"/>
                <a:sym typeface="Source Code Pro"/>
              </a:rPr>
              <a:t> B &lt; 0 </a:t>
            </a:r>
            <a:r>
              <a:rPr lang="vi" sz="1200">
                <a:solidFill>
                  <a:srgbClr val="004ED0"/>
                </a:solidFill>
                <a:latin typeface="Source Code Pro"/>
                <a:ea typeface="Source Code Pro"/>
                <a:cs typeface="Source Code Pro"/>
                <a:sym typeface="Source Code Pro"/>
              </a:rPr>
              <a:t>THEN</a:t>
            </a:r>
            <a:endParaRPr sz="1200">
              <a:solidFill>
                <a:srgbClr val="004ED0"/>
              </a:solidFill>
              <a:latin typeface="Source Code Pro"/>
              <a:ea typeface="Source Code Pro"/>
              <a:cs typeface="Source Code Pro"/>
              <a:sym typeface="Source Code Pro"/>
            </a:endParaRPr>
          </a:p>
          <a:p>
            <a:pPr marL="0" lvl="0" indent="0" algn="l" rtl="0">
              <a:spcBef>
                <a:spcPts val="0"/>
              </a:spcBef>
              <a:spcAft>
                <a:spcPts val="0"/>
              </a:spcAft>
              <a:buNone/>
            </a:pPr>
            <a:r>
              <a:rPr lang="vi" sz="1200">
                <a:latin typeface="Source Code Pro"/>
                <a:ea typeface="Source Code Pro"/>
                <a:cs typeface="Source Code Pro"/>
                <a:sym typeface="Source Code Pro"/>
              </a:rPr>
              <a:t>     </a:t>
            </a:r>
            <a:r>
              <a:rPr lang="vi" sz="1200">
                <a:solidFill>
                  <a:srgbClr val="004ED0"/>
                </a:solidFill>
                <a:latin typeface="Source Code Pro"/>
                <a:ea typeface="Source Code Pro"/>
                <a:cs typeface="Source Code Pro"/>
                <a:sym typeface="Source Code Pro"/>
              </a:rPr>
              <a:t>PRINT</a:t>
            </a:r>
            <a:r>
              <a:rPr lang="vi" sz="1200">
                <a:latin typeface="Source Code Pro"/>
                <a:ea typeface="Source Code Pro"/>
                <a:cs typeface="Source Code Pro"/>
                <a:sym typeface="Source Code Pro"/>
              </a:rPr>
              <a:t>  “B negative”</a:t>
            </a:r>
            <a:endParaRPr sz="1200">
              <a:latin typeface="Source Code Pro"/>
              <a:ea typeface="Source Code Pro"/>
              <a:cs typeface="Source Code Pro"/>
              <a:sym typeface="Source Code Pro"/>
            </a:endParaRPr>
          </a:p>
          <a:p>
            <a:pPr marL="0" lvl="0" indent="0" algn="l" rtl="0">
              <a:spcBef>
                <a:spcPts val="0"/>
              </a:spcBef>
              <a:spcAft>
                <a:spcPts val="0"/>
              </a:spcAft>
              <a:buNone/>
            </a:pPr>
            <a:r>
              <a:rPr lang="vi" sz="1200">
                <a:solidFill>
                  <a:srgbClr val="004ED0"/>
                </a:solidFill>
                <a:latin typeface="Source Code Pro"/>
                <a:ea typeface="Source Code Pro"/>
                <a:cs typeface="Source Code Pro"/>
                <a:sym typeface="Source Code Pro"/>
              </a:rPr>
              <a:t>ELSE</a:t>
            </a:r>
            <a:endParaRPr sz="1200">
              <a:solidFill>
                <a:srgbClr val="004ED0"/>
              </a:solidFill>
              <a:latin typeface="Source Code Pro"/>
              <a:ea typeface="Source Code Pro"/>
              <a:cs typeface="Source Code Pro"/>
              <a:sym typeface="Source Code Pro"/>
            </a:endParaRPr>
          </a:p>
          <a:p>
            <a:pPr marL="0" lvl="0" indent="0" algn="l" rtl="0">
              <a:spcBef>
                <a:spcPts val="0"/>
              </a:spcBef>
              <a:spcAft>
                <a:spcPts val="0"/>
              </a:spcAft>
              <a:buNone/>
            </a:pPr>
            <a:r>
              <a:rPr lang="vi" sz="1200">
                <a:latin typeface="Source Code Pro"/>
                <a:ea typeface="Source Code Pro"/>
                <a:cs typeface="Source Code Pro"/>
                <a:sym typeface="Source Code Pro"/>
              </a:rPr>
              <a:t>     </a:t>
            </a:r>
            <a:r>
              <a:rPr lang="vi" sz="1200">
                <a:solidFill>
                  <a:srgbClr val="004ED0"/>
                </a:solidFill>
                <a:latin typeface="Source Code Pro"/>
                <a:ea typeface="Source Code Pro"/>
                <a:cs typeface="Source Code Pro"/>
                <a:sym typeface="Source Code Pro"/>
              </a:rPr>
              <a:t>PRINT</a:t>
            </a:r>
            <a:r>
              <a:rPr lang="vi" sz="1200">
                <a:latin typeface="Source Code Pro"/>
                <a:ea typeface="Source Code Pro"/>
                <a:cs typeface="Source Code Pro"/>
                <a:sym typeface="Source Code Pro"/>
              </a:rPr>
              <a:t>  “B positive”</a:t>
            </a:r>
            <a:endParaRPr sz="1200">
              <a:latin typeface="Source Code Pro"/>
              <a:ea typeface="Source Code Pro"/>
              <a:cs typeface="Source Code Pro"/>
              <a:sym typeface="Source Code Pro"/>
            </a:endParaRPr>
          </a:p>
          <a:p>
            <a:pPr marL="0" lvl="0" indent="0" algn="l" rtl="0">
              <a:spcBef>
                <a:spcPts val="0"/>
              </a:spcBef>
              <a:spcAft>
                <a:spcPts val="0"/>
              </a:spcAft>
              <a:buNone/>
            </a:pPr>
            <a:r>
              <a:rPr lang="vi" sz="1200">
                <a:solidFill>
                  <a:srgbClr val="004ED0"/>
                </a:solidFill>
                <a:latin typeface="Source Code Pro"/>
                <a:ea typeface="Source Code Pro"/>
                <a:cs typeface="Source Code Pro"/>
                <a:sym typeface="Source Code Pro"/>
              </a:rPr>
              <a:t>ENDIF</a:t>
            </a:r>
            <a:endParaRPr sz="1200">
              <a:solidFill>
                <a:srgbClr val="004ED0"/>
              </a:solidFill>
              <a:latin typeface="Source Code Pro"/>
              <a:ea typeface="Source Code Pro"/>
              <a:cs typeface="Source Code Pro"/>
              <a:sym typeface="Source Code Pro"/>
            </a:endParaRPr>
          </a:p>
          <a:p>
            <a:pPr marL="0" lvl="0" indent="0" algn="ctr" rtl="0">
              <a:spcBef>
                <a:spcPts val="0"/>
              </a:spcBef>
              <a:spcAft>
                <a:spcPts val="0"/>
              </a:spcAft>
              <a:buNone/>
            </a:pPr>
            <a:endParaRPr>
              <a:latin typeface="Source Code Pro"/>
              <a:ea typeface="Source Code Pro"/>
              <a:cs typeface="Source Code Pro"/>
              <a:sym typeface="Source Code Pr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6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4.3.1 Kiểm thử dòng lệnh và độ bao phủ dòng lệnh</a:t>
            </a:r>
            <a:endParaRPr sz="2400"/>
          </a:p>
        </p:txBody>
      </p:sp>
      <p:sp>
        <p:nvSpPr>
          <p:cNvPr id="394" name="Google Shape;394;p62"/>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rgbClr val="000000"/>
                </a:solidFill>
              </a:rPr>
              <a:t>=&gt; Khi đạt được mức độ bao phủ câu lệnh 100%, nó đảm bảo rằng tất cả các câu lệnh thực thi trong mã đã được thực hiện ít nhất một lần.</a:t>
            </a:r>
            <a:endParaRPr sz="2000">
              <a:solidFill>
                <a:srgbClr val="000000"/>
              </a:solidFill>
            </a:endParaRPr>
          </a:p>
          <a:p>
            <a:pPr marL="0" lvl="0" indent="0" algn="l" rtl="0">
              <a:spcBef>
                <a:spcPts val="1200"/>
              </a:spcBef>
              <a:spcAft>
                <a:spcPts val="1200"/>
              </a:spcAft>
              <a:buNone/>
            </a:pPr>
            <a:r>
              <a:rPr lang="vi" sz="2000">
                <a:solidFill>
                  <a:srgbClr val="000000"/>
                </a:solidFill>
              </a:rPr>
              <a:t>=&gt; Tuy nhiên kiểm thử dòng lệnh sẽ không phát hiện được lỗi trong mọi trường hợp đặc biệt liên quan đến quyết định logic  </a:t>
            </a:r>
            <a:endParaRPr sz="2000">
              <a:solidFill>
                <a:srgbClr val="0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6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4.3.2 Kiểm thử nhánh và độ bao phủ nhánh</a:t>
            </a:r>
            <a:endParaRPr sz="2400"/>
          </a:p>
        </p:txBody>
      </p:sp>
      <p:sp>
        <p:nvSpPr>
          <p:cNvPr id="400" name="Google Shape;400;p63"/>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rPr>
              <a:t>Nhánh</a:t>
            </a:r>
            <a:r>
              <a:rPr lang="vi" sz="2000">
                <a:solidFill>
                  <a:srgbClr val="000000"/>
                </a:solidFill>
              </a:rPr>
              <a:t> </a:t>
            </a:r>
            <a:r>
              <a:rPr lang="vi">
                <a:solidFill>
                  <a:srgbClr val="000000"/>
                </a:solidFill>
              </a:rPr>
              <a:t>là sự chuyển giao quyền điều khiển giữa hai nút trong biểu đồ luồng điều khiển, cho thấy khả năng trình tự các câu lệnh mã nguồn được thực thi trong đối tượng kiểm thử. </a:t>
            </a:r>
            <a:endParaRPr>
              <a:solidFill>
                <a:srgbClr val="000000"/>
              </a:solidFill>
            </a:endParaRPr>
          </a:p>
          <a:p>
            <a:pPr marL="0" lvl="0" indent="0" algn="l" rtl="0">
              <a:spcBef>
                <a:spcPts val="1200"/>
              </a:spcBef>
              <a:spcAft>
                <a:spcPts val="0"/>
              </a:spcAft>
              <a:buNone/>
            </a:pPr>
            <a:r>
              <a:rPr lang="vi">
                <a:solidFill>
                  <a:srgbClr val="000000"/>
                </a:solidFill>
              </a:rPr>
              <a:t>Mỗi lần chuyển giao quyền kiểm soát có thể là vô điều kiện (tức là mã đường thẳng) hoặc có điều kiện (tức là kết quả quyết định).</a:t>
            </a:r>
            <a:endParaRPr>
              <a:solidFill>
                <a:srgbClr val="000000"/>
              </a:solidFill>
            </a:endParaRPr>
          </a:p>
          <a:p>
            <a:pPr marL="0" marR="0" lvl="0" indent="0" algn="l" rtl="0">
              <a:lnSpc>
                <a:spcPct val="115000"/>
              </a:lnSpc>
              <a:spcBef>
                <a:spcPts val="1200"/>
              </a:spcBef>
              <a:spcAft>
                <a:spcPts val="0"/>
              </a:spcAft>
              <a:buNone/>
            </a:pPr>
            <a:r>
              <a:rPr lang="vi">
                <a:solidFill>
                  <a:srgbClr val="000000"/>
                </a:solidFill>
              </a:rPr>
              <a:t>Các nhánh có điều kiện thường tương ứng với kết quả đúng hoặc sai từ một quyết định “if...then”, kết quả từ câu lệnh “switch/case” hoặc quyết định thoát hoặc tiếp tục vòng lặp “loop" </a:t>
            </a:r>
            <a:endParaRPr>
              <a:solidFill>
                <a:srgbClr val="000000"/>
              </a:solidFill>
            </a:endParaRPr>
          </a:p>
          <a:p>
            <a:pPr marL="0" lvl="0" indent="0" algn="l" rtl="0">
              <a:spcBef>
                <a:spcPts val="1200"/>
              </a:spcBef>
              <a:spcAft>
                <a:spcPts val="0"/>
              </a:spcAft>
              <a:buNone/>
            </a:pPr>
            <a:endParaRPr sz="2000">
              <a:solidFill>
                <a:srgbClr val="000000"/>
              </a:solidFill>
            </a:endParaRPr>
          </a:p>
          <a:p>
            <a:pPr marL="0" lvl="0" indent="0" algn="l" rtl="0">
              <a:spcBef>
                <a:spcPts val="1200"/>
              </a:spcBef>
              <a:spcAft>
                <a:spcPts val="1200"/>
              </a:spcAft>
              <a:buNone/>
            </a:pPr>
            <a:endParaRPr sz="2000">
              <a:solidFill>
                <a:srgbClr val="00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6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4.3.2 Kiểm thử nhánh và độ bao phủ nhánh</a:t>
            </a:r>
            <a:endParaRPr sz="2400"/>
          </a:p>
        </p:txBody>
      </p:sp>
      <p:sp>
        <p:nvSpPr>
          <p:cNvPr id="406" name="Google Shape;406;p64"/>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rPr>
              <a:t>Nhánh</a:t>
            </a:r>
            <a:endParaRPr sz="2000">
              <a:solidFill>
                <a:srgbClr val="000000"/>
              </a:solidFill>
            </a:endParaRPr>
          </a:p>
          <a:p>
            <a:pPr marL="0" lvl="0" indent="0" algn="l" rtl="0">
              <a:spcBef>
                <a:spcPts val="1200"/>
              </a:spcBef>
              <a:spcAft>
                <a:spcPts val="1200"/>
              </a:spcAft>
              <a:buNone/>
            </a:pPr>
            <a:endParaRPr sz="2000">
              <a:solidFill>
                <a:srgbClr val="000000"/>
              </a:solidFill>
            </a:endParaRPr>
          </a:p>
        </p:txBody>
      </p:sp>
      <p:grpSp>
        <p:nvGrpSpPr>
          <p:cNvPr id="407" name="Google Shape;407;p64"/>
          <p:cNvGrpSpPr/>
          <p:nvPr/>
        </p:nvGrpSpPr>
        <p:grpSpPr>
          <a:xfrm>
            <a:off x="5522051" y="1304276"/>
            <a:ext cx="968149" cy="2941050"/>
            <a:chOff x="4827" y="929"/>
            <a:chExt cx="960" cy="2228"/>
          </a:xfrm>
        </p:grpSpPr>
        <p:cxnSp>
          <p:nvCxnSpPr>
            <p:cNvPr id="408" name="Google Shape;408;p64"/>
            <p:cNvCxnSpPr/>
            <p:nvPr/>
          </p:nvCxnSpPr>
          <p:spPr>
            <a:xfrm>
              <a:off x="5186" y="1782"/>
              <a:ext cx="600" cy="0"/>
            </a:xfrm>
            <a:prstGeom prst="straightConnector1">
              <a:avLst/>
            </a:prstGeom>
            <a:noFill/>
            <a:ln w="50800" cap="flat" cmpd="sng">
              <a:solidFill>
                <a:srgbClr val="000000"/>
              </a:solidFill>
              <a:prstDash val="solid"/>
              <a:round/>
              <a:headEnd type="none" w="sm" len="sm"/>
              <a:tailEnd type="none" w="sm" len="sm"/>
            </a:ln>
          </p:spPr>
        </p:cxnSp>
        <p:cxnSp>
          <p:nvCxnSpPr>
            <p:cNvPr id="409" name="Google Shape;409;p64"/>
            <p:cNvCxnSpPr/>
            <p:nvPr/>
          </p:nvCxnSpPr>
          <p:spPr>
            <a:xfrm>
              <a:off x="5150" y="1087"/>
              <a:ext cx="0" cy="1800"/>
            </a:xfrm>
            <a:prstGeom prst="straightConnector1">
              <a:avLst/>
            </a:prstGeom>
            <a:noFill/>
            <a:ln w="50800" cap="flat" cmpd="sng">
              <a:solidFill>
                <a:srgbClr val="000000"/>
              </a:solidFill>
              <a:prstDash val="solid"/>
              <a:round/>
              <a:headEnd type="none" w="sm" len="sm"/>
              <a:tailEnd type="none" w="sm" len="sm"/>
            </a:ln>
          </p:spPr>
        </p:cxnSp>
        <p:sp>
          <p:nvSpPr>
            <p:cNvPr id="410" name="Google Shape;410;p64"/>
            <p:cNvSpPr/>
            <p:nvPr/>
          </p:nvSpPr>
          <p:spPr>
            <a:xfrm>
              <a:off x="4835" y="1480"/>
              <a:ext cx="600" cy="600"/>
            </a:xfrm>
            <a:prstGeom prst="diamond">
              <a:avLst/>
            </a:prstGeom>
            <a:solidFill>
              <a:srgbClr val="4A86E8"/>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sp>
          <p:nvSpPr>
            <p:cNvPr id="411" name="Google Shape;411;p64"/>
            <p:cNvSpPr/>
            <p:nvPr/>
          </p:nvSpPr>
          <p:spPr>
            <a:xfrm>
              <a:off x="4827" y="929"/>
              <a:ext cx="600" cy="300"/>
            </a:xfrm>
            <a:prstGeom prst="rect">
              <a:avLst/>
            </a:prstGeom>
            <a:solidFill>
              <a:srgbClr val="4A86E8"/>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sp>
          <p:nvSpPr>
            <p:cNvPr id="412" name="Google Shape;412;p64"/>
            <p:cNvSpPr/>
            <p:nvPr/>
          </p:nvSpPr>
          <p:spPr>
            <a:xfrm>
              <a:off x="4903" y="2177"/>
              <a:ext cx="600" cy="300"/>
            </a:xfrm>
            <a:prstGeom prst="rect">
              <a:avLst/>
            </a:prstGeom>
            <a:solidFill>
              <a:srgbClr val="4A86E8"/>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sp>
          <p:nvSpPr>
            <p:cNvPr id="413" name="Google Shape;413;p64"/>
            <p:cNvSpPr/>
            <p:nvPr/>
          </p:nvSpPr>
          <p:spPr>
            <a:xfrm>
              <a:off x="4903" y="2857"/>
              <a:ext cx="600" cy="300"/>
            </a:xfrm>
            <a:prstGeom prst="rect">
              <a:avLst/>
            </a:prstGeom>
            <a:solidFill>
              <a:srgbClr val="4A86E8"/>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cxnSp>
          <p:nvCxnSpPr>
            <p:cNvPr id="414" name="Google Shape;414;p64"/>
            <p:cNvCxnSpPr/>
            <p:nvPr/>
          </p:nvCxnSpPr>
          <p:spPr>
            <a:xfrm>
              <a:off x="5774" y="1782"/>
              <a:ext cx="0" cy="900"/>
            </a:xfrm>
            <a:prstGeom prst="straightConnector1">
              <a:avLst/>
            </a:prstGeom>
            <a:noFill/>
            <a:ln w="50800" cap="flat" cmpd="sng">
              <a:solidFill>
                <a:srgbClr val="000000"/>
              </a:solidFill>
              <a:prstDash val="solid"/>
              <a:round/>
              <a:headEnd type="none" w="sm" len="sm"/>
              <a:tailEnd type="none" w="sm" len="sm"/>
            </a:ln>
          </p:spPr>
        </p:cxnSp>
        <p:cxnSp>
          <p:nvCxnSpPr>
            <p:cNvPr id="415" name="Google Shape;415;p64"/>
            <p:cNvCxnSpPr/>
            <p:nvPr/>
          </p:nvCxnSpPr>
          <p:spPr>
            <a:xfrm>
              <a:off x="5187" y="2699"/>
              <a:ext cx="600" cy="0"/>
            </a:xfrm>
            <a:prstGeom prst="straightConnector1">
              <a:avLst/>
            </a:prstGeom>
            <a:noFill/>
            <a:ln w="50800" cap="flat" cmpd="sng">
              <a:solidFill>
                <a:srgbClr val="000000"/>
              </a:solidFill>
              <a:prstDash val="solid"/>
              <a:round/>
              <a:headEnd type="stealth" w="med" len="med"/>
              <a:tailEnd type="none" w="sm" len="sm"/>
            </a:ln>
          </p:spPr>
        </p:cxnSp>
      </p:grpSp>
      <p:grpSp>
        <p:nvGrpSpPr>
          <p:cNvPr id="416" name="Google Shape;416;p64"/>
          <p:cNvGrpSpPr/>
          <p:nvPr/>
        </p:nvGrpSpPr>
        <p:grpSpPr>
          <a:xfrm>
            <a:off x="2474050" y="1304276"/>
            <a:ext cx="605400" cy="2941050"/>
            <a:chOff x="2474050" y="1532876"/>
            <a:chExt cx="605400" cy="2941050"/>
          </a:xfrm>
        </p:grpSpPr>
        <p:grpSp>
          <p:nvGrpSpPr>
            <p:cNvPr id="417" name="Google Shape;417;p64"/>
            <p:cNvGrpSpPr/>
            <p:nvPr/>
          </p:nvGrpSpPr>
          <p:grpSpPr>
            <a:xfrm>
              <a:off x="2474051" y="1532876"/>
              <a:ext cx="605396" cy="2941050"/>
              <a:chOff x="4827" y="929"/>
              <a:chExt cx="600" cy="2228"/>
            </a:xfrm>
          </p:grpSpPr>
          <p:cxnSp>
            <p:nvCxnSpPr>
              <p:cNvPr id="418" name="Google Shape;418;p64"/>
              <p:cNvCxnSpPr/>
              <p:nvPr/>
            </p:nvCxnSpPr>
            <p:spPr>
              <a:xfrm>
                <a:off x="5150" y="1087"/>
                <a:ext cx="0" cy="1800"/>
              </a:xfrm>
              <a:prstGeom prst="straightConnector1">
                <a:avLst/>
              </a:prstGeom>
              <a:noFill/>
              <a:ln w="50800" cap="flat" cmpd="sng">
                <a:solidFill>
                  <a:srgbClr val="000000"/>
                </a:solidFill>
                <a:prstDash val="solid"/>
                <a:round/>
                <a:headEnd type="none" w="sm" len="sm"/>
                <a:tailEnd type="none" w="sm" len="sm"/>
              </a:ln>
            </p:spPr>
          </p:cxnSp>
          <p:sp>
            <p:nvSpPr>
              <p:cNvPr id="419" name="Google Shape;419;p64"/>
              <p:cNvSpPr/>
              <p:nvPr/>
            </p:nvSpPr>
            <p:spPr>
              <a:xfrm>
                <a:off x="4827" y="929"/>
                <a:ext cx="600" cy="300"/>
              </a:xfrm>
              <a:prstGeom prst="rect">
                <a:avLst/>
              </a:prstGeom>
              <a:solidFill>
                <a:srgbClr val="006FE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sp>
            <p:nvSpPr>
              <p:cNvPr id="420" name="Google Shape;420;p64"/>
              <p:cNvSpPr/>
              <p:nvPr/>
            </p:nvSpPr>
            <p:spPr>
              <a:xfrm>
                <a:off x="4827" y="2857"/>
                <a:ext cx="600" cy="300"/>
              </a:xfrm>
              <a:prstGeom prst="rect">
                <a:avLst/>
              </a:prstGeom>
              <a:solidFill>
                <a:srgbClr val="4A86E8"/>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grpSp>
        <p:sp>
          <p:nvSpPr>
            <p:cNvPr id="421" name="Google Shape;421;p64"/>
            <p:cNvSpPr/>
            <p:nvPr/>
          </p:nvSpPr>
          <p:spPr>
            <a:xfrm>
              <a:off x="2474050" y="2867136"/>
              <a:ext cx="605400" cy="396000"/>
            </a:xfrm>
            <a:prstGeom prst="rect">
              <a:avLst/>
            </a:prstGeom>
            <a:solidFill>
              <a:srgbClr val="4A86E8"/>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grpSp>
      <p:sp>
        <p:nvSpPr>
          <p:cNvPr id="422" name="Google Shape;422;p64"/>
          <p:cNvSpPr/>
          <p:nvPr/>
        </p:nvSpPr>
        <p:spPr>
          <a:xfrm>
            <a:off x="1760075" y="4469925"/>
            <a:ext cx="2084700" cy="290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a:latin typeface="Source Code Pro"/>
                <a:ea typeface="Source Code Pro"/>
                <a:cs typeface="Source Code Pro"/>
                <a:sym typeface="Source Code Pro"/>
              </a:rPr>
              <a:t>Chuyển giao vô điều kiện</a:t>
            </a:r>
            <a:endParaRPr>
              <a:latin typeface="Source Code Pro"/>
              <a:ea typeface="Source Code Pro"/>
              <a:cs typeface="Source Code Pro"/>
              <a:sym typeface="Source Code Pro"/>
            </a:endParaRPr>
          </a:p>
        </p:txBody>
      </p:sp>
      <p:sp>
        <p:nvSpPr>
          <p:cNvPr id="423" name="Google Shape;423;p64"/>
          <p:cNvSpPr/>
          <p:nvPr/>
        </p:nvSpPr>
        <p:spPr>
          <a:xfrm>
            <a:off x="4982550" y="4519800"/>
            <a:ext cx="2084700" cy="290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a:latin typeface="Source Code Pro"/>
                <a:ea typeface="Source Code Pro"/>
                <a:cs typeface="Source Code Pro"/>
                <a:sym typeface="Source Code Pro"/>
              </a:rPr>
              <a:t>Chuyển giao có điều kiện</a:t>
            </a:r>
            <a:endParaRPr>
              <a:latin typeface="Source Code Pro"/>
              <a:ea typeface="Source Code Pro"/>
              <a:cs typeface="Source Code Pro"/>
              <a:sym typeface="Source Code Pro"/>
            </a:endParaRPr>
          </a:p>
        </p:txBody>
      </p:sp>
      <p:sp>
        <p:nvSpPr>
          <p:cNvPr id="424" name="Google Shape;424;p64"/>
          <p:cNvSpPr/>
          <p:nvPr/>
        </p:nvSpPr>
        <p:spPr>
          <a:xfrm>
            <a:off x="996825" y="2118900"/>
            <a:ext cx="968100" cy="615300"/>
          </a:xfrm>
          <a:prstGeom prst="wedgeRoundRectCallout">
            <a:avLst>
              <a:gd name="adj1" fmla="val 117984"/>
              <a:gd name="adj2" fmla="val -38888"/>
              <a:gd name="adj3"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a:latin typeface="Source Code Pro"/>
                <a:ea typeface="Source Code Pro"/>
                <a:cs typeface="Source Code Pro"/>
                <a:sym typeface="Source Code Pro"/>
              </a:rPr>
              <a:t>1 nhánh</a:t>
            </a:r>
            <a:endParaRPr>
              <a:latin typeface="Source Code Pro"/>
              <a:ea typeface="Source Code Pro"/>
              <a:cs typeface="Source Code Pro"/>
              <a:sym typeface="Source Code Pro"/>
            </a:endParaRPr>
          </a:p>
        </p:txBody>
      </p:sp>
      <p:sp>
        <p:nvSpPr>
          <p:cNvPr id="425" name="Google Shape;425;p64"/>
          <p:cNvSpPr/>
          <p:nvPr/>
        </p:nvSpPr>
        <p:spPr>
          <a:xfrm>
            <a:off x="6870750" y="2264100"/>
            <a:ext cx="968100" cy="615300"/>
          </a:xfrm>
          <a:prstGeom prst="wedgeRoundRectCallout">
            <a:avLst>
              <a:gd name="adj1" fmla="val -80147"/>
              <a:gd name="adj2" fmla="val 125191"/>
              <a:gd name="adj3"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a:latin typeface="Source Code Pro"/>
                <a:ea typeface="Source Code Pro"/>
                <a:cs typeface="Source Code Pro"/>
                <a:sym typeface="Source Code Pro"/>
              </a:rPr>
              <a:t>2 nhánh</a:t>
            </a:r>
            <a:endParaRPr>
              <a:latin typeface="Source Code Pro"/>
              <a:ea typeface="Source Code Pro"/>
              <a:cs typeface="Source Code Pro"/>
              <a:sym typeface="Source Code Pro"/>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6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4.3.2 Kiểm thử nhánh và độ bao phủ nhánh</a:t>
            </a:r>
            <a:endParaRPr sz="2400"/>
          </a:p>
        </p:txBody>
      </p:sp>
      <p:sp>
        <p:nvSpPr>
          <p:cNvPr id="431" name="Google Shape;431;p65"/>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457200" lvl="0" indent="-311150" algn="l" rtl="0">
              <a:spcBef>
                <a:spcPts val="1000"/>
              </a:spcBef>
              <a:spcAft>
                <a:spcPts val="0"/>
              </a:spcAft>
              <a:buClr>
                <a:srgbClr val="000000"/>
              </a:buClr>
              <a:buSzPts val="1300"/>
              <a:buChar char="●"/>
            </a:pPr>
            <a:r>
              <a:rPr lang="vi">
                <a:solidFill>
                  <a:srgbClr val="000000"/>
                </a:solidFill>
              </a:rPr>
              <a:t>Mục đích là thiết kế các Test Case để thực hiện các nhánh trong mã cho đến khi đạt được mức độ bao phủ có thể chấp nhận được. </a:t>
            </a:r>
            <a:endParaRPr>
              <a:solidFill>
                <a:srgbClr val="000000"/>
              </a:solidFill>
            </a:endParaRPr>
          </a:p>
          <a:p>
            <a:pPr marL="457200" lvl="0" indent="-311150" algn="l" rtl="0">
              <a:spcBef>
                <a:spcPts val="0"/>
              </a:spcBef>
              <a:spcAft>
                <a:spcPts val="0"/>
              </a:spcAft>
              <a:buClr>
                <a:srgbClr val="000000"/>
              </a:buClr>
              <a:buSzPts val="1300"/>
              <a:buChar char="●"/>
            </a:pPr>
            <a:r>
              <a:rPr lang="vi">
                <a:solidFill>
                  <a:srgbClr val="000000"/>
                </a:solidFill>
              </a:rPr>
              <a:t>Mức độ bao phủ được đo bằng: </a:t>
            </a:r>
            <a:endParaRPr>
              <a:solidFill>
                <a:srgbClr val="000000"/>
              </a:solidFill>
            </a:endParaRPr>
          </a:p>
          <a:p>
            <a:pPr marL="457200" lvl="0" indent="0" algn="l" rtl="0">
              <a:spcBef>
                <a:spcPts val="1200"/>
              </a:spcBef>
              <a:spcAft>
                <a:spcPts val="0"/>
              </a:spcAft>
              <a:buNone/>
            </a:pPr>
            <a:r>
              <a:rPr lang="vi">
                <a:solidFill>
                  <a:srgbClr val="000000"/>
                </a:solidFill>
              </a:rPr>
              <a:t>(số nhánh được thực hiện bởi các testcase /tổng số nhánh)/100% </a:t>
            </a:r>
            <a:endParaRPr>
              <a:solidFill>
                <a:schemeClr val="dk1"/>
              </a:solidFill>
            </a:endParaRPr>
          </a:p>
          <a:p>
            <a:pPr marL="0" lvl="0" indent="0" algn="l" rtl="0">
              <a:spcBef>
                <a:spcPts val="1200"/>
              </a:spcBef>
              <a:spcAft>
                <a:spcPts val="1200"/>
              </a:spcAft>
              <a:buNone/>
            </a:pPr>
            <a:endParaRPr sz="2000">
              <a:solidFill>
                <a:srgbClr val="00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6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4.3.2 Kiểm thử nhánh và độ bao phủ nhánh</a:t>
            </a:r>
            <a:endParaRPr sz="2400"/>
          </a:p>
        </p:txBody>
      </p:sp>
      <p:sp>
        <p:nvSpPr>
          <p:cNvPr id="437" name="Google Shape;437;p66"/>
          <p:cNvSpPr txBox="1">
            <a:spLocks noGrp="1"/>
          </p:cNvSpPr>
          <p:nvPr>
            <p:ph type="body" idx="1"/>
          </p:nvPr>
        </p:nvSpPr>
        <p:spPr>
          <a:xfrm>
            <a:off x="311700" y="1240225"/>
            <a:ext cx="87792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vi" sz="2000">
                <a:solidFill>
                  <a:schemeClr val="dk1"/>
                </a:solidFill>
              </a:rPr>
              <a:t>Ví dụ:</a:t>
            </a:r>
            <a:r>
              <a:rPr lang="vi" sz="2000">
                <a:solidFill>
                  <a:srgbClr val="000000"/>
                </a:solidFill>
              </a:rPr>
              <a:t> </a:t>
            </a:r>
            <a:r>
              <a:rPr lang="vi" sz="2000"/>
              <a:t>Xác định testcase tối thiểu để đạt được độ bao phủ 100% nhánh </a:t>
            </a:r>
            <a:endParaRPr sz="2000">
              <a:solidFill>
                <a:srgbClr val="000000"/>
              </a:solidFill>
            </a:endParaRPr>
          </a:p>
        </p:txBody>
      </p:sp>
      <p:graphicFrame>
        <p:nvGraphicFramePr>
          <p:cNvPr id="438" name="Google Shape;438;p66"/>
          <p:cNvGraphicFramePr/>
          <p:nvPr/>
        </p:nvGraphicFramePr>
        <p:xfrm>
          <a:off x="499675" y="2252400"/>
          <a:ext cx="2950475" cy="2514450"/>
        </p:xfrm>
        <a:graphic>
          <a:graphicData uri="http://schemas.openxmlformats.org/drawingml/2006/table">
            <a:tbl>
              <a:tblPr>
                <a:noFill/>
                <a:tableStyleId>{7AEF6C22-7F40-453C-A713-85F41652D8F1}</a:tableStyleId>
              </a:tblPr>
              <a:tblGrid>
                <a:gridCol w="383750">
                  <a:extLst>
                    <a:ext uri="{9D8B030D-6E8A-4147-A177-3AD203B41FA5}">
                      <a16:colId xmlns:a16="http://schemas.microsoft.com/office/drawing/2014/main" val="20000"/>
                    </a:ext>
                  </a:extLst>
                </a:gridCol>
                <a:gridCol w="2566725">
                  <a:extLst>
                    <a:ext uri="{9D8B030D-6E8A-4147-A177-3AD203B41FA5}">
                      <a16:colId xmlns:a16="http://schemas.microsoft.com/office/drawing/2014/main" val="20001"/>
                    </a:ext>
                  </a:extLst>
                </a:gridCol>
              </a:tblGrid>
              <a:tr h="406625">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1</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rgbClr val="004ED0"/>
                          </a:solidFill>
                          <a:latin typeface="Source Code Pro"/>
                          <a:ea typeface="Source Code Pro"/>
                          <a:cs typeface="Source Code Pro"/>
                          <a:sym typeface="Source Code Pro"/>
                        </a:rPr>
                        <a:t>READ</a:t>
                      </a:r>
                      <a:r>
                        <a:rPr lang="vi">
                          <a:solidFill>
                            <a:schemeClr val="dk2"/>
                          </a:solidFill>
                          <a:latin typeface="Source Code Pro"/>
                          <a:ea typeface="Source Code Pro"/>
                          <a:cs typeface="Source Code Pro"/>
                          <a:sym typeface="Source Code Pro"/>
                        </a:rPr>
                        <a:t> p;</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2</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rgbClr val="004ED0"/>
                          </a:solidFill>
                          <a:latin typeface="Source Code Pro"/>
                          <a:ea typeface="Source Code Pro"/>
                          <a:cs typeface="Source Code Pro"/>
                          <a:sym typeface="Source Code Pro"/>
                        </a:rPr>
                        <a:t>READ</a:t>
                      </a:r>
                      <a:r>
                        <a:rPr lang="vi">
                          <a:solidFill>
                            <a:schemeClr val="dk2"/>
                          </a:solidFill>
                          <a:latin typeface="Source Code Pro"/>
                          <a:ea typeface="Source Code Pro"/>
                          <a:cs typeface="Source Code Pro"/>
                          <a:sym typeface="Source Code Pro"/>
                        </a:rPr>
                        <a:t> q; </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3</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rgbClr val="004ED0"/>
                          </a:solidFill>
                          <a:latin typeface="Source Code Pro"/>
                          <a:ea typeface="Source Code Pro"/>
                          <a:cs typeface="Source Code Pro"/>
                          <a:sym typeface="Source Code Pro"/>
                        </a:rPr>
                        <a:t>IF</a:t>
                      </a:r>
                      <a:r>
                        <a:rPr lang="vi">
                          <a:solidFill>
                            <a:schemeClr val="dk2"/>
                          </a:solidFill>
                          <a:latin typeface="Source Code Pro"/>
                          <a:ea typeface="Source Code Pro"/>
                          <a:cs typeface="Source Code Pro"/>
                          <a:sym typeface="Source Code Pro"/>
                        </a:rPr>
                        <a:t> p+q &gt; 100 </a:t>
                      </a:r>
                      <a:r>
                        <a:rPr lang="vi">
                          <a:solidFill>
                            <a:srgbClr val="004ED0"/>
                          </a:solidFill>
                          <a:latin typeface="Source Code Pro"/>
                          <a:ea typeface="Source Code Pro"/>
                          <a:cs typeface="Source Code Pro"/>
                          <a:sym typeface="Source Code Pro"/>
                        </a:rPr>
                        <a:t>THEN</a:t>
                      </a:r>
                      <a:r>
                        <a:rPr lang="vi">
                          <a:solidFill>
                            <a:schemeClr val="dk2"/>
                          </a:solidFill>
                          <a:latin typeface="Source Code Pro"/>
                          <a:ea typeface="Source Code Pro"/>
                          <a:cs typeface="Source Code Pro"/>
                          <a:sym typeface="Source Code Pro"/>
                        </a:rPr>
                        <a:t> </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4</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chemeClr val="dk2"/>
                          </a:solidFill>
                          <a:latin typeface="Source Code Pro"/>
                          <a:ea typeface="Source Code Pro"/>
                          <a:cs typeface="Source Code Pro"/>
                          <a:sym typeface="Source Code Pro"/>
                        </a:rPr>
                        <a:t>    </a:t>
                      </a:r>
                      <a:r>
                        <a:rPr lang="vi">
                          <a:solidFill>
                            <a:srgbClr val="004ED0"/>
                          </a:solidFill>
                          <a:latin typeface="Source Code Pro"/>
                          <a:ea typeface="Source Code Pro"/>
                          <a:cs typeface="Source Code Pro"/>
                          <a:sym typeface="Source Code Pro"/>
                        </a:rPr>
                        <a:t>PRINT</a:t>
                      </a:r>
                      <a:r>
                        <a:rPr lang="vi">
                          <a:solidFill>
                            <a:schemeClr val="dk2"/>
                          </a:solidFill>
                          <a:latin typeface="Source Code Pro"/>
                          <a:ea typeface="Source Code Pro"/>
                          <a:cs typeface="Source Code Pro"/>
                          <a:sym typeface="Source Code Pro"/>
                        </a:rPr>
                        <a:t> “Large”	;</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5</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vi">
                          <a:solidFill>
                            <a:srgbClr val="004ED0"/>
                          </a:solidFill>
                          <a:latin typeface="Source Code Pro"/>
                          <a:ea typeface="Source Code Pro"/>
                          <a:cs typeface="Source Code Pro"/>
                          <a:sym typeface="Source Code Pro"/>
                        </a:rPr>
                        <a:t>ENDIF</a:t>
                      </a:r>
                      <a:r>
                        <a:rPr lang="vi">
                          <a:solidFill>
                            <a:schemeClr val="dk2"/>
                          </a:solidFill>
                          <a:latin typeface="Source Code Pro"/>
                          <a:ea typeface="Source Code Pro"/>
                          <a:cs typeface="Source Code Pro"/>
                          <a:sym typeface="Source Code Pro"/>
                        </a:rPr>
                        <a:t> </a:t>
                      </a:r>
                      <a:endParaRPr>
                        <a:solidFill>
                          <a:schemeClr val="dk2"/>
                        </a:solidFill>
                        <a:latin typeface="Source Code Pro"/>
                        <a:ea typeface="Source Code Pro"/>
                        <a:cs typeface="Source Code Pro"/>
                        <a:sym typeface="Source Code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439" name="Google Shape;439;p66"/>
          <p:cNvGrpSpPr/>
          <p:nvPr/>
        </p:nvGrpSpPr>
        <p:grpSpPr>
          <a:xfrm>
            <a:off x="3709850" y="1821231"/>
            <a:ext cx="1528140" cy="3134730"/>
            <a:chOff x="3775531" y="948375"/>
            <a:chExt cx="1693042" cy="4160225"/>
          </a:xfrm>
        </p:grpSpPr>
        <p:grpSp>
          <p:nvGrpSpPr>
            <p:cNvPr id="440" name="Google Shape;440;p66"/>
            <p:cNvGrpSpPr/>
            <p:nvPr/>
          </p:nvGrpSpPr>
          <p:grpSpPr>
            <a:xfrm>
              <a:off x="3775531" y="1443949"/>
              <a:ext cx="1693042" cy="3664651"/>
              <a:chOff x="3775531" y="1443949"/>
              <a:chExt cx="1693042" cy="3664651"/>
            </a:xfrm>
          </p:grpSpPr>
          <p:grpSp>
            <p:nvGrpSpPr>
              <p:cNvPr id="441" name="Google Shape;441;p66"/>
              <p:cNvGrpSpPr/>
              <p:nvPr/>
            </p:nvGrpSpPr>
            <p:grpSpPr>
              <a:xfrm>
                <a:off x="3775531" y="1443949"/>
                <a:ext cx="1693042" cy="3564109"/>
                <a:chOff x="4409" y="409"/>
                <a:chExt cx="1678" cy="2700"/>
              </a:xfrm>
            </p:grpSpPr>
            <p:cxnSp>
              <p:nvCxnSpPr>
                <p:cNvPr id="442" name="Google Shape;442;p66"/>
                <p:cNvCxnSpPr/>
                <p:nvPr/>
              </p:nvCxnSpPr>
              <p:spPr>
                <a:xfrm>
                  <a:off x="5186" y="1782"/>
                  <a:ext cx="900" cy="0"/>
                </a:xfrm>
                <a:prstGeom prst="straightConnector1">
                  <a:avLst/>
                </a:prstGeom>
                <a:noFill/>
                <a:ln w="50800" cap="flat" cmpd="sng">
                  <a:solidFill>
                    <a:srgbClr val="000000"/>
                  </a:solidFill>
                  <a:prstDash val="solid"/>
                  <a:round/>
                  <a:headEnd type="none" w="sm" len="sm"/>
                  <a:tailEnd type="none" w="sm" len="sm"/>
                </a:ln>
              </p:spPr>
            </p:cxnSp>
            <p:cxnSp>
              <p:nvCxnSpPr>
                <p:cNvPr id="443" name="Google Shape;443;p66"/>
                <p:cNvCxnSpPr/>
                <p:nvPr/>
              </p:nvCxnSpPr>
              <p:spPr>
                <a:xfrm>
                  <a:off x="5130" y="409"/>
                  <a:ext cx="0" cy="2700"/>
                </a:xfrm>
                <a:prstGeom prst="straightConnector1">
                  <a:avLst/>
                </a:prstGeom>
                <a:noFill/>
                <a:ln w="50800" cap="flat" cmpd="sng">
                  <a:solidFill>
                    <a:srgbClr val="000000"/>
                  </a:solidFill>
                  <a:prstDash val="solid"/>
                  <a:round/>
                  <a:headEnd type="none" w="sm" len="sm"/>
                  <a:tailEnd type="none" w="sm" len="sm"/>
                </a:ln>
              </p:spPr>
            </p:cxnSp>
            <p:sp>
              <p:nvSpPr>
                <p:cNvPr id="444" name="Google Shape;444;p66"/>
                <p:cNvSpPr/>
                <p:nvPr/>
              </p:nvSpPr>
              <p:spPr>
                <a:xfrm>
                  <a:off x="4409" y="1490"/>
                  <a:ext cx="1500" cy="600"/>
                </a:xfrm>
                <a:prstGeom prst="diamond">
                  <a:avLst/>
                </a:prstGeom>
                <a:solidFill>
                  <a:schemeClr val="lt1"/>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vi" sz="1100"/>
                    <a:t>p + q &gt; 100  ?</a:t>
                  </a:r>
                  <a:endParaRPr sz="1100" b="0" i="0" u="none" strike="noStrike" cap="none">
                    <a:solidFill>
                      <a:srgbClr val="000000"/>
                    </a:solidFill>
                    <a:latin typeface="Arial"/>
                    <a:ea typeface="Arial"/>
                    <a:cs typeface="Arial"/>
                    <a:sym typeface="Arial"/>
                  </a:endParaRPr>
                </a:p>
              </p:txBody>
            </p:sp>
            <p:sp>
              <p:nvSpPr>
                <p:cNvPr id="445" name="Google Shape;445;p66"/>
                <p:cNvSpPr/>
                <p:nvPr/>
              </p:nvSpPr>
              <p:spPr>
                <a:xfrm>
                  <a:off x="4697" y="1044"/>
                  <a:ext cx="900" cy="300"/>
                </a:xfrm>
                <a:prstGeom prst="rect">
                  <a:avLst/>
                </a:prstGeom>
                <a:solidFill>
                  <a:schemeClr val="lt1"/>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vi" sz="1100"/>
                    <a:t>READ   q</a:t>
                  </a:r>
                  <a:endParaRPr sz="1100" b="0" i="0" u="none" strike="noStrike" cap="none">
                    <a:solidFill>
                      <a:srgbClr val="000000"/>
                    </a:solidFill>
                    <a:latin typeface="Arial"/>
                    <a:ea typeface="Arial"/>
                    <a:cs typeface="Arial"/>
                    <a:sym typeface="Arial"/>
                  </a:endParaRPr>
                </a:p>
              </p:txBody>
            </p:sp>
            <p:sp>
              <p:nvSpPr>
                <p:cNvPr id="446" name="Google Shape;446;p66"/>
                <p:cNvSpPr/>
                <p:nvPr/>
              </p:nvSpPr>
              <p:spPr>
                <a:xfrm>
                  <a:off x="4622" y="2249"/>
                  <a:ext cx="1200" cy="300"/>
                </a:xfrm>
                <a:prstGeom prst="rect">
                  <a:avLst/>
                </a:prstGeom>
                <a:solidFill>
                  <a:schemeClr val="lt1"/>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lnSpc>
                      <a:spcPct val="150000"/>
                    </a:lnSpc>
                    <a:spcBef>
                      <a:spcPts val="0"/>
                    </a:spcBef>
                    <a:spcAft>
                      <a:spcPts val="0"/>
                    </a:spcAft>
                    <a:buNone/>
                  </a:pPr>
                  <a:r>
                    <a:rPr lang="vi" sz="1100">
                      <a:solidFill>
                        <a:schemeClr val="dk2"/>
                      </a:solidFill>
                    </a:rPr>
                    <a:t>PRINT “Large</a:t>
                  </a:r>
                  <a:endParaRPr sz="1100" i="0" u="none" strike="noStrike" cap="none">
                    <a:solidFill>
                      <a:srgbClr val="000000"/>
                    </a:solidFill>
                  </a:endParaRPr>
                </a:p>
              </p:txBody>
            </p:sp>
            <p:cxnSp>
              <p:nvCxnSpPr>
                <p:cNvPr id="447" name="Google Shape;447;p66"/>
                <p:cNvCxnSpPr/>
                <p:nvPr/>
              </p:nvCxnSpPr>
              <p:spPr>
                <a:xfrm>
                  <a:off x="6076" y="1782"/>
                  <a:ext cx="0" cy="900"/>
                </a:xfrm>
                <a:prstGeom prst="straightConnector1">
                  <a:avLst/>
                </a:prstGeom>
                <a:noFill/>
                <a:ln w="50800" cap="flat" cmpd="sng">
                  <a:solidFill>
                    <a:srgbClr val="000000"/>
                  </a:solidFill>
                  <a:prstDash val="solid"/>
                  <a:round/>
                  <a:headEnd type="none" w="sm" len="sm"/>
                  <a:tailEnd type="none" w="sm" len="sm"/>
                </a:ln>
              </p:spPr>
            </p:cxnSp>
            <p:cxnSp>
              <p:nvCxnSpPr>
                <p:cNvPr id="448" name="Google Shape;448;p66"/>
                <p:cNvCxnSpPr/>
                <p:nvPr/>
              </p:nvCxnSpPr>
              <p:spPr>
                <a:xfrm>
                  <a:off x="5187" y="2699"/>
                  <a:ext cx="900" cy="0"/>
                </a:xfrm>
                <a:prstGeom prst="straightConnector1">
                  <a:avLst/>
                </a:prstGeom>
                <a:noFill/>
                <a:ln w="50800" cap="flat" cmpd="sng">
                  <a:solidFill>
                    <a:srgbClr val="000000"/>
                  </a:solidFill>
                  <a:prstDash val="solid"/>
                  <a:round/>
                  <a:headEnd type="stealth" w="med" len="med"/>
                  <a:tailEnd type="none" w="sm" len="sm"/>
                </a:ln>
              </p:spPr>
            </p:cxnSp>
          </p:grpSp>
          <p:sp>
            <p:nvSpPr>
              <p:cNvPr id="449" name="Google Shape;449;p66"/>
              <p:cNvSpPr/>
              <p:nvPr/>
            </p:nvSpPr>
            <p:spPr>
              <a:xfrm>
                <a:off x="4059225" y="4639400"/>
                <a:ext cx="948300" cy="4692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sz="900">
                    <a:latin typeface="Source Code Pro"/>
                    <a:ea typeface="Source Code Pro"/>
                    <a:cs typeface="Source Code Pro"/>
                    <a:sym typeface="Source Code Pro"/>
                  </a:rPr>
                  <a:t>END</a:t>
                </a:r>
                <a:endParaRPr sz="900">
                  <a:latin typeface="Source Code Pro"/>
                  <a:ea typeface="Source Code Pro"/>
                  <a:cs typeface="Source Code Pro"/>
                  <a:sym typeface="Source Code Pro"/>
                </a:endParaRPr>
              </a:p>
            </p:txBody>
          </p:sp>
        </p:grpSp>
        <p:grpSp>
          <p:nvGrpSpPr>
            <p:cNvPr id="450" name="Google Shape;450;p66"/>
            <p:cNvGrpSpPr/>
            <p:nvPr/>
          </p:nvGrpSpPr>
          <p:grpSpPr>
            <a:xfrm>
              <a:off x="4007150" y="948375"/>
              <a:ext cx="948400" cy="1113525"/>
              <a:chOff x="4007150" y="948375"/>
              <a:chExt cx="948400" cy="1113525"/>
            </a:xfrm>
          </p:grpSpPr>
          <p:sp>
            <p:nvSpPr>
              <p:cNvPr id="451" name="Google Shape;451;p66"/>
              <p:cNvSpPr/>
              <p:nvPr/>
            </p:nvSpPr>
            <p:spPr>
              <a:xfrm>
                <a:off x="4066950" y="1665900"/>
                <a:ext cx="888600" cy="396000"/>
              </a:xfrm>
              <a:prstGeom prst="rect">
                <a:avLst/>
              </a:prstGeom>
              <a:solidFill>
                <a:schemeClr val="lt1"/>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vi" sz="1100"/>
                  <a:t>READ p</a:t>
                </a:r>
                <a:endParaRPr sz="1100" b="0" i="0" u="none" strike="noStrike" cap="none">
                  <a:solidFill>
                    <a:srgbClr val="000000"/>
                  </a:solidFill>
                  <a:latin typeface="Arial"/>
                  <a:ea typeface="Arial"/>
                  <a:cs typeface="Arial"/>
                  <a:sym typeface="Arial"/>
                </a:endParaRPr>
              </a:p>
            </p:txBody>
          </p:sp>
          <p:sp>
            <p:nvSpPr>
              <p:cNvPr id="452" name="Google Shape;452;p66"/>
              <p:cNvSpPr/>
              <p:nvPr/>
            </p:nvSpPr>
            <p:spPr>
              <a:xfrm>
                <a:off x="4007150" y="948375"/>
                <a:ext cx="948300" cy="5376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sz="900"/>
                  <a:t>START</a:t>
                </a:r>
                <a:endParaRPr sz="900"/>
              </a:p>
            </p:txBody>
          </p:sp>
        </p:grpSp>
      </p:grpSp>
      <p:graphicFrame>
        <p:nvGraphicFramePr>
          <p:cNvPr id="453" name="Google Shape;453;p66"/>
          <p:cNvGraphicFramePr/>
          <p:nvPr/>
        </p:nvGraphicFramePr>
        <p:xfrm>
          <a:off x="5427425" y="1953350"/>
          <a:ext cx="3575725" cy="1828710"/>
        </p:xfrm>
        <a:graphic>
          <a:graphicData uri="http://schemas.openxmlformats.org/drawingml/2006/table">
            <a:tbl>
              <a:tblPr>
                <a:noFill/>
                <a:tableStyleId>{7AEF6C22-7F40-453C-A713-85F41652D8F1}</a:tableStyleId>
              </a:tblPr>
              <a:tblGrid>
                <a:gridCol w="965825">
                  <a:extLst>
                    <a:ext uri="{9D8B030D-6E8A-4147-A177-3AD203B41FA5}">
                      <a16:colId xmlns:a16="http://schemas.microsoft.com/office/drawing/2014/main" val="20000"/>
                    </a:ext>
                  </a:extLst>
                </a:gridCol>
                <a:gridCol w="857875">
                  <a:extLst>
                    <a:ext uri="{9D8B030D-6E8A-4147-A177-3AD203B41FA5}">
                      <a16:colId xmlns:a16="http://schemas.microsoft.com/office/drawing/2014/main" val="20001"/>
                    </a:ext>
                  </a:extLst>
                </a:gridCol>
                <a:gridCol w="1752025">
                  <a:extLst>
                    <a:ext uri="{9D8B030D-6E8A-4147-A177-3AD203B41FA5}">
                      <a16:colId xmlns:a16="http://schemas.microsoft.com/office/drawing/2014/main" val="20002"/>
                    </a:ext>
                  </a:extLst>
                </a:gridCol>
              </a:tblGrid>
              <a:tr h="406625">
                <a:tc>
                  <a:txBody>
                    <a:bodyPr/>
                    <a:lstStyle/>
                    <a:p>
                      <a:pPr marL="0" lvl="0" indent="0" algn="l" rtl="0">
                        <a:spcBef>
                          <a:spcPts val="0"/>
                        </a:spcBef>
                        <a:spcAft>
                          <a:spcPts val="0"/>
                        </a:spcAft>
                        <a:buNone/>
                      </a:pPr>
                      <a:r>
                        <a:rPr lang="vi" b="1"/>
                        <a:t>Số Testcase</a:t>
                      </a:r>
                      <a:endParaRPr b="1"/>
                    </a:p>
                  </a:txBody>
                  <a:tcPr marL="91425" marR="91425" marT="91425" marB="91425"/>
                </a:tc>
                <a:tc>
                  <a:txBody>
                    <a:bodyPr/>
                    <a:lstStyle/>
                    <a:p>
                      <a:pPr marL="0" lvl="0" indent="0" algn="l" rtl="0">
                        <a:spcBef>
                          <a:spcPts val="0"/>
                        </a:spcBef>
                        <a:spcAft>
                          <a:spcPts val="0"/>
                        </a:spcAft>
                        <a:buNone/>
                      </a:pPr>
                      <a:r>
                        <a:rPr lang="vi" b="1"/>
                        <a:t> Input</a:t>
                      </a:r>
                      <a:endParaRPr b="1"/>
                    </a:p>
                  </a:txBody>
                  <a:tcPr marL="91425" marR="91425" marT="91425" marB="91425"/>
                </a:tc>
                <a:tc>
                  <a:txBody>
                    <a:bodyPr/>
                    <a:lstStyle/>
                    <a:p>
                      <a:pPr marL="0" lvl="0" indent="0" algn="l" rtl="0">
                        <a:spcBef>
                          <a:spcPts val="0"/>
                        </a:spcBef>
                        <a:spcAft>
                          <a:spcPts val="0"/>
                        </a:spcAft>
                        <a:buNone/>
                      </a:pPr>
                      <a:r>
                        <a:rPr lang="vi" b="1"/>
                        <a:t>Expected Output</a:t>
                      </a:r>
                      <a:endParaRPr b="1"/>
                    </a:p>
                  </a:txBody>
                  <a:tcPr marL="91425" marR="91425" marT="91425" marB="91425"/>
                </a:tc>
                <a:extLst>
                  <a:ext uri="{0D108BD9-81ED-4DB2-BD59-A6C34878D82A}">
                    <a16:rowId xmlns:a16="http://schemas.microsoft.com/office/drawing/2014/main" val="10000"/>
                  </a:ext>
                </a:extLst>
              </a:tr>
              <a:tr h="578775">
                <a:tc rowSpan="2">
                  <a:txBody>
                    <a:bodyPr/>
                    <a:lstStyle/>
                    <a:p>
                      <a:pPr marL="0" lvl="0" indent="0" algn="l" rtl="0">
                        <a:spcBef>
                          <a:spcPts val="0"/>
                        </a:spcBef>
                        <a:spcAft>
                          <a:spcPts val="0"/>
                        </a:spcAft>
                        <a:buNone/>
                      </a:pPr>
                      <a:r>
                        <a:rPr lang="vi"/>
                        <a:t>   2</a:t>
                      </a:r>
                      <a:endParaRPr/>
                    </a:p>
                  </a:txBody>
                  <a:tcPr marL="91425" marR="91425" marT="91425" marB="91425"/>
                </a:tc>
                <a:tc>
                  <a:txBody>
                    <a:bodyPr/>
                    <a:lstStyle/>
                    <a:p>
                      <a:pPr marL="0" lvl="0" indent="0" algn="l" rtl="0">
                        <a:spcBef>
                          <a:spcPts val="0"/>
                        </a:spcBef>
                        <a:spcAft>
                          <a:spcPts val="0"/>
                        </a:spcAft>
                        <a:buNone/>
                      </a:pPr>
                      <a:r>
                        <a:rPr lang="vi"/>
                        <a:t>p = 60</a:t>
                      </a:r>
                      <a:endParaRPr/>
                    </a:p>
                    <a:p>
                      <a:pPr marL="0" lvl="0" indent="0" algn="l" rtl="0">
                        <a:spcBef>
                          <a:spcPts val="0"/>
                        </a:spcBef>
                        <a:spcAft>
                          <a:spcPts val="0"/>
                        </a:spcAft>
                        <a:buNone/>
                      </a:pPr>
                      <a:r>
                        <a:rPr lang="vi"/>
                        <a:t>q = 50</a:t>
                      </a:r>
                      <a:endParaRPr/>
                    </a:p>
                  </a:txBody>
                  <a:tcPr marL="91425" marR="91425" marT="91425" marB="91425"/>
                </a:tc>
                <a:tc>
                  <a:txBody>
                    <a:bodyPr/>
                    <a:lstStyle/>
                    <a:p>
                      <a:pPr marL="0" lvl="0" indent="0" algn="l" rtl="0">
                        <a:lnSpc>
                          <a:spcPct val="150000"/>
                        </a:lnSpc>
                        <a:spcBef>
                          <a:spcPts val="0"/>
                        </a:spcBef>
                        <a:spcAft>
                          <a:spcPts val="0"/>
                        </a:spcAft>
                        <a:buNone/>
                      </a:pPr>
                      <a:r>
                        <a:rPr lang="vi">
                          <a:solidFill>
                            <a:schemeClr val="dk2"/>
                          </a:solidFill>
                          <a:latin typeface="Source Code Pro"/>
                          <a:ea typeface="Source Code Pro"/>
                          <a:cs typeface="Source Code Pro"/>
                          <a:sym typeface="Source Code Pro"/>
                        </a:rPr>
                        <a:t>Print “Large”</a:t>
                      </a:r>
                      <a:endParaRPr/>
                    </a:p>
                  </a:txBody>
                  <a:tcPr marL="91425" marR="91425" marT="91425" marB="91425"/>
                </a:tc>
                <a:extLst>
                  <a:ext uri="{0D108BD9-81ED-4DB2-BD59-A6C34878D82A}">
                    <a16:rowId xmlns:a16="http://schemas.microsoft.com/office/drawing/2014/main" val="10001"/>
                  </a:ext>
                </a:extLst>
              </a:tr>
              <a:tr h="578775">
                <a:tc vMerge="1">
                  <a:txBody>
                    <a:bodyPr/>
                    <a:lstStyle/>
                    <a:p>
                      <a:endParaRPr lang="en-US"/>
                    </a:p>
                  </a:txBody>
                  <a:tcPr/>
                </a:tc>
                <a:tc>
                  <a:txBody>
                    <a:bodyPr/>
                    <a:lstStyle/>
                    <a:p>
                      <a:pPr marL="0" lvl="0" indent="0" algn="l" rtl="0">
                        <a:spcBef>
                          <a:spcPts val="0"/>
                        </a:spcBef>
                        <a:spcAft>
                          <a:spcPts val="0"/>
                        </a:spcAft>
                        <a:buNone/>
                      </a:pPr>
                      <a:r>
                        <a:rPr lang="vi"/>
                        <a:t>p = 60</a:t>
                      </a:r>
                      <a:endParaRPr/>
                    </a:p>
                    <a:p>
                      <a:pPr marL="0" lvl="0" indent="0" algn="l" rtl="0">
                        <a:spcBef>
                          <a:spcPts val="0"/>
                        </a:spcBef>
                        <a:spcAft>
                          <a:spcPts val="0"/>
                        </a:spcAft>
                        <a:buNone/>
                      </a:pPr>
                      <a:r>
                        <a:rPr lang="vi"/>
                        <a:t>q = 5</a:t>
                      </a:r>
                      <a:endParaRPr/>
                    </a:p>
                  </a:txBody>
                  <a:tcPr marL="91425" marR="91425" marT="91425" marB="91425"/>
                </a:tc>
                <a:tc>
                  <a:txBody>
                    <a:bodyPr/>
                    <a:lstStyle/>
                    <a:p>
                      <a:pPr marL="0" lvl="0" indent="0" algn="l" rtl="0">
                        <a:lnSpc>
                          <a:spcPct val="150000"/>
                        </a:lnSpc>
                        <a:spcBef>
                          <a:spcPts val="0"/>
                        </a:spcBef>
                        <a:spcAft>
                          <a:spcPts val="0"/>
                        </a:spcAft>
                        <a:buNone/>
                      </a:pPr>
                      <a:r>
                        <a:rPr lang="vi">
                          <a:solidFill>
                            <a:schemeClr val="dk2"/>
                          </a:solidFill>
                          <a:latin typeface="Source Code Pro"/>
                          <a:ea typeface="Source Code Pro"/>
                          <a:cs typeface="Source Code Pro"/>
                          <a:sym typeface="Source Code Pro"/>
                        </a:rPr>
                        <a:t>Do nothing</a:t>
                      </a:r>
                      <a:endParaRPr>
                        <a:solidFill>
                          <a:schemeClr val="dk2"/>
                        </a:solidFill>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2"/>
                  </a:ext>
                </a:extLst>
              </a:tr>
            </a:tbl>
          </a:graphicData>
        </a:graphic>
      </p:graphicFrame>
      <p:sp>
        <p:nvSpPr>
          <p:cNvPr id="454" name="Google Shape;454;p66"/>
          <p:cNvSpPr/>
          <p:nvPr/>
        </p:nvSpPr>
        <p:spPr>
          <a:xfrm>
            <a:off x="5421500" y="4000025"/>
            <a:ext cx="3575700" cy="1033800"/>
          </a:xfrm>
          <a:prstGeom prst="snip1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vi">
                <a:latin typeface="Source Code Pro"/>
                <a:ea typeface="Source Code Pro"/>
                <a:cs typeface="Source Code Pro"/>
                <a:sym typeface="Source Code Pro"/>
              </a:rPr>
              <a:t>Số nhánh là 2</a:t>
            </a:r>
            <a:endParaRPr>
              <a:latin typeface="Source Code Pro"/>
              <a:ea typeface="Source Code Pro"/>
              <a:cs typeface="Source Code Pro"/>
              <a:sym typeface="Source Code Pro"/>
            </a:endParaRPr>
          </a:p>
          <a:p>
            <a:pPr marL="0" lvl="0" indent="0" algn="l" rtl="0">
              <a:spcBef>
                <a:spcPts val="0"/>
              </a:spcBef>
              <a:spcAft>
                <a:spcPts val="0"/>
              </a:spcAft>
              <a:buNone/>
            </a:pPr>
            <a:r>
              <a:rPr lang="vi">
                <a:latin typeface="Source Code Pro"/>
                <a:ea typeface="Source Code Pro"/>
                <a:cs typeface="Source Code Pro"/>
                <a:sym typeface="Source Code Pro"/>
              </a:rPr>
              <a:t>Với 2 bộ test case trên có thể đạt được 100%  độ bao phủ nhánh</a:t>
            </a:r>
            <a:endParaRPr>
              <a:latin typeface="Source Code Pro"/>
              <a:ea typeface="Source Code Pro"/>
              <a:cs typeface="Source Code Pro"/>
              <a:sym typeface="Source Code Pro"/>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4.3.2 Kiểm thử nhánh và độ bao phủ nhánh</a:t>
            </a:r>
            <a:endParaRPr sz="2400"/>
          </a:p>
        </p:txBody>
      </p:sp>
      <p:sp>
        <p:nvSpPr>
          <p:cNvPr id="460" name="Google Shape;460;p67"/>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marR="38100" lvl="0" indent="0" algn="l" rtl="0">
              <a:lnSpc>
                <a:spcPct val="128571"/>
              </a:lnSpc>
              <a:spcBef>
                <a:spcPts val="1000"/>
              </a:spcBef>
              <a:spcAft>
                <a:spcPts val="0"/>
              </a:spcAft>
              <a:buNone/>
            </a:pPr>
            <a:r>
              <a:rPr lang="vi">
                <a:solidFill>
                  <a:srgbClr val="000000"/>
                </a:solidFill>
              </a:rPr>
              <a:t>Khi đạt được phạm vi bao phủ 100% nhánh, tất cả các nhánh trong mã, vô điều kiện và có điều kiện, đều được thực hiện bằng các Test Case.</a:t>
            </a:r>
            <a:endParaRPr>
              <a:solidFill>
                <a:srgbClr val="000000"/>
              </a:solidFill>
            </a:endParaRPr>
          </a:p>
          <a:p>
            <a:pPr marL="0" marR="38100" lvl="0" indent="0" algn="l" rtl="0">
              <a:lnSpc>
                <a:spcPct val="128571"/>
              </a:lnSpc>
              <a:spcBef>
                <a:spcPts val="1000"/>
              </a:spcBef>
              <a:spcAft>
                <a:spcPts val="0"/>
              </a:spcAft>
              <a:buNone/>
            </a:pPr>
            <a:r>
              <a:rPr lang="vi">
                <a:solidFill>
                  <a:srgbClr val="000000"/>
                </a:solidFill>
              </a:rPr>
              <a:t>=&gt; Bao phủ nhánh cover bao phủ dòng lệnh. Điều này có nghĩa là bất kỳ bộ test nào đạt được 100% bao phủ nhánh cũng đạt được 100% bao phủ dòng lệnh (nhưng không ngược lại).</a:t>
            </a:r>
            <a:endParaRPr>
              <a:solidFill>
                <a:srgbClr val="000000"/>
              </a:solidFill>
            </a:endParaRPr>
          </a:p>
          <a:p>
            <a:pPr marL="0" marR="38100" lvl="0" indent="0" algn="l" rtl="0">
              <a:lnSpc>
                <a:spcPct val="128571"/>
              </a:lnSpc>
              <a:spcBef>
                <a:spcPts val="0"/>
              </a:spcBef>
              <a:spcAft>
                <a:spcPts val="0"/>
              </a:spcAft>
              <a:buNone/>
            </a:pPr>
            <a:endParaRPr sz="2000">
              <a:solidFill>
                <a:srgbClr val="000000"/>
              </a:solidFill>
            </a:endParaRPr>
          </a:p>
          <a:p>
            <a:pPr marL="0" lvl="0" indent="0" algn="l" rtl="0">
              <a:spcBef>
                <a:spcPts val="0"/>
              </a:spcBef>
              <a:spcAft>
                <a:spcPts val="1200"/>
              </a:spcAft>
              <a:buNone/>
            </a:pPr>
            <a:endParaRPr sz="2000">
              <a:solidFill>
                <a:srgbClr val="00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a:p>
        </p:txBody>
      </p:sp>
      <p:sp>
        <p:nvSpPr>
          <p:cNvPr id="466" name="Google Shape;466;p68"/>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rgbClr val="000000"/>
                </a:solidFill>
                <a:highlight>
                  <a:schemeClr val="lt1"/>
                </a:highlight>
              </a:rPr>
              <a:t>4.1 Tổng quan về kỹ thuật thiết kế test</a:t>
            </a:r>
            <a:endParaRPr>
              <a:highlight>
                <a:schemeClr val="lt1"/>
              </a:highlight>
            </a:endParaRPr>
          </a:p>
          <a:p>
            <a:pPr marL="0" lvl="0" indent="0" algn="l" rtl="0">
              <a:spcBef>
                <a:spcPts val="1200"/>
              </a:spcBef>
              <a:spcAft>
                <a:spcPts val="0"/>
              </a:spcAft>
              <a:buNone/>
            </a:pPr>
            <a:r>
              <a:rPr lang="vi">
                <a:solidFill>
                  <a:srgbClr val="000000"/>
                </a:solidFill>
                <a:highlight>
                  <a:schemeClr val="lt1"/>
                </a:highlight>
              </a:rPr>
              <a:t>4.2 Kỹ thuật kiểm thử hộp đen</a:t>
            </a:r>
            <a:endParaRPr>
              <a:highlight>
                <a:schemeClr val="lt1"/>
              </a:highlight>
            </a:endParaRPr>
          </a:p>
          <a:p>
            <a:pPr marL="0" lvl="0" indent="0" algn="l" rtl="0">
              <a:spcBef>
                <a:spcPts val="1200"/>
              </a:spcBef>
              <a:spcAft>
                <a:spcPts val="0"/>
              </a:spcAft>
              <a:buNone/>
            </a:pPr>
            <a:r>
              <a:rPr lang="vi">
                <a:solidFill>
                  <a:srgbClr val="000000"/>
                </a:solidFill>
                <a:highlight>
                  <a:schemeClr val="lt1"/>
                </a:highlight>
              </a:rPr>
              <a:t>4.3 Kỹ thuật kiểm thử hộp trắng</a:t>
            </a:r>
            <a:endParaRPr>
              <a:highlight>
                <a:schemeClr val="lt1"/>
              </a:highlight>
            </a:endParaRPr>
          </a:p>
          <a:p>
            <a:pPr marL="0" lvl="0" indent="0" algn="l" rtl="0">
              <a:spcBef>
                <a:spcPts val="1200"/>
              </a:spcBef>
              <a:spcAft>
                <a:spcPts val="1200"/>
              </a:spcAft>
              <a:buNone/>
            </a:pPr>
            <a:r>
              <a:rPr lang="vi">
                <a:solidFill>
                  <a:srgbClr val="000000"/>
                </a:solidFill>
                <a:highlight>
                  <a:srgbClr val="FF706B"/>
                </a:highlight>
              </a:rPr>
              <a:t>4.4 Kỹ thuật kiểm thử dựa trên kinh nghiệm</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6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 Kỹ thuật kiểm thử dựa trên kinh nghiệm </a:t>
            </a:r>
            <a:endParaRPr sz="2400"/>
          </a:p>
        </p:txBody>
      </p:sp>
      <p:sp>
        <p:nvSpPr>
          <p:cNvPr id="472" name="Google Shape;472;p69"/>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a:t>Các kỹ thuật liên quan đến kiểm thử dựa trên kinh nghiệm:</a:t>
            </a:r>
            <a:endParaRPr/>
          </a:p>
          <a:p>
            <a:pPr marL="457200" lvl="0" indent="-304800" algn="l" rtl="0">
              <a:spcBef>
                <a:spcPts val="1200"/>
              </a:spcBef>
              <a:spcAft>
                <a:spcPts val="0"/>
              </a:spcAft>
              <a:buSzPts val="1200"/>
              <a:buChar char="●"/>
            </a:pPr>
            <a:r>
              <a:rPr lang="vi"/>
              <a:t>Dự đoán lỗi (Error guessing) </a:t>
            </a:r>
            <a:endParaRPr/>
          </a:p>
          <a:p>
            <a:pPr marL="457200" lvl="0" indent="-304800" algn="l" rtl="0">
              <a:spcBef>
                <a:spcPts val="0"/>
              </a:spcBef>
              <a:spcAft>
                <a:spcPts val="0"/>
              </a:spcAft>
              <a:buSzPts val="1200"/>
              <a:buChar char="●"/>
            </a:pPr>
            <a:r>
              <a:rPr lang="vi"/>
              <a:t>Kiểm thử khám phá (Exploratory testing) </a:t>
            </a:r>
            <a:endParaRPr/>
          </a:p>
          <a:p>
            <a:pPr marL="457200" lvl="0" indent="-304800" algn="l" rtl="0">
              <a:spcBef>
                <a:spcPts val="0"/>
              </a:spcBef>
              <a:spcAft>
                <a:spcPts val="0"/>
              </a:spcAft>
              <a:buSzPts val="1200"/>
              <a:buChar char="●"/>
            </a:pPr>
            <a:r>
              <a:rPr lang="vi"/>
              <a:t>Kiểm thử dựa trên checklist (Checklist-based testing)</a:t>
            </a:r>
            <a:endParaRPr sz="2000">
              <a:solidFill>
                <a:srgbClr val="000000"/>
              </a:solidFill>
            </a:endParaRPr>
          </a:p>
          <a:p>
            <a:pPr marL="0" marR="38100" lvl="0" indent="0" algn="l" rtl="0">
              <a:lnSpc>
                <a:spcPct val="128571"/>
              </a:lnSpc>
              <a:spcBef>
                <a:spcPts val="1200"/>
              </a:spcBef>
              <a:spcAft>
                <a:spcPts val="0"/>
              </a:spcAft>
              <a:buNone/>
            </a:pPr>
            <a:endParaRPr sz="2000">
              <a:solidFill>
                <a:srgbClr val="000000"/>
              </a:solidFill>
            </a:endParaRPr>
          </a:p>
          <a:p>
            <a:pPr marL="0" lvl="0" indent="0" algn="l" rtl="0">
              <a:spcBef>
                <a:spcPts val="0"/>
              </a:spcBef>
              <a:spcAft>
                <a:spcPts val="1200"/>
              </a:spcAft>
              <a:buNone/>
            </a:pPr>
            <a:endParaRPr sz="2000">
              <a:solidFill>
                <a:srgbClr val="00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7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4.4.1 Dự đoán lỗi</a:t>
            </a:r>
            <a:endParaRPr sz="2400"/>
          </a:p>
        </p:txBody>
      </p:sp>
      <p:sp>
        <p:nvSpPr>
          <p:cNvPr id="478" name="Google Shape;478;p70"/>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rgbClr val="000000"/>
              </a:buClr>
              <a:buSzPts val="1300"/>
              <a:buChar char="●"/>
            </a:pPr>
            <a:r>
              <a:rPr lang="vi" sz="2000">
                <a:solidFill>
                  <a:srgbClr val="000000"/>
                </a:solidFill>
              </a:rPr>
              <a:t>"Error guessing" là một kỹ thuật được sử dụng để dự đoán sự xuất hiện của errors, defects và failure dựa trên kiến thức của người kiểm thử, bao gồm:</a:t>
            </a:r>
            <a:endParaRPr sz="2000">
              <a:solidFill>
                <a:srgbClr val="000000"/>
              </a:solidFill>
            </a:endParaRPr>
          </a:p>
          <a:p>
            <a:pPr marL="914400" lvl="0" indent="-330200" algn="l" rtl="0">
              <a:spcBef>
                <a:spcPts val="1000"/>
              </a:spcBef>
              <a:spcAft>
                <a:spcPts val="0"/>
              </a:spcAft>
              <a:buClr>
                <a:srgbClr val="000000"/>
              </a:buClr>
              <a:buSzPts val="1600"/>
              <a:buChar char="-"/>
            </a:pPr>
            <a:r>
              <a:rPr lang="vi" sz="1600">
                <a:solidFill>
                  <a:srgbClr val="000000"/>
                </a:solidFill>
              </a:rPr>
              <a:t>Cách ứng dụng đã hoạt động trong quá khứ</a:t>
            </a:r>
            <a:endParaRPr sz="1600">
              <a:solidFill>
                <a:srgbClr val="000000"/>
              </a:solidFill>
            </a:endParaRPr>
          </a:p>
          <a:p>
            <a:pPr marL="914400" lvl="0" indent="-330200" algn="l" rtl="0">
              <a:spcBef>
                <a:spcPts val="1200"/>
              </a:spcBef>
              <a:spcAft>
                <a:spcPts val="0"/>
              </a:spcAft>
              <a:buClr>
                <a:srgbClr val="000000"/>
              </a:buClr>
              <a:buSzPts val="1600"/>
              <a:buChar char="-"/>
            </a:pPr>
            <a:r>
              <a:rPr lang="vi" sz="1600">
                <a:solidFill>
                  <a:srgbClr val="000000"/>
                </a:solidFill>
              </a:rPr>
              <a:t>Các loại lỗi mà dev thường mắc phải và các loại lỗi phát sinh từ những lỗi này</a:t>
            </a:r>
            <a:endParaRPr sz="1600">
              <a:solidFill>
                <a:srgbClr val="000000"/>
              </a:solidFill>
            </a:endParaRPr>
          </a:p>
          <a:p>
            <a:pPr marL="914400" lvl="0" indent="-330200" algn="l" rtl="0">
              <a:spcBef>
                <a:spcPts val="1000"/>
              </a:spcBef>
              <a:spcAft>
                <a:spcPts val="1200"/>
              </a:spcAft>
              <a:buClr>
                <a:srgbClr val="000000"/>
              </a:buClr>
              <a:buSzPts val="1600"/>
              <a:buChar char="-"/>
            </a:pPr>
            <a:r>
              <a:rPr lang="vi" sz="1600">
                <a:solidFill>
                  <a:srgbClr val="000000"/>
                </a:solidFill>
              </a:rPr>
              <a:t>Các loại failures đã xảy ra trong các ứng dụng tương tự khác</a:t>
            </a:r>
            <a:endParaRPr sz="1600">
              <a:solidFill>
                <a:srgbClr val="00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7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4.4.1 Dự đoán lỗi</a:t>
            </a:r>
            <a:endParaRPr sz="2400"/>
          </a:p>
        </p:txBody>
      </p:sp>
      <p:sp>
        <p:nvSpPr>
          <p:cNvPr id="484" name="Google Shape;484;p71"/>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rgbClr val="000000"/>
              </a:buClr>
              <a:buSzPts val="1300"/>
              <a:buChar char="●"/>
            </a:pPr>
            <a:r>
              <a:rPr lang="vi">
                <a:solidFill>
                  <a:srgbClr val="000000"/>
                </a:solidFill>
              </a:rPr>
              <a:t>Kỹ thuật này đòi hỏi người kiểm thử tạo ra hoặc thu thập danh sách các errors, defects và failures có thể xảy ra, đồng thời thiết kế các test case có khả năng phát hiện ra các defects. </a:t>
            </a:r>
            <a:endParaRPr>
              <a:solidFill>
                <a:srgbClr val="000000"/>
              </a:solidFill>
            </a:endParaRPr>
          </a:p>
          <a:p>
            <a:pPr marL="457200" lvl="0" indent="-311150" algn="l" rtl="0">
              <a:spcBef>
                <a:spcPts val="1200"/>
              </a:spcBef>
              <a:spcAft>
                <a:spcPts val="0"/>
              </a:spcAft>
              <a:buClr>
                <a:srgbClr val="000000"/>
              </a:buClr>
              <a:buSzPts val="1300"/>
              <a:buChar char="●"/>
            </a:pPr>
            <a:r>
              <a:rPr lang="vi">
                <a:solidFill>
                  <a:srgbClr val="000000"/>
                </a:solidFill>
              </a:rPr>
              <a:t>Những danh sách lỗi này có thể được xây dựng dựa trên kinh nghiệm, dữ liệu lỗi và lỗi hoặc từ kiến ​​thức chung về lý do tại sao phần mềm bị lỗi.</a:t>
            </a:r>
            <a:endParaRPr>
              <a:solidFill>
                <a:srgbClr val="000000"/>
              </a:solidFill>
            </a:endParaRPr>
          </a:p>
          <a:p>
            <a:pPr marL="0" lvl="0" indent="0" algn="l" rtl="0">
              <a:spcBef>
                <a:spcPts val="1200"/>
              </a:spcBef>
              <a:spcAft>
                <a:spcPts val="1200"/>
              </a:spcAft>
              <a:buNone/>
            </a:pPr>
            <a:endParaRPr sz="2000">
              <a:solidFill>
                <a:srgbClr val="00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7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4.4.1 Dự đoán lỗi</a:t>
            </a:r>
            <a:endParaRPr sz="2400"/>
          </a:p>
        </p:txBody>
      </p:sp>
      <p:sp>
        <p:nvSpPr>
          <p:cNvPr id="490" name="Google Shape;490;p72"/>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rPr>
              <a:t>Một số lỗi</a:t>
            </a:r>
            <a:r>
              <a:rPr lang="vi" sz="2000">
                <a:solidFill>
                  <a:srgbClr val="000000"/>
                </a:solidFill>
              </a:rPr>
              <a:t> </a:t>
            </a:r>
            <a:endParaRPr sz="2000">
              <a:solidFill>
                <a:srgbClr val="000000"/>
              </a:solidFill>
            </a:endParaRPr>
          </a:p>
          <a:p>
            <a:pPr marL="457200" lvl="0" indent="-342900" algn="l" rtl="0">
              <a:spcBef>
                <a:spcPts val="1200"/>
              </a:spcBef>
              <a:spcAft>
                <a:spcPts val="0"/>
              </a:spcAft>
              <a:buClr>
                <a:srgbClr val="000000"/>
              </a:buClr>
              <a:buSzPts val="1800"/>
              <a:buChar char="-"/>
            </a:pPr>
            <a:r>
              <a:rPr lang="vi">
                <a:solidFill>
                  <a:srgbClr val="000000"/>
                </a:solidFill>
              </a:rPr>
              <a:t>input (đúng input không được chấp nhận, sai hoặc thiếu các parameters)</a:t>
            </a:r>
            <a:endParaRPr>
              <a:solidFill>
                <a:srgbClr val="000000"/>
              </a:solidFill>
            </a:endParaRPr>
          </a:p>
          <a:p>
            <a:pPr marL="457200" lvl="0" indent="-342900" algn="l" rtl="0">
              <a:spcBef>
                <a:spcPts val="1200"/>
              </a:spcBef>
              <a:spcAft>
                <a:spcPts val="0"/>
              </a:spcAft>
              <a:buClr>
                <a:srgbClr val="000000"/>
              </a:buClr>
              <a:buSzPts val="1800"/>
              <a:buChar char="-"/>
            </a:pPr>
            <a:r>
              <a:rPr lang="vi">
                <a:solidFill>
                  <a:srgbClr val="000000"/>
                </a:solidFill>
              </a:rPr>
              <a:t>output (sai format, sai result)</a:t>
            </a:r>
            <a:endParaRPr>
              <a:solidFill>
                <a:srgbClr val="000000"/>
              </a:solidFill>
            </a:endParaRPr>
          </a:p>
          <a:p>
            <a:pPr marL="457200" lvl="0" indent="-342900" algn="l" rtl="0">
              <a:spcBef>
                <a:spcPts val="1000"/>
              </a:spcBef>
              <a:spcAft>
                <a:spcPts val="0"/>
              </a:spcAft>
              <a:buClr>
                <a:srgbClr val="000000"/>
              </a:buClr>
              <a:buSzPts val="1800"/>
              <a:buChar char="-"/>
            </a:pPr>
            <a:r>
              <a:rPr lang="vi">
                <a:solidFill>
                  <a:srgbClr val="000000"/>
                </a:solidFill>
              </a:rPr>
              <a:t>logic (thiếu case, vận hành sai)</a:t>
            </a:r>
            <a:endParaRPr>
              <a:solidFill>
                <a:srgbClr val="000000"/>
              </a:solidFill>
            </a:endParaRPr>
          </a:p>
          <a:p>
            <a:pPr marL="457200" lvl="0" indent="-342900" algn="l" rtl="0">
              <a:spcBef>
                <a:spcPts val="1000"/>
              </a:spcBef>
              <a:spcAft>
                <a:spcPts val="0"/>
              </a:spcAft>
              <a:buClr>
                <a:srgbClr val="000000"/>
              </a:buClr>
              <a:buSzPts val="1800"/>
              <a:buChar char="-"/>
            </a:pPr>
            <a:r>
              <a:rPr lang="vi">
                <a:solidFill>
                  <a:srgbClr val="000000"/>
                </a:solidFill>
              </a:rPr>
              <a:t>computation (sai toán hạng, tính toán sai)</a:t>
            </a:r>
            <a:endParaRPr>
              <a:solidFill>
                <a:srgbClr val="000000"/>
              </a:solidFill>
            </a:endParaRPr>
          </a:p>
          <a:p>
            <a:pPr marL="457200" lvl="0" indent="-342900" algn="l" rtl="0">
              <a:spcBef>
                <a:spcPts val="1000"/>
              </a:spcBef>
              <a:spcAft>
                <a:spcPts val="0"/>
              </a:spcAft>
              <a:buClr>
                <a:srgbClr val="000000"/>
              </a:buClr>
              <a:buSzPts val="1800"/>
              <a:buChar char="-"/>
            </a:pPr>
            <a:r>
              <a:rPr lang="vi">
                <a:solidFill>
                  <a:srgbClr val="000000"/>
                </a:solidFill>
              </a:rPr>
              <a:t>interfaces (parameter không khớp hoặc không tương thích)</a:t>
            </a:r>
            <a:endParaRPr>
              <a:solidFill>
                <a:srgbClr val="000000"/>
              </a:solidFill>
            </a:endParaRPr>
          </a:p>
          <a:p>
            <a:pPr marL="457200" lvl="0" indent="-342900" algn="l" rtl="0">
              <a:spcBef>
                <a:spcPts val="1000"/>
              </a:spcBef>
              <a:spcAft>
                <a:spcPts val="1200"/>
              </a:spcAft>
              <a:buClr>
                <a:srgbClr val="000000"/>
              </a:buClr>
              <a:buSzPts val="1800"/>
              <a:buChar char="-"/>
            </a:pPr>
            <a:r>
              <a:rPr lang="vi">
                <a:solidFill>
                  <a:srgbClr val="000000"/>
                </a:solidFill>
              </a:rPr>
              <a:t>data (sai khởi tạo, sai kiểu)</a:t>
            </a:r>
            <a:endParaRPr>
              <a:solidFill>
                <a:srgbClr val="00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4.4.2 Kiểm thử khám phá</a:t>
            </a:r>
            <a:endParaRPr sz="2400"/>
          </a:p>
        </p:txBody>
      </p:sp>
      <p:sp>
        <p:nvSpPr>
          <p:cNvPr id="496" name="Google Shape;496;p73"/>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rgbClr val="000000"/>
              </a:buClr>
              <a:buSzPts val="1300"/>
              <a:buChar char="●"/>
            </a:pPr>
            <a:r>
              <a:rPr lang="vi" sz="1600">
                <a:solidFill>
                  <a:srgbClr val="000000"/>
                </a:solidFill>
              </a:rPr>
              <a:t>Các test case được thiết kế, thực thi và đánh giá đồng thời trong quá trình tester tìm hiểu về đối tượng kiểm thử</a:t>
            </a:r>
            <a:endParaRPr sz="1600">
              <a:solidFill>
                <a:srgbClr val="000000"/>
              </a:solidFill>
            </a:endParaRPr>
          </a:p>
          <a:p>
            <a:pPr marL="0" lvl="0" indent="0" algn="l" rtl="0">
              <a:spcBef>
                <a:spcPts val="1200"/>
              </a:spcBef>
              <a:spcAft>
                <a:spcPts val="1200"/>
              </a:spcAft>
              <a:buNone/>
            </a:pPr>
            <a:endParaRPr sz="1200">
              <a:solidFill>
                <a:srgbClr val="374151"/>
              </a:solidFill>
              <a:latin typeface="Roboto"/>
              <a:ea typeface="Roboto"/>
              <a:cs typeface="Roboto"/>
              <a:sym typeface="Roboto"/>
            </a:endParaRPr>
          </a:p>
        </p:txBody>
      </p:sp>
      <p:pic>
        <p:nvPicPr>
          <p:cNvPr id="497" name="Google Shape;497;p73"/>
          <p:cNvPicPr preferRelativeResize="0"/>
          <p:nvPr/>
        </p:nvPicPr>
        <p:blipFill>
          <a:blip r:embed="rId3">
            <a:alphaModFix/>
          </a:blip>
          <a:stretch>
            <a:fillRect/>
          </a:stretch>
        </p:blipFill>
        <p:spPr>
          <a:xfrm>
            <a:off x="1939500" y="2050575"/>
            <a:ext cx="4744901" cy="2600325"/>
          </a:xfrm>
          <a:prstGeom prst="rect">
            <a:avLst/>
          </a:prstGeom>
          <a:noFill/>
          <a:ln>
            <a:noFill/>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7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4.4.2 Kiểm thử khám phá</a:t>
            </a:r>
            <a:endParaRPr sz="2400"/>
          </a:p>
        </p:txBody>
      </p:sp>
      <p:sp>
        <p:nvSpPr>
          <p:cNvPr id="503" name="Google Shape;503;p74"/>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457200" marR="0" lvl="0" indent="-311150" algn="l" rtl="0">
              <a:lnSpc>
                <a:spcPct val="115000"/>
              </a:lnSpc>
              <a:spcBef>
                <a:spcPts val="1000"/>
              </a:spcBef>
              <a:spcAft>
                <a:spcPts val="0"/>
              </a:spcAft>
              <a:buClr>
                <a:srgbClr val="000000"/>
              </a:buClr>
              <a:buSzPts val="1300"/>
              <a:buChar char="●"/>
            </a:pPr>
            <a:r>
              <a:rPr lang="vi" sz="1600">
                <a:solidFill>
                  <a:srgbClr val="000000"/>
                </a:solidFill>
              </a:rPr>
              <a:t>Được thực hiện trong một khoảng thời gian xác định (session-based testing). </a:t>
            </a:r>
            <a:endParaRPr sz="1600">
              <a:solidFill>
                <a:srgbClr val="000000"/>
              </a:solidFill>
            </a:endParaRPr>
          </a:p>
          <a:p>
            <a:pPr marL="457200" marR="0" lvl="0" indent="-311150" algn="l" rtl="0">
              <a:lnSpc>
                <a:spcPct val="115000"/>
              </a:lnSpc>
              <a:spcBef>
                <a:spcPts val="1200"/>
              </a:spcBef>
              <a:spcAft>
                <a:spcPts val="0"/>
              </a:spcAft>
              <a:buClr>
                <a:srgbClr val="000000"/>
              </a:buClr>
              <a:buSzPts val="1300"/>
              <a:buChar char="●"/>
            </a:pPr>
            <a:r>
              <a:rPr lang="vi" sz="1600">
                <a:solidFill>
                  <a:srgbClr val="000000"/>
                </a:solidFill>
              </a:rPr>
              <a:t>Tester sử dụng một bảng kiểm thử (test charter) chứa các mục tiêu kiểm thử để hướng dẫn quá trình kiểm thử (họ có thể sử dụng các bảng ghi chú phiên làm việc để ghi lại các bước thực hiện và các khám phá đã được thực hiện).</a:t>
            </a:r>
            <a:endParaRPr sz="1600">
              <a:solidFill>
                <a:srgbClr val="000000"/>
              </a:solidFill>
            </a:endParaRPr>
          </a:p>
          <a:p>
            <a:pPr marL="457200" marR="0" lvl="0" indent="-311150" algn="l" rtl="0">
              <a:lnSpc>
                <a:spcPct val="115000"/>
              </a:lnSpc>
              <a:spcBef>
                <a:spcPts val="1000"/>
              </a:spcBef>
              <a:spcAft>
                <a:spcPts val="0"/>
              </a:spcAft>
              <a:buClr>
                <a:srgbClr val="000000"/>
              </a:buClr>
              <a:buSzPts val="1300"/>
              <a:buChar char="●"/>
            </a:pPr>
            <a:r>
              <a:rPr lang="vi" sz="1600">
                <a:solidFill>
                  <a:srgbClr val="000000"/>
                </a:solidFill>
              </a:rPr>
              <a:t>Sau phiên kiểm thử tester và các bên liên quan sẽ trao đổi về kết quả kiểm thử</a:t>
            </a:r>
            <a:endParaRPr sz="1600">
              <a:solidFill>
                <a:srgbClr val="374151"/>
              </a:solidFill>
            </a:endParaRPr>
          </a:p>
          <a:p>
            <a:pPr marL="0" lvl="0" indent="0" algn="l" rtl="0">
              <a:spcBef>
                <a:spcPts val="1200"/>
              </a:spcBef>
              <a:spcAft>
                <a:spcPts val="1200"/>
              </a:spcAft>
              <a:buNone/>
            </a:pPr>
            <a:endParaRPr sz="1200">
              <a:solidFill>
                <a:srgbClr val="374151"/>
              </a:solidFill>
              <a:latin typeface="Roboto"/>
              <a:ea typeface="Roboto"/>
              <a:cs typeface="Roboto"/>
              <a:sym typeface="Roboto"/>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7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4.4.2 Kiểm thử khám phá</a:t>
            </a:r>
            <a:endParaRPr sz="2400"/>
          </a:p>
        </p:txBody>
      </p:sp>
      <p:sp>
        <p:nvSpPr>
          <p:cNvPr id="509" name="Google Shape;509;p75"/>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rPr>
              <a:t>Ví dụ test charter:</a:t>
            </a:r>
            <a:endParaRPr sz="1600">
              <a:solidFill>
                <a:srgbClr val="000000"/>
              </a:solidFill>
            </a:endParaRPr>
          </a:p>
          <a:p>
            <a:pPr marL="0" lvl="0" indent="0" algn="l" rtl="0">
              <a:spcBef>
                <a:spcPts val="1200"/>
              </a:spcBef>
              <a:spcAft>
                <a:spcPts val="1200"/>
              </a:spcAft>
              <a:buNone/>
            </a:pPr>
            <a:endParaRPr sz="1600">
              <a:solidFill>
                <a:srgbClr val="000000"/>
              </a:solidFill>
            </a:endParaRPr>
          </a:p>
        </p:txBody>
      </p:sp>
      <p:pic>
        <p:nvPicPr>
          <p:cNvPr id="510" name="Google Shape;510;p75"/>
          <p:cNvPicPr preferRelativeResize="0"/>
          <p:nvPr/>
        </p:nvPicPr>
        <p:blipFill>
          <a:blip r:embed="rId3">
            <a:alphaModFix/>
          </a:blip>
          <a:stretch>
            <a:fillRect/>
          </a:stretch>
        </p:blipFill>
        <p:spPr>
          <a:xfrm>
            <a:off x="3332175" y="1699050"/>
            <a:ext cx="5500125" cy="3163926"/>
          </a:xfrm>
          <a:prstGeom prst="rect">
            <a:avLst/>
          </a:prstGeom>
          <a:noFill/>
          <a:ln>
            <a:noFill/>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7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4.4.2 Kiểm thử khám phá</a:t>
            </a:r>
            <a:endParaRPr sz="2400"/>
          </a:p>
        </p:txBody>
      </p:sp>
      <p:sp>
        <p:nvSpPr>
          <p:cNvPr id="516" name="Google Shape;516;p76"/>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rgbClr val="000000"/>
              </a:buClr>
              <a:buSzPts val="1300"/>
              <a:buChar char="●"/>
            </a:pPr>
            <a:r>
              <a:rPr lang="vi">
                <a:solidFill>
                  <a:srgbClr val="000000"/>
                </a:solidFill>
              </a:rPr>
              <a:t>Kiểm thử khám phá rất hữu ích khi có ít hoặc không đầy đủ tài liệu đặc tả hoặc áp lực về thời gian thực hiện</a:t>
            </a:r>
            <a:endParaRPr>
              <a:solidFill>
                <a:srgbClr val="000000"/>
              </a:solidFill>
            </a:endParaRPr>
          </a:p>
          <a:p>
            <a:pPr marL="457200" marR="0" lvl="0" indent="-311150" algn="l" rtl="0">
              <a:lnSpc>
                <a:spcPct val="115000"/>
              </a:lnSpc>
              <a:spcBef>
                <a:spcPts val="1200"/>
              </a:spcBef>
              <a:spcAft>
                <a:spcPts val="0"/>
              </a:spcAft>
              <a:buClr>
                <a:srgbClr val="000000"/>
              </a:buClr>
              <a:buSzPts val="1300"/>
              <a:buChar char="●"/>
            </a:pPr>
            <a:r>
              <a:rPr lang="vi">
                <a:solidFill>
                  <a:srgbClr val="000000"/>
                </a:solidFill>
              </a:rPr>
              <a:t>Kiểm thử khám phá sẽ hiệu quả hơn nếu người kiểm thử có kinh nghiệm, có kiến ​​thức nghiệp vụ và có trình độ cao về các kỹ năng thiết yếu, như kỹ năng phân tích, tính tò mò và tính sáng tạo</a:t>
            </a:r>
            <a:endParaRPr>
              <a:solidFill>
                <a:srgbClr val="202124"/>
              </a:solidFill>
              <a:highlight>
                <a:srgbClr val="F8F9FA"/>
              </a:highlight>
            </a:endParaRPr>
          </a:p>
          <a:p>
            <a:pPr marL="0" lvl="0" indent="0" algn="l" rtl="0">
              <a:spcBef>
                <a:spcPts val="1200"/>
              </a:spcBef>
              <a:spcAft>
                <a:spcPts val="0"/>
              </a:spcAft>
              <a:buNone/>
            </a:pPr>
            <a:endParaRPr sz="1200">
              <a:solidFill>
                <a:srgbClr val="374151"/>
              </a:solidFill>
              <a:latin typeface="Roboto"/>
              <a:ea typeface="Roboto"/>
              <a:cs typeface="Roboto"/>
              <a:sym typeface="Roboto"/>
            </a:endParaRPr>
          </a:p>
          <a:p>
            <a:pPr marL="0" lvl="0" indent="0" algn="l" rtl="0">
              <a:spcBef>
                <a:spcPts val="1200"/>
              </a:spcBef>
              <a:spcAft>
                <a:spcPts val="1200"/>
              </a:spcAft>
              <a:buNone/>
            </a:pPr>
            <a:endParaRPr sz="1200">
              <a:solidFill>
                <a:srgbClr val="374151"/>
              </a:solidFill>
              <a:latin typeface="Roboto"/>
              <a:ea typeface="Roboto"/>
              <a:cs typeface="Roboto"/>
              <a:sym typeface="Roboto"/>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7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4.4.3 Kiểm thử dựa trên checklist</a:t>
            </a:r>
            <a:endParaRPr sz="2400"/>
          </a:p>
        </p:txBody>
      </p:sp>
      <p:sp>
        <p:nvSpPr>
          <p:cNvPr id="522" name="Google Shape;522;p77"/>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457200" lvl="0" indent="-311150" algn="l" rtl="0">
              <a:spcBef>
                <a:spcPts val="1000"/>
              </a:spcBef>
              <a:spcAft>
                <a:spcPts val="0"/>
              </a:spcAft>
              <a:buClr>
                <a:srgbClr val="000000"/>
              </a:buClr>
              <a:buSzPts val="1300"/>
              <a:buChar char="●"/>
            </a:pPr>
            <a:r>
              <a:rPr lang="vi" sz="1600">
                <a:solidFill>
                  <a:srgbClr val="000000"/>
                </a:solidFill>
              </a:rPr>
              <a:t>Trong checklist-based testing, tester thiết kế, xây dựng, và thực hiện test để bao phủ các test conditions từ checklist</a:t>
            </a:r>
            <a:endParaRPr sz="1600">
              <a:solidFill>
                <a:srgbClr val="000000"/>
              </a:solidFill>
            </a:endParaRPr>
          </a:p>
          <a:p>
            <a:pPr marL="457200" lvl="0" indent="-311150" algn="l" rtl="0">
              <a:spcBef>
                <a:spcPts val="1200"/>
              </a:spcBef>
              <a:spcAft>
                <a:spcPts val="0"/>
              </a:spcAft>
              <a:buClr>
                <a:srgbClr val="000000"/>
              </a:buClr>
              <a:buSzPts val="1300"/>
              <a:buChar char="●"/>
            </a:pPr>
            <a:r>
              <a:rPr lang="vi" sz="1600">
                <a:solidFill>
                  <a:srgbClr val="000000"/>
                </a:solidFill>
              </a:rPr>
              <a:t>Các mục của checklist thường là những question đề cập đến các yêu cầu, giao diện, chất lượng phần mềm</a:t>
            </a:r>
            <a:endParaRPr sz="1600">
              <a:solidFill>
                <a:srgbClr val="000000"/>
              </a:solidFill>
            </a:endParaRPr>
          </a:p>
          <a:p>
            <a:pPr marL="457200" lvl="0" indent="-311150" algn="l" rtl="0">
              <a:spcBef>
                <a:spcPts val="1000"/>
              </a:spcBef>
              <a:spcAft>
                <a:spcPts val="0"/>
              </a:spcAft>
              <a:buClr>
                <a:srgbClr val="000000"/>
              </a:buClr>
              <a:buSzPts val="1300"/>
              <a:buChar char="●"/>
            </a:pPr>
            <a:r>
              <a:rPr lang="vi" sz="1600">
                <a:solidFill>
                  <a:srgbClr val="000000"/>
                </a:solidFill>
              </a:rPr>
              <a:t>Checklist được xây dựng dựa trên kinh nghiệm, kiến ​​thức về những gì là quan trọng đối với người dùng, hoặc hiểu biết tại sao và như thế nào phần mềm bị lỗi</a:t>
            </a:r>
            <a:endParaRPr sz="2100">
              <a:solidFill>
                <a:srgbClr val="202124"/>
              </a:solidFill>
              <a:highlight>
                <a:srgbClr val="F8F9FA"/>
              </a:highlight>
            </a:endParaRPr>
          </a:p>
          <a:p>
            <a:pPr marL="0" lvl="0" indent="0" algn="l" rtl="0">
              <a:spcBef>
                <a:spcPts val="1200"/>
              </a:spcBef>
              <a:spcAft>
                <a:spcPts val="0"/>
              </a:spcAft>
              <a:buNone/>
            </a:pPr>
            <a:endParaRPr sz="1600">
              <a:solidFill>
                <a:srgbClr val="000000"/>
              </a:solidFill>
            </a:endParaRPr>
          </a:p>
          <a:p>
            <a:pPr marL="0" lvl="0" indent="0" algn="l" rtl="0">
              <a:spcBef>
                <a:spcPts val="1200"/>
              </a:spcBef>
              <a:spcAft>
                <a:spcPts val="0"/>
              </a:spcAft>
              <a:buNone/>
            </a:pPr>
            <a:endParaRPr sz="1600">
              <a:solidFill>
                <a:srgbClr val="000000"/>
              </a:solidFill>
            </a:endParaRPr>
          </a:p>
          <a:p>
            <a:pPr marL="0" lvl="0" indent="0" algn="l" rtl="0">
              <a:spcBef>
                <a:spcPts val="1200"/>
              </a:spcBef>
              <a:spcAft>
                <a:spcPts val="1200"/>
              </a:spcAft>
              <a:buNone/>
            </a:pPr>
            <a:endParaRPr sz="1200">
              <a:solidFill>
                <a:srgbClr val="374151"/>
              </a:solidFill>
              <a:latin typeface="Roboto"/>
              <a:ea typeface="Roboto"/>
              <a:cs typeface="Roboto"/>
              <a:sym typeface="Roboto"/>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7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4.4.3 Kiểm thử dựa trên checklist</a:t>
            </a:r>
            <a:endParaRPr sz="2400"/>
          </a:p>
        </p:txBody>
      </p:sp>
      <p:sp>
        <p:nvSpPr>
          <p:cNvPr id="528" name="Google Shape;528;p78"/>
          <p:cNvSpPr txBox="1">
            <a:spLocks noGrp="1"/>
          </p:cNvSpPr>
          <p:nvPr>
            <p:ph type="body" idx="1"/>
          </p:nvPr>
        </p:nvSpPr>
        <p:spPr>
          <a:xfrm>
            <a:off x="311700" y="1240225"/>
            <a:ext cx="8520600" cy="37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rPr>
              <a:t>Ví dụ checklist:</a:t>
            </a:r>
            <a:endParaRPr sz="2100">
              <a:solidFill>
                <a:srgbClr val="202124"/>
              </a:solidFill>
              <a:highlight>
                <a:srgbClr val="F8F9FA"/>
              </a:highlight>
              <a:latin typeface="Arial"/>
              <a:ea typeface="Arial"/>
              <a:cs typeface="Arial"/>
              <a:sym typeface="Arial"/>
            </a:endParaRPr>
          </a:p>
          <a:p>
            <a:pPr marL="0" lvl="0" indent="0" algn="l" rtl="0">
              <a:spcBef>
                <a:spcPts val="1200"/>
              </a:spcBef>
              <a:spcAft>
                <a:spcPts val="0"/>
              </a:spcAft>
              <a:buNone/>
            </a:pPr>
            <a:endParaRPr sz="1600">
              <a:solidFill>
                <a:srgbClr val="000000"/>
              </a:solidFill>
            </a:endParaRPr>
          </a:p>
          <a:p>
            <a:pPr marL="0" lvl="0" indent="0" algn="l" rtl="0">
              <a:spcBef>
                <a:spcPts val="1200"/>
              </a:spcBef>
              <a:spcAft>
                <a:spcPts val="0"/>
              </a:spcAft>
              <a:buNone/>
            </a:pPr>
            <a:endParaRPr sz="1600">
              <a:solidFill>
                <a:srgbClr val="000000"/>
              </a:solidFill>
            </a:endParaRPr>
          </a:p>
          <a:p>
            <a:pPr marL="0" lvl="0" indent="0" algn="l" rtl="0">
              <a:spcBef>
                <a:spcPts val="1200"/>
              </a:spcBef>
              <a:spcAft>
                <a:spcPts val="1200"/>
              </a:spcAft>
              <a:buNone/>
            </a:pPr>
            <a:endParaRPr sz="1200">
              <a:solidFill>
                <a:srgbClr val="374151"/>
              </a:solidFill>
              <a:latin typeface="Roboto"/>
              <a:ea typeface="Roboto"/>
              <a:cs typeface="Roboto"/>
              <a:sym typeface="Roboto"/>
            </a:endParaRPr>
          </a:p>
        </p:txBody>
      </p:sp>
      <p:pic>
        <p:nvPicPr>
          <p:cNvPr id="529" name="Google Shape;529;p78"/>
          <p:cNvPicPr preferRelativeResize="0"/>
          <p:nvPr/>
        </p:nvPicPr>
        <p:blipFill>
          <a:blip r:embed="rId3">
            <a:alphaModFix/>
          </a:blip>
          <a:stretch>
            <a:fillRect/>
          </a:stretch>
        </p:blipFill>
        <p:spPr>
          <a:xfrm>
            <a:off x="2910468" y="936703"/>
            <a:ext cx="6233532" cy="4282067"/>
          </a:xfrm>
          <a:prstGeom prst="rect">
            <a:avLst/>
          </a:prstGeom>
          <a:noFill/>
          <a:ln>
            <a:noFill/>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7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4.5 Quiz</a:t>
            </a:r>
            <a:endParaRPr sz="240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TotalTime>
  <Words>4300</Words>
  <Application>Microsoft Office PowerPoint</Application>
  <PresentationFormat>On-screen Show (16:9)</PresentationFormat>
  <Paragraphs>590</Paragraphs>
  <Slides>68</Slides>
  <Notes>67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Tahoma</vt:lpstr>
      <vt:lpstr>Oswald</vt:lpstr>
      <vt:lpstr>Constantia</vt:lpstr>
      <vt:lpstr>Source Code Pro</vt:lpstr>
      <vt:lpstr>Roboto</vt:lpstr>
      <vt:lpstr>Arial</vt:lpstr>
      <vt:lpstr>Modern Writer</vt:lpstr>
      <vt:lpstr>Phân tích và Thiết kế Test</vt:lpstr>
      <vt:lpstr>Giới thiệu</vt:lpstr>
      <vt:lpstr>Nội dung</vt:lpstr>
      <vt:lpstr>Nội dung</vt:lpstr>
      <vt:lpstr>4.1 Tổng quan về kỹ thuật thiết kế test</vt:lpstr>
      <vt:lpstr>4.1 Tổng quan về kỹ thuật thiết kế test</vt:lpstr>
      <vt:lpstr>4.1 Tổng quan về kỹ thuật thiết kế test</vt:lpstr>
      <vt:lpstr>4.1 Tổng quan về kỹ thuật thiết kế test</vt:lpstr>
      <vt:lpstr>4.1 Tổng quan về kỹ thuật thiết kế test</vt:lpstr>
      <vt:lpstr>Nội dung</vt:lpstr>
      <vt:lpstr>4.2 Kỹ thuật kiểm thử hộp đen</vt:lpstr>
      <vt:lpstr>4.2.1 Phân vùng tương đương (Equivalence Partitioning - EP)</vt:lpstr>
      <vt:lpstr>4.2.1 Phân vùng tương đương (Equivalence Partitioning - EP)</vt:lpstr>
      <vt:lpstr>4.2.1 Phân vùng tương đương (Equivalence Partitioning - EP)</vt:lpstr>
      <vt:lpstr>4.2.1 Phân vùng tương đương (Equivalence Partitioning - EP)</vt:lpstr>
      <vt:lpstr>4.2.1 Phân vùng tương đương (Equivalence Partitioning - EP)</vt:lpstr>
      <vt:lpstr>4.2.1 Phân vùng tương đương (Equivalence Partitioning - EP)</vt:lpstr>
      <vt:lpstr>4.2.1 Phân vùng tương đương (Equivalence Partitioning - EP)</vt:lpstr>
      <vt:lpstr>4.2.2 Phân tích giá trị biên (Boundary Value Analysis - BVA)</vt:lpstr>
      <vt:lpstr>4.2.2 Phân tích giá trị biên (Boundary Value Analysis - BVA)</vt:lpstr>
      <vt:lpstr>4.2.2 Phân tích giá trị biên (Boundary Value Analysis - BVA)</vt:lpstr>
      <vt:lpstr>4.2.2 Phân tích giá trị biên (Boundary Value Analysis - BVA)</vt:lpstr>
      <vt:lpstr>4.2.2 Phân tích giá trị biên (Boundary Value Analysis - BVA)</vt:lpstr>
      <vt:lpstr>4.2.2 Phân tích giá trị biên (Boundary Value Analysis - BVA)</vt:lpstr>
      <vt:lpstr>Kết hợp EP và BVA</vt:lpstr>
      <vt:lpstr>Bài tập EP và BVA </vt:lpstr>
      <vt:lpstr>4.2.3 Bảng quyết định (Decision Table Testing) </vt:lpstr>
      <vt:lpstr>4.2.3 Bảng quyết định (Decision Table Testing) </vt:lpstr>
      <vt:lpstr>4.2.3 Bảng quyết định (Decision Table Testing) </vt:lpstr>
      <vt:lpstr>4.2.3 Bảng quyết định (Decision Table Testing) </vt:lpstr>
      <vt:lpstr>4.2.3 Bảng quyết định (Decision Table Testing) </vt:lpstr>
      <vt:lpstr>4.2.3 Bảng quyết định (Decision Table Testing) </vt:lpstr>
      <vt:lpstr>4.2.3 Bảng quyết định (Decision Table Testing) </vt:lpstr>
      <vt:lpstr>4.2.3 Bảng quyết định (Decision Table Testing) </vt:lpstr>
      <vt:lpstr>4.2.3 Bảng quyết định (Decision Table Testing) </vt:lpstr>
      <vt:lpstr>4.2.3 Bảng quyết định (Decision Table Testing) </vt:lpstr>
      <vt:lpstr>4.2.3 Bảng quyết định (Decision Table Testing) </vt:lpstr>
      <vt:lpstr>4.2.3 Bảng quyết định (Decision Table Testing) </vt:lpstr>
      <vt:lpstr>4.2.4 Chuyển trạng thái (State Transition Testing)</vt:lpstr>
      <vt:lpstr>4.2.4 Chuyển trạng thái (State Transition Testing)</vt:lpstr>
      <vt:lpstr>4.2.4 Chuyển trạng thái (State Transition Testing)</vt:lpstr>
      <vt:lpstr>4.2.4 Chuyển trạng thái (State Transition Testing)</vt:lpstr>
      <vt:lpstr>4.2.4 Chuyển trạng thái (State Transition Testing)</vt:lpstr>
      <vt:lpstr>4.2.4 Chuyển trạng thái (State Transition Testing)</vt:lpstr>
      <vt:lpstr>PowerPoint Presentation</vt:lpstr>
      <vt:lpstr>Nội dung</vt:lpstr>
      <vt:lpstr>4.3 Kỹ thuật kiểm thử hộp trắng (White-Box Test Techniques)</vt:lpstr>
      <vt:lpstr>4.3.1 Kiểm thử dòng lệnh và độ bao phủ dòng lệnh</vt:lpstr>
      <vt:lpstr>4.3.1 Kiểm thử dòng lệnh và độ bao phủ dòng lệnh</vt:lpstr>
      <vt:lpstr>4.3.1 Kiểm thử dòng lệnh và độ bao phủ dòng lệnh</vt:lpstr>
      <vt:lpstr>4.3.1 Kiểm thử dòng lệnh và độ bao phủ dòng lệnh</vt:lpstr>
      <vt:lpstr>4.3.2 Kiểm thử nhánh và độ bao phủ nhánh</vt:lpstr>
      <vt:lpstr>4.3.2 Kiểm thử nhánh và độ bao phủ nhánh</vt:lpstr>
      <vt:lpstr>4.3.2 Kiểm thử nhánh và độ bao phủ nhánh</vt:lpstr>
      <vt:lpstr>4.3.2 Kiểm thử nhánh và độ bao phủ nhánh</vt:lpstr>
      <vt:lpstr>4.3.2 Kiểm thử nhánh và độ bao phủ nhánh</vt:lpstr>
      <vt:lpstr>Nội dung</vt:lpstr>
      <vt:lpstr>4.4 Kỹ thuật kiểm thử dựa trên kinh nghiệm </vt:lpstr>
      <vt:lpstr>4.4.1 Dự đoán lỗi</vt:lpstr>
      <vt:lpstr>4.4.1 Dự đoán lỗi</vt:lpstr>
      <vt:lpstr>4.4.1 Dự đoán lỗi</vt:lpstr>
      <vt:lpstr>4.4.2 Kiểm thử khám phá</vt:lpstr>
      <vt:lpstr>4.4.2 Kiểm thử khám phá</vt:lpstr>
      <vt:lpstr>4.4.2 Kiểm thử khám phá</vt:lpstr>
      <vt:lpstr>4.4.2 Kiểm thử khám phá</vt:lpstr>
      <vt:lpstr>4.4.3 Kiểm thử dựa trên checklist</vt:lpstr>
      <vt:lpstr>4.4.3 Kiểm thử dựa trên checklist</vt:lpstr>
      <vt:lpstr>4.5 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và Thiết kế Test</dc:title>
  <cp:lastModifiedBy>BON BEN</cp:lastModifiedBy>
  <cp:revision>7</cp:revision>
  <dcterms:modified xsi:type="dcterms:W3CDTF">2024-03-13T22:52:26Z</dcterms:modified>
</cp:coreProperties>
</file>