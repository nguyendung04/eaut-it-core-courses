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4" r:id="rId28"/>
    <p:sldId id="285" r:id="rId29"/>
    <p:sldId id="286" r:id="rId30"/>
    <p:sldId id="287" r:id="rId31"/>
    <p:sldId id="288" r:id="rId32"/>
    <p:sldId id="290" r:id="rId3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22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107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54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64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288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338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155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043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5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263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715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02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3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jp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2.jp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3.png"/><Relationship Id="rId5" Type="http://schemas.openxmlformats.org/officeDocument/2006/relationships/image" Target="../media/image16.png"/><Relationship Id="rId10" Type="http://schemas.openxmlformats.org/officeDocument/2006/relationships/hyperlink" Target="https://www.seleniumhq.org/download/" TargetMode="External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4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5.jp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7.jp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8.jp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12" Type="http://schemas.openxmlformats.org/officeDocument/2006/relationships/image" Target="../media/image3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30.png"/><Relationship Id="rId5" Type="http://schemas.openxmlformats.org/officeDocument/2006/relationships/image" Target="../media/image16.png"/><Relationship Id="rId10" Type="http://schemas.openxmlformats.org/officeDocument/2006/relationships/image" Target="../media/image29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32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34.jpg"/><Relationship Id="rId5" Type="http://schemas.openxmlformats.org/officeDocument/2006/relationships/image" Target="../media/image16.png"/><Relationship Id="rId10" Type="http://schemas.openxmlformats.org/officeDocument/2006/relationships/image" Target="../media/image33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36.png"/><Relationship Id="rId5" Type="http://schemas.openxmlformats.org/officeDocument/2006/relationships/image" Target="../media/image16.png"/><Relationship Id="rId10" Type="http://schemas.openxmlformats.org/officeDocument/2006/relationships/image" Target="../media/image35.jp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37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5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55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56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5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 txBox="1"/>
          <p:nvPr/>
        </p:nvSpPr>
        <p:spPr>
          <a:xfrm>
            <a:off x="4194175" y="4077327"/>
            <a:ext cx="3994785" cy="103568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Kiểm</a:t>
            </a:r>
            <a:r>
              <a:rPr sz="3600" b="1" cap="small" spc="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thử</a:t>
            </a:r>
            <a:r>
              <a:rPr sz="3600" b="1" cap="small" spc="3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nâng</a:t>
            </a:r>
            <a:r>
              <a:rPr sz="3600" b="1" cap="small" spc="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spc="-240" dirty="0">
                <a:solidFill>
                  <a:srgbClr val="FF5A33"/>
                </a:solidFill>
                <a:latin typeface="Arial"/>
                <a:cs typeface="Arial"/>
              </a:rPr>
              <a:t>cao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Bài</a:t>
            </a:r>
            <a:r>
              <a:rPr sz="2200" b="1" cap="small" spc="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7:</a:t>
            </a:r>
            <a:r>
              <a:rPr sz="2200" b="1" cap="small" spc="-100" dirty="0">
                <a:solidFill>
                  <a:srgbClr val="FF5A33"/>
                </a:solidFill>
                <a:latin typeface="Arial"/>
                <a:cs typeface="Arial"/>
              </a:rPr>
              <a:t> Test</a:t>
            </a:r>
            <a:r>
              <a:rPr sz="2200" b="1" cap="small" spc="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Next</a:t>
            </a:r>
            <a:r>
              <a:rPr sz="2200" b="1" cap="small" spc="-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spc="-10" dirty="0">
                <a:solidFill>
                  <a:srgbClr val="FF5A33"/>
                </a:solidFill>
                <a:latin typeface="Arial"/>
                <a:cs typeface="Arial"/>
              </a:rPr>
              <a:t>Generation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6934200" y="190500"/>
            <a:ext cx="1865630" cy="789940"/>
            <a:chOff x="6934200" y="190500"/>
            <a:chExt cx="1865630" cy="789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34200" y="190500"/>
              <a:ext cx="809244" cy="7894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16724" y="280415"/>
              <a:ext cx="768096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99832" y="280415"/>
              <a:ext cx="999744" cy="64007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35940" y="991257"/>
            <a:ext cx="6550660" cy="1570943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0"/>
              </a:spcBef>
              <a:buClr>
                <a:srgbClr val="FF5A33"/>
              </a:buClr>
              <a:buFont typeface="Wingdings"/>
              <a:buChar char=""/>
              <a:tabLst>
                <a:tab pos="35496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Selenium</a:t>
            </a:r>
            <a:r>
              <a:rPr sz="2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WebDriver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"/>
              <a:tabLst>
                <a:tab pos="35496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Selenium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WebDriver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sz="28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Eclipse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"/>
              <a:tabLst>
                <a:tab pos="354965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WebDriver</a:t>
            </a:r>
            <a:r>
              <a:rPr sz="2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TestNG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6842759" y="190500"/>
            <a:ext cx="1957070" cy="789940"/>
            <a:chOff x="6842759" y="190500"/>
            <a:chExt cx="1957070" cy="789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42759" y="190500"/>
              <a:ext cx="749807" cy="7894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5847" y="280415"/>
              <a:ext cx="690372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71231" y="280415"/>
              <a:ext cx="1228344" cy="64007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35940" y="987286"/>
            <a:ext cx="7056626" cy="3286156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I: Tổng quan Selenium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605"/>
              </a:spcBef>
            </a:pP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Khái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thành phần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Selenium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webdriver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II: TestNG và WebDriver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Suites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580"/>
              </a:spcBef>
            </a:pP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45608" y="190500"/>
              <a:ext cx="722376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41264" y="280415"/>
              <a:ext cx="784860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41135" y="280415"/>
              <a:ext cx="1217675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28103" y="190500"/>
              <a:ext cx="669035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70419" y="280415"/>
              <a:ext cx="1629155" cy="64007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35940" y="874947"/>
            <a:ext cx="8072120" cy="35541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85"/>
              </a:spcBef>
            </a:pPr>
            <a:endParaRPr sz="2250">
              <a:latin typeface="Arial"/>
              <a:cs typeface="Arial"/>
            </a:endParaRPr>
          </a:p>
          <a:p>
            <a:pPr marL="355600" marR="217804" indent="-342900">
              <a:lnSpc>
                <a:spcPct val="100000"/>
              </a:lnSpc>
              <a:spcBef>
                <a:spcPts val="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Selenium(SE)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là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một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phần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mềm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nguồn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mở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chạy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trên </a:t>
            </a:r>
            <a:r>
              <a:rPr sz="2800" dirty="0">
                <a:latin typeface="Times New Roman"/>
                <a:cs typeface="Times New Roman"/>
              </a:rPr>
              <a:t>hầu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hết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các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trình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duyệt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và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hệ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điều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hành: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Windows, </a:t>
            </a:r>
            <a:r>
              <a:rPr sz="2800" dirty="0">
                <a:latin typeface="Times New Roman"/>
                <a:cs typeface="Times New Roman"/>
              </a:rPr>
              <a:t>Linux,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Mac…</a:t>
            </a:r>
            <a:endParaRPr sz="2800">
              <a:latin typeface="Times New Roman"/>
              <a:cs typeface="Times New Roman"/>
            </a:endParaRPr>
          </a:p>
          <a:p>
            <a:pPr marL="355600" marR="615950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Hỗ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trợ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các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ngôn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ngữ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lập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trình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như: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C#,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Java,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Perl, </a:t>
            </a:r>
            <a:r>
              <a:rPr sz="2800" spc="-65" dirty="0">
                <a:latin typeface="Times New Roman"/>
                <a:cs typeface="Times New Roman"/>
              </a:rPr>
              <a:t>PHP,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Python,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Ruby…</a:t>
            </a:r>
            <a:endParaRPr sz="2800">
              <a:latin typeface="Times New Roman"/>
              <a:cs typeface="Times New Roman"/>
            </a:endParaRPr>
          </a:p>
          <a:p>
            <a:pPr marL="355600" marR="727075" indent="-342900">
              <a:lnSpc>
                <a:spcPct val="100000"/>
              </a:lnSpc>
              <a:spcBef>
                <a:spcPts val="670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SE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có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thể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kết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hợp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với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một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số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test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framework </a:t>
            </a:r>
            <a:r>
              <a:rPr sz="2800" spc="-25" dirty="0">
                <a:latin typeface="Times New Roman"/>
                <a:cs typeface="Times New Roman"/>
              </a:rPr>
              <a:t>như TestNG,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Junit,…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57400" y="4572000"/>
            <a:ext cx="5306567" cy="149860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45608" y="190500"/>
              <a:ext cx="722376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41264" y="280415"/>
              <a:ext cx="784860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41135" y="280415"/>
              <a:ext cx="1217675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28103" y="190500"/>
              <a:ext cx="669035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70419" y="280415"/>
              <a:ext cx="1629155" cy="640079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35940" y="999730"/>
            <a:ext cx="5370830" cy="273748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Các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điểm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mạnh của</a:t>
            </a:r>
            <a:r>
              <a:rPr sz="2800" spc="-25" dirty="0">
                <a:latin typeface="Times New Roman"/>
                <a:cs typeface="Times New Roman"/>
              </a:rPr>
              <a:t> SE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Cho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phép recording,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editing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và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debug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Hỗ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trợ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phương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pháp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Agile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Xuất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các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định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dạng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html, </a:t>
            </a:r>
            <a:r>
              <a:rPr sz="2400" spc="-10" dirty="0">
                <a:latin typeface="Times New Roman"/>
                <a:cs typeface="Times New Roman"/>
              </a:rPr>
              <a:t>excel..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Phục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vụ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tốt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regrestion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test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Hỗ trợ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nhiều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giai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đoạn</a:t>
            </a:r>
            <a:r>
              <a:rPr sz="2400" spc="-20" dirty="0">
                <a:latin typeface="Times New Roman"/>
                <a:cs typeface="Times New Roman"/>
              </a:rPr>
              <a:t> test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53000" y="2900298"/>
            <a:ext cx="4024122" cy="3957698"/>
          </a:xfrm>
          <a:prstGeom prst="rect">
            <a:avLst/>
          </a:prstGeom>
        </p:spPr>
      </p:pic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45608" y="190500"/>
              <a:ext cx="722376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41264" y="280415"/>
              <a:ext cx="784860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41135" y="280415"/>
              <a:ext cx="1217675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28103" y="190500"/>
              <a:ext cx="669035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70419" y="280415"/>
              <a:ext cx="1629155" cy="640079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35940" y="1087881"/>
            <a:ext cx="31330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SE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có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4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thành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phần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8854" y="2110153"/>
            <a:ext cx="6822869" cy="3587261"/>
          </a:xfrm>
          <a:prstGeom prst="rect">
            <a:avLst/>
          </a:prstGeom>
        </p:spPr>
      </p:pic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69435" y="190500"/>
              <a:ext cx="669036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11752" y="280415"/>
              <a:ext cx="162915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10200" y="190500"/>
              <a:ext cx="82600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9488" y="280415"/>
              <a:ext cx="719328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02096" y="190500"/>
              <a:ext cx="731520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06896" y="280415"/>
              <a:ext cx="1188720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64907" y="190500"/>
              <a:ext cx="1018031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56219" y="280415"/>
              <a:ext cx="943355" cy="64007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35622" y="685800"/>
            <a:ext cx="8072755" cy="32130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85"/>
              </a:spcBef>
            </a:pPr>
            <a:endParaRPr sz="22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Selenium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WebDriver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là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sự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kế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thừa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từ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Selenium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RC</a:t>
            </a:r>
            <a:endParaRPr sz="2800">
              <a:latin typeface="Times New Roman"/>
              <a:cs typeface="Times New Roman"/>
            </a:endParaRPr>
          </a:p>
          <a:p>
            <a:pPr marL="355600" marR="264160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25" dirty="0">
                <a:latin typeface="Times New Roman"/>
                <a:cs typeface="Times New Roman"/>
              </a:rPr>
              <a:t>WebDriver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tương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tác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trực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tiếp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với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các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trình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duyệt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và </a:t>
            </a:r>
            <a:r>
              <a:rPr sz="2800" dirty="0">
                <a:latin typeface="Times New Roman"/>
                <a:cs typeface="Times New Roman"/>
              </a:rPr>
              <a:t>sử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dụng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browser’s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engine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để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điều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khiển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trình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duyệt.</a:t>
            </a:r>
            <a:endParaRPr sz="2800">
              <a:latin typeface="Times New Roman"/>
              <a:cs typeface="Times New Roman"/>
            </a:endParaRPr>
          </a:p>
          <a:p>
            <a:pPr marL="355600" marR="35560" indent="-342900">
              <a:lnSpc>
                <a:spcPct val="100000"/>
              </a:lnSpc>
              <a:spcBef>
                <a:spcPts val="670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25" dirty="0">
                <a:latin typeface="Times New Roman"/>
                <a:cs typeface="Times New Roman"/>
              </a:rPr>
              <a:t>WebDriver </a:t>
            </a:r>
            <a:r>
              <a:rPr sz="2800" dirty="0">
                <a:latin typeface="Times New Roman"/>
                <a:cs typeface="Times New Roman"/>
              </a:rPr>
              <a:t>hỗ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trợ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nhiều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ngôn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ngữ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lập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trình: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java,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.net, </a:t>
            </a:r>
            <a:r>
              <a:rPr sz="2800" dirty="0">
                <a:latin typeface="Times New Roman"/>
                <a:cs typeface="Times New Roman"/>
              </a:rPr>
              <a:t>php,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perl,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ruby...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Hỗ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trợ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nhiều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trình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duyệt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724400" y="3051682"/>
            <a:ext cx="3787902" cy="3425316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69435" y="190500"/>
              <a:ext cx="669036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11752" y="280415"/>
              <a:ext cx="162915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10200" y="190500"/>
              <a:ext cx="82600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9488" y="280415"/>
              <a:ext cx="719328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02096" y="190500"/>
              <a:ext cx="731520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06896" y="280415"/>
              <a:ext cx="1188720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64907" y="190500"/>
              <a:ext cx="1018031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56219" y="280415"/>
              <a:ext cx="943355" cy="640079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35940" y="1087881"/>
            <a:ext cx="673163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Hơn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70%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ứng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dụng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dung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java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với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webdriver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73480" y="1906651"/>
            <a:ext cx="7063740" cy="4373880"/>
          </a:xfrm>
          <a:prstGeom prst="rect">
            <a:avLst/>
          </a:prstGeom>
        </p:spPr>
      </p:pic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69435" y="190500"/>
              <a:ext cx="669036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11752" y="280415"/>
              <a:ext cx="162915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10200" y="190500"/>
              <a:ext cx="82600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9488" y="280415"/>
              <a:ext cx="719328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02096" y="190500"/>
              <a:ext cx="731520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06896" y="280415"/>
              <a:ext cx="1188720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64907" y="190500"/>
              <a:ext cx="1018031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56219" y="280415"/>
              <a:ext cx="943355" cy="640079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35940" y="1087881"/>
            <a:ext cx="7465695" cy="1685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Cài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đặt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và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cấu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hình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Selenium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WebDriver </a:t>
            </a:r>
            <a:r>
              <a:rPr sz="2800" dirty="0">
                <a:latin typeface="Times New Roman"/>
                <a:cs typeface="Times New Roman"/>
              </a:rPr>
              <a:t>với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Java </a:t>
            </a:r>
            <a:r>
              <a:rPr sz="2800" spc="-10" dirty="0">
                <a:latin typeface="Times New Roman"/>
                <a:cs typeface="Times New Roman"/>
              </a:rPr>
              <a:t>Eclipse</a:t>
            </a:r>
            <a:endParaRPr sz="2800">
              <a:latin typeface="Times New Roman"/>
              <a:cs typeface="Times New Roman"/>
            </a:endParaRPr>
          </a:p>
          <a:p>
            <a:pPr marL="755015" marR="123825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Tải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Selenium,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truy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cập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vào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chủ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selenium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tải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bản 	</a:t>
            </a:r>
            <a:r>
              <a:rPr sz="2400" spc="-10" dirty="0">
                <a:latin typeface="Times New Roman"/>
                <a:cs typeface="Times New Roman"/>
              </a:rPr>
              <a:t>mới(</a:t>
            </a:r>
            <a:r>
              <a:rPr sz="2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10"/>
              </a:rPr>
              <a:t>https://www.seleniumhq.org/download/</a:t>
            </a:r>
            <a:r>
              <a:rPr sz="2400" u="none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40612" y="3266794"/>
            <a:ext cx="7529220" cy="2071519"/>
          </a:xfrm>
          <a:prstGeom prst="rect">
            <a:avLst/>
          </a:prstGeom>
        </p:spPr>
      </p:pic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69435" y="190500"/>
              <a:ext cx="669036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11752" y="280415"/>
              <a:ext cx="162915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10200" y="190500"/>
              <a:ext cx="82600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9488" y="280415"/>
              <a:ext cx="719328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02096" y="190500"/>
              <a:ext cx="731520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06896" y="280415"/>
              <a:ext cx="1188720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64907" y="190500"/>
              <a:ext cx="1018031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56219" y="280415"/>
              <a:ext cx="943355" cy="640079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35940" y="999730"/>
            <a:ext cx="7647305" cy="98171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Hướng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dẫn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tạo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lớp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kiểm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thử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sử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dụng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webdriver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Tạo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và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 thư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viện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webdriver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2205101"/>
            <a:ext cx="9144000" cy="3967099"/>
          </a:xfrm>
          <a:prstGeom prst="rect">
            <a:avLst/>
          </a:prstGeom>
        </p:spPr>
      </p:pic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69435" y="190500"/>
              <a:ext cx="669036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11752" y="280415"/>
              <a:ext cx="162915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10200" y="190500"/>
              <a:ext cx="82600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9488" y="280415"/>
              <a:ext cx="719328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02096" y="190500"/>
              <a:ext cx="731520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06896" y="280415"/>
              <a:ext cx="1188720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64907" y="190500"/>
              <a:ext cx="1018031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56219" y="280415"/>
              <a:ext cx="943355" cy="640079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35940" y="999730"/>
            <a:ext cx="7647305" cy="98171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Hướng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dẫn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tạo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lớp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kiểm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thử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sử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dụng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webdriver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Tạo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và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 thư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viện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webdriver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47800" y="1981200"/>
            <a:ext cx="6657975" cy="4876797"/>
          </a:xfrm>
          <a:prstGeom prst="rect">
            <a:avLst/>
          </a:prstGeom>
        </p:spPr>
      </p:pic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69435" y="190500"/>
              <a:ext cx="669036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11752" y="280415"/>
              <a:ext cx="162915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10200" y="190500"/>
              <a:ext cx="82600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9488" y="280415"/>
              <a:ext cx="719328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02096" y="190500"/>
              <a:ext cx="731520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06896" y="280415"/>
              <a:ext cx="1188720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64907" y="190500"/>
              <a:ext cx="1018031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56219" y="280415"/>
              <a:ext cx="943355" cy="640079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35940" y="999730"/>
            <a:ext cx="7647305" cy="98171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Hướng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dẫn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tạo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lớp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kiểm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thử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sử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dụng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webdriver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Kiểm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đã thêm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xong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thư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viện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và viết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test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case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49210" y="2580385"/>
            <a:ext cx="7245604" cy="2733675"/>
          </a:xfrm>
          <a:prstGeom prst="rect">
            <a:avLst/>
          </a:prstGeom>
        </p:spPr>
      </p:pic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69435" y="190500"/>
              <a:ext cx="669036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11752" y="280415"/>
              <a:ext cx="162915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10200" y="190500"/>
              <a:ext cx="82600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9488" y="280415"/>
              <a:ext cx="719328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02096" y="190500"/>
              <a:ext cx="731520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06896" y="280415"/>
              <a:ext cx="1188720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64907" y="190500"/>
              <a:ext cx="1018031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56219" y="280415"/>
              <a:ext cx="943355" cy="640079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19480" y="999730"/>
            <a:ext cx="7647305" cy="98171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Hướng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dẫn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tạo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lớp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kiểm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thử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sử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dụng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webdriver</a:t>
            </a:r>
            <a:endParaRPr sz="2800">
              <a:latin typeface="Times New Roman"/>
              <a:cs typeface="Times New Roman"/>
            </a:endParaRPr>
          </a:p>
          <a:p>
            <a:pPr marL="755015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5015" algn="l"/>
              </a:tabLst>
            </a:pPr>
            <a:r>
              <a:rPr sz="2400" dirty="0">
                <a:latin typeface="Times New Roman"/>
                <a:cs typeface="Times New Roman"/>
              </a:rPr>
              <a:t>Tải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driver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trình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duyệt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chạy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testcase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(chọn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chrome)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55322" y="2310638"/>
            <a:ext cx="6444833" cy="2986024"/>
          </a:xfrm>
          <a:prstGeom prst="rect">
            <a:avLst/>
          </a:prstGeom>
        </p:spPr>
      </p:pic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69435" y="190500"/>
              <a:ext cx="669036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11752" y="280415"/>
              <a:ext cx="162915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10200" y="190500"/>
              <a:ext cx="82600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9488" y="280415"/>
              <a:ext cx="719328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02096" y="190500"/>
              <a:ext cx="731520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06896" y="280415"/>
              <a:ext cx="1188720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64907" y="190500"/>
              <a:ext cx="1018031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56219" y="280415"/>
              <a:ext cx="943355" cy="640079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19480" y="999730"/>
            <a:ext cx="7647305" cy="142049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Hướng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dẫn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tạo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lớp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kiểm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thử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sử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dụng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webdriver</a:t>
            </a:r>
            <a:endParaRPr sz="2800">
              <a:latin typeface="Times New Roman"/>
              <a:cs typeface="Times New Roman"/>
            </a:endParaRPr>
          </a:p>
          <a:p>
            <a:pPr marL="755015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5015" algn="l"/>
              </a:tabLst>
            </a:pPr>
            <a:r>
              <a:rPr sz="2400" dirty="0">
                <a:latin typeface="Times New Roman"/>
                <a:cs typeface="Times New Roman"/>
              </a:rPr>
              <a:t>Tải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driver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trình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duyệt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chạy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testcase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(chọn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chrome)</a:t>
            </a:r>
            <a:endParaRPr sz="2400">
              <a:latin typeface="Times New Roman"/>
              <a:cs typeface="Times New Roman"/>
            </a:endParaRPr>
          </a:p>
          <a:p>
            <a:pPr marL="755015" lvl="1" indent="-285750">
              <a:lnSpc>
                <a:spcPct val="100000"/>
              </a:lnSpc>
              <a:spcBef>
                <a:spcPts val="575"/>
              </a:spcBef>
              <a:buClr>
                <a:srgbClr val="FF5A33"/>
              </a:buClr>
              <a:buFont typeface="Wingdings"/>
              <a:buChar char=""/>
              <a:tabLst>
                <a:tab pos="755015" algn="l"/>
              </a:tabLst>
            </a:pPr>
            <a:r>
              <a:rPr sz="2400" dirty="0">
                <a:latin typeface="Times New Roman"/>
                <a:cs typeface="Times New Roman"/>
              </a:rPr>
              <a:t>Chọn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phiên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bản thích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hợp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38200" y="2789301"/>
            <a:ext cx="6715125" cy="3021872"/>
          </a:xfrm>
          <a:prstGeom prst="rect">
            <a:avLst/>
          </a:prstGeom>
        </p:spPr>
      </p:pic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69435" y="190500"/>
              <a:ext cx="669036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11752" y="280415"/>
              <a:ext cx="162915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10200" y="190500"/>
              <a:ext cx="82600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9488" y="280415"/>
              <a:ext cx="719328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02096" y="190500"/>
              <a:ext cx="731520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06896" y="280415"/>
              <a:ext cx="1188720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64907" y="190500"/>
              <a:ext cx="1018031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56219" y="280415"/>
              <a:ext cx="943355" cy="640079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19480" y="999730"/>
            <a:ext cx="7647305" cy="229870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Hướng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dẫn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tạo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lớp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kiểm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thử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sử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dụng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webdriver</a:t>
            </a:r>
            <a:endParaRPr sz="2800">
              <a:latin typeface="Times New Roman"/>
              <a:cs typeface="Times New Roman"/>
            </a:endParaRPr>
          </a:p>
          <a:p>
            <a:pPr marL="755015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5015" algn="l"/>
              </a:tabLst>
            </a:pPr>
            <a:r>
              <a:rPr sz="2400" dirty="0">
                <a:latin typeface="Times New Roman"/>
                <a:cs typeface="Times New Roman"/>
              </a:rPr>
              <a:t>Tạo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kiểm</a:t>
            </a:r>
            <a:r>
              <a:rPr sz="2400" spc="-25" dirty="0">
                <a:latin typeface="Times New Roman"/>
                <a:cs typeface="Times New Roman"/>
              </a:rPr>
              <a:t> thử</a:t>
            </a:r>
            <a:endParaRPr sz="2400">
              <a:latin typeface="Times New Roman"/>
              <a:cs typeface="Times New Roman"/>
            </a:endParaRPr>
          </a:p>
          <a:p>
            <a:pPr marL="755015" lvl="1" indent="-285750">
              <a:lnSpc>
                <a:spcPct val="100000"/>
              </a:lnSpc>
              <a:spcBef>
                <a:spcPts val="575"/>
              </a:spcBef>
              <a:buClr>
                <a:srgbClr val="FF5A33"/>
              </a:buClr>
              <a:buFont typeface="Wingdings"/>
              <a:buChar char=""/>
              <a:tabLst>
                <a:tab pos="755015" algn="l"/>
              </a:tabLst>
            </a:pPr>
            <a:r>
              <a:rPr sz="2400" dirty="0">
                <a:latin typeface="Times New Roman"/>
                <a:cs typeface="Times New Roman"/>
              </a:rPr>
              <a:t>Sử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dụng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đối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tượng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Webdriver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và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chọn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trình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duyệt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275"/>
              </a:spcBef>
              <a:buClr>
                <a:srgbClr val="FF5A33"/>
              </a:buClr>
              <a:buFont typeface="Wingdings"/>
              <a:buChar char=""/>
            </a:pPr>
            <a:endParaRPr sz="2400">
              <a:latin typeface="Times New Roman"/>
              <a:cs typeface="Times New Roman"/>
            </a:endParaRPr>
          </a:p>
          <a:p>
            <a:pPr marL="755015" lvl="1" indent="-285750">
              <a:lnSpc>
                <a:spcPct val="100000"/>
              </a:lnSpc>
              <a:buClr>
                <a:srgbClr val="FF5A33"/>
              </a:buClr>
              <a:buFont typeface="Wingdings"/>
              <a:buChar char=""/>
              <a:tabLst>
                <a:tab pos="755015" algn="l"/>
              </a:tabLst>
            </a:pPr>
            <a:r>
              <a:rPr sz="2400" dirty="0">
                <a:latin typeface="Times New Roman"/>
                <a:cs typeface="Times New Roman"/>
              </a:rPr>
              <a:t>Xác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định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website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muốn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test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76680" y="4223461"/>
            <a:ext cx="52685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Clr>
                <a:srgbClr val="FF5A33"/>
              </a:buClr>
              <a:buFont typeface="Wingdings"/>
              <a:buChar char=""/>
              <a:tabLst>
                <a:tab pos="298450" algn="l"/>
              </a:tabLst>
            </a:pPr>
            <a:r>
              <a:rPr sz="2400" dirty="0">
                <a:latin typeface="Times New Roman"/>
                <a:cs typeface="Times New Roman"/>
              </a:rPr>
              <a:t>Xác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định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test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phần tiêu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để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của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web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067305" y="2590800"/>
            <a:ext cx="4464431" cy="36512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91055" y="3544315"/>
            <a:ext cx="5961761" cy="48577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3760" y="5078857"/>
            <a:ext cx="8415274" cy="365125"/>
          </a:xfrm>
          <a:prstGeom prst="rect">
            <a:avLst/>
          </a:prstGeom>
        </p:spPr>
      </p:pic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69435" y="190500"/>
              <a:ext cx="669036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11752" y="280415"/>
              <a:ext cx="162915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10200" y="190500"/>
              <a:ext cx="82600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9488" y="280415"/>
              <a:ext cx="719328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02096" y="190500"/>
              <a:ext cx="731520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06896" y="280415"/>
              <a:ext cx="1188720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64907" y="190500"/>
              <a:ext cx="1018031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56219" y="280415"/>
              <a:ext cx="943355" cy="640079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19480" y="1087881"/>
            <a:ext cx="76473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Hướng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dẫn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tạo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lớp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kiểm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thử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sử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dụng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webdriver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73760" y="1600200"/>
            <a:ext cx="8229600" cy="4756150"/>
          </a:xfrm>
          <a:prstGeom prst="rect">
            <a:avLst/>
          </a:prstGeom>
        </p:spPr>
      </p:pic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69435" y="190500"/>
              <a:ext cx="669036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11752" y="280415"/>
              <a:ext cx="162915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10200" y="190500"/>
              <a:ext cx="82600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9488" y="280415"/>
              <a:ext cx="719328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02096" y="190500"/>
              <a:ext cx="731520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06896" y="280415"/>
              <a:ext cx="1188720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64907" y="190500"/>
              <a:ext cx="1018031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56219" y="280415"/>
              <a:ext cx="943355" cy="640079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12775" y="934973"/>
            <a:ext cx="76473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Hướng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dẫn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tạo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lớp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kiểm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thử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sử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dụng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webdriver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9975" y="4143502"/>
            <a:ext cx="7322184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5080" indent="-285750">
              <a:lnSpc>
                <a:spcPct val="100000"/>
              </a:lnSpc>
              <a:spcBef>
                <a:spcPts val="100"/>
              </a:spcBef>
              <a:buClr>
                <a:srgbClr val="FF5A33"/>
              </a:buClr>
              <a:buFont typeface="Wingdings"/>
              <a:buChar char=""/>
              <a:tabLst>
                <a:tab pos="299085" algn="l"/>
              </a:tabLst>
            </a:pPr>
            <a:r>
              <a:rPr sz="2400" dirty="0">
                <a:latin typeface="Times New Roman"/>
                <a:cs typeface="Times New Roman"/>
              </a:rPr>
              <a:t>Chạy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lớp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này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sẽ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tự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động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khởi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chạy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google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chorme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để 	</a:t>
            </a:r>
            <a:r>
              <a:rPr sz="2400" dirty="0">
                <a:latin typeface="Times New Roman"/>
                <a:cs typeface="Times New Roman"/>
              </a:rPr>
              <a:t>kiểm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tiêu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đề website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có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đúng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không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4000" y="1361566"/>
            <a:ext cx="6096000" cy="281470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667000" y="4926726"/>
            <a:ext cx="4191000" cy="1929892"/>
          </a:xfrm>
          <a:prstGeom prst="rect">
            <a:avLst/>
          </a:prstGeom>
        </p:spPr>
      </p:pic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69435" y="190500"/>
              <a:ext cx="669036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11752" y="280415"/>
              <a:ext cx="162915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10200" y="190500"/>
              <a:ext cx="82600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9488" y="280415"/>
              <a:ext cx="719328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02096" y="190500"/>
              <a:ext cx="731520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06896" y="280415"/>
              <a:ext cx="1188720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64907" y="190500"/>
              <a:ext cx="1018031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56219" y="280415"/>
              <a:ext cx="943355" cy="640079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12775" y="847265"/>
            <a:ext cx="7647305" cy="98044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8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Hướng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dẫn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tạo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lớp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kiểm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thử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sử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dụng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webdriver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590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Kết quả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là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test</a:t>
            </a:r>
            <a:r>
              <a:rPr sz="2400" spc="-20" dirty="0">
                <a:latin typeface="Times New Roman"/>
                <a:cs typeface="Times New Roman"/>
              </a:rPr>
              <a:t> pass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9975" y="4070350"/>
            <a:ext cx="5473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Clr>
                <a:srgbClr val="FF5A33"/>
              </a:buClr>
              <a:buFont typeface="Wingdings"/>
              <a:buChar char=""/>
              <a:tabLst>
                <a:tab pos="298450" algn="l"/>
              </a:tabLst>
            </a:pPr>
            <a:r>
              <a:rPr sz="2400" dirty="0">
                <a:latin typeface="Times New Roman"/>
                <a:cs typeface="Times New Roman"/>
              </a:rPr>
              <a:t>Refresh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lại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sẽ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thấy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mục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test-</a:t>
            </a:r>
            <a:r>
              <a:rPr sz="2400" spc="-10" dirty="0">
                <a:latin typeface="Times New Roman"/>
                <a:cs typeface="Times New Roman"/>
              </a:rPr>
              <a:t>output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38485" y="2057273"/>
            <a:ext cx="7562894" cy="189077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590800" y="4495816"/>
            <a:ext cx="3157474" cy="2360803"/>
          </a:xfrm>
          <a:prstGeom prst="rect">
            <a:avLst/>
          </a:prstGeom>
        </p:spPr>
      </p:pic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69435" y="190500"/>
              <a:ext cx="669036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11752" y="280415"/>
              <a:ext cx="1629155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10200" y="190500"/>
              <a:ext cx="826008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9488" y="280415"/>
              <a:ext cx="719328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02096" y="190500"/>
              <a:ext cx="731520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06896" y="280415"/>
              <a:ext cx="1188720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64907" y="190500"/>
              <a:ext cx="1018031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56219" y="280415"/>
              <a:ext cx="943355" cy="640079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12775" y="847265"/>
            <a:ext cx="7865745" cy="134620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8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Hướng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dẫn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tạo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lớp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kiểm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thử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sử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dụng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webdriver</a:t>
            </a:r>
            <a:endParaRPr sz="2800">
              <a:latin typeface="Times New Roman"/>
              <a:cs typeface="Times New Roman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590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Mở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tập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index.html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trong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mục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test-output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để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xem</a:t>
            </a:r>
            <a:r>
              <a:rPr sz="2400" spc="-10" dirty="0">
                <a:latin typeface="Times New Roman"/>
                <a:cs typeface="Times New Roman"/>
              </a:rPr>
              <a:t> thông 	</a:t>
            </a:r>
            <a:r>
              <a:rPr sz="2400" dirty="0">
                <a:latin typeface="Times New Roman"/>
                <a:cs typeface="Times New Roman"/>
              </a:rPr>
              <a:t>tin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kêt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quả test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chi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tiết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23404" y="2667000"/>
            <a:ext cx="7723631" cy="3381375"/>
          </a:xfrm>
          <a:prstGeom prst="rect">
            <a:avLst/>
          </a:prstGeom>
        </p:spPr>
      </p:pic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/>
          <p:nvPr/>
        </p:nvSpPr>
        <p:spPr>
          <a:xfrm>
            <a:off x="4194175" y="4077327"/>
            <a:ext cx="4042410" cy="103568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Kiểm</a:t>
            </a:r>
            <a:r>
              <a:rPr sz="3600" b="1" cap="small" spc="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thử</a:t>
            </a:r>
            <a:r>
              <a:rPr sz="3600" b="1" cap="small" spc="3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nâng</a:t>
            </a:r>
            <a:r>
              <a:rPr sz="3600" b="1" cap="small" spc="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spc="-114" dirty="0">
                <a:solidFill>
                  <a:srgbClr val="FF5A33"/>
                </a:solidFill>
                <a:latin typeface="Arial"/>
                <a:cs typeface="Arial"/>
              </a:rPr>
              <a:t>cao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Bài 7:</a:t>
            </a:r>
            <a:r>
              <a:rPr sz="2200" b="1" cap="small" spc="-10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spc="-100" dirty="0">
                <a:solidFill>
                  <a:srgbClr val="FF5A33"/>
                </a:solidFill>
                <a:latin typeface="Arial"/>
                <a:cs typeface="Arial"/>
              </a:rPr>
              <a:t>Test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 Next</a:t>
            </a:r>
            <a:r>
              <a:rPr sz="2200" b="1" cap="small" spc="-1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spc="-50" dirty="0">
                <a:solidFill>
                  <a:srgbClr val="FF5A33"/>
                </a:solidFill>
                <a:latin typeface="Arial"/>
                <a:cs typeface="Arial"/>
              </a:rPr>
              <a:t>Generation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spc="-25" dirty="0">
                <a:solidFill>
                  <a:srgbClr val="FF5A33"/>
                </a:solidFill>
                <a:latin typeface="Arial"/>
                <a:cs typeface="Arial"/>
              </a:rPr>
              <a:t>(2)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64252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5711" y="280415"/>
              <a:ext cx="8641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53100" y="190500"/>
              <a:ext cx="1097279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23659" y="280415"/>
              <a:ext cx="758952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97623" y="280415"/>
              <a:ext cx="1159764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69352" y="280415"/>
              <a:ext cx="1030224" cy="64007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12775" y="849020"/>
            <a:ext cx="7595870" cy="198882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Chạy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nhiều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test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case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cùng</a:t>
            </a:r>
            <a:r>
              <a:rPr sz="2800" spc="-25" dirty="0">
                <a:latin typeface="Times New Roman"/>
                <a:cs typeface="Times New Roman"/>
              </a:rPr>
              <a:t> lúc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25" dirty="0">
                <a:latin typeface="Times New Roman"/>
                <a:cs typeface="Times New Roman"/>
              </a:rPr>
              <a:t>TestNG </a:t>
            </a:r>
            <a:r>
              <a:rPr sz="2800" dirty="0">
                <a:latin typeface="Times New Roman"/>
                <a:cs typeface="Times New Roman"/>
              </a:rPr>
              <a:t>hỗ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trợ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tạo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file.xml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chỉ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định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chạy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nhiều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test </a:t>
            </a:r>
            <a:r>
              <a:rPr sz="2800" dirty="0">
                <a:latin typeface="Times New Roman"/>
                <a:cs typeface="Times New Roman"/>
              </a:rPr>
              <a:t>case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có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thứ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tự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hoặc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không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thứ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tự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Thực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thông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qua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packet,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cmd..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57400" y="2810889"/>
            <a:ext cx="4724400" cy="4047107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64252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5711" y="280415"/>
              <a:ext cx="8641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53100" y="190500"/>
              <a:ext cx="1097279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23659" y="280415"/>
              <a:ext cx="758952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97623" y="280415"/>
              <a:ext cx="1159764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69352" y="280415"/>
              <a:ext cx="1030224" cy="640079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03021" y="847265"/>
            <a:ext cx="7446009" cy="98044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8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Ví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dụ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tạo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testng.xml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dùng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tên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package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để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thực</a:t>
            </a:r>
            <a:r>
              <a:rPr sz="2800" spc="-25" dirty="0">
                <a:latin typeface="Times New Roman"/>
                <a:cs typeface="Times New Roman"/>
              </a:rPr>
              <a:t> thi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590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Tạo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java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-</a:t>
            </a:r>
            <a:r>
              <a:rPr sz="2400" dirty="0">
                <a:latin typeface="Times New Roman"/>
                <a:cs typeface="Times New Roman"/>
              </a:rPr>
              <a:t>&gt;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tạo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package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tên</a:t>
            </a:r>
            <a:r>
              <a:rPr sz="2400" spc="-10" dirty="0">
                <a:latin typeface="Times New Roman"/>
                <a:cs typeface="Times New Roman"/>
              </a:rPr>
              <a:t> fpoly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0221" y="4070350"/>
            <a:ext cx="72866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5080" indent="-285750">
              <a:lnSpc>
                <a:spcPct val="100000"/>
              </a:lnSpc>
              <a:spcBef>
                <a:spcPts val="100"/>
              </a:spcBef>
              <a:buClr>
                <a:srgbClr val="FF5A33"/>
              </a:buClr>
              <a:buFont typeface="Wingdings"/>
              <a:buChar char=""/>
              <a:tabLst>
                <a:tab pos="299085" algn="l"/>
              </a:tabLst>
            </a:pPr>
            <a:r>
              <a:rPr sz="2400" dirty="0">
                <a:latin typeface="Times New Roman"/>
                <a:cs typeface="Times New Roman"/>
              </a:rPr>
              <a:t>Tạo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tập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tin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TestNG.xml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và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thêm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vào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package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của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các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lớp 	</a:t>
            </a:r>
            <a:r>
              <a:rPr sz="2400" spc="-20" dirty="0">
                <a:latin typeface="Times New Roman"/>
                <a:cs typeface="Times New Roman"/>
              </a:rPr>
              <a:t>test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82645" y="2114469"/>
            <a:ext cx="4126605" cy="17147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57400" y="4495817"/>
            <a:ext cx="5410200" cy="2360803"/>
          </a:xfrm>
          <a:prstGeom prst="rect">
            <a:avLst/>
          </a:prstGeom>
        </p:spPr>
      </p:pic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64252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5711" y="280415"/>
              <a:ext cx="8641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53100" y="190500"/>
              <a:ext cx="1097279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23659" y="280415"/>
              <a:ext cx="758952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97623" y="280415"/>
              <a:ext cx="1159764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69352" y="280415"/>
              <a:ext cx="1030224" cy="640079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03021" y="847265"/>
            <a:ext cx="7446009" cy="98044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8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Ví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dụ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tạo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testng.xml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dùng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tên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package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để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thực</a:t>
            </a:r>
            <a:r>
              <a:rPr sz="2800" spc="-25" dirty="0">
                <a:latin typeface="Times New Roman"/>
                <a:cs typeface="Times New Roman"/>
              </a:rPr>
              <a:t> thi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590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Tạo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lớp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kiểm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thử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thứ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nhất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với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TestNG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0221" y="5387441"/>
            <a:ext cx="4263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Clr>
                <a:srgbClr val="FF5A33"/>
              </a:buClr>
              <a:buFont typeface="Wingdings"/>
              <a:buChar char=""/>
              <a:tabLst>
                <a:tab pos="298450" algn="l"/>
              </a:tabLst>
            </a:pPr>
            <a:r>
              <a:rPr sz="2400" dirty="0">
                <a:latin typeface="Times New Roman"/>
                <a:cs typeface="Times New Roman"/>
              </a:rPr>
              <a:t>Lớp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test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demoOne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có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test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case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43000" y="2010382"/>
            <a:ext cx="6858000" cy="3399817"/>
          </a:xfrm>
          <a:prstGeom prst="rect">
            <a:avLst/>
          </a:prstGeom>
        </p:spPr>
      </p:pic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64252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5711" y="280415"/>
              <a:ext cx="8641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53100" y="190500"/>
              <a:ext cx="1097279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23659" y="280415"/>
              <a:ext cx="758952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97623" y="280415"/>
              <a:ext cx="1159764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69352" y="280415"/>
              <a:ext cx="1030224" cy="64007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03021" y="847265"/>
            <a:ext cx="7446009" cy="98044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8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Ví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dụ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tạo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testng.xml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dùng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tên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package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để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thực</a:t>
            </a:r>
            <a:r>
              <a:rPr sz="2800" spc="-25" dirty="0">
                <a:latin typeface="Times New Roman"/>
                <a:cs typeface="Times New Roman"/>
              </a:rPr>
              <a:t> thi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590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Tạo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lớp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kiểm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thử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thứ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hai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với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TestNG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2500" y="2227784"/>
            <a:ext cx="7239000" cy="4112004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64252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5711" y="280415"/>
              <a:ext cx="8641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53100" y="190500"/>
              <a:ext cx="1097279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23659" y="280415"/>
              <a:ext cx="758952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97623" y="280415"/>
              <a:ext cx="1159764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69352" y="280415"/>
              <a:ext cx="1030224" cy="64007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03021" y="847265"/>
            <a:ext cx="7937500" cy="178562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8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Ví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dụ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tạo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testng.xml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dùng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tên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package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để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thực</a:t>
            </a:r>
            <a:r>
              <a:rPr sz="2800" spc="-25" dirty="0">
                <a:latin typeface="Times New Roman"/>
                <a:cs typeface="Times New Roman"/>
              </a:rPr>
              <a:t> thi</a:t>
            </a:r>
            <a:endParaRPr sz="2800">
              <a:latin typeface="Times New Roman"/>
              <a:cs typeface="Times New Roman"/>
            </a:endParaRPr>
          </a:p>
          <a:p>
            <a:pPr marL="755015" marR="5080" lvl="1" indent="-285750">
              <a:lnSpc>
                <a:spcPct val="100800"/>
              </a:lnSpc>
              <a:spcBef>
                <a:spcPts val="570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Chuột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phải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testng.xml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150" dirty="0">
                <a:latin typeface="Arial"/>
                <a:cs typeface="Arial"/>
              </a:rPr>
              <a:t>-</a:t>
            </a:r>
            <a:r>
              <a:rPr sz="2400" dirty="0">
                <a:latin typeface="Arial"/>
                <a:cs typeface="Arial"/>
              </a:rPr>
              <a:t>&gt;Run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60" dirty="0">
                <a:latin typeface="Arial"/>
                <a:cs typeface="Arial"/>
              </a:rPr>
              <a:t>as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‘TestNG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Suite’ </a:t>
            </a:r>
            <a:r>
              <a:rPr sz="2400" dirty="0">
                <a:latin typeface="Arial"/>
                <a:cs typeface="Arial"/>
              </a:rPr>
              <a:t>để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thực 	</a:t>
            </a:r>
            <a:r>
              <a:rPr sz="2400" spc="60" dirty="0">
                <a:latin typeface="Arial"/>
                <a:cs typeface="Arial"/>
              </a:rPr>
              <a:t>thi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testcase</a:t>
            </a:r>
            <a:endParaRPr sz="24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5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Tất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cả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lớp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kiểm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thử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thuộc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package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fpoly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sẽ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được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thực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thi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0390" y="2819450"/>
            <a:ext cx="8239506" cy="3124835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64252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5711" y="280415"/>
              <a:ext cx="8641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53100" y="190500"/>
              <a:ext cx="1097279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23659" y="280415"/>
              <a:ext cx="758952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97623" y="280415"/>
              <a:ext cx="1159764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69352" y="280415"/>
              <a:ext cx="1030224" cy="64007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03021" y="847265"/>
            <a:ext cx="7446009" cy="98044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8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Ví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dụ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tạo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testng.xml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dùng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tên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package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để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thực</a:t>
            </a:r>
            <a:r>
              <a:rPr sz="2800" spc="-25" dirty="0">
                <a:latin typeface="Times New Roman"/>
                <a:cs typeface="Times New Roman"/>
              </a:rPr>
              <a:t> thi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590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Kết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quả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chi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tiết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khi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xem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giao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diện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console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85500" y="2190750"/>
            <a:ext cx="7520299" cy="3524250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96228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47688" y="280415"/>
              <a:ext cx="864107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79564" y="190500"/>
              <a:ext cx="722376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75219" y="280415"/>
              <a:ext cx="1324355" cy="64007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915917" y="6427114"/>
            <a:ext cx="13100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Arial"/>
                <a:cs typeface="Arial"/>
              </a:rPr>
              <a:t>Kiểm</a:t>
            </a:r>
            <a:r>
              <a:rPr sz="1200" spc="-15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888888"/>
                </a:solidFill>
                <a:latin typeface="Arial"/>
                <a:cs typeface="Arial"/>
              </a:rPr>
              <a:t>thử</a:t>
            </a:r>
            <a:r>
              <a:rPr sz="1200" spc="-1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888888"/>
                </a:solidFill>
                <a:latin typeface="Arial"/>
                <a:cs typeface="Arial"/>
              </a:rPr>
              <a:t>nâng</a:t>
            </a:r>
            <a:r>
              <a:rPr sz="1200" spc="-3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Arial"/>
                <a:cs typeface="Arial"/>
              </a:rPr>
              <a:t>cao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26957" y="642711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rlito"/>
                <a:cs typeface="Carlito"/>
              </a:rPr>
              <a:t>29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40" y="1090929"/>
            <a:ext cx="7678420" cy="2329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180" dirty="0">
                <a:latin typeface="Arial"/>
                <a:cs typeface="Arial"/>
              </a:rPr>
              <a:t>Test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group là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95" dirty="0">
                <a:latin typeface="Arial"/>
                <a:cs typeface="Arial"/>
              </a:rPr>
              <a:t>một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60" dirty="0">
                <a:latin typeface="Arial"/>
                <a:cs typeface="Arial"/>
              </a:rPr>
              <a:t>trong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những tính năng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quan </a:t>
            </a:r>
            <a:r>
              <a:rPr sz="2800" spc="75" dirty="0">
                <a:latin typeface="Arial"/>
                <a:cs typeface="Arial"/>
              </a:rPr>
              <a:t>trọng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của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testNG</a:t>
            </a:r>
            <a:endParaRPr sz="2800">
              <a:latin typeface="Arial"/>
              <a:cs typeface="Arial"/>
            </a:endParaRPr>
          </a:p>
          <a:p>
            <a:pPr marL="355600" marR="469900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50" dirty="0">
                <a:latin typeface="Arial"/>
                <a:cs typeface="Arial"/>
              </a:rPr>
              <a:t>Giải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quyết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được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các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yêu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cầu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đặt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ra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45" dirty="0">
                <a:latin typeface="Arial"/>
                <a:cs typeface="Arial"/>
              </a:rPr>
              <a:t>của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silde trước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35" dirty="0">
                <a:latin typeface="Arial"/>
                <a:cs typeface="Arial"/>
              </a:rPr>
              <a:t>Có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thể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cấu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hình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trên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file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xml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hoặc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trên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55" dirty="0">
                <a:latin typeface="Arial"/>
                <a:cs typeface="Arial"/>
              </a:rPr>
              <a:t>tool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8600" y="3429000"/>
            <a:ext cx="8686800" cy="3428997"/>
          </a:xfrm>
          <a:prstGeom prst="rect">
            <a:avLst/>
          </a:prstGeom>
        </p:spPr>
      </p:pic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57344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8803" y="280415"/>
              <a:ext cx="8641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46191" y="190500"/>
              <a:ext cx="1097280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16752" y="280415"/>
              <a:ext cx="758951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8044" y="190500"/>
              <a:ext cx="678179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9503" y="280415"/>
              <a:ext cx="864107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72528" y="280415"/>
              <a:ext cx="1527048" cy="64007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19430" y="1083610"/>
            <a:ext cx="8105140" cy="2142894"/>
          </a:xfrm>
          <a:prstGeom prst="rect">
            <a:avLst/>
          </a:prstGeom>
        </p:spPr>
        <p:txBody>
          <a:bodyPr vert="horz" wrap="square" lIns="0" tIns="237490" rIns="0" bIns="0" rtlCol="0">
            <a:spAutoFit/>
          </a:bodyPr>
          <a:lstStyle/>
          <a:p>
            <a:pPr marL="355600" marR="299720" indent="-342900">
              <a:lnSpc>
                <a:spcPct val="100000"/>
              </a:lnSpc>
              <a:spcBef>
                <a:spcPts val="17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20" smtClean="0">
                <a:latin typeface="Times New Roman"/>
                <a:cs typeface="Times New Roman"/>
              </a:rPr>
              <a:t>Test</a:t>
            </a:r>
            <a:r>
              <a:rPr sz="2800" spc="-45" smtClean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groups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hỗ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trợ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thực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hiện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các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nhóm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testcase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phức </a:t>
            </a:r>
            <a:r>
              <a:rPr sz="2800" spc="-25" dirty="0">
                <a:latin typeface="Times New Roman"/>
                <a:cs typeface="Times New Roman"/>
              </a:rPr>
              <a:t>tạp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Thực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hiện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song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song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các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nhóm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testcase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Khai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báo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test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groups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trong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file.xml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0685" y="3218398"/>
            <a:ext cx="5574030" cy="2612308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57344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8803" y="280415"/>
              <a:ext cx="8641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46191" y="190500"/>
              <a:ext cx="1097280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16752" y="280415"/>
              <a:ext cx="758951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8044" y="190500"/>
              <a:ext cx="678179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9503" y="280415"/>
              <a:ext cx="864107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72528" y="280415"/>
              <a:ext cx="1527048" cy="640079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03021" y="847265"/>
            <a:ext cx="4258945" cy="98044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8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Ví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dụ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tạo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test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group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590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Tạo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lớp kiểm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thử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có 3 </a:t>
            </a:r>
            <a:r>
              <a:rPr sz="2400" spc="-10" dirty="0">
                <a:latin typeface="Times New Roman"/>
                <a:cs typeface="Times New Roman"/>
              </a:rPr>
              <a:t>group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8071" y="1828816"/>
            <a:ext cx="8201914" cy="5027803"/>
          </a:xfrm>
          <a:prstGeom prst="rect">
            <a:avLst/>
          </a:prstGeom>
        </p:spPr>
      </p:pic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57344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8803" y="280415"/>
              <a:ext cx="8641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46191" y="190500"/>
              <a:ext cx="1097280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16752" y="280415"/>
              <a:ext cx="758951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8044" y="190500"/>
              <a:ext cx="678179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9503" y="280415"/>
              <a:ext cx="864107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72528" y="280415"/>
              <a:ext cx="1527048" cy="640079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03021" y="847265"/>
            <a:ext cx="7541259" cy="134620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8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Ví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dụ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tạo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test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group</a:t>
            </a:r>
            <a:endParaRPr sz="2800">
              <a:latin typeface="Times New Roman"/>
              <a:cs typeface="Times New Roman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590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Tạo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tập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Testng.xml </a:t>
            </a:r>
            <a:r>
              <a:rPr sz="2400" dirty="0">
                <a:latin typeface="Times New Roman"/>
                <a:cs typeface="Times New Roman"/>
              </a:rPr>
              <a:t>cấu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hình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chạy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testcase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trong 	</a:t>
            </a:r>
            <a:r>
              <a:rPr sz="2400" dirty="0">
                <a:latin typeface="Times New Roman"/>
                <a:cs typeface="Times New Roman"/>
              </a:rPr>
              <a:t>group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Regression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67661" y="2772633"/>
            <a:ext cx="5408676" cy="3155091"/>
          </a:xfrm>
          <a:prstGeom prst="rect">
            <a:avLst/>
          </a:prstGeom>
        </p:spPr>
      </p:pic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57344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8803" y="280415"/>
              <a:ext cx="8641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46191" y="190500"/>
              <a:ext cx="1097280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16752" y="280415"/>
              <a:ext cx="758951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8044" y="190500"/>
              <a:ext cx="678179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9503" y="280415"/>
              <a:ext cx="864107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72528" y="280415"/>
              <a:ext cx="1527048" cy="640079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03021" y="847265"/>
            <a:ext cx="7464425" cy="98044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8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Ví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dụ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tạo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test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group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590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Kết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quả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khi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chỉ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thực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case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của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group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Regression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5800" y="1949069"/>
            <a:ext cx="7772400" cy="4908927"/>
          </a:xfrm>
          <a:prstGeom prst="rect">
            <a:avLst/>
          </a:prstGeom>
        </p:spPr>
      </p:pic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5900" y="520700"/>
            <a:ext cx="8470900" cy="5346700"/>
            <a:chOff x="215900" y="520700"/>
            <a:chExt cx="8470900" cy="5346700"/>
          </a:xfrm>
        </p:grpSpPr>
        <p:sp>
          <p:nvSpPr>
            <p:cNvPr id="3" name="object 3"/>
            <p:cNvSpPr/>
            <p:nvPr/>
          </p:nvSpPr>
          <p:spPr>
            <a:xfrm>
              <a:off x="228600" y="1023619"/>
              <a:ext cx="8458200" cy="4843780"/>
            </a:xfrm>
            <a:custGeom>
              <a:avLst/>
              <a:gdLst/>
              <a:ahLst/>
              <a:cxnLst/>
              <a:rect l="l" t="t" r="r" b="b"/>
              <a:pathLst>
                <a:path w="8458200" h="4843780">
                  <a:moveTo>
                    <a:pt x="8458200" y="0"/>
                  </a:moveTo>
                  <a:lnTo>
                    <a:pt x="0" y="0"/>
                  </a:lnTo>
                  <a:lnTo>
                    <a:pt x="0" y="4843780"/>
                  </a:lnTo>
                  <a:lnTo>
                    <a:pt x="8458200" y="4843780"/>
                  </a:lnTo>
                  <a:lnTo>
                    <a:pt x="84582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8600" y="533400"/>
              <a:ext cx="5334000" cy="1000760"/>
            </a:xfrm>
            <a:custGeom>
              <a:avLst/>
              <a:gdLst/>
              <a:ahLst/>
              <a:cxnLst/>
              <a:rect l="l" t="t" r="r" b="b"/>
              <a:pathLst>
                <a:path w="5334000" h="1000760">
                  <a:moveTo>
                    <a:pt x="4833620" y="0"/>
                  </a:moveTo>
                  <a:lnTo>
                    <a:pt x="0" y="0"/>
                  </a:lnTo>
                  <a:lnTo>
                    <a:pt x="0" y="1000760"/>
                  </a:lnTo>
                  <a:lnTo>
                    <a:pt x="4833620" y="1000760"/>
                  </a:lnTo>
                  <a:lnTo>
                    <a:pt x="5334000" y="500379"/>
                  </a:lnTo>
                  <a:lnTo>
                    <a:pt x="48336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8600" y="533400"/>
              <a:ext cx="5334000" cy="1000760"/>
            </a:xfrm>
            <a:custGeom>
              <a:avLst/>
              <a:gdLst/>
              <a:ahLst/>
              <a:cxnLst/>
              <a:rect l="l" t="t" r="r" b="b"/>
              <a:pathLst>
                <a:path w="5334000" h="1000760">
                  <a:moveTo>
                    <a:pt x="0" y="0"/>
                  </a:moveTo>
                  <a:lnTo>
                    <a:pt x="4833620" y="0"/>
                  </a:lnTo>
                  <a:lnTo>
                    <a:pt x="5334000" y="500379"/>
                  </a:lnTo>
                  <a:lnTo>
                    <a:pt x="4833620" y="1000760"/>
                  </a:lnTo>
                  <a:lnTo>
                    <a:pt x="0" y="100076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2503" y="829132"/>
            <a:ext cx="2822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79546"/>
                </a:solidFill>
              </a:rPr>
              <a:t>Tổng</a:t>
            </a:r>
            <a:r>
              <a:rPr spc="-50" dirty="0">
                <a:solidFill>
                  <a:srgbClr val="F79546"/>
                </a:solidFill>
              </a:rPr>
              <a:t> </a:t>
            </a:r>
            <a:r>
              <a:rPr dirty="0">
                <a:solidFill>
                  <a:srgbClr val="F79546"/>
                </a:solidFill>
              </a:rPr>
              <a:t>kết</a:t>
            </a:r>
            <a:r>
              <a:rPr spc="-50" dirty="0">
                <a:solidFill>
                  <a:srgbClr val="F79546"/>
                </a:solidFill>
              </a:rPr>
              <a:t> </a:t>
            </a:r>
            <a:r>
              <a:rPr dirty="0">
                <a:solidFill>
                  <a:srgbClr val="F79546"/>
                </a:solidFill>
              </a:rPr>
              <a:t>bài</a:t>
            </a:r>
            <a:r>
              <a:rPr spc="-50" dirty="0">
                <a:solidFill>
                  <a:srgbClr val="F79546"/>
                </a:solidFill>
              </a:rPr>
              <a:t> </a:t>
            </a:r>
            <a:r>
              <a:rPr spc="-25" dirty="0">
                <a:solidFill>
                  <a:srgbClr val="F79546"/>
                </a:solidFill>
              </a:rPr>
              <a:t>học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78027" y="1629419"/>
            <a:ext cx="5357495" cy="3805529"/>
          </a:xfrm>
          <a:prstGeom prst="rect">
            <a:avLst/>
          </a:prstGeom>
        </p:spPr>
        <p:txBody>
          <a:bodyPr vert="horz" wrap="square" lIns="0" tIns="1136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5"/>
              </a:spcBef>
            </a:pPr>
            <a:r>
              <a:rPr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I: Tổng quan Selenium</a:t>
            </a:r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690"/>
              </a:spcBef>
            </a:pPr>
            <a:r>
              <a:rPr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Khái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670"/>
              </a:spcBef>
            </a:pPr>
            <a:r>
              <a:rPr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thành phần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670"/>
              </a:spcBef>
            </a:pPr>
            <a:r>
              <a:rPr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Selenium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webdriver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II: TestNG và WebDriver</a:t>
            </a:r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690"/>
              </a:spcBef>
            </a:pPr>
            <a:r>
              <a:rPr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Suites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675"/>
              </a:spcBef>
            </a:pPr>
            <a:r>
              <a:rPr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842</Words>
  <Application>Microsoft Office PowerPoint</Application>
  <PresentationFormat>On-screen Show (4:3)</PresentationFormat>
  <Paragraphs>123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Calibri Light</vt:lpstr>
      <vt:lpstr>Carlito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Tổng kết bài học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 Học Văn Phòng</dc:title>
  <dc:creator>Hans</dc:creator>
  <cp:lastModifiedBy>ADMIN</cp:lastModifiedBy>
  <cp:revision>4</cp:revision>
  <dcterms:created xsi:type="dcterms:W3CDTF">2024-03-08T02:51:36Z</dcterms:created>
  <dcterms:modified xsi:type="dcterms:W3CDTF">2024-11-03T02:40:36Z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2018-08-10T00:00:00Z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2024-03-08T00:00:00Z</vt:filetime>
  </property>
  <property fmtid="{D5CDD505-2E9C-101B-9397-08002B2CF9AE}" pid="5" name="Producer">
    <vt:lpwstr>3-Heights(TM) PDF Security Shell 4.8.25.2 (http://www.pdf-tools.com)</vt:lpwstr>
  </property>
</Properties>
</file>