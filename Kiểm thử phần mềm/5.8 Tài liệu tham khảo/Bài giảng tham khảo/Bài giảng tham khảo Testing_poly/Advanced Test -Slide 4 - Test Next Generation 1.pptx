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258950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68042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55978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10857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17853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205092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07728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64670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77847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16318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60455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25846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28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12" Type="http://schemas.openxmlformats.org/officeDocument/2006/relationships/image" Target="../media/image3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3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12" Type="http://schemas.openxmlformats.org/officeDocument/2006/relationships/image" Target="../media/image3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hyperlink" Target="http://beust.com/eclipse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3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8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3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hyperlink" Target="https://dl.bintray.com/testng-team/testng-eclipse-release/zipped/6.11.0.201703011520/site_assembly.zip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12" Type="http://schemas.openxmlformats.org/officeDocument/2006/relationships/image" Target="../media/image3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4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5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9.png"/><Relationship Id="rId4" Type="http://schemas.openxmlformats.org/officeDocument/2006/relationships/image" Target="../media/image42.png"/><Relationship Id="rId9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51.png"/><Relationship Id="rId4" Type="http://schemas.openxmlformats.org/officeDocument/2006/relationships/image" Target="../media/image42.png"/><Relationship Id="rId9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53.png"/><Relationship Id="rId5" Type="http://schemas.openxmlformats.org/officeDocument/2006/relationships/image" Target="../media/image43.png"/><Relationship Id="rId10" Type="http://schemas.openxmlformats.org/officeDocument/2006/relationships/image" Target="../media/image52.png"/><Relationship Id="rId4" Type="http://schemas.openxmlformats.org/officeDocument/2006/relationships/image" Target="../media/image42.png"/><Relationship Id="rId9" Type="http://schemas.openxmlformats.org/officeDocument/2006/relationships/hyperlink" Target="http://docs.seleniumhq.org/download/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56.png"/><Relationship Id="rId4" Type="http://schemas.openxmlformats.org/officeDocument/2006/relationships/image" Target="../media/image42.png"/><Relationship Id="rId9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58.png"/><Relationship Id="rId4" Type="http://schemas.openxmlformats.org/officeDocument/2006/relationships/image" Target="../media/image42.png"/><Relationship Id="rId9" Type="http://schemas.openxmlformats.org/officeDocument/2006/relationships/image" Target="../media/image57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60.png"/><Relationship Id="rId4" Type="http://schemas.openxmlformats.org/officeDocument/2006/relationships/image" Target="../media/image42.png"/><Relationship Id="rId9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4194175" y="4077327"/>
            <a:ext cx="4213860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5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 6:</a:t>
            </a:r>
            <a:r>
              <a:rPr sz="2200" b="1" cap="small" spc="-10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100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 Next</a:t>
            </a:r>
            <a:r>
              <a:rPr sz="2200" b="1" cap="small" spc="-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50" dirty="0">
                <a:solidFill>
                  <a:srgbClr val="FF5A33"/>
                </a:solidFill>
                <a:latin typeface="Arial"/>
                <a:cs typeface="Arial"/>
              </a:rPr>
              <a:t>Generation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35" dirty="0">
                <a:solidFill>
                  <a:srgbClr val="FF5A33"/>
                </a:solidFill>
                <a:latin typeface="Arial"/>
                <a:cs typeface="Arial"/>
              </a:rPr>
              <a:t>(P1)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934200" y="190500"/>
            <a:ext cx="1865630" cy="789940"/>
            <a:chOff x="6934200" y="190500"/>
            <a:chExt cx="186563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4200" y="190500"/>
              <a:ext cx="809244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6724" y="280415"/>
              <a:ext cx="7680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9832" y="280415"/>
              <a:ext cx="9997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28650" y="2362200"/>
            <a:ext cx="5434330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Tổng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Next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Generation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120" dirty="0">
                <a:latin typeface="Arial"/>
                <a:cs typeface="Arial"/>
              </a:rPr>
              <a:t>Cấu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Next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Generation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20" dirty="0">
                <a:latin typeface="Arial"/>
                <a:cs typeface="Arial"/>
              </a:rPr>
              <a:t>Kết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hợp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TestNT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Selenium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API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842759" y="190500"/>
            <a:ext cx="1957070" cy="789940"/>
            <a:chOff x="6842759" y="190500"/>
            <a:chExt cx="195707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59" y="190500"/>
              <a:ext cx="749807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5847" y="280415"/>
              <a:ext cx="690372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1231" y="280415"/>
              <a:ext cx="12283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1002777"/>
            <a:ext cx="6673215" cy="326884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800" dirty="0">
                <a:latin typeface="Arial"/>
                <a:cs typeface="Arial"/>
              </a:rPr>
              <a:t>Phần I: Tổng quan Test Next Generation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solidFill>
                  <a:srgbClr val="FF5A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Khái niệm Test Next Generation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solidFill>
                  <a:srgbClr val="FF5A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Cấu hình Test Next Generation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800" dirty="0">
                <a:latin typeface="Arial"/>
                <a:cs typeface="Arial"/>
              </a:rPr>
              <a:t>Phần II: TestNG và Selenum API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latin typeface="Arial"/>
                <a:cs typeface="Arial"/>
              </a:rPr>
              <a:t>Tạo project TestNG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latin typeface="Arial"/>
                <a:cs typeface="Arial"/>
              </a:rPr>
              <a:t>Kết hợp Selenium vớ TestNG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784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930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1179" y="190500"/>
              <a:ext cx="7498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4267" y="280415"/>
              <a:ext cx="90373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24244" y="190500"/>
              <a:ext cx="722376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19900" y="280415"/>
              <a:ext cx="1979676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5940" y="283210"/>
            <a:ext cx="8070850" cy="35642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33265">
              <a:lnSpc>
                <a:spcPct val="100000"/>
              </a:lnSpc>
              <a:spcBef>
                <a:spcPts val="95"/>
              </a:spcBef>
            </a:pPr>
            <a:r>
              <a:rPr sz="2800" b="1" cap="small" spc="-145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800" b="1" cap="small" spc="-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Next</a:t>
            </a:r>
            <a:r>
              <a:rPr sz="2800" b="1" cap="small" spc="-4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30" dirty="0">
                <a:solidFill>
                  <a:srgbClr val="FF5A33"/>
                </a:solidFill>
                <a:latin typeface="Arial"/>
                <a:cs typeface="Arial"/>
              </a:rPr>
              <a:t>Generation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36195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Next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Generation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(TestNG)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framework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hỗ </a:t>
            </a:r>
            <a:r>
              <a:rPr sz="2800" dirty="0">
                <a:latin typeface="Arial"/>
                <a:cs typeface="Arial"/>
              </a:rPr>
              <a:t>trợ</a:t>
            </a:r>
            <a:r>
              <a:rPr sz="2800" spc="1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automation</a:t>
            </a:r>
            <a:r>
              <a:rPr sz="2800" spc="1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test.</a:t>
            </a:r>
            <a:endParaRPr sz="2800">
              <a:latin typeface="Arial"/>
              <a:cs typeface="Arial"/>
            </a:endParaRPr>
          </a:p>
          <a:p>
            <a:pPr marL="355600" marR="64706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45" dirty="0">
                <a:latin typeface="Arial"/>
                <a:cs typeface="Arial"/>
              </a:rPr>
              <a:t>Bổ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thêm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năng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Junit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30" dirty="0">
                <a:latin typeface="Arial"/>
                <a:cs typeface="Arial"/>
              </a:rPr>
              <a:t>giúp </a:t>
            </a:r>
            <a:r>
              <a:rPr sz="2800" spc="55" dirty="0">
                <a:latin typeface="Arial"/>
                <a:cs typeface="Arial"/>
              </a:rPr>
              <a:t>unit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hiệu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quả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hơn</a:t>
            </a:r>
            <a:endParaRPr sz="2800">
              <a:latin typeface="Arial"/>
              <a:cs typeface="Arial"/>
            </a:endParaRPr>
          </a:p>
          <a:p>
            <a:pPr marL="355600" marR="52324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20" dirty="0">
                <a:latin typeface="Arial"/>
                <a:cs typeface="Arial"/>
              </a:rPr>
              <a:t>Cho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phép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viết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lớp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thử linh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hoạt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và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mạnh </a:t>
            </a:r>
            <a:r>
              <a:rPr sz="2800" dirty="0">
                <a:latin typeface="Arial"/>
                <a:cs typeface="Arial"/>
              </a:rPr>
              <a:t>mẽ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hơn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với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35" dirty="0">
                <a:latin typeface="Arial"/>
                <a:cs typeface="Arial"/>
              </a:rPr>
              <a:t>sự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trợ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giúp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của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các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annotation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2334" y="3923951"/>
            <a:ext cx="6629400" cy="29178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1328" y="190500"/>
              <a:ext cx="65074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355" y="280415"/>
              <a:ext cx="694944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6835" y="280415"/>
              <a:ext cx="87020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0528" y="280415"/>
              <a:ext cx="96774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002792" cy="78943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535940" y="1004973"/>
            <a:ext cx="5619115" cy="25863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Arial"/>
                <a:cs typeface="Arial"/>
              </a:rPr>
              <a:t>Quản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lý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case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35" dirty="0">
                <a:latin typeface="Arial"/>
                <a:cs typeface="Arial"/>
              </a:rPr>
              <a:t>Xây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dựng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báo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cáo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hiệu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quả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0" dirty="0">
                <a:latin typeface="Arial"/>
                <a:cs typeface="Arial"/>
              </a:rPr>
              <a:t>Kiểm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thử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song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song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Arial"/>
                <a:cs typeface="Arial"/>
              </a:rPr>
              <a:t>Cung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cấp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annotation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mạnh</a:t>
            </a:r>
            <a:endParaRPr sz="2800">
              <a:latin typeface="Arial"/>
              <a:cs typeface="Arial"/>
            </a:endParaRPr>
          </a:p>
          <a:p>
            <a:pPr marL="452755" indent="-44005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dirty="0">
                <a:latin typeface="Arial"/>
                <a:cs typeface="Arial"/>
              </a:rPr>
              <a:t>Unit</a:t>
            </a:r>
            <a:r>
              <a:rPr sz="2800" spc="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test,</a:t>
            </a:r>
            <a:r>
              <a:rPr sz="2800" spc="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integration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test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38298" y="3581412"/>
            <a:ext cx="4867275" cy="2778251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1328" y="190500"/>
              <a:ext cx="65074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355" y="280415"/>
              <a:ext cx="694944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6835" y="280415"/>
              <a:ext cx="87020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0528" y="280415"/>
              <a:ext cx="96774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002792" cy="78943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535940" y="1090929"/>
            <a:ext cx="2995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35" dirty="0">
                <a:latin typeface="Arial"/>
                <a:cs typeface="Arial"/>
              </a:rPr>
              <a:t>So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sánh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với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95400" y="2261489"/>
            <a:ext cx="6973697" cy="2900299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430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95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280415"/>
              <a:ext cx="96164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9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2020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9408" y="190500"/>
              <a:ext cx="1095756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90929"/>
            <a:ext cx="7609840" cy="271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55" dirty="0">
                <a:latin typeface="Arial"/>
                <a:cs typeface="Arial"/>
              </a:rPr>
              <a:t>TestNG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95" dirty="0">
                <a:latin typeface="Arial"/>
                <a:cs typeface="Arial"/>
              </a:rPr>
              <a:t>một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pluin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Eclipse,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IntelliJ's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IDEA, </a:t>
            </a:r>
            <a:r>
              <a:rPr sz="2800" spc="-10" dirty="0">
                <a:latin typeface="Arial"/>
                <a:cs typeface="Arial"/>
              </a:rPr>
              <a:t>netbean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75" dirty="0">
                <a:latin typeface="Arial"/>
                <a:cs typeface="Arial"/>
              </a:rPr>
              <a:t>Có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cách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tích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hợp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TestNg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vào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Eclipse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80" dirty="0">
                <a:latin typeface="Arial"/>
                <a:cs typeface="Arial"/>
              </a:rPr>
              <a:t>Sử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Eclipse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Marketplace.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280" dirty="0">
                <a:latin typeface="Arial"/>
                <a:cs typeface="Arial"/>
              </a:rPr>
              <a:t>Sử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năng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“Install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Software…”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80" dirty="0">
                <a:latin typeface="Arial"/>
                <a:cs typeface="Arial"/>
              </a:rPr>
              <a:t>Sử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file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Jar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11219" y="2895600"/>
            <a:ext cx="4908931" cy="3962397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430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95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280415"/>
              <a:ext cx="96164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9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2020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9408" y="190500"/>
              <a:ext cx="1095756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02777"/>
            <a:ext cx="6033135" cy="1347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Eclipse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Marketplace</a:t>
            </a:r>
            <a:endParaRPr sz="28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Mở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Eclipse,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menu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help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chọn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“Eclipse 	</a:t>
            </a:r>
            <a:r>
              <a:rPr sz="2400" spc="-10" dirty="0">
                <a:latin typeface="Arial"/>
                <a:cs typeface="Arial"/>
              </a:rPr>
              <a:t>Marketplace…”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38397" y="2091932"/>
            <a:ext cx="4883911" cy="4686554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24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889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040" y="280415"/>
              <a:ext cx="961643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1500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32959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70347" y="190500"/>
              <a:ext cx="1194815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02777"/>
            <a:ext cx="7870825" cy="21520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Eclipse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Marketplace</a:t>
            </a:r>
            <a:endParaRPr sz="2800">
              <a:latin typeface="Arial"/>
              <a:cs typeface="Arial"/>
            </a:endParaRPr>
          </a:p>
          <a:p>
            <a:pPr marL="755015" marR="20447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75" dirty="0">
                <a:latin typeface="Arial"/>
                <a:cs typeface="Arial"/>
              </a:rPr>
              <a:t>Tại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cửa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sổ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“Eclipse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Marketplace”,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gõ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“TestNG”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ô 	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kiếm,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click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“Go”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plugin.</a:t>
            </a:r>
            <a:endParaRPr sz="24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Chọn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mục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“testing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55" dirty="0">
                <a:latin typeface="Arial"/>
                <a:cs typeface="Arial"/>
              </a:rPr>
              <a:t>for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eclipse”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và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Install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tiến 	</a:t>
            </a:r>
            <a:r>
              <a:rPr sz="2400" dirty="0">
                <a:latin typeface="Arial"/>
                <a:cs typeface="Arial"/>
              </a:rPr>
              <a:t>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cài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Testng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43101" y="3144352"/>
            <a:ext cx="6788150" cy="3713645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430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95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280415"/>
              <a:ext cx="96164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9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2020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9408" y="190500"/>
              <a:ext cx="1095756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02777"/>
            <a:ext cx="7654925" cy="1347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Eclipse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Marketplace</a:t>
            </a:r>
            <a:endParaRPr sz="28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85" dirty="0">
                <a:latin typeface="Arial"/>
                <a:cs typeface="Arial"/>
              </a:rPr>
              <a:t>Cài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bình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10" dirty="0">
                <a:latin typeface="Arial"/>
                <a:cs typeface="Arial"/>
              </a:rPr>
              <a:t> như </a:t>
            </a:r>
            <a:r>
              <a:rPr sz="2400" spc="-90" dirty="0">
                <a:latin typeface="Arial"/>
                <a:cs typeface="Arial"/>
              </a:rPr>
              <a:t>các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plugin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khác,</a:t>
            </a:r>
            <a:r>
              <a:rPr sz="2400" dirty="0">
                <a:latin typeface="Arial"/>
                <a:cs typeface="Arial"/>
              </a:rPr>
              <a:t> khi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thành 	</a:t>
            </a:r>
            <a:r>
              <a:rPr sz="2400" dirty="0">
                <a:latin typeface="Arial"/>
                <a:cs typeface="Arial"/>
              </a:rPr>
              <a:t>công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eclipse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yêu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cầu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khởi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50" dirty="0">
                <a:latin typeface="Arial"/>
                <a:cs typeface="Arial"/>
              </a:rPr>
              <a:t>động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mềm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28800" y="2362200"/>
            <a:ext cx="5638800" cy="4495797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24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889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040" y="280415"/>
              <a:ext cx="961643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1500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32959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70347" y="190500"/>
              <a:ext cx="1194815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02777"/>
            <a:ext cx="6437630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“Install New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Software”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25" dirty="0">
                <a:latin typeface="Arial"/>
                <a:cs typeface="Arial"/>
              </a:rPr>
              <a:t>Từ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menu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help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chọn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“Install New</a:t>
            </a:r>
            <a:r>
              <a:rPr sz="2400" spc="-10" dirty="0">
                <a:latin typeface="Arial"/>
                <a:cs typeface="Arial"/>
              </a:rPr>
              <a:t> Software”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39010" y="1987823"/>
            <a:ext cx="4665980" cy="4816475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430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95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280415"/>
              <a:ext cx="96164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9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2020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9408" y="190500"/>
              <a:ext cx="1095756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02777"/>
            <a:ext cx="7755890" cy="25177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“Install New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Software”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125" dirty="0">
                <a:latin typeface="Arial"/>
                <a:cs typeface="Arial"/>
              </a:rPr>
              <a:t>Trên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cửa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sổ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“install”,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link</a:t>
            </a:r>
            <a:endParaRPr sz="2400">
              <a:latin typeface="Arial"/>
              <a:cs typeface="Arial"/>
            </a:endParaRPr>
          </a:p>
          <a:p>
            <a:pPr marL="756285" marR="157480">
              <a:lnSpc>
                <a:spcPct val="100000"/>
              </a:lnSpc>
            </a:pPr>
            <a:r>
              <a:rPr sz="2400" dirty="0">
                <a:latin typeface="Arial"/>
                <a:cs typeface="Arial"/>
                <a:hlinkClick r:id="rId12"/>
              </a:rPr>
              <a:t>“http://beust.com/eclipse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spc="1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ô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“Work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with”,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nhấn </a:t>
            </a:r>
            <a:r>
              <a:rPr sz="2400" spc="-10" dirty="0">
                <a:latin typeface="Arial"/>
                <a:cs typeface="Arial"/>
              </a:rPr>
              <a:t>“Add”</a:t>
            </a:r>
            <a:endParaRPr sz="24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125" dirty="0">
                <a:latin typeface="Arial"/>
                <a:cs typeface="Arial"/>
              </a:rPr>
              <a:t>Trên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cửa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sổ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“Add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repository”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nhập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“TestNG”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chọn 	</a:t>
            </a:r>
            <a:r>
              <a:rPr sz="2400" spc="-25" dirty="0">
                <a:latin typeface="Arial"/>
                <a:cs typeface="Arial"/>
              </a:rPr>
              <a:t>OK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1950" y="3498611"/>
            <a:ext cx="8324850" cy="3342132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24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889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040" y="280415"/>
              <a:ext cx="961643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1500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32959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70347" y="190500"/>
              <a:ext cx="1194815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02777"/>
            <a:ext cx="7251700" cy="1347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“Install New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Software”</a:t>
            </a:r>
            <a:endParaRPr sz="28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105" dirty="0">
                <a:latin typeface="Arial"/>
                <a:cs typeface="Arial"/>
              </a:rPr>
              <a:t>Dựa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đường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link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cấp,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eclipse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plugin 	TestNG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3400" y="2408313"/>
            <a:ext cx="8324850" cy="4224401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430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95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280415"/>
              <a:ext cx="96164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9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2020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9408" y="190500"/>
              <a:ext cx="1095756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02777"/>
            <a:ext cx="550735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“Install New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Software”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Chọn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các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mục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TestNG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và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next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66800" y="1981198"/>
            <a:ext cx="7239000" cy="4876799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430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95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280415"/>
              <a:ext cx="96164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9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2020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9408" y="190500"/>
              <a:ext cx="1095756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687839"/>
            <a:ext cx="5246370" cy="98107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“Install New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Software”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5" dirty="0">
                <a:latin typeface="Arial"/>
                <a:cs typeface="Arial"/>
              </a:rPr>
              <a:t>Tiến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cài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bình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thường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90600" y="1666748"/>
            <a:ext cx="7162800" cy="5191760"/>
            <a:chOff x="990600" y="1666748"/>
            <a:chExt cx="7162800" cy="5191760"/>
          </a:xfrm>
        </p:grpSpPr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0600" y="1666748"/>
              <a:ext cx="7162800" cy="34004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09800" y="5006975"/>
              <a:ext cx="5114925" cy="18510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430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95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280415"/>
              <a:ext cx="96164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9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2020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9408" y="190500"/>
              <a:ext cx="1095756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383540" y="1002777"/>
            <a:ext cx="8071484" cy="40551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file</a:t>
            </a:r>
            <a:r>
              <a:rPr sz="2800" spc="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jar</a:t>
            </a:r>
            <a:endParaRPr sz="28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Download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jar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link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2"/>
              </a:rPr>
              <a:t>https://dl.bintray.com/testng-</a:t>
            </a:r>
            <a:r>
              <a:rPr sz="2400" u="none" spc="-10" dirty="0">
                <a:solidFill>
                  <a:srgbClr val="0000FF"/>
                </a:solidFill>
                <a:latin typeface="Arial"/>
                <a:cs typeface="Arial"/>
              </a:rPr>
              <a:t> 	</a:t>
            </a:r>
            <a:r>
              <a:rPr sz="24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2"/>
              </a:rPr>
              <a:t>team/testng-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2"/>
              </a:rPr>
              <a:t>eclipse-</a:t>
            </a:r>
            <a:r>
              <a:rPr sz="2400" u="none" spc="-10" dirty="0">
                <a:solidFill>
                  <a:srgbClr val="0000FF"/>
                </a:solidFill>
                <a:latin typeface="Arial"/>
                <a:cs typeface="Arial"/>
              </a:rPr>
              <a:t> 	</a:t>
            </a:r>
            <a:r>
              <a:rPr sz="24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12"/>
              </a:rPr>
              <a:t>release/zipped/6.11.0.201703011520/site_assembly.zip</a:t>
            </a:r>
            <a:endParaRPr sz="2400">
              <a:latin typeface="Arial"/>
              <a:cs typeface="Arial"/>
            </a:endParaRPr>
          </a:p>
          <a:p>
            <a:pPr marL="755015" marR="11811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  <a:tab pos="6637020" algn="l"/>
              </a:tabLst>
            </a:pPr>
            <a:r>
              <a:rPr sz="2400" dirty="0">
                <a:latin typeface="Arial"/>
                <a:cs typeface="Arial"/>
              </a:rPr>
              <a:t>Download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xong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 2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mục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trong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là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" dirty="0">
                <a:latin typeface="Arial"/>
                <a:cs typeface="Arial"/>
              </a:rPr>
              <a:t>“features” 	</a:t>
            </a:r>
            <a:r>
              <a:rPr sz="2400" spc="-75" dirty="0">
                <a:latin typeface="Arial"/>
                <a:cs typeface="Arial"/>
              </a:rPr>
              <a:t>và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“plugins“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80" dirty="0">
                <a:latin typeface="Arial"/>
                <a:cs typeface="Arial"/>
              </a:rPr>
              <a:t>Bên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trong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480"/>
              </a:spcBef>
              <a:buClr>
                <a:srgbClr val="FF5A33"/>
              </a:buClr>
              <a:buFont typeface="Wingdings"/>
              <a:buChar char=""/>
              <a:tabLst>
                <a:tab pos="1155065" algn="l"/>
              </a:tabLst>
            </a:pPr>
            <a:r>
              <a:rPr sz="2000" spc="-25" dirty="0">
                <a:latin typeface="Arial"/>
                <a:cs typeface="Arial"/>
              </a:rPr>
              <a:t>org.testng.eclipse.maven_6.11.0.201703011520.jar</a:t>
            </a:r>
            <a:endParaRPr sz="20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484"/>
              </a:spcBef>
              <a:buClr>
                <a:srgbClr val="FF5A33"/>
              </a:buClr>
              <a:buFont typeface="Wingdings"/>
              <a:buChar char=""/>
              <a:tabLst>
                <a:tab pos="1155065" algn="l"/>
              </a:tabLst>
            </a:pPr>
            <a:r>
              <a:rPr sz="2000" spc="-25" dirty="0">
                <a:latin typeface="Arial"/>
                <a:cs typeface="Arial"/>
              </a:rPr>
              <a:t>org.testng.eclipse_6.11.0.201703011520.jar</a:t>
            </a:r>
            <a:endParaRPr sz="20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480"/>
              </a:spcBef>
              <a:buClr>
                <a:srgbClr val="FF5A33"/>
              </a:buClr>
              <a:buFont typeface="Wingdings"/>
              <a:buChar char=""/>
              <a:tabLst>
                <a:tab pos="1155065" algn="l"/>
              </a:tabLst>
            </a:pPr>
            <a:r>
              <a:rPr sz="2000" spc="-25" dirty="0">
                <a:latin typeface="Arial"/>
                <a:cs typeface="Arial"/>
              </a:rPr>
              <a:t>org.testng.eclipse.maven.feature_6.11.0.201703011520.jar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24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889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040" y="280415"/>
              <a:ext cx="961643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1500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32959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70347" y="190500"/>
              <a:ext cx="1194815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383540" y="1002777"/>
            <a:ext cx="7752080" cy="1347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file</a:t>
            </a:r>
            <a:r>
              <a:rPr sz="2800" spc="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jar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85" dirty="0">
                <a:latin typeface="Arial"/>
                <a:cs typeface="Arial"/>
              </a:rPr>
              <a:t>Vào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nơi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cài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eclipse,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mục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“testng-</a:t>
            </a:r>
            <a:r>
              <a:rPr sz="2400" spc="-10" dirty="0">
                <a:latin typeface="Arial"/>
                <a:cs typeface="Arial"/>
              </a:rPr>
              <a:t>eclipse-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6.11”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và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chép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đã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download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về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40" dirty="0">
                <a:latin typeface="Arial"/>
                <a:cs typeface="Arial"/>
              </a:rPr>
              <a:t>đó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1073" y="2590800"/>
            <a:ext cx="8621903" cy="3886200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85175" cy="789940"/>
            <a:chOff x="457200" y="190500"/>
            <a:chExt cx="8385175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4304" y="190500"/>
              <a:ext cx="69037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955" y="280415"/>
              <a:ext cx="6736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280415"/>
              <a:ext cx="961644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9" y="190500"/>
              <a:ext cx="678179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2020" y="280415"/>
              <a:ext cx="864108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9408" y="190500"/>
              <a:ext cx="1095756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8444" y="280415"/>
              <a:ext cx="1115568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303" y="190500"/>
              <a:ext cx="6583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4952" y="280415"/>
              <a:ext cx="1286255" cy="640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976" y="190500"/>
              <a:ext cx="1033272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383540" y="1002777"/>
            <a:ext cx="8204834" cy="21520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file</a:t>
            </a:r>
            <a:r>
              <a:rPr sz="2800" spc="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jar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55" dirty="0">
                <a:latin typeface="Arial"/>
                <a:cs typeface="Arial"/>
              </a:rPr>
              <a:t>Khởi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50" dirty="0">
                <a:latin typeface="Arial"/>
                <a:cs typeface="Arial"/>
              </a:rPr>
              <a:t>động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eclipse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cập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plugin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35" dirty="0">
                <a:latin typeface="Arial"/>
                <a:cs typeface="Arial"/>
              </a:rPr>
              <a:t>Kiểm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đã load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công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hay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bằng </a:t>
            </a:r>
            <a:r>
              <a:rPr sz="2400" spc="-20" dirty="0">
                <a:latin typeface="Arial"/>
                <a:cs typeface="Arial"/>
              </a:rPr>
              <a:t>cách</a:t>
            </a:r>
            <a:endParaRPr sz="2400">
              <a:latin typeface="Arial"/>
              <a:cs typeface="Arial"/>
            </a:endParaRPr>
          </a:p>
          <a:p>
            <a:pPr marL="756285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nhấn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100" dirty="0">
                <a:latin typeface="Arial"/>
                <a:cs typeface="Arial"/>
              </a:rPr>
              <a:t>tổ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hơp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CTRL+N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mở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wizar,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xác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tesng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đã </a:t>
            </a:r>
            <a:r>
              <a:rPr sz="2400" spc="-20" dirty="0">
                <a:latin typeface="Arial"/>
                <a:cs typeface="Arial"/>
              </a:rPr>
              <a:t>cài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công.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52800" y="2819780"/>
            <a:ext cx="4724400" cy="4038216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4194175" y="4077327"/>
            <a:ext cx="4213860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5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 6:</a:t>
            </a:r>
            <a:r>
              <a:rPr sz="2200" b="1" cap="small" spc="-10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100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 Next</a:t>
            </a:r>
            <a:r>
              <a:rPr sz="2200" b="1" cap="small" spc="-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50" dirty="0">
                <a:solidFill>
                  <a:srgbClr val="FF5A33"/>
                </a:solidFill>
                <a:latin typeface="Arial"/>
                <a:cs typeface="Arial"/>
              </a:rPr>
              <a:t>Generation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35" dirty="0">
                <a:solidFill>
                  <a:srgbClr val="FF5A33"/>
                </a:solidFill>
                <a:latin typeface="Arial"/>
                <a:cs typeface="Arial"/>
              </a:rPr>
              <a:t>(P2)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577580" cy="789940"/>
            <a:chOff x="457200" y="190500"/>
            <a:chExt cx="857758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188" y="280415"/>
              <a:ext cx="80010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76" y="280415"/>
              <a:ext cx="10317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0" y="280415"/>
              <a:ext cx="1074419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280415"/>
              <a:ext cx="8854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194816" cy="78943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83540" y="283210"/>
            <a:ext cx="8650732" cy="23128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38295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Tạo</a:t>
            </a:r>
            <a:r>
              <a:rPr sz="2800" b="1" cap="small" spc="-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40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800" b="1" cap="small" spc="-1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04" dirty="0">
                <a:solidFill>
                  <a:srgbClr val="FF5A33"/>
                </a:solidFill>
                <a:latin typeface="Arial"/>
                <a:cs typeface="Arial"/>
              </a:rPr>
              <a:t>case</a:t>
            </a:r>
            <a:r>
              <a:rPr sz="2800" b="1" cap="small" spc="5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với</a:t>
            </a:r>
            <a:r>
              <a:rPr sz="2800" b="1" cap="small" spc="2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65" dirty="0">
                <a:solidFill>
                  <a:srgbClr val="FF5A33"/>
                </a:solidFill>
                <a:latin typeface="Arial"/>
                <a:cs typeface="Arial"/>
              </a:rPr>
              <a:t>TestNG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55" dirty="0">
                <a:latin typeface="Arial"/>
                <a:cs typeface="Arial"/>
              </a:rPr>
              <a:t>TestNG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235" dirty="0">
                <a:latin typeface="Arial"/>
                <a:cs typeface="Arial"/>
              </a:rPr>
              <a:t>sử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bộ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Selenium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API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Thêm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thư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việc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TestNG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từ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library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của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project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20" dirty="0">
                <a:latin typeface="Arial"/>
                <a:cs typeface="Arial"/>
              </a:rPr>
              <a:t>Sử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class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TestNG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1169" y="2933700"/>
            <a:ext cx="7301610" cy="342265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577580" cy="789940"/>
            <a:chOff x="457200" y="190500"/>
            <a:chExt cx="857758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188" y="280415"/>
              <a:ext cx="80010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76" y="280415"/>
              <a:ext cx="10317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0" y="280415"/>
              <a:ext cx="1074419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280415"/>
              <a:ext cx="8854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194816" cy="789432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383540" y="1090929"/>
            <a:ext cx="2833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85" dirty="0">
                <a:latin typeface="Arial"/>
                <a:cs typeface="Arial"/>
              </a:rPr>
              <a:t>Tạo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project </a:t>
            </a:r>
            <a:r>
              <a:rPr sz="2800" spc="-25" dirty="0">
                <a:latin typeface="Arial"/>
                <a:cs typeface="Arial"/>
              </a:rPr>
              <a:t>mới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2000" y="1767289"/>
            <a:ext cx="7696200" cy="15855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2000" y="3429000"/>
            <a:ext cx="7543800" cy="3428996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577580" cy="789940"/>
            <a:chOff x="457200" y="190500"/>
            <a:chExt cx="857758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188" y="280415"/>
              <a:ext cx="80010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76" y="280415"/>
              <a:ext cx="10317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0" y="280415"/>
              <a:ext cx="1074419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280415"/>
              <a:ext cx="8854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194816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304800" y="753872"/>
            <a:ext cx="5669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Thêm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thư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viện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TestNG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vào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project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4800" y="1156208"/>
            <a:ext cx="7390130" cy="5545455"/>
            <a:chOff x="304800" y="1156208"/>
            <a:chExt cx="7390130" cy="5545455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9324" y="1156208"/>
              <a:ext cx="6245352" cy="2667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4800" y="3295141"/>
              <a:ext cx="4448175" cy="3406013"/>
            </a:xfrm>
            <a:prstGeom prst="rect">
              <a:avLst/>
            </a:prstGeom>
          </p:spPr>
        </p:pic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577580" cy="789940"/>
            <a:chOff x="457200" y="190500"/>
            <a:chExt cx="857758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188" y="280415"/>
              <a:ext cx="80010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76" y="280415"/>
              <a:ext cx="10317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0" y="280415"/>
              <a:ext cx="1074419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280415"/>
              <a:ext cx="8854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194816" cy="789432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383540" y="1090929"/>
            <a:ext cx="7024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0" dirty="0">
                <a:latin typeface="Arial"/>
                <a:cs typeface="Arial"/>
              </a:rPr>
              <a:t>Kiểm </a:t>
            </a:r>
            <a:r>
              <a:rPr sz="2800" dirty="0">
                <a:latin typeface="Arial"/>
                <a:cs typeface="Arial"/>
              </a:rPr>
              <a:t>tra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project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tồn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tại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thư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viện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TestNG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7800" y="1784357"/>
            <a:ext cx="6096000" cy="255116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76400" y="4478020"/>
            <a:ext cx="5389117" cy="2243455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577580" cy="789940"/>
            <a:chOff x="457200" y="190500"/>
            <a:chExt cx="857758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188" y="280415"/>
              <a:ext cx="80010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76" y="280415"/>
              <a:ext cx="10317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0" y="280415"/>
              <a:ext cx="1074419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280415"/>
              <a:ext cx="8854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194816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383540" y="1002777"/>
            <a:ext cx="5979160" cy="1347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Thêm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API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Selenium</a:t>
            </a:r>
            <a:endParaRPr sz="28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75" dirty="0">
                <a:latin typeface="Arial"/>
                <a:cs typeface="Arial"/>
              </a:rPr>
              <a:t>Tải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Jar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Selenium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API: 	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9"/>
              </a:rPr>
              <a:t>http://docs.seleniumhq.org/download/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0739" y="3275457"/>
            <a:ext cx="3506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8450" algn="l"/>
              </a:tabLst>
            </a:pPr>
            <a:r>
              <a:rPr sz="2400" dirty="0">
                <a:latin typeface="Arial"/>
                <a:cs typeface="Arial"/>
              </a:rPr>
              <a:t>Chọn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External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JARs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0600" y="2330069"/>
            <a:ext cx="6841490" cy="7620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8200" y="3858590"/>
            <a:ext cx="7696200" cy="2301240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577580" cy="789940"/>
            <a:chOff x="457200" y="190500"/>
            <a:chExt cx="857758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188" y="280415"/>
              <a:ext cx="80010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76" y="280415"/>
              <a:ext cx="10317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0" y="280415"/>
              <a:ext cx="1074419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280415"/>
              <a:ext cx="8854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194816" cy="789432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383540" y="1002777"/>
            <a:ext cx="7637780" cy="13474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Thêm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API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Selenium</a:t>
            </a:r>
            <a:endParaRPr sz="28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35" dirty="0">
                <a:latin typeface="Arial"/>
                <a:cs typeface="Arial"/>
              </a:rPr>
              <a:t>Thêm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mục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libs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và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file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client-combined-</a:t>
            </a:r>
            <a:r>
              <a:rPr sz="2400" spc="-45" dirty="0">
                <a:latin typeface="Arial"/>
                <a:cs typeface="Arial"/>
              </a:rPr>
              <a:t>3.12.0, 	</a:t>
            </a:r>
            <a:r>
              <a:rPr sz="2400" dirty="0">
                <a:latin typeface="Arial"/>
                <a:cs typeface="Arial"/>
              </a:rPr>
              <a:t>client-combined-</a:t>
            </a:r>
            <a:r>
              <a:rPr sz="2400" spc="-55" dirty="0">
                <a:latin typeface="Arial"/>
                <a:cs typeface="Arial"/>
              </a:rPr>
              <a:t>3.12.0-</a:t>
            </a:r>
            <a:r>
              <a:rPr sz="2400" spc="-10" dirty="0">
                <a:latin typeface="Arial"/>
                <a:cs typeface="Arial"/>
              </a:rPr>
              <a:t>sources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7800" y="2438400"/>
            <a:ext cx="6172200" cy="3917950"/>
          </a:xfrm>
          <a:prstGeom prst="rect">
            <a:avLst/>
          </a:prstGeom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577580" cy="789940"/>
            <a:chOff x="457200" y="190500"/>
            <a:chExt cx="857758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188" y="280415"/>
              <a:ext cx="80010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76" y="280415"/>
              <a:ext cx="10317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0" y="280415"/>
              <a:ext cx="1074419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280415"/>
              <a:ext cx="8854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194816" cy="789432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231140" y="1090929"/>
            <a:ext cx="4707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Hoàn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việc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tạo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project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605098"/>
            <a:ext cx="5181600" cy="475125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80379" y="1624711"/>
            <a:ext cx="3563619" cy="2261489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577580" cy="789940"/>
            <a:chOff x="457200" y="190500"/>
            <a:chExt cx="857758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188" y="280415"/>
              <a:ext cx="80010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76" y="280415"/>
              <a:ext cx="10317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0" y="280415"/>
              <a:ext cx="1074419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280415"/>
              <a:ext cx="8854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194816" cy="78943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231140" y="1090929"/>
            <a:ext cx="4210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85" dirty="0">
                <a:latin typeface="Arial"/>
                <a:cs typeface="Arial"/>
              </a:rPr>
              <a:t>Tạo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lớp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case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TestNG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8848" y="1565021"/>
            <a:ext cx="8955405" cy="4226560"/>
            <a:chOff x="188848" y="1565021"/>
            <a:chExt cx="8955405" cy="422656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8848" y="1565021"/>
              <a:ext cx="4992751" cy="27783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18048" y="1565021"/>
              <a:ext cx="3925950" cy="4226179"/>
            </a:xfrm>
            <a:prstGeom prst="rect">
              <a:avLst/>
            </a:prstGeom>
          </p:spPr>
        </p:pic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577580" cy="789940"/>
            <a:chOff x="457200" y="190500"/>
            <a:chExt cx="857758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2188" y="280415"/>
              <a:ext cx="80010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5776" y="280415"/>
              <a:ext cx="1031748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440" y="280415"/>
              <a:ext cx="1074419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823" y="280415"/>
              <a:ext cx="88544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607" y="190500"/>
              <a:ext cx="6781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2068" y="280415"/>
              <a:ext cx="864107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9456" y="190500"/>
              <a:ext cx="1194816" cy="78943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31140" y="624488"/>
            <a:ext cx="8912860" cy="965649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marR="525145" indent="-342900">
              <a:lnSpc>
                <a:spcPct val="100000"/>
              </a:lnSpc>
              <a:spcBef>
                <a:spcPts val="71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50" smtClean="0">
                <a:latin typeface="Arial"/>
                <a:cs typeface="Arial"/>
              </a:rPr>
              <a:t>Nội</a:t>
            </a:r>
            <a:r>
              <a:rPr sz="2800" spc="-5" smtClean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dung lớp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case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bao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gồm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@Test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xác</a:t>
            </a:r>
            <a:r>
              <a:rPr sz="2800" spc="-20" dirty="0">
                <a:latin typeface="Arial"/>
                <a:cs typeface="Arial"/>
              </a:rPr>
              <a:t> định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20" dirty="0">
                <a:latin typeface="Arial"/>
                <a:cs typeface="Arial"/>
              </a:rPr>
              <a:t> case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77339" y="1294130"/>
            <a:ext cx="5935980" cy="5563870"/>
            <a:chOff x="2077339" y="1294130"/>
            <a:chExt cx="5935980" cy="556387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7339" y="1294130"/>
              <a:ext cx="5935726" cy="2362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77339" y="3626919"/>
              <a:ext cx="5695061" cy="323107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5917" y="6427114"/>
            <a:ext cx="1310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Arial"/>
                <a:cs typeface="Arial"/>
              </a:rPr>
              <a:t>Kiểm</a:t>
            </a:r>
            <a:r>
              <a:rPr sz="1200" spc="-1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888888"/>
                </a:solidFill>
                <a:latin typeface="Arial"/>
                <a:cs typeface="Arial"/>
              </a:rPr>
              <a:t>thử</a:t>
            </a:r>
            <a:r>
              <a:rPr sz="12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888888"/>
                </a:solidFill>
                <a:latin typeface="Arial"/>
                <a:cs typeface="Arial"/>
              </a:rPr>
              <a:t>nâng</a:t>
            </a:r>
            <a:r>
              <a:rPr sz="1200" spc="-3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Arial"/>
                <a:cs typeface="Arial"/>
              </a:rPr>
              <a:t>cao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6957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31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5900" y="520700"/>
            <a:ext cx="8470900" cy="5346700"/>
            <a:chOff x="215900" y="520700"/>
            <a:chExt cx="8470900" cy="5346700"/>
          </a:xfrm>
        </p:grpSpPr>
        <p:sp>
          <p:nvSpPr>
            <p:cNvPr id="5" name="object 5"/>
            <p:cNvSpPr/>
            <p:nvPr/>
          </p:nvSpPr>
          <p:spPr>
            <a:xfrm>
              <a:off x="228600" y="1023619"/>
              <a:ext cx="8458200" cy="4843780"/>
            </a:xfrm>
            <a:custGeom>
              <a:avLst/>
              <a:gdLst/>
              <a:ahLst/>
              <a:cxnLst/>
              <a:rect l="l" t="t" r="r" b="b"/>
              <a:pathLst>
                <a:path w="8458200" h="4843780">
                  <a:moveTo>
                    <a:pt x="8458200" y="0"/>
                  </a:moveTo>
                  <a:lnTo>
                    <a:pt x="0" y="0"/>
                  </a:lnTo>
                  <a:lnTo>
                    <a:pt x="0" y="4843780"/>
                  </a:lnTo>
                  <a:lnTo>
                    <a:pt x="8458200" y="484378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4833620" y="0"/>
                  </a:moveTo>
                  <a:lnTo>
                    <a:pt x="0" y="0"/>
                  </a:lnTo>
                  <a:lnTo>
                    <a:pt x="0" y="1000760"/>
                  </a:lnTo>
                  <a:lnTo>
                    <a:pt x="4833620" y="1000760"/>
                  </a:lnTo>
                  <a:lnTo>
                    <a:pt x="5334000" y="500379"/>
                  </a:lnTo>
                  <a:lnTo>
                    <a:pt x="4833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0" y="0"/>
                  </a:moveTo>
                  <a:lnTo>
                    <a:pt x="4833620" y="0"/>
                  </a:lnTo>
                  <a:lnTo>
                    <a:pt x="5334000" y="500379"/>
                  </a:lnTo>
                  <a:lnTo>
                    <a:pt x="483362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2503" y="829132"/>
            <a:ext cx="2822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79546"/>
                </a:solidFill>
              </a:rPr>
              <a:t>Tổng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kết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bài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spc="-25" dirty="0">
                <a:solidFill>
                  <a:srgbClr val="F79546"/>
                </a:solidFill>
              </a:rPr>
              <a:t>học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7340" y="1517388"/>
            <a:ext cx="7023734" cy="3284873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Tổng quan Test Next Generation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niệm Test Next Generation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Test Next Generation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TestNG và Selenum API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TestNG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hợp Selenium vớ TestNG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674</Words>
  <Application>Microsoft Office PowerPoint</Application>
  <PresentationFormat>On-screen Show (4:3)</PresentationFormat>
  <Paragraphs>135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Carlito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Tổng kết bài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4</cp:revision>
  <dcterms:created xsi:type="dcterms:W3CDTF">2024-03-08T02:51:13Z</dcterms:created>
  <dcterms:modified xsi:type="dcterms:W3CDTF">2024-11-03T01:58:40Z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2024-03-08T00:00:00Z</vt:filetime>
  </property>
  <property fmtid="{D5CDD505-2E9C-101B-9397-08002B2CF9AE}" pid="5" name="Producer">
    <vt:lpwstr>3-Heights(TM) PDF Security Shell 4.8.25.2 (http://www.pdf-tools.com)</vt:lpwstr>
  </property>
</Properties>
</file>