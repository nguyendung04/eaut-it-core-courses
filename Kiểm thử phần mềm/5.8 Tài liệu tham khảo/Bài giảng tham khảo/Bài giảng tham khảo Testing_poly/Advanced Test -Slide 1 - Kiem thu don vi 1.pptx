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216843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398600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517541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530100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335019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415828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356279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891594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846348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287189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77566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03/11/2024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mtClean="0"/>
              <a:t>Kiểm</a:t>
            </a:r>
            <a:r>
              <a:rPr lang="en-US" spc="-15" smtClean="0"/>
              <a:t> </a:t>
            </a:r>
            <a:r>
              <a:rPr lang="en-US" smtClean="0"/>
              <a:t>thử</a:t>
            </a:r>
            <a:r>
              <a:rPr lang="en-US" spc="-10" smtClean="0"/>
              <a:t> </a:t>
            </a:r>
            <a:r>
              <a:rPr lang="en-US" smtClean="0"/>
              <a:t>nâng</a:t>
            </a:r>
            <a:r>
              <a:rPr lang="en-US" spc="-30" smtClean="0"/>
              <a:t> </a:t>
            </a:r>
            <a:r>
              <a:rPr lang="en-US" spc="-25" smtClean="0"/>
              <a:t>cao</a:t>
            </a:r>
            <a:endParaRPr lang="en-US" spc="-25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63162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junit.org/junit4/)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2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11.png"/><Relationship Id="rId5" Type="http://schemas.openxmlformats.org/officeDocument/2006/relationships/image" Target="../media/image23.png"/><Relationship Id="rId10" Type="http://schemas.openxmlformats.org/officeDocument/2006/relationships/image" Target="../media/image10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11.png"/><Relationship Id="rId5" Type="http://schemas.openxmlformats.org/officeDocument/2006/relationships/image" Target="../media/image23.png"/><Relationship Id="rId10" Type="http://schemas.openxmlformats.org/officeDocument/2006/relationships/image" Target="../media/image10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11.png"/><Relationship Id="rId5" Type="http://schemas.openxmlformats.org/officeDocument/2006/relationships/image" Target="../media/image23.png"/><Relationship Id="rId10" Type="http://schemas.openxmlformats.org/officeDocument/2006/relationships/image" Target="../media/image10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/>
          <p:nvPr/>
        </p:nvSpPr>
        <p:spPr>
          <a:xfrm>
            <a:off x="4194175" y="4077327"/>
            <a:ext cx="3994785" cy="103568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3600" b="1" cap="small" dirty="0">
                <a:solidFill>
                  <a:srgbClr val="00B0F0"/>
                </a:solidFill>
                <a:latin typeface="Arial"/>
                <a:cs typeface="Arial"/>
              </a:rPr>
              <a:t>Kiểm</a:t>
            </a:r>
            <a:r>
              <a:rPr sz="3600" b="1" cap="small" spc="25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00B0F0"/>
                </a:solidFill>
                <a:latin typeface="Arial"/>
                <a:cs typeface="Arial"/>
              </a:rPr>
              <a:t>thử</a:t>
            </a:r>
            <a:r>
              <a:rPr sz="3600" b="1" cap="small" spc="30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00B0F0"/>
                </a:solidFill>
                <a:latin typeface="Arial"/>
                <a:cs typeface="Arial"/>
              </a:rPr>
              <a:t>nâng</a:t>
            </a:r>
            <a:r>
              <a:rPr sz="3600" b="1" cap="small" spc="25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sz="3600" b="1" cap="small" spc="-240" dirty="0">
                <a:solidFill>
                  <a:srgbClr val="00B0F0"/>
                </a:solidFill>
                <a:latin typeface="Arial"/>
                <a:cs typeface="Arial"/>
              </a:rPr>
              <a:t>cao</a:t>
            </a:r>
            <a:endParaRPr sz="3600">
              <a:solidFill>
                <a:srgbClr val="00B0F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2200" b="1" cap="small" dirty="0">
                <a:solidFill>
                  <a:srgbClr val="00B0F0"/>
                </a:solidFill>
                <a:latin typeface="Arial"/>
                <a:cs typeface="Arial"/>
              </a:rPr>
              <a:t>Bài</a:t>
            </a:r>
            <a:r>
              <a:rPr sz="2200" b="1" cap="small" spc="50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00B0F0"/>
                </a:solidFill>
                <a:latin typeface="Arial"/>
                <a:cs typeface="Arial"/>
              </a:rPr>
              <a:t>3:</a:t>
            </a:r>
            <a:r>
              <a:rPr sz="2200" b="1" cap="small" spc="-65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00B0F0"/>
                </a:solidFill>
                <a:latin typeface="Arial"/>
                <a:cs typeface="Arial"/>
              </a:rPr>
              <a:t>kiểm</a:t>
            </a:r>
            <a:r>
              <a:rPr sz="2200" b="1" cap="small" spc="35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00B0F0"/>
                </a:solidFill>
                <a:latin typeface="Arial"/>
                <a:cs typeface="Arial"/>
              </a:rPr>
              <a:t>thử</a:t>
            </a:r>
            <a:r>
              <a:rPr sz="2200" b="1" cap="small" spc="40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00B0F0"/>
                </a:solidFill>
                <a:latin typeface="Arial"/>
                <a:cs typeface="Arial"/>
              </a:rPr>
              <a:t>đơn</a:t>
            </a:r>
            <a:r>
              <a:rPr sz="2200" b="1" cap="small" spc="40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sz="2200" b="1" cap="small" spc="-25" dirty="0">
                <a:solidFill>
                  <a:srgbClr val="00B0F0"/>
                </a:solidFill>
                <a:latin typeface="Arial"/>
                <a:cs typeface="Arial"/>
              </a:rPr>
              <a:t>vị</a:t>
            </a:r>
            <a:endParaRPr sz="220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227584" y="1029567"/>
            <a:ext cx="8072120" cy="23128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2800" b="1" cap="small" dirty="0">
                <a:solidFill>
                  <a:srgbClr val="00B0F0"/>
                </a:solidFill>
                <a:latin typeface="Arial"/>
                <a:cs typeface="Arial"/>
              </a:rPr>
              <a:t>Mục</a:t>
            </a:r>
            <a:r>
              <a:rPr sz="2800" b="1" cap="small" spc="245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sz="2800" b="1" cap="small" spc="-20" dirty="0">
                <a:solidFill>
                  <a:srgbClr val="00B0F0"/>
                </a:solidFill>
                <a:latin typeface="Arial"/>
                <a:cs typeface="Arial"/>
              </a:rPr>
              <a:t>tiêu</a:t>
            </a:r>
            <a:endParaRPr sz="2800" dirty="0">
              <a:solidFill>
                <a:srgbClr val="00B0F0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FF5A33"/>
              </a:buClr>
              <a:buFont typeface="Wingdings"/>
              <a:buChar char=""/>
              <a:tabLst>
                <a:tab pos="354965" algn="l"/>
              </a:tabLst>
            </a:pPr>
            <a:r>
              <a:rPr sz="2800" spc="-90" dirty="0">
                <a:latin typeface="Arial"/>
                <a:cs typeface="Arial"/>
              </a:rPr>
              <a:t>Tầm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quan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trọng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kiểm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thử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đơn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vị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(Unit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Test)</a:t>
            </a:r>
            <a:endParaRPr sz="28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"/>
              <a:tabLst>
                <a:tab pos="354965" algn="l"/>
              </a:tabLst>
            </a:pPr>
            <a:r>
              <a:rPr sz="2800" spc="-70" dirty="0">
                <a:latin typeface="Arial"/>
                <a:cs typeface="Arial"/>
              </a:rPr>
              <a:t>Tìm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hiểu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Junit</a:t>
            </a:r>
            <a:endParaRPr sz="28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"/>
              <a:tabLst>
                <a:tab pos="354965" algn="l"/>
              </a:tabLst>
            </a:pPr>
            <a:r>
              <a:rPr sz="2800" spc="-70" dirty="0">
                <a:latin typeface="Arial"/>
                <a:cs typeface="Arial"/>
              </a:rPr>
              <a:t>Ứng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dụng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Junit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72685">
              <a:lnSpc>
                <a:spcPct val="100000"/>
              </a:lnSpc>
              <a:spcBef>
                <a:spcPts val="95"/>
              </a:spcBef>
            </a:pPr>
            <a:r>
              <a:rPr b="1" cap="small" spc="65" dirty="0">
                <a:solidFill>
                  <a:srgbClr val="00B0F0"/>
                </a:solidFill>
              </a:rPr>
              <a:t>Nội</a:t>
            </a:r>
            <a:r>
              <a:rPr b="1" cap="small" spc="155" dirty="0">
                <a:solidFill>
                  <a:srgbClr val="00B0F0"/>
                </a:solidFill>
              </a:rPr>
              <a:t> </a:t>
            </a:r>
            <a:r>
              <a:rPr b="1" cap="small" spc="-75" dirty="0">
                <a:solidFill>
                  <a:srgbClr val="00B0F0"/>
                </a:solidFill>
              </a:rPr>
              <a:t>dung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5940" y="1002777"/>
            <a:ext cx="6685915" cy="371512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800" dirty="0">
                <a:solidFill>
                  <a:srgbClr val="FF5A33"/>
                </a:solidFill>
                <a:latin typeface="Wingdings"/>
                <a:cs typeface="Wingdings"/>
              </a:rPr>
              <a:t></a:t>
            </a:r>
            <a:r>
              <a:rPr sz="2800" dirty="0">
                <a:latin typeface="Arial"/>
                <a:cs typeface="Arial"/>
              </a:rPr>
              <a:t>Phần I: Tầm quan trọng kiểm thử đơn vị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95"/>
              </a:spcBef>
            </a:pPr>
            <a:r>
              <a:rPr sz="2400" dirty="0">
                <a:solidFill>
                  <a:srgbClr val="FF5A33"/>
                </a:solidFill>
                <a:latin typeface="Wingdings"/>
                <a:cs typeface="Wingdings"/>
              </a:rPr>
              <a:t></a:t>
            </a:r>
            <a:r>
              <a:rPr sz="2400" dirty="0">
                <a:solidFill>
                  <a:srgbClr val="FF5A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Khái niệm Unit Testing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FF5A33"/>
                </a:solidFill>
                <a:latin typeface="Wingdings"/>
                <a:cs typeface="Wingdings"/>
              </a:rPr>
              <a:t></a:t>
            </a:r>
            <a:r>
              <a:rPr sz="2400" dirty="0">
                <a:solidFill>
                  <a:srgbClr val="FF5A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Kỹ thuật viết test case cho Unit Testing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FF5A33"/>
                </a:solidFill>
                <a:latin typeface="Wingdings"/>
                <a:cs typeface="Wingdings"/>
              </a:rPr>
              <a:t></a:t>
            </a:r>
            <a:r>
              <a:rPr sz="2400" dirty="0">
                <a:solidFill>
                  <a:srgbClr val="FF5A33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Công cụ Junit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dirty="0">
                <a:solidFill>
                  <a:srgbClr val="FF5A33"/>
                </a:solidFill>
                <a:latin typeface="Wingdings"/>
                <a:cs typeface="Wingdings"/>
              </a:rPr>
              <a:t></a:t>
            </a:r>
            <a:r>
              <a:rPr sz="2800" dirty="0">
                <a:latin typeface="Arial"/>
                <a:cs typeface="Arial"/>
              </a:rPr>
              <a:t>Phần II: Ứng dụng Junit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90"/>
              </a:spcBef>
            </a:pPr>
            <a:r>
              <a:rPr sz="2400" dirty="0">
                <a:solidFill>
                  <a:srgbClr val="FF5A33"/>
                </a:solidFill>
                <a:latin typeface="Wingdings"/>
                <a:cs typeface="Wingdings"/>
              </a:rPr>
              <a:t></a:t>
            </a:r>
            <a:r>
              <a:rPr sz="2400" dirty="0">
                <a:latin typeface="Arial"/>
                <a:cs typeface="Arial"/>
              </a:rPr>
              <a:t>Cấu hình Junit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FF5A33"/>
                </a:solidFill>
                <a:latin typeface="Wingdings"/>
                <a:cs typeface="Wingdings"/>
              </a:rPr>
              <a:t></a:t>
            </a:r>
            <a:r>
              <a:rPr sz="2400" dirty="0">
                <a:latin typeface="Arial"/>
                <a:cs typeface="Arial"/>
              </a:rPr>
              <a:t>Junit và Eclipse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cap="small" dirty="0"/>
              <a:t>Unit</a:t>
            </a:r>
            <a:r>
              <a:rPr cap="small" spc="270" dirty="0"/>
              <a:t> </a:t>
            </a:r>
            <a:r>
              <a:rPr cap="small" spc="-190" dirty="0"/>
              <a:t>testing?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7816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95"/>
              </a:spcBef>
            </a:pPr>
            <a:r>
              <a:rPr sz="2500" b="1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sz="2500" b="1" spc="-5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b="1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 </a:t>
            </a:r>
            <a:r>
              <a:rPr sz="2500" b="1" spc="-170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sz="2500" b="1" spc="-105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b="1" spc="-130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sz="2500" b="1" spc="-135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b="1" spc="-195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sz="2500" b="1" spc="-125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b="1" spc="-170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sz="2500" b="1" spc="-120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b="1" spc="-155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sz="2500" b="1" spc="-110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b="1" spc="-180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sz="2500" b="1" spc="-125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b="1" spc="-135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mềm </a:t>
            </a:r>
            <a:r>
              <a:rPr sz="2500" b="1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sz="2500" b="1" spc="10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b="1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2500" b="1" spc="10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b="1" spc="-140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sz="2500" b="1" spc="-130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b="1" spc="-225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sz="2500" b="1" spc="-125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b="1" spc="-225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sz="2500" b="1" spc="-114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b="1" spc="-195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sz="2500" b="1" spc="-150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b="1" spc="-90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sz="2500" b="1" spc="-135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b="1" spc="-210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sz="2500" b="1" spc="-125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b="1" spc="-25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hay </a:t>
            </a:r>
            <a:r>
              <a:rPr sz="2500" b="1" spc="-10" dirty="0">
                <a:solidFill>
                  <a:srgbClr val="F795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không?</a:t>
            </a:r>
            <a:endParaRPr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0663" y="370113"/>
            <a:ext cx="2582673" cy="25490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44035">
              <a:lnSpc>
                <a:spcPct val="100000"/>
              </a:lnSpc>
              <a:spcBef>
                <a:spcPts val="95"/>
              </a:spcBef>
            </a:pPr>
            <a:r>
              <a:rPr cap="small" dirty="0"/>
              <a:t>Unit</a:t>
            </a:r>
            <a:r>
              <a:rPr cap="small" spc="270" dirty="0"/>
              <a:t> </a:t>
            </a:r>
            <a:r>
              <a:rPr cap="small" spc="-190" dirty="0"/>
              <a:t>testing?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535940" y="1004973"/>
            <a:ext cx="4110354" cy="207454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452755" indent="-440055">
              <a:lnSpc>
                <a:spcPct val="100000"/>
              </a:lnSpc>
              <a:spcBef>
                <a:spcPts val="770"/>
              </a:spcBef>
              <a:buClr>
                <a:srgbClr val="FF5A33"/>
              </a:buClr>
              <a:buFont typeface="Wingdings"/>
              <a:buChar char=""/>
              <a:tabLst>
                <a:tab pos="452755" algn="l"/>
              </a:tabLst>
            </a:pPr>
            <a:r>
              <a:rPr sz="2800" spc="140" dirty="0">
                <a:latin typeface="Arial"/>
                <a:cs typeface="Arial"/>
              </a:rPr>
              <a:t>Một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60" dirty="0">
                <a:latin typeface="Arial"/>
                <a:cs typeface="Arial"/>
              </a:rPr>
              <a:t>dòng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lệnh</a:t>
            </a:r>
            <a:endParaRPr sz="2800">
              <a:latin typeface="Arial"/>
              <a:cs typeface="Arial"/>
            </a:endParaRPr>
          </a:p>
          <a:p>
            <a:pPr marL="452120" indent="-43942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452120" algn="l"/>
              </a:tabLst>
            </a:pPr>
            <a:r>
              <a:rPr sz="2800" spc="140" dirty="0">
                <a:latin typeface="Arial"/>
                <a:cs typeface="Arial"/>
              </a:rPr>
              <a:t>Một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hàm,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phương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thức</a:t>
            </a:r>
            <a:endParaRPr sz="2800">
              <a:latin typeface="Arial"/>
              <a:cs typeface="Arial"/>
            </a:endParaRPr>
          </a:p>
          <a:p>
            <a:pPr marL="452755" indent="-44005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452755" algn="l"/>
              </a:tabLst>
            </a:pPr>
            <a:r>
              <a:rPr sz="2800" spc="140" dirty="0">
                <a:latin typeface="Arial"/>
                <a:cs typeface="Arial"/>
              </a:rPr>
              <a:t>Một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module</a:t>
            </a:r>
            <a:endParaRPr sz="2800">
              <a:latin typeface="Arial"/>
              <a:cs typeface="Arial"/>
            </a:endParaRPr>
          </a:p>
          <a:p>
            <a:pPr marL="452755" indent="-440055">
              <a:lnSpc>
                <a:spcPct val="100000"/>
              </a:lnSpc>
              <a:spcBef>
                <a:spcPts val="670"/>
              </a:spcBef>
              <a:buClr>
                <a:srgbClr val="FF5A33"/>
              </a:buClr>
              <a:buFont typeface="Wingdings"/>
              <a:buChar char=""/>
              <a:tabLst>
                <a:tab pos="452755" algn="l"/>
              </a:tabLst>
            </a:pPr>
            <a:r>
              <a:rPr sz="2800" spc="140" dirty="0">
                <a:latin typeface="Arial"/>
                <a:cs typeface="Arial"/>
              </a:rPr>
              <a:t>Một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chương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trình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0562" y="3060382"/>
            <a:ext cx="7996174" cy="34785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535940" y="283210"/>
            <a:ext cx="8684260" cy="23128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93315">
              <a:lnSpc>
                <a:spcPct val="100000"/>
              </a:lnSpc>
              <a:spcBef>
                <a:spcPts val="95"/>
              </a:spcBef>
            </a:pPr>
            <a:r>
              <a:rPr sz="2800" b="1" cap="small" dirty="0">
                <a:solidFill>
                  <a:srgbClr val="FF5A33"/>
                </a:solidFill>
                <a:latin typeface="Arial"/>
                <a:cs typeface="Arial"/>
              </a:rPr>
              <a:t>Tại</a:t>
            </a:r>
            <a:r>
              <a:rPr sz="2800" b="1" cap="small" spc="7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70" dirty="0">
                <a:solidFill>
                  <a:srgbClr val="FF5A33"/>
                </a:solidFill>
                <a:latin typeface="Arial"/>
                <a:cs typeface="Arial"/>
              </a:rPr>
              <a:t>sao</a:t>
            </a:r>
            <a:r>
              <a:rPr sz="2800" b="1" cap="small" spc="7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dirty="0">
                <a:solidFill>
                  <a:srgbClr val="FF5A33"/>
                </a:solidFill>
                <a:latin typeface="Arial"/>
                <a:cs typeface="Arial"/>
              </a:rPr>
              <a:t>phải</a:t>
            </a:r>
            <a:r>
              <a:rPr sz="2800" b="1" cap="small" spc="8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25" dirty="0">
                <a:solidFill>
                  <a:srgbClr val="FF5A33"/>
                </a:solidFill>
                <a:latin typeface="Arial"/>
                <a:cs typeface="Arial"/>
              </a:rPr>
              <a:t>thực</a:t>
            </a:r>
            <a:r>
              <a:rPr sz="2800" b="1" cap="small" spc="7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dirty="0">
                <a:solidFill>
                  <a:srgbClr val="FF5A33"/>
                </a:solidFill>
                <a:latin typeface="Arial"/>
                <a:cs typeface="Arial"/>
              </a:rPr>
              <a:t>hiện</a:t>
            </a:r>
            <a:r>
              <a:rPr sz="2800" b="1" cap="small" spc="8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dirty="0">
                <a:solidFill>
                  <a:srgbClr val="FF5A33"/>
                </a:solidFill>
                <a:latin typeface="Arial"/>
                <a:cs typeface="Arial"/>
              </a:rPr>
              <a:t>unit</a:t>
            </a:r>
            <a:r>
              <a:rPr sz="2800" b="1" cap="small" spc="8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125" dirty="0">
                <a:solidFill>
                  <a:srgbClr val="FF5A33"/>
                </a:solidFill>
                <a:latin typeface="Arial"/>
                <a:cs typeface="Arial"/>
              </a:rPr>
              <a:t>testing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452755" indent="-440055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452755" algn="l"/>
              </a:tabLst>
            </a:pPr>
            <a:r>
              <a:rPr sz="2800" spc="-45" dirty="0">
                <a:latin typeface="Arial"/>
                <a:cs typeface="Arial"/>
              </a:rPr>
              <a:t>Phát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hiện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50" dirty="0">
                <a:latin typeface="Arial"/>
                <a:cs typeface="Arial"/>
              </a:rPr>
              <a:t>lỗi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nhanh</a:t>
            </a:r>
            <a:endParaRPr sz="2800">
              <a:latin typeface="Arial"/>
              <a:cs typeface="Arial"/>
            </a:endParaRPr>
          </a:p>
          <a:p>
            <a:pPr marL="452120" indent="-43942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452120" algn="l"/>
              </a:tabLst>
            </a:pPr>
            <a:r>
              <a:rPr sz="2800" spc="-110" dirty="0">
                <a:latin typeface="Arial"/>
                <a:cs typeface="Arial"/>
              </a:rPr>
              <a:t>Cải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tiến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quy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trình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và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60" dirty="0">
                <a:latin typeface="Arial"/>
                <a:cs typeface="Arial"/>
              </a:rPr>
              <a:t>thiết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kế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sản</a:t>
            </a:r>
            <a:r>
              <a:rPr sz="2800" spc="-20" dirty="0">
                <a:latin typeface="Arial"/>
                <a:cs typeface="Arial"/>
              </a:rPr>
              <a:t> phẩm</a:t>
            </a:r>
            <a:endParaRPr sz="2800">
              <a:latin typeface="Arial"/>
              <a:cs typeface="Arial"/>
            </a:endParaRPr>
          </a:p>
          <a:p>
            <a:pPr marL="452755" indent="-44005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452755" algn="l"/>
              </a:tabLst>
            </a:pPr>
            <a:r>
              <a:rPr sz="2800" spc="-55" dirty="0">
                <a:latin typeface="Arial"/>
                <a:cs typeface="Arial"/>
              </a:rPr>
              <a:t>Giảm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chi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phí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10" dirty="0">
                <a:latin typeface="Arial"/>
                <a:cs typeface="Arial"/>
              </a:rPr>
              <a:t>sửa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50" dirty="0">
                <a:latin typeface="Arial"/>
                <a:cs typeface="Arial"/>
              </a:rPr>
              <a:t>lỗi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(money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và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time)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3498" y="2590798"/>
            <a:ext cx="5476875" cy="4267198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92930">
              <a:lnSpc>
                <a:spcPct val="100000"/>
              </a:lnSpc>
              <a:spcBef>
                <a:spcPts val="95"/>
              </a:spcBef>
            </a:pPr>
            <a:r>
              <a:rPr cap="small" spc="-145" dirty="0"/>
              <a:t>Test</a:t>
            </a:r>
            <a:r>
              <a:rPr cap="small" spc="-10" dirty="0"/>
              <a:t> </a:t>
            </a:r>
            <a:r>
              <a:rPr cap="small" spc="-204" dirty="0"/>
              <a:t>Doubles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Wingdings"/>
              <a:buChar char=""/>
              <a:tabLst>
                <a:tab pos="355600" algn="l"/>
                <a:tab pos="452755" algn="l"/>
              </a:tabLst>
            </a:pPr>
            <a:r>
              <a:rPr dirty="0">
                <a:solidFill>
                  <a:srgbClr val="FF5A33"/>
                </a:solidFill>
              </a:rPr>
              <a:t>	</a:t>
            </a:r>
            <a:r>
              <a:rPr dirty="0"/>
              <a:t>Unit</a:t>
            </a:r>
            <a:r>
              <a:rPr spc="-20" dirty="0"/>
              <a:t> </a:t>
            </a:r>
            <a:r>
              <a:rPr dirty="0"/>
              <a:t>test</a:t>
            </a:r>
            <a:r>
              <a:rPr spc="-15" dirty="0"/>
              <a:t> </a:t>
            </a:r>
            <a:r>
              <a:rPr dirty="0"/>
              <a:t>có</a:t>
            </a:r>
            <a:r>
              <a:rPr spc="-35" dirty="0"/>
              <a:t> </a:t>
            </a:r>
            <a:r>
              <a:rPr dirty="0"/>
              <a:t>thể</a:t>
            </a:r>
            <a:r>
              <a:rPr spc="-15" dirty="0"/>
              <a:t> </a:t>
            </a:r>
            <a:r>
              <a:rPr spc="-35" dirty="0"/>
              <a:t>cần</a:t>
            </a:r>
            <a:r>
              <a:rPr spc="-20" dirty="0"/>
              <a:t> </a:t>
            </a:r>
            <a:r>
              <a:rPr dirty="0"/>
              <a:t>nhiều</a:t>
            </a:r>
            <a:r>
              <a:rPr spc="-5" dirty="0"/>
              <a:t> </a:t>
            </a:r>
            <a:r>
              <a:rPr dirty="0"/>
              <a:t>thành</a:t>
            </a:r>
            <a:r>
              <a:rPr spc="-15" dirty="0"/>
              <a:t> </a:t>
            </a:r>
            <a:r>
              <a:rPr dirty="0"/>
              <a:t>phần</a:t>
            </a:r>
            <a:r>
              <a:rPr spc="-10" dirty="0"/>
              <a:t> </a:t>
            </a:r>
            <a:r>
              <a:rPr dirty="0"/>
              <a:t>để</a:t>
            </a:r>
            <a:r>
              <a:rPr spc="-20" dirty="0"/>
              <a:t> thực </a:t>
            </a:r>
            <a:r>
              <a:rPr spc="-10" dirty="0"/>
              <a:t>hiện.</a:t>
            </a:r>
          </a:p>
          <a:p>
            <a:pPr marL="452755" indent="-44005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452755" algn="l"/>
              </a:tabLst>
            </a:pPr>
            <a:r>
              <a:rPr spc="-185" dirty="0"/>
              <a:t>Các</a:t>
            </a:r>
            <a:r>
              <a:rPr spc="-15" dirty="0"/>
              <a:t> </a:t>
            </a:r>
            <a:r>
              <a:rPr spc="55" dirty="0"/>
              <a:t>đối</a:t>
            </a:r>
            <a:r>
              <a:rPr spc="-105" dirty="0"/>
              <a:t> </a:t>
            </a:r>
            <a:r>
              <a:rPr dirty="0"/>
              <a:t>tượng</a:t>
            </a:r>
            <a:r>
              <a:rPr spc="-45" dirty="0"/>
              <a:t> </a:t>
            </a:r>
            <a:r>
              <a:rPr dirty="0"/>
              <a:t>giả</a:t>
            </a:r>
            <a:r>
              <a:rPr spc="-60" dirty="0"/>
              <a:t> </a:t>
            </a:r>
            <a:r>
              <a:rPr spc="-20" dirty="0"/>
              <a:t>định</a:t>
            </a:r>
          </a:p>
          <a:p>
            <a:pPr marL="755650" lvl="1" indent="-285750">
              <a:lnSpc>
                <a:spcPct val="100000"/>
              </a:lnSpc>
              <a:spcBef>
                <a:spcPts val="590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20" dirty="0">
                <a:latin typeface="Arial"/>
                <a:cs typeface="Arial"/>
              </a:rPr>
              <a:t>Mock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spc="-20" dirty="0">
                <a:latin typeface="Arial"/>
                <a:cs typeface="Arial"/>
              </a:rPr>
              <a:t>Stub</a:t>
            </a:r>
            <a:endParaRPr sz="24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buFont typeface="Wingdings"/>
              <a:buChar char=""/>
              <a:tabLst>
                <a:tab pos="755650" algn="l"/>
              </a:tabLst>
            </a:pPr>
            <a:r>
              <a:rPr sz="2400" spc="-20" dirty="0">
                <a:latin typeface="Arial"/>
                <a:cs typeface="Arial"/>
              </a:rPr>
              <a:t>Fake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5050" y="2520950"/>
            <a:ext cx="6134100" cy="43370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28650" y="247650"/>
            <a:ext cx="788670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87800">
              <a:lnSpc>
                <a:spcPct val="100000"/>
              </a:lnSpc>
              <a:spcBef>
                <a:spcPts val="95"/>
              </a:spcBef>
            </a:pPr>
            <a:r>
              <a:rPr cap="small" dirty="0"/>
              <a:t>Unit</a:t>
            </a:r>
            <a:r>
              <a:rPr cap="small" spc="150" dirty="0"/>
              <a:t> </a:t>
            </a:r>
            <a:r>
              <a:rPr cap="small" spc="-145" dirty="0"/>
              <a:t>Test</a:t>
            </a:r>
            <a:r>
              <a:rPr cap="small" spc="114" dirty="0"/>
              <a:t> </a:t>
            </a:r>
            <a:r>
              <a:rPr cap="small" spc="-300" dirty="0"/>
              <a:t>Cases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535940" y="1004973"/>
            <a:ext cx="7733030" cy="229616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452755" indent="-440055">
              <a:lnSpc>
                <a:spcPct val="100000"/>
              </a:lnSpc>
              <a:spcBef>
                <a:spcPts val="770"/>
              </a:spcBef>
              <a:buClr>
                <a:srgbClr val="FF5A33"/>
              </a:buClr>
              <a:buFont typeface="Wingdings"/>
              <a:buChar char=""/>
              <a:tabLst>
                <a:tab pos="452755" algn="l"/>
              </a:tabLst>
            </a:pPr>
            <a:r>
              <a:rPr sz="2800" spc="-145" dirty="0">
                <a:latin typeface="Arial"/>
                <a:cs typeface="Arial"/>
              </a:rPr>
              <a:t>Thực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hiện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automated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hoặc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manual</a:t>
            </a:r>
            <a:endParaRPr sz="2800">
              <a:latin typeface="Arial"/>
              <a:cs typeface="Arial"/>
            </a:endParaRPr>
          </a:p>
          <a:p>
            <a:pPr marL="452120" indent="-43942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452120" algn="l"/>
              </a:tabLst>
            </a:pPr>
            <a:r>
              <a:rPr sz="2800" spc="-20" dirty="0">
                <a:latin typeface="Arial"/>
                <a:cs typeface="Arial"/>
              </a:rPr>
              <a:t>Quá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trình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automated:</a:t>
            </a:r>
            <a:endParaRPr sz="2800">
              <a:latin typeface="Arial"/>
              <a:cs typeface="Arial"/>
            </a:endParaRPr>
          </a:p>
          <a:p>
            <a:pPr marL="755015" marR="5080" lvl="1" indent="-285750">
              <a:lnSpc>
                <a:spcPct val="100000"/>
              </a:lnSpc>
              <a:spcBef>
                <a:spcPts val="59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Viết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đoạn code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test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60" dirty="0">
                <a:latin typeface="Arial"/>
                <a:cs typeface="Arial"/>
              </a:rPr>
              <a:t>trong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ứng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kiểm tra</a:t>
            </a:r>
            <a:r>
              <a:rPr sz="2400" spc="-25" dirty="0">
                <a:latin typeface="Arial"/>
                <a:cs typeface="Arial"/>
              </a:rPr>
              <a:t> các 	</a:t>
            </a:r>
            <a:r>
              <a:rPr sz="2400" spc="-75" dirty="0">
                <a:latin typeface="Arial"/>
                <a:cs typeface="Arial"/>
              </a:rPr>
              <a:t>chức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năng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FF5A33"/>
              </a:buClr>
              <a:buFont typeface="Wingdings"/>
              <a:buChar char=""/>
              <a:tabLst>
                <a:tab pos="756285" algn="l"/>
              </a:tabLst>
            </a:pPr>
            <a:r>
              <a:rPr sz="2400" spc="-20" dirty="0">
                <a:latin typeface="Arial"/>
                <a:cs typeface="Arial"/>
              </a:rPr>
              <a:t>Có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tạo ra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các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50" dirty="0">
                <a:latin typeface="Arial"/>
                <a:cs typeface="Arial"/>
              </a:rPr>
              <a:t>đối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tượng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giả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lập hỗ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trợ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unit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test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600" y="3264789"/>
            <a:ext cx="4943475" cy="30915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535940" y="283210"/>
            <a:ext cx="8072120" cy="5528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2800" b="1" cap="small" dirty="0">
                <a:solidFill>
                  <a:srgbClr val="FF5A33"/>
                </a:solidFill>
                <a:latin typeface="Arial"/>
                <a:cs typeface="Arial"/>
              </a:rPr>
              <a:t>Unit</a:t>
            </a:r>
            <a:r>
              <a:rPr sz="2800" b="1" cap="small" spc="15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145" dirty="0">
                <a:solidFill>
                  <a:srgbClr val="FF5A33"/>
                </a:solidFill>
                <a:latin typeface="Arial"/>
                <a:cs typeface="Arial"/>
              </a:rPr>
              <a:t>Test</a:t>
            </a:r>
            <a:r>
              <a:rPr sz="2800" b="1" cap="small" spc="114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25" dirty="0">
                <a:solidFill>
                  <a:srgbClr val="FF5A33"/>
                </a:solidFill>
                <a:latin typeface="Arial"/>
                <a:cs typeface="Arial"/>
              </a:rPr>
              <a:t>Cases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355600" marR="498475" indent="-342900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45" dirty="0">
                <a:latin typeface="Arial"/>
                <a:cs typeface="Arial"/>
              </a:rPr>
              <a:t>Hãy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làm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cho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55" dirty="0">
                <a:latin typeface="Arial"/>
                <a:cs typeface="Arial"/>
              </a:rPr>
              <a:t>mỗi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test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độc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lập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với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60" dirty="0">
                <a:latin typeface="Arial"/>
                <a:cs typeface="Arial"/>
              </a:rPr>
              <a:t>tất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75" dirty="0">
                <a:latin typeface="Arial"/>
                <a:cs typeface="Arial"/>
              </a:rPr>
              <a:t>cả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những </a:t>
            </a:r>
            <a:r>
              <a:rPr sz="2800" dirty="0">
                <a:latin typeface="Arial"/>
                <a:cs typeface="Arial"/>
              </a:rPr>
              <a:t>phần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khác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10" dirty="0">
                <a:latin typeface="Arial"/>
                <a:cs typeface="Arial"/>
              </a:rPr>
              <a:t>Đừng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làm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những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assertion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không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cần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40" dirty="0">
                <a:latin typeface="Arial"/>
                <a:cs typeface="Arial"/>
              </a:rPr>
              <a:t>thiết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40" dirty="0">
                <a:latin typeface="Arial"/>
                <a:cs typeface="Arial"/>
              </a:rPr>
              <a:t>Kiểm </a:t>
            </a:r>
            <a:r>
              <a:rPr sz="2800" dirty="0">
                <a:latin typeface="Arial"/>
                <a:cs typeface="Arial"/>
              </a:rPr>
              <a:t>thử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chỉ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95" dirty="0">
                <a:latin typeface="Arial"/>
                <a:cs typeface="Arial"/>
              </a:rPr>
              <a:t>một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55" dirty="0">
                <a:latin typeface="Arial"/>
                <a:cs typeface="Arial"/>
              </a:rPr>
              <a:t>unit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code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tại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95" dirty="0">
                <a:latin typeface="Arial"/>
                <a:cs typeface="Arial"/>
              </a:rPr>
              <a:t>một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thời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điểm</a:t>
            </a:r>
            <a:endParaRPr sz="2800">
              <a:latin typeface="Arial"/>
              <a:cs typeface="Arial"/>
            </a:endParaRPr>
          </a:p>
          <a:p>
            <a:pPr marL="355600" marR="563245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95" dirty="0">
                <a:latin typeface="Arial"/>
                <a:cs typeface="Arial"/>
              </a:rPr>
              <a:t>Giả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lập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60" dirty="0">
                <a:latin typeface="Arial"/>
                <a:cs typeface="Arial"/>
              </a:rPr>
              <a:t>tất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cả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những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dịch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vụ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và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trạng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thái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bên </a:t>
            </a:r>
            <a:r>
              <a:rPr sz="2800" spc="-10" dirty="0">
                <a:latin typeface="Arial"/>
                <a:cs typeface="Arial"/>
              </a:rPr>
              <a:t>ngoài</a:t>
            </a:r>
            <a:endParaRPr sz="2800">
              <a:latin typeface="Arial"/>
              <a:cs typeface="Arial"/>
            </a:endParaRPr>
          </a:p>
          <a:p>
            <a:pPr marL="355600" marR="785495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110" dirty="0">
                <a:latin typeface="Arial"/>
                <a:cs typeface="Arial"/>
              </a:rPr>
              <a:t>Tránh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những</a:t>
            </a:r>
            <a:r>
              <a:rPr sz="2800" spc="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điều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kiện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tiên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quyết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không </a:t>
            </a:r>
            <a:r>
              <a:rPr sz="2800" spc="-25" dirty="0">
                <a:latin typeface="Arial"/>
                <a:cs typeface="Arial"/>
              </a:rPr>
              <a:t>cần </a:t>
            </a:r>
            <a:r>
              <a:rPr sz="2800" spc="40" dirty="0">
                <a:latin typeface="Arial"/>
                <a:cs typeface="Arial"/>
              </a:rPr>
              <a:t>thiết</a:t>
            </a:r>
            <a:endParaRPr sz="2800">
              <a:latin typeface="Arial"/>
              <a:cs typeface="Arial"/>
            </a:endParaRPr>
          </a:p>
          <a:p>
            <a:pPr marL="355600" marR="22225" indent="-342900">
              <a:lnSpc>
                <a:spcPct val="100000"/>
              </a:lnSpc>
              <a:spcBef>
                <a:spcPts val="670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Đặt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tên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các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55" dirty="0">
                <a:latin typeface="Arial"/>
                <a:cs typeface="Arial"/>
              </a:rPr>
              <a:t>unit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test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của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bạn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100" dirty="0">
                <a:latin typeface="Arial"/>
                <a:cs typeface="Arial"/>
              </a:rPr>
              <a:t>một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cách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rõ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ràng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và </a:t>
            </a:r>
            <a:r>
              <a:rPr sz="2800" dirty="0">
                <a:latin typeface="Arial"/>
                <a:cs typeface="Arial"/>
              </a:rPr>
              <a:t>nhất</a:t>
            </a:r>
            <a:r>
              <a:rPr sz="2800" spc="3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quán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35940" y="283210"/>
            <a:ext cx="8071484" cy="26539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l">
              <a:lnSpc>
                <a:spcPct val="100000"/>
              </a:lnSpc>
              <a:spcBef>
                <a:spcPts val="95"/>
              </a:spcBef>
            </a:pPr>
            <a:r>
              <a:rPr sz="2800" b="1" cap="small" spc="-10" dirty="0">
                <a:solidFill>
                  <a:srgbClr val="FF5A33"/>
                </a:solidFill>
                <a:latin typeface="Arial"/>
                <a:cs typeface="Arial"/>
              </a:rPr>
              <a:t>JUnit</a:t>
            </a:r>
            <a:endParaRPr sz="2800">
              <a:latin typeface="Arial"/>
              <a:cs typeface="Arial"/>
            </a:endParaRPr>
          </a:p>
          <a:p>
            <a:pPr algn="l"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355600" marR="742950" indent="-342900" algn="l">
              <a:lnSpc>
                <a:spcPct val="100000"/>
              </a:lnSpc>
              <a:buFont typeface="Wingdings"/>
              <a:buChar char=""/>
              <a:tabLst>
                <a:tab pos="355600" algn="l"/>
                <a:tab pos="452755" algn="l"/>
              </a:tabLst>
            </a:pPr>
            <a:r>
              <a:rPr sz="2800" dirty="0">
                <a:solidFill>
                  <a:srgbClr val="FF5A33"/>
                </a:solidFill>
                <a:latin typeface="Arial"/>
                <a:cs typeface="Arial"/>
              </a:rPr>
              <a:t>	</a:t>
            </a:r>
            <a:r>
              <a:rPr sz="2800" spc="-45" dirty="0">
                <a:latin typeface="Arial"/>
                <a:cs typeface="Arial"/>
              </a:rPr>
              <a:t>JUnit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1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framework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mã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nguồn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mở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được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sử </a:t>
            </a:r>
            <a:r>
              <a:rPr sz="2800" dirty="0">
                <a:latin typeface="Arial"/>
                <a:cs typeface="Arial"/>
              </a:rPr>
              <a:t>dụng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để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viết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và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chạy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thử</a:t>
            </a:r>
            <a:r>
              <a:rPr sz="2800" spc="-10" dirty="0">
                <a:latin typeface="Arial"/>
                <a:cs typeface="Arial"/>
              </a:rPr>
              <a:t> nghiệm</a:t>
            </a:r>
            <a:endParaRPr sz="2800">
              <a:latin typeface="Arial"/>
              <a:cs typeface="Arial"/>
            </a:endParaRPr>
          </a:p>
          <a:p>
            <a:pPr marL="355600" marR="507365" indent="-342900" algn="l">
              <a:lnSpc>
                <a:spcPct val="100000"/>
              </a:lnSpc>
              <a:spcBef>
                <a:spcPts val="675"/>
              </a:spcBef>
              <a:buFont typeface="Wingdings"/>
              <a:buChar char=""/>
              <a:tabLst>
                <a:tab pos="355600" algn="l"/>
                <a:tab pos="452755" algn="l"/>
              </a:tabLst>
            </a:pPr>
            <a:r>
              <a:rPr sz="2800" dirty="0">
                <a:solidFill>
                  <a:srgbClr val="FF5A33"/>
                </a:solidFill>
                <a:latin typeface="Arial"/>
                <a:cs typeface="Arial"/>
              </a:rPr>
              <a:t>	</a:t>
            </a:r>
            <a:r>
              <a:rPr sz="2800" spc="-45" dirty="0">
                <a:latin typeface="Arial"/>
                <a:cs typeface="Arial"/>
              </a:rPr>
              <a:t>JUnit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90" dirty="0">
                <a:latin typeface="Arial"/>
                <a:cs typeface="Arial"/>
              </a:rPr>
              <a:t>một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framework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dùng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để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55" dirty="0">
                <a:latin typeface="Arial"/>
                <a:cs typeface="Arial"/>
              </a:rPr>
              <a:t>unit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test</a:t>
            </a:r>
            <a:r>
              <a:rPr sz="2800" spc="-25" dirty="0">
                <a:latin typeface="Arial"/>
                <a:cs typeface="Arial"/>
              </a:rPr>
              <a:t> cho </a:t>
            </a:r>
            <a:r>
              <a:rPr sz="2800" dirty="0">
                <a:latin typeface="Arial"/>
                <a:cs typeface="Arial"/>
              </a:rPr>
              <a:t>ngôn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ngữ</a:t>
            </a:r>
            <a:r>
              <a:rPr sz="2800" spc="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lập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trình</a:t>
            </a:r>
            <a:r>
              <a:rPr sz="2800" spc="2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Java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2931413"/>
            <a:ext cx="6172200" cy="392658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090929"/>
            <a:ext cx="699325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10" dirty="0">
                <a:latin typeface="Arial"/>
                <a:cs typeface="Arial"/>
              </a:rPr>
              <a:t>Cung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cấp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Annotation để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xác</a:t>
            </a:r>
            <a:r>
              <a:rPr sz="2800" dirty="0">
                <a:latin typeface="Arial"/>
                <a:cs typeface="Arial"/>
              </a:rPr>
              <a:t> định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spc="-114" dirty="0">
                <a:latin typeface="Arial"/>
                <a:cs typeface="Arial"/>
              </a:rPr>
              <a:t>xác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thực </a:t>
            </a:r>
            <a:r>
              <a:rPr sz="2800" spc="-10" dirty="0">
                <a:latin typeface="Arial"/>
                <a:cs typeface="Arial"/>
              </a:rPr>
              <a:t>phương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thức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0" y="2362200"/>
            <a:ext cx="5715000" cy="3810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010400" y="425401"/>
            <a:ext cx="12373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5080" algn="l">
              <a:lnSpc>
                <a:spcPct val="100000"/>
              </a:lnSpc>
              <a:spcBef>
                <a:spcPts val="95"/>
              </a:spcBef>
            </a:pPr>
            <a:r>
              <a:rPr lang="en-US" sz="3200" b="1" cap="small" spc="-10" smtClean="0">
                <a:solidFill>
                  <a:srgbClr val="FF5A33"/>
                </a:solidFill>
                <a:latin typeface="Arial"/>
                <a:cs typeface="Arial"/>
              </a:rPr>
              <a:t>JUnit</a:t>
            </a:r>
            <a:endParaRPr lang="en-US"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090929"/>
            <a:ext cx="708279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10" dirty="0">
                <a:latin typeface="Arial"/>
                <a:cs typeface="Arial"/>
              </a:rPr>
              <a:t>Cung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cấp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Assertion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thể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hiện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kết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quả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30" dirty="0">
                <a:latin typeface="Arial"/>
                <a:cs typeface="Arial"/>
              </a:rPr>
              <a:t>mong </a:t>
            </a:r>
            <a:r>
              <a:rPr sz="2800" spc="-20" dirty="0">
                <a:latin typeface="Arial"/>
                <a:cs typeface="Arial"/>
              </a:rPr>
              <a:t>muốn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8705" y="1710347"/>
            <a:ext cx="6074791" cy="465924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239000" y="258000"/>
            <a:ext cx="11058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5080" lvl="0" indent="0" algn="l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small" spc="-10" normalizeH="0" baseline="0" noProof="0" smtClean="0">
                <a:ln>
                  <a:noFill/>
                </a:ln>
                <a:solidFill>
                  <a:srgbClr val="FF5A33"/>
                </a:solidFill>
                <a:effectLst/>
                <a:uLnTx/>
                <a:uFillTx/>
                <a:latin typeface="Arial"/>
                <a:cs typeface="Arial"/>
              </a:rPr>
              <a:t>JUnit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004973"/>
            <a:ext cx="8001000" cy="241617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70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10" dirty="0">
                <a:latin typeface="Arial"/>
                <a:cs typeface="Arial"/>
              </a:rPr>
              <a:t>Cung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cấp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các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runner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cho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30" dirty="0">
                <a:latin typeface="Arial"/>
                <a:cs typeface="Arial"/>
              </a:rPr>
              <a:t>việc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chạy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thử</a:t>
            </a:r>
            <a:endParaRPr sz="28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30" dirty="0">
                <a:latin typeface="Arial"/>
                <a:cs typeface="Arial"/>
              </a:rPr>
              <a:t>JUnit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cho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thấy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kết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quả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30" dirty="0">
                <a:latin typeface="Arial"/>
                <a:cs typeface="Arial"/>
              </a:rPr>
              <a:t>pass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là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màu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xanh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và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fail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là </a:t>
            </a:r>
            <a:r>
              <a:rPr sz="2800" dirty="0">
                <a:latin typeface="Arial"/>
                <a:cs typeface="Arial"/>
              </a:rPr>
              <a:t>màu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50" dirty="0">
                <a:latin typeface="Arial"/>
                <a:cs typeface="Arial"/>
              </a:rPr>
              <a:t>đỏ</a:t>
            </a:r>
            <a:endParaRPr sz="2800">
              <a:latin typeface="Arial"/>
              <a:cs typeface="Arial"/>
            </a:endParaRPr>
          </a:p>
          <a:p>
            <a:pPr marL="355600" marR="102235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180" dirty="0">
                <a:latin typeface="Arial"/>
                <a:cs typeface="Arial"/>
              </a:rPr>
              <a:t>Test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JUnit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có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thể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được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114" dirty="0">
                <a:latin typeface="Arial"/>
                <a:cs typeface="Arial"/>
              </a:rPr>
              <a:t>tổ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chức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thành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các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45" dirty="0">
                <a:latin typeface="Arial"/>
                <a:cs typeface="Arial"/>
              </a:rPr>
              <a:t>case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và </a:t>
            </a:r>
            <a:r>
              <a:rPr sz="2800" spc="-235" dirty="0">
                <a:latin typeface="Arial"/>
                <a:cs typeface="Arial"/>
              </a:rPr>
              <a:t>sự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kiện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test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khác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5468" y="3722340"/>
            <a:ext cx="3812709" cy="2170247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409470" y="161830"/>
            <a:ext cx="11058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5080" lvl="0" indent="0" algn="l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small" spc="-10" normalizeH="0" baseline="0" noProof="0" smtClean="0">
                <a:ln>
                  <a:noFill/>
                </a:ln>
                <a:solidFill>
                  <a:srgbClr val="FF5A33"/>
                </a:solidFill>
                <a:effectLst/>
                <a:uLnTx/>
                <a:uFillTx/>
                <a:latin typeface="Arial"/>
                <a:cs typeface="Arial"/>
              </a:rPr>
              <a:t>JUnit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75219" y="190500"/>
              <a:ext cx="883920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2419" y="280415"/>
              <a:ext cx="867155" cy="64007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35940" y="283210"/>
            <a:ext cx="8071484" cy="262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2800" b="1" cap="small" spc="-10" dirty="0">
                <a:solidFill>
                  <a:srgbClr val="FF5A33"/>
                </a:solidFill>
                <a:latin typeface="Arial"/>
                <a:cs typeface="Arial"/>
              </a:rPr>
              <a:t>JUnit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355600" marR="626110" indent="-342900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45" dirty="0">
                <a:latin typeface="Arial"/>
                <a:cs typeface="Arial"/>
              </a:rPr>
              <a:t>JUnit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có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thể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tự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60" dirty="0">
                <a:latin typeface="Arial"/>
                <a:cs typeface="Arial"/>
              </a:rPr>
              <a:t>động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chạy,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kiểm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tra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chính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nó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, </a:t>
            </a:r>
            <a:r>
              <a:rPr sz="2800" dirty="0">
                <a:latin typeface="Arial"/>
                <a:cs typeface="Arial"/>
              </a:rPr>
              <a:t>cho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kết quả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theo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thời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gian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thực.</a:t>
            </a:r>
            <a:endParaRPr sz="2800">
              <a:latin typeface="Arial"/>
              <a:cs typeface="Arial"/>
            </a:endParaRPr>
          </a:p>
          <a:p>
            <a:pPr marL="355600" marR="106680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35" dirty="0">
                <a:latin typeface="Arial"/>
                <a:cs typeface="Arial"/>
              </a:rPr>
              <a:t>JUnit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hỗ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trợ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viết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mã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nhanh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hơn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và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chính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xác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trên </a:t>
            </a:r>
            <a:r>
              <a:rPr sz="2800" spc="-110" dirty="0">
                <a:latin typeface="Arial"/>
                <a:cs typeface="Arial"/>
              </a:rPr>
              <a:t>các</a:t>
            </a:r>
            <a:r>
              <a:rPr sz="2800" dirty="0">
                <a:latin typeface="Arial"/>
                <a:cs typeface="Arial"/>
              </a:rPr>
              <a:t> framework</a:t>
            </a:r>
            <a:r>
              <a:rPr sz="2800" spc="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dùng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ngôn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ngữ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lập</a:t>
            </a:r>
            <a:r>
              <a:rPr sz="2800" spc="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trình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java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29926" y="2977870"/>
            <a:ext cx="4811485" cy="340042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75219" y="190500"/>
              <a:ext cx="883920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2419" y="280415"/>
              <a:ext cx="867155" cy="64007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35940" y="283210"/>
            <a:ext cx="8071484" cy="262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2800" b="1" cap="small" spc="-10" dirty="0">
                <a:solidFill>
                  <a:srgbClr val="FF5A33"/>
                </a:solidFill>
                <a:latin typeface="Arial"/>
                <a:cs typeface="Arial"/>
              </a:rPr>
              <a:t>JUnit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355600" marR="626110" indent="-342900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45" dirty="0">
                <a:latin typeface="Arial"/>
                <a:cs typeface="Arial"/>
              </a:rPr>
              <a:t>JUnit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có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thể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tự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60" dirty="0">
                <a:latin typeface="Arial"/>
                <a:cs typeface="Arial"/>
              </a:rPr>
              <a:t>động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chạy,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kiểm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tra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chính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nó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, </a:t>
            </a:r>
            <a:r>
              <a:rPr sz="2800" dirty="0">
                <a:latin typeface="Arial"/>
                <a:cs typeface="Arial"/>
              </a:rPr>
              <a:t>cho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kết quả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theo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thời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gian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thực.</a:t>
            </a:r>
            <a:endParaRPr sz="2800">
              <a:latin typeface="Arial"/>
              <a:cs typeface="Arial"/>
            </a:endParaRPr>
          </a:p>
          <a:p>
            <a:pPr marL="355600" marR="106680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35" dirty="0">
                <a:latin typeface="Arial"/>
                <a:cs typeface="Arial"/>
              </a:rPr>
              <a:t>JUnit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hỗ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trợ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viết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mã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nhanh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hơn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và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chính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5" dirty="0">
                <a:latin typeface="Arial"/>
                <a:cs typeface="Arial"/>
              </a:rPr>
              <a:t>xác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trên </a:t>
            </a:r>
            <a:r>
              <a:rPr sz="2800" spc="-110" dirty="0">
                <a:latin typeface="Arial"/>
                <a:cs typeface="Arial"/>
              </a:rPr>
              <a:t>các</a:t>
            </a:r>
            <a:r>
              <a:rPr sz="2800" dirty="0">
                <a:latin typeface="Arial"/>
                <a:cs typeface="Arial"/>
              </a:rPr>
              <a:t> framework</a:t>
            </a:r>
            <a:r>
              <a:rPr sz="2800" spc="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dùng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ngôn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ngữ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lập</a:t>
            </a:r>
            <a:r>
              <a:rPr sz="2800" spc="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trình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java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29926" y="2977870"/>
            <a:ext cx="4811485" cy="340042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 txBox="1"/>
          <p:nvPr/>
        </p:nvSpPr>
        <p:spPr>
          <a:xfrm>
            <a:off x="4194175" y="4077327"/>
            <a:ext cx="3994785" cy="103568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Kiểm</a:t>
            </a:r>
            <a:r>
              <a:rPr sz="36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thử</a:t>
            </a:r>
            <a:r>
              <a:rPr sz="3600" b="1" cap="small" spc="3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dirty="0">
                <a:solidFill>
                  <a:srgbClr val="FF5A33"/>
                </a:solidFill>
                <a:latin typeface="Arial"/>
                <a:cs typeface="Arial"/>
              </a:rPr>
              <a:t>nâng</a:t>
            </a:r>
            <a:r>
              <a:rPr sz="36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3600" b="1" cap="small" spc="-240" dirty="0">
                <a:solidFill>
                  <a:srgbClr val="FF5A33"/>
                </a:solidFill>
                <a:latin typeface="Arial"/>
                <a:cs typeface="Arial"/>
              </a:rPr>
              <a:t>cao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Bài</a:t>
            </a:r>
            <a:r>
              <a:rPr sz="2200" b="1" cap="small" spc="8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3:</a:t>
            </a:r>
            <a:r>
              <a:rPr sz="2200" b="1" cap="small" spc="-4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kiểm</a:t>
            </a:r>
            <a:r>
              <a:rPr sz="2200" b="1" cap="small" spc="6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thử</a:t>
            </a:r>
            <a:r>
              <a:rPr sz="2200" b="1" cap="small" spc="7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đơn</a:t>
            </a:r>
            <a:r>
              <a:rPr sz="2200" b="1" cap="small" spc="6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dirty="0">
                <a:solidFill>
                  <a:srgbClr val="FF5A33"/>
                </a:solidFill>
                <a:latin typeface="Arial"/>
                <a:cs typeface="Arial"/>
              </a:rPr>
              <a:t>vị</a:t>
            </a:r>
            <a:r>
              <a:rPr sz="2200" b="1" cap="small" spc="6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200" b="1" cap="small" spc="-20" dirty="0">
                <a:solidFill>
                  <a:srgbClr val="FF5A33"/>
                </a:solidFill>
                <a:latin typeface="Arial"/>
                <a:cs typeface="Arial"/>
              </a:rPr>
              <a:t>(P2)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090929"/>
            <a:ext cx="721105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Download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và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Install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55" dirty="0">
                <a:latin typeface="Arial"/>
                <a:cs typeface="Arial"/>
                <a:hlinkClick r:id="rId2"/>
              </a:rPr>
              <a:t>(http://junit.org/junit4/)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101972" y="2154301"/>
            <a:ext cx="4962525" cy="913765"/>
            <a:chOff x="4101972" y="2154301"/>
            <a:chExt cx="4962525" cy="91376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1972" y="2154301"/>
              <a:ext cx="2171700" cy="9048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3672" y="2264450"/>
              <a:ext cx="2790825" cy="803107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6135" y="3422306"/>
            <a:ext cx="8232048" cy="2383004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409470" y="187121"/>
            <a:ext cx="11058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5080" lvl="0" indent="0" algn="l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small" spc="-10" normalizeH="0" baseline="0" noProof="0" smtClean="0">
                <a:ln>
                  <a:noFill/>
                </a:ln>
                <a:solidFill>
                  <a:srgbClr val="FF5A33"/>
                </a:solidFill>
                <a:effectLst/>
                <a:uLnTx/>
                <a:uFillTx/>
                <a:latin typeface="Arial"/>
                <a:cs typeface="Arial"/>
              </a:rPr>
              <a:t>JUnit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090929"/>
            <a:ext cx="7677784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10" dirty="0">
                <a:latin typeface="Arial"/>
                <a:cs typeface="Arial"/>
              </a:rPr>
              <a:t>Chọn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file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junit.jar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(tạo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thư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mục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riêng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lưu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trữ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để </a:t>
            </a:r>
            <a:r>
              <a:rPr sz="2800" dirty="0">
                <a:latin typeface="Arial"/>
                <a:cs typeface="Arial"/>
              </a:rPr>
              <a:t>dễ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quan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lý)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9328" y="1976247"/>
            <a:ext cx="6283071" cy="4881750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409470" y="288629"/>
            <a:ext cx="11058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5080" lvl="0" indent="0" algn="l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small" spc="-10" normalizeH="0" baseline="0" noProof="0" smtClean="0">
                <a:ln>
                  <a:noFill/>
                </a:ln>
                <a:solidFill>
                  <a:srgbClr val="FF5A33"/>
                </a:solidFill>
                <a:effectLst/>
                <a:uLnTx/>
                <a:uFillTx/>
                <a:latin typeface="Arial"/>
                <a:cs typeface="Arial"/>
              </a:rPr>
              <a:t>JUnit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75219" y="190500"/>
              <a:ext cx="883920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2419" y="280415"/>
              <a:ext cx="867155" cy="64007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35940" y="283210"/>
            <a:ext cx="8071484" cy="1686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2800" b="1" cap="small" spc="-10" dirty="0">
                <a:solidFill>
                  <a:srgbClr val="FF5A33"/>
                </a:solidFill>
                <a:latin typeface="Arial"/>
                <a:cs typeface="Arial"/>
              </a:rPr>
              <a:t>JUnit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55" dirty="0">
                <a:latin typeface="Arial"/>
                <a:cs typeface="Arial"/>
              </a:rPr>
              <a:t>Trong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mục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central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repository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lựa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chọn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version</a:t>
            </a:r>
            <a:endParaRPr sz="28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800" spc="-60" dirty="0">
                <a:latin typeface="Arial"/>
                <a:cs typeface="Arial"/>
              </a:rPr>
              <a:t>4.12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(chạy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ổn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định)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249" y="2169024"/>
            <a:ext cx="9071500" cy="40793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75219" y="190500"/>
              <a:ext cx="883920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2419" y="280415"/>
              <a:ext cx="867155" cy="64007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535940" y="283210"/>
            <a:ext cx="8071484" cy="2113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2800" b="1" cap="small" spc="-10" dirty="0">
                <a:solidFill>
                  <a:srgbClr val="FF5A33"/>
                </a:solidFill>
                <a:latin typeface="Arial"/>
                <a:cs typeface="Arial"/>
              </a:rPr>
              <a:t>JUnit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355600" marR="31115" indent="-342900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100" dirty="0">
                <a:latin typeface="Arial"/>
                <a:cs typeface="Arial"/>
              </a:rPr>
              <a:t>Tải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tập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tin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“hamcrest-</a:t>
            </a:r>
            <a:r>
              <a:rPr sz="2800" dirty="0">
                <a:latin typeface="Arial"/>
                <a:cs typeface="Arial"/>
              </a:rPr>
              <a:t>core.jar”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từ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link </a:t>
            </a:r>
            <a:r>
              <a:rPr sz="2800" spc="45" dirty="0">
                <a:latin typeface="Arial"/>
                <a:cs typeface="Arial"/>
              </a:rPr>
              <a:t>https://github.com/junitteam/junit4/wiki/Downlo </a:t>
            </a:r>
            <a:r>
              <a:rPr sz="2800" dirty="0">
                <a:latin typeface="Arial"/>
                <a:cs typeface="Arial"/>
              </a:rPr>
              <a:t>ad-and-</a:t>
            </a:r>
            <a:r>
              <a:rPr sz="2800" spc="-10" dirty="0">
                <a:latin typeface="Arial"/>
                <a:cs typeface="Arial"/>
              </a:rPr>
              <a:t>Install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62484" y="2698750"/>
            <a:ext cx="6792515" cy="19105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1050" y="4699508"/>
            <a:ext cx="7781925" cy="147269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2760" y="190500"/>
              <a:ext cx="690372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6411" y="280415"/>
              <a:ext cx="789432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02379" y="280415"/>
              <a:ext cx="1135379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51247" y="280415"/>
              <a:ext cx="963168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29428" y="280415"/>
              <a:ext cx="737615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82996" y="280415"/>
              <a:ext cx="606551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05500" y="280415"/>
              <a:ext cx="1033272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50735" y="280415"/>
              <a:ext cx="1152144" cy="6400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75219" y="190500"/>
              <a:ext cx="883920" cy="7894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32419" y="280415"/>
              <a:ext cx="867155" cy="64007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35940" y="283210"/>
            <a:ext cx="8071484" cy="2199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18435">
              <a:lnSpc>
                <a:spcPct val="100000"/>
              </a:lnSpc>
              <a:spcBef>
                <a:spcPts val="95"/>
              </a:spcBef>
            </a:pPr>
            <a:r>
              <a:rPr sz="2800" b="1" cap="small" spc="-35" dirty="0">
                <a:solidFill>
                  <a:srgbClr val="FF5A33"/>
                </a:solidFill>
                <a:latin typeface="Arial"/>
                <a:cs typeface="Arial"/>
              </a:rPr>
              <a:t>Cấu</a:t>
            </a:r>
            <a:r>
              <a:rPr sz="2800" b="1" cap="small" spc="1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90" dirty="0">
                <a:solidFill>
                  <a:srgbClr val="FF5A33"/>
                </a:solidFill>
                <a:latin typeface="Arial"/>
                <a:cs typeface="Arial"/>
              </a:rPr>
              <a:t>hình</a:t>
            </a:r>
            <a:r>
              <a:rPr sz="2800" b="1" cap="small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95" dirty="0">
                <a:solidFill>
                  <a:srgbClr val="FF5A33"/>
                </a:solidFill>
                <a:latin typeface="Arial"/>
                <a:cs typeface="Arial"/>
              </a:rPr>
              <a:t>môi</a:t>
            </a:r>
            <a:r>
              <a:rPr sz="2800" b="1" cap="small" spc="1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60" dirty="0">
                <a:solidFill>
                  <a:srgbClr val="FF5A33"/>
                </a:solidFill>
                <a:latin typeface="Arial"/>
                <a:cs typeface="Arial"/>
              </a:rPr>
              <a:t>trường</a:t>
            </a:r>
            <a:r>
              <a:rPr sz="2800" b="1" cap="small" spc="-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20" dirty="0">
                <a:solidFill>
                  <a:srgbClr val="FF5A33"/>
                </a:solidFill>
                <a:latin typeface="Arial"/>
                <a:cs typeface="Arial"/>
              </a:rPr>
              <a:t>chạy</a:t>
            </a:r>
            <a:r>
              <a:rPr sz="2800" b="1" cap="small" spc="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95" dirty="0">
                <a:solidFill>
                  <a:srgbClr val="FF5A33"/>
                </a:solidFill>
                <a:latin typeface="Arial"/>
                <a:cs typeface="Arial"/>
              </a:rPr>
              <a:t>JUnit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Thiết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lập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biến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55" dirty="0">
                <a:latin typeface="Arial"/>
                <a:cs typeface="Arial"/>
              </a:rPr>
              <a:t>môi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trường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JUNIT_HOME</a:t>
            </a:r>
            <a:endParaRPr sz="2800">
              <a:latin typeface="Arial"/>
              <a:cs typeface="Arial"/>
            </a:endParaRPr>
          </a:p>
          <a:p>
            <a:pPr marL="355600" marR="634365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Chuột</a:t>
            </a:r>
            <a:r>
              <a:rPr sz="2800" spc="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phải</a:t>
            </a:r>
            <a:r>
              <a:rPr sz="2800" spc="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my</a:t>
            </a:r>
            <a:r>
              <a:rPr sz="2800" spc="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computer-</a:t>
            </a:r>
            <a:r>
              <a:rPr sz="2800" spc="260" dirty="0">
                <a:latin typeface="Arial"/>
                <a:cs typeface="Arial"/>
              </a:rPr>
              <a:t>&gt;</a:t>
            </a:r>
            <a:r>
              <a:rPr sz="2800" spc="3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advanced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system </a:t>
            </a:r>
            <a:r>
              <a:rPr sz="2800" dirty="0">
                <a:latin typeface="Arial"/>
                <a:cs typeface="Arial"/>
              </a:rPr>
              <a:t>settings-&gt;Environment</a:t>
            </a:r>
            <a:r>
              <a:rPr sz="2800" spc="9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Variables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587498" y="2501347"/>
            <a:ext cx="3924300" cy="434340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535940" y="1090929"/>
            <a:ext cx="78651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254" dirty="0">
                <a:latin typeface="Arial"/>
                <a:cs typeface="Arial"/>
              </a:rPr>
              <a:t>Từ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màn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hình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Environment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Variables,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chọn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“new”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600" y="1527314"/>
            <a:ext cx="5204840" cy="4832350"/>
          </a:xfrm>
          <a:prstGeom prst="rect">
            <a:avLst/>
          </a:prstGeom>
        </p:spPr>
      </p:pic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2760" y="190500"/>
              <a:ext cx="690372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6411" y="280415"/>
              <a:ext cx="789432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02379" y="280415"/>
              <a:ext cx="1135379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51247" y="280415"/>
              <a:ext cx="963168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29428" y="280415"/>
              <a:ext cx="737615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82996" y="280415"/>
              <a:ext cx="606551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05500" y="280415"/>
              <a:ext cx="1033272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50735" y="280415"/>
              <a:ext cx="1152144" cy="6400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75219" y="190500"/>
              <a:ext cx="883920" cy="7894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32419" y="280415"/>
              <a:ext cx="867155" cy="64007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35940" y="283210"/>
            <a:ext cx="8071484" cy="2540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18435">
              <a:lnSpc>
                <a:spcPct val="100000"/>
              </a:lnSpc>
              <a:spcBef>
                <a:spcPts val="95"/>
              </a:spcBef>
            </a:pPr>
            <a:r>
              <a:rPr sz="2800" b="1" cap="small" spc="-35" dirty="0">
                <a:solidFill>
                  <a:srgbClr val="FF5A33"/>
                </a:solidFill>
                <a:latin typeface="Arial"/>
                <a:cs typeface="Arial"/>
              </a:rPr>
              <a:t>Cấu</a:t>
            </a:r>
            <a:r>
              <a:rPr sz="2800" b="1" cap="small" spc="1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90" dirty="0">
                <a:solidFill>
                  <a:srgbClr val="FF5A33"/>
                </a:solidFill>
                <a:latin typeface="Arial"/>
                <a:cs typeface="Arial"/>
              </a:rPr>
              <a:t>hình</a:t>
            </a:r>
            <a:r>
              <a:rPr sz="2800" b="1" cap="small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95" dirty="0">
                <a:solidFill>
                  <a:srgbClr val="FF5A33"/>
                </a:solidFill>
                <a:latin typeface="Arial"/>
                <a:cs typeface="Arial"/>
              </a:rPr>
              <a:t>môi</a:t>
            </a:r>
            <a:r>
              <a:rPr sz="2800" b="1" cap="small" spc="1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60" dirty="0">
                <a:solidFill>
                  <a:srgbClr val="FF5A33"/>
                </a:solidFill>
                <a:latin typeface="Arial"/>
                <a:cs typeface="Arial"/>
              </a:rPr>
              <a:t>trường</a:t>
            </a:r>
            <a:r>
              <a:rPr sz="2800" b="1" cap="small" spc="-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20" dirty="0">
                <a:solidFill>
                  <a:srgbClr val="FF5A33"/>
                </a:solidFill>
                <a:latin typeface="Arial"/>
                <a:cs typeface="Arial"/>
              </a:rPr>
              <a:t>chạy</a:t>
            </a:r>
            <a:r>
              <a:rPr sz="2800" b="1" cap="small" spc="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95" dirty="0">
                <a:solidFill>
                  <a:srgbClr val="FF5A33"/>
                </a:solidFill>
                <a:latin typeface="Arial"/>
                <a:cs typeface="Arial"/>
              </a:rPr>
              <a:t>JUnit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355600" marR="5715" indent="-342900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95" dirty="0">
                <a:latin typeface="Arial"/>
                <a:cs typeface="Arial"/>
              </a:rPr>
              <a:t>Bên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60" dirty="0">
                <a:latin typeface="Arial"/>
                <a:cs typeface="Arial"/>
              </a:rPr>
              <a:t>trong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“New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System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Variable”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ta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cung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cấp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các </a:t>
            </a:r>
            <a:r>
              <a:rPr sz="2800" spc="70" dirty="0">
                <a:latin typeface="Arial"/>
                <a:cs typeface="Arial"/>
              </a:rPr>
              <a:t>thông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tin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để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tạo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mới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biến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55" dirty="0">
                <a:latin typeface="Arial"/>
                <a:cs typeface="Arial"/>
              </a:rPr>
              <a:t>môi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trường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60" dirty="0">
                <a:latin typeface="Arial"/>
                <a:cs typeface="Arial"/>
              </a:rPr>
              <a:t>trong</a:t>
            </a:r>
            <a:r>
              <a:rPr sz="2800" spc="-25" dirty="0">
                <a:latin typeface="Arial"/>
                <a:cs typeface="Arial"/>
              </a:rPr>
              <a:t> hệ</a:t>
            </a:r>
            <a:endParaRPr sz="2800">
              <a:latin typeface="Arial"/>
              <a:cs typeface="Arial"/>
            </a:endParaRPr>
          </a:p>
          <a:p>
            <a:pPr marL="355600" marR="388620">
              <a:lnSpc>
                <a:spcPct val="100000"/>
              </a:lnSpc>
              <a:spcBef>
                <a:spcPts val="5"/>
              </a:spcBef>
            </a:pPr>
            <a:r>
              <a:rPr sz="2800" spc="70" dirty="0">
                <a:latin typeface="Arial"/>
                <a:cs typeface="Arial"/>
              </a:rPr>
              <a:t>thống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(thư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mục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Junit4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90" dirty="0">
                <a:latin typeface="Arial"/>
                <a:cs typeface="Arial"/>
              </a:rPr>
              <a:t>được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tạo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ra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từ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trước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lưu </a:t>
            </a:r>
            <a:r>
              <a:rPr sz="2800" dirty="0">
                <a:latin typeface="Arial"/>
                <a:cs typeface="Arial"/>
              </a:rPr>
              <a:t>Unit.jar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85" dirty="0">
                <a:latin typeface="Arial"/>
                <a:cs typeface="Arial"/>
              </a:rPr>
              <a:t>và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30" dirty="0">
                <a:latin typeface="Arial"/>
                <a:cs typeface="Arial"/>
              </a:rPr>
              <a:t>hamcrest-</a:t>
            </a:r>
            <a:r>
              <a:rPr sz="2800" spc="-10" dirty="0">
                <a:latin typeface="Arial"/>
                <a:cs typeface="Arial"/>
              </a:rPr>
              <a:t>core.jar)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808098" y="3284880"/>
            <a:ext cx="5467350" cy="234315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" y="190500"/>
            <a:ext cx="8342630" cy="789940"/>
            <a:chOff x="457200" y="190500"/>
            <a:chExt cx="8342630" cy="789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2760" y="190500"/>
              <a:ext cx="690372" cy="78943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6411" y="280415"/>
              <a:ext cx="789432" cy="6400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02379" y="280415"/>
              <a:ext cx="1135379" cy="6400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51247" y="280415"/>
              <a:ext cx="963168" cy="6400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29428" y="280415"/>
              <a:ext cx="737615" cy="6400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82996" y="280415"/>
              <a:ext cx="606551" cy="6400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05500" y="280415"/>
              <a:ext cx="1033272" cy="6400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50735" y="280415"/>
              <a:ext cx="1152144" cy="6400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75219" y="190500"/>
              <a:ext cx="883920" cy="7894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32419" y="280415"/>
              <a:ext cx="867155" cy="64007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35940" y="283210"/>
            <a:ext cx="8071484" cy="305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18435">
              <a:lnSpc>
                <a:spcPct val="100000"/>
              </a:lnSpc>
              <a:spcBef>
                <a:spcPts val="95"/>
              </a:spcBef>
            </a:pPr>
            <a:r>
              <a:rPr sz="2800" b="1" cap="small" spc="-35" dirty="0">
                <a:solidFill>
                  <a:srgbClr val="FF5A33"/>
                </a:solidFill>
                <a:latin typeface="Arial"/>
                <a:cs typeface="Arial"/>
              </a:rPr>
              <a:t>Cấu</a:t>
            </a:r>
            <a:r>
              <a:rPr sz="2800" b="1" cap="small" spc="1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90" dirty="0">
                <a:solidFill>
                  <a:srgbClr val="FF5A33"/>
                </a:solidFill>
                <a:latin typeface="Arial"/>
                <a:cs typeface="Arial"/>
              </a:rPr>
              <a:t>hình</a:t>
            </a:r>
            <a:r>
              <a:rPr sz="2800" b="1" cap="small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95" dirty="0">
                <a:solidFill>
                  <a:srgbClr val="FF5A33"/>
                </a:solidFill>
                <a:latin typeface="Arial"/>
                <a:cs typeface="Arial"/>
              </a:rPr>
              <a:t>môi</a:t>
            </a:r>
            <a:r>
              <a:rPr sz="2800" b="1" cap="small" spc="1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60" dirty="0">
                <a:solidFill>
                  <a:srgbClr val="FF5A33"/>
                </a:solidFill>
                <a:latin typeface="Arial"/>
                <a:cs typeface="Arial"/>
              </a:rPr>
              <a:t>trường</a:t>
            </a:r>
            <a:r>
              <a:rPr sz="2800" b="1" cap="small" spc="-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20" dirty="0">
                <a:solidFill>
                  <a:srgbClr val="FF5A33"/>
                </a:solidFill>
                <a:latin typeface="Arial"/>
                <a:cs typeface="Arial"/>
              </a:rPr>
              <a:t>chạy</a:t>
            </a:r>
            <a:r>
              <a:rPr sz="2800" b="1" cap="small" spc="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95" dirty="0">
                <a:solidFill>
                  <a:srgbClr val="FF5A33"/>
                </a:solidFill>
                <a:latin typeface="Arial"/>
                <a:cs typeface="Arial"/>
              </a:rPr>
              <a:t>JUnit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355600" marR="466090" indent="-342900" algn="just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105" dirty="0">
                <a:latin typeface="Arial"/>
                <a:cs typeface="Arial"/>
              </a:rPr>
              <a:t>Tương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tự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tạo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biến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tên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75" dirty="0">
                <a:latin typeface="Arial"/>
                <a:cs typeface="Arial"/>
              </a:rPr>
              <a:t>CLASSPATH,</a:t>
            </a:r>
            <a:r>
              <a:rPr sz="2800" spc="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lưu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ý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50" dirty="0">
                <a:latin typeface="Arial"/>
                <a:cs typeface="Arial"/>
              </a:rPr>
              <a:t>trong </a:t>
            </a:r>
            <a:r>
              <a:rPr sz="2800" dirty="0">
                <a:latin typeface="Arial"/>
                <a:cs typeface="Arial"/>
              </a:rPr>
              <a:t>phần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30" dirty="0">
                <a:latin typeface="Arial"/>
                <a:cs typeface="Arial"/>
              </a:rPr>
              <a:t>“Variable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Value”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cần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liên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kết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tới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thư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mục </a:t>
            </a:r>
            <a:r>
              <a:rPr sz="2800" spc="-110" dirty="0">
                <a:latin typeface="Arial"/>
                <a:cs typeface="Arial"/>
              </a:rPr>
              <a:t>chứa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Junit.jar</a:t>
            </a:r>
            <a:endParaRPr sz="2800">
              <a:latin typeface="Arial"/>
              <a:cs typeface="Arial"/>
            </a:endParaRPr>
          </a:p>
          <a:p>
            <a:pPr marL="354965" indent="-342265" algn="just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50" dirty="0">
                <a:latin typeface="Arial"/>
                <a:cs typeface="Arial"/>
              </a:rPr>
              <a:t>Variable</a:t>
            </a:r>
            <a:r>
              <a:rPr sz="2800" spc="-1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Value:</a:t>
            </a:r>
            <a:endParaRPr sz="28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800" spc="-125" dirty="0">
                <a:latin typeface="Arial"/>
                <a:cs typeface="Arial"/>
              </a:rPr>
              <a:t>%CLASSPATH%;%JUNIT_HOME%\JUnit4.10.jar;.;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057400" y="3962400"/>
            <a:ext cx="5230240" cy="224155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15" name="object 15"/>
          <p:cNvSpPr txBox="1"/>
          <p:nvPr/>
        </p:nvSpPr>
        <p:spPr>
          <a:xfrm>
            <a:off x="535940" y="1090929"/>
            <a:ext cx="771842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10" dirty="0">
                <a:latin typeface="Arial"/>
                <a:cs typeface="Arial"/>
              </a:rPr>
              <a:t>Chọn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phải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chuột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vào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project,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chọn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50" dirty="0">
                <a:latin typeface="Arial"/>
                <a:cs typeface="Arial"/>
              </a:rPr>
              <a:t>"build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path“ </a:t>
            </a:r>
            <a:r>
              <a:rPr sz="2800" spc="-85" dirty="0">
                <a:latin typeface="Arial"/>
                <a:cs typeface="Arial"/>
              </a:rPr>
              <a:t>và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chọn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"Configure</a:t>
            </a:r>
            <a:r>
              <a:rPr sz="2800" spc="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build</a:t>
            </a:r>
            <a:r>
              <a:rPr sz="2800" spc="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path"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514600"/>
            <a:ext cx="7384669" cy="2709037"/>
          </a:xfrm>
          <a:prstGeom prst="rect">
            <a:avLst/>
          </a:prstGeom>
        </p:spPr>
      </p:pic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535940" y="283210"/>
            <a:ext cx="8375015" cy="2199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68450">
              <a:lnSpc>
                <a:spcPct val="100000"/>
              </a:lnSpc>
              <a:spcBef>
                <a:spcPts val="95"/>
              </a:spcBef>
            </a:pPr>
            <a:r>
              <a:rPr sz="2800" b="1" cap="small" spc="-35" dirty="0">
                <a:solidFill>
                  <a:srgbClr val="FF5A33"/>
                </a:solidFill>
                <a:latin typeface="Arial"/>
                <a:cs typeface="Arial"/>
              </a:rPr>
              <a:t>Cấu</a:t>
            </a:r>
            <a:r>
              <a:rPr sz="28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90" dirty="0">
                <a:solidFill>
                  <a:srgbClr val="FF5A33"/>
                </a:solidFill>
                <a:latin typeface="Arial"/>
                <a:cs typeface="Arial"/>
              </a:rPr>
              <a:t>hình</a:t>
            </a:r>
            <a:r>
              <a:rPr sz="2800" b="1" cap="small" spc="1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10" dirty="0">
                <a:solidFill>
                  <a:srgbClr val="FF5A33"/>
                </a:solidFill>
                <a:latin typeface="Arial"/>
                <a:cs typeface="Arial"/>
              </a:rPr>
              <a:t>tập</a:t>
            </a:r>
            <a:r>
              <a:rPr sz="2800" b="1" cap="small" spc="1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dirty="0">
                <a:solidFill>
                  <a:srgbClr val="FF5A33"/>
                </a:solidFill>
                <a:latin typeface="Arial"/>
                <a:cs typeface="Arial"/>
              </a:rPr>
              <a:t>tin</a:t>
            </a:r>
            <a:r>
              <a:rPr sz="2800" b="1" cap="small" spc="2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dirty="0">
                <a:solidFill>
                  <a:srgbClr val="FF5A33"/>
                </a:solidFill>
                <a:latin typeface="Arial"/>
                <a:cs typeface="Arial"/>
              </a:rPr>
              <a:t>JUnit</a:t>
            </a:r>
            <a:r>
              <a:rPr sz="2800" b="1" cap="small" spc="3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135" dirty="0">
                <a:solidFill>
                  <a:srgbClr val="FF5A33"/>
                </a:solidFill>
                <a:latin typeface="Arial"/>
                <a:cs typeface="Arial"/>
              </a:rPr>
              <a:t>jar</a:t>
            </a:r>
            <a:r>
              <a:rPr sz="2800" b="1" cap="small" spc="1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140" dirty="0">
                <a:solidFill>
                  <a:srgbClr val="FF5A33"/>
                </a:solidFill>
                <a:latin typeface="Arial"/>
                <a:cs typeface="Arial"/>
              </a:rPr>
              <a:t>file</a:t>
            </a:r>
            <a:r>
              <a:rPr sz="2800" b="1" cap="small" spc="2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dirty="0">
                <a:solidFill>
                  <a:srgbClr val="FF5A33"/>
                </a:solidFill>
                <a:latin typeface="Arial"/>
                <a:cs typeface="Arial"/>
              </a:rPr>
              <a:t>cho</a:t>
            </a:r>
            <a:r>
              <a:rPr sz="2800" b="1" cap="small" spc="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215" dirty="0">
                <a:solidFill>
                  <a:srgbClr val="FF5A33"/>
                </a:solidFill>
                <a:latin typeface="Arial"/>
                <a:cs typeface="Arial"/>
              </a:rPr>
              <a:t>eclipse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70" dirty="0">
                <a:latin typeface="Arial"/>
                <a:cs typeface="Arial"/>
              </a:rPr>
              <a:t>Tìm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vào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mục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“java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build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path”</a:t>
            </a:r>
            <a:endParaRPr sz="2800">
              <a:latin typeface="Arial"/>
              <a:cs typeface="Arial"/>
            </a:endParaRPr>
          </a:p>
          <a:p>
            <a:pPr marL="355600" marR="1111885" indent="-342900">
              <a:lnSpc>
                <a:spcPct val="100000"/>
              </a:lnSpc>
              <a:spcBef>
                <a:spcPts val="67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10" dirty="0">
                <a:latin typeface="Arial"/>
                <a:cs typeface="Arial"/>
              </a:rPr>
              <a:t>Chọn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“Add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75" dirty="0">
                <a:latin typeface="Arial"/>
                <a:cs typeface="Arial"/>
              </a:rPr>
              <a:t>External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210" dirty="0">
                <a:latin typeface="Arial"/>
                <a:cs typeface="Arial"/>
              </a:rPr>
              <a:t>JARs”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để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tải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Junit.jar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cho </a:t>
            </a:r>
            <a:r>
              <a:rPr sz="2800" spc="-65" dirty="0">
                <a:latin typeface="Arial"/>
                <a:cs typeface="Arial"/>
              </a:rPr>
              <a:t>eclipse,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nhấn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ok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để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thực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hiện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695" y="2819400"/>
            <a:ext cx="8138159" cy="2971800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535940" y="283210"/>
            <a:ext cx="8375015" cy="2113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68450">
              <a:lnSpc>
                <a:spcPct val="100000"/>
              </a:lnSpc>
              <a:spcBef>
                <a:spcPts val="95"/>
              </a:spcBef>
            </a:pPr>
            <a:r>
              <a:rPr sz="2800" b="1" cap="small" spc="-35" dirty="0">
                <a:solidFill>
                  <a:srgbClr val="FF5A33"/>
                </a:solidFill>
                <a:latin typeface="Arial"/>
                <a:cs typeface="Arial"/>
              </a:rPr>
              <a:t>Cấu</a:t>
            </a:r>
            <a:r>
              <a:rPr sz="2800" b="1" cap="small" spc="2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90" dirty="0">
                <a:solidFill>
                  <a:srgbClr val="FF5A33"/>
                </a:solidFill>
                <a:latin typeface="Arial"/>
                <a:cs typeface="Arial"/>
              </a:rPr>
              <a:t>hình</a:t>
            </a:r>
            <a:r>
              <a:rPr sz="2800" b="1" cap="small" spc="1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10" dirty="0">
                <a:solidFill>
                  <a:srgbClr val="FF5A33"/>
                </a:solidFill>
                <a:latin typeface="Arial"/>
                <a:cs typeface="Arial"/>
              </a:rPr>
              <a:t>tập</a:t>
            </a:r>
            <a:r>
              <a:rPr sz="2800" b="1" cap="small" spc="1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dirty="0">
                <a:solidFill>
                  <a:srgbClr val="FF5A33"/>
                </a:solidFill>
                <a:latin typeface="Arial"/>
                <a:cs typeface="Arial"/>
              </a:rPr>
              <a:t>tin</a:t>
            </a:r>
            <a:r>
              <a:rPr sz="2800" b="1" cap="small" spc="2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dirty="0">
                <a:solidFill>
                  <a:srgbClr val="FF5A33"/>
                </a:solidFill>
                <a:latin typeface="Arial"/>
                <a:cs typeface="Arial"/>
              </a:rPr>
              <a:t>JUnit</a:t>
            </a:r>
            <a:r>
              <a:rPr sz="2800" b="1" cap="small" spc="3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135" dirty="0">
                <a:solidFill>
                  <a:srgbClr val="FF5A33"/>
                </a:solidFill>
                <a:latin typeface="Arial"/>
                <a:cs typeface="Arial"/>
              </a:rPr>
              <a:t>jar</a:t>
            </a:r>
            <a:r>
              <a:rPr sz="2800" b="1" cap="small" spc="1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140" dirty="0">
                <a:solidFill>
                  <a:srgbClr val="FF5A33"/>
                </a:solidFill>
                <a:latin typeface="Arial"/>
                <a:cs typeface="Arial"/>
              </a:rPr>
              <a:t>file</a:t>
            </a:r>
            <a:r>
              <a:rPr sz="2800" b="1" cap="small" spc="20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dirty="0">
                <a:solidFill>
                  <a:srgbClr val="FF5A33"/>
                </a:solidFill>
                <a:latin typeface="Arial"/>
                <a:cs typeface="Arial"/>
              </a:rPr>
              <a:t>cho</a:t>
            </a:r>
            <a:r>
              <a:rPr sz="2800" b="1" cap="small" spc="5" dirty="0">
                <a:solidFill>
                  <a:srgbClr val="FF5A33"/>
                </a:solidFill>
                <a:latin typeface="Arial"/>
                <a:cs typeface="Arial"/>
              </a:rPr>
              <a:t> </a:t>
            </a:r>
            <a:r>
              <a:rPr sz="2800" b="1" cap="small" spc="-215" dirty="0">
                <a:solidFill>
                  <a:srgbClr val="FF5A33"/>
                </a:solidFill>
                <a:latin typeface="Arial"/>
                <a:cs typeface="Arial"/>
              </a:rPr>
              <a:t>eclipse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250">
              <a:latin typeface="Arial"/>
              <a:cs typeface="Arial"/>
            </a:endParaRPr>
          </a:p>
          <a:p>
            <a:pPr marL="355600" marR="708660" indent="-342900">
              <a:lnSpc>
                <a:spcPct val="100000"/>
              </a:lnSpc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40" dirty="0">
                <a:latin typeface="Arial"/>
                <a:cs typeface="Arial"/>
              </a:rPr>
              <a:t>Kiểm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tra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30" dirty="0">
                <a:latin typeface="Arial"/>
                <a:cs typeface="Arial"/>
              </a:rPr>
              <a:t>việc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cấu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hình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thành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công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junit.jar</a:t>
            </a:r>
            <a:r>
              <a:rPr sz="2800" spc="-20" dirty="0">
                <a:latin typeface="Arial"/>
                <a:cs typeface="Arial"/>
              </a:rPr>
              <a:t> trên </a:t>
            </a:r>
            <a:r>
              <a:rPr sz="2800" spc="-30" dirty="0">
                <a:latin typeface="Arial"/>
                <a:cs typeface="Arial"/>
              </a:rPr>
              <a:t>eclipse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bằng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70" dirty="0">
                <a:latin typeface="Arial"/>
                <a:cs typeface="Arial"/>
              </a:rPr>
              <a:t>cách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vào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"Configure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build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path“, </a:t>
            </a:r>
            <a:r>
              <a:rPr sz="2800" dirty="0">
                <a:latin typeface="Arial"/>
                <a:cs typeface="Arial"/>
              </a:rPr>
              <a:t>chon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“libraries”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2501138"/>
            <a:ext cx="5396865" cy="3909949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26965" y="280114"/>
            <a:ext cx="78867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3730" algn="ctr">
              <a:lnSpc>
                <a:spcPct val="100000"/>
              </a:lnSpc>
              <a:spcBef>
                <a:spcPts val="95"/>
              </a:spcBef>
            </a:pPr>
            <a:r>
              <a:rPr sz="2800" b="1" cap="small" spc="-35" dirty="0">
                <a:solidFill>
                  <a:srgbClr val="FF5A33"/>
                </a:solidFill>
                <a:latin typeface="Arial"/>
                <a:cs typeface="Arial"/>
              </a:rPr>
              <a:t>Tạo automation test với junit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535940" y="1090929"/>
            <a:ext cx="56603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90" dirty="0">
                <a:latin typeface="Arial"/>
                <a:cs typeface="Arial"/>
              </a:rPr>
              <a:t>Tạo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class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có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name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“TestJUnit.java”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1964563"/>
            <a:ext cx="8534400" cy="292887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535940" y="1090929"/>
            <a:ext cx="783082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90" dirty="0">
                <a:latin typeface="Arial"/>
                <a:cs typeface="Arial"/>
              </a:rPr>
              <a:t>Tạo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class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có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name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spc="-80" dirty="0">
                <a:latin typeface="Arial"/>
                <a:cs typeface="Arial"/>
              </a:rPr>
              <a:t>“Test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Runner”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để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thực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thi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lớp </a:t>
            </a:r>
            <a:r>
              <a:rPr sz="2800" spc="-10" dirty="0">
                <a:latin typeface="Arial"/>
                <a:cs typeface="Arial"/>
              </a:rPr>
              <a:t>“TestJUnit”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3413" y="2667000"/>
            <a:ext cx="7097260" cy="2743200"/>
          </a:xfrm>
          <a:prstGeom prst="rect">
            <a:avLst/>
          </a:prstGeom>
        </p:spPr>
      </p:pic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535940" y="1090929"/>
            <a:ext cx="788860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5600" algn="l"/>
              </a:tabLst>
            </a:pPr>
            <a:r>
              <a:rPr sz="2800" spc="-145" dirty="0">
                <a:latin typeface="Arial"/>
                <a:cs typeface="Arial"/>
              </a:rPr>
              <a:t>Thực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thi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test: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phải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chuột</a:t>
            </a:r>
            <a:r>
              <a:rPr sz="2800" spc="-35" dirty="0">
                <a:latin typeface="Arial"/>
                <a:cs typeface="Arial"/>
              </a:rPr>
              <a:t> “TestJunit”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170" dirty="0">
                <a:latin typeface="Arial"/>
                <a:cs typeface="Arial"/>
              </a:rPr>
              <a:t>-</a:t>
            </a:r>
            <a:r>
              <a:rPr sz="2800" spc="260" dirty="0">
                <a:latin typeface="Arial"/>
                <a:cs typeface="Arial"/>
              </a:rPr>
              <a:t>&gt;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run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180" dirty="0">
                <a:latin typeface="Arial"/>
                <a:cs typeface="Arial"/>
              </a:rPr>
              <a:t>as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spc="170" dirty="0">
                <a:latin typeface="Arial"/>
                <a:cs typeface="Arial"/>
              </a:rPr>
              <a:t>-</a:t>
            </a:r>
            <a:r>
              <a:rPr sz="2800" spc="210" dirty="0">
                <a:latin typeface="Arial"/>
                <a:cs typeface="Arial"/>
              </a:rPr>
              <a:t>&gt; </a:t>
            </a:r>
            <a:r>
              <a:rPr sz="2800" dirty="0">
                <a:latin typeface="Arial"/>
                <a:cs typeface="Arial"/>
              </a:rPr>
              <a:t>"1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30" dirty="0">
                <a:latin typeface="Arial"/>
                <a:cs typeface="Arial"/>
              </a:rPr>
              <a:t>JUnit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Test“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1905000"/>
            <a:ext cx="6324600" cy="4952997"/>
          </a:xfrm>
          <a:prstGeom prst="rect">
            <a:avLst/>
          </a:prstGeom>
        </p:spPr>
      </p:pic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</a:t>
            </a:r>
            <a:r>
              <a:rPr spc="-15" dirty="0"/>
              <a:t> </a:t>
            </a:r>
            <a:r>
              <a:rPr dirty="0"/>
              <a:t>thử</a:t>
            </a:r>
            <a:r>
              <a:rPr spc="-10" dirty="0"/>
              <a:t> </a:t>
            </a:r>
            <a:r>
              <a:rPr dirty="0"/>
              <a:t>nâng</a:t>
            </a:r>
            <a:r>
              <a:rPr spc="-30" dirty="0"/>
              <a:t> </a:t>
            </a:r>
            <a:r>
              <a:rPr spc="-25" dirty="0"/>
              <a:t>cao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535940" y="1090929"/>
            <a:ext cx="54209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FF5A33"/>
              </a:buClr>
              <a:buFont typeface="Wingdings"/>
              <a:buChar char=""/>
              <a:tabLst>
                <a:tab pos="354965" algn="l"/>
              </a:tabLst>
            </a:pPr>
            <a:r>
              <a:rPr sz="2800" spc="-20" dirty="0">
                <a:latin typeface="Arial"/>
                <a:cs typeface="Arial"/>
              </a:rPr>
              <a:t>Kết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quả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thực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75" dirty="0">
                <a:latin typeface="Arial"/>
                <a:cs typeface="Arial"/>
              </a:rPr>
              <a:t>thi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test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thành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công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4501" y="2238375"/>
            <a:ext cx="5174996" cy="2914650"/>
          </a:xfrm>
          <a:prstGeom prst="rect">
            <a:avLst/>
          </a:prstGeom>
        </p:spPr>
      </p:pic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5900" y="520700"/>
            <a:ext cx="8470900" cy="5346700"/>
            <a:chOff x="215900" y="520700"/>
            <a:chExt cx="8470900" cy="5346700"/>
          </a:xfrm>
        </p:grpSpPr>
        <p:sp>
          <p:nvSpPr>
            <p:cNvPr id="3" name="object 3"/>
            <p:cNvSpPr/>
            <p:nvPr/>
          </p:nvSpPr>
          <p:spPr>
            <a:xfrm>
              <a:off x="228600" y="1023619"/>
              <a:ext cx="8458200" cy="4843780"/>
            </a:xfrm>
            <a:custGeom>
              <a:avLst/>
              <a:gdLst/>
              <a:ahLst/>
              <a:cxnLst/>
              <a:rect l="l" t="t" r="r" b="b"/>
              <a:pathLst>
                <a:path w="8458200" h="4843780">
                  <a:moveTo>
                    <a:pt x="8458200" y="0"/>
                  </a:moveTo>
                  <a:lnTo>
                    <a:pt x="0" y="0"/>
                  </a:lnTo>
                  <a:lnTo>
                    <a:pt x="0" y="4843780"/>
                  </a:lnTo>
                  <a:lnTo>
                    <a:pt x="8458200" y="4843780"/>
                  </a:lnTo>
                  <a:lnTo>
                    <a:pt x="84582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8600" y="533400"/>
              <a:ext cx="5334000" cy="1000760"/>
            </a:xfrm>
            <a:custGeom>
              <a:avLst/>
              <a:gdLst/>
              <a:ahLst/>
              <a:cxnLst/>
              <a:rect l="l" t="t" r="r" b="b"/>
              <a:pathLst>
                <a:path w="5334000" h="1000760">
                  <a:moveTo>
                    <a:pt x="4833620" y="0"/>
                  </a:moveTo>
                  <a:lnTo>
                    <a:pt x="0" y="0"/>
                  </a:lnTo>
                  <a:lnTo>
                    <a:pt x="0" y="1000760"/>
                  </a:lnTo>
                  <a:lnTo>
                    <a:pt x="4833620" y="1000760"/>
                  </a:lnTo>
                  <a:lnTo>
                    <a:pt x="5334000" y="500379"/>
                  </a:lnTo>
                  <a:lnTo>
                    <a:pt x="48336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8600" y="533400"/>
              <a:ext cx="5334000" cy="1000760"/>
            </a:xfrm>
            <a:custGeom>
              <a:avLst/>
              <a:gdLst/>
              <a:ahLst/>
              <a:cxnLst/>
              <a:rect l="l" t="t" r="r" b="b"/>
              <a:pathLst>
                <a:path w="5334000" h="1000760">
                  <a:moveTo>
                    <a:pt x="0" y="0"/>
                  </a:moveTo>
                  <a:lnTo>
                    <a:pt x="4833620" y="0"/>
                  </a:lnTo>
                  <a:lnTo>
                    <a:pt x="5334000" y="500379"/>
                  </a:lnTo>
                  <a:lnTo>
                    <a:pt x="4833620" y="1000760"/>
                  </a:lnTo>
                  <a:lnTo>
                    <a:pt x="0" y="100076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79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22503" y="829132"/>
            <a:ext cx="4254297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79546"/>
                </a:solidFill>
                <a:latin typeface="Arial"/>
                <a:cs typeface="Arial"/>
              </a:rPr>
              <a:t>Tổng kết bài học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27787" y="1614911"/>
            <a:ext cx="710438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 </a:t>
            </a:r>
            <a:r>
              <a:rPr sz="32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I: Tầm quan trọng kiểm thử đơn vị</a:t>
            </a:r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11"/>
          </p:nvPr>
        </p:nvSpPr>
        <p:spPr>
          <a:xfrm>
            <a:off x="3028950" y="6449145"/>
            <a:ext cx="30861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/>
              <a:t>Kiểm thử nâng cao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6457950" y="6461969"/>
            <a:ext cx="205740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227787" y="2098065"/>
            <a:ext cx="6534150" cy="3207288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770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Khái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niệm Unit Testing</a:t>
            </a:r>
          </a:p>
          <a:p>
            <a:pPr marL="469900">
              <a:lnSpc>
                <a:spcPct val="100000"/>
              </a:lnSpc>
              <a:spcBef>
                <a:spcPts val="675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Kỹ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thuật viết test case cho Unit Testing</a:t>
            </a:r>
          </a:p>
          <a:p>
            <a:pPr marL="469900">
              <a:lnSpc>
                <a:spcPct val="100000"/>
              </a:lnSpc>
              <a:spcBef>
                <a:spcPts val="670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cụ Junit</a:t>
            </a: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Phần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II: Ứng </a:t>
            </a:r>
            <a:r>
              <a:rPr sz="3200">
                <a:latin typeface="Times New Roman" panose="02020603050405020304" pitchFamily="18" charset="0"/>
                <a:cs typeface="Times New Roman" panose="02020603050405020304" pitchFamily="18" charset="0"/>
              </a:rPr>
              <a:t>dụng </a:t>
            </a:r>
            <a:r>
              <a:rPr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Junit</a:t>
            </a:r>
          </a:p>
          <a:p>
            <a:pPr marL="469900">
              <a:lnSpc>
                <a:spcPct val="100000"/>
              </a:lnSpc>
              <a:spcBef>
                <a:spcPts val="690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Cấu hình Junit</a:t>
            </a:r>
          </a:p>
          <a:p>
            <a:pPr marL="469900">
              <a:lnSpc>
                <a:spcPct val="100000"/>
              </a:lnSpc>
              <a:spcBef>
                <a:spcPts val="670"/>
              </a:spcBef>
            </a:pPr>
            <a:r>
              <a:rPr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Junit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 Eclipse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876</Words>
  <Application>Microsoft Office PowerPoint</Application>
  <PresentationFormat>On-screen Show (4:3)</PresentationFormat>
  <Paragraphs>170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Nội dung</vt:lpstr>
      <vt:lpstr>Unit testing?</vt:lpstr>
      <vt:lpstr>Unit testing?</vt:lpstr>
      <vt:lpstr>PowerPoint Presentation</vt:lpstr>
      <vt:lpstr>Test Doubles</vt:lpstr>
      <vt:lpstr>Unit Test Cases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Tạo automation test với junit</vt:lpstr>
      <vt:lpstr>PowerPoint Presentation</vt:lpstr>
      <vt:lpstr>PowerPoint Presentation</vt:lpstr>
      <vt:lpstr>PowerPoint Presentation</vt:lpstr>
      <vt:lpstr> Phần I: Tầm quan trọng kiểm thử đơn vị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Học Văn Phòng</dc:title>
  <dc:creator>Hans</dc:creator>
  <cp:lastModifiedBy>ADMIN</cp:lastModifiedBy>
  <cp:revision>5</cp:revision>
  <dcterms:created xsi:type="dcterms:W3CDTF">2024-03-08T02:44:43Z</dcterms:created>
  <dcterms:modified xsi:type="dcterms:W3CDTF">2024-11-03T02:38:26Z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2018-08-10T00:00:00Z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2024-03-08T00:00:00Z</vt:filetime>
  </property>
  <property fmtid="{D5CDD505-2E9C-101B-9397-08002B2CF9AE}" pid="5" name="Producer">
    <vt:lpwstr>3-Heights(TM) PDF Security Shell 4.8.25.2 (http://www.pdf-tools.com)</vt:lpwstr>
  </property>
</Properties>
</file>