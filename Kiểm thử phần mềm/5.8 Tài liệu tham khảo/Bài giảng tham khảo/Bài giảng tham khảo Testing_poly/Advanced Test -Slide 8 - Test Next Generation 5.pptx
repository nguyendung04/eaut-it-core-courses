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0846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07714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7789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28262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1586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74208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25609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2815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6822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40068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2469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6359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0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1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4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5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6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7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34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7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36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9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1.jp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40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3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4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5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4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7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4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/>
          <p:nvPr/>
        </p:nvSpPr>
        <p:spPr>
          <a:xfrm>
            <a:off x="4194175" y="4077327"/>
            <a:ext cx="4601210" cy="137096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9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8:</a:t>
            </a:r>
            <a:r>
              <a:rPr sz="22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95" dirty="0">
                <a:solidFill>
                  <a:srgbClr val="FF5A33"/>
                </a:solidFill>
                <a:latin typeface="Arial"/>
                <a:cs typeface="Arial"/>
              </a:rPr>
              <a:t>Các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Tính</a:t>
            </a:r>
            <a:r>
              <a:rPr sz="2200" b="1" cap="small" spc="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Năng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65" dirty="0">
                <a:solidFill>
                  <a:srgbClr val="FF5A33"/>
                </a:solidFill>
                <a:latin typeface="Arial"/>
                <a:cs typeface="Arial"/>
              </a:rPr>
              <a:t>Mở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Rộng</a:t>
            </a:r>
            <a:r>
              <a:rPr sz="2200" b="1" cap="small" spc="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70" dirty="0">
                <a:solidFill>
                  <a:srgbClr val="FF5A33"/>
                </a:solidFill>
                <a:latin typeface="Arial"/>
                <a:cs typeface="Arial"/>
              </a:rPr>
              <a:t>Của </a:t>
            </a:r>
            <a:r>
              <a:rPr sz="2200" b="1" cap="small" spc="-10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934200" y="190500"/>
            <a:ext cx="1865630" cy="789940"/>
            <a:chOff x="6934200" y="190500"/>
            <a:chExt cx="186563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190500"/>
              <a:ext cx="809244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6724" y="280415"/>
              <a:ext cx="7680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2" y="280415"/>
              <a:ext cx="9997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2000" y="1690689"/>
            <a:ext cx="4051300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55" dirty="0">
                <a:latin typeface="Arial"/>
                <a:cs typeface="Arial"/>
              </a:rPr>
              <a:t>TestNG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Result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To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135" dirty="0">
                <a:latin typeface="Arial"/>
                <a:cs typeface="Arial"/>
              </a:rPr>
              <a:t>So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sánh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TestNg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và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02777"/>
            <a:ext cx="6228715" cy="28105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TestNG Result To Excel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cáo bằng excel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xuất báo cáo ra excel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So sánh TestNg và Junit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Ưu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khuyết điểm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điểm khác nhau giữa junit và testng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3210"/>
            <a:ext cx="8379460" cy="2497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36085">
              <a:lnSpc>
                <a:spcPct val="100000"/>
              </a:lnSpc>
              <a:spcBef>
                <a:spcPts val="95"/>
              </a:spcBef>
            </a:pPr>
            <a:r>
              <a:rPr sz="2800" b="1" cap="small" spc="-130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95" dirty="0">
                <a:solidFill>
                  <a:srgbClr val="FF5A33"/>
                </a:solidFill>
                <a:latin typeface="Arial"/>
                <a:cs typeface="Arial"/>
              </a:rPr>
              <a:t>Result</a:t>
            </a:r>
            <a:r>
              <a:rPr sz="28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To</a:t>
            </a:r>
            <a:r>
              <a:rPr sz="2800" b="1" cap="small" spc="-5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54" dirty="0">
                <a:solidFill>
                  <a:srgbClr val="FF5A33"/>
                </a:solidFill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50609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65" dirty="0">
                <a:latin typeface="Arial"/>
                <a:cs typeface="Arial"/>
              </a:rPr>
              <a:t>Xem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75" dirty="0">
                <a:latin typeface="Arial"/>
                <a:cs typeface="Arial"/>
              </a:rPr>
              <a:t>thi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case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trực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quan,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thân </a:t>
            </a:r>
            <a:r>
              <a:rPr sz="2400" spc="-10" dirty="0">
                <a:latin typeface="Arial"/>
                <a:cs typeface="Arial"/>
              </a:rPr>
              <a:t>thiện</a:t>
            </a:r>
            <a:endParaRPr sz="2400">
              <a:latin typeface="Arial"/>
              <a:cs typeface="Arial"/>
            </a:endParaRPr>
          </a:p>
          <a:p>
            <a:pPr marL="355600" marR="49085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25" dirty="0">
                <a:latin typeface="Arial"/>
                <a:cs typeface="Arial"/>
              </a:rPr>
              <a:t>Lựa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 </a:t>
            </a:r>
            <a:r>
              <a:rPr sz="2400" spc="-120" dirty="0">
                <a:latin typeface="Arial"/>
                <a:cs typeface="Arial"/>
              </a:rPr>
              <a:t>các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tiêu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chí,</a:t>
            </a:r>
            <a:r>
              <a:rPr sz="2400" dirty="0">
                <a:latin typeface="Arial"/>
                <a:cs typeface="Arial"/>
              </a:rPr>
              <a:t> kết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50" dirty="0">
                <a:latin typeface="Arial"/>
                <a:cs typeface="Arial"/>
              </a:rPr>
              <a:t>mong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muốn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khi </a:t>
            </a:r>
            <a:r>
              <a:rPr sz="2400" spc="-10" dirty="0">
                <a:latin typeface="Arial"/>
                <a:cs typeface="Arial"/>
              </a:rPr>
              <a:t>xem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báo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cáo</a:t>
            </a:r>
            <a:endParaRPr sz="2400">
              <a:latin typeface="Arial"/>
              <a:cs typeface="Arial"/>
            </a:endParaRPr>
          </a:p>
          <a:p>
            <a:pPr marL="355600" marR="698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Dễ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dàng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cận, </a:t>
            </a:r>
            <a:r>
              <a:rPr sz="2400" dirty="0">
                <a:latin typeface="Arial"/>
                <a:cs typeface="Arial"/>
              </a:rPr>
              <a:t>quản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và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giữa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các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 </a:t>
            </a:r>
            <a:r>
              <a:rPr sz="2400" spc="60" dirty="0">
                <a:latin typeface="Arial"/>
                <a:cs typeface="Arial"/>
              </a:rPr>
              <a:t>thống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684" y="3316190"/>
            <a:ext cx="3544638" cy="12523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3210"/>
            <a:ext cx="8379460" cy="240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36085">
              <a:lnSpc>
                <a:spcPct val="100000"/>
              </a:lnSpc>
              <a:spcBef>
                <a:spcPts val="95"/>
              </a:spcBef>
            </a:pPr>
            <a:r>
              <a:rPr sz="2800" b="1" cap="small" spc="-130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95" dirty="0">
                <a:solidFill>
                  <a:srgbClr val="FF5A33"/>
                </a:solidFill>
                <a:latin typeface="Arial"/>
                <a:cs typeface="Arial"/>
              </a:rPr>
              <a:t>Result</a:t>
            </a:r>
            <a:r>
              <a:rPr sz="28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To</a:t>
            </a:r>
            <a:r>
              <a:rPr sz="2800" b="1" cap="small" spc="-5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54" dirty="0">
                <a:solidFill>
                  <a:srgbClr val="FF5A33"/>
                </a:solidFill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13843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Dùng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“Selenium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Webdriver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standalone” </a:t>
            </a:r>
            <a:r>
              <a:rPr sz="2400" dirty="0">
                <a:latin typeface="Arial"/>
                <a:cs typeface="Arial"/>
              </a:rPr>
              <a:t>(có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download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tại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Seleniumhq.org)</a:t>
            </a:r>
            <a:endParaRPr sz="2400">
              <a:latin typeface="Arial"/>
              <a:cs typeface="Arial"/>
            </a:endParaRPr>
          </a:p>
          <a:p>
            <a:pPr marL="355600" marR="105410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“Apache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POI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library”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thể </a:t>
            </a:r>
            <a:r>
              <a:rPr sz="2400" dirty="0">
                <a:latin typeface="Arial"/>
                <a:cs typeface="Arial"/>
              </a:rPr>
              <a:t>download</a:t>
            </a:r>
            <a:r>
              <a:rPr sz="2400" spc="1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tại </a:t>
            </a:r>
            <a:r>
              <a:rPr sz="2400" spc="-10" dirty="0">
                <a:latin typeface="Arial"/>
                <a:cs typeface="Arial"/>
              </a:rPr>
              <a:t>https://poi.apache.org/download.html)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276" y="4042372"/>
            <a:ext cx="2637554" cy="14229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4086225"/>
            <a:ext cx="3228975" cy="13525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95"/>
              </a:spcBef>
            </a:pPr>
            <a:endParaRPr cap="small" spc="-254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90929"/>
            <a:ext cx="5922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Thêm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viện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vào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Project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thử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200" y="1600199"/>
            <a:ext cx="8991600" cy="5257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3210"/>
            <a:ext cx="8379460" cy="2540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36085">
              <a:lnSpc>
                <a:spcPct val="100000"/>
              </a:lnSpc>
              <a:spcBef>
                <a:spcPts val="95"/>
              </a:spcBef>
            </a:pPr>
            <a:r>
              <a:rPr sz="2800" b="1" cap="small" spc="-130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95" dirty="0">
                <a:solidFill>
                  <a:srgbClr val="FF5A33"/>
                </a:solidFill>
                <a:latin typeface="Arial"/>
                <a:cs typeface="Arial"/>
              </a:rPr>
              <a:t>Result</a:t>
            </a:r>
            <a:r>
              <a:rPr sz="28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To</a:t>
            </a:r>
            <a:r>
              <a:rPr sz="2800" b="1" cap="small" spc="-5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54" dirty="0">
                <a:solidFill>
                  <a:srgbClr val="FF5A33"/>
                </a:solidFill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30353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85" dirty="0">
                <a:latin typeface="Arial"/>
                <a:cs typeface="Arial"/>
              </a:rPr>
              <a:t>Tạo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lưu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trữ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sẽ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sử </a:t>
            </a:r>
            <a:r>
              <a:rPr sz="2800" dirty="0">
                <a:latin typeface="Arial"/>
                <a:cs typeface="Arial"/>
              </a:rPr>
              <a:t>dụng,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ví </a:t>
            </a:r>
            <a:r>
              <a:rPr sz="2800" dirty="0">
                <a:latin typeface="Arial"/>
                <a:cs typeface="Arial"/>
              </a:rPr>
              <a:t>dụ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 </a:t>
            </a:r>
            <a:r>
              <a:rPr sz="2800" spc="-10" dirty="0">
                <a:latin typeface="Arial"/>
                <a:cs typeface="Arial"/>
              </a:rPr>
              <a:t>“datafile.properties”</a:t>
            </a:r>
            <a:endParaRPr sz="2800">
              <a:latin typeface="Arial"/>
              <a:cs typeface="Arial"/>
            </a:endParaRPr>
          </a:p>
          <a:p>
            <a:pPr marL="355600" marR="133985">
              <a:lnSpc>
                <a:spcPct val="100000"/>
              </a:lnSpc>
              <a:spcBef>
                <a:spcPts val="5"/>
              </a:spcBef>
            </a:pPr>
            <a:r>
              <a:rPr sz="2800" spc="-110" dirty="0">
                <a:latin typeface="Arial"/>
                <a:cs typeface="Arial"/>
              </a:rPr>
              <a:t>chứa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về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chỉ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website,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user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name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password…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371" y="3423631"/>
            <a:ext cx="6255258" cy="16085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pc="-85" dirty="0"/>
              <a:t>Tạo</a:t>
            </a:r>
            <a:r>
              <a:rPr spc="-40" dirty="0"/>
              <a:t> </a:t>
            </a:r>
            <a:r>
              <a:rPr dirty="0"/>
              <a:t>lớp</a:t>
            </a:r>
            <a:r>
              <a:rPr spc="-3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thử</a:t>
            </a:r>
            <a:r>
              <a:rPr spc="-25" dirty="0"/>
              <a:t> </a:t>
            </a:r>
            <a:r>
              <a:rPr spc="-235" dirty="0"/>
              <a:t>sử</a:t>
            </a:r>
            <a:r>
              <a:rPr spc="-15" dirty="0"/>
              <a:t> </a:t>
            </a:r>
            <a:r>
              <a:rPr dirty="0"/>
              <a:t>dụng</a:t>
            </a:r>
            <a:r>
              <a:rPr spc="-15" dirty="0"/>
              <a:t> </a:t>
            </a:r>
            <a:r>
              <a:rPr spc="-120" dirty="0"/>
              <a:t>các</a:t>
            </a:r>
            <a:r>
              <a:rPr spc="-45" dirty="0"/>
              <a:t> </a:t>
            </a: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đã</a:t>
            </a:r>
            <a:r>
              <a:rPr spc="-20" dirty="0"/>
              <a:t> </a:t>
            </a:r>
            <a:r>
              <a:rPr spc="-60" dirty="0"/>
              <a:t>được </a:t>
            </a:r>
            <a:r>
              <a:rPr dirty="0"/>
              <a:t>cung</a:t>
            </a:r>
            <a:r>
              <a:rPr spc="-55" dirty="0"/>
              <a:t> </a:t>
            </a:r>
            <a:r>
              <a:rPr spc="-65" dirty="0"/>
              <a:t>cấp, </a:t>
            </a:r>
            <a:r>
              <a:rPr spc="-20" dirty="0"/>
              <a:t>ví</a:t>
            </a:r>
            <a:r>
              <a:rPr spc="-70" dirty="0"/>
              <a:t> </a:t>
            </a:r>
            <a:r>
              <a:rPr dirty="0"/>
              <a:t>dụ</a:t>
            </a:r>
            <a:r>
              <a:rPr spc="-40" dirty="0"/>
              <a:t> </a:t>
            </a:r>
            <a:r>
              <a:rPr spc="-35" dirty="0"/>
              <a:t>cần</a:t>
            </a:r>
            <a:r>
              <a:rPr spc="-70" dirty="0"/>
              <a:t> </a:t>
            </a:r>
            <a:r>
              <a:rPr dirty="0"/>
              <a:t>kiểm</a:t>
            </a:r>
            <a:r>
              <a:rPr spc="-70" dirty="0"/>
              <a:t> </a:t>
            </a:r>
            <a:r>
              <a:rPr dirty="0"/>
              <a:t>thử</a:t>
            </a:r>
            <a:r>
              <a:rPr spc="-50" dirty="0"/>
              <a:t> </a:t>
            </a:r>
            <a:r>
              <a:rPr dirty="0"/>
              <a:t>đăng</a:t>
            </a:r>
            <a:r>
              <a:rPr spc="-50" dirty="0"/>
              <a:t> </a:t>
            </a:r>
            <a:r>
              <a:rPr dirty="0"/>
              <a:t>nhập</a:t>
            </a:r>
            <a:r>
              <a:rPr spc="-50" dirty="0"/>
              <a:t> </a:t>
            </a:r>
            <a:r>
              <a:rPr spc="-20" dirty="0"/>
              <a:t>thành </a:t>
            </a:r>
            <a:r>
              <a:rPr dirty="0"/>
              <a:t>công</a:t>
            </a:r>
            <a:r>
              <a:rPr spc="-5" dirty="0"/>
              <a:t> </a:t>
            </a:r>
            <a:r>
              <a:rPr spc="-10" dirty="0"/>
              <a:t>hay</a:t>
            </a:r>
            <a:r>
              <a:rPr dirty="0"/>
              <a:t> thất</a:t>
            </a:r>
            <a:r>
              <a:rPr spc="15" dirty="0"/>
              <a:t> </a:t>
            </a:r>
            <a:r>
              <a:rPr dirty="0"/>
              <a:t>bại</a:t>
            </a:r>
            <a:r>
              <a:rPr spc="5" dirty="0"/>
              <a:t> </a:t>
            </a:r>
            <a:r>
              <a:rPr dirty="0"/>
              <a:t>thì ta</a:t>
            </a:r>
            <a:r>
              <a:rPr spc="10" dirty="0"/>
              <a:t> </a:t>
            </a:r>
            <a:r>
              <a:rPr dirty="0"/>
              <a:t>tạo</a:t>
            </a:r>
            <a:r>
              <a:rPr spc="10" dirty="0"/>
              <a:t> </a:t>
            </a:r>
            <a:r>
              <a:rPr dirty="0"/>
              <a:t>3 test </a:t>
            </a:r>
            <a:r>
              <a:rPr spc="-20" dirty="0"/>
              <a:t>case</a:t>
            </a: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80" dirty="0">
                <a:latin typeface="Arial"/>
                <a:cs typeface="Arial"/>
              </a:rPr>
              <a:t>Sử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 test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case</a:t>
            </a:r>
            <a:r>
              <a:rPr sz="2400" dirty="0">
                <a:latin typeface="Arial"/>
                <a:cs typeface="Arial"/>
              </a:rPr>
              <a:t> truy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 tới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website</a:t>
            </a:r>
            <a:r>
              <a:rPr sz="2400" spc="-20" dirty="0">
                <a:latin typeface="Arial"/>
                <a:cs typeface="Arial"/>
              </a:rPr>
              <a:t> cần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login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2050" y="2962275"/>
            <a:ext cx="6819900" cy="3895722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pc="-85" dirty="0"/>
              <a:t>Tạo</a:t>
            </a:r>
            <a:r>
              <a:rPr spc="-40" dirty="0"/>
              <a:t> </a:t>
            </a:r>
            <a:r>
              <a:rPr dirty="0"/>
              <a:t>lớp</a:t>
            </a:r>
            <a:r>
              <a:rPr spc="-3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thử</a:t>
            </a:r>
            <a:r>
              <a:rPr spc="-25" dirty="0"/>
              <a:t> </a:t>
            </a:r>
            <a:r>
              <a:rPr spc="-235" dirty="0"/>
              <a:t>sử</a:t>
            </a:r>
            <a:r>
              <a:rPr spc="-15" dirty="0"/>
              <a:t> </a:t>
            </a:r>
            <a:r>
              <a:rPr dirty="0"/>
              <a:t>dụng</a:t>
            </a:r>
            <a:r>
              <a:rPr spc="-15" dirty="0"/>
              <a:t> </a:t>
            </a:r>
            <a:r>
              <a:rPr spc="-120" dirty="0"/>
              <a:t>các</a:t>
            </a:r>
            <a:r>
              <a:rPr spc="-45" dirty="0"/>
              <a:t> </a:t>
            </a: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đã</a:t>
            </a:r>
            <a:r>
              <a:rPr spc="-20" dirty="0"/>
              <a:t> </a:t>
            </a:r>
            <a:r>
              <a:rPr spc="-60" dirty="0"/>
              <a:t>được </a:t>
            </a:r>
            <a:r>
              <a:rPr dirty="0"/>
              <a:t>cung</a:t>
            </a:r>
            <a:r>
              <a:rPr spc="-55" dirty="0"/>
              <a:t> </a:t>
            </a:r>
            <a:r>
              <a:rPr spc="-65" dirty="0"/>
              <a:t>cấp, </a:t>
            </a:r>
            <a:r>
              <a:rPr spc="-20" dirty="0"/>
              <a:t>ví</a:t>
            </a:r>
            <a:r>
              <a:rPr spc="-70" dirty="0"/>
              <a:t> </a:t>
            </a:r>
            <a:r>
              <a:rPr dirty="0"/>
              <a:t>dụ</a:t>
            </a:r>
            <a:r>
              <a:rPr spc="-40" dirty="0"/>
              <a:t> </a:t>
            </a:r>
            <a:r>
              <a:rPr spc="-35" dirty="0"/>
              <a:t>cần</a:t>
            </a:r>
            <a:r>
              <a:rPr spc="-70" dirty="0"/>
              <a:t> </a:t>
            </a:r>
            <a:r>
              <a:rPr dirty="0"/>
              <a:t>kiểm</a:t>
            </a:r>
            <a:r>
              <a:rPr spc="-70" dirty="0"/>
              <a:t> </a:t>
            </a:r>
            <a:r>
              <a:rPr dirty="0"/>
              <a:t>thử</a:t>
            </a:r>
            <a:r>
              <a:rPr spc="-50" dirty="0"/>
              <a:t> </a:t>
            </a:r>
            <a:r>
              <a:rPr dirty="0"/>
              <a:t>đăng</a:t>
            </a:r>
            <a:r>
              <a:rPr spc="-50" dirty="0"/>
              <a:t> </a:t>
            </a:r>
            <a:r>
              <a:rPr dirty="0"/>
              <a:t>nhập</a:t>
            </a:r>
            <a:r>
              <a:rPr spc="-50" dirty="0"/>
              <a:t> </a:t>
            </a:r>
            <a:r>
              <a:rPr spc="-20" dirty="0"/>
              <a:t>thành </a:t>
            </a:r>
            <a:r>
              <a:rPr dirty="0"/>
              <a:t>công</a:t>
            </a:r>
            <a:r>
              <a:rPr spc="-5" dirty="0"/>
              <a:t> </a:t>
            </a:r>
            <a:r>
              <a:rPr spc="-10" dirty="0"/>
              <a:t>hay</a:t>
            </a:r>
            <a:r>
              <a:rPr dirty="0"/>
              <a:t> thất</a:t>
            </a:r>
            <a:r>
              <a:rPr spc="15" dirty="0"/>
              <a:t> </a:t>
            </a:r>
            <a:r>
              <a:rPr dirty="0"/>
              <a:t>bại</a:t>
            </a:r>
            <a:r>
              <a:rPr spc="5" dirty="0"/>
              <a:t> </a:t>
            </a:r>
            <a:r>
              <a:rPr dirty="0"/>
              <a:t>thì ta</a:t>
            </a:r>
            <a:r>
              <a:rPr spc="10" dirty="0"/>
              <a:t> </a:t>
            </a:r>
            <a:r>
              <a:rPr dirty="0"/>
              <a:t>tạo</a:t>
            </a:r>
            <a:r>
              <a:rPr spc="10" dirty="0"/>
              <a:t> </a:t>
            </a:r>
            <a:r>
              <a:rPr dirty="0"/>
              <a:t>3 test </a:t>
            </a:r>
            <a:r>
              <a:rPr spc="-20" dirty="0"/>
              <a:t>case</a:t>
            </a: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0" dirty="0">
                <a:latin typeface="Arial"/>
                <a:cs typeface="Arial"/>
              </a:rPr>
              <a:t>Cung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các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thông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tin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login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tâp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tin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20" dirty="0">
                <a:latin typeface="Arial"/>
                <a:cs typeface="Arial"/>
              </a:rPr>
              <a:t> 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3950" y="2895608"/>
            <a:ext cx="6896100" cy="3962388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pc="-85" dirty="0"/>
              <a:t>Tạo</a:t>
            </a:r>
            <a:r>
              <a:rPr spc="-40" dirty="0"/>
              <a:t> </a:t>
            </a:r>
            <a:r>
              <a:rPr dirty="0"/>
              <a:t>lớp</a:t>
            </a:r>
            <a:r>
              <a:rPr spc="-3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thử</a:t>
            </a:r>
            <a:r>
              <a:rPr spc="-25" dirty="0"/>
              <a:t> </a:t>
            </a:r>
            <a:r>
              <a:rPr spc="-235" dirty="0"/>
              <a:t>sử</a:t>
            </a:r>
            <a:r>
              <a:rPr spc="-15" dirty="0"/>
              <a:t> </a:t>
            </a:r>
            <a:r>
              <a:rPr dirty="0"/>
              <a:t>dụng</a:t>
            </a:r>
            <a:r>
              <a:rPr spc="-15" dirty="0"/>
              <a:t> </a:t>
            </a:r>
            <a:r>
              <a:rPr spc="-120" dirty="0"/>
              <a:t>các</a:t>
            </a:r>
            <a:r>
              <a:rPr spc="-45" dirty="0"/>
              <a:t> </a:t>
            </a: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đã</a:t>
            </a:r>
            <a:r>
              <a:rPr spc="-20" dirty="0"/>
              <a:t> </a:t>
            </a:r>
            <a:r>
              <a:rPr spc="-60" dirty="0"/>
              <a:t>được </a:t>
            </a:r>
            <a:r>
              <a:rPr dirty="0"/>
              <a:t>cung</a:t>
            </a:r>
            <a:r>
              <a:rPr spc="-55" dirty="0"/>
              <a:t> </a:t>
            </a:r>
            <a:r>
              <a:rPr spc="-65" dirty="0"/>
              <a:t>cấp, </a:t>
            </a:r>
            <a:r>
              <a:rPr spc="-20" dirty="0"/>
              <a:t>ví</a:t>
            </a:r>
            <a:r>
              <a:rPr spc="-70" dirty="0"/>
              <a:t> </a:t>
            </a:r>
            <a:r>
              <a:rPr dirty="0"/>
              <a:t>dụ</a:t>
            </a:r>
            <a:r>
              <a:rPr spc="-40" dirty="0"/>
              <a:t> </a:t>
            </a:r>
            <a:r>
              <a:rPr spc="-35" dirty="0"/>
              <a:t>cần</a:t>
            </a:r>
            <a:r>
              <a:rPr spc="-70" dirty="0"/>
              <a:t> </a:t>
            </a:r>
            <a:r>
              <a:rPr dirty="0"/>
              <a:t>kiểm</a:t>
            </a:r>
            <a:r>
              <a:rPr spc="-70" dirty="0"/>
              <a:t> </a:t>
            </a:r>
            <a:r>
              <a:rPr dirty="0"/>
              <a:t>thử</a:t>
            </a:r>
            <a:r>
              <a:rPr spc="-50" dirty="0"/>
              <a:t> </a:t>
            </a:r>
            <a:r>
              <a:rPr dirty="0"/>
              <a:t>đăng</a:t>
            </a:r>
            <a:r>
              <a:rPr spc="-50" dirty="0"/>
              <a:t> </a:t>
            </a:r>
            <a:r>
              <a:rPr dirty="0"/>
              <a:t>nhập</a:t>
            </a:r>
            <a:r>
              <a:rPr spc="-50" dirty="0"/>
              <a:t> </a:t>
            </a:r>
            <a:r>
              <a:rPr spc="-20" dirty="0"/>
              <a:t>thành </a:t>
            </a:r>
            <a:r>
              <a:rPr dirty="0"/>
              <a:t>công</a:t>
            </a:r>
            <a:r>
              <a:rPr spc="-5" dirty="0"/>
              <a:t> </a:t>
            </a:r>
            <a:r>
              <a:rPr spc="-10" dirty="0"/>
              <a:t>hay</a:t>
            </a:r>
            <a:r>
              <a:rPr dirty="0"/>
              <a:t> thất</a:t>
            </a:r>
            <a:r>
              <a:rPr spc="15" dirty="0"/>
              <a:t> </a:t>
            </a:r>
            <a:r>
              <a:rPr dirty="0"/>
              <a:t>bại</a:t>
            </a:r>
            <a:r>
              <a:rPr spc="5" dirty="0"/>
              <a:t> </a:t>
            </a:r>
            <a:r>
              <a:rPr dirty="0"/>
              <a:t>thì ta</a:t>
            </a:r>
            <a:r>
              <a:rPr spc="10" dirty="0"/>
              <a:t> </a:t>
            </a:r>
            <a:r>
              <a:rPr dirty="0"/>
              <a:t>tạo</a:t>
            </a:r>
            <a:r>
              <a:rPr spc="10" dirty="0"/>
              <a:t> </a:t>
            </a:r>
            <a:r>
              <a:rPr dirty="0"/>
              <a:t>3 test </a:t>
            </a:r>
            <a:r>
              <a:rPr spc="-20" dirty="0"/>
              <a:t>case</a:t>
            </a: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5" dirty="0">
                <a:latin typeface="Arial"/>
                <a:cs typeface="Arial"/>
              </a:rPr>
              <a:t>Tiến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chạy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case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quả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8725" y="2819400"/>
            <a:ext cx="6686550" cy="4038597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3210"/>
            <a:ext cx="8303260" cy="2223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36085">
              <a:lnSpc>
                <a:spcPct val="100000"/>
              </a:lnSpc>
              <a:spcBef>
                <a:spcPts val="95"/>
              </a:spcBef>
            </a:pPr>
            <a:r>
              <a:rPr sz="2800" b="1" cap="small" spc="-130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95" dirty="0">
                <a:solidFill>
                  <a:srgbClr val="FF5A33"/>
                </a:solidFill>
                <a:latin typeface="Arial"/>
                <a:cs typeface="Arial"/>
              </a:rPr>
              <a:t>Result</a:t>
            </a:r>
            <a:r>
              <a:rPr sz="28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To</a:t>
            </a:r>
            <a:r>
              <a:rPr sz="2800" b="1" cap="small" spc="-5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54" dirty="0">
                <a:solidFill>
                  <a:srgbClr val="FF5A33"/>
                </a:solidFill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Arial"/>
                <a:cs typeface="Arial"/>
              </a:rPr>
              <a:t>Tạo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xuất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  <a:p>
            <a:pPr marL="355600" marR="23177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annotation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&lt;@AfterClass&gt;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với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TearDown()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4874" y="2514600"/>
            <a:ext cx="6334125" cy="43433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90929"/>
            <a:ext cx="6033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55" dirty="0">
                <a:latin typeface="Arial"/>
                <a:cs typeface="Arial"/>
              </a:rPr>
              <a:t>Xác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đường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dẫn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200" y="1981200"/>
            <a:ext cx="8229600" cy="3886200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95"/>
              </a:spcBef>
            </a:pPr>
            <a:endParaRPr cap="small" spc="-254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90929"/>
            <a:ext cx="63690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20" dirty="0">
                <a:latin typeface="Arial"/>
                <a:cs typeface="Arial"/>
              </a:rPr>
              <a:t>Chạy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thử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và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file </a:t>
            </a:r>
            <a:r>
              <a:rPr sz="2800" spc="-10" dirty="0">
                <a:latin typeface="Arial"/>
                <a:cs typeface="Arial"/>
              </a:rPr>
              <a:t>testing.xml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4400" y="2057400"/>
            <a:ext cx="7315200" cy="48005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95"/>
              </a:spcBef>
            </a:pPr>
            <a:endParaRPr cap="small" spc="-254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90929"/>
            <a:ext cx="74491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40" dirty="0">
                <a:latin typeface="Arial"/>
                <a:cs typeface="Arial"/>
              </a:rPr>
              <a:t>Cấu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chạy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thử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testing.xml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3400" y="1828800"/>
            <a:ext cx="8001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66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511" y="190500"/>
              <a:ext cx="132892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280415"/>
              <a:ext cx="1197864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7352" y="190500"/>
              <a:ext cx="66446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095" y="280415"/>
              <a:ext cx="600455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6368" y="190500"/>
              <a:ext cx="6659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35" y="280415"/>
              <a:ext cx="1043940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95"/>
              </a:spcBef>
            </a:pPr>
            <a:endParaRPr cap="small" spc="-254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90929"/>
            <a:ext cx="7136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45" dirty="0">
                <a:latin typeface="Arial"/>
                <a:cs typeface="Arial"/>
              </a:rPr>
              <a:t>Thực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và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excel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6325" y="1752605"/>
            <a:ext cx="7839075" cy="50689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/>
          <p:nvPr/>
        </p:nvSpPr>
        <p:spPr>
          <a:xfrm>
            <a:off x="4194175" y="4077327"/>
            <a:ext cx="4601210" cy="137096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9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8:</a:t>
            </a:r>
            <a:r>
              <a:rPr sz="2200" b="1" cap="small" spc="-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95" dirty="0">
                <a:solidFill>
                  <a:srgbClr val="FF5A33"/>
                </a:solidFill>
                <a:latin typeface="Arial"/>
                <a:cs typeface="Arial"/>
              </a:rPr>
              <a:t>Các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Tính</a:t>
            </a:r>
            <a:r>
              <a:rPr sz="2200" b="1" cap="small" spc="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Năng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65" dirty="0">
                <a:solidFill>
                  <a:srgbClr val="FF5A33"/>
                </a:solidFill>
                <a:latin typeface="Arial"/>
                <a:cs typeface="Arial"/>
              </a:rPr>
              <a:t>Mở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Rộng</a:t>
            </a:r>
            <a:r>
              <a:rPr sz="2200" b="1" cap="small" spc="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70" dirty="0">
                <a:solidFill>
                  <a:srgbClr val="FF5A33"/>
                </a:solidFill>
                <a:latin typeface="Arial"/>
                <a:cs typeface="Arial"/>
              </a:rPr>
              <a:t>Của </a:t>
            </a:r>
            <a:r>
              <a:rPr sz="2200" b="1" cap="small" spc="-95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r>
              <a:rPr sz="22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0" dirty="0">
                <a:solidFill>
                  <a:srgbClr val="FF5A33"/>
                </a:solidFill>
                <a:latin typeface="Arial"/>
                <a:cs typeface="Arial"/>
              </a:rPr>
              <a:t>(P2)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370832" y="190500"/>
            <a:ext cx="4428744" cy="789432"/>
            <a:chOff x="4370832" y="190500"/>
            <a:chExt cx="4428744" cy="789432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5940" y="577110"/>
            <a:ext cx="8072120" cy="2169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0767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việc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139190" indent="-342900">
              <a:lnSpc>
                <a:spcPts val="3340"/>
              </a:lnSpc>
              <a:spcBef>
                <a:spcPts val="81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sz="28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tương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nhau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annotation,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para,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group…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9800" y="2971787"/>
            <a:ext cx="4395741" cy="306539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95"/>
              </a:spcBef>
            </a:pPr>
            <a:endParaRPr cap="small" spc="-100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80261"/>
            <a:ext cx="4144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tương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0600" y="2057400"/>
            <a:ext cx="7162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95"/>
              </a:spcBef>
            </a:pPr>
            <a:endParaRPr cap="small" spc="-100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987670"/>
            <a:ext cx="7918450" cy="2734723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6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ts val="2600"/>
              </a:lnSpc>
              <a:spcBef>
                <a:spcPts val="63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@BeforeMethod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@AfterMethod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@Before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@After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414655" lvl="1" indent="-285750">
              <a:lnSpc>
                <a:spcPts val="2590"/>
              </a:lnSpc>
              <a:spcBef>
                <a:spcPts val="57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Junit4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@Test(timeout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1000)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6385">
              <a:lnSpc>
                <a:spcPts val="2750"/>
              </a:lnSpc>
              <a:spcBef>
                <a:spcPts val="254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khai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“@BeforeClass”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“@AfterClass”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>
              <a:lnSpc>
                <a:spcPts val="2750"/>
              </a:lnSpc>
            </a:pP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static,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8929" y="4114800"/>
            <a:ext cx="4019550" cy="16764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78247" y="4114800"/>
            <a:ext cx="401955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95"/>
              </a:spcBef>
            </a:pPr>
            <a:endParaRPr cap="small" spc="-100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7110"/>
            <a:ext cx="7932420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@RunWith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@Suite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cùng nhau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878" y="2319129"/>
            <a:ext cx="9124315" cy="4495800"/>
            <a:chOff x="19878" y="2319129"/>
            <a:chExt cx="9124315" cy="4495800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878" y="2319129"/>
              <a:ext cx="4943475" cy="4495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63413" y="2319146"/>
              <a:ext cx="4180585" cy="30910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95"/>
              </a:spcBef>
            </a:pPr>
            <a:endParaRPr cap="small" spc="-100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14729"/>
            <a:ext cx="1722120" cy="69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3139" y="3821048"/>
            <a:ext cx="126492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0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81200" y="1828800"/>
            <a:ext cx="5514975" cy="182549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19300" y="4267200"/>
            <a:ext cx="5438775" cy="20891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95"/>
              </a:spcBef>
            </a:pPr>
            <a:endParaRPr cap="small" spc="-100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76200" y="979932"/>
            <a:ext cx="20548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marR="5080" indent="-342265" algn="r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422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marR="72390" lvl="1" indent="-286385" algn="r">
              <a:lnSpc>
                <a:spcPct val="100000"/>
              </a:lnSpc>
              <a:spcBef>
                <a:spcPts val="15"/>
              </a:spcBef>
              <a:buClr>
                <a:srgbClr val="FF5A33"/>
              </a:buClr>
              <a:buFont typeface="Wingdings"/>
              <a:buChar char=""/>
              <a:tabLst>
                <a:tab pos="286385" algn="l"/>
              </a:tabLst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3139" y="3821048"/>
            <a:ext cx="15214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0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09191" y="1856739"/>
            <a:ext cx="4624070" cy="16484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10976" y="4633254"/>
            <a:ext cx="4622284" cy="16082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22349"/>
            <a:ext cx="4984115" cy="651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19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19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19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9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@RunWith</a:t>
            </a:r>
            <a:r>
              <a:rPr sz="19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9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@Parameter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3138" y="3965828"/>
            <a:ext cx="5255261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"/>
              <a:tabLst>
                <a:tab pos="298450" algn="l"/>
              </a:tabLst>
            </a:pPr>
            <a:r>
              <a:rPr sz="19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19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9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19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sz="19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19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@DataProvider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09698" y="1752600"/>
            <a:ext cx="5324475" cy="221780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23033" y="4452108"/>
            <a:ext cx="5311267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2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147" y="280415"/>
              <a:ext cx="6004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91" y="280415"/>
              <a:ext cx="11871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5103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564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2" y="190500"/>
              <a:ext cx="74980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7040" y="280415"/>
              <a:ext cx="586740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2695" y="280415"/>
              <a:ext cx="758951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511" y="190500"/>
              <a:ext cx="62788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0" y="280415"/>
              <a:ext cx="1072896" cy="64007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14729"/>
            <a:ext cx="684784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sz="24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4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@RunWith</a:t>
            </a:r>
            <a:r>
              <a:rPr sz="24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@Parameter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3139" y="3819525"/>
            <a:ext cx="685850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8450" algn="l"/>
              </a:tabLst>
            </a:pPr>
            <a:r>
              <a:rPr sz="24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4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4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4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sz="24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24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@DataProvider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16751" y="1971608"/>
            <a:ext cx="4665048" cy="175846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68412" y="4585217"/>
            <a:ext cx="4713387" cy="17446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151" y="520700"/>
            <a:ext cx="8458200" cy="5888990"/>
            <a:chOff x="192151" y="520700"/>
            <a:chExt cx="8458200" cy="5888990"/>
          </a:xfrm>
        </p:grpSpPr>
        <p:sp>
          <p:nvSpPr>
            <p:cNvPr id="3" name="object 3"/>
            <p:cNvSpPr/>
            <p:nvPr/>
          </p:nvSpPr>
          <p:spPr>
            <a:xfrm>
              <a:off x="192151" y="1565910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79546"/>
                </a:solidFill>
              </a:rPr>
              <a:t>Tổng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kết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bài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spc="-25" dirty="0">
                <a:solidFill>
                  <a:srgbClr val="F79546"/>
                </a:solidFill>
              </a:rPr>
              <a:t>học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4492" y="1969381"/>
            <a:ext cx="6650355" cy="3284873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TestNG Result To Excel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cáo bằng excel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xuất báo cáo ra excel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So sánh TestNg và Junit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Ưu 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khuyết </a:t>
            </a: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điểm khác nhau 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giữa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TestNg và Junit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667</Words>
  <Application>Microsoft Office PowerPoint</Application>
  <PresentationFormat>On-screen Show (4:3)</PresentationFormat>
  <Paragraphs>112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kết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3</cp:revision>
  <dcterms:created xsi:type="dcterms:W3CDTF">2024-03-08T02:52:54Z</dcterms:created>
  <dcterms:modified xsi:type="dcterms:W3CDTF">2024-11-03T02:37:54Z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