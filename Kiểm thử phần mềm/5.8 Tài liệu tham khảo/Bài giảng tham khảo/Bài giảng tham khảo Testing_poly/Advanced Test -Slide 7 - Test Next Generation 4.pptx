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5" r:id="rId2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75299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056771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55019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02811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63895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88076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273377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737974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781497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42524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50339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27508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4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6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7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8.jp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4194175" y="4077327"/>
            <a:ext cx="4776470" cy="10356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25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200" b="1" dirty="0">
                <a:solidFill>
                  <a:srgbClr val="FF5A33"/>
                </a:solidFill>
                <a:latin typeface="Arial"/>
                <a:cs typeface="Arial"/>
              </a:rPr>
              <a:t>B</a:t>
            </a:r>
            <a:r>
              <a:rPr sz="1750" b="1" dirty="0">
                <a:solidFill>
                  <a:srgbClr val="FF5A33"/>
                </a:solidFill>
                <a:latin typeface="Arial"/>
                <a:cs typeface="Arial"/>
              </a:rPr>
              <a:t>ÀI</a:t>
            </a:r>
            <a:r>
              <a:rPr sz="1750" b="1" spc="7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5A33"/>
                </a:solidFill>
                <a:latin typeface="Arial"/>
                <a:cs typeface="Arial"/>
              </a:rPr>
              <a:t>7:</a:t>
            </a:r>
            <a:r>
              <a:rPr sz="2200" b="1" spc="-7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spc="-90" dirty="0">
                <a:solidFill>
                  <a:srgbClr val="FF5A33"/>
                </a:solidFill>
                <a:latin typeface="Arial"/>
                <a:cs typeface="Arial"/>
              </a:rPr>
              <a:t>T</a:t>
            </a:r>
            <a:r>
              <a:rPr sz="1750" b="1" spc="-90" dirty="0">
                <a:solidFill>
                  <a:srgbClr val="FF5A33"/>
                </a:solidFill>
                <a:latin typeface="Arial"/>
                <a:cs typeface="Arial"/>
              </a:rPr>
              <a:t>EST</a:t>
            </a:r>
            <a:r>
              <a:rPr sz="2200" b="1" spc="-90" dirty="0">
                <a:solidFill>
                  <a:srgbClr val="FF5A33"/>
                </a:solidFill>
                <a:latin typeface="Arial"/>
                <a:cs typeface="Arial"/>
              </a:rPr>
              <a:t>NG</a:t>
            </a:r>
            <a:r>
              <a:rPr sz="2200" b="1" spc="-6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5A33"/>
                </a:solidFill>
                <a:latin typeface="Arial"/>
                <a:cs typeface="Arial"/>
              </a:rPr>
              <a:t>HTML</a:t>
            </a:r>
            <a:r>
              <a:rPr sz="2200" b="1" spc="-5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FF5A33"/>
                </a:solidFill>
                <a:latin typeface="Arial"/>
                <a:cs typeface="Arial"/>
              </a:rPr>
              <a:t>VÀ</a:t>
            </a:r>
            <a:r>
              <a:rPr sz="1750" b="1" spc="5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5A33"/>
                </a:solidFill>
                <a:latin typeface="Arial"/>
                <a:cs typeface="Arial"/>
              </a:rPr>
              <a:t>XML</a:t>
            </a:r>
            <a:r>
              <a:rPr sz="2200" b="1" spc="-7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spc="-95" dirty="0">
                <a:solidFill>
                  <a:srgbClr val="FF5A33"/>
                </a:solidFill>
                <a:latin typeface="Arial"/>
                <a:cs typeface="Arial"/>
              </a:rPr>
              <a:t>R</a:t>
            </a:r>
            <a:r>
              <a:rPr sz="1750" b="1" spc="-95" dirty="0">
                <a:solidFill>
                  <a:srgbClr val="FF5A33"/>
                </a:solidFill>
                <a:latin typeface="Arial"/>
                <a:cs typeface="Arial"/>
              </a:rPr>
              <a:t>EPORTS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934200" y="190500"/>
            <a:ext cx="1865630" cy="789940"/>
            <a:chOff x="6934200" y="190500"/>
            <a:chExt cx="1865630" cy="789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34200" y="190500"/>
              <a:ext cx="809244" cy="7894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6724" y="280415"/>
              <a:ext cx="768096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99832" y="280415"/>
              <a:ext cx="999744" cy="64007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52850">
              <a:lnSpc>
                <a:spcPct val="100000"/>
              </a:lnSpc>
              <a:spcBef>
                <a:spcPts val="95"/>
              </a:spcBef>
            </a:pPr>
            <a:r>
              <a:rPr cap="small" dirty="0"/>
              <a:t>Mục</a:t>
            </a:r>
            <a:r>
              <a:rPr cap="small" spc="245" dirty="0"/>
              <a:t> </a:t>
            </a:r>
            <a:r>
              <a:rPr cap="small" spc="-145" dirty="0"/>
              <a:t>tiêu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1768" y="1753383"/>
            <a:ext cx="4025900" cy="10502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spc="-155" dirty="0">
                <a:latin typeface="Arial"/>
                <a:cs typeface="Arial"/>
              </a:rPr>
              <a:t>TestNG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Default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Reports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spc="-55" dirty="0">
                <a:latin typeface="Arial"/>
                <a:cs typeface="Arial"/>
              </a:rPr>
              <a:t>Emailable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Report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842759" y="190500"/>
            <a:ext cx="1957070" cy="789940"/>
            <a:chOff x="6842759" y="190500"/>
            <a:chExt cx="1957070" cy="789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2759" y="190500"/>
              <a:ext cx="749807" cy="7894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5847" y="280415"/>
              <a:ext cx="690372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1231" y="280415"/>
              <a:ext cx="1228344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1002777"/>
            <a:ext cx="5264150" cy="3268844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800" dirty="0">
                <a:latin typeface="Arial"/>
                <a:cs typeface="Arial"/>
              </a:rPr>
              <a:t>Phần I: TestNG Default Reports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400" dirty="0">
                <a:latin typeface="Arial"/>
                <a:cs typeface="Arial"/>
              </a:rPr>
              <a:t>Main Report Layout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400" dirty="0">
                <a:latin typeface="Arial"/>
                <a:cs typeface="Arial"/>
              </a:rPr>
              <a:t>Index.html Report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8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800" dirty="0">
                <a:latin typeface="Arial"/>
                <a:cs typeface="Arial"/>
              </a:rPr>
              <a:t>Phần II: Emailable Report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400" dirty="0">
                <a:latin typeface="Arial"/>
                <a:cs typeface="Arial"/>
              </a:rPr>
              <a:t>emailable-report.html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400" dirty="0">
                <a:latin typeface="Arial"/>
                <a:cs typeface="Arial"/>
              </a:rPr>
              <a:t>Old Suite Html Reporter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6596" y="190500"/>
              <a:ext cx="71323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3108" y="280415"/>
              <a:ext cx="2115312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1908" y="280415"/>
              <a:ext cx="1031747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4096" y="280415"/>
              <a:ext cx="758951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38059" y="280415"/>
              <a:ext cx="1461516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283210"/>
            <a:ext cx="8070850" cy="300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 lang="en-US" sz="225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708025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85" dirty="0">
                <a:latin typeface="Arial"/>
                <a:cs typeface="Arial"/>
              </a:rPr>
              <a:t>Các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automation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80" dirty="0">
                <a:latin typeface="Arial"/>
                <a:cs typeface="Arial"/>
              </a:rPr>
              <a:t>tool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hỗ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trợ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case </a:t>
            </a:r>
            <a:r>
              <a:rPr sz="2800" dirty="0">
                <a:latin typeface="Arial"/>
                <a:cs typeface="Arial"/>
              </a:rPr>
              <a:t>nhanh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chóng,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tìm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bug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và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báo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cáo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cho </a:t>
            </a:r>
            <a:r>
              <a:rPr sz="2800" dirty="0">
                <a:latin typeface="Arial"/>
                <a:cs typeface="Arial"/>
              </a:rPr>
              <a:t>development</a:t>
            </a:r>
            <a:r>
              <a:rPr sz="2800" spc="7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team.</a:t>
            </a:r>
            <a:endParaRPr sz="2800">
              <a:latin typeface="Arial"/>
              <a:cs typeface="Arial"/>
            </a:endParaRPr>
          </a:p>
          <a:p>
            <a:pPr marL="355600" marR="75120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55" dirty="0">
                <a:latin typeface="Arial"/>
                <a:cs typeface="Arial"/>
              </a:rPr>
              <a:t>TestNG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cung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cấp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năng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tạo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50" dirty="0">
                <a:latin typeface="Arial"/>
                <a:cs typeface="Arial"/>
              </a:rPr>
              <a:t>report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thông </a:t>
            </a:r>
            <a:r>
              <a:rPr sz="2800" spc="-20" dirty="0">
                <a:latin typeface="Arial"/>
                <a:cs typeface="Arial"/>
              </a:rPr>
              <a:t>minh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09800" y="3314700"/>
            <a:ext cx="4724400" cy="354329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6596" y="190500"/>
              <a:ext cx="713231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3108" y="280415"/>
              <a:ext cx="2115312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1908" y="280415"/>
              <a:ext cx="1031747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4096" y="280415"/>
              <a:ext cx="758951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38059" y="280415"/>
              <a:ext cx="1461516" cy="6400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283210"/>
            <a:ext cx="8070850" cy="2569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 lang="en-US" sz="225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lang="en-US" sz="2250">
              <a:latin typeface="Arial"/>
              <a:cs typeface="Arial"/>
            </a:endParaRPr>
          </a:p>
          <a:p>
            <a:pPr marL="355600" marR="1067435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mtClean="0">
                <a:latin typeface="Arial"/>
                <a:cs typeface="Arial"/>
              </a:rPr>
              <a:t>Mặc</a:t>
            </a:r>
            <a:r>
              <a:rPr sz="2800" spc="-45" smtClean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đinh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thư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mục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chứa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50" dirty="0">
                <a:latin typeface="Arial"/>
                <a:cs typeface="Arial"/>
              </a:rPr>
              <a:t>report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45" dirty="0">
                <a:latin typeface="Arial"/>
                <a:cs typeface="Arial"/>
              </a:rPr>
              <a:t>thi </a:t>
            </a:r>
            <a:r>
              <a:rPr sz="2800" spc="-160" dirty="0">
                <a:latin typeface="Arial"/>
                <a:cs typeface="Arial"/>
              </a:rPr>
              <a:t>TestNG</a:t>
            </a:r>
            <a:r>
              <a:rPr sz="2800" spc="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“./test-</a:t>
            </a:r>
            <a:r>
              <a:rPr sz="2800" spc="75" dirty="0">
                <a:latin typeface="Arial"/>
                <a:cs typeface="Arial"/>
              </a:rPr>
              <a:t>output”</a:t>
            </a:r>
            <a:endParaRPr sz="2800">
              <a:latin typeface="Arial"/>
              <a:cs typeface="Arial"/>
            </a:endParaRPr>
          </a:p>
          <a:p>
            <a:pPr marL="355600" marR="128397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75" dirty="0">
                <a:latin typeface="Arial"/>
                <a:cs typeface="Arial"/>
              </a:rPr>
              <a:t>Có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loại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50" dirty="0">
                <a:latin typeface="Arial"/>
                <a:cs typeface="Arial"/>
              </a:rPr>
              <a:t>report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cơ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“Index.html”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và “emailable-</a:t>
            </a:r>
            <a:r>
              <a:rPr sz="2800" spc="-10" dirty="0">
                <a:latin typeface="Arial"/>
                <a:cs typeface="Arial"/>
              </a:rPr>
              <a:t>report.html”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96998" y="3101720"/>
            <a:ext cx="4152900" cy="297256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9903" y="190500"/>
              <a:ext cx="70104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4223" y="280415"/>
              <a:ext cx="1275587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7580" y="190500"/>
              <a:ext cx="809244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90104" y="280415"/>
              <a:ext cx="1109472" cy="64007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5940" y="283210"/>
            <a:ext cx="8071484" cy="35208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 lang="en-US" sz="225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Dùng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“Isuite”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định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nghĩa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95" dirty="0">
                <a:latin typeface="Arial"/>
                <a:cs typeface="Arial"/>
              </a:rPr>
              <a:t>một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“Test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Suite”</a:t>
            </a:r>
            <a:endParaRPr sz="2800">
              <a:latin typeface="Arial"/>
              <a:cs typeface="Arial"/>
            </a:endParaRPr>
          </a:p>
          <a:p>
            <a:pPr marL="355600" marR="57086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20" dirty="0">
                <a:latin typeface="Arial"/>
                <a:cs typeface="Arial"/>
              </a:rPr>
              <a:t>Cho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phép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tham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khảo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70" dirty="0">
                <a:latin typeface="Arial"/>
                <a:cs typeface="Arial"/>
              </a:rPr>
              <a:t>thông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hữu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ích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từ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quả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suite</a:t>
            </a:r>
            <a:endParaRPr sz="2800">
              <a:latin typeface="Arial"/>
              <a:cs typeface="Arial"/>
            </a:endParaRPr>
          </a:p>
          <a:p>
            <a:pPr marL="355600" marR="41783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140" dirty="0">
                <a:latin typeface="Arial"/>
                <a:cs typeface="Arial"/>
              </a:rPr>
              <a:t>Một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số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phương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hữu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cơ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bản: </a:t>
            </a:r>
            <a:r>
              <a:rPr sz="2800" spc="-30" dirty="0">
                <a:latin typeface="Arial"/>
                <a:cs typeface="Arial"/>
              </a:rPr>
              <a:t>getName(),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getInvokedMethods(),</a:t>
            </a:r>
            <a:r>
              <a:rPr sz="2800" spc="-55" dirty="0">
                <a:latin typeface="Arial"/>
                <a:cs typeface="Arial"/>
              </a:rPr>
              <a:t> getResults(), </a:t>
            </a:r>
            <a:r>
              <a:rPr sz="2800" spc="-70" dirty="0">
                <a:latin typeface="Arial"/>
                <a:cs typeface="Arial"/>
              </a:rPr>
              <a:t>ISuiteResult,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ITestNGMethod…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1600" y="3909390"/>
            <a:ext cx="5514975" cy="28956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2288" y="190500"/>
              <a:ext cx="582167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7735" y="280415"/>
              <a:ext cx="117348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4496" y="190500"/>
              <a:ext cx="565403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3179" y="280415"/>
              <a:ext cx="1188720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9668" y="190500"/>
              <a:ext cx="70104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3988" y="280415"/>
              <a:ext cx="1275588" cy="64007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0430">
              <a:lnSpc>
                <a:spcPct val="100000"/>
              </a:lnSpc>
              <a:spcBef>
                <a:spcPts val="95"/>
              </a:spcBef>
            </a:pPr>
            <a:endParaRPr cap="small" spc="-2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7790815" cy="3356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8255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75" dirty="0">
                <a:latin typeface="Arial"/>
                <a:cs typeface="Arial"/>
              </a:rPr>
              <a:t>Tập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Index.html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50" dirty="0">
                <a:latin typeface="Arial"/>
                <a:cs typeface="Arial"/>
              </a:rPr>
              <a:t>report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mặc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định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được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chia </a:t>
            </a:r>
            <a:r>
              <a:rPr sz="2800" dirty="0">
                <a:latin typeface="Arial"/>
                <a:cs typeface="Arial"/>
              </a:rPr>
              <a:t>thành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3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vùng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phân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biệt: vùng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trên,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20" dirty="0">
                <a:latin typeface="Arial"/>
                <a:cs typeface="Arial"/>
              </a:rPr>
              <a:t> trái </a:t>
            </a:r>
            <a:r>
              <a:rPr sz="2800" spc="-85" dirty="0">
                <a:latin typeface="Arial"/>
                <a:cs typeface="Arial"/>
              </a:rPr>
              <a:t>và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vùng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45" dirty="0">
                <a:latin typeface="Arial"/>
                <a:cs typeface="Arial"/>
              </a:rPr>
              <a:t>tiết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Vùng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bên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70" dirty="0">
                <a:latin typeface="Arial"/>
                <a:cs typeface="Arial"/>
              </a:rPr>
              <a:t>tổng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thi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test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Vùng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bên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trái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kê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tất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cả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suite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kèm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90" dirty="0">
                <a:latin typeface="Arial"/>
                <a:cs typeface="Arial"/>
              </a:rPr>
              <a:t>một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số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400" spc="60" dirty="0">
                <a:latin typeface="Arial"/>
                <a:cs typeface="Arial"/>
              </a:rPr>
              <a:t>thông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65" dirty="0">
                <a:latin typeface="Arial"/>
                <a:cs typeface="Arial"/>
              </a:rPr>
              <a:t>tin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cơ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bản</a:t>
            </a:r>
            <a:endParaRPr sz="2400">
              <a:latin typeface="Arial"/>
              <a:cs typeface="Arial"/>
            </a:endParaRPr>
          </a:p>
          <a:p>
            <a:pPr marL="755015" marR="234315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Vùng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tiết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thông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65" dirty="0">
                <a:latin typeface="Arial"/>
                <a:cs typeface="Arial"/>
              </a:rPr>
              <a:t>tin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báo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tiết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từng 	</a:t>
            </a:r>
            <a:r>
              <a:rPr sz="2400" dirty="0">
                <a:latin typeface="Arial"/>
                <a:cs typeface="Arial"/>
              </a:rPr>
              <a:t>suite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của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vùng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bên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trái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53000" y="4114800"/>
            <a:ext cx="3657600" cy="27431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2288" y="190500"/>
              <a:ext cx="582167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7735" y="280415"/>
              <a:ext cx="117348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4496" y="190500"/>
              <a:ext cx="565403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3179" y="280415"/>
              <a:ext cx="1188720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9668" y="190500"/>
              <a:ext cx="70104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3988" y="280415"/>
              <a:ext cx="1275588" cy="64007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35940" y="283210"/>
            <a:ext cx="8071484" cy="20486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 lang="en-US" sz="225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335915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Vùng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trên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cùng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“Test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Results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Summary”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40" dirty="0">
                <a:latin typeface="Arial"/>
                <a:cs typeface="Arial"/>
              </a:rPr>
              <a:t>gồm </a:t>
            </a:r>
            <a:r>
              <a:rPr sz="2800" spc="70" dirty="0">
                <a:latin typeface="Arial"/>
                <a:cs typeface="Arial"/>
              </a:rPr>
              <a:t>thông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80" dirty="0">
                <a:latin typeface="Arial"/>
                <a:cs typeface="Arial"/>
              </a:rPr>
              <a:t>tổng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số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lượng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suites,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số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lượng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test </a:t>
            </a:r>
            <a:r>
              <a:rPr sz="2800" spc="-150" dirty="0">
                <a:latin typeface="Arial"/>
                <a:cs typeface="Arial"/>
              </a:rPr>
              <a:t>case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thành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công,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thất</a:t>
            </a:r>
            <a:r>
              <a:rPr sz="2800" spc="-10" dirty="0">
                <a:latin typeface="Arial"/>
                <a:cs typeface="Arial"/>
              </a:rPr>
              <a:t> bại, </a:t>
            </a:r>
            <a:r>
              <a:rPr sz="2800" spc="75" dirty="0">
                <a:latin typeface="Arial"/>
                <a:cs typeface="Arial"/>
              </a:rPr>
              <a:t>bỏ</a:t>
            </a:r>
            <a:r>
              <a:rPr sz="2800" spc="-25" dirty="0">
                <a:latin typeface="Arial"/>
                <a:cs typeface="Arial"/>
              </a:rPr>
              <a:t> qua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28674" y="2743200"/>
            <a:ext cx="6486525" cy="30480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2288" y="190500"/>
              <a:ext cx="582167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7735" y="280415"/>
              <a:ext cx="117348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4496" y="190500"/>
              <a:ext cx="565403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3179" y="280415"/>
              <a:ext cx="1188720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9668" y="190500"/>
              <a:ext cx="70104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3988" y="280415"/>
              <a:ext cx="1275588" cy="64007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35940" y="283210"/>
            <a:ext cx="8071484" cy="16177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 lang="en-US" sz="225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90805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Vùng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trái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“Suite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Pane”,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hiển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thị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tất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cả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suite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trong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lớp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kiểm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thử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4505096"/>
            <a:ext cx="748030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45" dirty="0">
                <a:latin typeface="Arial"/>
                <a:cs typeface="Arial"/>
              </a:rPr>
              <a:t>Click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chọn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“All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suites”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Arial"/>
                <a:cs typeface="Arial"/>
              </a:rPr>
              <a:t>để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xem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tiết,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65" dirty="0">
                <a:latin typeface="Arial"/>
                <a:cs typeface="Arial"/>
              </a:rPr>
              <a:t>gồm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phần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“Info”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và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“Result”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41295" y="2290698"/>
            <a:ext cx="4661408" cy="2276475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2288" y="190500"/>
              <a:ext cx="582167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7735" y="280415"/>
              <a:ext cx="117348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4496" y="190500"/>
              <a:ext cx="565403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3179" y="280415"/>
              <a:ext cx="1188720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9668" y="190500"/>
              <a:ext cx="70104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3988" y="280415"/>
              <a:ext cx="1275588" cy="64007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0430">
              <a:lnSpc>
                <a:spcPct val="100000"/>
              </a:lnSpc>
              <a:spcBef>
                <a:spcPts val="95"/>
              </a:spcBef>
            </a:pPr>
            <a:endParaRPr cap="small" spc="-2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79851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Vùng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trái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“Suite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Pane”,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hiển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thị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tất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cả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suite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trong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lớp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kiểm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thử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38344" y="2209800"/>
            <a:ext cx="7167455" cy="40700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2288" y="190500"/>
              <a:ext cx="582167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7735" y="280415"/>
              <a:ext cx="117348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4496" y="190500"/>
              <a:ext cx="565403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3179" y="280415"/>
              <a:ext cx="1188720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9668" y="190500"/>
              <a:ext cx="70104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3988" y="280415"/>
              <a:ext cx="1275588" cy="64007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0430">
              <a:lnSpc>
                <a:spcPct val="100000"/>
              </a:lnSpc>
              <a:spcBef>
                <a:spcPts val="95"/>
              </a:spcBef>
            </a:pPr>
            <a:endParaRPr cap="small" spc="-2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80581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Vùng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phải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“Suite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Details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Pane”,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hiển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thị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chi </a:t>
            </a:r>
            <a:r>
              <a:rPr sz="2800" spc="70" dirty="0">
                <a:latin typeface="Arial"/>
                <a:cs typeface="Arial"/>
              </a:rPr>
              <a:t>tiết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70" dirty="0">
                <a:latin typeface="Arial"/>
                <a:cs typeface="Arial"/>
              </a:rPr>
              <a:t>thông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thành phần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của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vùng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20" dirty="0">
                <a:latin typeface="Arial"/>
                <a:cs typeface="Arial"/>
              </a:rPr>
              <a:t> trái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050" y="1962150"/>
            <a:ext cx="91059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2288" y="190500"/>
              <a:ext cx="582167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7735" y="280415"/>
              <a:ext cx="117348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4496" y="190500"/>
              <a:ext cx="565403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3179" y="280415"/>
              <a:ext cx="1188720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9668" y="190500"/>
              <a:ext cx="70104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3988" y="280415"/>
              <a:ext cx="1275588" cy="64007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0430">
              <a:lnSpc>
                <a:spcPct val="100000"/>
              </a:lnSpc>
              <a:spcBef>
                <a:spcPts val="95"/>
              </a:spcBef>
            </a:pPr>
            <a:endParaRPr cap="small" spc="-2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80581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Vùng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phải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“Suite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Details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Pane”,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hiển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thị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chi </a:t>
            </a:r>
            <a:r>
              <a:rPr sz="2800" spc="70" dirty="0">
                <a:latin typeface="Arial"/>
                <a:cs typeface="Arial"/>
              </a:rPr>
              <a:t>tiết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70" dirty="0">
                <a:latin typeface="Arial"/>
                <a:cs typeface="Arial"/>
              </a:rPr>
              <a:t>thông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thành phần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của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vùng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20" dirty="0">
                <a:latin typeface="Arial"/>
                <a:cs typeface="Arial"/>
              </a:rPr>
              <a:t> trái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200" y="2438400"/>
            <a:ext cx="80010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2288" y="190500"/>
              <a:ext cx="582167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7735" y="280415"/>
              <a:ext cx="117348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4496" y="190500"/>
              <a:ext cx="565403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3179" y="280415"/>
              <a:ext cx="1188720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9668" y="190500"/>
              <a:ext cx="70104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3988" y="280415"/>
              <a:ext cx="1275588" cy="64007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0430">
              <a:lnSpc>
                <a:spcPct val="100000"/>
              </a:lnSpc>
              <a:spcBef>
                <a:spcPts val="95"/>
              </a:spcBef>
            </a:pPr>
            <a:endParaRPr cap="small" spc="-2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80581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Vùng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phải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“Suite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Details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Pane”,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hiển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thị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chi </a:t>
            </a:r>
            <a:r>
              <a:rPr sz="2800" spc="70" dirty="0">
                <a:latin typeface="Arial"/>
                <a:cs typeface="Arial"/>
              </a:rPr>
              <a:t>tiết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70" dirty="0">
                <a:latin typeface="Arial"/>
                <a:cs typeface="Arial"/>
              </a:rPr>
              <a:t>thông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thành phần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của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vùng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20" dirty="0">
                <a:latin typeface="Arial"/>
                <a:cs typeface="Arial"/>
              </a:rPr>
              <a:t> trái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2000" y="2471673"/>
            <a:ext cx="7620000" cy="31671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2288" y="190500"/>
              <a:ext cx="582167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7735" y="280415"/>
              <a:ext cx="117348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4496" y="190500"/>
              <a:ext cx="565403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3179" y="280415"/>
              <a:ext cx="1188720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9668" y="190500"/>
              <a:ext cx="70104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3988" y="280415"/>
              <a:ext cx="1275588" cy="64007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0430">
              <a:lnSpc>
                <a:spcPct val="100000"/>
              </a:lnSpc>
              <a:spcBef>
                <a:spcPts val="95"/>
              </a:spcBef>
            </a:pPr>
            <a:endParaRPr cap="small" spc="-2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80581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Vùng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phải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“Suite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Details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Pane”,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hiển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thị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chi </a:t>
            </a:r>
            <a:r>
              <a:rPr sz="2800" spc="70" dirty="0">
                <a:latin typeface="Arial"/>
                <a:cs typeface="Arial"/>
              </a:rPr>
              <a:t>tiết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70" dirty="0">
                <a:latin typeface="Arial"/>
                <a:cs typeface="Arial"/>
              </a:rPr>
              <a:t>thông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thành phần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của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vùng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20" dirty="0">
                <a:latin typeface="Arial"/>
                <a:cs typeface="Arial"/>
              </a:rPr>
              <a:t> trái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150" y="2709277"/>
            <a:ext cx="7524750" cy="28533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2288" y="190500"/>
              <a:ext cx="582167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7735" y="280415"/>
              <a:ext cx="1173480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4496" y="190500"/>
              <a:ext cx="565403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93179" y="280415"/>
              <a:ext cx="1188720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9668" y="190500"/>
              <a:ext cx="701040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3988" y="280415"/>
              <a:ext cx="1275588" cy="64007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0430">
              <a:lnSpc>
                <a:spcPct val="100000"/>
              </a:lnSpc>
              <a:spcBef>
                <a:spcPts val="95"/>
              </a:spcBef>
            </a:pPr>
            <a:endParaRPr cap="small" spc="-2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805815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Vùng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phải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“Suite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Details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Pane”,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hiển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thị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chi </a:t>
            </a:r>
            <a:r>
              <a:rPr sz="2800" spc="70" dirty="0">
                <a:latin typeface="Arial"/>
                <a:cs typeface="Arial"/>
              </a:rPr>
              <a:t>tiết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70" dirty="0">
                <a:latin typeface="Arial"/>
                <a:cs typeface="Arial"/>
              </a:rPr>
              <a:t>thông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thành phần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của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vùng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bên</a:t>
            </a:r>
            <a:r>
              <a:rPr sz="2800" spc="-20" dirty="0">
                <a:latin typeface="Arial"/>
                <a:cs typeface="Arial"/>
              </a:rPr>
              <a:t> trái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286000"/>
            <a:ext cx="9144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4041775" y="4077327"/>
            <a:ext cx="4776470" cy="137096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25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70"/>
              </a:spcBef>
            </a:pPr>
            <a:r>
              <a:rPr sz="2200" b="1" dirty="0">
                <a:solidFill>
                  <a:srgbClr val="FF5A33"/>
                </a:solidFill>
                <a:latin typeface="Arial"/>
                <a:cs typeface="Arial"/>
              </a:rPr>
              <a:t>B</a:t>
            </a:r>
            <a:r>
              <a:rPr sz="1750" b="1" dirty="0">
                <a:solidFill>
                  <a:srgbClr val="FF5A33"/>
                </a:solidFill>
                <a:latin typeface="Arial"/>
                <a:cs typeface="Arial"/>
              </a:rPr>
              <a:t>ÀI</a:t>
            </a:r>
            <a:r>
              <a:rPr sz="1750" b="1" spc="6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5A33"/>
                </a:solidFill>
                <a:latin typeface="Arial"/>
                <a:cs typeface="Arial"/>
              </a:rPr>
              <a:t>2:</a:t>
            </a:r>
            <a:r>
              <a:rPr sz="2200" b="1" spc="-7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spc="-85" dirty="0">
                <a:solidFill>
                  <a:srgbClr val="FF5A33"/>
                </a:solidFill>
                <a:latin typeface="Arial"/>
                <a:cs typeface="Arial"/>
              </a:rPr>
              <a:t>T</a:t>
            </a:r>
            <a:r>
              <a:rPr sz="1750" b="1" spc="-85" dirty="0">
                <a:solidFill>
                  <a:srgbClr val="FF5A33"/>
                </a:solidFill>
                <a:latin typeface="Arial"/>
                <a:cs typeface="Arial"/>
              </a:rPr>
              <a:t>EST</a:t>
            </a:r>
            <a:r>
              <a:rPr sz="2200" b="1" spc="-85" dirty="0">
                <a:solidFill>
                  <a:srgbClr val="FF5A33"/>
                </a:solidFill>
                <a:latin typeface="Arial"/>
                <a:cs typeface="Arial"/>
              </a:rPr>
              <a:t>NG</a:t>
            </a:r>
            <a:r>
              <a:rPr sz="2200" b="1" spc="-6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5A33"/>
                </a:solidFill>
                <a:latin typeface="Arial"/>
                <a:cs typeface="Arial"/>
              </a:rPr>
              <a:t>HTML</a:t>
            </a:r>
            <a:r>
              <a:rPr sz="2200" b="1" spc="-6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FF5A33"/>
                </a:solidFill>
                <a:latin typeface="Arial"/>
                <a:cs typeface="Arial"/>
              </a:rPr>
              <a:t>VÀ</a:t>
            </a:r>
            <a:r>
              <a:rPr sz="1750" b="1" spc="4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5A33"/>
                </a:solidFill>
                <a:latin typeface="Arial"/>
                <a:cs typeface="Arial"/>
              </a:rPr>
              <a:t>XML</a:t>
            </a:r>
            <a:r>
              <a:rPr sz="2200" b="1" spc="-7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spc="-110" dirty="0">
                <a:solidFill>
                  <a:srgbClr val="FF5A33"/>
                </a:solidFill>
                <a:latin typeface="Arial"/>
                <a:cs typeface="Arial"/>
              </a:rPr>
              <a:t>R</a:t>
            </a:r>
            <a:r>
              <a:rPr sz="1750" b="1" spc="-110" dirty="0">
                <a:solidFill>
                  <a:srgbClr val="FF5A33"/>
                </a:solidFill>
                <a:latin typeface="Arial"/>
                <a:cs typeface="Arial"/>
              </a:rPr>
              <a:t>EPORTS </a:t>
            </a:r>
            <a:r>
              <a:rPr sz="2200" b="1" spc="-20" dirty="0">
                <a:solidFill>
                  <a:srgbClr val="FF5A33"/>
                </a:solidFill>
                <a:latin typeface="Arial"/>
                <a:cs typeface="Arial"/>
              </a:rPr>
              <a:t>(P2)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7171" y="190500"/>
              <a:ext cx="658368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8820" y="280415"/>
              <a:ext cx="1780031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9668" y="190500"/>
              <a:ext cx="701040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3988" y="280415"/>
              <a:ext cx="1275588" cy="64007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5940" y="283210"/>
            <a:ext cx="8071484" cy="29873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lang="en-US" sz="225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74675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thực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 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emailable-report.html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0541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emailable-report.html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sz="2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quá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case: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công,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thất</a:t>
            </a:r>
            <a:r>
              <a:rPr sz="2800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bại,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qua,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gian 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thi…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10000" y="3200400"/>
            <a:ext cx="3581400" cy="365759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7171" y="190500"/>
              <a:ext cx="658368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8820" y="280415"/>
              <a:ext cx="1780031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9668" y="190500"/>
              <a:ext cx="701040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3988" y="280415"/>
              <a:ext cx="1275588" cy="64007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5940" y="283210"/>
            <a:ext cx="8071484" cy="20358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lang="en-US" sz="225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44195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2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emailable-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report.html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sz="2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 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thử: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9716" y="2692356"/>
            <a:ext cx="8207083" cy="361328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7171" y="190500"/>
              <a:ext cx="658368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8820" y="280415"/>
              <a:ext cx="1780031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9668" y="190500"/>
              <a:ext cx="701040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3988" y="280415"/>
              <a:ext cx="1275588" cy="64007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5940" y="283210"/>
            <a:ext cx="8071484" cy="20358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lang="en-US" sz="225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05410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sz="28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emailable-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report.html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sz="28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từng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" y="2438361"/>
            <a:ext cx="8229600" cy="394449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7171" y="190500"/>
              <a:ext cx="658368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8820" y="280415"/>
              <a:ext cx="1780031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9668" y="190500"/>
              <a:ext cx="701040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3988" y="280415"/>
              <a:ext cx="1275588" cy="64007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5940" y="283210"/>
            <a:ext cx="8071484" cy="20358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lang="en-US" sz="225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08915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emailable-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report.html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sz="28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800" y="2362200"/>
            <a:ext cx="7848600" cy="399415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7491" y="190500"/>
              <a:ext cx="73913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9911" y="280415"/>
              <a:ext cx="740663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1391" y="190500"/>
              <a:ext cx="669036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3708" y="280415"/>
              <a:ext cx="999743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4267" y="190500"/>
              <a:ext cx="742188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9735" y="280415"/>
              <a:ext cx="970788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1340" y="190500"/>
              <a:ext cx="701040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85659" y="280415"/>
              <a:ext cx="1613916" cy="64007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5380">
              <a:lnSpc>
                <a:spcPct val="100000"/>
              </a:lnSpc>
              <a:spcBef>
                <a:spcPts val="95"/>
              </a:spcBef>
            </a:pPr>
            <a:endParaRPr cap="small" spc="-220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535940" y="1077213"/>
            <a:ext cx="787336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sz="28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cũ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sz="28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 “index.html”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sz="2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test-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output/old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17420" y="2516762"/>
            <a:ext cx="3735779" cy="341412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7491" y="190500"/>
              <a:ext cx="73913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9911" y="280415"/>
              <a:ext cx="740663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1391" y="190500"/>
              <a:ext cx="669036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3708" y="280415"/>
              <a:ext cx="999743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4267" y="190500"/>
              <a:ext cx="742188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9735" y="280415"/>
              <a:ext cx="970788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1340" y="190500"/>
              <a:ext cx="701040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85659" y="280415"/>
              <a:ext cx="1613916" cy="64007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35940" y="283210"/>
            <a:ext cx="8071484" cy="25564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lang="en-US" sz="225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422909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công,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thất</a:t>
            </a:r>
            <a:r>
              <a:rPr sz="28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bại,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 </a:t>
            </a:r>
            <a:r>
              <a:rPr sz="28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suite.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43942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 tiết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“testing.xml”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“link”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5762" y="3048000"/>
            <a:ext cx="8372475" cy="311705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7491" y="190500"/>
              <a:ext cx="73913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9911" y="280415"/>
              <a:ext cx="740663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1391" y="190500"/>
              <a:ext cx="669036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3708" y="280415"/>
              <a:ext cx="999743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4267" y="190500"/>
              <a:ext cx="742188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9735" y="280415"/>
              <a:ext cx="970788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1340" y="190500"/>
              <a:ext cx="701040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85659" y="280415"/>
              <a:ext cx="1613916" cy="64007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5380">
              <a:lnSpc>
                <a:spcPct val="100000"/>
              </a:lnSpc>
              <a:spcBef>
                <a:spcPts val="95"/>
              </a:spcBef>
            </a:pPr>
            <a:endParaRPr cap="small" spc="-220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535940" y="1077213"/>
            <a:ext cx="767016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2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sz="28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90580" y="2133600"/>
            <a:ext cx="7062819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7491" y="190500"/>
              <a:ext cx="73913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9911" y="280415"/>
              <a:ext cx="740663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1391" y="190500"/>
              <a:ext cx="669036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3708" y="280415"/>
              <a:ext cx="999743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4267" y="190500"/>
              <a:ext cx="742188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9735" y="280415"/>
              <a:ext cx="970788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1340" y="190500"/>
              <a:ext cx="701040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85659" y="280415"/>
              <a:ext cx="1613916" cy="64007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5380">
              <a:lnSpc>
                <a:spcPct val="100000"/>
              </a:lnSpc>
              <a:spcBef>
                <a:spcPts val="95"/>
              </a:spcBef>
            </a:pPr>
            <a:endParaRPr cap="small" spc="-220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535940" y="1080261"/>
            <a:ext cx="755459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2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 tiết</a:t>
            </a:r>
            <a:r>
              <a:rPr sz="28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như: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phương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thức,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dụng…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7200" y="2209800"/>
            <a:ext cx="8229600" cy="464819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7491" y="190500"/>
              <a:ext cx="73913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9911" y="280415"/>
              <a:ext cx="740663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1391" y="190500"/>
              <a:ext cx="669036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3708" y="280415"/>
              <a:ext cx="999743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4267" y="190500"/>
              <a:ext cx="742188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9735" y="280415"/>
              <a:ext cx="970788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11340" y="190500"/>
              <a:ext cx="701040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85659" y="280415"/>
              <a:ext cx="1613916" cy="64007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28650" y="7679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5380">
              <a:lnSpc>
                <a:spcPct val="100000"/>
              </a:lnSpc>
              <a:spcBef>
                <a:spcPts val="95"/>
              </a:spcBef>
            </a:pPr>
            <a:endParaRPr cap="small" spc="-220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535940" y="1080261"/>
            <a:ext cx="755459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2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 tiết</a:t>
            </a:r>
            <a:r>
              <a:rPr sz="28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sz="28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như: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phương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thức,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dụng…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6687" y="2209800"/>
            <a:ext cx="8810625" cy="41465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6232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7691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5079" y="190500"/>
              <a:ext cx="1950720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9080" y="280415"/>
              <a:ext cx="920496" cy="64007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535940" y="1080261"/>
            <a:ext cx="7686675" cy="8756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55600" marR="5080" indent="-342900">
              <a:lnSpc>
                <a:spcPts val="3340"/>
              </a:lnSpc>
              <a:spcBef>
                <a:spcPts val="21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sz="28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sz="28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thất</a:t>
            </a:r>
            <a:r>
              <a:rPr sz="28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bại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“testng-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failed.xml”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9558" y="2083287"/>
            <a:ext cx="2560808" cy="302302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45892" y="2075560"/>
            <a:ext cx="6121908" cy="4280789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6232" y="190500"/>
              <a:ext cx="678179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7691" y="280415"/>
              <a:ext cx="864108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5079" y="190500"/>
              <a:ext cx="1950720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9080" y="280415"/>
              <a:ext cx="920496" cy="64007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535940" y="1077213"/>
            <a:ext cx="784733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28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sz="28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quá trinh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 </a:t>
            </a:r>
            <a:r>
              <a:rPr sz="28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sz="28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“testng-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results.xml”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3400" y="1958695"/>
            <a:ext cx="8001000" cy="4467225"/>
          </a:xfrm>
          <a:prstGeom prst="rect">
            <a:avLst/>
          </a:prstGeom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2151" y="520700"/>
            <a:ext cx="8458200" cy="5888990"/>
            <a:chOff x="192151" y="520700"/>
            <a:chExt cx="8458200" cy="5888990"/>
          </a:xfrm>
        </p:grpSpPr>
        <p:sp>
          <p:nvSpPr>
            <p:cNvPr id="3" name="object 3"/>
            <p:cNvSpPr/>
            <p:nvPr/>
          </p:nvSpPr>
          <p:spPr>
            <a:xfrm>
              <a:off x="192151" y="1565910"/>
              <a:ext cx="8458200" cy="4843780"/>
            </a:xfrm>
            <a:custGeom>
              <a:avLst/>
              <a:gdLst/>
              <a:ahLst/>
              <a:cxnLst/>
              <a:rect l="l" t="t" r="r" b="b"/>
              <a:pathLst>
                <a:path w="8458200" h="4843780">
                  <a:moveTo>
                    <a:pt x="8458200" y="0"/>
                  </a:moveTo>
                  <a:lnTo>
                    <a:pt x="0" y="0"/>
                  </a:lnTo>
                  <a:lnTo>
                    <a:pt x="0" y="4843780"/>
                  </a:lnTo>
                  <a:lnTo>
                    <a:pt x="8458200" y="484378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0" y="0"/>
                  </a:moveTo>
                  <a:lnTo>
                    <a:pt x="4833620" y="0"/>
                  </a:lnTo>
                  <a:lnTo>
                    <a:pt x="5334000" y="500379"/>
                  </a:lnTo>
                  <a:lnTo>
                    <a:pt x="483362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2503" y="829132"/>
            <a:ext cx="28225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79546"/>
                </a:solidFill>
              </a:rPr>
              <a:t>Tổng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dirty="0">
                <a:solidFill>
                  <a:srgbClr val="F79546"/>
                </a:solidFill>
              </a:rPr>
              <a:t>kết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dirty="0">
                <a:solidFill>
                  <a:srgbClr val="F79546"/>
                </a:solidFill>
              </a:rPr>
              <a:t>bài</a:t>
            </a:r>
            <a:r>
              <a:rPr spc="-50" dirty="0">
                <a:solidFill>
                  <a:srgbClr val="F79546"/>
                </a:solidFill>
              </a:rPr>
              <a:t> </a:t>
            </a:r>
            <a:r>
              <a:rPr spc="-25" dirty="0">
                <a:solidFill>
                  <a:srgbClr val="F79546"/>
                </a:solidFill>
              </a:rPr>
              <a:t>học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idx="1"/>
          </p:nvPr>
        </p:nvSpPr>
        <p:spPr>
          <a:xfrm>
            <a:off x="628650" y="1825625"/>
            <a:ext cx="7886700" cy="2792431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895"/>
              </a:spcBef>
              <a:buNone/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I: TestNG Default Reports</a:t>
            </a:r>
          </a:p>
          <a:p>
            <a:pPr marL="297815" indent="0">
              <a:lnSpc>
                <a:spcPct val="100000"/>
              </a:lnSpc>
              <a:spcBef>
                <a:spcPts val="690"/>
              </a:spcBef>
              <a:buNone/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Layout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indent="0">
              <a:lnSpc>
                <a:spcPct val="100000"/>
              </a:lnSpc>
              <a:spcBef>
                <a:spcPts val="670"/>
              </a:spcBef>
              <a:buNone/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Index.html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755"/>
              </a:spcBef>
              <a:buNone/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II: Emailable Report</a:t>
            </a:r>
          </a:p>
          <a:p>
            <a:pPr marL="297815" indent="0">
              <a:lnSpc>
                <a:spcPct val="100000"/>
              </a:lnSpc>
              <a:spcBef>
                <a:spcPts val="690"/>
              </a:spcBef>
              <a:buNone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Emailable-report.Html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indent="0">
              <a:lnSpc>
                <a:spcPct val="100000"/>
              </a:lnSpc>
              <a:spcBef>
                <a:spcPts val="670"/>
              </a:spcBef>
              <a:buNone/>
            </a:pPr>
            <a:r>
              <a:rPr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Suite Html Reporter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820</Words>
  <Application>Microsoft Office PowerPoint</Application>
  <PresentationFormat>On-screen Show (4:3)</PresentationFormat>
  <Paragraphs>123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Mục tiêu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Tổng kết bài học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ADMIN</cp:lastModifiedBy>
  <cp:revision>2</cp:revision>
  <dcterms:created xsi:type="dcterms:W3CDTF">2024-03-08T02:52:27Z</dcterms:created>
  <dcterms:modified xsi:type="dcterms:W3CDTF">2024-11-03T02:31:57Z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2018-08-10T00:00:00Z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2024-03-08T00:00:00Z</vt:filetime>
  </property>
  <property fmtid="{D5CDD505-2E9C-101B-9397-08002B2CF9AE}" pid="5" name="Producer">
    <vt:lpwstr>3-Heights(TM) PDF Security Shell 4.8.25.2 (http://www.pdf-tools.com)</vt:lpwstr>
  </property>
</Properties>
</file>