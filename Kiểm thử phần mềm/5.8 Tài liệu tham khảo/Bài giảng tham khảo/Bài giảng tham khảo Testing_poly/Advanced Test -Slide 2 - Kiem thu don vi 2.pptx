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36506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07783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02076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59585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96200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12831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88645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16589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758689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54961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18485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24977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mailto:or@Suite.SuiteClasses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28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4194175" y="4077327"/>
            <a:ext cx="3994785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40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</a:t>
            </a:r>
            <a:r>
              <a:rPr sz="2200" b="1" cap="small" spc="5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2:</a:t>
            </a:r>
            <a:r>
              <a:rPr sz="2200" b="1" cap="small" spc="-6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2200" b="1" cap="small" spc="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2200" b="1" cap="small" spc="4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đơn</a:t>
            </a:r>
            <a:r>
              <a:rPr sz="2200" b="1" cap="small" spc="4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25" dirty="0">
                <a:solidFill>
                  <a:srgbClr val="FF5A33"/>
                </a:solidFill>
                <a:latin typeface="Arial"/>
                <a:cs typeface="Arial"/>
              </a:rPr>
              <a:t>vị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934200" y="190500"/>
            <a:ext cx="1865630" cy="789940"/>
            <a:chOff x="6934200" y="190500"/>
            <a:chExt cx="186563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4200" y="190500"/>
              <a:ext cx="809244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6724" y="280415"/>
              <a:ext cx="7680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9832" y="280415"/>
              <a:ext cx="999744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1004973"/>
            <a:ext cx="4150360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JUnit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Test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framework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30" dirty="0">
                <a:latin typeface="Arial"/>
                <a:cs typeface="Arial"/>
              </a:rPr>
              <a:t>JUnit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Annotations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370" dirty="0">
                <a:latin typeface="Arial"/>
                <a:cs typeface="Arial"/>
              </a:rPr>
              <a:t>&amp;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API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842759" y="190500"/>
            <a:ext cx="1957070" cy="789940"/>
            <a:chOff x="6842759" y="190500"/>
            <a:chExt cx="195707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59" y="190500"/>
              <a:ext cx="749807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5847" y="280415"/>
              <a:ext cx="690372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1231" y="280415"/>
              <a:ext cx="1228344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1002777"/>
            <a:ext cx="6477632" cy="28507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JUnit Test framework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smtClean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trúc, tổ chức junit framework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mtClean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fixture, Setup và Teardown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JUnit Annotations </a:t>
            </a: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lang="en-US" sz="2400" smtClean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mtClean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mtClean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 hỗ trợ junit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lang="en-US" sz="240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API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3075" y="3242221"/>
            <a:ext cx="3200400" cy="315277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754879" y="190500"/>
            <a:ext cx="4044950" cy="789940"/>
            <a:chOff x="4754879" y="190500"/>
            <a:chExt cx="4044950" cy="7899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4879" y="190500"/>
              <a:ext cx="883920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2079" y="280415"/>
              <a:ext cx="867155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51575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3035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77583" y="280415"/>
              <a:ext cx="2221992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5940" y="283210"/>
            <a:ext cx="8071484" cy="2710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0555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45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800" b="1" cap="small" spc="-1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20" dirty="0">
                <a:solidFill>
                  <a:srgbClr val="FF5A33"/>
                </a:solidFill>
                <a:latin typeface="Arial"/>
                <a:cs typeface="Arial"/>
              </a:rPr>
              <a:t>framework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452755" indent="-44005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z="2800" dirty="0">
                <a:latin typeface="Arial"/>
                <a:cs typeface="Arial"/>
              </a:rPr>
              <a:t>Hỗ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trợ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tạo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nhanh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case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  <a:p>
            <a:pPr marL="355600" marR="337820" indent="-342900">
              <a:lnSpc>
                <a:spcPct val="100000"/>
              </a:lnSpc>
              <a:spcBef>
                <a:spcPts val="675"/>
              </a:spcBef>
              <a:buFont typeface="Wingdings"/>
              <a:buChar char=""/>
              <a:tabLst>
                <a:tab pos="355600" algn="l"/>
                <a:tab pos="452120" algn="l"/>
              </a:tabLst>
            </a:pPr>
            <a:r>
              <a:rPr sz="2800" dirty="0">
                <a:solidFill>
                  <a:srgbClr val="FF5A33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org.Junit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package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gồm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class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interface </a:t>
            </a:r>
            <a:r>
              <a:rPr sz="2800" spc="-160" dirty="0">
                <a:latin typeface="Arial"/>
                <a:cs typeface="Arial"/>
              </a:rPr>
              <a:t>(Test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fixture,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Assert,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After,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Before...)</a:t>
            </a:r>
            <a:endParaRPr sz="2800">
              <a:latin typeface="Arial"/>
              <a:cs typeface="Arial"/>
            </a:endParaRPr>
          </a:p>
          <a:p>
            <a:pPr marL="452755" indent="-44005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môi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trường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web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không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cần </a:t>
            </a:r>
            <a:r>
              <a:rPr sz="2800" spc="-10" dirty="0">
                <a:latin typeface="Arial"/>
                <a:cs typeface="Arial"/>
              </a:rPr>
              <a:t>server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5940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7400" y="280415"/>
              <a:ext cx="864107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1947" y="280415"/>
              <a:ext cx="15270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79435" y="280415"/>
              <a:ext cx="729996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2919" y="280415"/>
              <a:ext cx="676655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283210"/>
            <a:ext cx="8379460" cy="2113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01615">
              <a:lnSpc>
                <a:spcPct val="100000"/>
              </a:lnSpc>
              <a:spcBef>
                <a:spcPts val="95"/>
              </a:spcBef>
            </a:pPr>
            <a:r>
              <a:rPr sz="2800" b="1" cap="small" spc="-145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800" b="1" cap="small" spc="-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70" dirty="0">
                <a:solidFill>
                  <a:srgbClr val="FF5A33"/>
                </a:solidFill>
                <a:latin typeface="Arial"/>
                <a:cs typeface="Arial"/>
              </a:rPr>
              <a:t>fixture</a:t>
            </a:r>
            <a:r>
              <a:rPr sz="2800" b="1" cap="small" spc="-8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0" dirty="0">
                <a:solidFill>
                  <a:srgbClr val="FF5A33"/>
                </a:solidFill>
                <a:latin typeface="Arial"/>
                <a:cs typeface="Arial"/>
              </a:rPr>
              <a:t>là</a:t>
            </a:r>
            <a:r>
              <a:rPr sz="2800" b="1" cap="small" spc="-12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90" dirty="0">
                <a:solidFill>
                  <a:srgbClr val="FF5A33"/>
                </a:solidFill>
                <a:latin typeface="Arial"/>
                <a:cs typeface="Arial"/>
              </a:rPr>
              <a:t>gì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53975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  <a:tab pos="452755" algn="l"/>
              </a:tabLst>
            </a:pPr>
            <a:r>
              <a:rPr sz="2800" dirty="0">
                <a:solidFill>
                  <a:srgbClr val="FF5A33"/>
                </a:solidFill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Đánh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giá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đoạn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code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viết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case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dưới </a:t>
            </a:r>
            <a:r>
              <a:rPr sz="2800" dirty="0">
                <a:latin typeface="Arial"/>
                <a:cs typeface="Arial"/>
              </a:rPr>
              <a:t>(tính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rõ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ràng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phân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định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giữa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hàm?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Có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dễ </a:t>
            </a:r>
            <a:r>
              <a:rPr sz="2800" dirty="0">
                <a:latin typeface="Arial"/>
                <a:cs typeface="Arial"/>
              </a:rPr>
              <a:t>chỉnh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sửa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cần?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Thứ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tự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logic?)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54962" y="2463275"/>
            <a:ext cx="5836437" cy="388063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535940" y="1090929"/>
            <a:ext cx="772858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5600" algn="l"/>
                <a:tab pos="452755" algn="l"/>
              </a:tabLst>
            </a:pPr>
            <a:r>
              <a:rPr sz="2800" dirty="0">
                <a:solidFill>
                  <a:srgbClr val="FF5A33"/>
                </a:solidFill>
                <a:latin typeface="Arial"/>
                <a:cs typeface="Arial"/>
              </a:rPr>
              <a:t>	</a:t>
            </a:r>
            <a:r>
              <a:rPr sz="2800" spc="-145" dirty="0">
                <a:latin typeface="Arial"/>
                <a:cs typeface="Arial"/>
              </a:rPr>
              <a:t>So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sánh </a:t>
            </a:r>
            <a:r>
              <a:rPr sz="2800" spc="-20" dirty="0">
                <a:latin typeface="Arial"/>
                <a:cs typeface="Arial"/>
              </a:rPr>
              <a:t>với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đoạn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code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dùng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Junit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(sv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tìm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khác </a:t>
            </a:r>
            <a:r>
              <a:rPr sz="2800" spc="-10" dirty="0">
                <a:latin typeface="Arial"/>
                <a:cs typeface="Arial"/>
              </a:rPr>
              <a:t>biệt?)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2694" y="1573695"/>
            <a:ext cx="5791200" cy="5257800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5940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7400" y="280415"/>
              <a:ext cx="864107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1947" y="280415"/>
              <a:ext cx="15270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79435" y="280415"/>
              <a:ext cx="729996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2919" y="280415"/>
              <a:ext cx="676655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283210"/>
            <a:ext cx="8455660" cy="3084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01615">
              <a:lnSpc>
                <a:spcPct val="100000"/>
              </a:lnSpc>
              <a:spcBef>
                <a:spcPts val="95"/>
              </a:spcBef>
            </a:pPr>
            <a:r>
              <a:rPr sz="2800" b="1" cap="small" spc="-145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800" b="1" cap="small" spc="-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70" dirty="0">
                <a:solidFill>
                  <a:srgbClr val="FF5A33"/>
                </a:solidFill>
                <a:latin typeface="Arial"/>
                <a:cs typeface="Arial"/>
              </a:rPr>
              <a:t>fixture</a:t>
            </a:r>
            <a:r>
              <a:rPr sz="2800" b="1" cap="small" spc="-8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0" dirty="0">
                <a:solidFill>
                  <a:srgbClr val="FF5A33"/>
                </a:solidFill>
                <a:latin typeface="Arial"/>
                <a:cs typeface="Arial"/>
              </a:rPr>
              <a:t>là</a:t>
            </a:r>
            <a:r>
              <a:rPr sz="2800" b="1" cap="small" spc="-12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90" dirty="0">
                <a:solidFill>
                  <a:srgbClr val="FF5A33"/>
                </a:solidFill>
                <a:latin typeface="Arial"/>
                <a:cs typeface="Arial"/>
              </a:rPr>
              <a:t>gì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452755" indent="-44005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z="2800" spc="-140" dirty="0">
                <a:latin typeface="Arial"/>
                <a:cs typeface="Arial"/>
              </a:rPr>
              <a:t>Cấu</a:t>
            </a:r>
            <a:r>
              <a:rPr sz="2800" dirty="0">
                <a:latin typeface="Arial"/>
                <a:cs typeface="Arial"/>
              </a:rPr>
              <a:t> trúc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code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của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junit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235" dirty="0">
                <a:latin typeface="Arial"/>
                <a:cs typeface="Arial"/>
              </a:rPr>
              <a:t>sử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 </a:t>
            </a:r>
            <a:r>
              <a:rPr sz="2800" spc="95" dirty="0">
                <a:latin typeface="Arial"/>
                <a:cs typeface="Arial"/>
              </a:rPr>
              <a:t>một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số</a:t>
            </a:r>
            <a:endParaRPr sz="2800">
              <a:latin typeface="Arial"/>
              <a:cs typeface="Arial"/>
            </a:endParaRPr>
          </a:p>
          <a:p>
            <a:pPr marL="355600" marR="229235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Arial"/>
                <a:cs typeface="Arial"/>
              </a:rPr>
              <a:t>annotations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@Before,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@After…được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gọi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Text </a:t>
            </a:r>
            <a:r>
              <a:rPr sz="2800" spc="-10" dirty="0">
                <a:latin typeface="Arial"/>
                <a:cs typeface="Arial"/>
              </a:rPr>
              <a:t>fixture</a:t>
            </a:r>
            <a:endParaRPr sz="2800">
              <a:latin typeface="Arial"/>
              <a:cs typeface="Arial"/>
            </a:endParaRPr>
          </a:p>
          <a:p>
            <a:pPr marL="355600" marR="142240" indent="-342900">
              <a:lnSpc>
                <a:spcPct val="100000"/>
              </a:lnSpc>
              <a:spcBef>
                <a:spcPts val="67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55" dirty="0">
                <a:latin typeface="Arial"/>
                <a:cs typeface="Arial"/>
              </a:rPr>
              <a:t>Text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fixture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quy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định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ngữ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cảnh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khi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chạy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case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khái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niệm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setup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teardown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06117" y="3674745"/>
            <a:ext cx="5920485" cy="264985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9032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1347" y="280415"/>
              <a:ext cx="108813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1447" y="280415"/>
              <a:ext cx="758951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2740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4200" y="280415"/>
              <a:ext cx="1865376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283210"/>
            <a:ext cx="8070850" cy="262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94580">
              <a:lnSpc>
                <a:spcPct val="100000"/>
              </a:lnSpc>
              <a:spcBef>
                <a:spcPts val="95"/>
              </a:spcBef>
            </a:pPr>
            <a:r>
              <a:rPr sz="2800" b="1" cap="small" spc="-135" dirty="0">
                <a:solidFill>
                  <a:srgbClr val="FF5A33"/>
                </a:solidFill>
                <a:latin typeface="Arial"/>
                <a:cs typeface="Arial"/>
              </a:rPr>
              <a:t>Setup</a:t>
            </a:r>
            <a:r>
              <a:rPr sz="2800" b="1" cap="small" spc="-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và</a:t>
            </a:r>
            <a:r>
              <a:rPr sz="2800" b="1" cap="small" spc="-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90" dirty="0">
                <a:solidFill>
                  <a:srgbClr val="FF5A33"/>
                </a:solidFill>
                <a:latin typeface="Arial"/>
                <a:cs typeface="Arial"/>
              </a:rPr>
              <a:t>Teardown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2413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  <a:tab pos="452755" algn="l"/>
              </a:tabLst>
            </a:pPr>
            <a:r>
              <a:rPr sz="2800" dirty="0">
                <a:solidFill>
                  <a:srgbClr val="FF5A33"/>
                </a:solidFill>
                <a:latin typeface="Arial"/>
                <a:cs typeface="Arial"/>
              </a:rPr>
              <a:t>	</a:t>
            </a:r>
            <a:r>
              <a:rPr sz="2800" spc="140" dirty="0">
                <a:latin typeface="Arial"/>
                <a:cs typeface="Arial"/>
              </a:rPr>
              <a:t>Một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cần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được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hoàn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trước </a:t>
            </a:r>
            <a:r>
              <a:rPr sz="2800" dirty="0">
                <a:latin typeface="Arial"/>
                <a:cs typeface="Arial"/>
              </a:rPr>
              <a:t>khi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chạy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case,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ví </a:t>
            </a:r>
            <a:r>
              <a:rPr sz="2800" dirty="0">
                <a:latin typeface="Arial"/>
                <a:cs typeface="Arial"/>
              </a:rPr>
              <a:t>dụ tạo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nối </a:t>
            </a:r>
            <a:r>
              <a:rPr sz="2800" spc="-20" dirty="0">
                <a:latin typeface="Arial"/>
                <a:cs typeface="Arial"/>
              </a:rPr>
              <a:t>csdl</a:t>
            </a:r>
            <a:endParaRPr sz="2800">
              <a:latin typeface="Arial"/>
              <a:cs typeface="Arial"/>
            </a:endParaRPr>
          </a:p>
          <a:p>
            <a:pPr marL="355600" marR="41783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140" dirty="0">
                <a:latin typeface="Arial"/>
                <a:cs typeface="Arial"/>
              </a:rPr>
              <a:t>Một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cần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được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hoàn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sau </a:t>
            </a:r>
            <a:r>
              <a:rPr sz="2800" dirty="0">
                <a:latin typeface="Arial"/>
                <a:cs typeface="Arial"/>
              </a:rPr>
              <a:t>khi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chạy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case,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ví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tắt</a:t>
            </a:r>
            <a:r>
              <a:rPr sz="2800" dirty="0">
                <a:latin typeface="Arial"/>
                <a:cs typeface="Arial"/>
              </a:rPr>
              <a:t> kết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nối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csdl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14600" y="3482009"/>
            <a:ext cx="4581525" cy="25908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535940" y="1090929"/>
            <a:ext cx="70459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Arial"/>
                <a:cs typeface="Arial"/>
              </a:rPr>
              <a:t>Cho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biết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tự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365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448" y="1533938"/>
            <a:ext cx="5514975" cy="5324058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535940" y="1002777"/>
            <a:ext cx="5427980" cy="31762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40" dirty="0">
                <a:latin typeface="Arial"/>
                <a:cs typeface="Arial"/>
              </a:rPr>
              <a:t>Thứ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tự</a:t>
            </a:r>
            <a:r>
              <a:rPr sz="2800" spc="-19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45" dirty="0">
                <a:latin typeface="Arial"/>
                <a:cs typeface="Arial"/>
              </a:rPr>
              <a:t>thi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10" dirty="0">
                <a:latin typeface="Arial"/>
                <a:cs typeface="Arial"/>
              </a:rPr>
              <a:t>createOutputFile()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10" dirty="0">
                <a:latin typeface="Arial"/>
                <a:cs typeface="Arial"/>
              </a:rPr>
              <a:t>testFile1()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10" dirty="0">
                <a:latin typeface="Arial"/>
                <a:cs typeface="Arial"/>
              </a:rPr>
              <a:t>deleteOutputFile()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10" dirty="0">
                <a:latin typeface="Arial"/>
                <a:cs typeface="Arial"/>
              </a:rPr>
              <a:t>createOutputFile()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10" dirty="0">
                <a:latin typeface="Arial"/>
                <a:cs typeface="Arial"/>
              </a:rPr>
              <a:t>testFile2()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10" dirty="0">
                <a:latin typeface="Arial"/>
                <a:cs typeface="Arial"/>
              </a:rPr>
              <a:t>deleteOutputFile()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4680" y="4819637"/>
            <a:ext cx="5984787" cy="614070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9032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1347" y="280415"/>
              <a:ext cx="108813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1447" y="280415"/>
              <a:ext cx="758951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2740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4200" y="280415"/>
              <a:ext cx="1865376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283210"/>
            <a:ext cx="8070850" cy="5784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94580">
              <a:lnSpc>
                <a:spcPct val="100000"/>
              </a:lnSpc>
              <a:spcBef>
                <a:spcPts val="95"/>
              </a:spcBef>
            </a:pPr>
            <a:r>
              <a:rPr sz="2800" b="1" cap="small" spc="-135" dirty="0">
                <a:solidFill>
                  <a:srgbClr val="FF5A33"/>
                </a:solidFill>
                <a:latin typeface="Arial"/>
                <a:cs typeface="Arial"/>
              </a:rPr>
              <a:t>Setup</a:t>
            </a:r>
            <a:r>
              <a:rPr sz="2800" b="1" cap="small" spc="-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và</a:t>
            </a:r>
            <a:r>
              <a:rPr sz="2800" b="1" cap="small" spc="-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90" dirty="0">
                <a:solidFill>
                  <a:srgbClr val="FF5A33"/>
                </a:solidFill>
                <a:latin typeface="Arial"/>
                <a:cs typeface="Arial"/>
              </a:rPr>
              <a:t>Teardown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80" dirty="0">
                <a:latin typeface="Arial"/>
                <a:cs typeface="Arial"/>
              </a:rPr>
              <a:t>@Before: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Phương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được </a:t>
            </a:r>
            <a:r>
              <a:rPr sz="2800" dirty="0">
                <a:latin typeface="Arial"/>
                <a:cs typeface="Arial"/>
              </a:rPr>
              <a:t>đánh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dấu</a:t>
            </a:r>
            <a:endParaRPr sz="2800">
              <a:latin typeface="Arial"/>
              <a:cs typeface="Arial"/>
            </a:endParaRPr>
          </a:p>
          <a:p>
            <a:pPr marL="355600" marR="109982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Arial"/>
                <a:cs typeface="Arial"/>
              </a:rPr>
              <a:t>annotation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này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sẽ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được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trước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30" dirty="0">
                <a:latin typeface="Arial"/>
                <a:cs typeface="Arial"/>
              </a:rPr>
              <a:t>mỗi </a:t>
            </a:r>
            <a:r>
              <a:rPr sz="2800" dirty="0">
                <a:latin typeface="Arial"/>
                <a:cs typeface="Arial"/>
              </a:rPr>
              <a:t>phương</a:t>
            </a:r>
            <a:r>
              <a:rPr sz="2800" spc="-1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1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test.</a:t>
            </a:r>
            <a:endParaRPr sz="2800">
              <a:latin typeface="Arial"/>
              <a:cs typeface="Arial"/>
            </a:endParaRPr>
          </a:p>
          <a:p>
            <a:pPr marL="355600" marR="102235" indent="-342900">
              <a:lnSpc>
                <a:spcPct val="100000"/>
              </a:lnSpc>
              <a:spcBef>
                <a:spcPts val="67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@After: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Phương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được </a:t>
            </a:r>
            <a:r>
              <a:rPr sz="2800" dirty="0">
                <a:latin typeface="Arial"/>
                <a:cs typeface="Arial"/>
              </a:rPr>
              <a:t>đánh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dấu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annotation này</a:t>
            </a:r>
            <a:r>
              <a:rPr sz="2800" spc="-180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sẽ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được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sau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mỗi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test.</a:t>
            </a:r>
            <a:endParaRPr sz="2800">
              <a:latin typeface="Arial"/>
              <a:cs typeface="Arial"/>
            </a:endParaRPr>
          </a:p>
          <a:p>
            <a:pPr marL="355600" marR="89535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20" dirty="0">
                <a:latin typeface="Arial"/>
                <a:cs typeface="Arial"/>
              </a:rPr>
              <a:t>@BeforeClass: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Phương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được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đánh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dấu </a:t>
            </a:r>
            <a:r>
              <a:rPr sz="2800" dirty="0">
                <a:latin typeface="Arial"/>
                <a:cs typeface="Arial"/>
              </a:rPr>
              <a:t>annotation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này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sẽ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trước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tất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cả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các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test.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90" dirty="0">
                <a:latin typeface="Arial"/>
                <a:cs typeface="Arial"/>
              </a:rPr>
              <a:t>@AfterClass: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Phương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được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đánh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dấu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với</a:t>
            </a:r>
            <a:endParaRPr sz="2800">
              <a:latin typeface="Arial"/>
              <a:cs typeface="Arial"/>
            </a:endParaRPr>
          </a:p>
          <a:p>
            <a:pPr marL="355600" marR="156845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annotation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này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sẽ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được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ngay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sau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35" dirty="0">
                <a:latin typeface="Arial"/>
                <a:cs typeface="Arial"/>
              </a:rPr>
              <a:t>tất </a:t>
            </a:r>
            <a:r>
              <a:rPr sz="2800" spc="-95" dirty="0">
                <a:latin typeface="Arial"/>
                <a:cs typeface="Arial"/>
              </a:rPr>
              <a:t>cả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đều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được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hiện.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cap="small" spc="-135" dirty="0"/>
              <a:t>Setup</a:t>
            </a:r>
            <a:r>
              <a:rPr cap="small" spc="-25" dirty="0"/>
              <a:t> </a:t>
            </a:r>
            <a:r>
              <a:rPr cap="small" dirty="0"/>
              <a:t>và</a:t>
            </a:r>
            <a:r>
              <a:rPr cap="small" spc="-25" dirty="0"/>
              <a:t> </a:t>
            </a:r>
            <a:r>
              <a:rPr cap="small" spc="-90" dirty="0"/>
              <a:t>Teardown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7339" y="1524000"/>
            <a:ext cx="5148072" cy="43116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7464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4664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4159" y="190500"/>
              <a:ext cx="6781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5620" y="280415"/>
              <a:ext cx="864107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97495" y="190500"/>
              <a:ext cx="669035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39811" y="280415"/>
              <a:ext cx="1159763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1005">
              <a:lnSpc>
                <a:spcPct val="100000"/>
              </a:lnSpc>
              <a:spcBef>
                <a:spcPts val="95"/>
              </a:spcBef>
            </a:pPr>
            <a:r>
              <a:rPr cap="small" dirty="0"/>
              <a:t>JUnit</a:t>
            </a:r>
            <a:r>
              <a:rPr cap="small" spc="-30" dirty="0"/>
              <a:t> </a:t>
            </a:r>
            <a:r>
              <a:rPr cap="small" spc="-145" dirty="0"/>
              <a:t>Test</a:t>
            </a:r>
            <a:r>
              <a:rPr cap="small" spc="-10" dirty="0"/>
              <a:t> </a:t>
            </a:r>
            <a:r>
              <a:rPr cap="small" spc="-204" dirty="0"/>
              <a:t>Suites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7566025" cy="2637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suites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phép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gom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chạy </a:t>
            </a:r>
            <a:r>
              <a:rPr sz="2800" dirty="0">
                <a:latin typeface="Arial"/>
                <a:cs typeface="Arial"/>
              </a:rPr>
              <a:t>cùng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lúc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nhiều </a:t>
            </a:r>
            <a:r>
              <a:rPr sz="2800" dirty="0">
                <a:latin typeface="Arial"/>
                <a:cs typeface="Arial"/>
              </a:rPr>
              <a:t>test </a:t>
            </a:r>
            <a:r>
              <a:rPr sz="2800" spc="-150" dirty="0">
                <a:latin typeface="Arial"/>
                <a:cs typeface="Arial"/>
              </a:rPr>
              <a:t>case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trình </a:t>
            </a:r>
            <a:r>
              <a:rPr sz="2800" spc="-25" dirty="0">
                <a:latin typeface="Arial"/>
                <a:cs typeface="Arial"/>
              </a:rPr>
              <a:t>tự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Arial"/>
                <a:cs typeface="Arial"/>
              </a:rPr>
              <a:t>Để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suites,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cần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dùng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class: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5" dirty="0">
                <a:latin typeface="Arial"/>
                <a:cs typeface="Arial"/>
              </a:rPr>
              <a:t>@Runwith(Suite.class)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95" dirty="0">
                <a:latin typeface="Arial"/>
                <a:cs typeface="Arial"/>
              </a:rPr>
              <a:t>@SuiteClasses(test1.class,test2.class……)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spc="-80" dirty="0">
                <a:latin typeface="Arial"/>
                <a:cs typeface="Arial"/>
                <a:hlinkClick r:id="rId8"/>
              </a:rPr>
              <a:t>or@Suite.SuiteClasses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({test1.class,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test2.class……})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35098" y="3731895"/>
            <a:ext cx="4489958" cy="31261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7820" y="190500"/>
              <a:ext cx="627888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8988" y="280415"/>
              <a:ext cx="107289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4223" y="190500"/>
              <a:ext cx="6781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5684" y="280415"/>
              <a:ext cx="864107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6035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0356" y="280415"/>
              <a:ext cx="1379220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-27330" y="283210"/>
            <a:ext cx="8635365" cy="305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66740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r>
              <a:rPr sz="2800" b="1" cap="small" spc="-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55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30" dirty="0">
                <a:solidFill>
                  <a:srgbClr val="FF5A33"/>
                </a:solidFill>
                <a:latin typeface="Arial"/>
                <a:cs typeface="Arial"/>
              </a:rPr>
              <a:t>Runner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12065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Junit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cung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cấp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công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cụ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case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Junit </a:t>
            </a: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Runner</a:t>
            </a:r>
            <a:endParaRPr sz="2800">
              <a:latin typeface="Arial"/>
              <a:cs typeface="Arial"/>
            </a:endParaRPr>
          </a:p>
          <a:p>
            <a:pPr marL="355600" marR="7937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40" dirty="0">
                <a:latin typeface="Arial"/>
                <a:cs typeface="Arial"/>
              </a:rPr>
              <a:t>Cần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235" dirty="0">
                <a:latin typeface="Arial"/>
                <a:cs typeface="Arial"/>
              </a:rPr>
              <a:t>sử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thư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viện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org.JUnit.runner.JUnitCore, </a:t>
            </a:r>
            <a:r>
              <a:rPr sz="2800" spc="-30" dirty="0">
                <a:latin typeface="Arial"/>
                <a:cs typeface="Arial"/>
              </a:rPr>
              <a:t>org.JUnit.runner.Result, </a:t>
            </a:r>
            <a:r>
              <a:rPr sz="2800" spc="-10" dirty="0">
                <a:latin typeface="Arial"/>
                <a:cs typeface="Arial"/>
              </a:rPr>
              <a:t>org.JUnit.runner.notification.Failure;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76600" y="3276600"/>
            <a:ext cx="4343400" cy="32004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7820" y="190500"/>
              <a:ext cx="627888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8988" y="280415"/>
              <a:ext cx="107289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4223" y="190500"/>
              <a:ext cx="6781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5684" y="280415"/>
              <a:ext cx="864107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6035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0356" y="280415"/>
              <a:ext cx="1379220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181457" y="1002777"/>
            <a:ext cx="5735320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85" dirty="0">
                <a:latin typeface="Arial"/>
                <a:cs typeface="Arial"/>
              </a:rPr>
              <a:t>Tạo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Runner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60" dirty="0">
                <a:latin typeface="Arial"/>
                <a:cs typeface="Arial"/>
              </a:rPr>
              <a:t>Tạo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MyFirstClassTest.java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8800" y="1991296"/>
            <a:ext cx="5486400" cy="44049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7820" y="190500"/>
              <a:ext cx="627888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8988" y="280415"/>
              <a:ext cx="107289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4223" y="190500"/>
              <a:ext cx="6781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5684" y="280415"/>
              <a:ext cx="864107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6035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0356" y="280415"/>
              <a:ext cx="1379220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181457" y="1002777"/>
            <a:ext cx="834834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85" dirty="0">
                <a:latin typeface="Arial"/>
                <a:cs typeface="Arial"/>
              </a:rPr>
              <a:t>Tạo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Runner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60" dirty="0">
                <a:latin typeface="Arial"/>
                <a:cs typeface="Arial"/>
              </a:rPr>
              <a:t>Tạo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runner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thi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case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TestRunner.java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2714" y="2023870"/>
            <a:ext cx="6903084" cy="48341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7820" y="190500"/>
              <a:ext cx="627888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8988" y="280415"/>
              <a:ext cx="107289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4223" y="190500"/>
              <a:ext cx="6781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5684" y="280415"/>
              <a:ext cx="864107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6035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0356" y="280415"/>
              <a:ext cx="1379220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181457" y="1002777"/>
            <a:ext cx="7898765" cy="13474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85" dirty="0">
                <a:latin typeface="Arial"/>
                <a:cs typeface="Arial"/>
              </a:rPr>
              <a:t>Tạo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Runner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Kết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35" dirty="0">
                <a:latin typeface="Arial"/>
                <a:cs typeface="Arial"/>
              </a:rPr>
              <a:t> chạy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case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công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sẽ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thông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báo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màu 	</a:t>
            </a:r>
            <a:r>
              <a:rPr sz="2400" spc="-45" dirty="0">
                <a:latin typeface="Arial"/>
                <a:cs typeface="Arial"/>
              </a:rPr>
              <a:t>xanh,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50" dirty="0">
                <a:latin typeface="Arial"/>
                <a:cs typeface="Arial"/>
              </a:rPr>
              <a:t>thất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bại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màu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40" dirty="0">
                <a:latin typeface="Arial"/>
                <a:cs typeface="Arial"/>
              </a:rPr>
              <a:t>đỏ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66236" y="2743200"/>
            <a:ext cx="5580946" cy="2324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/>
          <p:nvPr/>
        </p:nvSpPr>
        <p:spPr>
          <a:xfrm>
            <a:off x="4194175" y="4077327"/>
            <a:ext cx="3994785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40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</a:t>
            </a:r>
            <a:r>
              <a:rPr sz="2200" b="1" cap="small" spc="8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4:</a:t>
            </a:r>
            <a:r>
              <a:rPr sz="2200" b="1" cap="small" spc="-4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2200" b="1" cap="small" spc="6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2200" b="1" cap="small" spc="7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đơn</a:t>
            </a:r>
            <a:r>
              <a:rPr sz="2200" b="1" cap="small" spc="6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vị</a:t>
            </a:r>
            <a:r>
              <a:rPr sz="2200" b="1" cap="small" spc="6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20" dirty="0">
                <a:solidFill>
                  <a:srgbClr val="FF5A33"/>
                </a:solidFill>
                <a:latin typeface="Arial"/>
                <a:cs typeface="Arial"/>
              </a:rPr>
              <a:t>(P2)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2184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9384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879" y="190500"/>
              <a:ext cx="719327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1488" y="280415"/>
              <a:ext cx="2228088" cy="64007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0640" y="283210"/>
            <a:ext cx="8566785" cy="262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2905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80" dirty="0">
                <a:solidFill>
                  <a:srgbClr val="FF5A33"/>
                </a:solidFill>
                <a:latin typeface="Arial"/>
                <a:cs typeface="Arial"/>
              </a:rPr>
              <a:t>Annotations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39624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Junit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Annotations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dạng</a:t>
            </a:r>
            <a:r>
              <a:rPr sz="2800" spc="-10" dirty="0">
                <a:latin typeface="Arial"/>
                <a:cs typeface="Arial"/>
              </a:rPr>
              <a:t> đặc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biệt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được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thêm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vào </a:t>
            </a:r>
            <a:r>
              <a:rPr sz="2800" dirty="0">
                <a:latin typeface="Arial"/>
                <a:cs typeface="Arial"/>
              </a:rPr>
              <a:t>code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java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cấu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trúc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rõ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hơn</a:t>
            </a:r>
            <a:endParaRPr sz="2800">
              <a:latin typeface="Arial"/>
              <a:cs typeface="Arial"/>
            </a:endParaRPr>
          </a:p>
          <a:p>
            <a:pPr marL="355600" marR="7429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95" dirty="0">
                <a:latin typeface="Arial"/>
                <a:cs typeface="Arial"/>
              </a:rPr>
              <a:t>Variables,</a:t>
            </a:r>
            <a:r>
              <a:rPr sz="2800" spc="-40" dirty="0">
                <a:latin typeface="Arial"/>
                <a:cs typeface="Arial"/>
              </a:rPr>
              <a:t> parameters, </a:t>
            </a:r>
            <a:r>
              <a:rPr sz="2800" spc="-95" dirty="0">
                <a:latin typeface="Arial"/>
                <a:cs typeface="Arial"/>
              </a:rPr>
              <a:t>packages,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methods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classes </a:t>
            </a:r>
            <a:r>
              <a:rPr sz="2800" dirty="0">
                <a:latin typeface="Arial"/>
                <a:cs typeface="Arial"/>
              </a:rPr>
              <a:t>đều có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 dung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với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annotation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16683" y="2870200"/>
            <a:ext cx="5310632" cy="348615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2184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9384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879" y="190500"/>
              <a:ext cx="719327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1488" y="280415"/>
              <a:ext cx="2228088" cy="64007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5"/>
              </a:spcBef>
            </a:pPr>
            <a:r>
              <a:rPr cap="small" dirty="0"/>
              <a:t>JUnit</a:t>
            </a:r>
            <a:r>
              <a:rPr cap="small" spc="-35" dirty="0"/>
              <a:t> </a:t>
            </a:r>
            <a:r>
              <a:rPr cap="small" spc="-80" dirty="0"/>
              <a:t>Annotations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0640" y="1002777"/>
            <a:ext cx="6500495" cy="27374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85" dirty="0">
                <a:latin typeface="Arial"/>
                <a:cs typeface="Arial"/>
              </a:rPr>
              <a:t>Các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class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hữu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ích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việc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viết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case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0" dirty="0">
                <a:latin typeface="Arial"/>
                <a:cs typeface="Arial"/>
              </a:rPr>
              <a:t>JUnit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Assert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0" dirty="0">
                <a:latin typeface="Arial"/>
                <a:cs typeface="Arial"/>
              </a:rPr>
              <a:t>JUnit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Test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Cases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0" dirty="0">
                <a:latin typeface="Arial"/>
                <a:cs typeface="Arial"/>
              </a:rPr>
              <a:t>JUnit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TestResult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25" dirty="0">
                <a:latin typeface="Arial"/>
                <a:cs typeface="Arial"/>
              </a:rPr>
              <a:t>JUnit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Test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Suite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0" dirty="0">
                <a:latin typeface="Arial"/>
                <a:cs typeface="Arial"/>
              </a:rPr>
              <a:t>JUnit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Annotations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33800" y="2263775"/>
            <a:ext cx="4367530" cy="37877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2184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9384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879" y="190500"/>
              <a:ext cx="719327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1488" y="280415"/>
              <a:ext cx="2228088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0640" y="1090929"/>
            <a:ext cx="3098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JUnit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Assert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23937" y="1735073"/>
            <a:ext cx="7086600" cy="4742180"/>
            <a:chOff x="1023937" y="1735073"/>
            <a:chExt cx="7086600" cy="474218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2512" y="1735073"/>
              <a:ext cx="7058025" cy="25336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3937" y="4267428"/>
              <a:ext cx="7067550" cy="2209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2184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9384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879" y="190500"/>
              <a:ext cx="719327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1488" y="280415"/>
              <a:ext cx="2228088" cy="64007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0640" y="1090929"/>
            <a:ext cx="37198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JUnit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Test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210" dirty="0">
                <a:latin typeface="Arial"/>
                <a:cs typeface="Arial"/>
              </a:rPr>
              <a:t>Cases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2987" y="1513916"/>
            <a:ext cx="7058025" cy="4905375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2184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9384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879" y="190500"/>
              <a:ext cx="719327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1488" y="280415"/>
              <a:ext cx="2228088" cy="64007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0640" y="1090929"/>
            <a:ext cx="36836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5" dirty="0">
                <a:latin typeface="Arial"/>
                <a:cs typeface="Arial"/>
              </a:rPr>
              <a:t>JUnit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TestResult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1087" y="1484798"/>
            <a:ext cx="7233411" cy="5249926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2184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9384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879" y="190500"/>
              <a:ext cx="719327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1488" y="280415"/>
              <a:ext cx="2228088" cy="64007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0640" y="1090929"/>
            <a:ext cx="3612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JUnit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Test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Suite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6988" y="1509775"/>
            <a:ext cx="7294499" cy="5211699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2184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9384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879" y="190500"/>
              <a:ext cx="719327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1488" y="280415"/>
              <a:ext cx="2228088" cy="64007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0640" y="1090929"/>
            <a:ext cx="3150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JUnit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Annotations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3462" y="1736725"/>
            <a:ext cx="7058025" cy="4438650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2184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9384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879" y="190500"/>
              <a:ext cx="719327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1488" y="280415"/>
              <a:ext cx="2228088" cy="64007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0640" y="1090929"/>
            <a:ext cx="3150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JUnit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Annotations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3671" y="1563706"/>
            <a:ext cx="7482078" cy="5285613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5900" y="520700"/>
            <a:ext cx="8470900" cy="5346700"/>
            <a:chOff x="215900" y="520700"/>
            <a:chExt cx="8470900" cy="5346700"/>
          </a:xfrm>
        </p:grpSpPr>
        <p:sp>
          <p:nvSpPr>
            <p:cNvPr id="3" name="object 3"/>
            <p:cNvSpPr/>
            <p:nvPr/>
          </p:nvSpPr>
          <p:spPr>
            <a:xfrm>
              <a:off x="228600" y="1023619"/>
              <a:ext cx="8458200" cy="4843780"/>
            </a:xfrm>
            <a:custGeom>
              <a:avLst/>
              <a:gdLst/>
              <a:ahLst/>
              <a:cxnLst/>
              <a:rect l="l" t="t" r="r" b="b"/>
              <a:pathLst>
                <a:path w="8458200" h="4843780">
                  <a:moveTo>
                    <a:pt x="8458200" y="0"/>
                  </a:moveTo>
                  <a:lnTo>
                    <a:pt x="0" y="0"/>
                  </a:lnTo>
                  <a:lnTo>
                    <a:pt x="0" y="4843780"/>
                  </a:lnTo>
                  <a:lnTo>
                    <a:pt x="8458200" y="484378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4833620" y="0"/>
                  </a:moveTo>
                  <a:lnTo>
                    <a:pt x="0" y="0"/>
                  </a:lnTo>
                  <a:lnTo>
                    <a:pt x="0" y="1000760"/>
                  </a:lnTo>
                  <a:lnTo>
                    <a:pt x="4833620" y="1000760"/>
                  </a:lnTo>
                  <a:lnTo>
                    <a:pt x="5334000" y="500379"/>
                  </a:lnTo>
                  <a:lnTo>
                    <a:pt x="4833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0" y="0"/>
                  </a:moveTo>
                  <a:lnTo>
                    <a:pt x="4833620" y="0"/>
                  </a:lnTo>
                  <a:lnTo>
                    <a:pt x="5334000" y="500379"/>
                  </a:lnTo>
                  <a:lnTo>
                    <a:pt x="483362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2503" y="829132"/>
            <a:ext cx="2822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79546"/>
                </a:solidFill>
              </a:rPr>
              <a:t>Tổng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dirty="0">
                <a:solidFill>
                  <a:srgbClr val="F79546"/>
                </a:solidFill>
              </a:rPr>
              <a:t>kết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dirty="0">
                <a:solidFill>
                  <a:srgbClr val="F79546"/>
                </a:solidFill>
              </a:rPr>
              <a:t>bài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spc="-25" dirty="0">
                <a:solidFill>
                  <a:srgbClr val="F79546"/>
                </a:solidFill>
              </a:rPr>
              <a:t>học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628650" y="1825625"/>
            <a:ext cx="7886700" cy="279243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JUnit Test framework</a:t>
            </a: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trúc, tổ chức jnunit framework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fixture, Setup và Teardown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JUnit Annotations &amp; API</a:t>
            </a: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 hỗ trợ junit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API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595</Words>
  <Application>Microsoft Office PowerPoint</Application>
  <PresentationFormat>On-screen Show (4:3)</PresentationFormat>
  <Paragraphs>133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Setup và Teardown</vt:lpstr>
      <vt:lpstr>JUnit Test Suites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JUnit Annotations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Tổng kết bài học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3</cp:revision>
  <dcterms:created xsi:type="dcterms:W3CDTF">2024-03-08T02:47:51Z</dcterms:created>
  <dcterms:modified xsi:type="dcterms:W3CDTF">2024-11-03T02:39:23Z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2018-08-10T00:00:00Z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2024-03-08T00:00:00Z</vt:filetime>
  </property>
  <property fmtid="{D5CDD505-2E9C-101B-9397-08002B2CF9AE}" pid="5" name="Producer">
    <vt:lpwstr>3-Heights(TM) PDF Security Shell 4.8.25.2 (http://www.pdf-tools.com)</vt:lpwstr>
  </property>
</Properties>
</file>