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7" r:id="rId21"/>
    <p:sldId id="278" r:id="rId22"/>
    <p:sldId id="279" r:id="rId2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19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838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04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35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73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105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7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1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99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17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7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74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/>
          <p:nvPr/>
        </p:nvSpPr>
        <p:spPr>
          <a:xfrm>
            <a:off x="4194175" y="4077327"/>
            <a:ext cx="3994785" cy="10356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Kiểm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thử</a:t>
            </a:r>
            <a:r>
              <a:rPr sz="3600" b="1" cap="small" spc="3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nâng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spc="-240" dirty="0">
                <a:solidFill>
                  <a:srgbClr val="FF5A33"/>
                </a:solidFill>
                <a:latin typeface="Arial"/>
                <a:cs typeface="Arial"/>
              </a:rPr>
              <a:t>cao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Bài</a:t>
            </a:r>
            <a:r>
              <a:rPr sz="2200" b="1" cap="small" spc="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8:</a:t>
            </a:r>
            <a:r>
              <a:rPr sz="2200" b="1" cap="small" spc="-100" dirty="0">
                <a:solidFill>
                  <a:srgbClr val="FF5A33"/>
                </a:solidFill>
                <a:latin typeface="Arial"/>
                <a:cs typeface="Arial"/>
              </a:rPr>
              <a:t> Test</a:t>
            </a:r>
            <a:r>
              <a:rPr sz="2200" b="1" cap="small" spc="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Next</a:t>
            </a:r>
            <a:r>
              <a:rPr sz="2200" b="1" cap="small" spc="-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10" dirty="0">
                <a:solidFill>
                  <a:srgbClr val="FF5A33"/>
                </a:solidFill>
                <a:latin typeface="Arial"/>
                <a:cs typeface="Arial"/>
              </a:rPr>
              <a:t>Generation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57200" y="8382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381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934200" y="190500"/>
            <a:ext cx="1865630" cy="789940"/>
            <a:chOff x="6934200" y="190500"/>
            <a:chExt cx="1865630" cy="7899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4200" y="190500"/>
              <a:ext cx="809244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6724" y="280415"/>
              <a:ext cx="768096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99832" y="280415"/>
              <a:ext cx="999744" cy="64007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35940" y="991257"/>
            <a:ext cx="3122930" cy="10502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FF5A33"/>
              </a:buClr>
              <a:buFont typeface="Wingdings"/>
              <a:buChar char=""/>
              <a:tabLst>
                <a:tab pos="35496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Annotations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"/>
              <a:tabLst>
                <a:tab pos="354965" algn="l"/>
              </a:tabLst>
            </a:pP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driven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57200" y="8382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381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842759" y="190500"/>
            <a:ext cx="1957070" cy="789940"/>
            <a:chOff x="6842759" y="190500"/>
            <a:chExt cx="1957070" cy="7899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2759" y="190500"/>
              <a:ext cx="749807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5847" y="280415"/>
              <a:ext cx="690372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1231" y="280415"/>
              <a:ext cx="1228344" cy="64007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35940" y="987286"/>
            <a:ext cx="5716270" cy="281368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I: Annotations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05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loại annotation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hình annotation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II: Data-driven testing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05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Khái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niêm data-driven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Ứng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 annotation trong data-driven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83210"/>
            <a:ext cx="8071484" cy="2188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02785">
              <a:lnSpc>
                <a:spcPct val="100000"/>
              </a:lnSpc>
              <a:spcBef>
                <a:spcPts val="95"/>
              </a:spcBef>
            </a:pPr>
            <a:r>
              <a:rPr sz="2800" b="1" cap="small" spc="-114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2800" b="1" cap="small" spc="50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cap="small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2800" b="1" cap="small" spc="45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cap="small" spc="-80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Annotations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339090" indent="-342900">
              <a:lnSpc>
                <a:spcPts val="334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sz="28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chung 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sz="2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lớp,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thức, 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sz="28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2465400"/>
            <a:ext cx="6477000" cy="395058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9442" y="914400"/>
            <a:ext cx="8531860" cy="36012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02785">
              <a:lnSpc>
                <a:spcPct val="100000"/>
              </a:lnSpc>
              <a:spcBef>
                <a:spcPts val="95"/>
              </a:spcBef>
            </a:pPr>
            <a:r>
              <a:rPr sz="2800" b="1" cap="small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 dụng Annotations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419734" indent="-342900">
              <a:lnSpc>
                <a:spcPct val="1008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@BeforeTest : Test case sử dụng annotation này sẽ thực thi trước hết trong tất cả các test case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721360" indent="-342900">
              <a:lnSpc>
                <a:spcPct val="100000"/>
              </a:lnSpc>
              <a:spcBef>
                <a:spcPts val="650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@AfterTest: Test case sử dụng annotation này sẽ thực thi sau cùng trong tất cả các test case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600835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Xét ví dụ có 3 test case: launchBrowser, verifyHomepageTitle và terminateBrowser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35760">
              <a:lnSpc>
                <a:spcPct val="100000"/>
              </a:lnSpc>
              <a:spcBef>
                <a:spcPts val="95"/>
              </a:spcBef>
            </a:pPr>
            <a:r>
              <a:rPr sz="2800" cap="small" spc="-114" dirty="0"/>
              <a:t>Sử</a:t>
            </a:r>
            <a:r>
              <a:rPr sz="2800" cap="small" spc="50" dirty="0"/>
              <a:t> </a:t>
            </a:r>
            <a:r>
              <a:rPr sz="2800" cap="small" dirty="0"/>
              <a:t>dụng</a:t>
            </a:r>
            <a:r>
              <a:rPr sz="2800" cap="small" spc="45" dirty="0"/>
              <a:t> </a:t>
            </a:r>
            <a:r>
              <a:rPr sz="2800" cap="small" spc="-80" dirty="0"/>
              <a:t>Annotations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914399"/>
            <a:ext cx="8763000" cy="59435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sp>
          <p:nvSpPr>
            <p:cNvPr id="4" name="object 4"/>
            <p:cNvSpPr/>
            <p:nvPr/>
          </p:nvSpPr>
          <p:spPr>
            <a:xfrm>
              <a:off x="457200" y="838200"/>
              <a:ext cx="8229600" cy="0"/>
            </a:xfrm>
            <a:custGeom>
              <a:avLst/>
              <a:gdLst/>
              <a:ahLst/>
              <a:cxnLst/>
              <a:rect l="l" t="t" r="r" b="b"/>
              <a:pathLst>
                <a:path w="8229600">
                  <a:moveTo>
                    <a:pt x="0" y="0"/>
                  </a:moveTo>
                  <a:lnTo>
                    <a:pt x="8229600" y="0"/>
                  </a:lnTo>
                </a:path>
              </a:pathLst>
            </a:custGeom>
            <a:ln w="38100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7364" y="190500"/>
              <a:ext cx="669036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9679" y="280415"/>
              <a:ext cx="606551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81244" y="280415"/>
              <a:ext cx="1228344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78879" y="190500"/>
              <a:ext cx="719327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71488" y="280415"/>
              <a:ext cx="2228088" cy="640079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35940" y="1077213"/>
            <a:ext cx="779335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sz="2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sz="2800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launchBrowser()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verifyHomepageTitle()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terminateBrowser()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22806" y="2944720"/>
            <a:ext cx="6698360" cy="27998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82016"/>
            <a:ext cx="8071484" cy="338836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4502785">
              <a:lnSpc>
                <a:spcPct val="100000"/>
              </a:lnSpc>
              <a:spcBef>
                <a:spcPts val="890"/>
              </a:spcBef>
            </a:pPr>
            <a:r>
              <a:rPr sz="2800" b="1" cap="small" spc="-114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2800" b="1" cap="small" spc="50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cap="small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2800" b="1" cap="small" spc="45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cap="small" spc="-80" dirty="0">
                <a:solidFill>
                  <a:srgbClr val="FF5A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Annotations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45415" indent="-342900">
              <a:lnSpc>
                <a:spcPct val="100699"/>
              </a:lnSpc>
              <a:spcBef>
                <a:spcPts val="770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@BeforeMethod: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2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này </a:t>
            </a:r>
            <a:r>
              <a:rPr sz="2800" spc="-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sz="28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sz="28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sz="28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sz="28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32080" indent="-342900">
              <a:lnSpc>
                <a:spcPct val="100000"/>
              </a:lnSpc>
              <a:spcBef>
                <a:spcPts val="650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@AfterMethod: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sẽ 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sz="28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sz="28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sz="2800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4604" indent="-342900">
              <a:lnSpc>
                <a:spcPct val="100800"/>
              </a:lnSpc>
              <a:spcBef>
                <a:spcPts val="64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sz="28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sz="28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sz="28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sz="28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sau?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3532962"/>
            <a:ext cx="5334000" cy="168762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800" y="5196294"/>
            <a:ext cx="5257800" cy="4751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2007" y="5658396"/>
            <a:ext cx="5244592" cy="95744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sp>
          <p:nvSpPr>
            <p:cNvPr id="4" name="object 4"/>
            <p:cNvSpPr/>
            <p:nvPr/>
          </p:nvSpPr>
          <p:spPr>
            <a:xfrm>
              <a:off x="457200" y="838200"/>
              <a:ext cx="8229600" cy="0"/>
            </a:xfrm>
            <a:custGeom>
              <a:avLst/>
              <a:gdLst/>
              <a:ahLst/>
              <a:cxnLst/>
              <a:rect l="l" t="t" r="r" b="b"/>
              <a:pathLst>
                <a:path w="8229600">
                  <a:moveTo>
                    <a:pt x="0" y="0"/>
                  </a:moveTo>
                  <a:lnTo>
                    <a:pt x="8229600" y="0"/>
                  </a:lnTo>
                </a:path>
              </a:pathLst>
            </a:custGeom>
            <a:ln w="38100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7364" y="190500"/>
              <a:ext cx="669036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9679" y="280415"/>
              <a:ext cx="606551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81244" y="280415"/>
              <a:ext cx="1228344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78879" y="190500"/>
              <a:ext cx="719327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71488" y="280415"/>
              <a:ext cx="2228088" cy="640079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35940" y="1108963"/>
            <a:ext cx="54051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28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 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trên: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7551" y="2301559"/>
            <a:ext cx="6713448" cy="29562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/>
          <p:nvPr/>
        </p:nvSpPr>
        <p:spPr>
          <a:xfrm>
            <a:off x="4194175" y="4077327"/>
            <a:ext cx="4179570" cy="10356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Kiểm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thử</a:t>
            </a:r>
            <a:r>
              <a:rPr sz="3600" b="1" cap="small" spc="3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nâng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spc="-25" dirty="0">
                <a:solidFill>
                  <a:srgbClr val="FF5A33"/>
                </a:solidFill>
                <a:latin typeface="Arial"/>
                <a:cs typeface="Arial"/>
              </a:rPr>
              <a:t>cao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Bài 8:</a:t>
            </a:r>
            <a:r>
              <a:rPr sz="2200" b="1" cap="small" spc="-10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100" dirty="0">
                <a:solidFill>
                  <a:srgbClr val="FF5A33"/>
                </a:solidFill>
                <a:latin typeface="Arial"/>
                <a:cs typeface="Arial"/>
              </a:rPr>
              <a:t>Test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 Next</a:t>
            </a:r>
            <a:r>
              <a:rPr sz="2200" b="1" cap="small" spc="-1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50" dirty="0">
                <a:solidFill>
                  <a:srgbClr val="FF5A33"/>
                </a:solidFill>
                <a:latin typeface="Arial"/>
                <a:cs typeface="Arial"/>
              </a:rPr>
              <a:t>Generation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25" dirty="0">
                <a:solidFill>
                  <a:srgbClr val="FF5A33"/>
                </a:solidFill>
                <a:latin typeface="Arial"/>
                <a:cs typeface="Arial"/>
              </a:rPr>
              <a:t>(p2)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807" y="21077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8345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DATA</a:t>
            </a:r>
            <a:r>
              <a:rPr sz="2800" spc="-75" dirty="0"/>
              <a:t>-</a:t>
            </a:r>
            <a:r>
              <a:rPr spc="-10" dirty="0"/>
              <a:t>DRIVEN</a:t>
            </a:r>
            <a:r>
              <a:rPr spc="-45" dirty="0"/>
              <a:t> </a:t>
            </a:r>
            <a:r>
              <a:rPr spc="-65" dirty="0"/>
              <a:t>TESTING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08963"/>
            <a:ext cx="7984490" cy="2332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sz="2800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sz="2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sz="2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khác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nhau-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&gt;tách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rời</a:t>
            </a:r>
            <a:r>
              <a:rPr sz="2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sz="2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driven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758190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TestNG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sz="28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sz="2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TestNG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DataProvider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annotations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thể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tin,</a:t>
            </a:r>
            <a:r>
              <a:rPr sz="28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excel…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5594" y="3955371"/>
            <a:ext cx="6901184" cy="23893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130319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8345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DATA</a:t>
            </a:r>
            <a:r>
              <a:rPr sz="2800" spc="-75" dirty="0"/>
              <a:t>-</a:t>
            </a:r>
            <a:r>
              <a:rPr spc="-10" dirty="0"/>
              <a:t>DRIVEN</a:t>
            </a:r>
            <a:r>
              <a:rPr spc="-45" dirty="0"/>
              <a:t> </a:t>
            </a:r>
            <a:r>
              <a:rPr spc="-65" dirty="0"/>
              <a:t>TESTING</a:t>
            </a:r>
            <a:endParaRPr sz="28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19629"/>
            <a:ext cx="6099175" cy="267081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&lt;@Parameters&gt;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6385">
              <a:lnSpc>
                <a:spcPct val="100000"/>
              </a:lnSpc>
              <a:spcBef>
                <a:spcPts val="60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sz="2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sz="24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dữ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nhỏ,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ít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550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sz="2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580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4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sz="24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5065" lvl="2" indent="-227965">
              <a:lnSpc>
                <a:spcPct val="100000"/>
              </a:lnSpc>
              <a:spcBef>
                <a:spcPts val="509"/>
              </a:spcBef>
              <a:buClr>
                <a:srgbClr val="FF5A33"/>
              </a:buClr>
              <a:buFont typeface="Wingdings"/>
              <a:buChar char=""/>
              <a:tabLst>
                <a:tab pos="1155065" algn="l"/>
              </a:tabLst>
            </a:pP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sz="20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sz="20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@Parameters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0594" y="4822316"/>
            <a:ext cx="35852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"/>
              <a:tabLst>
                <a:tab pos="240665" algn="l"/>
              </a:tabLst>
            </a:pPr>
            <a:r>
              <a:rPr sz="2000" spc="-50" dirty="0">
                <a:latin typeface="Carlito"/>
                <a:cs typeface="Carlito"/>
              </a:rPr>
              <a:t>Test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case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spc="-100" dirty="0">
                <a:latin typeface="Arial"/>
                <a:cs typeface="Arial"/>
              </a:rPr>
              <a:t>nhận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Carlito"/>
                <a:cs typeface="Carlito"/>
              </a:rPr>
              <a:t>hai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@Parameters</a:t>
            </a:r>
            <a:endParaRPr sz="2000">
              <a:latin typeface="Carlito"/>
              <a:cs typeface="Carli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879596"/>
            <a:ext cx="7162800" cy="762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3675" y="5606209"/>
            <a:ext cx="7045924" cy="6275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8345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DATA</a:t>
            </a:r>
            <a:r>
              <a:rPr sz="2800" spc="-75" dirty="0"/>
              <a:t>-</a:t>
            </a:r>
            <a:r>
              <a:rPr spc="-10" dirty="0"/>
              <a:t>DRIVEN</a:t>
            </a:r>
            <a:r>
              <a:rPr spc="-45" dirty="0"/>
              <a:t> </a:t>
            </a:r>
            <a:r>
              <a:rPr spc="-65" dirty="0"/>
              <a:t>TESTING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603" y="1413875"/>
            <a:ext cx="43846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&lt;@Parameters&gt;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2105025"/>
            <a:ext cx="7696200" cy="42513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103247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8345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DATA</a:t>
            </a:r>
            <a:r>
              <a:rPr sz="2800" spc="-75" dirty="0"/>
              <a:t>-</a:t>
            </a:r>
            <a:r>
              <a:rPr spc="-10" dirty="0"/>
              <a:t>DRIVEN</a:t>
            </a:r>
            <a:r>
              <a:rPr spc="-45" dirty="0"/>
              <a:t> </a:t>
            </a:r>
            <a:r>
              <a:rPr spc="-65" dirty="0"/>
              <a:t>TESTING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19629"/>
            <a:ext cx="8028305" cy="135001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&lt;@Parameters&gt;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6385">
              <a:lnSpc>
                <a:spcPct val="100000"/>
              </a:lnSpc>
              <a:spcBef>
                <a:spcPts val="60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spc="-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sz="24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TestNG.xml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sz="24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sz="24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>
              <a:lnSpc>
                <a:spcPct val="100000"/>
              </a:lnSpc>
            </a:pP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675674"/>
            <a:ext cx="7673594" cy="31734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4850" y="9460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8345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DATA</a:t>
            </a:r>
            <a:r>
              <a:rPr sz="2800" spc="-75" dirty="0"/>
              <a:t>-</a:t>
            </a:r>
            <a:r>
              <a:rPr spc="-10" dirty="0"/>
              <a:t>DRIVEN</a:t>
            </a:r>
            <a:r>
              <a:rPr spc="-45" dirty="0"/>
              <a:t> </a:t>
            </a:r>
            <a:r>
              <a:rPr spc="-65" dirty="0"/>
              <a:t>TESTING</a:t>
            </a:r>
            <a:endParaRPr sz="28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08963"/>
            <a:ext cx="43846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&lt;@Parameters&gt;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851025"/>
            <a:ext cx="8229600" cy="24923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4448428"/>
            <a:ext cx="7315200" cy="24095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5160" y="0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8345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DATA</a:t>
            </a:r>
            <a:r>
              <a:rPr sz="2800" spc="-75" dirty="0"/>
              <a:t>-</a:t>
            </a:r>
            <a:r>
              <a:rPr spc="-10" dirty="0"/>
              <a:t>DRIVEN</a:t>
            </a:r>
            <a:r>
              <a:rPr spc="-45" dirty="0"/>
              <a:t> </a:t>
            </a:r>
            <a:r>
              <a:rPr spc="-65" dirty="0"/>
              <a:t>TESTING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835330"/>
            <a:ext cx="7995920" cy="303276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&lt;@Optional&gt;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60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parameter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015" marR="17145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giá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nếu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lúc 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truyền 	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580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sz="24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dụ: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OptionalTesting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sz="24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	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optionCheck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3886200"/>
            <a:ext cx="6410325" cy="297179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8345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DATA</a:t>
            </a:r>
            <a:r>
              <a:rPr sz="2800" spc="-75" dirty="0"/>
              <a:t>-</a:t>
            </a:r>
            <a:r>
              <a:rPr spc="-10" dirty="0"/>
              <a:t>DRIVEN</a:t>
            </a:r>
            <a:r>
              <a:rPr spc="-45" dirty="0"/>
              <a:t> </a:t>
            </a:r>
            <a:r>
              <a:rPr spc="-65" dirty="0"/>
              <a:t>TESTING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835330"/>
            <a:ext cx="7266940" cy="98361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&lt;@Optional&gt;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60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TestNG.xml,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sz="24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828800"/>
            <a:ext cx="8229600" cy="502919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152400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8345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DATA</a:t>
            </a:r>
            <a:r>
              <a:rPr sz="2800" spc="-75" dirty="0"/>
              <a:t>-</a:t>
            </a:r>
            <a:r>
              <a:rPr spc="-10" dirty="0"/>
              <a:t>DRIVEN</a:t>
            </a:r>
            <a:r>
              <a:rPr spc="-45" dirty="0"/>
              <a:t> </a:t>
            </a:r>
            <a:r>
              <a:rPr spc="-65" dirty="0"/>
              <a:t>TESTING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049414"/>
            <a:ext cx="7757795" cy="178879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&lt;@Optional&gt;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60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24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 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sz="24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giá 	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sz="24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nhận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2920454"/>
            <a:ext cx="6477000" cy="28583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8209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8345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DATA</a:t>
            </a:r>
            <a:r>
              <a:rPr sz="2800" spc="-75" dirty="0"/>
              <a:t>-</a:t>
            </a:r>
            <a:r>
              <a:rPr spc="-10" dirty="0"/>
              <a:t>DRIVEN</a:t>
            </a:r>
            <a:r>
              <a:rPr spc="-45" dirty="0"/>
              <a:t> </a:t>
            </a:r>
            <a:r>
              <a:rPr spc="-65" dirty="0"/>
              <a:t>TESTING</a:t>
            </a:r>
            <a:endParaRPr sz="28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19629"/>
            <a:ext cx="6731000" cy="142621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&lt;priority&gt;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6385">
              <a:lnSpc>
                <a:spcPct val="100000"/>
              </a:lnSpc>
              <a:spcBef>
                <a:spcPts val="60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sz="24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849" y="3042677"/>
            <a:ext cx="3501098" cy="23516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38625" y="3289028"/>
            <a:ext cx="4154640" cy="20998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21077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8345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DATA</a:t>
            </a:r>
            <a:r>
              <a:rPr sz="2800" spc="-75" dirty="0"/>
              <a:t>-</a:t>
            </a:r>
            <a:r>
              <a:rPr spc="-10" dirty="0"/>
              <a:t>DRIVEN</a:t>
            </a:r>
            <a:r>
              <a:rPr spc="-45" dirty="0"/>
              <a:t> </a:t>
            </a:r>
            <a:r>
              <a:rPr spc="-65" dirty="0"/>
              <a:t>TESTING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19629"/>
            <a:ext cx="7859395" cy="135001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&lt;priority&gt;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6385">
              <a:lnSpc>
                <a:spcPct val="100000"/>
              </a:lnSpc>
              <a:spcBef>
                <a:spcPts val="60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4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tự: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thành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công-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>
              <a:lnSpc>
                <a:spcPct val="100000"/>
              </a:lnSpc>
            </a:pPr>
            <a:r>
              <a:rPr sz="2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&gt;đăng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nhập-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gởi</a:t>
            </a:r>
            <a:r>
              <a:rPr sz="24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2362200"/>
            <a:ext cx="7162800" cy="44957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186368"/>
            <a:ext cx="78867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8345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DATA</a:t>
            </a:r>
            <a:r>
              <a:rPr sz="2800" spc="-75" dirty="0"/>
              <a:t>-</a:t>
            </a:r>
            <a:r>
              <a:rPr spc="-10" dirty="0"/>
              <a:t>DRIVEN</a:t>
            </a:r>
            <a:r>
              <a:rPr spc="-45" dirty="0"/>
              <a:t> </a:t>
            </a:r>
            <a:r>
              <a:rPr spc="-65" dirty="0"/>
              <a:t>TESTING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08963"/>
            <a:ext cx="34886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&lt;priority&gt;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6084" y="1752600"/>
            <a:ext cx="6777277" cy="436308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5900" y="520700"/>
            <a:ext cx="8470900" cy="5346700"/>
            <a:chOff x="215900" y="520700"/>
            <a:chExt cx="8470900" cy="5346700"/>
          </a:xfrm>
        </p:grpSpPr>
        <p:sp>
          <p:nvSpPr>
            <p:cNvPr id="3" name="object 3"/>
            <p:cNvSpPr/>
            <p:nvPr/>
          </p:nvSpPr>
          <p:spPr>
            <a:xfrm>
              <a:off x="228600" y="1023619"/>
              <a:ext cx="8458200" cy="4843780"/>
            </a:xfrm>
            <a:custGeom>
              <a:avLst/>
              <a:gdLst/>
              <a:ahLst/>
              <a:cxnLst/>
              <a:rect l="l" t="t" r="r" b="b"/>
              <a:pathLst>
                <a:path w="8458200" h="4843780">
                  <a:moveTo>
                    <a:pt x="8458200" y="0"/>
                  </a:moveTo>
                  <a:lnTo>
                    <a:pt x="0" y="0"/>
                  </a:lnTo>
                  <a:lnTo>
                    <a:pt x="0" y="4843780"/>
                  </a:lnTo>
                  <a:lnTo>
                    <a:pt x="8458200" y="4843780"/>
                  </a:lnTo>
                  <a:lnTo>
                    <a:pt x="84582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8600" y="533400"/>
              <a:ext cx="5334000" cy="1000760"/>
            </a:xfrm>
            <a:custGeom>
              <a:avLst/>
              <a:gdLst/>
              <a:ahLst/>
              <a:cxnLst/>
              <a:rect l="l" t="t" r="r" b="b"/>
              <a:pathLst>
                <a:path w="5334000" h="1000760">
                  <a:moveTo>
                    <a:pt x="4833620" y="0"/>
                  </a:moveTo>
                  <a:lnTo>
                    <a:pt x="0" y="0"/>
                  </a:lnTo>
                  <a:lnTo>
                    <a:pt x="0" y="1000760"/>
                  </a:lnTo>
                  <a:lnTo>
                    <a:pt x="4833620" y="1000760"/>
                  </a:lnTo>
                  <a:lnTo>
                    <a:pt x="5334000" y="500379"/>
                  </a:lnTo>
                  <a:lnTo>
                    <a:pt x="48336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600" y="533400"/>
              <a:ext cx="5334000" cy="1000760"/>
            </a:xfrm>
            <a:custGeom>
              <a:avLst/>
              <a:gdLst/>
              <a:ahLst/>
              <a:cxnLst/>
              <a:rect l="l" t="t" r="r" b="b"/>
              <a:pathLst>
                <a:path w="5334000" h="1000760">
                  <a:moveTo>
                    <a:pt x="0" y="0"/>
                  </a:moveTo>
                  <a:lnTo>
                    <a:pt x="4833620" y="0"/>
                  </a:lnTo>
                  <a:lnTo>
                    <a:pt x="5334000" y="500379"/>
                  </a:lnTo>
                  <a:lnTo>
                    <a:pt x="4833620" y="1000760"/>
                  </a:lnTo>
                  <a:lnTo>
                    <a:pt x="0" y="100076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2503" y="829132"/>
            <a:ext cx="2822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79546"/>
                </a:solidFill>
              </a:rPr>
              <a:t>Tổng</a:t>
            </a:r>
            <a:r>
              <a:rPr sz="2800" spc="-50" dirty="0">
                <a:solidFill>
                  <a:srgbClr val="F79546"/>
                </a:solidFill>
              </a:rPr>
              <a:t> </a:t>
            </a:r>
            <a:r>
              <a:rPr sz="2800" dirty="0">
                <a:solidFill>
                  <a:srgbClr val="F79546"/>
                </a:solidFill>
              </a:rPr>
              <a:t>kết</a:t>
            </a:r>
            <a:r>
              <a:rPr sz="2800" spc="-50" dirty="0">
                <a:solidFill>
                  <a:srgbClr val="F79546"/>
                </a:solidFill>
              </a:rPr>
              <a:t> </a:t>
            </a:r>
            <a:r>
              <a:rPr sz="2800" dirty="0">
                <a:solidFill>
                  <a:srgbClr val="F79546"/>
                </a:solidFill>
              </a:rPr>
              <a:t>bài</a:t>
            </a:r>
            <a:r>
              <a:rPr sz="2800" spc="-50" dirty="0">
                <a:solidFill>
                  <a:srgbClr val="F79546"/>
                </a:solidFill>
              </a:rPr>
              <a:t> </a:t>
            </a:r>
            <a:r>
              <a:rPr sz="2800" spc="-25" dirty="0">
                <a:solidFill>
                  <a:srgbClr val="F79546"/>
                </a:solidFill>
              </a:rPr>
              <a:t>học</a:t>
            </a:r>
            <a:endParaRPr sz="2800"/>
          </a:p>
        </p:txBody>
      </p:sp>
      <p:sp>
        <p:nvSpPr>
          <p:cNvPr id="8" name="object 8"/>
          <p:cNvSpPr txBox="1">
            <a:spLocks noGrp="1"/>
          </p:cNvSpPr>
          <p:nvPr>
            <p:ph idx="1"/>
          </p:nvPr>
        </p:nvSpPr>
        <p:spPr>
          <a:xfrm>
            <a:off x="628650" y="1825625"/>
            <a:ext cx="7886700" cy="279243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0" marR="2830830" indent="0">
              <a:lnSpc>
                <a:spcPct val="100000"/>
              </a:lnSpc>
              <a:spcBef>
                <a:spcPts val="894"/>
              </a:spcBef>
              <a:buNone/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I: Annotations</a:t>
            </a:r>
          </a:p>
          <a:p>
            <a:pPr marL="0" marR="2903220" indent="0">
              <a:lnSpc>
                <a:spcPct val="100000"/>
              </a:lnSpc>
              <a:spcBef>
                <a:spcPts val="690"/>
              </a:spcBef>
              <a:buNone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loại annotation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2744470" indent="0">
              <a:lnSpc>
                <a:spcPct val="100000"/>
              </a:lnSpc>
              <a:spcBef>
                <a:spcPts val="670"/>
              </a:spcBef>
              <a:buNone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hình annotation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755"/>
              </a:spcBef>
              <a:buNone/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II: Data-driven testing</a:t>
            </a:r>
          </a:p>
          <a:p>
            <a:pPr marL="298450" indent="0">
              <a:lnSpc>
                <a:spcPct val="100000"/>
              </a:lnSpc>
              <a:spcBef>
                <a:spcPts val="69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Khái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niêm data-driven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0">
              <a:lnSpc>
                <a:spcPct val="100000"/>
              </a:lnSpc>
              <a:spcBef>
                <a:spcPts val="67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Ứng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 annotation trong data-driven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566</Words>
  <Application>Microsoft Office PowerPoint</Application>
  <PresentationFormat>On-screen Show (4:3)</PresentationFormat>
  <Paragraphs>96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Carlito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Sử dụng Annotations</vt:lpstr>
      <vt:lpstr>PowerPoint Presentation</vt:lpstr>
      <vt:lpstr>PowerPoint Presentation</vt:lpstr>
      <vt:lpstr>PowerPoint Presentation</vt:lpstr>
      <vt:lpstr>PowerPoint Presentation</vt:lpstr>
      <vt:lpstr>DATA-DRIVEN TESTING</vt:lpstr>
      <vt:lpstr>DATA-DRIVEN TESTING</vt:lpstr>
      <vt:lpstr>DATA-DRIVEN TESTING</vt:lpstr>
      <vt:lpstr>DATA-DRIVEN TESTING</vt:lpstr>
      <vt:lpstr>DATA-DRIVEN TESTING</vt:lpstr>
      <vt:lpstr>DATA-DRIVEN TESTING</vt:lpstr>
      <vt:lpstr>DATA-DRIVEN TESTING</vt:lpstr>
      <vt:lpstr>DATA-DRIVEN TESTING</vt:lpstr>
      <vt:lpstr>DATA-DRIVEN TESTING</vt:lpstr>
      <vt:lpstr>DATA-DRIVEN TESTING</vt:lpstr>
      <vt:lpstr>DATA-DRIVEN TESTING</vt:lpstr>
      <vt:lpstr>Tổng kết bài học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ADMIN</cp:lastModifiedBy>
  <cp:revision>3</cp:revision>
  <dcterms:created xsi:type="dcterms:W3CDTF">2024-03-08T02:52:01Z</dcterms:created>
  <dcterms:modified xsi:type="dcterms:W3CDTF">2024-11-03T02:24:19Z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2018-08-10T00:00:00Z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2024-03-08T00:00:00Z</vt:filetime>
  </property>
  <property fmtid="{D5CDD505-2E9C-101B-9397-08002B2CF9AE}" pid="5" name="Producer">
    <vt:lpwstr>3-Heights(TM) PDF Security Shell 4.8.25.2 (http://www.pdf-tools.com)</vt:lpwstr>
  </property>
</Properties>
</file>